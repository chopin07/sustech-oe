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33"/>
  </p:notesMasterIdLst>
  <p:handoutMasterIdLst>
    <p:handoutMasterId r:id="rId34"/>
  </p:handoutMasterIdLst>
  <p:sldIdLst>
    <p:sldId id="256" r:id="rId3"/>
    <p:sldId id="257" r:id="rId4"/>
    <p:sldId id="300" r:id="rId5"/>
    <p:sldId id="258" r:id="rId6"/>
    <p:sldId id="260" r:id="rId7"/>
    <p:sldId id="268" r:id="rId8"/>
    <p:sldId id="261" r:id="rId9"/>
    <p:sldId id="262" r:id="rId10"/>
    <p:sldId id="263" r:id="rId11"/>
    <p:sldId id="299" r:id="rId12"/>
    <p:sldId id="294" r:id="rId13"/>
    <p:sldId id="265" r:id="rId14"/>
    <p:sldId id="267" r:id="rId15"/>
    <p:sldId id="271" r:id="rId16"/>
    <p:sldId id="273" r:id="rId17"/>
    <p:sldId id="301" r:id="rId18"/>
    <p:sldId id="275" r:id="rId19"/>
    <p:sldId id="302" r:id="rId20"/>
    <p:sldId id="303" r:id="rId21"/>
    <p:sldId id="278" r:id="rId22"/>
    <p:sldId id="279" r:id="rId23"/>
    <p:sldId id="281" r:id="rId24"/>
    <p:sldId id="304" r:id="rId25"/>
    <p:sldId id="305" r:id="rId26"/>
    <p:sldId id="283" r:id="rId27"/>
    <p:sldId id="306" r:id="rId28"/>
    <p:sldId id="288" r:id="rId29"/>
    <p:sldId id="290" r:id="rId30"/>
    <p:sldId id="291" r:id="rId31"/>
    <p:sldId id="292" r:id="rId32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906"/>
    <a:srgbClr val="007CB2"/>
    <a:srgbClr val="000080"/>
    <a:srgbClr val="001996"/>
    <a:srgbClr val="C82E32"/>
    <a:srgbClr val="0F1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4" autoAdjust="0"/>
    <p:restoredTop sz="94645" autoAdjust="0"/>
  </p:normalViewPr>
  <p:slideViewPr>
    <p:cSldViewPr showGuides="1">
      <p:cViewPr varScale="1">
        <p:scale>
          <a:sx n="159" d="100"/>
          <a:sy n="159" d="100"/>
        </p:scale>
        <p:origin x="1924" y="100"/>
      </p:cViewPr>
      <p:guideLst>
        <p:guide orient="horz" pos="274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372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fld id="{79AF29C6-AB9E-494F-822D-0F266B3A49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1917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fld id="{4843F842-50A5-48F7-9674-A615839F7C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6600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F10A0BB-62B8-49E7-B5C5-3D5219C3993A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166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E498DAAE-5DB6-4E6F-B249-ABB7E0591283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362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0AA4BF0-647B-4B1A-98EE-70F2BAAD3FFD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517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2D769EB2-B83F-41F8-A020-5F147C752931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3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3D2E46A-641B-45E3-90B5-77F599ECE5CA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31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1B68243-A3B0-4A68-86F3-D58D0D365E12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60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32167F2-05EA-4F71-B314-73B469A9F098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8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6A4BBBA-4174-478E-8AA5-721C86DD1FE7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043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E9CD1B8-073A-4AE6-B860-0A98C8C6B78E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003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6485990-A666-46BA-9199-EB1410920B3D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605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671EC0D-E566-4AE2-A654-CE3A2BCF7704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446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AEEE3BEA-611C-4AD4-BE97-EA8A20C6ACC6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092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D974847-1A5C-4A49-A24F-F1F6D4BA9977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420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5F126FF5-EAE6-4E71-A3A9-6998A60A0F6A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731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1B2CA0D-4023-4D46-941F-68BFA27E856A}" type="slidenum">
              <a:rPr lang="en-US" altLang="en-US" sz="1200" smtClean="0"/>
              <a:pPr/>
              <a:t>17</a:t>
            </a:fld>
            <a:endParaRPr lang="en-US" altLang="en-US" sz="1200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01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0D8DD7F-5830-40E6-B96B-0BEF95EB2B4F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60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4771F0C-389F-41EA-9BAE-568A472AE466}" type="slidenum">
              <a:rPr lang="en-US" altLang="en-US" sz="1200" smtClean="0"/>
              <a:pPr/>
              <a:t>21</a:t>
            </a:fld>
            <a:endParaRPr lang="en-US" altLang="en-US" sz="120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491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585D720-5187-4C7C-976F-717367380C64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633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D5CA72E0-35E1-4546-A809-D0723BE933FE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791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9F18E7EE-94B0-4AAF-B85F-946AEA381540}" type="slidenum">
              <a:rPr lang="en-US" altLang="en-US" sz="1200" smtClean="0"/>
              <a:pPr/>
              <a:t>27</a:t>
            </a:fld>
            <a:endParaRPr lang="en-US" altLang="en-US" sz="1200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983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7745A68-8FC9-43D4-9CFC-887D9E913620}" type="slidenum">
              <a:rPr lang="en-US" altLang="en-US" sz="1200" smtClean="0"/>
              <a:pPr/>
              <a:t>28</a:t>
            </a:fld>
            <a:endParaRPr lang="en-US" altLang="en-US" sz="1200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975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EE23C85-7061-48FA-A3A4-6F8F35D2DE10}" type="slidenum">
              <a:rPr lang="en-US" altLang="en-US" sz="1200" smtClean="0"/>
              <a:pPr/>
              <a:t>29</a:t>
            </a:fld>
            <a:endParaRPr lang="en-US" altLang="en-US" sz="120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73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EC7E0E6F-2C31-4C53-8FCF-A9848630133A}" type="slidenum">
              <a:rPr lang="en-US" altLang="en-US" sz="1200" smtClean="0"/>
              <a:pPr/>
              <a:t>30</a:t>
            </a:fld>
            <a:endParaRPr lang="en-US" altLang="en-US" sz="120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15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590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3403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500996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9134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4476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7192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548173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145181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252949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0065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4204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37322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3179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76519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37205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7088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3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42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253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8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16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03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352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5024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8270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25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grpSp>
        <p:nvGrpSpPr>
          <p:cNvPr id="1028" name="Group 12"/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0" name="Picture 11" descr="Triangle--Gray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1" name="Rectangle 9"/>
            <p:cNvSpPr>
              <a:spLocks noChangeArrowheads="1"/>
            </p:cNvSpPr>
            <p:nvPr userDrawn="1"/>
          </p:nvSpPr>
          <p:spPr bwMode="auto">
            <a:xfrm>
              <a:off x="5165" y="3827"/>
              <a:ext cx="38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</a:rPr>
                <a:t>Gases</a:t>
              </a:r>
            </a:p>
          </p:txBody>
        </p:sp>
      </p:grpSp>
      <p:sp>
        <p:nvSpPr>
          <p:cNvPr id="8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052" name="Text Box 7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defRPr/>
            </a:pPr>
            <a:r>
              <a:rPr lang="en-US" altLang="en-US" sz="1000" dirty="0" smtClean="0">
                <a:solidFill>
                  <a:srgbClr val="73738C"/>
                </a:solidFill>
                <a:latin typeface="Arial" charset="0"/>
                <a:ea typeface="ＭＳ Ｐゴシック" pitchFamily="18" charset="-128"/>
              </a:rPr>
              <a:t>© 20</a:t>
            </a:r>
            <a:r>
              <a:rPr lang="en-US" altLang="zh-TW" sz="1000" dirty="0" smtClean="0">
                <a:solidFill>
                  <a:srgbClr val="73738C"/>
                </a:solidFill>
                <a:latin typeface="Arial" charset="0"/>
                <a:ea typeface="新細明體" pitchFamily="18" charset="-120"/>
              </a:rPr>
              <a:t>15</a:t>
            </a:r>
            <a:r>
              <a:rPr lang="en-US" altLang="en-US" sz="1000" dirty="0" smtClean="0">
                <a:solidFill>
                  <a:srgbClr val="73738C"/>
                </a:solidFill>
                <a:latin typeface="Arial" charset="0"/>
                <a:ea typeface="ＭＳ Ｐゴシック" pitchFamily="18" charset="-128"/>
              </a:rPr>
              <a:t> Pearson Education</a:t>
            </a:r>
            <a:endParaRPr lang="en-US" altLang="en-US" b="1" dirty="0" smtClean="0">
              <a:solidFill>
                <a:srgbClr val="73738C"/>
              </a:solidFill>
              <a:latin typeface="Arial" charset="0"/>
              <a:ea typeface="ＭＳ Ｐゴシック" pitchFamily="18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altLang="en-US" sz="3400" b="1">
                <a:solidFill>
                  <a:schemeClr val="tx2"/>
                </a:solidFill>
                <a:latin typeface="Arial" charset="0"/>
                <a:cs typeface="Arial" charset="0"/>
              </a:rPr>
              <a:t>Chapter 10</a:t>
            </a:r>
            <a:br>
              <a:rPr lang="en-US" altLang="en-US" sz="3400" b="1">
                <a:solidFill>
                  <a:schemeClr val="tx2"/>
                </a:solidFill>
                <a:latin typeface="Arial" charset="0"/>
                <a:cs typeface="Arial" charset="0"/>
              </a:rPr>
            </a:br>
            <a:r>
              <a:rPr lang="en-US" altLang="en-US" sz="3400" b="1">
                <a:solidFill>
                  <a:schemeClr val="tx2"/>
                </a:solidFill>
                <a:latin typeface="Arial" charset="0"/>
                <a:cs typeface="Arial" charset="0"/>
              </a:rPr>
              <a:t/>
            </a:r>
            <a:br>
              <a:rPr lang="en-US" altLang="en-US" sz="3400" b="1">
                <a:solidFill>
                  <a:schemeClr val="tx2"/>
                </a:solidFill>
                <a:latin typeface="Arial" charset="0"/>
                <a:cs typeface="Arial" charset="0"/>
              </a:rPr>
            </a:br>
            <a:r>
              <a:rPr lang="en-US" altLang="en-US" sz="3400" b="1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3400" b="1">
                <a:solidFill>
                  <a:schemeClr val="tx2"/>
                </a:solidFill>
                <a:latin typeface="Arial" charset="0"/>
              </a:rPr>
              <a:t>Gases</a:t>
            </a:r>
            <a:br>
              <a:rPr lang="en-US" altLang="en-US" sz="3400" b="1">
                <a:solidFill>
                  <a:schemeClr val="tx2"/>
                </a:solidFill>
                <a:latin typeface="Arial" charset="0"/>
              </a:rPr>
            </a:br>
            <a:endParaRPr lang="en-US" altLang="en-US" sz="3400" b="1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075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1800">
                <a:solidFill>
                  <a:srgbClr val="0D0D0D"/>
                </a:solidFill>
                <a:latin typeface="Arial" charset="0"/>
              </a:rPr>
              <a:t>James F. Kirby</a:t>
            </a: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  <a:latin typeface="Arial" charset="0"/>
              </a:rPr>
              <a:t>Quinnipiac University</a:t>
            </a: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  <a:latin typeface="Arial" charset="0"/>
              </a:rPr>
              <a:t>Hamden, CT</a:t>
            </a:r>
          </a:p>
        </p:txBody>
      </p:sp>
      <p:sp>
        <p:nvSpPr>
          <p:cNvPr id="3076" name="Rectangle 12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latin typeface="Arial" charset="0"/>
                <a:ea typeface="ＭＳ Ｐゴシック" pitchFamily="34" charset="-128"/>
                <a:cs typeface="Arial" charset="0"/>
              </a:rPr>
              <a:t>Lecture Presentation</a:t>
            </a:r>
          </a:p>
        </p:txBody>
      </p:sp>
      <p:pic>
        <p:nvPicPr>
          <p:cNvPr id="6" name="Picture 1" descr="BROW0417_13_eca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Characteristics of Gases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 smtClean="0"/>
              <a:t>Physical properties of gases are all similar.</a:t>
            </a:r>
          </a:p>
          <a:p>
            <a:pPr eaLnBrk="1" hangingPunct="1">
              <a:defRPr/>
            </a:pPr>
            <a:r>
              <a:rPr lang="en-US" altLang="en-US" sz="2800" dirty="0" smtClean="0"/>
              <a:t>Composed mainly of nonmetallic elements with simple formulas and low molar masses.</a:t>
            </a:r>
          </a:p>
          <a:p>
            <a:pPr eaLnBrk="1" hangingPunct="1">
              <a:defRPr/>
            </a:pPr>
            <a:r>
              <a:rPr lang="en-US" altLang="en-US" sz="2800" dirty="0" smtClean="0"/>
              <a:t>Unlike liquids and solids, gases</a:t>
            </a:r>
          </a:p>
          <a:p>
            <a:pPr marL="514350" indent="-457200" eaLnBrk="1" hangingPunct="1">
              <a:buClr>
                <a:srgbClr val="FF3399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dirty="0" smtClean="0"/>
              <a:t>expand to fill their containers.</a:t>
            </a:r>
          </a:p>
          <a:p>
            <a:pPr marL="514350" indent="-457200" eaLnBrk="1" hangingPunct="1">
              <a:buClr>
                <a:srgbClr val="FF3399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dirty="0" smtClean="0"/>
              <a:t>are highly compressible.</a:t>
            </a:r>
          </a:p>
          <a:p>
            <a:pPr marL="514350" indent="-457200" eaLnBrk="1" hangingPunct="1">
              <a:buClr>
                <a:srgbClr val="FF3399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dirty="0" smtClean="0"/>
              <a:t>have extremely low densities.</a:t>
            </a:r>
          </a:p>
          <a:p>
            <a:pPr marL="455613" indent="-398463" eaLnBrk="1" hangingPunct="1">
              <a:defRPr/>
            </a:pPr>
            <a:r>
              <a:rPr lang="en-US" altLang="en-US" sz="2800" dirty="0" smtClean="0"/>
              <a:t>Two or more gases form a homogeneous mixture.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5438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Properties Which Define the State of a Gas Sample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pPr marL="514350" indent="-514350" eaLnBrk="1" hangingPunct="1">
              <a:buClr>
                <a:srgbClr val="002060"/>
              </a:buClr>
              <a:buFontTx/>
              <a:buAutoNum type="arabicParenR"/>
            </a:pPr>
            <a:r>
              <a:rPr lang="en-US" altLang="en-US" dirty="0" smtClean="0"/>
              <a:t>Temperature (</a:t>
            </a:r>
            <a:r>
              <a:rPr lang="en-US" altLang="en-US" dirty="0" smtClean="0">
                <a:solidFill>
                  <a:srgbClr val="FF0000"/>
                </a:solidFill>
              </a:rPr>
              <a:t>T</a:t>
            </a:r>
            <a:r>
              <a:rPr lang="en-US" altLang="en-US" dirty="0" smtClean="0"/>
              <a:t>)</a:t>
            </a:r>
          </a:p>
          <a:p>
            <a:pPr marL="514350" indent="-514350" eaLnBrk="1" hangingPunct="1">
              <a:buClr>
                <a:srgbClr val="002060"/>
              </a:buClr>
              <a:buFontTx/>
              <a:buAutoNum type="arabicParenR"/>
            </a:pPr>
            <a:r>
              <a:rPr lang="en-US" altLang="en-US" dirty="0" smtClean="0"/>
              <a:t>Pressure (</a:t>
            </a:r>
            <a:r>
              <a:rPr lang="en-US" altLang="en-US" dirty="0" smtClean="0">
                <a:solidFill>
                  <a:srgbClr val="FF0000"/>
                </a:solidFill>
              </a:rPr>
              <a:t>P</a:t>
            </a:r>
            <a:r>
              <a:rPr lang="en-US" altLang="en-US" dirty="0" smtClean="0"/>
              <a:t>)</a:t>
            </a:r>
          </a:p>
          <a:p>
            <a:pPr marL="514350" indent="-514350" eaLnBrk="1" hangingPunct="1">
              <a:buClr>
                <a:srgbClr val="002060"/>
              </a:buClr>
              <a:buFontTx/>
              <a:buAutoNum type="arabicParenR"/>
            </a:pPr>
            <a:r>
              <a:rPr lang="en-US" altLang="en-US" dirty="0" smtClean="0"/>
              <a:t>Volume (</a:t>
            </a:r>
            <a:r>
              <a:rPr lang="en-US" altLang="en-US" dirty="0" smtClean="0">
                <a:solidFill>
                  <a:srgbClr val="FF0000"/>
                </a:solidFill>
              </a:rPr>
              <a:t>V</a:t>
            </a:r>
            <a:r>
              <a:rPr lang="en-US" altLang="en-US" dirty="0" smtClean="0"/>
              <a:t>)</a:t>
            </a:r>
          </a:p>
          <a:p>
            <a:pPr marL="514350" indent="-514350" eaLnBrk="1" hangingPunct="1">
              <a:buClr>
                <a:srgbClr val="002060"/>
              </a:buClr>
              <a:buFontTx/>
              <a:buAutoNum type="arabicParenR"/>
            </a:pPr>
            <a:r>
              <a:rPr lang="en-US" altLang="en-US" dirty="0" smtClean="0"/>
              <a:t>Amount of gas, usually expressed as number of moles (</a:t>
            </a:r>
            <a:r>
              <a:rPr lang="en-US" altLang="en-US" i="1" dirty="0" smtClean="0">
                <a:solidFill>
                  <a:srgbClr val="FF0000"/>
                </a:solidFill>
              </a:rPr>
              <a:t>n</a:t>
            </a:r>
            <a:r>
              <a:rPr lang="en-US" altLang="en-US" dirty="0" smtClean="0"/>
              <a:t>)</a:t>
            </a:r>
          </a:p>
          <a:p>
            <a:pPr marL="514350" indent="-514350" eaLnBrk="1" hangingPunct="1">
              <a:buClr>
                <a:srgbClr val="002060"/>
              </a:buClr>
              <a:buFontTx/>
              <a:buAutoNum type="arabicParenR"/>
            </a:pPr>
            <a:endParaRPr lang="en-US" altLang="en-US" dirty="0" smtClean="0"/>
          </a:p>
          <a:p>
            <a:pPr marL="514350" indent="-514350" eaLnBrk="1" hangingPunct="1"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en-US" dirty="0" smtClean="0"/>
              <a:t>Having already discussed three of these, we need to define pressure.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3810000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Pressure</a:t>
            </a:r>
            <a:r>
              <a:rPr lang="en-US" altLang="en-US" sz="2800" smtClean="0"/>
              <a:t> is the amount of force applied to an area: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Pressure</a:t>
            </a:r>
          </a:p>
        </p:txBody>
      </p:sp>
      <p:sp>
        <p:nvSpPr>
          <p:cNvPr id="6148" name="Rectangle 13"/>
          <p:cNvSpPr>
            <a:spLocks noChangeArrowheads="1"/>
          </p:cNvSpPr>
          <p:nvPr/>
        </p:nvSpPr>
        <p:spPr bwMode="auto">
          <a:xfrm>
            <a:off x="685800" y="3733800"/>
            <a:ext cx="35814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b="1">
                <a:latin typeface="Arial" charset="0"/>
              </a:rPr>
              <a:t>Atmospheric pressure</a:t>
            </a:r>
            <a:r>
              <a:rPr lang="en-US" altLang="en-US" sz="2800">
                <a:latin typeface="Arial" charset="0"/>
              </a:rPr>
              <a:t> is the weight of air per unit of area.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altLang="en-US" sz="2800">
              <a:latin typeface="Arial" charset="0"/>
            </a:endParaRPr>
          </a:p>
        </p:txBody>
      </p:sp>
      <p:grpSp>
        <p:nvGrpSpPr>
          <p:cNvPr id="6149" name="Group 23"/>
          <p:cNvGrpSpPr>
            <a:grpSpLocks/>
          </p:cNvGrpSpPr>
          <p:nvPr/>
        </p:nvGrpSpPr>
        <p:grpSpPr bwMode="auto">
          <a:xfrm>
            <a:off x="1447800" y="2590800"/>
            <a:ext cx="1543050" cy="1190625"/>
            <a:chOff x="912" y="2016"/>
            <a:chExt cx="972" cy="750"/>
          </a:xfrm>
        </p:grpSpPr>
        <p:sp>
          <p:nvSpPr>
            <p:cNvPr id="6151" name="Rectangle 15"/>
            <p:cNvSpPr>
              <a:spLocks noChangeArrowheads="1"/>
            </p:cNvSpPr>
            <p:nvPr/>
          </p:nvSpPr>
          <p:spPr bwMode="auto">
            <a:xfrm>
              <a:off x="912" y="2178"/>
              <a:ext cx="55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>
                  <a:latin typeface="Arial" charset="0"/>
                </a:rPr>
                <a:t>P</a:t>
              </a:r>
              <a:r>
                <a:rPr lang="en-US" altLang="en-US" sz="3600">
                  <a:latin typeface="Arial" charset="0"/>
                </a:rPr>
                <a:t> =</a:t>
              </a:r>
              <a:endParaRPr lang="en-US" altLang="en-US" sz="4000">
                <a:latin typeface="Arial" charset="0"/>
              </a:endParaRPr>
            </a:p>
          </p:txBody>
        </p:sp>
        <p:sp>
          <p:nvSpPr>
            <p:cNvPr id="6152" name="Rectangle 16"/>
            <p:cNvSpPr>
              <a:spLocks noChangeArrowheads="1"/>
            </p:cNvSpPr>
            <p:nvPr/>
          </p:nvSpPr>
          <p:spPr bwMode="auto">
            <a:xfrm>
              <a:off x="1546" y="2016"/>
              <a:ext cx="308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>
                  <a:latin typeface="Arial" charset="0"/>
                </a:rPr>
                <a:t>F</a:t>
              </a:r>
            </a:p>
            <a:p>
              <a:r>
                <a:rPr lang="en-US" altLang="en-US" sz="3600" i="1">
                  <a:latin typeface="Arial" charset="0"/>
                </a:rPr>
                <a:t>A</a:t>
              </a:r>
            </a:p>
          </p:txBody>
        </p:sp>
        <p:sp>
          <p:nvSpPr>
            <p:cNvPr id="6153" name="Line 17"/>
            <p:cNvSpPr>
              <a:spLocks noChangeShapeType="1"/>
            </p:cNvSpPr>
            <p:nvPr/>
          </p:nvSpPr>
          <p:spPr bwMode="auto">
            <a:xfrm>
              <a:off x="1500" y="239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" name="Picture 9" descr="10_01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4953000" y="1219200"/>
            <a:ext cx="3767415" cy="45110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Units of Pressure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1066800"/>
            <a:ext cx="54864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700" b="1" dirty="0" err="1" smtClean="0"/>
              <a:t>Pascals</a:t>
            </a:r>
            <a:r>
              <a:rPr lang="en-US" altLang="en-US" sz="2700" dirty="0" smtClean="0"/>
              <a:t>: 1 Pa = 1 N/m</a:t>
            </a:r>
            <a:r>
              <a:rPr lang="en-US" altLang="en-US" sz="2700" baseline="30000" dirty="0" smtClean="0"/>
              <a:t>2</a:t>
            </a:r>
            <a:r>
              <a:rPr lang="en-US" altLang="en-US" sz="2700" dirty="0" smtClean="0"/>
              <a:t> (SI unit of pressure)</a:t>
            </a:r>
          </a:p>
          <a:p>
            <a:pPr eaLnBrk="1" hangingPunct="1">
              <a:defRPr/>
            </a:pPr>
            <a:r>
              <a:rPr lang="en-US" altLang="en-US" sz="2700" b="1" dirty="0" smtClean="0">
                <a:solidFill>
                  <a:srgbClr val="FF0000"/>
                </a:solidFill>
              </a:rPr>
              <a:t>Bar</a:t>
            </a:r>
            <a:r>
              <a:rPr lang="en-US" altLang="en-US" sz="2700" dirty="0" smtClean="0"/>
              <a:t>: 1 bar = 10</a:t>
            </a:r>
            <a:r>
              <a:rPr lang="en-US" altLang="en-US" sz="2700" baseline="30000" dirty="0" smtClean="0"/>
              <a:t>5</a:t>
            </a:r>
            <a:r>
              <a:rPr lang="en-US" altLang="en-US" sz="2700" dirty="0" smtClean="0"/>
              <a:t> Pa = </a:t>
            </a:r>
            <a:r>
              <a:rPr lang="en-US" altLang="en-US" sz="2700" dirty="0" smtClean="0">
                <a:solidFill>
                  <a:srgbClr val="FF0000"/>
                </a:solidFill>
              </a:rPr>
              <a:t>100 </a:t>
            </a:r>
            <a:r>
              <a:rPr lang="en-US" altLang="en-US" sz="2700" dirty="0" err="1" smtClean="0">
                <a:solidFill>
                  <a:srgbClr val="FF0000"/>
                </a:solidFill>
              </a:rPr>
              <a:t>kPa</a:t>
            </a:r>
            <a:endParaRPr lang="en-US" altLang="en-US" sz="2700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en-US" sz="2700" b="1" dirty="0" smtClean="0"/>
              <a:t>mm Hg or </a:t>
            </a:r>
            <a:r>
              <a:rPr lang="en-US" altLang="en-US" sz="2700" b="1" dirty="0" err="1" smtClean="0"/>
              <a:t>torr</a:t>
            </a:r>
            <a:r>
              <a:rPr lang="en-US" altLang="en-US" sz="2700" dirty="0" smtClean="0"/>
              <a:t>: These units are literally the difference in </a:t>
            </a:r>
            <a:br>
              <a:rPr lang="en-US" altLang="en-US" sz="2700" dirty="0" smtClean="0"/>
            </a:br>
            <a:r>
              <a:rPr lang="en-US" altLang="en-US" sz="2700" dirty="0" smtClean="0"/>
              <a:t>the heights measured in mm </a:t>
            </a:r>
            <a:br>
              <a:rPr lang="en-US" altLang="en-US" sz="2700" dirty="0" smtClean="0"/>
            </a:br>
            <a:r>
              <a:rPr lang="en-US" altLang="en-US" sz="2700" dirty="0" smtClean="0"/>
              <a:t>of two connected columns of mercury, as in the </a:t>
            </a:r>
            <a:r>
              <a:rPr lang="en-US" altLang="en-US" sz="2700" b="1" dirty="0" smtClean="0"/>
              <a:t>barometer</a:t>
            </a:r>
            <a:r>
              <a:rPr lang="en-US" altLang="en-US" sz="2700" dirty="0" smtClean="0"/>
              <a:t> in the figure.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700" b="1" dirty="0" smtClean="0"/>
              <a:t>Atmosphere</a:t>
            </a:r>
            <a:r>
              <a:rPr lang="en-US" altLang="en-US" sz="2700" dirty="0" smtClean="0"/>
              <a:t>: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700" dirty="0" smtClean="0">
                <a:solidFill>
                  <a:srgbClr val="0000FF"/>
                </a:solidFill>
              </a:rPr>
              <a:t>  1.00 </a:t>
            </a:r>
            <a:r>
              <a:rPr lang="en-US" altLang="en-US" sz="2700" dirty="0" err="1" smtClean="0">
                <a:solidFill>
                  <a:srgbClr val="0000FF"/>
                </a:solidFill>
              </a:rPr>
              <a:t>atm</a:t>
            </a:r>
            <a:r>
              <a:rPr lang="en-US" altLang="en-US" sz="2700" dirty="0" smtClean="0">
                <a:solidFill>
                  <a:srgbClr val="0000FF"/>
                </a:solidFill>
              </a:rPr>
              <a:t> </a:t>
            </a:r>
            <a:r>
              <a:rPr lang="en-US" altLang="en-US" sz="2700" dirty="0" smtClean="0"/>
              <a:t>= 760 </a:t>
            </a:r>
            <a:r>
              <a:rPr lang="en-US" altLang="en-US" sz="2700" dirty="0" err="1" smtClean="0"/>
              <a:t>torr</a:t>
            </a:r>
            <a:r>
              <a:rPr lang="en-US" altLang="en-US" sz="2700" dirty="0" smtClean="0"/>
              <a:t> = 760 mm Hg    = </a:t>
            </a:r>
            <a:r>
              <a:rPr lang="en-US" altLang="en-US" sz="2700" dirty="0" smtClean="0">
                <a:solidFill>
                  <a:srgbClr val="0000FF"/>
                </a:solidFill>
              </a:rPr>
              <a:t>101.325 </a:t>
            </a:r>
            <a:r>
              <a:rPr lang="en-US" altLang="en-US" sz="2700" dirty="0" err="1" smtClean="0">
                <a:solidFill>
                  <a:srgbClr val="0000FF"/>
                </a:solidFill>
              </a:rPr>
              <a:t>kPa</a:t>
            </a:r>
            <a:endParaRPr lang="en-US" altLang="en-US" sz="2700" dirty="0" smtClean="0">
              <a:solidFill>
                <a:srgbClr val="0000FF"/>
              </a:solidFill>
            </a:endParaRPr>
          </a:p>
        </p:txBody>
      </p:sp>
      <p:sp>
        <p:nvSpPr>
          <p:cNvPr id="7172" name="Rectangle 17"/>
          <p:cNvSpPr>
            <a:spLocks noChangeArrowheads="1"/>
          </p:cNvSpPr>
          <p:nvPr/>
        </p:nvSpPr>
        <p:spPr bwMode="auto">
          <a:xfrm>
            <a:off x="4876800" y="5490065"/>
            <a:ext cx="396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3200">
              <a:latin typeface="Arial" charset="0"/>
            </a:endParaRPr>
          </a:p>
        </p:txBody>
      </p:sp>
      <p:pic>
        <p:nvPicPr>
          <p:cNvPr id="6" name="Picture 5" descr="10_02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5382623" y="1447800"/>
            <a:ext cx="3608977" cy="40538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Manometer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219200"/>
            <a:ext cx="4648200" cy="449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 smtClean="0"/>
              <a:t>	The </a:t>
            </a:r>
            <a:r>
              <a:rPr lang="en-US" altLang="en-US" sz="2800" b="1" dirty="0" smtClean="0"/>
              <a:t>manometer</a:t>
            </a:r>
            <a:r>
              <a:rPr lang="en-US" altLang="en-US" sz="2800" dirty="0" smtClean="0"/>
              <a:t> is used to measure the difference in pressure between atmospheric pressure and that of </a:t>
            </a:r>
            <a:r>
              <a:rPr lang="en-US" altLang="en-US" sz="2800" dirty="0" smtClean="0">
                <a:solidFill>
                  <a:srgbClr val="0000FF"/>
                </a:solidFill>
              </a:rPr>
              <a:t>a gas in a vessel</a:t>
            </a:r>
            <a:r>
              <a:rPr lang="en-US" altLang="en-US" sz="2800" dirty="0" smtClean="0"/>
              <a:t>.  (The barometer seen on the last slide is used to measure the </a:t>
            </a:r>
            <a:r>
              <a:rPr lang="en-US" altLang="en-US" sz="2800" dirty="0" smtClean="0">
                <a:solidFill>
                  <a:srgbClr val="FF0000"/>
                </a:solidFill>
              </a:rPr>
              <a:t>pressure in the atmosphere</a:t>
            </a:r>
            <a:r>
              <a:rPr lang="en-US" altLang="en-US" sz="2800" dirty="0" smtClean="0"/>
              <a:t> at any given time.)</a:t>
            </a:r>
          </a:p>
        </p:txBody>
      </p:sp>
      <p:pic>
        <p:nvPicPr>
          <p:cNvPr id="5" name="Picture 4" descr="10_03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228600" y="1524000"/>
            <a:ext cx="4293046" cy="45872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Standard Pressure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 atmospheric pressure at sea level is referred to as </a:t>
            </a:r>
            <a:r>
              <a:rPr lang="en-US" altLang="en-US" b="1" smtClean="0"/>
              <a:t>standard atmospheric pressure</a:t>
            </a:r>
            <a:r>
              <a:rPr lang="en-US" altLang="en-US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 is equal to</a:t>
            </a:r>
          </a:p>
          <a:p>
            <a:pPr eaLnBrk="1" hangingPunct="1">
              <a:lnSpc>
                <a:spcPct val="90000"/>
              </a:lnSpc>
              <a:buClr>
                <a:srgbClr val="003300"/>
              </a:buClr>
              <a:buFont typeface="Wingdings" pitchFamily="2" charset="2"/>
              <a:buChar char="Ø"/>
            </a:pPr>
            <a:r>
              <a:rPr lang="en-US" altLang="en-US" smtClean="0"/>
              <a:t>1.00 atm.</a:t>
            </a:r>
          </a:p>
          <a:p>
            <a:pPr eaLnBrk="1" hangingPunct="1">
              <a:lnSpc>
                <a:spcPct val="90000"/>
              </a:lnSpc>
              <a:buClr>
                <a:srgbClr val="003300"/>
              </a:buClr>
              <a:buFont typeface="Wingdings" pitchFamily="2" charset="2"/>
              <a:buChar char="Ø"/>
            </a:pPr>
            <a:r>
              <a:rPr lang="en-US" altLang="en-US" smtClean="0"/>
              <a:t>760 torr (760 mmHg).</a:t>
            </a:r>
          </a:p>
          <a:p>
            <a:pPr eaLnBrk="1" hangingPunct="1">
              <a:lnSpc>
                <a:spcPct val="90000"/>
              </a:lnSpc>
              <a:buClr>
                <a:srgbClr val="003300"/>
              </a:buClr>
              <a:buFont typeface="Wingdings" pitchFamily="2" charset="2"/>
              <a:buChar char="Ø"/>
            </a:pPr>
            <a:r>
              <a:rPr lang="en-US" altLang="en-US" smtClean="0"/>
              <a:t>101.325 kPa.</a:t>
            </a:r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685800" y="3581400"/>
            <a:ext cx="7772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3200">
              <a:latin typeface="Arial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Boyle’s Law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7772400" cy="1981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smtClean="0"/>
              <a:t>	The volume of a fixed quantity of gas at constant temperature is inversely proportional to the pressure.</a:t>
            </a:r>
          </a:p>
        </p:txBody>
      </p:sp>
      <p:pic>
        <p:nvPicPr>
          <p:cNvPr id="5" name="Picture 4" descr="10_05_Figure.jpg"/>
          <p:cNvPicPr>
            <a:picLocks noChangeAspect="1"/>
          </p:cNvPicPr>
          <p:nvPr/>
        </p:nvPicPr>
        <p:blipFill>
          <a:blip r:embed="rId3" cstate="print"/>
          <a:srcRect b="2719"/>
          <a:stretch>
            <a:fillRect/>
          </a:stretch>
        </p:blipFill>
        <p:spPr>
          <a:xfrm>
            <a:off x="1447800" y="2743200"/>
            <a:ext cx="6172200" cy="362837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6477000" y="4114800"/>
            <a:ext cx="762000" cy="129540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Mathematical Relationships of </a:t>
            </a:r>
            <a:r>
              <a:rPr lang="en-US" altLang="en-US" dirty="0" smtClean="0">
                <a:solidFill>
                  <a:srgbClr val="FF0000"/>
                </a:solidFill>
              </a:rPr>
              <a:t>Boyle’s Law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3073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en-US" altLang="en-US" sz="2800" i="1" dirty="0" smtClean="0"/>
              <a:t>PV</a:t>
            </a:r>
            <a:r>
              <a:rPr lang="en-US" altLang="en-US" sz="2800" dirty="0" smtClean="0"/>
              <a:t> = a constant (C) or </a:t>
            </a:r>
            <a:r>
              <a:rPr lang="en-US" altLang="en-US" sz="2800" dirty="0" smtClean="0">
                <a:solidFill>
                  <a:srgbClr val="0000FF"/>
                </a:solidFill>
              </a:rPr>
              <a:t>V</a:t>
            </a:r>
            <a:r>
              <a:rPr lang="en-US" altLang="en-US" sz="2800" dirty="0" smtClean="0"/>
              <a:t> = </a:t>
            </a:r>
            <a:r>
              <a:rPr lang="en-US" altLang="en-US" sz="2800" dirty="0" smtClean="0">
                <a:solidFill>
                  <a:srgbClr val="0000FF"/>
                </a:solidFill>
              </a:rPr>
              <a:t>(1/P)</a:t>
            </a:r>
            <a:r>
              <a:rPr lang="en-US" altLang="en-US" sz="2800" dirty="0" smtClean="0"/>
              <a:t>C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altLang="en-US" sz="2800" dirty="0" smtClean="0"/>
              <a:t>This means, if we compare two conditions:  </a:t>
            </a:r>
            <a:r>
              <a:rPr lang="en-US" altLang="en-US" sz="2800" i="1" dirty="0" smtClean="0"/>
              <a:t>P</a:t>
            </a:r>
            <a:r>
              <a:rPr lang="en-US" altLang="en-US" sz="2800" baseline="-25000" dirty="0" smtClean="0"/>
              <a:t>1</a:t>
            </a:r>
            <a:r>
              <a:rPr lang="en-US" altLang="en-US" sz="2800" i="1" dirty="0" smtClean="0"/>
              <a:t>V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 = </a:t>
            </a:r>
            <a:r>
              <a:rPr lang="en-US" altLang="en-US" sz="2800" i="1" dirty="0" smtClean="0"/>
              <a:t>P</a:t>
            </a:r>
            <a:r>
              <a:rPr lang="en-US" altLang="en-US" sz="2800" baseline="-25000" dirty="0" smtClean="0"/>
              <a:t>2</a:t>
            </a:r>
            <a:r>
              <a:rPr lang="en-US" altLang="en-US" sz="2800" i="1" dirty="0" smtClean="0"/>
              <a:t>V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.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altLang="en-US" sz="2800" dirty="0" smtClean="0"/>
              <a:t>Also, if we make a graph of </a:t>
            </a:r>
            <a:r>
              <a:rPr lang="en-US" altLang="en-US" sz="2800" i="1" dirty="0" smtClean="0"/>
              <a:t>V</a:t>
            </a:r>
            <a:r>
              <a:rPr lang="en-US" altLang="en-US" sz="2800" dirty="0" smtClean="0"/>
              <a:t> vs. </a:t>
            </a:r>
            <a:r>
              <a:rPr lang="en-US" altLang="en-US" sz="2800" i="1" dirty="0" smtClean="0"/>
              <a:t>P</a:t>
            </a:r>
            <a:r>
              <a:rPr lang="en-US" altLang="en-US" sz="2800" dirty="0" smtClean="0"/>
              <a:t>, it will </a:t>
            </a:r>
            <a:r>
              <a:rPr lang="en-US" altLang="en-US" sz="2800" i="1" dirty="0" smtClean="0"/>
              <a:t>not</a:t>
            </a:r>
            <a:r>
              <a:rPr lang="en-US" altLang="en-US" sz="2800" dirty="0" smtClean="0"/>
              <a:t> be linear. However, a graph of </a:t>
            </a:r>
            <a:r>
              <a:rPr lang="en-US" altLang="en-US" sz="2800" i="1" dirty="0" smtClean="0"/>
              <a:t>V</a:t>
            </a:r>
            <a:r>
              <a:rPr lang="en-US" altLang="en-US" sz="2800" dirty="0" smtClean="0"/>
              <a:t> vs. 1/</a:t>
            </a:r>
            <a:r>
              <a:rPr lang="en-US" altLang="en-US" sz="2800" i="1" dirty="0" smtClean="0"/>
              <a:t>P</a:t>
            </a:r>
            <a:r>
              <a:rPr lang="en-US" altLang="en-US" sz="2800" dirty="0" smtClean="0"/>
              <a:t> </a:t>
            </a:r>
            <a:r>
              <a:rPr lang="en-US" altLang="en-US" sz="2800" i="1" dirty="0" smtClean="0"/>
              <a:t>will</a:t>
            </a:r>
            <a:r>
              <a:rPr lang="en-US" altLang="en-US" sz="2800" dirty="0" smtClean="0"/>
              <a:t> result in a linear relationship!</a:t>
            </a:r>
          </a:p>
        </p:txBody>
      </p:sp>
      <p:grpSp>
        <p:nvGrpSpPr>
          <p:cNvPr id="11268" name="Group 26"/>
          <p:cNvGrpSpPr>
            <a:grpSpLocks/>
          </p:cNvGrpSpPr>
          <p:nvPr/>
        </p:nvGrpSpPr>
        <p:grpSpPr bwMode="auto">
          <a:xfrm>
            <a:off x="723900" y="3997325"/>
            <a:ext cx="7696200" cy="584200"/>
            <a:chOff x="456" y="2304"/>
            <a:chExt cx="4848" cy="368"/>
          </a:xfrm>
        </p:grpSpPr>
        <p:sp>
          <p:nvSpPr>
            <p:cNvPr id="11270" name="Rectangle 9"/>
            <p:cNvSpPr>
              <a:spLocks noChangeArrowheads="1"/>
            </p:cNvSpPr>
            <p:nvPr/>
          </p:nvSpPr>
          <p:spPr bwMode="auto">
            <a:xfrm>
              <a:off x="456" y="2304"/>
              <a:ext cx="484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</a:pPr>
              <a:endParaRPr lang="en-US" altLang="en-US" sz="2800">
                <a:latin typeface="Arial" charset="0"/>
              </a:endParaRPr>
            </a:p>
          </p:txBody>
        </p:sp>
        <p:sp>
          <p:nvSpPr>
            <p:cNvPr id="11271" name="Rectangle 15"/>
            <p:cNvSpPr>
              <a:spLocks noChangeArrowheads="1"/>
            </p:cNvSpPr>
            <p:nvPr/>
          </p:nvSpPr>
          <p:spPr bwMode="auto">
            <a:xfrm>
              <a:off x="2443" y="2304"/>
              <a:ext cx="11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sz="3200">
                <a:latin typeface="Arial" charset="0"/>
              </a:endParaRPr>
            </a:p>
          </p:txBody>
        </p:sp>
      </p:grpSp>
      <p:pic>
        <p:nvPicPr>
          <p:cNvPr id="8" name="Picture 7" descr="10_06_Figure.jpg"/>
          <p:cNvPicPr>
            <a:picLocks noChangeAspect="1"/>
          </p:cNvPicPr>
          <p:nvPr/>
        </p:nvPicPr>
        <p:blipFill>
          <a:blip r:embed="rId3" cstate="print"/>
          <a:srcRect b="4427"/>
          <a:stretch>
            <a:fillRect/>
          </a:stretch>
        </p:blipFill>
        <p:spPr>
          <a:xfrm>
            <a:off x="1828800" y="4343400"/>
            <a:ext cx="5410200" cy="2127368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 bwMode="auto">
          <a:xfrm flipH="1" flipV="1">
            <a:off x="6477000" y="5029200"/>
            <a:ext cx="1219200" cy="22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7696200" y="5056690"/>
            <a:ext cx="1417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906"/>
                </a:solidFill>
              </a:rPr>
              <a:t>Slope = C</a:t>
            </a:r>
            <a:endParaRPr lang="en-US" dirty="0">
              <a:solidFill>
                <a:srgbClr val="FF0906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Charles’s Law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139950"/>
            <a:ext cx="4495800" cy="22939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The </a:t>
            </a:r>
            <a:r>
              <a:rPr lang="en-US" altLang="en-US" sz="2800" dirty="0" smtClean="0">
                <a:solidFill>
                  <a:srgbClr val="FF0906"/>
                </a:solidFill>
              </a:rPr>
              <a:t>volume</a:t>
            </a:r>
            <a:r>
              <a:rPr lang="en-US" altLang="en-US" sz="2800" dirty="0" smtClean="0"/>
              <a:t> of a fixed amount of gas at </a:t>
            </a:r>
            <a:r>
              <a:rPr lang="en-US" altLang="en-US" sz="2800" dirty="0" smtClean="0">
                <a:solidFill>
                  <a:srgbClr val="0000FF"/>
                </a:solidFill>
              </a:rPr>
              <a:t>constant pressure </a:t>
            </a:r>
            <a:r>
              <a:rPr lang="en-US" altLang="en-US" sz="2800" dirty="0" smtClean="0"/>
              <a:t>is directly proportional to </a:t>
            </a:r>
            <a:br>
              <a:rPr lang="en-US" altLang="en-US" sz="2800" dirty="0" smtClean="0"/>
            </a:br>
            <a:r>
              <a:rPr lang="en-US" altLang="en-US" sz="2800" dirty="0" smtClean="0"/>
              <a:t>its </a:t>
            </a:r>
            <a:r>
              <a:rPr lang="en-US" altLang="en-US" sz="2800" dirty="0" smtClean="0">
                <a:solidFill>
                  <a:srgbClr val="FF0906"/>
                </a:solidFill>
              </a:rPr>
              <a:t>absolute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olidFill>
                  <a:srgbClr val="FF0906"/>
                </a:solidFill>
              </a:rPr>
              <a:t>temperature</a:t>
            </a:r>
            <a:r>
              <a:rPr lang="en-US" altLang="en-US" sz="2800" dirty="0" smtClean="0"/>
              <a:t>.</a:t>
            </a:r>
          </a:p>
        </p:txBody>
      </p:sp>
      <p:pic>
        <p:nvPicPr>
          <p:cNvPr id="5" name="Picture 4" descr="10_07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4572000" y="1371600"/>
            <a:ext cx="4320355" cy="41300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Mathematical Relationships of </a:t>
            </a:r>
            <a:r>
              <a:rPr lang="en-US" altLang="en-US" dirty="0" smtClean="0">
                <a:solidFill>
                  <a:srgbClr val="FF0000"/>
                </a:solidFill>
              </a:rPr>
              <a:t>Charles’s Law</a:t>
            </a:r>
          </a:p>
        </p:txBody>
      </p:sp>
      <p:sp>
        <p:nvSpPr>
          <p:cNvPr id="13315" name="Content Placeholder 1"/>
          <p:cNvSpPr>
            <a:spLocks noGrp="1"/>
          </p:cNvSpPr>
          <p:nvPr>
            <p:ph idx="1"/>
          </p:nvPr>
        </p:nvSpPr>
        <p:spPr>
          <a:xfrm>
            <a:off x="79375" y="1935163"/>
            <a:ext cx="4953000" cy="4541837"/>
          </a:xfrm>
        </p:spPr>
        <p:txBody>
          <a:bodyPr/>
          <a:lstStyle/>
          <a:p>
            <a:pPr eaLnBrk="1" hangingPunct="1"/>
            <a:r>
              <a:rPr lang="en-US" altLang="en-US" i="1" dirty="0" smtClean="0"/>
              <a:t>V</a:t>
            </a:r>
            <a:r>
              <a:rPr lang="en-US" altLang="en-US" dirty="0" smtClean="0"/>
              <a:t> = constant </a:t>
            </a:r>
            <a:r>
              <a:rPr lang="en-US" altLang="en-US" dirty="0" smtClean="0">
                <a:sym typeface="Symbol" pitchFamily="18" charset="2"/>
              </a:rPr>
              <a:t></a:t>
            </a:r>
            <a:r>
              <a:rPr lang="en-US" altLang="en-US" dirty="0" smtClean="0"/>
              <a:t> </a:t>
            </a:r>
            <a:r>
              <a:rPr lang="en-US" altLang="en-US" i="1" dirty="0" smtClean="0"/>
              <a:t>T</a:t>
            </a:r>
          </a:p>
          <a:p>
            <a:pPr eaLnBrk="1" hangingPunct="1"/>
            <a:r>
              <a:rPr lang="en-US" altLang="en-US" dirty="0" smtClean="0"/>
              <a:t>This means, if we compare two conditions:  </a:t>
            </a:r>
            <a:r>
              <a:rPr lang="en-US" altLang="en-US" i="1" dirty="0" smtClean="0">
                <a:solidFill>
                  <a:srgbClr val="FF0906"/>
                </a:solidFill>
              </a:rPr>
              <a:t>V</a:t>
            </a:r>
            <a:r>
              <a:rPr lang="en-US" altLang="en-US" baseline="-25000" dirty="0" smtClean="0">
                <a:solidFill>
                  <a:srgbClr val="FF0906"/>
                </a:solidFill>
              </a:rPr>
              <a:t>1</a:t>
            </a:r>
            <a:r>
              <a:rPr lang="en-US" altLang="en-US" dirty="0" smtClean="0">
                <a:solidFill>
                  <a:srgbClr val="FF0906"/>
                </a:solidFill>
              </a:rPr>
              <a:t>/</a:t>
            </a:r>
            <a:r>
              <a:rPr lang="en-US" altLang="en-US" i="1" dirty="0" smtClean="0">
                <a:solidFill>
                  <a:srgbClr val="FF0906"/>
                </a:solidFill>
              </a:rPr>
              <a:t>T</a:t>
            </a:r>
            <a:r>
              <a:rPr lang="en-US" altLang="en-US" baseline="-25000" dirty="0" smtClean="0">
                <a:solidFill>
                  <a:srgbClr val="FF0906"/>
                </a:solidFill>
              </a:rPr>
              <a:t>1</a:t>
            </a:r>
            <a:r>
              <a:rPr lang="en-US" altLang="en-US" dirty="0" smtClean="0">
                <a:solidFill>
                  <a:srgbClr val="FF0906"/>
                </a:solidFill>
              </a:rPr>
              <a:t> = </a:t>
            </a:r>
            <a:r>
              <a:rPr lang="en-US" altLang="en-US" i="1" dirty="0" smtClean="0">
                <a:solidFill>
                  <a:srgbClr val="FF0906"/>
                </a:solidFill>
              </a:rPr>
              <a:t>V</a:t>
            </a:r>
            <a:r>
              <a:rPr lang="en-US" altLang="en-US" baseline="-25000" dirty="0" smtClean="0">
                <a:solidFill>
                  <a:srgbClr val="FF0906"/>
                </a:solidFill>
              </a:rPr>
              <a:t>2</a:t>
            </a:r>
            <a:r>
              <a:rPr lang="en-US" altLang="en-US" dirty="0" smtClean="0">
                <a:solidFill>
                  <a:srgbClr val="FF0906"/>
                </a:solidFill>
              </a:rPr>
              <a:t>/</a:t>
            </a:r>
            <a:r>
              <a:rPr lang="en-US" altLang="en-US" i="1" dirty="0" smtClean="0">
                <a:solidFill>
                  <a:srgbClr val="FF0906"/>
                </a:solidFill>
              </a:rPr>
              <a:t>T</a:t>
            </a:r>
            <a:r>
              <a:rPr lang="en-US" altLang="en-US" baseline="-25000" dirty="0" smtClean="0">
                <a:solidFill>
                  <a:srgbClr val="FF0906"/>
                </a:solidFill>
              </a:rPr>
              <a:t>2</a:t>
            </a:r>
            <a:r>
              <a:rPr lang="en-US" altLang="en-US" dirty="0" smtClean="0"/>
              <a:t>.</a:t>
            </a:r>
          </a:p>
          <a:p>
            <a:pPr eaLnBrk="1" hangingPunct="1"/>
            <a:r>
              <a:rPr lang="en-US" altLang="en-US" dirty="0" smtClean="0"/>
              <a:t>Also, if we make a graph of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vs. 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, it will be linear.</a:t>
            </a:r>
          </a:p>
        </p:txBody>
      </p:sp>
      <p:grpSp>
        <p:nvGrpSpPr>
          <p:cNvPr id="13316" name="Group 30"/>
          <p:cNvGrpSpPr>
            <a:grpSpLocks/>
          </p:cNvGrpSpPr>
          <p:nvPr/>
        </p:nvGrpSpPr>
        <p:grpSpPr bwMode="auto">
          <a:xfrm>
            <a:off x="450850" y="1758950"/>
            <a:ext cx="3886200" cy="822325"/>
            <a:chOff x="240" y="1137"/>
            <a:chExt cx="2448" cy="518"/>
          </a:xfrm>
        </p:grpSpPr>
        <p:sp>
          <p:nvSpPr>
            <p:cNvPr id="13318" name="Rectangle 13"/>
            <p:cNvSpPr>
              <a:spLocks noChangeArrowheads="1"/>
            </p:cNvSpPr>
            <p:nvPr/>
          </p:nvSpPr>
          <p:spPr bwMode="auto">
            <a:xfrm>
              <a:off x="240" y="1293"/>
              <a:ext cx="244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buFontTx/>
                <a:buChar char="•"/>
              </a:pPr>
              <a:endParaRPr lang="en-US" altLang="en-US" sz="2800">
                <a:latin typeface="Arial" charset="0"/>
              </a:endParaRPr>
            </a:p>
          </p:txBody>
        </p:sp>
        <p:sp>
          <p:nvSpPr>
            <p:cNvPr id="13319" name="Rectangle 17"/>
            <p:cNvSpPr>
              <a:spLocks noChangeArrowheads="1"/>
            </p:cNvSpPr>
            <p:nvPr/>
          </p:nvSpPr>
          <p:spPr bwMode="auto">
            <a:xfrm>
              <a:off x="1361" y="1137"/>
              <a:ext cx="11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sz="3600" i="1">
                <a:latin typeface="Arial" charset="0"/>
              </a:endParaRPr>
            </a:p>
          </p:txBody>
        </p:sp>
        <p:sp>
          <p:nvSpPr>
            <p:cNvPr id="13320" name="Rectangle 20"/>
            <p:cNvSpPr>
              <a:spLocks noChangeArrowheads="1"/>
            </p:cNvSpPr>
            <p:nvPr/>
          </p:nvSpPr>
          <p:spPr bwMode="auto">
            <a:xfrm>
              <a:off x="1508" y="1248"/>
              <a:ext cx="11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sz="3600">
                <a:latin typeface="Arial" charset="0"/>
              </a:endParaRPr>
            </a:p>
          </p:txBody>
        </p:sp>
      </p:grpSp>
      <p:pic>
        <p:nvPicPr>
          <p:cNvPr id="9" name="Picture 8" descr="10_08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5033827" y="1905000"/>
            <a:ext cx="3881573" cy="382523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01612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Avogadro’s Law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" y="722313"/>
            <a:ext cx="8763000" cy="25146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The </a:t>
            </a:r>
            <a:r>
              <a:rPr lang="en-US" altLang="en-US" sz="2800" dirty="0" smtClean="0">
                <a:solidFill>
                  <a:srgbClr val="FF0000"/>
                </a:solidFill>
              </a:rPr>
              <a:t>volume</a:t>
            </a:r>
            <a:r>
              <a:rPr lang="en-US" altLang="en-US" sz="2800" dirty="0" smtClean="0"/>
              <a:t> of a gas at constant temperature and pressure is directly proportional to </a:t>
            </a:r>
            <a:r>
              <a:rPr lang="en-US" altLang="en-US" sz="2800" dirty="0" smtClean="0">
                <a:solidFill>
                  <a:srgbClr val="FF0000"/>
                </a:solidFill>
              </a:rPr>
              <a:t>the number of moles</a:t>
            </a:r>
            <a:r>
              <a:rPr lang="en-US" altLang="en-US" sz="2800" dirty="0" smtClean="0"/>
              <a:t> of the gas.</a:t>
            </a:r>
          </a:p>
          <a:p>
            <a:pPr eaLnBrk="1" hangingPunct="1"/>
            <a:r>
              <a:rPr lang="en-US" altLang="en-US" sz="2800" dirty="0" smtClean="0"/>
              <a:t>Also, at STP (</a:t>
            </a:r>
            <a:r>
              <a:rPr lang="en-US" altLang="en-US" sz="2800" dirty="0" smtClean="0">
                <a:solidFill>
                  <a:srgbClr val="0000FF"/>
                </a:solidFill>
              </a:rPr>
              <a:t>1 </a:t>
            </a:r>
            <a:r>
              <a:rPr lang="en-US" altLang="en-US" sz="2800" dirty="0" err="1" smtClean="0">
                <a:solidFill>
                  <a:srgbClr val="0000FF"/>
                </a:solidFill>
              </a:rPr>
              <a:t>atm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smtClean="0">
                <a:solidFill>
                  <a:srgbClr val="0000FF"/>
                </a:solidFill>
              </a:rPr>
              <a:t>and 0ºC</a:t>
            </a:r>
            <a:r>
              <a:rPr lang="en-US" altLang="en-US" sz="2800" dirty="0" smtClean="0"/>
              <a:t>), one mole of gas occupies </a:t>
            </a:r>
            <a:r>
              <a:rPr lang="en-US" altLang="en-US" sz="2800" dirty="0" smtClean="0">
                <a:solidFill>
                  <a:srgbClr val="FF0000"/>
                </a:solidFill>
              </a:rPr>
              <a:t>22.4 L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Mathematically: </a:t>
            </a:r>
            <a:r>
              <a:rPr lang="en-US" altLang="en-US" sz="2800" i="1" dirty="0" smtClean="0"/>
              <a:t>V</a:t>
            </a:r>
            <a:r>
              <a:rPr lang="en-US" altLang="en-US" sz="2800" dirty="0" smtClean="0"/>
              <a:t> = constant </a:t>
            </a:r>
            <a:r>
              <a:rPr lang="en-US" altLang="en-US" sz="2800" dirty="0" smtClean="0">
                <a:sym typeface="Symbol" pitchFamily="18" charset="2"/>
              </a:rPr>
              <a:t></a:t>
            </a:r>
            <a:r>
              <a:rPr lang="en-US" altLang="en-US" sz="2800" dirty="0" smtClean="0"/>
              <a:t> </a:t>
            </a:r>
            <a:r>
              <a:rPr lang="en-US" altLang="en-US" sz="2800" i="1" dirty="0" smtClean="0"/>
              <a:t>n</a:t>
            </a:r>
            <a:r>
              <a:rPr lang="en-US" altLang="en-US" sz="2800" dirty="0" smtClean="0"/>
              <a:t>, or </a:t>
            </a:r>
            <a:r>
              <a:rPr lang="en-US" altLang="en-US" sz="2800" i="1" dirty="0" smtClean="0"/>
              <a:t>V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/</a:t>
            </a:r>
            <a:r>
              <a:rPr lang="en-US" altLang="en-US" sz="2800" i="1" dirty="0" smtClean="0"/>
              <a:t>n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 = </a:t>
            </a:r>
            <a:r>
              <a:rPr lang="en-US" altLang="en-US" sz="2800" i="1" dirty="0" smtClean="0"/>
              <a:t>V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/</a:t>
            </a:r>
            <a:r>
              <a:rPr lang="en-US" altLang="en-US" sz="2800" i="1" dirty="0" smtClean="0"/>
              <a:t>n</a:t>
            </a:r>
            <a:r>
              <a:rPr lang="en-US" altLang="en-US" sz="2800" baseline="-25000" dirty="0" smtClean="0"/>
              <a:t>2</a:t>
            </a:r>
            <a:endParaRPr lang="en-US" altLang="en-US" sz="2800" dirty="0" smtClean="0"/>
          </a:p>
        </p:txBody>
      </p:sp>
      <p:grpSp>
        <p:nvGrpSpPr>
          <p:cNvPr id="14340" name="Group 13"/>
          <p:cNvGrpSpPr>
            <a:grpSpLocks/>
          </p:cNvGrpSpPr>
          <p:nvPr/>
        </p:nvGrpSpPr>
        <p:grpSpPr bwMode="auto">
          <a:xfrm>
            <a:off x="685800" y="2590800"/>
            <a:ext cx="5060950" cy="646113"/>
            <a:chOff x="432" y="1906"/>
            <a:chExt cx="3188" cy="407"/>
          </a:xfrm>
        </p:grpSpPr>
        <p:sp>
          <p:nvSpPr>
            <p:cNvPr id="14343" name="Rectangle 8"/>
            <p:cNvSpPr>
              <a:spLocks noChangeArrowheads="1"/>
            </p:cNvSpPr>
            <p:nvPr/>
          </p:nvSpPr>
          <p:spPr bwMode="auto">
            <a:xfrm>
              <a:off x="432" y="1968"/>
              <a:ext cx="312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FontTx/>
                <a:buChar char="•"/>
              </a:pPr>
              <a:endParaRPr lang="en-US" altLang="en-US" sz="2800">
                <a:latin typeface="Arial" charset="0"/>
              </a:endParaRPr>
            </a:p>
          </p:txBody>
        </p:sp>
        <p:sp>
          <p:nvSpPr>
            <p:cNvPr id="14344" name="Rectangle 12"/>
            <p:cNvSpPr>
              <a:spLocks noChangeArrowheads="1"/>
            </p:cNvSpPr>
            <p:nvPr/>
          </p:nvSpPr>
          <p:spPr bwMode="auto">
            <a:xfrm>
              <a:off x="3504" y="1906"/>
              <a:ext cx="11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sz="3600" i="1">
                <a:latin typeface="Arial" charset="0"/>
              </a:endParaRPr>
            </a:p>
          </p:txBody>
        </p:sp>
      </p:grpSp>
      <p:sp>
        <p:nvSpPr>
          <p:cNvPr id="14341" name="Rectangle 17"/>
          <p:cNvSpPr>
            <a:spLocks noChangeArrowheads="1"/>
          </p:cNvSpPr>
          <p:nvPr/>
        </p:nvSpPr>
        <p:spPr bwMode="auto">
          <a:xfrm>
            <a:off x="8424863" y="14382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pic>
        <p:nvPicPr>
          <p:cNvPr id="9" name="Picture 8" descr="10_09_Figure.jpg"/>
          <p:cNvPicPr>
            <a:picLocks noChangeAspect="1"/>
          </p:cNvPicPr>
          <p:nvPr/>
        </p:nvPicPr>
        <p:blipFill>
          <a:blip r:embed="rId3" cstate="print"/>
          <a:srcRect b="3242"/>
          <a:stretch>
            <a:fillRect/>
          </a:stretch>
        </p:blipFill>
        <p:spPr>
          <a:xfrm>
            <a:off x="2286000" y="3657600"/>
            <a:ext cx="5361494" cy="2971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-4763" y="0"/>
            <a:ext cx="9144001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Ideal-Gas Equation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614488"/>
            <a:ext cx="7772400" cy="1524000"/>
          </a:xfrm>
        </p:spPr>
        <p:txBody>
          <a:bodyPr/>
          <a:lstStyle/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sz="2800" i="1" smtClean="0"/>
              <a:t>V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Symbol" pitchFamily="18" charset="2"/>
                <a:sym typeface="Symbol" pitchFamily="18" charset="2"/>
              </a:rPr>
              <a:t></a:t>
            </a:r>
            <a:r>
              <a:rPr lang="en-US" altLang="en-US" sz="2800" smtClean="0"/>
              <a:t> 1/</a:t>
            </a:r>
            <a:r>
              <a:rPr lang="en-US" altLang="en-US" sz="2800" i="1" smtClean="0"/>
              <a:t>P</a:t>
            </a:r>
            <a:r>
              <a:rPr lang="en-US" altLang="en-US" sz="2800" smtClean="0"/>
              <a:t>  (Boyle’s law).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sz="2800" i="1" smtClean="0"/>
              <a:t>V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Symbol" pitchFamily="18" charset="2"/>
                <a:sym typeface="Symbol" pitchFamily="18" charset="2"/>
              </a:rPr>
              <a:t></a:t>
            </a:r>
            <a:r>
              <a:rPr lang="en-US" altLang="en-US" sz="2800" smtClean="0"/>
              <a:t> </a:t>
            </a:r>
            <a:r>
              <a:rPr lang="en-US" altLang="en-US" sz="2800" i="1" smtClean="0"/>
              <a:t>T</a:t>
            </a:r>
            <a:r>
              <a:rPr lang="en-US" altLang="en-US" sz="2800" smtClean="0"/>
              <a:t>  (Charles’s law).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en-US" sz="2800" i="1" smtClean="0"/>
              <a:t>V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Symbol" pitchFamily="18" charset="2"/>
                <a:sym typeface="Symbol" pitchFamily="18" charset="2"/>
              </a:rPr>
              <a:t></a:t>
            </a:r>
            <a:r>
              <a:rPr lang="en-US" altLang="en-US" sz="2800" smtClean="0"/>
              <a:t> </a:t>
            </a:r>
            <a:r>
              <a:rPr lang="en-US" altLang="en-US" sz="2800" i="1" smtClean="0"/>
              <a:t>n</a:t>
            </a:r>
            <a:r>
              <a:rPr lang="en-US" altLang="en-US" sz="2800" smtClean="0"/>
              <a:t>  (Avogadro’s law).</a:t>
            </a:r>
          </a:p>
        </p:txBody>
      </p:sp>
      <p:sp>
        <p:nvSpPr>
          <p:cNvPr id="15364" name="Rectangle 8"/>
          <p:cNvSpPr>
            <a:spLocks noChangeArrowheads="1"/>
          </p:cNvSpPr>
          <p:nvPr/>
        </p:nvSpPr>
        <p:spPr bwMode="auto">
          <a:xfrm>
            <a:off x="711200" y="1004888"/>
            <a:ext cx="472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altLang="en-US" sz="3200">
                <a:latin typeface="Arial" charset="0"/>
              </a:rPr>
              <a:t>So far we’ve seen that</a:t>
            </a:r>
          </a:p>
        </p:txBody>
      </p:sp>
      <p:sp>
        <p:nvSpPr>
          <p:cNvPr id="15365" name="Rectangle 10"/>
          <p:cNvSpPr>
            <a:spLocks noChangeArrowheads="1"/>
          </p:cNvSpPr>
          <p:nvPr/>
        </p:nvSpPr>
        <p:spPr bwMode="auto">
          <a:xfrm>
            <a:off x="711200" y="2916238"/>
            <a:ext cx="5257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latin typeface="Arial" charset="0"/>
              </a:rPr>
              <a:t>Combining these, we get</a:t>
            </a:r>
          </a:p>
        </p:txBody>
      </p:sp>
      <p:grpSp>
        <p:nvGrpSpPr>
          <p:cNvPr id="15366" name="Group 18"/>
          <p:cNvGrpSpPr>
            <a:grpSpLocks/>
          </p:cNvGrpSpPr>
          <p:nvPr/>
        </p:nvGrpSpPr>
        <p:grpSpPr bwMode="auto">
          <a:xfrm>
            <a:off x="1960563" y="3489325"/>
            <a:ext cx="1709737" cy="1190625"/>
            <a:chOff x="2338" y="2976"/>
            <a:chExt cx="1077" cy="750"/>
          </a:xfrm>
        </p:grpSpPr>
        <p:sp>
          <p:nvSpPr>
            <p:cNvPr id="15368" name="Rectangle 12"/>
            <p:cNvSpPr>
              <a:spLocks noChangeArrowheads="1"/>
            </p:cNvSpPr>
            <p:nvPr/>
          </p:nvSpPr>
          <p:spPr bwMode="auto">
            <a:xfrm>
              <a:off x="2338" y="3149"/>
              <a:ext cx="5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>
                  <a:latin typeface="Arial" charset="0"/>
                </a:rPr>
                <a:t>V</a:t>
              </a:r>
              <a:r>
                <a:rPr lang="en-US" altLang="en-US" sz="3600">
                  <a:latin typeface="Arial" charset="0"/>
                </a:rPr>
                <a:t> </a:t>
              </a:r>
              <a:r>
                <a:rPr lang="en-US" altLang="en-US" sz="3600">
                  <a:latin typeface="Arial" charset="0"/>
                  <a:sym typeface="Symbol" pitchFamily="18" charset="2"/>
                </a:rPr>
                <a:t></a:t>
              </a:r>
              <a:endParaRPr lang="en-US" altLang="en-US" sz="3200" i="1">
                <a:latin typeface="Arial" charset="0"/>
              </a:endParaRPr>
            </a:p>
          </p:txBody>
        </p:sp>
        <p:sp>
          <p:nvSpPr>
            <p:cNvPr id="15369" name="Rectangle 13"/>
            <p:cNvSpPr>
              <a:spLocks noChangeArrowheads="1"/>
            </p:cNvSpPr>
            <p:nvPr/>
          </p:nvSpPr>
          <p:spPr bwMode="auto">
            <a:xfrm>
              <a:off x="2963" y="2976"/>
              <a:ext cx="452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600" i="1">
                  <a:latin typeface="Arial" charset="0"/>
                </a:rPr>
                <a:t>nT</a:t>
              </a:r>
            </a:p>
            <a:p>
              <a:pPr algn="ctr"/>
              <a:r>
                <a:rPr lang="en-US" altLang="en-US" sz="3600" i="1">
                  <a:latin typeface="Arial" charset="0"/>
                </a:rPr>
                <a:t>P</a:t>
              </a:r>
            </a:p>
          </p:txBody>
        </p:sp>
        <p:sp>
          <p:nvSpPr>
            <p:cNvPr id="15370" name="Line 14"/>
            <p:cNvSpPr>
              <a:spLocks noChangeShapeType="1"/>
            </p:cNvSpPr>
            <p:nvPr/>
          </p:nvSpPr>
          <p:spPr bwMode="auto">
            <a:xfrm>
              <a:off x="2965" y="3361"/>
              <a:ext cx="43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15963" y="4572000"/>
            <a:ext cx="7361237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+mn-lt"/>
              </a:rPr>
              <a:t>Finally, to make it an equality, we use a constant of proportionality (</a:t>
            </a:r>
            <a:r>
              <a:rPr lang="en-US" sz="3200" i="1" dirty="0">
                <a:latin typeface="+mn-lt"/>
              </a:rPr>
              <a:t>R</a:t>
            </a:r>
            <a:r>
              <a:rPr lang="en-US" sz="3200" dirty="0">
                <a:latin typeface="+mn-lt"/>
              </a:rPr>
              <a:t>) and reorganize; this gives the Ideal-Gas Equation: </a:t>
            </a:r>
            <a:r>
              <a:rPr lang="en-US" sz="3200" i="1" dirty="0">
                <a:latin typeface="+mn-lt"/>
              </a:rPr>
              <a:t>PV</a:t>
            </a:r>
            <a:r>
              <a:rPr lang="en-US" sz="3200" dirty="0">
                <a:latin typeface="+mn-lt"/>
              </a:rPr>
              <a:t>  =  </a:t>
            </a:r>
            <a:r>
              <a:rPr lang="en-US" sz="3200" i="1" dirty="0" err="1">
                <a:latin typeface="+mn-lt"/>
              </a:rPr>
              <a:t>n</a:t>
            </a:r>
            <a:r>
              <a:rPr lang="en-US" sz="3200" i="1" dirty="0" err="1">
                <a:solidFill>
                  <a:srgbClr val="FF0906"/>
                </a:solidFill>
                <a:latin typeface="+mn-lt"/>
              </a:rPr>
              <a:t>R</a:t>
            </a:r>
            <a:r>
              <a:rPr lang="en-US" sz="3200" i="1" dirty="0" err="1">
                <a:latin typeface="+mn-lt"/>
              </a:rPr>
              <a:t>T</a:t>
            </a:r>
            <a:r>
              <a:rPr lang="en-US" sz="3200" dirty="0">
                <a:latin typeface="+mn-lt"/>
              </a:rPr>
              <a:t>.</a:t>
            </a:r>
            <a:endParaRPr lang="en-US" sz="3200" i="1" dirty="0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813"/>
            <a:ext cx="9144000" cy="1042987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FF0906"/>
                </a:solidFill>
              </a:rPr>
              <a:t>Density</a:t>
            </a:r>
            <a:r>
              <a:rPr lang="en-US" altLang="en-US" sz="3200" b="1" dirty="0" smtClean="0"/>
              <a:t> of Gases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066800"/>
            <a:ext cx="8763000" cy="56388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en-US" dirty="0" smtClean="0"/>
              <a:t>	If we divide both sides of the ideal-gas equation by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and by </a:t>
            </a:r>
            <a:r>
              <a:rPr lang="en-US" altLang="en-US" i="1" dirty="0" err="1" smtClean="0"/>
              <a:t>RT</a:t>
            </a:r>
            <a:r>
              <a:rPr lang="en-US" altLang="en-US" dirty="0" smtClean="0"/>
              <a:t>, we get</a:t>
            </a:r>
          </a:p>
          <a:p>
            <a:pPr eaLnBrk="1" hangingPunct="1">
              <a:buFontTx/>
              <a:buNone/>
              <a:defRPr/>
            </a:pPr>
            <a:r>
              <a:rPr lang="en-US" altLang="en-US" dirty="0"/>
              <a:t>	</a:t>
            </a:r>
            <a:r>
              <a:rPr lang="en-US" altLang="en-US" dirty="0" smtClean="0"/>
              <a:t>			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 =  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RT</a:t>
            </a:r>
            <a:r>
              <a:rPr lang="en-US" altLang="en-US" dirty="0" smtClean="0"/>
              <a:t>.</a:t>
            </a:r>
            <a:endParaRPr lang="en-US" altLang="en-US" i="1" dirty="0" smtClean="0"/>
          </a:p>
          <a:p>
            <a:pPr marL="342900" lvl="1" indent="-342900" eaLnBrk="1" hangingPunct="1">
              <a:buFontTx/>
              <a:buNone/>
              <a:defRPr/>
            </a:pPr>
            <a:r>
              <a:rPr lang="en-US" altLang="en-US" sz="3200" dirty="0" smtClean="0"/>
              <a:t>Also: moles </a:t>
            </a:r>
            <a:r>
              <a:rPr lang="en-US" altLang="en-US" sz="3200" dirty="0" smtClean="0">
                <a:sym typeface="Symbol" pitchFamily="18" charset="2"/>
              </a:rPr>
              <a:t></a:t>
            </a:r>
            <a:r>
              <a:rPr lang="en-US" altLang="en-US" sz="3200" dirty="0" smtClean="0"/>
              <a:t> molecular mass = mass</a:t>
            </a:r>
          </a:p>
          <a:p>
            <a:pPr eaLnBrk="1" hangingPunct="1">
              <a:buFontTx/>
              <a:buNone/>
              <a:defRPr/>
            </a:pPr>
            <a:r>
              <a:rPr lang="en-US" altLang="en-US" i="1" dirty="0" smtClean="0"/>
              <a:t>				n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itchFamily="18" charset="2"/>
              </a:rPr>
              <a:t> M = </a:t>
            </a:r>
            <a:r>
              <a:rPr lang="en-US" altLang="en-US" i="1" dirty="0" smtClean="0">
                <a:sym typeface="Symbol" pitchFamily="18" charset="2"/>
              </a:rPr>
              <a:t>m</a:t>
            </a:r>
            <a:r>
              <a:rPr lang="en-US" altLang="en-US" dirty="0" smtClean="0">
                <a:sym typeface="Symbol" pitchFamily="18" charset="2"/>
              </a:rPr>
              <a:t>.</a:t>
            </a:r>
            <a:endParaRPr lang="en-US" altLang="en-US" i="1" dirty="0" smtClean="0"/>
          </a:p>
          <a:p>
            <a:pPr eaLnBrk="1" hangingPunct="1">
              <a:buFontTx/>
              <a:buNone/>
              <a:defRPr/>
            </a:pPr>
            <a:r>
              <a:rPr lang="en-US" altLang="en-US" dirty="0" smtClean="0"/>
              <a:t>If we multiply both sides by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, we get</a:t>
            </a:r>
          </a:p>
          <a:p>
            <a:pPr eaLnBrk="1" hangingPunct="1">
              <a:buFontTx/>
              <a:buNone/>
              <a:defRPr/>
            </a:pPr>
            <a:r>
              <a:rPr lang="en-US" altLang="en-US" dirty="0"/>
              <a:t>	</a:t>
            </a:r>
            <a:r>
              <a:rPr lang="en-US" altLang="en-US" dirty="0" smtClean="0"/>
              <a:t>			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MP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RT</a:t>
            </a:r>
            <a:endParaRPr lang="en-US" altLang="en-US" dirty="0" smtClean="0"/>
          </a:p>
          <a:p>
            <a:pPr eaLnBrk="1" hangingPunct="1">
              <a:buFontTx/>
              <a:buNone/>
              <a:defRPr/>
            </a:pPr>
            <a:r>
              <a:rPr lang="en-US" altLang="en-US" dirty="0" smtClean="0"/>
              <a:t>and </a:t>
            </a:r>
            <a:r>
              <a:rPr lang="en-US" altLang="en-US" i="1" dirty="0" smtClean="0">
                <a:solidFill>
                  <a:srgbClr val="FF0906"/>
                </a:solidFill>
              </a:rPr>
              <a:t>m</a:t>
            </a:r>
            <a:r>
              <a:rPr lang="en-US" altLang="en-US" dirty="0" smtClean="0">
                <a:solidFill>
                  <a:srgbClr val="FF0906"/>
                </a:solidFill>
              </a:rPr>
              <a:t>/</a:t>
            </a:r>
            <a:r>
              <a:rPr lang="en-US" altLang="en-US" i="1" dirty="0" smtClean="0">
                <a:solidFill>
                  <a:srgbClr val="FF0906"/>
                </a:solidFill>
              </a:rPr>
              <a:t>V</a:t>
            </a:r>
            <a:r>
              <a:rPr lang="en-US" altLang="en-US" dirty="0" smtClean="0">
                <a:solidFill>
                  <a:srgbClr val="FF0906"/>
                </a:solidFill>
              </a:rPr>
              <a:t> is density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d</a:t>
            </a:r>
            <a:r>
              <a:rPr lang="en-US" altLang="en-US" dirty="0" smtClean="0"/>
              <a:t>; the result is:</a:t>
            </a:r>
          </a:p>
          <a:p>
            <a:pPr eaLnBrk="1" hangingPunct="1">
              <a:buFontTx/>
              <a:buNone/>
              <a:defRPr/>
            </a:pPr>
            <a:r>
              <a:rPr lang="en-US" altLang="en-US" dirty="0"/>
              <a:t>	</a:t>
            </a:r>
            <a:r>
              <a:rPr lang="en-US" altLang="en-US" dirty="0" smtClean="0"/>
              <a:t>			</a:t>
            </a:r>
            <a:r>
              <a:rPr lang="en-US" altLang="en-US" i="1" dirty="0" smtClean="0">
                <a:solidFill>
                  <a:srgbClr val="FF0906"/>
                </a:solidFill>
              </a:rPr>
              <a:t>d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MP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RT</a:t>
            </a:r>
            <a:r>
              <a:rPr lang="en-US" altLang="en-US" dirty="0" smtClean="0"/>
              <a:t>.</a:t>
            </a:r>
            <a:endParaRPr lang="en-US" altLang="en-US" i="1" dirty="0" smtClean="0"/>
          </a:p>
          <a:p>
            <a:pPr lvl="1" algn="ctr" eaLnBrk="1" hangingPunct="1">
              <a:defRPr/>
            </a:pPr>
            <a:endParaRPr lang="en-US" altLang="en-US" sz="3200" dirty="0" smtClean="0">
              <a:solidFill>
                <a:srgbClr val="FF0906"/>
              </a:solidFill>
            </a:endParaRPr>
          </a:p>
          <a:p>
            <a:pPr lvl="1" algn="ctr" eaLnBrk="1" hangingPunct="1">
              <a:defRPr/>
            </a:pPr>
            <a:endParaRPr lang="en-US" altLang="en-US" dirty="0" smtClean="0">
              <a:solidFill>
                <a:srgbClr val="FF0906"/>
              </a:solidFill>
            </a:endParaRPr>
          </a:p>
        </p:txBody>
      </p:sp>
      <p:grpSp>
        <p:nvGrpSpPr>
          <p:cNvPr id="16388" name="Group 11"/>
          <p:cNvGrpSpPr>
            <a:grpSpLocks/>
          </p:cNvGrpSpPr>
          <p:nvPr/>
        </p:nvGrpSpPr>
        <p:grpSpPr bwMode="auto">
          <a:xfrm>
            <a:off x="3632200" y="2336800"/>
            <a:ext cx="1693863" cy="1004888"/>
            <a:chOff x="2310" y="2304"/>
            <a:chExt cx="1067" cy="633"/>
          </a:xfrm>
        </p:grpSpPr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2310" y="2304"/>
              <a:ext cx="11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altLang="en-US" sz="4000" i="1">
                <a:latin typeface="Arial" charset="0"/>
              </a:endParaRPr>
            </a:p>
          </p:txBody>
        </p:sp>
        <p:sp>
          <p:nvSpPr>
            <p:cNvPr id="16390" name="Rectangle 7"/>
            <p:cNvSpPr>
              <a:spLocks noChangeArrowheads="1"/>
            </p:cNvSpPr>
            <p:nvPr/>
          </p:nvSpPr>
          <p:spPr bwMode="auto">
            <a:xfrm>
              <a:off x="3261" y="2310"/>
              <a:ext cx="11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altLang="en-US" sz="4000" i="1">
                <a:latin typeface="Arial" charset="0"/>
              </a:endParaRPr>
            </a:p>
          </p:txBody>
        </p:sp>
        <p:sp>
          <p:nvSpPr>
            <p:cNvPr id="16391" name="Rectangle 9"/>
            <p:cNvSpPr>
              <a:spLocks noChangeArrowheads="1"/>
            </p:cNvSpPr>
            <p:nvPr/>
          </p:nvSpPr>
          <p:spPr bwMode="auto">
            <a:xfrm>
              <a:off x="2666" y="2491"/>
              <a:ext cx="11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sz="4000">
                <a:latin typeface="Arial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FF0906"/>
                </a:solidFill>
              </a:rPr>
              <a:t>Density &amp; Molar Mass </a:t>
            </a:r>
            <a:r>
              <a:rPr lang="en-US" altLang="en-US" dirty="0" smtClean="0"/>
              <a:t>of a Gas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To recap: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One needs to know only the molecular mass, the pressure, and the temperature to calculate the density of a gas.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dirty="0" smtClean="0"/>
              <a:t>d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MP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Also, if we know the mass, volume, and temperature of a gas, we can find its molar mass.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dirty="0" smtClean="0"/>
              <a:t>M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mRT</a:t>
            </a:r>
            <a:r>
              <a:rPr lang="en-US" altLang="en-US" dirty="0" smtClean="0"/>
              <a:t>/</a:t>
            </a:r>
            <a:r>
              <a:rPr lang="en-US" altLang="en-US" i="1" dirty="0" smtClean="0"/>
              <a:t>PV = m(1/n), that is </a:t>
            </a:r>
            <a:r>
              <a:rPr lang="en-US" altLang="en-US" i="1" dirty="0" smtClean="0">
                <a:solidFill>
                  <a:srgbClr val="FF0906"/>
                </a:solidFill>
              </a:rPr>
              <a:t>m=</a:t>
            </a:r>
            <a:r>
              <a:rPr lang="en-US" altLang="en-US" i="1" dirty="0" err="1" smtClean="0">
                <a:solidFill>
                  <a:srgbClr val="FF0906"/>
                </a:solidFill>
              </a:rPr>
              <a:t>nM</a:t>
            </a:r>
            <a:endParaRPr lang="en-US" altLang="en-US" i="1" dirty="0" smtClean="0">
              <a:solidFill>
                <a:srgbClr val="FF0906"/>
              </a:solidFill>
            </a:endParaRPr>
          </a:p>
        </p:txBody>
      </p:sp>
      <p:sp>
        <p:nvSpPr>
          <p:cNvPr id="17412" name="Rectangle 8"/>
          <p:cNvSpPr>
            <a:spLocks noChangeArrowheads="1"/>
          </p:cNvSpPr>
          <p:nvPr/>
        </p:nvSpPr>
        <p:spPr bwMode="auto">
          <a:xfrm>
            <a:off x="381000" y="4267200"/>
            <a:ext cx="7696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altLang="en-US" sz="3200">
                <a:latin typeface="Arial" charset="0"/>
              </a:rPr>
              <a:t>	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 smtClean="0"/>
              <a:t>Volume and Chemical Reactions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839200" cy="4724400"/>
          </a:xfrm>
        </p:spPr>
        <p:txBody>
          <a:bodyPr/>
          <a:lstStyle/>
          <a:p>
            <a:r>
              <a:rPr lang="en-US" altLang="en-US" dirty="0" smtClean="0"/>
              <a:t>The balanced equation tells us relative amounts of moles in a reaction, whether the compared materials are products or reactants.</a:t>
            </a:r>
          </a:p>
          <a:p>
            <a:r>
              <a:rPr lang="en-US" altLang="en-US" i="1" dirty="0" smtClean="0"/>
              <a:t>PV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nRT</a:t>
            </a:r>
            <a:endParaRPr lang="en-US" altLang="en-US" i="1" dirty="0" smtClean="0"/>
          </a:p>
          <a:p>
            <a:r>
              <a:rPr lang="en-US" altLang="en-US" dirty="0" smtClean="0"/>
              <a:t>So, we can relate volume for gases, as well.</a:t>
            </a:r>
          </a:p>
          <a:p>
            <a:r>
              <a:rPr lang="en-US" altLang="en-US" dirty="0" smtClean="0"/>
              <a:t>For example: use (</a:t>
            </a:r>
            <a:r>
              <a:rPr lang="en-US" altLang="en-US" i="1" dirty="0" smtClean="0"/>
              <a:t>PV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nRT</a:t>
            </a:r>
            <a:r>
              <a:rPr lang="en-US" altLang="en-US" dirty="0" smtClean="0"/>
              <a:t>) for substance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to get moles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; use the mole ratio from the balanced equation to get moles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; and (</a:t>
            </a:r>
            <a:r>
              <a:rPr lang="en-US" altLang="en-US" i="1" dirty="0" smtClean="0"/>
              <a:t>PV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nRT</a:t>
            </a:r>
            <a:r>
              <a:rPr lang="en-US" altLang="en-US" dirty="0" smtClean="0"/>
              <a:t>) for substance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 to get volume of </a:t>
            </a:r>
            <a:r>
              <a:rPr lang="en-US" altLang="en-US" i="1" dirty="0" smtClean="0"/>
              <a:t>B.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Dalton’s Law of</a:t>
            </a:r>
            <a:br>
              <a:rPr lang="en-US" altLang="en-US" smtClean="0"/>
            </a:br>
            <a:r>
              <a:rPr lang="en-US" altLang="en-US" smtClean="0"/>
              <a:t>Partial Pressures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1060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If two gases that </a:t>
            </a:r>
            <a:r>
              <a:rPr lang="en-US" altLang="en-US" i="1" dirty="0" smtClean="0"/>
              <a:t>don’t</a:t>
            </a:r>
            <a:r>
              <a:rPr lang="en-US" altLang="en-US" dirty="0" smtClean="0"/>
              <a:t> react are combined in a container, they act as if they are alone in the container.</a:t>
            </a:r>
          </a:p>
          <a:p>
            <a:pPr eaLnBrk="1" hangingPunct="1">
              <a:defRPr/>
            </a:pPr>
            <a:r>
              <a:rPr lang="en-US" altLang="en-US" dirty="0" smtClean="0"/>
              <a:t>The total pressure of a mixture of gases equals the sum of the pressures that each would exert if it were present alone.</a:t>
            </a:r>
          </a:p>
          <a:p>
            <a:pPr eaLnBrk="1" hangingPunct="1">
              <a:defRPr/>
            </a:pPr>
            <a:r>
              <a:rPr lang="en-US" altLang="en-US" dirty="0" smtClean="0"/>
              <a:t>In other words,</a:t>
            </a:r>
          </a:p>
          <a:p>
            <a:pPr lvl="3" eaLnBrk="1" hangingPunct="1">
              <a:buFontTx/>
              <a:buNone/>
              <a:defRPr/>
            </a:pPr>
            <a:r>
              <a:rPr lang="en-US" altLang="en-US" sz="3200" i="1" cap="all" dirty="0" err="1" smtClean="0">
                <a:solidFill>
                  <a:srgbClr val="FF0906"/>
                </a:solidFill>
              </a:rPr>
              <a:t>P</a:t>
            </a:r>
            <a:r>
              <a:rPr lang="en-US" altLang="en-US" sz="3200" baseline="-25000" dirty="0" err="1" smtClean="0">
                <a:solidFill>
                  <a:srgbClr val="FF0906"/>
                </a:solidFill>
              </a:rPr>
              <a:t>total</a:t>
            </a:r>
            <a:r>
              <a:rPr lang="en-US" altLang="en-US" sz="3200" dirty="0" smtClean="0">
                <a:solidFill>
                  <a:srgbClr val="FF0906"/>
                </a:solidFill>
              </a:rPr>
              <a:t> = </a:t>
            </a:r>
            <a:r>
              <a:rPr lang="en-US" altLang="en-US" sz="3200" i="1" dirty="0" err="1" smtClean="0">
                <a:solidFill>
                  <a:srgbClr val="FF0906"/>
                </a:solidFill>
              </a:rPr>
              <a:t>p</a:t>
            </a:r>
            <a:r>
              <a:rPr lang="en-US" altLang="en-US" sz="3200" baseline="-25000" dirty="0" err="1" smtClean="0">
                <a:solidFill>
                  <a:srgbClr val="FF0906"/>
                </a:solidFill>
              </a:rPr>
              <a:t>1</a:t>
            </a:r>
            <a:r>
              <a:rPr lang="en-US" altLang="en-US" sz="3200" dirty="0" smtClean="0">
                <a:solidFill>
                  <a:srgbClr val="FF0906"/>
                </a:solidFill>
              </a:rPr>
              <a:t> + </a:t>
            </a:r>
            <a:r>
              <a:rPr lang="en-US" altLang="en-US" sz="3200" i="1" dirty="0" err="1" smtClean="0">
                <a:solidFill>
                  <a:srgbClr val="FF0906"/>
                </a:solidFill>
              </a:rPr>
              <a:t>p</a:t>
            </a:r>
            <a:r>
              <a:rPr lang="en-US" altLang="en-US" sz="3200" baseline="-25000" dirty="0" err="1" smtClean="0">
                <a:solidFill>
                  <a:srgbClr val="FF0906"/>
                </a:solidFill>
              </a:rPr>
              <a:t>2</a:t>
            </a:r>
            <a:r>
              <a:rPr lang="en-US" altLang="en-US" sz="3200" dirty="0" smtClean="0">
                <a:solidFill>
                  <a:srgbClr val="FF0906"/>
                </a:solidFill>
              </a:rPr>
              <a:t> + </a:t>
            </a:r>
            <a:r>
              <a:rPr lang="en-US" altLang="en-US" sz="3200" i="1" dirty="0" err="1" smtClean="0">
                <a:solidFill>
                  <a:srgbClr val="FF0906"/>
                </a:solidFill>
              </a:rPr>
              <a:t>p</a:t>
            </a:r>
            <a:r>
              <a:rPr lang="en-US" altLang="en-US" sz="3200" baseline="-25000" dirty="0" err="1" smtClean="0">
                <a:solidFill>
                  <a:srgbClr val="FF0906"/>
                </a:solidFill>
              </a:rPr>
              <a:t>3</a:t>
            </a:r>
            <a:r>
              <a:rPr lang="en-US" altLang="en-US" sz="3200" dirty="0" smtClean="0">
                <a:solidFill>
                  <a:srgbClr val="FF0906"/>
                </a:solidFill>
              </a:rPr>
              <a:t> + …</a:t>
            </a: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685800" y="4419600"/>
            <a:ext cx="7772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altLang="en-US" sz="3200">
              <a:latin typeface="Arial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dirty="0" smtClean="0"/>
              <a:t>Mole Fraction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334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Because each gas in a mixture acts as if it is alone, we can relate amount in a mixture to partial pressures: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smtClean="0"/>
              <a:t>That ratio of moles of a substance to total moles is called the </a:t>
            </a:r>
            <a:r>
              <a:rPr lang="en-US" b="1" dirty="0" smtClean="0">
                <a:solidFill>
                  <a:srgbClr val="FF0906"/>
                </a:solidFill>
              </a:rPr>
              <a:t>mole fraction</a:t>
            </a:r>
            <a:r>
              <a:rPr lang="en-US" dirty="0" smtClean="0"/>
              <a:t>, </a:t>
            </a:r>
            <a:r>
              <a:rPr lang="en-US" i="1" dirty="0" smtClean="0">
                <a:latin typeface="Times New Roman"/>
                <a:cs typeface="Times New Roman"/>
              </a:rPr>
              <a:t>X</a:t>
            </a:r>
            <a:r>
              <a:rPr lang="en-US" dirty="0" smtClean="0">
                <a:latin typeface="Times New Roman"/>
                <a:cs typeface="Times New Roman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FontTx/>
              <a:buNone/>
              <a:defRPr/>
            </a:pPr>
            <a:r>
              <a:rPr lang="en-US" dirty="0" smtClean="0">
                <a:latin typeface="Times New Roman"/>
                <a:cs typeface="Times New Roman"/>
              </a:rPr>
              <a:t>	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2667000"/>
            <a:ext cx="3251200" cy="9276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45" y="4953000"/>
            <a:ext cx="5147310" cy="8712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Pressure and Mole Fraction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end result 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756737"/>
            <a:ext cx="3200400" cy="889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57401" y="4255337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+mn-lt"/>
              </a:rPr>
              <a:t>P</a:t>
            </a:r>
            <a:r>
              <a:rPr lang="en-US" sz="2800" baseline="-25000" dirty="0" smtClean="0">
                <a:latin typeface="+mn-lt"/>
              </a:rPr>
              <a:t>1</a:t>
            </a:r>
            <a:r>
              <a:rPr lang="en-US" sz="2800" dirty="0" smtClean="0">
                <a:latin typeface="+mn-lt"/>
              </a:rPr>
              <a:t> is the </a:t>
            </a:r>
            <a:r>
              <a:rPr lang="en-US" sz="2800" dirty="0" smtClean="0">
                <a:solidFill>
                  <a:srgbClr val="FF0906"/>
                </a:solidFill>
                <a:latin typeface="+mn-lt"/>
              </a:rPr>
              <a:t>partial pressure </a:t>
            </a:r>
            <a:r>
              <a:rPr lang="en-US" sz="2800" dirty="0" smtClean="0">
                <a:latin typeface="+mn-lt"/>
              </a:rPr>
              <a:t>of gas 1 which has a mole fraction of X</a:t>
            </a:r>
            <a:r>
              <a:rPr lang="en-US" sz="2800" baseline="-25000" dirty="0" smtClean="0">
                <a:latin typeface="+mn-lt"/>
              </a:rPr>
              <a:t>1</a:t>
            </a:r>
            <a:endParaRPr lang="en-US" sz="2800" baseline="-25000" dirty="0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FF0906"/>
                </a:solidFill>
              </a:rPr>
              <a:t>Kinetic</a:t>
            </a:r>
            <a:r>
              <a:rPr lang="en-US" altLang="en-US" dirty="0" smtClean="0"/>
              <a:t>-Molecular Theory</a:t>
            </a:r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114800" y="1524000"/>
            <a:ext cx="48006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en-US" sz="2800" i="1" dirty="0" smtClean="0">
                <a:cs typeface="Arial" charset="0"/>
              </a:rPr>
              <a:t>Laws</a:t>
            </a:r>
            <a:r>
              <a:rPr lang="en-US" altLang="en-US" sz="2800" dirty="0" smtClean="0"/>
              <a:t> tell us </a:t>
            </a:r>
            <a:r>
              <a:rPr lang="en-US" altLang="en-US" sz="2800" i="1" dirty="0" smtClean="0"/>
              <a:t>what</a:t>
            </a:r>
            <a:r>
              <a:rPr lang="en-US" altLang="en-US" sz="2800" dirty="0" smtClean="0"/>
              <a:t> happens in nature. Each of the gas laws we have discussed tell us what is observed under certain conditions.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en-US" sz="2800" i="1" dirty="0" smtClean="0"/>
              <a:t>Why</a:t>
            </a:r>
            <a:r>
              <a:rPr lang="en-US" altLang="en-US" sz="2800" dirty="0" smtClean="0"/>
              <a:t> are these laws observed? We will discuss a </a:t>
            </a:r>
            <a:r>
              <a:rPr lang="en-US" altLang="en-US" sz="2800" i="1" dirty="0" smtClean="0">
                <a:solidFill>
                  <a:srgbClr val="FF0906"/>
                </a:solidFill>
              </a:rPr>
              <a:t>theory</a:t>
            </a:r>
            <a:r>
              <a:rPr lang="en-US" altLang="en-US" sz="2800" i="1" dirty="0" smtClean="0"/>
              <a:t> </a:t>
            </a:r>
            <a:r>
              <a:rPr lang="en-US" altLang="en-US" sz="2800" dirty="0" smtClean="0"/>
              <a:t>to explain our observations.</a:t>
            </a:r>
          </a:p>
        </p:txBody>
      </p:sp>
      <p:pic>
        <p:nvPicPr>
          <p:cNvPr id="5" name="Picture 4" descr="10_12_Figure.jpg"/>
          <p:cNvPicPr>
            <a:picLocks noChangeAspect="1"/>
          </p:cNvPicPr>
          <p:nvPr/>
        </p:nvPicPr>
        <p:blipFill>
          <a:blip r:embed="rId3" cstate="print"/>
          <a:srcRect b="2778"/>
          <a:stretch>
            <a:fillRect/>
          </a:stretch>
        </p:blipFill>
        <p:spPr>
          <a:xfrm>
            <a:off x="304800" y="1371600"/>
            <a:ext cx="3165348" cy="5105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Main Tenets of Kinetic-Molecular Theory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763000" cy="4495800"/>
          </a:xfrm>
        </p:spPr>
        <p:txBody>
          <a:bodyPr/>
          <a:lstStyle/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Gases consist of large numbers of molecules that are in continuous, random </a:t>
            </a:r>
            <a:r>
              <a:rPr lang="en-US" altLang="en-US" dirty="0" smtClean="0">
                <a:solidFill>
                  <a:srgbClr val="FF0906"/>
                </a:solidFill>
              </a:rPr>
              <a:t>motion</a:t>
            </a:r>
            <a:r>
              <a:rPr lang="en-US" altLang="en-US" dirty="0" smtClean="0"/>
              <a:t>.</a:t>
            </a: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The combined </a:t>
            </a:r>
            <a:r>
              <a:rPr lang="en-US" altLang="en-US" dirty="0" smtClean="0">
                <a:solidFill>
                  <a:srgbClr val="FF0906"/>
                </a:solidFill>
              </a:rPr>
              <a:t>volume</a:t>
            </a:r>
            <a:r>
              <a:rPr lang="en-US" altLang="en-US" dirty="0" smtClean="0"/>
              <a:t> of all the molecules of the gas is negligible relative to the total volume in which the gas is contained.</a:t>
            </a: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Attractive and repulsive </a:t>
            </a:r>
            <a:r>
              <a:rPr lang="en-US" altLang="en-US" dirty="0" smtClean="0">
                <a:solidFill>
                  <a:srgbClr val="FF0906"/>
                </a:solidFill>
              </a:rPr>
              <a:t>forces</a:t>
            </a:r>
            <a:r>
              <a:rPr lang="en-US" altLang="en-US" dirty="0" smtClean="0"/>
              <a:t> between gas molecules are negligible.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Main Tenets of Kinetic-Molecular Theory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2"/>
          </p:nvPr>
        </p:nvSpPr>
        <p:spPr>
          <a:xfrm>
            <a:off x="4191000" y="1371600"/>
            <a:ext cx="4876800" cy="48768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buFontTx/>
              <a:buAutoNum type="arabicParenR" startAt="4"/>
            </a:pPr>
            <a:r>
              <a:rPr lang="en-US" altLang="en-US" sz="2800" dirty="0" smtClean="0">
                <a:solidFill>
                  <a:srgbClr val="FF0906"/>
                </a:solidFill>
              </a:rPr>
              <a:t>Energy</a:t>
            </a:r>
            <a:r>
              <a:rPr lang="en-US" altLang="en-US" sz="2800" dirty="0" smtClean="0"/>
              <a:t> can be transferred between molecules during collisions, but the </a:t>
            </a:r>
            <a:r>
              <a:rPr lang="en-US" altLang="en-US" sz="2800" i="1" dirty="0" smtClean="0"/>
              <a:t>average</a:t>
            </a:r>
            <a:r>
              <a:rPr lang="en-US" altLang="en-US" sz="2800" dirty="0" smtClean="0"/>
              <a:t> kinetic energy of the molecules does not change with time, as long as the temperature of the gas remains constant.</a:t>
            </a:r>
          </a:p>
          <a:p>
            <a:pPr marL="514350" indent="-514350" eaLnBrk="1" hangingPunct="1">
              <a:lnSpc>
                <a:spcPct val="90000"/>
              </a:lnSpc>
              <a:buFontTx/>
              <a:buAutoNum type="arabicParenR" startAt="4"/>
            </a:pPr>
            <a:r>
              <a:rPr lang="en-US" altLang="en-US" sz="2800" dirty="0" smtClean="0"/>
              <a:t>The </a:t>
            </a:r>
            <a:r>
              <a:rPr lang="en-US" altLang="en-US" sz="2800" dirty="0" smtClean="0">
                <a:solidFill>
                  <a:srgbClr val="0000FF"/>
                </a:solidFill>
              </a:rPr>
              <a:t>average </a:t>
            </a:r>
            <a:r>
              <a:rPr lang="en-US" altLang="en-US" sz="2800" dirty="0" smtClean="0"/>
              <a:t>kinetic energy of the molecules is proportional to the absolute </a:t>
            </a:r>
            <a:r>
              <a:rPr lang="en-US" altLang="en-US" sz="2800" dirty="0" smtClean="0">
                <a:solidFill>
                  <a:srgbClr val="FF0906"/>
                </a:solidFill>
              </a:rPr>
              <a:t>temperature</a:t>
            </a:r>
            <a:r>
              <a:rPr lang="en-US" altLang="en-US" sz="2800" dirty="0" smtClean="0"/>
              <a:t>.</a:t>
            </a:r>
          </a:p>
        </p:txBody>
      </p:sp>
      <p:pic>
        <p:nvPicPr>
          <p:cNvPr id="5" name="Picture 4" descr="10_13_FigureA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304800" y="1600200"/>
            <a:ext cx="3704688" cy="42062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4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904875"/>
          </a:xfrm>
        </p:spPr>
        <p:txBody>
          <a:bodyPr/>
          <a:lstStyle/>
          <a:p>
            <a:r>
              <a:rPr lang="en-US" altLang="en-US" sz="3200" b="1" dirty="0" smtClean="0"/>
              <a:t>How Fast Do Gas Molecules Move?</a:t>
            </a:r>
          </a:p>
        </p:txBody>
      </p:sp>
      <p:sp>
        <p:nvSpPr>
          <p:cNvPr id="25603" name="Content Placeholder 5"/>
          <p:cNvSpPr>
            <a:spLocks noGrp="1"/>
          </p:cNvSpPr>
          <p:nvPr>
            <p:ph idx="1"/>
          </p:nvPr>
        </p:nvSpPr>
        <p:spPr>
          <a:xfrm>
            <a:off x="152400" y="914399"/>
            <a:ext cx="5487988" cy="5562600"/>
          </a:xfrm>
        </p:spPr>
        <p:txBody>
          <a:bodyPr/>
          <a:lstStyle/>
          <a:p>
            <a:r>
              <a:rPr lang="en-US" altLang="en-US" sz="2600" dirty="0" smtClean="0"/>
              <a:t>Temperature is related to their </a:t>
            </a:r>
            <a:r>
              <a:rPr lang="en-US" altLang="en-US" sz="2600" i="1" dirty="0" smtClean="0"/>
              <a:t>average</a:t>
            </a:r>
            <a:r>
              <a:rPr lang="en-US" altLang="en-US" sz="2600" dirty="0" smtClean="0"/>
              <a:t> kinetic energy.</a:t>
            </a:r>
          </a:p>
          <a:p>
            <a:r>
              <a:rPr lang="en-US" altLang="en-US" sz="2600" dirty="0" smtClean="0"/>
              <a:t>Individual molecules can have different speeds of motion.</a:t>
            </a:r>
          </a:p>
          <a:p>
            <a:r>
              <a:rPr lang="en-US" altLang="en-US" sz="2600" dirty="0" smtClean="0"/>
              <a:t>The figure shows three </a:t>
            </a:r>
            <a:br>
              <a:rPr lang="en-US" altLang="en-US" sz="2600" dirty="0" smtClean="0"/>
            </a:br>
            <a:r>
              <a:rPr lang="en-US" altLang="en-US" sz="2600" dirty="0" smtClean="0"/>
              <a:t>different speeds: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b="1" i="1" dirty="0" smtClean="0"/>
              <a:t>u</a:t>
            </a:r>
            <a:r>
              <a:rPr lang="en-US" altLang="en-US" sz="2600" b="1" baseline="-25000" dirty="0" smtClean="0"/>
              <a:t>mp</a:t>
            </a:r>
            <a:r>
              <a:rPr lang="en-US" altLang="en-US" sz="2600" dirty="0" smtClean="0"/>
              <a:t> is the </a:t>
            </a:r>
            <a:r>
              <a:rPr lang="en-US" altLang="en-US" sz="2600" dirty="0" smtClean="0">
                <a:solidFill>
                  <a:srgbClr val="0000FF"/>
                </a:solidFill>
              </a:rPr>
              <a:t>most probable </a:t>
            </a:r>
            <a:r>
              <a:rPr lang="en-US" altLang="en-US" sz="2600" dirty="0" smtClean="0"/>
              <a:t>speed (most molecules are this fast).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b="1" i="1" dirty="0" err="1" smtClean="0"/>
              <a:t>u</a:t>
            </a:r>
            <a:r>
              <a:rPr lang="en-US" altLang="en-US" sz="2600" b="1" baseline="-25000" dirty="0" err="1" smtClean="0"/>
              <a:t>av</a:t>
            </a:r>
            <a:r>
              <a:rPr lang="en-US" altLang="en-US" sz="2600" dirty="0" smtClean="0"/>
              <a:t> is the </a:t>
            </a:r>
            <a:r>
              <a:rPr lang="en-US" altLang="en-US" sz="2600" dirty="0" smtClean="0">
                <a:solidFill>
                  <a:srgbClr val="0000FF"/>
                </a:solidFill>
              </a:rPr>
              <a:t>average</a:t>
            </a:r>
            <a:r>
              <a:rPr lang="en-US" altLang="en-US" sz="2600" dirty="0" smtClean="0"/>
              <a:t> speed of the molecules.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b="1" i="1" dirty="0" err="1" smtClean="0"/>
              <a:t>u</a:t>
            </a:r>
            <a:r>
              <a:rPr lang="en-US" altLang="en-US" sz="2600" b="1" baseline="-25000" dirty="0" err="1" smtClean="0"/>
              <a:t>rms</a:t>
            </a:r>
            <a:r>
              <a:rPr lang="en-US" altLang="en-US" sz="2600" dirty="0" smtClean="0"/>
              <a:t>, the </a:t>
            </a:r>
            <a:r>
              <a:rPr lang="en-US" altLang="en-US" sz="2600" dirty="0" smtClean="0">
                <a:solidFill>
                  <a:srgbClr val="0000FF"/>
                </a:solidFill>
              </a:rPr>
              <a:t>root-mean-square </a:t>
            </a:r>
            <a:r>
              <a:rPr lang="en-US" altLang="en-US" sz="2600" dirty="0" smtClean="0"/>
              <a:t>speed, is the one associated with their average kinetic energy.</a:t>
            </a:r>
          </a:p>
        </p:txBody>
      </p:sp>
      <p:pic>
        <p:nvPicPr>
          <p:cNvPr id="5" name="Picture 4" descr="10_13_FigureB.jpg"/>
          <p:cNvPicPr>
            <a:picLocks noChangeAspect="1"/>
          </p:cNvPicPr>
          <p:nvPr/>
        </p:nvPicPr>
        <p:blipFill>
          <a:blip r:embed="rId2" cstate="print"/>
          <a:srcRect b="2689"/>
          <a:stretch>
            <a:fillRect/>
          </a:stretch>
        </p:blipFill>
        <p:spPr>
          <a:xfrm>
            <a:off x="5308798" y="2362200"/>
            <a:ext cx="3821698" cy="26669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5181600" cy="1295400"/>
          </a:xfrm>
        </p:spPr>
        <p:txBody>
          <a:bodyPr/>
          <a:lstStyle/>
          <a:p>
            <a:r>
              <a:rPr lang="en-US" altLang="en-US" sz="3200" b="1" i="1" dirty="0" err="1" smtClean="0"/>
              <a:t>u</a:t>
            </a:r>
            <a:r>
              <a:rPr lang="en-US" altLang="en-US" sz="3200" b="1" baseline="-25000" dirty="0" err="1" smtClean="0"/>
              <a:t>rms</a:t>
            </a:r>
            <a:r>
              <a:rPr lang="en-US" altLang="en-US" sz="3200" b="1" dirty="0" smtClean="0"/>
              <a:t> and</a:t>
            </a:r>
            <a:br>
              <a:rPr lang="en-US" altLang="en-US" sz="3200" b="1" dirty="0" smtClean="0"/>
            </a:br>
            <a:r>
              <a:rPr lang="en-US" altLang="en-US" sz="3200" b="1" dirty="0" smtClean="0"/>
              <a:t>Molecular Mass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2895600"/>
          </a:xfrm>
        </p:spPr>
        <p:txBody>
          <a:bodyPr/>
          <a:lstStyle/>
          <a:p>
            <a:r>
              <a:rPr lang="en-US" altLang="en-US" sz="2800" dirty="0" smtClean="0"/>
              <a:t>At any given temperature, the average kinetic energy of molecules is the same.</a:t>
            </a:r>
          </a:p>
          <a:p>
            <a:r>
              <a:rPr lang="en-US" altLang="en-US" sz="2800" dirty="0" smtClean="0"/>
              <a:t>So, </a:t>
            </a:r>
            <a:r>
              <a:rPr lang="en-US" altLang="en-US" sz="2800" dirty="0" smtClean="0">
                <a:cs typeface="Arial" charset="0"/>
              </a:rPr>
              <a:t>½ m (</a:t>
            </a:r>
            <a:r>
              <a:rPr lang="en-US" altLang="en-US" sz="2800" i="1" dirty="0" err="1" smtClean="0">
                <a:cs typeface="Arial" charset="0"/>
              </a:rPr>
              <a:t>u</a:t>
            </a:r>
            <a:r>
              <a:rPr lang="en-US" altLang="en-US" sz="2800" baseline="-25000" dirty="0" err="1" smtClean="0">
                <a:cs typeface="Arial" charset="0"/>
              </a:rPr>
              <a:t>rms</a:t>
            </a:r>
            <a:r>
              <a:rPr lang="en-US" altLang="en-US" sz="2800" dirty="0" smtClean="0">
                <a:cs typeface="Arial" charset="0"/>
              </a:rPr>
              <a:t>)</a:t>
            </a:r>
            <a:r>
              <a:rPr lang="en-US" altLang="en-US" sz="2800" baseline="30000" dirty="0" smtClean="0">
                <a:cs typeface="Arial" charset="0"/>
              </a:rPr>
              <a:t>2</a:t>
            </a:r>
            <a:r>
              <a:rPr lang="en-US" altLang="en-US" sz="2800" dirty="0" smtClean="0">
                <a:cs typeface="Arial" charset="0"/>
              </a:rPr>
              <a:t> is the same for two gases at the same temperature.</a:t>
            </a:r>
          </a:p>
          <a:p>
            <a:r>
              <a:rPr lang="en-US" altLang="en-US" sz="2800" dirty="0" smtClean="0">
                <a:cs typeface="Arial" charset="0"/>
              </a:rPr>
              <a:t>If a gas has a low mass, its speed will be greater than for a heavier molecule.</a:t>
            </a:r>
            <a:endParaRPr lang="en-US" altLang="en-US" sz="2800" dirty="0" smtClean="0"/>
          </a:p>
        </p:txBody>
      </p:sp>
      <p:pic>
        <p:nvPicPr>
          <p:cNvPr id="6" name="Picture 5" descr="10_14_Figure.jpg"/>
          <p:cNvPicPr>
            <a:picLocks noChangeAspect="1"/>
          </p:cNvPicPr>
          <p:nvPr/>
        </p:nvPicPr>
        <p:blipFill>
          <a:blip r:embed="rId2" cstate="print"/>
          <a:srcRect b="4672"/>
          <a:stretch>
            <a:fillRect/>
          </a:stretch>
        </p:blipFill>
        <p:spPr>
          <a:xfrm>
            <a:off x="2565722" y="4419600"/>
            <a:ext cx="4572000" cy="22321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457200"/>
            <a:ext cx="1905000" cy="762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Effusion &amp; Diffusion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1166813"/>
            <a:ext cx="4191000" cy="21637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 smtClean="0"/>
              <a:t>	</a:t>
            </a:r>
            <a:r>
              <a:rPr lang="en-US" altLang="en-US" sz="2800" b="1" dirty="0" smtClean="0"/>
              <a:t>Effusion</a:t>
            </a:r>
            <a:r>
              <a:rPr lang="en-US" altLang="en-US" sz="2800" dirty="0" smtClean="0"/>
              <a:t> is the </a:t>
            </a:r>
            <a:r>
              <a:rPr lang="en-US" altLang="en-US" sz="2800" dirty="0" smtClean="0">
                <a:solidFill>
                  <a:srgbClr val="FF0000"/>
                </a:solidFill>
              </a:rPr>
              <a:t>escape </a:t>
            </a:r>
            <a:r>
              <a:rPr lang="en-US" altLang="en-US" sz="2800" dirty="0" smtClean="0"/>
              <a:t>of gas molecules through a tiny hole into an evacuated space.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00600" y="1231900"/>
            <a:ext cx="4267200" cy="1816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800" b="1" dirty="0">
                <a:latin typeface="+mn-lt"/>
              </a:rPr>
              <a:t>Diffusion</a:t>
            </a:r>
            <a:r>
              <a:rPr lang="en-US" altLang="en-US" sz="2800" dirty="0">
                <a:latin typeface="+mn-lt"/>
              </a:rPr>
              <a:t> is the </a:t>
            </a:r>
            <a:r>
              <a:rPr lang="en-US" altLang="en-US" sz="2800" dirty="0">
                <a:solidFill>
                  <a:srgbClr val="0000FF"/>
                </a:solidFill>
                <a:latin typeface="+mn-lt"/>
              </a:rPr>
              <a:t>spread</a:t>
            </a:r>
            <a:r>
              <a:rPr lang="en-US" altLang="en-US" sz="2800" dirty="0">
                <a:latin typeface="+mn-lt"/>
              </a:rPr>
              <a:t> of one substance throughout a space or a second substance.</a:t>
            </a:r>
          </a:p>
        </p:txBody>
      </p:sp>
      <p:pic>
        <p:nvPicPr>
          <p:cNvPr id="7" name="Picture 6" descr="10_15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1295400" y="3124200"/>
            <a:ext cx="2057400" cy="3426287"/>
          </a:xfrm>
          <a:prstGeom prst="rect">
            <a:avLst/>
          </a:prstGeom>
        </p:spPr>
      </p:pic>
      <p:pic>
        <p:nvPicPr>
          <p:cNvPr id="8" name="Picture 7" descr="10_18_Figure.jpg"/>
          <p:cNvPicPr>
            <a:picLocks noChangeAspect="1"/>
          </p:cNvPicPr>
          <p:nvPr/>
        </p:nvPicPr>
        <p:blipFill>
          <a:blip r:embed="rId4" cstate="print"/>
          <a:srcRect b="2546"/>
          <a:stretch>
            <a:fillRect/>
          </a:stretch>
        </p:blipFill>
        <p:spPr>
          <a:xfrm>
            <a:off x="5181600" y="3124201"/>
            <a:ext cx="2657856" cy="330270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4"/>
          <p:cNvSpPr>
            <a:spLocks noGrp="1"/>
          </p:cNvSpPr>
          <p:nvPr>
            <p:ph type="title"/>
          </p:nvPr>
        </p:nvSpPr>
        <p:spPr>
          <a:xfrm>
            <a:off x="-685800" y="429260"/>
            <a:ext cx="10515600" cy="1371600"/>
          </a:xfrm>
        </p:spPr>
        <p:txBody>
          <a:bodyPr/>
          <a:lstStyle/>
          <a:p>
            <a:r>
              <a:rPr lang="en-US" altLang="en-US" sz="3000" b="1" dirty="0" smtClean="0"/>
              <a:t>Graham’s Law Describes Diffusion &amp; Effusion</a:t>
            </a:r>
          </a:p>
        </p:txBody>
      </p:sp>
      <p:sp>
        <p:nvSpPr>
          <p:cNvPr id="28675" name="Content Placeholder 5"/>
          <p:cNvSpPr>
            <a:spLocks noGrp="1"/>
          </p:cNvSpPr>
          <p:nvPr>
            <p:ph idx="1"/>
          </p:nvPr>
        </p:nvSpPr>
        <p:spPr>
          <a:xfrm>
            <a:off x="533400" y="2354950"/>
            <a:ext cx="8305800" cy="2895600"/>
          </a:xfrm>
        </p:spPr>
        <p:txBody>
          <a:bodyPr/>
          <a:lstStyle/>
          <a:p>
            <a:r>
              <a:rPr lang="en-US" altLang="en-US" dirty="0" smtClean="0"/>
              <a:t>Graham’s Law relates the </a:t>
            </a:r>
            <a:r>
              <a:rPr lang="en-US" altLang="en-US" dirty="0" smtClean="0">
                <a:solidFill>
                  <a:srgbClr val="FF0000"/>
                </a:solidFill>
              </a:rPr>
              <a:t>molar mass </a:t>
            </a:r>
            <a:r>
              <a:rPr lang="en-US" altLang="en-US" dirty="0" smtClean="0"/>
              <a:t>of two gases to their rate of speed of travel.</a:t>
            </a:r>
          </a:p>
          <a:p>
            <a:r>
              <a:rPr lang="en-US" altLang="en-US" dirty="0" smtClean="0"/>
              <a:t>The “lighter” gas always has a faster rate of speed.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800600"/>
            <a:ext cx="1742440" cy="9423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Real Gases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1066800"/>
            <a:ext cx="8686800" cy="2819400"/>
          </a:xfrm>
        </p:spPr>
        <p:txBody>
          <a:bodyPr/>
          <a:lstStyle/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800" dirty="0" smtClean="0"/>
              <a:t>In the real world, the behavior of gases only conforms to the ideal-gas equation at relatively </a:t>
            </a:r>
            <a:r>
              <a:rPr lang="en-US" altLang="en-US" sz="2800" dirty="0" smtClean="0">
                <a:solidFill>
                  <a:srgbClr val="FF0000"/>
                </a:solidFill>
              </a:rPr>
              <a:t>high temperature and low pressure</a:t>
            </a:r>
            <a:r>
              <a:rPr lang="en-US" altLang="en-US" sz="2800" dirty="0" smtClean="0"/>
              <a:t>.</a:t>
            </a:r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800" dirty="0" smtClean="0"/>
              <a:t>Even the same gas will show wildly different behavior under high pressure at different temperatures.</a:t>
            </a:r>
          </a:p>
          <a:p>
            <a:pPr eaLnBrk="1" hangingPunct="1">
              <a:buFontTx/>
              <a:buNone/>
            </a:pPr>
            <a:endParaRPr lang="en-US" altLang="en-US" sz="2800" dirty="0" smtClean="0"/>
          </a:p>
        </p:txBody>
      </p:sp>
      <p:pic>
        <p:nvPicPr>
          <p:cNvPr id="5" name="Picture 4" descr="10_19_Figure.jpg"/>
          <p:cNvPicPr>
            <a:picLocks noChangeAspect="1"/>
          </p:cNvPicPr>
          <p:nvPr/>
        </p:nvPicPr>
        <p:blipFill>
          <a:blip r:embed="rId3" cstate="print"/>
          <a:srcRect b="3474"/>
          <a:stretch>
            <a:fillRect/>
          </a:stretch>
        </p:blipFill>
        <p:spPr>
          <a:xfrm>
            <a:off x="2667000" y="3733800"/>
            <a:ext cx="5224009" cy="290305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67159" y="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Deviations from Ideal Behavior</a:t>
            </a:r>
          </a:p>
        </p:txBody>
      </p:sp>
      <p:sp>
        <p:nvSpPr>
          <p:cNvPr id="30723" name="Rectangle 5"/>
          <p:cNvSpPr>
            <a:spLocks noGrp="1" noChangeArrowheads="1"/>
          </p:cNvSpPr>
          <p:nvPr>
            <p:ph type="body" sz="half" idx="3"/>
          </p:nvPr>
        </p:nvSpPr>
        <p:spPr>
          <a:xfrm>
            <a:off x="0" y="4724400"/>
            <a:ext cx="8610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 smtClean="0"/>
              <a:t>	</a:t>
            </a:r>
            <a:r>
              <a:rPr lang="en-US" altLang="en-US" sz="2600" dirty="0" smtClean="0"/>
              <a:t>The assumptions made in the kinetic-molecular model (negligible volume of gas molecules themselves, no attractive forces between gas molecules, etc.) break down at high pressure and/or low temperature.</a:t>
            </a:r>
          </a:p>
        </p:txBody>
      </p:sp>
      <p:pic>
        <p:nvPicPr>
          <p:cNvPr id="6" name="Picture 5" descr="10_21_Figure.jpg"/>
          <p:cNvPicPr>
            <a:picLocks noChangeAspect="1"/>
          </p:cNvPicPr>
          <p:nvPr/>
        </p:nvPicPr>
        <p:blipFill>
          <a:blip r:embed="rId3" cstate="print"/>
          <a:srcRect b="2315"/>
          <a:stretch>
            <a:fillRect/>
          </a:stretch>
        </p:blipFill>
        <p:spPr>
          <a:xfrm>
            <a:off x="533400" y="1143000"/>
            <a:ext cx="3591151" cy="3352800"/>
          </a:xfrm>
          <a:prstGeom prst="rect">
            <a:avLst/>
          </a:prstGeom>
        </p:spPr>
      </p:pic>
      <p:pic>
        <p:nvPicPr>
          <p:cNvPr id="7" name="Picture 6" descr="10_22_Figure.jpg"/>
          <p:cNvPicPr>
            <a:picLocks noChangeAspect="1"/>
          </p:cNvPicPr>
          <p:nvPr/>
        </p:nvPicPr>
        <p:blipFill>
          <a:blip r:embed="rId4" cstate="print"/>
          <a:srcRect b="2393"/>
          <a:stretch>
            <a:fillRect/>
          </a:stretch>
        </p:blipFill>
        <p:spPr>
          <a:xfrm>
            <a:off x="4648199" y="1295400"/>
            <a:ext cx="4269335" cy="3048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23" y="1905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Corrections for </a:t>
            </a:r>
            <a:r>
              <a:rPr lang="en-US" altLang="en-US" sz="3200" b="1" dirty="0" err="1" smtClean="0"/>
              <a:t>Nonideal</a:t>
            </a:r>
            <a:r>
              <a:rPr lang="en-US" altLang="en-US" sz="3200" b="1" dirty="0" smtClean="0"/>
              <a:t> Behavior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686800" cy="5410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The ideal-gas equation can be adjusted to take these deviations from ideal behavior into account.</a:t>
            </a:r>
          </a:p>
          <a:p>
            <a:pPr eaLnBrk="1" hangingPunct="1"/>
            <a:r>
              <a:rPr lang="en-US" altLang="en-US" sz="2800" dirty="0" smtClean="0"/>
              <a:t>The corrected ideal-gas equation is known as the </a:t>
            </a:r>
            <a:r>
              <a:rPr lang="en-US" altLang="en-US" sz="2800" b="1" dirty="0" smtClean="0"/>
              <a:t>van der Waals equation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The </a:t>
            </a:r>
            <a:r>
              <a:rPr lang="en-US" altLang="en-US" sz="2800" dirty="0" smtClean="0">
                <a:solidFill>
                  <a:srgbClr val="FF0000"/>
                </a:solidFill>
              </a:rPr>
              <a:t>pressure adjustment </a:t>
            </a:r>
            <a:r>
              <a:rPr lang="en-US" altLang="en-US" sz="2800" dirty="0" smtClean="0"/>
              <a:t>is due to the fact that molecules attract and repel each other.</a:t>
            </a:r>
          </a:p>
          <a:p>
            <a:pPr eaLnBrk="1" hangingPunct="1"/>
            <a:r>
              <a:rPr lang="en-US" altLang="en-US" sz="2800" dirty="0" smtClean="0"/>
              <a:t>The </a:t>
            </a:r>
            <a:r>
              <a:rPr lang="en-US" altLang="en-US" sz="2800" dirty="0" smtClean="0">
                <a:solidFill>
                  <a:srgbClr val="FF0000"/>
                </a:solidFill>
              </a:rPr>
              <a:t>volume adjustment </a:t>
            </a:r>
            <a:r>
              <a:rPr lang="en-US" altLang="en-US" sz="2800" dirty="0" smtClean="0"/>
              <a:t>is due to the fact that molecules occupy some space on </a:t>
            </a:r>
            <a:br>
              <a:rPr lang="en-US" altLang="en-US" sz="2800" dirty="0" smtClean="0"/>
            </a:br>
            <a:r>
              <a:rPr lang="en-US" altLang="en-US" sz="2800" dirty="0" smtClean="0"/>
              <a:t>their own.</a:t>
            </a: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685800" y="4267200"/>
            <a:ext cx="777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endParaRPr lang="en-US" altLang="en-US" sz="3200">
              <a:solidFill>
                <a:srgbClr val="FF0906"/>
              </a:solidFill>
              <a:latin typeface="Arial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-28616" y="1418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The van der Waals Equation</a:t>
            </a:r>
          </a:p>
        </p:txBody>
      </p:sp>
      <p:grpSp>
        <p:nvGrpSpPr>
          <p:cNvPr id="32771" name="Group 24"/>
          <p:cNvGrpSpPr>
            <a:grpSpLocks/>
          </p:cNvGrpSpPr>
          <p:nvPr/>
        </p:nvGrpSpPr>
        <p:grpSpPr bwMode="auto">
          <a:xfrm>
            <a:off x="1600200" y="1033463"/>
            <a:ext cx="2478088" cy="1104900"/>
            <a:chOff x="871" y="672"/>
            <a:chExt cx="1561" cy="696"/>
          </a:xfrm>
        </p:grpSpPr>
        <p:sp>
          <p:nvSpPr>
            <p:cNvPr id="32774" name="Rectangle 8"/>
            <p:cNvSpPr>
              <a:spLocks noChangeArrowheads="1"/>
            </p:cNvSpPr>
            <p:nvPr/>
          </p:nvSpPr>
          <p:spPr bwMode="auto">
            <a:xfrm>
              <a:off x="2316" y="883"/>
              <a:ext cx="116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 sz="4400" i="1">
                <a:latin typeface="Arial" charset="0"/>
              </a:endParaRPr>
            </a:p>
          </p:txBody>
        </p:sp>
        <p:grpSp>
          <p:nvGrpSpPr>
            <p:cNvPr id="32775" name="Group 23"/>
            <p:cNvGrpSpPr>
              <a:grpSpLocks/>
            </p:cNvGrpSpPr>
            <p:nvPr/>
          </p:nvGrpSpPr>
          <p:grpSpPr bwMode="auto">
            <a:xfrm>
              <a:off x="871" y="672"/>
              <a:ext cx="1184" cy="696"/>
              <a:chOff x="871" y="672"/>
              <a:chExt cx="1184" cy="696"/>
            </a:xfrm>
          </p:grpSpPr>
          <p:sp>
            <p:nvSpPr>
              <p:cNvPr id="32776" name="Rectangle 9"/>
              <p:cNvSpPr>
                <a:spLocks noChangeArrowheads="1"/>
              </p:cNvSpPr>
              <p:nvPr/>
            </p:nvSpPr>
            <p:spPr bwMode="auto">
              <a:xfrm>
                <a:off x="1939" y="672"/>
                <a:ext cx="116" cy="4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endParaRPr lang="en-US" altLang="en-US" sz="4400">
                  <a:latin typeface="Arial" charset="0"/>
                </a:endParaRPr>
              </a:p>
            </p:txBody>
          </p:sp>
          <p:sp>
            <p:nvSpPr>
              <p:cNvPr id="32777" name="Rectangle 13"/>
              <p:cNvSpPr>
                <a:spLocks noChangeArrowheads="1"/>
              </p:cNvSpPr>
              <p:nvPr/>
            </p:nvSpPr>
            <p:spPr bwMode="auto">
              <a:xfrm>
                <a:off x="871" y="883"/>
                <a:ext cx="116" cy="4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altLang="en-US" sz="4400">
                  <a:latin typeface="Arial" charset="0"/>
                </a:endParaRPr>
              </a:p>
            </p:txBody>
          </p:sp>
        </p:grpSp>
      </p:grpSp>
      <p:pic>
        <p:nvPicPr>
          <p:cNvPr id="10" name="Picture 9" descr="10_03_Tabl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2590800" y="2176463"/>
            <a:ext cx="4637493" cy="44944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123396"/>
            <a:ext cx="3711616" cy="7249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 - &amp;quot;Characteristics of Gases&amp;quot;&quot;/&gt;&lt;property id=&quot;20307&quot; value=&quot;257&quot;/&gt;&lt;/object&gt;&lt;object type=&quot;3&quot; unique_id=&quot;10005&quot;&gt;&lt;property id=&quot;20148&quot; value=&quot;5&quot;/&gt;&lt;property id=&quot;20300&quot; value=&quot;Slide 3 - &amp;quot;Properties Which Define the State of a Gas Sample&amp;quot;&quot;/&gt;&lt;property id=&quot;20307&quot; value=&quot;300&quot;/&gt;&lt;/object&gt;&lt;object type=&quot;3&quot; unique_id=&quot;10006&quot;&gt;&lt;property id=&quot;20148&quot; value=&quot;5&quot;/&gt;&lt;property id=&quot;20300&quot; value=&quot;Slide 4 - &amp;quot;Pressure&amp;quot;&quot;/&gt;&lt;property id=&quot;20307&quot; value=&quot;258&quot;/&gt;&lt;/object&gt;&lt;object type=&quot;3&quot; unique_id=&quot;10007&quot;&gt;&lt;property id=&quot;20148&quot; value=&quot;5&quot;/&gt;&lt;property id=&quot;20300&quot; value=&quot;Slide 5 - &amp;quot;Units of Pressure&amp;quot;&quot;/&gt;&lt;property id=&quot;20307&quot; value=&quot;260&quot;/&gt;&lt;/object&gt;&lt;object type=&quot;3&quot; unique_id=&quot;10008&quot;&gt;&lt;property id=&quot;20148&quot; value=&quot;5&quot;/&gt;&lt;property id=&quot;20300&quot; value=&quot;Slide 6 - &amp;quot;Manometer&amp;quot;&quot;/&gt;&lt;property id=&quot;20307&quot; value=&quot;268&quot;/&gt;&lt;/object&gt;&lt;object type=&quot;3&quot; unique_id=&quot;10009&quot;&gt;&lt;property id=&quot;20148&quot; value=&quot;5&quot;/&gt;&lt;property id=&quot;20300&quot; value=&quot;Slide 7 - &amp;quot;Standard Pressure&amp;quot;&quot;/&gt;&lt;property id=&quot;20307&quot; value=&quot;261&quot;/&gt;&lt;/object&gt;&lt;object type=&quot;3&quot; unique_id=&quot;10010&quot;&gt;&lt;property id=&quot;20148&quot; value=&quot;5&quot;/&gt;&lt;property id=&quot;20300&quot; value=&quot;Slide 8 - &amp;quot;Boyle’s Law&amp;quot;&quot;/&gt;&lt;property id=&quot;20307&quot; value=&quot;262&quot;/&gt;&lt;/object&gt;&lt;object type=&quot;3&quot; unique_id=&quot;10011&quot;&gt;&lt;property id=&quot;20148&quot; value=&quot;5&quot;/&gt;&lt;property id=&quot;20300&quot; value=&quot;Slide 9 - &amp;quot;Mathematical Relationships of Boyle’s Law&amp;quot;&quot;/&gt;&lt;property id=&quot;20307&quot; value=&quot;263&quot;/&gt;&lt;/object&gt;&lt;object type=&quot;3&quot; unique_id=&quot;10012&quot;&gt;&lt;property id=&quot;20148&quot; value=&quot;5&quot;/&gt;&lt;property id=&quot;20300&quot; value=&quot;Slide 10 - &amp;quot;Charles’s Law&amp;quot;&quot;/&gt;&lt;property id=&quot;20307&quot; value=&quot;299&quot;/&gt;&lt;/object&gt;&lt;object type=&quot;3&quot; unique_id=&quot;10013&quot;&gt;&lt;property id=&quot;20148&quot; value=&quot;5&quot;/&gt;&lt;property id=&quot;20300&quot; value=&quot;Slide 11 - &amp;quot;Mathematical Relationships of Charles’s Law&amp;quot;&quot;/&gt;&lt;property id=&quot;20307&quot; value=&quot;294&quot;/&gt;&lt;/object&gt;&lt;object type=&quot;3&quot; unique_id=&quot;10014&quot;&gt;&lt;property id=&quot;20148&quot; value=&quot;5&quot;/&gt;&lt;property id=&quot;20300&quot; value=&quot;Slide 12 - &amp;quot;Avogadro’s Law&amp;quot;&quot;/&gt;&lt;property id=&quot;20307&quot; value=&quot;265&quot;/&gt;&lt;/object&gt;&lt;object type=&quot;3&quot; unique_id=&quot;10015&quot;&gt;&lt;property id=&quot;20148&quot; value=&quot;5&quot;/&gt;&lt;property id=&quot;20300&quot; value=&quot;Slide 13 - &amp;quot;Ideal-Gas Equation&amp;quot;&quot;/&gt;&lt;property id=&quot;20307&quot; value=&quot;267&quot;/&gt;&lt;/object&gt;&lt;object type=&quot;3&quot; unique_id=&quot;10016&quot;&gt;&lt;property id=&quot;20148&quot; value=&quot;5&quot;/&gt;&lt;property id=&quot;20300&quot; value=&quot;Slide 14 - &amp;quot;Density of Gases&amp;quot;&quot;/&gt;&lt;property id=&quot;20307&quot; value=&quot;271&quot;/&gt;&lt;/object&gt;&lt;object type=&quot;3&quot; unique_id=&quot;10017&quot;&gt;&lt;property id=&quot;20148&quot; value=&quot;5&quot;/&gt;&lt;property id=&quot;20300&quot; value=&quot;Slide 15 - &amp;quot;Density &amp;amp; Molar Mass of a Gas&amp;quot;&quot;/&gt;&lt;property id=&quot;20307&quot; value=&quot;273&quot;/&gt;&lt;/object&gt;&lt;object type=&quot;3&quot; unique_id=&quot;10018&quot;&gt;&lt;property id=&quot;20148&quot; value=&quot;5&quot;/&gt;&lt;property id=&quot;20300&quot; value=&quot;Slide 16 - &amp;quot;Volume and Chemical Reactions&amp;quot;&quot;/&gt;&lt;property id=&quot;20307&quot; value=&quot;301&quot;/&gt;&lt;/object&gt;&lt;object type=&quot;3&quot; unique_id=&quot;10019&quot;&gt;&lt;property id=&quot;20148&quot; value=&quot;5&quot;/&gt;&lt;property id=&quot;20300&quot; value=&quot;Slide 17 - &amp;quot;Dalton’s Law of Partial Pressures&amp;quot;&quot;/&gt;&lt;property id=&quot;20307&quot; value=&quot;275&quot;/&gt;&lt;/object&gt;&lt;object type=&quot;3&quot; unique_id=&quot;10020&quot;&gt;&lt;property id=&quot;20148&quot; value=&quot;5&quot;/&gt;&lt;property id=&quot;20300&quot; value=&quot;Slide 18 - &amp;quot;Mole Fraction&amp;quot;&quot;/&gt;&lt;property id=&quot;20307&quot; value=&quot;302&quot;/&gt;&lt;/object&gt;&lt;object type=&quot;3&quot; unique_id=&quot;10021&quot;&gt;&lt;property id=&quot;20148&quot; value=&quot;5&quot;/&gt;&lt;property id=&quot;20300&quot; value=&quot;Slide 19 - &amp;quot;Pressure and Mole Fraction&amp;quot;&quot;/&gt;&lt;property id=&quot;20307&quot; value=&quot;303&quot;/&gt;&lt;/object&gt;&lt;object type=&quot;3&quot; unique_id=&quot;10022&quot;&gt;&lt;property id=&quot;20148&quot; value=&quot;5&quot;/&gt;&lt;property id=&quot;20300&quot; value=&quot;Slide 20 - &amp;quot;Kinetic-Molecular Theory&amp;quot;&quot;/&gt;&lt;property id=&quot;20307&quot; value=&quot;278&quot;/&gt;&lt;/object&gt;&lt;object type=&quot;3&quot; unique_id=&quot;10023&quot;&gt;&lt;property id=&quot;20148&quot; value=&quot;5&quot;/&gt;&lt;property id=&quot;20300&quot; value=&quot;Slide 21 - &amp;quot;Main Tenets of Kinetic-Molecular Theory&amp;quot;&quot;/&gt;&lt;property id=&quot;20307&quot; value=&quot;279&quot;/&gt;&lt;/object&gt;&lt;object type=&quot;3&quot; unique_id=&quot;10024&quot;&gt;&lt;property id=&quot;20148&quot; value=&quot;5&quot;/&gt;&lt;property id=&quot;20300&quot; value=&quot;Slide 22 - &amp;quot;Main Tenets of Kinetic-Molecular Theory&amp;quot;&quot;/&gt;&lt;property id=&quot;20307&quot; value=&quot;281&quot;/&gt;&lt;/object&gt;&lt;object type=&quot;3&quot; unique_id=&quot;10025&quot;&gt;&lt;property id=&quot;20148&quot; value=&quot;5&quot;/&gt;&lt;property id=&quot;20300&quot; value=&quot;Slide 23 - &amp;quot;How Fast Do Gas Molecules Move?&amp;quot;&quot;/&gt;&lt;property id=&quot;20307&quot; value=&quot;304&quot;/&gt;&lt;/object&gt;&lt;object type=&quot;3&quot; unique_id=&quot;10026&quot;&gt;&lt;property id=&quot;20148&quot; value=&quot;5&quot;/&gt;&lt;property id=&quot;20300&quot; value=&quot;Slide 24 - &amp;quot;urms and Molecular Mass&amp;quot;&quot;/&gt;&lt;property id=&quot;20307&quot; value=&quot;305&quot;/&gt;&lt;/object&gt;&lt;object type=&quot;3&quot; unique_id=&quot;10027&quot;&gt;&lt;property id=&quot;20148&quot; value=&quot;5&quot;/&gt;&lt;property id=&quot;20300&quot; value=&quot;Slide 25 - &amp;quot;Effusion &amp;amp; Diffusion&amp;quot;&quot;/&gt;&lt;property id=&quot;20307&quot; value=&quot;283&quot;/&gt;&lt;/object&gt;&lt;object type=&quot;3&quot; unique_id=&quot;10028&quot;&gt;&lt;property id=&quot;20148&quot; value=&quot;5&quot;/&gt;&lt;property id=&quot;20300&quot; value=&quot;Slide 26 - &amp;quot;Graham's Law Describes Diffusion &amp;amp; Effusion&amp;quot;&quot;/&gt;&lt;property id=&quot;20307&quot; value=&quot;306&quot;/&gt;&lt;/object&gt;&lt;object type=&quot;3&quot; unique_id=&quot;10029&quot;&gt;&lt;property id=&quot;20148&quot; value=&quot;5&quot;/&gt;&lt;property id=&quot;20300&quot; value=&quot;Slide 27 - &amp;quot;Real Gases&amp;quot;&quot;/&gt;&lt;property id=&quot;20307&quot; value=&quot;288&quot;/&gt;&lt;/object&gt;&lt;object type=&quot;3&quot; unique_id=&quot;10030&quot;&gt;&lt;property id=&quot;20148&quot; value=&quot;5&quot;/&gt;&lt;property id=&quot;20300&quot; value=&quot;Slide 28 - &amp;quot;Deviations from Ideal Behavior&amp;quot;&quot;/&gt;&lt;property id=&quot;20307&quot; value=&quot;290&quot;/&gt;&lt;/object&gt;&lt;object type=&quot;3&quot; unique_id=&quot;10031&quot;&gt;&lt;property id=&quot;20148&quot; value=&quot;5&quot;/&gt;&lt;property id=&quot;20300&quot; value=&quot;Slide 29 - &amp;quot;Corrections for Nonideal Behavior&amp;quot;&quot;/&gt;&lt;property id=&quot;20307&quot; value=&quot;291&quot;/&gt;&lt;/object&gt;&lt;object type=&quot;3&quot; unique_id=&quot;10032&quot;&gt;&lt;property id=&quot;20148&quot; value=&quot;5&quot;/&gt;&lt;property id=&quot;20300&quot; value=&quot;Slide 30 - &amp;quot;The van der Waals Equation&amp;quot;&quot;/&gt;&lt;property id=&quot;20307&quot; value=&quot;292&quot;/&gt;&lt;/object&gt;&lt;/object&gt;&lt;object type=&quot;8&quot; unique_id=&quot;10064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</TotalTime>
  <Words>1171</Words>
  <Application>Microsoft Office PowerPoint</Application>
  <PresentationFormat>On-screen Show (4:3)</PresentationFormat>
  <Paragraphs>163</Paragraphs>
  <Slides>30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ＭＳ Ｐゴシック</vt:lpstr>
      <vt:lpstr>新細明體</vt:lpstr>
      <vt:lpstr>Arial</vt:lpstr>
      <vt:lpstr>Symbol</vt:lpstr>
      <vt:lpstr>Times</vt:lpstr>
      <vt:lpstr>Times New Roman</vt:lpstr>
      <vt:lpstr>Wingdings</vt:lpstr>
      <vt:lpstr>Blank Presentation</vt:lpstr>
      <vt:lpstr>Custom Design</vt:lpstr>
      <vt:lpstr>PowerPoint Presentation</vt:lpstr>
      <vt:lpstr>Characteristics of Gases</vt:lpstr>
      <vt:lpstr>Properties Which Define the State of a Gas Sample</vt:lpstr>
      <vt:lpstr>Pressure</vt:lpstr>
      <vt:lpstr>Units of Pressure</vt:lpstr>
      <vt:lpstr>Manometer</vt:lpstr>
      <vt:lpstr>Standard Pressure</vt:lpstr>
      <vt:lpstr>Boyle’s Law</vt:lpstr>
      <vt:lpstr>Mathematical Relationships of Boyle’s Law</vt:lpstr>
      <vt:lpstr>Charles’s Law</vt:lpstr>
      <vt:lpstr>Mathematical Relationships of Charles’s Law</vt:lpstr>
      <vt:lpstr>Avogadro’s Law</vt:lpstr>
      <vt:lpstr>Ideal-Gas Equation</vt:lpstr>
      <vt:lpstr>Density of Gases</vt:lpstr>
      <vt:lpstr>Density &amp; Molar Mass of a Gas</vt:lpstr>
      <vt:lpstr>Volume and Chemical Reactions</vt:lpstr>
      <vt:lpstr>Dalton’s Law of Partial Pressures</vt:lpstr>
      <vt:lpstr>Mole Fraction</vt:lpstr>
      <vt:lpstr>Pressure and Mole Fraction</vt:lpstr>
      <vt:lpstr>Kinetic-Molecular Theory</vt:lpstr>
      <vt:lpstr>Main Tenets of Kinetic-Molecular Theory</vt:lpstr>
      <vt:lpstr>Main Tenets of Kinetic-Molecular Theory</vt:lpstr>
      <vt:lpstr>How Fast Do Gas Molecules Move?</vt:lpstr>
      <vt:lpstr>urms and Molecular Mass</vt:lpstr>
      <vt:lpstr>Effusion &amp; Diffusion</vt:lpstr>
      <vt:lpstr>Graham’s Law Describes Diffusion &amp; Effusion</vt:lpstr>
      <vt:lpstr>Real Gases</vt:lpstr>
      <vt:lpstr>Deviations from Ideal Behavior</vt:lpstr>
      <vt:lpstr>Corrections for Nonideal Behavior</vt:lpstr>
      <vt:lpstr>The van der Waals Equation</vt:lpstr>
    </vt:vector>
  </TitlesOfParts>
  <Company>St. Charles Community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 Gases</dc:title>
  <dc:creator>John Bookstaver</dc:creator>
  <cp:lastModifiedBy>dell</cp:lastModifiedBy>
  <cp:revision>220</cp:revision>
  <dcterms:created xsi:type="dcterms:W3CDTF">2004-08-11T15:30:33Z</dcterms:created>
  <dcterms:modified xsi:type="dcterms:W3CDTF">2018-11-05T05:34:47Z</dcterms:modified>
</cp:coreProperties>
</file>