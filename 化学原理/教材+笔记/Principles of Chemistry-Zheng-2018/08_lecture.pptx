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41"/>
  </p:notesMasterIdLst>
  <p:sldIdLst>
    <p:sldId id="256" r:id="rId3"/>
    <p:sldId id="257" r:id="rId4"/>
    <p:sldId id="302" r:id="rId5"/>
    <p:sldId id="305" r:id="rId6"/>
    <p:sldId id="259" r:id="rId7"/>
    <p:sldId id="260" r:id="rId8"/>
    <p:sldId id="263" r:id="rId9"/>
    <p:sldId id="264" r:id="rId10"/>
    <p:sldId id="267" r:id="rId11"/>
    <p:sldId id="272" r:id="rId12"/>
    <p:sldId id="306" r:id="rId13"/>
    <p:sldId id="307" r:id="rId14"/>
    <p:sldId id="268" r:id="rId15"/>
    <p:sldId id="269" r:id="rId16"/>
    <p:sldId id="308" r:id="rId17"/>
    <p:sldId id="271" r:id="rId18"/>
    <p:sldId id="270" r:id="rId19"/>
    <p:sldId id="309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5" r:id="rId30"/>
    <p:sldId id="286" r:id="rId31"/>
    <p:sldId id="287" r:id="rId32"/>
    <p:sldId id="288" r:id="rId33"/>
    <p:sldId id="303" r:id="rId34"/>
    <p:sldId id="310" r:id="rId35"/>
    <p:sldId id="294" r:id="rId36"/>
    <p:sldId id="295" r:id="rId37"/>
    <p:sldId id="297" r:id="rId38"/>
    <p:sldId id="298" r:id="rId39"/>
    <p:sldId id="300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82E32"/>
    <a:srgbClr val="007CB2"/>
    <a:srgbClr val="001964"/>
    <a:srgbClr val="00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1860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4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B1CC4BC-A1A4-AD49-B160-7F7457AB4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716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921BA66-DB7F-144C-AE85-3473B9F96D83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68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9ED4F36-7EEF-8B41-ACAA-9D7362849769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98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4F15453-28AF-DA4A-96AF-870420F950ED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93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F213E94-39F4-684C-AFAF-2B6D24115CFA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8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1682575-8B39-7045-BD63-0A3CA33A280B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00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F7C1678-08D4-A049-BE49-4427EBF4B7E1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209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57BFED5-A92F-EF42-B48D-2423AEBF5BE8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32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D4F5747-1EBB-D945-A85A-D8BBCFA48289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53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D33529F-DC90-8840-984B-4A91EB97231A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90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D439E3A-C714-D447-8D39-1A9DEFCDC967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11C7D1D-4D51-BC45-9604-7D4D8F411A82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696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6F55533-3393-2F4A-855C-4DD9B14187E2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919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F96C388-155B-AC46-BFBD-B0928BEA842E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481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1E3066F-620C-F249-8457-F3349D31DDB0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511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12BF6B1-B694-D34F-9D20-6EF8D68C9B82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307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C867E11-CE93-3342-A88B-7DBC8E52CB17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934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1859F8A-62E6-4548-BB2A-BD54B369FB8E}" type="slidenum">
              <a:rPr lang="en-US" sz="1200"/>
              <a:pPr/>
              <a:t>23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4365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14D9E19-39D5-BA42-942F-105E00AAF27A}" type="slidenum">
              <a:rPr lang="en-US" sz="1200"/>
              <a:pPr/>
              <a:t>24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433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30517B6-34B6-A64A-84E9-C11EA9881584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70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26AAD60-BDC1-8E44-BCA0-CA4A96B051B2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</a:rPr>
              <a:t>Start here 6/11/10</a:t>
            </a:r>
          </a:p>
        </p:txBody>
      </p:sp>
    </p:spTree>
    <p:extLst>
      <p:ext uri="{BB962C8B-B14F-4D97-AF65-F5344CB8AC3E}">
        <p14:creationId xmlns:p14="http://schemas.microsoft.com/office/powerpoint/2010/main" val="1463057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201D6DB-2063-6D4C-A4C7-F9C54686F27C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07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EF2BFCD-1F6D-3B40-A065-EDD908426F0A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0088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37AE875-B6AD-A440-BC3C-05EDFC62BBA0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47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358E4C-FB17-804D-8DD4-0AB75377F2B1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13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BCF678C-59C9-024B-9E77-0C1D54FD21A5}" type="slidenum">
              <a:rPr lang="en-US" sz="1200"/>
              <a:pPr/>
              <a:t>31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74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39CC89-8052-DB4B-B83F-EFB5FA3EC75D}" type="slidenum">
              <a:rPr lang="en-US" sz="1200"/>
              <a:pPr/>
              <a:t>32</a:t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45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6BACEE3-C5EB-3044-9F89-77D80C91D2E7}" type="slidenum">
              <a:rPr lang="en-US" sz="1200"/>
              <a:pPr/>
              <a:t>34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664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782C21-7A59-B641-8B11-AB868A9636B5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5688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9D04102-1970-0C49-999D-E2173DC3B404}" type="slidenum">
              <a:rPr lang="en-US" sz="1200"/>
              <a:pPr/>
              <a:t>36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0941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39548-0B74-D64B-B866-C4DF84858D44}" type="slidenum">
              <a:rPr lang="en-US" sz="1200"/>
              <a:pPr/>
              <a:t>37</a:t>
            </a:fld>
            <a:endParaRPr 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032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64AC429-CED6-1C42-ABA2-C6069E03483C}" type="slidenum">
              <a:rPr lang="en-US" sz="1200"/>
              <a:pPr/>
              <a:t>38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04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983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999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440903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1247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0475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13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46133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747416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534425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94372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67127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1074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73793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9485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42200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70451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96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43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87064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62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30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964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533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5117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4012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776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28" name="Group 14"/>
          <p:cNvGrpSpPr>
            <a:grpSpLocks/>
          </p:cNvGrpSpPr>
          <p:nvPr userDrawn="1"/>
        </p:nvGrpSpPr>
        <p:grpSpPr bwMode="auto">
          <a:xfrm>
            <a:off x="7772400" y="5334000"/>
            <a:ext cx="1381125" cy="1371600"/>
            <a:chOff x="4896" y="3360"/>
            <a:chExt cx="870" cy="864"/>
          </a:xfrm>
        </p:grpSpPr>
        <p:pic>
          <p:nvPicPr>
            <p:cNvPr id="1030" name="Picture 11" descr="Triangle--Gray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360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1" name="Rectangle 8"/>
            <p:cNvSpPr>
              <a:spLocks noChangeArrowheads="1"/>
            </p:cNvSpPr>
            <p:nvPr userDrawn="1"/>
          </p:nvSpPr>
          <p:spPr bwMode="auto">
            <a:xfrm>
              <a:off x="4926" y="3638"/>
              <a:ext cx="840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18" charset="-128"/>
                </a:defRPr>
              </a:lvl9pPr>
            </a:lstStyle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  <a:cs typeface="+mn-cs"/>
                </a:rPr>
                <a:t>Basic Concepts </a:t>
              </a:r>
              <a:br>
                <a:rPr lang="en-US" altLang="en-US" sz="1400" smtClean="0">
                  <a:latin typeface="Times New Roman" pitchFamily="18" charset="0"/>
                  <a:cs typeface="+mn-cs"/>
                </a:rPr>
              </a:br>
              <a:r>
                <a:rPr lang="en-US" altLang="en-US" sz="1400" smtClean="0">
                  <a:latin typeface="Times New Roman" pitchFamily="18" charset="0"/>
                  <a:cs typeface="+mn-cs"/>
                </a:rPr>
                <a:t>of Chemical</a:t>
              </a:r>
            </a:p>
            <a:p>
              <a:pPr algn="ctr">
                <a:defRPr/>
              </a:pPr>
              <a:r>
                <a:rPr lang="en-US" altLang="en-US" sz="1400" smtClean="0">
                  <a:latin typeface="Times New Roman" pitchFamily="18" charset="0"/>
                  <a:cs typeface="+mn-cs"/>
                </a:rPr>
                <a:t>Bonding</a:t>
              </a:r>
            </a:p>
          </p:txBody>
        </p:sp>
      </p:grpSp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Education, Inc.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1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2" name="Text Box 7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/>
          <a:p>
            <a:pPr algn="ctr" eaLnBrk="1" hangingPunct="1"/>
            <a:r>
              <a:rPr lang="en-US" sz="3400" b="1" dirty="0">
                <a:solidFill>
                  <a:schemeClr val="tx2"/>
                </a:solidFill>
                <a:cs typeface="Arial" charset="0"/>
              </a:rPr>
              <a:t>Chapter 8</a:t>
            </a:r>
            <a:br>
              <a:rPr lang="en-US" sz="3400" b="1" dirty="0">
                <a:solidFill>
                  <a:schemeClr val="tx2"/>
                </a:solidFill>
                <a:cs typeface="Arial" charset="0"/>
              </a:rPr>
            </a:b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/>
            </a:r>
            <a:br>
              <a:rPr lang="en-US" sz="3400" b="1" dirty="0">
                <a:solidFill>
                  <a:schemeClr val="tx2"/>
                </a:solidFill>
                <a:cs typeface="Arial" charset="0"/>
              </a:rPr>
            </a:b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> Basic Concepts of Chemical Bonding</a:t>
            </a:r>
          </a:p>
        </p:txBody>
      </p:sp>
      <p:sp>
        <p:nvSpPr>
          <p:cNvPr id="4098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pic>
        <p:nvPicPr>
          <p:cNvPr id="4099" name="Picture 1" descr="BROW0417_13_ec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cs typeface="Arial" charset="0"/>
              </a:rPr>
              <a:t>Lecture Presentation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Chemical Bonds</a:t>
            </a:r>
          </a:p>
        </p:txBody>
      </p:sp>
      <p:pic>
        <p:nvPicPr>
          <p:cNvPr id="6146" name="Picture 4" descr="08_01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7"/>
          <a:stretch>
            <a:fillRect/>
          </a:stretch>
        </p:blipFill>
        <p:spPr bwMode="auto">
          <a:xfrm>
            <a:off x="914400" y="914400"/>
            <a:ext cx="2362200" cy="529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20"/>
          <p:cNvSpPr>
            <a:spLocks noGrp="1" noChangeArrowheads="1"/>
          </p:cNvSpPr>
          <p:nvPr>
            <p:ph type="body" sz="half" idx="2"/>
          </p:nvPr>
        </p:nvSpPr>
        <p:spPr>
          <a:xfrm>
            <a:off x="3657600" y="1221129"/>
            <a:ext cx="5143500" cy="51816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Three basic types of bonds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Ionic</a:t>
            </a:r>
          </a:p>
          <a:p>
            <a:pPr lvl="2" eaLnBrk="1" hangingPunct="1"/>
            <a:r>
              <a:rPr lang="en-US" sz="2800" dirty="0">
                <a:latin typeface="Arial" charset="0"/>
                <a:ea typeface="ＭＳ Ｐゴシック" charset="0"/>
              </a:rPr>
              <a:t>Electrostatic attraction between ions.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Covalent</a:t>
            </a:r>
          </a:p>
          <a:p>
            <a:pPr lvl="2" eaLnBrk="1" hangingPunct="1"/>
            <a:r>
              <a:rPr lang="en-US" sz="2800" dirty="0">
                <a:latin typeface="Arial" charset="0"/>
                <a:ea typeface="ＭＳ Ｐゴシック" charset="0"/>
              </a:rPr>
              <a:t>Sharing of electrons.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Metallic</a:t>
            </a:r>
          </a:p>
          <a:p>
            <a:pPr lvl="2" eaLnBrk="1" hangingPunct="1"/>
            <a:r>
              <a:rPr lang="en-US" sz="2800" dirty="0">
                <a:latin typeface="Arial" charset="0"/>
                <a:ea typeface="ＭＳ Ｐゴシック" charset="0"/>
              </a:rPr>
              <a:t>Metal atoms bonded to several other atoms.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2209800" y="1600200"/>
            <a:ext cx="7620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 bwMode="auto">
          <a:xfrm>
            <a:off x="1295400" y="5638800"/>
            <a:ext cx="7620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 bwMode="auto">
          <a:xfrm>
            <a:off x="1676400" y="3276600"/>
            <a:ext cx="7620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2049172" y="838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Lewis Symbols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623104"/>
            <a:ext cx="3962400" cy="30353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G. N.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Lewis</a:t>
            </a:r>
            <a:r>
              <a:rPr lang="en-US" sz="2600" dirty="0">
                <a:latin typeface="Arial" charset="0"/>
                <a:ea typeface="ＭＳ Ｐゴシック" charset="0"/>
              </a:rPr>
              <a:t> developed a method to denote potential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bonding electrons </a:t>
            </a:r>
            <a:r>
              <a:rPr lang="en-US" sz="2600" dirty="0">
                <a:latin typeface="Arial" charset="0"/>
                <a:ea typeface="ＭＳ Ｐゴシック" charset="0"/>
              </a:rPr>
              <a:t>by using one dot for every valence electron around the element symbol.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When forming compounds, atoms tend to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gain, lose, or share electrons</a:t>
            </a:r>
            <a:r>
              <a:rPr lang="en-US" sz="2600" dirty="0">
                <a:latin typeface="Arial" charset="0"/>
                <a:ea typeface="ＭＳ Ｐゴシック" charset="0"/>
              </a:rPr>
              <a:t> until they are surrounded by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eight</a:t>
            </a:r>
            <a:r>
              <a:rPr lang="en-US" sz="2600" dirty="0">
                <a:latin typeface="Arial" charset="0"/>
                <a:ea typeface="ＭＳ Ｐゴシック" charset="0"/>
              </a:rPr>
              <a:t> valence electrons (the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octet</a:t>
            </a:r>
            <a:r>
              <a:rPr lang="en-US" sz="2600" dirty="0">
                <a:latin typeface="Arial" charset="0"/>
                <a:ea typeface="ＭＳ Ｐゴシック" charset="0"/>
              </a:rPr>
              <a:t> rule).</a:t>
            </a:r>
          </a:p>
        </p:txBody>
      </p:sp>
      <p:pic>
        <p:nvPicPr>
          <p:cNvPr id="8195" name="Picture 4" descr="08_01_Table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2"/>
          <a:stretch>
            <a:fillRect/>
          </a:stretch>
        </p:blipFill>
        <p:spPr bwMode="auto">
          <a:xfrm>
            <a:off x="3962400" y="2362200"/>
            <a:ext cx="5088943" cy="2429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Ionic Formation</a:t>
            </a:r>
          </a:p>
        </p:txBody>
      </p:sp>
      <p:sp>
        <p:nvSpPr>
          <p:cNvPr id="9218" name="Content Placeholder 5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18288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Atoms tend to lose (metals) or gain (nonmetals) electrons to make them isoelectronic to the noble gases.</a:t>
            </a:r>
          </a:p>
        </p:txBody>
      </p:sp>
      <p:pic>
        <p:nvPicPr>
          <p:cNvPr id="9219" name="Picture 5" descr="08_02_Figure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7"/>
          <a:stretch>
            <a:fillRect/>
          </a:stretch>
        </p:blipFill>
        <p:spPr bwMode="auto">
          <a:xfrm>
            <a:off x="685800" y="3124200"/>
            <a:ext cx="735965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 descr="08_Pg301_Un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5"/>
          <a:stretch>
            <a:fillRect/>
          </a:stretch>
        </p:blipFill>
        <p:spPr bwMode="auto">
          <a:xfrm>
            <a:off x="1409700" y="2209800"/>
            <a:ext cx="6781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-1295400" y="-32241"/>
            <a:ext cx="9144000" cy="13716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Energetics of Ionic Bonding—</a:t>
            </a:r>
            <a:br>
              <a:rPr lang="en-US" sz="3200" b="1" dirty="0">
                <a:latin typeface="Arial" charset="0"/>
                <a:ea typeface="ＭＳ Ｐゴシック" charset="0"/>
              </a:rPr>
            </a:br>
            <a:r>
              <a:rPr lang="en-US" sz="3200" b="1" dirty="0">
                <a:latin typeface="Arial" charset="0"/>
                <a:ea typeface="ＭＳ Ｐゴシック" charset="0"/>
              </a:rPr>
              <a:t>Born-Haber Cycle</a:t>
            </a:r>
          </a:p>
        </p:txBody>
      </p:sp>
      <p:sp>
        <p:nvSpPr>
          <p:cNvPr id="102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1524000"/>
            <a:ext cx="4876800" cy="4876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Many factors affect the energy of ionic bonding.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Start with the metal and nonmetal elements:           Na(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) and Cl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dirty="0">
                <a:latin typeface="Arial" charset="0"/>
                <a:ea typeface="ＭＳ Ｐゴシック" charset="0"/>
              </a:rPr>
              <a:t>(</a:t>
            </a:r>
            <a:r>
              <a:rPr lang="en-US" sz="2800" i="1" dirty="0">
                <a:latin typeface="Arial" charset="0"/>
                <a:ea typeface="ＭＳ Ｐゴシック" charset="0"/>
              </a:rPr>
              <a:t>g</a:t>
            </a:r>
            <a:r>
              <a:rPr lang="en-US" sz="2800" dirty="0">
                <a:latin typeface="Arial" charset="0"/>
                <a:ea typeface="ＭＳ Ｐゴシック" charset="0"/>
              </a:rPr>
              <a:t>).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Make gaseous atoms:       Na(</a:t>
            </a:r>
            <a:r>
              <a:rPr lang="en-US" sz="2800" i="1" dirty="0">
                <a:latin typeface="Arial" charset="0"/>
                <a:ea typeface="ＭＳ Ｐゴシック" charset="0"/>
              </a:rPr>
              <a:t>g</a:t>
            </a:r>
            <a:r>
              <a:rPr lang="en-US" sz="2800" dirty="0">
                <a:latin typeface="Arial" charset="0"/>
                <a:ea typeface="ＭＳ Ｐゴシック" charset="0"/>
              </a:rPr>
              <a:t>) and Cl(</a:t>
            </a:r>
            <a:r>
              <a:rPr lang="en-US" sz="2800" i="1" dirty="0">
                <a:latin typeface="Arial" charset="0"/>
                <a:ea typeface="ＭＳ Ｐゴシック" charset="0"/>
              </a:rPr>
              <a:t>g</a:t>
            </a:r>
            <a:r>
              <a:rPr lang="en-US" sz="2800" dirty="0">
                <a:latin typeface="Arial" charset="0"/>
                <a:ea typeface="ＭＳ Ｐゴシック" charset="0"/>
              </a:rPr>
              <a:t>).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Make ions: Na</a:t>
            </a:r>
            <a:r>
              <a:rPr lang="en-US" sz="2800" baseline="30000" dirty="0">
                <a:latin typeface="Arial" charset="0"/>
                <a:ea typeface="ＭＳ Ｐゴシック" charset="0"/>
              </a:rPr>
              <a:t>+</a:t>
            </a:r>
            <a:r>
              <a:rPr lang="en-US" sz="2800" dirty="0">
                <a:latin typeface="Arial" charset="0"/>
                <a:ea typeface="ＭＳ Ｐゴシック" charset="0"/>
              </a:rPr>
              <a:t>(</a:t>
            </a:r>
            <a:r>
              <a:rPr lang="en-US" sz="2800" i="1" dirty="0">
                <a:latin typeface="Arial" charset="0"/>
                <a:ea typeface="ＭＳ Ｐゴシック" charset="0"/>
              </a:rPr>
              <a:t>g</a:t>
            </a:r>
            <a:r>
              <a:rPr lang="en-US" sz="2800" dirty="0">
                <a:latin typeface="Arial" charset="0"/>
                <a:ea typeface="ＭＳ Ｐゴシック" charset="0"/>
              </a:rPr>
              <a:t>) and      Cl</a:t>
            </a:r>
            <a:r>
              <a:rPr lang="en-US" sz="2800" baseline="30000" dirty="0">
                <a:latin typeface="Arial" charset="0"/>
                <a:ea typeface="ＭＳ Ｐゴシック" charset="0"/>
              </a:rPr>
              <a:t>–</a:t>
            </a:r>
            <a:r>
              <a:rPr lang="en-US" sz="2800" dirty="0">
                <a:latin typeface="Arial" charset="0"/>
                <a:ea typeface="ＭＳ Ｐゴシック" charset="0"/>
              </a:rPr>
              <a:t>(</a:t>
            </a:r>
            <a:r>
              <a:rPr lang="en-US" sz="2800" i="1" dirty="0">
                <a:latin typeface="Arial" charset="0"/>
                <a:ea typeface="ＭＳ Ｐゴシック" charset="0"/>
              </a:rPr>
              <a:t>g</a:t>
            </a:r>
            <a:r>
              <a:rPr lang="en-US" sz="2800" dirty="0">
                <a:latin typeface="Arial" charset="0"/>
                <a:ea typeface="ＭＳ Ｐゴシック" charset="0"/>
              </a:rPr>
              <a:t>).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Combine the ions: </a:t>
            </a:r>
            <a:r>
              <a:rPr lang="en-US" sz="2800" dirty="0" err="1">
                <a:latin typeface="Arial" charset="0"/>
                <a:ea typeface="ＭＳ Ｐゴシック" charset="0"/>
              </a:rPr>
              <a:t>NaCl</a:t>
            </a:r>
            <a:r>
              <a:rPr lang="en-US" sz="2800" dirty="0">
                <a:latin typeface="Arial" charset="0"/>
                <a:ea typeface="ＭＳ Ｐゴシック" charset="0"/>
              </a:rPr>
              <a:t>(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).</a:t>
            </a:r>
          </a:p>
        </p:txBody>
      </p:sp>
      <p:pic>
        <p:nvPicPr>
          <p:cNvPr id="10243" name="Picture 5" descr="08_03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"/>
          <a:stretch>
            <a:fillRect/>
          </a:stretch>
        </p:blipFill>
        <p:spPr bwMode="auto">
          <a:xfrm>
            <a:off x="5374993" y="3810000"/>
            <a:ext cx="1981200" cy="279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6" descr="08_05_Figure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3"/>
          <a:stretch>
            <a:fillRect/>
          </a:stretch>
        </p:blipFill>
        <p:spPr bwMode="auto">
          <a:xfrm>
            <a:off x="5374993" y="744105"/>
            <a:ext cx="3282387" cy="28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16397" y="137932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Energetics of Ionic Bonding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51816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We already discussed making ions (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ionization energy and electron affinity</a:t>
            </a:r>
            <a:r>
              <a:rPr lang="en-US" sz="2600" dirty="0">
                <a:latin typeface="Arial" charset="0"/>
                <a:ea typeface="ＭＳ Ｐゴシック" charset="0"/>
              </a:rPr>
              <a:t>).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It takes energy to convert the elements to atoms. (endothermic)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It takes energy to create a cation (endothermic).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Energy is released by making the anion (exothermic).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The formation of the solid releases a </a:t>
            </a:r>
            <a:r>
              <a:rPr lang="en-US" sz="2600" i="1" dirty="0">
                <a:latin typeface="Arial" charset="0"/>
                <a:ea typeface="ＭＳ Ｐゴシック" charset="0"/>
              </a:rPr>
              <a:t>huge</a:t>
            </a:r>
            <a:r>
              <a:rPr lang="en-US" sz="2600" dirty="0">
                <a:latin typeface="Arial" charset="0"/>
                <a:ea typeface="ＭＳ Ｐゴシック" charset="0"/>
              </a:rPr>
              <a:t> amount of energy (exothermic).</a:t>
            </a: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This makes the formation of salts from the elements </a:t>
            </a:r>
            <a:r>
              <a:rPr lang="en-US" sz="2600" i="1" dirty="0">
                <a:latin typeface="Arial" charset="0"/>
                <a:ea typeface="ＭＳ Ｐゴシック" charset="0"/>
              </a:rPr>
              <a:t>exothermic</a:t>
            </a:r>
            <a:r>
              <a:rPr lang="en-US" sz="2600" dirty="0">
                <a:latin typeface="Arial" charset="0"/>
                <a:ea typeface="ＭＳ Ｐゴシック" charset="0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Lattice Energy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181" y="1506538"/>
            <a:ext cx="8783638" cy="36576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That huge, exothermic transition is the reverse of the </a:t>
            </a:r>
            <a:r>
              <a:rPr lang="en-US" sz="2600" b="1" dirty="0">
                <a:latin typeface="Arial" charset="0"/>
                <a:ea typeface="ＭＳ Ｐゴシック" charset="0"/>
              </a:rPr>
              <a:t>lattice energy</a:t>
            </a:r>
            <a:r>
              <a:rPr lang="en-US" sz="2600" dirty="0">
                <a:latin typeface="Arial" charset="0"/>
                <a:ea typeface="ＭＳ Ｐゴシック" charset="0"/>
              </a:rPr>
              <a:t>,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sz="2600" i="1" dirty="0">
                <a:latin typeface="Arial" charset="0"/>
                <a:ea typeface="ＭＳ Ｐゴシック" charset="0"/>
              </a:rPr>
              <a:t>the energy required to completely separate a mole of a </a:t>
            </a:r>
            <a:r>
              <a:rPr lang="en-US" sz="2600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solid</a:t>
            </a:r>
            <a:r>
              <a:rPr lang="en-US" sz="2600" i="1" dirty="0">
                <a:latin typeface="Arial" charset="0"/>
                <a:ea typeface="ＭＳ Ｐゴシック" charset="0"/>
              </a:rPr>
              <a:t> ionic compound into its </a:t>
            </a:r>
            <a:r>
              <a:rPr lang="en-US" sz="2600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gaseous</a:t>
            </a:r>
            <a:r>
              <a:rPr lang="en-US" sz="2600" i="1" dirty="0">
                <a:latin typeface="Arial" charset="0"/>
                <a:ea typeface="ＭＳ Ｐゴシック" charset="0"/>
              </a:rPr>
              <a:t> </a:t>
            </a:r>
            <a:r>
              <a:rPr lang="en-US" sz="2600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ions</a:t>
            </a:r>
            <a:r>
              <a:rPr lang="en-US" sz="2600" i="1" dirty="0" smtClean="0">
                <a:latin typeface="Arial" charset="0"/>
                <a:ea typeface="ＭＳ Ｐゴシック" charset="0"/>
              </a:rPr>
              <a:t>.</a:t>
            </a:r>
          </a:p>
          <a:p>
            <a:pPr lvl="1" eaLnBrk="1" hangingPunct="1">
              <a:buFont typeface="Lucida Grande" charset="0"/>
              <a:buChar char="–"/>
            </a:pPr>
            <a:endParaRPr lang="en-US" sz="2600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The energy associated with electrostatic interactions is governed by Coulomb’s law:</a:t>
            </a:r>
          </a:p>
        </p:txBody>
      </p:sp>
      <p:grpSp>
        <p:nvGrpSpPr>
          <p:cNvPr id="14339" name="Group 11"/>
          <p:cNvGrpSpPr>
            <a:grpSpLocks/>
          </p:cNvGrpSpPr>
          <p:nvPr/>
        </p:nvGrpSpPr>
        <p:grpSpPr bwMode="auto">
          <a:xfrm>
            <a:off x="3308350" y="4706938"/>
            <a:ext cx="2479675" cy="1066800"/>
            <a:chOff x="2112" y="3264"/>
            <a:chExt cx="1562" cy="672"/>
          </a:xfrm>
        </p:grpSpPr>
        <p:sp>
          <p:nvSpPr>
            <p:cNvPr id="14340" name="Rectangle 5"/>
            <p:cNvSpPr>
              <a:spLocks noChangeArrowheads="1"/>
            </p:cNvSpPr>
            <p:nvPr/>
          </p:nvSpPr>
          <p:spPr bwMode="auto">
            <a:xfrm>
              <a:off x="2112" y="3418"/>
              <a:ext cx="103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i="1"/>
                <a:t>E</a:t>
              </a:r>
              <a:r>
                <a:rPr lang="en-US" sz="3200" baseline="-25000"/>
                <a:t>el</a:t>
              </a:r>
              <a:r>
                <a:rPr lang="en-US" sz="3200"/>
                <a:t> = </a:t>
              </a:r>
              <a:r>
                <a:rPr lang="en-US" sz="3200" i="1">
                  <a:latin typeface="Symbol" charset="0"/>
                  <a:sym typeface="Symbol" charset="0"/>
                </a:rPr>
                <a:t></a:t>
              </a:r>
              <a:endParaRPr lang="en-US" sz="3200" i="1"/>
            </a:p>
          </p:txBody>
        </p:sp>
        <p:grpSp>
          <p:nvGrpSpPr>
            <p:cNvPr id="14341" name="Group 10"/>
            <p:cNvGrpSpPr>
              <a:grpSpLocks/>
            </p:cNvGrpSpPr>
            <p:nvPr/>
          </p:nvGrpSpPr>
          <p:grpSpPr bwMode="auto">
            <a:xfrm>
              <a:off x="2954" y="3264"/>
              <a:ext cx="720" cy="672"/>
              <a:chOff x="2954" y="3264"/>
              <a:chExt cx="720" cy="672"/>
            </a:xfrm>
          </p:grpSpPr>
          <p:sp>
            <p:nvSpPr>
              <p:cNvPr id="14342" name="Rectangle 6"/>
              <p:cNvSpPr>
                <a:spLocks noChangeArrowheads="1"/>
              </p:cNvSpPr>
              <p:nvPr/>
            </p:nvSpPr>
            <p:spPr bwMode="auto">
              <a:xfrm>
                <a:off x="2973" y="3264"/>
                <a:ext cx="673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3200" i="1">
                    <a:latin typeface="Times New Roman" charset="0"/>
                  </a:rPr>
                  <a:t>Q</a:t>
                </a:r>
                <a:r>
                  <a:rPr lang="en-US" sz="3200" baseline="-25000"/>
                  <a:t>1</a:t>
                </a:r>
                <a:r>
                  <a:rPr lang="en-US" sz="3200" i="1">
                    <a:latin typeface="Times New Roman" charset="0"/>
                  </a:rPr>
                  <a:t>Q</a:t>
                </a:r>
                <a:r>
                  <a:rPr lang="en-US" sz="3200" baseline="-25000"/>
                  <a:t>2</a:t>
                </a:r>
                <a:endParaRPr lang="en-US" sz="3200" i="1"/>
              </a:p>
              <a:p>
                <a:pPr algn="ctr"/>
                <a:r>
                  <a:rPr lang="en-US" sz="3200" i="1">
                    <a:latin typeface="Times New Roman" charset="0"/>
                  </a:rPr>
                  <a:t>d</a:t>
                </a:r>
                <a:endParaRPr lang="en-US" sz="3200" i="1"/>
              </a:p>
            </p:txBody>
          </p:sp>
          <p:sp>
            <p:nvSpPr>
              <p:cNvPr id="14343" name="Line 7"/>
              <p:cNvSpPr>
                <a:spLocks noChangeShapeType="1"/>
              </p:cNvSpPr>
              <p:nvPr/>
            </p:nvSpPr>
            <p:spPr bwMode="auto">
              <a:xfrm>
                <a:off x="2954" y="3637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291" y="-114139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Lattice Energy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828800" y="811032"/>
            <a:ext cx="777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sz="2800" dirty="0" smtClean="0">
                <a:latin typeface="Arial" charset="0"/>
                <a:ea typeface="ＭＳ Ｐゴシック" charset="0"/>
              </a:rPr>
              <a:t>Lattice energy increases with: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 smtClean="0">
                <a:latin typeface="Arial" charset="0"/>
                <a:ea typeface="ＭＳ Ｐゴシック" charset="0"/>
              </a:rPr>
              <a:t>increasing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charge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on the ions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 smtClean="0">
                <a:latin typeface="Arial" charset="0"/>
                <a:ea typeface="ＭＳ Ｐゴシック" charset="0"/>
              </a:rPr>
              <a:t>decreasing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size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of ions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16387" name="Picture 6" descr="08_02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0"/>
          <a:stretch>
            <a:fillRect/>
          </a:stretch>
        </p:blipFill>
        <p:spPr bwMode="auto">
          <a:xfrm>
            <a:off x="1981200" y="2487432"/>
            <a:ext cx="5717801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152400"/>
            <a:ext cx="9144001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Covalent Bonding</a:t>
            </a:r>
          </a:p>
        </p:txBody>
      </p:sp>
      <p:sp>
        <p:nvSpPr>
          <p:cNvPr id="1843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429000" y="1066800"/>
            <a:ext cx="5334000" cy="52442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dirty="0">
                <a:latin typeface="Arial" charset="0"/>
                <a:ea typeface="ＭＳ Ｐゴシック" charset="0"/>
              </a:rPr>
              <a:t>In covalent bonds, atoms share electrons.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>
                <a:latin typeface="Arial" charset="0"/>
                <a:ea typeface="ＭＳ Ｐゴシック" charset="0"/>
              </a:rPr>
              <a:t>There are several electrostatic interactions in these bonds:</a:t>
            </a:r>
          </a:p>
          <a:p>
            <a:pPr lvl="1" eaLnBrk="1" hangingPunct="1">
              <a:lnSpc>
                <a:spcPct val="90000"/>
              </a:lnSpc>
              <a:buFont typeface="Lucida Grande" charset="0"/>
              <a:buChar char="–"/>
            </a:pPr>
            <a:r>
              <a:rPr lang="en-US" sz="2600" dirty="0">
                <a:latin typeface="Arial" charset="0"/>
                <a:ea typeface="ＭＳ Ｐゴシック" charset="0"/>
              </a:rPr>
              <a:t>attractions between electrons and nuclei,</a:t>
            </a:r>
          </a:p>
          <a:p>
            <a:pPr lvl="1" eaLnBrk="1" hangingPunct="1">
              <a:lnSpc>
                <a:spcPct val="90000"/>
              </a:lnSpc>
              <a:buFont typeface="Lucida Grande" charset="0"/>
              <a:buChar char="–"/>
            </a:pPr>
            <a:r>
              <a:rPr lang="en-US" sz="2600" dirty="0">
                <a:latin typeface="Arial" charset="0"/>
                <a:ea typeface="ＭＳ Ｐゴシック" charset="0"/>
              </a:rPr>
              <a:t>repulsions between electrons, and</a:t>
            </a:r>
          </a:p>
          <a:p>
            <a:pPr lvl="1" eaLnBrk="1" hangingPunct="1">
              <a:lnSpc>
                <a:spcPct val="90000"/>
              </a:lnSpc>
              <a:buFont typeface="Lucida Grande" charset="0"/>
              <a:buChar char="–"/>
            </a:pPr>
            <a:r>
              <a:rPr lang="en-US" sz="2600" dirty="0">
                <a:latin typeface="Arial" charset="0"/>
                <a:ea typeface="ＭＳ Ｐゴシック" charset="0"/>
              </a:rPr>
              <a:t>repulsions between nuclei.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>
                <a:latin typeface="Arial" charset="0"/>
                <a:ea typeface="ＭＳ Ｐゴシック" charset="0"/>
              </a:rPr>
              <a:t>For a bond to form, the attractions must be greater than the repulsions.</a:t>
            </a:r>
          </a:p>
        </p:txBody>
      </p:sp>
      <p:pic>
        <p:nvPicPr>
          <p:cNvPr id="18435" name="Picture 4" descr="08_06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7"/>
          <a:stretch>
            <a:fillRect/>
          </a:stretch>
        </p:blipFill>
        <p:spPr bwMode="auto">
          <a:xfrm>
            <a:off x="152400" y="1006033"/>
            <a:ext cx="2971800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Lewis Structures</a:t>
            </a:r>
          </a:p>
        </p:txBody>
      </p:sp>
      <p:sp>
        <p:nvSpPr>
          <p:cNvPr id="20482" name="Rectangle 8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458200" cy="3429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Sharing electrons to make covalent bonds can be demonstrated using Lewis structures.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We start by trying to give each atom the same number of electrons as the nearest noble gas by sharing electrons.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simplest examples are for hydrogen, H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dirty="0">
                <a:latin typeface="Arial" charset="0"/>
                <a:ea typeface="ＭＳ Ｐゴシック" charset="0"/>
              </a:rPr>
              <a:t>, and chlorine, Cl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dirty="0">
                <a:latin typeface="Arial" charset="0"/>
                <a:ea typeface="ＭＳ Ｐゴシック" charset="0"/>
              </a:rPr>
              <a:t>, shown below.</a:t>
            </a:r>
          </a:p>
        </p:txBody>
      </p:sp>
      <p:pic>
        <p:nvPicPr>
          <p:cNvPr id="20483" name="Picture 4" descr="08_Pg307_UnFigure_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99"/>
          <a:stretch>
            <a:fillRect/>
          </a:stretch>
        </p:blipFill>
        <p:spPr bwMode="auto">
          <a:xfrm>
            <a:off x="1447800" y="4800600"/>
            <a:ext cx="60960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Arial" charset="0"/>
                <a:ea typeface="ＭＳ Ｐゴシック" charset="0"/>
              </a:rPr>
              <a:t>Electrons on Lewis Structures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Lone pairs</a:t>
            </a:r>
            <a:r>
              <a:rPr lang="en-US" dirty="0">
                <a:latin typeface="Arial" charset="0"/>
                <a:ea typeface="ＭＳ Ｐゴシック" charset="0"/>
              </a:rPr>
              <a:t>: electrons located on </a:t>
            </a:r>
            <a:r>
              <a:rPr lang="en-US" i="1" dirty="0">
                <a:latin typeface="Arial" charset="0"/>
                <a:ea typeface="ＭＳ Ｐゴシック" charset="0"/>
              </a:rPr>
              <a:t>only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i="1" dirty="0">
                <a:latin typeface="Arial" charset="0"/>
                <a:ea typeface="ＭＳ Ｐゴシック" charset="0"/>
              </a:rPr>
              <a:t>one</a:t>
            </a:r>
            <a:r>
              <a:rPr lang="en-US" dirty="0">
                <a:latin typeface="Arial" charset="0"/>
                <a:ea typeface="ＭＳ Ｐゴシック" charset="0"/>
              </a:rPr>
              <a:t> atom in a Lewis </a:t>
            </a:r>
            <a:r>
              <a:rPr lang="en-US" dirty="0" smtClean="0">
                <a:latin typeface="Arial" charset="0"/>
                <a:ea typeface="ＭＳ Ｐゴシック" charset="0"/>
              </a:rPr>
              <a:t>structure</a:t>
            </a:r>
          </a:p>
          <a:p>
            <a:endParaRPr lang="en-US" dirty="0">
              <a:latin typeface="Arial" charset="0"/>
              <a:ea typeface="ＭＳ Ｐゴシック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Bonding pairs</a:t>
            </a:r>
            <a:r>
              <a:rPr lang="en-US" dirty="0">
                <a:latin typeface="Arial" charset="0"/>
                <a:ea typeface="ＭＳ Ｐゴシック" charset="0"/>
              </a:rPr>
              <a:t>: shared electrons in a Lewis structure; they can be represented by two dots </a:t>
            </a:r>
            <a:r>
              <a:rPr lang="en-US" i="1" dirty="0">
                <a:latin typeface="Arial" charset="0"/>
                <a:ea typeface="ＭＳ Ｐゴシック" charset="0"/>
              </a:rPr>
              <a:t>or </a:t>
            </a:r>
            <a:r>
              <a:rPr lang="en-US" dirty="0">
                <a:latin typeface="Arial" charset="0"/>
                <a:ea typeface="ＭＳ Ｐゴシック" charset="0"/>
              </a:rPr>
              <a:t>one line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0" y="-72342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Arial" charset="0"/>
                <a:ea typeface="ＭＳ Ｐゴシック" charset="0"/>
              </a:rPr>
              <a:t>Multiple Bonds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457200" y="923131"/>
            <a:ext cx="8229600" cy="35052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Some atoms share only one pair of electrons. These bonds are called </a:t>
            </a:r>
            <a:r>
              <a:rPr lang="en-US" sz="2800" b="1" dirty="0">
                <a:latin typeface="Arial" charset="0"/>
                <a:ea typeface="ＭＳ Ｐゴシック" charset="0"/>
              </a:rPr>
              <a:t>single bonds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Sometimes, two pairs need to be shared. These are called </a:t>
            </a:r>
            <a:r>
              <a:rPr lang="en-US" sz="2800" b="1" dirty="0">
                <a:latin typeface="Arial" charset="0"/>
                <a:ea typeface="ＭＳ Ｐゴシック" charset="0"/>
              </a:rPr>
              <a:t>double bonds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There are even cases where three bonds are shared between two atoms. These are called </a:t>
            </a:r>
            <a:r>
              <a:rPr lang="en-US" sz="2800" b="1" dirty="0">
                <a:latin typeface="Arial" charset="0"/>
                <a:ea typeface="ＭＳ Ｐゴシック" charset="0"/>
              </a:rPr>
              <a:t>triple bonds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</p:txBody>
      </p:sp>
      <p:pic>
        <p:nvPicPr>
          <p:cNvPr id="23555" name="Picture 4" descr="08_Pg308_UnFigure_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0"/>
          <a:stretch>
            <a:fillRect/>
          </a:stretch>
        </p:blipFill>
        <p:spPr bwMode="auto">
          <a:xfrm>
            <a:off x="838200" y="4572000"/>
            <a:ext cx="80692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 descr="08_Pg308_UnFigure_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15"/>
          <a:stretch>
            <a:fillRect/>
          </a:stretch>
        </p:blipFill>
        <p:spPr bwMode="auto">
          <a:xfrm>
            <a:off x="838200" y="5424488"/>
            <a:ext cx="693420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Polar</a:t>
            </a:r>
            <a:r>
              <a:rPr lang="en-US" sz="3200" b="1" dirty="0">
                <a:latin typeface="Arial" charset="0"/>
                <a:ea typeface="ＭＳ Ｐゴシック" charset="0"/>
              </a:rPr>
              <a:t> Covalent Bonds</a:t>
            </a:r>
          </a:p>
        </p:txBody>
      </p:sp>
      <p:sp>
        <p:nvSpPr>
          <p:cNvPr id="24578" name="Rectangle 4"/>
          <p:cNvSpPr>
            <a:spLocks noGrp="1" noChangeArrowheads="1"/>
          </p:cNvSpPr>
          <p:nvPr>
            <p:ph idx="1"/>
          </p:nvPr>
        </p:nvSpPr>
        <p:spPr>
          <a:xfrm>
            <a:off x="296862" y="838200"/>
            <a:ext cx="8550275" cy="28194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electrons in a covalent bond are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not</a:t>
            </a:r>
            <a:r>
              <a:rPr lang="en-US" sz="2800" dirty="0">
                <a:latin typeface="Arial" charset="0"/>
                <a:ea typeface="ＭＳ Ｐゴシック" charset="0"/>
              </a:rPr>
              <a:t> always shared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equally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Fluorine pulls harder on the electrons it shares with hydrogen than hydrogen does.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Therefore, the fluorine end of the molecule has more electron density than the hydrogen end.</a:t>
            </a:r>
          </a:p>
        </p:txBody>
      </p:sp>
      <p:pic>
        <p:nvPicPr>
          <p:cNvPr id="24579" name="Picture 4" descr="08_08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1"/>
          <a:stretch>
            <a:fillRect/>
          </a:stretch>
        </p:blipFill>
        <p:spPr bwMode="auto">
          <a:xfrm>
            <a:off x="2590800" y="3810000"/>
            <a:ext cx="4692445" cy="2770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Electronegativity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" y="762000"/>
            <a:ext cx="8839200" cy="297180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Electronegativity</a:t>
            </a:r>
            <a:r>
              <a:rPr lang="en-US" sz="2800" dirty="0">
                <a:latin typeface="Arial" charset="0"/>
                <a:ea typeface="ＭＳ Ｐゴシック" charset="0"/>
              </a:rPr>
              <a:t> is 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ability</a:t>
            </a:r>
            <a:r>
              <a:rPr lang="en-US" sz="2800" dirty="0">
                <a:latin typeface="Arial" charset="0"/>
                <a:ea typeface="ＭＳ Ｐゴシック" charset="0"/>
              </a:rPr>
              <a:t> of an atom in a molecule to attract electrons to itself.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On the periodic table, electronegativity generally increases as you go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from left to right across a period.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from the bottom to the top of a group.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pic>
        <p:nvPicPr>
          <p:cNvPr id="26627" name="Picture 4" descr="08_07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6"/>
          <a:stretch>
            <a:fillRect/>
          </a:stretch>
        </p:blipFill>
        <p:spPr bwMode="auto">
          <a:xfrm>
            <a:off x="2362200" y="3733800"/>
            <a:ext cx="4800600" cy="296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4"/>
          <p:cNvSpPr>
            <a:spLocks noGrp="1"/>
          </p:cNvSpPr>
          <p:nvPr>
            <p:ph type="title"/>
          </p:nvPr>
        </p:nvSpPr>
        <p:spPr>
          <a:xfrm>
            <a:off x="-1447800" y="76200"/>
            <a:ext cx="12192000" cy="1295400"/>
          </a:xfrm>
        </p:spPr>
        <p:txBody>
          <a:bodyPr/>
          <a:lstStyle/>
          <a:p>
            <a:r>
              <a:rPr lang="en-US" sz="3200" b="1" dirty="0">
                <a:latin typeface="Arial" charset="0"/>
                <a:ea typeface="ＭＳ Ｐゴシック" charset="0"/>
              </a:rPr>
              <a:t>Electronegativity </a:t>
            </a:r>
            <a:r>
              <a:rPr lang="en-US" sz="3200" b="1" dirty="0" smtClean="0">
                <a:latin typeface="Arial" charset="0"/>
                <a:ea typeface="ＭＳ Ｐゴシック" charset="0"/>
              </a:rPr>
              <a:t>and Polar </a:t>
            </a:r>
            <a:r>
              <a:rPr lang="en-US" sz="3200" b="1" dirty="0">
                <a:latin typeface="Arial" charset="0"/>
                <a:ea typeface="ＭＳ Ｐゴシック" charset="0"/>
              </a:rPr>
              <a:t>Covalent Bonds</a:t>
            </a:r>
          </a:p>
        </p:txBody>
      </p:sp>
      <p:sp>
        <p:nvSpPr>
          <p:cNvPr id="28674" name="Content Placeholder 5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35052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When two atoms share electrons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unequally</a:t>
            </a:r>
            <a:r>
              <a:rPr lang="en-US" sz="2800" dirty="0">
                <a:latin typeface="Arial" charset="0"/>
                <a:ea typeface="ＭＳ Ｐゴシック" charset="0"/>
              </a:rPr>
              <a:t>, a </a:t>
            </a:r>
            <a:r>
              <a:rPr lang="en-US" sz="2800" b="1" dirty="0">
                <a:latin typeface="Arial" charset="0"/>
                <a:ea typeface="ＭＳ Ｐゴシック" charset="0"/>
              </a:rPr>
              <a:t>polar covalent</a:t>
            </a:r>
            <a:r>
              <a:rPr lang="en-US" sz="2800" dirty="0">
                <a:latin typeface="Arial" charset="0"/>
                <a:ea typeface="ＭＳ Ｐゴシック" charset="0"/>
              </a:rPr>
              <a:t> </a:t>
            </a:r>
            <a:r>
              <a:rPr lang="en-US" sz="2800" b="1" dirty="0">
                <a:latin typeface="Arial" charset="0"/>
                <a:ea typeface="ＭＳ Ｐゴシック" charset="0"/>
              </a:rPr>
              <a:t>bond </a:t>
            </a:r>
            <a:r>
              <a:rPr lang="en-US" sz="2800" dirty="0">
                <a:latin typeface="Arial" charset="0"/>
                <a:ea typeface="ＭＳ Ｐゴシック" charset="0"/>
              </a:rPr>
              <a:t>results.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Electrons tend to spend more time around the more electronegative atom. The result is a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partial</a:t>
            </a:r>
            <a:r>
              <a:rPr lang="en-US" sz="2800" dirty="0">
                <a:latin typeface="Arial" charset="0"/>
                <a:ea typeface="ＭＳ Ｐゴシック" charset="0"/>
              </a:rPr>
              <a:t> negative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charge</a:t>
            </a:r>
            <a:r>
              <a:rPr lang="en-US" sz="2800" dirty="0">
                <a:latin typeface="Arial" charset="0"/>
                <a:ea typeface="ＭＳ Ｐゴシック" charset="0"/>
              </a:rPr>
              <a:t> (</a:t>
            </a:r>
            <a:r>
              <a:rPr lang="en-US" sz="2800" i="1" dirty="0">
                <a:latin typeface="Arial" charset="0"/>
                <a:ea typeface="ＭＳ Ｐゴシック" charset="0"/>
              </a:rPr>
              <a:t>not </a:t>
            </a:r>
            <a:r>
              <a:rPr lang="en-US" sz="2800" dirty="0">
                <a:latin typeface="Arial" charset="0"/>
                <a:ea typeface="ＭＳ Ｐゴシック" charset="0"/>
              </a:rPr>
              <a:t>a complete transfer of charge). It is represented by </a:t>
            </a:r>
            <a:r>
              <a:rPr lang="el-GR" sz="2800" i="1" dirty="0">
                <a:latin typeface="Times New Roman" charset="0"/>
                <a:ea typeface="ＭＳ Ｐゴシック" charset="0"/>
                <a:cs typeface="Times New Roman" charset="0"/>
              </a:rPr>
              <a:t>δ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–.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The other atom is “more positive,” or </a:t>
            </a:r>
            <a:r>
              <a:rPr lang="el-GR" sz="2800" i="1" dirty="0">
                <a:latin typeface="Times New Roman" charset="0"/>
                <a:ea typeface="ＭＳ Ｐゴシック" charset="0"/>
                <a:cs typeface="Times New Roman" charset="0"/>
              </a:rPr>
              <a:t>δ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+.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28675" name="Picture 4" descr="equation pg 31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105400"/>
            <a:ext cx="4241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Polar Covalent Bonds</a:t>
            </a:r>
          </a:p>
        </p:txBody>
      </p:sp>
      <p:sp>
        <p:nvSpPr>
          <p:cNvPr id="29698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666999"/>
            <a:ext cx="2514600" cy="914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 dirty="0">
                <a:latin typeface="Arial" charset="0"/>
                <a:ea typeface="ＭＳ Ｐゴシック" charset="0"/>
              </a:rPr>
              <a:t>The greater the difference in electronegativity, the more polar is the bond.</a:t>
            </a:r>
          </a:p>
        </p:txBody>
      </p:sp>
      <p:pic>
        <p:nvPicPr>
          <p:cNvPr id="29699" name="Picture 5" descr="08_03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0"/>
          <a:stretch>
            <a:fillRect/>
          </a:stretch>
        </p:blipFill>
        <p:spPr bwMode="auto">
          <a:xfrm>
            <a:off x="2971800" y="1524000"/>
            <a:ext cx="5873369" cy="205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6" descr="08_10_Figure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0"/>
          <a:stretch>
            <a:fillRect/>
          </a:stretch>
        </p:blipFill>
        <p:spPr bwMode="auto">
          <a:xfrm>
            <a:off x="1015678" y="3886200"/>
            <a:ext cx="6629400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Dipoles</a:t>
            </a:r>
          </a:p>
        </p:txBody>
      </p:sp>
      <p:sp>
        <p:nvSpPr>
          <p:cNvPr id="3174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6200" y="762000"/>
            <a:ext cx="5181600" cy="5257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When two equal, but opposite, charges are separated by a distance, a </a:t>
            </a:r>
            <a:r>
              <a:rPr lang="en-US" sz="2800" b="1" dirty="0">
                <a:latin typeface="Arial" charset="0"/>
                <a:ea typeface="ＭＳ Ｐゴシック" charset="0"/>
              </a:rPr>
              <a:t>dipole</a:t>
            </a:r>
            <a:r>
              <a:rPr lang="en-US" sz="2800" dirty="0">
                <a:latin typeface="Arial" charset="0"/>
                <a:ea typeface="ＭＳ Ｐゴシック" charset="0"/>
              </a:rPr>
              <a:t> forms.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A </a:t>
            </a:r>
            <a:r>
              <a:rPr lang="en-US" sz="2800" b="1" dirty="0">
                <a:latin typeface="Arial" charset="0"/>
                <a:ea typeface="ＭＳ Ｐゴシック" charset="0"/>
              </a:rPr>
              <a:t>dipole moment</a:t>
            </a:r>
            <a:r>
              <a:rPr lang="en-US" sz="2800" dirty="0">
                <a:latin typeface="Arial" charset="0"/>
                <a:ea typeface="ＭＳ Ｐゴシック" charset="0"/>
              </a:rPr>
              <a:t>, </a:t>
            </a:r>
            <a:r>
              <a:rPr lang="en-US" sz="2800" i="1" dirty="0">
                <a:latin typeface="Symbol" charset="0"/>
                <a:ea typeface="ＭＳ Ｐゴシック" charset="0"/>
                <a:sym typeface="Symbol" charset="0"/>
              </a:rPr>
              <a:t></a:t>
            </a:r>
            <a:r>
              <a:rPr lang="en-US" sz="2800" dirty="0">
                <a:latin typeface="Arial" charset="0"/>
                <a:ea typeface="ＭＳ Ｐゴシック" charset="0"/>
              </a:rPr>
              <a:t>, produced by two equal but opposite charges separated by a distance, </a:t>
            </a:r>
            <a:r>
              <a:rPr lang="en-US" sz="2800" i="1" dirty="0">
                <a:latin typeface="Arial" charset="0"/>
                <a:ea typeface="ＭＳ Ｐゴシック" charset="0"/>
              </a:rPr>
              <a:t>r</a:t>
            </a:r>
            <a:r>
              <a:rPr lang="en-US" sz="2800" dirty="0">
                <a:latin typeface="Arial" charset="0"/>
                <a:ea typeface="ＭＳ Ｐゴシック" charset="0"/>
              </a:rPr>
              <a:t>, is calculated:</a:t>
            </a:r>
          </a:p>
          <a:p>
            <a:pPr algn="ctr" eaLnBrk="1" hangingPunct="1">
              <a:buFontTx/>
              <a:buNone/>
            </a:pPr>
            <a:r>
              <a:rPr lang="en-US" sz="2800" i="1" dirty="0">
                <a:latin typeface="Symbol" charset="0"/>
                <a:ea typeface="ＭＳ Ｐゴシック" charset="0"/>
                <a:sym typeface="Symbol" charset="0"/>
              </a:rPr>
              <a:t></a:t>
            </a:r>
            <a:r>
              <a:rPr lang="en-US" sz="2800" dirty="0">
                <a:latin typeface="Arial" charset="0"/>
                <a:ea typeface="ＭＳ Ｐゴシック" charset="0"/>
              </a:rPr>
              <a:t> = </a:t>
            </a:r>
            <a:r>
              <a:rPr lang="en-US" sz="2800" i="1" dirty="0" err="1">
                <a:latin typeface="Times New Roman" charset="0"/>
                <a:ea typeface="ＭＳ Ｐゴシック" charset="0"/>
              </a:rPr>
              <a:t>Q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r</a:t>
            </a:r>
            <a:endParaRPr lang="en-US" sz="2800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It is measured in </a:t>
            </a:r>
            <a:r>
              <a:rPr lang="en-US" sz="2800" dirty="0" err="1">
                <a:latin typeface="Arial" charset="0"/>
                <a:ea typeface="ＭＳ Ｐゴシック" charset="0"/>
              </a:rPr>
              <a:t>debyes</a:t>
            </a:r>
            <a:r>
              <a:rPr lang="en-US" sz="2800" dirty="0">
                <a:latin typeface="Arial" charset="0"/>
                <a:ea typeface="ＭＳ Ｐゴシック" charset="0"/>
              </a:rPr>
              <a:t> (D).</a:t>
            </a:r>
          </a:p>
        </p:txBody>
      </p:sp>
      <p:pic>
        <p:nvPicPr>
          <p:cNvPr id="31747" name="Picture 4" descr="08_09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5"/>
          <a:stretch>
            <a:fillRect/>
          </a:stretch>
        </p:blipFill>
        <p:spPr bwMode="auto">
          <a:xfrm>
            <a:off x="5105400" y="2133600"/>
            <a:ext cx="3724275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4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Arial" charset="0"/>
                <a:ea typeface="ＭＳ Ｐゴシック" charset="0"/>
              </a:rPr>
              <a:t>Is a Compound Ionic or Covalent?</a:t>
            </a:r>
          </a:p>
        </p:txBody>
      </p:sp>
      <p:sp>
        <p:nvSpPr>
          <p:cNvPr id="33794" name="Content Placeholder 5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724400"/>
          </a:xfrm>
        </p:spPr>
        <p:txBody>
          <a:bodyPr/>
          <a:lstStyle/>
          <a:p>
            <a:r>
              <a:rPr lang="en-US" sz="2600" dirty="0">
                <a:latin typeface="Arial" charset="0"/>
                <a:ea typeface="ＭＳ Ｐゴシック" charset="0"/>
              </a:rPr>
              <a:t>Simplest approach: Metal + nonmetal is ionic; nonmetal + nonmetal is covalent.</a:t>
            </a:r>
          </a:p>
          <a:p>
            <a:r>
              <a:rPr lang="en-US" sz="2600" dirty="0">
                <a:latin typeface="Arial" charset="0"/>
                <a:ea typeface="ＭＳ Ｐゴシック" charset="0"/>
              </a:rPr>
              <a:t>There are many exceptions: It doesn’t take into account oxidation number of a metal (higher oxidation numbers can give covalent bonding).</a:t>
            </a:r>
          </a:p>
          <a:p>
            <a:r>
              <a:rPr lang="en-US" sz="2600" dirty="0">
                <a:latin typeface="Arial" charset="0"/>
                <a:ea typeface="ＭＳ Ｐゴシック" charset="0"/>
              </a:rPr>
              <a:t>Electronegativity difference can be used; the table still doesn’t take into account oxidation number.</a:t>
            </a:r>
          </a:p>
          <a:p>
            <a:r>
              <a:rPr lang="en-US" sz="2600" dirty="0">
                <a:latin typeface="Arial" charset="0"/>
                <a:ea typeface="ＭＳ Ｐゴシック" charset="0"/>
              </a:rPr>
              <a:t>Properties of compounds are often best: Lower melting points mean covalent bonding, for example.</a:t>
            </a:r>
          </a:p>
          <a:p>
            <a:endParaRPr lang="en-US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-2312958" y="98867"/>
            <a:ext cx="13792200" cy="1524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</a:t>
            </a:r>
            <a:r>
              <a:rPr lang="en-US" sz="3200" b="1" dirty="0" smtClean="0">
                <a:latin typeface="Arial" charset="0"/>
                <a:ea typeface="ＭＳ Ｐゴシック" charset="0"/>
              </a:rPr>
              <a:t>Structures </a:t>
            </a:r>
            <a:r>
              <a:rPr lang="en-US" sz="3200" dirty="0" smtClean="0">
                <a:latin typeface="Arial" charset="0"/>
                <a:ea typeface="ＭＳ Ｐゴシック" charset="0"/>
              </a:rPr>
              <a:t>(Covalent </a:t>
            </a:r>
            <a:r>
              <a:rPr lang="en-US" sz="3200" dirty="0">
                <a:latin typeface="Arial" charset="0"/>
                <a:ea typeface="ＭＳ Ｐゴシック" charset="0"/>
              </a:rPr>
              <a:t>Molecules)</a:t>
            </a:r>
          </a:p>
        </p:txBody>
      </p:sp>
      <p:sp>
        <p:nvSpPr>
          <p:cNvPr id="348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83142" y="1638300"/>
            <a:ext cx="4343400" cy="4343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dirty="0">
                <a:latin typeface="Arial" charset="0"/>
                <a:ea typeface="ＭＳ Ｐゴシック" charset="0"/>
              </a:rPr>
              <a:t>Sum the valence electrons from all atoms, taking into account overall charge.</a:t>
            </a:r>
          </a:p>
          <a:p>
            <a:pPr lvl="1" eaLnBrk="1" hangingPunct="1">
              <a:lnSpc>
                <a:spcPct val="90000"/>
              </a:lnSpc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If it is an anion, add one electron for each negative charge.</a:t>
            </a:r>
          </a:p>
          <a:p>
            <a:pPr lvl="1" eaLnBrk="1" hangingPunct="1">
              <a:lnSpc>
                <a:spcPct val="90000"/>
              </a:lnSpc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If it is a cation, subtract one electron for each positive charge.</a:t>
            </a:r>
          </a:p>
        </p:txBody>
      </p:sp>
      <p:sp>
        <p:nvSpPr>
          <p:cNvPr id="3481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714740"/>
            <a:ext cx="2286000" cy="16764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8800" dirty="0">
                <a:solidFill>
                  <a:schemeClr val="tx2"/>
                </a:solidFill>
                <a:latin typeface="Times New Roman" charset="0"/>
                <a:ea typeface="ＭＳ Ｐゴシック" charset="0"/>
              </a:rPr>
              <a:t>PCl</a:t>
            </a:r>
            <a:r>
              <a:rPr lang="en-US" sz="8800" baseline="-25000" dirty="0">
                <a:solidFill>
                  <a:schemeClr val="tx2"/>
                </a:solidFill>
                <a:latin typeface="Times New Roman" charset="0"/>
                <a:ea typeface="ＭＳ Ｐゴシック" charset="0"/>
              </a:rPr>
              <a:t>3</a:t>
            </a:r>
            <a:endParaRPr lang="en-US" sz="3600" dirty="0">
              <a:solidFill>
                <a:schemeClr val="tx2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34820" name="Rectangle 28"/>
          <p:cNvSpPr>
            <a:spLocks noChangeArrowheads="1"/>
          </p:cNvSpPr>
          <p:nvPr/>
        </p:nvSpPr>
        <p:spPr bwMode="auto">
          <a:xfrm>
            <a:off x="304800" y="3657600"/>
            <a:ext cx="451326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Keep track of the electrons:</a:t>
            </a:r>
          </a:p>
          <a:p>
            <a:endParaRPr lang="en-US" sz="2800" dirty="0"/>
          </a:p>
          <a:p>
            <a:r>
              <a:rPr lang="en-US" sz="2800" dirty="0"/>
              <a:t>5  +  3(7) = 26</a:t>
            </a:r>
            <a:endParaRPr lang="en-US" sz="3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3686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48851" y="1371600"/>
            <a:ext cx="4191000" cy="411480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2"/>
            </a:pPr>
            <a:r>
              <a:rPr lang="en-US" sz="2800" dirty="0">
                <a:latin typeface="Arial" charset="0"/>
                <a:ea typeface="ＭＳ Ｐゴシック" charset="0"/>
              </a:rPr>
              <a:t>Write the symbols for the atoms, show which atoms are attached to which, and connect them with a single bond (a line representing two electrons).</a:t>
            </a:r>
          </a:p>
        </p:txBody>
      </p:sp>
      <p:sp>
        <p:nvSpPr>
          <p:cNvPr id="36867" name="Rectangle 6"/>
          <p:cNvSpPr>
            <a:spLocks noChangeArrowheads="1"/>
          </p:cNvSpPr>
          <p:nvPr/>
        </p:nvSpPr>
        <p:spPr bwMode="auto">
          <a:xfrm>
            <a:off x="304800" y="4267200"/>
            <a:ext cx="45180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Keep track of the electrons:</a:t>
            </a:r>
          </a:p>
          <a:p>
            <a:endParaRPr lang="en-US" sz="2800" dirty="0"/>
          </a:p>
          <a:p>
            <a:r>
              <a:rPr lang="en-US" sz="2800" dirty="0"/>
              <a:t>26 </a:t>
            </a:r>
            <a:r>
              <a:rPr lang="en-US" sz="2800" dirty="0">
                <a:cs typeface="Arial" charset="0"/>
              </a:rPr>
              <a:t>−</a:t>
            </a:r>
            <a:r>
              <a:rPr lang="en-US" sz="2800" dirty="0"/>
              <a:t> 6 = 20</a:t>
            </a:r>
          </a:p>
        </p:txBody>
      </p:sp>
      <p:pic>
        <p:nvPicPr>
          <p:cNvPr id="36868" name="Picture 5" descr="08_Pg316_UnFigure_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6"/>
          <a:stretch>
            <a:fillRect/>
          </a:stretch>
        </p:blipFill>
        <p:spPr bwMode="auto">
          <a:xfrm>
            <a:off x="304800" y="1676400"/>
            <a:ext cx="38100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3891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21164" y="1600200"/>
            <a:ext cx="4343400" cy="411480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3"/>
            </a:pPr>
            <a:r>
              <a:rPr lang="en-US" sz="2800" dirty="0">
                <a:latin typeface="Arial" charset="0"/>
                <a:ea typeface="ＭＳ Ｐゴシック" charset="0"/>
              </a:rPr>
              <a:t>Complete the octets around all atoms bonded to the </a:t>
            </a:r>
            <a:r>
              <a:rPr lang="en-US" sz="2800" u="sng" dirty="0">
                <a:latin typeface="Arial" charset="0"/>
                <a:ea typeface="ＭＳ Ｐゴシック" charset="0"/>
              </a:rPr>
              <a:t>central</a:t>
            </a:r>
            <a:r>
              <a:rPr lang="en-US" sz="2800" dirty="0">
                <a:latin typeface="Arial" charset="0"/>
                <a:ea typeface="ＭＳ Ｐゴシック" charset="0"/>
              </a:rPr>
              <a:t> atom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.</a:t>
            </a:r>
            <a:endParaRPr lang="en-US" sz="2800" dirty="0">
              <a:latin typeface="Arial" charset="0"/>
              <a:ea typeface="ＭＳ Ｐゴシック" charset="0"/>
            </a:endParaRPr>
          </a:p>
          <a:p>
            <a:pPr marL="0" indent="0" eaLnBrk="1" hangingPunct="1">
              <a:buNone/>
            </a:pPr>
            <a:endParaRPr lang="en-US" sz="2800" dirty="0" smtClean="0">
              <a:latin typeface="Arial" charset="0"/>
              <a:ea typeface="ＭＳ Ｐゴシック" charset="0"/>
            </a:endParaRPr>
          </a:p>
          <a:p>
            <a:pPr marL="0" indent="0" eaLnBrk="1" hangingPunct="1">
              <a:buNone/>
            </a:pPr>
            <a:r>
              <a:rPr lang="en-US" altLang="zh-CN" sz="2800" b="1" u="sng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</a:t>
            </a:r>
            <a:r>
              <a:rPr lang="en-US" altLang="zh-CN" sz="2800" b="1" u="sng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urrounding</a:t>
            </a:r>
            <a:r>
              <a:rPr lang="en-US" altLang="zh-CN" sz="2800" b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atoms first!</a:t>
            </a:r>
            <a:endParaRPr lang="en-US" sz="2800" b="1" dirty="0">
              <a:solidFill>
                <a:srgbClr val="FF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203139" y="4572000"/>
            <a:ext cx="45180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Keep track of the electrons:</a:t>
            </a:r>
          </a:p>
          <a:p>
            <a:endParaRPr lang="en-US" sz="2800" dirty="0"/>
          </a:p>
          <a:p>
            <a:r>
              <a:rPr lang="en-US" sz="2800" dirty="0"/>
              <a:t>26 </a:t>
            </a:r>
            <a:r>
              <a:rPr lang="en-US" sz="2800" dirty="0">
                <a:cs typeface="Arial" charset="0"/>
              </a:rPr>
              <a:t>−</a:t>
            </a:r>
            <a:r>
              <a:rPr lang="en-US" sz="2800" dirty="0"/>
              <a:t> 6 = 20; 20 </a:t>
            </a:r>
            <a:r>
              <a:rPr lang="en-US" sz="2800" dirty="0">
                <a:cs typeface="Arial" charset="0"/>
              </a:rPr>
              <a:t>−</a:t>
            </a:r>
            <a:r>
              <a:rPr lang="en-US" sz="2800" dirty="0"/>
              <a:t> 18 = 2</a:t>
            </a:r>
          </a:p>
        </p:txBody>
      </p:sp>
      <p:pic>
        <p:nvPicPr>
          <p:cNvPr id="38916" name="Picture 5" descr="08_Pg316_UnFigure_2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3"/>
          <a:stretch>
            <a:fillRect/>
          </a:stretch>
        </p:blipFill>
        <p:spPr bwMode="auto">
          <a:xfrm>
            <a:off x="452377" y="1676400"/>
            <a:ext cx="4019550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993900"/>
            <a:ext cx="3810000" cy="411480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4"/>
            </a:pPr>
            <a:r>
              <a:rPr lang="en-US" sz="2800" dirty="0">
                <a:latin typeface="Arial" charset="0"/>
                <a:ea typeface="ＭＳ Ｐゴシック" charset="0"/>
              </a:rPr>
              <a:t>Place any leftover electrons on 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central</a:t>
            </a:r>
            <a:r>
              <a:rPr lang="en-US" sz="2800" dirty="0">
                <a:latin typeface="Arial" charset="0"/>
                <a:ea typeface="ＭＳ Ｐゴシック" charset="0"/>
              </a:rPr>
              <a:t> atom.</a:t>
            </a:r>
          </a:p>
        </p:txBody>
      </p:sp>
      <p:sp>
        <p:nvSpPr>
          <p:cNvPr id="40963" name="Rectangle 6"/>
          <p:cNvSpPr>
            <a:spLocks noChangeArrowheads="1"/>
          </p:cNvSpPr>
          <p:nvPr/>
        </p:nvSpPr>
        <p:spPr bwMode="auto">
          <a:xfrm>
            <a:off x="533400" y="4648200"/>
            <a:ext cx="54959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Keep track of the electrons:</a:t>
            </a:r>
          </a:p>
          <a:p>
            <a:endParaRPr lang="en-US" sz="2800" dirty="0"/>
          </a:p>
          <a:p>
            <a:r>
              <a:rPr lang="en-US" sz="2800" dirty="0"/>
              <a:t>26 </a:t>
            </a:r>
            <a:r>
              <a:rPr lang="en-US" sz="2800" dirty="0">
                <a:cs typeface="Arial" charset="0"/>
              </a:rPr>
              <a:t>− </a:t>
            </a:r>
            <a:r>
              <a:rPr lang="en-US" sz="2800" dirty="0"/>
              <a:t>6 = 20; 20 </a:t>
            </a:r>
            <a:r>
              <a:rPr lang="en-US" sz="2800" dirty="0">
                <a:cs typeface="Arial" charset="0"/>
              </a:rPr>
              <a:t>−</a:t>
            </a:r>
            <a:r>
              <a:rPr lang="en-US" sz="2800" dirty="0"/>
              <a:t> 18 = 2; 2 </a:t>
            </a:r>
            <a:r>
              <a:rPr lang="en-US" sz="2800" dirty="0">
                <a:cs typeface="Arial" charset="0"/>
              </a:rPr>
              <a:t>−</a:t>
            </a:r>
            <a:r>
              <a:rPr lang="en-US" sz="2800" dirty="0"/>
              <a:t> 2 = 0</a:t>
            </a:r>
          </a:p>
        </p:txBody>
      </p:sp>
      <p:pic>
        <p:nvPicPr>
          <p:cNvPr id="40964" name="Picture 5" descr="08_Pg316_UnFigure_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968"/>
          <a:stretch>
            <a:fillRect/>
          </a:stretch>
        </p:blipFill>
        <p:spPr bwMode="auto">
          <a:xfrm>
            <a:off x="433388" y="1828800"/>
            <a:ext cx="4037012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685800" y="1600200"/>
            <a:ext cx="8458200" cy="1676400"/>
          </a:xfrm>
        </p:spPr>
        <p:txBody>
          <a:bodyPr/>
          <a:lstStyle/>
          <a:p>
            <a:pPr marL="0" indent="-914400" eaLnBrk="1" hangingPunct="1">
              <a:lnSpc>
                <a:spcPct val="90000"/>
              </a:lnSpc>
              <a:buNone/>
            </a:pPr>
            <a:r>
              <a:rPr lang="en-US" sz="2800" dirty="0" smtClean="0">
                <a:latin typeface="Arial" charset="0"/>
                <a:ea typeface="ＭＳ Ｐゴシック" charset="0"/>
              </a:rPr>
              <a:t>5</a:t>
            </a:r>
            <a:r>
              <a:rPr lang="en-US" sz="2800" i="1" dirty="0">
                <a:latin typeface="Arial" charset="0"/>
                <a:ea typeface="ＭＳ Ｐゴシック" charset="0"/>
              </a:rPr>
              <a:t>.  If</a:t>
            </a:r>
            <a:r>
              <a:rPr lang="en-US" sz="2800" dirty="0">
                <a:latin typeface="Arial" charset="0"/>
                <a:ea typeface="ＭＳ Ｐゴシック" charset="0"/>
              </a:rPr>
              <a:t> there are </a:t>
            </a:r>
            <a:r>
              <a:rPr lang="en-US" sz="2800" i="1" dirty="0">
                <a:latin typeface="Arial" charset="0"/>
                <a:ea typeface="ＭＳ Ｐゴシック" charset="0"/>
              </a:rPr>
              <a:t>not</a:t>
            </a:r>
            <a:r>
              <a:rPr lang="en-US" sz="2800" dirty="0">
                <a:latin typeface="Arial" charset="0"/>
                <a:ea typeface="ＭＳ Ｐゴシック" charset="0"/>
              </a:rPr>
              <a:t> enough electrons to give the</a:t>
            </a:r>
          </a:p>
          <a:p>
            <a:pPr marL="0" indent="-914400" eaLnBrk="1" hangingPunct="1">
              <a:lnSpc>
                <a:spcPct val="90000"/>
              </a:lnSpc>
              <a:buNone/>
            </a:pPr>
            <a:r>
              <a:rPr lang="en-US" sz="2800" dirty="0" smtClean="0">
                <a:latin typeface="Arial" charset="0"/>
                <a:ea typeface="ＭＳ Ｐゴシック" charset="0"/>
              </a:rPr>
              <a:t>    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central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800" dirty="0">
                <a:latin typeface="Arial" charset="0"/>
                <a:ea typeface="ＭＳ Ｐゴシック" charset="0"/>
              </a:rPr>
              <a:t>atom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800" dirty="0">
                <a:latin typeface="Arial" charset="0"/>
                <a:ea typeface="ＭＳ Ｐゴシック" charset="0"/>
              </a:rPr>
              <a:t>an octet, try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multiple</a:t>
            </a:r>
            <a:r>
              <a:rPr lang="en-US" sz="2800" dirty="0">
                <a:latin typeface="Arial" charset="0"/>
                <a:ea typeface="ＭＳ Ｐゴシック" charset="0"/>
              </a:rPr>
              <a:t> bonds.</a:t>
            </a:r>
          </a:p>
        </p:txBody>
      </p:sp>
      <p:pic>
        <p:nvPicPr>
          <p:cNvPr id="43011" name="Picture 4" descr="08_Pg317_UnFigure_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>
            <a:fillRect/>
          </a:stretch>
        </p:blipFill>
        <p:spPr bwMode="auto">
          <a:xfrm>
            <a:off x="381000" y="3048000"/>
            <a:ext cx="85344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4505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3000"/>
            <a:ext cx="8686800" cy="2971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A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ssign </a:t>
            </a:r>
            <a:r>
              <a:rPr lang="en-US" sz="2800" dirty="0">
                <a:latin typeface="Arial" charset="0"/>
                <a:ea typeface="ＭＳ Ｐゴシック" charset="0"/>
              </a:rPr>
              <a:t>formal charges.</a:t>
            </a:r>
          </a:p>
          <a:p>
            <a:pPr eaLnBrk="1" hangingPunct="1"/>
            <a:r>
              <a:rPr lang="en-US" sz="28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Formal</a:t>
            </a:r>
            <a:r>
              <a:rPr lang="en-US" sz="2800" b="1" dirty="0">
                <a:latin typeface="Arial" charset="0"/>
                <a:ea typeface="ＭＳ Ｐゴシック" charset="0"/>
              </a:rPr>
              <a:t> charge </a:t>
            </a:r>
            <a:r>
              <a:rPr lang="en-US" sz="2800" dirty="0">
                <a:latin typeface="Arial" charset="0"/>
                <a:ea typeface="ＭＳ Ｐゴシック" charset="0"/>
              </a:rPr>
              <a:t>is the charge an atom would have if all of the electrons in a covalent bond were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shared equally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Formal charge  =  valence electrons  –                    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½ (bonding electrons)  –  </a:t>
            </a:r>
            <a:r>
              <a:rPr lang="en-US" sz="2800" i="1" dirty="0">
                <a:latin typeface="Arial" charset="0"/>
                <a:ea typeface="ＭＳ Ｐゴシック" charset="0"/>
                <a:cs typeface="Times New Roman" charset="0"/>
              </a:rPr>
              <a:t>all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 nonbonding electrons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45059" name="Picture 4" descr="08_Pg318_UnFigure_2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8"/>
          <a:stretch>
            <a:fillRect/>
          </a:stretch>
        </p:blipFill>
        <p:spPr bwMode="auto">
          <a:xfrm>
            <a:off x="304800" y="4343400"/>
            <a:ext cx="74676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Writing Lewis Structures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772400" cy="2667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The dominant Lewis structure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is the one in which atoms have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formal charges closest to zero</a:t>
            </a:r>
            <a:r>
              <a:rPr lang="en-US" dirty="0">
                <a:latin typeface="Arial" charset="0"/>
                <a:ea typeface="ＭＳ Ｐゴシック" charset="0"/>
              </a:rPr>
              <a:t>.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dirty="0">
                <a:latin typeface="Arial" charset="0"/>
                <a:ea typeface="ＭＳ Ｐゴシック" charset="0"/>
              </a:rPr>
              <a:t>puts a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negative</a:t>
            </a:r>
            <a:r>
              <a:rPr lang="en-US" dirty="0">
                <a:latin typeface="Arial" charset="0"/>
                <a:ea typeface="ＭＳ Ｐゴシック" charset="0"/>
              </a:rPr>
              <a:t> formal charge on the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most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electronegative</a:t>
            </a:r>
            <a:r>
              <a:rPr lang="en-US" dirty="0">
                <a:latin typeface="Arial" charset="0"/>
                <a:ea typeface="ＭＳ Ｐゴシック" charset="0"/>
              </a:rPr>
              <a:t> atom.</a:t>
            </a:r>
          </a:p>
          <a:p>
            <a:pPr lvl="1" eaLnBrk="1" hangingPunct="1"/>
            <a:endParaRPr lang="en-US" dirty="0">
              <a:latin typeface="Arial" charset="0"/>
              <a:ea typeface="ＭＳ Ｐゴシック" charset="0"/>
            </a:endParaRPr>
          </a:p>
        </p:txBody>
      </p:sp>
      <p:pic>
        <p:nvPicPr>
          <p:cNvPr id="47107" name="Picture 4" descr="08_Pg318_UnFigure_4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30"/>
          <a:stretch>
            <a:fillRect/>
          </a:stretch>
        </p:blipFill>
        <p:spPr bwMode="auto">
          <a:xfrm>
            <a:off x="304800" y="4191000"/>
            <a:ext cx="85344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The Best Lewis Structure?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3000"/>
            <a:ext cx="4953000" cy="51054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Following our rules, this is the Lewis structure we would draw for ozone, O</a:t>
            </a:r>
            <a:r>
              <a:rPr lang="en-US" baseline="-25000" dirty="0">
                <a:latin typeface="Arial" charset="0"/>
                <a:ea typeface="ＭＳ Ｐゴシック" charset="0"/>
              </a:rPr>
              <a:t>3</a:t>
            </a:r>
            <a:r>
              <a:rPr lang="en-US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lnSpc>
                <a:spcPts val="1100"/>
              </a:lnSpc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However, it doesn’t agree with what is observed in nature:  Both O to O connections are the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same</a:t>
            </a:r>
            <a:r>
              <a:rPr lang="en-US" dirty="0">
                <a:latin typeface="Arial" charset="0"/>
                <a:ea typeface="ＭＳ Ｐゴシック" charset="0"/>
              </a:rPr>
              <a:t>.</a:t>
            </a:r>
          </a:p>
        </p:txBody>
      </p:sp>
      <p:pic>
        <p:nvPicPr>
          <p:cNvPr id="49155" name="Picture 7" descr="08_12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5"/>
          <a:stretch>
            <a:fillRect/>
          </a:stretch>
        </p:blipFill>
        <p:spPr bwMode="auto">
          <a:xfrm>
            <a:off x="5334000" y="3240795"/>
            <a:ext cx="2925230" cy="247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8" descr="08_Pg320_UnFigure_1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7"/>
          <a:stretch>
            <a:fillRect/>
          </a:stretch>
        </p:blipFill>
        <p:spPr bwMode="auto">
          <a:xfrm>
            <a:off x="5393531" y="1447800"/>
            <a:ext cx="2667000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Resonance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4267200" cy="4572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One Lewis structure cannot accurately depict a molecule </a:t>
            </a:r>
            <a:br>
              <a:rPr lang="en-US" sz="2800" dirty="0">
                <a:latin typeface="Arial" charset="0"/>
                <a:ea typeface="ＭＳ Ｐゴシック" charset="0"/>
              </a:rPr>
            </a:br>
            <a:r>
              <a:rPr lang="en-US" sz="2800" dirty="0" smtClean="0">
                <a:latin typeface="Arial" charset="0"/>
                <a:ea typeface="ＭＳ Ｐゴシック" charset="0"/>
              </a:rPr>
              <a:t>like ozone.</a:t>
            </a:r>
          </a:p>
          <a:p>
            <a:pPr eaLnBrk="1" hangingPunct="1"/>
            <a:endParaRPr lang="en-US" sz="2800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We use multiple structures, </a:t>
            </a:r>
            <a:r>
              <a:rPr lang="en-US" sz="2800" b="1" dirty="0">
                <a:latin typeface="Arial" charset="0"/>
                <a:ea typeface="ＭＳ Ｐゴシック" charset="0"/>
              </a:rPr>
              <a:t>resonance structures</a:t>
            </a:r>
            <a:r>
              <a:rPr lang="en-US" sz="2800" dirty="0">
                <a:latin typeface="Arial" charset="0"/>
                <a:ea typeface="ＭＳ Ｐゴシック" charset="0"/>
              </a:rPr>
              <a:t>, to describe the molecule.</a:t>
            </a:r>
          </a:p>
        </p:txBody>
      </p:sp>
      <p:pic>
        <p:nvPicPr>
          <p:cNvPr id="51203" name="Picture 4" descr="08_13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"/>
          <a:stretch>
            <a:fillRect/>
          </a:stretch>
        </p:blipFill>
        <p:spPr bwMode="auto">
          <a:xfrm>
            <a:off x="4876800" y="834983"/>
            <a:ext cx="3048000" cy="568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-609600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Resonance</a:t>
            </a:r>
          </a:p>
        </p:txBody>
      </p:sp>
      <p:sp>
        <p:nvSpPr>
          <p:cNvPr id="5325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4702356" y="1057275"/>
            <a:ext cx="4343400" cy="4572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organic compound benzene, C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6</a:t>
            </a:r>
            <a:r>
              <a:rPr lang="en-US" sz="2800" dirty="0">
                <a:latin typeface="Arial" charset="0"/>
                <a:ea typeface="ＭＳ Ｐゴシック" charset="0"/>
              </a:rPr>
              <a:t>H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6</a:t>
            </a:r>
            <a:r>
              <a:rPr lang="en-US" sz="2800" dirty="0">
                <a:latin typeface="Arial" charset="0"/>
                <a:ea typeface="ＭＳ Ｐゴシック" charset="0"/>
              </a:rPr>
              <a:t>, has two resonance structures.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It is commonly depicted as a hexagon with a circle inside to signify 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delocalized</a:t>
            </a:r>
            <a:r>
              <a:rPr lang="en-US" sz="2800" dirty="0">
                <a:latin typeface="Arial" charset="0"/>
                <a:ea typeface="ＭＳ Ｐゴシック" charset="0"/>
              </a:rPr>
              <a:t> electrons in the ring.</a:t>
            </a:r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609600" y="5029200"/>
            <a:ext cx="6781800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1" i="1" dirty="0">
                <a:solidFill>
                  <a:srgbClr val="FF0000"/>
                </a:solidFill>
              </a:rPr>
              <a:t>Localized</a:t>
            </a:r>
            <a:r>
              <a:rPr lang="en-US" i="1" dirty="0"/>
              <a:t> </a:t>
            </a:r>
            <a:r>
              <a:rPr lang="en-US" dirty="0"/>
              <a:t>electrons are specifically on one atom or shared between two atoms; </a:t>
            </a:r>
            <a:r>
              <a:rPr lang="en-US" i="1" dirty="0"/>
              <a:t>Delocalized </a:t>
            </a:r>
            <a:r>
              <a:rPr lang="en-US" dirty="0"/>
              <a:t>electrons are shared by multiple atoms.</a:t>
            </a:r>
          </a:p>
        </p:txBody>
      </p:sp>
      <p:pic>
        <p:nvPicPr>
          <p:cNvPr id="53252" name="Picture 6" descr="08_Pg322_UnFigure_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349"/>
          <a:stretch>
            <a:fillRect/>
          </a:stretch>
        </p:blipFill>
        <p:spPr bwMode="auto">
          <a:xfrm>
            <a:off x="319268" y="1219200"/>
            <a:ext cx="427513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7" descr="08_Pg322_UnFigure_2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8"/>
          <a:stretch>
            <a:fillRect/>
          </a:stretch>
        </p:blipFill>
        <p:spPr bwMode="auto">
          <a:xfrm>
            <a:off x="395468" y="3505200"/>
            <a:ext cx="4306888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Exceptions to the Octet Rule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76400"/>
            <a:ext cx="9144000" cy="41148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Arial" charset="0"/>
                <a:ea typeface="ＭＳ Ｐゴシック" charset="0"/>
              </a:rPr>
              <a:t>There are 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4 types </a:t>
            </a:r>
            <a:r>
              <a:rPr lang="en-US" sz="2600" dirty="0">
                <a:latin typeface="Arial" charset="0"/>
                <a:ea typeface="ＭＳ Ｐゴシック" charset="0"/>
              </a:rPr>
              <a:t>of ions or molecules that do not follow the 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octet </a:t>
            </a:r>
            <a:r>
              <a:rPr lang="en-US" sz="2600" dirty="0">
                <a:latin typeface="Arial" charset="0"/>
                <a:ea typeface="ＭＳ Ｐゴシック" charset="0"/>
              </a:rPr>
              <a:t>rule: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sz="2600" dirty="0" smtClean="0">
                <a:latin typeface="Arial" charset="0"/>
                <a:ea typeface="ＭＳ Ｐゴシック" charset="0"/>
              </a:rPr>
              <a:t>H atom needs only 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2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 electrons,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sz="2600" dirty="0" smtClean="0">
                <a:latin typeface="Arial" charset="0"/>
                <a:ea typeface="ＭＳ Ｐゴシック" charset="0"/>
              </a:rPr>
              <a:t>ions </a:t>
            </a:r>
            <a:r>
              <a:rPr lang="en-US" sz="2600" dirty="0">
                <a:latin typeface="Arial" charset="0"/>
                <a:ea typeface="ＭＳ Ｐゴシック" charset="0"/>
              </a:rPr>
              <a:t>or molecules with an </a:t>
            </a:r>
            <a:r>
              <a:rPr lang="en-US" sz="26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odd</a:t>
            </a:r>
            <a:r>
              <a:rPr lang="en-US" sz="2600" dirty="0">
                <a:latin typeface="Arial" charset="0"/>
                <a:ea typeface="ＭＳ Ｐゴシック" charset="0"/>
              </a:rPr>
              <a:t> number of 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electrons (typically 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N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),</a:t>
            </a:r>
            <a:endParaRPr lang="en-US" sz="2600" dirty="0">
              <a:latin typeface="Arial" charset="0"/>
              <a:ea typeface="ＭＳ Ｐゴシック" charset="0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2600" dirty="0">
                <a:latin typeface="Arial" charset="0"/>
                <a:ea typeface="ＭＳ Ｐゴシック" charset="0"/>
              </a:rPr>
              <a:t>ions or molecules with less than an 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octet </a:t>
            </a:r>
            <a:r>
              <a:rPr lang="en-US" altLang="zh-CN" sz="2600" dirty="0">
                <a:latin typeface="Arial" charset="0"/>
                <a:ea typeface="ＭＳ Ｐゴシック" charset="0"/>
              </a:rPr>
              <a:t>(typically </a:t>
            </a:r>
            <a:r>
              <a:rPr lang="en-US" altLang="zh-CN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B</a:t>
            </a:r>
            <a:r>
              <a:rPr lang="en-US" altLang="zh-CN" sz="2600" dirty="0" smtClean="0">
                <a:latin typeface="Arial" charset="0"/>
                <a:ea typeface="ＭＳ Ｐゴシック" charset="0"/>
              </a:rPr>
              <a:t>)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,</a:t>
            </a:r>
            <a:endParaRPr lang="en-US" sz="2600" dirty="0">
              <a:latin typeface="Arial" charset="0"/>
              <a:ea typeface="ＭＳ Ｐゴシック" charset="0"/>
            </a:endParaRPr>
          </a:p>
          <a:p>
            <a:pPr lvl="1" eaLnBrk="1" hangingPunct="1">
              <a:buFont typeface="Lucida Grande" charset="0"/>
              <a:buChar char="–"/>
            </a:pPr>
            <a:r>
              <a:rPr lang="en-US" sz="2600" dirty="0">
                <a:latin typeface="Arial" charset="0"/>
                <a:ea typeface="ＭＳ Ｐゴシック" charset="0"/>
              </a:rPr>
              <a:t>ions or molecules with more than eight valence electrons (an expanded 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octet; 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3</a:t>
            </a:r>
            <a:r>
              <a:rPr lang="en-US" sz="2600" baseline="30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rd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and above periods because 3</a:t>
            </a:r>
            <a:r>
              <a:rPr lang="en-US" sz="26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sz="26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orbitals are energetically accessible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).</a:t>
            </a:r>
            <a:endParaRPr lang="en-US" sz="26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Odd Number of Electrons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917700"/>
            <a:ext cx="8763000" cy="1981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	Though relatively rare and usually quite unstable and reactive, there are ions and molecules with an odd number of electrons.</a:t>
            </a:r>
          </a:p>
        </p:txBody>
      </p:sp>
      <p:pic>
        <p:nvPicPr>
          <p:cNvPr id="57347" name="Picture 4" descr="08_Pg323_UnFigure_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66"/>
          <a:stretch>
            <a:fillRect/>
          </a:stretch>
        </p:blipFill>
        <p:spPr bwMode="auto">
          <a:xfrm>
            <a:off x="838200" y="3822700"/>
            <a:ext cx="76962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Fewer Than Eight Electrons</a:t>
            </a:r>
          </a:p>
        </p:txBody>
      </p:sp>
      <p:sp>
        <p:nvSpPr>
          <p:cNvPr id="5939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990600"/>
            <a:ext cx="8610600" cy="3657600"/>
          </a:xfrm>
        </p:spPr>
        <p:txBody>
          <a:bodyPr/>
          <a:lstStyle/>
          <a:p>
            <a:pPr eaLnBrk="1" hangingPunct="1"/>
            <a:r>
              <a:rPr lang="en-US" sz="2500" dirty="0">
                <a:latin typeface="Arial" charset="0"/>
                <a:ea typeface="ＭＳ Ｐゴシック" charset="0"/>
              </a:rPr>
              <a:t>Elements in the second period </a:t>
            </a:r>
            <a:r>
              <a:rPr lang="en-US" sz="2500" i="1" dirty="0">
                <a:latin typeface="Arial" charset="0"/>
                <a:ea typeface="ＭＳ Ｐゴシック" charset="0"/>
              </a:rPr>
              <a:t>before </a:t>
            </a:r>
            <a:r>
              <a:rPr lang="en-US" sz="2500" dirty="0">
                <a:latin typeface="Arial" charset="0"/>
                <a:ea typeface="ＭＳ Ｐゴシック" charset="0"/>
              </a:rPr>
              <a:t>carbon can make stable compounds with fewer than eight electrons</a:t>
            </a:r>
            <a:r>
              <a:rPr lang="en-US" sz="2500" dirty="0" smtClean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lnSpc>
                <a:spcPts val="1400"/>
              </a:lnSpc>
            </a:pPr>
            <a:endParaRPr lang="en-US" sz="2500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sz="2500" dirty="0">
                <a:latin typeface="Arial" charset="0"/>
                <a:ea typeface="ＭＳ Ｐゴシック" charset="0"/>
              </a:rPr>
              <a:t>Consider BF</a:t>
            </a:r>
            <a:r>
              <a:rPr lang="en-US" sz="2500" baseline="-25000" dirty="0">
                <a:latin typeface="Arial" charset="0"/>
                <a:ea typeface="ＭＳ Ｐゴシック" charset="0"/>
              </a:rPr>
              <a:t>3</a:t>
            </a:r>
            <a:r>
              <a:rPr lang="en-US" sz="2500" dirty="0">
                <a:latin typeface="Arial" charset="0"/>
                <a:ea typeface="ＭＳ Ｐゴシック" charset="0"/>
              </a:rPr>
              <a:t>: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sz="2500" dirty="0">
                <a:latin typeface="Arial" charset="0"/>
                <a:ea typeface="ＭＳ Ｐゴシック" charset="0"/>
              </a:rPr>
              <a:t>Giving boron a filled octet places a </a:t>
            </a:r>
            <a:r>
              <a:rPr lang="en-US" sz="2500" i="1" dirty="0">
                <a:latin typeface="Arial" charset="0"/>
                <a:ea typeface="ＭＳ Ｐゴシック" charset="0"/>
              </a:rPr>
              <a:t>negative</a:t>
            </a:r>
            <a:r>
              <a:rPr lang="en-US" sz="2500" dirty="0">
                <a:latin typeface="Arial" charset="0"/>
                <a:ea typeface="ＭＳ Ｐゴシック" charset="0"/>
              </a:rPr>
              <a:t> charge on the boron and a </a:t>
            </a:r>
            <a:r>
              <a:rPr lang="en-US" sz="2500" i="1" dirty="0">
                <a:latin typeface="Arial" charset="0"/>
                <a:ea typeface="ＭＳ Ｐゴシック" charset="0"/>
              </a:rPr>
              <a:t>positive</a:t>
            </a:r>
            <a:r>
              <a:rPr lang="en-US" sz="2500" dirty="0">
                <a:latin typeface="Arial" charset="0"/>
                <a:ea typeface="ＭＳ Ｐゴシック" charset="0"/>
              </a:rPr>
              <a:t> charge on fluorine.</a:t>
            </a:r>
          </a:p>
          <a:p>
            <a:pPr lvl="1" eaLnBrk="1" hangingPunct="1">
              <a:buFont typeface="Lucida Grande" charset="0"/>
              <a:buChar char="–"/>
            </a:pPr>
            <a:r>
              <a:rPr lang="en-US" sz="2500" dirty="0">
                <a:latin typeface="Arial" charset="0"/>
                <a:ea typeface="ＭＳ Ｐゴシック" charset="0"/>
              </a:rPr>
              <a:t>This would not be an accurate picture of the distribution of electrons in BF</a:t>
            </a:r>
            <a:r>
              <a:rPr lang="en-US" sz="2500" baseline="-25000" dirty="0">
                <a:latin typeface="Arial" charset="0"/>
                <a:ea typeface="ＭＳ Ｐゴシック" charset="0"/>
              </a:rPr>
              <a:t>3</a:t>
            </a:r>
            <a:r>
              <a:rPr lang="en-US" sz="2500" dirty="0">
                <a:latin typeface="Arial" charset="0"/>
                <a:ea typeface="ＭＳ Ｐゴシック" charset="0"/>
              </a:rPr>
              <a:t>.</a:t>
            </a:r>
          </a:p>
        </p:txBody>
      </p:sp>
      <p:pic>
        <p:nvPicPr>
          <p:cNvPr id="59395" name="Picture 5" descr="08_Pg323_UnFigure_4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2"/>
          <a:stretch>
            <a:fillRect/>
          </a:stretch>
        </p:blipFill>
        <p:spPr bwMode="auto">
          <a:xfrm>
            <a:off x="914400" y="4572000"/>
            <a:ext cx="6858000" cy="178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Fewer Than Eight Electrons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82049"/>
            <a:ext cx="8839200" cy="2438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 The </a:t>
            </a:r>
            <a:r>
              <a:rPr lang="en-US" sz="2800" dirty="0">
                <a:latin typeface="Arial" charset="0"/>
                <a:ea typeface="ＭＳ Ｐゴシック" charset="0"/>
              </a:rPr>
              <a:t>lesson is: If filling the octet of the central atom results in a negative charge on the central atom and a positive charge on the more electronegative outer atom, don’t fill the octet of the central atom.</a:t>
            </a:r>
          </a:p>
        </p:txBody>
      </p:sp>
      <p:pic>
        <p:nvPicPr>
          <p:cNvPr id="61443" name="Picture 4" descr="08_Pg323_UnFigure_2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2380"/>
          <a:stretch>
            <a:fillRect/>
          </a:stretch>
        </p:blipFill>
        <p:spPr bwMode="auto">
          <a:xfrm>
            <a:off x="3308430" y="3505200"/>
            <a:ext cx="29210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4"/>
          <p:cNvSpPr>
            <a:spLocks noGrp="1"/>
          </p:cNvSpPr>
          <p:nvPr>
            <p:ph type="title"/>
          </p:nvPr>
        </p:nvSpPr>
        <p:spPr>
          <a:xfrm>
            <a:off x="-36749" y="152400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Arial" charset="0"/>
                <a:ea typeface="ＭＳ Ｐゴシック" charset="0"/>
              </a:rPr>
              <a:t>More Than Eight Electrons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7321" y="1295400"/>
            <a:ext cx="8839200" cy="2133600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cs typeface="+mn-cs"/>
              </a:rPr>
              <a:t>When an element is in </a:t>
            </a:r>
            <a:r>
              <a:rPr lang="en-US" sz="2800" dirty="0" smtClean="0">
                <a:solidFill>
                  <a:srgbClr val="FF0000"/>
                </a:solidFill>
                <a:cs typeface="+mn-cs"/>
              </a:rPr>
              <a:t>period 3 or below </a:t>
            </a:r>
            <a:r>
              <a:rPr lang="en-US" sz="2800" dirty="0" smtClean="0">
                <a:cs typeface="+mn-cs"/>
              </a:rPr>
              <a:t>in the periodic table (e.g., </a:t>
            </a:r>
            <a:r>
              <a:rPr lang="en-US" sz="2800" dirty="0" smtClean="0">
                <a:solidFill>
                  <a:srgbClr val="FF0000"/>
                </a:solidFill>
                <a:cs typeface="+mn-cs"/>
              </a:rPr>
              <a:t>periods 3, 4, 5, etc</a:t>
            </a:r>
            <a:r>
              <a:rPr lang="en-US" sz="2800" dirty="0" smtClean="0">
                <a:cs typeface="+mn-cs"/>
              </a:rPr>
              <a:t>.), it can use </a:t>
            </a:r>
            <a:r>
              <a:rPr lang="en-US" sz="2800" i="1" dirty="0" smtClean="0">
                <a:cs typeface="+mn-cs"/>
              </a:rPr>
              <a:t>d</a:t>
            </a:r>
            <a:r>
              <a:rPr lang="en-US" sz="2800" dirty="0" smtClean="0">
                <a:cs typeface="+mn-cs"/>
              </a:rPr>
              <a:t>-orbitals to make </a:t>
            </a:r>
            <a:r>
              <a:rPr lang="en-US" sz="2800" i="1" dirty="0" smtClean="0">
                <a:cs typeface="+mn-cs"/>
              </a:rPr>
              <a:t>more</a:t>
            </a:r>
            <a:r>
              <a:rPr lang="en-US" sz="2800" dirty="0" smtClean="0">
                <a:cs typeface="+mn-cs"/>
              </a:rPr>
              <a:t> than four bonds.</a:t>
            </a:r>
          </a:p>
          <a:p>
            <a:pPr>
              <a:defRPr/>
            </a:pPr>
            <a:r>
              <a:rPr lang="en-US" sz="2800" dirty="0" smtClean="0">
                <a:cs typeface="+mn-cs"/>
              </a:rPr>
              <a:t>Examples: PF</a:t>
            </a:r>
            <a:r>
              <a:rPr lang="en-US" sz="2800" baseline="-25000" dirty="0" smtClean="0">
                <a:cs typeface="+mn-cs"/>
              </a:rPr>
              <a:t>5</a:t>
            </a:r>
            <a:r>
              <a:rPr lang="en-US" sz="2800" dirty="0" smtClean="0">
                <a:cs typeface="+mn-cs"/>
              </a:rPr>
              <a:t> and PO</a:t>
            </a:r>
            <a:r>
              <a:rPr lang="en-US" sz="2800" baseline="-25000" dirty="0" smtClean="0">
                <a:cs typeface="+mn-cs"/>
              </a:rPr>
              <a:t>4</a:t>
            </a:r>
            <a:r>
              <a:rPr lang="en-US" sz="2800" baseline="30000" dirty="0" smtClean="0">
                <a:cs typeface="+mn-cs"/>
              </a:rPr>
              <a:t>3-</a:t>
            </a:r>
          </a:p>
        </p:txBody>
      </p:sp>
      <p:pic>
        <p:nvPicPr>
          <p:cNvPr id="63491" name="Picture 6" descr="08_Pg324_UnFigure_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5"/>
          <a:stretch>
            <a:fillRect/>
          </a:stretch>
        </p:blipFill>
        <p:spPr bwMode="auto">
          <a:xfrm>
            <a:off x="355921" y="3636782"/>
            <a:ext cx="1668463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7" descr="08_Pg324_UnFigure_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7"/>
          <a:stretch>
            <a:fillRect/>
          </a:stretch>
        </p:blipFill>
        <p:spPr bwMode="auto">
          <a:xfrm>
            <a:off x="2260921" y="3657600"/>
            <a:ext cx="1631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8" descr="08_Pg325_UnFigure_2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3"/>
          <a:stretch>
            <a:fillRect/>
          </a:stretch>
        </p:blipFill>
        <p:spPr bwMode="auto">
          <a:xfrm>
            <a:off x="4102260" y="3429000"/>
            <a:ext cx="4967373" cy="168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Covalent Bond Strength</a:t>
            </a:r>
          </a:p>
        </p:txBody>
      </p:sp>
      <p:sp>
        <p:nvSpPr>
          <p:cNvPr id="6451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600200"/>
            <a:ext cx="8534400" cy="441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latin typeface="Arial" charset="0"/>
                <a:ea typeface="ＭＳ Ｐゴシック" charset="0"/>
              </a:rPr>
              <a:t>The </a:t>
            </a:r>
            <a:r>
              <a:rPr lang="en-US" sz="2800" dirty="0">
                <a:latin typeface="Arial" charset="0"/>
                <a:ea typeface="ＭＳ Ｐゴシック" charset="0"/>
              </a:rPr>
              <a:t>strength of a bond is measured by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how </a:t>
            </a:r>
            <a:r>
              <a:rPr lang="en-US" sz="2800" dirty="0">
                <a:latin typeface="Arial" charset="0"/>
                <a:ea typeface="ＭＳ Ｐゴシック" charset="0"/>
              </a:rPr>
              <a:t>much energy is required to break the bond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.</a:t>
            </a:r>
            <a:endParaRPr lang="en-US" sz="2800" dirty="0">
              <a:latin typeface="Arial" charset="0"/>
              <a:ea typeface="ＭＳ Ｐゴシック" charset="0"/>
            </a:endParaRPr>
          </a:p>
          <a:p>
            <a:pPr eaLnBrk="1" hangingPunct="1"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This is called the </a:t>
            </a:r>
            <a:r>
              <a:rPr lang="en-US" sz="2800" b="1" dirty="0">
                <a:latin typeface="Arial" charset="0"/>
                <a:ea typeface="ＭＳ Ｐゴシック" charset="0"/>
              </a:rPr>
              <a:t>bond</a:t>
            </a:r>
            <a:r>
              <a:rPr lang="en-US" sz="2800" dirty="0">
                <a:solidFill>
                  <a:srgbClr val="001964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2800" b="1" dirty="0">
                <a:latin typeface="Arial" charset="0"/>
                <a:ea typeface="ＭＳ Ｐゴシック" charset="0"/>
              </a:rPr>
              <a:t>enthalpy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The bond enthalpy for a </a:t>
            </a:r>
            <a:r>
              <a:rPr lang="en-US" sz="2800" dirty="0" err="1">
                <a:latin typeface="Arial" charset="0"/>
                <a:ea typeface="ＭＳ Ｐゴシック" charset="0"/>
              </a:rPr>
              <a:t>Cl</a:t>
            </a:r>
            <a:r>
              <a:rPr lang="en-US" sz="2800" dirty="0">
                <a:latin typeface="Arial" charset="0"/>
                <a:ea typeface="ＭＳ Ｐゴシック" charset="0"/>
              </a:rPr>
              <a:t>—</a:t>
            </a:r>
            <a:r>
              <a:rPr lang="en-US" sz="2800" dirty="0" err="1">
                <a:latin typeface="Arial" charset="0"/>
                <a:ea typeface="ＭＳ Ｐゴシック" charset="0"/>
              </a:rPr>
              <a:t>Cl</a:t>
            </a:r>
            <a:r>
              <a:rPr lang="en-US" sz="2800" dirty="0">
                <a:latin typeface="Arial" charset="0"/>
                <a:ea typeface="ＭＳ Ｐゴシック" charset="0"/>
              </a:rPr>
              <a:t> bond, </a:t>
            </a:r>
            <a:r>
              <a:rPr lang="en-US" sz="2800" i="1" dirty="0">
                <a:latin typeface="Arial" charset="0"/>
                <a:ea typeface="ＭＳ Ｐゴシック" charset="0"/>
              </a:rPr>
              <a:t>D</a:t>
            </a:r>
            <a:r>
              <a:rPr lang="en-US" sz="2800" dirty="0">
                <a:latin typeface="Arial" charset="0"/>
                <a:ea typeface="ＭＳ Ｐゴシック" charset="0"/>
              </a:rPr>
              <a:t>(</a:t>
            </a:r>
            <a:r>
              <a:rPr lang="en-US" sz="2800" dirty="0" err="1">
                <a:latin typeface="Arial" charset="0"/>
                <a:ea typeface="ＭＳ Ｐゴシック" charset="0"/>
              </a:rPr>
              <a:t>Cl</a:t>
            </a:r>
            <a:r>
              <a:rPr lang="en-US" sz="2800" dirty="0">
                <a:latin typeface="Arial" charset="0"/>
                <a:ea typeface="ＭＳ Ｐゴシック" charset="0"/>
              </a:rPr>
              <a:t>— </a:t>
            </a:r>
            <a:r>
              <a:rPr lang="en-US" sz="2800" dirty="0" err="1">
                <a:latin typeface="Arial" charset="0"/>
                <a:ea typeface="ＭＳ Ｐゴシック" charset="0"/>
              </a:rPr>
              <a:t>Cl</a:t>
            </a:r>
            <a:r>
              <a:rPr lang="en-US" sz="2800" dirty="0">
                <a:latin typeface="Arial" charset="0"/>
                <a:ea typeface="ＭＳ Ｐゴシック" charset="0"/>
              </a:rPr>
              <a:t>), is measured to be 242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kJ/mol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We write out reactions for breaking </a:t>
            </a:r>
            <a:r>
              <a:rPr lang="en-US" sz="2800" i="1" dirty="0">
                <a:latin typeface="Arial" charset="0"/>
                <a:ea typeface="ＭＳ Ｐゴシック" charset="0"/>
              </a:rPr>
              <a:t>one mole </a:t>
            </a:r>
            <a:r>
              <a:rPr lang="en-US" sz="2800" dirty="0">
                <a:latin typeface="Arial" charset="0"/>
                <a:ea typeface="ＭＳ Ｐゴシック" charset="0"/>
              </a:rPr>
              <a:t>of those bonds:</a:t>
            </a:r>
          </a:p>
          <a:p>
            <a:pPr marL="457200" indent="0" eaLnBrk="1" hangingPunct="1">
              <a:buClr>
                <a:srgbClr val="003300"/>
              </a:buClr>
              <a:buNone/>
              <a:defRPr/>
            </a:pPr>
            <a:r>
              <a:rPr lang="en-US" sz="2800" dirty="0" smtClean="0">
                <a:latin typeface="Arial" charset="0"/>
                <a:ea typeface="ＭＳ Ｐゴシック" charset="0"/>
              </a:rPr>
              <a:t>			</a:t>
            </a:r>
            <a:r>
              <a:rPr lang="en-US" sz="2800" dirty="0" err="1" smtClean="0"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—</a:t>
            </a:r>
            <a:r>
              <a:rPr lang="en-US" sz="2800" dirty="0" err="1" smtClean="0"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  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→  2 </a:t>
            </a:r>
            <a:r>
              <a:rPr lang="en-US" sz="2800" dirty="0" err="1">
                <a:latin typeface="Arial" charset="0"/>
                <a:ea typeface="ＭＳ Ｐゴシック" charset="0"/>
                <a:cs typeface="Times New Roman" charset="0"/>
              </a:rPr>
              <a:t>Cl</a:t>
            </a:r>
            <a:r>
              <a:rPr lang="en-US" sz="2800" b="1" baseline="20000" dirty="0">
                <a:latin typeface="Times New Roman" charset="0"/>
                <a:ea typeface="ＭＳ Ｐゴシック" charset="0"/>
                <a:cs typeface="Times New Roman" charset="0"/>
              </a:rPr>
              <a:t>•</a:t>
            </a:r>
            <a:endParaRPr lang="en-US" sz="2800" b="1" baseline="200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-16397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Average Bond Enthalpies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838200"/>
            <a:ext cx="4114800" cy="5334000"/>
          </a:xfrm>
        </p:spPr>
        <p:txBody>
          <a:bodyPr/>
          <a:lstStyle/>
          <a:p>
            <a:pPr eaLnBrk="1" hangingPunct="1"/>
            <a:r>
              <a:rPr lang="en-US" sz="2700" dirty="0">
                <a:latin typeface="Arial" charset="0"/>
                <a:ea typeface="ＭＳ Ｐゴシック" charset="0"/>
              </a:rPr>
              <a:t>Average bond enthalpies are positive, because bond breaking is an </a:t>
            </a:r>
            <a:r>
              <a:rPr lang="en-US" sz="27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endothermic</a:t>
            </a:r>
            <a:r>
              <a:rPr lang="en-US" sz="2700" dirty="0">
                <a:latin typeface="Arial" charset="0"/>
                <a:ea typeface="ＭＳ Ｐゴシック" charset="0"/>
              </a:rPr>
              <a:t> process.</a:t>
            </a:r>
          </a:p>
          <a:p>
            <a:pPr eaLnBrk="1" hangingPunct="1"/>
            <a:r>
              <a:rPr lang="en-US" sz="2700" dirty="0">
                <a:latin typeface="Arial" charset="0"/>
                <a:ea typeface="ＭＳ Ｐゴシック" charset="0"/>
              </a:rPr>
              <a:t>Note that these are </a:t>
            </a:r>
            <a:r>
              <a:rPr lang="en-US" sz="2700" i="1" dirty="0">
                <a:latin typeface="Arial" charset="0"/>
                <a:ea typeface="ＭＳ Ｐゴシック" charset="0"/>
              </a:rPr>
              <a:t>averages </a:t>
            </a:r>
            <a:r>
              <a:rPr lang="en-US" sz="2700" dirty="0">
                <a:latin typeface="Arial" charset="0"/>
                <a:ea typeface="ＭＳ Ｐゴシック" charset="0"/>
              </a:rPr>
              <a:t>over many different compounds; not every bond in nature for a pair of atoms has exactly the same bond energy.</a:t>
            </a:r>
          </a:p>
        </p:txBody>
      </p:sp>
      <p:pic>
        <p:nvPicPr>
          <p:cNvPr id="66563" name="Picture 4" descr="08_04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6"/>
          <a:stretch>
            <a:fillRect/>
          </a:stretch>
        </p:blipFill>
        <p:spPr bwMode="auto">
          <a:xfrm>
            <a:off x="4114800" y="914400"/>
            <a:ext cx="481541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>
            <a:off x="4267200" y="1891496"/>
            <a:ext cx="8382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4267200" y="4863296"/>
            <a:ext cx="8382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auto">
          <a:xfrm>
            <a:off x="4267200" y="5015696"/>
            <a:ext cx="8382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478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Using Bond Enthalpies to </a:t>
            </a:r>
            <a:r>
              <a:rPr lang="en-US" sz="3200" b="1" dirty="0" smtClean="0">
                <a:latin typeface="Arial" charset="0"/>
                <a:ea typeface="ＭＳ Ｐゴシック" charset="0"/>
              </a:rPr>
              <a:t>Estimate </a:t>
            </a:r>
            <a:r>
              <a:rPr lang="en-US" altLang="zh-CN" sz="3200" b="1" dirty="0">
                <a:latin typeface="Symbol" charset="0"/>
                <a:ea typeface="ＭＳ Ｐゴシック" charset="0"/>
                <a:sym typeface="Symbol" charset="0"/>
              </a:rPr>
              <a:t></a:t>
            </a:r>
            <a:r>
              <a:rPr lang="en-US" altLang="zh-CN" sz="3200" b="1" i="1" dirty="0" err="1" smtClean="0">
                <a:latin typeface="Arial" charset="0"/>
                <a:ea typeface="ＭＳ Ｐゴシック" charset="0"/>
              </a:rPr>
              <a:t>H</a:t>
            </a:r>
            <a:r>
              <a:rPr lang="en-US" altLang="zh-CN" sz="3200" b="1" baseline="-25000" dirty="0" err="1" smtClean="0">
                <a:latin typeface="Arial" charset="0"/>
                <a:ea typeface="ＭＳ Ｐゴシック" charset="0"/>
              </a:rPr>
              <a:t>rxn</a:t>
            </a:r>
            <a:endParaRPr lang="en-US" sz="3200" b="1" baseline="-25000" dirty="0">
              <a:latin typeface="Arial" charset="0"/>
              <a:ea typeface="ＭＳ Ｐゴシック" charset="0"/>
            </a:endParaRP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495800" cy="3352800"/>
          </a:xfrm>
        </p:spPr>
        <p:txBody>
          <a:bodyPr/>
          <a:lstStyle/>
          <a:p>
            <a:pPr eaLnBrk="1" hangingPunct="1"/>
            <a:r>
              <a:rPr lang="en-US" sz="2700" dirty="0">
                <a:latin typeface="Arial" charset="0"/>
                <a:ea typeface="ＭＳ Ｐゴシック" charset="0"/>
              </a:rPr>
              <a:t>One way to </a:t>
            </a:r>
            <a:r>
              <a:rPr lang="en-US" sz="2700" i="1" dirty="0">
                <a:latin typeface="Arial" charset="0"/>
                <a:ea typeface="ＭＳ Ｐゴシック" charset="0"/>
              </a:rPr>
              <a:t>estimate</a:t>
            </a:r>
            <a:r>
              <a:rPr lang="en-US" sz="2700" dirty="0">
                <a:latin typeface="Arial" charset="0"/>
                <a:ea typeface="ＭＳ Ｐゴシック" charset="0"/>
              </a:rPr>
              <a:t> </a:t>
            </a:r>
            <a:r>
              <a:rPr lang="en-US" altLang="zh-CN" sz="2800" b="1" dirty="0">
                <a:latin typeface="Symbol" charset="0"/>
                <a:ea typeface="ＭＳ Ｐゴシック" charset="0"/>
                <a:sym typeface="Symbol" charset="0"/>
              </a:rPr>
              <a:t></a:t>
            </a:r>
            <a:r>
              <a:rPr lang="en-US" altLang="zh-CN" sz="2800" b="1" i="1" dirty="0" err="1" smtClean="0">
                <a:latin typeface="Arial" charset="0"/>
                <a:ea typeface="ＭＳ Ｐゴシック" charset="0"/>
              </a:rPr>
              <a:t>H</a:t>
            </a:r>
            <a:r>
              <a:rPr lang="en-US" altLang="zh-CN" sz="2800" b="1" baseline="-25000" dirty="0" err="1" smtClean="0">
                <a:latin typeface="Arial" charset="0"/>
                <a:ea typeface="ＭＳ Ｐゴシック" charset="0"/>
              </a:rPr>
              <a:t>rxn</a:t>
            </a:r>
            <a:r>
              <a:rPr lang="en-US" altLang="zh-CN" sz="2800" b="1" baseline="-250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700" dirty="0" smtClean="0">
                <a:latin typeface="Arial" charset="0"/>
                <a:ea typeface="ＭＳ Ｐゴシック" charset="0"/>
              </a:rPr>
              <a:t>is </a:t>
            </a:r>
            <a:r>
              <a:rPr lang="en-US" sz="2700" dirty="0">
                <a:latin typeface="Arial" charset="0"/>
                <a:ea typeface="ＭＳ Ｐゴシック" charset="0"/>
              </a:rPr>
              <a:t>to use the bond enthalpies of bonds broken and the new bonds formed</a:t>
            </a:r>
            <a:r>
              <a:rPr lang="en-US" sz="2700" dirty="0" smtClean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lnSpc>
                <a:spcPts val="2100"/>
              </a:lnSpc>
            </a:pPr>
            <a:endParaRPr lang="en-US" sz="2700" dirty="0">
              <a:latin typeface="Arial" charset="0"/>
              <a:ea typeface="ＭＳ Ｐゴシック" charset="0"/>
            </a:endParaRPr>
          </a:p>
          <a:p>
            <a:pPr eaLnBrk="1" hangingPunct="1"/>
            <a:r>
              <a:rPr lang="en-US" sz="2700" dirty="0">
                <a:latin typeface="Arial" charset="0"/>
                <a:ea typeface="ＭＳ Ｐゴシック" charset="0"/>
              </a:rPr>
              <a:t>Energy is added to break bonds and released when making bonds.</a:t>
            </a:r>
          </a:p>
        </p:txBody>
      </p:sp>
      <p:sp>
        <p:nvSpPr>
          <p:cNvPr id="68611" name="Rectangle 6"/>
          <p:cNvSpPr>
            <a:spLocks noChangeArrowheads="1"/>
          </p:cNvSpPr>
          <p:nvPr/>
        </p:nvSpPr>
        <p:spPr bwMode="auto">
          <a:xfrm>
            <a:off x="533401" y="5334000"/>
            <a:ext cx="731519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700" b="1" dirty="0" smtClean="0">
                <a:solidFill>
                  <a:srgbClr val="FF0000"/>
                </a:solidFill>
                <a:latin typeface="Symbol" charset="0"/>
                <a:sym typeface="Symbol" charset="0"/>
              </a:rPr>
              <a:t></a:t>
            </a:r>
            <a:r>
              <a:rPr lang="en-US" sz="2700" b="1" i="1" dirty="0" err="1">
                <a:solidFill>
                  <a:srgbClr val="FF0000"/>
                </a:solidFill>
              </a:rPr>
              <a:t>H</a:t>
            </a:r>
            <a:r>
              <a:rPr lang="en-US" sz="2700" b="1" i="1" baseline="-25000" dirty="0" err="1">
                <a:solidFill>
                  <a:srgbClr val="FF0000"/>
                </a:solidFill>
              </a:rPr>
              <a:t>rxn</a:t>
            </a:r>
            <a:r>
              <a:rPr lang="en-US" sz="2700" b="1" dirty="0">
                <a:solidFill>
                  <a:srgbClr val="FF0000"/>
                </a:solidFill>
              </a:rPr>
              <a:t> </a:t>
            </a:r>
            <a:r>
              <a:rPr lang="en-US" sz="2700" dirty="0"/>
              <a:t>= </a:t>
            </a:r>
            <a:r>
              <a:rPr lang="en-US" sz="2700" dirty="0">
                <a:latin typeface="Symbol" charset="0"/>
                <a:sym typeface="Symbol" charset="0"/>
              </a:rPr>
              <a:t></a:t>
            </a:r>
            <a:r>
              <a:rPr lang="en-US" sz="2700" dirty="0"/>
              <a:t>(bond enthalpies of all bonds </a:t>
            </a:r>
            <a:r>
              <a:rPr lang="en-US" sz="2700" dirty="0">
                <a:solidFill>
                  <a:srgbClr val="FF0000"/>
                </a:solidFill>
              </a:rPr>
              <a:t>broken</a:t>
            </a:r>
            <a:r>
              <a:rPr lang="en-US" sz="2700" dirty="0"/>
              <a:t>) </a:t>
            </a:r>
            <a:r>
              <a:rPr lang="en-US" sz="2700" dirty="0" smtClean="0"/>
              <a:t>      </a:t>
            </a:r>
            <a:r>
              <a:rPr lang="en-US" sz="2700" dirty="0" smtClean="0">
                <a:cs typeface="Arial" charset="0"/>
              </a:rPr>
              <a:t>−  </a:t>
            </a:r>
            <a:r>
              <a:rPr lang="en-US" sz="2700" dirty="0" smtClean="0">
                <a:latin typeface="Symbol" charset="0"/>
                <a:sym typeface="Symbol" charset="0"/>
              </a:rPr>
              <a:t></a:t>
            </a:r>
            <a:r>
              <a:rPr lang="en-US" sz="2700" dirty="0"/>
              <a:t>(bond enthalpies of all bonds </a:t>
            </a:r>
            <a:r>
              <a:rPr lang="en-US" sz="2700" dirty="0">
                <a:solidFill>
                  <a:srgbClr val="FF0000"/>
                </a:solidFill>
              </a:rPr>
              <a:t>formed</a:t>
            </a:r>
            <a:r>
              <a:rPr lang="en-US" sz="2700" dirty="0"/>
              <a:t>).</a:t>
            </a:r>
          </a:p>
        </p:txBody>
      </p:sp>
      <p:pic>
        <p:nvPicPr>
          <p:cNvPr id="68612" name="Picture 5" descr="08_15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9"/>
          <a:stretch>
            <a:fillRect/>
          </a:stretch>
        </p:blipFill>
        <p:spPr bwMode="auto">
          <a:xfrm>
            <a:off x="4572000" y="1371600"/>
            <a:ext cx="4368800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5805" y="381000"/>
            <a:ext cx="8839200" cy="3810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 smtClean="0">
                <a:latin typeface="Arial" charset="0"/>
                <a:ea typeface="ＭＳ Ｐゴシック" charset="0"/>
              </a:rPr>
              <a:t>        </a:t>
            </a:r>
            <a:r>
              <a:rPr lang="en-US" sz="2800" b="1" dirty="0" smtClean="0">
                <a:latin typeface="Arial" charset="0"/>
                <a:ea typeface="ＭＳ Ｐゴシック" charset="0"/>
              </a:rPr>
              <a:t>CH</a:t>
            </a:r>
            <a:r>
              <a:rPr lang="en-US" sz="2800" b="1" baseline="-25000" dirty="0" smtClean="0">
                <a:latin typeface="Arial" charset="0"/>
                <a:ea typeface="ＭＳ Ｐゴシック" charset="0"/>
              </a:rPr>
              <a:t>4</a:t>
            </a:r>
            <a:r>
              <a:rPr lang="en-US" sz="2800" b="1" dirty="0" smtClean="0">
                <a:latin typeface="Arial" charset="0"/>
                <a:ea typeface="ＭＳ Ｐゴシック" charset="0"/>
              </a:rPr>
              <a:t>(</a:t>
            </a:r>
            <a:r>
              <a:rPr lang="en-US" sz="2800" b="1" i="1" dirty="0" smtClean="0">
                <a:latin typeface="Arial" charset="0"/>
                <a:ea typeface="ＭＳ Ｐゴシック" charset="0"/>
              </a:rPr>
              <a:t>g</a:t>
            </a:r>
            <a:r>
              <a:rPr lang="en-US" sz="2800" b="1" dirty="0">
                <a:latin typeface="Arial" charset="0"/>
                <a:ea typeface="ＭＳ Ｐゴシック" charset="0"/>
              </a:rPr>
              <a:t>) + Cl</a:t>
            </a:r>
            <a:r>
              <a:rPr lang="en-US" sz="2800" b="1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b="1" dirty="0">
                <a:latin typeface="Arial" charset="0"/>
                <a:ea typeface="ＭＳ Ｐゴシック" charset="0"/>
              </a:rPr>
              <a:t>(</a:t>
            </a:r>
            <a:r>
              <a:rPr lang="en-US" sz="2800" b="1" i="1" dirty="0">
                <a:latin typeface="Arial" charset="0"/>
                <a:ea typeface="ＭＳ Ｐゴシック" charset="0"/>
              </a:rPr>
              <a:t>g</a:t>
            </a:r>
            <a:r>
              <a:rPr lang="en-US" sz="2800" b="1" dirty="0">
                <a:latin typeface="Arial" charset="0"/>
                <a:ea typeface="ＭＳ Ｐゴシック" charset="0"/>
              </a:rPr>
              <a:t>) </a:t>
            </a:r>
            <a:r>
              <a:rPr lang="en-US" sz="2800" b="1" dirty="0">
                <a:latin typeface="Arial" charset="0"/>
                <a:ea typeface="ＭＳ Ｐゴシック" charset="0"/>
                <a:sym typeface="Symbol" charset="0"/>
              </a:rPr>
              <a:t> CH</a:t>
            </a:r>
            <a:r>
              <a:rPr lang="en-US" sz="2800" b="1" baseline="-25000" dirty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800" b="1" dirty="0">
                <a:latin typeface="Arial" charset="0"/>
                <a:ea typeface="ＭＳ Ｐゴシック" charset="0"/>
                <a:sym typeface="Symbol" charset="0"/>
              </a:rPr>
              <a:t>Cl(</a:t>
            </a:r>
            <a:r>
              <a:rPr lang="en-US" sz="2800" b="1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800" b="1" dirty="0">
                <a:latin typeface="Arial" charset="0"/>
                <a:ea typeface="ＭＳ Ｐゴシック" charset="0"/>
                <a:sym typeface="Symbol" charset="0"/>
              </a:rPr>
              <a:t>) + </a:t>
            </a:r>
            <a:r>
              <a:rPr lang="en-US" sz="2800" b="1" dirty="0" err="1">
                <a:latin typeface="Arial" charset="0"/>
                <a:ea typeface="ＭＳ Ｐゴシック" charset="0"/>
                <a:sym typeface="Symbol" charset="0"/>
              </a:rPr>
              <a:t>HCl</a:t>
            </a:r>
            <a:r>
              <a:rPr lang="en-US" sz="2800" b="1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800" b="1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800" b="1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  <a:p>
            <a:pPr eaLnBrk="1" hangingPunct="1">
              <a:lnSpc>
                <a:spcPts val="2500"/>
              </a:lnSpc>
              <a:buFontTx/>
              <a:buNone/>
            </a:pPr>
            <a:endParaRPr lang="en-US" sz="2600" dirty="0" smtClean="0">
              <a:latin typeface="Arial" charset="0"/>
              <a:ea typeface="ＭＳ Ｐゴシック" charset="0"/>
              <a:sym typeface="Symbol" charset="0"/>
            </a:endParaRPr>
          </a:p>
          <a:p>
            <a:pPr eaLnBrk="1" hangingPunct="1"/>
            <a:r>
              <a:rPr lang="en-US" sz="2600" dirty="0" smtClean="0">
                <a:latin typeface="Arial" charset="0"/>
                <a:ea typeface="ＭＳ Ｐゴシック" charset="0"/>
                <a:sym typeface="Symbol" charset="0"/>
              </a:rPr>
              <a:t>In this example, one C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—</a:t>
            </a:r>
            <a:r>
              <a:rPr lang="en-US" sz="2600" dirty="0" smtClean="0">
                <a:latin typeface="Arial" charset="0"/>
                <a:ea typeface="ＭＳ Ｐゴシック" charset="0"/>
                <a:sym typeface="Symbol" charset="0"/>
              </a:rPr>
              <a:t>H bond and one </a:t>
            </a:r>
            <a:r>
              <a:rPr lang="en-US" sz="2600" dirty="0" err="1" smtClean="0">
                <a:latin typeface="Arial" charset="0"/>
                <a:ea typeface="ＭＳ Ｐゴシック" charset="0"/>
                <a:sym typeface="Symbol" charset="0"/>
              </a:rPr>
              <a:t>Cl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—</a:t>
            </a:r>
            <a:r>
              <a:rPr lang="en-US" sz="2600" dirty="0" err="1" smtClean="0">
                <a:latin typeface="Arial" charset="0"/>
                <a:ea typeface="ＭＳ Ｐゴシック" charset="0"/>
                <a:sym typeface="Symbol" charset="0"/>
              </a:rPr>
              <a:t>Cl</a:t>
            </a:r>
            <a:r>
              <a:rPr lang="en-US" sz="2600" dirty="0" smtClean="0">
                <a:latin typeface="Arial" charset="0"/>
                <a:ea typeface="ＭＳ Ｐゴシック" charset="0"/>
                <a:sym typeface="Symbol" charset="0"/>
              </a:rPr>
              <a:t> bond are broken; one C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—</a:t>
            </a:r>
            <a:r>
              <a:rPr lang="en-US" sz="2600" dirty="0" err="1" smtClean="0">
                <a:latin typeface="Arial" charset="0"/>
                <a:ea typeface="ＭＳ Ｐゴシック" charset="0"/>
                <a:sym typeface="Symbol" charset="0"/>
              </a:rPr>
              <a:t>Cl</a:t>
            </a:r>
            <a:r>
              <a:rPr lang="en-US" sz="2600" dirty="0" smtClean="0">
                <a:latin typeface="Arial" charset="0"/>
                <a:ea typeface="ＭＳ Ｐゴシック" charset="0"/>
                <a:sym typeface="Symbol" charset="0"/>
              </a:rPr>
              <a:t> and one H</a:t>
            </a:r>
            <a:r>
              <a:rPr lang="en-US" sz="2600" dirty="0" smtClean="0">
                <a:latin typeface="Arial" charset="0"/>
                <a:ea typeface="ＭＳ Ｐゴシック" charset="0"/>
              </a:rPr>
              <a:t>—</a:t>
            </a:r>
            <a:r>
              <a:rPr lang="en-US" sz="2600" dirty="0" err="1" smtClean="0">
                <a:latin typeface="Arial" charset="0"/>
                <a:ea typeface="ＭＳ Ｐゴシック" charset="0"/>
                <a:sym typeface="Symbol" charset="0"/>
              </a:rPr>
              <a:t>Cl</a:t>
            </a:r>
            <a:r>
              <a:rPr lang="en-US" sz="2600" dirty="0" smtClean="0">
                <a:latin typeface="Arial" charset="0"/>
                <a:ea typeface="ＭＳ Ｐゴシック" charset="0"/>
                <a:sym typeface="Symbol" charset="0"/>
              </a:rPr>
              <a:t> bond are formed.</a:t>
            </a:r>
            <a:endParaRPr lang="en-US" sz="2600" dirty="0">
              <a:latin typeface="Arial" charset="0"/>
              <a:ea typeface="ＭＳ Ｐゴシック" charset="0"/>
              <a:sym typeface="Symbol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2951" y="2286000"/>
            <a:ext cx="8991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90563" indent="-690563" eaLnBrk="1" hangingPunct="1">
              <a:buFontTx/>
              <a:buNone/>
            </a:pPr>
            <a:r>
              <a:rPr lang="en-US" sz="2800" dirty="0" smtClean="0">
                <a:latin typeface="Symbol" charset="0"/>
                <a:ea typeface="ＭＳ Ｐゴシック" charset="0"/>
                <a:sym typeface="Symbol" charset="0"/>
              </a:rPr>
              <a:t></a:t>
            </a:r>
            <a:r>
              <a:rPr lang="en-US" sz="2800" i="1" dirty="0" err="1" smtClean="0">
                <a:latin typeface="Arial" charset="0"/>
                <a:ea typeface="ＭＳ Ｐゴシック" charset="0"/>
              </a:rPr>
              <a:t>H</a:t>
            </a:r>
            <a:r>
              <a:rPr lang="en-US" sz="2800" baseline="-25000" dirty="0" err="1" smtClean="0">
                <a:latin typeface="Arial" charset="0"/>
                <a:ea typeface="ＭＳ Ｐゴシック" charset="0"/>
              </a:rPr>
              <a:t>rxn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=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[</a:t>
            </a:r>
            <a:r>
              <a:rPr lang="en-US" sz="28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(C—H) + </a:t>
            </a:r>
            <a:r>
              <a:rPr lang="en-US" sz="28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(</a:t>
            </a:r>
            <a:r>
              <a:rPr lang="en-US" sz="2800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—</a:t>
            </a:r>
            <a:r>
              <a:rPr lang="en-US" sz="2800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)] </a:t>
            </a:r>
            <a:r>
              <a:rPr lang="en-US" sz="2800" dirty="0" smtClean="0">
                <a:latin typeface="Arial" charset="0"/>
                <a:ea typeface="ＭＳ Ｐゴシック" charset="0"/>
                <a:cs typeface="Arial" charset="0"/>
              </a:rPr>
              <a:t>−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800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[</a:t>
            </a:r>
            <a:r>
              <a:rPr lang="en-US" sz="2800" i="1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sz="2800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(C—</a:t>
            </a:r>
            <a:r>
              <a:rPr lang="en-US" sz="2800" dirty="0" err="1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) + </a:t>
            </a:r>
            <a:r>
              <a:rPr lang="en-US" sz="2800" i="1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sz="2800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(H—</a:t>
            </a:r>
            <a:r>
              <a:rPr lang="en-US" sz="2800" dirty="0" err="1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Cl</a:t>
            </a:r>
            <a:r>
              <a:rPr lang="en-US" sz="2800" dirty="0" smtClean="0">
                <a:solidFill>
                  <a:srgbClr val="0000CC"/>
                </a:solidFill>
                <a:latin typeface="Arial" charset="0"/>
                <a:ea typeface="ＭＳ Ｐゴシック" charset="0"/>
              </a:rPr>
              <a:t>)]</a:t>
            </a:r>
          </a:p>
          <a:p>
            <a:pPr marL="690563" indent="-690563" eaLnBrk="1" hangingPunct="1">
              <a:buFontTx/>
              <a:buNone/>
            </a:pPr>
            <a:r>
              <a:rPr lang="en-US" sz="2800" dirty="0" smtClean="0">
                <a:latin typeface="Arial" charset="0"/>
                <a:ea typeface="ＭＳ Ｐゴシック" charset="0"/>
              </a:rPr>
              <a:t>	= [(413 kJ) + (242 kJ)] </a:t>
            </a:r>
            <a:r>
              <a:rPr lang="en-US" sz="2800" dirty="0" smtClean="0">
                <a:latin typeface="Arial" charset="0"/>
                <a:ea typeface="ＭＳ Ｐゴシック" charset="0"/>
                <a:cs typeface="Arial" charset="0"/>
              </a:rPr>
              <a:t>−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[(328 kJ) + (431 kJ)]</a:t>
            </a:r>
          </a:p>
          <a:p>
            <a:pPr marL="690563" indent="-690563" eaLnBrk="1" hangingPunct="1">
              <a:buFontTx/>
              <a:buNone/>
            </a:pPr>
            <a:r>
              <a:rPr lang="en-US" sz="2800" dirty="0" smtClean="0">
                <a:latin typeface="Arial" charset="0"/>
                <a:ea typeface="ＭＳ Ｐゴシック" charset="0"/>
              </a:rPr>
              <a:t>	= (655 kJ) </a:t>
            </a:r>
            <a:r>
              <a:rPr lang="en-US" sz="2800" dirty="0" smtClean="0">
                <a:latin typeface="Arial" charset="0"/>
                <a:ea typeface="ＭＳ Ｐゴシック" charset="0"/>
                <a:cs typeface="Arial" charset="0"/>
              </a:rPr>
              <a:t>−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(759 kJ) = </a:t>
            </a:r>
            <a:r>
              <a:rPr lang="en-US" sz="2800" b="1" dirty="0" smtClean="0">
                <a:solidFill>
                  <a:srgbClr val="C82E32"/>
                </a:solidFill>
                <a:latin typeface="Arial" charset="0"/>
                <a:ea typeface="ＭＳ Ｐゴシック" charset="0"/>
                <a:cs typeface="Arial" charset="0"/>
              </a:rPr>
              <a:t>−</a:t>
            </a:r>
            <a:r>
              <a:rPr lang="en-US" sz="2800" b="1" dirty="0" smtClean="0">
                <a:solidFill>
                  <a:srgbClr val="C82E32"/>
                </a:solidFill>
                <a:latin typeface="Arial" charset="0"/>
                <a:ea typeface="ＭＳ Ｐゴシック" charset="0"/>
              </a:rPr>
              <a:t>104 kJ</a:t>
            </a:r>
            <a:endParaRPr lang="en-US" sz="2800" b="1" dirty="0">
              <a:solidFill>
                <a:srgbClr val="C82E32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4343400"/>
            <a:ext cx="8081058" cy="224676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2800" b="1" dirty="0" smtClean="0"/>
              <a:t>Using Hess’s law:</a:t>
            </a:r>
          </a:p>
          <a:p>
            <a:pPr>
              <a:lnSpc>
                <a:spcPts val="2400"/>
              </a:lnSpc>
            </a:pPr>
            <a:endParaRPr lang="en-US" altLang="zh-CN" sz="2800" b="1" dirty="0" smtClean="0"/>
          </a:p>
          <a:p>
            <a:pPr>
              <a:lnSpc>
                <a:spcPts val="2400"/>
              </a:lnSpc>
            </a:pPr>
            <a:r>
              <a:rPr lang="en-US" altLang="zh-CN" sz="2800" dirty="0">
                <a:latin typeface="Symbol" pitchFamily="18" charset="2"/>
                <a:sym typeface="Symbol" pitchFamily="18" charset="2"/>
              </a:rPr>
              <a:t></a:t>
            </a:r>
            <a:r>
              <a:rPr lang="en-US" altLang="zh-CN" sz="2800" i="1" dirty="0" err="1" smtClean="0"/>
              <a:t>H</a:t>
            </a:r>
            <a:r>
              <a:rPr lang="en-US" altLang="zh-CN" sz="2800" baseline="30000" dirty="0" err="1">
                <a:cs typeface="Arial" charset="0"/>
              </a:rPr>
              <a:t>o</a:t>
            </a:r>
            <a:r>
              <a:rPr lang="en-US" altLang="zh-CN" sz="2800" baseline="-25000" dirty="0" err="1" smtClean="0"/>
              <a:t>rxn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= </a:t>
            </a:r>
            <a:r>
              <a:rPr lang="en-US" altLang="zh-CN" sz="2800" dirty="0">
                <a:latin typeface="Symbol" pitchFamily="18" charset="2"/>
                <a:sym typeface="Symbol" pitchFamily="18" charset="2"/>
              </a:rPr>
              <a:t></a:t>
            </a:r>
            <a:r>
              <a:rPr lang="en-US" altLang="zh-CN" sz="2800" i="1" dirty="0" err="1">
                <a:solidFill>
                  <a:srgbClr val="0000CC"/>
                </a:solidFill>
              </a:rPr>
              <a:t>n</a:t>
            </a:r>
            <a:r>
              <a:rPr lang="en-US" altLang="zh-CN" sz="2800" dirty="0" err="1">
                <a:latin typeface="Symbol" pitchFamily="18" charset="2"/>
                <a:sym typeface="Symbol" pitchFamily="18" charset="2"/>
              </a:rPr>
              <a:t></a:t>
            </a:r>
            <a:r>
              <a:rPr lang="en-US" altLang="zh-CN" sz="2800" i="1" dirty="0" err="1"/>
              <a:t>H</a:t>
            </a:r>
            <a:r>
              <a:rPr lang="en-US" altLang="zh-CN" sz="2800" i="1" baseline="-25000" dirty="0" err="1"/>
              <a:t>f</a:t>
            </a:r>
            <a:r>
              <a:rPr lang="en-US" altLang="zh-CN" sz="2800" baseline="30000" dirty="0" err="1">
                <a:cs typeface="Arial" charset="0"/>
              </a:rPr>
              <a:t>o</a:t>
            </a:r>
            <a:r>
              <a:rPr lang="en-US" altLang="zh-CN" sz="2800" baseline="-25000" dirty="0" err="1">
                <a:cs typeface="Arial" charset="0"/>
              </a:rPr>
              <a:t>,</a:t>
            </a:r>
            <a:r>
              <a:rPr lang="en-US" altLang="zh-CN" sz="2800" baseline="-25000" dirty="0" err="1">
                <a:solidFill>
                  <a:srgbClr val="0000CC"/>
                </a:solidFill>
                <a:sym typeface="Symbol" pitchFamily="18" charset="2"/>
              </a:rPr>
              <a:t>products</a:t>
            </a:r>
            <a:r>
              <a:rPr lang="en-US" altLang="zh-CN" sz="2800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– </a:t>
            </a:r>
            <a:r>
              <a:rPr lang="en-US" altLang="zh-CN" sz="2800" dirty="0">
                <a:latin typeface="Symbol" pitchFamily="18" charset="2"/>
                <a:sym typeface="Symbol" pitchFamily="18" charset="2"/>
              </a:rPr>
              <a:t></a:t>
            </a:r>
            <a:r>
              <a:rPr lang="en-US" altLang="zh-CN" sz="2800" i="1" dirty="0" err="1">
                <a:solidFill>
                  <a:srgbClr val="FF0000"/>
                </a:solidFill>
              </a:rPr>
              <a:t>m</a:t>
            </a:r>
            <a:r>
              <a:rPr lang="en-US" altLang="zh-CN" sz="2800" dirty="0" err="1">
                <a:latin typeface="Symbol" pitchFamily="18" charset="2"/>
                <a:sym typeface="Symbol" pitchFamily="18" charset="2"/>
              </a:rPr>
              <a:t></a:t>
            </a:r>
            <a:r>
              <a:rPr lang="en-US" altLang="zh-CN" sz="2800" i="1" dirty="0" err="1">
                <a:sym typeface="Symbol" pitchFamily="18" charset="2"/>
              </a:rPr>
              <a:t>H</a:t>
            </a:r>
            <a:r>
              <a:rPr lang="en-US" altLang="zh-CN" sz="2800" i="1" baseline="-25000" dirty="0" err="1">
                <a:sym typeface="Symbol" pitchFamily="18" charset="2"/>
              </a:rPr>
              <a:t>f</a:t>
            </a:r>
            <a:r>
              <a:rPr lang="en-US" altLang="zh-CN" sz="2800" baseline="30000" dirty="0" err="1">
                <a:cs typeface="Arial" charset="0"/>
              </a:rPr>
              <a:t>o</a:t>
            </a:r>
            <a:r>
              <a:rPr lang="en-US" altLang="zh-CN" sz="2800" i="1" baseline="-25000" dirty="0" err="1">
                <a:sym typeface="Symbol" pitchFamily="18" charset="2"/>
              </a:rPr>
              <a:t>,</a:t>
            </a:r>
            <a:r>
              <a:rPr lang="en-US" altLang="zh-CN" sz="2800" baseline="-25000" dirty="0" err="1">
                <a:solidFill>
                  <a:srgbClr val="FF0000"/>
                </a:solidFill>
                <a:sym typeface="Symbol" pitchFamily="18" charset="2"/>
              </a:rPr>
              <a:t>reactants</a:t>
            </a:r>
            <a:r>
              <a:rPr lang="en-US" altLang="zh-CN" sz="2800" dirty="0">
                <a:sym typeface="Symbol" pitchFamily="18" charset="2"/>
              </a:rPr>
              <a:t> </a:t>
            </a:r>
            <a:endParaRPr lang="en-US" altLang="zh-CN" sz="2800" b="1" dirty="0" smtClean="0"/>
          </a:p>
          <a:p>
            <a:pPr>
              <a:lnSpc>
                <a:spcPts val="2400"/>
              </a:lnSpc>
            </a:pPr>
            <a:endParaRPr lang="en-US" altLang="zh-CN" sz="2800" dirty="0"/>
          </a:p>
          <a:p>
            <a:pPr>
              <a:lnSpc>
                <a:spcPts val="2400"/>
              </a:lnSpc>
            </a:pPr>
            <a:r>
              <a:rPr lang="en-US" altLang="zh-CN" sz="2800" dirty="0">
                <a:solidFill>
                  <a:srgbClr val="0000CC"/>
                </a:solidFill>
                <a:latin typeface="Symbol" charset="0"/>
                <a:sym typeface="Symbol" charset="0"/>
              </a:rPr>
              <a:t></a:t>
            </a:r>
            <a:r>
              <a:rPr lang="en-US" altLang="zh-CN" sz="2800" i="1" dirty="0" smtClean="0">
                <a:solidFill>
                  <a:srgbClr val="0000CC"/>
                </a:solidFill>
              </a:rPr>
              <a:t>H</a:t>
            </a:r>
            <a:r>
              <a:rPr lang="en-US" altLang="zh-CN" sz="2800" baseline="30000" dirty="0">
                <a:cs typeface="Arial" charset="0"/>
              </a:rPr>
              <a:t>o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f,CH3Cl</a:t>
            </a:r>
            <a:r>
              <a:rPr lang="en-US" altLang="zh-CN" sz="2800" dirty="0" smtClean="0">
                <a:solidFill>
                  <a:srgbClr val="0000CC"/>
                </a:solidFill>
              </a:rPr>
              <a:t> + </a:t>
            </a:r>
            <a:r>
              <a:rPr lang="en-US" altLang="zh-CN" sz="2800" dirty="0">
                <a:solidFill>
                  <a:srgbClr val="0000CC"/>
                </a:solidFill>
                <a:latin typeface="Symbol" charset="0"/>
                <a:sym typeface="Symbol" charset="0"/>
              </a:rPr>
              <a:t></a:t>
            </a:r>
            <a:r>
              <a:rPr lang="en-US" altLang="zh-CN" sz="2800" i="1" dirty="0" err="1" smtClean="0">
                <a:solidFill>
                  <a:srgbClr val="0000CC"/>
                </a:solidFill>
              </a:rPr>
              <a:t>H</a:t>
            </a:r>
            <a:r>
              <a:rPr lang="en-US" altLang="zh-CN" sz="2800" baseline="30000" dirty="0" err="1">
                <a:cs typeface="Arial" charset="0"/>
              </a:rPr>
              <a:t>o</a:t>
            </a:r>
            <a:r>
              <a:rPr lang="en-US" altLang="zh-CN" sz="2800" baseline="-25000" dirty="0" err="1" smtClean="0">
                <a:solidFill>
                  <a:srgbClr val="0000CC"/>
                </a:solidFill>
              </a:rPr>
              <a:t>f,HCl</a:t>
            </a: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en-US" altLang="zh-CN" sz="2800" dirty="0" smtClean="0"/>
              <a:t>- </a:t>
            </a:r>
            <a:r>
              <a:rPr lang="en-US" altLang="zh-CN" sz="2800" dirty="0">
                <a:solidFill>
                  <a:srgbClr val="FF0000"/>
                </a:solidFill>
                <a:latin typeface="Symbol" charset="0"/>
                <a:sym typeface="Symbol" charset="0"/>
              </a:rPr>
              <a:t></a:t>
            </a:r>
            <a:r>
              <a:rPr lang="en-US" altLang="zh-CN" sz="2800" i="1" dirty="0" smtClean="0">
                <a:solidFill>
                  <a:srgbClr val="FF0000"/>
                </a:solidFill>
              </a:rPr>
              <a:t>H</a:t>
            </a:r>
            <a:r>
              <a:rPr lang="en-US" altLang="zh-CN" sz="2800" baseline="30000" dirty="0">
                <a:cs typeface="Arial" charset="0"/>
              </a:rPr>
              <a:t>o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f,CH4  </a:t>
            </a:r>
            <a:r>
              <a:rPr lang="en-US" altLang="zh-CN" sz="2800" dirty="0" smtClean="0"/>
              <a:t>= (-82) + (-92)-(-75) </a:t>
            </a:r>
          </a:p>
          <a:p>
            <a:pPr>
              <a:lnSpc>
                <a:spcPts val="24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                                  </a:t>
            </a:r>
          </a:p>
          <a:p>
            <a:pPr>
              <a:lnSpc>
                <a:spcPts val="24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                                      = </a:t>
            </a:r>
            <a:r>
              <a:rPr lang="en-US" altLang="zh-CN" sz="2800" b="1" dirty="0">
                <a:solidFill>
                  <a:srgbClr val="C82E32"/>
                </a:solidFill>
                <a:cs typeface="Arial" charset="0"/>
              </a:rPr>
              <a:t>− </a:t>
            </a:r>
            <a:r>
              <a:rPr lang="en-US" altLang="zh-CN" sz="2800" b="1" dirty="0" smtClean="0">
                <a:solidFill>
                  <a:srgbClr val="C82E32"/>
                </a:solidFill>
              </a:rPr>
              <a:t>99 kJ </a:t>
            </a:r>
            <a:endParaRPr lang="zh-CN" altLang="en-US" sz="2800" b="1" dirty="0">
              <a:solidFill>
                <a:srgbClr val="C82E32"/>
              </a:solidFill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510268" y="3395241"/>
            <a:ext cx="1390892" cy="381000"/>
          </a:xfrm>
          <a:prstGeom prst="rect">
            <a:avLst/>
          </a:prstGeom>
          <a:noFill/>
          <a:ln>
            <a:solidFill>
              <a:srgbClr val="C82E32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8" charset="-128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724400" y="6096000"/>
            <a:ext cx="1371600" cy="432121"/>
          </a:xfrm>
          <a:prstGeom prst="rect">
            <a:avLst/>
          </a:prstGeom>
          <a:noFill/>
          <a:ln>
            <a:solidFill>
              <a:srgbClr val="C82E32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8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-14965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" charset="0"/>
                <a:ea typeface="ＭＳ Ｐゴシック" charset="0"/>
              </a:rPr>
              <a:t>Bond Enthalpy and Bond Length</a:t>
            </a:r>
          </a:p>
        </p:txBody>
      </p:sp>
      <p:sp>
        <p:nvSpPr>
          <p:cNvPr id="7475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914400"/>
            <a:ext cx="8686800" cy="1981200"/>
          </a:xfrm>
        </p:spPr>
        <p:txBody>
          <a:bodyPr/>
          <a:lstStyle/>
          <a:p>
            <a:pPr eaLnBrk="1" hangingPunct="1"/>
            <a:r>
              <a:rPr lang="en-US" sz="2500" dirty="0">
                <a:latin typeface="Arial" charset="0"/>
                <a:ea typeface="ＭＳ Ｐゴシック" charset="0"/>
              </a:rPr>
              <a:t>We can also measure an average bond length for different bond types.</a:t>
            </a:r>
          </a:p>
          <a:p>
            <a:pPr eaLnBrk="1" hangingPunct="1"/>
            <a:r>
              <a:rPr lang="en-US" sz="2500" dirty="0">
                <a:latin typeface="Arial" charset="0"/>
                <a:ea typeface="ＭＳ Ｐゴシック" charset="0"/>
              </a:rPr>
              <a:t>As the number of </a:t>
            </a:r>
            <a:r>
              <a:rPr lang="en-US" sz="2500" dirty="0" smtClean="0">
                <a:latin typeface="Arial" charset="0"/>
                <a:ea typeface="ＭＳ Ｐゴシック" charset="0"/>
              </a:rPr>
              <a:t>bonds (</a:t>
            </a:r>
            <a:r>
              <a:rPr lang="en-US" sz="25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bond order</a:t>
            </a:r>
            <a:r>
              <a:rPr lang="en-US" sz="2500" dirty="0" smtClean="0">
                <a:latin typeface="Arial" charset="0"/>
                <a:ea typeface="ＭＳ Ｐゴシック" charset="0"/>
              </a:rPr>
              <a:t>) </a:t>
            </a:r>
            <a:r>
              <a:rPr lang="en-US" sz="2500" dirty="0">
                <a:latin typeface="Arial" charset="0"/>
                <a:ea typeface="ＭＳ Ｐゴシック" charset="0"/>
              </a:rPr>
              <a:t>between two atoms increases, the bond length decreases.</a:t>
            </a:r>
          </a:p>
        </p:txBody>
      </p:sp>
      <p:pic>
        <p:nvPicPr>
          <p:cNvPr id="74755" name="Picture 4" descr="08_05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1"/>
          <a:stretch>
            <a:fillRect/>
          </a:stretch>
        </p:blipFill>
        <p:spPr bwMode="auto">
          <a:xfrm>
            <a:off x="838200" y="2743200"/>
            <a:ext cx="6948704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>
            <a:off x="914400" y="3810000"/>
            <a:ext cx="20574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914400" y="4114800"/>
            <a:ext cx="20574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auto">
          <a:xfrm>
            <a:off x="990600" y="4419600"/>
            <a:ext cx="20574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8" charset="-128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3677</TotalTime>
  <Words>1747</Words>
  <Application>Microsoft Office PowerPoint</Application>
  <PresentationFormat>On-screen Show (4:3)</PresentationFormat>
  <Paragraphs>216</Paragraphs>
  <Slides>38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Lucida Grande</vt:lpstr>
      <vt:lpstr>ＭＳ Ｐゴシック</vt:lpstr>
      <vt:lpstr>Arial</vt:lpstr>
      <vt:lpstr>Symbol</vt:lpstr>
      <vt:lpstr>Times New Roman</vt:lpstr>
      <vt:lpstr>Wingdings</vt:lpstr>
      <vt:lpstr>Blank Presentation</vt:lpstr>
      <vt:lpstr>Custom Design</vt:lpstr>
      <vt:lpstr>PowerPoint Presentation</vt:lpstr>
      <vt:lpstr>Chemical Bonds</vt:lpstr>
      <vt:lpstr>Lewis Symbols</vt:lpstr>
      <vt:lpstr>Ionic Formation</vt:lpstr>
      <vt:lpstr>Energetics of Ionic Bonding— Born-Haber Cycle</vt:lpstr>
      <vt:lpstr>Energetics of Ionic Bonding</vt:lpstr>
      <vt:lpstr>Lattice Energy</vt:lpstr>
      <vt:lpstr>Lattice Energy</vt:lpstr>
      <vt:lpstr>Covalent Bonding</vt:lpstr>
      <vt:lpstr>Lewis Structures</vt:lpstr>
      <vt:lpstr>Electrons on Lewis Structures</vt:lpstr>
      <vt:lpstr>Multiple Bonds</vt:lpstr>
      <vt:lpstr>Polar Covalent Bonds</vt:lpstr>
      <vt:lpstr>Electronegativity</vt:lpstr>
      <vt:lpstr>Electronegativity and Polar Covalent Bonds</vt:lpstr>
      <vt:lpstr>Polar Covalent Bonds</vt:lpstr>
      <vt:lpstr>Dipoles</vt:lpstr>
      <vt:lpstr>Is a Compound Ionic or Covalent?</vt:lpstr>
      <vt:lpstr>Writing Lewis Structures (Covalent Molecules)</vt:lpstr>
      <vt:lpstr>Writing Lewis Structures</vt:lpstr>
      <vt:lpstr>Writing Lewis Structures</vt:lpstr>
      <vt:lpstr>Writing Lewis Structures</vt:lpstr>
      <vt:lpstr>Writing Lewis Structures</vt:lpstr>
      <vt:lpstr>Writing Lewis Structures</vt:lpstr>
      <vt:lpstr>Writing Lewis Structures</vt:lpstr>
      <vt:lpstr>The Best Lewis Structure?</vt:lpstr>
      <vt:lpstr>Resonance</vt:lpstr>
      <vt:lpstr>Resonance</vt:lpstr>
      <vt:lpstr>Exceptions to the Octet Rule</vt:lpstr>
      <vt:lpstr>Odd Number of Electrons</vt:lpstr>
      <vt:lpstr>Fewer Than Eight Electrons</vt:lpstr>
      <vt:lpstr>Fewer Than Eight Electrons</vt:lpstr>
      <vt:lpstr>More Than Eight Electrons</vt:lpstr>
      <vt:lpstr>Covalent Bond Strength</vt:lpstr>
      <vt:lpstr>Average Bond Enthalpies</vt:lpstr>
      <vt:lpstr>Using Bond Enthalpies to Estimate Hrxn</vt:lpstr>
      <vt:lpstr>PowerPoint Presentation</vt:lpstr>
      <vt:lpstr>Bond Enthalpy and Bond Length</vt:lpstr>
    </vt:vector>
  </TitlesOfParts>
  <Company>John Bookstaver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Concepts of Chemical Bonding</dc:title>
  <dc:creator>John Bookstaver</dc:creator>
  <cp:lastModifiedBy>dell</cp:lastModifiedBy>
  <cp:revision>228</cp:revision>
  <dcterms:created xsi:type="dcterms:W3CDTF">2005-03-01T03:14:25Z</dcterms:created>
  <dcterms:modified xsi:type="dcterms:W3CDTF">2018-10-17T06:01:05Z</dcterms:modified>
</cp:coreProperties>
</file>