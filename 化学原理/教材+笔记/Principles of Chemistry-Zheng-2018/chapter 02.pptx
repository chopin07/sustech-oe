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</p:sldMasterIdLst>
  <p:notesMasterIdLst>
    <p:notesMasterId r:id="rId88"/>
  </p:notesMasterIdLst>
  <p:sldIdLst>
    <p:sldId id="256" r:id="rId3"/>
    <p:sldId id="347" r:id="rId4"/>
    <p:sldId id="257" r:id="rId5"/>
    <p:sldId id="263" r:id="rId6"/>
    <p:sldId id="362" r:id="rId7"/>
    <p:sldId id="361" r:id="rId8"/>
    <p:sldId id="265" r:id="rId9"/>
    <p:sldId id="32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5" r:id="rId18"/>
    <p:sldId id="364" r:id="rId19"/>
    <p:sldId id="353" r:id="rId20"/>
    <p:sldId id="281" r:id="rId21"/>
    <p:sldId id="284" r:id="rId22"/>
    <p:sldId id="365" r:id="rId23"/>
    <p:sldId id="286" r:id="rId24"/>
    <p:sldId id="354" r:id="rId25"/>
    <p:sldId id="287" r:id="rId26"/>
    <p:sldId id="289" r:id="rId27"/>
    <p:sldId id="356" r:id="rId28"/>
    <p:sldId id="290" r:id="rId29"/>
    <p:sldId id="355" r:id="rId30"/>
    <p:sldId id="366" r:id="rId31"/>
    <p:sldId id="367" r:id="rId32"/>
    <p:sldId id="368" r:id="rId33"/>
    <p:sldId id="369" r:id="rId34"/>
    <p:sldId id="370" r:id="rId35"/>
    <p:sldId id="371" r:id="rId36"/>
    <p:sldId id="372" r:id="rId37"/>
    <p:sldId id="373" r:id="rId38"/>
    <p:sldId id="374" r:id="rId39"/>
    <p:sldId id="375" r:id="rId40"/>
    <p:sldId id="408" r:id="rId41"/>
    <p:sldId id="409" r:id="rId42"/>
    <p:sldId id="295" r:id="rId43"/>
    <p:sldId id="298" r:id="rId44"/>
    <p:sldId id="299" r:id="rId45"/>
    <p:sldId id="301" r:id="rId46"/>
    <p:sldId id="303" r:id="rId47"/>
    <p:sldId id="306" r:id="rId48"/>
    <p:sldId id="307" r:id="rId49"/>
    <p:sldId id="304" r:id="rId50"/>
    <p:sldId id="305" r:id="rId51"/>
    <p:sldId id="308" r:id="rId52"/>
    <p:sldId id="358" r:id="rId53"/>
    <p:sldId id="310" r:id="rId54"/>
    <p:sldId id="312" r:id="rId55"/>
    <p:sldId id="315" r:id="rId56"/>
    <p:sldId id="340" r:id="rId57"/>
    <p:sldId id="332" r:id="rId58"/>
    <p:sldId id="334" r:id="rId59"/>
    <p:sldId id="378" r:id="rId60"/>
    <p:sldId id="379" r:id="rId61"/>
    <p:sldId id="380" r:id="rId62"/>
    <p:sldId id="381" r:id="rId63"/>
    <p:sldId id="382" r:id="rId64"/>
    <p:sldId id="383" r:id="rId65"/>
    <p:sldId id="384" r:id="rId66"/>
    <p:sldId id="385" r:id="rId67"/>
    <p:sldId id="388" r:id="rId68"/>
    <p:sldId id="389" r:id="rId69"/>
    <p:sldId id="390" r:id="rId70"/>
    <p:sldId id="391" r:id="rId71"/>
    <p:sldId id="392" r:id="rId72"/>
    <p:sldId id="393" r:id="rId73"/>
    <p:sldId id="394" r:id="rId74"/>
    <p:sldId id="395" r:id="rId75"/>
    <p:sldId id="396" r:id="rId76"/>
    <p:sldId id="397" r:id="rId77"/>
    <p:sldId id="398" r:id="rId78"/>
    <p:sldId id="399" r:id="rId79"/>
    <p:sldId id="400" r:id="rId80"/>
    <p:sldId id="401" r:id="rId81"/>
    <p:sldId id="402" r:id="rId82"/>
    <p:sldId id="403" r:id="rId83"/>
    <p:sldId id="404" r:id="rId84"/>
    <p:sldId id="405" r:id="rId85"/>
    <p:sldId id="406" r:id="rId86"/>
    <p:sldId id="407" r:id="rId8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rgbClr val="C82E32"/>
        </a:solidFill>
        <a:latin typeface="Arial" pitchFamily="-104" charset="0"/>
        <a:ea typeface="ＭＳ Ｐゴシック" pitchFamily="34" charset="-128"/>
        <a:cs typeface="ＭＳ Ｐゴシック" pitchFamily="34" charset="-128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rgbClr val="C82E32"/>
        </a:solidFill>
        <a:latin typeface="Arial" pitchFamily="-104" charset="0"/>
        <a:ea typeface="ＭＳ Ｐゴシック" pitchFamily="34" charset="-128"/>
        <a:cs typeface="ＭＳ Ｐゴシック" pitchFamily="34" charset="-128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rgbClr val="C82E32"/>
        </a:solidFill>
        <a:latin typeface="Arial" pitchFamily="-104" charset="0"/>
        <a:ea typeface="ＭＳ Ｐゴシック" pitchFamily="34" charset="-128"/>
        <a:cs typeface="ＭＳ Ｐゴシック" pitchFamily="34" charset="-128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rgbClr val="C82E32"/>
        </a:solidFill>
        <a:latin typeface="Arial" pitchFamily="-104" charset="0"/>
        <a:ea typeface="ＭＳ Ｐゴシック" pitchFamily="34" charset="-128"/>
        <a:cs typeface="ＭＳ Ｐゴシック" pitchFamily="34" charset="-128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rgbClr val="C82E32"/>
        </a:solidFill>
        <a:latin typeface="Arial" pitchFamily="-104" charset="0"/>
        <a:ea typeface="ＭＳ Ｐゴシック" pitchFamily="34" charset="-128"/>
        <a:cs typeface="ＭＳ Ｐゴシック" pitchFamily="34" charset="-128"/>
      </a:defRPr>
    </a:lvl5pPr>
    <a:lvl6pPr marL="2286000" algn="l" defTabSz="457200" rtl="0" eaLnBrk="1" latinLnBrk="0" hangingPunct="1">
      <a:defRPr sz="2800" kern="1200">
        <a:solidFill>
          <a:srgbClr val="C82E32"/>
        </a:solidFill>
        <a:latin typeface="Arial" pitchFamily="-104" charset="0"/>
        <a:ea typeface="ＭＳ Ｐゴシック" pitchFamily="34" charset="-128"/>
        <a:cs typeface="ＭＳ Ｐゴシック" pitchFamily="34" charset="-128"/>
      </a:defRPr>
    </a:lvl6pPr>
    <a:lvl7pPr marL="2743200" algn="l" defTabSz="457200" rtl="0" eaLnBrk="1" latinLnBrk="0" hangingPunct="1">
      <a:defRPr sz="2800" kern="1200">
        <a:solidFill>
          <a:srgbClr val="C82E32"/>
        </a:solidFill>
        <a:latin typeface="Arial" pitchFamily="-104" charset="0"/>
        <a:ea typeface="ＭＳ Ｐゴシック" pitchFamily="34" charset="-128"/>
        <a:cs typeface="ＭＳ Ｐゴシック" pitchFamily="34" charset="-128"/>
      </a:defRPr>
    </a:lvl7pPr>
    <a:lvl8pPr marL="3200400" algn="l" defTabSz="457200" rtl="0" eaLnBrk="1" latinLnBrk="0" hangingPunct="1">
      <a:defRPr sz="2800" kern="1200">
        <a:solidFill>
          <a:srgbClr val="C82E32"/>
        </a:solidFill>
        <a:latin typeface="Arial" pitchFamily="-104" charset="0"/>
        <a:ea typeface="ＭＳ Ｐゴシック" pitchFamily="34" charset="-128"/>
        <a:cs typeface="ＭＳ Ｐゴシック" pitchFamily="34" charset="-128"/>
      </a:defRPr>
    </a:lvl8pPr>
    <a:lvl9pPr marL="3657600" algn="l" defTabSz="457200" rtl="0" eaLnBrk="1" latinLnBrk="0" hangingPunct="1">
      <a:defRPr sz="2800" kern="1200">
        <a:solidFill>
          <a:srgbClr val="C82E32"/>
        </a:solidFill>
        <a:latin typeface="Arial" pitchFamily="-104" charset="0"/>
        <a:ea typeface="ＭＳ Ｐゴシック" pitchFamily="34" charset="-128"/>
        <a:cs typeface="ＭＳ Ｐゴシック" pitchFamily="34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51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6BB3"/>
    <a:srgbClr val="FF0000"/>
    <a:srgbClr val="FF3300"/>
    <a:srgbClr val="CC3300"/>
    <a:srgbClr val="8B0030"/>
    <a:srgbClr val="339966"/>
    <a:srgbClr val="00CC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704" y="102"/>
      </p:cViewPr>
      <p:guideLst>
        <p:guide orient="horz" pos="2160"/>
        <p:guide pos="35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111" d="100"/>
          <a:sy n="111" d="100"/>
        </p:scale>
        <p:origin x="-3264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76" Type="http://schemas.openxmlformats.org/officeDocument/2006/relationships/slide" Target="slides/slide74.xml"/><Relationship Id="rId84" Type="http://schemas.openxmlformats.org/officeDocument/2006/relationships/slide" Target="slides/slide82.xml"/><Relationship Id="rId89" Type="http://schemas.openxmlformats.org/officeDocument/2006/relationships/presProps" Target="pres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87" Type="http://schemas.openxmlformats.org/officeDocument/2006/relationships/slide" Target="slides/slide85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90" Type="http://schemas.openxmlformats.org/officeDocument/2006/relationships/viewProps" Target="view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notesMaster" Target="notesMasters/notes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7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4D8C689F-433B-7B47-8DE0-27998DAE91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74550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48" charset="-128"/>
        <a:cs typeface="ＭＳ Ｐゴシック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48" charset="-128"/>
        <a:cs typeface="ＭＳ Ｐゴシック" pitchFamily="34" charset="-128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48" charset="-128"/>
        <a:cs typeface="ＭＳ Ｐゴシック" pitchFamily="34" charset="-128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48" charset="-128"/>
        <a:cs typeface="ＭＳ Ｐゴシック" pitchFamily="34" charset="-128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48" charset="-128"/>
        <a:cs typeface="ＭＳ Ｐゴシック" pitchFamily="34" charset="-12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81AAE77-E715-D146-9BE0-EFA1B9360E38}" type="slidenum">
              <a:rPr lang="en-US"/>
              <a:pPr/>
              <a:t>1</a:t>
            </a:fld>
            <a:endParaRPr lang="en-US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E94D1D2D-9948-0444-A890-58A664F031EF}" type="slidenum">
              <a:rPr lang="en-US"/>
              <a:pPr/>
              <a:t>2</a:t>
            </a:fld>
            <a:endParaRPr lang="en-US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A4C3BEB-2B12-C94D-888A-B433A2569FBE}" type="slidenum">
              <a:rPr lang="en-US"/>
              <a:pPr/>
              <a:t>3</a:t>
            </a:fld>
            <a:endParaRPr lang="en-US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DC8C73F4-7988-9B42-AF99-F3AB8814F7E5}" type="slidenum">
              <a:rPr lang="en-US"/>
              <a:pPr/>
              <a:t>4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D7709A2F-7DCA-844A-8CB6-15090C04A8A2}" type="slidenum">
              <a:rPr lang="en-US"/>
              <a:pPr/>
              <a:t>7</a:t>
            </a:fld>
            <a:endParaRPr lang="en-U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85C8F01-7E9E-E14F-9DF0-CF620C666079}" type="slidenum">
              <a:rPr lang="en-US"/>
              <a:pPr/>
              <a:t>8</a:t>
            </a:fld>
            <a:endParaRPr lang="en-US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0321F4C-5F78-B049-9465-6885ED7B20F8}" type="slidenum">
              <a:rPr lang="en-US"/>
              <a:pPr/>
              <a:t>9</a:t>
            </a:fld>
            <a:endParaRPr 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47C39F2-0898-D147-A838-038468EDAE75}" type="slidenum">
              <a:rPr lang="en-US"/>
              <a:pPr/>
              <a:t>10</a:t>
            </a:fld>
            <a:endParaRPr 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1F4EC75F-7147-8C49-935B-825E3AE1DF6B}" type="slidenum">
              <a:rPr lang="en-US"/>
              <a:pPr/>
              <a:t>11</a:t>
            </a:fld>
            <a:endParaRPr lang="en-US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A1FAB8A5-E1E4-7F49-88B5-482B02F237FF}" type="slidenum">
              <a:rPr lang="en-US"/>
              <a:pPr/>
              <a:t>12</a:t>
            </a:fld>
            <a:endParaRPr lang="en-US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943FF1D-F792-994B-BB48-23593B50E731}" type="slidenum">
              <a:rPr lang="en-US"/>
              <a:pPr/>
              <a:t>13</a:t>
            </a:fld>
            <a:endParaRPr lang="en-US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1E870A2-EC97-8346-B57F-AE3BF73095E1}" type="slidenum">
              <a:rPr lang="en-US"/>
              <a:pPr/>
              <a:t>14</a:t>
            </a:fld>
            <a:endParaRPr lang="en-US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F225FB9-EBCA-804C-8705-E74E990C6830}" type="slidenum">
              <a:rPr lang="en-US"/>
              <a:pPr/>
              <a:t>15</a:t>
            </a:fld>
            <a:endParaRPr lang="en-US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8250376-ADC0-D847-B56F-557FBAB8A295}" type="slidenum">
              <a:rPr lang="en-US"/>
              <a:pPr/>
              <a:t>16</a:t>
            </a:fld>
            <a:endParaRPr lang="en-US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811C6448-528D-9E43-A3E2-1A3F71158B52}" type="slidenum">
              <a:rPr lang="en-US"/>
              <a:pPr/>
              <a:t>18</a:t>
            </a:fld>
            <a:endParaRPr lang="en-US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8889643-757F-F948-B9D1-B31B925EDEDF}" type="slidenum">
              <a:rPr lang="en-US"/>
              <a:pPr/>
              <a:t>19</a:t>
            </a:fld>
            <a:endParaRPr lang="en-US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73BB71D2-6082-0548-A42B-F878127A30A4}" type="slidenum">
              <a:rPr lang="en-US"/>
              <a:pPr/>
              <a:t>20</a:t>
            </a:fld>
            <a:endParaRPr lang="en-US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C463A79-1404-3145-9D6D-932433D93ED1}" type="slidenum">
              <a:rPr lang="en-US"/>
              <a:pPr/>
              <a:t>22</a:t>
            </a:fld>
            <a:endParaRPr lang="en-US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75349DCD-FAD9-3840-BC06-462B6FCC6585}" type="slidenum">
              <a:rPr lang="en-US"/>
              <a:pPr/>
              <a:t>23</a:t>
            </a:fld>
            <a:endParaRPr lang="en-US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12FF9D41-712E-0943-8E5D-4B07E9D10E33}" type="slidenum">
              <a:rPr lang="en-US"/>
              <a:pPr/>
              <a:t>24</a:t>
            </a:fld>
            <a:endParaRPr lang="en-US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0FF99B5-72D4-5C41-9B37-B3AD0D1362DB}" type="slidenum">
              <a:rPr lang="en-US"/>
              <a:pPr/>
              <a:t>25</a:t>
            </a:fld>
            <a:endParaRPr lang="en-US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D4128DE9-E6CD-A14B-9832-86B7D1C42A1B}" type="slidenum">
              <a:rPr lang="en-US"/>
              <a:pPr/>
              <a:t>26</a:t>
            </a:fld>
            <a:endParaRPr lang="en-US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DD755E47-7C08-A24A-B611-C616F13664B4}" type="slidenum">
              <a:rPr lang="en-US"/>
              <a:pPr/>
              <a:t>27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381D751-B0CB-9E45-AD09-3E59C6AA9506}" type="slidenum">
              <a:rPr lang="en-US"/>
              <a:pPr/>
              <a:t>28</a:t>
            </a:fld>
            <a:endParaRPr lang="en-US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a</a:t>
            </a:r>
            <a:endParaRPr lang="en-US">
              <a:solidFill>
                <a:srgbClr val="0D0D0D"/>
              </a:solidFill>
              <a:latin typeface="Calibri" charset="0"/>
              <a:ea typeface="ヒラギノ角ゴ Pro W3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a</a:t>
            </a:r>
            <a:endParaRPr lang="en-US">
              <a:solidFill>
                <a:srgbClr val="0D0D0D"/>
              </a:solidFill>
              <a:latin typeface="Calibri" charset="0"/>
              <a:ea typeface="ヒラギノ角ゴ Pro W3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eaLnBrk="1" hangingPunct="1"/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c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eaLnBrk="1" hangingPunct="1"/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c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d</a:t>
            </a:r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EEBE362A-4AD0-5F44-8BD1-66A5014259D5}" type="slidenum">
              <a:rPr lang="en-US" sz="1200"/>
              <a:pPr/>
              <a:t>33</a:t>
            </a:fld>
            <a:endParaRPr lang="en-US" sz="120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d</a:t>
            </a: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F9B9B55A-7A0F-6B49-B0D0-37C2DEC74044}" type="slidenum">
              <a:rPr lang="en-US" sz="1200"/>
              <a:pPr/>
              <a:t>34</a:t>
            </a:fld>
            <a:endParaRPr lang="en-US" sz="120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a</a:t>
            </a:r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DB486775-EEE5-AF41-B5FD-8F2A5A194AE8}" type="slidenum">
              <a:rPr lang="en-US" sz="1200"/>
              <a:pPr/>
              <a:t>35</a:t>
            </a:fld>
            <a:endParaRPr lang="en-US" sz="12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a</a:t>
            </a:r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BB00A27B-A74C-9645-84ED-2C13AC559915}" type="slidenum">
              <a:rPr lang="en-US" sz="1200"/>
              <a:pPr/>
              <a:t>36</a:t>
            </a:fld>
            <a:endParaRPr lang="en-US" sz="120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b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b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a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a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A9D18AAC-D070-6443-AC4C-46A5AD414722}" type="slidenum">
              <a:rPr lang="en-US"/>
              <a:pPr/>
              <a:t>41</a:t>
            </a:fld>
            <a:endParaRPr lang="en-US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0573BEF3-AF5F-EE40-A3CD-086AC9D258B1}" type="slidenum">
              <a:rPr lang="en-US"/>
              <a:pPr/>
              <a:t>42</a:t>
            </a:fld>
            <a:endParaRPr lang="en-US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786DEB60-A5C4-BD41-9177-D99990DA0B59}" type="slidenum">
              <a:rPr lang="en-US"/>
              <a:pPr/>
              <a:t>43</a:t>
            </a:fld>
            <a:endParaRPr lang="en-US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EE8171E-727C-E14B-9E03-B3DE3705E2DF}" type="slidenum">
              <a:rPr lang="en-US"/>
              <a:pPr/>
              <a:t>44</a:t>
            </a:fld>
            <a:endParaRPr lang="en-US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C81E0830-A876-0F4F-A6EF-0A75ED34C493}" type="slidenum">
              <a:rPr lang="en-US"/>
              <a:pPr/>
              <a:t>45</a:t>
            </a:fld>
            <a:endParaRPr lang="en-US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0738B24D-DDDF-AF4D-A731-24E1A87206FD}" type="slidenum">
              <a:rPr lang="en-US"/>
              <a:pPr/>
              <a:t>46</a:t>
            </a:fld>
            <a:endParaRPr lang="en-US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08AA0C22-0A43-2848-8932-BED8FA2BADBD}" type="slidenum">
              <a:rPr lang="en-US"/>
              <a:pPr/>
              <a:t>47</a:t>
            </a:fld>
            <a:endParaRPr lang="en-US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624A7523-9124-9B4B-9DF9-E430A428F09E}" type="slidenum">
              <a:rPr lang="en-US"/>
              <a:pPr/>
              <a:t>48</a:t>
            </a:fld>
            <a:endParaRPr lang="en-US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AFDE1DD-CB41-EC44-A31D-24E528BCDBC7}" type="slidenum">
              <a:rPr lang="en-US"/>
              <a:pPr/>
              <a:t>49</a:t>
            </a:fld>
            <a:endParaRPr lang="en-US"/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B2011DD-E4A0-2B48-B2C3-338D4EEA3236}" type="slidenum">
              <a:rPr lang="en-US"/>
              <a:pPr/>
              <a:t>50</a:t>
            </a:fld>
            <a:endParaRPr lang="en-US"/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BF612D6-09B0-814A-A1C9-742D0E3AE7B5}" type="slidenum">
              <a:rPr lang="en-US"/>
              <a:pPr/>
              <a:t>51</a:t>
            </a:fld>
            <a:endParaRPr lang="en-US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EFB13119-C2FC-104B-998E-AEABD8522E51}" type="slidenum">
              <a:rPr lang="en-US"/>
              <a:pPr/>
              <a:t>52</a:t>
            </a:fld>
            <a:endParaRPr lang="en-US"/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2C15876-3C01-894C-8EE7-EBD8D3031D49}" type="slidenum">
              <a:rPr lang="en-US"/>
              <a:pPr/>
              <a:t>53</a:t>
            </a:fld>
            <a:endParaRPr lang="en-US"/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D2DCAD69-556E-7F40-BFE1-47E35E26202F}" type="slidenum">
              <a:rPr lang="en-US"/>
              <a:pPr/>
              <a:t>54</a:t>
            </a:fld>
            <a:endParaRPr lang="en-US"/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881C08ED-E090-DC4C-A969-F5EDD757834B}" type="slidenum">
              <a:rPr lang="en-US"/>
              <a:pPr/>
              <a:t>55</a:t>
            </a:fld>
            <a:endParaRPr lang="en-US"/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C94E1BF1-B052-7642-AE79-132A5ACE4640}" type="slidenum">
              <a:rPr lang="en-US"/>
              <a:pPr/>
              <a:t>56</a:t>
            </a:fld>
            <a:endParaRPr lang="en-US"/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C4A438B4-465D-F647-80BD-E45476CBF2E4}" type="slidenum">
              <a:rPr lang="en-US"/>
              <a:pPr/>
              <a:t>57</a:t>
            </a:fld>
            <a:endParaRPr lang="en-US"/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d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d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c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c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c</a:t>
            </a:r>
            <a:endParaRPr lang="en-US">
              <a:solidFill>
                <a:srgbClr val="0D0D0D"/>
              </a:solidFill>
              <a:latin typeface="Calibri" charset="0"/>
              <a:ea typeface="ヒラギノ角ゴ Pro W3" charset="0"/>
              <a:cs typeface="ヒラギノ角ゴ Pro W3" charset="0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c</a:t>
            </a:r>
            <a:endParaRPr lang="en-US">
              <a:solidFill>
                <a:srgbClr val="0D0D0D"/>
              </a:solidFill>
              <a:latin typeface="Calibri" charset="0"/>
              <a:ea typeface="ヒラギノ角ゴ Pro W3" charset="0"/>
              <a:cs typeface="ヒラギノ角ゴ Pro W3" charset="0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</a:t>
            </a:r>
            <a:r>
              <a:rPr lang="en-US">
                <a:solidFill>
                  <a:srgbClr val="0D0D0D"/>
                </a:solidFill>
                <a:latin typeface="Calibri" charset="0"/>
                <a:ea typeface="ヒラギノ角ゴ Pro W3" charset="0"/>
                <a:cs typeface="ヒラギノ角ゴ Pro W3" charset="0"/>
              </a:rPr>
              <a:t>d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</a:t>
            </a:r>
            <a:r>
              <a:rPr lang="en-US">
                <a:solidFill>
                  <a:srgbClr val="0D0D0D"/>
                </a:solidFill>
                <a:latin typeface="Calibri" charset="0"/>
                <a:ea typeface="ヒラギノ角ゴ Pro W3" charset="0"/>
                <a:cs typeface="ヒラギノ角ゴ Pro W3" charset="0"/>
              </a:rPr>
              <a:t>d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b</a:t>
            </a:r>
            <a:endParaRPr lang="en-US" baseline="30000">
              <a:solidFill>
                <a:srgbClr val="0D0D0D"/>
              </a:solidFill>
              <a:latin typeface="Calibri" charset="0"/>
              <a:ea typeface="ヒラギノ角ゴ Pro W3" charset="0"/>
              <a:cs typeface="ヒラギノ角ゴ Pro W3" charset="0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b</a:t>
            </a:r>
            <a:endParaRPr lang="en-US" baseline="30000">
              <a:solidFill>
                <a:srgbClr val="0D0D0D"/>
              </a:solidFill>
              <a:latin typeface="Calibri" charset="0"/>
              <a:ea typeface="ヒラギノ角ゴ Pro W3" charset="0"/>
              <a:cs typeface="ヒラギノ角ゴ Pro W3" charset="0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c</a:t>
            </a:r>
            <a:endParaRPr lang="en-US" baseline="30000">
              <a:solidFill>
                <a:srgbClr val="0D0D0D"/>
              </a:solidFill>
              <a:latin typeface="Calibri" charset="0"/>
              <a:ea typeface="ヒラギノ角ゴ Pro W3" charset="0"/>
              <a:cs typeface="ヒラギノ角ゴ Pro W3" charset="0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c</a:t>
            </a:r>
            <a:endParaRPr lang="en-US" baseline="30000">
              <a:solidFill>
                <a:srgbClr val="0D0D0D"/>
              </a:solidFill>
              <a:latin typeface="Calibri" charset="0"/>
              <a:ea typeface="ヒラギノ角ゴ Pro W3" charset="0"/>
              <a:cs typeface="ヒラギノ角ゴ Pro W3" charset="0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</a:t>
            </a:r>
            <a:r>
              <a:rPr lang="en-US">
                <a:solidFill>
                  <a:srgbClr val="0D0D0D"/>
                </a:solidFill>
                <a:latin typeface="Calibri" charset="0"/>
                <a:ea typeface="ヒラギノ角ゴ Pro W3" charset="0"/>
                <a:cs typeface="ヒラギノ角ゴ Pro W3" charset="0"/>
              </a:rPr>
              <a:t>d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</a:t>
            </a:r>
            <a:r>
              <a:rPr lang="en-US">
                <a:solidFill>
                  <a:srgbClr val="0D0D0D"/>
                </a:solidFill>
                <a:latin typeface="Calibri" charset="0"/>
                <a:ea typeface="ヒラギノ角ゴ Pro W3" charset="0"/>
                <a:cs typeface="ヒラギノ角ゴ Pro W3" charset="0"/>
              </a:rPr>
              <a:t>d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solidFill>
                  <a:srgbClr val="0D0D0D"/>
                </a:solidFill>
                <a:latin typeface="Calibri" charset="0"/>
                <a:ea typeface="ヒラギノ角ゴ Pro W3" charset="0"/>
                <a:cs typeface="ヒラギノ角ゴ Pro W3" charset="0"/>
              </a:rPr>
              <a:t>Answer: a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solidFill>
                  <a:srgbClr val="0D0D0D"/>
                </a:solidFill>
                <a:latin typeface="Calibri" charset="0"/>
                <a:ea typeface="ヒラギノ角ゴ Pro W3" charset="0"/>
                <a:cs typeface="ヒラギノ角ゴ Pro W3" charset="0"/>
              </a:rPr>
              <a:t>Answer: a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solidFill>
                  <a:srgbClr val="0D0D0D"/>
                </a:solidFill>
                <a:latin typeface="Calibri" charset="0"/>
                <a:ea typeface="ヒラギノ角ゴ Pro W3" charset="0"/>
                <a:cs typeface="ヒラギノ角ゴ Pro W3" charset="0"/>
              </a:rPr>
              <a:t>Answer: a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solidFill>
                  <a:srgbClr val="0D0D0D"/>
                </a:solidFill>
                <a:latin typeface="Calibri" charset="0"/>
                <a:ea typeface="ヒラギノ角ゴ Pro W3" charset="0"/>
                <a:cs typeface="ヒラギノ角ゴ Pro W3" charset="0"/>
              </a:rPr>
              <a:t>Answer: a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solidFill>
                  <a:srgbClr val="0D0D0D"/>
                </a:solidFill>
                <a:latin typeface="Calibri" charset="0"/>
                <a:ea typeface="ヒラギノ角ゴ Pro W3" charset="0"/>
                <a:cs typeface="ヒラギノ角ゴ Pro W3" charset="0"/>
              </a:rPr>
              <a:t>Answer: b</a:t>
            </a: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solidFill>
                  <a:srgbClr val="0D0D0D"/>
                </a:solidFill>
                <a:latin typeface="Calibri" charset="0"/>
                <a:ea typeface="ヒラギノ角ゴ Pro W3" charset="0"/>
                <a:cs typeface="ヒラギノ角ゴ Pro W3" charset="0"/>
              </a:rPr>
              <a:t>Answer: b</a:t>
            </a: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a</a:t>
            </a:r>
            <a:endParaRPr lang="en-US">
              <a:solidFill>
                <a:srgbClr val="0D0D0D"/>
              </a:solidFill>
              <a:latin typeface="Calibri" charset="0"/>
              <a:ea typeface="ヒラギノ角ゴ Pro W3" charset="0"/>
              <a:cs typeface="ヒラギノ角ゴ Pro W3" charset="0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a</a:t>
            </a:r>
            <a:endParaRPr lang="en-US">
              <a:solidFill>
                <a:srgbClr val="0D0D0D"/>
              </a:solidFill>
              <a:latin typeface="Calibri" charset="0"/>
              <a:ea typeface="ヒラギノ角ゴ Pro W3" charset="0"/>
              <a:cs typeface="ヒラギノ角ゴ Pro W3" charset="0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c</a:t>
            </a:r>
            <a:endParaRPr lang="en-US">
              <a:solidFill>
                <a:srgbClr val="0D0D0D"/>
              </a:solidFill>
              <a:latin typeface="Calibri" charset="0"/>
              <a:ea typeface="ヒラギノ角ゴ Pro W3" charset="0"/>
              <a:cs typeface="ヒラギノ角ゴ Pro W3" charset="0"/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c</a:t>
            </a:r>
            <a:endParaRPr lang="en-US">
              <a:solidFill>
                <a:srgbClr val="0D0D0D"/>
              </a:solidFill>
              <a:latin typeface="Calibri" charset="0"/>
              <a:ea typeface="ヒラギノ角ゴ Pro W3" charset="0"/>
              <a:cs typeface="ヒラギノ角ゴ Pro W3" charset="0"/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eaLnBrk="1" hangingPunct="1"/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c</a:t>
            </a: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eaLnBrk="1" hangingPunct="1"/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c</a:t>
            </a: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b</a:t>
            </a:r>
            <a:endParaRPr lang="en-US">
              <a:solidFill>
                <a:srgbClr val="0D0D0D"/>
              </a:solidFill>
              <a:latin typeface="Calibri" charset="0"/>
              <a:ea typeface="ヒラギノ角ゴ Pro W3" charset="0"/>
              <a:cs typeface="ヒラギノ角ゴ Pro W3" charset="0"/>
            </a:endParaRP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b</a:t>
            </a:r>
            <a:endParaRPr lang="en-US">
              <a:solidFill>
                <a:srgbClr val="0D0D0D"/>
              </a:solidFill>
              <a:latin typeface="Calibri" charset="0"/>
              <a:ea typeface="ヒラギノ角ゴ Pro W3" charset="0"/>
              <a:cs typeface="ヒラギノ角ゴ Pro W3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FBE51DC-E06D-4E4E-BF57-64F3DE4961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2"/>
          </p:nvPr>
        </p:nvSpPr>
        <p:spPr>
          <a:xfrm>
            <a:off x="2209800" y="6248400"/>
            <a:ext cx="4724400" cy="4572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© 2015 Pearson Education, Inc.</a:t>
            </a:r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18B0DE2-9433-BE46-A207-C75C1E979E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2"/>
          </p:nvPr>
        </p:nvSpPr>
        <p:spPr>
          <a:xfrm>
            <a:off x="2209800" y="6248400"/>
            <a:ext cx="4724400" cy="4572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© 2015 Pearson Education, Inc.</a:t>
            </a:r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BC8E832-5063-E541-A001-02A67CF049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5"/>
          <p:cNvSpPr>
            <a:spLocks noGrp="1" noChangeArrowheads="1"/>
          </p:cNvSpPr>
          <p:nvPr>
            <p:ph type="ftr" sz="quarter" idx="12"/>
          </p:nvPr>
        </p:nvSpPr>
        <p:spPr>
          <a:xfrm>
            <a:off x="2209800" y="6248400"/>
            <a:ext cx="4724400" cy="4572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© 2015 Pearson Education, Inc.</a:t>
            </a:r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49FEFE2-D3F4-0A4C-970A-34D9813581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Rectangle 15"/>
          <p:cNvSpPr>
            <a:spLocks noGrp="1" noChangeArrowheads="1"/>
          </p:cNvSpPr>
          <p:nvPr>
            <p:ph type="ftr" sz="quarter" idx="12"/>
          </p:nvPr>
        </p:nvSpPr>
        <p:spPr>
          <a:xfrm>
            <a:off x="2209800" y="6248400"/>
            <a:ext cx="4724400" cy="4572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© 2015 Pearson Education, Inc.</a:t>
            </a:r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9501F60-E201-B249-9331-C4F3AC9099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2"/>
          </p:nvPr>
        </p:nvSpPr>
        <p:spPr>
          <a:xfrm>
            <a:off x="2209800" y="6248400"/>
            <a:ext cx="4724400" cy="4572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© 2015 Pearson Education, Inc.</a:t>
            </a:r>
          </a:p>
        </p:txBody>
      </p:sp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E614A62-7F58-344E-86EE-FC7C31F016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Rectangle 15"/>
          <p:cNvSpPr>
            <a:spLocks noGrp="1" noChangeArrowheads="1"/>
          </p:cNvSpPr>
          <p:nvPr>
            <p:ph type="ftr" sz="quarter" idx="12"/>
          </p:nvPr>
        </p:nvSpPr>
        <p:spPr>
          <a:xfrm>
            <a:off x="2209800" y="6248400"/>
            <a:ext cx="4724400" cy="4572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© 2015 Pearson Education, Inc.</a:t>
            </a:r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6B7BAF4-B563-2743-AE1F-3E1DEFB280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5"/>
          <p:cNvSpPr>
            <a:spLocks noGrp="1" noChangeArrowheads="1"/>
          </p:cNvSpPr>
          <p:nvPr>
            <p:ph type="ftr" sz="quarter" idx="12"/>
          </p:nvPr>
        </p:nvSpPr>
        <p:spPr>
          <a:xfrm>
            <a:off x="2209800" y="6248400"/>
            <a:ext cx="4724400" cy="4572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© 2015 Pearson Education, Inc.</a:t>
            </a:r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A51C2E8-85B0-F146-B23D-9B5ABB24AD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5"/>
          <p:cNvSpPr>
            <a:spLocks noGrp="1" noChangeArrowheads="1"/>
          </p:cNvSpPr>
          <p:nvPr>
            <p:ph type="ftr" sz="quarter" idx="12"/>
          </p:nvPr>
        </p:nvSpPr>
        <p:spPr>
          <a:xfrm>
            <a:off x="2209800" y="6248400"/>
            <a:ext cx="4724400" cy="4572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© 2015 Pearson Education, Inc.</a:t>
            </a:r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704A5FB-54E8-A54F-87B2-8C0BDDD970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2"/>
          </p:nvPr>
        </p:nvSpPr>
        <p:spPr>
          <a:xfrm>
            <a:off x="2209800" y="6248400"/>
            <a:ext cx="4724400" cy="4572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© 2015 Pearson Education, Inc.</a:t>
            </a:r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28600"/>
            <a:ext cx="22860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228600"/>
            <a:ext cx="67056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2F722CB-AC08-E74D-8567-20D3A9459F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2"/>
          </p:nvPr>
        </p:nvSpPr>
        <p:spPr>
          <a:xfrm>
            <a:off x="2209800" y="6248400"/>
            <a:ext cx="4724400" cy="4572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© 2015 Pearson Education, Inc.</a:t>
            </a:r>
          </a:p>
        </p:txBody>
      </p:sp>
    </p:spTree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12659C5-4783-6242-977D-07611CAEF9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5"/>
          <p:cNvSpPr>
            <a:spLocks noGrp="1" noChangeArrowheads="1"/>
          </p:cNvSpPr>
          <p:nvPr>
            <p:ph type="ftr" sz="quarter" idx="12"/>
          </p:nvPr>
        </p:nvSpPr>
        <p:spPr>
          <a:xfrm>
            <a:off x="2209800" y="6248400"/>
            <a:ext cx="4724400" cy="4572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© 2015 Pearson Education, Inc.</a:t>
            </a:r>
          </a:p>
        </p:txBody>
      </p:sp>
    </p:spTree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77724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14800"/>
            <a:ext cx="77724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F4A9EEA-0DF8-4944-B702-B3E3581B99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5"/>
          <p:cNvSpPr>
            <a:spLocks noGrp="1" noChangeArrowheads="1"/>
          </p:cNvSpPr>
          <p:nvPr>
            <p:ph type="ftr" sz="quarter" idx="12"/>
          </p:nvPr>
        </p:nvSpPr>
        <p:spPr>
          <a:xfrm>
            <a:off x="2209800" y="6248400"/>
            <a:ext cx="4724400" cy="4572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© 2015 Pearson Education, Inc.</a:t>
            </a:r>
          </a:p>
        </p:txBody>
      </p:sp>
    </p:spTree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C44E9CF-379E-3D4B-97B5-F995BB1A25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5"/>
          <p:cNvSpPr>
            <a:spLocks noGrp="1" noChangeArrowheads="1"/>
          </p:cNvSpPr>
          <p:nvPr>
            <p:ph type="ftr" sz="quarter" idx="12"/>
          </p:nvPr>
        </p:nvSpPr>
        <p:spPr>
          <a:xfrm>
            <a:off x="2209800" y="6248400"/>
            <a:ext cx="4724400" cy="4572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© 2015 Pearson Education, Inc.</a:t>
            </a:r>
          </a:p>
        </p:txBody>
      </p:sp>
    </p:spTree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77724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4114800"/>
            <a:ext cx="77724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A7F6A99-AA3B-4144-BCBB-4BF91B5316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5"/>
          <p:cNvSpPr>
            <a:spLocks noGrp="1" noChangeArrowheads="1"/>
          </p:cNvSpPr>
          <p:nvPr>
            <p:ph type="ftr" sz="quarter" idx="12"/>
          </p:nvPr>
        </p:nvSpPr>
        <p:spPr>
          <a:xfrm>
            <a:off x="2209800" y="6248400"/>
            <a:ext cx="4724400" cy="4572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© 2015 Pearson Education, Inc.</a:t>
            </a:r>
          </a:p>
        </p:txBody>
      </p:sp>
    </p:spTree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A641ED-6991-CD48-A60B-959AAAB1B6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67A7D7-DC00-BB4E-BA34-297E6FB5C5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A6E7FA-1182-DE46-A001-47A64E086D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6097F6-0EBE-604F-9127-1822C00041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20CE49-64CD-274E-AB4B-E182BE418C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A8468F-E79E-F140-B692-C1951E6F6C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74933E-DE0B-2C4D-9475-F869B2450A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18AE1F-5B7D-214B-A7C7-4AA235F1EA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9B37F2-65E2-2F46-946E-AE86D2FA41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BC2DE5-9617-9643-BD5F-86F0D0FEBB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28600"/>
            <a:ext cx="22860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228600"/>
            <a:ext cx="67056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BE4E2B-73ED-8240-B46D-67BABFD216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2286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028" name="Group 14"/>
          <p:cNvGrpSpPr>
            <a:grpSpLocks/>
          </p:cNvGrpSpPr>
          <p:nvPr userDrawn="1"/>
        </p:nvGrpSpPr>
        <p:grpSpPr bwMode="auto">
          <a:xfrm>
            <a:off x="7910513" y="5624513"/>
            <a:ext cx="1233487" cy="1233487"/>
            <a:chOff x="4983" y="3543"/>
            <a:chExt cx="777" cy="777"/>
          </a:xfrm>
        </p:grpSpPr>
        <p:pic>
          <p:nvPicPr>
            <p:cNvPr id="1030" name="Picture 12" descr="Triangle--Gray"/>
            <p:cNvPicPr>
              <a:picLocks noChangeAspect="1" noChangeArrowheads="1"/>
            </p:cNvPicPr>
            <p:nvPr userDrawn="1"/>
          </p:nvPicPr>
          <p:blipFill>
            <a:blip r:embed="rId17" cstate="print"/>
            <a:srcRect/>
            <a:stretch>
              <a:fillRect/>
            </a:stretch>
          </p:blipFill>
          <p:spPr bwMode="auto">
            <a:xfrm>
              <a:off x="4983" y="3543"/>
              <a:ext cx="777" cy="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33" name="Rectangle 8"/>
            <p:cNvSpPr>
              <a:spLocks noChangeArrowheads="1"/>
            </p:cNvSpPr>
            <p:nvPr userDrawn="1"/>
          </p:nvSpPr>
          <p:spPr bwMode="auto">
            <a:xfrm>
              <a:off x="5065" y="3714"/>
              <a:ext cx="651" cy="460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>
                <a:defRPr/>
              </a:pPr>
              <a:r>
                <a:rPr lang="en-US" sz="1400">
                  <a:solidFill>
                    <a:schemeClr val="tx1"/>
                  </a:solidFill>
                </a:rPr>
                <a:t>Atoms,</a:t>
              </a:r>
            </a:p>
            <a:p>
              <a:pPr algn="ctr">
                <a:defRPr/>
              </a:pPr>
              <a:r>
                <a:rPr lang="en-US" sz="1400">
                  <a:solidFill>
                    <a:schemeClr val="tx1"/>
                  </a:solidFill>
                </a:rPr>
                <a:t>Molecules,</a:t>
              </a:r>
            </a:p>
            <a:p>
              <a:pPr algn="ctr">
                <a:defRPr/>
              </a:pPr>
              <a:r>
                <a:rPr lang="en-US" sz="1400">
                  <a:solidFill>
                    <a:schemeClr val="tx1"/>
                  </a:solidFill>
                </a:rPr>
                <a:t>and Ions</a:t>
              </a:r>
            </a:p>
          </p:txBody>
        </p:sp>
      </p:grpSp>
      <p:sp>
        <p:nvSpPr>
          <p:cNvPr id="10" name="Text Box 2"/>
          <p:cNvSpPr txBox="1">
            <a:spLocks noChangeArrowheads="1"/>
          </p:cNvSpPr>
          <p:nvPr userDrawn="1"/>
        </p:nvSpPr>
        <p:spPr bwMode="auto">
          <a:xfrm>
            <a:off x="365125" y="6580188"/>
            <a:ext cx="8229600" cy="2444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000" dirty="0">
                <a:solidFill>
                  <a:srgbClr val="73738C"/>
                </a:solidFill>
              </a:rPr>
              <a:t>© 2015 Pearson Education</a:t>
            </a:r>
            <a:endParaRPr lang="en-US" b="1" dirty="0">
              <a:solidFill>
                <a:srgbClr val="73738C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</p:sldLayoutIdLst>
  <p:transition spd="slow"/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+mj-ea"/>
          <a:cs typeface="ＭＳ Ｐゴシック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pitchFamily="48" charset="-128"/>
          <a:cs typeface="ＭＳ Ｐゴシック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pitchFamily="48" charset="-128"/>
          <a:cs typeface="ＭＳ Ｐゴシック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pitchFamily="48" charset="-128"/>
          <a:cs typeface="ＭＳ Ｐゴシック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pitchFamily="48" charset="-128"/>
          <a:cs typeface="ＭＳ Ｐゴシック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pitchFamily="48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pitchFamily="48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pitchFamily="48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pitchFamily="48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ＭＳ Ｐゴシック" pitchFamily="34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  <a:cs typeface="ＭＳ Ｐゴシック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600">
          <a:solidFill>
            <a:schemeClr val="tx1"/>
          </a:solidFill>
          <a:latin typeface="+mn-lt"/>
          <a:ea typeface="+mn-ea"/>
          <a:cs typeface="ＭＳ Ｐゴシック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  <a:cs typeface="ＭＳ Ｐゴシック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800">
          <a:solidFill>
            <a:schemeClr val="tx1"/>
          </a:solidFill>
          <a:latin typeface="+mn-lt"/>
          <a:ea typeface="+mn-ea"/>
          <a:cs typeface="ＭＳ Ｐゴシック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8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8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8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2286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757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7573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621EC257-E15C-D045-9CD8-3214DE3FD0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+mj-ea"/>
          <a:cs typeface="ＭＳ Ｐゴシック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pitchFamily="48" charset="-128"/>
          <a:cs typeface="ＭＳ Ｐゴシック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pitchFamily="48" charset="-128"/>
          <a:cs typeface="ＭＳ Ｐゴシック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pitchFamily="48" charset="-128"/>
          <a:cs typeface="ＭＳ Ｐゴシック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pitchFamily="48" charset="-128"/>
          <a:cs typeface="ＭＳ Ｐゴシック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pitchFamily="48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pitchFamily="48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pitchFamily="48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pitchFamily="48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ＭＳ Ｐゴシック" pitchFamily="34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  <a:cs typeface="ＭＳ Ｐゴシック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600">
          <a:solidFill>
            <a:schemeClr val="tx1"/>
          </a:solidFill>
          <a:latin typeface="+mn-lt"/>
          <a:ea typeface="+mn-ea"/>
          <a:cs typeface="ＭＳ Ｐゴシック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  <a:cs typeface="ＭＳ Ｐゴシック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800">
          <a:solidFill>
            <a:schemeClr val="tx1"/>
          </a:solidFill>
          <a:latin typeface="+mn-lt"/>
          <a:ea typeface="+mn-ea"/>
          <a:cs typeface="ＭＳ Ｐゴシック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8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8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8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8.jpe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/>
          </p:cNvSpPr>
          <p:nvPr/>
        </p:nvSpPr>
        <p:spPr bwMode="auto">
          <a:xfrm>
            <a:off x="988828" y="1357410"/>
            <a:ext cx="7389628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3400" b="1" dirty="0">
                <a:solidFill>
                  <a:schemeClr val="tx1"/>
                </a:solidFill>
              </a:rPr>
              <a:t>Chapter 2</a:t>
            </a:r>
            <a:br>
              <a:rPr lang="en-US" sz="3400" b="1" dirty="0">
                <a:solidFill>
                  <a:schemeClr val="tx1"/>
                </a:solidFill>
              </a:rPr>
            </a:br>
            <a:br>
              <a:rPr lang="en-US" sz="3400" b="1" dirty="0">
                <a:solidFill>
                  <a:schemeClr val="tx1"/>
                </a:solidFill>
              </a:rPr>
            </a:br>
            <a:r>
              <a:rPr lang="en-US" sz="3400" b="1" dirty="0">
                <a:solidFill>
                  <a:schemeClr val="tx1"/>
                </a:solidFill>
              </a:rPr>
              <a:t>Atoms, Molecules, and Ions</a:t>
            </a:r>
          </a:p>
        </p:txBody>
      </p:sp>
      <p:sp>
        <p:nvSpPr>
          <p:cNvPr id="30725" name="Text Box 12"/>
          <p:cNvSpPr txBox="1">
            <a:spLocks noChangeArrowheads="1"/>
          </p:cNvSpPr>
          <p:nvPr/>
        </p:nvSpPr>
        <p:spPr bwMode="auto">
          <a:xfrm>
            <a:off x="365125" y="6580188"/>
            <a:ext cx="8229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1000">
                <a:solidFill>
                  <a:srgbClr val="73738C"/>
                </a:solidFill>
              </a:rPr>
              <a:t>© 20</a:t>
            </a:r>
            <a:r>
              <a:rPr lang="en-US" altLang="zh-TW" sz="1000">
                <a:solidFill>
                  <a:srgbClr val="73738C"/>
                </a:solidFill>
                <a:ea typeface="新細明體" pitchFamily="18" charset="-128"/>
                <a:cs typeface="新細明體" pitchFamily="18" charset="-128"/>
              </a:rPr>
              <a:t>15</a:t>
            </a:r>
            <a:r>
              <a:rPr lang="en-US" sz="1000">
                <a:solidFill>
                  <a:srgbClr val="73738C"/>
                </a:solidFill>
              </a:rPr>
              <a:t> Pearson Education, Inc.</a:t>
            </a:r>
            <a:endParaRPr lang="en-US" sz="2400" b="1">
              <a:solidFill>
                <a:srgbClr val="73738C"/>
              </a:solidFill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4">
            <a:extLst>
              <a:ext uri="{FF2B5EF4-FFF2-40B4-BE49-F238E27FC236}">
                <a16:creationId xmlns:a16="http://schemas.microsoft.com/office/drawing/2014/main" id="{0F531D5B-8111-412E-903F-CC80E1B1FF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952" y="1083074"/>
            <a:ext cx="8493330" cy="46519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ＭＳ Ｐゴシック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cs typeface="ＭＳ Ｐゴシック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600">
                <a:solidFill>
                  <a:schemeClr val="tx1"/>
                </a:solidFill>
                <a:latin typeface="+mn-lt"/>
                <a:ea typeface="+mn-ea"/>
                <a:cs typeface="ＭＳ Ｐゴシック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cs typeface="ＭＳ Ｐゴシック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+mn-lt"/>
                <a:ea typeface="+mn-ea"/>
                <a:cs typeface="ＭＳ Ｐゴシック" pitchFamily="3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800" kern="0" dirty="0"/>
              <a:t>460-370 BC</a:t>
            </a:r>
            <a:r>
              <a:rPr lang="zh-CN" altLang="en-US" sz="2800" kern="0" dirty="0"/>
              <a:t>， </a:t>
            </a:r>
            <a:r>
              <a:rPr lang="en-US" altLang="zh-CN" sz="2800" kern="0" dirty="0"/>
              <a:t>Democritus and other Greek philosophers, </a:t>
            </a:r>
            <a:r>
              <a:rPr lang="en-US" altLang="zh-CN" sz="2800" kern="0" dirty="0" err="1"/>
              <a:t>atomos</a:t>
            </a:r>
            <a:r>
              <a:rPr lang="en-US" altLang="zh-CN" sz="2800" kern="0" dirty="0"/>
              <a:t> = indivisible or uncuttable.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800" kern="0" dirty="0"/>
              <a:t>Later, Plato and Aristotle disagreed, no ultimately indivisible particles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800" kern="0" dirty="0"/>
              <a:t>In the early nineteenth century,  </a:t>
            </a:r>
            <a:r>
              <a:rPr lang="en-US" sz="2800" kern="0" dirty="0"/>
              <a:t>the theory that </a:t>
            </a:r>
            <a:r>
              <a:rPr lang="en-US" sz="2800" b="1" kern="0" dirty="0">
                <a:solidFill>
                  <a:srgbClr val="FF0000"/>
                </a:solidFill>
              </a:rPr>
              <a:t>atoms</a:t>
            </a:r>
            <a:r>
              <a:rPr lang="en-US" sz="2800" kern="0" dirty="0"/>
              <a:t> are the fundamental building blocks of matter reemerged in championed by </a:t>
            </a:r>
            <a:r>
              <a:rPr lang="en-US" sz="2800" kern="0" dirty="0">
                <a:solidFill>
                  <a:srgbClr val="0070C0"/>
                </a:solidFill>
              </a:rPr>
              <a:t>John Dalton</a:t>
            </a:r>
            <a:r>
              <a:rPr lang="en-US" sz="2800" kern="0" dirty="0"/>
              <a:t>.</a:t>
            </a: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7A21A0C7-8B11-49AA-B621-D5E0D51D2A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88" y="79899"/>
            <a:ext cx="9144000" cy="797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ＭＳ Ｐゴシック" pitchFamily="34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  <a:ea typeface="ＭＳ Ｐゴシック" pitchFamily="48" charset="-128"/>
                <a:cs typeface="ＭＳ Ｐゴシック" pitchFamily="34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  <a:ea typeface="ＭＳ Ｐゴシック" pitchFamily="48" charset="-128"/>
                <a:cs typeface="ＭＳ Ｐゴシック" pitchFamily="34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  <a:ea typeface="ＭＳ Ｐゴシック" pitchFamily="48" charset="-128"/>
                <a:cs typeface="ＭＳ Ｐゴシック" pitchFamily="34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  <a:ea typeface="ＭＳ Ｐゴシック" pitchFamily="48" charset="-128"/>
                <a:cs typeface="ＭＳ Ｐゴシック" pitchFamily="34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9pPr>
          </a:lstStyle>
          <a:p>
            <a:pPr eaLnBrk="1" hangingPunct="1"/>
            <a:r>
              <a:rPr lang="en-US" kern="0" dirty="0"/>
              <a:t>Atomic Theory of Matter</a:t>
            </a: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2" name="Picture 5" descr="02_01_Figure.jpg"/>
          <p:cNvPicPr>
            <a:picLocks noChangeAspect="1"/>
          </p:cNvPicPr>
          <p:nvPr/>
        </p:nvPicPr>
        <p:blipFill>
          <a:blip r:embed="rId3" cstate="print"/>
          <a:srcRect b="2632"/>
          <a:stretch>
            <a:fillRect/>
          </a:stretch>
        </p:blipFill>
        <p:spPr bwMode="auto">
          <a:xfrm>
            <a:off x="1180731" y="793078"/>
            <a:ext cx="7067002" cy="6052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02C5CA89-A8F4-46C4-8DA2-6BC885FFB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866" y="-179776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ＭＳ Ｐゴシック" pitchFamily="34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  <a:ea typeface="ＭＳ Ｐゴシック" pitchFamily="48" charset="-128"/>
                <a:cs typeface="ＭＳ Ｐゴシック" pitchFamily="34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  <a:ea typeface="ＭＳ Ｐゴシック" pitchFamily="48" charset="-128"/>
                <a:cs typeface="ＭＳ Ｐゴシック" pitchFamily="34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  <a:ea typeface="ＭＳ Ｐゴシック" pitchFamily="48" charset="-128"/>
                <a:cs typeface="ＭＳ Ｐゴシック" pitchFamily="34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  <a:ea typeface="ＭＳ Ｐゴシック" pitchFamily="48" charset="-128"/>
                <a:cs typeface="ＭＳ Ｐゴシック" pitchFamily="34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9pPr>
          </a:lstStyle>
          <a:p>
            <a:pPr eaLnBrk="1" hangingPunct="1"/>
            <a:r>
              <a:rPr lang="en-US" sz="3200" kern="0" dirty="0"/>
              <a:t>Dalton’s Postulates</a:t>
            </a: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Law of Conservation of Mass </a:t>
            </a:r>
            <a:br>
              <a:rPr lang="en-US" dirty="0"/>
            </a:br>
            <a:r>
              <a:rPr lang="en-US" dirty="0"/>
              <a:t>(</a:t>
            </a:r>
            <a:r>
              <a:rPr lang="zh-CN" altLang="en-US" dirty="0"/>
              <a:t>质量守恒定律</a:t>
            </a:r>
            <a:r>
              <a:rPr lang="en-US" dirty="0"/>
              <a:t>)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3109913"/>
          </a:xfrm>
        </p:spPr>
        <p:txBody>
          <a:bodyPr/>
          <a:lstStyle/>
          <a:p>
            <a:pPr eaLnBrk="1" hangingPunct="1">
              <a:buFont typeface="Wingdings" pitchFamily="-104" charset="2"/>
              <a:buChar char="Ø"/>
            </a:pPr>
            <a:r>
              <a:rPr lang="en-US" sz="2800" dirty="0"/>
              <a:t>The </a:t>
            </a:r>
            <a:r>
              <a:rPr lang="en-US" sz="2800" b="1" dirty="0"/>
              <a:t>total mass</a:t>
            </a:r>
            <a:r>
              <a:rPr lang="en-US" sz="2800" dirty="0"/>
              <a:t> of substances present at the end of a chemical process is the same as the mass of substances present before the process took place.</a:t>
            </a:r>
          </a:p>
          <a:p>
            <a:pPr eaLnBrk="1" hangingPunct="1">
              <a:buFont typeface="Wingdings" pitchFamily="-104" charset="2"/>
              <a:buChar char="Ø"/>
            </a:pPr>
            <a:r>
              <a:rPr lang="en-US" sz="2800" dirty="0"/>
              <a:t>This law was one of the laws on which Dalton’s atomic theory </a:t>
            </a:r>
            <a:r>
              <a:rPr lang="en-US" sz="2800" dirty="0">
                <a:solidFill>
                  <a:srgbClr val="C00000"/>
                </a:solidFill>
              </a:rPr>
              <a:t>was based</a:t>
            </a:r>
            <a:r>
              <a:rPr lang="en-US" sz="2800" dirty="0"/>
              <a:t>.</a:t>
            </a: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8B0030"/>
                </a:solidFill>
              </a:rPr>
              <a:t>Law of Multiple Proportions (</a:t>
            </a:r>
            <a:r>
              <a:rPr lang="zh-CN" altLang="en-US" dirty="0">
                <a:solidFill>
                  <a:srgbClr val="8B0030"/>
                </a:solidFill>
              </a:rPr>
              <a:t>倍比定律</a:t>
            </a:r>
            <a:r>
              <a:rPr lang="en-US" dirty="0">
                <a:solidFill>
                  <a:srgbClr val="8B0030"/>
                </a:solidFill>
              </a:rPr>
              <a:t>)</a:t>
            </a:r>
          </a:p>
        </p:txBody>
      </p:sp>
      <p:sp>
        <p:nvSpPr>
          <p:cNvPr id="45059" name="Content Placeholder 2"/>
          <p:cNvSpPr>
            <a:spLocks noGrp="1"/>
          </p:cNvSpPr>
          <p:nvPr>
            <p:ph idx="1"/>
          </p:nvPr>
        </p:nvSpPr>
        <p:spPr>
          <a:xfrm>
            <a:off x="457202" y="1390981"/>
            <a:ext cx="8240232" cy="5169306"/>
          </a:xfrm>
        </p:spPr>
        <p:txBody>
          <a:bodyPr/>
          <a:lstStyle/>
          <a:p>
            <a:pPr>
              <a:buClr>
                <a:srgbClr val="0070C0"/>
              </a:buClr>
              <a:buFont typeface="Wingdings" pitchFamily="-104" charset="2"/>
              <a:buChar char="Ø"/>
            </a:pPr>
            <a:r>
              <a:rPr lang="en-US" dirty="0"/>
              <a:t>If two elements, A and B, form more than one compound, the masses of B that combine with a given mass of A are in the ratio of </a:t>
            </a:r>
            <a:r>
              <a:rPr lang="en-US" dirty="0">
                <a:solidFill>
                  <a:srgbClr val="00B0F0"/>
                </a:solidFill>
              </a:rPr>
              <a:t>small whole numbers</a:t>
            </a:r>
            <a:r>
              <a:rPr lang="en-US" dirty="0"/>
              <a:t>.</a:t>
            </a:r>
          </a:p>
          <a:p>
            <a:pPr>
              <a:buClr>
                <a:srgbClr val="0070C0"/>
              </a:buClr>
              <a:buFont typeface="Wingdings" pitchFamily="-104" charset="2"/>
              <a:buChar char="Ø"/>
            </a:pPr>
            <a:r>
              <a:rPr lang="en-US" dirty="0">
                <a:solidFill>
                  <a:srgbClr val="FF0000"/>
                </a:solidFill>
              </a:rPr>
              <a:t>Dalton predicted this law and observed it while developing his atomic theory</a:t>
            </a:r>
            <a:r>
              <a:rPr lang="en-US" dirty="0"/>
              <a:t>.</a:t>
            </a:r>
          </a:p>
          <a:p>
            <a:pPr>
              <a:buClr>
                <a:srgbClr val="0070C0"/>
              </a:buClr>
              <a:buFont typeface="Wingdings" pitchFamily="-104" charset="2"/>
              <a:buChar char="Ø"/>
            </a:pPr>
            <a:r>
              <a:rPr lang="en-US" dirty="0"/>
              <a:t>When two or more compounds exist from the same elements, they can </a:t>
            </a:r>
            <a:br>
              <a:rPr lang="en-US" dirty="0"/>
            </a:br>
            <a:r>
              <a:rPr lang="en-US" i="1" dirty="0"/>
              <a:t>not</a:t>
            </a:r>
            <a:r>
              <a:rPr lang="en-US" dirty="0"/>
              <a:t> have the same relative number </a:t>
            </a:r>
            <a:br>
              <a:rPr lang="en-US" dirty="0"/>
            </a:br>
            <a:r>
              <a:rPr lang="en-US" dirty="0"/>
              <a:t>of atoms.</a:t>
            </a: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Discovery of </a:t>
            </a:r>
            <a:r>
              <a:rPr lang="en-US" b="1" dirty="0">
                <a:solidFill>
                  <a:srgbClr val="8B0030"/>
                </a:solidFill>
              </a:rPr>
              <a:t>Subatomic</a:t>
            </a:r>
            <a:r>
              <a:rPr lang="en-US" dirty="0"/>
              <a:t> Particles</a:t>
            </a:r>
          </a:p>
        </p:txBody>
      </p:sp>
      <p:sp>
        <p:nvSpPr>
          <p:cNvPr id="46083" name="Content Placeholder 2"/>
          <p:cNvSpPr>
            <a:spLocks noGrp="1"/>
          </p:cNvSpPr>
          <p:nvPr>
            <p:ph idx="1"/>
          </p:nvPr>
        </p:nvSpPr>
        <p:spPr>
          <a:xfrm>
            <a:off x="685800" y="1433513"/>
            <a:ext cx="7772400" cy="4662487"/>
          </a:xfrm>
        </p:spPr>
        <p:txBody>
          <a:bodyPr/>
          <a:lstStyle/>
          <a:p>
            <a:r>
              <a:rPr lang="en-US" dirty="0"/>
              <a:t>In Dalton’s view, the atom was the smallest particle possible. Many discoveries led to the fact that the atom itself was made up of </a:t>
            </a:r>
            <a:r>
              <a:rPr lang="en-US" dirty="0">
                <a:solidFill>
                  <a:srgbClr val="FF0000"/>
                </a:solidFill>
              </a:rPr>
              <a:t>smaller particles</a:t>
            </a:r>
            <a:r>
              <a:rPr lang="en-US" dirty="0"/>
              <a:t>.</a:t>
            </a:r>
          </a:p>
          <a:p>
            <a:pPr>
              <a:buClr>
                <a:srgbClr val="C00000"/>
              </a:buClr>
              <a:buFont typeface="Wingdings" pitchFamily="-104" charset="2"/>
              <a:buChar char="Ø"/>
            </a:pPr>
            <a:r>
              <a:rPr lang="en-US" dirty="0"/>
              <a:t> Cathode rays and </a:t>
            </a:r>
            <a:r>
              <a:rPr lang="en-US" altLang="zh-CN" dirty="0"/>
              <a:t>Electrons </a:t>
            </a:r>
            <a:endParaRPr lang="en-US" dirty="0"/>
          </a:p>
          <a:p>
            <a:pPr>
              <a:buClr>
                <a:srgbClr val="C00000"/>
              </a:buClr>
              <a:buFont typeface="Wingdings" pitchFamily="-104" charset="2"/>
              <a:buChar char="Ø"/>
            </a:pPr>
            <a:r>
              <a:rPr lang="en-US" dirty="0"/>
              <a:t> Radioactivity</a:t>
            </a:r>
          </a:p>
          <a:p>
            <a:pPr>
              <a:buClr>
                <a:srgbClr val="C00000"/>
              </a:buClr>
              <a:buFont typeface="Wingdings" pitchFamily="-104" charset="2"/>
              <a:buChar char="Ø"/>
            </a:pP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Nucleus, protons, and neutrons</a:t>
            </a: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115409" y="228600"/>
            <a:ext cx="9144000" cy="526002"/>
          </a:xfrm>
        </p:spPr>
        <p:txBody>
          <a:bodyPr/>
          <a:lstStyle/>
          <a:p>
            <a:pPr eaLnBrk="1" hangingPunct="1"/>
            <a:r>
              <a:rPr lang="en-US" dirty="0"/>
              <a:t>The </a:t>
            </a:r>
            <a:r>
              <a:rPr lang="en-US" dirty="0">
                <a:solidFill>
                  <a:srgbClr val="8B0030"/>
                </a:solidFill>
              </a:rPr>
              <a:t>Electron</a:t>
            </a:r>
            <a:r>
              <a:rPr lang="en-US" dirty="0"/>
              <a:t> (Cathode Rays)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304800" y="4572000"/>
            <a:ext cx="8534400" cy="2057400"/>
          </a:xfrm>
        </p:spPr>
        <p:txBody>
          <a:bodyPr/>
          <a:lstStyle/>
          <a:p>
            <a:pPr eaLnBrk="1" hangingPunct="1"/>
            <a:r>
              <a:rPr lang="en-US" sz="2400" dirty="0"/>
              <a:t>Streams of </a:t>
            </a:r>
            <a:r>
              <a:rPr lang="en-US" sz="2400" dirty="0">
                <a:solidFill>
                  <a:srgbClr val="FF0000"/>
                </a:solidFill>
              </a:rPr>
              <a:t>negatively charged particles </a:t>
            </a:r>
            <a:r>
              <a:rPr lang="en-US" sz="2400" dirty="0"/>
              <a:t>were found to emanate </a:t>
            </a:r>
            <a:r>
              <a:rPr lang="zh-CN" altLang="en-US" sz="2400" dirty="0"/>
              <a:t>（发出）</a:t>
            </a:r>
            <a:r>
              <a:rPr lang="en-US" sz="2400" dirty="0"/>
              <a:t> from cathode tubes, causing fluorescence.</a:t>
            </a:r>
          </a:p>
          <a:p>
            <a:pPr eaLnBrk="1" hangingPunct="1"/>
            <a:r>
              <a:rPr lang="en-US" sz="2400" b="1" dirty="0"/>
              <a:t>J. J. Thomson </a:t>
            </a:r>
            <a:r>
              <a:rPr lang="en-US" sz="2400" dirty="0"/>
              <a:t>is credited with their discovery (1897).</a:t>
            </a:r>
          </a:p>
        </p:txBody>
      </p:sp>
      <p:pic>
        <p:nvPicPr>
          <p:cNvPr id="47108" name="Picture 6" descr="02_03_Figure.jpg"/>
          <p:cNvPicPr>
            <a:picLocks noChangeAspect="1"/>
          </p:cNvPicPr>
          <p:nvPr/>
        </p:nvPicPr>
        <p:blipFill>
          <a:blip r:embed="rId3" cstate="print"/>
          <a:srcRect b="3345"/>
          <a:stretch>
            <a:fillRect/>
          </a:stretch>
        </p:blipFill>
        <p:spPr bwMode="auto">
          <a:xfrm>
            <a:off x="1084305" y="798990"/>
            <a:ext cx="6975389" cy="37286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1485824" y="182331"/>
            <a:ext cx="5025499" cy="549730"/>
          </a:xfrm>
        </p:spPr>
        <p:txBody>
          <a:bodyPr/>
          <a:lstStyle/>
          <a:p>
            <a:pPr eaLnBrk="1" hangingPunct="1"/>
            <a:r>
              <a:rPr lang="en-US" dirty="0"/>
              <a:t>The Electron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31888" y="5365918"/>
            <a:ext cx="8537945" cy="1034886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800" dirty="0"/>
              <a:t>	Thomson measured the </a:t>
            </a:r>
            <a:r>
              <a:rPr lang="en-US" sz="2800" b="1" dirty="0">
                <a:solidFill>
                  <a:srgbClr val="8B0030"/>
                </a:solidFill>
              </a:rPr>
              <a:t>charge/mass</a:t>
            </a:r>
            <a:r>
              <a:rPr lang="en-US" sz="2800" dirty="0"/>
              <a:t> ratio of the electron to be </a:t>
            </a:r>
            <a:r>
              <a:rPr lang="en-US" sz="2800" dirty="0">
                <a:solidFill>
                  <a:srgbClr val="00B0F0"/>
                </a:solidFill>
              </a:rPr>
              <a:t>1.76 </a:t>
            </a:r>
            <a:r>
              <a:rPr lang="en-US" sz="2800" dirty="0">
                <a:solidFill>
                  <a:srgbClr val="00B0F0"/>
                </a:solidFill>
                <a:sym typeface="Symbol" pitchFamily="-104" charset="2"/>
              </a:rPr>
              <a:t></a:t>
            </a:r>
            <a:r>
              <a:rPr lang="en-US" sz="2800" dirty="0">
                <a:solidFill>
                  <a:srgbClr val="00B0F0"/>
                </a:solidFill>
              </a:rPr>
              <a:t> 10</a:t>
            </a:r>
            <a:r>
              <a:rPr lang="en-US" sz="2800" baseline="30000" dirty="0">
                <a:solidFill>
                  <a:srgbClr val="00B0F0"/>
                </a:solidFill>
              </a:rPr>
              <a:t>8</a:t>
            </a:r>
            <a:r>
              <a:rPr lang="en-US" sz="2800" dirty="0">
                <a:solidFill>
                  <a:srgbClr val="00B0F0"/>
                </a:solidFill>
              </a:rPr>
              <a:t> coulombs/gram (C/g)</a:t>
            </a:r>
            <a:r>
              <a:rPr lang="en-US" sz="2800" dirty="0"/>
              <a:t>.</a:t>
            </a:r>
          </a:p>
        </p:txBody>
      </p:sp>
      <p:pic>
        <p:nvPicPr>
          <p:cNvPr id="49156" name="Picture 5" descr="02_04_Figure.jpg"/>
          <p:cNvPicPr>
            <a:picLocks noChangeAspect="1"/>
          </p:cNvPicPr>
          <p:nvPr/>
        </p:nvPicPr>
        <p:blipFill>
          <a:blip r:embed="rId3" cstate="print"/>
          <a:srcRect b="3149"/>
          <a:stretch>
            <a:fillRect/>
          </a:stretch>
        </p:blipFill>
        <p:spPr bwMode="auto">
          <a:xfrm>
            <a:off x="1485824" y="1394642"/>
            <a:ext cx="6198302" cy="3581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D87921C8-928B-407F-A269-4E53D52432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5896" y="56702"/>
            <a:ext cx="319810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ＭＳ Ｐゴシック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cs typeface="ＭＳ Ｐゴシック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600">
                <a:solidFill>
                  <a:schemeClr val="tx1"/>
                </a:solidFill>
                <a:latin typeface="+mn-lt"/>
                <a:ea typeface="+mn-ea"/>
                <a:cs typeface="ＭＳ Ｐゴシック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cs typeface="ＭＳ Ｐゴシック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+mn-lt"/>
                <a:ea typeface="+mn-ea"/>
                <a:cs typeface="ＭＳ Ｐゴシック" pitchFamily="3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sz="2200" kern="0" dirty="0">
                <a:solidFill>
                  <a:srgbClr val="FF0000"/>
                </a:solidFill>
              </a:rPr>
              <a:t>Lorentz </a:t>
            </a:r>
            <a:r>
              <a:rPr lang="en-US" altLang="zh-CN" sz="2200" kern="0" dirty="0">
                <a:solidFill>
                  <a:srgbClr val="FF0000"/>
                </a:solidFill>
              </a:rPr>
              <a:t>force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sz="2200" kern="0" dirty="0">
                <a:solidFill>
                  <a:srgbClr val="FF0000"/>
                </a:solidFill>
              </a:rPr>
              <a:t>Left-hand</a:t>
            </a:r>
            <a:r>
              <a:rPr lang="zh-CN" altLang="en-US" sz="2200" kern="0" dirty="0">
                <a:solidFill>
                  <a:srgbClr val="FF0000"/>
                </a:solidFill>
              </a:rPr>
              <a:t> </a:t>
            </a:r>
            <a:r>
              <a:rPr lang="en-US" altLang="zh-CN" sz="2200" kern="0" dirty="0">
                <a:solidFill>
                  <a:srgbClr val="FF0000"/>
                </a:solidFill>
              </a:rPr>
              <a:t>rule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zh-CN" sz="2200" kern="0" dirty="0">
                <a:solidFill>
                  <a:srgbClr val="FF0000"/>
                </a:solidFill>
              </a:rPr>
              <a:t>Magnetic line of force</a:t>
            </a:r>
            <a:r>
              <a:rPr lang="en-US" sz="2200" kern="0" dirty="0">
                <a:solidFill>
                  <a:srgbClr val="FF0000"/>
                </a:solidFill>
              </a:rPr>
              <a:t> </a:t>
            </a:r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92075"/>
            <a:ext cx="9144000" cy="1143000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FF0000"/>
                </a:solidFill>
              </a:rPr>
              <a:t>Millikan</a:t>
            </a:r>
            <a:r>
              <a:rPr lang="en-US" dirty="0"/>
              <a:t> Oil-Drop Experiment</a:t>
            </a:r>
            <a:br>
              <a:rPr lang="en-US" dirty="0"/>
            </a:br>
            <a:r>
              <a:rPr lang="en-US" dirty="0"/>
              <a:t>(Electrons)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85738" y="1397000"/>
            <a:ext cx="4202112" cy="4797425"/>
          </a:xfrm>
        </p:spPr>
        <p:txBody>
          <a:bodyPr/>
          <a:lstStyle/>
          <a:p>
            <a:pPr eaLnBrk="1" hangingPunct="1">
              <a:buClr>
                <a:srgbClr val="002060"/>
              </a:buClr>
              <a:buFont typeface="Wingdings" pitchFamily="-104" charset="2"/>
              <a:buChar char="§"/>
            </a:pPr>
            <a:r>
              <a:rPr lang="en-US" sz="2600" dirty="0"/>
              <a:t>Once the charge/mass ratio of the electron was known, determination of either the charge or the mass of an electron would yield the other.</a:t>
            </a:r>
          </a:p>
          <a:p>
            <a:pPr eaLnBrk="1" hangingPunct="1">
              <a:buClr>
                <a:srgbClr val="002060"/>
              </a:buClr>
              <a:buFont typeface="Wingdings" pitchFamily="-104" charset="2"/>
              <a:buChar char="§"/>
            </a:pPr>
            <a:r>
              <a:rPr lang="en-US" sz="2600" dirty="0"/>
              <a:t>Robert Millikan determined </a:t>
            </a:r>
            <a:r>
              <a:rPr lang="en-US" sz="2600" dirty="0">
                <a:solidFill>
                  <a:srgbClr val="8B0030"/>
                </a:solidFill>
              </a:rPr>
              <a:t>the charge </a:t>
            </a:r>
            <a:r>
              <a:rPr lang="en-US" sz="2600" dirty="0"/>
              <a:t>on the electron in 1909.</a:t>
            </a:r>
          </a:p>
          <a:p>
            <a:pPr eaLnBrk="1" hangingPunct="1">
              <a:buClr>
                <a:srgbClr val="002060"/>
              </a:buClr>
              <a:buFont typeface="Wingdings" pitchFamily="-104" charset="2"/>
              <a:buChar char="§"/>
            </a:pPr>
            <a:r>
              <a:rPr lang="en-US" altLang="zh-CN" sz="2600" dirty="0"/>
              <a:t>Then the mass of an electron was calculated. </a:t>
            </a:r>
            <a:endParaRPr lang="en-US" sz="2600" dirty="0"/>
          </a:p>
          <a:p>
            <a:pPr eaLnBrk="1" hangingPunct="1">
              <a:buClr>
                <a:srgbClr val="002060"/>
              </a:buClr>
              <a:buFont typeface="Wingdings" pitchFamily="-104" charset="2"/>
              <a:buChar char="§"/>
            </a:pPr>
            <a:endParaRPr lang="en-US" sz="2600" dirty="0"/>
          </a:p>
        </p:txBody>
      </p:sp>
      <p:pic>
        <p:nvPicPr>
          <p:cNvPr id="51204" name="Picture 5" descr="02_05_Figure.jpg"/>
          <p:cNvPicPr>
            <a:picLocks noChangeAspect="1"/>
          </p:cNvPicPr>
          <p:nvPr/>
        </p:nvPicPr>
        <p:blipFill>
          <a:blip r:embed="rId3" cstate="print"/>
          <a:srcRect b="3033"/>
          <a:stretch>
            <a:fillRect/>
          </a:stretch>
        </p:blipFill>
        <p:spPr bwMode="auto">
          <a:xfrm>
            <a:off x="4384675" y="2068513"/>
            <a:ext cx="4521200" cy="2592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9DE3A182-AAB4-40D3-BF57-2ADD9A90FE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0549" y="4807319"/>
            <a:ext cx="4829452" cy="1387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ＭＳ Ｐゴシック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cs typeface="ＭＳ Ｐゴシック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600">
                <a:solidFill>
                  <a:schemeClr val="tx1"/>
                </a:solidFill>
                <a:latin typeface="+mn-lt"/>
                <a:ea typeface="+mn-ea"/>
                <a:cs typeface="ＭＳ Ｐゴシック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cs typeface="ＭＳ Ｐゴシック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+mn-lt"/>
                <a:ea typeface="+mn-ea"/>
                <a:cs typeface="ＭＳ Ｐゴシック" pitchFamily="3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zh-CN" sz="2200" kern="0" dirty="0">
                <a:solidFill>
                  <a:srgbClr val="FF0000"/>
                </a:solidFill>
              </a:rPr>
              <a:t>Electron mass: </a:t>
            </a:r>
            <a:r>
              <a:rPr lang="en-US" sz="2200" kern="0" dirty="0">
                <a:solidFill>
                  <a:srgbClr val="FF0000"/>
                </a:solidFill>
              </a:rPr>
              <a:t>9.10 </a:t>
            </a:r>
            <a:r>
              <a:rPr lang="en-US" sz="2200" kern="0" dirty="0">
                <a:solidFill>
                  <a:srgbClr val="FF0000"/>
                </a:solidFill>
                <a:sym typeface="Symbol" panose="05050102010706020507" pitchFamily="18" charset="2"/>
              </a:rPr>
              <a:t></a:t>
            </a:r>
            <a:r>
              <a:rPr lang="en-US" sz="2200" kern="0" dirty="0">
                <a:solidFill>
                  <a:srgbClr val="FF0000"/>
                </a:solidFill>
              </a:rPr>
              <a:t> </a:t>
            </a:r>
            <a:r>
              <a:rPr lang="en-US" altLang="zh-CN" sz="2200" kern="0" dirty="0">
                <a:solidFill>
                  <a:srgbClr val="FF0000"/>
                </a:solidFill>
              </a:rPr>
              <a:t>10</a:t>
            </a:r>
            <a:r>
              <a:rPr lang="en-US" altLang="zh-CN" sz="2200" kern="0" baseline="30000" dirty="0">
                <a:solidFill>
                  <a:srgbClr val="FF0000"/>
                </a:solidFill>
              </a:rPr>
              <a:t>-28</a:t>
            </a:r>
            <a:r>
              <a:rPr lang="en-US" altLang="zh-CN" sz="2200" kern="0" dirty="0">
                <a:solidFill>
                  <a:srgbClr val="FF0000"/>
                </a:solidFill>
              </a:rPr>
              <a:t> g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zh-CN" sz="2200" kern="0" dirty="0">
                <a:solidFill>
                  <a:srgbClr val="FF0000"/>
                </a:solidFill>
              </a:rPr>
              <a:t>Agrees well with 9.10938 </a:t>
            </a:r>
            <a:r>
              <a:rPr lang="en-US" altLang="zh-CN" sz="2200" kern="0" dirty="0">
                <a:solidFill>
                  <a:srgbClr val="FF0000"/>
                </a:solidFill>
                <a:sym typeface="Symbol" panose="05050102010706020507" pitchFamily="18" charset="2"/>
              </a:rPr>
              <a:t></a:t>
            </a:r>
            <a:r>
              <a:rPr lang="en-US" altLang="zh-CN" sz="2200" kern="0" dirty="0">
                <a:solidFill>
                  <a:srgbClr val="FF0000"/>
                </a:solidFill>
              </a:rPr>
              <a:t> 10</a:t>
            </a:r>
            <a:r>
              <a:rPr lang="en-US" altLang="zh-CN" sz="2200" kern="0" baseline="30000" dirty="0">
                <a:solidFill>
                  <a:srgbClr val="FF0000"/>
                </a:solidFill>
              </a:rPr>
              <a:t>-28 </a:t>
            </a:r>
            <a:r>
              <a:rPr lang="en-US" altLang="zh-CN" sz="2200" kern="0" dirty="0">
                <a:solidFill>
                  <a:srgbClr val="FF0000"/>
                </a:solidFill>
              </a:rPr>
              <a:t>g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zh-CN" sz="2200" kern="0" dirty="0">
                <a:solidFill>
                  <a:srgbClr val="FF0000"/>
                </a:solidFill>
              </a:rPr>
              <a:t>2000 times smaller than that of hydrogen</a:t>
            </a:r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rgbClr val="00B0F0"/>
                </a:solidFill>
              </a:rPr>
              <a:t>Radioactivity (</a:t>
            </a:r>
            <a:r>
              <a:rPr lang="zh-CN" altLang="en-US" b="1" dirty="0">
                <a:solidFill>
                  <a:srgbClr val="00B0F0"/>
                </a:solidFill>
              </a:rPr>
              <a:t>辐射性</a:t>
            </a:r>
            <a:r>
              <a:rPr lang="en-US" dirty="0">
                <a:solidFill>
                  <a:srgbClr val="00B0F0"/>
                </a:solidFill>
              </a:rPr>
              <a:t>)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8540"/>
            <a:ext cx="7772400" cy="4114800"/>
          </a:xfrm>
        </p:spPr>
        <p:txBody>
          <a:bodyPr/>
          <a:lstStyle/>
          <a:p>
            <a:pPr eaLnBrk="1" hangingPunct="1"/>
            <a:r>
              <a:rPr lang="en-US" sz="2800" b="1" dirty="0"/>
              <a:t>Radioactivity</a:t>
            </a:r>
            <a:r>
              <a:rPr lang="en-US" sz="2800" dirty="0"/>
              <a:t> is the spontaneous emission of high-energy radiation by an atom.</a:t>
            </a:r>
          </a:p>
          <a:p>
            <a:pPr eaLnBrk="1" hangingPunct="1"/>
            <a:r>
              <a:rPr lang="en-US" sz="2800" dirty="0"/>
              <a:t>It was first observed by Henri Becquerel (</a:t>
            </a:r>
            <a:r>
              <a:rPr lang="zh-CN" altLang="en-US" sz="2800" dirty="0"/>
              <a:t>贝克勒尔）</a:t>
            </a:r>
            <a:r>
              <a:rPr lang="en-US" sz="2800" dirty="0"/>
              <a:t>. (Uranium)</a:t>
            </a:r>
          </a:p>
          <a:p>
            <a:pPr eaLnBrk="1" hangingPunct="1"/>
            <a:r>
              <a:rPr lang="en-US" sz="2800" dirty="0"/>
              <a:t>Marie and Pierre </a:t>
            </a:r>
            <a:r>
              <a:rPr lang="en-US" sz="2800" u="sng" dirty="0"/>
              <a:t>Curie</a:t>
            </a:r>
            <a:r>
              <a:rPr lang="en-US" sz="2800" dirty="0"/>
              <a:t> </a:t>
            </a:r>
            <a:r>
              <a:rPr lang="en-US" altLang="zh-CN" sz="2800" dirty="0"/>
              <a:t>isolated it out</a:t>
            </a:r>
            <a:r>
              <a:rPr lang="en-US" sz="2800" dirty="0"/>
              <a:t>.</a:t>
            </a:r>
          </a:p>
          <a:p>
            <a:pPr eaLnBrk="1" hangingPunct="1"/>
            <a:r>
              <a:rPr lang="en-US" sz="2800" dirty="0"/>
              <a:t>Its discovery showed that the atom had more </a:t>
            </a:r>
            <a:r>
              <a:rPr lang="en-US" sz="2800" b="1" dirty="0">
                <a:solidFill>
                  <a:srgbClr val="8B0030"/>
                </a:solidFill>
              </a:rPr>
              <a:t>subatomic particles </a:t>
            </a:r>
            <a:r>
              <a:rPr lang="en-US" sz="2800" dirty="0"/>
              <a:t>and energy associated with it.</a:t>
            </a:r>
            <a:endParaRPr lang="en-US" dirty="0"/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Radioactivity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97022" y="1197746"/>
            <a:ext cx="8236259" cy="2667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/>
              <a:t>Three types of radiation were discovered by Ernest </a:t>
            </a:r>
            <a:r>
              <a:rPr lang="en-US" sz="2800" b="1" dirty="0"/>
              <a:t>Rutherford</a:t>
            </a:r>
            <a:r>
              <a:rPr lang="en-US" sz="2800" dirty="0"/>
              <a:t>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i="1" dirty="0">
                <a:latin typeface="Symbol" pitchFamily="-104" charset="2"/>
                <a:sym typeface="Symbol" pitchFamily="-104" charset="2"/>
              </a:rPr>
              <a:t></a:t>
            </a:r>
            <a:r>
              <a:rPr lang="en-US" sz="2400" dirty="0"/>
              <a:t> particles (positively charged</a:t>
            </a:r>
            <a:r>
              <a:rPr lang="zh-CN" altLang="en-US" sz="2400" dirty="0"/>
              <a:t>，</a:t>
            </a:r>
            <a:r>
              <a:rPr lang="en-US" altLang="zh-CN" sz="2400" dirty="0"/>
              <a:t>He</a:t>
            </a:r>
            <a:r>
              <a:rPr lang="en-US" altLang="zh-CN" sz="2400" baseline="30000" dirty="0"/>
              <a:t>2+</a:t>
            </a:r>
            <a:r>
              <a:rPr lang="en-US" altLang="zh-CN" sz="2400" dirty="0"/>
              <a:t> nucleus</a:t>
            </a:r>
            <a:r>
              <a:rPr lang="en-US" sz="2400" dirty="0"/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i="1" dirty="0">
                <a:latin typeface="Symbol" pitchFamily="-104" charset="2"/>
                <a:sym typeface="Symbol" pitchFamily="-104" charset="2"/>
              </a:rPr>
              <a:t></a:t>
            </a:r>
            <a:r>
              <a:rPr lang="en-US" sz="2400" dirty="0"/>
              <a:t> particles (negatively charged, high-speed electrons)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i="1" dirty="0">
                <a:latin typeface="Symbol" pitchFamily="-104" charset="2"/>
                <a:sym typeface="Symbol" pitchFamily="-104" charset="2"/>
              </a:rPr>
              <a:t></a:t>
            </a:r>
            <a:r>
              <a:rPr lang="en-US" sz="2400" dirty="0"/>
              <a:t> rays (uncharged)</a:t>
            </a:r>
          </a:p>
          <a:p>
            <a:pPr eaLnBrk="1" hangingPunct="1">
              <a:lnSpc>
                <a:spcPct val="90000"/>
              </a:lnSpc>
            </a:pPr>
            <a:endParaRPr lang="en-US" sz="2800" dirty="0"/>
          </a:p>
        </p:txBody>
      </p:sp>
      <p:pic>
        <p:nvPicPr>
          <p:cNvPr id="55300" name="Picture 5" descr="02_07_Figure.jpg"/>
          <p:cNvPicPr>
            <a:picLocks noChangeAspect="1"/>
          </p:cNvPicPr>
          <p:nvPr/>
        </p:nvPicPr>
        <p:blipFill>
          <a:blip r:embed="rId3" cstate="print"/>
          <a:srcRect b="4649"/>
          <a:stretch>
            <a:fillRect/>
          </a:stretch>
        </p:blipFill>
        <p:spPr bwMode="auto">
          <a:xfrm>
            <a:off x="798513" y="3557588"/>
            <a:ext cx="7413625" cy="2474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The Atom, circa 1900</a:t>
            </a:r>
          </a:p>
        </p:txBody>
      </p:sp>
      <p:sp>
        <p:nvSpPr>
          <p:cNvPr id="57347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339701" y="1992312"/>
            <a:ext cx="4495800" cy="3886200"/>
          </a:xfrm>
        </p:spPr>
        <p:txBody>
          <a:bodyPr/>
          <a:lstStyle/>
          <a:p>
            <a:pPr eaLnBrk="1" hangingPunct="1"/>
            <a:r>
              <a:rPr lang="en-US" sz="2800" dirty="0"/>
              <a:t>Thomson proposed that the prevailing theory of the “</a:t>
            </a:r>
            <a:r>
              <a:rPr lang="en-US" sz="2800" dirty="0">
                <a:solidFill>
                  <a:srgbClr val="00B0F0"/>
                </a:solidFill>
              </a:rPr>
              <a:t>plum pudding</a:t>
            </a:r>
            <a:r>
              <a:rPr lang="en-US" sz="2800" dirty="0"/>
              <a:t>” model.</a:t>
            </a:r>
          </a:p>
          <a:p>
            <a:pPr eaLnBrk="1" hangingPunct="1"/>
            <a:r>
              <a:rPr lang="en-US" sz="2800" dirty="0"/>
              <a:t>It featured a uniform positive sphere of matter with negative electrons embedded in it.</a:t>
            </a:r>
          </a:p>
        </p:txBody>
      </p:sp>
      <p:pic>
        <p:nvPicPr>
          <p:cNvPr id="57348" name="Picture 5" descr="02_08_Figure.jpg"/>
          <p:cNvPicPr>
            <a:picLocks noChangeAspect="1"/>
          </p:cNvPicPr>
          <p:nvPr/>
        </p:nvPicPr>
        <p:blipFill>
          <a:blip r:embed="rId3" cstate="print"/>
          <a:srcRect b="2419"/>
          <a:stretch>
            <a:fillRect/>
          </a:stretch>
        </p:blipFill>
        <p:spPr bwMode="auto">
          <a:xfrm>
            <a:off x="236538" y="1901825"/>
            <a:ext cx="4025900" cy="406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Discovery of the Nucleus (</a:t>
            </a:r>
            <a:r>
              <a:rPr lang="zh-CN" altLang="en-US" dirty="0"/>
              <a:t>原子核</a:t>
            </a:r>
            <a:r>
              <a:rPr lang="en-US" dirty="0"/>
              <a:t>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5" b="2625"/>
          <a:stretch/>
        </p:blipFill>
        <p:spPr>
          <a:xfrm>
            <a:off x="419136" y="1349281"/>
            <a:ext cx="4988361" cy="4456104"/>
          </a:xfrm>
          <a:prstGeom prst="rect">
            <a:avLst/>
          </a:prstGeom>
        </p:spPr>
      </p:pic>
      <p:sp>
        <p:nvSpPr>
          <p:cNvPr id="6" name="Rectangle 4">
            <a:extLst>
              <a:ext uri="{FF2B5EF4-FFF2-40B4-BE49-F238E27FC236}">
                <a16:creationId xmlns:a16="http://schemas.microsoft.com/office/drawing/2014/main" id="{627C3ABA-40E7-464B-86FD-E7E40ACFA7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5073" y="1690585"/>
            <a:ext cx="3939791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ＭＳ Ｐゴシック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cs typeface="ＭＳ Ｐゴシック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600">
                <a:solidFill>
                  <a:schemeClr val="tx1"/>
                </a:solidFill>
                <a:latin typeface="+mn-lt"/>
                <a:ea typeface="+mn-ea"/>
                <a:cs typeface="ＭＳ Ｐゴシック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cs typeface="ＭＳ Ｐゴシック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+mn-lt"/>
                <a:ea typeface="+mn-ea"/>
                <a:cs typeface="ＭＳ Ｐゴシック" pitchFamily="3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FontTx/>
              <a:buNone/>
            </a:pPr>
            <a:r>
              <a:rPr lang="en-US" sz="2800" kern="0" dirty="0"/>
              <a:t>	</a:t>
            </a:r>
            <a:r>
              <a:rPr lang="en-US" altLang="zh-CN" sz="2800" kern="0" dirty="0"/>
              <a:t>In 1910</a:t>
            </a:r>
            <a:r>
              <a:rPr lang="zh-CN" altLang="en-US" sz="2800" kern="0" dirty="0"/>
              <a:t>， </a:t>
            </a:r>
            <a:r>
              <a:rPr lang="en-US" sz="2800" kern="0" dirty="0"/>
              <a:t>Ernest </a:t>
            </a:r>
            <a:r>
              <a:rPr lang="en-US" sz="2800" b="1" kern="0" dirty="0"/>
              <a:t>Rutherford</a:t>
            </a:r>
            <a:r>
              <a:rPr lang="en-US" sz="2800" kern="0" dirty="0"/>
              <a:t> shot </a:t>
            </a:r>
            <a:r>
              <a:rPr lang="en-US" sz="2800" i="1" kern="0" dirty="0">
                <a:latin typeface="Symbol" pitchFamily="-104" charset="2"/>
                <a:sym typeface="Symbol" pitchFamily="-104" charset="2"/>
              </a:rPr>
              <a:t></a:t>
            </a:r>
            <a:r>
              <a:rPr lang="en-US" sz="2800" kern="0" dirty="0"/>
              <a:t> particles at a thin sheet of gold foil and observed the pattern of scatter of the particles.</a:t>
            </a:r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The Nuclear Atom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45802" y="2052093"/>
            <a:ext cx="3962400" cy="31242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2800" dirty="0"/>
              <a:t>	Since some particles were </a:t>
            </a:r>
            <a:r>
              <a:rPr lang="en-US" sz="2800" dirty="0">
                <a:solidFill>
                  <a:srgbClr val="00B0F0"/>
                </a:solidFill>
              </a:rPr>
              <a:t>deflected at large angles</a:t>
            </a:r>
            <a:r>
              <a:rPr lang="en-US" sz="2800" dirty="0"/>
              <a:t>, Thomson’s model could not be correct.</a:t>
            </a:r>
          </a:p>
        </p:txBody>
      </p:sp>
      <p:sp>
        <p:nvSpPr>
          <p:cNvPr id="61444" name="Rectangle 16"/>
          <p:cNvSpPr>
            <a:spLocks noChangeArrowheads="1"/>
          </p:cNvSpPr>
          <p:nvPr/>
        </p:nvSpPr>
        <p:spPr bwMode="auto">
          <a:xfrm>
            <a:off x="5573713" y="4487863"/>
            <a:ext cx="1114425" cy="61753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pic>
        <p:nvPicPr>
          <p:cNvPr id="2" name="Picture 1" descr="02_09_Figure b cropped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5173" y="1831421"/>
            <a:ext cx="3863398" cy="3407809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FF0000"/>
                </a:solidFill>
              </a:rPr>
              <a:t>The Nuclear Atom </a:t>
            </a:r>
            <a:r>
              <a:rPr lang="zh-CN" altLang="en-US" b="1" dirty="0">
                <a:solidFill>
                  <a:srgbClr val="FF0000"/>
                </a:solidFill>
              </a:rPr>
              <a:t>（核型原子）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3491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195263" y="896938"/>
            <a:ext cx="4598987" cy="5491162"/>
          </a:xfrm>
        </p:spPr>
        <p:txBody>
          <a:bodyPr/>
          <a:lstStyle/>
          <a:p>
            <a:pPr eaLnBrk="1" hangingPunct="1"/>
            <a:r>
              <a:rPr lang="en-US" sz="2800" dirty="0"/>
              <a:t>Rutherford postulated a very small, dense nucleus with the electrons around the outside of the atom.</a:t>
            </a:r>
          </a:p>
          <a:p>
            <a:pPr eaLnBrk="1" hangingPunct="1"/>
            <a:r>
              <a:rPr lang="en-US" sz="2800" dirty="0"/>
              <a:t>Most of the volume is empty space.</a:t>
            </a:r>
          </a:p>
          <a:p>
            <a:pPr eaLnBrk="1" hangingPunct="1"/>
            <a:r>
              <a:rPr lang="en-US" sz="2800" dirty="0"/>
              <a:t>Atoms are very small;     1 – 5 Å or 100 – 500 pm.</a:t>
            </a:r>
          </a:p>
        </p:txBody>
      </p:sp>
      <p:pic>
        <p:nvPicPr>
          <p:cNvPr id="63492" name="Picture 5" descr="02_10_Figure.jpg"/>
          <p:cNvPicPr>
            <a:picLocks noChangeAspect="1"/>
          </p:cNvPicPr>
          <p:nvPr/>
        </p:nvPicPr>
        <p:blipFill>
          <a:blip r:embed="rId3" cstate="print"/>
          <a:srcRect b="2390"/>
          <a:stretch>
            <a:fillRect/>
          </a:stretch>
        </p:blipFill>
        <p:spPr bwMode="auto">
          <a:xfrm>
            <a:off x="4651375" y="1770063"/>
            <a:ext cx="4173538" cy="2971800"/>
          </a:xfrm>
          <a:prstGeom prst="rect">
            <a:avLst/>
          </a:prstGeom>
          <a:noFill/>
          <a:ln w="57150">
            <a:solidFill>
              <a:srgbClr val="FF3300"/>
            </a:solidFill>
            <a:miter lim="800000"/>
            <a:headEnd/>
            <a:tailEnd/>
          </a:ln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FB68917-EA4B-4515-8CE7-4BFEC0C355B5}"/>
              </a:ext>
            </a:extLst>
          </p:cNvPr>
          <p:cNvSpPr/>
          <p:nvPr/>
        </p:nvSpPr>
        <p:spPr>
          <a:xfrm>
            <a:off x="195263" y="5133726"/>
            <a:ext cx="890404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/>
                </a:solidFill>
              </a:rPr>
              <a:t>Other subatomic particles (protons were discovered in 1919 by Rutherford, and neutrons in 1932 by Chadwick) were discovered.</a:t>
            </a:r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/>
          <a:lstStyle/>
          <a:p>
            <a:pPr eaLnBrk="1" hangingPunct="1"/>
            <a:r>
              <a:rPr lang="en-US"/>
              <a:t>Subatomic Particles</a:t>
            </a:r>
          </a:p>
        </p:txBody>
      </p:sp>
      <p:sp>
        <p:nvSpPr>
          <p:cNvPr id="65539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719138"/>
            <a:ext cx="8229600" cy="3395662"/>
          </a:xfrm>
        </p:spPr>
        <p:txBody>
          <a:bodyPr/>
          <a:lstStyle/>
          <a:p>
            <a:pPr eaLnBrk="1" hangingPunct="1"/>
            <a:r>
              <a:rPr lang="en-US" sz="2800" dirty="0"/>
              <a:t>Protons (+1) (</a:t>
            </a:r>
            <a:r>
              <a:rPr lang="zh-CN" altLang="en-US" sz="2800" dirty="0"/>
              <a:t>质子</a:t>
            </a:r>
            <a:r>
              <a:rPr lang="en-US" sz="2800" dirty="0"/>
              <a:t>) and electrons (–1) (</a:t>
            </a:r>
            <a:r>
              <a:rPr lang="zh-CN" altLang="en-US" sz="2800" dirty="0"/>
              <a:t>电子</a:t>
            </a:r>
            <a:r>
              <a:rPr lang="en-US" sz="2800" dirty="0"/>
              <a:t>) have a charge; neutrons (</a:t>
            </a:r>
            <a:r>
              <a:rPr lang="zh-CN" altLang="en-US" sz="2800" dirty="0"/>
              <a:t>中子</a:t>
            </a:r>
            <a:r>
              <a:rPr lang="en-US" sz="2800" dirty="0"/>
              <a:t>) are neutral.</a:t>
            </a:r>
          </a:p>
          <a:p>
            <a:pPr eaLnBrk="1" hangingPunct="1"/>
            <a:r>
              <a:rPr lang="en-US" sz="2800" dirty="0"/>
              <a:t>Protons and neutrons have essentially the same mass (</a:t>
            </a:r>
            <a:r>
              <a:rPr lang="en-US" sz="2800" dirty="0">
                <a:solidFill>
                  <a:srgbClr val="416BB3"/>
                </a:solidFill>
              </a:rPr>
              <a:t>relative mass 1</a:t>
            </a:r>
            <a:r>
              <a:rPr lang="en-US" sz="2800" dirty="0"/>
              <a:t>). The mass of an electron is so small we ignore it (relative mass 0).</a:t>
            </a:r>
          </a:p>
          <a:p>
            <a:pPr eaLnBrk="1" hangingPunct="1"/>
            <a:r>
              <a:rPr lang="en-US" sz="2800" dirty="0"/>
              <a:t>Protons and neutrons are found in the nucleus; electrons travel around the nucleus.</a:t>
            </a:r>
          </a:p>
        </p:txBody>
      </p:sp>
      <p:pic>
        <p:nvPicPr>
          <p:cNvPr id="65540" name="Picture 5" descr="02_01_Table.jpg"/>
          <p:cNvPicPr>
            <a:picLocks noChangeAspect="1"/>
          </p:cNvPicPr>
          <p:nvPr/>
        </p:nvPicPr>
        <p:blipFill>
          <a:blip r:embed="rId3" cstate="print"/>
          <a:srcRect b="6767"/>
          <a:stretch>
            <a:fillRect/>
          </a:stretch>
        </p:blipFill>
        <p:spPr bwMode="auto">
          <a:xfrm>
            <a:off x="755650" y="4114800"/>
            <a:ext cx="73025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>
          <a:xfrm>
            <a:off x="0" y="111125"/>
            <a:ext cx="9144000" cy="109061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Atomic Mass (</a:t>
            </a:r>
            <a:r>
              <a:rPr lang="zh-CN" altLang="en-US" b="1" dirty="0">
                <a:solidFill>
                  <a:srgbClr val="FF0000"/>
                </a:solidFill>
              </a:rPr>
              <a:t>原子质量</a:t>
            </a:r>
            <a:r>
              <a:rPr lang="en-US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67587" name="Text Placeholder 2"/>
          <p:cNvSpPr>
            <a:spLocks noGrp="1"/>
          </p:cNvSpPr>
          <p:nvPr>
            <p:ph idx="1"/>
          </p:nvPr>
        </p:nvSpPr>
        <p:spPr>
          <a:xfrm>
            <a:off x="731838" y="1266825"/>
            <a:ext cx="7627937" cy="4624388"/>
          </a:xfrm>
        </p:spPr>
        <p:txBody>
          <a:bodyPr/>
          <a:lstStyle/>
          <a:p>
            <a:r>
              <a:rPr lang="en-US" dirty="0"/>
              <a:t>Atoms have extremely small masses.</a:t>
            </a:r>
          </a:p>
          <a:p>
            <a:r>
              <a:rPr lang="en-US" dirty="0"/>
              <a:t>The heaviest known atoms have a mass of approximately 4 × 10</a:t>
            </a:r>
            <a:r>
              <a:rPr lang="en-US" baseline="30000" dirty="0"/>
              <a:t>–22</a:t>
            </a:r>
            <a:r>
              <a:rPr lang="en-US" dirty="0"/>
              <a:t> g.</a:t>
            </a:r>
          </a:p>
          <a:p>
            <a:r>
              <a:rPr lang="en-US" dirty="0"/>
              <a:t>A mass scale on the atomic level is used, where an </a:t>
            </a:r>
            <a:r>
              <a:rPr lang="en-US" b="1" dirty="0">
                <a:solidFill>
                  <a:srgbClr val="416BB3"/>
                </a:solidFill>
              </a:rPr>
              <a:t>atomic mass unit (</a:t>
            </a:r>
            <a:r>
              <a:rPr lang="en-US" b="1" dirty="0" err="1">
                <a:solidFill>
                  <a:srgbClr val="416BB3"/>
                </a:solidFill>
              </a:rPr>
              <a:t>amu</a:t>
            </a:r>
            <a:r>
              <a:rPr lang="en-US" b="1" dirty="0">
                <a:solidFill>
                  <a:srgbClr val="416BB3"/>
                </a:solidFill>
              </a:rPr>
              <a:t>)</a:t>
            </a:r>
            <a:r>
              <a:rPr lang="en-US" dirty="0"/>
              <a:t> is the base unit.</a:t>
            </a:r>
          </a:p>
          <a:p>
            <a:pPr>
              <a:buClr>
                <a:srgbClr val="C00000"/>
              </a:buClr>
              <a:buFont typeface="Wingdings" pitchFamily="-104" charset="2"/>
              <a:buChar char="Ø"/>
            </a:pPr>
            <a:r>
              <a:rPr lang="en-US" dirty="0"/>
              <a:t>1 </a:t>
            </a:r>
            <a:r>
              <a:rPr lang="en-US" dirty="0" err="1"/>
              <a:t>amu</a:t>
            </a:r>
            <a:r>
              <a:rPr lang="en-US" dirty="0"/>
              <a:t>  =  1.66054 × 10</a:t>
            </a:r>
            <a:r>
              <a:rPr lang="en-US" baseline="30000" dirty="0"/>
              <a:t>–24</a:t>
            </a:r>
            <a:r>
              <a:rPr lang="en-US" dirty="0"/>
              <a:t> g</a:t>
            </a:r>
          </a:p>
        </p:txBody>
      </p: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FF0000"/>
                </a:solidFill>
              </a:rPr>
              <a:t>Symbols of Elements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327025" y="2835275"/>
            <a:ext cx="8594725" cy="3032125"/>
          </a:xfrm>
        </p:spPr>
        <p:txBody>
          <a:bodyPr/>
          <a:lstStyle/>
          <a:p>
            <a:pPr eaLnBrk="1" hangingPunct="1">
              <a:buFont typeface="Wingdings" pitchFamily="-104" charset="2"/>
              <a:buChar char="Ø"/>
            </a:pPr>
            <a:r>
              <a:rPr lang="en-US" sz="2400" dirty="0"/>
              <a:t>Elements are represented by a one or two letter </a:t>
            </a:r>
            <a:r>
              <a:rPr lang="en-US" sz="2400" b="1" dirty="0"/>
              <a:t>symbol (</a:t>
            </a:r>
            <a:r>
              <a:rPr lang="zh-CN" altLang="en-US" sz="2400" b="1" dirty="0"/>
              <a:t>元素符号</a:t>
            </a:r>
            <a:r>
              <a:rPr lang="en-US" sz="2400" b="1" dirty="0"/>
              <a:t>)</a:t>
            </a:r>
            <a:r>
              <a:rPr lang="en-US" sz="2400" dirty="0"/>
              <a:t>.  This is the </a:t>
            </a:r>
            <a:r>
              <a:rPr lang="en-US" sz="2400" dirty="0">
                <a:solidFill>
                  <a:srgbClr val="FF0000"/>
                </a:solidFill>
              </a:rPr>
              <a:t>symbol</a:t>
            </a:r>
            <a:r>
              <a:rPr lang="en-US" sz="2400" dirty="0"/>
              <a:t> for carbon.</a:t>
            </a:r>
          </a:p>
          <a:p>
            <a:pPr eaLnBrk="1" hangingPunct="1">
              <a:buFont typeface="Wingdings" pitchFamily="-104" charset="2"/>
              <a:buChar char="Ø"/>
            </a:pPr>
            <a:r>
              <a:rPr lang="en-US" sz="2400" dirty="0"/>
              <a:t>All atoms of the same element have the same number of protons, which is called the </a:t>
            </a:r>
            <a:r>
              <a:rPr lang="en-US" sz="2400" b="1" dirty="0"/>
              <a:t>atomic number</a:t>
            </a:r>
            <a:r>
              <a:rPr lang="en-US" sz="2400" dirty="0"/>
              <a:t>, </a:t>
            </a:r>
            <a:r>
              <a:rPr lang="en-US" sz="2400" i="1" dirty="0"/>
              <a:t>Z</a:t>
            </a:r>
            <a:r>
              <a:rPr lang="en-US" sz="2400" dirty="0"/>
              <a:t>. (</a:t>
            </a:r>
            <a:r>
              <a:rPr lang="zh-CN" altLang="en-US" sz="2400" dirty="0"/>
              <a:t>原子数</a:t>
            </a:r>
            <a:r>
              <a:rPr lang="en-US" sz="2400" dirty="0"/>
              <a:t>) It is written as a </a:t>
            </a:r>
            <a:r>
              <a:rPr lang="en-US" sz="2400" dirty="0">
                <a:solidFill>
                  <a:srgbClr val="339966"/>
                </a:solidFill>
              </a:rPr>
              <a:t>subscript</a:t>
            </a:r>
            <a:r>
              <a:rPr lang="en-US" sz="2400" dirty="0"/>
              <a:t> BEFORE the symbol.</a:t>
            </a:r>
          </a:p>
          <a:p>
            <a:pPr eaLnBrk="1" hangingPunct="1">
              <a:buFont typeface="Wingdings" pitchFamily="-104" charset="2"/>
              <a:buChar char="Ø"/>
            </a:pPr>
            <a:r>
              <a:rPr lang="en-US" sz="2400" dirty="0"/>
              <a:t>The </a:t>
            </a:r>
            <a:r>
              <a:rPr lang="en-US" sz="2400" b="1" dirty="0"/>
              <a:t>mass number</a:t>
            </a:r>
            <a:r>
              <a:rPr lang="en-US" sz="2400" dirty="0"/>
              <a:t> (</a:t>
            </a:r>
            <a:r>
              <a:rPr lang="zh-CN" altLang="en-US" sz="2400" dirty="0"/>
              <a:t>质量数</a:t>
            </a:r>
            <a:r>
              <a:rPr lang="en-US" sz="2400" dirty="0"/>
              <a:t>) is the total number of protons and neutrons in the nucleus of an atom. It is written as a </a:t>
            </a:r>
            <a:r>
              <a:rPr lang="en-US" sz="2400" dirty="0">
                <a:solidFill>
                  <a:srgbClr val="00B0F0"/>
                </a:solidFill>
              </a:rPr>
              <a:t>superscript</a:t>
            </a:r>
            <a:r>
              <a:rPr lang="en-US" sz="2400" dirty="0"/>
              <a:t> BEFORE the symbol.</a:t>
            </a:r>
          </a:p>
        </p:txBody>
      </p:sp>
      <p:pic>
        <p:nvPicPr>
          <p:cNvPr id="69636" name="Picture 5" descr="02_Pg49_UnFigure.jpg"/>
          <p:cNvPicPr>
            <a:picLocks noChangeAspect="1"/>
          </p:cNvPicPr>
          <p:nvPr/>
        </p:nvPicPr>
        <p:blipFill>
          <a:blip r:embed="rId3" cstate="print"/>
          <a:srcRect b="6377"/>
          <a:stretch>
            <a:fillRect/>
          </a:stretch>
        </p:blipFill>
        <p:spPr bwMode="auto">
          <a:xfrm>
            <a:off x="1898650" y="1258888"/>
            <a:ext cx="5276850" cy="145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Isotopes (</a:t>
            </a:r>
            <a:r>
              <a:rPr lang="zh-CN" altLang="en-US" dirty="0"/>
              <a:t>同位素</a:t>
            </a:r>
            <a:r>
              <a:rPr lang="en-US" dirty="0"/>
              <a:t>)</a:t>
            </a:r>
          </a:p>
        </p:txBody>
      </p:sp>
      <p:sp>
        <p:nvSpPr>
          <p:cNvPr id="71683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241425"/>
            <a:ext cx="7772400" cy="2263775"/>
          </a:xfrm>
        </p:spPr>
        <p:txBody>
          <a:bodyPr/>
          <a:lstStyle/>
          <a:p>
            <a:pPr eaLnBrk="1" hangingPunct="1"/>
            <a:r>
              <a:rPr lang="en-US" sz="2800" b="1" dirty="0"/>
              <a:t>Isotopes </a:t>
            </a:r>
            <a:r>
              <a:rPr lang="en-US" sz="2800" dirty="0"/>
              <a:t>are atoms of the same element with different masses.</a:t>
            </a:r>
          </a:p>
          <a:p>
            <a:pPr eaLnBrk="1" hangingPunct="1"/>
            <a:r>
              <a:rPr lang="en-US" sz="2800" dirty="0"/>
              <a:t>Isotopes have different numbers of neutrons, but the same number of protons.</a:t>
            </a:r>
          </a:p>
        </p:txBody>
      </p:sp>
      <p:pic>
        <p:nvPicPr>
          <p:cNvPr id="71684" name="Picture 5" descr="02_02_Table.jpg"/>
          <p:cNvPicPr>
            <a:picLocks noChangeAspect="1"/>
          </p:cNvPicPr>
          <p:nvPr/>
        </p:nvPicPr>
        <p:blipFill>
          <a:blip r:embed="rId3" cstate="print"/>
          <a:srcRect b="5223"/>
          <a:stretch>
            <a:fillRect/>
          </a:stretch>
        </p:blipFill>
        <p:spPr bwMode="auto">
          <a:xfrm>
            <a:off x="1277938" y="3400425"/>
            <a:ext cx="6626225" cy="2597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FF0000"/>
                </a:solidFill>
              </a:rPr>
              <a:t>Atomic Weight (</a:t>
            </a:r>
            <a:r>
              <a:rPr lang="zh-CN" altLang="en-US" b="1" dirty="0">
                <a:solidFill>
                  <a:srgbClr val="FF0000"/>
                </a:solidFill>
              </a:rPr>
              <a:t>原子量</a:t>
            </a:r>
            <a:r>
              <a:rPr lang="en-US" b="1" dirty="0">
                <a:solidFill>
                  <a:srgbClr val="FF0000"/>
                </a:solidFill>
              </a:rPr>
              <a:t>) 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6095" y="1201738"/>
            <a:ext cx="8717147" cy="5571202"/>
          </a:xfrm>
        </p:spPr>
        <p:txBody>
          <a:bodyPr/>
          <a:lstStyle/>
          <a:p>
            <a:pPr eaLnBrk="1" hangingPunct="1"/>
            <a:r>
              <a:rPr lang="en-US" sz="2800" dirty="0"/>
              <a:t>Because </a:t>
            </a:r>
            <a:r>
              <a:rPr lang="en-US" sz="2800" u="sng" dirty="0"/>
              <a:t>in the real world</a:t>
            </a:r>
            <a:r>
              <a:rPr lang="en-US" sz="2800" dirty="0"/>
              <a:t> we use large amounts of atoms and molecules, we use average masses in calculations.</a:t>
            </a:r>
          </a:p>
          <a:p>
            <a:pPr eaLnBrk="1" hangingPunct="1"/>
            <a:r>
              <a:rPr lang="en-US" sz="2800" b="1" dirty="0">
                <a:solidFill>
                  <a:srgbClr val="0070C0"/>
                </a:solidFill>
              </a:rPr>
              <a:t>An average mass </a:t>
            </a:r>
            <a:r>
              <a:rPr lang="en-US" sz="2800" dirty="0"/>
              <a:t>is found using all isotopes of an element weighted by their relative abundances.  This is the element’s </a:t>
            </a:r>
            <a:r>
              <a:rPr lang="en-US" sz="2800" b="1" dirty="0"/>
              <a:t>atomic weight</a:t>
            </a:r>
            <a:r>
              <a:rPr lang="en-US" sz="2800" dirty="0"/>
              <a:t>.</a:t>
            </a:r>
            <a:endParaRPr lang="en-US" dirty="0">
              <a:solidFill>
                <a:srgbClr val="FF0000"/>
              </a:solidFill>
            </a:endParaRPr>
          </a:p>
          <a:p>
            <a:pPr marL="0" indent="0" algn="ctr" eaLnBrk="1" hangingPunct="1">
              <a:buNone/>
            </a:pPr>
            <a:r>
              <a:rPr lang="en-US" dirty="0">
                <a:solidFill>
                  <a:srgbClr val="FF0000"/>
                </a:solidFill>
              </a:rPr>
              <a:t>Atomic Weight = Ʃ [(isotope mass) × (fractional natural abundance)]. </a:t>
            </a:r>
          </a:p>
          <a:p>
            <a:pPr marL="0" indent="0" eaLnBrk="1" hangingPunct="1">
              <a:buNone/>
            </a:pPr>
            <a:endParaRPr lang="en-US" dirty="0"/>
          </a:p>
          <a:p>
            <a:pPr marL="0" indent="0" eaLnBrk="1" hangingPunct="1">
              <a:buNone/>
            </a:pPr>
            <a:r>
              <a:rPr lang="en-US" dirty="0"/>
              <a:t>Note: the sum is for ALL isotopes of an element.</a:t>
            </a:r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dirty="0"/>
              <a:t>Atomic Weight Measurement</a:t>
            </a:r>
          </a:p>
        </p:txBody>
      </p:sp>
      <p:sp>
        <p:nvSpPr>
          <p:cNvPr id="68611" name="Content Placeholder 2"/>
          <p:cNvSpPr>
            <a:spLocks noGrp="1"/>
          </p:cNvSpPr>
          <p:nvPr>
            <p:ph idx="1"/>
          </p:nvPr>
        </p:nvSpPr>
        <p:spPr>
          <a:xfrm>
            <a:off x="92075" y="936625"/>
            <a:ext cx="9051925" cy="2657475"/>
          </a:xfrm>
        </p:spPr>
        <p:txBody>
          <a:bodyPr/>
          <a:lstStyle/>
          <a:p>
            <a:r>
              <a:rPr lang="en-US" dirty="0"/>
              <a:t>Atomic and molecular weight can be measured with great accuracy using a </a:t>
            </a:r>
            <a:r>
              <a:rPr lang="en-US" dirty="0">
                <a:solidFill>
                  <a:schemeClr val="accent2"/>
                </a:solidFill>
              </a:rPr>
              <a:t>mass spectrometer </a:t>
            </a:r>
            <a:r>
              <a:rPr lang="en-US" dirty="0"/>
              <a:t>(</a:t>
            </a:r>
            <a:r>
              <a:rPr lang="zh-CN" altLang="en-US" dirty="0"/>
              <a:t>质谱</a:t>
            </a:r>
            <a:r>
              <a:rPr lang="en-US" dirty="0"/>
              <a:t>).</a:t>
            </a:r>
          </a:p>
        </p:txBody>
      </p:sp>
      <p:pic>
        <p:nvPicPr>
          <p:cNvPr id="68612" name="Picture 5" descr="02_11_Figure.jpg"/>
          <p:cNvPicPr>
            <a:picLocks noChangeAspect="1"/>
          </p:cNvPicPr>
          <p:nvPr/>
        </p:nvPicPr>
        <p:blipFill>
          <a:blip r:embed="rId2" cstate="print"/>
          <a:srcRect b="3703"/>
          <a:stretch>
            <a:fillRect/>
          </a:stretch>
        </p:blipFill>
        <p:spPr bwMode="auto">
          <a:xfrm>
            <a:off x="1061714" y="2711303"/>
            <a:ext cx="7046108" cy="3270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54088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FF0000"/>
                </a:solidFill>
              </a:rPr>
              <a:t>Periodic Table </a:t>
            </a:r>
            <a:r>
              <a:rPr lang="en-US" altLang="zh-CN" b="1" dirty="0">
                <a:solidFill>
                  <a:srgbClr val="FF0000"/>
                </a:solidFill>
              </a:rPr>
              <a:t>of Elements</a:t>
            </a:r>
            <a:r>
              <a:rPr lang="zh-CN" altLang="en-US" b="1" dirty="0">
                <a:solidFill>
                  <a:srgbClr val="FF0000"/>
                </a:solidFill>
              </a:rPr>
              <a:t>（元素周期表）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577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5511800" y="865123"/>
            <a:ext cx="3717258" cy="3524250"/>
          </a:xfrm>
        </p:spPr>
        <p:txBody>
          <a:bodyPr/>
          <a:lstStyle/>
          <a:p>
            <a:pPr eaLnBrk="1" hangingPunct="1"/>
            <a:r>
              <a:rPr lang="en-US" sz="2800" dirty="0"/>
              <a:t>The </a:t>
            </a:r>
            <a:r>
              <a:rPr lang="en-US" sz="2800" b="1" dirty="0"/>
              <a:t>periodic table</a:t>
            </a:r>
            <a:r>
              <a:rPr lang="en-US" sz="2800" dirty="0"/>
              <a:t>  is a systematic organization of the elements.</a:t>
            </a:r>
          </a:p>
          <a:p>
            <a:pPr eaLnBrk="1" hangingPunct="1"/>
            <a:r>
              <a:rPr lang="en-US" sz="2800" dirty="0"/>
              <a:t>Elements are arranged in order of </a:t>
            </a:r>
            <a:r>
              <a:rPr lang="en-US" sz="2800" dirty="0">
                <a:solidFill>
                  <a:srgbClr val="FF0000"/>
                </a:solidFill>
              </a:rPr>
              <a:t>atomic number</a:t>
            </a:r>
            <a:r>
              <a:rPr lang="en-US" sz="2800" dirty="0"/>
              <a:t>.</a:t>
            </a:r>
          </a:p>
        </p:txBody>
      </p:sp>
      <p:sp>
        <p:nvSpPr>
          <p:cNvPr id="75780" name="TextBox 1"/>
          <p:cNvSpPr txBox="1">
            <a:spLocks noChangeArrowheads="1"/>
          </p:cNvSpPr>
          <p:nvPr/>
        </p:nvSpPr>
        <p:spPr bwMode="auto">
          <a:xfrm>
            <a:off x="152400" y="4359541"/>
            <a:ext cx="8886825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 pitchFamily="-10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Unlike the way we write isotopes, the atomic number is at the TOP of a box in the periodic table.</a:t>
            </a:r>
          </a:p>
          <a:p>
            <a:pPr marL="457200" indent="-457200">
              <a:buFont typeface="Arial" pitchFamily="-10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The atomic weight of an element appears at the BOTTOM of the box. </a:t>
            </a:r>
            <a:r>
              <a:rPr lang="en-US" dirty="0">
                <a:solidFill>
                  <a:srgbClr val="416BB3"/>
                </a:solidFill>
              </a:rPr>
              <a:t>Page 1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5781" name="Picture 6" descr="02_14_Figure.jpg"/>
          <p:cNvPicPr>
            <a:picLocks noChangeAspect="1"/>
          </p:cNvPicPr>
          <p:nvPr/>
        </p:nvPicPr>
        <p:blipFill>
          <a:blip r:embed="rId3" cstate="print"/>
          <a:srcRect b="3323"/>
          <a:stretch>
            <a:fillRect/>
          </a:stretch>
        </p:blipFill>
        <p:spPr bwMode="auto">
          <a:xfrm>
            <a:off x="66293" y="920782"/>
            <a:ext cx="5514201" cy="324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Periodic Table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5114268" y="1706530"/>
            <a:ext cx="4189228" cy="4056321"/>
          </a:xfrm>
        </p:spPr>
        <p:txBody>
          <a:bodyPr/>
          <a:lstStyle/>
          <a:p>
            <a:pPr eaLnBrk="1" hangingPunct="1"/>
            <a:r>
              <a:rPr lang="en-US" sz="2800" dirty="0"/>
              <a:t>The </a:t>
            </a:r>
            <a:r>
              <a:rPr lang="en-US" sz="2800" dirty="0">
                <a:solidFill>
                  <a:srgbClr val="416BB3"/>
                </a:solidFill>
              </a:rPr>
              <a:t>rows</a:t>
            </a:r>
            <a:r>
              <a:rPr lang="en-US" sz="2800" dirty="0"/>
              <a:t> on the periodic table are called </a:t>
            </a:r>
            <a:r>
              <a:rPr lang="en-US" sz="2800" b="1" dirty="0">
                <a:solidFill>
                  <a:srgbClr val="FF0000"/>
                </a:solidFill>
              </a:rPr>
              <a:t>periods (</a:t>
            </a:r>
            <a:r>
              <a:rPr lang="zh-CN" altLang="en-US" sz="2800" b="1" dirty="0">
                <a:solidFill>
                  <a:srgbClr val="FF0000"/>
                </a:solidFill>
              </a:rPr>
              <a:t>周期</a:t>
            </a:r>
            <a:r>
              <a:rPr lang="en-US" sz="2800" b="1" dirty="0">
                <a:solidFill>
                  <a:srgbClr val="FF0000"/>
                </a:solidFill>
              </a:rPr>
              <a:t>)</a:t>
            </a:r>
            <a:r>
              <a:rPr lang="en-US" sz="2800" dirty="0">
                <a:solidFill>
                  <a:srgbClr val="FF0000"/>
                </a:solidFill>
              </a:rPr>
              <a:t>.</a:t>
            </a:r>
          </a:p>
          <a:p>
            <a:pPr eaLnBrk="1" hangingPunct="1"/>
            <a:r>
              <a:rPr lang="en-US" sz="2800" dirty="0">
                <a:solidFill>
                  <a:srgbClr val="416BB3"/>
                </a:solidFill>
              </a:rPr>
              <a:t>Columns</a:t>
            </a:r>
            <a:r>
              <a:rPr lang="en-US" sz="2800" dirty="0"/>
              <a:t> are called </a:t>
            </a:r>
            <a:r>
              <a:rPr lang="en-US" sz="2800" b="1" dirty="0">
                <a:solidFill>
                  <a:srgbClr val="FF0000"/>
                </a:solidFill>
              </a:rPr>
              <a:t>groups (</a:t>
            </a:r>
            <a:r>
              <a:rPr lang="zh-CN" altLang="en-US" sz="2800" b="1" dirty="0">
                <a:solidFill>
                  <a:srgbClr val="FF0000"/>
                </a:solidFill>
              </a:rPr>
              <a:t>族</a:t>
            </a:r>
            <a:r>
              <a:rPr lang="en-US" sz="2800" b="1" dirty="0">
                <a:solidFill>
                  <a:srgbClr val="FF0000"/>
                </a:solidFill>
              </a:rPr>
              <a:t>)</a:t>
            </a:r>
            <a:r>
              <a:rPr lang="en-US" sz="2800" dirty="0">
                <a:solidFill>
                  <a:srgbClr val="FF0000"/>
                </a:solidFill>
              </a:rPr>
              <a:t>.</a:t>
            </a:r>
          </a:p>
          <a:p>
            <a:pPr eaLnBrk="1" hangingPunct="1"/>
            <a:r>
              <a:rPr lang="en-US" sz="2800" dirty="0"/>
              <a:t>Elements in the same group have similar chemical properties.</a:t>
            </a:r>
          </a:p>
        </p:txBody>
      </p:sp>
      <p:pic>
        <p:nvPicPr>
          <p:cNvPr id="77828" name="Picture 5" descr="02_14_Figure.jpg"/>
          <p:cNvPicPr>
            <a:picLocks noChangeAspect="1"/>
          </p:cNvPicPr>
          <p:nvPr/>
        </p:nvPicPr>
        <p:blipFill>
          <a:blip r:embed="rId3" cstate="print"/>
          <a:srcRect b="3052"/>
          <a:stretch>
            <a:fillRect/>
          </a:stretch>
        </p:blipFill>
        <p:spPr bwMode="auto">
          <a:xfrm>
            <a:off x="0" y="2084388"/>
            <a:ext cx="5197475" cy="307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Periodicity (</a:t>
            </a:r>
            <a:r>
              <a:rPr lang="zh-CN" altLang="en-US" dirty="0"/>
              <a:t>周期性</a:t>
            </a:r>
            <a:r>
              <a:rPr lang="en-US" dirty="0"/>
              <a:t>)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sz="2800"/>
              <a:t>	When one looks at the chemical properties of elements, one notices a repeating pattern of reactivities.</a:t>
            </a:r>
          </a:p>
        </p:txBody>
      </p:sp>
      <p:pic>
        <p:nvPicPr>
          <p:cNvPr id="79876" name="Picture 5" descr="02_13_Figure.jpg"/>
          <p:cNvPicPr>
            <a:picLocks noChangeAspect="1"/>
          </p:cNvPicPr>
          <p:nvPr/>
        </p:nvPicPr>
        <p:blipFill>
          <a:blip r:embed="rId3" cstate="print"/>
          <a:srcRect b="7649"/>
          <a:stretch>
            <a:fillRect/>
          </a:stretch>
        </p:blipFill>
        <p:spPr bwMode="auto">
          <a:xfrm>
            <a:off x="1009650" y="1662113"/>
            <a:ext cx="7140575" cy="187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Groups (</a:t>
            </a:r>
            <a:r>
              <a:rPr lang="zh-CN" altLang="en-US" dirty="0"/>
              <a:t>族</a:t>
            </a:r>
            <a:r>
              <a:rPr lang="en-US" dirty="0"/>
              <a:t>)</a:t>
            </a:r>
          </a:p>
        </p:txBody>
      </p:sp>
      <p:sp>
        <p:nvSpPr>
          <p:cNvPr id="81923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85800" y="4419600"/>
            <a:ext cx="7772400" cy="19812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2800"/>
              <a:t>	These five groups are known by their names.</a:t>
            </a:r>
          </a:p>
        </p:txBody>
      </p:sp>
      <p:pic>
        <p:nvPicPr>
          <p:cNvPr id="81924" name="Picture 5" descr="02_03_Table.jpg"/>
          <p:cNvPicPr>
            <a:picLocks noChangeAspect="1"/>
          </p:cNvPicPr>
          <p:nvPr/>
        </p:nvPicPr>
        <p:blipFill>
          <a:blip r:embed="rId3" cstate="print"/>
          <a:srcRect b="5013"/>
          <a:stretch>
            <a:fillRect/>
          </a:stretch>
        </p:blipFill>
        <p:spPr bwMode="auto">
          <a:xfrm>
            <a:off x="1044575" y="1336675"/>
            <a:ext cx="7137400" cy="2741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/>
              <a:t>Periodic Table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5969000" y="874713"/>
            <a:ext cx="3175000" cy="5108575"/>
          </a:xfrm>
        </p:spPr>
        <p:txBody>
          <a:bodyPr/>
          <a:lstStyle/>
          <a:p>
            <a:pPr eaLnBrk="1" hangingPunct="1"/>
            <a:r>
              <a:rPr lang="en-US" sz="2800" dirty="0">
                <a:solidFill>
                  <a:srgbClr val="00B0F0"/>
                </a:solidFill>
              </a:rPr>
              <a:t>Metals</a:t>
            </a:r>
            <a:r>
              <a:rPr lang="en-US" sz="2800" dirty="0"/>
              <a:t> are on the left side of the periodic table.</a:t>
            </a:r>
          </a:p>
          <a:p>
            <a:pPr eaLnBrk="1" hangingPunct="1"/>
            <a:r>
              <a:rPr lang="en-US" sz="2800" dirty="0"/>
              <a:t>Some properties of metals include</a:t>
            </a:r>
          </a:p>
          <a:p>
            <a:pPr eaLnBrk="1" hangingPunct="1">
              <a:buClr>
                <a:srgbClr val="C00000"/>
              </a:buClr>
              <a:buFont typeface="Wingdings" pitchFamily="-104" charset="2"/>
              <a:buChar char="Ø"/>
            </a:pPr>
            <a:r>
              <a:rPr lang="en-US" sz="2800" dirty="0"/>
              <a:t>shiny luster.</a:t>
            </a:r>
          </a:p>
          <a:p>
            <a:pPr eaLnBrk="1" hangingPunct="1">
              <a:buClr>
                <a:srgbClr val="C00000"/>
              </a:buClr>
              <a:buFont typeface="Wingdings" pitchFamily="-104" charset="2"/>
              <a:buChar char="Ø"/>
            </a:pPr>
            <a:r>
              <a:rPr lang="en-US" sz="2800" dirty="0"/>
              <a:t>conducting heat and electricity.</a:t>
            </a:r>
          </a:p>
          <a:p>
            <a:pPr eaLnBrk="1" hangingPunct="1">
              <a:buClr>
                <a:srgbClr val="C00000"/>
              </a:buClr>
              <a:buFont typeface="Wingdings" pitchFamily="-104" charset="2"/>
              <a:buChar char="Ø"/>
            </a:pPr>
            <a:r>
              <a:rPr lang="en-US" sz="2800" dirty="0"/>
              <a:t>solidity (except mercury).</a:t>
            </a:r>
          </a:p>
        </p:txBody>
      </p:sp>
      <p:sp>
        <p:nvSpPr>
          <p:cNvPr id="83972" name="Rectangle 4"/>
          <p:cNvSpPr>
            <a:spLocks noChangeArrowheads="1"/>
          </p:cNvSpPr>
          <p:nvPr/>
        </p:nvSpPr>
        <p:spPr bwMode="auto">
          <a:xfrm>
            <a:off x="2895600" y="3048000"/>
            <a:ext cx="304800" cy="228600"/>
          </a:xfrm>
          <a:prstGeom prst="rect">
            <a:avLst/>
          </a:prstGeom>
          <a:solidFill>
            <a:schemeClr val="bg1">
              <a:alpha val="50195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3973" name="Rectangle 5"/>
          <p:cNvSpPr>
            <a:spLocks noChangeArrowheads="1"/>
          </p:cNvSpPr>
          <p:nvPr/>
        </p:nvSpPr>
        <p:spPr bwMode="auto">
          <a:xfrm>
            <a:off x="301625" y="2614613"/>
            <a:ext cx="758825" cy="73025"/>
          </a:xfrm>
          <a:prstGeom prst="rect">
            <a:avLst/>
          </a:prstGeom>
          <a:solidFill>
            <a:schemeClr val="bg1">
              <a:alpha val="59999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3974" name="Rectangle 7"/>
          <p:cNvSpPr>
            <a:spLocks noChangeArrowheads="1"/>
          </p:cNvSpPr>
          <p:nvPr/>
        </p:nvSpPr>
        <p:spPr bwMode="auto">
          <a:xfrm>
            <a:off x="762000" y="2362200"/>
            <a:ext cx="228600" cy="304800"/>
          </a:xfrm>
          <a:prstGeom prst="rect">
            <a:avLst/>
          </a:prstGeom>
          <a:solidFill>
            <a:schemeClr val="bg1">
              <a:alpha val="59999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3975" name="Picture 8" descr="02_14_Figure.jpg"/>
          <p:cNvPicPr>
            <a:picLocks noChangeAspect="1"/>
          </p:cNvPicPr>
          <p:nvPr/>
        </p:nvPicPr>
        <p:blipFill>
          <a:blip r:embed="rId3" cstate="print"/>
          <a:srcRect b="3052"/>
          <a:stretch>
            <a:fillRect/>
          </a:stretch>
        </p:blipFill>
        <p:spPr bwMode="auto">
          <a:xfrm>
            <a:off x="347663" y="1971675"/>
            <a:ext cx="5403850" cy="3192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ounded Rectangle 1"/>
          <p:cNvSpPr/>
          <p:nvPr/>
        </p:nvSpPr>
        <p:spPr bwMode="auto">
          <a:xfrm>
            <a:off x="3423684" y="3048000"/>
            <a:ext cx="329609" cy="1098698"/>
          </a:xfrm>
          <a:prstGeom prst="roundRect">
            <a:avLst/>
          </a:prstGeom>
          <a:noFill/>
          <a:ln w="38100">
            <a:solidFill>
              <a:srgbClr val="FF3300"/>
            </a:solidFill>
          </a:ln>
          <a:extLst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rgbClr val="C82E32"/>
              </a:solidFill>
              <a:effectLst/>
              <a:latin typeface="Arial" charset="0"/>
              <a:ea typeface="ＭＳ Ｐゴシック" pitchFamily="48" charset="-128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/>
              <a:t>Periodic Table</a:t>
            </a:r>
          </a:p>
        </p:txBody>
      </p:sp>
      <p:sp>
        <p:nvSpPr>
          <p:cNvPr id="8601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5922334" y="784821"/>
            <a:ext cx="3200400" cy="5238750"/>
          </a:xfrm>
        </p:spPr>
        <p:txBody>
          <a:bodyPr/>
          <a:lstStyle/>
          <a:p>
            <a:pPr eaLnBrk="1" hangingPunct="1"/>
            <a:r>
              <a:rPr lang="en-US" sz="2800" dirty="0">
                <a:solidFill>
                  <a:srgbClr val="00B0F0"/>
                </a:solidFill>
              </a:rPr>
              <a:t>Nonmetals</a:t>
            </a:r>
            <a:r>
              <a:rPr lang="en-US" sz="2800" dirty="0"/>
              <a:t> are on the right side of the periodic table (with the exception of H).</a:t>
            </a:r>
          </a:p>
          <a:p>
            <a:pPr eaLnBrk="1" hangingPunct="1"/>
            <a:r>
              <a:rPr lang="en-US" sz="2800" dirty="0"/>
              <a:t>They can be solid (like carbon), liquid (like bromine), or gas (like neon) at room temperature.</a:t>
            </a:r>
          </a:p>
        </p:txBody>
      </p:sp>
      <p:sp>
        <p:nvSpPr>
          <p:cNvPr id="86020" name="Rectangle 11"/>
          <p:cNvSpPr>
            <a:spLocks noChangeArrowheads="1"/>
          </p:cNvSpPr>
          <p:nvPr/>
        </p:nvSpPr>
        <p:spPr bwMode="auto">
          <a:xfrm>
            <a:off x="2895600" y="3048000"/>
            <a:ext cx="304800" cy="228600"/>
          </a:xfrm>
          <a:prstGeom prst="rect">
            <a:avLst/>
          </a:prstGeom>
          <a:solidFill>
            <a:schemeClr val="bg1">
              <a:alpha val="50195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6021" name="Rectangle 25"/>
          <p:cNvSpPr>
            <a:spLocks noChangeArrowheads="1"/>
          </p:cNvSpPr>
          <p:nvPr/>
        </p:nvSpPr>
        <p:spPr bwMode="auto">
          <a:xfrm>
            <a:off x="301625" y="2614613"/>
            <a:ext cx="758825" cy="73025"/>
          </a:xfrm>
          <a:prstGeom prst="rect">
            <a:avLst/>
          </a:prstGeom>
          <a:solidFill>
            <a:schemeClr val="bg1">
              <a:alpha val="59999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6022" name="Rectangle 37"/>
          <p:cNvSpPr>
            <a:spLocks noChangeArrowheads="1"/>
          </p:cNvSpPr>
          <p:nvPr/>
        </p:nvSpPr>
        <p:spPr bwMode="auto">
          <a:xfrm>
            <a:off x="1323975" y="5391150"/>
            <a:ext cx="3276600" cy="381000"/>
          </a:xfrm>
          <a:prstGeom prst="rect">
            <a:avLst/>
          </a:prstGeom>
          <a:solidFill>
            <a:schemeClr val="bg1">
              <a:alpha val="59999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6023" name="Rectangle 39"/>
          <p:cNvSpPr>
            <a:spLocks noChangeArrowheads="1"/>
          </p:cNvSpPr>
          <p:nvPr/>
        </p:nvSpPr>
        <p:spPr bwMode="auto">
          <a:xfrm>
            <a:off x="762000" y="2362200"/>
            <a:ext cx="228600" cy="304800"/>
          </a:xfrm>
          <a:prstGeom prst="rect">
            <a:avLst/>
          </a:prstGeom>
          <a:solidFill>
            <a:schemeClr val="bg1">
              <a:alpha val="59999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6024" name="Picture 9" descr="02_14_Figure.jpg"/>
          <p:cNvPicPr>
            <a:picLocks noChangeAspect="1"/>
          </p:cNvPicPr>
          <p:nvPr/>
        </p:nvPicPr>
        <p:blipFill>
          <a:blip r:embed="rId3" cstate="print"/>
          <a:srcRect b="3052"/>
          <a:stretch>
            <a:fillRect/>
          </a:stretch>
        </p:blipFill>
        <p:spPr bwMode="auto">
          <a:xfrm>
            <a:off x="208773" y="1844675"/>
            <a:ext cx="5668962" cy="334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Periodic Table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5943600" y="1232347"/>
            <a:ext cx="3124200" cy="4729163"/>
          </a:xfrm>
        </p:spPr>
        <p:txBody>
          <a:bodyPr/>
          <a:lstStyle/>
          <a:p>
            <a:pPr eaLnBrk="1" hangingPunct="1"/>
            <a:r>
              <a:rPr lang="en-US" sz="2800" dirty="0"/>
              <a:t>Elements on the </a:t>
            </a:r>
            <a:r>
              <a:rPr lang="en-US" sz="2800" dirty="0" err="1"/>
              <a:t>steplike</a:t>
            </a:r>
            <a:r>
              <a:rPr lang="en-US" sz="2800" dirty="0"/>
              <a:t> line are </a:t>
            </a:r>
            <a:r>
              <a:rPr lang="en-US" sz="2800" dirty="0">
                <a:solidFill>
                  <a:srgbClr val="00B0F0"/>
                </a:solidFill>
              </a:rPr>
              <a:t>metalloids</a:t>
            </a:r>
            <a:r>
              <a:rPr lang="en-US" sz="2800" dirty="0"/>
              <a:t> </a:t>
            </a:r>
            <a:r>
              <a:rPr lang="zh-CN" altLang="en-US" sz="2800" dirty="0"/>
              <a:t>（准金属）</a:t>
            </a:r>
            <a:r>
              <a:rPr lang="en-US" sz="2800" dirty="0"/>
              <a:t>(except Al, Po, and At).</a:t>
            </a:r>
          </a:p>
          <a:p>
            <a:pPr eaLnBrk="1" hangingPunct="1"/>
            <a:r>
              <a:rPr lang="en-US" sz="2800" dirty="0"/>
              <a:t>Their properties are sometimes like metals and sometimes like nonmetals.</a:t>
            </a:r>
          </a:p>
        </p:txBody>
      </p:sp>
      <p:sp>
        <p:nvSpPr>
          <p:cNvPr id="88068" name="Rectangle 4"/>
          <p:cNvSpPr>
            <a:spLocks noChangeArrowheads="1"/>
          </p:cNvSpPr>
          <p:nvPr/>
        </p:nvSpPr>
        <p:spPr bwMode="auto">
          <a:xfrm>
            <a:off x="2895600" y="3048000"/>
            <a:ext cx="304800" cy="228600"/>
          </a:xfrm>
          <a:prstGeom prst="rect">
            <a:avLst/>
          </a:prstGeom>
          <a:solidFill>
            <a:schemeClr val="bg1">
              <a:alpha val="50195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8069" name="Rectangle 5"/>
          <p:cNvSpPr>
            <a:spLocks noChangeArrowheads="1"/>
          </p:cNvSpPr>
          <p:nvPr/>
        </p:nvSpPr>
        <p:spPr bwMode="auto">
          <a:xfrm>
            <a:off x="301625" y="2614613"/>
            <a:ext cx="758825" cy="73025"/>
          </a:xfrm>
          <a:prstGeom prst="rect">
            <a:avLst/>
          </a:prstGeom>
          <a:solidFill>
            <a:schemeClr val="bg1">
              <a:alpha val="59999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8070" name="Rectangle 6"/>
          <p:cNvSpPr>
            <a:spLocks noChangeArrowheads="1"/>
          </p:cNvSpPr>
          <p:nvPr/>
        </p:nvSpPr>
        <p:spPr bwMode="auto">
          <a:xfrm>
            <a:off x="1323975" y="5391150"/>
            <a:ext cx="3276600" cy="381000"/>
          </a:xfrm>
          <a:prstGeom prst="rect">
            <a:avLst/>
          </a:prstGeom>
          <a:solidFill>
            <a:schemeClr val="bg1">
              <a:alpha val="59999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8071" name="Rectangle 7"/>
          <p:cNvSpPr>
            <a:spLocks noChangeArrowheads="1"/>
          </p:cNvSpPr>
          <p:nvPr/>
        </p:nvSpPr>
        <p:spPr bwMode="auto">
          <a:xfrm>
            <a:off x="762000" y="2362200"/>
            <a:ext cx="228600" cy="304800"/>
          </a:xfrm>
          <a:prstGeom prst="rect">
            <a:avLst/>
          </a:prstGeom>
          <a:solidFill>
            <a:schemeClr val="bg1">
              <a:alpha val="59999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8072" name="Picture 9" descr="02_14_Figure.jpg"/>
          <p:cNvPicPr>
            <a:picLocks noChangeAspect="1"/>
          </p:cNvPicPr>
          <p:nvPr/>
        </p:nvPicPr>
        <p:blipFill>
          <a:blip r:embed="rId3" cstate="print"/>
          <a:srcRect b="3052"/>
          <a:stretch>
            <a:fillRect/>
          </a:stretch>
        </p:blipFill>
        <p:spPr bwMode="auto">
          <a:xfrm>
            <a:off x="45520" y="1621390"/>
            <a:ext cx="6004959" cy="354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D747E54-D079-490F-A124-D57287F19650}"/>
              </a:ext>
            </a:extLst>
          </p:cNvPr>
          <p:cNvSpPr txBox="1"/>
          <p:nvPr/>
        </p:nvSpPr>
        <p:spPr>
          <a:xfrm>
            <a:off x="483265" y="5810702"/>
            <a:ext cx="702243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/>
              <a:t>Boron, Silicon, Germanium, Arsenic, </a:t>
            </a:r>
            <a:r>
              <a:rPr lang="en-US" altLang="zh-CN" sz="2200" dirty="0" err="1"/>
              <a:t>Stibium</a:t>
            </a:r>
            <a:r>
              <a:rPr lang="en-US" altLang="zh-CN" sz="2200" dirty="0"/>
              <a:t>, Tellurium</a:t>
            </a:r>
            <a:endParaRPr lang="zh-CN" altLang="en-US" sz="2200" dirty="0"/>
          </a:p>
        </p:txBody>
      </p:sp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ctrTitle"/>
          </p:nvPr>
        </p:nvSpPr>
        <p:spPr>
          <a:xfrm>
            <a:off x="457200" y="533400"/>
            <a:ext cx="7696200" cy="2362200"/>
          </a:xfrm>
        </p:spPr>
        <p:txBody>
          <a:bodyPr/>
          <a:lstStyle/>
          <a:p>
            <a:pPr algn="l" eaLnBrk="1" hangingPunct="1"/>
            <a:r>
              <a:rPr lang="en-US">
                <a:latin typeface="Arial" charset="0"/>
                <a:ea typeface="ヒラギノ角ゴ Pro W3" charset="0"/>
                <a:cs typeface="Arial" charset="0"/>
              </a:rPr>
              <a:t>The nucleus of an atom contains</a:t>
            </a:r>
          </a:p>
        </p:txBody>
      </p:sp>
      <p:sp>
        <p:nvSpPr>
          <p:cNvPr id="15363" name="Subtitle 2"/>
          <p:cNvSpPr>
            <a:spLocks noGrp="1"/>
          </p:cNvSpPr>
          <p:nvPr>
            <p:ph type="subTitle" idx="1"/>
          </p:nvPr>
        </p:nvSpPr>
        <p:spPr>
          <a:xfrm>
            <a:off x="1295400" y="3124200"/>
            <a:ext cx="6781800" cy="25146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Arial" charset="0"/>
              </a:rPr>
              <a:t>protons and neutrons.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Arial" charset="0"/>
              </a:rPr>
              <a:t>protons and electrons.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Arial" charset="0"/>
              </a:rPr>
              <a:t>electrons and neutrons.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Arial" charset="0"/>
              </a:rPr>
              <a:t>protons, neutrons, and electrons.</a:t>
            </a:r>
          </a:p>
        </p:txBody>
      </p:sp>
    </p:spTree>
    <p:extLst>
      <p:ext uri="{BB962C8B-B14F-4D97-AF65-F5344CB8AC3E}">
        <p14:creationId xmlns:p14="http://schemas.microsoft.com/office/powerpoint/2010/main" val="6764019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ctrTitle"/>
          </p:nvPr>
        </p:nvSpPr>
        <p:spPr>
          <a:xfrm>
            <a:off x="457200" y="533400"/>
            <a:ext cx="7696200" cy="2362200"/>
          </a:xfrm>
        </p:spPr>
        <p:txBody>
          <a:bodyPr/>
          <a:lstStyle/>
          <a:p>
            <a:pPr algn="l" eaLnBrk="1" hangingPunct="1"/>
            <a:r>
              <a:rPr lang="en-US">
                <a:latin typeface="Arial" charset="0"/>
                <a:ea typeface="ヒラギノ角ゴ Pro W3" charset="0"/>
                <a:cs typeface="Arial" charset="0"/>
              </a:rPr>
              <a:t>The nucleus of an atom contains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1295400" y="3124200"/>
            <a:ext cx="6781800" cy="25146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b="1">
                <a:solidFill>
                  <a:srgbClr val="0D0D0D"/>
                </a:solidFill>
                <a:latin typeface="Arial" charset="0"/>
                <a:ea typeface="ヒラギノ角ゴ Pro W3" charset="0"/>
                <a:cs typeface="Arial" charset="0"/>
              </a:rPr>
              <a:t>protons and neutrons.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Arial" charset="0"/>
              </a:rPr>
              <a:t>protons and electrons.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Arial" charset="0"/>
              </a:rPr>
              <a:t>electrons and neutrons.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Arial" charset="0"/>
              </a:rPr>
              <a:t>protons, neutrons, and electrons.</a:t>
            </a:r>
          </a:p>
        </p:txBody>
      </p:sp>
    </p:spTree>
    <p:extLst>
      <p:ext uri="{BB962C8B-B14F-4D97-AF65-F5344CB8AC3E}">
        <p14:creationId xmlns:p14="http://schemas.microsoft.com/office/powerpoint/2010/main" val="5872102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ctrTitle"/>
          </p:nvPr>
        </p:nvSpPr>
        <p:spPr>
          <a:xfrm>
            <a:off x="609600" y="533400"/>
            <a:ext cx="7848600" cy="3067050"/>
          </a:xfrm>
        </p:spPr>
        <p:txBody>
          <a:bodyPr/>
          <a:lstStyle/>
          <a:p>
            <a:pPr algn="l" eaLnBrk="1" hangingPunct="1"/>
            <a:r>
              <a:rPr lang="en-US">
                <a:latin typeface="Arial" charset="0"/>
                <a:ea typeface="ヒラギノ角ゴ Pro W3" charset="0"/>
                <a:cs typeface="Arial" charset="0"/>
              </a:rPr>
              <a:t>Two atoms with the same atomic number but different mass numbers are called</a:t>
            </a:r>
          </a:p>
        </p:txBody>
      </p:sp>
      <p:sp>
        <p:nvSpPr>
          <p:cNvPr id="19459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5146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Arial" charset="0"/>
              </a:rPr>
              <a:t>mutants.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Arial" charset="0"/>
              </a:rPr>
              <a:t>isomers.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Arial" charset="0"/>
              </a:rPr>
              <a:t>isotopes.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Arial" charset="0"/>
              </a:rPr>
              <a:t>symbiots.</a:t>
            </a:r>
          </a:p>
        </p:txBody>
      </p:sp>
    </p:spTree>
    <p:extLst>
      <p:ext uri="{BB962C8B-B14F-4D97-AF65-F5344CB8AC3E}">
        <p14:creationId xmlns:p14="http://schemas.microsoft.com/office/powerpoint/2010/main" val="5632175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ctrTitle"/>
          </p:nvPr>
        </p:nvSpPr>
        <p:spPr>
          <a:xfrm>
            <a:off x="609600" y="533400"/>
            <a:ext cx="7848600" cy="3067050"/>
          </a:xfrm>
        </p:spPr>
        <p:txBody>
          <a:bodyPr/>
          <a:lstStyle/>
          <a:p>
            <a:pPr algn="l" eaLnBrk="1" hangingPunct="1"/>
            <a:r>
              <a:rPr lang="en-US">
                <a:latin typeface="Arial" charset="0"/>
                <a:ea typeface="ヒラギノ角ゴ Pro W3" charset="0"/>
                <a:cs typeface="Arial" charset="0"/>
              </a:rPr>
              <a:t>Two atoms with the same atomic number but different mass numbers are called</a:t>
            </a:r>
          </a:p>
        </p:txBody>
      </p:sp>
      <p:sp>
        <p:nvSpPr>
          <p:cNvPr id="2150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5146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Arial" charset="0"/>
              </a:rPr>
              <a:t>mutants.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Arial" charset="0"/>
              </a:rPr>
              <a:t>isomers.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b="1" dirty="0">
                <a:solidFill>
                  <a:srgbClr val="000000"/>
                </a:solidFill>
                <a:latin typeface="Arial" charset="0"/>
                <a:ea typeface="ヒラギノ角ゴ Pro W3" charset="0"/>
                <a:cs typeface="Arial" charset="0"/>
              </a:rPr>
              <a:t>isotopes.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dirty="0" err="1">
                <a:solidFill>
                  <a:srgbClr val="0D0D0D"/>
                </a:solidFill>
                <a:latin typeface="Arial" charset="0"/>
                <a:ea typeface="ヒラギノ角ゴ Pro W3" charset="0"/>
                <a:cs typeface="Arial" charset="0"/>
              </a:rPr>
              <a:t>symbiots</a:t>
            </a: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Arial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561244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58200" cy="1858962"/>
          </a:xfrm>
        </p:spPr>
        <p:txBody>
          <a:bodyPr/>
          <a:lstStyle/>
          <a:p>
            <a:pPr algn="l"/>
            <a: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  <a:t>Select the </a:t>
            </a:r>
            <a:r>
              <a:rPr lang="en-US" b="1" dirty="0">
                <a:latin typeface="Arial" charset="0"/>
                <a:ea typeface="ヒラギノ角ゴ Pro W3" charset="0"/>
                <a:cs typeface="ヒラギノ角ゴ Pro W3" charset="0"/>
              </a:rPr>
              <a:t>incorrect</a:t>
            </a:r>
            <a: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  <a:t> statement about the mass and volume of</a:t>
            </a:r>
            <a:b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</a:br>
            <a: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  <a:t>an atom.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457200" y="2438400"/>
            <a:ext cx="8229600" cy="3352800"/>
          </a:xfrm>
        </p:spPr>
        <p:txBody>
          <a:bodyPr/>
          <a:lstStyle/>
          <a:p>
            <a:pPr marL="514350" indent="-514350">
              <a:buFont typeface="Arial" charset="0"/>
              <a:buAutoNum type="alphaLcPeriod"/>
            </a:pPr>
            <a: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  <a:t>The mass is determined mostly by the protons and neutrons.</a:t>
            </a:r>
          </a:p>
          <a:p>
            <a:pPr marL="514350" indent="-514350">
              <a:buFont typeface="Arial" charset="0"/>
              <a:buAutoNum type="alphaLcPeriod"/>
            </a:pPr>
            <a: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  <a:t>The volume is mostly empty space.</a:t>
            </a:r>
          </a:p>
          <a:p>
            <a:pPr marL="514350" indent="-514350">
              <a:buFont typeface="Arial" charset="0"/>
              <a:buAutoNum type="alphaLcPeriod"/>
            </a:pPr>
            <a: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  <a:t>The mass is concentrated in the nucleus.</a:t>
            </a:r>
          </a:p>
          <a:p>
            <a:pPr marL="514350" indent="-514350">
              <a:buFont typeface="Arial" charset="0"/>
              <a:buAutoNum type="alphaLcPeriod"/>
            </a:pPr>
            <a: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  <a:t>The volume is determined by the arrangement of the protons.</a:t>
            </a:r>
          </a:p>
          <a:p>
            <a:pPr marL="514350" indent="-514350">
              <a:buFont typeface="Arial" charset="0"/>
              <a:buAutoNum type="alphaLcPeriod"/>
            </a:pPr>
            <a:endParaRPr lang="en-US" dirty="0">
              <a:latin typeface="Arial" charset="0"/>
              <a:ea typeface="ヒラギノ角ゴ Pro W3" charset="0"/>
              <a:cs typeface="ヒラギノ角ゴ Pro W3" charset="0"/>
            </a:endParaRPr>
          </a:p>
          <a:p>
            <a:pPr marL="514350" indent="-514350">
              <a:buFont typeface="Arial" charset="0"/>
              <a:buNone/>
            </a:pPr>
            <a:endParaRPr lang="en-US" dirty="0">
              <a:latin typeface="Arial" charset="0"/>
              <a:ea typeface="ヒラギノ角ゴ Pro W3" charset="0"/>
              <a:cs typeface="ヒラギノ角ゴ Pro W3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92426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58200" cy="1858962"/>
          </a:xfrm>
        </p:spPr>
        <p:txBody>
          <a:bodyPr/>
          <a:lstStyle/>
          <a:p>
            <a:pPr algn="l"/>
            <a: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  <a:t>Select the </a:t>
            </a:r>
            <a:r>
              <a:rPr lang="en-US" b="1" dirty="0">
                <a:latin typeface="Arial" charset="0"/>
                <a:ea typeface="ヒラギノ角ゴ Pro W3" charset="0"/>
                <a:cs typeface="ヒラギノ角ゴ Pro W3" charset="0"/>
              </a:rPr>
              <a:t>incorrect</a:t>
            </a:r>
            <a: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  <a:t> statement about the mass and volume of</a:t>
            </a:r>
            <a:b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</a:br>
            <a: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  <a:t>an atom.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457200" y="2438400"/>
            <a:ext cx="8229600" cy="3352800"/>
          </a:xfrm>
        </p:spPr>
        <p:txBody>
          <a:bodyPr/>
          <a:lstStyle/>
          <a:p>
            <a:pPr marL="514350" indent="-514350">
              <a:buFont typeface="Arial" charset="0"/>
              <a:buAutoNum type="alphaLcPeriod"/>
            </a:pPr>
            <a:r>
              <a:rPr lang="en-US">
                <a:latin typeface="Arial" charset="0"/>
                <a:ea typeface="ヒラギノ角ゴ Pro W3" charset="0"/>
                <a:cs typeface="ヒラギノ角ゴ Pro W3" charset="0"/>
              </a:rPr>
              <a:t>The mass is determined mostly by the protons and neutrons.</a:t>
            </a:r>
          </a:p>
          <a:p>
            <a:pPr marL="514350" indent="-514350">
              <a:buFont typeface="Arial" charset="0"/>
              <a:buAutoNum type="alphaLcPeriod"/>
            </a:pPr>
            <a:r>
              <a:rPr lang="en-US">
                <a:latin typeface="Arial" charset="0"/>
                <a:ea typeface="ヒラギノ角ゴ Pro W3" charset="0"/>
                <a:cs typeface="ヒラギノ角ゴ Pro W3" charset="0"/>
              </a:rPr>
              <a:t>The volume is mostly empty space.</a:t>
            </a:r>
          </a:p>
          <a:p>
            <a:pPr marL="514350" indent="-514350">
              <a:buFont typeface="Arial" charset="0"/>
              <a:buAutoNum type="alphaLcPeriod"/>
            </a:pPr>
            <a:r>
              <a:rPr lang="en-US">
                <a:latin typeface="Arial" charset="0"/>
                <a:ea typeface="ヒラギノ角ゴ Pro W3" charset="0"/>
                <a:cs typeface="ヒラギノ角ゴ Pro W3" charset="0"/>
              </a:rPr>
              <a:t>The mass is concentrated in the nucleus.</a:t>
            </a:r>
          </a:p>
          <a:p>
            <a:pPr marL="514350" indent="-514350">
              <a:buFont typeface="Arial" charset="0"/>
              <a:buAutoNum type="alphaLcPeriod"/>
            </a:pPr>
            <a:r>
              <a:rPr lang="en-US" b="1">
                <a:solidFill>
                  <a:srgbClr val="00000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The volume is determined by the arrangement of the protons.</a:t>
            </a:r>
          </a:p>
          <a:p>
            <a:pPr marL="514350" indent="-514350">
              <a:buFont typeface="Arial" charset="0"/>
              <a:buAutoNum type="alphaLcPeriod"/>
            </a:pPr>
            <a:endParaRPr lang="en-US">
              <a:latin typeface="Arial" charset="0"/>
              <a:ea typeface="ヒラギノ角ゴ Pro W3" charset="0"/>
              <a:cs typeface="ヒラギノ角ゴ Pro W3" charset="0"/>
            </a:endParaRPr>
          </a:p>
          <a:p>
            <a:pPr marL="514350" indent="-514350">
              <a:buFont typeface="Arial" charset="0"/>
              <a:buNone/>
            </a:pPr>
            <a:endParaRPr lang="en-US">
              <a:latin typeface="Arial" charset="0"/>
              <a:ea typeface="ヒラギノ角ゴ Pro W3" charset="0"/>
              <a:cs typeface="ヒラギノ角ゴ Pro W3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59455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544762"/>
          </a:xfrm>
        </p:spPr>
        <p:txBody>
          <a:bodyPr/>
          <a:lstStyle/>
          <a:p>
            <a:pPr algn="l"/>
            <a: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  <a:t>For an atom of fluorine, the</a:t>
            </a:r>
            <a:b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</a:br>
            <a: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  <a:t>atomic number is ___ and the</a:t>
            </a:r>
            <a:b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</a:br>
            <a: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  <a:t>average atomic mass is ___. 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457200" y="2895600"/>
            <a:ext cx="8229600" cy="3352800"/>
          </a:xfrm>
        </p:spPr>
        <p:txBody>
          <a:bodyPr/>
          <a:lstStyle/>
          <a:p>
            <a:pPr marL="514350" indent="-514350">
              <a:buFont typeface="Arial" charset="0"/>
              <a:buAutoNum type="alphaLcPeriod"/>
            </a:pPr>
            <a:r>
              <a:rPr lang="en-US">
                <a:latin typeface="Arial" charset="0"/>
                <a:ea typeface="ヒラギノ角ゴ Pro W3" charset="0"/>
                <a:cs typeface="ヒラギノ角ゴ Pro W3" charset="0"/>
              </a:rPr>
              <a:t>9; 18.988 amu</a:t>
            </a:r>
          </a:p>
          <a:p>
            <a:pPr marL="514350" indent="-514350">
              <a:buFont typeface="Arial" charset="0"/>
              <a:buAutoNum type="alphaLcPeriod"/>
            </a:pPr>
            <a:r>
              <a:rPr lang="en-US">
                <a:latin typeface="Arial" charset="0"/>
                <a:ea typeface="ヒラギノ角ゴ Pro W3" charset="0"/>
                <a:cs typeface="ヒラギノ角ゴ Pro W3" charset="0"/>
              </a:rPr>
              <a:t>18.998; 9 amu</a:t>
            </a:r>
          </a:p>
          <a:p>
            <a:pPr marL="514350" indent="-514350">
              <a:buFont typeface="Arial" charset="0"/>
              <a:buAutoNum type="alphaLcPeriod"/>
            </a:pPr>
            <a:r>
              <a:rPr lang="en-US">
                <a:latin typeface="Arial" charset="0"/>
                <a:ea typeface="ヒラギノ角ゴ Pro W3" charset="0"/>
                <a:cs typeface="ヒラギノ角ゴ Pro W3" charset="0"/>
              </a:rPr>
              <a:t>10; 19 g</a:t>
            </a:r>
          </a:p>
          <a:p>
            <a:pPr marL="514350" indent="-514350">
              <a:buFont typeface="Arial" charset="0"/>
              <a:buAutoNum type="alphaLcPeriod"/>
            </a:pPr>
            <a:r>
              <a:rPr lang="en-US">
                <a:latin typeface="Arial" charset="0"/>
                <a:ea typeface="ヒラギノ角ゴ Pro W3" charset="0"/>
                <a:cs typeface="ヒラギノ角ゴ Pro W3" charset="0"/>
              </a:rPr>
              <a:t>9; 9 g</a:t>
            </a:r>
          </a:p>
        </p:txBody>
      </p:sp>
    </p:spTree>
    <p:extLst>
      <p:ext uri="{BB962C8B-B14F-4D97-AF65-F5344CB8AC3E}">
        <p14:creationId xmlns:p14="http://schemas.microsoft.com/office/powerpoint/2010/main" val="10319496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544762"/>
          </a:xfrm>
        </p:spPr>
        <p:txBody>
          <a:bodyPr/>
          <a:lstStyle/>
          <a:p>
            <a:pPr algn="l"/>
            <a:r>
              <a:rPr lang="en-US">
                <a:latin typeface="Arial" charset="0"/>
                <a:ea typeface="ヒラギノ角ゴ Pro W3" charset="0"/>
                <a:cs typeface="ヒラギノ角ゴ Pro W3" charset="0"/>
              </a:rPr>
              <a:t>For an atom of fluorine, the atomic number is ___ and the average atomic mass is ___. 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457200" y="2895600"/>
            <a:ext cx="8229600" cy="3352800"/>
          </a:xfrm>
        </p:spPr>
        <p:txBody>
          <a:bodyPr/>
          <a:lstStyle/>
          <a:p>
            <a:pPr marL="514350" indent="-514350">
              <a:buFont typeface="Arial" charset="0"/>
              <a:buAutoNum type="alphaLcPeriod"/>
            </a:pPr>
            <a:r>
              <a:rPr lang="en-US" b="1">
                <a:solidFill>
                  <a:srgbClr val="00000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9; 18.988 amu</a:t>
            </a:r>
          </a:p>
          <a:p>
            <a:pPr marL="514350" indent="-514350">
              <a:buFont typeface="Arial" charset="0"/>
              <a:buAutoNum type="alphaLcPeriod"/>
            </a:pPr>
            <a:r>
              <a:rPr lang="en-US">
                <a:latin typeface="Arial" charset="0"/>
                <a:ea typeface="ヒラギノ角ゴ Pro W3" charset="0"/>
                <a:cs typeface="ヒラギノ角ゴ Pro W3" charset="0"/>
              </a:rPr>
              <a:t>18.998; 9 amu</a:t>
            </a:r>
          </a:p>
          <a:p>
            <a:pPr marL="514350" indent="-514350">
              <a:buFont typeface="Arial" charset="0"/>
              <a:buAutoNum type="alphaLcPeriod"/>
            </a:pPr>
            <a:r>
              <a:rPr lang="en-US">
                <a:latin typeface="Arial" charset="0"/>
                <a:ea typeface="ヒラギノ角ゴ Pro W3" charset="0"/>
                <a:cs typeface="ヒラギノ角ゴ Pro W3" charset="0"/>
              </a:rPr>
              <a:t>10; 19 g</a:t>
            </a:r>
          </a:p>
          <a:p>
            <a:pPr marL="514350" indent="-514350">
              <a:buFont typeface="Arial" charset="0"/>
              <a:buAutoNum type="alphaLcPeriod"/>
            </a:pPr>
            <a:r>
              <a:rPr lang="en-US">
                <a:latin typeface="Arial" charset="0"/>
                <a:ea typeface="ヒラギノ角ゴ Pro W3" charset="0"/>
                <a:cs typeface="ヒラギノ角ゴ Pro W3" charset="0"/>
              </a:rPr>
              <a:t>9; 9 g</a:t>
            </a:r>
          </a:p>
        </p:txBody>
      </p:sp>
    </p:spTree>
    <p:extLst>
      <p:ext uri="{BB962C8B-B14F-4D97-AF65-F5344CB8AC3E}">
        <p14:creationId xmlns:p14="http://schemas.microsoft.com/office/powerpoint/2010/main" val="16904131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ctrTitle"/>
          </p:nvPr>
        </p:nvSpPr>
        <p:spPr>
          <a:xfrm>
            <a:off x="533400" y="381000"/>
            <a:ext cx="7924800" cy="2438400"/>
          </a:xfrm>
        </p:spPr>
        <p:txBody>
          <a:bodyPr/>
          <a:lstStyle/>
          <a:p>
            <a:pPr algn="l" eaLnBrk="1" hangingPunct="1"/>
            <a:r>
              <a:rPr lang="en-US" sz="4000" dirty="0">
                <a:latin typeface="Arial" charset="0"/>
                <a:ea typeface="ヒラギノ角ゴ Pro W3" charset="0"/>
                <a:cs typeface="Arial" charset="0"/>
              </a:rPr>
              <a:t>Atomic weights on the periodic table are decimal numbers instead of integers because</a:t>
            </a:r>
          </a:p>
        </p:txBody>
      </p:sp>
      <p:sp>
        <p:nvSpPr>
          <p:cNvPr id="31747" name="Subtitle 2"/>
          <p:cNvSpPr>
            <a:spLocks noGrp="1"/>
          </p:cNvSpPr>
          <p:nvPr>
            <p:ph type="subTitle" idx="1"/>
          </p:nvPr>
        </p:nvSpPr>
        <p:spPr>
          <a:xfrm>
            <a:off x="457200" y="2667000"/>
            <a:ext cx="8229600" cy="37338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Arial" charset="0"/>
              </a:rPr>
              <a:t>the number of protons + neutrons determines atomic weight.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Arial" charset="0"/>
              </a:rPr>
              <a:t>of the existence of isotopes.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Arial" charset="0"/>
              </a:rPr>
              <a:t>of the very small mass of electrons compared to protons and neutrons.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Arial" charset="0"/>
              </a:rPr>
              <a:t>the number of protons + electrons determines atomic weight.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endParaRPr lang="en-US" dirty="0">
              <a:solidFill>
                <a:srgbClr val="0D0D0D"/>
              </a:solidFill>
              <a:latin typeface="Arial" charset="0"/>
              <a:ea typeface="ヒラギノ角ゴ Pro W3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67235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ctrTitle"/>
          </p:nvPr>
        </p:nvSpPr>
        <p:spPr>
          <a:xfrm>
            <a:off x="533400" y="381000"/>
            <a:ext cx="7924800" cy="2438400"/>
          </a:xfrm>
        </p:spPr>
        <p:txBody>
          <a:bodyPr/>
          <a:lstStyle/>
          <a:p>
            <a:pPr algn="l" eaLnBrk="1" hangingPunct="1"/>
            <a:r>
              <a:rPr lang="en-US" sz="4000" dirty="0">
                <a:latin typeface="Arial" charset="0"/>
                <a:ea typeface="ヒラギノ角ゴ Pro W3" charset="0"/>
                <a:cs typeface="Arial" charset="0"/>
              </a:rPr>
              <a:t>Atomic weights on the periodic table are decimal numbers instead of integers because</a:t>
            </a:r>
          </a:p>
        </p:txBody>
      </p:sp>
      <p:sp>
        <p:nvSpPr>
          <p:cNvPr id="33795" name="Subtitle 2"/>
          <p:cNvSpPr>
            <a:spLocks noGrp="1"/>
          </p:cNvSpPr>
          <p:nvPr>
            <p:ph type="subTitle" idx="1"/>
          </p:nvPr>
        </p:nvSpPr>
        <p:spPr>
          <a:xfrm>
            <a:off x="457200" y="2667000"/>
            <a:ext cx="8229600" cy="37338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Arial" charset="0"/>
              </a:rPr>
              <a:t>the number of protons + neutrons determines atomic weight.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b="1">
                <a:solidFill>
                  <a:srgbClr val="000000"/>
                </a:solidFill>
                <a:latin typeface="Arial" charset="0"/>
                <a:ea typeface="ヒラギノ角ゴ Pro W3" charset="0"/>
                <a:cs typeface="Arial" charset="0"/>
              </a:rPr>
              <a:t>of the existence of isotopes.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Arial" charset="0"/>
              </a:rPr>
              <a:t>of the very small mass of electrons compared to protons and neutrons.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Arial" charset="0"/>
              </a:rPr>
              <a:t>the number of protons + electrons determines atomic weight.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endParaRPr lang="en-US">
              <a:solidFill>
                <a:srgbClr val="0D0D0D"/>
              </a:solidFill>
              <a:latin typeface="Arial" charset="0"/>
              <a:ea typeface="ヒラギノ角ゴ Pro W3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77300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ctrTitle"/>
          </p:nvPr>
        </p:nvSpPr>
        <p:spPr>
          <a:xfrm>
            <a:off x="533400" y="685800"/>
            <a:ext cx="7924800" cy="2914650"/>
          </a:xfrm>
        </p:spPr>
        <p:txBody>
          <a:bodyPr/>
          <a:lstStyle/>
          <a:p>
            <a:pPr algn="l" eaLnBrk="1" hangingPunct="1"/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The elements found on the right side of the periodic table tend to ______ electrons.</a:t>
            </a:r>
          </a:p>
        </p:txBody>
      </p:sp>
      <p:sp>
        <p:nvSpPr>
          <p:cNvPr id="3584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6670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Arial" charset="0"/>
              </a:rPr>
              <a:t>gain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Arial" charset="0"/>
              </a:rPr>
              <a:t>lose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Arial" charset="0"/>
              </a:rPr>
              <a:t>keep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Arial" charset="0"/>
              </a:rPr>
              <a:t>share</a:t>
            </a:r>
          </a:p>
        </p:txBody>
      </p:sp>
    </p:spTree>
    <p:extLst>
      <p:ext uri="{BB962C8B-B14F-4D97-AF65-F5344CB8AC3E}">
        <p14:creationId xmlns:p14="http://schemas.microsoft.com/office/powerpoint/2010/main" val="32960843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ctrTitle"/>
          </p:nvPr>
        </p:nvSpPr>
        <p:spPr>
          <a:xfrm>
            <a:off x="533400" y="685800"/>
            <a:ext cx="7924800" cy="2914650"/>
          </a:xfrm>
        </p:spPr>
        <p:txBody>
          <a:bodyPr/>
          <a:lstStyle/>
          <a:p>
            <a:pPr algn="l" eaLnBrk="1" hangingPunct="1"/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The elements found on the right side of the periodic table tend to ______ electrons.</a:t>
            </a:r>
          </a:p>
        </p:txBody>
      </p:sp>
      <p:sp>
        <p:nvSpPr>
          <p:cNvPr id="37891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6670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b="1">
                <a:solidFill>
                  <a:srgbClr val="000000"/>
                </a:solidFill>
                <a:latin typeface="Arial" charset="0"/>
                <a:ea typeface="ヒラギノ角ゴ Pro W3" charset="0"/>
                <a:cs typeface="Arial" charset="0"/>
              </a:rPr>
              <a:t>gain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chemeClr val="tx1"/>
                </a:solidFill>
                <a:latin typeface="Arial" charset="0"/>
                <a:ea typeface="ヒラギノ角ゴ Pro W3" charset="0"/>
                <a:cs typeface="Arial" charset="0"/>
              </a:rPr>
              <a:t>lose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Arial" charset="0"/>
              </a:rPr>
              <a:t>keep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Arial" charset="0"/>
              </a:rPr>
              <a:t>share</a:t>
            </a:r>
          </a:p>
        </p:txBody>
      </p:sp>
    </p:spTree>
    <p:extLst>
      <p:ext uri="{BB962C8B-B14F-4D97-AF65-F5344CB8AC3E}">
        <p14:creationId xmlns:p14="http://schemas.microsoft.com/office/powerpoint/2010/main" val="26094268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36525"/>
            <a:ext cx="9144000" cy="1143000"/>
          </a:xfrm>
        </p:spPr>
        <p:txBody>
          <a:bodyPr/>
          <a:lstStyle/>
          <a:p>
            <a:pPr eaLnBrk="1" hangingPunct="1"/>
            <a:r>
              <a:rPr lang="en-US" dirty="0"/>
              <a:t>Chemical Formulas (</a:t>
            </a:r>
            <a:r>
              <a:rPr lang="zh-CN" altLang="en-US" dirty="0"/>
              <a:t>化学式</a:t>
            </a:r>
            <a:r>
              <a:rPr lang="en-US" dirty="0"/>
              <a:t>)</a:t>
            </a:r>
          </a:p>
        </p:txBody>
      </p:sp>
      <p:sp>
        <p:nvSpPr>
          <p:cNvPr id="90115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3429000" y="1619269"/>
            <a:ext cx="5297488" cy="4219575"/>
          </a:xfrm>
        </p:spPr>
        <p:txBody>
          <a:bodyPr/>
          <a:lstStyle/>
          <a:p>
            <a:pPr eaLnBrk="1" hangingPunct="1"/>
            <a:r>
              <a:rPr lang="en-US" sz="2800" dirty="0"/>
              <a:t>The </a:t>
            </a:r>
            <a:r>
              <a:rPr lang="en-US" sz="2800" b="1" dirty="0"/>
              <a:t>subscript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0070C0"/>
                </a:solidFill>
              </a:rPr>
              <a:t>to the right of the symbol of an element </a:t>
            </a:r>
            <a:r>
              <a:rPr lang="en-US" sz="2800" dirty="0"/>
              <a:t>tells the number of atoms of that element in one molecule of the compound.</a:t>
            </a:r>
          </a:p>
          <a:p>
            <a:pPr eaLnBrk="1" hangingPunct="1"/>
            <a:r>
              <a:rPr lang="en-US" sz="2800" b="1" dirty="0"/>
              <a:t>Molecular compounds (</a:t>
            </a:r>
            <a:r>
              <a:rPr lang="zh-CN" altLang="en-US" sz="2800" b="1" dirty="0"/>
              <a:t>分子化合物</a:t>
            </a:r>
            <a:r>
              <a:rPr lang="en-US" sz="2800" b="1" dirty="0"/>
              <a:t>)</a:t>
            </a:r>
            <a:r>
              <a:rPr lang="en-US" sz="2800" dirty="0"/>
              <a:t> are composed of molecules and almost always contain only nonmetals.</a:t>
            </a:r>
          </a:p>
          <a:p>
            <a:pPr eaLnBrk="1" hangingPunct="1"/>
            <a:endParaRPr lang="en-US" sz="2800" dirty="0"/>
          </a:p>
        </p:txBody>
      </p:sp>
      <p:pic>
        <p:nvPicPr>
          <p:cNvPr id="90116" name="Picture 5" descr="02_16_Figure.jpg"/>
          <p:cNvPicPr>
            <a:picLocks noChangeAspect="1"/>
          </p:cNvPicPr>
          <p:nvPr/>
        </p:nvPicPr>
        <p:blipFill>
          <a:blip r:embed="rId3" cstate="print"/>
          <a:srcRect b="2419"/>
          <a:stretch>
            <a:fillRect/>
          </a:stretch>
        </p:blipFill>
        <p:spPr bwMode="auto">
          <a:xfrm>
            <a:off x="931863" y="1293813"/>
            <a:ext cx="2101850" cy="483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/>
          <p:nvPr/>
        </p:nvSpPr>
        <p:spPr>
          <a:xfrm>
            <a:off x="3668233" y="5890437"/>
            <a:ext cx="40616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     H</a:t>
            </a:r>
            <a:r>
              <a:rPr lang="en-US" baseline="-25000" dirty="0"/>
              <a:t>2</a:t>
            </a:r>
            <a:r>
              <a:rPr lang="en-US" dirty="0"/>
              <a:t>     H</a:t>
            </a:r>
            <a:r>
              <a:rPr lang="en-US" baseline="-25000" dirty="0"/>
              <a:t>2</a:t>
            </a:r>
            <a:r>
              <a:rPr lang="en-US" dirty="0"/>
              <a:t>O  </a:t>
            </a:r>
          </a:p>
        </p:txBody>
      </p:sp>
    </p:spTree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Diatomic Molecules</a:t>
            </a:r>
          </a:p>
        </p:txBody>
      </p:sp>
      <p:sp>
        <p:nvSpPr>
          <p:cNvPr id="92163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98500" y="1387475"/>
            <a:ext cx="7772400" cy="4876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These seven elements occur naturally as molecules containing two atoms: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Hydrogen H</a:t>
            </a:r>
            <a:r>
              <a:rPr lang="en-US" baseline="-25000" dirty="0"/>
              <a:t>2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Nitrogen N</a:t>
            </a:r>
            <a:r>
              <a:rPr lang="en-US" baseline="-25000" dirty="0"/>
              <a:t>2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Oxygen O</a:t>
            </a:r>
            <a:r>
              <a:rPr lang="en-US" baseline="-25000" dirty="0"/>
              <a:t>2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Fluorine F</a:t>
            </a:r>
            <a:r>
              <a:rPr lang="en-US" baseline="-25000" dirty="0"/>
              <a:t>2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Chlorine Cl</a:t>
            </a:r>
            <a:r>
              <a:rPr lang="en-US" baseline="-25000" dirty="0"/>
              <a:t>2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Bromine Br</a:t>
            </a:r>
            <a:r>
              <a:rPr lang="en-US" baseline="-25000" dirty="0"/>
              <a:t>2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Iodine I</a:t>
            </a:r>
            <a:r>
              <a:rPr lang="en-US" baseline="-25000" dirty="0"/>
              <a:t>2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dirty="0"/>
          </a:p>
        </p:txBody>
      </p:sp>
    </p:spTree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Types of Formulas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4534" y="1779173"/>
            <a:ext cx="7772400" cy="4114800"/>
          </a:xfrm>
        </p:spPr>
        <p:txBody>
          <a:bodyPr/>
          <a:lstStyle/>
          <a:p>
            <a:pPr eaLnBrk="1" hangingPunct="1"/>
            <a:r>
              <a:rPr lang="en-US" sz="2800" b="1" dirty="0"/>
              <a:t>Empirical formulas</a:t>
            </a:r>
            <a:r>
              <a:rPr lang="en-US" sz="2800" dirty="0"/>
              <a:t> </a:t>
            </a:r>
            <a:r>
              <a:rPr lang="en-US" sz="2800" b="1" dirty="0"/>
              <a:t>(</a:t>
            </a:r>
            <a:r>
              <a:rPr lang="zh-CN" altLang="en-US" sz="2800" b="1" dirty="0"/>
              <a:t>最简式</a:t>
            </a:r>
            <a:r>
              <a:rPr lang="en-US" sz="2800" b="1" dirty="0"/>
              <a:t>) </a:t>
            </a:r>
            <a:r>
              <a:rPr lang="en-US" sz="2800" dirty="0"/>
              <a:t>give the </a:t>
            </a:r>
            <a:r>
              <a:rPr lang="en-US" sz="2800" dirty="0">
                <a:solidFill>
                  <a:srgbClr val="0070C0"/>
                </a:solidFill>
              </a:rPr>
              <a:t>lowest whole-number</a:t>
            </a:r>
            <a:r>
              <a:rPr lang="en-US" sz="2800" dirty="0"/>
              <a:t> ratio of atoms of each element in a compound.</a:t>
            </a:r>
          </a:p>
          <a:p>
            <a:pPr eaLnBrk="1" hangingPunct="1"/>
            <a:r>
              <a:rPr lang="en-US" sz="2800" b="1" dirty="0"/>
              <a:t>Molecular formulas (</a:t>
            </a:r>
            <a:r>
              <a:rPr lang="zh-CN" altLang="en-US" sz="2800" b="1" dirty="0"/>
              <a:t>分子式</a:t>
            </a:r>
            <a:r>
              <a:rPr lang="en-US" sz="2800" b="1" dirty="0"/>
              <a:t>)</a:t>
            </a:r>
            <a:r>
              <a:rPr lang="en-US" sz="2800" dirty="0"/>
              <a:t> give the </a:t>
            </a:r>
            <a:r>
              <a:rPr lang="en-US" sz="2800" dirty="0">
                <a:solidFill>
                  <a:srgbClr val="0070C0"/>
                </a:solidFill>
              </a:rPr>
              <a:t>exact</a:t>
            </a:r>
            <a:r>
              <a:rPr lang="en-US" sz="2800" dirty="0"/>
              <a:t> number of atoms of each element in a compound.</a:t>
            </a:r>
          </a:p>
          <a:p>
            <a:pPr eaLnBrk="1" hangingPunct="1"/>
            <a:r>
              <a:rPr lang="en-US" sz="2800" dirty="0"/>
              <a:t>If we know the molecular formula of a compound, we can determine its empirical formula. </a:t>
            </a:r>
            <a:r>
              <a:rPr lang="en-US" sz="2800" u="sng" dirty="0"/>
              <a:t>The converse is not true!</a:t>
            </a:r>
            <a:endParaRPr lang="en-US" u="sng" dirty="0"/>
          </a:p>
        </p:txBody>
      </p:sp>
    </p:spTree>
  </p:cSld>
  <p:clrMapOvr>
    <a:masterClrMapping/>
  </p:clrMapOvr>
  <p:transition spd="slow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260" name="Picture 5" descr="02_17_Figure.jpg"/>
          <p:cNvPicPr>
            <a:picLocks noChangeAspect="1"/>
          </p:cNvPicPr>
          <p:nvPr/>
        </p:nvPicPr>
        <p:blipFill>
          <a:blip r:embed="rId3" cstate="print"/>
          <a:srcRect b="2419"/>
          <a:stretch>
            <a:fillRect/>
          </a:stretch>
        </p:blipFill>
        <p:spPr bwMode="auto">
          <a:xfrm>
            <a:off x="0" y="60632"/>
            <a:ext cx="3817398" cy="67700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>
            <a:extLst>
              <a:ext uri="{FF2B5EF4-FFF2-40B4-BE49-F238E27FC236}">
                <a16:creationId xmlns:a16="http://schemas.microsoft.com/office/drawing/2014/main" id="{51E457D0-704E-43B5-8979-56255429384B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3691384" y="1276874"/>
            <a:ext cx="5105400" cy="4524375"/>
          </a:xfrm>
        </p:spPr>
        <p:txBody>
          <a:bodyPr/>
          <a:lstStyle/>
          <a:p>
            <a:pPr eaLnBrk="1" hangingPunct="1"/>
            <a:r>
              <a:rPr lang="en-US" sz="2800" b="1" dirty="0"/>
              <a:t>Structural formulas</a:t>
            </a:r>
            <a:r>
              <a:rPr lang="en-US" sz="2800" dirty="0"/>
              <a:t> show the order in which atoms are attached. They do NOT depict the three-dimensional shape of molecules.</a:t>
            </a:r>
          </a:p>
          <a:p>
            <a:pPr eaLnBrk="1" hangingPunct="1"/>
            <a:r>
              <a:rPr lang="en-US" sz="2800" b="1" dirty="0"/>
              <a:t>Perspective drawings</a:t>
            </a:r>
            <a:r>
              <a:rPr lang="en-US" sz="2800" dirty="0"/>
              <a:t> also show the three-dimensional order of the atoms in a compound. These are also demonstrated using </a:t>
            </a:r>
            <a:r>
              <a:rPr lang="en-US" sz="2800" b="1" dirty="0"/>
              <a:t>models</a:t>
            </a:r>
            <a:r>
              <a:rPr lang="en-US" sz="2800" dirty="0"/>
              <a:t>.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6A1DB6F-FC97-42F6-B811-8ED30B6C07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60285" y="0"/>
            <a:ext cx="7132637" cy="1143000"/>
          </a:xfrm>
        </p:spPr>
        <p:txBody>
          <a:bodyPr/>
          <a:lstStyle/>
          <a:p>
            <a:pPr eaLnBrk="1" hangingPunct="1"/>
            <a:r>
              <a:rPr lang="en-US" dirty="0"/>
              <a:t>Types of Formulas</a:t>
            </a:r>
          </a:p>
        </p:txBody>
      </p:sp>
    </p:spTree>
  </p:cSld>
  <p:clrMapOvr>
    <a:masterClrMapping/>
  </p:clrMapOvr>
  <p:transition spd="slow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7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347662" y="3139181"/>
            <a:ext cx="8255000" cy="3279374"/>
          </a:xfrm>
        </p:spPr>
        <p:txBody>
          <a:bodyPr/>
          <a:lstStyle/>
          <a:p>
            <a:pPr eaLnBrk="1" hangingPunct="1"/>
            <a:r>
              <a:rPr lang="en-US" sz="2400" dirty="0"/>
              <a:t>When an atom of a group of atoms loses or gains electrons, it becomes an </a:t>
            </a:r>
            <a:r>
              <a:rPr lang="en-US" sz="2400" b="1" dirty="0"/>
              <a:t>ion</a:t>
            </a:r>
            <a:r>
              <a:rPr lang="en-US" sz="2400" dirty="0"/>
              <a:t>. </a:t>
            </a:r>
          </a:p>
          <a:p>
            <a:pPr eaLnBrk="1" hangingPunct="1"/>
            <a:r>
              <a:rPr lang="en-US" sz="2400" b="1" dirty="0"/>
              <a:t>Cations (</a:t>
            </a:r>
            <a:r>
              <a:rPr lang="zh-CN" altLang="en-US" sz="2400" b="1" dirty="0"/>
              <a:t>阳离子</a:t>
            </a:r>
            <a:r>
              <a:rPr lang="en-US" altLang="zh-CN" sz="2400" b="1" dirty="0"/>
              <a:t>, cat-ion</a:t>
            </a:r>
            <a:r>
              <a:rPr lang="en-US" sz="2400" b="1" dirty="0"/>
              <a:t>)</a:t>
            </a:r>
            <a:r>
              <a:rPr lang="en-US" sz="2400" dirty="0"/>
              <a:t> are formed when at least one electron is </a:t>
            </a:r>
            <a:r>
              <a:rPr lang="en-US" sz="2400" b="1" dirty="0"/>
              <a:t>lost</a:t>
            </a:r>
            <a:r>
              <a:rPr lang="en-US" sz="2400" dirty="0"/>
              <a:t>.  Monatomic cations are formed by metals.</a:t>
            </a:r>
          </a:p>
          <a:p>
            <a:pPr eaLnBrk="1" hangingPunct="1"/>
            <a:r>
              <a:rPr lang="en-US" sz="2400" b="1" dirty="0"/>
              <a:t>Anions (</a:t>
            </a:r>
            <a:r>
              <a:rPr lang="zh-CN" altLang="en-US" sz="2400" b="1" dirty="0"/>
              <a:t>阴离子</a:t>
            </a:r>
            <a:r>
              <a:rPr lang="en-US" altLang="zh-CN" sz="2400" b="1" dirty="0"/>
              <a:t>, An-ion</a:t>
            </a:r>
            <a:r>
              <a:rPr lang="en-US" sz="2400" b="1" dirty="0"/>
              <a:t>) </a:t>
            </a:r>
            <a:r>
              <a:rPr lang="en-US" sz="2400" dirty="0"/>
              <a:t>are formed when at least one electron is </a:t>
            </a:r>
            <a:r>
              <a:rPr lang="en-US" sz="2400" b="1" dirty="0"/>
              <a:t>gained</a:t>
            </a:r>
            <a:r>
              <a:rPr lang="en-US" sz="2400" dirty="0"/>
              <a:t>.   Monatomic anions are formed by nonmetals.</a:t>
            </a:r>
          </a:p>
        </p:txBody>
      </p:sp>
      <p:pic>
        <p:nvPicPr>
          <p:cNvPr id="98308" name="Picture 5" descr="02_18_Figure.jpg"/>
          <p:cNvPicPr>
            <a:picLocks noChangeAspect="1"/>
          </p:cNvPicPr>
          <p:nvPr/>
        </p:nvPicPr>
        <p:blipFill>
          <a:blip r:embed="rId3" cstate="print"/>
          <a:srcRect b="4701"/>
          <a:stretch>
            <a:fillRect/>
          </a:stretch>
        </p:blipFill>
        <p:spPr bwMode="auto">
          <a:xfrm>
            <a:off x="831850" y="227013"/>
            <a:ext cx="7286625" cy="2763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E5E4B2F5-900B-451D-9CF2-1177C3A71D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938" y="-1"/>
            <a:ext cx="8426450" cy="1109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ＭＳ Ｐゴシック" pitchFamily="34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  <a:ea typeface="ＭＳ Ｐゴシック" pitchFamily="48" charset="-128"/>
                <a:cs typeface="ＭＳ Ｐゴシック" pitchFamily="34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  <a:ea typeface="ＭＳ Ｐゴシック" pitchFamily="48" charset="-128"/>
                <a:cs typeface="ＭＳ Ｐゴシック" pitchFamily="34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  <a:ea typeface="ＭＳ Ｐゴシック" pitchFamily="48" charset="-128"/>
                <a:cs typeface="ＭＳ Ｐゴシック" pitchFamily="34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  <a:ea typeface="ＭＳ Ｐゴシック" pitchFamily="48" charset="-128"/>
                <a:cs typeface="ＭＳ Ｐゴシック" pitchFamily="34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9pPr>
          </a:lstStyle>
          <a:p>
            <a:pPr eaLnBrk="1" hangingPunct="1"/>
            <a:r>
              <a:rPr lang="en-US" kern="0" dirty="0"/>
              <a:t>Ions</a:t>
            </a:r>
          </a:p>
        </p:txBody>
      </p:sp>
    </p:spTree>
  </p:cSld>
  <p:clrMapOvr>
    <a:masterClrMapping/>
  </p:clrMapOvr>
  <p:transition spd="slow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Common Cations</a:t>
            </a:r>
          </a:p>
        </p:txBody>
      </p:sp>
      <p:pic>
        <p:nvPicPr>
          <p:cNvPr id="100355" name="Picture 4" descr="02_04_Table.jpg"/>
          <p:cNvPicPr>
            <a:picLocks noChangeAspect="1"/>
          </p:cNvPicPr>
          <p:nvPr/>
        </p:nvPicPr>
        <p:blipFill>
          <a:blip r:embed="rId3" cstate="print"/>
          <a:srcRect b="2632"/>
          <a:stretch>
            <a:fillRect/>
          </a:stretch>
        </p:blipFill>
        <p:spPr bwMode="auto">
          <a:xfrm>
            <a:off x="2100263" y="1266825"/>
            <a:ext cx="4827587" cy="4913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ounded Rectangle 1"/>
          <p:cNvSpPr/>
          <p:nvPr/>
        </p:nvSpPr>
        <p:spPr bwMode="auto">
          <a:xfrm>
            <a:off x="3476847" y="1690577"/>
            <a:ext cx="723013" cy="180753"/>
          </a:xfrm>
          <a:prstGeom prst="roundRect">
            <a:avLst/>
          </a:prstGeom>
          <a:solidFill>
            <a:schemeClr val="bg1">
              <a:alpha val="60001"/>
            </a:schemeClr>
          </a:solidFill>
          <a:ln w="28575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rgbClr val="C82E32"/>
              </a:solidFill>
              <a:effectLst/>
              <a:latin typeface="Arial" charset="0"/>
              <a:ea typeface="ＭＳ Ｐゴシック" pitchFamily="48" charset="-128"/>
            </a:endParaRPr>
          </a:p>
        </p:txBody>
      </p:sp>
    </p:spTree>
  </p:cSld>
  <p:clrMapOvr>
    <a:masterClrMapping/>
  </p:clrMapOvr>
  <p:transition spd="slow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Common Anions</a:t>
            </a:r>
          </a:p>
        </p:txBody>
      </p:sp>
      <p:pic>
        <p:nvPicPr>
          <p:cNvPr id="102403" name="Picture 4" descr="02_05_Table.jpg"/>
          <p:cNvPicPr>
            <a:picLocks noChangeAspect="1"/>
          </p:cNvPicPr>
          <p:nvPr/>
        </p:nvPicPr>
        <p:blipFill>
          <a:blip r:embed="rId3" cstate="print"/>
          <a:srcRect b="2632"/>
          <a:stretch>
            <a:fillRect/>
          </a:stretch>
        </p:blipFill>
        <p:spPr bwMode="auto">
          <a:xfrm>
            <a:off x="1465263" y="1420813"/>
            <a:ext cx="6073775" cy="478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ounded Rectangle 3"/>
          <p:cNvSpPr/>
          <p:nvPr/>
        </p:nvSpPr>
        <p:spPr bwMode="auto">
          <a:xfrm>
            <a:off x="3264195" y="1956390"/>
            <a:ext cx="723013" cy="180753"/>
          </a:xfrm>
          <a:prstGeom prst="roundRect">
            <a:avLst/>
          </a:prstGeom>
          <a:solidFill>
            <a:schemeClr val="bg1">
              <a:alpha val="60001"/>
            </a:schemeClr>
          </a:solidFill>
          <a:ln w="28575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rgbClr val="C82E32"/>
              </a:solidFill>
              <a:effectLst/>
              <a:latin typeface="Arial" charset="0"/>
              <a:ea typeface="ＭＳ Ｐゴシック" pitchFamily="48" charset="-128"/>
            </a:endParaRPr>
          </a:p>
        </p:txBody>
      </p:sp>
    </p:spTree>
  </p:cSld>
  <p:clrMapOvr>
    <a:masterClrMapping/>
  </p:clrMapOvr>
  <p:transition spd="slow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0070C0"/>
                </a:solidFill>
              </a:rPr>
              <a:t>Ionic Compounds (</a:t>
            </a:r>
            <a:r>
              <a:rPr lang="zh-CN" altLang="en-US" b="1" dirty="0">
                <a:solidFill>
                  <a:srgbClr val="0070C0"/>
                </a:solidFill>
              </a:rPr>
              <a:t>离子化合物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104451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054100"/>
            <a:ext cx="8347075" cy="2538413"/>
          </a:xfrm>
        </p:spPr>
        <p:txBody>
          <a:bodyPr/>
          <a:lstStyle/>
          <a:p>
            <a:pPr eaLnBrk="1" hangingPunct="1">
              <a:buFont typeface="Wingdings" pitchFamily="-104" charset="2"/>
              <a:buChar char="v"/>
            </a:pPr>
            <a:r>
              <a:rPr lang="en-US" sz="2800" b="1" dirty="0"/>
              <a:t>Ionic compounds</a:t>
            </a:r>
            <a:r>
              <a:rPr lang="en-US" sz="2800" dirty="0"/>
              <a:t> (such as </a:t>
            </a:r>
            <a:r>
              <a:rPr lang="en-US" sz="2800" dirty="0" err="1"/>
              <a:t>NaCl</a:t>
            </a:r>
            <a:r>
              <a:rPr lang="en-US" sz="2800" dirty="0"/>
              <a:t>) are generally formed between metals and nonmetals.</a:t>
            </a:r>
          </a:p>
          <a:p>
            <a:pPr eaLnBrk="1" hangingPunct="1">
              <a:buFont typeface="Wingdings" pitchFamily="-104" charset="2"/>
              <a:buChar char="v"/>
            </a:pPr>
            <a:r>
              <a:rPr lang="en-US" sz="2800" dirty="0"/>
              <a:t>Electrons are transferred from the metal to the nonmetal. The oppositely charged ions attract each other. Only </a:t>
            </a:r>
            <a:r>
              <a:rPr lang="en-US" sz="2800" dirty="0">
                <a:solidFill>
                  <a:srgbClr val="0070C0"/>
                </a:solidFill>
              </a:rPr>
              <a:t>empirical formulas</a:t>
            </a:r>
            <a:r>
              <a:rPr lang="en-US" sz="2800" dirty="0"/>
              <a:t> are written.</a:t>
            </a:r>
          </a:p>
        </p:txBody>
      </p:sp>
      <p:pic>
        <p:nvPicPr>
          <p:cNvPr id="104452" name="Picture 6" descr="02_19_Figure.jpg"/>
          <p:cNvPicPr>
            <a:picLocks noChangeAspect="1"/>
          </p:cNvPicPr>
          <p:nvPr/>
        </p:nvPicPr>
        <p:blipFill>
          <a:blip r:embed="rId3" cstate="print"/>
          <a:srcRect b="4663"/>
          <a:stretch>
            <a:fillRect/>
          </a:stretch>
        </p:blipFill>
        <p:spPr bwMode="auto">
          <a:xfrm>
            <a:off x="1123950" y="3644900"/>
            <a:ext cx="6816725" cy="2465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Writing Formulas</a:t>
            </a:r>
          </a:p>
        </p:txBody>
      </p:sp>
      <p:sp>
        <p:nvSpPr>
          <p:cNvPr id="10649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85800" y="2209800"/>
            <a:ext cx="7772400" cy="4419600"/>
          </a:xfrm>
        </p:spPr>
        <p:txBody>
          <a:bodyPr/>
          <a:lstStyle/>
          <a:p>
            <a:pPr eaLnBrk="1" hangingPunct="1"/>
            <a:r>
              <a:rPr lang="en-US" sz="2800" dirty="0"/>
              <a:t>Because compounds are electrically </a:t>
            </a:r>
            <a:r>
              <a:rPr lang="en-US" sz="2800" dirty="0">
                <a:solidFill>
                  <a:schemeClr val="accent2"/>
                </a:solidFill>
              </a:rPr>
              <a:t>neutral</a:t>
            </a:r>
            <a:r>
              <a:rPr lang="en-US" sz="2800" dirty="0"/>
              <a:t>, one can determine the formula of a compound this way:</a:t>
            </a:r>
          </a:p>
          <a:p>
            <a:pPr lvl="1" eaLnBrk="1" hangingPunct="1"/>
            <a:r>
              <a:rPr lang="en-US" sz="2400" dirty="0"/>
              <a:t>The charge on the cation becomes the subscript on the anion.</a:t>
            </a:r>
          </a:p>
          <a:p>
            <a:pPr lvl="1" eaLnBrk="1" hangingPunct="1"/>
            <a:r>
              <a:rPr lang="en-US" sz="2400" dirty="0"/>
              <a:t>The charge on the anion becomes the subscript on the cation.</a:t>
            </a:r>
          </a:p>
          <a:p>
            <a:pPr lvl="1" eaLnBrk="1" hangingPunct="1"/>
            <a:r>
              <a:rPr lang="en-US" sz="2400" dirty="0"/>
              <a:t>If these subscripts are not in the lowest whole-number ratio, divide them by the greatest common factor.</a:t>
            </a:r>
          </a:p>
        </p:txBody>
      </p:sp>
      <p:pic>
        <p:nvPicPr>
          <p:cNvPr id="2" name="Picture 1" descr="02_Pg61_UnFigure_1.jp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" t="-8863" r="-908" b="8863"/>
          <a:stretch/>
        </p:blipFill>
        <p:spPr>
          <a:xfrm>
            <a:off x="1847835" y="1092668"/>
            <a:ext cx="5226414" cy="1071415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Inorganic Nomenclature (</a:t>
            </a:r>
            <a:r>
              <a:rPr lang="zh-CN" altLang="en-US" dirty="0"/>
              <a:t>命名法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Cation ions: single charge, different charges, nonmetal, (P 100)</a:t>
            </a:r>
            <a:br>
              <a:rPr lang="en-US" b="1" dirty="0">
                <a:solidFill>
                  <a:srgbClr val="FF0000"/>
                </a:solidFill>
              </a:rPr>
            </a:br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Anion: monatomic, oxyanion,  (P 102)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Ionic compound: Cation + Anion</a:t>
            </a:r>
          </a:p>
        </p:txBody>
      </p:sp>
    </p:spTree>
  </p:cSld>
  <p:clrMapOvr>
    <a:masterClrMapping/>
  </p:clrMapOvr>
  <p:transition spd="slow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Patterns in Oxyanion Nomenclature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eaLnBrk="1" hangingPunct="1"/>
            <a:r>
              <a:rPr lang="en-US" sz="2800"/>
              <a:t>Central atoms on the second row have a bond to, at most, three oxygens; those on the third row take up to four.</a:t>
            </a:r>
          </a:p>
          <a:p>
            <a:pPr eaLnBrk="1" hangingPunct="1"/>
            <a:r>
              <a:rPr lang="en-US" sz="2800"/>
              <a:t>Charges increase as you go from </a:t>
            </a:r>
            <a:r>
              <a:rPr lang="en-US" sz="2800" i="1"/>
              <a:t>right</a:t>
            </a:r>
            <a:r>
              <a:rPr lang="en-US" sz="2800"/>
              <a:t> to </a:t>
            </a:r>
            <a:r>
              <a:rPr lang="en-US" sz="2800" i="1"/>
              <a:t>left</a:t>
            </a:r>
            <a:r>
              <a:rPr lang="en-US" sz="2800"/>
              <a:t>.</a:t>
            </a:r>
          </a:p>
        </p:txBody>
      </p:sp>
      <p:pic>
        <p:nvPicPr>
          <p:cNvPr id="112644" name="Picture 5" descr="02_23_Figure.jpg"/>
          <p:cNvPicPr>
            <a:picLocks noChangeAspect="1"/>
          </p:cNvPicPr>
          <p:nvPr/>
        </p:nvPicPr>
        <p:blipFill>
          <a:blip r:embed="rId3" cstate="print"/>
          <a:srcRect b="7735"/>
          <a:stretch>
            <a:fillRect/>
          </a:stretch>
        </p:blipFill>
        <p:spPr bwMode="auto">
          <a:xfrm>
            <a:off x="398463" y="1751013"/>
            <a:ext cx="8534400" cy="2001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/>
              <a:t>Patterns in Oxyanion Nomenclature</a:t>
            </a:r>
          </a:p>
        </p:txBody>
      </p:sp>
      <p:pic>
        <p:nvPicPr>
          <p:cNvPr id="114692" name="Picture 5" descr="02_22_Figure.jpg"/>
          <p:cNvPicPr>
            <a:picLocks noChangeAspect="1"/>
          </p:cNvPicPr>
          <p:nvPr/>
        </p:nvPicPr>
        <p:blipFill>
          <a:blip r:embed="rId3" cstate="print"/>
          <a:srcRect b="9030"/>
          <a:stretch>
            <a:fillRect/>
          </a:stretch>
        </p:blipFill>
        <p:spPr bwMode="auto">
          <a:xfrm>
            <a:off x="288227" y="1114684"/>
            <a:ext cx="8694546" cy="1915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 descr="02_23_Figure.jpg"/>
          <p:cNvPicPr>
            <a:picLocks noChangeAspect="1"/>
          </p:cNvPicPr>
          <p:nvPr/>
        </p:nvPicPr>
        <p:blipFill>
          <a:blip r:embed="rId4" cstate="print"/>
          <a:srcRect b="7735"/>
          <a:stretch>
            <a:fillRect/>
          </a:stretch>
        </p:blipFill>
        <p:spPr bwMode="auto">
          <a:xfrm>
            <a:off x="398463" y="3635892"/>
            <a:ext cx="8534400" cy="2001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>
          <a:xfrm>
            <a:off x="-92075" y="0"/>
            <a:ext cx="9144000" cy="1006475"/>
          </a:xfrm>
        </p:spPr>
        <p:txBody>
          <a:bodyPr/>
          <a:lstStyle/>
          <a:p>
            <a:pPr eaLnBrk="1" hangingPunct="1"/>
            <a:r>
              <a:rPr lang="en-US"/>
              <a:t>Acid Nomenclature</a:t>
            </a:r>
          </a:p>
        </p:txBody>
      </p:sp>
      <p:sp>
        <p:nvSpPr>
          <p:cNvPr id="116739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4686300" y="1020763"/>
            <a:ext cx="4378325" cy="3105150"/>
          </a:xfrm>
        </p:spPr>
        <p:txBody>
          <a:bodyPr/>
          <a:lstStyle/>
          <a:p>
            <a:pPr eaLnBrk="1" hangingPunct="1"/>
            <a:r>
              <a:rPr lang="en-US" sz="2400" dirty="0"/>
              <a:t>If the anion in the acid ends in </a:t>
            </a:r>
            <a:r>
              <a:rPr lang="en-US" sz="2400" b="1" dirty="0"/>
              <a:t>-</a:t>
            </a:r>
            <a:r>
              <a:rPr lang="en-US" sz="2400" b="1" i="1" dirty="0"/>
              <a:t>ide</a:t>
            </a:r>
            <a:r>
              <a:rPr lang="en-US" sz="2400" dirty="0"/>
              <a:t>, change the ending to </a:t>
            </a:r>
            <a:r>
              <a:rPr lang="en-US" sz="2400" b="1" dirty="0"/>
              <a:t>-</a:t>
            </a:r>
            <a:r>
              <a:rPr lang="en-US" sz="2400" b="1" i="1" dirty="0" err="1"/>
              <a:t>ic</a:t>
            </a:r>
            <a:r>
              <a:rPr lang="en-US" sz="2400" b="1" i="1" dirty="0"/>
              <a:t> acid</a:t>
            </a:r>
            <a:r>
              <a:rPr lang="en-US" sz="2400" dirty="0"/>
              <a:t> and add the prefix </a:t>
            </a:r>
            <a:r>
              <a:rPr lang="en-US" sz="2400" b="1" i="1" dirty="0"/>
              <a:t>hydro</a:t>
            </a:r>
            <a:r>
              <a:rPr lang="en-US" sz="2400" b="1" dirty="0"/>
              <a:t>-</a:t>
            </a:r>
            <a:r>
              <a:rPr lang="en-US" sz="2400" dirty="0"/>
              <a:t>.</a:t>
            </a:r>
            <a:endParaRPr lang="en-US" sz="2800" dirty="0"/>
          </a:p>
          <a:p>
            <a:pPr lvl="1" eaLnBrk="1" hangingPunct="1"/>
            <a:r>
              <a:rPr lang="en-US" sz="2400" dirty="0" err="1"/>
              <a:t>HCl</a:t>
            </a:r>
            <a:r>
              <a:rPr lang="en-US" sz="2400" dirty="0"/>
              <a:t>:  hydrochloric acid</a:t>
            </a:r>
          </a:p>
          <a:p>
            <a:pPr lvl="1" eaLnBrk="1" hangingPunct="1"/>
            <a:r>
              <a:rPr lang="en-US" sz="2400" dirty="0" err="1"/>
              <a:t>HBr</a:t>
            </a:r>
            <a:r>
              <a:rPr lang="en-US" sz="2400" dirty="0"/>
              <a:t>:  </a:t>
            </a:r>
            <a:r>
              <a:rPr lang="en-US" sz="2400" dirty="0" err="1"/>
              <a:t>hydrobromic</a:t>
            </a:r>
            <a:r>
              <a:rPr lang="en-US" sz="2400" dirty="0"/>
              <a:t> acid</a:t>
            </a:r>
          </a:p>
          <a:p>
            <a:pPr lvl="1" eaLnBrk="1" hangingPunct="1"/>
            <a:r>
              <a:rPr lang="en-US" sz="2400" dirty="0"/>
              <a:t>HI:  </a:t>
            </a:r>
            <a:r>
              <a:rPr lang="en-US" sz="2400" dirty="0" err="1"/>
              <a:t>hydroiodic</a:t>
            </a:r>
            <a:r>
              <a:rPr lang="en-US" sz="2400" dirty="0"/>
              <a:t> acid</a:t>
            </a:r>
          </a:p>
        </p:txBody>
      </p:sp>
      <p:sp>
        <p:nvSpPr>
          <p:cNvPr id="116740" name="Rectangle 6"/>
          <p:cNvSpPr>
            <a:spLocks noChangeArrowheads="1"/>
          </p:cNvSpPr>
          <p:nvPr/>
        </p:nvSpPr>
        <p:spPr bwMode="auto">
          <a:xfrm>
            <a:off x="228600" y="3581400"/>
            <a:ext cx="4343400" cy="1752600"/>
          </a:xfrm>
          <a:prstGeom prst="rect">
            <a:avLst/>
          </a:prstGeom>
          <a:solidFill>
            <a:schemeClr val="bg1">
              <a:alpha val="50195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6741" name="TextBox 1"/>
          <p:cNvSpPr txBox="1">
            <a:spLocks noChangeArrowheads="1"/>
          </p:cNvSpPr>
          <p:nvPr/>
        </p:nvSpPr>
        <p:spPr bwMode="auto">
          <a:xfrm>
            <a:off x="271463" y="4037013"/>
            <a:ext cx="8601075" cy="230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marL="342900" indent="-342900" eaLnBrk="1" hangingPunct="1">
              <a:buFontTx/>
              <a:buChar char="•"/>
            </a:pPr>
            <a:r>
              <a:rPr lang="en-US" sz="2400">
                <a:solidFill>
                  <a:schemeClr val="tx1"/>
                </a:solidFill>
              </a:rPr>
              <a:t>If the anion ends in </a:t>
            </a:r>
            <a:r>
              <a:rPr lang="en-US" sz="2400" b="1">
                <a:solidFill>
                  <a:schemeClr val="tx1"/>
                </a:solidFill>
              </a:rPr>
              <a:t>-</a:t>
            </a:r>
            <a:r>
              <a:rPr lang="en-US" sz="2400" b="1" i="1">
                <a:solidFill>
                  <a:schemeClr val="tx1"/>
                </a:solidFill>
              </a:rPr>
              <a:t>ite</a:t>
            </a:r>
            <a:r>
              <a:rPr lang="en-US" sz="2400">
                <a:solidFill>
                  <a:schemeClr val="tx1"/>
                </a:solidFill>
              </a:rPr>
              <a:t>, change the ending to </a:t>
            </a:r>
            <a:r>
              <a:rPr lang="en-US" sz="2400" b="1">
                <a:solidFill>
                  <a:schemeClr val="tx1"/>
                </a:solidFill>
              </a:rPr>
              <a:t>-</a:t>
            </a:r>
            <a:r>
              <a:rPr lang="en-US" sz="2400" b="1" i="1">
                <a:solidFill>
                  <a:schemeClr val="tx1"/>
                </a:solidFill>
              </a:rPr>
              <a:t>ous acid</a:t>
            </a:r>
            <a:r>
              <a:rPr lang="en-US" sz="2400">
                <a:solidFill>
                  <a:schemeClr val="tx1"/>
                </a:solidFill>
              </a:rPr>
              <a:t>.</a:t>
            </a:r>
          </a:p>
          <a:p>
            <a:pPr marL="800100" lvl="1" indent="-342900" eaLnBrk="1" hangingPunct="1">
              <a:buFontTx/>
              <a:buChar char="–"/>
            </a:pPr>
            <a:r>
              <a:rPr lang="en-US" sz="2400">
                <a:solidFill>
                  <a:schemeClr val="tx1"/>
                </a:solidFill>
              </a:rPr>
              <a:t>HClO: hypochlorous acid</a:t>
            </a:r>
          </a:p>
          <a:p>
            <a:pPr marL="800100" lvl="1" indent="-342900" eaLnBrk="1" hangingPunct="1">
              <a:buFontTx/>
              <a:buChar char="–"/>
            </a:pPr>
            <a:r>
              <a:rPr lang="en-US" sz="2400">
                <a:solidFill>
                  <a:schemeClr val="tx1"/>
                </a:solidFill>
              </a:rPr>
              <a:t>HClO</a:t>
            </a:r>
            <a:r>
              <a:rPr lang="en-US" sz="2400" baseline="-25000">
                <a:solidFill>
                  <a:schemeClr val="tx1"/>
                </a:solidFill>
              </a:rPr>
              <a:t>2</a:t>
            </a:r>
            <a:r>
              <a:rPr lang="en-US" sz="2400">
                <a:solidFill>
                  <a:schemeClr val="tx1"/>
                </a:solidFill>
              </a:rPr>
              <a:t>: chlorous acid</a:t>
            </a:r>
          </a:p>
          <a:p>
            <a:pPr marL="342900" indent="-342900" eaLnBrk="1" hangingPunct="1">
              <a:buFontTx/>
              <a:buChar char="•"/>
            </a:pPr>
            <a:r>
              <a:rPr lang="en-US" sz="2400">
                <a:solidFill>
                  <a:schemeClr val="tx1"/>
                </a:solidFill>
              </a:rPr>
              <a:t>If the anion ends in </a:t>
            </a:r>
            <a:r>
              <a:rPr lang="en-US" sz="2400" b="1">
                <a:solidFill>
                  <a:schemeClr val="tx1"/>
                </a:solidFill>
              </a:rPr>
              <a:t>-</a:t>
            </a:r>
            <a:r>
              <a:rPr lang="en-US" sz="2400" b="1" i="1">
                <a:solidFill>
                  <a:schemeClr val="tx1"/>
                </a:solidFill>
              </a:rPr>
              <a:t>ate</a:t>
            </a:r>
            <a:r>
              <a:rPr lang="en-US" sz="2400">
                <a:solidFill>
                  <a:schemeClr val="tx1"/>
                </a:solidFill>
              </a:rPr>
              <a:t>, change the ending to </a:t>
            </a:r>
            <a:r>
              <a:rPr lang="en-US" sz="2400" b="1">
                <a:solidFill>
                  <a:schemeClr val="tx1"/>
                </a:solidFill>
              </a:rPr>
              <a:t>-</a:t>
            </a:r>
            <a:r>
              <a:rPr lang="en-US" sz="2400" b="1" i="1">
                <a:solidFill>
                  <a:schemeClr val="tx1"/>
                </a:solidFill>
              </a:rPr>
              <a:t>ic acid</a:t>
            </a:r>
            <a:r>
              <a:rPr lang="en-US" sz="2400" i="1">
                <a:solidFill>
                  <a:schemeClr val="tx1"/>
                </a:solidFill>
              </a:rPr>
              <a:t>.</a:t>
            </a:r>
            <a:endParaRPr lang="en-US" sz="2400">
              <a:solidFill>
                <a:schemeClr val="tx1"/>
              </a:solidFill>
            </a:endParaRPr>
          </a:p>
          <a:p>
            <a:pPr marL="800100" lvl="1" indent="-342900" eaLnBrk="1" hangingPunct="1">
              <a:buFontTx/>
              <a:buChar char="–"/>
            </a:pPr>
            <a:r>
              <a:rPr lang="en-US" sz="2400">
                <a:solidFill>
                  <a:schemeClr val="tx1"/>
                </a:solidFill>
              </a:rPr>
              <a:t>HClO</a:t>
            </a:r>
            <a:r>
              <a:rPr lang="en-US" sz="2400" baseline="-25000">
                <a:solidFill>
                  <a:schemeClr val="tx1"/>
                </a:solidFill>
              </a:rPr>
              <a:t>3</a:t>
            </a:r>
            <a:r>
              <a:rPr lang="en-US" sz="2400">
                <a:solidFill>
                  <a:schemeClr val="tx1"/>
                </a:solidFill>
              </a:rPr>
              <a:t>:  chloric acid</a:t>
            </a:r>
          </a:p>
          <a:p>
            <a:pPr marL="800100" lvl="1" indent="-342900" eaLnBrk="1" hangingPunct="1">
              <a:buFontTx/>
              <a:buChar char="–"/>
            </a:pPr>
            <a:r>
              <a:rPr lang="en-US" sz="2400">
                <a:solidFill>
                  <a:schemeClr val="tx1"/>
                </a:solidFill>
              </a:rPr>
              <a:t>HClO</a:t>
            </a:r>
            <a:r>
              <a:rPr lang="en-US" sz="2400" baseline="-25000">
                <a:solidFill>
                  <a:schemeClr val="tx1"/>
                </a:solidFill>
              </a:rPr>
              <a:t>4</a:t>
            </a:r>
            <a:r>
              <a:rPr lang="en-US" sz="2400">
                <a:solidFill>
                  <a:schemeClr val="tx1"/>
                </a:solidFill>
              </a:rPr>
              <a:t>:  perchloric acid</a:t>
            </a:r>
          </a:p>
        </p:txBody>
      </p:sp>
      <p:pic>
        <p:nvPicPr>
          <p:cNvPr id="116742" name="Picture 7" descr="02_24_Figure.jpg"/>
          <p:cNvPicPr>
            <a:picLocks noChangeAspect="1"/>
          </p:cNvPicPr>
          <p:nvPr/>
        </p:nvPicPr>
        <p:blipFill>
          <a:blip r:embed="rId3" cstate="print"/>
          <a:srcRect b="3241"/>
          <a:stretch>
            <a:fillRect/>
          </a:stretch>
        </p:blipFill>
        <p:spPr bwMode="auto">
          <a:xfrm>
            <a:off x="254959" y="1197934"/>
            <a:ext cx="4387850" cy="273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Nomenclature of </a:t>
            </a:r>
            <a:br>
              <a:rPr lang="en-US" dirty="0"/>
            </a:br>
            <a:r>
              <a:rPr lang="en-US" dirty="0"/>
              <a:t>Binary Molecular Compounds (P 106)</a:t>
            </a:r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4343400" y="1516063"/>
            <a:ext cx="4648200" cy="419893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/>
              <a:t>The name of the element </a:t>
            </a:r>
            <a:r>
              <a:rPr lang="en-US" sz="2800" dirty="0">
                <a:solidFill>
                  <a:schemeClr val="accent2"/>
                </a:solidFill>
              </a:rPr>
              <a:t>farther to the left </a:t>
            </a:r>
            <a:r>
              <a:rPr lang="en-US" sz="2800" dirty="0"/>
              <a:t>in the periodic table (closer to the metals) or </a:t>
            </a:r>
            <a:r>
              <a:rPr lang="en-US" sz="2800" dirty="0">
                <a:solidFill>
                  <a:schemeClr val="accent2"/>
                </a:solidFill>
              </a:rPr>
              <a:t>lower in the same group</a:t>
            </a:r>
            <a:r>
              <a:rPr lang="en-US" sz="2800" dirty="0"/>
              <a:t> is usually written first. 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/>
              <a:t>A prefix is used to denote the number of atoms of each element in the compound (</a:t>
            </a:r>
            <a:r>
              <a:rPr lang="en-US" sz="2800" b="1" i="1" dirty="0"/>
              <a:t>mono</a:t>
            </a:r>
            <a:r>
              <a:rPr lang="en-US" sz="2800" b="1" dirty="0"/>
              <a:t>-</a:t>
            </a:r>
            <a:r>
              <a:rPr lang="en-US" sz="2800" dirty="0"/>
              <a:t> is not used on the first element listed, however).</a:t>
            </a:r>
          </a:p>
        </p:txBody>
      </p:sp>
      <p:pic>
        <p:nvPicPr>
          <p:cNvPr id="118788" name="Picture 5" descr="02_06_Table.jpg"/>
          <p:cNvPicPr>
            <a:picLocks noChangeAspect="1"/>
          </p:cNvPicPr>
          <p:nvPr/>
        </p:nvPicPr>
        <p:blipFill>
          <a:blip r:embed="rId3" cstate="print"/>
          <a:srcRect b="2632"/>
          <a:stretch>
            <a:fillRect/>
          </a:stretch>
        </p:blipFill>
        <p:spPr bwMode="auto">
          <a:xfrm>
            <a:off x="612775" y="1660525"/>
            <a:ext cx="3521075" cy="450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Nomenclature of Binary Compounds</a:t>
            </a:r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719138" y="1436688"/>
            <a:ext cx="7850187" cy="4278312"/>
          </a:xfrm>
        </p:spPr>
        <p:txBody>
          <a:bodyPr/>
          <a:lstStyle/>
          <a:p>
            <a:pPr eaLnBrk="1" hangingPunct="1"/>
            <a:r>
              <a:rPr lang="en-US" sz="2800" dirty="0"/>
              <a:t>The ending on the second element is changed to </a:t>
            </a:r>
            <a:r>
              <a:rPr lang="en-US" sz="2800" b="1" dirty="0">
                <a:solidFill>
                  <a:schemeClr val="accent2"/>
                </a:solidFill>
              </a:rPr>
              <a:t>-</a:t>
            </a:r>
            <a:r>
              <a:rPr lang="en-US" sz="2800" b="1" i="1" dirty="0">
                <a:solidFill>
                  <a:schemeClr val="accent2"/>
                </a:solidFill>
              </a:rPr>
              <a:t>ide</a:t>
            </a:r>
            <a:r>
              <a:rPr lang="en-US" sz="2800" i="1" dirty="0"/>
              <a:t>.</a:t>
            </a:r>
            <a:endParaRPr lang="en-US" sz="2800" dirty="0"/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CO</a:t>
            </a:r>
            <a:r>
              <a:rPr lang="en-US" sz="2400" baseline="-25000" dirty="0"/>
              <a:t>2</a:t>
            </a:r>
            <a:r>
              <a:rPr lang="en-US" sz="2400" dirty="0"/>
              <a:t>: carbon dioxide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CCl</a:t>
            </a:r>
            <a:r>
              <a:rPr lang="en-US" sz="2400" baseline="-25000" dirty="0"/>
              <a:t>4</a:t>
            </a:r>
            <a:r>
              <a:rPr lang="en-US" sz="2400" dirty="0"/>
              <a:t>: carbon tetrachloride</a:t>
            </a:r>
          </a:p>
          <a:p>
            <a:pPr lvl="1"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r>
              <a:rPr lang="en-US" sz="2800" dirty="0"/>
              <a:t>If the prefix ends with </a:t>
            </a:r>
            <a:r>
              <a:rPr lang="en-US" sz="2800" i="1" dirty="0"/>
              <a:t>a</a:t>
            </a:r>
            <a:r>
              <a:rPr lang="en-US" sz="2800" dirty="0"/>
              <a:t> or </a:t>
            </a:r>
            <a:r>
              <a:rPr lang="en-US" sz="2800" i="1" dirty="0"/>
              <a:t>o</a:t>
            </a:r>
            <a:r>
              <a:rPr lang="en-US" sz="2800" dirty="0"/>
              <a:t> and the name of the element begins with a vowel, the two successive vowels are often elided into one.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N</a:t>
            </a:r>
            <a:r>
              <a:rPr lang="en-US" baseline="-25000" dirty="0"/>
              <a:t>2</a:t>
            </a:r>
            <a:r>
              <a:rPr lang="en-US" dirty="0"/>
              <a:t>O</a:t>
            </a:r>
            <a:r>
              <a:rPr lang="en-US" baseline="-25000" dirty="0"/>
              <a:t>5</a:t>
            </a:r>
            <a:r>
              <a:rPr lang="en-US" dirty="0"/>
              <a:t>:  dinitrogen pentoxide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dirty="0"/>
          </a:p>
          <a:p>
            <a:pPr eaLnBrk="1" hangingPunct="1">
              <a:lnSpc>
                <a:spcPct val="90000"/>
              </a:lnSpc>
            </a:pPr>
            <a:endParaRPr lang="en-US" dirty="0"/>
          </a:p>
        </p:txBody>
      </p:sp>
    </p:spTree>
  </p:cSld>
  <p:clrMapOvr>
    <a:masterClrMapping/>
  </p:clrMapOvr>
  <p:transition spd="slow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Nomenclature of Organic Compounds</a:t>
            </a:r>
          </a:p>
        </p:txBody>
      </p:sp>
      <p:sp>
        <p:nvSpPr>
          <p:cNvPr id="122883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117475" y="3562350"/>
            <a:ext cx="8764588" cy="2733675"/>
          </a:xfrm>
        </p:spPr>
        <p:txBody>
          <a:bodyPr/>
          <a:lstStyle/>
          <a:p>
            <a:pPr eaLnBrk="1" hangingPunct="1"/>
            <a:r>
              <a:rPr lang="en-US" sz="2400" b="1" dirty="0"/>
              <a:t>Organic chemistry</a:t>
            </a:r>
            <a:r>
              <a:rPr lang="en-US" sz="2400" dirty="0"/>
              <a:t> is the study of carbon.</a:t>
            </a:r>
          </a:p>
          <a:p>
            <a:pPr eaLnBrk="1" hangingPunct="1"/>
            <a:r>
              <a:rPr lang="en-US" sz="2400" dirty="0"/>
              <a:t>Organic chemistry has its own system of nomenclature.</a:t>
            </a:r>
          </a:p>
          <a:p>
            <a:pPr eaLnBrk="1" hangingPunct="1"/>
            <a:r>
              <a:rPr lang="en-US" sz="2400" dirty="0"/>
              <a:t>The simplest hydrocarbons (compounds containing only carbon and hydrogen) are </a:t>
            </a:r>
            <a:r>
              <a:rPr lang="en-US" sz="2400" b="1" dirty="0"/>
              <a:t>alkanes</a:t>
            </a:r>
            <a:r>
              <a:rPr lang="en-US" sz="2400" dirty="0"/>
              <a:t>.</a:t>
            </a:r>
          </a:p>
          <a:p>
            <a:pPr eaLnBrk="1" hangingPunct="1"/>
            <a:r>
              <a:rPr lang="en-US" sz="2400" dirty="0"/>
              <a:t>The first part of the names just listed correspond to the number of carbons (</a:t>
            </a:r>
            <a:r>
              <a:rPr lang="en-US" sz="2400" b="1" i="1" dirty="0"/>
              <a:t>meth-</a:t>
            </a:r>
            <a:r>
              <a:rPr lang="en-US" sz="2400" dirty="0"/>
              <a:t> = 1, </a:t>
            </a:r>
            <a:r>
              <a:rPr lang="en-US" sz="2400" b="1" i="1" dirty="0"/>
              <a:t>eth-</a:t>
            </a:r>
            <a:r>
              <a:rPr lang="en-US" sz="2400" dirty="0"/>
              <a:t> = 2, </a:t>
            </a:r>
            <a:r>
              <a:rPr lang="en-US" sz="2400" b="1" i="1" dirty="0"/>
              <a:t>prop-</a:t>
            </a:r>
            <a:r>
              <a:rPr lang="en-US" sz="2400" dirty="0"/>
              <a:t> = 3, etc.).</a:t>
            </a:r>
          </a:p>
        </p:txBody>
      </p:sp>
      <p:pic>
        <p:nvPicPr>
          <p:cNvPr id="122884" name="Picture 5" descr="02_Pg69_UnFigure.jpg"/>
          <p:cNvPicPr>
            <a:picLocks noChangeAspect="1"/>
          </p:cNvPicPr>
          <p:nvPr/>
        </p:nvPicPr>
        <p:blipFill>
          <a:blip r:embed="rId3" cstate="print"/>
          <a:srcRect b="6596"/>
          <a:stretch>
            <a:fillRect/>
          </a:stretch>
        </p:blipFill>
        <p:spPr bwMode="auto">
          <a:xfrm>
            <a:off x="1476375" y="1744663"/>
            <a:ext cx="5959475" cy="159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Nomenclature of Organic Compounds</a:t>
            </a:r>
          </a:p>
        </p:txBody>
      </p:sp>
      <p:sp>
        <p:nvSpPr>
          <p:cNvPr id="124931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33388" y="3603625"/>
            <a:ext cx="8382000" cy="2771775"/>
          </a:xfrm>
        </p:spPr>
        <p:txBody>
          <a:bodyPr/>
          <a:lstStyle/>
          <a:p>
            <a:pPr eaLnBrk="1" hangingPunct="1"/>
            <a:r>
              <a:rPr lang="en-US" sz="2800"/>
              <a:t>When a hydrogen in an alkane is replaced with something else (a </a:t>
            </a:r>
            <a:r>
              <a:rPr lang="en-US" sz="2800" b="1"/>
              <a:t>functional group</a:t>
            </a:r>
            <a:r>
              <a:rPr lang="en-US" sz="2800"/>
              <a:t>, like -OH in the compounds above), the name is derived from the name of the alkane.</a:t>
            </a:r>
          </a:p>
          <a:p>
            <a:pPr eaLnBrk="1" hangingPunct="1"/>
            <a:r>
              <a:rPr lang="en-US" sz="2800"/>
              <a:t>The ending denotes the type of compound.</a:t>
            </a:r>
          </a:p>
          <a:p>
            <a:pPr lvl="1" eaLnBrk="1" hangingPunct="1"/>
            <a:r>
              <a:rPr lang="en-US" sz="2400"/>
              <a:t>An</a:t>
            </a:r>
            <a:r>
              <a:rPr lang="en-US" sz="2400">
                <a:solidFill>
                  <a:srgbClr val="000080"/>
                </a:solidFill>
              </a:rPr>
              <a:t> </a:t>
            </a:r>
            <a:r>
              <a:rPr lang="en-US" sz="2400" b="1"/>
              <a:t>alcohol</a:t>
            </a:r>
            <a:r>
              <a:rPr lang="en-US" sz="2400"/>
              <a:t> ends in -</a:t>
            </a:r>
            <a:r>
              <a:rPr lang="en-US" sz="2400" i="1"/>
              <a:t>ol</a:t>
            </a:r>
            <a:r>
              <a:rPr lang="en-US" sz="2400"/>
              <a:t>.</a:t>
            </a:r>
          </a:p>
        </p:txBody>
      </p:sp>
      <p:pic>
        <p:nvPicPr>
          <p:cNvPr id="124932" name="Picture 5" descr="02_Pg70_UnFigure_1.jpg"/>
          <p:cNvPicPr>
            <a:picLocks noChangeAspect="1"/>
          </p:cNvPicPr>
          <p:nvPr/>
        </p:nvPicPr>
        <p:blipFill>
          <a:blip r:embed="rId3" cstate="print"/>
          <a:srcRect b="9003"/>
          <a:stretch>
            <a:fillRect/>
          </a:stretch>
        </p:blipFill>
        <p:spPr bwMode="auto">
          <a:xfrm>
            <a:off x="558800" y="1477963"/>
            <a:ext cx="7942263" cy="1893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8001000" cy="2667000"/>
          </a:xfrm>
        </p:spPr>
        <p:txBody>
          <a:bodyPr/>
          <a:lstStyle/>
          <a:p>
            <a:pPr algn="l" eaLnBrk="1" hangingPunct="1"/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Metals and nonmetals react to form ________ compounds.</a:t>
            </a:r>
          </a:p>
        </p:txBody>
      </p:sp>
      <p:sp>
        <p:nvSpPr>
          <p:cNvPr id="39939" name="Subtitle 2"/>
          <p:cNvSpPr>
            <a:spLocks noGrp="1"/>
          </p:cNvSpPr>
          <p:nvPr>
            <p:ph type="subTitle" idx="1"/>
          </p:nvPr>
        </p:nvSpPr>
        <p:spPr>
          <a:xfrm>
            <a:off x="1143000" y="3581400"/>
            <a:ext cx="6400800" cy="25146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Arial" charset="0"/>
              </a:rPr>
              <a:t>molecular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Arial" charset="0"/>
              </a:rPr>
              <a:t>mixed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Arial" charset="0"/>
              </a:rPr>
              <a:t>empirical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Arial" charset="0"/>
              </a:rPr>
              <a:t>ionic</a:t>
            </a:r>
          </a:p>
        </p:txBody>
      </p:sp>
    </p:spTree>
    <p:extLst>
      <p:ext uri="{BB962C8B-B14F-4D97-AF65-F5344CB8AC3E}">
        <p14:creationId xmlns:p14="http://schemas.microsoft.com/office/powerpoint/2010/main" val="109260849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8001000" cy="2667000"/>
          </a:xfrm>
        </p:spPr>
        <p:txBody>
          <a:bodyPr/>
          <a:lstStyle/>
          <a:p>
            <a:pPr algn="l" eaLnBrk="1" hangingPunct="1"/>
            <a:r>
              <a:rPr lang="en-US">
                <a:latin typeface="Arial" charset="0"/>
                <a:ea typeface="ヒラギノ角ゴ Pro W3" charset="0"/>
                <a:cs typeface="Arial" charset="0"/>
              </a:rPr>
              <a:t>Metals and nonmetals react to form ________ compounds.</a:t>
            </a:r>
          </a:p>
        </p:txBody>
      </p:sp>
      <p:sp>
        <p:nvSpPr>
          <p:cNvPr id="41987" name="Subtitle 2"/>
          <p:cNvSpPr>
            <a:spLocks noGrp="1"/>
          </p:cNvSpPr>
          <p:nvPr>
            <p:ph type="subTitle" idx="1"/>
          </p:nvPr>
        </p:nvSpPr>
        <p:spPr>
          <a:xfrm>
            <a:off x="1143000" y="3581400"/>
            <a:ext cx="6400800" cy="25146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Arial" charset="0"/>
              </a:rPr>
              <a:t>molecular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Arial" charset="0"/>
              </a:rPr>
              <a:t>mixed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Arial" charset="0"/>
              </a:rPr>
              <a:t>empirical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b="1">
                <a:solidFill>
                  <a:srgbClr val="000000"/>
                </a:solidFill>
                <a:latin typeface="Arial" charset="0"/>
                <a:ea typeface="ヒラギノ角ゴ Pro W3" charset="0"/>
                <a:cs typeface="Arial" charset="0"/>
              </a:rPr>
              <a:t>ionic</a:t>
            </a:r>
          </a:p>
        </p:txBody>
      </p:sp>
    </p:spTree>
    <p:extLst>
      <p:ext uri="{BB962C8B-B14F-4D97-AF65-F5344CB8AC3E}">
        <p14:creationId xmlns:p14="http://schemas.microsoft.com/office/powerpoint/2010/main" val="302358624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ctrTitle"/>
          </p:nvPr>
        </p:nvSpPr>
        <p:spPr>
          <a:xfrm>
            <a:off x="533400" y="304800"/>
            <a:ext cx="7924800" cy="1524000"/>
          </a:xfrm>
        </p:spPr>
        <p:txBody>
          <a:bodyPr/>
          <a:lstStyle/>
          <a:p>
            <a:pPr algn="l" eaLnBrk="1" hangingPunct="1"/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Arial" charset="0"/>
              </a:rPr>
              <a:t>Positive ions are called</a:t>
            </a:r>
          </a:p>
        </p:txBody>
      </p:sp>
      <p:sp>
        <p:nvSpPr>
          <p:cNvPr id="44035" name="Subtitle 2"/>
          <p:cNvSpPr>
            <a:spLocks noGrp="1"/>
          </p:cNvSpPr>
          <p:nvPr>
            <p:ph type="subTitle" idx="1"/>
          </p:nvPr>
        </p:nvSpPr>
        <p:spPr>
          <a:xfrm>
            <a:off x="1219200" y="2438400"/>
            <a:ext cx="6553200" cy="32004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Arial" charset="0"/>
              </a:rPr>
              <a:t>positrons.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Arial" charset="0"/>
              </a:rPr>
              <a:t>anions.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Arial" charset="0"/>
              </a:rPr>
              <a:t>cations.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Arial" charset="0"/>
              </a:rPr>
              <a:t>nucleons.</a:t>
            </a:r>
          </a:p>
        </p:txBody>
      </p:sp>
    </p:spTree>
    <p:extLst>
      <p:ext uri="{BB962C8B-B14F-4D97-AF65-F5344CB8AC3E}">
        <p14:creationId xmlns:p14="http://schemas.microsoft.com/office/powerpoint/2010/main" val="117046670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ctrTitle"/>
          </p:nvPr>
        </p:nvSpPr>
        <p:spPr>
          <a:xfrm>
            <a:off x="533400" y="304800"/>
            <a:ext cx="7924800" cy="1524000"/>
          </a:xfrm>
        </p:spPr>
        <p:txBody>
          <a:bodyPr/>
          <a:lstStyle/>
          <a:p>
            <a:pPr algn="l" eaLnBrk="1" hangingPunct="1"/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Arial" charset="0"/>
              </a:rPr>
              <a:t>Positive ions are called</a:t>
            </a:r>
          </a:p>
        </p:txBody>
      </p:sp>
      <p:sp>
        <p:nvSpPr>
          <p:cNvPr id="46083" name="Subtitle 2"/>
          <p:cNvSpPr>
            <a:spLocks noGrp="1"/>
          </p:cNvSpPr>
          <p:nvPr>
            <p:ph type="subTitle" idx="1"/>
          </p:nvPr>
        </p:nvSpPr>
        <p:spPr>
          <a:xfrm>
            <a:off x="1219200" y="2438400"/>
            <a:ext cx="6553200" cy="32004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Arial" charset="0"/>
              </a:rPr>
              <a:t>positrons.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Arial" charset="0"/>
              </a:rPr>
              <a:t>anions.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b="1" dirty="0">
                <a:solidFill>
                  <a:srgbClr val="000000"/>
                </a:solidFill>
                <a:latin typeface="Arial" charset="0"/>
                <a:ea typeface="ヒラギノ角ゴ Pro W3" charset="0"/>
                <a:cs typeface="Arial" charset="0"/>
              </a:rPr>
              <a:t>cations.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Arial" charset="0"/>
              </a:rPr>
              <a:t>nucleons.</a:t>
            </a:r>
          </a:p>
        </p:txBody>
      </p:sp>
    </p:spTree>
    <p:extLst>
      <p:ext uri="{BB962C8B-B14F-4D97-AF65-F5344CB8AC3E}">
        <p14:creationId xmlns:p14="http://schemas.microsoft.com/office/powerpoint/2010/main" val="60220814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3"/>
          <p:cNvSpPr>
            <a:spLocks noGrp="1"/>
          </p:cNvSpPr>
          <p:nvPr>
            <p:ph type="ctrTitle"/>
          </p:nvPr>
        </p:nvSpPr>
        <p:spPr>
          <a:xfrm>
            <a:off x="533400" y="609600"/>
            <a:ext cx="7924800" cy="2990850"/>
          </a:xfrm>
        </p:spPr>
        <p:txBody>
          <a:bodyPr/>
          <a:lstStyle/>
          <a:p>
            <a:pPr algn="l"/>
            <a: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  <a:t>Compounds composed only of carbon and hydrogen are called</a:t>
            </a:r>
          </a:p>
        </p:txBody>
      </p:sp>
      <p:sp>
        <p:nvSpPr>
          <p:cNvPr id="48131" name="Subtitle 4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77000" cy="2590800"/>
          </a:xfrm>
        </p:spPr>
        <p:txBody>
          <a:bodyPr/>
          <a:lstStyle/>
          <a:p>
            <a:pPr marL="514350" indent="-514350" algn="l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binary acids.</a:t>
            </a:r>
          </a:p>
          <a:p>
            <a:pPr marL="514350" indent="-514350" algn="l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carbohydrates.</a:t>
            </a:r>
          </a:p>
          <a:p>
            <a:pPr marL="514350" indent="-514350" algn="l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hydrocarbons.</a:t>
            </a:r>
          </a:p>
          <a:p>
            <a:pPr marL="514350" indent="-514350" algn="l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alkanes.</a:t>
            </a:r>
          </a:p>
        </p:txBody>
      </p:sp>
    </p:spTree>
    <p:extLst>
      <p:ext uri="{BB962C8B-B14F-4D97-AF65-F5344CB8AC3E}">
        <p14:creationId xmlns:p14="http://schemas.microsoft.com/office/powerpoint/2010/main" val="302003664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3"/>
          <p:cNvSpPr>
            <a:spLocks noGrp="1"/>
          </p:cNvSpPr>
          <p:nvPr>
            <p:ph type="ctrTitle"/>
          </p:nvPr>
        </p:nvSpPr>
        <p:spPr>
          <a:xfrm>
            <a:off x="533400" y="609600"/>
            <a:ext cx="7924800" cy="2990850"/>
          </a:xfrm>
        </p:spPr>
        <p:txBody>
          <a:bodyPr/>
          <a:lstStyle/>
          <a:p>
            <a:pPr algn="l"/>
            <a: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  <a:t>Compounds composed only of carbon and hydrogen are called</a:t>
            </a:r>
          </a:p>
        </p:txBody>
      </p:sp>
      <p:sp>
        <p:nvSpPr>
          <p:cNvPr id="50179" name="Subtitle 4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77000" cy="2590800"/>
          </a:xfrm>
        </p:spPr>
        <p:txBody>
          <a:bodyPr/>
          <a:lstStyle/>
          <a:p>
            <a:pPr marL="514350" indent="-514350" algn="l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binary acids.</a:t>
            </a:r>
          </a:p>
          <a:p>
            <a:pPr marL="514350" indent="-514350" algn="l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carbohydrates.</a:t>
            </a:r>
          </a:p>
          <a:p>
            <a:pPr marL="514350" indent="-514350" algn="l">
              <a:buFont typeface="Arial" charset="0"/>
              <a:buAutoNum type="alphaLcPeriod"/>
            </a:pPr>
            <a:r>
              <a:rPr lang="en-US" dirty="0">
                <a:solidFill>
                  <a:srgbClr val="00000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hydrocarbons.</a:t>
            </a:r>
          </a:p>
          <a:p>
            <a:pPr marL="514350" indent="-514350" algn="l">
              <a:buFont typeface="Arial" charset="0"/>
              <a:buAutoNum type="alphaLcPeriod"/>
            </a:pPr>
            <a:r>
              <a:rPr lang="en-US" b="1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alkanes.</a:t>
            </a:r>
          </a:p>
        </p:txBody>
      </p:sp>
    </p:spTree>
    <p:extLst>
      <p:ext uri="{BB962C8B-B14F-4D97-AF65-F5344CB8AC3E}">
        <p14:creationId xmlns:p14="http://schemas.microsoft.com/office/powerpoint/2010/main" val="74227632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5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7924800" cy="3067050"/>
          </a:xfrm>
        </p:spPr>
        <p:txBody>
          <a:bodyPr/>
          <a:lstStyle/>
          <a:p>
            <a:pPr algn="l"/>
            <a: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  <a:t>The elements located in Group VIIA (Group 17) on the periodic table are called</a:t>
            </a:r>
          </a:p>
        </p:txBody>
      </p:sp>
      <p:sp>
        <p:nvSpPr>
          <p:cNvPr id="52227" name="Subtitle 6"/>
          <p:cNvSpPr>
            <a:spLocks noGrp="1"/>
          </p:cNvSpPr>
          <p:nvPr>
            <p:ph type="subTitle" idx="1"/>
          </p:nvPr>
        </p:nvSpPr>
        <p:spPr>
          <a:xfrm>
            <a:off x="1143000" y="3886200"/>
            <a:ext cx="6629400" cy="2667000"/>
          </a:xfrm>
        </p:spPr>
        <p:txBody>
          <a:bodyPr/>
          <a:lstStyle/>
          <a:p>
            <a:pPr marL="514350" indent="-514350" algn="l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alkali metals.</a:t>
            </a:r>
          </a:p>
          <a:p>
            <a:pPr marL="514350" indent="-514350" algn="l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noble gases.</a:t>
            </a:r>
          </a:p>
          <a:p>
            <a:pPr marL="514350" indent="-514350" algn="l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chalcogens.</a:t>
            </a:r>
          </a:p>
          <a:p>
            <a:pPr marL="514350" indent="-514350" algn="l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halogens.</a:t>
            </a:r>
          </a:p>
        </p:txBody>
      </p:sp>
    </p:spTree>
    <p:extLst>
      <p:ext uri="{BB962C8B-B14F-4D97-AF65-F5344CB8AC3E}">
        <p14:creationId xmlns:p14="http://schemas.microsoft.com/office/powerpoint/2010/main" val="56059205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5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7924800" cy="3067050"/>
          </a:xfrm>
        </p:spPr>
        <p:txBody>
          <a:bodyPr/>
          <a:lstStyle/>
          <a:p>
            <a:pPr algn="l"/>
            <a: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  <a:t>The elements located in Group VIIA (Group 17) on the periodic table are called</a:t>
            </a:r>
          </a:p>
        </p:txBody>
      </p:sp>
      <p:sp>
        <p:nvSpPr>
          <p:cNvPr id="54275" name="Subtitle 6"/>
          <p:cNvSpPr>
            <a:spLocks noGrp="1"/>
          </p:cNvSpPr>
          <p:nvPr>
            <p:ph type="subTitle" idx="1"/>
          </p:nvPr>
        </p:nvSpPr>
        <p:spPr>
          <a:xfrm>
            <a:off x="1143000" y="3886200"/>
            <a:ext cx="6629400" cy="2667000"/>
          </a:xfrm>
        </p:spPr>
        <p:txBody>
          <a:bodyPr/>
          <a:lstStyle/>
          <a:p>
            <a:pPr marL="514350" indent="-514350" algn="l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alkali metals.</a:t>
            </a:r>
          </a:p>
          <a:p>
            <a:pPr marL="514350" indent="-514350" algn="l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noble gases.</a:t>
            </a:r>
          </a:p>
          <a:p>
            <a:pPr marL="514350" indent="-514350" algn="l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chalcogens.</a:t>
            </a:r>
          </a:p>
          <a:p>
            <a:pPr marL="514350" indent="-514350" algn="l">
              <a:buFont typeface="Arial" charset="0"/>
              <a:buAutoNum type="alphaLcPeriod"/>
            </a:pPr>
            <a:r>
              <a:rPr lang="en-US" b="1">
                <a:solidFill>
                  <a:srgbClr val="00000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halogens.</a:t>
            </a:r>
          </a:p>
        </p:txBody>
      </p:sp>
    </p:spTree>
    <p:extLst>
      <p:ext uri="{BB962C8B-B14F-4D97-AF65-F5344CB8AC3E}">
        <p14:creationId xmlns:p14="http://schemas.microsoft.com/office/powerpoint/2010/main" val="415237648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9"/>
          <p:cNvSpPr>
            <a:spLocks noGrp="1"/>
          </p:cNvSpPr>
          <p:nvPr>
            <p:ph type="ctrTitle"/>
          </p:nvPr>
        </p:nvSpPr>
        <p:spPr>
          <a:xfrm>
            <a:off x="457200" y="533400"/>
            <a:ext cx="8001000" cy="1752600"/>
          </a:xfrm>
        </p:spPr>
        <p:txBody>
          <a:bodyPr/>
          <a:lstStyle/>
          <a:p>
            <a:pPr algn="l"/>
            <a: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  <a:t>Which name is </a:t>
            </a:r>
            <a:r>
              <a:rPr lang="en-US" b="1" dirty="0">
                <a:latin typeface="Arial" charset="0"/>
                <a:ea typeface="ヒラギノ角ゴ Pro W3" charset="0"/>
                <a:cs typeface="ヒラギノ角ゴ Pro W3" charset="0"/>
              </a:rPr>
              <a:t>incorrectly</a:t>
            </a:r>
            <a: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  <a:t> paired with the formula?</a:t>
            </a:r>
          </a:p>
        </p:txBody>
      </p:sp>
      <p:sp>
        <p:nvSpPr>
          <p:cNvPr id="60419" name="Subtitle 10"/>
          <p:cNvSpPr>
            <a:spLocks noGrp="1"/>
          </p:cNvSpPr>
          <p:nvPr>
            <p:ph type="subTitle" idx="1"/>
          </p:nvPr>
        </p:nvSpPr>
        <p:spPr>
          <a:xfrm>
            <a:off x="1143000" y="2590800"/>
            <a:ext cx="6629400" cy="3048000"/>
          </a:xfrm>
        </p:spPr>
        <p:txBody>
          <a:bodyPr/>
          <a:lstStyle/>
          <a:p>
            <a:pPr marL="514350" indent="-514350" algn="l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hydroxide ion; OH</a:t>
            </a:r>
            <a:r>
              <a:rPr lang="en-US" baseline="30000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–</a:t>
            </a:r>
            <a:endParaRPr lang="en-US" dirty="0">
              <a:solidFill>
                <a:srgbClr val="0D0D0D"/>
              </a:solidFill>
              <a:latin typeface="Arial" charset="0"/>
              <a:ea typeface="ヒラギノ角ゴ Pro W3" charset="0"/>
              <a:cs typeface="ヒラギノ角ゴ Pro W3" charset="0"/>
            </a:endParaRPr>
          </a:p>
          <a:p>
            <a:pPr marL="514350" indent="-514350" algn="l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barium(II) chloride; BaCl</a:t>
            </a:r>
            <a:r>
              <a:rPr lang="en-US" baseline="-25000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2</a:t>
            </a:r>
            <a:endParaRPr lang="en-US" dirty="0">
              <a:solidFill>
                <a:srgbClr val="0D0D0D"/>
              </a:solidFill>
              <a:latin typeface="Arial" charset="0"/>
              <a:ea typeface="ヒラギノ角ゴ Pro W3" charset="0"/>
              <a:cs typeface="ヒラギノ角ゴ Pro W3" charset="0"/>
            </a:endParaRPr>
          </a:p>
          <a:p>
            <a:pPr marL="514350" indent="-514350" algn="l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ammonia; NH</a:t>
            </a:r>
            <a:r>
              <a:rPr lang="en-US" baseline="-25000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3</a:t>
            </a:r>
            <a:endParaRPr lang="en-US" dirty="0">
              <a:solidFill>
                <a:srgbClr val="0D0D0D"/>
              </a:solidFill>
              <a:latin typeface="Arial" charset="0"/>
              <a:ea typeface="ヒラギノ角ゴ Pro W3" charset="0"/>
              <a:cs typeface="ヒラギノ角ゴ Pro W3" charset="0"/>
            </a:endParaRPr>
          </a:p>
          <a:p>
            <a:pPr marL="514350" indent="-514350" algn="l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sulfur dioxide; SO</a:t>
            </a:r>
            <a:r>
              <a:rPr lang="en-US" baseline="-25000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2</a:t>
            </a:r>
            <a:endParaRPr lang="en-US" dirty="0">
              <a:solidFill>
                <a:srgbClr val="0D0D0D"/>
              </a:solidFill>
              <a:latin typeface="Arial" charset="0"/>
              <a:ea typeface="ヒラギノ角ゴ Pro W3" charset="0"/>
              <a:cs typeface="ヒラギノ角ゴ Pro W3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99377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9"/>
          <p:cNvSpPr>
            <a:spLocks noGrp="1"/>
          </p:cNvSpPr>
          <p:nvPr>
            <p:ph type="ctrTitle"/>
          </p:nvPr>
        </p:nvSpPr>
        <p:spPr>
          <a:xfrm>
            <a:off x="457200" y="533400"/>
            <a:ext cx="8001000" cy="1752600"/>
          </a:xfrm>
        </p:spPr>
        <p:txBody>
          <a:bodyPr/>
          <a:lstStyle/>
          <a:p>
            <a:pPr algn="l"/>
            <a: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  <a:t>Which name is </a:t>
            </a:r>
            <a:r>
              <a:rPr lang="en-US" b="1" dirty="0">
                <a:latin typeface="Arial" charset="0"/>
                <a:ea typeface="ヒラギノ角ゴ Pro W3" charset="0"/>
                <a:cs typeface="ヒラギノ角ゴ Pro W3" charset="0"/>
              </a:rPr>
              <a:t>incorrectly</a:t>
            </a:r>
            <a: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  <a:t> paired with the formula?</a:t>
            </a:r>
          </a:p>
        </p:txBody>
      </p:sp>
      <p:sp>
        <p:nvSpPr>
          <p:cNvPr id="62467" name="Subtitle 10"/>
          <p:cNvSpPr>
            <a:spLocks noGrp="1"/>
          </p:cNvSpPr>
          <p:nvPr>
            <p:ph type="subTitle" idx="1"/>
          </p:nvPr>
        </p:nvSpPr>
        <p:spPr>
          <a:xfrm>
            <a:off x="1143000" y="2590800"/>
            <a:ext cx="6629400" cy="3048000"/>
          </a:xfrm>
        </p:spPr>
        <p:txBody>
          <a:bodyPr/>
          <a:lstStyle/>
          <a:p>
            <a:pPr marL="514350" indent="-514350" algn="l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hydroxide ion; OH</a:t>
            </a:r>
            <a:r>
              <a:rPr lang="en-US" baseline="30000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–</a:t>
            </a:r>
            <a:endParaRPr lang="en-US" dirty="0">
              <a:solidFill>
                <a:srgbClr val="0D0D0D"/>
              </a:solidFill>
              <a:latin typeface="Arial" charset="0"/>
              <a:ea typeface="ヒラギノ角ゴ Pro W3" charset="0"/>
              <a:cs typeface="ヒラギノ角ゴ Pro W3" charset="0"/>
            </a:endParaRPr>
          </a:p>
          <a:p>
            <a:pPr marL="514350" indent="-514350" algn="l">
              <a:buFont typeface="Arial" charset="0"/>
              <a:buAutoNum type="alphaLcPeriod"/>
            </a:pPr>
            <a:r>
              <a:rPr lang="en-US" b="1" dirty="0">
                <a:solidFill>
                  <a:srgbClr val="00000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barium(II) chloride; BaCl</a:t>
            </a:r>
            <a:r>
              <a:rPr lang="en-US" b="1" baseline="-25000" dirty="0">
                <a:solidFill>
                  <a:srgbClr val="00000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2</a:t>
            </a:r>
            <a:endParaRPr lang="en-US" b="1" dirty="0">
              <a:solidFill>
                <a:srgbClr val="000000"/>
              </a:solidFill>
              <a:latin typeface="Arial" charset="0"/>
              <a:ea typeface="ヒラギノ角ゴ Pro W3" charset="0"/>
              <a:cs typeface="ヒラギノ角ゴ Pro W3" charset="0"/>
            </a:endParaRPr>
          </a:p>
          <a:p>
            <a:pPr marL="514350" indent="-514350" algn="l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ammonia; NH</a:t>
            </a:r>
            <a:r>
              <a:rPr lang="en-US" baseline="-25000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3</a:t>
            </a:r>
            <a:endParaRPr lang="en-US" dirty="0">
              <a:solidFill>
                <a:srgbClr val="0D0D0D"/>
              </a:solidFill>
              <a:latin typeface="Arial" charset="0"/>
              <a:ea typeface="ヒラギノ角ゴ Pro W3" charset="0"/>
              <a:cs typeface="ヒラギノ角ゴ Pro W3" charset="0"/>
            </a:endParaRPr>
          </a:p>
          <a:p>
            <a:pPr marL="514350" indent="-514350" algn="l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sulfur dioxide; SO</a:t>
            </a:r>
            <a:r>
              <a:rPr lang="en-US" baseline="-25000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2</a:t>
            </a:r>
            <a:endParaRPr lang="en-US" dirty="0">
              <a:solidFill>
                <a:srgbClr val="0D0D0D"/>
              </a:solidFill>
              <a:latin typeface="Arial" charset="0"/>
              <a:ea typeface="ヒラギノ角ゴ Pro W3" charset="0"/>
              <a:cs typeface="ヒラギノ角ゴ Pro W3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857431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9"/>
          <p:cNvSpPr>
            <a:spLocks noGrp="1"/>
          </p:cNvSpPr>
          <p:nvPr>
            <p:ph type="ctrTitle"/>
          </p:nvPr>
        </p:nvSpPr>
        <p:spPr>
          <a:xfrm>
            <a:off x="457200" y="533400"/>
            <a:ext cx="8001000" cy="1600200"/>
          </a:xfrm>
        </p:spPr>
        <p:txBody>
          <a:bodyPr/>
          <a:lstStyle/>
          <a:p>
            <a:pPr algn="l"/>
            <a:r>
              <a:rPr lang="en-US">
                <a:latin typeface="Arial" charset="0"/>
                <a:ea typeface="ヒラギノ角ゴ Pro W3" charset="0"/>
                <a:cs typeface="ヒラギノ角ゴ Pro W3" charset="0"/>
              </a:rPr>
              <a:t>Acids produce _____ ions.</a:t>
            </a:r>
          </a:p>
        </p:txBody>
      </p:sp>
      <p:sp>
        <p:nvSpPr>
          <p:cNvPr id="64515" name="Subtitle 10"/>
          <p:cNvSpPr>
            <a:spLocks noGrp="1"/>
          </p:cNvSpPr>
          <p:nvPr>
            <p:ph type="subTitle" idx="1"/>
          </p:nvPr>
        </p:nvSpPr>
        <p:spPr>
          <a:xfrm>
            <a:off x="1143000" y="2590800"/>
            <a:ext cx="6629400" cy="3048000"/>
          </a:xfrm>
        </p:spPr>
        <p:txBody>
          <a:bodyPr/>
          <a:lstStyle/>
          <a:p>
            <a:pPr marL="514350" indent="-514350" algn="l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OH</a:t>
            </a:r>
            <a:r>
              <a:rPr lang="en-US" baseline="30000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–1</a:t>
            </a:r>
            <a:endParaRPr lang="en-US" dirty="0">
              <a:solidFill>
                <a:srgbClr val="0D0D0D"/>
              </a:solidFill>
              <a:latin typeface="Arial" charset="0"/>
              <a:ea typeface="ヒラギノ角ゴ Pro W3" charset="0"/>
              <a:cs typeface="ヒラギノ角ゴ Pro W3" charset="0"/>
            </a:endParaRPr>
          </a:p>
          <a:p>
            <a:pPr marL="514350" indent="-514350" algn="l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OH</a:t>
            </a:r>
            <a:r>
              <a:rPr lang="en-US" baseline="30000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+1</a:t>
            </a:r>
            <a:endParaRPr lang="en-US" dirty="0">
              <a:solidFill>
                <a:srgbClr val="0D0D0D"/>
              </a:solidFill>
              <a:latin typeface="Arial" charset="0"/>
              <a:ea typeface="ヒラギノ角ゴ Pro W3" charset="0"/>
              <a:cs typeface="ヒラギノ角ゴ Pro W3" charset="0"/>
            </a:endParaRPr>
          </a:p>
          <a:p>
            <a:pPr marL="514350" indent="-514350" algn="l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H</a:t>
            </a:r>
            <a:r>
              <a:rPr lang="en-US" baseline="30000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+1</a:t>
            </a:r>
            <a:endParaRPr lang="en-US" dirty="0">
              <a:solidFill>
                <a:srgbClr val="0D0D0D"/>
              </a:solidFill>
              <a:latin typeface="Arial" charset="0"/>
              <a:ea typeface="ヒラギノ角ゴ Pro W3" charset="0"/>
              <a:cs typeface="ヒラギノ角ゴ Pro W3" charset="0"/>
            </a:endParaRPr>
          </a:p>
          <a:p>
            <a:pPr marL="514350" indent="-514350" algn="l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H</a:t>
            </a:r>
            <a:r>
              <a:rPr lang="en-US" baseline="30000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–1</a:t>
            </a:r>
            <a:endParaRPr lang="en-US" dirty="0">
              <a:solidFill>
                <a:srgbClr val="0D0D0D"/>
              </a:solidFill>
              <a:latin typeface="Arial" charset="0"/>
              <a:ea typeface="ヒラギノ角ゴ Pro W3" charset="0"/>
              <a:cs typeface="ヒラギノ角ゴ Pro W3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33010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9"/>
          <p:cNvSpPr>
            <a:spLocks noGrp="1"/>
          </p:cNvSpPr>
          <p:nvPr>
            <p:ph type="ctrTitle"/>
          </p:nvPr>
        </p:nvSpPr>
        <p:spPr>
          <a:xfrm>
            <a:off x="457200" y="533400"/>
            <a:ext cx="8001000" cy="1600200"/>
          </a:xfrm>
        </p:spPr>
        <p:txBody>
          <a:bodyPr/>
          <a:lstStyle/>
          <a:p>
            <a:pPr algn="l"/>
            <a:r>
              <a:rPr lang="en-US">
                <a:latin typeface="Arial" charset="0"/>
                <a:ea typeface="ヒラギノ角ゴ Pro W3" charset="0"/>
                <a:cs typeface="ヒラギノ角ゴ Pro W3" charset="0"/>
              </a:rPr>
              <a:t>Acids produce _____ ions.</a:t>
            </a:r>
          </a:p>
        </p:txBody>
      </p:sp>
      <p:sp>
        <p:nvSpPr>
          <p:cNvPr id="66563" name="Subtitle 10"/>
          <p:cNvSpPr>
            <a:spLocks noGrp="1"/>
          </p:cNvSpPr>
          <p:nvPr>
            <p:ph type="subTitle" idx="1"/>
          </p:nvPr>
        </p:nvSpPr>
        <p:spPr>
          <a:xfrm>
            <a:off x="1143000" y="2590800"/>
            <a:ext cx="6629400" cy="3048000"/>
          </a:xfrm>
        </p:spPr>
        <p:txBody>
          <a:bodyPr/>
          <a:lstStyle/>
          <a:p>
            <a:pPr marL="514350" indent="-514350" algn="l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OH</a:t>
            </a:r>
            <a:r>
              <a:rPr lang="en-US" baseline="30000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–1</a:t>
            </a:r>
            <a:endParaRPr lang="en-US" dirty="0">
              <a:solidFill>
                <a:srgbClr val="0D0D0D"/>
              </a:solidFill>
              <a:latin typeface="Arial" charset="0"/>
              <a:ea typeface="ヒラギノ角ゴ Pro W3" charset="0"/>
              <a:cs typeface="ヒラギノ角ゴ Pro W3" charset="0"/>
            </a:endParaRPr>
          </a:p>
          <a:p>
            <a:pPr marL="514350" indent="-514350" algn="l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OH</a:t>
            </a:r>
            <a:r>
              <a:rPr lang="en-US" baseline="30000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+1</a:t>
            </a:r>
            <a:endParaRPr lang="en-US" dirty="0">
              <a:solidFill>
                <a:srgbClr val="0D0D0D"/>
              </a:solidFill>
              <a:latin typeface="Arial" charset="0"/>
              <a:ea typeface="ヒラギノ角ゴ Pro W3" charset="0"/>
              <a:cs typeface="ヒラギノ角ゴ Pro W3" charset="0"/>
            </a:endParaRPr>
          </a:p>
          <a:p>
            <a:pPr marL="514350" indent="-514350" algn="l">
              <a:buFont typeface="Arial" charset="0"/>
              <a:buAutoNum type="alphaLcPeriod"/>
            </a:pPr>
            <a:r>
              <a:rPr lang="en-US" b="1" dirty="0">
                <a:solidFill>
                  <a:srgbClr val="00000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H</a:t>
            </a:r>
            <a:r>
              <a:rPr lang="en-US" b="1" baseline="30000" dirty="0">
                <a:solidFill>
                  <a:srgbClr val="00000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+1</a:t>
            </a:r>
            <a:endParaRPr lang="en-US" b="1" dirty="0">
              <a:solidFill>
                <a:srgbClr val="000000"/>
              </a:solidFill>
              <a:latin typeface="Arial" charset="0"/>
              <a:ea typeface="ヒラギノ角ゴ Pro W3" charset="0"/>
              <a:cs typeface="ヒラギノ角ゴ Pro W3" charset="0"/>
            </a:endParaRPr>
          </a:p>
          <a:p>
            <a:pPr marL="514350" indent="-514350" algn="l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H</a:t>
            </a:r>
            <a:r>
              <a:rPr lang="en-US" baseline="30000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–1</a:t>
            </a:r>
            <a:endParaRPr lang="en-US" dirty="0">
              <a:solidFill>
                <a:srgbClr val="0D0D0D"/>
              </a:solidFill>
              <a:latin typeface="Arial" charset="0"/>
              <a:ea typeface="ヒラギノ角ゴ Pro W3" charset="0"/>
              <a:cs typeface="ヒラギノ角ゴ Pro W3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086015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3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7772400" cy="1466850"/>
          </a:xfrm>
        </p:spPr>
        <p:txBody>
          <a:bodyPr/>
          <a:lstStyle/>
          <a:p>
            <a:pPr algn="l"/>
            <a:r>
              <a:rPr lang="en-US" dirty="0" err="1">
                <a:latin typeface="Arial" charset="0"/>
                <a:ea typeface="ヒラギノ角ゴ Pro W3" charset="0"/>
                <a:cs typeface="ヒラギノ角ゴ Pro W3" charset="0"/>
              </a:rPr>
              <a:t>NaClO</a:t>
            </a:r>
            <a: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  <a:t> is named</a:t>
            </a:r>
          </a:p>
        </p:txBody>
      </p:sp>
      <p:sp>
        <p:nvSpPr>
          <p:cNvPr id="68611" name="Subtitle 4"/>
          <p:cNvSpPr>
            <a:spLocks noGrp="1"/>
          </p:cNvSpPr>
          <p:nvPr>
            <p:ph type="subTitle" idx="1"/>
          </p:nvPr>
        </p:nvSpPr>
        <p:spPr>
          <a:xfrm>
            <a:off x="1066800" y="2286000"/>
            <a:ext cx="6705600" cy="3352800"/>
          </a:xfrm>
        </p:spPr>
        <p:txBody>
          <a:bodyPr/>
          <a:lstStyle/>
          <a:p>
            <a:pPr marL="514350" indent="-514350" algn="l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sodium chlorate.</a:t>
            </a:r>
          </a:p>
          <a:p>
            <a:pPr marL="514350" indent="-514350" algn="l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sodium chlorite.</a:t>
            </a:r>
          </a:p>
          <a:p>
            <a:pPr marL="514350" indent="-514350" algn="l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sodium perchlorate.</a:t>
            </a:r>
          </a:p>
          <a:p>
            <a:pPr marL="514350" indent="-514350" algn="l">
              <a:buFont typeface="Arial" charset="0"/>
              <a:buAutoNum type="alphaLcPeriod"/>
            </a:pPr>
            <a:r>
              <a:rPr lang="en-US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rPr>
              <a:t>sodium hypochlorite.</a:t>
            </a:r>
          </a:p>
        </p:txBody>
      </p:sp>
    </p:spTree>
    <p:extLst>
      <p:ext uri="{BB962C8B-B14F-4D97-AF65-F5344CB8AC3E}">
        <p14:creationId xmlns:p14="http://schemas.microsoft.com/office/powerpoint/2010/main" val="415232946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3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7772400" cy="1466850"/>
          </a:xfrm>
        </p:spPr>
        <p:txBody>
          <a:bodyPr/>
          <a:lstStyle/>
          <a:p>
            <a:pPr algn="l"/>
            <a:r>
              <a:rPr lang="en-US" dirty="0" err="1">
                <a:latin typeface="Arial" charset="0"/>
                <a:ea typeface="ヒラギノ角ゴ Pro W3" charset="0"/>
                <a:cs typeface="ヒラギノ角ゴ Pro W3" charset="0"/>
              </a:rPr>
              <a:t>NaClO</a:t>
            </a:r>
            <a: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  <a:t> is named</a:t>
            </a:r>
          </a:p>
        </p:txBody>
      </p:sp>
      <p:sp>
        <p:nvSpPr>
          <p:cNvPr id="70659" name="Subtitle 4"/>
          <p:cNvSpPr>
            <a:spLocks noGrp="1"/>
          </p:cNvSpPr>
          <p:nvPr>
            <p:ph type="subTitle" idx="1"/>
          </p:nvPr>
        </p:nvSpPr>
        <p:spPr>
          <a:xfrm>
            <a:off x="1066800" y="2286000"/>
            <a:ext cx="6705600" cy="3352800"/>
          </a:xfrm>
        </p:spPr>
        <p:txBody>
          <a:bodyPr/>
          <a:lstStyle/>
          <a:p>
            <a:pPr marL="514350" indent="-514350" algn="l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sodium chlorate.</a:t>
            </a:r>
          </a:p>
          <a:p>
            <a:pPr marL="514350" indent="-514350" algn="l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sodium chlorite.</a:t>
            </a:r>
          </a:p>
          <a:p>
            <a:pPr marL="514350" indent="-514350" algn="l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sodium perchlorate.</a:t>
            </a:r>
          </a:p>
          <a:p>
            <a:pPr marL="514350" indent="-514350" algn="l">
              <a:buFont typeface="Arial" charset="0"/>
              <a:buAutoNum type="alphaLcPeriod"/>
            </a:pPr>
            <a:r>
              <a:rPr lang="en-US" b="1" dirty="0">
                <a:solidFill>
                  <a:srgbClr val="00000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sodium hypochlorite.</a:t>
            </a:r>
          </a:p>
        </p:txBody>
      </p:sp>
    </p:spTree>
    <p:extLst>
      <p:ext uri="{BB962C8B-B14F-4D97-AF65-F5344CB8AC3E}">
        <p14:creationId xmlns:p14="http://schemas.microsoft.com/office/powerpoint/2010/main" val="135475473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3"/>
          <p:cNvSpPr>
            <a:spLocks noGrp="1"/>
          </p:cNvSpPr>
          <p:nvPr>
            <p:ph type="ctrTitle"/>
          </p:nvPr>
        </p:nvSpPr>
        <p:spPr>
          <a:xfrm>
            <a:off x="609600" y="609600"/>
            <a:ext cx="7772400" cy="1470025"/>
          </a:xfrm>
        </p:spPr>
        <p:txBody>
          <a:bodyPr/>
          <a:lstStyle/>
          <a:p>
            <a:pPr algn="l"/>
            <a:r>
              <a:rPr lang="en-US">
                <a:latin typeface="Arial" charset="0"/>
                <a:ea typeface="ヒラギノ角ゴ Pro W3" charset="0"/>
                <a:cs typeface="ヒラギノ角ゴ Pro W3" charset="0"/>
              </a:rPr>
              <a:t>LiNO</a:t>
            </a:r>
            <a:r>
              <a:rPr lang="en-US" baseline="-25000">
                <a:latin typeface="Arial" charset="0"/>
                <a:ea typeface="ヒラギノ角ゴ Pro W3" charset="0"/>
                <a:cs typeface="ヒラギノ角ゴ Pro W3" charset="0"/>
              </a:rPr>
              <a:t>3</a:t>
            </a:r>
            <a:r>
              <a:rPr lang="en-US">
                <a:latin typeface="Arial" charset="0"/>
                <a:ea typeface="ヒラギノ角ゴ Pro W3" charset="0"/>
                <a:cs typeface="ヒラギノ角ゴ Pro W3" charset="0"/>
              </a:rPr>
              <a:t> is named</a:t>
            </a:r>
          </a:p>
        </p:txBody>
      </p:sp>
      <p:sp>
        <p:nvSpPr>
          <p:cNvPr id="72707" name="Subtitle 4"/>
          <p:cNvSpPr>
            <a:spLocks noGrp="1"/>
          </p:cNvSpPr>
          <p:nvPr>
            <p:ph type="subTitle" idx="1"/>
          </p:nvPr>
        </p:nvSpPr>
        <p:spPr>
          <a:xfrm>
            <a:off x="1219200" y="2514600"/>
            <a:ext cx="6553200" cy="3124200"/>
          </a:xfrm>
        </p:spPr>
        <p:txBody>
          <a:bodyPr/>
          <a:lstStyle/>
          <a:p>
            <a:pPr marL="514350" indent="-514350" algn="l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lithium nitrate.</a:t>
            </a:r>
          </a:p>
          <a:p>
            <a:pPr marL="514350" indent="-514350" algn="l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lanthanum nitrate.</a:t>
            </a:r>
          </a:p>
          <a:p>
            <a:pPr marL="514350" indent="-514350" algn="l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lanthanum nitrite.</a:t>
            </a:r>
          </a:p>
          <a:p>
            <a:pPr marL="514350" indent="-514350" algn="l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lithium nitrite.</a:t>
            </a:r>
          </a:p>
        </p:txBody>
      </p:sp>
    </p:spTree>
    <p:extLst>
      <p:ext uri="{BB962C8B-B14F-4D97-AF65-F5344CB8AC3E}">
        <p14:creationId xmlns:p14="http://schemas.microsoft.com/office/powerpoint/2010/main" val="166170423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3"/>
          <p:cNvSpPr>
            <a:spLocks noGrp="1"/>
          </p:cNvSpPr>
          <p:nvPr>
            <p:ph type="ctrTitle"/>
          </p:nvPr>
        </p:nvSpPr>
        <p:spPr>
          <a:xfrm>
            <a:off x="609600" y="609600"/>
            <a:ext cx="7772400" cy="1470025"/>
          </a:xfrm>
        </p:spPr>
        <p:txBody>
          <a:bodyPr/>
          <a:lstStyle/>
          <a:p>
            <a:pPr algn="l"/>
            <a:r>
              <a:rPr lang="en-US">
                <a:latin typeface="Arial" charset="0"/>
                <a:ea typeface="ヒラギノ角ゴ Pro W3" charset="0"/>
                <a:cs typeface="ヒラギノ角ゴ Pro W3" charset="0"/>
              </a:rPr>
              <a:t>LiNO</a:t>
            </a:r>
            <a:r>
              <a:rPr lang="en-US" baseline="-25000">
                <a:latin typeface="Arial" charset="0"/>
                <a:ea typeface="ヒラギノ角ゴ Pro W3" charset="0"/>
                <a:cs typeface="ヒラギノ角ゴ Pro W3" charset="0"/>
              </a:rPr>
              <a:t>3</a:t>
            </a:r>
            <a:r>
              <a:rPr lang="en-US">
                <a:latin typeface="Arial" charset="0"/>
                <a:ea typeface="ヒラギノ角ゴ Pro W3" charset="0"/>
                <a:cs typeface="ヒラギノ角ゴ Pro W3" charset="0"/>
              </a:rPr>
              <a:t> is named</a:t>
            </a:r>
          </a:p>
        </p:txBody>
      </p:sp>
      <p:sp>
        <p:nvSpPr>
          <p:cNvPr id="74755" name="Subtitle 4"/>
          <p:cNvSpPr>
            <a:spLocks noGrp="1"/>
          </p:cNvSpPr>
          <p:nvPr>
            <p:ph type="subTitle" idx="1"/>
          </p:nvPr>
        </p:nvSpPr>
        <p:spPr>
          <a:xfrm>
            <a:off x="1219200" y="2514600"/>
            <a:ext cx="6553200" cy="3124200"/>
          </a:xfrm>
        </p:spPr>
        <p:txBody>
          <a:bodyPr/>
          <a:lstStyle/>
          <a:p>
            <a:pPr marL="514350" indent="-514350" algn="l">
              <a:buFont typeface="Arial" charset="0"/>
              <a:buAutoNum type="alphaLcPeriod"/>
            </a:pPr>
            <a:r>
              <a:rPr lang="en-US" b="1" dirty="0">
                <a:solidFill>
                  <a:srgbClr val="00000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lithium nitrate.</a:t>
            </a:r>
          </a:p>
          <a:p>
            <a:pPr marL="514350" indent="-514350" algn="l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lanthanum nitrate.</a:t>
            </a:r>
          </a:p>
          <a:p>
            <a:pPr marL="514350" indent="-514350" algn="l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lanthanum nitrite.</a:t>
            </a:r>
          </a:p>
          <a:p>
            <a:pPr marL="514350" indent="-514350" algn="l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lithium nitrite.</a:t>
            </a:r>
          </a:p>
        </p:txBody>
      </p:sp>
    </p:spTree>
    <p:extLst>
      <p:ext uri="{BB962C8B-B14F-4D97-AF65-F5344CB8AC3E}">
        <p14:creationId xmlns:p14="http://schemas.microsoft.com/office/powerpoint/2010/main" val="304663808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3"/>
          <p:cNvSpPr>
            <a:spLocks noGrp="1"/>
          </p:cNvSpPr>
          <p:nvPr>
            <p:ph type="ctrTitle"/>
          </p:nvPr>
        </p:nvSpPr>
        <p:spPr>
          <a:xfrm>
            <a:off x="457200" y="533400"/>
            <a:ext cx="7772400" cy="1470025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The formula for aluminum carbonate is</a:t>
            </a:r>
          </a:p>
        </p:txBody>
      </p:sp>
      <p:sp>
        <p:nvSpPr>
          <p:cNvPr id="76803" name="Subtitle 4"/>
          <p:cNvSpPr>
            <a:spLocks noGrp="1"/>
          </p:cNvSpPr>
          <p:nvPr>
            <p:ph type="subTitle" idx="1"/>
          </p:nvPr>
        </p:nvSpPr>
        <p:spPr>
          <a:xfrm>
            <a:off x="1143000" y="2362200"/>
            <a:ext cx="6629400" cy="2819400"/>
          </a:xfrm>
        </p:spPr>
        <p:txBody>
          <a:bodyPr/>
          <a:lstStyle/>
          <a:p>
            <a:pPr marL="514350" indent="-514350" algn="l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Al</a:t>
            </a:r>
            <a:r>
              <a:rPr lang="en-US" baseline="-25000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2</a:t>
            </a: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(CO</a:t>
            </a:r>
            <a:r>
              <a:rPr lang="en-US" baseline="-25000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3</a:t>
            </a: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)</a:t>
            </a:r>
            <a:r>
              <a:rPr lang="en-US" baseline="-25000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3</a:t>
            </a: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.</a:t>
            </a:r>
          </a:p>
          <a:p>
            <a:pPr marL="514350" indent="-514350" algn="l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AlCO</a:t>
            </a:r>
            <a:r>
              <a:rPr lang="en-US" baseline="-25000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3</a:t>
            </a: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.</a:t>
            </a:r>
            <a:r>
              <a:rPr lang="en-US" baseline="-25000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 </a:t>
            </a:r>
            <a:endParaRPr lang="en-US" dirty="0">
              <a:solidFill>
                <a:srgbClr val="0D0D0D"/>
              </a:solidFill>
              <a:latin typeface="Arial" charset="0"/>
              <a:ea typeface="ヒラギノ角ゴ Pro W3" charset="0"/>
              <a:cs typeface="ヒラギノ角ゴ Pro W3" charset="0"/>
            </a:endParaRPr>
          </a:p>
          <a:p>
            <a:pPr marL="514350" indent="-514350" algn="l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Al</a:t>
            </a:r>
            <a:r>
              <a:rPr lang="en-US" baseline="-25000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2</a:t>
            </a: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C</a:t>
            </a:r>
            <a:r>
              <a:rPr lang="en-US" baseline="-25000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3</a:t>
            </a: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.</a:t>
            </a:r>
            <a:endParaRPr lang="en-US" baseline="-25000" dirty="0">
              <a:solidFill>
                <a:srgbClr val="0D0D0D"/>
              </a:solidFill>
              <a:latin typeface="Arial" charset="0"/>
              <a:ea typeface="ヒラギノ角ゴ Pro W3" charset="0"/>
              <a:cs typeface="ヒラギノ角ゴ Pro W3" charset="0"/>
            </a:endParaRPr>
          </a:p>
          <a:p>
            <a:pPr marL="514350" indent="-514350" algn="l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Al</a:t>
            </a:r>
            <a:r>
              <a:rPr lang="en-US" baseline="-25000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3</a:t>
            </a: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(CO</a:t>
            </a:r>
            <a:r>
              <a:rPr lang="en-US" baseline="-25000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3</a:t>
            </a: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)</a:t>
            </a:r>
            <a:r>
              <a:rPr lang="en-US" baseline="-25000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2</a:t>
            </a: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.</a:t>
            </a:r>
          </a:p>
          <a:p>
            <a:pPr marL="514350" indent="-514350" algn="l">
              <a:buFont typeface="Arial" charset="0"/>
              <a:buAutoNum type="alphaLcPeriod"/>
            </a:pPr>
            <a:endParaRPr lang="en-US" dirty="0">
              <a:solidFill>
                <a:srgbClr val="0D0D0D"/>
              </a:solidFill>
              <a:latin typeface="Arial" charset="0"/>
              <a:ea typeface="ヒラギノ角ゴ Pro W3" charset="0"/>
              <a:cs typeface="ヒラギノ角ゴ Pro W3" charset="0"/>
            </a:endParaRPr>
          </a:p>
          <a:p>
            <a:pPr marL="514350" indent="-514350" algn="l"/>
            <a:endParaRPr lang="en-US" dirty="0">
              <a:solidFill>
                <a:srgbClr val="0D0D0D"/>
              </a:solidFill>
              <a:latin typeface="Arial" charset="0"/>
              <a:ea typeface="ヒラギノ角ゴ Pro W3" charset="0"/>
              <a:cs typeface="ヒラギノ角ゴ Pro W3" charset="0"/>
            </a:endParaRPr>
          </a:p>
          <a:p>
            <a:pPr marL="514350" indent="-514350" algn="l">
              <a:buFont typeface="Arial" charset="0"/>
              <a:buAutoNum type="alphaLcPeriod"/>
            </a:pPr>
            <a:endParaRPr lang="en-US" baseline="-25000" dirty="0">
              <a:solidFill>
                <a:srgbClr val="0D0D0D"/>
              </a:solidFill>
              <a:latin typeface="Arial" charset="0"/>
              <a:ea typeface="ヒラギノ角ゴ Pro W3" charset="0"/>
              <a:cs typeface="ヒラギノ角ゴ Pro W3" charset="0"/>
            </a:endParaRPr>
          </a:p>
          <a:p>
            <a:pPr marL="514350" indent="-514350" algn="l">
              <a:buFont typeface="Arial" charset="0"/>
              <a:buAutoNum type="alphaLcPeriod"/>
            </a:pPr>
            <a:endParaRPr lang="en-US" dirty="0">
              <a:solidFill>
                <a:srgbClr val="0D0D0D"/>
              </a:solidFill>
              <a:latin typeface="Arial" charset="0"/>
              <a:ea typeface="ヒラギノ角ゴ Pro W3" charset="0"/>
              <a:cs typeface="ヒラギノ角ゴ Pro W3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09482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3"/>
          <p:cNvSpPr>
            <a:spLocks noGrp="1"/>
          </p:cNvSpPr>
          <p:nvPr>
            <p:ph type="ctrTitle"/>
          </p:nvPr>
        </p:nvSpPr>
        <p:spPr>
          <a:xfrm>
            <a:off x="457200" y="533400"/>
            <a:ext cx="7772400" cy="1470025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The formula for aluminum carbonate is</a:t>
            </a:r>
          </a:p>
        </p:txBody>
      </p:sp>
      <p:sp>
        <p:nvSpPr>
          <p:cNvPr id="78851" name="Subtitle 4"/>
          <p:cNvSpPr>
            <a:spLocks noGrp="1"/>
          </p:cNvSpPr>
          <p:nvPr>
            <p:ph type="subTitle" idx="1"/>
          </p:nvPr>
        </p:nvSpPr>
        <p:spPr>
          <a:xfrm>
            <a:off x="1143000" y="2362200"/>
            <a:ext cx="6629400" cy="2819400"/>
          </a:xfrm>
        </p:spPr>
        <p:txBody>
          <a:bodyPr/>
          <a:lstStyle/>
          <a:p>
            <a:pPr marL="514350" indent="-514350" algn="l">
              <a:buFont typeface="Arial" charset="0"/>
              <a:buAutoNum type="alphaLcPeriod"/>
            </a:pPr>
            <a:r>
              <a:rPr lang="en-US" b="1" dirty="0">
                <a:solidFill>
                  <a:srgbClr val="00000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Al</a:t>
            </a:r>
            <a:r>
              <a:rPr lang="en-US" b="1" baseline="-25000" dirty="0">
                <a:solidFill>
                  <a:srgbClr val="00000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2</a:t>
            </a:r>
            <a:r>
              <a:rPr lang="en-US" b="1" dirty="0">
                <a:solidFill>
                  <a:srgbClr val="00000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(CO</a:t>
            </a:r>
            <a:r>
              <a:rPr lang="en-US" b="1" baseline="-25000" dirty="0">
                <a:solidFill>
                  <a:srgbClr val="00000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3</a:t>
            </a:r>
            <a:r>
              <a:rPr lang="en-US" b="1" dirty="0">
                <a:solidFill>
                  <a:srgbClr val="00000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)</a:t>
            </a:r>
            <a:r>
              <a:rPr lang="en-US" b="1" baseline="-25000" dirty="0">
                <a:solidFill>
                  <a:srgbClr val="00000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3</a:t>
            </a:r>
            <a:r>
              <a:rPr lang="en-US" b="1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.</a:t>
            </a:r>
            <a:endParaRPr lang="en-US" b="1" dirty="0">
              <a:solidFill>
                <a:srgbClr val="000000"/>
              </a:solidFill>
              <a:latin typeface="Arial" charset="0"/>
              <a:ea typeface="ヒラギノ角ゴ Pro W3" charset="0"/>
              <a:cs typeface="ヒラギノ角ゴ Pro W3" charset="0"/>
            </a:endParaRPr>
          </a:p>
          <a:p>
            <a:pPr marL="514350" indent="-514350" algn="l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AlCO</a:t>
            </a:r>
            <a:r>
              <a:rPr lang="en-US" baseline="-25000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3</a:t>
            </a: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.</a:t>
            </a:r>
          </a:p>
          <a:p>
            <a:pPr marL="514350" indent="-514350" algn="l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Al</a:t>
            </a:r>
            <a:r>
              <a:rPr lang="en-US" baseline="-25000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2</a:t>
            </a: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C</a:t>
            </a:r>
            <a:r>
              <a:rPr lang="en-US" baseline="-25000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3</a:t>
            </a: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.</a:t>
            </a:r>
            <a:endParaRPr lang="en-US" baseline="-25000" dirty="0">
              <a:solidFill>
                <a:srgbClr val="0D0D0D"/>
              </a:solidFill>
              <a:latin typeface="Arial" charset="0"/>
              <a:ea typeface="ヒラギノ角ゴ Pro W3" charset="0"/>
              <a:cs typeface="ヒラギノ角ゴ Pro W3" charset="0"/>
            </a:endParaRPr>
          </a:p>
          <a:p>
            <a:pPr marL="514350" indent="-514350" algn="l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Al</a:t>
            </a:r>
            <a:r>
              <a:rPr lang="en-US" baseline="-25000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3</a:t>
            </a: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(CO</a:t>
            </a:r>
            <a:r>
              <a:rPr lang="en-US" baseline="-25000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3</a:t>
            </a: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)</a:t>
            </a:r>
            <a:r>
              <a:rPr lang="en-US" baseline="-25000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2</a:t>
            </a: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.</a:t>
            </a:r>
          </a:p>
          <a:p>
            <a:pPr marL="514350" indent="-514350" algn="l">
              <a:buFont typeface="Arial" charset="0"/>
              <a:buAutoNum type="alphaLcPeriod"/>
            </a:pPr>
            <a:endParaRPr lang="en-US" dirty="0">
              <a:solidFill>
                <a:srgbClr val="0D0D0D"/>
              </a:solidFill>
              <a:latin typeface="Arial" charset="0"/>
              <a:ea typeface="ヒラギノ角ゴ Pro W3" charset="0"/>
              <a:cs typeface="ヒラギノ角ゴ Pro W3" charset="0"/>
            </a:endParaRPr>
          </a:p>
          <a:p>
            <a:pPr marL="514350" indent="-514350" algn="l"/>
            <a:endParaRPr lang="en-US" dirty="0">
              <a:solidFill>
                <a:srgbClr val="0D0D0D"/>
              </a:solidFill>
              <a:latin typeface="Arial" charset="0"/>
              <a:ea typeface="ヒラギノ角ゴ Pro W3" charset="0"/>
              <a:cs typeface="ヒラギノ角ゴ Pro W3" charset="0"/>
            </a:endParaRPr>
          </a:p>
          <a:p>
            <a:pPr marL="514350" indent="-514350" algn="l">
              <a:buFont typeface="Arial" charset="0"/>
              <a:buAutoNum type="alphaLcPeriod"/>
            </a:pPr>
            <a:endParaRPr lang="en-US" baseline="-25000" dirty="0">
              <a:solidFill>
                <a:srgbClr val="0D0D0D"/>
              </a:solidFill>
              <a:latin typeface="Arial" charset="0"/>
              <a:ea typeface="ヒラギノ角ゴ Pro W3" charset="0"/>
              <a:cs typeface="ヒラギノ角ゴ Pro W3" charset="0"/>
            </a:endParaRPr>
          </a:p>
          <a:p>
            <a:pPr marL="514350" indent="-514350" algn="l">
              <a:buFont typeface="Arial" charset="0"/>
              <a:buAutoNum type="alphaLcPeriod"/>
            </a:pPr>
            <a:endParaRPr lang="en-US" dirty="0">
              <a:solidFill>
                <a:srgbClr val="0D0D0D"/>
              </a:solidFill>
              <a:latin typeface="Arial" charset="0"/>
              <a:ea typeface="ヒラギノ角ゴ Pro W3" charset="0"/>
              <a:cs typeface="ヒラギノ角ゴ Pro W3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219729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3"/>
          <p:cNvSpPr>
            <a:spLocks noGrp="1"/>
          </p:cNvSpPr>
          <p:nvPr>
            <p:ph type="ctrTitle"/>
          </p:nvPr>
        </p:nvSpPr>
        <p:spPr>
          <a:xfrm>
            <a:off x="457200" y="533400"/>
            <a:ext cx="7772400" cy="1470025"/>
          </a:xfrm>
        </p:spPr>
        <p:txBody>
          <a:bodyPr/>
          <a:lstStyle/>
          <a:p>
            <a:pPr algn="l"/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Fe</a:t>
            </a:r>
            <a:r>
              <a:rPr lang="en-US" baseline="-2500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2</a:t>
            </a: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O</a:t>
            </a:r>
            <a:r>
              <a:rPr lang="en-US" baseline="-2500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3</a:t>
            </a: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 is named</a:t>
            </a:r>
          </a:p>
        </p:txBody>
      </p:sp>
      <p:sp>
        <p:nvSpPr>
          <p:cNvPr id="80899" name="Subtitle 4"/>
          <p:cNvSpPr>
            <a:spLocks noGrp="1"/>
          </p:cNvSpPr>
          <p:nvPr>
            <p:ph type="subTitle" idx="1"/>
          </p:nvPr>
        </p:nvSpPr>
        <p:spPr>
          <a:xfrm>
            <a:off x="1143000" y="2362200"/>
            <a:ext cx="6629400" cy="3276600"/>
          </a:xfrm>
        </p:spPr>
        <p:txBody>
          <a:bodyPr/>
          <a:lstStyle/>
          <a:p>
            <a:pPr marL="514350" indent="-514350" algn="l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diiron trioxide.</a:t>
            </a:r>
          </a:p>
          <a:p>
            <a:pPr marL="514350" indent="-514350" algn="l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iron(III) oxide.</a:t>
            </a:r>
          </a:p>
          <a:p>
            <a:pPr marL="514350" indent="-514350" algn="l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ferrous oxide.</a:t>
            </a:r>
          </a:p>
          <a:p>
            <a:pPr marL="514350" indent="-514350" algn="l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ironic oxide.</a:t>
            </a:r>
          </a:p>
        </p:txBody>
      </p:sp>
    </p:spTree>
    <p:extLst>
      <p:ext uri="{BB962C8B-B14F-4D97-AF65-F5344CB8AC3E}">
        <p14:creationId xmlns:p14="http://schemas.microsoft.com/office/powerpoint/2010/main" val="267936199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itle 3"/>
          <p:cNvSpPr>
            <a:spLocks noGrp="1"/>
          </p:cNvSpPr>
          <p:nvPr>
            <p:ph type="ctrTitle"/>
          </p:nvPr>
        </p:nvSpPr>
        <p:spPr>
          <a:xfrm>
            <a:off x="457200" y="533400"/>
            <a:ext cx="7772400" cy="1470025"/>
          </a:xfrm>
        </p:spPr>
        <p:txBody>
          <a:bodyPr/>
          <a:lstStyle/>
          <a:p>
            <a:pPr algn="l"/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Fe</a:t>
            </a:r>
            <a:r>
              <a:rPr lang="en-US" baseline="-2500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2</a:t>
            </a: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O</a:t>
            </a:r>
            <a:r>
              <a:rPr lang="en-US" baseline="-2500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3</a:t>
            </a: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 is named</a:t>
            </a:r>
          </a:p>
        </p:txBody>
      </p:sp>
      <p:sp>
        <p:nvSpPr>
          <p:cNvPr id="82947" name="Subtitle 4"/>
          <p:cNvSpPr>
            <a:spLocks noGrp="1"/>
          </p:cNvSpPr>
          <p:nvPr>
            <p:ph type="subTitle" idx="1"/>
          </p:nvPr>
        </p:nvSpPr>
        <p:spPr>
          <a:xfrm>
            <a:off x="1143000" y="2362200"/>
            <a:ext cx="6629400" cy="3276600"/>
          </a:xfrm>
        </p:spPr>
        <p:txBody>
          <a:bodyPr/>
          <a:lstStyle/>
          <a:p>
            <a:pPr marL="514350" indent="-514350" algn="l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diiron trioxide.</a:t>
            </a:r>
          </a:p>
          <a:p>
            <a:pPr marL="514350" indent="-514350" algn="l">
              <a:buFont typeface="Arial" charset="0"/>
              <a:buAutoNum type="alphaLcPeriod"/>
            </a:pPr>
            <a:r>
              <a:rPr lang="en-US" b="1">
                <a:solidFill>
                  <a:srgbClr val="00000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iron(III) oxide.</a:t>
            </a:r>
          </a:p>
          <a:p>
            <a:pPr marL="514350" indent="-514350" algn="l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ferrous oxide.</a:t>
            </a:r>
          </a:p>
          <a:p>
            <a:pPr marL="514350" indent="-514350" algn="l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ironic oxide.</a:t>
            </a:r>
          </a:p>
        </p:txBody>
      </p:sp>
    </p:spTree>
    <p:extLst>
      <p:ext uri="{BB962C8B-B14F-4D97-AF65-F5344CB8AC3E}">
        <p14:creationId xmlns:p14="http://schemas.microsoft.com/office/powerpoint/2010/main" val="163570382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3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7772400" cy="1470025"/>
          </a:xfrm>
        </p:spPr>
        <p:txBody>
          <a:bodyPr/>
          <a:lstStyle/>
          <a:p>
            <a:pPr algn="l"/>
            <a: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  <a:t>Which acid is </a:t>
            </a:r>
            <a:r>
              <a:rPr lang="en-US" b="1" dirty="0">
                <a:latin typeface="Arial" charset="0"/>
                <a:ea typeface="ヒラギノ角ゴ Pro W3" charset="0"/>
                <a:cs typeface="ヒラギノ角ゴ Pro W3" charset="0"/>
              </a:rPr>
              <a:t>not</a:t>
            </a:r>
            <a: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  <a:t> an oxyacid?</a:t>
            </a:r>
          </a:p>
        </p:txBody>
      </p:sp>
      <p:sp>
        <p:nvSpPr>
          <p:cNvPr id="84995" name="Subtitle 4"/>
          <p:cNvSpPr>
            <a:spLocks noGrp="1"/>
          </p:cNvSpPr>
          <p:nvPr>
            <p:ph type="subTitle" idx="1"/>
          </p:nvPr>
        </p:nvSpPr>
        <p:spPr>
          <a:xfrm>
            <a:off x="1066800" y="2362200"/>
            <a:ext cx="6705600" cy="3276600"/>
          </a:xfrm>
        </p:spPr>
        <p:txBody>
          <a:bodyPr/>
          <a:lstStyle/>
          <a:p>
            <a:pPr marL="514350" indent="-514350" algn="l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hydrochloric acid</a:t>
            </a:r>
          </a:p>
          <a:p>
            <a:pPr marL="514350" indent="-514350" algn="l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nitric acid</a:t>
            </a:r>
          </a:p>
          <a:p>
            <a:pPr marL="514350" indent="-514350" algn="l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sulfurous acid</a:t>
            </a:r>
          </a:p>
          <a:p>
            <a:pPr marL="514350" indent="-514350" algn="l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acetic acid</a:t>
            </a:r>
          </a:p>
        </p:txBody>
      </p:sp>
    </p:spTree>
    <p:extLst>
      <p:ext uri="{BB962C8B-B14F-4D97-AF65-F5344CB8AC3E}">
        <p14:creationId xmlns:p14="http://schemas.microsoft.com/office/powerpoint/2010/main" val="292770834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itle 3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7772400" cy="1470025"/>
          </a:xfrm>
        </p:spPr>
        <p:txBody>
          <a:bodyPr/>
          <a:lstStyle/>
          <a:p>
            <a:pPr algn="l"/>
            <a: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  <a:t>Which acid is </a:t>
            </a:r>
            <a:r>
              <a:rPr lang="en-US" b="1" dirty="0">
                <a:latin typeface="Arial" charset="0"/>
                <a:ea typeface="ヒラギノ角ゴ Pro W3" charset="0"/>
                <a:cs typeface="ヒラギノ角ゴ Pro W3" charset="0"/>
              </a:rPr>
              <a:t>not</a:t>
            </a:r>
            <a: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  <a:t> an oxyacid?</a:t>
            </a:r>
          </a:p>
        </p:txBody>
      </p:sp>
      <p:sp>
        <p:nvSpPr>
          <p:cNvPr id="87043" name="Subtitle 4"/>
          <p:cNvSpPr>
            <a:spLocks noGrp="1"/>
          </p:cNvSpPr>
          <p:nvPr>
            <p:ph type="subTitle" idx="1"/>
          </p:nvPr>
        </p:nvSpPr>
        <p:spPr>
          <a:xfrm>
            <a:off x="1066800" y="2362200"/>
            <a:ext cx="6705600" cy="3276600"/>
          </a:xfrm>
        </p:spPr>
        <p:txBody>
          <a:bodyPr/>
          <a:lstStyle/>
          <a:p>
            <a:pPr marL="514350" indent="-514350" algn="l">
              <a:buFont typeface="Arial" charset="0"/>
              <a:buAutoNum type="alphaLcPeriod"/>
            </a:pPr>
            <a:r>
              <a:rPr lang="en-US" b="1">
                <a:solidFill>
                  <a:srgbClr val="00000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hydrochloric acid</a:t>
            </a:r>
          </a:p>
          <a:p>
            <a:pPr marL="514350" indent="-514350" algn="l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nitric acid</a:t>
            </a:r>
          </a:p>
          <a:p>
            <a:pPr marL="514350" indent="-514350" algn="l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sulfurous acid</a:t>
            </a:r>
          </a:p>
          <a:p>
            <a:pPr marL="514350" indent="-514350" algn="l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acetic acid</a:t>
            </a:r>
          </a:p>
        </p:txBody>
      </p:sp>
    </p:spTree>
    <p:extLst>
      <p:ext uri="{BB962C8B-B14F-4D97-AF65-F5344CB8AC3E}">
        <p14:creationId xmlns:p14="http://schemas.microsoft.com/office/powerpoint/2010/main" val="124550019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Title 3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7772400" cy="1470025"/>
          </a:xfrm>
        </p:spPr>
        <p:txBody>
          <a:bodyPr/>
          <a:lstStyle/>
          <a:p>
            <a:pPr algn="l"/>
            <a:r>
              <a:rPr lang="en-US">
                <a:latin typeface="Arial" charset="0"/>
                <a:ea typeface="ヒラギノ角ゴ Pro W3" charset="0"/>
                <a:cs typeface="ヒラギノ角ゴ Pro W3" charset="0"/>
              </a:rPr>
              <a:t>HIO</a:t>
            </a:r>
            <a:r>
              <a:rPr lang="en-US" baseline="-25000">
                <a:latin typeface="Arial" charset="0"/>
                <a:ea typeface="ヒラギノ角ゴ Pro W3" charset="0"/>
                <a:cs typeface="ヒラギノ角ゴ Pro W3" charset="0"/>
              </a:rPr>
              <a:t>4</a:t>
            </a:r>
            <a:r>
              <a:rPr lang="en-US">
                <a:latin typeface="Arial" charset="0"/>
                <a:ea typeface="ヒラギノ角ゴ Pro W3" charset="0"/>
                <a:cs typeface="ヒラギノ角ゴ Pro W3" charset="0"/>
              </a:rPr>
              <a:t> is named</a:t>
            </a:r>
          </a:p>
        </p:txBody>
      </p:sp>
      <p:sp>
        <p:nvSpPr>
          <p:cNvPr id="89091" name="Subtitle 4"/>
          <p:cNvSpPr>
            <a:spLocks noGrp="1"/>
          </p:cNvSpPr>
          <p:nvPr>
            <p:ph type="subTitle" idx="1"/>
          </p:nvPr>
        </p:nvSpPr>
        <p:spPr>
          <a:xfrm>
            <a:off x="1066800" y="2362200"/>
            <a:ext cx="6705600" cy="3276600"/>
          </a:xfrm>
        </p:spPr>
        <p:txBody>
          <a:bodyPr/>
          <a:lstStyle/>
          <a:p>
            <a:pPr marL="514350" indent="-514350" algn="l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iodic acid.</a:t>
            </a:r>
          </a:p>
          <a:p>
            <a:pPr marL="514350" indent="-514350" algn="l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iodous acid.</a:t>
            </a:r>
          </a:p>
          <a:p>
            <a:pPr marL="514350" indent="-514350" algn="l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periodic acid.</a:t>
            </a:r>
          </a:p>
          <a:p>
            <a:pPr marL="514350" indent="-514350" algn="l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hydrogen iodate.</a:t>
            </a:r>
          </a:p>
        </p:txBody>
      </p:sp>
    </p:spTree>
    <p:extLst>
      <p:ext uri="{BB962C8B-B14F-4D97-AF65-F5344CB8AC3E}">
        <p14:creationId xmlns:p14="http://schemas.microsoft.com/office/powerpoint/2010/main" val="219402211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itle 3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7772400" cy="1470025"/>
          </a:xfrm>
        </p:spPr>
        <p:txBody>
          <a:bodyPr/>
          <a:lstStyle/>
          <a:p>
            <a:pPr algn="l"/>
            <a:r>
              <a:rPr lang="en-US">
                <a:latin typeface="Arial" charset="0"/>
                <a:ea typeface="ヒラギノ角ゴ Pro W3" charset="0"/>
                <a:cs typeface="ヒラギノ角ゴ Pro W3" charset="0"/>
              </a:rPr>
              <a:t>HIO</a:t>
            </a:r>
            <a:r>
              <a:rPr lang="en-US" baseline="-25000">
                <a:latin typeface="Arial" charset="0"/>
                <a:ea typeface="ヒラギノ角ゴ Pro W3" charset="0"/>
                <a:cs typeface="ヒラギノ角ゴ Pro W3" charset="0"/>
              </a:rPr>
              <a:t>4</a:t>
            </a:r>
            <a:r>
              <a:rPr lang="en-US">
                <a:latin typeface="Arial" charset="0"/>
                <a:ea typeface="ヒラギノ角ゴ Pro W3" charset="0"/>
                <a:cs typeface="ヒラギノ角ゴ Pro W3" charset="0"/>
              </a:rPr>
              <a:t> is named</a:t>
            </a:r>
          </a:p>
        </p:txBody>
      </p:sp>
      <p:sp>
        <p:nvSpPr>
          <p:cNvPr id="91139" name="Subtitle 4"/>
          <p:cNvSpPr>
            <a:spLocks noGrp="1"/>
          </p:cNvSpPr>
          <p:nvPr>
            <p:ph type="subTitle" idx="1"/>
          </p:nvPr>
        </p:nvSpPr>
        <p:spPr>
          <a:xfrm>
            <a:off x="1066800" y="2362200"/>
            <a:ext cx="6705600" cy="3276600"/>
          </a:xfrm>
        </p:spPr>
        <p:txBody>
          <a:bodyPr/>
          <a:lstStyle/>
          <a:p>
            <a:pPr marL="514350" indent="-514350" algn="l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iodic acid.</a:t>
            </a:r>
          </a:p>
          <a:p>
            <a:pPr marL="514350" indent="-514350" algn="l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iodous acid.</a:t>
            </a:r>
          </a:p>
          <a:p>
            <a:pPr marL="514350" indent="-514350" algn="l">
              <a:buFont typeface="Arial" charset="0"/>
              <a:buAutoNum type="alphaLcPeriod"/>
            </a:pPr>
            <a:r>
              <a:rPr lang="en-US" b="1">
                <a:solidFill>
                  <a:srgbClr val="00000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periodic acid.</a:t>
            </a:r>
          </a:p>
          <a:p>
            <a:pPr marL="514350" indent="-514350" algn="l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hydrogen iodate.</a:t>
            </a:r>
          </a:p>
        </p:txBody>
      </p:sp>
    </p:spTree>
    <p:extLst>
      <p:ext uri="{BB962C8B-B14F-4D97-AF65-F5344CB8AC3E}">
        <p14:creationId xmlns:p14="http://schemas.microsoft.com/office/powerpoint/2010/main" val="138433171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itle 3"/>
          <p:cNvSpPr>
            <a:spLocks noGrp="1"/>
          </p:cNvSpPr>
          <p:nvPr>
            <p:ph type="ctrTitle"/>
          </p:nvPr>
        </p:nvSpPr>
        <p:spPr>
          <a:xfrm>
            <a:off x="533400" y="457200"/>
            <a:ext cx="7772400" cy="1470025"/>
          </a:xfrm>
        </p:spPr>
        <p:txBody>
          <a:bodyPr/>
          <a:lstStyle/>
          <a:p>
            <a:pPr algn="l"/>
            <a:r>
              <a:rPr lang="en-US">
                <a:latin typeface="Arial" charset="0"/>
                <a:ea typeface="ヒラギノ角ゴ Pro W3" charset="0"/>
                <a:cs typeface="ヒラギノ角ゴ Pro W3" charset="0"/>
              </a:rPr>
              <a:t>Cl</a:t>
            </a:r>
            <a:r>
              <a:rPr lang="en-US" baseline="-25000">
                <a:latin typeface="Arial" charset="0"/>
                <a:ea typeface="ヒラギノ角ゴ Pro W3" charset="0"/>
                <a:cs typeface="ヒラギノ角ゴ Pro W3" charset="0"/>
              </a:rPr>
              <a:t>2</a:t>
            </a:r>
            <a:r>
              <a:rPr lang="en-US">
                <a:latin typeface="Arial" charset="0"/>
                <a:ea typeface="ヒラギノ角ゴ Pro W3" charset="0"/>
                <a:cs typeface="ヒラギノ角ゴ Pro W3" charset="0"/>
              </a:rPr>
              <a:t>O</a:t>
            </a:r>
            <a:r>
              <a:rPr lang="en-US" baseline="-25000">
                <a:latin typeface="Arial" charset="0"/>
                <a:ea typeface="ヒラギノ角ゴ Pro W3" charset="0"/>
                <a:cs typeface="ヒラギノ角ゴ Pro W3" charset="0"/>
              </a:rPr>
              <a:t>7</a:t>
            </a:r>
            <a:r>
              <a:rPr lang="en-US">
                <a:latin typeface="Arial" charset="0"/>
                <a:ea typeface="ヒラギノ角ゴ Pro W3" charset="0"/>
                <a:cs typeface="ヒラギノ角ゴ Pro W3" charset="0"/>
              </a:rPr>
              <a:t> is named</a:t>
            </a:r>
          </a:p>
        </p:txBody>
      </p:sp>
      <p:sp>
        <p:nvSpPr>
          <p:cNvPr id="93187" name="Subtitle 4"/>
          <p:cNvSpPr>
            <a:spLocks noGrp="1"/>
          </p:cNvSpPr>
          <p:nvPr>
            <p:ph type="subTitle" idx="1"/>
          </p:nvPr>
        </p:nvSpPr>
        <p:spPr>
          <a:xfrm>
            <a:off x="1219200" y="2286000"/>
            <a:ext cx="6553200" cy="3352800"/>
          </a:xfrm>
        </p:spPr>
        <p:txBody>
          <a:bodyPr/>
          <a:lstStyle/>
          <a:p>
            <a:pPr marL="514350" indent="-514350" algn="l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chlorine(VII) oxide.</a:t>
            </a:r>
          </a:p>
          <a:p>
            <a:pPr marL="514350" indent="-514350" algn="l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dichlorine hexaoxide.</a:t>
            </a:r>
          </a:p>
          <a:p>
            <a:pPr marL="514350" indent="-514350" algn="l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dichlorine heptaoxide.</a:t>
            </a:r>
          </a:p>
          <a:p>
            <a:pPr marL="514350" indent="-514350" algn="l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bichlorine heptaoxide.</a:t>
            </a:r>
          </a:p>
        </p:txBody>
      </p:sp>
    </p:spTree>
    <p:extLst>
      <p:ext uri="{BB962C8B-B14F-4D97-AF65-F5344CB8AC3E}">
        <p14:creationId xmlns:p14="http://schemas.microsoft.com/office/powerpoint/2010/main" val="209606014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itle 3"/>
          <p:cNvSpPr>
            <a:spLocks noGrp="1"/>
          </p:cNvSpPr>
          <p:nvPr>
            <p:ph type="ctrTitle"/>
          </p:nvPr>
        </p:nvSpPr>
        <p:spPr>
          <a:xfrm>
            <a:off x="533400" y="457200"/>
            <a:ext cx="7772400" cy="1470025"/>
          </a:xfrm>
        </p:spPr>
        <p:txBody>
          <a:bodyPr/>
          <a:lstStyle/>
          <a:p>
            <a:pPr algn="l"/>
            <a:r>
              <a:rPr lang="en-US">
                <a:latin typeface="Arial" charset="0"/>
                <a:ea typeface="ヒラギノ角ゴ Pro W3" charset="0"/>
                <a:cs typeface="ヒラギノ角ゴ Pro W3" charset="0"/>
              </a:rPr>
              <a:t>Cl</a:t>
            </a:r>
            <a:r>
              <a:rPr lang="en-US" baseline="-25000">
                <a:latin typeface="Arial" charset="0"/>
                <a:ea typeface="ヒラギノ角ゴ Pro W3" charset="0"/>
                <a:cs typeface="ヒラギノ角ゴ Pro W3" charset="0"/>
              </a:rPr>
              <a:t>2</a:t>
            </a:r>
            <a:r>
              <a:rPr lang="en-US">
                <a:latin typeface="Arial" charset="0"/>
                <a:ea typeface="ヒラギノ角ゴ Pro W3" charset="0"/>
                <a:cs typeface="ヒラギノ角ゴ Pro W3" charset="0"/>
              </a:rPr>
              <a:t>O</a:t>
            </a:r>
            <a:r>
              <a:rPr lang="en-US" baseline="-25000">
                <a:latin typeface="Arial" charset="0"/>
                <a:ea typeface="ヒラギノ角ゴ Pro W3" charset="0"/>
                <a:cs typeface="ヒラギノ角ゴ Pro W3" charset="0"/>
              </a:rPr>
              <a:t>7</a:t>
            </a:r>
            <a:r>
              <a:rPr lang="en-US">
                <a:latin typeface="Arial" charset="0"/>
                <a:ea typeface="ヒラギノ角ゴ Pro W3" charset="0"/>
                <a:cs typeface="ヒラギノ角ゴ Pro W3" charset="0"/>
              </a:rPr>
              <a:t> is named</a:t>
            </a:r>
          </a:p>
        </p:txBody>
      </p:sp>
      <p:sp>
        <p:nvSpPr>
          <p:cNvPr id="95235" name="Subtitle 4"/>
          <p:cNvSpPr>
            <a:spLocks noGrp="1"/>
          </p:cNvSpPr>
          <p:nvPr>
            <p:ph type="subTitle" idx="1"/>
          </p:nvPr>
        </p:nvSpPr>
        <p:spPr>
          <a:xfrm>
            <a:off x="1219200" y="2286000"/>
            <a:ext cx="6553200" cy="3352800"/>
          </a:xfrm>
        </p:spPr>
        <p:txBody>
          <a:bodyPr/>
          <a:lstStyle/>
          <a:p>
            <a:pPr marL="514350" indent="-514350" algn="l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chlorine(VII) oxide.</a:t>
            </a:r>
          </a:p>
          <a:p>
            <a:pPr marL="514350" indent="-514350" algn="l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dichlorine hexaoxide.</a:t>
            </a:r>
          </a:p>
          <a:p>
            <a:pPr marL="514350" indent="-514350" algn="l">
              <a:buFont typeface="Arial" charset="0"/>
              <a:buAutoNum type="alphaLcPeriod"/>
            </a:pPr>
            <a:r>
              <a:rPr lang="en-US" b="1">
                <a:solidFill>
                  <a:srgbClr val="00000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dichlorine heptaoxide.</a:t>
            </a:r>
          </a:p>
          <a:p>
            <a:pPr marL="514350" indent="-514350" algn="l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bichlorine heptaoxide.</a:t>
            </a:r>
          </a:p>
        </p:txBody>
      </p:sp>
    </p:spTree>
    <p:extLst>
      <p:ext uri="{BB962C8B-B14F-4D97-AF65-F5344CB8AC3E}">
        <p14:creationId xmlns:p14="http://schemas.microsoft.com/office/powerpoint/2010/main" val="361129187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Title 3"/>
          <p:cNvSpPr>
            <a:spLocks noGrp="1"/>
          </p:cNvSpPr>
          <p:nvPr>
            <p:ph type="ctrTitle"/>
          </p:nvPr>
        </p:nvSpPr>
        <p:spPr>
          <a:xfrm>
            <a:off x="457200" y="533400"/>
            <a:ext cx="7772400" cy="1470025"/>
          </a:xfrm>
        </p:spPr>
        <p:txBody>
          <a:bodyPr/>
          <a:lstStyle/>
          <a:p>
            <a:pPr algn="l"/>
            <a:r>
              <a:rPr lang="en-US">
                <a:latin typeface="Arial" charset="0"/>
                <a:ea typeface="ヒラギノ角ゴ Pro W3" charset="0"/>
                <a:cs typeface="ヒラギノ角ゴ Pro W3" charset="0"/>
              </a:rPr>
              <a:t>C</a:t>
            </a:r>
            <a:r>
              <a:rPr lang="en-US" baseline="-25000">
                <a:latin typeface="Arial" charset="0"/>
                <a:ea typeface="ヒラギノ角ゴ Pro W3" charset="0"/>
                <a:cs typeface="ヒラギノ角ゴ Pro W3" charset="0"/>
              </a:rPr>
              <a:t>3</a:t>
            </a:r>
            <a:r>
              <a:rPr lang="en-US">
                <a:latin typeface="Arial" charset="0"/>
                <a:ea typeface="ヒラギノ角ゴ Pro W3" charset="0"/>
                <a:cs typeface="ヒラギノ角ゴ Pro W3" charset="0"/>
              </a:rPr>
              <a:t>H</a:t>
            </a:r>
            <a:r>
              <a:rPr lang="en-US" baseline="-25000">
                <a:latin typeface="Arial" charset="0"/>
                <a:ea typeface="ヒラギノ角ゴ Pro W3" charset="0"/>
                <a:cs typeface="ヒラギノ角ゴ Pro W3" charset="0"/>
              </a:rPr>
              <a:t>8</a:t>
            </a:r>
            <a:r>
              <a:rPr lang="en-US">
                <a:latin typeface="Arial" charset="0"/>
                <a:ea typeface="ヒラギノ角ゴ Pro W3" charset="0"/>
                <a:cs typeface="ヒラギノ角ゴ Pro W3" charset="0"/>
              </a:rPr>
              <a:t> is named</a:t>
            </a:r>
          </a:p>
        </p:txBody>
      </p:sp>
      <p:sp>
        <p:nvSpPr>
          <p:cNvPr id="97283" name="Subtitle 4"/>
          <p:cNvSpPr>
            <a:spLocks noGrp="1"/>
          </p:cNvSpPr>
          <p:nvPr>
            <p:ph type="subTitle" idx="1"/>
          </p:nvPr>
        </p:nvSpPr>
        <p:spPr>
          <a:xfrm>
            <a:off x="1143000" y="2362200"/>
            <a:ext cx="6629400" cy="3276600"/>
          </a:xfrm>
        </p:spPr>
        <p:txBody>
          <a:bodyPr/>
          <a:lstStyle/>
          <a:p>
            <a:pPr marL="514350" indent="-514350" algn="l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ethane.</a:t>
            </a:r>
          </a:p>
          <a:p>
            <a:pPr marL="514350" indent="-514350" algn="l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propane.</a:t>
            </a:r>
          </a:p>
          <a:p>
            <a:pPr marL="514350" indent="-514350" algn="l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propanol.</a:t>
            </a:r>
          </a:p>
          <a:p>
            <a:pPr marL="514350" indent="-514350" algn="l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pentane.</a:t>
            </a:r>
          </a:p>
        </p:txBody>
      </p:sp>
    </p:spTree>
    <p:extLst>
      <p:ext uri="{BB962C8B-B14F-4D97-AF65-F5344CB8AC3E}">
        <p14:creationId xmlns:p14="http://schemas.microsoft.com/office/powerpoint/2010/main" val="125653421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itle 3"/>
          <p:cNvSpPr>
            <a:spLocks noGrp="1"/>
          </p:cNvSpPr>
          <p:nvPr>
            <p:ph type="ctrTitle"/>
          </p:nvPr>
        </p:nvSpPr>
        <p:spPr>
          <a:xfrm>
            <a:off x="457200" y="533400"/>
            <a:ext cx="7772400" cy="1470025"/>
          </a:xfrm>
        </p:spPr>
        <p:txBody>
          <a:bodyPr/>
          <a:lstStyle/>
          <a:p>
            <a:pPr algn="l"/>
            <a:r>
              <a:rPr lang="en-US">
                <a:latin typeface="Arial" charset="0"/>
                <a:ea typeface="ヒラギノ角ゴ Pro W3" charset="0"/>
                <a:cs typeface="ヒラギノ角ゴ Pro W3" charset="0"/>
              </a:rPr>
              <a:t>C</a:t>
            </a:r>
            <a:r>
              <a:rPr lang="en-US" baseline="-25000">
                <a:latin typeface="Arial" charset="0"/>
                <a:ea typeface="ヒラギノ角ゴ Pro W3" charset="0"/>
                <a:cs typeface="ヒラギノ角ゴ Pro W3" charset="0"/>
              </a:rPr>
              <a:t>3</a:t>
            </a:r>
            <a:r>
              <a:rPr lang="en-US">
                <a:latin typeface="Arial" charset="0"/>
                <a:ea typeface="ヒラギノ角ゴ Pro W3" charset="0"/>
                <a:cs typeface="ヒラギノ角ゴ Pro W3" charset="0"/>
              </a:rPr>
              <a:t>H</a:t>
            </a:r>
            <a:r>
              <a:rPr lang="en-US" baseline="-25000">
                <a:latin typeface="Arial" charset="0"/>
                <a:ea typeface="ヒラギノ角ゴ Pro W3" charset="0"/>
                <a:cs typeface="ヒラギノ角ゴ Pro W3" charset="0"/>
              </a:rPr>
              <a:t>8</a:t>
            </a:r>
            <a:r>
              <a:rPr lang="en-US">
                <a:latin typeface="Arial" charset="0"/>
                <a:ea typeface="ヒラギノ角ゴ Pro W3" charset="0"/>
                <a:cs typeface="ヒラギノ角ゴ Pro W3" charset="0"/>
              </a:rPr>
              <a:t> is named</a:t>
            </a:r>
          </a:p>
        </p:txBody>
      </p:sp>
      <p:sp>
        <p:nvSpPr>
          <p:cNvPr id="99331" name="Subtitle 4"/>
          <p:cNvSpPr>
            <a:spLocks noGrp="1"/>
          </p:cNvSpPr>
          <p:nvPr>
            <p:ph type="subTitle" idx="1"/>
          </p:nvPr>
        </p:nvSpPr>
        <p:spPr>
          <a:xfrm>
            <a:off x="1143000" y="2362200"/>
            <a:ext cx="6629400" cy="3276600"/>
          </a:xfrm>
        </p:spPr>
        <p:txBody>
          <a:bodyPr/>
          <a:lstStyle/>
          <a:p>
            <a:pPr marL="514350" indent="-514350" algn="l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ethane.</a:t>
            </a:r>
          </a:p>
          <a:p>
            <a:pPr marL="514350" indent="-514350" algn="l">
              <a:buFont typeface="Arial" charset="0"/>
              <a:buAutoNum type="alphaLcPeriod"/>
            </a:pPr>
            <a:r>
              <a:rPr lang="en-US" b="1">
                <a:solidFill>
                  <a:srgbClr val="00000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propane.</a:t>
            </a:r>
          </a:p>
          <a:p>
            <a:pPr marL="514350" indent="-514350" algn="l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propanol.</a:t>
            </a:r>
          </a:p>
          <a:p>
            <a:pPr marL="514350" indent="-514350" algn="l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pentane.</a:t>
            </a:r>
          </a:p>
        </p:txBody>
      </p:sp>
    </p:spTree>
    <p:extLst>
      <p:ext uri="{BB962C8B-B14F-4D97-AF65-F5344CB8AC3E}">
        <p14:creationId xmlns:p14="http://schemas.microsoft.com/office/powerpoint/2010/main" val="2689185125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>
            <a:alpha val="60001"/>
          </a:schemeClr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rgbClr val="C82E32"/>
            </a:solidFill>
            <a:effectLst/>
            <a:latin typeface="Arial" charset="0"/>
            <a:ea typeface="ＭＳ Ｐゴシック" pitchFamily="48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>
            <a:alpha val="60001"/>
          </a:schemeClr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rgbClr val="C82E32"/>
            </a:solidFill>
            <a:effectLst/>
            <a:latin typeface="Arial" charset="0"/>
            <a:ea typeface="ＭＳ Ｐゴシック" pitchFamily="48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Blank Presentation">
  <a:themeElements>
    <a:clrScheme name="1_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Blank Pre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>
            <a:alpha val="60001"/>
          </a:schemeClr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rgbClr val="C82E32"/>
            </a:solidFill>
            <a:effectLst/>
            <a:latin typeface="Arial" charset="0"/>
            <a:ea typeface="ＭＳ Ｐゴシック" pitchFamily="48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>
            <a:alpha val="60001"/>
          </a:schemeClr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rgbClr val="C82E32"/>
            </a:solidFill>
            <a:effectLst/>
            <a:latin typeface="Arial" charset="0"/>
            <a:ea typeface="ＭＳ Ｐゴシック" pitchFamily="48" charset="-128"/>
          </a:defRPr>
        </a:defPPr>
      </a:lstStyle>
    </a:lnDef>
  </a:objectDefaults>
  <a:extraClrSchemeLst>
    <a:extraClrScheme>
      <a:clrScheme name="1_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5906</TotalTime>
  <Words>2898</Words>
  <Application>Microsoft Office PowerPoint</Application>
  <PresentationFormat>全屏显示(4:3)</PresentationFormat>
  <Paragraphs>468</Paragraphs>
  <Slides>85</Slides>
  <Notes>81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85</vt:i4>
      </vt:variant>
    </vt:vector>
  </HeadingPairs>
  <TitlesOfParts>
    <vt:vector size="94" baseType="lpstr">
      <vt:lpstr>ＭＳ Ｐゴシック</vt:lpstr>
      <vt:lpstr>新細明體</vt:lpstr>
      <vt:lpstr>ヒラギノ角ゴ Pro W3</vt:lpstr>
      <vt:lpstr>Arial</vt:lpstr>
      <vt:lpstr>Calibri</vt:lpstr>
      <vt:lpstr>Symbol</vt:lpstr>
      <vt:lpstr>Wingdings</vt:lpstr>
      <vt:lpstr>Blank Presentation</vt:lpstr>
      <vt:lpstr>1_Blank Presentation</vt:lpstr>
      <vt:lpstr>PowerPoint 演示文稿</vt:lpstr>
      <vt:lpstr>PowerPoint 演示文稿</vt:lpstr>
      <vt:lpstr>PowerPoint 演示文稿</vt:lpstr>
      <vt:lpstr>Law of Conservation of Mass  (质量守恒定律)</vt:lpstr>
      <vt:lpstr>Law of Multiple Proportions (倍比定律)</vt:lpstr>
      <vt:lpstr>Discovery of Subatomic Particles</vt:lpstr>
      <vt:lpstr>The Electron (Cathode Rays)</vt:lpstr>
      <vt:lpstr>The Electron</vt:lpstr>
      <vt:lpstr>Millikan Oil-Drop Experiment (Electrons)</vt:lpstr>
      <vt:lpstr>Radioactivity (辐射性)</vt:lpstr>
      <vt:lpstr>Radioactivity</vt:lpstr>
      <vt:lpstr>The Atom, circa 1900</vt:lpstr>
      <vt:lpstr>Discovery of the Nucleus (原子核)</vt:lpstr>
      <vt:lpstr>The Nuclear Atom</vt:lpstr>
      <vt:lpstr>The Nuclear Atom （核型原子）</vt:lpstr>
      <vt:lpstr>Subatomic Particles</vt:lpstr>
      <vt:lpstr>Atomic Mass (原子质量)</vt:lpstr>
      <vt:lpstr>Symbols of Elements</vt:lpstr>
      <vt:lpstr>Isotopes (同位素)</vt:lpstr>
      <vt:lpstr>Atomic Weight (原子量) </vt:lpstr>
      <vt:lpstr>Atomic Weight Measurement</vt:lpstr>
      <vt:lpstr>Periodic Table of Elements（元素周期表）</vt:lpstr>
      <vt:lpstr>Periodic Table</vt:lpstr>
      <vt:lpstr>Periodicity (周期性)</vt:lpstr>
      <vt:lpstr>Groups (族)</vt:lpstr>
      <vt:lpstr>Periodic Table</vt:lpstr>
      <vt:lpstr>Periodic Table</vt:lpstr>
      <vt:lpstr>Periodic Table</vt:lpstr>
      <vt:lpstr>The nucleus of an atom contains</vt:lpstr>
      <vt:lpstr>The nucleus of an atom contains</vt:lpstr>
      <vt:lpstr>Two atoms with the same atomic number but different mass numbers are called</vt:lpstr>
      <vt:lpstr>Two atoms with the same atomic number but different mass numbers are called</vt:lpstr>
      <vt:lpstr>Select the incorrect statement about the mass and volume of an atom.</vt:lpstr>
      <vt:lpstr>Select the incorrect statement about the mass and volume of an atom.</vt:lpstr>
      <vt:lpstr>For an atom of fluorine, the atomic number is ___ and the average atomic mass is ___. </vt:lpstr>
      <vt:lpstr>For an atom of fluorine, the atomic number is ___ and the average atomic mass is ___. </vt:lpstr>
      <vt:lpstr>Atomic weights on the periodic table are decimal numbers instead of integers because</vt:lpstr>
      <vt:lpstr>Atomic weights on the periodic table are decimal numbers instead of integers because</vt:lpstr>
      <vt:lpstr>The elements found on the right side of the periodic table tend to ______ electrons.</vt:lpstr>
      <vt:lpstr>The elements found on the right side of the periodic table tend to ______ electrons.</vt:lpstr>
      <vt:lpstr>Chemical Formulas (化学式)</vt:lpstr>
      <vt:lpstr>Diatomic Molecules</vt:lpstr>
      <vt:lpstr>Types of Formulas</vt:lpstr>
      <vt:lpstr>Types of Formulas</vt:lpstr>
      <vt:lpstr>PowerPoint 演示文稿</vt:lpstr>
      <vt:lpstr>Common Cations</vt:lpstr>
      <vt:lpstr>Common Anions</vt:lpstr>
      <vt:lpstr>Ionic Compounds (离子化合物)</vt:lpstr>
      <vt:lpstr>Writing Formulas</vt:lpstr>
      <vt:lpstr>Inorganic Nomenclature (命名法)</vt:lpstr>
      <vt:lpstr>Patterns in Oxyanion Nomenclature</vt:lpstr>
      <vt:lpstr>Patterns in Oxyanion Nomenclature</vt:lpstr>
      <vt:lpstr>Acid Nomenclature</vt:lpstr>
      <vt:lpstr>Nomenclature of  Binary Molecular Compounds (P 106)</vt:lpstr>
      <vt:lpstr>Nomenclature of Binary Compounds</vt:lpstr>
      <vt:lpstr>Nomenclature of Organic Compounds</vt:lpstr>
      <vt:lpstr>Nomenclature of Organic Compounds</vt:lpstr>
      <vt:lpstr>Metals and nonmetals react to form ________ compounds.</vt:lpstr>
      <vt:lpstr>Metals and nonmetals react to form ________ compounds.</vt:lpstr>
      <vt:lpstr>Positive ions are called</vt:lpstr>
      <vt:lpstr>Positive ions are called</vt:lpstr>
      <vt:lpstr>Compounds composed only of carbon and hydrogen are called</vt:lpstr>
      <vt:lpstr>Compounds composed only of carbon and hydrogen are called</vt:lpstr>
      <vt:lpstr>The elements located in Group VIIA (Group 17) on the periodic table are called</vt:lpstr>
      <vt:lpstr>The elements located in Group VIIA (Group 17) on the periodic table are called</vt:lpstr>
      <vt:lpstr>Which name is incorrectly paired with the formula?</vt:lpstr>
      <vt:lpstr>Which name is incorrectly paired with the formula?</vt:lpstr>
      <vt:lpstr>Acids produce _____ ions.</vt:lpstr>
      <vt:lpstr>Acids produce _____ ions.</vt:lpstr>
      <vt:lpstr>NaClO is named</vt:lpstr>
      <vt:lpstr>NaClO is named</vt:lpstr>
      <vt:lpstr>LiNO3 is named</vt:lpstr>
      <vt:lpstr>LiNO3 is named</vt:lpstr>
      <vt:lpstr>The formula for aluminum carbonate is</vt:lpstr>
      <vt:lpstr>The formula for aluminum carbonate is</vt:lpstr>
      <vt:lpstr>Fe2O3 is named</vt:lpstr>
      <vt:lpstr>Fe2O3 is named</vt:lpstr>
      <vt:lpstr>Which acid is not an oxyacid?</vt:lpstr>
      <vt:lpstr>Which acid is not an oxyacid?</vt:lpstr>
      <vt:lpstr>HIO4 is named</vt:lpstr>
      <vt:lpstr>HIO4 is named</vt:lpstr>
      <vt:lpstr>Cl2O7 is named</vt:lpstr>
      <vt:lpstr>Cl2O7 is named</vt:lpstr>
      <vt:lpstr>C3H8 is named</vt:lpstr>
      <vt:lpstr>C3H8 is named</vt:lpstr>
    </vt:vector>
  </TitlesOfParts>
  <Company>St. Charles Community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Bookstaver</dc:creator>
  <cp:lastModifiedBy>lenovo</cp:lastModifiedBy>
  <cp:revision>265</cp:revision>
  <dcterms:created xsi:type="dcterms:W3CDTF">2014-01-07T18:30:52Z</dcterms:created>
  <dcterms:modified xsi:type="dcterms:W3CDTF">2018-09-05T03:17:22Z</dcterms:modified>
</cp:coreProperties>
</file>