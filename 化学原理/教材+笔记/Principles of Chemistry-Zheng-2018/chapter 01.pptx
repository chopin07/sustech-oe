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752" r:id="rId2"/>
    <p:sldId id="756" r:id="rId3"/>
    <p:sldId id="723" r:id="rId4"/>
    <p:sldId id="737" r:id="rId5"/>
    <p:sldId id="738" r:id="rId6"/>
    <p:sldId id="718" r:id="rId7"/>
    <p:sldId id="259" r:id="rId8"/>
    <p:sldId id="361" r:id="rId9"/>
    <p:sldId id="360" r:id="rId10"/>
    <p:sldId id="263" r:id="rId11"/>
    <p:sldId id="260" r:id="rId12"/>
    <p:sldId id="261" r:id="rId13"/>
    <p:sldId id="264" r:id="rId14"/>
    <p:sldId id="265" r:id="rId15"/>
    <p:sldId id="300" r:id="rId16"/>
    <p:sldId id="301" r:id="rId17"/>
    <p:sldId id="302" r:id="rId18"/>
    <p:sldId id="303" r:id="rId19"/>
    <p:sldId id="266" r:id="rId20"/>
    <p:sldId id="304" r:id="rId21"/>
    <p:sldId id="305" r:id="rId22"/>
    <p:sldId id="306" r:id="rId23"/>
    <p:sldId id="307" r:id="rId24"/>
    <p:sldId id="308" r:id="rId25"/>
    <p:sldId id="30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279" r:id="rId46"/>
    <p:sldId id="281" r:id="rId47"/>
    <p:sldId id="280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757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41" r:id="rId76"/>
    <p:sldId id="342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11" autoAdjust="0"/>
  </p:normalViewPr>
  <p:slideViewPr>
    <p:cSldViewPr>
      <p:cViewPr varScale="1">
        <p:scale>
          <a:sx n="77" d="100"/>
          <a:sy n="77" d="100"/>
        </p:scale>
        <p:origin x="-95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765F-A356-4B06-97D4-15EF2F7FA517}" type="datetimeFigureOut">
              <a:rPr lang="en-US" smtClean="0"/>
              <a:t>9/3/2018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E5742-268A-4426-8FC6-1116D75D9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B3554-F1B9-4484-AAE0-5113FBC6ECA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B3554-F1B9-4484-AAE0-5113FBC6EC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07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3313" tIns="46657" rIns="93313" bIns="46657" anchor="t"/>
          <a:lstStyle/>
          <a:p>
            <a:pPr lvl="0"/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0488" y="9520238"/>
            <a:ext cx="2986087" cy="500062"/>
          </a:xfrm>
          <a:prstGeom prst="rect">
            <a:avLst/>
          </a:prstGeom>
          <a:noFill/>
          <a:ln w="9525">
            <a:noFill/>
          </a:ln>
        </p:spPr>
        <p:txBody>
          <a:bodyPr lIns="93313" tIns="46657" rIns="93313" bIns="46657"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  <a:t>3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3313" tIns="46657" rIns="93313" bIns="46657" anchor="t"/>
          <a:lstStyle/>
          <a:p>
            <a:pPr lvl="0"/>
            <a:r>
              <a:rPr lang="zh-CN" altLang="en-US" dirty="0"/>
              <a:t>我的主要研究内容是双稳态分子磁性材料：低温的分子纳米磁体即单分子磁体和单链磁体，他们对磁场产生双稳态相应，双稳态能垒的大小取决于分子的</a:t>
            </a:r>
            <a:r>
              <a:rPr lang="zh-CN" altLang="en-US" b="1" dirty="0"/>
              <a:t>单轴各向异性</a:t>
            </a:r>
            <a:r>
              <a:rPr lang="en-US" altLang="zh-CN" b="1" dirty="0"/>
              <a:t>D</a:t>
            </a:r>
            <a:r>
              <a:rPr lang="zh-CN" altLang="en-US" dirty="0"/>
              <a:t>和</a:t>
            </a:r>
            <a:r>
              <a:rPr lang="zh-CN" altLang="en-US" b="1" dirty="0"/>
              <a:t>自旋基态</a:t>
            </a:r>
            <a:r>
              <a:rPr lang="en-US" altLang="zh-CN" b="1" dirty="0"/>
              <a:t>S</a:t>
            </a:r>
            <a:r>
              <a:rPr lang="zh-CN" altLang="en-US" dirty="0"/>
              <a:t>；电子转移材料主要是对温度产生相应，具有热致、光致的双稳态。我们的研究目标就是要提高分子纳米磁体的</a:t>
            </a:r>
            <a:r>
              <a:rPr lang="zh-CN" altLang="en-US" b="1" dirty="0"/>
              <a:t>能垒</a:t>
            </a:r>
            <a:r>
              <a:rPr lang="zh-CN" altLang="en-US" dirty="0"/>
              <a:t>；控制电子转移的发生温度。下面向各位专家汇报我在这些方面取得的一些代表性工作。</a:t>
            </a:r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0488" y="9520238"/>
            <a:ext cx="2986087" cy="500062"/>
          </a:xfrm>
          <a:prstGeom prst="rect">
            <a:avLst/>
          </a:prstGeom>
          <a:noFill/>
          <a:ln w="9525">
            <a:noFill/>
          </a:ln>
        </p:spPr>
        <p:txBody>
          <a:bodyPr lIns="93313" tIns="46657" rIns="93313" bIns="46657"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300" dirty="0"/>
              <a:t>5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科学的中心</a:t>
            </a:r>
            <a:r>
              <a:rPr lang="zh-CN" altLang="en-US" baseline="0" dirty="0"/>
              <a:t> 多种 可讨论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05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964F23B-A234-E24B-ABA0-1477969A6854}" type="slidenum">
              <a:rPr lang="en-US"/>
              <a:pPr/>
              <a:t>11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Arial" pitchFamily="-104" charset="0"/>
                <a:ea typeface="ＭＳ Ｐゴシック" pitchFamily="34" charset="-128"/>
              </a:rPr>
              <a:t>Definition </a:t>
            </a:r>
            <a:r>
              <a:rPr lang="zh-CN" altLang="en-US" dirty="0">
                <a:latin typeface="Arial" pitchFamily="-104" charset="0"/>
                <a:ea typeface="ＭＳ Ｐゴシック" pitchFamily="34" charset="-128"/>
              </a:rPr>
              <a:t>可讨论　</a:t>
            </a:r>
            <a:r>
              <a:rPr lang="en-US" altLang="zh-CN" dirty="0">
                <a:latin typeface="Arial" pitchFamily="-104" charset="0"/>
                <a:ea typeface="ＭＳ Ｐゴシック" pitchFamily="34" charset="-128"/>
              </a:rPr>
              <a:t>bonding</a:t>
            </a:r>
            <a:r>
              <a:rPr lang="en-US" altLang="zh-CN" baseline="0" dirty="0">
                <a:latin typeface="Arial" pitchFamily="-104" charset="0"/>
                <a:ea typeface="ＭＳ Ｐゴシック" pitchFamily="34" charset="-128"/>
              </a:rPr>
              <a:t>, making new substance, macroscopic and microscopic</a:t>
            </a:r>
          </a:p>
          <a:p>
            <a:pPr eaLnBrk="1" hangingPunct="1"/>
            <a:r>
              <a:rPr lang="zh-CN" altLang="en-US" dirty="0">
                <a:latin typeface="Arial" pitchFamily="-104" charset="0"/>
                <a:ea typeface="ＭＳ Ｐゴシック" pitchFamily="34" charset="-128"/>
              </a:rPr>
              <a:t>科学相关的应用的展开 </a:t>
            </a:r>
            <a:r>
              <a:rPr lang="en-US" altLang="zh-CN" dirty="0">
                <a:latin typeface="Arial" pitchFamily="-104" charset="0"/>
                <a:ea typeface="ＭＳ Ｐゴシック" pitchFamily="34" charset="-128"/>
              </a:rPr>
              <a:t>solar cell,</a:t>
            </a:r>
            <a:r>
              <a:rPr lang="en-US" altLang="zh-CN" baseline="0" dirty="0">
                <a:latin typeface="Arial" pitchFamily="-104" charset="0"/>
                <a:ea typeface="ＭＳ Ｐゴシック" pitchFamily="34" charset="-128"/>
              </a:rPr>
              <a:t> firefly, plastics, LED</a:t>
            </a:r>
            <a:endParaRPr lang="en-US" altLang="zh-CN" dirty="0">
              <a:latin typeface="Arial" pitchFamily="-104" charset="0"/>
              <a:ea typeface="ＭＳ Ｐゴシック" pitchFamily="34" charset="-128"/>
            </a:endParaRPr>
          </a:p>
          <a:p>
            <a:pPr eaLnBrk="1" hangingPunct="1"/>
            <a:endParaRPr lang="en-US" altLang="zh-CN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FA20C2C-0FE3-ED45-A5FA-C2281855D656}" type="slidenum">
              <a:rPr lang="en-US"/>
              <a:pPr/>
              <a:t>12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 err="1">
                <a:latin typeface="Arial" pitchFamily="-104" charset="0"/>
                <a:ea typeface="ＭＳ Ｐゴシック" pitchFamily="34" charset="-128"/>
              </a:rPr>
              <a:t>Defination</a:t>
            </a:r>
            <a:r>
              <a:rPr lang="en-US" dirty="0">
                <a:latin typeface="Arial" pitchFamily="-104" charset="0"/>
                <a:ea typeface="ＭＳ Ｐゴシック" pitchFamily="34" charset="-128"/>
              </a:rPr>
              <a:t> Matter and examples.</a:t>
            </a:r>
          </a:p>
          <a:p>
            <a:pPr eaLnBrk="1" hangingPunct="1"/>
            <a:r>
              <a:rPr lang="en-US" dirty="0">
                <a:latin typeface="Arial" pitchFamily="-104" charset="0"/>
                <a:ea typeface="ＭＳ Ｐゴシック" pitchFamily="34" charset="-128"/>
              </a:rPr>
              <a:t>Atoms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47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21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24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固定组成定律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8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BFFB9FD-CC90-6A4F-AF8E-6D0BF29609DB}" type="slidenum">
              <a:rPr lang="en-US"/>
              <a:pPr/>
              <a:t>19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A28889-C1F7-004F-BF7C-4E75F4DD829D}" type="slidenum">
              <a:rPr lang="en-US"/>
              <a:pPr/>
              <a:t>26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BA8EDD-CF64-F348-A889-4D9731A32141}" type="slidenum">
              <a:rPr lang="en-US"/>
              <a:pPr/>
              <a:t>27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74E81D8-482C-614A-8391-58E6A4292E1F}" type="slidenum">
              <a:rPr lang="en-US"/>
              <a:pPr/>
              <a:t>28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C10D556-1A33-D942-A6BF-827EAA7077EC}" type="slidenum">
              <a:rPr lang="en-US"/>
              <a:pPr/>
              <a:t>30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4C6C13C-61F2-1540-BF94-1B66D94647DB}" type="slidenum">
              <a:rPr lang="en-US"/>
              <a:pPr/>
              <a:t>32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59D8D9B-A92C-F043-9177-800B6961CAA0}" type="slidenum">
              <a:rPr lang="en-US"/>
              <a:pPr/>
              <a:t>33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6FDEB4B-5CCF-6D46-9F16-2908A2CE5C70}" type="slidenum">
              <a:rPr lang="en-US"/>
              <a:pPr/>
              <a:t>34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d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991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公制计量法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233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9EB919E-866A-4643-ACB1-6B267741B51A}" type="slidenum">
              <a:rPr lang="en-US"/>
              <a:pPr/>
              <a:t>47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itchFamily="-104" charset="0"/>
                <a:ea typeface="ＭＳ Ｐゴシック" pitchFamily="34" charset="-128"/>
              </a:rPr>
              <a:t>What is the SI unit for </a:t>
            </a:r>
            <a:r>
              <a:rPr lang="en-US" baseline="0" dirty="0">
                <a:latin typeface="Arial" pitchFamily="-104" charset="0"/>
                <a:ea typeface="ＭＳ Ｐゴシック" pitchFamily="34" charset="-128"/>
              </a:rPr>
              <a:t>the physical quantity of mass? </a:t>
            </a:r>
          </a:p>
          <a:p>
            <a:pPr eaLnBrk="1" hangingPunct="1"/>
            <a:r>
              <a:rPr lang="en-US" altLang="zh-CN" baseline="0" dirty="0">
                <a:latin typeface="Arial" pitchFamily="-104" charset="0"/>
                <a:ea typeface="ＭＳ Ｐゴシック" pitchFamily="34" charset="-128"/>
              </a:rPr>
              <a:t>Base units </a:t>
            </a:r>
            <a:r>
              <a:rPr lang="zh-CN" altLang="en-US" baseline="0" dirty="0">
                <a:latin typeface="Arial" pitchFamily="-104" charset="0"/>
                <a:ea typeface="ＭＳ Ｐゴシック" pitchFamily="34" charset="-128"/>
              </a:rPr>
              <a:t>基本单位</a:t>
            </a:r>
            <a:endParaRPr lang="en-US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77DE613-7CFA-6A4D-A95C-44056EFD9DEC}" type="slidenum">
              <a:rPr lang="en-US"/>
              <a:pPr/>
              <a:t>48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8B4148C-61F2-1047-A77F-76A288269C7A}" type="slidenum">
              <a:rPr lang="en-US"/>
              <a:pPr/>
              <a:t>50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1D3397-86CA-FE49-9F84-FEA4B6D182FE}" type="slidenum">
              <a:rPr lang="en-US"/>
              <a:pPr/>
              <a:t>51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itchFamily="-104" charset="0"/>
                <a:ea typeface="ＭＳ Ｐゴシック" pitchFamily="34" charset="-128"/>
              </a:rPr>
              <a:t>Handshake</a:t>
            </a:r>
          </a:p>
          <a:p>
            <a:pPr eaLnBrk="1" hangingPunct="1"/>
            <a:endParaRPr lang="en-US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38A82E3-8079-5A4C-85FD-8F99DC2F81A8}" type="slidenum">
              <a:rPr lang="en-US"/>
              <a:pPr/>
              <a:t>52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0EA7B93-BD11-EB44-903C-2B265A1678AC}" type="slidenum">
              <a:rPr lang="en-US"/>
              <a:pPr/>
              <a:t>53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9A77745-87AB-F247-A8F6-1C4D575F85C0}" type="slidenum">
              <a:rPr lang="en-US"/>
              <a:pPr/>
              <a:t>54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of students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E5742-268A-4426-8FC6-1116D75D9CE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74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BC3AAB3-0EBD-BA44-92BC-04753D888367}" type="slidenum">
              <a:rPr lang="en-US"/>
              <a:pPr/>
              <a:t>56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215029-4E7C-5A40-B469-6F1E55086F79}" type="slidenum">
              <a:rPr lang="en-US"/>
              <a:pPr/>
              <a:t>57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6C18D3-3945-B243-82D5-402B5145C312}" type="slidenum">
              <a:rPr lang="en-US"/>
              <a:pPr/>
              <a:t>58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5436A78-D89E-DF48-9745-2A2B48CF5766}" type="slidenum">
              <a:rPr lang="en-US"/>
              <a:pPr/>
              <a:t>59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6A0C590-8520-6448-B43F-428E10BA0F15}" type="slidenum">
              <a:rPr lang="en-US"/>
              <a:pPr/>
              <a:t>60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354CF85-5905-5845-BED9-B77633E755EA}" type="slidenum">
              <a:rPr lang="en-US"/>
              <a:pPr/>
              <a:t>61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-10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c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a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Calibri" charset="0"/>
                <a:ea typeface="ヒラギノ角ゴ Pro W3" charset="0"/>
                <a:cs typeface="ヒラギノ角ゴ Pro W3" charset="0"/>
              </a:rPr>
              <a:t>Answer: b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jpeg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tiff"/><Relationship Id="rId11" Type="http://schemas.openxmlformats.org/officeDocument/2006/relationships/image" Target="../media/image4.wmf"/><Relationship Id="rId5" Type="http://schemas.openxmlformats.org/officeDocument/2006/relationships/image" Target="../media/image6.jpe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hyperlink" Target="mailto:zhangyz@sustc.edu.c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05000" y="745465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+mn-ea"/>
              </a:rPr>
              <a:t>学科带头人：郑智平   南方科技大学 化学系 讲座教授</a:t>
            </a:r>
            <a:endParaRPr lang="en-US" altLang="zh-CN" b="1" dirty="0">
              <a:solidFill>
                <a:srgbClr val="00206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+mn-ea"/>
              </a:rPr>
              <a:t>			</a:t>
            </a:r>
            <a:r>
              <a:rPr lang="zh-CN" altLang="en-US" b="1" dirty="0">
                <a:solidFill>
                  <a:srgbClr val="002060"/>
                </a:solidFill>
                <a:latin typeface="+mn-ea"/>
              </a:rPr>
              <a:t>国家“千人计划”特聘专家</a:t>
            </a:r>
            <a:endParaRPr lang="en-US" altLang="zh-CN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7800" y="93919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稀土纳米功能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光、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磁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、催化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材料</a:t>
            </a:r>
            <a:endParaRPr 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0241" y="5963233"/>
            <a:ext cx="356532" cy="839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14" y="49913"/>
            <a:ext cx="993154" cy="141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xmlns="" id="{3EB1BF8D-F3B0-4E1A-AB4A-6482401530FC}"/>
              </a:ext>
            </a:extLst>
          </p:cNvPr>
          <p:cNvSpPr/>
          <p:nvPr/>
        </p:nvSpPr>
        <p:spPr>
          <a:xfrm>
            <a:off x="76200" y="1496490"/>
            <a:ext cx="8915400" cy="330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zh-CN" b="1" dirty="0">
                <a:solidFill>
                  <a:srgbClr val="000000"/>
                </a:solidFill>
                <a:ea typeface="Microsoft YaHei" panose="020B0503020204020204" pitchFamily="34" charset="-122"/>
              </a:rPr>
              <a:t>Education &amp; Professional Background</a:t>
            </a:r>
            <a:endParaRPr lang="en-US" altLang="zh-CN" dirty="0">
              <a:solidFill>
                <a:srgbClr val="000000"/>
              </a:solidFill>
              <a:ea typeface="Microsoft YaHei" panose="020B0503020204020204" pitchFamily="34" charset="-122"/>
            </a:endParaRP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2017-present    Chaired Professor, Southern University of Science and Technology</a:t>
            </a:r>
          </a:p>
          <a:p>
            <a:pPr algn="just"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2011-2016         Director, Center for Applied Chemical Research, Founding Chair, </a:t>
            </a:r>
          </a:p>
          <a:p>
            <a:pPr algn="just"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                            Frontier Institute of Chemistry, Xi’an </a:t>
            </a:r>
            <a:r>
              <a:rPr lang="en-US" altLang="zh-CN" dirty="0" err="1">
                <a:solidFill>
                  <a:srgbClr val="000000"/>
                </a:solidFill>
                <a:ea typeface="Microsoft YaHei" panose="020B0503020204020204" pitchFamily="34" charset="-122"/>
              </a:rPr>
              <a:t>Jiaotong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 University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2006-2012        “</a:t>
            </a:r>
            <a:r>
              <a:rPr lang="en-US" altLang="zh-CN" dirty="0" err="1">
                <a:solidFill>
                  <a:srgbClr val="000000"/>
                </a:solidFill>
                <a:ea typeface="Microsoft YaHei" panose="020B0503020204020204" pitchFamily="34" charset="-122"/>
              </a:rPr>
              <a:t>Minjiang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 Scholar” Guest Professor, Xiamen University</a:t>
            </a:r>
          </a:p>
          <a:p>
            <a:pPr marL="1000125" indent="-1000125"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1997-2017        Assistant, Associate, and Full Professor, University of Arizona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1995-1997        Postdoctoral Associate, Harvard University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1991-1995        Graduate Student (Ph.D. 1995), University of California, Los Angeles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1983-1990        Student at Peking University (M.S. 1990; B.S. 1987)</a:t>
            </a:r>
            <a:endParaRPr lang="en-US" altLang="zh-CN" b="0" i="0" dirty="0">
              <a:solidFill>
                <a:srgbClr val="000000"/>
              </a:solidFill>
              <a:effectLst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0708C9E-0365-4A20-A465-2987E83F6262}"/>
              </a:ext>
            </a:extLst>
          </p:cNvPr>
          <p:cNvSpPr/>
          <p:nvPr/>
        </p:nvSpPr>
        <p:spPr>
          <a:xfrm>
            <a:off x="131790" y="4648200"/>
            <a:ext cx="7031010" cy="2222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zh-CN" b="1" dirty="0">
                <a:solidFill>
                  <a:srgbClr val="000000"/>
                </a:solidFill>
                <a:ea typeface="Microsoft YaHei" panose="020B0503020204020204" pitchFamily="34" charset="-122"/>
              </a:rPr>
              <a:t>Research Interests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ea typeface="Microsoft YaHei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coordination chemistry, organometallic chemistry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ea typeface="Microsoft YaHei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luminescent and magnetically active lanthanide complexes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a typeface="Microsoft YaHei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cluster compounds of transition and lanthanide elements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solidFill>
                  <a:srgbClr val="000000"/>
                </a:solidFill>
                <a:ea typeface="Microsoft YaHei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cluster-based green catalysts</a:t>
            </a:r>
          </a:p>
          <a:p>
            <a:pPr fontAlgn="base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5</a:t>
            </a:r>
            <a:r>
              <a:rPr lang="zh-CN" altLang="en-US" dirty="0">
                <a:solidFill>
                  <a:srgbClr val="000000"/>
                </a:solidFill>
                <a:ea typeface="Microsoft YaHei" panose="020B0503020204020204" pitchFamily="34" charset="-122"/>
              </a:rPr>
              <a:t>）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</a:rPr>
              <a:t>cluster-based light-limiting materials</a:t>
            </a:r>
            <a:endParaRPr lang="en-US" altLang="zh-CN" b="0" i="0" dirty="0">
              <a:solidFill>
                <a:srgbClr val="000000"/>
              </a:solidFill>
              <a:effectLst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05000" y="745465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+mn-ea"/>
              </a:rPr>
              <a:t>学科带头人：郑智平   南方科技大学 化学系 讲座教授</a:t>
            </a:r>
            <a:endParaRPr lang="en-US" altLang="zh-CN" b="1" dirty="0">
              <a:solidFill>
                <a:srgbClr val="00206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2060"/>
                </a:solidFill>
                <a:latin typeface="+mn-ea"/>
              </a:rPr>
              <a:t>			</a:t>
            </a:r>
            <a:r>
              <a:rPr lang="zh-CN" altLang="en-US" b="1" dirty="0">
                <a:solidFill>
                  <a:srgbClr val="002060"/>
                </a:solidFill>
                <a:latin typeface="+mn-ea"/>
              </a:rPr>
              <a:t>国家“千人计划”特聘专家</a:t>
            </a:r>
            <a:endParaRPr lang="en-US" altLang="zh-CN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47800" y="93919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稀土纳米功能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光、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磁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、催化</a:t>
            </a: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材料</a:t>
            </a:r>
            <a:endParaRPr 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0241" y="5963233"/>
            <a:ext cx="356532" cy="839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14" y="49913"/>
            <a:ext cx="993154" cy="141879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71987C62-5F4B-4F0A-AE9D-A77EDFC48BD6}"/>
              </a:ext>
            </a:extLst>
          </p:cNvPr>
          <p:cNvSpPr/>
          <p:nvPr/>
        </p:nvSpPr>
        <p:spPr>
          <a:xfrm>
            <a:off x="210614" y="1477168"/>
            <a:ext cx="9144000" cy="4024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• Being elected as Fellow of the Royal Chemical Society (2016)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• National "Thousand Talents Program" Distinguished Professor</a:t>
            </a: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2011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Excellence in Teaching,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University of Arizona(2007)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Young Observer, International Union of Pure and Applied Chemistry</a:t>
            </a: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2005)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International Junior Award, European Rare Earth and Actinide Society</a:t>
            </a: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2003)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US NSF CAREER Award</a:t>
            </a: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2003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China Bridges International Fellowship (1999)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Research Corporation Innovation Award</a:t>
            </a: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1998)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Outstanding Dissertation Award(Inorganic Chemistry, UCLA(1995) 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Ralph Bauer Prize for Excellence in Research, UCLA(1994)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000000"/>
                </a:solidFill>
              </a:rPr>
              <a:t>• Graduate Achievement Award, UCLA(1994)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3A04CC01-E5AA-4554-9CFF-A527507D87DF}"/>
              </a:ext>
            </a:extLst>
          </p:cNvPr>
          <p:cNvSpPr/>
          <p:nvPr/>
        </p:nvSpPr>
        <p:spPr>
          <a:xfrm>
            <a:off x="1185485" y="1094570"/>
            <a:ext cx="950966" cy="460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en-US" altLang="zh-CN" sz="2000" b="1" dirty="0">
                <a:solidFill>
                  <a:srgbClr val="000000"/>
                </a:solidFill>
                <a:ea typeface="Microsoft YaHei" panose="020B0503020204020204" pitchFamily="34" charset="-122"/>
              </a:rPr>
              <a:t>Honors</a:t>
            </a:r>
            <a:endParaRPr lang="en-US" altLang="zh-CN" sz="2000" dirty="0">
              <a:solidFill>
                <a:srgbClr val="000000"/>
              </a:solidFill>
              <a:ea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4ABF67DC-068F-4A73-9A61-8D65C1BEAC63}"/>
              </a:ext>
            </a:extLst>
          </p:cNvPr>
          <p:cNvSpPr/>
          <p:nvPr/>
        </p:nvSpPr>
        <p:spPr>
          <a:xfrm>
            <a:off x="115834" y="5391996"/>
            <a:ext cx="90281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</a:rPr>
              <a:t>A leader in the coordination chemistry of the lanthanide elements, in particular that of cluster-type polynuclear lanthanide complexes.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</a:rPr>
              <a:t>Topic Editor for </a:t>
            </a:r>
            <a:r>
              <a:rPr lang="en-US" altLang="zh-CN" i="1" dirty="0">
                <a:solidFill>
                  <a:srgbClr val="000000"/>
                </a:solidFill>
                <a:ea typeface="Microsoft YaHei" panose="020B0503020204020204" pitchFamily="34" charset="-122"/>
              </a:rPr>
              <a:t>Crystal Growth and Design</a:t>
            </a:r>
            <a:r>
              <a:rPr lang="en-US" altLang="zh-CN" dirty="0">
                <a:solidFill>
                  <a:srgbClr val="000000"/>
                </a:solidFill>
              </a:rPr>
              <a:t> and is now on the Advisory Board. 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00"/>
                </a:solidFill>
              </a:rPr>
              <a:t>On the Editorial Board of </a:t>
            </a:r>
            <a:r>
              <a:rPr lang="en-US" altLang="zh-CN" i="1" dirty="0" err="1">
                <a:solidFill>
                  <a:srgbClr val="000000"/>
                </a:solidFill>
                <a:ea typeface="Microsoft YaHei" panose="020B0503020204020204" pitchFamily="34" charset="-122"/>
              </a:rPr>
              <a:t>Inorg</a:t>
            </a:r>
            <a:r>
              <a:rPr lang="en-US" altLang="zh-CN" i="1" dirty="0">
                <a:solidFill>
                  <a:srgbClr val="000000"/>
                </a:solidFill>
                <a:ea typeface="Microsoft YaHei" panose="020B0503020204020204" pitchFamily="34" charset="-122"/>
              </a:rPr>
              <a:t>. Chem. Frontiers</a:t>
            </a:r>
            <a:r>
              <a:rPr lang="en-US" altLang="zh-CN" dirty="0">
                <a:solidFill>
                  <a:srgbClr val="000000"/>
                </a:solidFill>
              </a:rPr>
              <a:t>, and is an Overseas Managing Editor for </a:t>
            </a:r>
            <a:r>
              <a:rPr lang="en-US" altLang="zh-CN" i="1" dirty="0">
                <a:solidFill>
                  <a:srgbClr val="000000"/>
                </a:solidFill>
                <a:ea typeface="Microsoft YaHei" panose="020B0503020204020204" pitchFamily="34" charset="-122"/>
              </a:rPr>
              <a:t>Journal of Rare Earths</a:t>
            </a:r>
            <a:r>
              <a:rPr lang="en-US" altLang="zh-CN" dirty="0">
                <a:solidFill>
                  <a:srgbClr val="000000"/>
                </a:solidFill>
              </a:rPr>
              <a:t>.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418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Slide Number Placeholder 4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928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ctr" anchorCtr="0" compatLnSpc="1"/>
          <a:lstStyle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1" dirty="0">
                <a:solidFill>
                  <a:srgbClr val="7F7F7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fld>
            <a:endParaRPr lang="en-US" altLang="zh-CN" sz="1200" b="1" dirty="0">
              <a:solidFill>
                <a:srgbClr val="7F7F7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95288" y="1844675"/>
            <a:ext cx="83534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6" name="Text Box 5"/>
          <p:cNvSpPr txBox="1"/>
          <p:nvPr/>
        </p:nvSpPr>
        <p:spPr>
          <a:xfrm>
            <a:off x="228600" y="4495800"/>
            <a:ext cx="2474912" cy="40254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>
                <a:ea typeface="隶书" panose="02010509060101010101" charset="-122"/>
                <a:cs typeface="隶书" panose="02010509060101010101" charset="-122"/>
              </a:rPr>
              <a:t>Dr. Yuan-Zhu Zhang  </a:t>
            </a:r>
            <a:endParaRPr lang="zh-CN" altLang="en-US" sz="1800" b="1" dirty="0">
              <a:ea typeface="隶书" panose="02010509060101010101" charset="-122"/>
              <a:cs typeface="隶书" panose="02010509060101010101" charset="-122"/>
            </a:endParaRPr>
          </a:p>
        </p:txBody>
      </p:sp>
      <p:pic>
        <p:nvPicPr>
          <p:cNvPr id="3" name="图片 2" descr="IMG_5266"/>
          <p:cNvPicPr>
            <a:picLocks noChangeAspect="1"/>
          </p:cNvPicPr>
          <p:nvPr/>
        </p:nvPicPr>
        <p:blipFill>
          <a:blip r:embed="rId3"/>
          <a:srcRect l="8391" t="8858" r="10303" b="6550"/>
          <a:stretch>
            <a:fillRect/>
          </a:stretch>
        </p:blipFill>
        <p:spPr>
          <a:xfrm>
            <a:off x="367506" y="1990088"/>
            <a:ext cx="2134845" cy="2529825"/>
          </a:xfrm>
          <a:prstGeom prst="rect">
            <a:avLst/>
          </a:prstGeom>
        </p:spPr>
      </p:pic>
      <p:pic>
        <p:nvPicPr>
          <p:cNvPr id="1080322" name="Picture 2" descr="http://sustc.edu.cn/resources/cn/image/p27.png">
            <a:extLst>
              <a:ext uri="{FF2B5EF4-FFF2-40B4-BE49-F238E27FC236}">
                <a16:creationId xmlns:a16="http://schemas.microsoft.com/office/drawing/2014/main" xmlns="" id="{54083598-4C23-4254-99EA-AC34D0322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016" y="156226"/>
            <a:ext cx="1145588" cy="171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C2BE45A9-F119-44CF-A32C-1D6D3B955CDD}"/>
              </a:ext>
            </a:extLst>
          </p:cNvPr>
          <p:cNvSpPr/>
          <p:nvPr/>
        </p:nvSpPr>
        <p:spPr>
          <a:xfrm>
            <a:off x="33102" y="385227"/>
            <a:ext cx="7566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400" b="1" u="sng" dirty="0">
                <a:solidFill>
                  <a:srgbClr val="0920FB"/>
                </a:solidFill>
                <a:latin typeface="+mn-lt"/>
              </a:rPr>
              <a:t>C</a:t>
            </a:r>
            <a:r>
              <a:rPr lang="en-US" altLang="zh-CN" sz="3400" b="1" dirty="0">
                <a:solidFill>
                  <a:srgbClr val="0920FB"/>
                </a:solidFill>
                <a:latin typeface="+mn-lt"/>
              </a:rPr>
              <a:t>omposite </a:t>
            </a:r>
            <a:r>
              <a:rPr lang="en-US" altLang="zh-CN" sz="3400" b="1" u="sng" dirty="0">
                <a:solidFill>
                  <a:srgbClr val="0920FB"/>
                </a:solidFill>
                <a:latin typeface="+mn-lt"/>
              </a:rPr>
              <a:t>F</a:t>
            </a:r>
            <a:r>
              <a:rPr lang="en-US" altLang="zh-CN" sz="3400" b="1" dirty="0">
                <a:solidFill>
                  <a:srgbClr val="0920FB"/>
                </a:solidFill>
                <a:latin typeface="+mn-lt"/>
              </a:rPr>
              <a:t>unctional </a:t>
            </a:r>
          </a:p>
          <a:p>
            <a:pPr algn="ctr"/>
            <a:r>
              <a:rPr lang="en-US" altLang="zh-CN" sz="3400" b="1" u="sng" dirty="0">
                <a:solidFill>
                  <a:srgbClr val="0920FB"/>
                </a:solidFill>
                <a:latin typeface="+mn-lt"/>
              </a:rPr>
              <a:t>M</a:t>
            </a:r>
            <a:r>
              <a:rPr lang="en-US" altLang="zh-CN" sz="3400" b="1" dirty="0">
                <a:solidFill>
                  <a:srgbClr val="0920FB"/>
                </a:solidFill>
                <a:latin typeface="+mn-lt"/>
              </a:rPr>
              <a:t>olecular </a:t>
            </a:r>
            <a:r>
              <a:rPr lang="en-US" altLang="zh-CN" sz="3400" b="1" u="sng" dirty="0">
                <a:solidFill>
                  <a:srgbClr val="0920FB"/>
                </a:solidFill>
                <a:latin typeface="+mn-lt"/>
              </a:rPr>
              <a:t>M</a:t>
            </a:r>
            <a:r>
              <a:rPr lang="en-US" altLang="zh-CN" sz="3400" b="1" dirty="0">
                <a:solidFill>
                  <a:srgbClr val="0920FB"/>
                </a:solidFill>
                <a:latin typeface="+mn-lt"/>
              </a:rPr>
              <a:t>agnetic </a:t>
            </a:r>
            <a:r>
              <a:rPr lang="en-US" altLang="zh-CN" sz="3400" b="1" u="sng" dirty="0">
                <a:solidFill>
                  <a:srgbClr val="0920FB"/>
                </a:solidFill>
                <a:latin typeface="+mn-lt"/>
              </a:rPr>
              <a:t>M</a:t>
            </a:r>
            <a:r>
              <a:rPr lang="en-US" altLang="zh-CN" sz="3400" b="1" dirty="0">
                <a:solidFill>
                  <a:srgbClr val="0920FB"/>
                </a:solidFill>
                <a:latin typeface="+mn-lt"/>
              </a:rPr>
              <a:t>aterials (</a:t>
            </a:r>
            <a:r>
              <a:rPr lang="en-US" altLang="zh-CN" sz="3400" b="1" dirty="0">
                <a:solidFill>
                  <a:srgbClr val="C00000"/>
                </a:solidFill>
                <a:latin typeface="+mn-lt"/>
              </a:rPr>
              <a:t>CFM3</a:t>
            </a:r>
            <a:r>
              <a:rPr lang="en-US" altLang="zh-CN" sz="3400" b="1" dirty="0">
                <a:solidFill>
                  <a:srgbClr val="0920FB"/>
                </a:solidFill>
                <a:latin typeface="+mn-lt"/>
              </a:rPr>
              <a:t>) </a:t>
            </a:r>
            <a:endParaRPr lang="en-US" sz="3400" dirty="0">
              <a:solidFill>
                <a:srgbClr val="0920FB"/>
              </a:solidFill>
              <a:latin typeface="+mn-lt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xmlns="" id="{E633B4CE-D204-4E4D-9728-77636E1AF25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55776" y="2276872"/>
          <a:ext cx="6192688" cy="265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965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61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2015-Present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Assoc. Prof., Southern Univ. of Science and Technology</a:t>
                      </a:r>
                      <a:endParaRPr lang="zh-CN" altLang="zh-CN" sz="1600" b="0" kern="100" dirty="0">
                        <a:solidFill>
                          <a:schemeClr val="tx1"/>
                        </a:solidFill>
                        <a:latin typeface="+mn-lt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600" dirty="0">
                          <a:latin typeface="+mn-lt"/>
                          <a:cs typeface="Arial" panose="020B0604020202020204" pitchFamily="34" charset="0"/>
                        </a:rPr>
                        <a:t>2013-2015</a:t>
                      </a:r>
                      <a:endParaRPr lang="zh-CN" altLang="en-U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latin typeface="+mn-lt"/>
                          <a:ea typeface="SimSun"/>
                          <a:cs typeface="Arial" panose="020B0604020202020204" pitchFamily="34" charset="0"/>
                        </a:rPr>
                        <a:t>Senior research scientist (Prof. Dunbar), Texas A&amp;M Univ.</a:t>
                      </a:r>
                      <a:endParaRPr lang="zh-CN" altLang="zh-CN" sz="1600" kern="100" dirty="0">
                        <a:solidFill>
                          <a:schemeClr val="dk1"/>
                        </a:solidFill>
                        <a:latin typeface="+mn-lt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765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600" dirty="0">
                          <a:latin typeface="+mn-lt"/>
                          <a:cs typeface="Arial" panose="020B0604020202020204" pitchFamily="34" charset="0"/>
                        </a:rPr>
                        <a:t>2007-2013</a:t>
                      </a:r>
                      <a:endParaRPr lang="zh-CN" altLang="en-U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defRPr/>
                      </a:pP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latin typeface="+mn-lt"/>
                          <a:ea typeface="SimSun"/>
                          <a:cs typeface="Arial" panose="020B0604020202020204" pitchFamily="34" charset="0"/>
                        </a:rPr>
                        <a:t>Post-doc (Prof. S. M. Holmes), Univ. of Kentucky/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defRPr/>
                      </a:pP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latin typeface="+mn-lt"/>
                          <a:ea typeface="SimSun"/>
                          <a:cs typeface="Arial" panose="020B0604020202020204" pitchFamily="34" charset="0"/>
                        </a:rPr>
                        <a:t>Univ. of Missouri-St. Louis, USA</a:t>
                      </a:r>
                    </a:p>
                  </a:txBody>
                  <a:tcPr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600" dirty="0">
                          <a:latin typeface="+mn-lt"/>
                          <a:cs typeface="Arial" panose="020B0604020202020204" pitchFamily="34" charset="0"/>
                        </a:rPr>
                        <a:t>2006-2007</a:t>
                      </a:r>
                      <a:endParaRPr lang="zh-CN" altLang="en-U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latin typeface="+mn-lt"/>
                          <a:ea typeface="SimSun"/>
                          <a:cs typeface="Arial" panose="020B0604020202020204" pitchFamily="34" charset="0"/>
                        </a:rPr>
                        <a:t>Post-doc (Prof. P. Coppens), 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State Univ. of NY at Buffalo</a:t>
                      </a:r>
                      <a:endParaRPr lang="en-US" altLang="zh-CN" sz="1600" kern="100" dirty="0">
                        <a:solidFill>
                          <a:srgbClr val="000000"/>
                        </a:solidFill>
                        <a:latin typeface="+mn-lt"/>
                        <a:ea typeface="SimSun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600" dirty="0">
                          <a:latin typeface="+mn-lt"/>
                          <a:cs typeface="Arial" panose="020B0604020202020204" pitchFamily="34" charset="0"/>
                        </a:rPr>
                        <a:t>2005-2006</a:t>
                      </a:r>
                      <a:endParaRPr lang="zh-CN" altLang="en-U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latin typeface="+mn-lt"/>
                          <a:ea typeface="SimSun"/>
                          <a:cs typeface="Arial" panose="020B0604020202020204" pitchFamily="34" charset="0"/>
                        </a:rPr>
                        <a:t>Post-doc (Prof. O. Sato), Kyushu 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Univ., Japan</a:t>
                      </a:r>
                      <a:endParaRPr lang="en-US" altLang="zh-CN" sz="1600" kern="100" dirty="0">
                        <a:solidFill>
                          <a:srgbClr val="000000"/>
                        </a:solidFill>
                        <a:latin typeface="+mn-lt"/>
                        <a:ea typeface="SimSun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600" dirty="0">
                          <a:latin typeface="+mn-lt"/>
                          <a:cs typeface="Arial" panose="020B0604020202020204" pitchFamily="34" charset="0"/>
                        </a:rPr>
                        <a:t>1996-2005</a:t>
                      </a:r>
                      <a:endParaRPr lang="zh-CN" altLang="en-U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00"/>
                          </a:solidFill>
                          <a:latin typeface="+mn-lt"/>
                          <a:ea typeface="SimSun"/>
                          <a:cs typeface="Arial" panose="020B0604020202020204" pitchFamily="34" charset="0"/>
                        </a:rPr>
                        <a:t>B.S and Ph.D. (Supervisor: Prof. Song Gao), PKU.</a:t>
                      </a:r>
                      <a:endParaRPr lang="en-US" altLang="zh-CN" sz="1600" kern="1200" dirty="0">
                        <a:solidFill>
                          <a:schemeClr val="dk1"/>
                        </a:solidFill>
                        <a:latin typeface="+mn-lt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C9867D75-9932-43FE-93FB-7E3401A8D997}"/>
              </a:ext>
            </a:extLst>
          </p:cNvPr>
          <p:cNvSpPr/>
          <p:nvPr/>
        </p:nvSpPr>
        <p:spPr>
          <a:xfrm>
            <a:off x="2525049" y="1948770"/>
            <a:ext cx="47832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00" dirty="0">
                <a:solidFill>
                  <a:srgbClr val="003054"/>
                </a:solidFill>
                <a:ea typeface="MS Mincho" panose="02020609040205080304" pitchFamily="49" charset="-128"/>
                <a:cs typeface="Arial" panose="020B0604020202020204" pitchFamily="34" charset="0"/>
              </a:rPr>
              <a:t>Education and Research Background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C8E78844-8DF0-4B31-A9FC-A4428660DC15}"/>
              </a:ext>
            </a:extLst>
          </p:cNvPr>
          <p:cNvSpPr/>
          <p:nvPr/>
        </p:nvSpPr>
        <p:spPr>
          <a:xfrm>
            <a:off x="1001671" y="4905396"/>
            <a:ext cx="2046329" cy="3524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lnSpc>
                <a:spcPts val="2000"/>
              </a:lnSpc>
              <a:buClr>
                <a:srgbClr val="000000"/>
              </a:buClr>
              <a:defRPr/>
            </a:pPr>
            <a:r>
              <a:rPr lang="en-US" altLang="zh-CN" sz="2000" b="1" kern="100" dirty="0">
                <a:solidFill>
                  <a:srgbClr val="003054"/>
                </a:solidFill>
                <a:ea typeface="MS Mincho" panose="02020609040205080304" pitchFamily="49" charset="-128"/>
                <a:cs typeface="Arial" panose="020B0604020202020204" pitchFamily="34" charset="0"/>
              </a:rPr>
              <a:t>Honors &amp; Awards</a:t>
            </a:r>
            <a:endParaRPr lang="zh-CN" altLang="zh-CN" sz="2000" b="1" kern="100" dirty="0">
              <a:solidFill>
                <a:srgbClr val="003054"/>
              </a:solidFill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6" name="TextBox 41">
            <a:extLst>
              <a:ext uri="{FF2B5EF4-FFF2-40B4-BE49-F238E27FC236}">
                <a16:creationId xmlns:a16="http://schemas.microsoft.com/office/drawing/2014/main" xmlns="" id="{630D6895-B789-47D1-88F4-6E1622A52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671" y="5099083"/>
            <a:ext cx="7289800" cy="162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55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2017   Overseas High-Caliber Personnel (Level B) in Shenzhen (Peacock Plan)</a:t>
            </a:r>
            <a:endParaRPr lang="en-US" altLang="zh-HK" sz="1700" b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2016   The 8</a:t>
            </a:r>
            <a:r>
              <a:rPr lang="en-US" altLang="zh-TW" sz="1700" b="0" baseline="300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th</a:t>
            </a:r>
            <a:r>
              <a:rPr lang="en-US" altLang="zh-TW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Recruitment Program of Global Experts (Youth</a:t>
            </a:r>
            <a:r>
              <a:rPr lang="en-US" altLang="zh-TW" sz="1700" b="0" baseline="300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1000</a:t>
            </a:r>
            <a:r>
              <a:rPr lang="en-US" altLang="zh-TW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Talents  Program) </a:t>
            </a:r>
          </a:p>
          <a:p>
            <a:pPr marL="342900" indent="-342900" algn="just" eaLnBrk="1" hangingPunct="1">
              <a:lnSpc>
                <a:spcPct val="150000"/>
              </a:lnSpc>
              <a:spcBef>
                <a:spcPct val="0"/>
              </a:spcBef>
              <a:buFontTx/>
              <a:buAutoNum type="arabicPlain" startAt="2007"/>
            </a:pPr>
            <a:r>
              <a:rPr lang="en-US" altLang="zh-CN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   Nominee Award for National Top</a:t>
            </a:r>
            <a:r>
              <a:rPr lang="en-US" altLang="zh-CN" sz="1700" b="0" baseline="300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100</a:t>
            </a:r>
            <a:r>
              <a:rPr lang="en-US" altLang="zh-CN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Excellent </a:t>
            </a:r>
            <a:r>
              <a:rPr lang="en-US" altLang="zh-CN" sz="1700" b="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Ph.D</a:t>
            </a:r>
            <a:r>
              <a:rPr lang="en-US" altLang="zh-CN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Thesis</a:t>
            </a:r>
            <a:r>
              <a:rPr lang="en-US" altLang="zh-TW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HK" sz="17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	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TW" sz="17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2005     Innovation Award, and Excellent </a:t>
            </a:r>
            <a:r>
              <a:rPr lang="en-US" altLang="zh-TW" sz="17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Ph.D</a:t>
            </a:r>
            <a:r>
              <a:rPr lang="en-US" altLang="zh-TW" sz="17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Thesis Award (Peking University) </a:t>
            </a:r>
            <a:endParaRPr lang="en-US" altLang="zh-TW" sz="1700" b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C826A33C-0AE8-45D5-AF9D-F1718CD67C49}"/>
              </a:ext>
            </a:extLst>
          </p:cNvPr>
          <p:cNvSpPr/>
          <p:nvPr/>
        </p:nvSpPr>
        <p:spPr>
          <a:xfrm>
            <a:off x="161925" y="764704"/>
            <a:ext cx="2609850" cy="3659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ts val="2000"/>
              </a:lnSpc>
              <a:buClr>
                <a:srgbClr val="000000"/>
              </a:buClr>
              <a:defRPr/>
            </a:pPr>
            <a:r>
              <a:rPr lang="en-US" altLang="zh-CN" sz="2400" b="1" kern="100" dirty="0">
                <a:solidFill>
                  <a:srgbClr val="003054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Research Interests</a:t>
            </a:r>
            <a:endParaRPr lang="zh-CN" altLang="zh-CN" sz="2400" b="1" kern="100" dirty="0">
              <a:solidFill>
                <a:srgbClr val="003054"/>
              </a:solidFill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03836A3-60CD-4706-A811-50453EA852EE}"/>
              </a:ext>
            </a:extLst>
          </p:cNvPr>
          <p:cNvSpPr/>
          <p:nvPr/>
        </p:nvSpPr>
        <p:spPr>
          <a:xfrm>
            <a:off x="107950" y="1137767"/>
            <a:ext cx="5040114" cy="2342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900" kern="100" dirty="0">
                <a:ea typeface="Arial Unicode MS"/>
                <a:cs typeface="Arial" panose="020B0604020202020204" pitchFamily="34" charset="0"/>
              </a:rPr>
              <a:t>Molecule-based Magnets with </a:t>
            </a:r>
            <a:r>
              <a:rPr lang="en-US" altLang="zh-CN" sz="1900" kern="100" dirty="0" err="1">
                <a:ea typeface="Arial Unicode MS"/>
                <a:cs typeface="Arial" panose="020B0604020202020204" pitchFamily="34" charset="0"/>
              </a:rPr>
              <a:t>Bistability</a:t>
            </a:r>
            <a:r>
              <a:rPr lang="en-US" altLang="zh-CN" sz="1900" kern="100" dirty="0">
                <a:ea typeface="Arial Unicode MS"/>
                <a:cs typeface="Arial" panose="020B0604020202020204" pitchFamily="34" charset="0"/>
              </a:rPr>
              <a:t>: Molecule-based Nanomagnets, thermal active </a:t>
            </a:r>
            <a:r>
              <a:rPr lang="en-US" altLang="zh-CN" sz="1900" kern="100" dirty="0" err="1">
                <a:ea typeface="Arial Unicode MS"/>
                <a:cs typeface="Arial" panose="020B0604020202020204" pitchFamily="34" charset="0"/>
              </a:rPr>
              <a:t>bistable</a:t>
            </a:r>
            <a:r>
              <a:rPr lang="en-US" altLang="zh-CN" sz="1900" kern="100" dirty="0">
                <a:ea typeface="Arial Unicode MS"/>
                <a:cs typeface="Arial" panose="020B0604020202020204" pitchFamily="34" charset="0"/>
              </a:rPr>
              <a:t> molecular magnets</a:t>
            </a:r>
            <a:endParaRPr lang="zh-CN" altLang="zh-CN" sz="1900" kern="100" dirty="0">
              <a:ea typeface="Arial Unicode MS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900" kern="100" dirty="0">
                <a:ea typeface="Arial Unicode MS"/>
                <a:cs typeface="Arial" panose="020B0604020202020204" pitchFamily="34" charset="0"/>
              </a:rPr>
              <a:t>Molecule-based Photo-Magnets</a:t>
            </a:r>
            <a:endParaRPr lang="zh-CN" altLang="zh-CN" sz="1900" kern="100" dirty="0">
              <a:ea typeface="Arial Unicode MS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1900" kern="100" dirty="0">
                <a:ea typeface="Arial Unicode MS"/>
                <a:cs typeface="Arial" panose="020B0604020202020204" pitchFamily="34" charset="0"/>
              </a:rPr>
              <a:t>Functional Molecular Materials combined with SCO and charge transfer behavior </a:t>
            </a:r>
            <a:endParaRPr lang="zh-CN" altLang="en-US" sz="1900" kern="100" dirty="0"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6" name="矩形 13">
            <a:extLst>
              <a:ext uri="{FF2B5EF4-FFF2-40B4-BE49-F238E27FC236}">
                <a16:creationId xmlns:a16="http://schemas.microsoft.com/office/drawing/2014/main" xmlns="" id="{D100F72B-DC4E-4A0B-AC4D-2DED903B7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805" y="4045772"/>
            <a:ext cx="3776663" cy="258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Chem. Sci.</a:t>
            </a:r>
            <a:r>
              <a:rPr lang="en-US" altLang="zh-CN" sz="1800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2018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US" altLang="zh-CN" sz="1800" i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119;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0920FB"/>
                </a:solidFill>
                <a:cs typeface="Arial" panose="020B0604020202020204" pitchFamily="34" charset="0"/>
              </a:rPr>
              <a:t>Chem. Sci.</a:t>
            </a:r>
            <a:r>
              <a:rPr lang="en-US" altLang="zh-CN" sz="1800" dirty="0">
                <a:solidFill>
                  <a:srgbClr val="0920FB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cs typeface="Arial" panose="020B0604020202020204" pitchFamily="34" charset="0"/>
              </a:rPr>
              <a:t>2016</a:t>
            </a:r>
            <a:r>
              <a:rPr lang="en-US" altLang="zh-CN" sz="1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altLang="zh-CN" sz="1800" i="1" dirty="0">
                <a:solidFill>
                  <a:srgbClr val="000000"/>
                </a:solidFill>
                <a:cs typeface="Arial" panose="020B0604020202020204" pitchFamily="34" charset="0"/>
              </a:rPr>
              <a:t>7</a:t>
            </a:r>
            <a:r>
              <a:rPr lang="en-US" altLang="zh-CN" sz="1800" dirty="0">
                <a:solidFill>
                  <a:srgbClr val="000000"/>
                </a:solidFill>
                <a:cs typeface="Arial" panose="020B0604020202020204" pitchFamily="34" charset="0"/>
              </a:rPr>
              <a:t>, 6519;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i="1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J. Am. Chem. Soc.</a:t>
            </a:r>
            <a:r>
              <a:rPr lang="en-US" altLang="zh-CN" sz="1800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2017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US" altLang="zh-CN" sz="1800" i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139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11714;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b="0" i="1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J. Am. Chem. Soc.</a:t>
            </a:r>
            <a:r>
              <a:rPr lang="en-US" altLang="zh-CN" sz="1800" b="0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2014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US" altLang="zh-CN" sz="1800" b="0" i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136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16854;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i="1" dirty="0" err="1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Angew</a:t>
            </a:r>
            <a:r>
              <a:rPr lang="en-US" altLang="zh-CN" sz="1800" i="1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. Chem. Ed. Int.</a:t>
            </a:r>
            <a:r>
              <a:rPr lang="en-US" altLang="zh-CN" sz="1800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2015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US" altLang="zh-CN" sz="1800" i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54</a:t>
            </a:r>
            <a:r>
              <a:rPr lang="en-US" altLang="zh-CN" sz="18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5583;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b="0" i="1" dirty="0" err="1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Angew</a:t>
            </a:r>
            <a:r>
              <a:rPr lang="en-US" altLang="zh-CN" sz="1800" b="0" i="1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. Chem. Ed. Int.</a:t>
            </a:r>
            <a:r>
              <a:rPr lang="en-US" altLang="zh-CN" sz="1800" b="0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2010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US" altLang="zh-CN" sz="1800" b="0" i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49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3752</a:t>
            </a:r>
            <a:r>
              <a:rPr lang="zh-CN" altLang="en-US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；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b="0" i="1" dirty="0" err="1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Angew</a:t>
            </a:r>
            <a:r>
              <a:rPr lang="en-US" altLang="zh-CN" sz="1800" b="0" i="1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. Chem. Ed. Int.</a:t>
            </a:r>
            <a:r>
              <a:rPr lang="en-US" altLang="zh-CN" sz="1800" b="0" dirty="0">
                <a:solidFill>
                  <a:srgbClr val="0920FB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2005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US" altLang="zh-CN" sz="1800" b="0" i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44</a:t>
            </a:r>
            <a:r>
              <a:rPr lang="en-US" altLang="zh-CN" sz="1800" b="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5841.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5343762E-6325-4D8D-9810-BFCEF83746F1}"/>
              </a:ext>
            </a:extLst>
          </p:cNvPr>
          <p:cNvSpPr/>
          <p:nvPr/>
        </p:nvSpPr>
        <p:spPr>
          <a:xfrm>
            <a:off x="156274" y="3692712"/>
            <a:ext cx="4035425" cy="3730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sz="2600" b="1" kern="100" dirty="0">
                <a:solidFill>
                  <a:srgbClr val="003054"/>
                </a:solidFill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Representative Publications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7A443FEC-1DE2-4E5F-9792-80FA86CB1A9D}"/>
              </a:ext>
            </a:extLst>
          </p:cNvPr>
          <p:cNvSpPr txBox="1"/>
          <p:nvPr/>
        </p:nvSpPr>
        <p:spPr>
          <a:xfrm>
            <a:off x="3089057" y="36331"/>
            <a:ext cx="2445991" cy="61555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400" b="1" dirty="0">
                <a:solidFill>
                  <a:schemeClr val="tx1"/>
                </a:solidFill>
                <a:ea typeface="隶书" panose="02010509060101010101" charset="-122"/>
                <a:sym typeface="+mn-ea"/>
              </a:rPr>
              <a:t>CFM3 Group</a:t>
            </a:r>
            <a:endParaRPr lang="zh-CN" altLang="en-US" sz="3400" b="1" dirty="0">
              <a:solidFill>
                <a:schemeClr val="tx1"/>
              </a:solidFill>
              <a:ea typeface="隶书" panose="02010509060101010101" charset="-122"/>
              <a:sym typeface="+mn-ea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xmlns="" id="{3A5CE76F-2123-4940-AA8E-2DD50A9A1FAC}"/>
              </a:ext>
            </a:extLst>
          </p:cNvPr>
          <p:cNvSpPr/>
          <p:nvPr/>
        </p:nvSpPr>
        <p:spPr>
          <a:xfrm>
            <a:off x="6514863" y="5193932"/>
            <a:ext cx="717210" cy="705798"/>
          </a:xfrm>
          <a:prstGeom prst="downArrow">
            <a:avLst/>
          </a:prstGeom>
          <a:scene3d>
            <a:camera prst="orthographicFront"/>
            <a:lightRig rig="flat" dir="t"/>
          </a:scene3d>
          <a:sp3d z="190500"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3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66B7ADB9-CC3A-45A9-B4E9-AE15C2533F77}"/>
              </a:ext>
            </a:extLst>
          </p:cNvPr>
          <p:cNvGrpSpPr/>
          <p:nvPr/>
        </p:nvGrpSpPr>
        <p:grpSpPr>
          <a:xfrm>
            <a:off x="5402296" y="6002036"/>
            <a:ext cx="3061902" cy="627648"/>
            <a:chOff x="2626458" y="2927711"/>
            <a:chExt cx="3717016" cy="62764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FECA72C6-6668-4FBA-83E6-427BB40C84B4}"/>
                </a:ext>
              </a:extLst>
            </p:cNvPr>
            <p:cNvSpPr/>
            <p:nvPr/>
          </p:nvSpPr>
          <p:spPr>
            <a:xfrm>
              <a:off x="2626459" y="3087822"/>
              <a:ext cx="3717015" cy="46753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xmlns="" id="{02B8A355-53F6-4F97-BED8-AF7EC65E3157}"/>
                </a:ext>
              </a:extLst>
            </p:cNvPr>
            <p:cNvSpPr txBox="1"/>
            <p:nvPr/>
          </p:nvSpPr>
          <p:spPr>
            <a:xfrm>
              <a:off x="2626458" y="2927711"/>
              <a:ext cx="3717015" cy="4675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7584" tIns="227584" rIns="227584" bIns="227584" numCol="1" spcCol="1270" anchor="ctr" anchorCtr="0">
              <a:noAutofit/>
            </a:bodyPr>
            <a:lstStyle/>
            <a:p>
              <a:pPr marL="0" lvl="0" indent="0" algn="ctr" defTabSz="1422400">
                <a:spcBef>
                  <a:spcPct val="0"/>
                </a:spcBef>
                <a:buNone/>
              </a:pPr>
              <a:r>
                <a:rPr lang="en-US" altLang="zh-CN" sz="2400" b="1" kern="1200" dirty="0">
                  <a:ea typeface="隶书" panose="02010509060101010101" pitchFamily="49" charset="-122"/>
                </a:rPr>
                <a:t>Functional </a:t>
              </a:r>
            </a:p>
            <a:p>
              <a:pPr marL="0" lvl="0" indent="0" algn="ctr" defTabSz="1422400">
                <a:spcBef>
                  <a:spcPct val="0"/>
                </a:spcBef>
                <a:buNone/>
              </a:pPr>
              <a:r>
                <a:rPr lang="en-US" altLang="zh-CN" sz="2400" b="1" kern="1200" dirty="0">
                  <a:ea typeface="隶书" panose="02010509060101010101" pitchFamily="49" charset="-122"/>
                </a:rPr>
                <a:t>Molecular Magnets</a:t>
              </a:r>
              <a:endParaRPr lang="zh-CN" altLang="en-US" sz="2400" b="1" kern="1200" dirty="0">
                <a:ea typeface="隶书" panose="02010509060101010101" pitchFamily="49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3FD0E952-B5AF-49DD-AC74-BD4B1491A241}"/>
              </a:ext>
            </a:extLst>
          </p:cNvPr>
          <p:cNvGrpSpPr/>
          <p:nvPr/>
        </p:nvGrpSpPr>
        <p:grpSpPr>
          <a:xfrm>
            <a:off x="6086204" y="3708383"/>
            <a:ext cx="1492889" cy="1272927"/>
            <a:chOff x="3610739" y="1088685"/>
            <a:chExt cx="1272927" cy="1272927"/>
          </a:xfrm>
          <a:scene3d>
            <a:camera prst="orthographicFront"/>
            <a:lightRig rig="flat" dir="t"/>
          </a:scene3d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xmlns="" id="{839C37F6-2AE1-43C7-9D39-5E091C6B4C91}"/>
                </a:ext>
              </a:extLst>
            </p:cNvPr>
            <p:cNvSpPr/>
            <p:nvPr/>
          </p:nvSpPr>
          <p:spPr>
            <a:xfrm>
              <a:off x="3610739" y="1088685"/>
              <a:ext cx="1272927" cy="1272927"/>
            </a:xfrm>
            <a:prstGeom prst="ellipse">
              <a:avLst/>
            </a:prstGeom>
            <a:solidFill>
              <a:srgbClr val="C00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椭圆 4">
              <a:extLst>
                <a:ext uri="{FF2B5EF4-FFF2-40B4-BE49-F238E27FC236}">
                  <a16:creationId xmlns:a16="http://schemas.microsoft.com/office/drawing/2014/main" xmlns="" id="{8007970A-1C42-46C8-BDE0-8EBD83FF5F9E}"/>
                </a:ext>
              </a:extLst>
            </p:cNvPr>
            <p:cNvSpPr txBox="1"/>
            <p:nvPr/>
          </p:nvSpPr>
          <p:spPr>
            <a:xfrm>
              <a:off x="3797155" y="1275101"/>
              <a:ext cx="900095" cy="90009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0" tIns="31750" rIns="31750" bIns="317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500" kern="1200" dirty="0">
                  <a:ea typeface="隶书" panose="02010509060101010101" pitchFamily="49" charset="-122"/>
                </a:rPr>
                <a:t>Spin carrier</a:t>
              </a:r>
              <a:endParaRPr lang="zh-CN" altLang="en-US" sz="2500" kern="1200" dirty="0">
                <a:ea typeface="隶书" panose="02010509060101010101" pitchFamily="49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8400032F-6C50-4BFA-8A7D-4C5396BD49D7}"/>
              </a:ext>
            </a:extLst>
          </p:cNvPr>
          <p:cNvGrpSpPr/>
          <p:nvPr/>
        </p:nvGrpSpPr>
        <p:grpSpPr>
          <a:xfrm>
            <a:off x="5419728" y="2956150"/>
            <a:ext cx="1272927" cy="1060866"/>
            <a:chOff x="2880097" y="319808"/>
            <a:chExt cx="1272927" cy="1272927"/>
          </a:xfrm>
          <a:scene3d>
            <a:camera prst="orthographicFront"/>
            <a:lightRig rig="flat" dir="t"/>
          </a:scene3d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87541AD3-DA06-4576-93B1-FB93331E5493}"/>
                </a:ext>
              </a:extLst>
            </p:cNvPr>
            <p:cNvSpPr/>
            <p:nvPr/>
          </p:nvSpPr>
          <p:spPr>
            <a:xfrm>
              <a:off x="2880097" y="319808"/>
              <a:ext cx="1272927" cy="127292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椭圆 6">
              <a:extLst>
                <a:ext uri="{FF2B5EF4-FFF2-40B4-BE49-F238E27FC236}">
                  <a16:creationId xmlns:a16="http://schemas.microsoft.com/office/drawing/2014/main" xmlns="" id="{1242186E-1D08-4587-9FFC-04F554072604}"/>
                </a:ext>
              </a:extLst>
            </p:cNvPr>
            <p:cNvSpPr txBox="1"/>
            <p:nvPr/>
          </p:nvSpPr>
          <p:spPr>
            <a:xfrm>
              <a:off x="3066513" y="506224"/>
              <a:ext cx="900095" cy="90009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0" tIns="31750" rIns="31750" bIns="317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500" kern="1200" dirty="0">
                  <a:ea typeface="隶书" panose="02010509060101010101" pitchFamily="49" charset="-122"/>
                </a:rPr>
                <a:t>Bridge</a:t>
              </a:r>
              <a:endParaRPr lang="zh-CN" altLang="en-US" sz="2500" kern="1200" dirty="0">
                <a:ea typeface="隶书" panose="02010509060101010101" pitchFamily="49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0FBC1283-7067-45D3-B56E-0DBB5CF06DAF}"/>
              </a:ext>
            </a:extLst>
          </p:cNvPr>
          <p:cNvGrpSpPr/>
          <p:nvPr/>
        </p:nvGrpSpPr>
        <p:grpSpPr>
          <a:xfrm>
            <a:off x="6766102" y="2942551"/>
            <a:ext cx="1698096" cy="1158517"/>
            <a:chOff x="4282038" y="247802"/>
            <a:chExt cx="1272927" cy="1272927"/>
          </a:xfrm>
          <a:scene3d>
            <a:camera prst="orthographicFront"/>
            <a:lightRig rig="flat" dir="t"/>
          </a:scene3d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B156E738-BD65-41D2-89E6-59AA2D4C8DB4}"/>
                </a:ext>
              </a:extLst>
            </p:cNvPr>
            <p:cNvSpPr/>
            <p:nvPr/>
          </p:nvSpPr>
          <p:spPr>
            <a:xfrm>
              <a:off x="4282038" y="247802"/>
              <a:ext cx="1272927" cy="1272927"/>
            </a:xfrm>
            <a:prstGeom prst="ellipse">
              <a:avLst/>
            </a:prstGeom>
            <a:solidFill>
              <a:srgbClr val="0066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椭圆 8">
              <a:extLst>
                <a:ext uri="{FF2B5EF4-FFF2-40B4-BE49-F238E27FC236}">
                  <a16:creationId xmlns:a16="http://schemas.microsoft.com/office/drawing/2014/main" xmlns="" id="{F5ACE453-E2D1-4244-8D8B-83FA3214BB95}"/>
                </a:ext>
              </a:extLst>
            </p:cNvPr>
            <p:cNvSpPr txBox="1"/>
            <p:nvPr/>
          </p:nvSpPr>
          <p:spPr>
            <a:xfrm>
              <a:off x="4468454" y="434218"/>
              <a:ext cx="900095" cy="90009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0" tIns="31750" rIns="31750" bIns="317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500" kern="1200" dirty="0">
                  <a:ea typeface="隶书" panose="02010509060101010101" pitchFamily="49" charset="-122"/>
                </a:rPr>
                <a:t>Auxiliary</a:t>
              </a:r>
              <a:endParaRPr lang="zh-CN" altLang="en-US" sz="2500" kern="1200" dirty="0">
                <a:ea typeface="隶书" panose="02010509060101010101" pitchFamily="49" charset="-122"/>
              </a:endParaRPr>
            </a:p>
          </p:txBody>
        </p:sp>
      </p:grpSp>
      <p:sp>
        <p:nvSpPr>
          <p:cNvPr id="18" name="形状 17">
            <a:extLst>
              <a:ext uri="{FF2B5EF4-FFF2-40B4-BE49-F238E27FC236}">
                <a16:creationId xmlns:a16="http://schemas.microsoft.com/office/drawing/2014/main" xmlns="" id="{A11B5C62-C21F-4A10-9422-51982BC57998}"/>
              </a:ext>
            </a:extLst>
          </p:cNvPr>
          <p:cNvSpPr/>
          <p:nvPr/>
        </p:nvSpPr>
        <p:spPr>
          <a:xfrm>
            <a:off x="4932040" y="2789963"/>
            <a:ext cx="3803155" cy="2234576"/>
          </a:xfrm>
          <a:prstGeom prst="funnel">
            <a:avLst/>
          </a:prstGeom>
          <a:scene3d>
            <a:camera prst="orthographicFront"/>
            <a:lightRig rig="flat" dir="t"/>
          </a:scene3d>
          <a:sp3d extrusionH="12700" prstMaterial="plastic">
            <a:bevelT w="50800" h="50800"/>
          </a:sp3d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xmlns="" id="{29FEA2F6-E7B6-499A-A881-0F255D527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3860" y="1202036"/>
            <a:ext cx="432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xmlns="" id="{52EFB75F-865D-4490-8101-AD99818A3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389" y="1218238"/>
            <a:ext cx="1006107" cy="33855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 = 1/2</a:t>
            </a:r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xmlns="" id="{E4BE59F6-E599-4E49-8366-062BE6FDB7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3376" y="764704"/>
            <a:ext cx="0" cy="32400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9">
            <a:extLst>
              <a:ext uri="{FF2B5EF4-FFF2-40B4-BE49-F238E27FC236}">
                <a16:creationId xmlns:a16="http://schemas.microsoft.com/office/drawing/2014/main" xmlns="" id="{19E3D6F7-E8E0-446D-AB3C-4AB5DCD10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3264" y="1196752"/>
            <a:ext cx="432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3">
            <a:extLst>
              <a:ext uri="{FF2B5EF4-FFF2-40B4-BE49-F238E27FC236}">
                <a16:creationId xmlns:a16="http://schemas.microsoft.com/office/drawing/2014/main" xmlns="" id="{B7E479EA-E0E0-4C94-A32E-EBAAE43533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07280" y="764704"/>
            <a:ext cx="0" cy="32400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13">
            <a:extLst>
              <a:ext uri="{FF2B5EF4-FFF2-40B4-BE49-F238E27FC236}">
                <a16:creationId xmlns:a16="http://schemas.microsoft.com/office/drawing/2014/main" xmlns="" id="{60B5F74F-EADC-489C-A18B-82164EF9F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1296" y="800744"/>
            <a:ext cx="0" cy="32400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24">
            <a:extLst>
              <a:ext uri="{FF2B5EF4-FFF2-40B4-BE49-F238E27FC236}">
                <a16:creationId xmlns:a16="http://schemas.microsoft.com/office/drawing/2014/main" xmlns="" id="{45836CE8-A128-4EC6-BB4F-B00791CF7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256" y="1196752"/>
            <a:ext cx="792088" cy="33855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 = 0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xmlns="" id="{3F4CE8C0-5D87-40CA-A4B0-1C02D04CBEC6}"/>
              </a:ext>
            </a:extLst>
          </p:cNvPr>
          <p:cNvSpPr/>
          <p:nvPr/>
        </p:nvSpPr>
        <p:spPr>
          <a:xfrm>
            <a:off x="5491256" y="1628800"/>
            <a:ext cx="1482563" cy="1080120"/>
          </a:xfrm>
          <a:prstGeom prst="ellipse">
            <a:avLst/>
          </a:prstGeom>
          <a:solidFill>
            <a:srgbClr val="6600FF">
              <a:alpha val="2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xmlns="" id="{50AF3C8F-C4FF-4875-AC68-800C76EB2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7675" y="2234242"/>
            <a:ext cx="432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9">
            <a:extLst>
              <a:ext uri="{FF2B5EF4-FFF2-40B4-BE49-F238E27FC236}">
                <a16:creationId xmlns:a16="http://schemas.microsoft.com/office/drawing/2014/main" xmlns="" id="{72FAFD75-0093-4067-884A-C123EFF7ED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1731" y="2071173"/>
            <a:ext cx="4320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3">
            <a:extLst>
              <a:ext uri="{FF2B5EF4-FFF2-40B4-BE49-F238E27FC236}">
                <a16:creationId xmlns:a16="http://schemas.microsoft.com/office/drawing/2014/main" xmlns="" id="{25AB3E66-7163-4B4B-A053-4E74656F2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1643" y="1886930"/>
            <a:ext cx="0" cy="32400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13">
            <a:extLst>
              <a:ext uri="{FF2B5EF4-FFF2-40B4-BE49-F238E27FC236}">
                <a16:creationId xmlns:a16="http://schemas.microsoft.com/office/drawing/2014/main" xmlns="" id="{F1E0A2D6-C182-4769-95AD-AAAC922239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97755" y="1724930"/>
            <a:ext cx="0" cy="324000"/>
          </a:xfrm>
          <a:prstGeom prst="line">
            <a:avLst/>
          </a:prstGeom>
          <a:noFill/>
          <a:ln w="50800">
            <a:solidFill>
              <a:srgbClr val="C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Box 24">
            <a:extLst>
              <a:ext uri="{FF2B5EF4-FFF2-40B4-BE49-F238E27FC236}">
                <a16:creationId xmlns:a16="http://schemas.microsoft.com/office/drawing/2014/main" xmlns="" id="{C5053ECE-F509-442A-9CBC-3B9AD61B7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620" y="2320098"/>
            <a:ext cx="792088" cy="33855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 = 1/2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66A19212-827C-4127-B697-341A3339867E}"/>
              </a:ext>
            </a:extLst>
          </p:cNvPr>
          <p:cNvSpPr txBox="1"/>
          <p:nvPr/>
        </p:nvSpPr>
        <p:spPr>
          <a:xfrm>
            <a:off x="6787352" y="1535937"/>
            <a:ext cx="2105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6600"/>
                </a:solidFill>
              </a:rPr>
              <a:t>Spin orbital coupling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39" name="Line 13">
            <a:extLst>
              <a:ext uri="{FF2B5EF4-FFF2-40B4-BE49-F238E27FC236}">
                <a16:creationId xmlns:a16="http://schemas.microsoft.com/office/drawing/2014/main" xmlns="" id="{B51F50E5-34FE-44F7-BCF9-A474358D16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85952" y="1873556"/>
            <a:ext cx="0" cy="339869"/>
          </a:xfrm>
          <a:prstGeom prst="line">
            <a:avLst/>
          </a:prstGeom>
          <a:noFill/>
          <a:ln w="50800">
            <a:solidFill>
              <a:srgbClr val="006600">
                <a:alpha val="50000"/>
              </a:srgbClr>
            </a:solidFill>
            <a:prstDash val="solid"/>
            <a:round/>
            <a:headEnd type="triangle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9498DD26-1D05-4C86-98E6-22097B1C4FEB}"/>
              </a:ext>
            </a:extLst>
          </p:cNvPr>
          <p:cNvSpPr txBox="1"/>
          <p:nvPr/>
        </p:nvSpPr>
        <p:spPr>
          <a:xfrm>
            <a:off x="5469285" y="51397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6600"/>
                </a:solidFill>
              </a:rPr>
              <a:t>Self-</a:t>
            </a:r>
          </a:p>
          <a:p>
            <a:pPr algn="ctr"/>
            <a:r>
              <a:rPr lang="en-US" altLang="zh-CN" b="1" dirty="0">
                <a:solidFill>
                  <a:srgbClr val="006600"/>
                </a:solidFill>
              </a:rPr>
              <a:t>Assembly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xmlns="" id="{EE44A9D6-29D9-435A-9437-7C92A76F3A74}"/>
              </a:ext>
            </a:extLst>
          </p:cNvPr>
          <p:cNvSpPr txBox="1"/>
          <p:nvPr/>
        </p:nvSpPr>
        <p:spPr>
          <a:xfrm>
            <a:off x="7181303" y="5112595"/>
            <a:ext cx="1230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6600"/>
                </a:solidFill>
              </a:rPr>
              <a:t>Directional</a:t>
            </a:r>
          </a:p>
          <a:p>
            <a:r>
              <a:rPr lang="en-US" altLang="zh-CN" b="1" dirty="0">
                <a:solidFill>
                  <a:srgbClr val="006600"/>
                </a:solidFill>
              </a:rPr>
              <a:t> Assembly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09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5" name="Picture 4"/>
          <p:cNvPicPr>
            <a:picLocks noChangeAspect="1"/>
          </p:cNvPicPr>
          <p:nvPr/>
        </p:nvPicPr>
        <p:blipFill>
          <a:blip r:embed="rId4"/>
          <a:srcRect r="31129" b="24004"/>
          <a:stretch>
            <a:fillRect/>
          </a:stretch>
        </p:blipFill>
        <p:spPr>
          <a:xfrm>
            <a:off x="251520" y="1344175"/>
            <a:ext cx="1936342" cy="211448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6" name="Picture 4"/>
          <p:cNvPicPr>
            <a:picLocks noChangeAspect="1"/>
          </p:cNvPicPr>
          <p:nvPr/>
        </p:nvPicPr>
        <p:blipFill>
          <a:blip r:embed="rId4"/>
          <a:srcRect r="31129" b="24004"/>
          <a:stretch>
            <a:fillRect/>
          </a:stretch>
        </p:blipFill>
        <p:spPr>
          <a:xfrm>
            <a:off x="453686" y="4584707"/>
            <a:ext cx="1973307" cy="215666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" name="矩形 86"/>
          <p:cNvSpPr/>
          <p:nvPr/>
        </p:nvSpPr>
        <p:spPr>
          <a:xfrm>
            <a:off x="908770" y="3186310"/>
            <a:ext cx="959778" cy="322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隶书" panose="02010509060101010101" charset="-122"/>
                <a:cs typeface="+mn-cs"/>
              </a:rPr>
              <a:t>Field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隶书" panose="02010509060101010101" charset="-122"/>
              <a:cs typeface="+mn-cs"/>
            </a:endParaRPr>
          </a:p>
        </p:txBody>
      </p:sp>
      <p:sp>
        <p:nvSpPr>
          <p:cNvPr id="33799" name="TextBox 88"/>
          <p:cNvSpPr txBox="1"/>
          <p:nvPr/>
        </p:nvSpPr>
        <p:spPr>
          <a:xfrm>
            <a:off x="2006883" y="4529002"/>
            <a:ext cx="4318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endParaRPr lang="zh-CN" altLang="en-US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3800" name="TextBox 89"/>
          <p:cNvSpPr txBox="1"/>
          <p:nvPr/>
        </p:nvSpPr>
        <p:spPr>
          <a:xfrm>
            <a:off x="917081" y="5671838"/>
            <a:ext cx="584200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ea typeface="宋体" panose="02010600030101010101" pitchFamily="2" charset="-122"/>
              </a:rPr>
              <a:t>II</a:t>
            </a:r>
            <a:endParaRPr lang="zh-CN" altLang="en-US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3801" name="TextBox 91"/>
          <p:cNvSpPr txBox="1"/>
          <p:nvPr/>
        </p:nvSpPr>
        <p:spPr>
          <a:xfrm>
            <a:off x="1671540" y="1313631"/>
            <a:ext cx="23781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endParaRPr lang="zh-CN" altLang="en-US" sz="18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3802" name="TextBox 92"/>
          <p:cNvSpPr txBox="1"/>
          <p:nvPr/>
        </p:nvSpPr>
        <p:spPr>
          <a:xfrm>
            <a:off x="701057" y="2376160"/>
            <a:ext cx="415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ea typeface="宋体" panose="02010600030101010101" pitchFamily="2" charset="-122"/>
              </a:rPr>
              <a:t>II</a:t>
            </a:r>
            <a:endParaRPr lang="zh-CN" altLang="en-US" sz="18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103" name="Group 1132"/>
          <p:cNvGrpSpPr/>
          <p:nvPr/>
        </p:nvGrpSpPr>
        <p:grpSpPr bwMode="auto">
          <a:xfrm>
            <a:off x="4270762" y="1578348"/>
            <a:ext cx="1901475" cy="1639929"/>
            <a:chOff x="4075" y="925"/>
            <a:chExt cx="1463" cy="1823"/>
          </a:xfrm>
          <a:solidFill>
            <a:schemeClr val="bg1"/>
          </a:solidFill>
        </p:grpSpPr>
        <p:grpSp>
          <p:nvGrpSpPr>
            <p:cNvPr id="104" name="Group 1133"/>
            <p:cNvGrpSpPr/>
            <p:nvPr/>
          </p:nvGrpSpPr>
          <p:grpSpPr bwMode="auto">
            <a:xfrm>
              <a:off x="4075" y="925"/>
              <a:ext cx="1463" cy="1823"/>
              <a:chOff x="892" y="156"/>
              <a:chExt cx="2996" cy="3733"/>
            </a:xfrm>
            <a:grpFill/>
          </p:grpSpPr>
          <p:sp>
            <p:nvSpPr>
              <p:cNvPr id="115" name="Freeform 1134"/>
              <p:cNvSpPr/>
              <p:nvPr/>
            </p:nvSpPr>
            <p:spPr bwMode="auto">
              <a:xfrm>
                <a:off x="892" y="156"/>
                <a:ext cx="2996" cy="373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76" y="2870"/>
                  </a:cxn>
                  <a:cxn ang="0">
                    <a:pos x="1162" y="0"/>
                  </a:cxn>
                  <a:cxn ang="0">
                    <a:pos x="1738" y="2870"/>
                  </a:cxn>
                  <a:cxn ang="0">
                    <a:pos x="2304" y="0"/>
                  </a:cxn>
                </a:cxnLst>
                <a:rect l="0" t="0" r="r" b="b"/>
                <a:pathLst>
                  <a:path w="2304" h="2870">
                    <a:moveTo>
                      <a:pt x="0" y="0"/>
                    </a:moveTo>
                    <a:cubicBezTo>
                      <a:pt x="96" y="478"/>
                      <a:pt x="382" y="2870"/>
                      <a:pt x="576" y="2870"/>
                    </a:cubicBezTo>
                    <a:cubicBezTo>
                      <a:pt x="770" y="2870"/>
                      <a:pt x="968" y="0"/>
                      <a:pt x="1162" y="0"/>
                    </a:cubicBezTo>
                    <a:cubicBezTo>
                      <a:pt x="1356" y="0"/>
                      <a:pt x="1548" y="2870"/>
                      <a:pt x="1738" y="2870"/>
                    </a:cubicBezTo>
                    <a:cubicBezTo>
                      <a:pt x="1928" y="2870"/>
                      <a:pt x="2186" y="598"/>
                      <a:pt x="2304" y="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Line 1135"/>
              <p:cNvSpPr>
                <a:spLocks noChangeShapeType="1"/>
              </p:cNvSpPr>
              <p:nvPr/>
            </p:nvSpPr>
            <p:spPr bwMode="auto">
              <a:xfrm>
                <a:off x="1156" y="1904"/>
                <a:ext cx="885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Line 1136"/>
              <p:cNvSpPr>
                <a:spLocks noChangeShapeType="1"/>
              </p:cNvSpPr>
              <p:nvPr/>
            </p:nvSpPr>
            <p:spPr bwMode="auto">
              <a:xfrm>
                <a:off x="1510" y="2966"/>
                <a:ext cx="249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Line 1137"/>
              <p:cNvSpPr>
                <a:spLocks noChangeShapeType="1"/>
              </p:cNvSpPr>
              <p:nvPr/>
            </p:nvSpPr>
            <p:spPr bwMode="auto">
              <a:xfrm>
                <a:off x="1257" y="2404"/>
                <a:ext cx="713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Line 1138"/>
              <p:cNvSpPr>
                <a:spLocks noChangeShapeType="1"/>
              </p:cNvSpPr>
              <p:nvPr/>
            </p:nvSpPr>
            <p:spPr bwMode="auto">
              <a:xfrm>
                <a:off x="892" y="156"/>
                <a:ext cx="2996" cy="2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Line 1139"/>
              <p:cNvSpPr>
                <a:spLocks noChangeShapeType="1"/>
              </p:cNvSpPr>
              <p:nvPr/>
            </p:nvSpPr>
            <p:spPr bwMode="auto">
              <a:xfrm>
                <a:off x="892" y="218"/>
                <a:ext cx="1436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Line 1140"/>
              <p:cNvSpPr>
                <a:spLocks noChangeShapeType="1"/>
              </p:cNvSpPr>
              <p:nvPr/>
            </p:nvSpPr>
            <p:spPr bwMode="auto">
              <a:xfrm>
                <a:off x="954" y="343"/>
                <a:ext cx="1374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1141"/>
              <p:cNvSpPr>
                <a:spLocks noChangeShapeType="1"/>
              </p:cNvSpPr>
              <p:nvPr/>
            </p:nvSpPr>
            <p:spPr bwMode="auto">
              <a:xfrm>
                <a:off x="954" y="531"/>
                <a:ext cx="1311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" name="Line 1142"/>
              <p:cNvSpPr>
                <a:spLocks noChangeShapeType="1"/>
              </p:cNvSpPr>
              <p:nvPr/>
            </p:nvSpPr>
            <p:spPr bwMode="auto">
              <a:xfrm>
                <a:off x="1017" y="780"/>
                <a:ext cx="1186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Line 1143"/>
              <p:cNvSpPr>
                <a:spLocks noChangeShapeType="1"/>
              </p:cNvSpPr>
              <p:nvPr/>
            </p:nvSpPr>
            <p:spPr bwMode="auto">
              <a:xfrm>
                <a:off x="1060" y="1093"/>
                <a:ext cx="1099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Line 1144"/>
              <p:cNvSpPr>
                <a:spLocks noChangeShapeType="1"/>
              </p:cNvSpPr>
              <p:nvPr/>
            </p:nvSpPr>
            <p:spPr bwMode="auto">
              <a:xfrm>
                <a:off x="1086" y="1467"/>
                <a:ext cx="99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Line 1145"/>
              <p:cNvSpPr>
                <a:spLocks noChangeShapeType="1"/>
              </p:cNvSpPr>
              <p:nvPr/>
            </p:nvSpPr>
            <p:spPr bwMode="auto">
              <a:xfrm>
                <a:off x="1503" y="3590"/>
                <a:ext cx="250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7" name="Line 1146"/>
              <p:cNvSpPr>
                <a:spLocks noChangeShapeType="1"/>
              </p:cNvSpPr>
              <p:nvPr/>
            </p:nvSpPr>
            <p:spPr bwMode="auto">
              <a:xfrm>
                <a:off x="1354" y="2966"/>
                <a:ext cx="524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8" name="Line 1147"/>
              <p:cNvSpPr>
                <a:spLocks noChangeShapeType="1"/>
              </p:cNvSpPr>
              <p:nvPr/>
            </p:nvSpPr>
            <p:spPr bwMode="auto">
              <a:xfrm>
                <a:off x="2748" y="1904"/>
                <a:ext cx="886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9" name="Line 1148"/>
              <p:cNvSpPr>
                <a:spLocks noChangeShapeType="1"/>
              </p:cNvSpPr>
              <p:nvPr/>
            </p:nvSpPr>
            <p:spPr bwMode="auto">
              <a:xfrm>
                <a:off x="2831" y="2404"/>
                <a:ext cx="712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0" name="Line 1149"/>
              <p:cNvSpPr>
                <a:spLocks noChangeShapeType="1"/>
              </p:cNvSpPr>
              <p:nvPr/>
            </p:nvSpPr>
            <p:spPr bwMode="auto">
              <a:xfrm>
                <a:off x="2452" y="218"/>
                <a:ext cx="1436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1" name="Line 1150"/>
              <p:cNvSpPr>
                <a:spLocks noChangeShapeType="1"/>
              </p:cNvSpPr>
              <p:nvPr/>
            </p:nvSpPr>
            <p:spPr bwMode="auto">
              <a:xfrm>
                <a:off x="2489" y="343"/>
                <a:ext cx="1373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2" name="Line 1151"/>
              <p:cNvSpPr>
                <a:spLocks noChangeShapeType="1"/>
              </p:cNvSpPr>
              <p:nvPr/>
            </p:nvSpPr>
            <p:spPr bwMode="auto">
              <a:xfrm>
                <a:off x="2541" y="531"/>
                <a:ext cx="1311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" name="Line 1152"/>
              <p:cNvSpPr>
                <a:spLocks noChangeShapeType="1"/>
              </p:cNvSpPr>
              <p:nvPr/>
            </p:nvSpPr>
            <p:spPr bwMode="auto">
              <a:xfrm>
                <a:off x="2590" y="780"/>
                <a:ext cx="1186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" name="Line 1153"/>
              <p:cNvSpPr>
                <a:spLocks noChangeShapeType="1"/>
              </p:cNvSpPr>
              <p:nvPr/>
            </p:nvSpPr>
            <p:spPr bwMode="auto">
              <a:xfrm>
                <a:off x="2633" y="1093"/>
                <a:ext cx="1099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5" name="Line 1154"/>
              <p:cNvSpPr>
                <a:spLocks noChangeShapeType="1"/>
              </p:cNvSpPr>
              <p:nvPr/>
            </p:nvSpPr>
            <p:spPr bwMode="auto">
              <a:xfrm>
                <a:off x="2698" y="1467"/>
                <a:ext cx="999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6" name="Line 1155"/>
              <p:cNvSpPr>
                <a:spLocks noChangeShapeType="1"/>
              </p:cNvSpPr>
              <p:nvPr/>
            </p:nvSpPr>
            <p:spPr bwMode="auto">
              <a:xfrm>
                <a:off x="2927" y="2966"/>
                <a:ext cx="524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Line 1156"/>
              <p:cNvSpPr>
                <a:spLocks noChangeShapeType="1"/>
              </p:cNvSpPr>
              <p:nvPr/>
            </p:nvSpPr>
            <p:spPr bwMode="auto">
              <a:xfrm>
                <a:off x="3039" y="3586"/>
                <a:ext cx="250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5" name="Line 1160"/>
            <p:cNvSpPr>
              <a:spLocks noChangeShapeType="1"/>
            </p:cNvSpPr>
            <p:nvPr/>
          </p:nvSpPr>
          <p:spPr bwMode="auto">
            <a:xfrm>
              <a:off x="4812" y="925"/>
              <a:ext cx="0" cy="167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Arc 1163"/>
            <p:cNvSpPr/>
            <p:nvPr/>
          </p:nvSpPr>
          <p:spPr bwMode="auto">
            <a:xfrm flipH="1" flipV="1">
              <a:off x="4399" y="2023"/>
              <a:ext cx="152" cy="250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Arc 1164"/>
            <p:cNvSpPr/>
            <p:nvPr/>
          </p:nvSpPr>
          <p:spPr bwMode="auto">
            <a:xfrm flipH="1" flipV="1">
              <a:off x="4399" y="2297"/>
              <a:ext cx="152" cy="285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Arc 1165"/>
            <p:cNvSpPr/>
            <p:nvPr/>
          </p:nvSpPr>
          <p:spPr bwMode="auto">
            <a:xfrm flipH="1" flipV="1">
              <a:off x="4399" y="1779"/>
              <a:ext cx="152" cy="231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Arc 1166"/>
            <p:cNvSpPr/>
            <p:nvPr/>
          </p:nvSpPr>
          <p:spPr bwMode="auto">
            <a:xfrm flipH="1" flipV="1">
              <a:off x="4399" y="1565"/>
              <a:ext cx="152" cy="185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Arc 1167"/>
            <p:cNvSpPr/>
            <p:nvPr/>
          </p:nvSpPr>
          <p:spPr bwMode="auto">
            <a:xfrm flipH="1" flipV="1">
              <a:off x="4399" y="1380"/>
              <a:ext cx="152" cy="185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Arc 1168"/>
            <p:cNvSpPr/>
            <p:nvPr/>
          </p:nvSpPr>
          <p:spPr bwMode="auto">
            <a:xfrm flipH="1" flipV="1">
              <a:off x="4401" y="1230"/>
              <a:ext cx="149" cy="150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Arc 1169"/>
            <p:cNvSpPr/>
            <p:nvPr/>
          </p:nvSpPr>
          <p:spPr bwMode="auto">
            <a:xfrm flipH="1" flipV="1">
              <a:off x="4426" y="1108"/>
              <a:ext cx="97" cy="122"/>
            </a:xfrm>
            <a:custGeom>
              <a:avLst/>
              <a:gdLst>
                <a:gd name="G0" fmla="+- 0 0 0"/>
                <a:gd name="G1" fmla="+- 12085 0 0"/>
                <a:gd name="G2" fmla="+- 21600 0 0"/>
                <a:gd name="T0" fmla="*/ 17903 w 21600"/>
                <a:gd name="T1" fmla="*/ 0 h 29560"/>
                <a:gd name="T2" fmla="*/ 12695 w 21600"/>
                <a:gd name="T3" fmla="*/ 29560 h 29560"/>
                <a:gd name="T4" fmla="*/ 0 w 21600"/>
                <a:gd name="T5" fmla="*/ 12085 h 29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9560" fill="none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</a:path>
                <a:path w="21600" h="29560" stroke="0" extrusionOk="0">
                  <a:moveTo>
                    <a:pt x="17902" y="0"/>
                  </a:moveTo>
                  <a:cubicBezTo>
                    <a:pt x="20312" y="3569"/>
                    <a:pt x="21600" y="7778"/>
                    <a:pt x="21600" y="12085"/>
                  </a:cubicBezTo>
                  <a:cubicBezTo>
                    <a:pt x="21600" y="18999"/>
                    <a:pt x="18289" y="25496"/>
                    <a:pt x="12695" y="29560"/>
                  </a:cubicBezTo>
                  <a:lnTo>
                    <a:pt x="0" y="12085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1170"/>
            <p:cNvSpPr>
              <a:spLocks noChangeShapeType="1"/>
            </p:cNvSpPr>
            <p:nvPr/>
          </p:nvSpPr>
          <p:spPr bwMode="auto">
            <a:xfrm>
              <a:off x="5191" y="1108"/>
              <a:ext cx="0" cy="14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Line 1171"/>
            <p:cNvSpPr>
              <a:spLocks noChangeShapeType="1"/>
            </p:cNvSpPr>
            <p:nvPr/>
          </p:nvSpPr>
          <p:spPr bwMode="auto">
            <a:xfrm>
              <a:off x="4498" y="1108"/>
              <a:ext cx="693" cy="0"/>
            </a:xfrm>
            <a:prstGeom prst="line">
              <a:avLst/>
            </a:prstGeom>
            <a:grpFill/>
            <a:ln w="317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806" name="矩形 137"/>
          <p:cNvSpPr/>
          <p:nvPr/>
        </p:nvSpPr>
        <p:spPr>
          <a:xfrm>
            <a:off x="3773716" y="3171041"/>
            <a:ext cx="111440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E</a:t>
            </a:r>
            <a:r>
              <a:rPr lang="zh-CN" altLang="en-US" sz="1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DS</a:t>
            </a:r>
            <a:r>
              <a:rPr lang="en-US" altLang="zh-CN" sz="1400" b="1" baseline="30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i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Nature</a:t>
            </a:r>
            <a:r>
              <a:rPr lang="en-US" altLang="zh-CN" sz="1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1993</a:t>
            </a:r>
          </a:p>
        </p:txBody>
      </p:sp>
      <p:sp>
        <p:nvSpPr>
          <p:cNvPr id="140" name="矩形 139"/>
          <p:cNvSpPr/>
          <p:nvPr/>
        </p:nvSpPr>
        <p:spPr>
          <a:xfrm>
            <a:off x="2148483" y="4915940"/>
            <a:ext cx="695325" cy="1050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1897529" y="1718706"/>
            <a:ext cx="443274" cy="891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215488" y="6273763"/>
            <a:ext cx="852488" cy="27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黑体" panose="02010609060101010101" pitchFamily="49" charset="-122"/>
                <a:cs typeface="Times" pitchFamily="18" charset="0"/>
              </a:rPr>
              <a:t>T</a:t>
            </a:r>
            <a:r>
              <a:rPr kumimoji="0" lang="en-US" altLang="zh-CN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黑体" panose="02010609060101010101" pitchFamily="49" charset="-122"/>
                <a:cs typeface="Times" pitchFamily="18" charset="0"/>
              </a:rPr>
              <a:t>1/2</a:t>
            </a:r>
            <a:endParaRPr kumimoji="0" lang="zh-CN" altLang="en-US" b="1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ea typeface="黑体" panose="02010609060101010101" pitchFamily="49" charset="-122"/>
              <a:cs typeface="Times" pitchFamily="18" charset="0"/>
            </a:endParaRPr>
          </a:p>
        </p:txBody>
      </p:sp>
      <p:sp>
        <p:nvSpPr>
          <p:cNvPr id="2" name="矩形 116"/>
          <p:cNvSpPr/>
          <p:nvPr/>
        </p:nvSpPr>
        <p:spPr>
          <a:xfrm>
            <a:off x="2340803" y="109184"/>
            <a:ext cx="3407097" cy="5539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000" b="1" dirty="0">
                <a:solidFill>
                  <a:srgbClr val="000000"/>
                </a:solidFill>
                <a:ea typeface="隶书" panose="02010509060101010101" charset="-122"/>
              </a:rPr>
              <a:t>Research Interests</a:t>
            </a:r>
            <a:endParaRPr lang="zh-CN" altLang="zh-CN" sz="3000" b="1" dirty="0">
              <a:solidFill>
                <a:srgbClr val="000000"/>
              </a:solidFill>
              <a:ea typeface="隶书" panose="020105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5941" y="804484"/>
            <a:ext cx="6161727" cy="369332"/>
          </a:xfrm>
          <a:prstGeom prst="rect">
            <a:avLst/>
          </a:prstGeom>
          <a:gradFill>
            <a:gsLst>
              <a:gs pos="100000">
                <a:srgbClr val="14CD68">
                  <a:alpha val="11000"/>
                </a:srgbClr>
              </a:gs>
              <a:gs pos="100000">
                <a:srgbClr val="0B6E38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900000"/>
            <a:r>
              <a:rPr lang="en-US" altLang="zh-CN" b="1" dirty="0">
                <a:solidFill>
                  <a:srgbClr val="0920FB"/>
                </a:solidFill>
                <a:ea typeface="隶书" panose="02010509060101010101" charset="-122"/>
              </a:rPr>
              <a:t>Molecular Nanomagnets (</a:t>
            </a:r>
            <a:r>
              <a:rPr lang="en-US" altLang="zh-CN" b="1" u="sng" dirty="0">
                <a:solidFill>
                  <a:srgbClr val="0920FB"/>
                </a:solidFill>
                <a:ea typeface="隶书" panose="02010509060101010101" charset="-122"/>
              </a:rPr>
              <a:t>S</a:t>
            </a:r>
            <a:r>
              <a:rPr lang="en-US" altLang="zh-CN" b="1" dirty="0">
                <a:solidFill>
                  <a:srgbClr val="0920FB"/>
                </a:solidFill>
                <a:ea typeface="隶书" panose="02010509060101010101" charset="-122"/>
              </a:rPr>
              <a:t>ingle </a:t>
            </a:r>
            <a:r>
              <a:rPr lang="en-US" altLang="zh-CN" b="1" u="sng" dirty="0">
                <a:solidFill>
                  <a:srgbClr val="0920FB"/>
                </a:solidFill>
                <a:ea typeface="隶书" panose="02010509060101010101" charset="-122"/>
              </a:rPr>
              <a:t>I</a:t>
            </a:r>
            <a:r>
              <a:rPr lang="en-US" altLang="zh-CN" b="1" dirty="0">
                <a:solidFill>
                  <a:srgbClr val="0920FB"/>
                </a:solidFill>
                <a:ea typeface="隶书" panose="02010509060101010101" charset="-122"/>
              </a:rPr>
              <a:t>on/</a:t>
            </a:r>
            <a:r>
              <a:rPr lang="en-US" altLang="zh-CN" b="1" u="sng" dirty="0">
                <a:solidFill>
                  <a:srgbClr val="0920FB"/>
                </a:solidFill>
                <a:ea typeface="隶书" panose="02010509060101010101" charset="-122"/>
              </a:rPr>
              <a:t>M</a:t>
            </a:r>
            <a:r>
              <a:rPr lang="en-US" altLang="zh-CN" b="1" dirty="0">
                <a:solidFill>
                  <a:srgbClr val="0920FB"/>
                </a:solidFill>
                <a:ea typeface="隶书" panose="02010509060101010101" charset="-122"/>
              </a:rPr>
              <a:t>olecule/</a:t>
            </a:r>
            <a:r>
              <a:rPr lang="en-US" altLang="zh-CN" b="1" u="sng" dirty="0">
                <a:solidFill>
                  <a:srgbClr val="0920FB"/>
                </a:solidFill>
                <a:ea typeface="隶书" panose="02010509060101010101" charset="-122"/>
              </a:rPr>
              <a:t>C</a:t>
            </a:r>
            <a:r>
              <a:rPr lang="en-US" altLang="zh-CN" b="1" dirty="0">
                <a:solidFill>
                  <a:srgbClr val="0920FB"/>
                </a:solidFill>
                <a:ea typeface="隶书" panose="02010509060101010101" charset="-122"/>
              </a:rPr>
              <a:t>hain </a:t>
            </a:r>
            <a:r>
              <a:rPr lang="en-US" altLang="zh-CN" b="1" u="sng" dirty="0">
                <a:solidFill>
                  <a:srgbClr val="0920FB"/>
                </a:solidFill>
                <a:ea typeface="隶书" panose="02010509060101010101" charset="-122"/>
              </a:rPr>
              <a:t>M</a:t>
            </a:r>
            <a:r>
              <a:rPr lang="en-US" altLang="zh-CN" b="1" dirty="0">
                <a:solidFill>
                  <a:srgbClr val="0920FB"/>
                </a:solidFill>
                <a:ea typeface="隶书" panose="02010509060101010101" charset="-122"/>
              </a:rPr>
              <a:t>agnets)</a:t>
            </a:r>
            <a:endParaRPr lang="zh-CN" altLang="en-US" b="1" dirty="0">
              <a:solidFill>
                <a:srgbClr val="0920FB"/>
              </a:solidFill>
              <a:ea typeface="隶书" panose="020105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521" y="4058357"/>
            <a:ext cx="6220680" cy="369332"/>
          </a:xfrm>
          <a:prstGeom prst="rect">
            <a:avLst/>
          </a:prstGeom>
          <a:gradFill>
            <a:gsLst>
              <a:gs pos="97000">
                <a:srgbClr val="FE4444">
                  <a:alpha val="31000"/>
                </a:srgbClr>
              </a:gs>
              <a:gs pos="98000">
                <a:srgbClr val="832B2B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b="1" dirty="0">
                <a:ea typeface="隶书" panose="02010509060101010101" charset="-122"/>
              </a:rPr>
              <a:t>Room-Temperature </a:t>
            </a:r>
            <a:r>
              <a:rPr lang="en-US" altLang="zh-CN" b="1" dirty="0" err="1">
                <a:ea typeface="隶书" panose="02010509060101010101" charset="-122"/>
              </a:rPr>
              <a:t>Bistable</a:t>
            </a:r>
            <a:r>
              <a:rPr lang="en-US" altLang="zh-CN" b="1" dirty="0">
                <a:ea typeface="隶书" panose="02010509060101010101" charset="-122"/>
              </a:rPr>
              <a:t> Materials (SCO</a:t>
            </a:r>
            <a:r>
              <a:rPr lang="zh-CN" altLang="en-US" b="1" dirty="0">
                <a:ea typeface="隶书" panose="02010509060101010101" charset="-122"/>
              </a:rPr>
              <a:t>、</a:t>
            </a:r>
            <a:r>
              <a:rPr lang="en-US" altLang="zh-CN" b="1" dirty="0">
                <a:ea typeface="隶书" panose="02010509060101010101" charset="-122"/>
              </a:rPr>
              <a:t>Electron-Transfer</a:t>
            </a:r>
            <a:r>
              <a:rPr lang="zh-CN" altLang="en-US" b="1" dirty="0">
                <a:ea typeface="隶书" panose="02010509060101010101" charset="-122"/>
              </a:rPr>
              <a:t>）</a:t>
            </a:r>
          </a:p>
        </p:txBody>
      </p:sp>
      <p:pic>
        <p:nvPicPr>
          <p:cNvPr id="57" name="Picture 4" descr="Molecule-aimant-dodecamanganese-A.jpg">
            <a:extLst>
              <a:ext uri="{FF2B5EF4-FFF2-40B4-BE49-F238E27FC236}">
                <a16:creationId xmlns:a16="http://schemas.microsoft.com/office/drawing/2014/main" xmlns="" id="{7F1A374C-6CF1-4DF5-9CB4-1FFD24E6918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rcRect b="15320"/>
          <a:stretch>
            <a:fillRect/>
          </a:stretch>
        </p:blipFill>
        <p:spPr>
          <a:xfrm>
            <a:off x="2099220" y="1380647"/>
            <a:ext cx="2008873" cy="2035332"/>
          </a:xfrm>
          <a:prstGeom prst="rect">
            <a:avLst/>
          </a:prstGeom>
          <a:noFill/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6C4F94A1-2176-4917-8501-E15BE2C55A1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0" t="10378" r="51845" b="5068"/>
          <a:stretch/>
        </p:blipFill>
        <p:spPr>
          <a:xfrm flipH="1">
            <a:off x="2253125" y="2714358"/>
            <a:ext cx="216024" cy="550958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xmlns="" id="{A1B65454-C584-4B83-B4CC-867D4E8938E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0" t="10378" r="51845" b="5068"/>
          <a:stretch/>
        </p:blipFill>
        <p:spPr>
          <a:xfrm flipH="1">
            <a:off x="3886830" y="1458680"/>
            <a:ext cx="216024" cy="550958"/>
          </a:xfrm>
          <a:prstGeom prst="rect">
            <a:avLst/>
          </a:prstGeom>
          <a:scene3d>
            <a:camera prst="orthographicFront">
              <a:rot lat="0" lon="0" rev="10799999"/>
            </a:camera>
            <a:lightRig rig="threePt" dir="t"/>
          </a:scene3d>
        </p:spPr>
      </p:pic>
      <p:pic>
        <p:nvPicPr>
          <p:cNvPr id="67" name="Picture 5" descr="Nature.jpg">
            <a:extLst>
              <a:ext uri="{FF2B5EF4-FFF2-40B4-BE49-F238E27FC236}">
                <a16:creationId xmlns:a16="http://schemas.microsoft.com/office/drawing/2014/main" xmlns="" id="{8D901E2C-0456-4BD9-8BBD-93E5FCFFFF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017" y="2726645"/>
            <a:ext cx="1854041" cy="172602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F7C41A91-32A5-4601-AC0E-2971470704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793638"/>
            <a:ext cx="1930834" cy="1448126"/>
          </a:xfrm>
          <a:prstGeom prst="rect">
            <a:avLst/>
          </a:prstGeom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xmlns="" id="{A607B5C5-1C8D-43CF-8FA6-0970C6A00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665017" y="4866055"/>
            <a:ext cx="1795930" cy="1599131"/>
          </a:xfrm>
          <a:prstGeom prst="rect">
            <a:avLst/>
          </a:prstGeom>
          <a:noFill/>
          <a:ln w="3175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xmlns="" id="{1FFF208B-F2CF-4BC1-8555-035B4C08F300}"/>
              </a:ext>
            </a:extLst>
          </p:cNvPr>
          <p:cNvSpPr/>
          <p:nvPr/>
        </p:nvSpPr>
        <p:spPr>
          <a:xfrm>
            <a:off x="6386020" y="4452669"/>
            <a:ext cx="2757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ea typeface="隶书" panose="02010509060101010101" charset="-122"/>
                <a:cs typeface="隶书" panose="02010509060101010101" charset="-122"/>
              </a:rPr>
              <a:t>Molecular Spin Electronics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8DCBDFC-14BC-4284-859B-9E52B1F63FBD}"/>
              </a:ext>
            </a:extLst>
          </p:cNvPr>
          <p:cNvSpPr/>
          <p:nvPr/>
        </p:nvSpPr>
        <p:spPr>
          <a:xfrm>
            <a:off x="6516216" y="2298280"/>
            <a:ext cx="2194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charset="-122"/>
              </a:rPr>
              <a:t>Quantum Computing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F93E8B5-3DBB-4984-8685-B88923088F33}"/>
              </a:ext>
            </a:extLst>
          </p:cNvPr>
          <p:cNvSpPr/>
          <p:nvPr/>
        </p:nvSpPr>
        <p:spPr>
          <a:xfrm>
            <a:off x="6627880" y="6473820"/>
            <a:ext cx="190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charset="-122"/>
                <a:cs typeface="隶书" panose="02010509060101010101" charset="-122"/>
              </a:rPr>
              <a:t>Bistable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charset="-122"/>
                <a:cs typeface="隶书" panose="02010509060101010101" charset="-122"/>
              </a:rPr>
              <a:t> Materials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542670DE-088B-4BB0-8781-CAEFC1541BB1}"/>
              </a:ext>
            </a:extLst>
          </p:cNvPr>
          <p:cNvSpPr txBox="1"/>
          <p:nvPr/>
        </p:nvSpPr>
        <p:spPr>
          <a:xfrm>
            <a:off x="6614645" y="362751"/>
            <a:ext cx="16310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rgbClr val="006600"/>
                </a:solidFill>
                <a:ea typeface="隶书" panose="02010509060101010101" pitchFamily="49" charset="-122"/>
              </a:rPr>
              <a:t>Applications</a:t>
            </a:r>
            <a:endParaRPr lang="zh-CN" altLang="en-US" sz="2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xmlns="" id="{DCECCDA5-4DAE-4DB3-A182-C6EB4A3DB8C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581613" y="4456994"/>
          <a:ext cx="1198299" cy="2216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CS ChemDraw Drawing" r:id="rId10" imgW="1570680" imgH="3202560" progId="ChemDraw.Document.6.0">
                  <p:embed/>
                </p:oleObj>
              </mc:Choice>
              <mc:Fallback>
                <p:oleObj name="CS ChemDraw Drawing" r:id="rId10" imgW="1570680" imgH="3202560" progId="ChemDraw.Document.6.0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xmlns="" id="{DCECCDA5-4DAE-4DB3-A182-C6EB4A3DB8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81613" y="4456994"/>
                        <a:ext cx="1198299" cy="2216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" name="图片 80">
            <a:extLst>
              <a:ext uri="{FF2B5EF4-FFF2-40B4-BE49-F238E27FC236}">
                <a16:creationId xmlns:a16="http://schemas.microsoft.com/office/drawing/2014/main" xmlns="" id="{ED399928-11EF-4D53-B161-7BED7C580EC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34532" y="4734099"/>
            <a:ext cx="2331815" cy="1937864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xmlns="" id="{D4E6AD30-6A1F-498C-B39C-040F90BEB0AF}"/>
              </a:ext>
            </a:extLst>
          </p:cNvPr>
          <p:cNvSpPr/>
          <p:nvPr/>
        </p:nvSpPr>
        <p:spPr>
          <a:xfrm>
            <a:off x="701057" y="6544800"/>
            <a:ext cx="1768092" cy="260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隶书" panose="02010509060101010101" charset="-122"/>
                <a:cs typeface="+mn-cs"/>
              </a:rPr>
              <a:t>Temperature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隶书" panose="02010509060101010101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endParaRPr lang="en-US" altLang="zh-CN" dirty="0">
              <a:ea typeface="黑体" panose="02010609060101010101" pitchFamily="49" charset="-122"/>
            </a:endParaRPr>
          </a:p>
        </p:txBody>
      </p:sp>
      <p:pic>
        <p:nvPicPr>
          <p:cNvPr id="4" name="图片 3" descr="IMG_25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5" y="3645024"/>
            <a:ext cx="3895225" cy="259672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21866" y="85053"/>
            <a:ext cx="2049407" cy="57490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CFM3 Group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8B9602C-F79E-4E33-9873-AD7E69605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682652"/>
            <a:ext cx="2767955" cy="2767955"/>
          </a:xfrm>
          <a:prstGeom prst="rect">
            <a:avLst/>
          </a:prstGeom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xmlns="" id="{4F3FF934-6C94-408C-A208-1ED38549A69E}"/>
              </a:ext>
            </a:extLst>
          </p:cNvPr>
          <p:cNvSpPr txBox="1"/>
          <p:nvPr/>
        </p:nvSpPr>
        <p:spPr>
          <a:xfrm>
            <a:off x="1043608" y="802170"/>
            <a:ext cx="3672408" cy="23821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张元竹</a:t>
            </a:r>
          </a:p>
          <a:p>
            <a:pPr marL="0" lv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复合功能分子磁性材料</a:t>
            </a:r>
            <a:endParaRPr lang="en-US" altLang="zh-CN" sz="24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南方科技大学</a:t>
            </a:r>
            <a:endParaRPr lang="en-US" altLang="zh-CN" sz="24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慧园</a:t>
            </a:r>
            <a:r>
              <a:rPr lang="en-US" altLang="zh-CN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6</a:t>
            </a:r>
            <a:r>
              <a:rPr lang="zh-CN" altLang="en-US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栋</a:t>
            </a:r>
            <a:r>
              <a:rPr lang="en-US" altLang="zh-CN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205</a:t>
            </a:r>
            <a:br>
              <a:rPr lang="en-US" altLang="zh-CN" sz="24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  <a:hlinkClick r:id="rId4"/>
              </a:rPr>
              <a:t>zhangyz@sustc.edu.cn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13728626921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DA2C1075-F091-40EF-9011-DFA03B6D28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570" y="3663852"/>
            <a:ext cx="3895224" cy="259681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OW0417_13_eca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676400" y="-38672"/>
            <a:ext cx="5486400" cy="689018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773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ChangeArrowheads="1"/>
          </p:cNvSpPr>
          <p:nvPr/>
        </p:nvSpPr>
        <p:spPr bwMode="auto">
          <a:xfrm>
            <a:off x="2470150" y="279400"/>
            <a:ext cx="4225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40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Exams and Grading</a:t>
            </a:r>
          </a:p>
        </p:txBody>
      </p:sp>
      <p:sp>
        <p:nvSpPr>
          <p:cNvPr id="11267" name="TextBox 3"/>
          <p:cNvSpPr txBox="1">
            <a:spLocks noChangeArrowheads="1"/>
          </p:cNvSpPr>
          <p:nvPr/>
        </p:nvSpPr>
        <p:spPr bwMode="auto">
          <a:xfrm>
            <a:off x="971550" y="4171950"/>
            <a:ext cx="693266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 10% for performance (attendance, quizzes)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 20% for homework assignment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 30% for midterm exam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 10% for the essay (group project)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 30% for the final exams</a:t>
            </a:r>
          </a:p>
        </p:txBody>
      </p:sp>
      <p:sp>
        <p:nvSpPr>
          <p:cNvPr id="11268" name="TextBox 2"/>
          <p:cNvSpPr txBox="1">
            <a:spLocks noChangeArrowheads="1"/>
          </p:cNvSpPr>
          <p:nvPr/>
        </p:nvSpPr>
        <p:spPr bwMode="auto">
          <a:xfrm>
            <a:off x="163513" y="981075"/>
            <a:ext cx="8980487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q"/>
            </a:pPr>
            <a:r>
              <a:rPr lang="en-US" altLang="zh-CN" sz="3200" dirty="0">
                <a:solidFill>
                  <a:srgbClr val="0000CC"/>
                </a:solidFill>
                <a:latin typeface="Calibri" pitchFamily="34" charset="0"/>
              </a:rPr>
              <a:t> Each week, quiz and homework assignment may be given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altLang="zh-CN" sz="3200" dirty="0">
                <a:solidFill>
                  <a:srgbClr val="0000CC"/>
                </a:solidFill>
                <a:latin typeface="Calibri" pitchFamily="34" charset="0"/>
              </a:rPr>
              <a:t> Midterm and final exams will be given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altLang="zh-CN" sz="3200" dirty="0">
                <a:solidFill>
                  <a:srgbClr val="0000CC"/>
                </a:solidFill>
                <a:latin typeface="Calibri" pitchFamily="34" charset="0"/>
              </a:rPr>
              <a:t> At the end of the semester, every student should turn in an essay with free topics on chemistry 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altLang="zh-CN" sz="3200" dirty="0">
                <a:solidFill>
                  <a:srgbClr val="0000CC"/>
                </a:solidFill>
                <a:latin typeface="Calibri" pitchFamily="34" charset="0"/>
              </a:rPr>
              <a:t> Final course credit will be assigned as following:</a:t>
            </a:r>
          </a:p>
        </p:txBody>
      </p:sp>
    </p:spTree>
    <p:extLst>
      <p:ext uri="{BB962C8B-B14F-4D97-AF65-F5344CB8AC3E}">
        <p14:creationId xmlns:p14="http://schemas.microsoft.com/office/powerpoint/2010/main" val="14435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1"/>
          <p:cNvSpPr>
            <a:spLocks noChangeArrowheads="1"/>
          </p:cNvSpPr>
          <p:nvPr/>
        </p:nvSpPr>
        <p:spPr bwMode="auto">
          <a:xfrm>
            <a:off x="220663" y="260350"/>
            <a:ext cx="856932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A level-Lecture Schedule</a:t>
            </a:r>
            <a:r>
              <a:rPr lang="en-US" altLang="zh-CN" sz="2000" i="1" dirty="0">
                <a:solidFill>
                  <a:srgbClr val="FF0000"/>
                </a:solidFill>
                <a:latin typeface="Calibri" pitchFamily="34" charset="0"/>
              </a:rPr>
              <a:t>(The below schedule may be subject to change if need)</a:t>
            </a:r>
            <a:endParaRPr lang="zh-CN" altLang="zh-CN" sz="2000" dirty="0">
              <a:solidFill>
                <a:srgbClr val="FF0000"/>
              </a:solidFill>
              <a:latin typeface="Calibri" pitchFamily="34" charset="0"/>
            </a:endParaRPr>
          </a:p>
          <a:p>
            <a:endParaRPr lang="zh-CN" altLang="en-US" sz="2800" dirty="0">
              <a:solidFill>
                <a:srgbClr val="FF0000"/>
              </a:solidFill>
              <a:latin typeface="Calibri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221993"/>
              </p:ext>
            </p:extLst>
          </p:nvPr>
        </p:nvGraphicFramePr>
        <p:xfrm>
          <a:off x="323850" y="1031033"/>
          <a:ext cx="8569325" cy="5383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69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3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292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  <a:endParaRPr lang="zh-CN" sz="1800" b="1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  <a:endParaRPr lang="zh-CN" sz="1800" b="1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Topics</a:t>
                      </a:r>
                      <a:endParaRPr lang="zh-CN" sz="1800" b="1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Sep. 3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1: Introduction: Matter and Measurement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Sep. 5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2: Atoms, Molecules and Ions</a:t>
                      </a:r>
                      <a:endParaRPr lang="zh-CN" sz="1600" kern="10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17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Sep. 10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3: Stoichiometry Calculations with Chemical Formulas and Equations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Sep. 12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4: Reactions in Aqueous Solution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3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Sep. 17 and 19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5: Thermochemistry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4,</a:t>
                      </a:r>
                      <a:r>
                        <a:rPr lang="en-US" altLang="zh-CN" sz="1600" kern="100" baseline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 5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Sep. 26 and Oct. 8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Chapter 6: Electronic</a:t>
                      </a:r>
                      <a:r>
                        <a:rPr lang="en-US" altLang="zh-CN" sz="1600" kern="100" baseline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 structure of atoms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5, 6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Oct. 10 and 15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7: Periodic Properties of the Elements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877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6, 7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Oct. 17 and 22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8: Basic Concepts of Chemical Bonding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7, 8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Oct. 24, 29 and 31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Chapter 9: Molecular geometry and bonding theories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671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9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Mid-term examination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41416498-4474-4EC9-87DD-90973516809B}"/>
              </a:ext>
            </a:extLst>
          </p:cNvPr>
          <p:cNvSpPr txBox="1"/>
          <p:nvPr/>
        </p:nvSpPr>
        <p:spPr>
          <a:xfrm>
            <a:off x="8077200" y="6488668"/>
            <a:ext cx="94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Syllabus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642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1"/>
          <p:cNvSpPr>
            <a:spLocks noChangeArrowheads="1"/>
          </p:cNvSpPr>
          <p:nvPr/>
        </p:nvSpPr>
        <p:spPr bwMode="auto">
          <a:xfrm>
            <a:off x="220663" y="260350"/>
            <a:ext cx="856932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itchFamily="34" charset="0"/>
              </a:rPr>
              <a:t>A level-Lecture Schedule</a:t>
            </a:r>
            <a:r>
              <a:rPr lang="en-US" altLang="zh-CN" sz="2000" i="1" dirty="0">
                <a:solidFill>
                  <a:srgbClr val="FF0000"/>
                </a:solidFill>
                <a:latin typeface="Calibri" pitchFamily="34" charset="0"/>
              </a:rPr>
              <a:t>(The below schedule may be subject to change if need)</a:t>
            </a:r>
            <a:endParaRPr lang="zh-CN" altLang="zh-CN" sz="2000" dirty="0">
              <a:solidFill>
                <a:srgbClr val="FF0000"/>
              </a:solidFill>
              <a:latin typeface="Calibri" pitchFamily="34" charset="0"/>
            </a:endParaRPr>
          </a:p>
          <a:p>
            <a:endParaRPr lang="zh-CN" altLang="en-US" sz="2800" dirty="0">
              <a:solidFill>
                <a:srgbClr val="FF0000"/>
              </a:solidFill>
              <a:latin typeface="Calibri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35145"/>
              </p:ext>
            </p:extLst>
          </p:nvPr>
        </p:nvGraphicFramePr>
        <p:xfrm>
          <a:off x="323850" y="1052736"/>
          <a:ext cx="8569325" cy="5133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69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3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3292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  <a:endParaRPr lang="zh-CN" sz="1800" b="1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  <a:endParaRPr lang="zh-CN" sz="1800" b="1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Topics</a:t>
                      </a:r>
                      <a:endParaRPr lang="zh-CN" sz="1800" b="1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9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Nov. 5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11:</a:t>
                      </a:r>
                      <a:r>
                        <a:rPr lang="en-US" altLang="zh-CN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Liquids and Intermolecular Forces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9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Nov. 7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13: Properties of solutions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154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10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Nov. 12 and 14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14: Chemical</a:t>
                      </a:r>
                      <a:r>
                        <a:rPr lang="en-US" sz="1600" kern="0" baseline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 Kinetics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11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Nov. 19 and 21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15: Chemical equilibrium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12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Nov. 26 and 28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16: Acid-base equilibrium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13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Dec. 3 and 5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17: Additional aspects of aqueous</a:t>
                      </a:r>
                      <a:r>
                        <a:rPr lang="en-US" sz="1600" kern="0" baseline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600" kern="0" baseline="0" dirty="0" err="1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equilibria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14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Dec. 10 and 12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19: Chemical thermodynamics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877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15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Dec. 17 and 19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Chapter 20: Electrochemistry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16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Dec. 24 and 26</a:t>
                      </a:r>
                      <a:endParaRPr lang="zh-CN" alt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Chapter 23: Transition metals and coordination chemistry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671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17/18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Final</a:t>
                      </a:r>
                      <a:r>
                        <a:rPr lang="en-US" altLang="zh-CN" sz="1600" kern="100" baseline="0" dirty="0"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  <a:ea typeface="宋体"/>
                        </a:rPr>
                        <a:t> examination</a:t>
                      </a:r>
                      <a:endParaRPr lang="zh-CN" sz="1600" kern="100" dirty="0">
                        <a:solidFill>
                          <a:srgbClr val="0000CC"/>
                        </a:solidFill>
                        <a:effectLst/>
                        <a:latin typeface="Calibri" panose="020F0502020204030204" pitchFamily="34" charset="0"/>
                        <a:ea typeface="宋体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0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5" descr="01_02_Figur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6847" y="533400"/>
            <a:ext cx="7130916" cy="4695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59488" y="1621"/>
            <a:ext cx="6518275" cy="669925"/>
          </a:xfrm>
          <a:prstGeom prst="rect">
            <a:avLst/>
          </a:prstGeo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charset="0"/>
                <a:ea typeface="ＭＳ Ｐゴシック" pitchFamily="48" charset="-128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0000CC"/>
                </a:solidFill>
              </a:rPr>
              <a:t>Chemistry: CHEM is try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xmlns="" id="{9EEFDA5F-2B51-458E-9851-982183D7342E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" y="5105400"/>
            <a:ext cx="8610600" cy="392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Chemistry is the study of </a:t>
            </a:r>
            <a:r>
              <a:rPr lang="en-US" sz="2600" b="1" dirty="0"/>
              <a:t>matter</a:t>
            </a:r>
            <a:r>
              <a:rPr lang="en-US" sz="2600" dirty="0"/>
              <a:t> and the </a:t>
            </a:r>
            <a:r>
              <a:rPr lang="en-US" sz="2600" b="1" dirty="0"/>
              <a:t>changes </a:t>
            </a:r>
            <a:r>
              <a:rPr lang="en-US" sz="2600" dirty="0"/>
              <a:t>that it undergoes. </a:t>
            </a:r>
          </a:p>
          <a:p>
            <a:r>
              <a:rPr lang="en-US" sz="2600" dirty="0"/>
              <a:t>It is central to our fundamental understanding of many science-related fields.</a:t>
            </a:r>
          </a:p>
        </p:txBody>
      </p:sp>
    </p:spTree>
    <p:extLst>
      <p:ext uri="{BB962C8B-B14F-4D97-AF65-F5344CB8AC3E}">
        <p14:creationId xmlns:p14="http://schemas.microsoft.com/office/powerpoint/2010/main" val="9850087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Matter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077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600" dirty="0"/>
              <a:t>	</a:t>
            </a:r>
            <a:r>
              <a:rPr lang="en-US" sz="2600" b="1" dirty="0"/>
              <a:t>Matter</a:t>
            </a:r>
            <a:r>
              <a:rPr lang="en-US" sz="2600" dirty="0"/>
              <a:t> is anything that has </a:t>
            </a:r>
            <a:r>
              <a:rPr lang="en-US" sz="2600" u="sng" dirty="0"/>
              <a:t>mass</a:t>
            </a:r>
            <a:r>
              <a:rPr lang="en-US" sz="2600" dirty="0"/>
              <a:t> and </a:t>
            </a:r>
            <a:r>
              <a:rPr lang="en-US" sz="2600" u="sng" dirty="0"/>
              <a:t>takes up space</a:t>
            </a:r>
            <a:r>
              <a:rPr lang="en-US" sz="2600" dirty="0"/>
              <a:t>.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75855" y="2209800"/>
            <a:ext cx="7696200" cy="83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  <a:defRPr/>
            </a:pPr>
            <a:r>
              <a:rPr lang="en-US" sz="2400" b="0" dirty="0">
                <a:latin typeface="+mj-lt"/>
                <a:ea typeface="宋体" pitchFamily="2" charset="-122"/>
              </a:rPr>
              <a:t>Air, water, coffee, fire, human beings, and stars are matter. Light, X-rays, photons, information, and love are not matter. 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685800" y="3735388"/>
            <a:ext cx="8093074" cy="2208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Atoms</a:t>
            </a:r>
            <a:r>
              <a:rPr lang="en-US" sz="2600" dirty="0"/>
              <a:t> are the building blocks of matter.</a:t>
            </a:r>
          </a:p>
          <a:p>
            <a:r>
              <a:rPr lang="en-US" sz="2600" dirty="0"/>
              <a:t>Each </a:t>
            </a:r>
            <a:r>
              <a:rPr lang="en-US" sz="2600" b="1" dirty="0"/>
              <a:t>element (</a:t>
            </a:r>
            <a:r>
              <a:rPr lang="zh-CN" altLang="en-US" sz="2600" b="1" dirty="0"/>
              <a:t>单质</a:t>
            </a:r>
            <a:r>
              <a:rPr lang="en-US" sz="2600" b="1" dirty="0"/>
              <a:t>)</a:t>
            </a:r>
            <a:r>
              <a:rPr lang="en-US" sz="2600" dirty="0"/>
              <a:t> is made of a unique kind of atom.</a:t>
            </a:r>
          </a:p>
          <a:p>
            <a:r>
              <a:rPr lang="en-US" sz="2600" dirty="0"/>
              <a:t>A </a:t>
            </a:r>
            <a:r>
              <a:rPr lang="en-US" sz="2600" b="1" dirty="0"/>
              <a:t>compound (</a:t>
            </a:r>
            <a:r>
              <a:rPr lang="zh-CN" altLang="en-US" sz="2600" b="1" dirty="0"/>
              <a:t>化合物</a:t>
            </a:r>
            <a:r>
              <a:rPr lang="en-US" sz="2600" b="1" dirty="0"/>
              <a:t>)</a:t>
            </a:r>
            <a:r>
              <a:rPr lang="en-US" sz="2600" dirty="0"/>
              <a:t> is made o</a:t>
            </a:r>
            <a:r>
              <a:rPr lang="en-US" altLang="zh-CN" sz="2600" dirty="0"/>
              <a:t>f </a:t>
            </a:r>
            <a:r>
              <a:rPr lang="en-US" sz="2600" dirty="0"/>
              <a:t>two or more different kinds of elements.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124998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Methods of Classification</a:t>
            </a:r>
          </a:p>
        </p:txBody>
      </p:sp>
      <p:sp>
        <p:nvSpPr>
          <p:cNvPr id="38915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of Matter  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C00000"/>
                </a:solidFill>
              </a:rPr>
              <a:t>Macroscopic</a:t>
            </a:r>
            <a:r>
              <a:rPr lang="en-US" altLang="zh-CN" dirty="0"/>
              <a:t>)</a:t>
            </a:r>
            <a:endParaRPr lang="en-US" dirty="0"/>
          </a:p>
          <a:p>
            <a:pPr eaLnBrk="1" hangingPunct="1"/>
            <a:r>
              <a:rPr lang="en-US" dirty="0"/>
              <a:t>Composition of Matter (</a:t>
            </a:r>
            <a:r>
              <a:rPr lang="en-US" altLang="zh-CN" dirty="0">
                <a:solidFill>
                  <a:srgbClr val="C00000"/>
                </a:solidFill>
              </a:rPr>
              <a:t>submicroscopic</a:t>
            </a:r>
            <a:r>
              <a:rPr lang="en-US" altLang="zh-CN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1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</a:rPr>
              <a:t>States of Matter</a:t>
            </a:r>
            <a:endParaRPr lang="en-US" dirty="0"/>
          </a:p>
        </p:txBody>
      </p:sp>
      <p:sp>
        <p:nvSpPr>
          <p:cNvPr id="39939" name="Content Placeholder 6"/>
          <p:cNvSpPr>
            <a:spLocks noGrp="1"/>
          </p:cNvSpPr>
          <p:nvPr>
            <p:ph idx="1"/>
          </p:nvPr>
        </p:nvSpPr>
        <p:spPr>
          <a:xfrm>
            <a:off x="4895850" y="1427162"/>
            <a:ext cx="3576638" cy="5126038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Ø"/>
            </a:pPr>
            <a:r>
              <a:rPr lang="en-US" dirty="0"/>
              <a:t>The three states of matter are</a:t>
            </a:r>
          </a:p>
          <a:p>
            <a:pPr marL="914400" lvl="1" indent="-514350" eaLnBrk="1" hangingPunct="1">
              <a:buFontTx/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solid.</a:t>
            </a:r>
          </a:p>
          <a:p>
            <a:pPr marL="914400" lvl="1" indent="-514350" eaLnBrk="1" hangingPunct="1">
              <a:buFontTx/>
              <a:buAutoNum type="arabicParenR"/>
            </a:pPr>
            <a:r>
              <a:rPr lang="en-US" dirty="0">
                <a:solidFill>
                  <a:srgbClr val="00B050"/>
                </a:solidFill>
              </a:rPr>
              <a:t>liquid.</a:t>
            </a:r>
          </a:p>
          <a:p>
            <a:pPr marL="914400" lvl="1" indent="-514350" eaLnBrk="1" hangingPunct="1">
              <a:buFontTx/>
              <a:buAutoNum type="arabicParenR"/>
            </a:pPr>
            <a:r>
              <a:rPr lang="en-US" dirty="0">
                <a:solidFill>
                  <a:srgbClr val="416BB3"/>
                </a:solidFill>
              </a:rPr>
              <a:t>gas.</a:t>
            </a:r>
          </a:p>
          <a:p>
            <a:pPr eaLnBrk="1" hangingPunct="1">
              <a:buFont typeface="Wingdings" pitchFamily="-104" charset="2"/>
              <a:buChar char="Ø"/>
            </a:pPr>
            <a:r>
              <a:rPr lang="en-US" dirty="0"/>
              <a:t>In this figure, those states are </a:t>
            </a:r>
            <a:r>
              <a:rPr lang="en-US" dirty="0">
                <a:solidFill>
                  <a:srgbClr val="FF0000"/>
                </a:solidFill>
              </a:rPr>
              <a:t>ice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liquid water</a:t>
            </a:r>
            <a:r>
              <a:rPr lang="en-US" dirty="0"/>
              <a:t>, and </a:t>
            </a:r>
            <a:r>
              <a:rPr lang="en-US" dirty="0">
                <a:solidFill>
                  <a:srgbClr val="416BB3"/>
                </a:solidFill>
              </a:rPr>
              <a:t>water vapor</a:t>
            </a:r>
            <a:r>
              <a:rPr lang="en-US" dirty="0"/>
              <a:t>.</a:t>
            </a:r>
          </a:p>
        </p:txBody>
      </p:sp>
      <p:pic>
        <p:nvPicPr>
          <p:cNvPr id="39940" name="Picture 5" descr="01_04_Figure.jpg"/>
          <p:cNvPicPr>
            <a:picLocks noChangeAspect="1"/>
          </p:cNvPicPr>
          <p:nvPr/>
        </p:nvPicPr>
        <p:blipFill>
          <a:blip r:embed="rId2" cstate="print"/>
          <a:srcRect b="2409"/>
          <a:stretch>
            <a:fillRect/>
          </a:stretch>
        </p:blipFill>
        <p:spPr bwMode="auto">
          <a:xfrm>
            <a:off x="615950" y="1447800"/>
            <a:ext cx="4151313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3144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01_05_Fig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3437"/>
            <a:ext cx="9099550" cy="362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245755" y="2126396"/>
            <a:ext cx="5536045" cy="830998"/>
            <a:chOff x="1245755" y="2126396"/>
            <a:chExt cx="5536045" cy="830998"/>
          </a:xfrm>
        </p:grpSpPr>
        <p:sp>
          <p:nvSpPr>
            <p:cNvPr id="6" name="TextBox 5"/>
            <p:cNvSpPr txBox="1"/>
            <p:nvPr/>
          </p:nvSpPr>
          <p:spPr>
            <a:xfrm>
              <a:off x="1245755" y="2126397"/>
              <a:ext cx="2082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70C0"/>
                  </a:solidFill>
                </a:rPr>
                <a:t>Element </a:t>
              </a:r>
            </a:p>
            <a:p>
              <a:pPr algn="ctr"/>
              <a:r>
                <a:rPr lang="zh-CN" altLang="en-US" sz="2400" b="1" dirty="0">
                  <a:solidFill>
                    <a:srgbClr val="0070C0"/>
                  </a:solidFill>
                </a:rPr>
                <a:t>单质</a:t>
              </a:r>
              <a:endParaRPr lang="en-US" sz="2400" b="1" dirty="0">
                <a:solidFill>
                  <a:srgbClr val="0070C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66755" y="2126396"/>
              <a:ext cx="26150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70C0"/>
                  </a:solidFill>
                </a:rPr>
                <a:t>Compound</a:t>
              </a:r>
            </a:p>
            <a:p>
              <a:pPr algn="ctr"/>
              <a:r>
                <a:rPr lang="zh-CN" altLang="en-US" sz="2400" b="1" dirty="0">
                  <a:solidFill>
                    <a:srgbClr val="0070C0"/>
                  </a:solidFill>
                </a:rPr>
                <a:t>化合物</a:t>
              </a:r>
              <a:endParaRPr lang="en-US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826250" y="1295400"/>
            <a:ext cx="2393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Mixture</a:t>
            </a:r>
          </a:p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混合物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5999" y="1295399"/>
            <a:ext cx="2562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(Pure) Substance</a:t>
            </a:r>
          </a:p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纯净物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826250" y="1417638"/>
            <a:ext cx="0" cy="544036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Classification of Matter </a:t>
            </a:r>
            <a:br>
              <a:rPr lang="en-US" dirty="0"/>
            </a:br>
            <a:r>
              <a:rPr lang="en-US" dirty="0"/>
              <a:t>Based on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0" y="2249269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Homogeneous</a:t>
            </a:r>
          </a:p>
          <a:p>
            <a:r>
              <a:rPr lang="en-US" altLang="zh-CN" b="1" dirty="0">
                <a:solidFill>
                  <a:srgbClr val="0070C0"/>
                </a:solidFill>
              </a:rPr>
              <a:t>Heterogeneous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63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Classification of Matter—Substances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746125" y="1216025"/>
            <a:ext cx="7934325" cy="4837113"/>
          </a:xfrm>
        </p:spPr>
        <p:txBody>
          <a:bodyPr/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substance</a:t>
            </a:r>
            <a:r>
              <a:rPr lang="en-US" dirty="0"/>
              <a:t> has distinct properties and a composition that does not vary from sample to sample.</a:t>
            </a:r>
          </a:p>
          <a:p>
            <a:pPr eaLnBrk="1" hangingPunct="1"/>
            <a:r>
              <a:rPr lang="en-US" dirty="0"/>
              <a:t>The two types of substances are </a:t>
            </a:r>
            <a:r>
              <a:rPr lang="en-US" b="1" dirty="0"/>
              <a:t>elements</a:t>
            </a:r>
            <a:r>
              <a:rPr lang="en-US" dirty="0"/>
              <a:t> and </a:t>
            </a:r>
            <a:r>
              <a:rPr lang="en-US" b="1" dirty="0"/>
              <a:t>compounds</a:t>
            </a:r>
            <a:r>
              <a:rPr lang="en-US" dirty="0"/>
              <a:t>.</a:t>
            </a:r>
          </a:p>
          <a:p>
            <a:pPr eaLnBrk="1" hangingPunct="1">
              <a:buClr>
                <a:srgbClr val="002060"/>
              </a:buClr>
              <a:buFont typeface="Wingdings" pitchFamily="-104" charset="2"/>
              <a:buChar char="Ø"/>
            </a:pPr>
            <a:r>
              <a:rPr lang="en-US" dirty="0"/>
              <a:t>An </a:t>
            </a:r>
            <a:r>
              <a:rPr lang="en-US" b="1" dirty="0"/>
              <a:t>element </a:t>
            </a:r>
            <a:r>
              <a:rPr lang="en-US" dirty="0"/>
              <a:t>is a substance which can </a:t>
            </a:r>
            <a:r>
              <a:rPr lang="en-US" i="1" dirty="0"/>
              <a:t>not</a:t>
            </a:r>
            <a:r>
              <a:rPr lang="en-US" dirty="0"/>
              <a:t> be decomposed to simpler substances.</a:t>
            </a:r>
          </a:p>
          <a:p>
            <a:pPr eaLnBrk="1" hangingPunct="1">
              <a:buClr>
                <a:srgbClr val="002060"/>
              </a:buClr>
              <a:buFont typeface="Wingdings" pitchFamily="-104" charset="2"/>
              <a:buChar char="Ø"/>
            </a:pPr>
            <a:r>
              <a:rPr lang="en-US" dirty="0"/>
              <a:t>A </a:t>
            </a:r>
            <a:r>
              <a:rPr lang="en-US" b="1" dirty="0"/>
              <a:t>compound</a:t>
            </a:r>
            <a:r>
              <a:rPr lang="en-US" dirty="0"/>
              <a:t> is a substance which </a:t>
            </a:r>
            <a:r>
              <a:rPr lang="en-US" i="1" dirty="0"/>
              <a:t>can</a:t>
            </a:r>
            <a:r>
              <a:rPr lang="en-US" dirty="0"/>
              <a:t> be decomposed to simpler substances.</a:t>
            </a:r>
          </a:p>
        </p:txBody>
      </p:sp>
    </p:spTree>
    <p:extLst>
      <p:ext uri="{BB962C8B-B14F-4D97-AF65-F5344CB8AC3E}">
        <p14:creationId xmlns:p14="http://schemas.microsoft.com/office/powerpoint/2010/main" val="394078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b="1" dirty="0"/>
              <a:t>Compounds</a:t>
            </a:r>
            <a:r>
              <a:rPr lang="en-US" dirty="0"/>
              <a:t> and Composition</a:t>
            </a:r>
          </a:p>
        </p:txBody>
      </p:sp>
      <p:sp>
        <p:nvSpPr>
          <p:cNvPr id="44035" name="Text Placeholder 8"/>
          <p:cNvSpPr>
            <a:spLocks noGrp="1"/>
          </p:cNvSpPr>
          <p:nvPr>
            <p:ph idx="1"/>
          </p:nvPr>
        </p:nvSpPr>
        <p:spPr>
          <a:xfrm>
            <a:off x="239713" y="1109663"/>
            <a:ext cx="8693150" cy="3025775"/>
          </a:xfrm>
        </p:spPr>
        <p:txBody>
          <a:bodyPr/>
          <a:lstStyle/>
          <a:p>
            <a:r>
              <a:rPr lang="en-US" sz="2600" u="sng" dirty="0"/>
              <a:t>Compounds have a definite composition</a:t>
            </a:r>
            <a:r>
              <a:rPr lang="en-US" sz="2600" dirty="0"/>
              <a:t>. That means that the relative number of atoms of each element that makes up the compound is the same in any sample.</a:t>
            </a:r>
          </a:p>
          <a:p>
            <a:r>
              <a:rPr lang="en-US" sz="2600" dirty="0"/>
              <a:t>This is </a:t>
            </a:r>
            <a:r>
              <a:rPr lang="en-US" sz="2600" b="1" dirty="0"/>
              <a:t>The Law of Constant Composition </a:t>
            </a:r>
            <a:r>
              <a:rPr lang="en-US" sz="2600" dirty="0"/>
              <a:t>(or </a:t>
            </a:r>
            <a:r>
              <a:rPr lang="en-US" sz="2600" b="1" dirty="0"/>
              <a:t>The Law of Definite Proportions </a:t>
            </a:r>
            <a:r>
              <a:rPr lang="zh-CN" altLang="en-US" sz="2600" b="1" dirty="0"/>
              <a:t>定比定律</a:t>
            </a:r>
            <a:r>
              <a:rPr lang="en-US" sz="2600" dirty="0"/>
              <a:t>).</a:t>
            </a:r>
          </a:p>
          <a:p>
            <a:endParaRPr lang="en-US" sz="2600" dirty="0"/>
          </a:p>
        </p:txBody>
      </p:sp>
      <p:pic>
        <p:nvPicPr>
          <p:cNvPr id="2" name="Picture 1" descr="01_Pg9_UnFigure_1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" t="-14530" r="-298" b="14530"/>
          <a:stretch/>
        </p:blipFill>
        <p:spPr>
          <a:xfrm>
            <a:off x="330200" y="3871905"/>
            <a:ext cx="8534400" cy="11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7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</a:rPr>
              <a:t>Classification of Matter—</a:t>
            </a:r>
            <a:r>
              <a:rPr lang="en-US" b="1" dirty="0">
                <a:solidFill>
                  <a:srgbClr val="000000"/>
                </a:solidFill>
              </a:rPr>
              <a:t>Mixtures</a:t>
            </a:r>
            <a:endParaRPr lang="en-US" b="1" dirty="0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615950" y="1676400"/>
            <a:ext cx="7772400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b="1" dirty="0"/>
              <a:t>Mixtures</a:t>
            </a:r>
            <a:r>
              <a:rPr lang="en-US" dirty="0"/>
              <a:t> exhibit the properties of the substances that make them up.</a:t>
            </a:r>
          </a:p>
          <a:p>
            <a:pPr eaLnBrk="1" hangingPunct="1"/>
            <a:r>
              <a:rPr lang="en-US" dirty="0"/>
              <a:t>Mixtures can vary in composition throughout a sample (</a:t>
            </a:r>
            <a:r>
              <a:rPr lang="en-US" b="1" dirty="0"/>
              <a:t>heterogeneous</a:t>
            </a:r>
            <a:r>
              <a:rPr lang="en-US" dirty="0"/>
              <a:t>) or can have the same composition throughout the sample (</a:t>
            </a:r>
            <a:r>
              <a:rPr lang="en-US" b="1" dirty="0"/>
              <a:t>homogeneous</a:t>
            </a:r>
            <a:r>
              <a:rPr lang="en-US" dirty="0"/>
              <a:t>).</a:t>
            </a:r>
          </a:p>
          <a:p>
            <a:pPr eaLnBrk="1" hangingPunct="1"/>
            <a:r>
              <a:rPr lang="en-US" dirty="0"/>
              <a:t>Another name for a homogeneous mixture is </a:t>
            </a:r>
            <a:r>
              <a:rPr lang="en-US" b="1" dirty="0"/>
              <a:t>solution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42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Classification of Matter </a:t>
            </a:r>
            <a:br>
              <a:rPr lang="en-US" dirty="0"/>
            </a:br>
            <a:r>
              <a:rPr lang="en-US" dirty="0"/>
              <a:t>Based on Composition</a:t>
            </a:r>
          </a:p>
        </p:txBody>
      </p:sp>
      <p:grpSp>
        <p:nvGrpSpPr>
          <p:cNvPr id="40963" name="Group 7"/>
          <p:cNvGrpSpPr>
            <a:grpSpLocks/>
          </p:cNvGrpSpPr>
          <p:nvPr/>
        </p:nvGrpSpPr>
        <p:grpSpPr bwMode="auto">
          <a:xfrm>
            <a:off x="7889875" y="5619750"/>
            <a:ext cx="1271588" cy="1238250"/>
            <a:chOff x="4970" y="3540"/>
            <a:chExt cx="801" cy="780"/>
          </a:xfrm>
        </p:grpSpPr>
        <p:pic>
          <p:nvPicPr>
            <p:cNvPr id="40966" name="Picture 8" descr="Triangle--Gra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73" y="3540"/>
              <a:ext cx="780" cy="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7" name="Rectangle 9"/>
            <p:cNvSpPr>
              <a:spLocks noChangeArrowheads="1"/>
            </p:cNvSpPr>
            <p:nvPr/>
          </p:nvSpPr>
          <p:spPr bwMode="auto">
            <a:xfrm>
              <a:off x="4970" y="3718"/>
              <a:ext cx="801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/>
                <a:t>Matter</a:t>
              </a:r>
            </a:p>
            <a:p>
              <a:pPr algn="ctr"/>
              <a:r>
                <a:rPr lang="en-US" sz="1400"/>
                <a:t>And</a:t>
              </a:r>
            </a:p>
            <a:p>
              <a:pPr algn="ctr"/>
              <a:r>
                <a:rPr lang="en-US" sz="1400"/>
                <a:t>Measurement</a:t>
              </a:r>
            </a:p>
          </p:txBody>
        </p:sp>
      </p:grpSp>
      <p:sp>
        <p:nvSpPr>
          <p:cNvPr id="40964" name="TextBox 1"/>
          <p:cNvSpPr txBox="1">
            <a:spLocks noChangeArrowheads="1"/>
          </p:cNvSpPr>
          <p:nvPr/>
        </p:nvSpPr>
        <p:spPr bwMode="auto">
          <a:xfrm>
            <a:off x="6019800" y="2286000"/>
            <a:ext cx="280035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rgbClr val="003300"/>
              </a:buClr>
              <a:buFont typeface="Wingdings" pitchFamily="-104" charset="2"/>
              <a:buChar char="v"/>
            </a:pPr>
            <a:r>
              <a:rPr lang="en-US" dirty="0"/>
              <a:t>If you follow this scheme, you can determine how to classify any type of matter. </a:t>
            </a:r>
          </a:p>
          <a:p>
            <a:pPr marL="342900" indent="-342900">
              <a:buClr>
                <a:srgbClr val="003300"/>
              </a:buClr>
              <a:buFont typeface="Wingdings" pitchFamily="-104" charset="2"/>
              <a:buChar char="v"/>
            </a:pPr>
            <a:endParaRPr lang="en-US" dirty="0"/>
          </a:p>
          <a:p>
            <a:pPr>
              <a:buClr>
                <a:srgbClr val="003300"/>
              </a:buClr>
            </a:pPr>
            <a:endParaRPr lang="en-US" dirty="0"/>
          </a:p>
          <a:p>
            <a:pPr marL="342900" indent="-342900">
              <a:buClr>
                <a:srgbClr val="003300"/>
              </a:buClr>
              <a:buFont typeface="Wingdings" pitchFamily="-104" charset="2"/>
              <a:buChar char="Ø"/>
            </a:pPr>
            <a:r>
              <a:rPr lang="en-US" dirty="0"/>
              <a:t>Homogeneous mixture</a:t>
            </a:r>
          </a:p>
          <a:p>
            <a:pPr marL="342900" indent="-342900">
              <a:buClr>
                <a:srgbClr val="003300"/>
              </a:buClr>
              <a:buFont typeface="Wingdings" pitchFamily="-104" charset="2"/>
              <a:buChar char="Ø"/>
            </a:pPr>
            <a:r>
              <a:rPr lang="en-US" dirty="0"/>
              <a:t>Heterogeneous mixture</a:t>
            </a:r>
          </a:p>
          <a:p>
            <a:pPr marL="342900" indent="-342900">
              <a:buClr>
                <a:srgbClr val="003300"/>
              </a:buClr>
              <a:buFont typeface="Wingdings" pitchFamily="-104" charset="2"/>
              <a:buChar char="Ø"/>
            </a:pPr>
            <a:r>
              <a:rPr lang="en-US" dirty="0"/>
              <a:t>Element</a:t>
            </a:r>
          </a:p>
          <a:p>
            <a:pPr marL="342900" indent="-342900">
              <a:buClr>
                <a:srgbClr val="003300"/>
              </a:buClr>
              <a:buFont typeface="Wingdings" pitchFamily="-104" charset="2"/>
              <a:buChar char="Ø"/>
            </a:pPr>
            <a:r>
              <a:rPr lang="en-US" dirty="0"/>
              <a:t>Compound</a:t>
            </a:r>
          </a:p>
        </p:txBody>
      </p:sp>
      <p:pic>
        <p:nvPicPr>
          <p:cNvPr id="40965" name="Picture 8" descr="01_09_Figure.jpg"/>
          <p:cNvPicPr>
            <a:picLocks noChangeAspect="1"/>
          </p:cNvPicPr>
          <p:nvPr/>
        </p:nvPicPr>
        <p:blipFill>
          <a:blip r:embed="rId4" cstate="print"/>
          <a:srcRect b="2599"/>
          <a:stretch>
            <a:fillRect/>
          </a:stretch>
        </p:blipFill>
        <p:spPr bwMode="auto">
          <a:xfrm>
            <a:off x="398463" y="1619250"/>
            <a:ext cx="5583237" cy="437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695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Apple juice is an example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of a(an)</a:t>
            </a: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element.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compound.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homogeneous mixture.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heterogeneous mixture.</a:t>
            </a:r>
          </a:p>
        </p:txBody>
      </p:sp>
    </p:spTree>
    <p:extLst>
      <p:ext uri="{BB962C8B-B14F-4D97-AF65-F5344CB8AC3E}">
        <p14:creationId xmlns:p14="http://schemas.microsoft.com/office/powerpoint/2010/main" val="429410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Apple juice is an example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of a(an)</a:t>
            </a:r>
          </a:p>
        </p:txBody>
      </p:sp>
      <p:sp>
        <p:nvSpPr>
          <p:cNvPr id="19459" name="Subtitle 2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element.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compound.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homogeneous mixture.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heterogeneous mixture.</a:t>
            </a:r>
          </a:p>
        </p:txBody>
      </p:sp>
    </p:spTree>
    <p:extLst>
      <p:ext uri="{BB962C8B-B14F-4D97-AF65-F5344CB8AC3E}">
        <p14:creationId xmlns:p14="http://schemas.microsoft.com/office/powerpoint/2010/main" val="68123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22860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of the following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not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a pure substance?</a:t>
            </a:r>
          </a:p>
        </p:txBody>
      </p:sp>
      <p:sp>
        <p:nvSpPr>
          <p:cNvPr id="21507" name="Subtitle 2"/>
          <p:cNvSpPr>
            <a:spLocks noGrp="1"/>
          </p:cNvSpPr>
          <p:nvPr>
            <p:ph type="subTitle" idx="1"/>
          </p:nvPr>
        </p:nvSpPr>
        <p:spPr>
          <a:xfrm>
            <a:off x="1219200" y="2971800"/>
            <a:ext cx="65532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water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carbon dioxide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carbon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air</a:t>
            </a:r>
          </a:p>
        </p:txBody>
      </p:sp>
    </p:spTree>
    <p:extLst>
      <p:ext uri="{BB962C8B-B14F-4D97-AF65-F5344CB8AC3E}">
        <p14:creationId xmlns:p14="http://schemas.microsoft.com/office/powerpoint/2010/main" val="16204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22860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of the following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not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a pure substance?</a:t>
            </a:r>
          </a:p>
        </p:txBody>
      </p:sp>
      <p:sp>
        <p:nvSpPr>
          <p:cNvPr id="23555" name="Subtitle 2"/>
          <p:cNvSpPr>
            <a:spLocks noGrp="1"/>
          </p:cNvSpPr>
          <p:nvPr>
            <p:ph type="subTitle" idx="1"/>
          </p:nvPr>
        </p:nvSpPr>
        <p:spPr>
          <a:xfrm>
            <a:off x="1219200" y="2971800"/>
            <a:ext cx="65532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water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carbon dioxide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carbon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air</a:t>
            </a:r>
          </a:p>
        </p:txBody>
      </p:sp>
    </p:spTree>
    <p:extLst>
      <p:ext uri="{BB962C8B-B14F-4D97-AF65-F5344CB8AC3E}">
        <p14:creationId xmlns:p14="http://schemas.microsoft.com/office/powerpoint/2010/main" val="351725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Solutions may be</a:t>
            </a:r>
          </a:p>
        </p:txBody>
      </p:sp>
      <p:sp>
        <p:nvSpPr>
          <p:cNvPr id="25603" name="Subtitle 2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solids.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liquids.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gases.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335166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Solutions may be</a:t>
            </a:r>
          </a:p>
        </p:txBody>
      </p:sp>
      <p:sp>
        <p:nvSpPr>
          <p:cNvPr id="27651" name="Subtitle 2"/>
          <p:cNvSpPr>
            <a:spLocks noGrp="1"/>
          </p:cNvSpPr>
          <p:nvPr>
            <p:ph type="subTitle" idx="1"/>
          </p:nvPr>
        </p:nvSpPr>
        <p:spPr>
          <a:xfrm>
            <a:off x="1143000" y="2362200"/>
            <a:ext cx="6629400" cy="3276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solids.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liquids.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gases.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330303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Types of </a:t>
            </a:r>
            <a:r>
              <a:rPr lang="en-US" dirty="0">
                <a:solidFill>
                  <a:srgbClr val="FF0000"/>
                </a:solidFill>
              </a:rPr>
              <a:t>Properties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7125"/>
            <a:ext cx="7772400" cy="4740275"/>
          </a:xfrm>
        </p:spPr>
        <p:txBody>
          <a:bodyPr/>
          <a:lstStyle/>
          <a:p>
            <a:pPr eaLnBrk="1" hangingPunct="1"/>
            <a:r>
              <a:rPr lang="en-US" b="1" dirty="0"/>
              <a:t>Physical Properties </a:t>
            </a:r>
            <a:r>
              <a:rPr lang="en-US" dirty="0"/>
              <a:t>can be observed without changing a substance into another substance.</a:t>
            </a:r>
          </a:p>
          <a:p>
            <a:pPr lvl="2" eaLnBrk="1" hangingPunct="1">
              <a:buFont typeface="Arial" pitchFamily="-104" charset="0"/>
              <a:buChar char="◦"/>
            </a:pPr>
            <a:r>
              <a:rPr lang="en-US" dirty="0"/>
              <a:t>Some examples include boiling point, density, mass, or volume.</a:t>
            </a:r>
          </a:p>
          <a:p>
            <a:pPr eaLnBrk="1" hangingPunct="1"/>
            <a:r>
              <a:rPr lang="en-US" b="1" dirty="0"/>
              <a:t>Chemical Properties </a:t>
            </a:r>
            <a:r>
              <a:rPr lang="en-US" dirty="0"/>
              <a:t>can </a:t>
            </a:r>
            <a:r>
              <a:rPr lang="en-US" i="1" dirty="0"/>
              <a:t>only</a:t>
            </a:r>
            <a:r>
              <a:rPr lang="en-US" dirty="0"/>
              <a:t> be observed when a substance is changed into another substance.</a:t>
            </a:r>
          </a:p>
          <a:p>
            <a:pPr lvl="2" eaLnBrk="1" hangingPunct="1">
              <a:buFont typeface="Arial" pitchFamily="-104" charset="0"/>
              <a:buChar char="◦"/>
            </a:pPr>
            <a:r>
              <a:rPr lang="en-US" dirty="0"/>
              <a:t>Some examples include flammability, corrosiveness, or reactivity with acid.</a:t>
            </a:r>
          </a:p>
        </p:txBody>
      </p:sp>
    </p:spTree>
    <p:extLst>
      <p:ext uri="{BB962C8B-B14F-4D97-AF65-F5344CB8AC3E}">
        <p14:creationId xmlns:p14="http://schemas.microsoft.com/office/powerpoint/2010/main" val="32924482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Types of </a:t>
            </a:r>
            <a:r>
              <a:rPr lang="en-US" dirty="0">
                <a:solidFill>
                  <a:srgbClr val="FF0000"/>
                </a:solidFill>
              </a:rPr>
              <a:t>Properties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b="1" dirty="0"/>
              <a:t>Intensive Properties (</a:t>
            </a:r>
            <a:r>
              <a:rPr lang="zh-CN" altLang="en-US" b="1" dirty="0"/>
              <a:t>强度性质</a:t>
            </a:r>
            <a:r>
              <a:rPr lang="en-US" b="1" dirty="0"/>
              <a:t>) </a:t>
            </a:r>
          </a:p>
          <a:p>
            <a:pPr marL="0" indent="0" eaLnBrk="1" hangingPunct="1">
              <a:buNone/>
            </a:pPr>
            <a:r>
              <a:rPr lang="en-US" dirty="0"/>
              <a:t>are independent of the amount of the substance that is present.</a:t>
            </a:r>
          </a:p>
          <a:p>
            <a:pPr lvl="2" eaLnBrk="1" hangingPunct="1">
              <a:buFont typeface="Arial" pitchFamily="-104" charset="0"/>
              <a:buChar char="◦"/>
            </a:pPr>
            <a:r>
              <a:rPr lang="en-US" dirty="0"/>
              <a:t>Examples include density, boiling point, or color.</a:t>
            </a:r>
          </a:p>
          <a:p>
            <a:pPr lvl="2" eaLnBrk="1" hangingPunct="1">
              <a:buFont typeface="Arial" pitchFamily="-104" charset="0"/>
              <a:buChar char="◦"/>
            </a:pPr>
            <a:endParaRPr lang="en-US" dirty="0"/>
          </a:p>
          <a:p>
            <a:pPr eaLnBrk="1" hangingPunct="1"/>
            <a:r>
              <a:rPr lang="en-US" b="1" dirty="0"/>
              <a:t>Extensive Properties (</a:t>
            </a:r>
            <a:r>
              <a:rPr lang="zh-CN" altLang="en-US" b="1" dirty="0"/>
              <a:t>广延性质</a:t>
            </a:r>
            <a:r>
              <a:rPr lang="en-US" b="1" dirty="0"/>
              <a:t>) </a:t>
            </a:r>
          </a:p>
          <a:p>
            <a:pPr marL="0" indent="0" eaLnBrk="1" hangingPunct="1">
              <a:buNone/>
            </a:pPr>
            <a:r>
              <a:rPr lang="en-US" dirty="0"/>
              <a:t>depend upon the amount of the substance present.</a:t>
            </a:r>
          </a:p>
          <a:p>
            <a:pPr lvl="2" eaLnBrk="1" hangingPunct="1">
              <a:buFont typeface="Arial" pitchFamily="-104" charset="0"/>
              <a:buChar char="◦"/>
            </a:pPr>
            <a:r>
              <a:rPr lang="en-US" dirty="0"/>
              <a:t>Examples include mass, volume, or energy.</a:t>
            </a:r>
          </a:p>
        </p:txBody>
      </p:sp>
    </p:spTree>
    <p:extLst>
      <p:ext uri="{BB962C8B-B14F-4D97-AF65-F5344CB8AC3E}">
        <p14:creationId xmlns:p14="http://schemas.microsoft.com/office/powerpoint/2010/main" val="14008513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Types of </a:t>
            </a:r>
            <a:r>
              <a:rPr lang="en-US" dirty="0">
                <a:solidFill>
                  <a:srgbClr val="FF0000"/>
                </a:solidFill>
              </a:rPr>
              <a:t>Changes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4243388"/>
          </a:xfrm>
        </p:spPr>
        <p:txBody>
          <a:bodyPr/>
          <a:lstStyle/>
          <a:p>
            <a:pPr eaLnBrk="1" hangingPunct="1"/>
            <a:r>
              <a:rPr lang="en-US" b="1" dirty="0"/>
              <a:t>Physical Changes </a:t>
            </a:r>
            <a:r>
              <a:rPr lang="en-US" dirty="0"/>
              <a:t>are changes in matter that do </a:t>
            </a:r>
            <a:r>
              <a:rPr lang="en-US" i="1" dirty="0"/>
              <a:t>not</a:t>
            </a:r>
            <a:r>
              <a:rPr lang="en-US" dirty="0"/>
              <a:t> change the </a:t>
            </a:r>
            <a:r>
              <a:rPr lang="en-US" dirty="0">
                <a:solidFill>
                  <a:srgbClr val="0070C0"/>
                </a:solidFill>
              </a:rPr>
              <a:t>composition</a:t>
            </a:r>
            <a:r>
              <a:rPr lang="en-US" dirty="0"/>
              <a:t> of a substance.</a:t>
            </a:r>
          </a:p>
          <a:p>
            <a:pPr lvl="2" eaLnBrk="1" hangingPunct="1">
              <a:buFont typeface="Arial" pitchFamily="-104" charset="0"/>
              <a:buChar char="◦"/>
            </a:pPr>
            <a:r>
              <a:rPr lang="en-US" dirty="0"/>
              <a:t>Examples include </a:t>
            </a:r>
            <a:r>
              <a:rPr lang="en-US" dirty="0">
                <a:solidFill>
                  <a:srgbClr val="FF0000"/>
                </a:solidFill>
              </a:rPr>
              <a:t>changes of state</a:t>
            </a:r>
            <a:r>
              <a:rPr lang="en-US" dirty="0"/>
              <a:t>, temperature, and volume.</a:t>
            </a:r>
          </a:p>
          <a:p>
            <a:pPr eaLnBrk="1" hangingPunct="1"/>
            <a:r>
              <a:rPr lang="en-US" b="1" dirty="0"/>
              <a:t>Chemical Changes </a:t>
            </a:r>
            <a:r>
              <a:rPr lang="en-US" dirty="0"/>
              <a:t>result in </a:t>
            </a:r>
            <a:r>
              <a:rPr lang="en-US" dirty="0">
                <a:solidFill>
                  <a:srgbClr val="0070C0"/>
                </a:solidFill>
              </a:rPr>
              <a:t>new substances</a:t>
            </a:r>
            <a:r>
              <a:rPr lang="en-US" dirty="0"/>
              <a:t>.</a:t>
            </a:r>
            <a:endParaRPr lang="en-US" dirty="0">
              <a:solidFill>
                <a:schemeClr val="accent2"/>
              </a:solidFill>
            </a:endParaRPr>
          </a:p>
          <a:p>
            <a:pPr lvl="2" eaLnBrk="1" hangingPunct="1">
              <a:buFont typeface="Arial" pitchFamily="-104" charset="0"/>
              <a:buChar char="◦"/>
            </a:pPr>
            <a:r>
              <a:rPr lang="en-US" dirty="0"/>
              <a:t>Examples include combustion, oxidation, and decomposition.</a:t>
            </a:r>
          </a:p>
        </p:txBody>
      </p:sp>
    </p:spTree>
    <p:extLst>
      <p:ext uri="{BB962C8B-B14F-4D97-AF65-F5344CB8AC3E}">
        <p14:creationId xmlns:p14="http://schemas.microsoft.com/office/powerpoint/2010/main" val="264197335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</a:rPr>
              <a:t>Changes in State of Matter</a:t>
            </a:r>
            <a:endParaRPr lang="en-US" dirty="0"/>
          </a:p>
        </p:txBody>
      </p:sp>
      <p:sp>
        <p:nvSpPr>
          <p:cNvPr id="52227" name="Content Placeholder 6"/>
          <p:cNvSpPr>
            <a:spLocks noGrp="1"/>
          </p:cNvSpPr>
          <p:nvPr>
            <p:ph idx="1"/>
          </p:nvPr>
        </p:nvSpPr>
        <p:spPr>
          <a:xfrm>
            <a:off x="4725988" y="1377950"/>
            <a:ext cx="4122737" cy="437515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-104" charset="2"/>
              <a:buChar char="Ø"/>
            </a:pPr>
            <a:r>
              <a:rPr lang="en-US" dirty="0"/>
              <a:t>Converting between the three states of matter is a </a:t>
            </a:r>
            <a:r>
              <a:rPr lang="en-US" b="1" dirty="0"/>
              <a:t>physical change</a:t>
            </a:r>
            <a:r>
              <a:rPr lang="en-US" dirty="0"/>
              <a:t>.</a:t>
            </a:r>
          </a:p>
          <a:p>
            <a:pPr eaLnBrk="1" hangingPunct="1">
              <a:buFont typeface="Wingdings" pitchFamily="-104" charset="2"/>
              <a:buChar char="Ø"/>
            </a:pPr>
            <a:r>
              <a:rPr lang="en-US" dirty="0"/>
              <a:t>When ice melts or water evaporates, there are still 2 H atoms and 1 O atom in each molecule.</a:t>
            </a:r>
          </a:p>
        </p:txBody>
      </p:sp>
      <p:pic>
        <p:nvPicPr>
          <p:cNvPr id="52228" name="Picture 5" descr="01_04_Figure.jpg"/>
          <p:cNvPicPr>
            <a:picLocks noChangeAspect="1"/>
          </p:cNvPicPr>
          <p:nvPr/>
        </p:nvPicPr>
        <p:blipFill>
          <a:blip r:embed="rId2" cstate="print"/>
          <a:srcRect b="2220"/>
          <a:stretch>
            <a:fillRect/>
          </a:stretch>
        </p:blipFill>
        <p:spPr bwMode="auto">
          <a:xfrm>
            <a:off x="639763" y="1544638"/>
            <a:ext cx="3930650" cy="434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2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Chemical Reactions (Chemical Change)</a:t>
            </a:r>
          </a:p>
        </p:txBody>
      </p:sp>
      <p:sp>
        <p:nvSpPr>
          <p:cNvPr id="53251" name="Rectangle 4"/>
          <p:cNvSpPr>
            <a:spLocks noGrp="1" noChangeArrowheads="1"/>
          </p:cNvSpPr>
          <p:nvPr>
            <p:ph idx="1"/>
          </p:nvPr>
        </p:nvSpPr>
        <p:spPr>
          <a:xfrm>
            <a:off x="352425" y="4487863"/>
            <a:ext cx="8510588" cy="16081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600" dirty="0"/>
              <a:t>	In the course of a chemical reaction, the reacting substances are converted to new substances. </a:t>
            </a:r>
          </a:p>
          <a:p>
            <a:pPr eaLnBrk="1" hangingPunct="1">
              <a:buFontTx/>
              <a:buNone/>
            </a:pPr>
            <a:r>
              <a:rPr lang="en-US" sz="2600" dirty="0"/>
              <a:t>	Here, the elements hydrogen and oxygen become water.</a:t>
            </a:r>
          </a:p>
        </p:txBody>
      </p:sp>
      <p:pic>
        <p:nvPicPr>
          <p:cNvPr id="53252" name="Picture 5" descr="01_10_Figure.jpg"/>
          <p:cNvPicPr>
            <a:picLocks noChangeAspect="1"/>
          </p:cNvPicPr>
          <p:nvPr/>
        </p:nvPicPr>
        <p:blipFill>
          <a:blip r:embed="rId3" cstate="print"/>
          <a:srcRect b="2252"/>
          <a:stretch>
            <a:fillRect/>
          </a:stretch>
        </p:blipFill>
        <p:spPr bwMode="auto">
          <a:xfrm>
            <a:off x="2160588" y="1165225"/>
            <a:ext cx="4605337" cy="324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2651580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Separating Mixtures</a:t>
            </a:r>
          </a:p>
        </p:txBody>
      </p:sp>
      <p:sp>
        <p:nvSpPr>
          <p:cNvPr id="55299" name="Content Placeholder 8"/>
          <p:cNvSpPr>
            <a:spLocks noGrp="1"/>
          </p:cNvSpPr>
          <p:nvPr>
            <p:ph idx="1"/>
          </p:nvPr>
        </p:nvSpPr>
        <p:spPr>
          <a:xfrm>
            <a:off x="615950" y="1503363"/>
            <a:ext cx="7772400" cy="4114800"/>
          </a:xfrm>
        </p:spPr>
        <p:txBody>
          <a:bodyPr/>
          <a:lstStyle/>
          <a:p>
            <a:pPr eaLnBrk="1" hangingPunct="1"/>
            <a:r>
              <a:rPr lang="en-US" dirty="0"/>
              <a:t>Mixtures can be separated based on </a:t>
            </a:r>
            <a:r>
              <a:rPr lang="en-US" dirty="0">
                <a:solidFill>
                  <a:srgbClr val="0070C0"/>
                </a:solidFill>
              </a:rPr>
              <a:t>physical properties </a:t>
            </a:r>
            <a:r>
              <a:rPr lang="en-US" dirty="0"/>
              <a:t>of the components of the mixture. Some methods used are</a:t>
            </a:r>
          </a:p>
          <a:p>
            <a:pPr eaLnBrk="1" hangingPunct="1">
              <a:buFontTx/>
              <a:buNone/>
            </a:pPr>
            <a:endParaRPr lang="en-US" dirty="0"/>
          </a:p>
          <a:p>
            <a:pPr lvl="1" eaLnBrk="1" hangingPunct="1">
              <a:buFont typeface="Wingdings" pitchFamily="-104" charset="2"/>
              <a:buChar char="Ø"/>
            </a:pPr>
            <a:r>
              <a:rPr lang="en-US" sz="3000" dirty="0"/>
              <a:t>filtration.</a:t>
            </a:r>
          </a:p>
          <a:p>
            <a:pPr lvl="1" eaLnBrk="1" hangingPunct="1">
              <a:buFont typeface="Wingdings" pitchFamily="-104" charset="2"/>
              <a:buChar char="Ø"/>
            </a:pPr>
            <a:r>
              <a:rPr lang="en-US" sz="3000" dirty="0"/>
              <a:t>distillation.</a:t>
            </a:r>
          </a:p>
          <a:p>
            <a:pPr lvl="1" eaLnBrk="1" hangingPunct="1">
              <a:buFont typeface="Wingdings" pitchFamily="-104" charset="2"/>
              <a:buChar char="Ø"/>
            </a:pPr>
            <a:r>
              <a:rPr lang="en-US" sz="3000" dirty="0"/>
              <a:t>chromatography.</a:t>
            </a:r>
          </a:p>
        </p:txBody>
      </p:sp>
    </p:spTree>
    <p:extLst>
      <p:ext uri="{BB962C8B-B14F-4D97-AF65-F5344CB8AC3E}">
        <p14:creationId xmlns:p14="http://schemas.microsoft.com/office/powerpoint/2010/main" val="304229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Filtration (</a:t>
            </a:r>
            <a:r>
              <a:rPr lang="zh-CN" altLang="en-US" dirty="0"/>
              <a:t>过滤</a:t>
            </a:r>
            <a:r>
              <a:rPr lang="en-US" dirty="0"/>
              <a:t>)</a:t>
            </a:r>
          </a:p>
        </p:txBody>
      </p:sp>
      <p:sp>
        <p:nvSpPr>
          <p:cNvPr id="56323" name="Rectangle 4"/>
          <p:cNvSpPr>
            <a:spLocks noGrp="1" noChangeArrowheads="1"/>
          </p:cNvSpPr>
          <p:nvPr>
            <p:ph idx="1"/>
          </p:nvPr>
        </p:nvSpPr>
        <p:spPr>
          <a:xfrm>
            <a:off x="5105400" y="2362200"/>
            <a:ext cx="3641725" cy="2686050"/>
          </a:xfrm>
        </p:spPr>
        <p:txBody>
          <a:bodyPr/>
          <a:lstStyle/>
          <a:p>
            <a:pPr eaLnBrk="1" hangingPunct="1"/>
            <a:r>
              <a:rPr lang="en-US" sz="2600" dirty="0"/>
              <a:t>In filtration, solid substances are separated from liquids and solutions.</a:t>
            </a:r>
          </a:p>
        </p:txBody>
      </p:sp>
      <p:pic>
        <p:nvPicPr>
          <p:cNvPr id="56324" name="Picture 5" descr="01_12_Figur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013" y="1965325"/>
            <a:ext cx="4664075" cy="326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2523442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Distillation (</a:t>
            </a:r>
            <a:r>
              <a:rPr lang="zh-CN" altLang="en-US" dirty="0"/>
              <a:t>蒸馏</a:t>
            </a:r>
            <a:r>
              <a:rPr lang="en-US" dirty="0"/>
              <a:t>)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idx="1"/>
          </p:nvPr>
        </p:nvSpPr>
        <p:spPr>
          <a:xfrm>
            <a:off x="5121275" y="1812925"/>
            <a:ext cx="3825875" cy="3292475"/>
          </a:xfrm>
        </p:spPr>
        <p:txBody>
          <a:bodyPr/>
          <a:lstStyle/>
          <a:p>
            <a:pPr eaLnBrk="1" hangingPunct="1"/>
            <a:r>
              <a:rPr lang="en-US" sz="2600" dirty="0"/>
              <a:t>Distillation uses differences in the </a:t>
            </a:r>
            <a:r>
              <a:rPr lang="en-US" sz="2600" dirty="0">
                <a:solidFill>
                  <a:srgbClr val="FF0000"/>
                </a:solidFill>
              </a:rPr>
              <a:t>boiling points </a:t>
            </a:r>
            <a:r>
              <a:rPr lang="en-US" sz="2600" dirty="0"/>
              <a:t>of substances to separate a homogeneous mixture into its components.</a:t>
            </a:r>
          </a:p>
        </p:txBody>
      </p:sp>
      <p:pic>
        <p:nvPicPr>
          <p:cNvPr id="58372" name="Picture 5" descr="01_13_Figure.jpg"/>
          <p:cNvPicPr>
            <a:picLocks noChangeAspect="1"/>
          </p:cNvPicPr>
          <p:nvPr/>
        </p:nvPicPr>
        <p:blipFill>
          <a:blip r:embed="rId3" cstate="print"/>
          <a:srcRect b="2533"/>
          <a:stretch>
            <a:fillRect/>
          </a:stretch>
        </p:blipFill>
        <p:spPr bwMode="auto">
          <a:xfrm>
            <a:off x="242888" y="1651000"/>
            <a:ext cx="4776787" cy="351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429152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Chromatography (</a:t>
            </a:r>
            <a:r>
              <a:rPr lang="zh-CN" altLang="en-US" dirty="0"/>
              <a:t>色谱</a:t>
            </a:r>
            <a:r>
              <a:rPr lang="en-US" dirty="0"/>
              <a:t>)</a:t>
            </a:r>
          </a:p>
        </p:txBody>
      </p:sp>
      <p:sp>
        <p:nvSpPr>
          <p:cNvPr id="60419" name="Rectangle 4"/>
          <p:cNvSpPr>
            <a:spLocks noGrp="1" noChangeArrowheads="1"/>
          </p:cNvSpPr>
          <p:nvPr>
            <p:ph idx="1"/>
          </p:nvPr>
        </p:nvSpPr>
        <p:spPr>
          <a:xfrm>
            <a:off x="615950" y="1220788"/>
            <a:ext cx="8050213" cy="1565275"/>
          </a:xfrm>
        </p:spPr>
        <p:txBody>
          <a:bodyPr/>
          <a:lstStyle/>
          <a:p>
            <a:pPr eaLnBrk="1" hangingPunct="1"/>
            <a:r>
              <a:rPr lang="en-US" sz="2600" dirty="0"/>
              <a:t>This technique separates substances on the basis of differences in the ability of substances to </a:t>
            </a:r>
            <a:r>
              <a:rPr lang="en-US" sz="2600" dirty="0">
                <a:solidFill>
                  <a:srgbClr val="FF0000"/>
                </a:solidFill>
              </a:rPr>
              <a:t>adhere to </a:t>
            </a:r>
            <a:r>
              <a:rPr lang="en-US" sz="2600" dirty="0"/>
              <a:t>the solid surface.</a:t>
            </a:r>
          </a:p>
        </p:txBody>
      </p:sp>
      <p:pic>
        <p:nvPicPr>
          <p:cNvPr id="60420" name="Picture 5" descr="01_14_Figure.jpg"/>
          <p:cNvPicPr>
            <a:picLocks noChangeAspect="1"/>
          </p:cNvPicPr>
          <p:nvPr/>
        </p:nvPicPr>
        <p:blipFill>
          <a:blip r:embed="rId3" cstate="print"/>
          <a:srcRect b="3261"/>
          <a:stretch>
            <a:fillRect/>
          </a:stretch>
        </p:blipFill>
        <p:spPr bwMode="auto">
          <a:xfrm>
            <a:off x="1898650" y="2797175"/>
            <a:ext cx="5497513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703787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848600" cy="29908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Descriptions of a sample that are based on the amount of substance are called</a:t>
            </a:r>
          </a:p>
        </p:txBody>
      </p:sp>
      <p:sp>
        <p:nvSpPr>
          <p:cNvPr id="29699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6294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physical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chemical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intensive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extensive properties.</a:t>
            </a:r>
          </a:p>
        </p:txBody>
      </p:sp>
    </p:spTree>
    <p:extLst>
      <p:ext uri="{BB962C8B-B14F-4D97-AF65-F5344CB8AC3E}">
        <p14:creationId xmlns:p14="http://schemas.microsoft.com/office/powerpoint/2010/main" val="44492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848600" cy="29908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Descriptions of a sample that are based on the amount of substance are called</a:t>
            </a:r>
          </a:p>
        </p:txBody>
      </p:sp>
      <p:sp>
        <p:nvSpPr>
          <p:cNvPr id="31747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6294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physical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chemical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intensive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extensive properties.</a:t>
            </a:r>
          </a:p>
        </p:txBody>
      </p:sp>
    </p:spTree>
    <p:extLst>
      <p:ext uri="{BB962C8B-B14F-4D97-AF65-F5344CB8AC3E}">
        <p14:creationId xmlns:p14="http://schemas.microsoft.com/office/powerpoint/2010/main" val="280744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848600" cy="29908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Properties that describe the way a substance reacts to form other substances are called</a:t>
            </a:r>
          </a:p>
        </p:txBody>
      </p:sp>
      <p:sp>
        <p:nvSpPr>
          <p:cNvPr id="33795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6294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physical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chemical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homogeneous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heterogeneous properties.</a:t>
            </a:r>
          </a:p>
        </p:txBody>
      </p:sp>
    </p:spTree>
    <p:extLst>
      <p:ext uri="{BB962C8B-B14F-4D97-AF65-F5344CB8AC3E}">
        <p14:creationId xmlns:p14="http://schemas.microsoft.com/office/powerpoint/2010/main" val="25913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848600" cy="29908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Properties that describe the way a substance reacts to form other substances are called</a:t>
            </a:r>
          </a:p>
        </p:txBody>
      </p:sp>
      <p:sp>
        <p:nvSpPr>
          <p:cNvPr id="35843" name="Subtitle 2"/>
          <p:cNvSpPr>
            <a:spLocks noGrp="1"/>
          </p:cNvSpPr>
          <p:nvPr>
            <p:ph type="subTitle" idx="1"/>
          </p:nvPr>
        </p:nvSpPr>
        <p:spPr>
          <a:xfrm>
            <a:off x="1143000" y="3581400"/>
            <a:ext cx="66294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physical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chemical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homogeneous properties.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heterogeneous properties.</a:t>
            </a:r>
          </a:p>
        </p:txBody>
      </p:sp>
    </p:spTree>
    <p:extLst>
      <p:ext uri="{BB962C8B-B14F-4D97-AF65-F5344CB8AC3E}">
        <p14:creationId xmlns:p14="http://schemas.microsoft.com/office/powerpoint/2010/main" val="353426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382000" cy="30670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Acetic acid that was liquid when stored was solid when a student looked for it on a cold morning. This illustrates </a:t>
            </a:r>
          </a:p>
        </p:txBody>
      </p:sp>
      <p:sp>
        <p:nvSpPr>
          <p:cNvPr id="37891" name="Subtitle 2"/>
          <p:cNvSpPr>
            <a:spLocks noGrp="1"/>
          </p:cNvSpPr>
          <p:nvPr>
            <p:ph type="subTitle" idx="1"/>
          </p:nvPr>
        </p:nvSpPr>
        <p:spPr>
          <a:xfrm>
            <a:off x="1295400" y="3505200"/>
            <a:ext cx="6553200" cy="2895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change in solubility. 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chemical change.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an equilibrium state. 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physical change.</a:t>
            </a:r>
          </a:p>
        </p:txBody>
      </p:sp>
    </p:spTree>
    <p:extLst>
      <p:ext uri="{BB962C8B-B14F-4D97-AF65-F5344CB8AC3E}">
        <p14:creationId xmlns:p14="http://schemas.microsoft.com/office/powerpoint/2010/main" val="293002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382000" cy="30670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Acetic acid that was liquid when stored was solid when a student looked for it on a cold morning. This illustrates </a:t>
            </a:r>
          </a:p>
        </p:txBody>
      </p:sp>
      <p:sp>
        <p:nvSpPr>
          <p:cNvPr id="39939" name="Subtitle 2"/>
          <p:cNvSpPr>
            <a:spLocks noGrp="1"/>
          </p:cNvSpPr>
          <p:nvPr>
            <p:ph type="subTitle" idx="1"/>
          </p:nvPr>
        </p:nvSpPr>
        <p:spPr>
          <a:xfrm>
            <a:off x="1295400" y="3505200"/>
            <a:ext cx="6553200" cy="2895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change in solubility. 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chemical change.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an equilibrium state. 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physical change.</a:t>
            </a:r>
          </a:p>
        </p:txBody>
      </p:sp>
    </p:spTree>
    <p:extLst>
      <p:ext uri="{BB962C8B-B14F-4D97-AF65-F5344CB8AC3E}">
        <p14:creationId xmlns:p14="http://schemas.microsoft.com/office/powerpoint/2010/main" val="296612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001000" cy="30670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A copper wire placed in a silver nitrate solution turns dark and </a:t>
            </a:r>
            <a:r>
              <a:rPr lang="ja-JP" altLang="en-US">
                <a:latin typeface="Arial" charset="0"/>
                <a:ea typeface="ヒラギノ角ゴ Pro W3" charset="0"/>
                <a:cs typeface="ヒラギノ角ゴ Pro W3" charset="0"/>
              </a:rPr>
              <a:t>“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fuzzy.</a:t>
            </a:r>
            <a:r>
              <a:rPr lang="ja-JP" altLang="en-US">
                <a:latin typeface="Arial" charset="0"/>
                <a:ea typeface="ヒラギノ角ゴ Pro W3" charset="0"/>
                <a:cs typeface="ヒラギノ角ゴ Pro W3" charset="0"/>
              </a:rPr>
              <a:t>”</a:t>
            </a:r>
            <a:r>
              <a:rPr lang="en-US">
                <a:latin typeface="Arial" charset="0"/>
                <a:ea typeface="ヒラギノ角ゴ Pro W3" charset="0"/>
                <a:cs typeface="ヒラギノ角ゴ Pro W3" charset="0"/>
              </a:rPr>
              <a:t> This illustrates </a:t>
            </a:r>
          </a:p>
        </p:txBody>
      </p:sp>
      <p:sp>
        <p:nvSpPr>
          <p:cNvPr id="41987" name="Subtitle 2"/>
          <p:cNvSpPr>
            <a:spLocks noGrp="1"/>
          </p:cNvSpPr>
          <p:nvPr>
            <p:ph type="subTitle" idx="1"/>
          </p:nvPr>
        </p:nvSpPr>
        <p:spPr>
          <a:xfrm>
            <a:off x="1295400" y="3505200"/>
            <a:ext cx="6553200" cy="2895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an accident.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chemical reaction.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an extensive property. 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physical change.</a:t>
            </a:r>
          </a:p>
        </p:txBody>
      </p:sp>
    </p:spTree>
    <p:extLst>
      <p:ext uri="{BB962C8B-B14F-4D97-AF65-F5344CB8AC3E}">
        <p14:creationId xmlns:p14="http://schemas.microsoft.com/office/powerpoint/2010/main" val="7142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8001000" cy="30670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 copper wire placed in a silver nitrate solution turns dark and </a:t>
            </a:r>
            <a:r>
              <a:rPr lang="ja-JP" altLang="en-US" dirty="0">
                <a:latin typeface="Arial" charset="0"/>
                <a:ea typeface="ヒラギノ角ゴ Pro W3" charset="0"/>
                <a:cs typeface="ヒラギノ角ゴ Pro W3" charset="0"/>
              </a:rPr>
              <a:t>“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fuzzy.</a:t>
            </a:r>
            <a:r>
              <a:rPr lang="ja-JP" altLang="en-US" dirty="0">
                <a:latin typeface="Arial" charset="0"/>
                <a:ea typeface="ヒラギノ角ゴ Pro W3" charset="0"/>
                <a:cs typeface="ヒラギノ角ゴ Pro W3" charset="0"/>
              </a:rPr>
              <a:t>”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This illustrates </a:t>
            </a:r>
          </a:p>
        </p:txBody>
      </p:sp>
      <p:sp>
        <p:nvSpPr>
          <p:cNvPr id="44035" name="Subtitle 2"/>
          <p:cNvSpPr>
            <a:spLocks noGrp="1"/>
          </p:cNvSpPr>
          <p:nvPr>
            <p:ph type="subTitle" idx="1"/>
          </p:nvPr>
        </p:nvSpPr>
        <p:spPr>
          <a:xfrm>
            <a:off x="1295400" y="3505200"/>
            <a:ext cx="6553200" cy="28956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an accident.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chemical reaction.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an extensive property. 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a physical change.</a:t>
            </a:r>
          </a:p>
        </p:txBody>
      </p:sp>
    </p:spTree>
    <p:extLst>
      <p:ext uri="{BB962C8B-B14F-4D97-AF65-F5344CB8AC3E}">
        <p14:creationId xmlns:p14="http://schemas.microsoft.com/office/powerpoint/2010/main" val="328596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382000" cy="32766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 solution with a boiling point of 105 degrees Celsius contains either sugar or salt. How would you determine which is present?</a:t>
            </a:r>
          </a:p>
        </p:txBody>
      </p:sp>
      <p:sp>
        <p:nvSpPr>
          <p:cNvPr id="54275" name="Subtitle 2"/>
          <p:cNvSpPr>
            <a:spLocks noGrp="1"/>
          </p:cNvSpPr>
          <p:nvPr>
            <p:ph type="subTitle" idx="1"/>
          </p:nvPr>
        </p:nvSpPr>
        <p:spPr>
          <a:xfrm>
            <a:off x="1143000" y="3810000"/>
            <a:ext cx="72390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distill the solution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filter the solution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use chromatography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taste the solution</a:t>
            </a:r>
          </a:p>
        </p:txBody>
      </p:sp>
    </p:spTree>
    <p:extLst>
      <p:ext uri="{BB962C8B-B14F-4D97-AF65-F5344CB8AC3E}">
        <p14:creationId xmlns:p14="http://schemas.microsoft.com/office/powerpoint/2010/main" val="313134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382000" cy="32766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A solution with a boiling point of 105 degrees Celsius contains either sugar or salt. How would you determine which is present?</a:t>
            </a:r>
          </a:p>
        </p:txBody>
      </p:sp>
      <p:sp>
        <p:nvSpPr>
          <p:cNvPr id="56323" name="Subtitle 2"/>
          <p:cNvSpPr>
            <a:spLocks noGrp="1"/>
          </p:cNvSpPr>
          <p:nvPr>
            <p:ph type="subTitle" idx="1"/>
          </p:nvPr>
        </p:nvSpPr>
        <p:spPr>
          <a:xfrm>
            <a:off x="1143000" y="3810000"/>
            <a:ext cx="72390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distill the solution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filter the solution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use chromatography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taste the solution</a:t>
            </a:r>
          </a:p>
        </p:txBody>
      </p:sp>
    </p:spTree>
    <p:extLst>
      <p:ext uri="{BB962C8B-B14F-4D97-AF65-F5344CB8AC3E}">
        <p14:creationId xmlns:p14="http://schemas.microsoft.com/office/powerpoint/2010/main" val="139215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dirty="0"/>
              <a:t>Numbers and Chemistry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534400" cy="4881562"/>
          </a:xfrm>
        </p:spPr>
        <p:txBody>
          <a:bodyPr>
            <a:noAutofit/>
          </a:bodyPr>
          <a:lstStyle/>
          <a:p>
            <a:r>
              <a:rPr lang="en-US" sz="2800" dirty="0"/>
              <a:t>Numbers play a major role in chemistry. Many topics are </a:t>
            </a:r>
            <a:r>
              <a:rPr lang="en-US" sz="2800" b="1" dirty="0"/>
              <a:t>quantitative</a:t>
            </a:r>
            <a:r>
              <a:rPr lang="en-US" sz="2800" dirty="0"/>
              <a:t> (have a numerical value).</a:t>
            </a:r>
          </a:p>
          <a:p>
            <a:pPr marL="0" indent="0">
              <a:buNone/>
            </a:pPr>
            <a:r>
              <a:rPr lang="en-US" sz="2800" b="1" dirty="0"/>
              <a:t>    </a:t>
            </a:r>
            <a:r>
              <a:rPr lang="en-US" altLang="zh-CN" sz="2800" dirty="0">
                <a:solidFill>
                  <a:srgbClr val="C00000"/>
                </a:solidFill>
              </a:rPr>
              <a:t>Exact number </a:t>
            </a:r>
            <a:r>
              <a:rPr lang="en-US" altLang="zh-CN" sz="2800" dirty="0"/>
              <a:t>(1 dozen = 12, 1 kg = 1000 g = 2.2046 lb., </a:t>
            </a:r>
          </a:p>
          <a:p>
            <a:pPr marL="0" indent="0">
              <a:buNone/>
            </a:pPr>
            <a:r>
              <a:rPr lang="en-US" altLang="zh-CN" sz="2800" dirty="0"/>
              <a:t>                                the number of people)</a:t>
            </a:r>
          </a:p>
          <a:p>
            <a:pPr marL="0" indent="0">
              <a:buNone/>
            </a:pPr>
            <a:r>
              <a:rPr lang="en-US" sz="2800" b="1" dirty="0"/>
              <a:t>    </a:t>
            </a:r>
            <a:r>
              <a:rPr lang="en-US" sz="2800" dirty="0">
                <a:solidFill>
                  <a:srgbClr val="C00000"/>
                </a:solidFill>
              </a:rPr>
              <a:t>Inexact number </a:t>
            </a:r>
            <a:r>
              <a:rPr lang="en-US" sz="2800" dirty="0"/>
              <a:t>( numbers obtained by measurement)</a:t>
            </a:r>
          </a:p>
          <a:p>
            <a:r>
              <a:rPr lang="en-US" sz="2800" dirty="0"/>
              <a:t>Concepts of numbers in science</a:t>
            </a:r>
          </a:p>
          <a:p>
            <a:pPr>
              <a:buClr>
                <a:srgbClr val="2D2D8A"/>
              </a:buClr>
              <a:buFont typeface="Wingdings" pitchFamily="-104" charset="2"/>
              <a:buChar char="Ø"/>
            </a:pPr>
            <a:r>
              <a:rPr lang="en-US" sz="2800" dirty="0"/>
              <a:t>Units of measurement</a:t>
            </a:r>
          </a:p>
          <a:p>
            <a:pPr>
              <a:buClr>
                <a:srgbClr val="2D2D8A"/>
              </a:buClr>
              <a:buFont typeface="Wingdings" pitchFamily="-104" charset="2"/>
              <a:buChar char="Ø"/>
            </a:pPr>
            <a:r>
              <a:rPr lang="en-US" sz="2800" dirty="0"/>
              <a:t>Quantities that are measured and calculated</a:t>
            </a:r>
          </a:p>
          <a:p>
            <a:pPr>
              <a:buClr>
                <a:srgbClr val="2D2D8A"/>
              </a:buClr>
              <a:buFont typeface="Wingdings" pitchFamily="-104" charset="2"/>
              <a:buChar char="Ø"/>
            </a:pPr>
            <a:r>
              <a:rPr lang="en-US" sz="2800" dirty="0"/>
              <a:t>Uncertainty in measurement</a:t>
            </a:r>
          </a:p>
          <a:p>
            <a:pPr>
              <a:buClr>
                <a:srgbClr val="2D2D8A"/>
              </a:buClr>
              <a:buFont typeface="Wingdings" pitchFamily="-104" charset="2"/>
              <a:buChar char="Ø"/>
            </a:pPr>
            <a:r>
              <a:rPr lang="en-US" sz="2800" dirty="0"/>
              <a:t>Significant figures (</a:t>
            </a:r>
            <a:r>
              <a:rPr lang="zh-CN" altLang="en-US" sz="2800" dirty="0"/>
              <a:t>有效数字</a:t>
            </a:r>
            <a:r>
              <a:rPr lang="en-US" sz="2800" dirty="0"/>
              <a:t>)</a:t>
            </a:r>
          </a:p>
          <a:p>
            <a:pPr>
              <a:buClr>
                <a:srgbClr val="2D2D8A"/>
              </a:buClr>
              <a:buFont typeface="Wingdings" pitchFamily="-104" charset="2"/>
              <a:buChar char="Ø"/>
            </a:pPr>
            <a:r>
              <a:rPr lang="en-US" sz="2800" dirty="0"/>
              <a:t>Dimensional analysis (</a:t>
            </a:r>
            <a:r>
              <a:rPr lang="zh-CN" altLang="en-US" sz="2800" dirty="0"/>
              <a:t>量纲分析</a:t>
            </a:r>
            <a:r>
              <a:rPr lang="en-US" sz="2800" dirty="0"/>
              <a:t>)</a:t>
            </a:r>
          </a:p>
          <a:p>
            <a:pPr>
              <a:buClr>
                <a:srgbClr val="2D2D8A"/>
              </a:buClr>
              <a:buFont typeface="Wingdings" pitchFamily="-104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4450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Units of Measurement—</a:t>
            </a:r>
            <a:r>
              <a:rPr lang="en-US" dirty="0">
                <a:solidFill>
                  <a:srgbClr val="C00000"/>
                </a:solidFill>
              </a:rPr>
              <a:t>Metric System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</a:t>
            </a:r>
            <a:r>
              <a:rPr lang="zh-CN" altLang="en-US" dirty="0"/>
              <a:t>公制计量法</a:t>
            </a:r>
            <a:r>
              <a:rPr lang="en-US" dirty="0"/>
              <a:t>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units used for </a:t>
            </a:r>
            <a:r>
              <a:rPr lang="en-US" altLang="zh-CN" dirty="0">
                <a:solidFill>
                  <a:srgbClr val="0070C0"/>
                </a:solidFill>
              </a:rPr>
              <a:t>scientific measurements </a:t>
            </a:r>
            <a:r>
              <a:rPr lang="en-US" altLang="zh-CN" dirty="0"/>
              <a:t>are of those of the metric system.</a:t>
            </a:r>
          </a:p>
          <a:p>
            <a:r>
              <a:rPr lang="en-US" altLang="zh-CN" dirty="0"/>
              <a:t>It was developed in France and is used as the system of measurement in most countries.</a:t>
            </a:r>
          </a:p>
          <a:p>
            <a:r>
              <a:rPr lang="en-US" altLang="zh-CN" dirty="0"/>
              <a:t>The United States </a:t>
            </a:r>
            <a:r>
              <a:rPr lang="en-US" altLang="zh-CN" dirty="0">
                <a:solidFill>
                  <a:srgbClr val="FF0000"/>
                </a:solidFill>
              </a:rPr>
              <a:t>still</a:t>
            </a:r>
            <a:r>
              <a:rPr lang="en-US" altLang="zh-CN" dirty="0"/>
              <a:t> uses the traditional English system.</a:t>
            </a:r>
          </a:p>
        </p:txBody>
      </p:sp>
    </p:spTree>
    <p:extLst>
      <p:ext uri="{BB962C8B-B14F-4D97-AF65-F5344CB8AC3E}">
        <p14:creationId xmlns:p14="http://schemas.microsoft.com/office/powerpoint/2010/main" val="338352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Units of Measurements—SI Units</a:t>
            </a:r>
            <a:br>
              <a:rPr lang="en-US" dirty="0"/>
            </a:br>
            <a:r>
              <a:rPr lang="en-US" dirty="0"/>
              <a:t>(</a:t>
            </a:r>
            <a:r>
              <a:rPr lang="zh-CN" altLang="en-US" dirty="0"/>
              <a:t>国际计量单位</a:t>
            </a:r>
            <a:r>
              <a:rPr lang="en-US" dirty="0"/>
              <a:t>)</a:t>
            </a:r>
          </a:p>
        </p:txBody>
      </p:sp>
      <p:sp>
        <p:nvSpPr>
          <p:cNvPr id="63491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4459288"/>
            <a:ext cx="8105775" cy="1636712"/>
          </a:xfrm>
        </p:spPr>
        <p:txBody>
          <a:bodyPr/>
          <a:lstStyle/>
          <a:p>
            <a:pPr eaLnBrk="1" hangingPunct="1"/>
            <a:r>
              <a:rPr lang="en-US" sz="2600" i="1" dirty="0" err="1"/>
              <a:t>Système</a:t>
            </a:r>
            <a:r>
              <a:rPr lang="en-US" sz="2600" i="1" dirty="0"/>
              <a:t> International </a:t>
            </a:r>
            <a:r>
              <a:rPr lang="en-US" sz="2600" i="1" dirty="0" err="1"/>
              <a:t>d’Unités</a:t>
            </a:r>
            <a:r>
              <a:rPr lang="en-US" sz="2600" i="1" dirty="0"/>
              <a:t> </a:t>
            </a:r>
            <a:r>
              <a:rPr lang="en-US" sz="2600" dirty="0"/>
              <a:t>(“The International System of Units”)</a:t>
            </a:r>
            <a:endParaRPr lang="en-US" sz="2600" i="1" dirty="0"/>
          </a:p>
          <a:p>
            <a:pPr eaLnBrk="1" hangingPunct="1"/>
            <a:r>
              <a:rPr lang="en-US" sz="2600" dirty="0"/>
              <a:t>A different base unit is used for each quantity.</a:t>
            </a:r>
            <a:endParaRPr lang="en-US" sz="2600" i="1" dirty="0"/>
          </a:p>
        </p:txBody>
      </p:sp>
      <p:pic>
        <p:nvPicPr>
          <p:cNvPr id="63492" name="Picture 5" descr="01_04_Table.jpg"/>
          <p:cNvPicPr>
            <a:picLocks noChangeAspect="1"/>
          </p:cNvPicPr>
          <p:nvPr/>
        </p:nvPicPr>
        <p:blipFill>
          <a:blip r:embed="rId3" cstate="print"/>
          <a:srcRect b="4413"/>
          <a:stretch>
            <a:fillRect/>
          </a:stretch>
        </p:blipFill>
        <p:spPr bwMode="auto">
          <a:xfrm>
            <a:off x="1425575" y="1438275"/>
            <a:ext cx="6281738" cy="281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1479611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Units of Measurement—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Prefixes</a:t>
            </a:r>
            <a:r>
              <a:rPr lang="en-US" dirty="0"/>
              <a:t> in Metric System with SI units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5867400" y="2286000"/>
            <a:ext cx="3048000" cy="3124200"/>
          </a:xfrm>
        </p:spPr>
        <p:txBody>
          <a:bodyPr/>
          <a:lstStyle/>
          <a:p>
            <a:pPr eaLnBrk="1" hangingPunct="1">
              <a:buFont typeface="Wingdings" pitchFamily="-104" charset="2"/>
              <a:buChar char="Ø"/>
            </a:pPr>
            <a:r>
              <a:rPr lang="en-US" sz="2600" dirty="0">
                <a:solidFill>
                  <a:srgbClr val="0070C0"/>
                </a:solidFill>
              </a:rPr>
              <a:t>Prefixes</a:t>
            </a:r>
            <a:r>
              <a:rPr lang="en-US" sz="2600" dirty="0"/>
              <a:t> convert the base units into units that are appropriate for common usage or appropriate measure.</a:t>
            </a:r>
          </a:p>
        </p:txBody>
      </p:sp>
      <p:pic>
        <p:nvPicPr>
          <p:cNvPr id="66564" name="Picture 5" descr="01_05_Table.jpg"/>
          <p:cNvPicPr>
            <a:picLocks noChangeAspect="1"/>
          </p:cNvPicPr>
          <p:nvPr/>
        </p:nvPicPr>
        <p:blipFill>
          <a:blip r:embed="rId3" cstate="print"/>
          <a:srcRect b="2599"/>
          <a:stretch>
            <a:fillRect/>
          </a:stretch>
        </p:blipFill>
        <p:spPr bwMode="auto">
          <a:xfrm>
            <a:off x="609600" y="1557338"/>
            <a:ext cx="4867275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84828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Mass and Length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671513" y="1390650"/>
            <a:ext cx="7772400" cy="4114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These are basic units we measure in science.</a:t>
            </a:r>
          </a:p>
          <a:p>
            <a:r>
              <a:rPr lang="en-US" b="1" dirty="0"/>
              <a:t>Length</a:t>
            </a:r>
            <a:r>
              <a:rPr lang="en-US" dirty="0"/>
              <a:t> is a measure of distance. The </a:t>
            </a:r>
            <a:r>
              <a:rPr lang="en-US" dirty="0">
                <a:solidFill>
                  <a:srgbClr val="FF0000"/>
                </a:solidFill>
              </a:rPr>
              <a:t>meter</a:t>
            </a:r>
            <a:r>
              <a:rPr lang="en-US" dirty="0"/>
              <a:t> is the base unit.</a:t>
            </a:r>
            <a:endParaRPr lang="en-US" b="1" dirty="0"/>
          </a:p>
          <a:p>
            <a:r>
              <a:rPr lang="en-US" b="1" dirty="0"/>
              <a:t>Mass</a:t>
            </a:r>
            <a:r>
              <a:rPr lang="en-US" dirty="0"/>
              <a:t> is a measure of the amount of material in an object. </a:t>
            </a:r>
            <a:r>
              <a:rPr lang="en-US" dirty="0">
                <a:solidFill>
                  <a:srgbClr val="0070C0"/>
                </a:solidFill>
              </a:rPr>
              <a:t>SI uses the kilogram as the base unit. </a:t>
            </a:r>
            <a:r>
              <a:rPr lang="en-US" dirty="0"/>
              <a:t>The metric system uses the </a:t>
            </a:r>
            <a:r>
              <a:rPr lang="en-US" dirty="0">
                <a:solidFill>
                  <a:srgbClr val="FF0000"/>
                </a:solidFill>
              </a:rPr>
              <a:t>gram</a:t>
            </a:r>
            <a:r>
              <a:rPr lang="en-US" dirty="0"/>
              <a:t> as the base unit.</a:t>
            </a:r>
          </a:p>
        </p:txBody>
      </p:sp>
    </p:spTree>
    <p:extLst>
      <p:ext uri="{BB962C8B-B14F-4D97-AF65-F5344CB8AC3E}">
        <p14:creationId xmlns:p14="http://schemas.microsoft.com/office/powerpoint/2010/main" val="219809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Volume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447800"/>
            <a:ext cx="5332413" cy="49149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600" dirty="0"/>
              <a:t>Note that volume is not a base unit for SI; it is </a:t>
            </a:r>
            <a:r>
              <a:rPr lang="en-US" sz="2600" dirty="0">
                <a:solidFill>
                  <a:srgbClr val="FF0000"/>
                </a:solidFill>
              </a:rPr>
              <a:t>derived</a:t>
            </a:r>
            <a:r>
              <a:rPr lang="en-US" sz="2600" dirty="0"/>
              <a:t> from length (m × m × m = m</a:t>
            </a:r>
            <a:r>
              <a:rPr lang="en-US" sz="2600" baseline="30000" dirty="0"/>
              <a:t>3</a:t>
            </a:r>
            <a:r>
              <a:rPr lang="en-US" sz="2600" dirty="0"/>
              <a:t>). </a:t>
            </a:r>
            <a:r>
              <a:rPr lang="zh-CN" altLang="en-US" sz="2600" b="1" dirty="0">
                <a:solidFill>
                  <a:srgbClr val="FF0000"/>
                </a:solidFill>
              </a:rPr>
              <a:t>导出单位</a:t>
            </a:r>
            <a:endParaRPr lang="en-US" sz="26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600" dirty="0"/>
              <a:t>The most commonly used metric units for volume are the liter (L) and the milliliter (mL).</a:t>
            </a:r>
            <a:endParaRPr lang="en-US" sz="2600" dirty="0">
              <a:solidFill>
                <a:schemeClr val="accent2"/>
              </a:solidFill>
            </a:endParaRPr>
          </a:p>
          <a:p>
            <a:pPr eaLnBrk="1" hangingPunct="1">
              <a:buFont typeface="Wingdings" pitchFamily="-104" charset="2"/>
              <a:buChar char="ü"/>
            </a:pPr>
            <a:r>
              <a:rPr lang="en-US" sz="2600" dirty="0"/>
              <a:t>A </a:t>
            </a:r>
            <a:r>
              <a:rPr lang="en-US" sz="2600" dirty="0">
                <a:solidFill>
                  <a:srgbClr val="FF0000"/>
                </a:solidFill>
              </a:rPr>
              <a:t>liter</a:t>
            </a:r>
            <a:r>
              <a:rPr lang="en-US" sz="2600" dirty="0"/>
              <a:t> is </a:t>
            </a:r>
            <a:r>
              <a:rPr lang="en-US" sz="2600" dirty="0">
                <a:solidFill>
                  <a:schemeClr val="accent1"/>
                </a:solidFill>
              </a:rPr>
              <a:t>a cube </a:t>
            </a:r>
            <a:r>
              <a:rPr lang="en-US" sz="2600" dirty="0">
                <a:solidFill>
                  <a:srgbClr val="FF0000"/>
                </a:solidFill>
              </a:rPr>
              <a:t>1 decimeter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(</a:t>
            </a:r>
            <a:r>
              <a:rPr lang="en-US" sz="2600" dirty="0" err="1"/>
              <a:t>dm</a:t>
            </a:r>
            <a:r>
              <a:rPr lang="en-US" sz="2600" dirty="0"/>
              <a:t>) long on each side.</a:t>
            </a:r>
          </a:p>
          <a:p>
            <a:pPr eaLnBrk="1" hangingPunct="1">
              <a:buFont typeface="Wingdings" pitchFamily="-104" charset="2"/>
              <a:buChar char="ü"/>
            </a:pPr>
            <a:r>
              <a:rPr lang="en-US" sz="2600" dirty="0"/>
              <a:t>A milliliter is </a:t>
            </a:r>
            <a:r>
              <a:rPr lang="en-US" sz="2600" dirty="0">
                <a:solidFill>
                  <a:schemeClr val="accent1"/>
                </a:solidFill>
              </a:rPr>
              <a:t>a cube </a:t>
            </a:r>
            <a:r>
              <a:rPr lang="en-US" sz="2600" dirty="0">
                <a:solidFill>
                  <a:srgbClr val="FF0000"/>
                </a:solidFill>
              </a:rPr>
              <a:t>1 centimeter </a:t>
            </a:r>
            <a:r>
              <a:rPr lang="en-US" sz="2600" dirty="0"/>
              <a:t>(cm) long on each side, also called </a:t>
            </a:r>
            <a:r>
              <a:rPr lang="en-US" sz="2600" u="sng" dirty="0"/>
              <a:t>1 cubic centimeter </a:t>
            </a:r>
            <a:r>
              <a:rPr lang="en-US" sz="2600" dirty="0"/>
              <a:t> (cm × cm × cm = cm</a:t>
            </a:r>
            <a:r>
              <a:rPr lang="en-US" sz="2600" baseline="30000" dirty="0"/>
              <a:t>3</a:t>
            </a:r>
            <a:r>
              <a:rPr lang="en-US" sz="2600" dirty="0"/>
              <a:t>).</a:t>
            </a:r>
          </a:p>
        </p:txBody>
      </p:sp>
      <p:pic>
        <p:nvPicPr>
          <p:cNvPr id="69636" name="Picture 5" descr="01_18_Figure.jpg"/>
          <p:cNvPicPr>
            <a:picLocks noChangeAspect="1"/>
          </p:cNvPicPr>
          <p:nvPr/>
        </p:nvPicPr>
        <p:blipFill>
          <a:blip r:embed="rId3" cstate="print"/>
          <a:srcRect b="2220"/>
          <a:stretch>
            <a:fillRect/>
          </a:stretch>
        </p:blipFill>
        <p:spPr bwMode="auto">
          <a:xfrm>
            <a:off x="5789613" y="1282700"/>
            <a:ext cx="31178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70187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Temperature</a:t>
            </a:r>
          </a:p>
        </p:txBody>
      </p:sp>
      <p:pic>
        <p:nvPicPr>
          <p:cNvPr id="71684" name="Picture 5" descr="01_17_Figure.jpg"/>
          <p:cNvPicPr>
            <a:picLocks noChangeAspect="1"/>
          </p:cNvPicPr>
          <p:nvPr/>
        </p:nvPicPr>
        <p:blipFill>
          <a:blip r:embed="rId3" cstate="print"/>
          <a:srcRect b="2826"/>
          <a:stretch>
            <a:fillRect/>
          </a:stretch>
        </p:blipFill>
        <p:spPr bwMode="auto">
          <a:xfrm>
            <a:off x="2209800" y="2975015"/>
            <a:ext cx="5075129" cy="3349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990600" y="1219200"/>
            <a:ext cx="714362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-104" charset="2"/>
              <a:buChar char="q"/>
            </a:pPr>
            <a:r>
              <a:rPr lang="en-US" sz="2000" dirty="0"/>
              <a:t> In general usage, </a:t>
            </a:r>
            <a:r>
              <a:rPr lang="en-US" sz="2000" b="1" dirty="0"/>
              <a:t>temperature</a:t>
            </a:r>
            <a:r>
              <a:rPr lang="en-US" sz="2000" dirty="0"/>
              <a:t> is considered the “hotness and coldness” of an object that determines the direction of heat flow.</a:t>
            </a:r>
          </a:p>
          <a:p>
            <a:pPr>
              <a:buFont typeface="Wingdings" pitchFamily="-104" charset="2"/>
              <a:buChar char="q"/>
            </a:pPr>
            <a:endParaRPr lang="en-US" sz="2000" dirty="0"/>
          </a:p>
          <a:p>
            <a:pPr>
              <a:buFont typeface="Wingdings" pitchFamily="-104" charset="2"/>
              <a:buChar char="q"/>
            </a:pPr>
            <a:r>
              <a:rPr lang="en-US" sz="2000" dirty="0"/>
              <a:t> Heat flows </a:t>
            </a:r>
            <a:r>
              <a:rPr lang="en-US" sz="2000" dirty="0">
                <a:solidFill>
                  <a:srgbClr val="00B0F0"/>
                </a:solidFill>
              </a:rPr>
              <a:t>spontaneously</a:t>
            </a:r>
            <a:r>
              <a:rPr lang="en-US" sz="2000" dirty="0"/>
              <a:t> from an object with a higher temperature to an object with a lower temperature.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819400" y="6400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                   </a:t>
            </a:r>
            <a:r>
              <a:rPr lang="en-US" baseline="30000" dirty="0">
                <a:solidFill>
                  <a:srgbClr val="FF0000"/>
                </a:solidFill>
              </a:rPr>
              <a:t>o</a:t>
            </a:r>
            <a:r>
              <a:rPr lang="en-US" dirty="0">
                <a:solidFill>
                  <a:srgbClr val="FF0000"/>
                </a:solidFill>
              </a:rPr>
              <a:t>C                   </a:t>
            </a:r>
            <a:r>
              <a:rPr lang="en-US" baseline="30000" dirty="0">
                <a:solidFill>
                  <a:srgbClr val="FF0000"/>
                </a:solidFill>
              </a:rPr>
              <a:t>o</a:t>
            </a:r>
            <a:r>
              <a:rPr lang="en-US" dirty="0">
                <a:solidFill>
                  <a:srgbClr val="FF0000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349330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Temperature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295400"/>
            <a:ext cx="7543800" cy="495617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600" dirty="0"/>
              <a:t>In scientific measurements, the Celsius (</a:t>
            </a:r>
            <a:r>
              <a:rPr lang="zh-CN" altLang="en-US" sz="2600" b="1" dirty="0">
                <a:solidFill>
                  <a:srgbClr val="0070C0"/>
                </a:solidFill>
              </a:rPr>
              <a:t>摄氏</a:t>
            </a:r>
            <a:r>
              <a:rPr lang="en-US" sz="2600" dirty="0"/>
              <a:t>) and Kelvin (</a:t>
            </a:r>
            <a:r>
              <a:rPr lang="zh-CN" altLang="en-US" sz="2600" b="1" dirty="0">
                <a:solidFill>
                  <a:srgbClr val="0070C0"/>
                </a:solidFill>
              </a:rPr>
              <a:t>开氏</a:t>
            </a:r>
            <a:r>
              <a:rPr lang="en-US" sz="2600" dirty="0"/>
              <a:t>) scales are most often used.</a:t>
            </a:r>
          </a:p>
          <a:p>
            <a:pPr eaLnBrk="1" hangingPunct="1"/>
            <a:r>
              <a:rPr lang="en-US" sz="2600" dirty="0"/>
              <a:t>The Celsius scale is based on the properties of water.</a:t>
            </a:r>
          </a:p>
          <a:p>
            <a:pPr lvl="1" eaLnBrk="1" hangingPunct="1"/>
            <a:r>
              <a:rPr lang="en-US" sz="2400" dirty="0"/>
              <a:t>0 </a:t>
            </a:r>
            <a:r>
              <a:rPr lang="en-US" sz="2400" dirty="0">
                <a:sym typeface="Symbol" pitchFamily="-104" charset="2"/>
              </a:rPr>
              <a:t>C is the freezing point of water.</a:t>
            </a:r>
          </a:p>
          <a:p>
            <a:pPr lvl="1" eaLnBrk="1" hangingPunct="1"/>
            <a:r>
              <a:rPr lang="en-US" sz="2400" dirty="0"/>
              <a:t>100 </a:t>
            </a:r>
            <a:r>
              <a:rPr lang="en-US" sz="2400" dirty="0">
                <a:sym typeface="Symbol" pitchFamily="-104" charset="2"/>
              </a:rPr>
              <a:t>C is the boiling point of water.</a:t>
            </a:r>
          </a:p>
          <a:p>
            <a:pPr eaLnBrk="1" hangingPunct="1"/>
            <a:r>
              <a:rPr lang="en-US" sz="2600" dirty="0"/>
              <a:t>The </a:t>
            </a:r>
            <a:r>
              <a:rPr lang="en-US" altLang="zh-CN" sz="2600" b="1" dirty="0">
                <a:solidFill>
                  <a:srgbClr val="0070C0"/>
                </a:solidFill>
              </a:rPr>
              <a:t>K</a:t>
            </a:r>
            <a:r>
              <a:rPr lang="en-US" sz="2600" b="1" dirty="0">
                <a:solidFill>
                  <a:srgbClr val="0070C0"/>
                </a:solidFill>
              </a:rPr>
              <a:t>elvin</a:t>
            </a:r>
            <a:r>
              <a:rPr lang="en-US" sz="2600" dirty="0"/>
              <a:t> is the SI unit of temperature.</a:t>
            </a:r>
          </a:p>
          <a:p>
            <a:pPr lvl="1" eaLnBrk="1" hangingPunct="1"/>
            <a:r>
              <a:rPr lang="en-US" sz="2400" dirty="0"/>
              <a:t>It is based on the properties of gases.</a:t>
            </a:r>
          </a:p>
          <a:p>
            <a:pPr lvl="1" eaLnBrk="1" hangingPunct="1"/>
            <a:r>
              <a:rPr lang="en-US" sz="2400" dirty="0"/>
              <a:t>There are no negative Kelvin temperatures.</a:t>
            </a:r>
          </a:p>
          <a:p>
            <a:pPr lvl="1" eaLnBrk="1" hangingPunct="1"/>
            <a:r>
              <a:rPr lang="en-US" sz="2400" dirty="0"/>
              <a:t>The lowest possible temperature is called absolute zero (0 K).</a:t>
            </a:r>
          </a:p>
          <a:p>
            <a:pPr algn="ctr" eaLnBrk="1" hangingPunct="1"/>
            <a:r>
              <a:rPr lang="en-US" sz="2600" b="1" dirty="0">
                <a:solidFill>
                  <a:srgbClr val="FF0000"/>
                </a:solidFill>
              </a:rPr>
              <a:t>K = </a:t>
            </a:r>
            <a:r>
              <a:rPr lang="en-US" sz="2600" b="1" dirty="0">
                <a:solidFill>
                  <a:srgbClr val="FF0000"/>
                </a:solidFill>
                <a:sym typeface="Symbol" pitchFamily="-104" charset="2"/>
              </a:rPr>
              <a:t>C + 273.15</a:t>
            </a:r>
            <a:endParaRPr lang="en-US" sz="2600" b="1" dirty="0">
              <a:solidFill>
                <a:srgbClr val="FF0000"/>
              </a:solidFill>
            </a:endParaRPr>
          </a:p>
          <a:p>
            <a:pPr eaLnBrk="1" hangingPunct="1"/>
            <a:endParaRPr lang="en-US" sz="2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5828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Temperature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600" dirty="0"/>
              <a:t>The Fahrenheit scale (</a:t>
            </a:r>
            <a:r>
              <a:rPr lang="zh-CN" altLang="en-US" sz="2600" b="1" dirty="0">
                <a:solidFill>
                  <a:srgbClr val="0070C0"/>
                </a:solidFill>
              </a:rPr>
              <a:t>华氏</a:t>
            </a:r>
            <a:r>
              <a:rPr lang="en-US" sz="2600" dirty="0"/>
              <a:t>) is not used in scientific measurements, but you hear about it in weather reports </a:t>
            </a:r>
            <a:r>
              <a:rPr lang="en-US" altLang="zh-CN" sz="2600" dirty="0">
                <a:solidFill>
                  <a:srgbClr val="0070C0"/>
                </a:solidFill>
              </a:rPr>
              <a:t>in US</a:t>
            </a:r>
            <a:r>
              <a:rPr lang="en-US" sz="2600" dirty="0"/>
              <a:t>! </a:t>
            </a:r>
          </a:p>
          <a:p>
            <a:pPr eaLnBrk="1" hangingPunct="1"/>
            <a:r>
              <a:rPr lang="en-US" sz="2600" dirty="0"/>
              <a:t>The equations below allow for conversion between the Fahrenheit and Celsius scales:</a:t>
            </a:r>
          </a:p>
          <a:p>
            <a:pPr eaLnBrk="1" hangingPunct="1"/>
            <a:endParaRPr lang="en-US" sz="2600" dirty="0"/>
          </a:p>
          <a:p>
            <a:pPr eaLnBrk="1" hangingPunct="1"/>
            <a:endParaRPr lang="en-US" sz="2600" dirty="0"/>
          </a:p>
          <a:p>
            <a:pPr marL="457200" lvl="1" indent="0" algn="ctr" eaLnBrk="1" hangingPunct="1">
              <a:buNone/>
            </a:pPr>
            <a:r>
              <a:rPr lang="en-US" sz="2400" dirty="0">
                <a:solidFill>
                  <a:srgbClr val="FF0000"/>
                </a:solidFill>
                <a:sym typeface="Symbol" pitchFamily="-104" charset="2"/>
              </a:rPr>
              <a:t>F = 9/5(C) + 32</a:t>
            </a:r>
          </a:p>
          <a:p>
            <a:pPr marL="457200" lvl="1" indent="0" algn="ctr" eaLnBrk="1" hangingPunct="1">
              <a:buNone/>
            </a:pPr>
            <a:r>
              <a:rPr lang="en-US" sz="2400" dirty="0">
                <a:sym typeface="Symbol" pitchFamily="-104" charset="2"/>
              </a:rPr>
              <a:t>C = 5/9(F </a:t>
            </a:r>
            <a:r>
              <a:rPr lang="en-US" sz="2400" dirty="0">
                <a:ea typeface="Arial" pitchFamily="-104" charset="0"/>
                <a:cs typeface="Arial" pitchFamily="-104" charset="0"/>
                <a:sym typeface="Symbol" pitchFamily="-104" charset="2"/>
              </a:rPr>
              <a:t>−</a:t>
            </a:r>
            <a:r>
              <a:rPr lang="en-US" sz="2400" dirty="0">
                <a:sym typeface="Symbol" pitchFamily="-104" charset="2"/>
              </a:rPr>
              <a:t> 32)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12105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Density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6613" y="1527175"/>
            <a:ext cx="7621587" cy="4416425"/>
          </a:xfrm>
        </p:spPr>
        <p:txBody>
          <a:bodyPr>
            <a:normAutofit fontScale="92500"/>
          </a:bodyPr>
          <a:lstStyle/>
          <a:p>
            <a:r>
              <a:rPr lang="en-US" dirty="0"/>
              <a:t>Density is a </a:t>
            </a:r>
            <a:r>
              <a:rPr lang="en-US" dirty="0">
                <a:solidFill>
                  <a:srgbClr val="00B0F0"/>
                </a:solidFill>
              </a:rPr>
              <a:t>physical property </a:t>
            </a:r>
            <a:r>
              <a:rPr lang="en-US" dirty="0"/>
              <a:t>of a substance.</a:t>
            </a:r>
          </a:p>
          <a:p>
            <a:r>
              <a:rPr lang="en-US" altLang="zh-CN" dirty="0"/>
              <a:t>Density is defined as the amount of mass in a unit volume of a substance.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D  =  m/V </a:t>
            </a:r>
          </a:p>
          <a:p>
            <a:pPr eaLnBrk="1" hangingPunct="1"/>
            <a:r>
              <a:rPr lang="en-US" dirty="0"/>
              <a:t>It has units that are </a:t>
            </a:r>
            <a:r>
              <a:rPr lang="en-US" dirty="0">
                <a:solidFill>
                  <a:srgbClr val="00B0F0"/>
                </a:solidFill>
              </a:rPr>
              <a:t>derived</a:t>
            </a:r>
            <a:r>
              <a:rPr lang="en-US" dirty="0"/>
              <a:t> from the units for mass and volume.</a:t>
            </a:r>
          </a:p>
          <a:p>
            <a:pPr eaLnBrk="1" hangingPunct="1"/>
            <a:r>
              <a:rPr lang="en-US" dirty="0"/>
              <a:t>The most </a:t>
            </a:r>
            <a:r>
              <a:rPr lang="en-US" dirty="0">
                <a:solidFill>
                  <a:srgbClr val="FF0000"/>
                </a:solidFill>
              </a:rPr>
              <a:t>common</a:t>
            </a:r>
            <a:r>
              <a:rPr lang="en-US" dirty="0"/>
              <a:t> units are g/mL or g/cm</a:t>
            </a:r>
            <a:r>
              <a:rPr lang="en-US" baseline="30000" dirty="0"/>
              <a:t>3</a:t>
            </a:r>
            <a:r>
              <a:rPr lang="en-US" dirty="0"/>
              <a:t>.</a:t>
            </a:r>
          </a:p>
        </p:txBody>
      </p:sp>
      <p:grpSp>
        <p:nvGrpSpPr>
          <p:cNvPr id="77828" name="Group 15"/>
          <p:cNvGrpSpPr>
            <a:grpSpLocks/>
          </p:cNvGrpSpPr>
          <p:nvPr/>
        </p:nvGrpSpPr>
        <p:grpSpPr bwMode="auto">
          <a:xfrm>
            <a:off x="3033713" y="3973513"/>
            <a:ext cx="1800225" cy="1473200"/>
            <a:chOff x="2209" y="2592"/>
            <a:chExt cx="1134" cy="928"/>
          </a:xfrm>
        </p:grpSpPr>
        <p:sp>
          <p:nvSpPr>
            <p:cNvPr id="77829" name="Rectangle 6"/>
            <p:cNvSpPr>
              <a:spLocks noChangeArrowheads="1"/>
            </p:cNvSpPr>
            <p:nvPr/>
          </p:nvSpPr>
          <p:spPr bwMode="auto">
            <a:xfrm>
              <a:off x="2209" y="2880"/>
              <a:ext cx="116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sz="6000"/>
            </a:p>
          </p:txBody>
        </p:sp>
        <p:sp>
          <p:nvSpPr>
            <p:cNvPr id="77830" name="Rectangle 7"/>
            <p:cNvSpPr>
              <a:spLocks noChangeArrowheads="1"/>
            </p:cNvSpPr>
            <p:nvPr/>
          </p:nvSpPr>
          <p:spPr bwMode="auto">
            <a:xfrm>
              <a:off x="3227" y="2592"/>
              <a:ext cx="116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endParaRPr lang="en-US" sz="6000"/>
            </a:p>
          </p:txBody>
        </p:sp>
      </p:grpSp>
    </p:spTree>
    <p:extLst>
      <p:ext uri="{BB962C8B-B14F-4D97-AF65-F5344CB8AC3E}">
        <p14:creationId xmlns:p14="http://schemas.microsoft.com/office/powerpoint/2010/main" val="199421453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Numbers Encountered in Science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728663" y="1376363"/>
            <a:ext cx="7772400" cy="4114800"/>
          </a:xfrm>
        </p:spPr>
        <p:txBody>
          <a:bodyPr/>
          <a:lstStyle/>
          <a:p>
            <a:r>
              <a:rPr lang="en-US" b="1" dirty="0"/>
              <a:t>Exact</a:t>
            </a:r>
            <a:r>
              <a:rPr lang="en-US" dirty="0"/>
              <a:t> numbers (</a:t>
            </a:r>
            <a:r>
              <a:rPr lang="zh-CN" altLang="en-US" b="1" dirty="0">
                <a:solidFill>
                  <a:srgbClr val="0070C0"/>
                </a:solidFill>
              </a:rPr>
              <a:t>精确数</a:t>
            </a:r>
            <a:r>
              <a:rPr lang="en-US" dirty="0"/>
              <a:t>) are </a:t>
            </a:r>
            <a:r>
              <a:rPr lang="en-US" dirty="0">
                <a:solidFill>
                  <a:srgbClr val="FF0000"/>
                </a:solidFill>
              </a:rPr>
              <a:t>counted or given by definition. </a:t>
            </a:r>
            <a:r>
              <a:rPr lang="en-US" dirty="0"/>
              <a:t>For example, there are 12 eggs in 1 dozen.</a:t>
            </a:r>
          </a:p>
          <a:p>
            <a:r>
              <a:rPr lang="en-US" b="1" dirty="0"/>
              <a:t>Inexact</a:t>
            </a:r>
            <a:r>
              <a:rPr lang="en-US" dirty="0"/>
              <a:t> (or </a:t>
            </a:r>
            <a:r>
              <a:rPr lang="en-US" b="1" dirty="0"/>
              <a:t>measured</a:t>
            </a:r>
            <a:r>
              <a:rPr lang="en-US" dirty="0"/>
              <a:t>) numbers depend on how they were determined. Scientific instruments have limitations. Some balances measure to </a:t>
            </a:r>
            <a:r>
              <a:rPr lang="en-US" dirty="0">
                <a:ea typeface="Arial" pitchFamily="-104" charset="0"/>
                <a:cs typeface="Arial" pitchFamily="-104" charset="0"/>
              </a:rPr>
              <a:t>±0.01 g; others measure to ±0.0001g.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0724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Uncertainty in Measurements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554037" y="1279814"/>
            <a:ext cx="8201025" cy="1828800"/>
          </a:xfrm>
        </p:spPr>
        <p:txBody>
          <a:bodyPr/>
          <a:lstStyle/>
          <a:p>
            <a:pPr eaLnBrk="1" hangingPunct="1"/>
            <a:r>
              <a:rPr lang="en-US" sz="2600" dirty="0"/>
              <a:t>Different measuring devices have different uses and different degrees of </a:t>
            </a:r>
            <a:r>
              <a:rPr lang="en-US" sz="2600" dirty="0">
                <a:solidFill>
                  <a:srgbClr val="00B0F0"/>
                </a:solidFill>
              </a:rPr>
              <a:t>accuracy (?)</a:t>
            </a:r>
            <a:r>
              <a:rPr lang="en-US" sz="2600" dirty="0"/>
              <a:t>. </a:t>
            </a:r>
          </a:p>
          <a:p>
            <a:pPr eaLnBrk="1" hangingPunct="1"/>
            <a:r>
              <a:rPr lang="en-US" sz="2600" dirty="0"/>
              <a:t>All measured numbers have some degree of inaccuracy.</a:t>
            </a:r>
          </a:p>
        </p:txBody>
      </p:sp>
      <p:pic>
        <p:nvPicPr>
          <p:cNvPr id="80900" name="Picture 5" descr="01_19_Figure.jpg"/>
          <p:cNvPicPr>
            <a:picLocks noChangeAspect="1"/>
          </p:cNvPicPr>
          <p:nvPr/>
        </p:nvPicPr>
        <p:blipFill>
          <a:blip r:embed="rId3" cstate="print"/>
          <a:srcRect b="3580"/>
          <a:stretch>
            <a:fillRect/>
          </a:stretch>
        </p:blipFill>
        <p:spPr bwMode="auto">
          <a:xfrm>
            <a:off x="1600200" y="3117850"/>
            <a:ext cx="6083300" cy="310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23391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Accuracy versus Precision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4322763" cy="4089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600" b="1" dirty="0"/>
              <a:t>Accuracy (</a:t>
            </a:r>
            <a:r>
              <a:rPr lang="zh-CN" altLang="en-US" sz="2600" b="1" dirty="0"/>
              <a:t>准确度</a:t>
            </a:r>
            <a:r>
              <a:rPr lang="en-US" sz="2600" b="1" dirty="0"/>
              <a:t>)</a:t>
            </a:r>
            <a:r>
              <a:rPr lang="en-US" sz="2600" dirty="0"/>
              <a:t> refers to the proximity of a measurement to the true value of a quantity.</a:t>
            </a:r>
          </a:p>
          <a:p>
            <a:pPr eaLnBrk="1" hangingPunct="1"/>
            <a:endParaRPr lang="en-US" sz="2600" dirty="0"/>
          </a:p>
          <a:p>
            <a:pPr eaLnBrk="1" hangingPunct="1"/>
            <a:r>
              <a:rPr lang="en-US" sz="2600" b="1" dirty="0"/>
              <a:t>Precision (</a:t>
            </a:r>
            <a:r>
              <a:rPr lang="zh-CN" altLang="en-US" sz="2600" b="1" dirty="0"/>
              <a:t>精密度</a:t>
            </a:r>
            <a:r>
              <a:rPr lang="en-US" sz="2600" b="1" dirty="0"/>
              <a:t>)</a:t>
            </a:r>
            <a:r>
              <a:rPr lang="en-US" sz="2600" dirty="0"/>
              <a:t> refers to the proximity of several measurements to </a:t>
            </a:r>
            <a:br>
              <a:rPr lang="en-US" sz="2600" dirty="0"/>
            </a:br>
            <a:r>
              <a:rPr lang="en-US" sz="2600" dirty="0"/>
              <a:t>each other.</a:t>
            </a:r>
          </a:p>
        </p:txBody>
      </p:sp>
      <p:pic>
        <p:nvPicPr>
          <p:cNvPr id="82948" name="Picture 5" descr="01_22_Figure.jpg"/>
          <p:cNvPicPr>
            <a:picLocks noChangeAspect="1"/>
          </p:cNvPicPr>
          <p:nvPr/>
        </p:nvPicPr>
        <p:blipFill>
          <a:blip r:embed="rId3" cstate="print"/>
          <a:srcRect b="2409"/>
          <a:stretch>
            <a:fillRect/>
          </a:stretch>
        </p:blipFill>
        <p:spPr bwMode="auto">
          <a:xfrm>
            <a:off x="5980112" y="1382713"/>
            <a:ext cx="1411288" cy="527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14446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Significant Figures (</a:t>
            </a:r>
            <a:r>
              <a:rPr lang="zh-CN" altLang="en-US" b="1" dirty="0">
                <a:solidFill>
                  <a:srgbClr val="0070C0"/>
                </a:solidFill>
              </a:rPr>
              <a:t>有效数字</a:t>
            </a:r>
            <a:r>
              <a:rPr lang="en-US" dirty="0"/>
              <a:t>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467600" cy="4525963"/>
          </a:xfrm>
        </p:spPr>
        <p:txBody>
          <a:bodyPr/>
          <a:lstStyle/>
          <a:p>
            <a:pPr eaLnBrk="1" hangingPunct="1"/>
            <a:r>
              <a:rPr lang="en-US" dirty="0"/>
              <a:t>The term </a:t>
            </a:r>
            <a:r>
              <a:rPr lang="en-US" b="1" dirty="0"/>
              <a:t>significant figures</a:t>
            </a:r>
            <a:r>
              <a:rPr lang="en-US" dirty="0"/>
              <a:t> refers to digits that were measured.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</a:t>
            </a:r>
            <a:r>
              <a:rPr lang="en-US" dirty="0">
                <a:solidFill>
                  <a:srgbClr val="00B0F0"/>
                </a:solidFill>
              </a:rPr>
              <a:t>rounding</a:t>
            </a:r>
            <a:r>
              <a:rPr lang="en-US" dirty="0"/>
              <a:t> calculated numbers, we pay attention to significant figures so we do not overstate the accuracy of our answers.</a:t>
            </a:r>
          </a:p>
        </p:txBody>
      </p:sp>
    </p:spTree>
    <p:extLst>
      <p:ext uri="{BB962C8B-B14F-4D97-AF65-F5344CB8AC3E}">
        <p14:creationId xmlns:p14="http://schemas.microsoft.com/office/powerpoint/2010/main" val="25772233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Significant Figures (*)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5105400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en-US" dirty="0"/>
              <a:t>All nonzero digits are significant.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Zeroes between two significant figures are themselves significant.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Zeroes at the beginning of a number are never significant.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Zeroes at the end of a number are significant 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 a decimal point is written in the number.</a:t>
            </a:r>
          </a:p>
          <a:p>
            <a:pPr marL="0" indent="0" algn="ctr" eaLnBrk="1" hangingPunct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</a:pPr>
            <a:r>
              <a:rPr lang="en-US" dirty="0">
                <a:solidFill>
                  <a:schemeClr val="accent1"/>
                </a:solidFill>
              </a:rPr>
              <a:t>Sample Exercise 1.7</a:t>
            </a:r>
          </a:p>
        </p:txBody>
      </p:sp>
    </p:spTree>
    <p:extLst>
      <p:ext uri="{BB962C8B-B14F-4D97-AF65-F5344CB8AC3E}">
        <p14:creationId xmlns:p14="http://schemas.microsoft.com/office/powerpoint/2010/main" val="6041181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Significant Figures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953000"/>
          </a:xfrm>
        </p:spPr>
        <p:txBody>
          <a:bodyPr>
            <a:normAutofit fontScale="77500" lnSpcReduction="20000"/>
          </a:bodyPr>
          <a:lstStyle/>
          <a:p>
            <a:pPr eaLnBrk="1" hangingPunct="1"/>
            <a:r>
              <a:rPr lang="en-US" dirty="0"/>
              <a:t>When </a:t>
            </a:r>
            <a:r>
              <a:rPr lang="en-US" dirty="0">
                <a:solidFill>
                  <a:schemeClr val="accent1"/>
                </a:solidFill>
              </a:rPr>
              <a:t>addition or subtraction </a:t>
            </a:r>
            <a:r>
              <a:rPr lang="en-US" dirty="0"/>
              <a:t>is performed, answers are rounded to </a:t>
            </a:r>
            <a:r>
              <a:rPr lang="en-US" b="1" dirty="0"/>
              <a:t>the least significant decimal place</a:t>
            </a:r>
            <a:r>
              <a:rPr lang="en-US" i="1" dirty="0"/>
              <a:t>.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</a:t>
            </a:r>
            <a:r>
              <a:rPr lang="en-US" dirty="0">
                <a:solidFill>
                  <a:schemeClr val="accent1"/>
                </a:solidFill>
              </a:rPr>
              <a:t>multiplication or division </a:t>
            </a:r>
            <a:r>
              <a:rPr lang="en-US" dirty="0"/>
              <a:t>is performed, answers are rounded to the number of digits that corresponds to the </a:t>
            </a:r>
            <a:r>
              <a:rPr lang="en-US" b="1" i="1" dirty="0"/>
              <a:t>least</a:t>
            </a:r>
            <a:r>
              <a:rPr lang="en-US" b="1" dirty="0"/>
              <a:t> number of significant figures</a:t>
            </a:r>
            <a:r>
              <a:rPr lang="en-US" dirty="0"/>
              <a:t> in any of the numbers used in the calculation.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exact number ====</a:t>
            </a:r>
          </a:p>
          <a:p>
            <a:pPr marL="0" indent="0" eaLnBrk="1" hangingPunct="1">
              <a:buNone/>
            </a:pPr>
            <a:r>
              <a:rPr lang="en-US" dirty="0"/>
              <a:t>                       infinite number of significant figures</a:t>
            </a:r>
          </a:p>
          <a:p>
            <a:pPr marL="0" indent="0" eaLnBrk="1" hangingPunct="1">
              <a:buNone/>
            </a:pPr>
            <a:endParaRPr lang="en-US" dirty="0"/>
          </a:p>
          <a:p>
            <a:pPr marL="0" indent="0" algn="ctr" eaLnBrk="1" hangingPunct="1">
              <a:buNone/>
            </a:pPr>
            <a:r>
              <a:rPr lang="en-US" dirty="0">
                <a:solidFill>
                  <a:schemeClr val="accent1"/>
                </a:solidFill>
              </a:rPr>
              <a:t>Sample exercise 1.8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Sample exercise 1.9</a:t>
            </a:r>
          </a:p>
        </p:txBody>
      </p:sp>
    </p:spTree>
    <p:extLst>
      <p:ext uri="{BB962C8B-B14F-4D97-AF65-F5344CB8AC3E}">
        <p14:creationId xmlns:p14="http://schemas.microsoft.com/office/powerpoint/2010/main" val="5250898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Dimensional Analysis (</a:t>
            </a:r>
            <a:r>
              <a:rPr lang="zh-CN" altLang="en-US" dirty="0"/>
              <a:t>量纲分析</a:t>
            </a:r>
            <a:r>
              <a:rPr lang="en-US" dirty="0"/>
              <a:t>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91525" cy="3600450"/>
          </a:xfrm>
        </p:spPr>
        <p:txBody>
          <a:bodyPr/>
          <a:lstStyle/>
          <a:p>
            <a:pPr eaLnBrk="1" hangingPunct="1"/>
            <a:r>
              <a:rPr lang="en-US" sz="2600" dirty="0"/>
              <a:t>We use </a:t>
            </a:r>
            <a:r>
              <a:rPr lang="en-US" sz="2600" b="1" dirty="0"/>
              <a:t>dimensional analysis</a:t>
            </a:r>
            <a:r>
              <a:rPr lang="en-US" sz="2600" dirty="0"/>
              <a:t> to convert one quantity to another.</a:t>
            </a:r>
          </a:p>
          <a:p>
            <a:pPr eaLnBrk="1" hangingPunct="1"/>
            <a:r>
              <a:rPr lang="en-US" sz="2600" dirty="0"/>
              <a:t>Most commonly, dimensional analysis utilizes </a:t>
            </a:r>
            <a:r>
              <a:rPr lang="en-US" sz="2600" b="1" dirty="0"/>
              <a:t>conversion factors</a:t>
            </a:r>
            <a:r>
              <a:rPr lang="en-US" sz="2600" dirty="0"/>
              <a:t> (</a:t>
            </a:r>
            <a:r>
              <a:rPr lang="zh-CN" altLang="en-US" sz="2600" dirty="0"/>
              <a:t>转换因子，</a:t>
            </a:r>
            <a:r>
              <a:rPr lang="en-US" sz="2600" dirty="0"/>
              <a:t>e.g., 1 in. = 2.54 cm).</a:t>
            </a:r>
          </a:p>
          <a:p>
            <a:pPr marL="0" indent="0" eaLnBrk="1" hangingPunct="1">
              <a:buNone/>
            </a:pPr>
            <a:r>
              <a:rPr lang="en-US" sz="2600" dirty="0"/>
              <a:t>            the equality either </a:t>
            </a:r>
            <a:r>
              <a:rPr lang="en-US" sz="2600" dirty="0">
                <a:solidFill>
                  <a:schemeClr val="accent1"/>
                </a:solidFill>
              </a:rPr>
              <a:t>1 in./2.54 cm </a:t>
            </a:r>
            <a:r>
              <a:rPr lang="en-US" sz="2600" i="1" dirty="0"/>
              <a:t>or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accent1"/>
                </a:solidFill>
              </a:rPr>
              <a:t>2.54 cm/1 in.</a:t>
            </a:r>
          </a:p>
          <a:p>
            <a:pPr eaLnBrk="1" hangingPunct="1"/>
            <a:r>
              <a:rPr lang="en-US" sz="2600" dirty="0"/>
              <a:t>We use the conversion factors which allows us to change units (puts the units we have in the denominator to cancel).</a:t>
            </a:r>
          </a:p>
        </p:txBody>
      </p:sp>
      <p:pic>
        <p:nvPicPr>
          <p:cNvPr id="2" name="Picture 1" descr="01_Pg28_UnFigure_2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" t="-9351" r="-377" b="9351"/>
          <a:stretch/>
        </p:blipFill>
        <p:spPr>
          <a:xfrm>
            <a:off x="1224545" y="4953000"/>
            <a:ext cx="6745709" cy="130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02D798C7-3660-4141-84DA-8C4F213ED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Dimensional Analysis (</a:t>
            </a:r>
            <a:r>
              <a:rPr lang="zh-CN" altLang="en-US" dirty="0"/>
              <a:t>量纲分析</a:t>
            </a:r>
            <a:r>
              <a:rPr lang="en-US" dirty="0"/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6DB1201C-1F9C-4758-BD45-8589C0EBBC60}"/>
              </a:ext>
            </a:extLst>
          </p:cNvPr>
          <p:cNvSpPr txBox="1"/>
          <p:nvPr/>
        </p:nvSpPr>
        <p:spPr>
          <a:xfrm>
            <a:off x="880934" y="2235741"/>
            <a:ext cx="21686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Given unit </a:t>
            </a:r>
            <a:r>
              <a:rPr lang="en-US" altLang="zh-CN" sz="3000" dirty="0">
                <a:sym typeface="Symbol" panose="05050102010706020507" pitchFamily="18" charset="2"/>
              </a:rPr>
              <a:t></a:t>
            </a:r>
            <a:r>
              <a:rPr lang="en-US" altLang="zh-CN" sz="3000" dirty="0"/>
              <a:t> </a:t>
            </a:r>
            <a:endParaRPr lang="zh-CN" altLang="en-US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15C083BA-CE6B-4032-A02C-153C191892D8}"/>
              </a:ext>
            </a:extLst>
          </p:cNvPr>
          <p:cNvSpPr txBox="1"/>
          <p:nvPr/>
        </p:nvSpPr>
        <p:spPr>
          <a:xfrm>
            <a:off x="3051082" y="1905000"/>
            <a:ext cx="21320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desired unit </a:t>
            </a:r>
            <a:endParaRPr lang="zh-CN" altLang="en-US" sz="3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02E57F36-0677-4513-AC16-80FD6A3687AC}"/>
              </a:ext>
            </a:extLst>
          </p:cNvPr>
          <p:cNvSpPr txBox="1"/>
          <p:nvPr/>
        </p:nvSpPr>
        <p:spPr>
          <a:xfrm>
            <a:off x="3221207" y="2494002"/>
            <a:ext cx="18095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given unit </a:t>
            </a:r>
            <a:endParaRPr lang="zh-CN" alt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7A40E530-02EB-4A29-8CAF-2B7EF9F024F2}"/>
              </a:ext>
            </a:extLst>
          </p:cNvPr>
          <p:cNvSpPr txBox="1"/>
          <p:nvPr/>
        </p:nvSpPr>
        <p:spPr>
          <a:xfrm>
            <a:off x="5411741" y="2189202"/>
            <a:ext cx="4635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= </a:t>
            </a:r>
            <a:endParaRPr lang="zh-CN" altLang="en-US" sz="3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609328EF-7B2E-407F-B580-10EC0062F643}"/>
              </a:ext>
            </a:extLst>
          </p:cNvPr>
          <p:cNvSpPr txBox="1"/>
          <p:nvPr/>
        </p:nvSpPr>
        <p:spPr>
          <a:xfrm>
            <a:off x="5868941" y="2133600"/>
            <a:ext cx="21320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desired unit </a:t>
            </a:r>
            <a:endParaRPr lang="zh-CN" altLang="en-US" sz="3000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xmlns="" id="{9D6F3B7D-E6BF-4A48-A1A5-F3E108AD9C1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049541" y="2494002"/>
            <a:ext cx="2133600" cy="187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0FB29B9D-2073-40C6-A50F-5929042BD931}"/>
              </a:ext>
            </a:extLst>
          </p:cNvPr>
          <p:cNvSpPr/>
          <p:nvPr/>
        </p:nvSpPr>
        <p:spPr>
          <a:xfrm>
            <a:off x="1219200" y="3724498"/>
            <a:ext cx="69326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dirty="0"/>
              <a:t>Use two or more </a:t>
            </a:r>
            <a:r>
              <a:rPr lang="en-US" altLang="zh-CN" sz="2800" b="1" dirty="0"/>
              <a:t>conversion factors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1796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8153400" cy="4191000"/>
          </a:xfrm>
        </p:spPr>
        <p:txBody>
          <a:bodyPr/>
          <a:lstStyle/>
          <a:p>
            <a:pPr algn="l" eaLnBrk="1" hangingPunct="1"/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In three trials, a student measures a sample</a:t>
            </a:r>
            <a:r>
              <a:rPr lang="ja-JP" altLang="en-US" sz="4000" dirty="0">
                <a:latin typeface="Arial" charset="0"/>
                <a:ea typeface="ヒラギノ角ゴ Pro W3" charset="0"/>
                <a:cs typeface="ヒラギノ角ゴ Pro W3" charset="0"/>
              </a:rPr>
              <a:t>’</a:t>
            </a:r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s mass to be</a:t>
            </a:r>
            <a:b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0.100 g, 0.600 g, and 0.300 g. The accepted value is 0.340 g. The student</a:t>
            </a:r>
            <a:r>
              <a:rPr lang="ja-JP" altLang="en-US" sz="4000" dirty="0">
                <a:latin typeface="Arial" charset="0"/>
                <a:ea typeface="ヒラギノ角ゴ Pro W3" charset="0"/>
                <a:cs typeface="ヒラギノ角ゴ Pro W3" charset="0"/>
              </a:rPr>
              <a:t>’</a:t>
            </a:r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s data have</a:t>
            </a:r>
          </a:p>
        </p:txBody>
      </p:sp>
      <p:sp>
        <p:nvSpPr>
          <p:cNvPr id="62467" name="Subtitle 2"/>
          <p:cNvSpPr>
            <a:spLocks noGrp="1"/>
          </p:cNvSpPr>
          <p:nvPr>
            <p:ph type="subTitle" idx="1"/>
          </p:nvPr>
        </p:nvSpPr>
        <p:spPr>
          <a:xfrm>
            <a:off x="685800" y="4267200"/>
            <a:ext cx="8077200" cy="2209800"/>
          </a:xfrm>
        </p:spPr>
        <p:txBody>
          <a:bodyPr/>
          <a:lstStyle/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good accuracy and good precision.</a:t>
            </a:r>
          </a:p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good accuracy, but poor precision.</a:t>
            </a:r>
          </a:p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poor accuracy, but good precision.</a:t>
            </a:r>
          </a:p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poor accuracy and poor precision.</a:t>
            </a:r>
          </a:p>
        </p:txBody>
      </p:sp>
    </p:spTree>
    <p:extLst>
      <p:ext uri="{BB962C8B-B14F-4D97-AF65-F5344CB8AC3E}">
        <p14:creationId xmlns:p14="http://schemas.microsoft.com/office/powerpoint/2010/main" val="37469962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Subtitle 2"/>
          <p:cNvSpPr>
            <a:spLocks noGrp="1"/>
          </p:cNvSpPr>
          <p:nvPr>
            <p:ph type="subTitle" idx="1"/>
          </p:nvPr>
        </p:nvSpPr>
        <p:spPr>
          <a:xfrm>
            <a:off x="685800" y="4267200"/>
            <a:ext cx="8077200" cy="2209800"/>
          </a:xfrm>
        </p:spPr>
        <p:txBody>
          <a:bodyPr/>
          <a:lstStyle/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good accuracy and good precision.</a:t>
            </a:r>
          </a:p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good accuracy, but poor precision.</a:t>
            </a:r>
          </a:p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poor accuracy, but good precision.</a:t>
            </a:r>
          </a:p>
          <a:p>
            <a:pPr marL="514350" indent="-514350" algn="l" eaLnBrk="1" hangingPunct="1">
              <a:lnSpc>
                <a:spcPct val="90000"/>
              </a:lnSpc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poor accuracy and poor precision.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8153400" cy="4191000"/>
          </a:xfrm>
        </p:spPr>
        <p:txBody>
          <a:bodyPr/>
          <a:lstStyle/>
          <a:p>
            <a:pPr algn="l" eaLnBrk="1" hangingPunct="1"/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In three trials, a student measures a sample</a:t>
            </a:r>
            <a:r>
              <a:rPr lang="ja-JP" altLang="en-US" sz="4000" dirty="0">
                <a:latin typeface="Arial" charset="0"/>
                <a:ea typeface="ヒラギノ角ゴ Pro W3" charset="0"/>
                <a:cs typeface="ヒラギノ角ゴ Pro W3" charset="0"/>
              </a:rPr>
              <a:t>’</a:t>
            </a:r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s mass to be to be</a:t>
            </a:r>
            <a:b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0.100 g, 0.600 g, and 0.300 g. The accepted value is 0.340 g. The student</a:t>
            </a:r>
            <a:r>
              <a:rPr lang="ja-JP" altLang="en-US" sz="4000" dirty="0">
                <a:latin typeface="Arial" charset="0"/>
                <a:ea typeface="ヒラギノ角ゴ Pro W3" charset="0"/>
                <a:cs typeface="ヒラギノ角ゴ Pro W3" charset="0"/>
              </a:rPr>
              <a:t>’</a:t>
            </a:r>
            <a:r>
              <a:rPr lang="en-US" sz="4000" dirty="0">
                <a:latin typeface="Arial" charset="0"/>
                <a:ea typeface="ヒラギノ角ゴ Pro W3" charset="0"/>
                <a:cs typeface="ヒラギノ角ゴ Pro W3" charset="0"/>
              </a:rPr>
              <a:t>s data have</a:t>
            </a:r>
          </a:p>
        </p:txBody>
      </p:sp>
    </p:spTree>
    <p:extLst>
      <p:ext uri="{BB962C8B-B14F-4D97-AF65-F5344CB8AC3E}">
        <p14:creationId xmlns:p14="http://schemas.microsoft.com/office/powerpoint/2010/main" val="25554336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>
          <a:xfrm>
            <a:off x="457200" y="609600"/>
            <a:ext cx="8382000" cy="29908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measured quantity 0.0860 g contains _____ significant figures.</a:t>
            </a:r>
          </a:p>
        </p:txBody>
      </p:sp>
      <p:sp>
        <p:nvSpPr>
          <p:cNvPr id="66563" name="Subtitle 2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629400" cy="2438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three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four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five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six</a:t>
            </a:r>
          </a:p>
        </p:txBody>
      </p:sp>
    </p:spTree>
    <p:extLst>
      <p:ext uri="{BB962C8B-B14F-4D97-AF65-F5344CB8AC3E}">
        <p14:creationId xmlns:p14="http://schemas.microsoft.com/office/powerpoint/2010/main" val="37077857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Subtitle 2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629400" cy="2438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three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four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five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six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57200" y="609600"/>
            <a:ext cx="8382000" cy="29908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The measured quantity 0.0860 g contains _____ significant figures.</a:t>
            </a:r>
          </a:p>
        </p:txBody>
      </p:sp>
    </p:spTree>
    <p:extLst>
      <p:ext uri="{BB962C8B-B14F-4D97-AF65-F5344CB8AC3E}">
        <p14:creationId xmlns:p14="http://schemas.microsoft.com/office/powerpoint/2010/main" val="1649505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4.1 g + 7.08 g = _____ g</a:t>
            </a:r>
          </a:p>
        </p:txBody>
      </p:sp>
      <p:sp>
        <p:nvSpPr>
          <p:cNvPr id="70659" name="Subtitle 2"/>
          <p:cNvSpPr>
            <a:spLocks noGrp="1"/>
          </p:cNvSpPr>
          <p:nvPr>
            <p:ph type="subTitle" idx="1"/>
          </p:nvPr>
        </p:nvSpPr>
        <p:spPr>
          <a:xfrm>
            <a:off x="990600" y="2819400"/>
            <a:ext cx="67818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11.180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11.18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11.2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868954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4.1 g + 7.08 g = _____ g</a:t>
            </a:r>
          </a:p>
        </p:txBody>
      </p:sp>
      <p:sp>
        <p:nvSpPr>
          <p:cNvPr id="72707" name="Subtitle 2"/>
          <p:cNvSpPr>
            <a:spLocks noGrp="1"/>
          </p:cNvSpPr>
          <p:nvPr>
            <p:ph type="subTitle" idx="1"/>
          </p:nvPr>
        </p:nvSpPr>
        <p:spPr>
          <a:xfrm>
            <a:off x="990600" y="2819400"/>
            <a:ext cx="67818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11.180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11.18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11.2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809817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6.9 g – 5.07 g = _____ g</a:t>
            </a:r>
          </a:p>
        </p:txBody>
      </p:sp>
      <p:sp>
        <p:nvSpPr>
          <p:cNvPr id="74755" name="Subtitle 2"/>
          <p:cNvSpPr>
            <a:spLocks noGrp="1"/>
          </p:cNvSpPr>
          <p:nvPr>
            <p:ph type="subTitle" idx="1"/>
          </p:nvPr>
        </p:nvSpPr>
        <p:spPr>
          <a:xfrm>
            <a:off x="990600" y="2819400"/>
            <a:ext cx="67818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1.830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1.83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1.8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2508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ctrTitle"/>
          </p:nvPr>
        </p:nvSpPr>
        <p:spPr>
          <a:xfrm>
            <a:off x="4572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6.9 g – 5.07 g = _____ g</a:t>
            </a:r>
          </a:p>
        </p:txBody>
      </p:sp>
      <p:sp>
        <p:nvSpPr>
          <p:cNvPr id="76803" name="Subtitle 2"/>
          <p:cNvSpPr>
            <a:spLocks noGrp="1"/>
          </p:cNvSpPr>
          <p:nvPr>
            <p:ph type="subTitle" idx="1"/>
          </p:nvPr>
        </p:nvSpPr>
        <p:spPr>
          <a:xfrm>
            <a:off x="990600" y="2819400"/>
            <a:ext cx="6781800" cy="2819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1.830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1.83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1.8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567398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5.2 cm × 7.01 cm = ____ cm</a:t>
            </a:r>
            <a:r>
              <a:rPr lang="en-US" baseline="30000" dirty="0"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endParaRPr lang="en-US" dirty="0"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78851" name="Subtitle 2"/>
          <p:cNvSpPr>
            <a:spLocks noGrp="1"/>
          </p:cNvSpPr>
          <p:nvPr>
            <p:ph type="subTitle" idx="1"/>
          </p:nvPr>
        </p:nvSpPr>
        <p:spPr>
          <a:xfrm>
            <a:off x="1219200" y="2209800"/>
            <a:ext cx="6553200" cy="3429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36.4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36.45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36.452</a:t>
            </a:r>
          </a:p>
        </p:txBody>
      </p:sp>
    </p:spTree>
    <p:extLst>
      <p:ext uri="{BB962C8B-B14F-4D97-AF65-F5344CB8AC3E}">
        <p14:creationId xmlns:p14="http://schemas.microsoft.com/office/powerpoint/2010/main" val="15557001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5.2 cm × 7.01 cm = ____ cm</a:t>
            </a:r>
            <a:r>
              <a:rPr lang="en-US" baseline="30000" dirty="0">
                <a:latin typeface="Arial" charset="0"/>
                <a:ea typeface="ヒラギノ角ゴ Pro W3" charset="0"/>
                <a:cs typeface="ヒラギノ角ゴ Pro W3" charset="0"/>
              </a:rPr>
              <a:t>2</a:t>
            </a:r>
            <a:endParaRPr lang="en-US" dirty="0"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80899" name="Subtitle 2"/>
          <p:cNvSpPr>
            <a:spLocks noGrp="1"/>
          </p:cNvSpPr>
          <p:nvPr>
            <p:ph type="subTitle" idx="1"/>
          </p:nvPr>
        </p:nvSpPr>
        <p:spPr>
          <a:xfrm>
            <a:off x="1219200" y="2209800"/>
            <a:ext cx="6553200" cy="3429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36.4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36.45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36.452</a:t>
            </a:r>
          </a:p>
        </p:txBody>
      </p:sp>
    </p:spTree>
    <p:extLst>
      <p:ext uri="{BB962C8B-B14F-4D97-AF65-F5344CB8AC3E}">
        <p14:creationId xmlns:p14="http://schemas.microsoft.com/office/powerpoint/2010/main" val="13408730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6.03 g ÷ 7.1 mL = _____ g/mL</a:t>
            </a:r>
          </a:p>
        </p:txBody>
      </p:sp>
      <p:sp>
        <p:nvSpPr>
          <p:cNvPr id="82947" name="Subtitle 2"/>
          <p:cNvSpPr>
            <a:spLocks noGrp="1"/>
          </p:cNvSpPr>
          <p:nvPr>
            <p:ph type="subTitle" idx="1"/>
          </p:nvPr>
        </p:nvSpPr>
        <p:spPr>
          <a:xfrm>
            <a:off x="1219200" y="2209800"/>
            <a:ext cx="6553200" cy="3429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0.85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0.849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0.849257</a:t>
            </a:r>
          </a:p>
        </p:txBody>
      </p:sp>
    </p:spTree>
    <p:extLst>
      <p:ext uri="{BB962C8B-B14F-4D97-AF65-F5344CB8AC3E}">
        <p14:creationId xmlns:p14="http://schemas.microsoft.com/office/powerpoint/2010/main" val="38322119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6.03 g ÷ 7.1 mL = _____ g/mL</a:t>
            </a:r>
          </a:p>
        </p:txBody>
      </p:sp>
      <p:sp>
        <p:nvSpPr>
          <p:cNvPr id="84995" name="Subtitle 2"/>
          <p:cNvSpPr>
            <a:spLocks noGrp="1"/>
          </p:cNvSpPr>
          <p:nvPr>
            <p:ph type="subTitle" idx="1"/>
          </p:nvPr>
        </p:nvSpPr>
        <p:spPr>
          <a:xfrm>
            <a:off x="1219200" y="2209800"/>
            <a:ext cx="6553200" cy="3429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0.85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0.849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0.849257</a:t>
            </a:r>
          </a:p>
        </p:txBody>
      </p:sp>
    </p:spTree>
    <p:extLst>
      <p:ext uri="{BB962C8B-B14F-4D97-AF65-F5344CB8AC3E}">
        <p14:creationId xmlns:p14="http://schemas.microsoft.com/office/powerpoint/2010/main" val="12548871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ctrTitle"/>
          </p:nvPr>
        </p:nvSpPr>
        <p:spPr>
          <a:xfrm>
            <a:off x="533400" y="609600"/>
            <a:ext cx="7924800" cy="21336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unit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not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an SI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base unit?</a:t>
            </a:r>
          </a:p>
        </p:txBody>
      </p:sp>
      <p:sp>
        <p:nvSpPr>
          <p:cNvPr id="99331" name="Subtitle 2"/>
          <p:cNvSpPr>
            <a:spLocks noGrp="1"/>
          </p:cNvSpPr>
          <p:nvPr>
            <p:ph type="subTitle" idx="1"/>
          </p:nvPr>
        </p:nvSpPr>
        <p:spPr>
          <a:xfrm>
            <a:off x="1143000" y="3124200"/>
            <a:ext cx="6781800" cy="3733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kilogram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degree Celsius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meter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second</a:t>
            </a:r>
          </a:p>
        </p:txBody>
      </p:sp>
    </p:spTree>
    <p:extLst>
      <p:ext uri="{BB962C8B-B14F-4D97-AF65-F5344CB8AC3E}">
        <p14:creationId xmlns:p14="http://schemas.microsoft.com/office/powerpoint/2010/main" val="25431672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ctrTitle"/>
          </p:nvPr>
        </p:nvSpPr>
        <p:spPr>
          <a:xfrm>
            <a:off x="533400" y="609600"/>
            <a:ext cx="7924800" cy="21336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Which unit is </a:t>
            </a:r>
            <a:r>
              <a:rPr lang="en-US" b="1" dirty="0">
                <a:latin typeface="Arial" charset="0"/>
                <a:ea typeface="ヒラギノ角ゴ Pro W3" charset="0"/>
                <a:cs typeface="ヒラギノ角ゴ Pro W3" charset="0"/>
              </a:rPr>
              <a:t>not</a:t>
            </a: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 an SI</a:t>
            </a:r>
            <a:b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</a:br>
            <a:r>
              <a:rPr lang="en-US" dirty="0">
                <a:latin typeface="Arial" charset="0"/>
                <a:ea typeface="ヒラギノ角ゴ Pro W3" charset="0"/>
                <a:cs typeface="ヒラギノ角ゴ Pro W3" charset="0"/>
              </a:rPr>
              <a:t>base unit?</a:t>
            </a:r>
          </a:p>
        </p:txBody>
      </p:sp>
      <p:sp>
        <p:nvSpPr>
          <p:cNvPr id="101379" name="Subtitle 2"/>
          <p:cNvSpPr>
            <a:spLocks noGrp="1"/>
          </p:cNvSpPr>
          <p:nvPr>
            <p:ph type="subTitle" idx="1"/>
          </p:nvPr>
        </p:nvSpPr>
        <p:spPr>
          <a:xfrm>
            <a:off x="1143000" y="3124200"/>
            <a:ext cx="6781800" cy="3200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kilogram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 dirty="0">
                <a:solidFill>
                  <a:srgbClr val="000000"/>
                </a:solidFill>
                <a:latin typeface="Arial" charset="0"/>
                <a:ea typeface="ヒラギノ角ゴ Pro W3" charset="0"/>
                <a:cs typeface="ヒラギノ角ゴ Pro W3" charset="0"/>
              </a:rPr>
              <a:t>degree Celsius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meter</a:t>
            </a:r>
          </a:p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ea typeface="ヒラギノ角ゴ Pro W3" charset="0"/>
                <a:cs typeface="ヒラギノ角ゴ Pro W3" charset="0"/>
              </a:rPr>
              <a:t>second</a:t>
            </a:r>
          </a:p>
        </p:txBody>
      </p:sp>
    </p:spTree>
    <p:extLst>
      <p:ext uri="{BB962C8B-B14F-4D97-AF65-F5344CB8AC3E}">
        <p14:creationId xmlns:p14="http://schemas.microsoft.com/office/powerpoint/2010/main" val="391678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4731</TotalTime>
  <Words>3317</Words>
  <Application>Microsoft Office PowerPoint</Application>
  <PresentationFormat>全屏显示(4:3)</PresentationFormat>
  <Paragraphs>591</Paragraphs>
  <Slides>76</Slides>
  <Notes>65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78" baseType="lpstr">
      <vt:lpstr>Office Theme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Matter</vt:lpstr>
      <vt:lpstr>Methods of Classification</vt:lpstr>
      <vt:lpstr>States of Matter</vt:lpstr>
      <vt:lpstr>PowerPoint 演示文稿</vt:lpstr>
      <vt:lpstr>Classification of Matter—Substances</vt:lpstr>
      <vt:lpstr>Compounds and Composition</vt:lpstr>
      <vt:lpstr>Classification of Matter—Mixtures</vt:lpstr>
      <vt:lpstr>Classification of Matter  Based on Composition</vt:lpstr>
      <vt:lpstr>Apple juice is an example of a(an)</vt:lpstr>
      <vt:lpstr>Apple juice is an example of a(an)</vt:lpstr>
      <vt:lpstr>Which of the following is not a pure substance?</vt:lpstr>
      <vt:lpstr>Which of the following is not a pure substance?</vt:lpstr>
      <vt:lpstr>Solutions may be</vt:lpstr>
      <vt:lpstr>Solutions may be</vt:lpstr>
      <vt:lpstr>Types of Properties</vt:lpstr>
      <vt:lpstr>Types of Properties</vt:lpstr>
      <vt:lpstr>Types of Changes</vt:lpstr>
      <vt:lpstr>Changes in State of Matter</vt:lpstr>
      <vt:lpstr>Chemical Reactions (Chemical Change)</vt:lpstr>
      <vt:lpstr>Separating Mixtures</vt:lpstr>
      <vt:lpstr>Filtration (过滤)</vt:lpstr>
      <vt:lpstr>Distillation (蒸馏)</vt:lpstr>
      <vt:lpstr>Chromatography (色谱)</vt:lpstr>
      <vt:lpstr>Descriptions of a sample that are based on the amount of substance are called</vt:lpstr>
      <vt:lpstr>Descriptions of a sample that are based on the amount of substance are called</vt:lpstr>
      <vt:lpstr>Properties that describe the way a substance reacts to form other substances are called</vt:lpstr>
      <vt:lpstr>Properties that describe the way a substance reacts to form other substances are called</vt:lpstr>
      <vt:lpstr>Acetic acid that was liquid when stored was solid when a student looked for it on a cold morning. This illustrates </vt:lpstr>
      <vt:lpstr>Acetic acid that was liquid when stored was solid when a student looked for it on a cold morning. This illustrates </vt:lpstr>
      <vt:lpstr>A copper wire placed in a silver nitrate solution turns dark and “fuzzy.” This illustrates </vt:lpstr>
      <vt:lpstr>A copper wire placed in a silver nitrate solution turns dark and “fuzzy.” This illustrates </vt:lpstr>
      <vt:lpstr>A solution with a boiling point of 105 degrees Celsius contains either sugar or salt. How would you determine which is present?</vt:lpstr>
      <vt:lpstr>A solution with a boiling point of 105 degrees Celsius contains either sugar or salt. How would you determine which is present?</vt:lpstr>
      <vt:lpstr>Numbers and Chemistry</vt:lpstr>
      <vt:lpstr>Units of Measurement—Metric System (公制计量法)</vt:lpstr>
      <vt:lpstr>Units of Measurements—SI Units (国际计量单位)</vt:lpstr>
      <vt:lpstr>Units of Measurement— Prefixes in Metric System with SI units</vt:lpstr>
      <vt:lpstr>Mass and Length</vt:lpstr>
      <vt:lpstr>Volume</vt:lpstr>
      <vt:lpstr>Temperature</vt:lpstr>
      <vt:lpstr>Temperature</vt:lpstr>
      <vt:lpstr>Temperature</vt:lpstr>
      <vt:lpstr>Density</vt:lpstr>
      <vt:lpstr>Numbers Encountered in Science</vt:lpstr>
      <vt:lpstr>Uncertainty in Measurements</vt:lpstr>
      <vt:lpstr>Accuracy versus Precision</vt:lpstr>
      <vt:lpstr>Significant Figures (有效数字)</vt:lpstr>
      <vt:lpstr>Significant Figures (*)</vt:lpstr>
      <vt:lpstr>Significant Figures</vt:lpstr>
      <vt:lpstr>Dimensional Analysis (量纲分析)</vt:lpstr>
      <vt:lpstr>Dimensional Analysis (量纲分析)</vt:lpstr>
      <vt:lpstr>In three trials, a student measures a sample’s mass to be 0.100 g, 0.600 g, and 0.300 g. The accepted value is 0.340 g. The student’s data have</vt:lpstr>
      <vt:lpstr>In three trials, a student measures a sample’s mass to be to be 0.100 g, 0.600 g, and 0.300 g. The accepted value is 0.340 g. The student’s data have</vt:lpstr>
      <vt:lpstr>The measured quantity 0.0860 g contains _____ significant figures.</vt:lpstr>
      <vt:lpstr>The measured quantity 0.0860 g contains _____ significant figures.</vt:lpstr>
      <vt:lpstr>4.1 g + 7.08 g = _____ g</vt:lpstr>
      <vt:lpstr>4.1 g + 7.08 g = _____ g</vt:lpstr>
      <vt:lpstr>6.9 g – 5.07 g = _____ g</vt:lpstr>
      <vt:lpstr>6.9 g – 5.07 g = _____ g</vt:lpstr>
      <vt:lpstr>5.2 cm × 7.01 cm = ____ cm2</vt:lpstr>
      <vt:lpstr>5.2 cm × 7.01 cm = ____ cm2</vt:lpstr>
      <vt:lpstr>6.03 g ÷ 7.1 mL = _____ g/mL</vt:lpstr>
      <vt:lpstr>6.03 g ÷ 7.1 mL = _____ g/mL</vt:lpstr>
      <vt:lpstr>Which unit is not an SI base unit?</vt:lpstr>
      <vt:lpstr>Which unit is not an SI base unit?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Windows 用户</cp:lastModifiedBy>
  <cp:revision>105</cp:revision>
  <dcterms:created xsi:type="dcterms:W3CDTF">2006-08-16T00:00:00Z</dcterms:created>
  <dcterms:modified xsi:type="dcterms:W3CDTF">2018-09-03T10:26:25Z</dcterms:modified>
</cp:coreProperties>
</file>