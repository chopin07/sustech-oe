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emf" ContentType="image/x-e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105.xml" ContentType="application/vnd.openxmlformats-officedocument.presentationml.notesSlide+xml"/>
  <Override PartName="/ppt/notesSlides/notesSlide106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77.xml" ContentType="application/vnd.openxmlformats-officedocument.presentationml.slide+xml"/>
  <Override PartName="/ppt/slides/slide178.xml" ContentType="application/vnd.openxmlformats-officedocument.presentationml.slide+xml"/>
  <Override PartName="/ppt/slides/slide179.xml" ContentType="application/vnd.openxmlformats-officedocument.presentationml.slide+xml"/>
  <Override PartName="/ppt/slides/slide18.xml" ContentType="application/vnd.openxmlformats-officedocument.presentationml.slide+xml"/>
  <Override PartName="/ppt/slides/slide180.xml" ContentType="application/vnd.openxmlformats-officedocument.presentationml.slide+xml"/>
  <Override PartName="/ppt/slides/slide181.xml" ContentType="application/vnd.openxmlformats-officedocument.presentationml.slide+xml"/>
  <Override PartName="/ppt/slides/slide182.xml" ContentType="application/vnd.openxmlformats-officedocument.presentationml.slide+xml"/>
  <Override PartName="/ppt/slides/slide183.xml" ContentType="application/vnd.openxmlformats-officedocument.presentationml.slide+xml"/>
  <Override PartName="/ppt/slides/slide184.xml" ContentType="application/vnd.openxmlformats-officedocument.presentationml.slide+xml"/>
  <Override PartName="/ppt/slides/slide185.xml" ContentType="application/vnd.openxmlformats-officedocument.presentationml.slide+xml"/>
  <Override PartName="/ppt/slides/slide186.xml" ContentType="application/vnd.openxmlformats-officedocument.presentationml.slide+xml"/>
  <Override PartName="/ppt/slides/slide187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4" r:id="rId3"/>
  </p:sldMasterIdLst>
  <p:notesMasterIdLst>
    <p:notesMasterId r:id="rId5"/>
  </p:notesMasterIdLst>
  <p:sldIdLst>
    <p:sldId id="608" r:id="rId4"/>
    <p:sldId id="609" r:id="rId6"/>
    <p:sldId id="610" r:id="rId7"/>
    <p:sldId id="611" r:id="rId8"/>
    <p:sldId id="612" r:id="rId9"/>
    <p:sldId id="613" r:id="rId10"/>
    <p:sldId id="614" r:id="rId11"/>
    <p:sldId id="615" r:id="rId12"/>
    <p:sldId id="616" r:id="rId13"/>
    <p:sldId id="617" r:id="rId14"/>
    <p:sldId id="618" r:id="rId15"/>
    <p:sldId id="619" r:id="rId16"/>
    <p:sldId id="620" r:id="rId17"/>
    <p:sldId id="621" r:id="rId18"/>
    <p:sldId id="622" r:id="rId19"/>
    <p:sldId id="623" r:id="rId20"/>
    <p:sldId id="624" r:id="rId21"/>
    <p:sldId id="625" r:id="rId22"/>
    <p:sldId id="626" r:id="rId23"/>
    <p:sldId id="627" r:id="rId24"/>
    <p:sldId id="628" r:id="rId25"/>
    <p:sldId id="629" r:id="rId26"/>
    <p:sldId id="630" r:id="rId27"/>
    <p:sldId id="631" r:id="rId28"/>
    <p:sldId id="632" r:id="rId29"/>
    <p:sldId id="633" r:id="rId30"/>
    <p:sldId id="634" r:id="rId31"/>
    <p:sldId id="635" r:id="rId32"/>
    <p:sldId id="636" r:id="rId33"/>
    <p:sldId id="637" r:id="rId34"/>
    <p:sldId id="638" r:id="rId35"/>
    <p:sldId id="639" r:id="rId36"/>
    <p:sldId id="640" r:id="rId37"/>
    <p:sldId id="641" r:id="rId38"/>
    <p:sldId id="642" r:id="rId39"/>
    <p:sldId id="643" r:id="rId40"/>
    <p:sldId id="644" r:id="rId41"/>
    <p:sldId id="645" r:id="rId42"/>
    <p:sldId id="646" r:id="rId43"/>
    <p:sldId id="647" r:id="rId44"/>
    <p:sldId id="648" r:id="rId45"/>
    <p:sldId id="649" r:id="rId46"/>
    <p:sldId id="650" r:id="rId47"/>
    <p:sldId id="651" r:id="rId48"/>
    <p:sldId id="652" r:id="rId49"/>
    <p:sldId id="653" r:id="rId50"/>
    <p:sldId id="654" r:id="rId51"/>
    <p:sldId id="655" r:id="rId52"/>
    <p:sldId id="656" r:id="rId53"/>
    <p:sldId id="657" r:id="rId54"/>
    <p:sldId id="658" r:id="rId55"/>
    <p:sldId id="659" r:id="rId56"/>
    <p:sldId id="660" r:id="rId57"/>
    <p:sldId id="661" r:id="rId58"/>
    <p:sldId id="662" r:id="rId59"/>
    <p:sldId id="663" r:id="rId60"/>
    <p:sldId id="664" r:id="rId61"/>
    <p:sldId id="665" r:id="rId62"/>
    <p:sldId id="666" r:id="rId63"/>
    <p:sldId id="481" r:id="rId64"/>
    <p:sldId id="668" r:id="rId65"/>
    <p:sldId id="482" r:id="rId66"/>
    <p:sldId id="483" r:id="rId67"/>
    <p:sldId id="480" r:id="rId68"/>
    <p:sldId id="357" r:id="rId69"/>
    <p:sldId id="358" r:id="rId70"/>
    <p:sldId id="359" r:id="rId71"/>
    <p:sldId id="360" r:id="rId72"/>
    <p:sldId id="361" r:id="rId73"/>
    <p:sldId id="362" r:id="rId74"/>
    <p:sldId id="363" r:id="rId75"/>
    <p:sldId id="364" r:id="rId76"/>
    <p:sldId id="365" r:id="rId77"/>
    <p:sldId id="366" r:id="rId78"/>
    <p:sldId id="367" r:id="rId79"/>
    <p:sldId id="368" r:id="rId80"/>
    <p:sldId id="369" r:id="rId81"/>
    <p:sldId id="370" r:id="rId82"/>
    <p:sldId id="371" r:id="rId83"/>
    <p:sldId id="372" r:id="rId84"/>
    <p:sldId id="373" r:id="rId85"/>
    <p:sldId id="374" r:id="rId86"/>
    <p:sldId id="375" r:id="rId87"/>
    <p:sldId id="376" r:id="rId88"/>
    <p:sldId id="377" r:id="rId89"/>
    <p:sldId id="378" r:id="rId90"/>
    <p:sldId id="256" r:id="rId91"/>
    <p:sldId id="257" r:id="rId92"/>
    <p:sldId id="258" r:id="rId93"/>
    <p:sldId id="259" r:id="rId94"/>
    <p:sldId id="260" r:id="rId95"/>
    <p:sldId id="261" r:id="rId96"/>
    <p:sldId id="262" r:id="rId97"/>
    <p:sldId id="263" r:id="rId98"/>
    <p:sldId id="264" r:id="rId99"/>
    <p:sldId id="265" r:id="rId100"/>
    <p:sldId id="266" r:id="rId101"/>
    <p:sldId id="267" r:id="rId102"/>
    <p:sldId id="268" r:id="rId103"/>
    <p:sldId id="269" r:id="rId104"/>
    <p:sldId id="270" r:id="rId105"/>
    <p:sldId id="271" r:id="rId106"/>
    <p:sldId id="272" r:id="rId107"/>
    <p:sldId id="273" r:id="rId108"/>
    <p:sldId id="274" r:id="rId109"/>
    <p:sldId id="275" r:id="rId110"/>
    <p:sldId id="276" r:id="rId111"/>
    <p:sldId id="277" r:id="rId112"/>
    <p:sldId id="278" r:id="rId113"/>
    <p:sldId id="279" r:id="rId114"/>
    <p:sldId id="280" r:id="rId115"/>
    <p:sldId id="281" r:id="rId116"/>
    <p:sldId id="282" r:id="rId117"/>
    <p:sldId id="283" r:id="rId118"/>
    <p:sldId id="284" r:id="rId119"/>
    <p:sldId id="285" r:id="rId120"/>
    <p:sldId id="286" r:id="rId121"/>
    <p:sldId id="287" r:id="rId122"/>
    <p:sldId id="288" r:id="rId123"/>
    <p:sldId id="289" r:id="rId124"/>
    <p:sldId id="290" r:id="rId125"/>
    <p:sldId id="291" r:id="rId126"/>
    <p:sldId id="292" r:id="rId127"/>
    <p:sldId id="293" r:id="rId128"/>
    <p:sldId id="294" r:id="rId129"/>
    <p:sldId id="295" r:id="rId130"/>
    <p:sldId id="296" r:id="rId131"/>
    <p:sldId id="297" r:id="rId132"/>
    <p:sldId id="298" r:id="rId133"/>
    <p:sldId id="299" r:id="rId134"/>
    <p:sldId id="300" r:id="rId135"/>
    <p:sldId id="301" r:id="rId136"/>
    <p:sldId id="302" r:id="rId137"/>
    <p:sldId id="303" r:id="rId138"/>
    <p:sldId id="304" r:id="rId139"/>
    <p:sldId id="305" r:id="rId140"/>
    <p:sldId id="306" r:id="rId141"/>
    <p:sldId id="307" r:id="rId142"/>
    <p:sldId id="308" r:id="rId143"/>
    <p:sldId id="309" r:id="rId144"/>
    <p:sldId id="310" r:id="rId145"/>
    <p:sldId id="311" r:id="rId146"/>
    <p:sldId id="312" r:id="rId147"/>
    <p:sldId id="313" r:id="rId148"/>
    <p:sldId id="314" r:id="rId149"/>
    <p:sldId id="315" r:id="rId150"/>
    <p:sldId id="316" r:id="rId151"/>
    <p:sldId id="317" r:id="rId152"/>
    <p:sldId id="318" r:id="rId153"/>
    <p:sldId id="319" r:id="rId154"/>
    <p:sldId id="320" r:id="rId155"/>
    <p:sldId id="321" r:id="rId156"/>
    <p:sldId id="322" r:id="rId157"/>
    <p:sldId id="323" r:id="rId158"/>
    <p:sldId id="324" r:id="rId159"/>
    <p:sldId id="325" r:id="rId160"/>
    <p:sldId id="326" r:id="rId161"/>
    <p:sldId id="327" r:id="rId162"/>
    <p:sldId id="328" r:id="rId163"/>
    <p:sldId id="329" r:id="rId164"/>
    <p:sldId id="330" r:id="rId165"/>
    <p:sldId id="331" r:id="rId166"/>
    <p:sldId id="332" r:id="rId167"/>
    <p:sldId id="333" r:id="rId168"/>
    <p:sldId id="334" r:id="rId169"/>
    <p:sldId id="335" r:id="rId170"/>
    <p:sldId id="336" r:id="rId171"/>
    <p:sldId id="337" r:id="rId172"/>
    <p:sldId id="338" r:id="rId173"/>
    <p:sldId id="339" r:id="rId174"/>
    <p:sldId id="340" r:id="rId175"/>
    <p:sldId id="341" r:id="rId176"/>
    <p:sldId id="342" r:id="rId177"/>
    <p:sldId id="343" r:id="rId178"/>
    <p:sldId id="344" r:id="rId179"/>
    <p:sldId id="345" r:id="rId180"/>
    <p:sldId id="346" r:id="rId181"/>
    <p:sldId id="347" r:id="rId182"/>
    <p:sldId id="348" r:id="rId183"/>
    <p:sldId id="349" r:id="rId184"/>
    <p:sldId id="350" r:id="rId185"/>
    <p:sldId id="351" r:id="rId186"/>
    <p:sldId id="352" r:id="rId187"/>
    <p:sldId id="353" r:id="rId188"/>
    <p:sldId id="354" r:id="rId189"/>
    <p:sldId id="355" r:id="rId190"/>
    <p:sldId id="356" r:id="rId191"/>
  </p:sldIdLst>
  <p:sldSz cx="12192000" cy="6858000"/>
  <p:notesSz cx="6858000" cy="9144000"/>
  <p:custDataLst>
    <p:tags r:id="rId195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3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9" Type="http://schemas.openxmlformats.org/officeDocument/2006/relationships/slide" Target="slides/slide95.xml"/><Relationship Id="rId98" Type="http://schemas.openxmlformats.org/officeDocument/2006/relationships/slide" Target="slides/slide94.xml"/><Relationship Id="rId97" Type="http://schemas.openxmlformats.org/officeDocument/2006/relationships/slide" Target="slides/slide93.xml"/><Relationship Id="rId96" Type="http://schemas.openxmlformats.org/officeDocument/2006/relationships/slide" Target="slides/slide92.xml"/><Relationship Id="rId95" Type="http://schemas.openxmlformats.org/officeDocument/2006/relationships/slide" Target="slides/slide91.xml"/><Relationship Id="rId94" Type="http://schemas.openxmlformats.org/officeDocument/2006/relationships/slide" Target="slides/slide90.xml"/><Relationship Id="rId93" Type="http://schemas.openxmlformats.org/officeDocument/2006/relationships/slide" Target="slides/slide89.xml"/><Relationship Id="rId92" Type="http://schemas.openxmlformats.org/officeDocument/2006/relationships/slide" Target="slides/slide88.xml"/><Relationship Id="rId91" Type="http://schemas.openxmlformats.org/officeDocument/2006/relationships/slide" Target="slides/slide87.xml"/><Relationship Id="rId90" Type="http://schemas.openxmlformats.org/officeDocument/2006/relationships/slide" Target="slides/slide86.xml"/><Relationship Id="rId9" Type="http://schemas.openxmlformats.org/officeDocument/2006/relationships/slide" Target="slides/slide5.xml"/><Relationship Id="rId89" Type="http://schemas.openxmlformats.org/officeDocument/2006/relationships/slide" Target="slides/slide85.xml"/><Relationship Id="rId88" Type="http://schemas.openxmlformats.org/officeDocument/2006/relationships/slide" Target="slides/slide84.xml"/><Relationship Id="rId87" Type="http://schemas.openxmlformats.org/officeDocument/2006/relationships/slide" Target="slides/slide83.xml"/><Relationship Id="rId86" Type="http://schemas.openxmlformats.org/officeDocument/2006/relationships/slide" Target="slides/slide82.xml"/><Relationship Id="rId85" Type="http://schemas.openxmlformats.org/officeDocument/2006/relationships/slide" Target="slides/slide81.xml"/><Relationship Id="rId84" Type="http://schemas.openxmlformats.org/officeDocument/2006/relationships/slide" Target="slides/slide80.xml"/><Relationship Id="rId83" Type="http://schemas.openxmlformats.org/officeDocument/2006/relationships/slide" Target="slides/slide79.xml"/><Relationship Id="rId82" Type="http://schemas.openxmlformats.org/officeDocument/2006/relationships/slide" Target="slides/slide78.xml"/><Relationship Id="rId81" Type="http://schemas.openxmlformats.org/officeDocument/2006/relationships/slide" Target="slides/slide77.xml"/><Relationship Id="rId80" Type="http://schemas.openxmlformats.org/officeDocument/2006/relationships/slide" Target="slides/slide76.xml"/><Relationship Id="rId8" Type="http://schemas.openxmlformats.org/officeDocument/2006/relationships/slide" Target="slides/slide4.xml"/><Relationship Id="rId79" Type="http://schemas.openxmlformats.org/officeDocument/2006/relationships/slide" Target="slides/slide75.xml"/><Relationship Id="rId78" Type="http://schemas.openxmlformats.org/officeDocument/2006/relationships/slide" Target="slides/slide74.xml"/><Relationship Id="rId77" Type="http://schemas.openxmlformats.org/officeDocument/2006/relationships/slide" Target="slides/slide73.xml"/><Relationship Id="rId76" Type="http://schemas.openxmlformats.org/officeDocument/2006/relationships/slide" Target="slides/slide72.xml"/><Relationship Id="rId75" Type="http://schemas.openxmlformats.org/officeDocument/2006/relationships/slide" Target="slides/slide71.xml"/><Relationship Id="rId74" Type="http://schemas.openxmlformats.org/officeDocument/2006/relationships/slide" Target="slides/slide70.xml"/><Relationship Id="rId73" Type="http://schemas.openxmlformats.org/officeDocument/2006/relationships/slide" Target="slides/slide69.xml"/><Relationship Id="rId72" Type="http://schemas.openxmlformats.org/officeDocument/2006/relationships/slide" Target="slides/slide68.xml"/><Relationship Id="rId71" Type="http://schemas.openxmlformats.org/officeDocument/2006/relationships/slide" Target="slides/slide67.xml"/><Relationship Id="rId70" Type="http://schemas.openxmlformats.org/officeDocument/2006/relationships/slide" Target="slides/slide66.xml"/><Relationship Id="rId7" Type="http://schemas.openxmlformats.org/officeDocument/2006/relationships/slide" Target="slides/slide3.xml"/><Relationship Id="rId69" Type="http://schemas.openxmlformats.org/officeDocument/2006/relationships/slide" Target="slides/slide65.xml"/><Relationship Id="rId68" Type="http://schemas.openxmlformats.org/officeDocument/2006/relationships/slide" Target="slides/slide64.xml"/><Relationship Id="rId67" Type="http://schemas.openxmlformats.org/officeDocument/2006/relationships/slide" Target="slides/slide63.xml"/><Relationship Id="rId66" Type="http://schemas.openxmlformats.org/officeDocument/2006/relationships/slide" Target="slides/slide62.xml"/><Relationship Id="rId65" Type="http://schemas.openxmlformats.org/officeDocument/2006/relationships/slide" Target="slides/slide61.xml"/><Relationship Id="rId64" Type="http://schemas.openxmlformats.org/officeDocument/2006/relationships/slide" Target="slides/slide60.xml"/><Relationship Id="rId63" Type="http://schemas.openxmlformats.org/officeDocument/2006/relationships/slide" Target="slides/slide59.xml"/><Relationship Id="rId62" Type="http://schemas.openxmlformats.org/officeDocument/2006/relationships/slide" Target="slides/slide58.xml"/><Relationship Id="rId61" Type="http://schemas.openxmlformats.org/officeDocument/2006/relationships/slide" Target="slides/slide57.xml"/><Relationship Id="rId60" Type="http://schemas.openxmlformats.org/officeDocument/2006/relationships/slide" Target="slides/slide56.xml"/><Relationship Id="rId6" Type="http://schemas.openxmlformats.org/officeDocument/2006/relationships/slide" Target="slides/slide2.xml"/><Relationship Id="rId59" Type="http://schemas.openxmlformats.org/officeDocument/2006/relationships/slide" Target="slides/slide55.xml"/><Relationship Id="rId58" Type="http://schemas.openxmlformats.org/officeDocument/2006/relationships/slide" Target="slides/slide54.xml"/><Relationship Id="rId57" Type="http://schemas.openxmlformats.org/officeDocument/2006/relationships/slide" Target="slides/slide53.xml"/><Relationship Id="rId56" Type="http://schemas.openxmlformats.org/officeDocument/2006/relationships/slide" Target="slides/slide52.xml"/><Relationship Id="rId55" Type="http://schemas.openxmlformats.org/officeDocument/2006/relationships/slide" Target="slides/slide51.xml"/><Relationship Id="rId54" Type="http://schemas.openxmlformats.org/officeDocument/2006/relationships/slide" Target="slides/slide50.xml"/><Relationship Id="rId53" Type="http://schemas.openxmlformats.org/officeDocument/2006/relationships/slide" Target="slides/slide49.xml"/><Relationship Id="rId52" Type="http://schemas.openxmlformats.org/officeDocument/2006/relationships/slide" Target="slides/slide48.xml"/><Relationship Id="rId51" Type="http://schemas.openxmlformats.org/officeDocument/2006/relationships/slide" Target="slides/slide47.xml"/><Relationship Id="rId50" Type="http://schemas.openxmlformats.org/officeDocument/2006/relationships/slide" Target="slides/slide46.xml"/><Relationship Id="rId5" Type="http://schemas.openxmlformats.org/officeDocument/2006/relationships/notesMaster" Target="notesMasters/notesMaster1.xml"/><Relationship Id="rId49" Type="http://schemas.openxmlformats.org/officeDocument/2006/relationships/slide" Target="slides/slide45.xml"/><Relationship Id="rId48" Type="http://schemas.openxmlformats.org/officeDocument/2006/relationships/slide" Target="slides/slide44.xml"/><Relationship Id="rId47" Type="http://schemas.openxmlformats.org/officeDocument/2006/relationships/slide" Target="slides/slide43.xml"/><Relationship Id="rId46" Type="http://schemas.openxmlformats.org/officeDocument/2006/relationships/slide" Target="slides/slide42.xml"/><Relationship Id="rId45" Type="http://schemas.openxmlformats.org/officeDocument/2006/relationships/slide" Target="slides/slide41.xml"/><Relationship Id="rId44" Type="http://schemas.openxmlformats.org/officeDocument/2006/relationships/slide" Target="slides/slide40.xml"/><Relationship Id="rId43" Type="http://schemas.openxmlformats.org/officeDocument/2006/relationships/slide" Target="slides/slide39.xml"/><Relationship Id="rId42" Type="http://schemas.openxmlformats.org/officeDocument/2006/relationships/slide" Target="slides/slide38.xml"/><Relationship Id="rId41" Type="http://schemas.openxmlformats.org/officeDocument/2006/relationships/slide" Target="slides/slide37.xml"/><Relationship Id="rId40" Type="http://schemas.openxmlformats.org/officeDocument/2006/relationships/slide" Target="slides/slide36.xml"/><Relationship Id="rId4" Type="http://schemas.openxmlformats.org/officeDocument/2006/relationships/slide" Target="slides/slide1.xml"/><Relationship Id="rId39" Type="http://schemas.openxmlformats.org/officeDocument/2006/relationships/slide" Target="slides/slide35.xml"/><Relationship Id="rId38" Type="http://schemas.openxmlformats.org/officeDocument/2006/relationships/slide" Target="slides/slide34.xml"/><Relationship Id="rId37" Type="http://schemas.openxmlformats.org/officeDocument/2006/relationships/slide" Target="slides/slide33.xml"/><Relationship Id="rId36" Type="http://schemas.openxmlformats.org/officeDocument/2006/relationships/slide" Target="slides/slide32.xml"/><Relationship Id="rId35" Type="http://schemas.openxmlformats.org/officeDocument/2006/relationships/slide" Target="slides/slide31.xml"/><Relationship Id="rId34" Type="http://schemas.openxmlformats.org/officeDocument/2006/relationships/slide" Target="slides/slide30.xml"/><Relationship Id="rId33" Type="http://schemas.openxmlformats.org/officeDocument/2006/relationships/slide" Target="slides/slide29.xml"/><Relationship Id="rId32" Type="http://schemas.openxmlformats.org/officeDocument/2006/relationships/slide" Target="slides/slide28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25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5" Type="http://schemas.openxmlformats.org/officeDocument/2006/relationships/tags" Target="tags/tag12.xml"/><Relationship Id="rId194" Type="http://schemas.openxmlformats.org/officeDocument/2006/relationships/tableStyles" Target="tableStyles.xml"/><Relationship Id="rId193" Type="http://schemas.openxmlformats.org/officeDocument/2006/relationships/viewProps" Target="viewProps.xml"/><Relationship Id="rId192" Type="http://schemas.openxmlformats.org/officeDocument/2006/relationships/presProps" Target="presProps.xml"/><Relationship Id="rId191" Type="http://schemas.openxmlformats.org/officeDocument/2006/relationships/slide" Target="slides/slide187.xml"/><Relationship Id="rId190" Type="http://schemas.openxmlformats.org/officeDocument/2006/relationships/slide" Target="slides/slide186.xml"/><Relationship Id="rId19" Type="http://schemas.openxmlformats.org/officeDocument/2006/relationships/slide" Target="slides/slide15.xml"/><Relationship Id="rId189" Type="http://schemas.openxmlformats.org/officeDocument/2006/relationships/slide" Target="slides/slide185.xml"/><Relationship Id="rId188" Type="http://schemas.openxmlformats.org/officeDocument/2006/relationships/slide" Target="slides/slide184.xml"/><Relationship Id="rId187" Type="http://schemas.openxmlformats.org/officeDocument/2006/relationships/slide" Target="slides/slide183.xml"/><Relationship Id="rId186" Type="http://schemas.openxmlformats.org/officeDocument/2006/relationships/slide" Target="slides/slide182.xml"/><Relationship Id="rId185" Type="http://schemas.openxmlformats.org/officeDocument/2006/relationships/slide" Target="slides/slide181.xml"/><Relationship Id="rId184" Type="http://schemas.openxmlformats.org/officeDocument/2006/relationships/slide" Target="slides/slide180.xml"/><Relationship Id="rId183" Type="http://schemas.openxmlformats.org/officeDocument/2006/relationships/slide" Target="slides/slide179.xml"/><Relationship Id="rId182" Type="http://schemas.openxmlformats.org/officeDocument/2006/relationships/slide" Target="slides/slide178.xml"/><Relationship Id="rId181" Type="http://schemas.openxmlformats.org/officeDocument/2006/relationships/slide" Target="slides/slide177.xml"/><Relationship Id="rId180" Type="http://schemas.openxmlformats.org/officeDocument/2006/relationships/slide" Target="slides/slide176.xml"/><Relationship Id="rId18" Type="http://schemas.openxmlformats.org/officeDocument/2006/relationships/slide" Target="slides/slide14.xml"/><Relationship Id="rId179" Type="http://schemas.openxmlformats.org/officeDocument/2006/relationships/slide" Target="slides/slide175.xml"/><Relationship Id="rId178" Type="http://schemas.openxmlformats.org/officeDocument/2006/relationships/slide" Target="slides/slide174.xml"/><Relationship Id="rId177" Type="http://schemas.openxmlformats.org/officeDocument/2006/relationships/slide" Target="slides/slide173.xml"/><Relationship Id="rId176" Type="http://schemas.openxmlformats.org/officeDocument/2006/relationships/slide" Target="slides/slide172.xml"/><Relationship Id="rId175" Type="http://schemas.openxmlformats.org/officeDocument/2006/relationships/slide" Target="slides/slide171.xml"/><Relationship Id="rId174" Type="http://schemas.openxmlformats.org/officeDocument/2006/relationships/slide" Target="slides/slide170.xml"/><Relationship Id="rId173" Type="http://schemas.openxmlformats.org/officeDocument/2006/relationships/slide" Target="slides/slide169.xml"/><Relationship Id="rId172" Type="http://schemas.openxmlformats.org/officeDocument/2006/relationships/slide" Target="slides/slide168.xml"/><Relationship Id="rId171" Type="http://schemas.openxmlformats.org/officeDocument/2006/relationships/slide" Target="slides/slide167.xml"/><Relationship Id="rId170" Type="http://schemas.openxmlformats.org/officeDocument/2006/relationships/slide" Target="slides/slide166.xml"/><Relationship Id="rId17" Type="http://schemas.openxmlformats.org/officeDocument/2006/relationships/slide" Target="slides/slide13.xml"/><Relationship Id="rId169" Type="http://schemas.openxmlformats.org/officeDocument/2006/relationships/slide" Target="slides/slide165.xml"/><Relationship Id="rId168" Type="http://schemas.openxmlformats.org/officeDocument/2006/relationships/slide" Target="slides/slide164.xml"/><Relationship Id="rId167" Type="http://schemas.openxmlformats.org/officeDocument/2006/relationships/slide" Target="slides/slide163.xml"/><Relationship Id="rId166" Type="http://schemas.openxmlformats.org/officeDocument/2006/relationships/slide" Target="slides/slide162.xml"/><Relationship Id="rId165" Type="http://schemas.openxmlformats.org/officeDocument/2006/relationships/slide" Target="slides/slide161.xml"/><Relationship Id="rId164" Type="http://schemas.openxmlformats.org/officeDocument/2006/relationships/slide" Target="slides/slide160.xml"/><Relationship Id="rId163" Type="http://schemas.openxmlformats.org/officeDocument/2006/relationships/slide" Target="slides/slide159.xml"/><Relationship Id="rId162" Type="http://schemas.openxmlformats.org/officeDocument/2006/relationships/slide" Target="slides/slide158.xml"/><Relationship Id="rId161" Type="http://schemas.openxmlformats.org/officeDocument/2006/relationships/slide" Target="slides/slide157.xml"/><Relationship Id="rId160" Type="http://schemas.openxmlformats.org/officeDocument/2006/relationships/slide" Target="slides/slide156.xml"/><Relationship Id="rId16" Type="http://schemas.openxmlformats.org/officeDocument/2006/relationships/slide" Target="slides/slide12.xml"/><Relationship Id="rId159" Type="http://schemas.openxmlformats.org/officeDocument/2006/relationships/slide" Target="slides/slide155.xml"/><Relationship Id="rId158" Type="http://schemas.openxmlformats.org/officeDocument/2006/relationships/slide" Target="slides/slide154.xml"/><Relationship Id="rId157" Type="http://schemas.openxmlformats.org/officeDocument/2006/relationships/slide" Target="slides/slide153.xml"/><Relationship Id="rId156" Type="http://schemas.openxmlformats.org/officeDocument/2006/relationships/slide" Target="slides/slide152.xml"/><Relationship Id="rId155" Type="http://schemas.openxmlformats.org/officeDocument/2006/relationships/slide" Target="slides/slide151.xml"/><Relationship Id="rId154" Type="http://schemas.openxmlformats.org/officeDocument/2006/relationships/slide" Target="slides/slide150.xml"/><Relationship Id="rId153" Type="http://schemas.openxmlformats.org/officeDocument/2006/relationships/slide" Target="slides/slide149.xml"/><Relationship Id="rId152" Type="http://schemas.openxmlformats.org/officeDocument/2006/relationships/slide" Target="slides/slide148.xml"/><Relationship Id="rId151" Type="http://schemas.openxmlformats.org/officeDocument/2006/relationships/slide" Target="slides/slide147.xml"/><Relationship Id="rId150" Type="http://schemas.openxmlformats.org/officeDocument/2006/relationships/slide" Target="slides/slide146.xml"/><Relationship Id="rId15" Type="http://schemas.openxmlformats.org/officeDocument/2006/relationships/slide" Target="slides/slide11.xml"/><Relationship Id="rId149" Type="http://schemas.openxmlformats.org/officeDocument/2006/relationships/slide" Target="slides/slide145.xml"/><Relationship Id="rId148" Type="http://schemas.openxmlformats.org/officeDocument/2006/relationships/slide" Target="slides/slide144.xml"/><Relationship Id="rId147" Type="http://schemas.openxmlformats.org/officeDocument/2006/relationships/slide" Target="slides/slide143.xml"/><Relationship Id="rId146" Type="http://schemas.openxmlformats.org/officeDocument/2006/relationships/slide" Target="slides/slide142.xml"/><Relationship Id="rId145" Type="http://schemas.openxmlformats.org/officeDocument/2006/relationships/slide" Target="slides/slide141.xml"/><Relationship Id="rId144" Type="http://schemas.openxmlformats.org/officeDocument/2006/relationships/slide" Target="slides/slide140.xml"/><Relationship Id="rId143" Type="http://schemas.openxmlformats.org/officeDocument/2006/relationships/slide" Target="slides/slide139.xml"/><Relationship Id="rId142" Type="http://schemas.openxmlformats.org/officeDocument/2006/relationships/slide" Target="slides/slide138.xml"/><Relationship Id="rId141" Type="http://schemas.openxmlformats.org/officeDocument/2006/relationships/slide" Target="slides/slide137.xml"/><Relationship Id="rId140" Type="http://schemas.openxmlformats.org/officeDocument/2006/relationships/slide" Target="slides/slide136.xml"/><Relationship Id="rId14" Type="http://schemas.openxmlformats.org/officeDocument/2006/relationships/slide" Target="slides/slide10.xml"/><Relationship Id="rId139" Type="http://schemas.openxmlformats.org/officeDocument/2006/relationships/slide" Target="slides/slide135.xml"/><Relationship Id="rId138" Type="http://schemas.openxmlformats.org/officeDocument/2006/relationships/slide" Target="slides/slide134.xml"/><Relationship Id="rId137" Type="http://schemas.openxmlformats.org/officeDocument/2006/relationships/slide" Target="slides/slide133.xml"/><Relationship Id="rId136" Type="http://schemas.openxmlformats.org/officeDocument/2006/relationships/slide" Target="slides/slide132.xml"/><Relationship Id="rId135" Type="http://schemas.openxmlformats.org/officeDocument/2006/relationships/slide" Target="slides/slide131.xml"/><Relationship Id="rId134" Type="http://schemas.openxmlformats.org/officeDocument/2006/relationships/slide" Target="slides/slide130.xml"/><Relationship Id="rId133" Type="http://schemas.openxmlformats.org/officeDocument/2006/relationships/slide" Target="slides/slide129.xml"/><Relationship Id="rId132" Type="http://schemas.openxmlformats.org/officeDocument/2006/relationships/slide" Target="slides/slide128.xml"/><Relationship Id="rId131" Type="http://schemas.openxmlformats.org/officeDocument/2006/relationships/slide" Target="slides/slide127.xml"/><Relationship Id="rId130" Type="http://schemas.openxmlformats.org/officeDocument/2006/relationships/slide" Target="slides/slide126.xml"/><Relationship Id="rId13" Type="http://schemas.openxmlformats.org/officeDocument/2006/relationships/slide" Target="slides/slide9.xml"/><Relationship Id="rId129" Type="http://schemas.openxmlformats.org/officeDocument/2006/relationships/slide" Target="slides/slide125.xml"/><Relationship Id="rId128" Type="http://schemas.openxmlformats.org/officeDocument/2006/relationships/slide" Target="slides/slide124.xml"/><Relationship Id="rId127" Type="http://schemas.openxmlformats.org/officeDocument/2006/relationships/slide" Target="slides/slide123.xml"/><Relationship Id="rId126" Type="http://schemas.openxmlformats.org/officeDocument/2006/relationships/slide" Target="slides/slide122.xml"/><Relationship Id="rId125" Type="http://schemas.openxmlformats.org/officeDocument/2006/relationships/slide" Target="slides/slide121.xml"/><Relationship Id="rId124" Type="http://schemas.openxmlformats.org/officeDocument/2006/relationships/slide" Target="slides/slide120.xml"/><Relationship Id="rId123" Type="http://schemas.openxmlformats.org/officeDocument/2006/relationships/slide" Target="slides/slide119.xml"/><Relationship Id="rId122" Type="http://schemas.openxmlformats.org/officeDocument/2006/relationships/slide" Target="slides/slide118.xml"/><Relationship Id="rId121" Type="http://schemas.openxmlformats.org/officeDocument/2006/relationships/slide" Target="slides/slide117.xml"/><Relationship Id="rId120" Type="http://schemas.openxmlformats.org/officeDocument/2006/relationships/slide" Target="slides/slide116.xml"/><Relationship Id="rId12" Type="http://schemas.openxmlformats.org/officeDocument/2006/relationships/slide" Target="slides/slide8.xml"/><Relationship Id="rId119" Type="http://schemas.openxmlformats.org/officeDocument/2006/relationships/slide" Target="slides/slide115.xml"/><Relationship Id="rId118" Type="http://schemas.openxmlformats.org/officeDocument/2006/relationships/slide" Target="slides/slide114.xml"/><Relationship Id="rId117" Type="http://schemas.openxmlformats.org/officeDocument/2006/relationships/slide" Target="slides/slide113.xml"/><Relationship Id="rId116" Type="http://schemas.openxmlformats.org/officeDocument/2006/relationships/slide" Target="slides/slide112.xml"/><Relationship Id="rId115" Type="http://schemas.openxmlformats.org/officeDocument/2006/relationships/slide" Target="slides/slide111.xml"/><Relationship Id="rId114" Type="http://schemas.openxmlformats.org/officeDocument/2006/relationships/slide" Target="slides/slide110.xml"/><Relationship Id="rId113" Type="http://schemas.openxmlformats.org/officeDocument/2006/relationships/slide" Target="slides/slide109.xml"/><Relationship Id="rId112" Type="http://schemas.openxmlformats.org/officeDocument/2006/relationships/slide" Target="slides/slide108.xml"/><Relationship Id="rId111" Type="http://schemas.openxmlformats.org/officeDocument/2006/relationships/slide" Target="slides/slide107.xml"/><Relationship Id="rId110" Type="http://schemas.openxmlformats.org/officeDocument/2006/relationships/slide" Target="slides/slide106.xml"/><Relationship Id="rId11" Type="http://schemas.openxmlformats.org/officeDocument/2006/relationships/slide" Target="slides/slide7.xml"/><Relationship Id="rId109" Type="http://schemas.openxmlformats.org/officeDocument/2006/relationships/slide" Target="slides/slide105.xml"/><Relationship Id="rId108" Type="http://schemas.openxmlformats.org/officeDocument/2006/relationships/slide" Target="slides/slide104.xml"/><Relationship Id="rId107" Type="http://schemas.openxmlformats.org/officeDocument/2006/relationships/slide" Target="slides/slide103.xml"/><Relationship Id="rId106" Type="http://schemas.openxmlformats.org/officeDocument/2006/relationships/slide" Target="slides/slide102.xml"/><Relationship Id="rId105" Type="http://schemas.openxmlformats.org/officeDocument/2006/relationships/slide" Target="slides/slide101.xml"/><Relationship Id="rId104" Type="http://schemas.openxmlformats.org/officeDocument/2006/relationships/slide" Target="slides/slide100.xml"/><Relationship Id="rId103" Type="http://schemas.openxmlformats.org/officeDocument/2006/relationships/slide" Target="slides/slide99.xml"/><Relationship Id="rId102" Type="http://schemas.openxmlformats.org/officeDocument/2006/relationships/slide" Target="slides/slide98.xml"/><Relationship Id="rId101" Type="http://schemas.openxmlformats.org/officeDocument/2006/relationships/slide" Target="slides/slide97.xml"/><Relationship Id="rId100" Type="http://schemas.openxmlformats.org/officeDocument/2006/relationships/slide" Target="slides/slide96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T" type="integer" max="2147480000" units="dev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  <inkml:channelProperty channel="T" name="resolution" value="28.34646" units="1/dev"/>
        </inkml:channelProperties>
      </inkml:inkSource>
      <inkml:timestamp xml:id="ts0" timeString="2022-01-07T19:57:1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2963 16457 0,'53'0'250,"53"0"500,-18 0 765,71 18 1046,-88-1 1327,193 19 1624,107-19 1936,-19 19 2264,336 69 2623,-247-69 2998,-53 17 3388,89-1 3794,122-16 4216,-193 17 4653,-106-36 5106,35-17 5575,71 0 6059,-159 0 6559,-89 0 7074,195-35 7605,-88 35 8152,-54-18 8714,1 18 9292,211-17 9901,-158 17 10526,-18 0 11166,-18 0 11822,195 0 12494,-213 0 13181,1 0 13884,-36-18 14603,-105 18 15322,105-18 16056,-17-17 16806,-53 35 17571,105-35 18352,-52 0 19149,18-1 19961,17 19 20805,-18-1 21664,-35 0 22539,18 18 23429,17-17 24335,-35-1 25257,-52 1 26194,87-1 27147,-88 0 28116,18 18 29100,0-35 30100,0 17 31115,-53 1 32130,70-1 33161,-70 0 34208,53 18 35270,17-35 36348,89-18 37457,-124 18 38566,71 0 39706,-124 35 40846,106-53 42002,-53 17 43174,18 19 44361,-18 17 45564,-35 0 46783,0-18 48017,0 1 49267,53-36 50532,-53 17 51813,0-17 53110,17 18 54422,36-71 55750,-35 71 57094,-1-35 58469,19-1 59859,-19 36 61265,-17-36 62687,18 18 64124,17-88 65577,-35 53 67046,17 0 68530,-17 17 70030,18 18 71545,-36 36 73076,0-19 74623,18 1 76185,18-36 77763,-1 54 79372,-17-18 80997,-17-1 82622,-1 36 84262,0 0 85918,18 0 87590,18 0 89277,-18 0 90980,17-17 92699,-17-1 94433,-18 18 96183,53 0 97948,-35-18 99729,-17 18 101526,52-17 103338,-35 17 105166,0 0 107010,0 0 108885,-36 0 110760,36 0 112650,18 0 114556,-1 0 116478</inkml:trace>
  <inkml:trace contextRef="#ctx0" brushRef="#br0">17621 13176 0,'-53'53'250,"-35"-18"500,0 1 765,-159 70 1046,106-71 1343,35-18 1655,53-17 1967,-70 0 2295,34 0 2638,1-17 2997,18-18 3372,-54-89 3778,36 71 4200,35-17 4637,18 34 5090,0-34 5558,-1-36 6042,1 18 6542,-18-36 7057,18 54 7588,0-1 8135,17 1 8697,18-54 9275,0 18 9868,0 18 10477,0 0 11102,0 17 11758,0-34 12430,18 34 13117,52-158 13820,-35 105 14538,-17 1 15272,17 52 16022,1 18 16787,-36 36 17568,17 17 18365,1-18 19177,17 18 20005,0 0 20848,36-18 21707,88 18 22597,-53 0 23503,17 0 24425,-17 0 25362,53 0 26315,-89 18 27283,18 0 28267,-35 17 29267,18 18 30282,-18-18 31313,0-17 32360,17 70 33422,-17-35 34500,-35-36 35593,-1 19 36702,19-1 37827,-36 0 38967,17-17 40139,-17 88 41326,0-71 42529,0-17 43732,36 70 44950,-19 53 46184,-17-88 47434,0 70 48699,0-70 49980,0 35 51277,-53 54 52589,36-37 53917,-19-16 55260,-17-19 56635,-35 36 58010,53-53 59400,0-35 60822,17 17 62244,0-18 63681,-17 19 65134,18-19 66602,-19 19 68086,-17-1 69586,36-35 71101,-1 0 72632,-35 0 74179</inkml:trace>
  <inkml:trace contextRef="#ctx0" brushRef="#br0">18309 14993 0,'18'0'1938,"-1"0"3907,-17 18 7689,0-1 11471,-17 19 15299,-1-36 19143,1 0 23300,-1 0 27472,0 0 31660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T" type="integer" max="2147480000" units="dev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  <inkml:channelProperty channel="T" name="resolution" value="28.34646" units="1/dev"/>
        </inkml:channelProperties>
      </inkml:inkSource>
      <inkml:timestamp xml:id="ts0" timeString="2022-01-07T19:57:1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6068 12153 0</inkml:trace>
  <inkml:trace contextRef="#ctx0" brushRef="#br0">6015 13123 0,'53'0'234,"17"0"468,19 0 718,105 0 983,-53 0 1264,17-17 1561,1-19 1873,-88 19 2185,158-89 2513,0 35 2856,-35 1 3215,0 17 3605,-105 53 4011,-19 0 4433,71-18 4870,-35 1 5323,18-1 5791,34 18 6275,-105-18 6775,53 18 7290,-35 0 7821,-1 0 8368,-17 0 8930,18-17 9508,-18 17 10101,17 0 10710,18 0 11350,0 0 12006,-52 0 12678,87 17 13365,-17 19 14068,0-1 14786,70 18 15520,-17-18 16270,0 0 17035,-53 1 17816,35 17 18613,123-53 19425,-87 0 20253,-19 17 21096,-52-17 21955,-35 0 22814,52 0 23704,1 0 24610,229 0 25532,-89 0 26469,159-70 27422,89 17 28390,-71 17 29374,159-34 30374,-389-18 31389,-70 52 32420,-35-34 33467,-35 17 34514,70-18 35576,35 1 36654,1-18 37747,-18 52 38872,-54 19 40012,-16 17 41168,122-18 42340,-52 18 43527,-18 0 44730,18 18 45948,-36 17 47182,107 53 48432,-125-53 49697,19 1 50978,35 17 52275,-71 35 53587,35-35 54915,-52 0 56258,105 17 57617,-35 1 59007,0-1 60413,-17-17 61835,-1 0 63272,-52-35 64725,-36-18 66193,-17 0 67661,70 0 69145,89-35 70645,-89-1 72160,35-34 73691,71-54 75238,-53 18 76800,71-52 78378,17-107 79971,1 1 81580,-142 140 83205,-53 53 84861,-17 36 86517,-1 0 88189,-17 17 89876</inkml:trace>
  <inkml:trace contextRef="#ctx0" brushRef="#br0">19473 11659 0</inkml:trace>
  <inkml:trace contextRef="#ctx0" brushRef="#br0">18080 15064 0</inkml:trace>
  <inkml:trace contextRef="#ctx0" brushRef="#br0">18080 15064 0</inkml:trace>
  <inkml:trace contextRef="#ctx0" brushRef="#br0">18080 15064 0</inkml:trace>
  <inkml:trace contextRef="#ctx0" brushRef="#br0">18080 15064 0</inkml:trace>
  <inkml:trace contextRef="#ctx0" brushRef="#br0">18080 15064 0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T" type="integer" max="2147480000" units="dev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  <inkml:channelProperty channel="T" name="resolution" value="28.34646" units="1/dev"/>
        </inkml:channelProperties>
      </inkml:inkSource>
      <inkml:timestamp xml:id="ts0" timeString="2022-01-07T19:57:1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20761 9701 0</inkml:trace>
  <inkml:trace contextRef="#ctx0" brushRef="#br0">20761 9701 0,'0'18'344,"0"0"704,0-1 1079,0 1 1470,0 17 1877,0 18 2299,0-18 2737,0 18 3175,0 0 3628,0-35 4097,0 35 4582,0 0 5082,0-18 5598,0-17 6130,0 35 6677,0-18 7240,0-18 7818,0 1 8412,0 35 9037,0-35 9709,0-1 10428,0 1 11163,0 0 11929,0-1 12773</inkml:trace>
  <inkml:trace contextRef="#ctx0" brushRef="#br0">20743 9719 0,'18'0'297,"0"0"609,-1 0 937,19 0 1280,-1 0 1639,-18 0 2014,19 0 2404,-19 0 2810,1 0 3232,0 0 3669,-1 0 4106,1 0 4559,0 0 5027,17 0 5511,-18 0 6026,19 0 6557,-19 0 7119,-17 18 7775,0-1 8447,0 1 9150,0 0 9868,0-1 10602,0 1 11352,0 17 12133,0-17 12930,0-1 13742,-35-17 14570,17 0 15413,18 18 16272,0 0 17131,-17-1 18006,-1-17 18896,18 36 19802,-17-36 20724,-1 17 21661,0 1 22614,1 0 23582,-19-1 24566,36 18 25581,-17-35 26612,-1 18 27659,0 0 28721,18-1 29799,-17-17 30892,-18 0 32001,35 18 33141,-18 0 34297,0-18 35484,1 0 36687,-1 0 37905,0 0 39139,18 17 40404,-17-17 41685</inkml:trace>
  <inkml:trace contextRef="#ctx0" brushRef="#br0">21325 9737 0,'0'17'328,"0"1"672,0 0 1031,0-1 1421,0 18 1843,0-17 2280,0 0 2749,0-1 3233,0 1 3733,0 0 4233,0 17 4748,0-17 5279,0 17 5826,0-17 6373,0-1 6967,0 18 7576,0 1 8201,0-19 8841,0 1 9497,0 0 10153,18-18 10825,-18 35 11512,0-17 12215,18-1 12934,-18 1 13668,0-1 14418,0 1 15183,17-18 15964,-17 18 16761,18-18 17589,-18 35 18433,18-35 19292,-18 18 20198,35-18 21167,-17 0 22229,-18-36 23307,0 19 24401,17-1 25510,-17 0 26635,18-17 27775,-18 18 28915,0-19 30071,0 19 31243,0-19 32430,0 19 33633,0-19 34852,0 1 36086,17 35 37336,-17-35 38601,0 0 39882,0-1 41179,18 19 42491,-18-1 43835,35 18 45194,-17-35 46569,-18 17 47975,18-17 49397,-1 35 50834,-17-18 52271,0 1 53724,0-1 55193,18 0 56677,-18 1 58177,18-1 59692,-18 0 61239,17 18 62801</inkml:trace>
  <inkml:trace contextRef="#ctx0" brushRef="#br0">21908 9966 0,'17'0'328,"1"0"672,-1 0 1031,1 0 1406,0 0 1812,-1 0 2249,19 0 2702,-19 0 3202,1 0 3718,0 0 4265,-1 0 4859,1 0 5500,17 0 6203,-17 0 6922</inkml:trace>
  <inkml:trace contextRef="#ctx0" brushRef="#br0">21908 10160 0,'17'0'328,"1"0"671,-1 0 1030,-17 18 1436,18-18 1858,0 0 2295,-1 0 2748,1 0 3216,0 0 3716,-1 0 4263,1 0 4825,0 0 5403,-1 0 6043,1 0 6730,-1 0 7433,1 0 8167,0 0 8932</inkml:trace>
  <inkml:trace contextRef="#ctx0" brushRef="#br0">22507 9966 0,'0'18'344,"0"-1"688,0 1 1047,0 0 1438,0-1 1829,0 1 2251,0-1 2688,0 1 3141,0 0 3610,0-1 4094,0 1 4610,0 0 5157,0-1 5735,0 1 6313,0 0 6907,0-36 7938,0 0 9000,0 1 10062,18-19 11140,-18 1 12249,17 35 13374,1 0 14515,-18-18 15671,18 18 16843,-18-17 18030,17 17 19249,-17-18 20483,0 1 21749,18 17 23030,-18-18 24327,18 18 25655,-1 0 26999,1-18 28358,0 18 29764,-1 0 31186,1 0 32686,-18 18 34311,0 0 35936,0-1 37592,0 1 39279,0-1 40982,0 1 42732,0 0 44513,0-1 46310,0 1 48122,0 0 49966,0-1 51888,0 1 53857,0 0 55857,18-18 57888,-18 17 59982,0 1 62091,0-1 64232,0 1 66419,0 0 68638,0-1 70950,17-17 73294,-17 18 75653</inkml:trace>
  <inkml:trace contextRef="#ctx0" brushRef="#br0">22983 9596 0,'0'17'343,"0"1"686,0-1 1092,0 1 1529,0 0 1982,0-1 2466,0 1 2966,-17 0 3481,17 17 4012,0 0 4559,-18 0 5121,18 1 5699,0-19 6292,0 1 6901,0 0 7510,0 17 8135,-17 0 8775,17-17 9431,0 17 10103,0 18 10790,0-35 11493,0-1 12227,0 36 12977,0-17 13742,0-1 14523,-18-18 15320,18 19 16132,0-1 16960,0-17 17803,0 35 18662,0-36 19537,0 18 20427,0 1 21333,0-1 22270,0-17 23207,0 17 24160,0 0 25144,0 1 26144,0-19 27159,0 36 28190,0-18 29237</inkml:trace>
  <inkml:trace contextRef="#ctx0" brushRef="#br0">23001 9772 0,'18'0'360,"-1"0"735,1 0 1142,0 0 1564,-1 0 2002,19 0 2487,-19 0 3019,1 0 3566,-1 0 4129,1 0 4723,0 0 5333,-18 18 5974,0-1 6631,35-17 7303,-17 0 7991,-18 18 8679,0-1 9398,17-17 10133,-17 36 10883,0-19 11649,0 1 12446,0 0 13259,0-1 14087,0 1 14931,0 0 15791,0 17 16666,0-17 17557,0-1 18479,0 1 19417,-17-18 20480,-19 0 21558,36 17 22652,-17-17 23762,-1 0 24887,18 18 26028,-18-18 27185,1 18 28357,-1-1 29545,-17 1 30764,17-18 31999,1 0 33265,-1 18 34547,18-1 35844,-18-17 37157,18 18 38485,-17-18 39845,-1 0 41220,0 0 42658,18 18 44111,-17-18 45564,17 35 47049,-18-35 48565,1 0 50175,17 17 52019,17 1 53863,-17 0 55723,18 17 57598,-1-17 59489,1-1 61396,0-17 63318,-18 18 65256,17 17 67209,1 0 69178,35-17 71163,-18 17 73163,-35-17 75179,18-18 77211,-1 35 79258,19-17 81321,-19-18 83399,1 0 85493,-18 18 87603,18-18 89728,-18 17 91869,17-17 94026</inkml:trace>
  <inkml:trace contextRef="#ctx0" brushRef="#br0">23566 9666 0,'17'0'312,"1"0"640,17 0 983,-17 0 1342,17 0 1717,0 0 2107,1 0 2513,-19 0 2935,36 0 3372,-35 0 3825,-1 0 4278,1 0 4746,17 0 5246,1 0 5761,-19 0 6308,1 0 6870,0 0 7448,-1 0 8073,-17 18 8776</inkml:trace>
  <inkml:trace contextRef="#ctx0" brushRef="#br0">23795 9684 0,'0'17'313,"0"1"642,0 0 986,0 17 1346,0-17 1721,0 17 2112,0-18 2503,0 1 2910,0 17 3332,0 18 3770,0 0 4224,0-35 4693,0 35 5178,0-18 5678,0 0 6194,0-17 6710,0 0 7242,0 17 7789,0 0 8368,0 18 8962,0 0 9572,0-35 10197,0 17 10838,0 0 11495,0 0 12167,0-17 12855,0 35 13559,0-35 14278,0 17 15013,0 0 15763,0-17 16529,0 0 17311</inkml:trace>
  <inkml:trace contextRef="#ctx0" brushRef="#br0">7832 12506 0</inkml:trace>
  <inkml:trace contextRef="#ctx0" brushRef="#br0">7761 12471 0,'35'0'234,"18"0"468,71 0 718,87 0 983,-17 0 1264,0 0 1560,-123 0 1856,0 0 2168,-1 0 2496,-17 0 2839,0 0 3214,18 0 3604,-19 0 4010,19 0 4431,17 0 4868,-53 0 5321,1 0 5789,17 0 6273,0 0 6773,-18 0 7288,-17 0 7819,70 0 8365,-53 0 8927,18 0 9505,35 0 10098,18 0 10723,-36 0 11363,36 0 12019,-53 0 12690,35 0 13377,-35 0 14080,0-18 14798,-17 18 15532,-19 0 16282,18 0 17047,36 0 17828,17 0 18624,-35 0 19436,18 0 20264,-1 0 21107,-52 0 21950,52 0 22825,1-18 23715,-36 18 24621,36 0 25542,-36-17 26479,71 17 27432,-53 0 28400,-18 0 29384,0 0 30368,18 0 31368,0-18 32383,18 18 33414,-36 0 34460,18-18 35522,-18 18 36600,1-35 37693,16 18 38818,1-1 39958,0 0 41114,53 18 42285,-71 0 43472,1 0 44675,17-17 45893,17 17 47127,1 0 48377,-18 0 49642,0 0 50923,-1 0 52204,-16 0 53500,17 0 54812,17 0 56140,89 70 57483,-88-52 58842,34-1 60232,1-17 61638,-53 36 63059,0-36 64496,53 17 65949,-18 1 67417,-17 0 68901,34-1 70401,54-17 71916,-88 0 73447,17 0 74993,-35 0 76555,53 0 78133,-71 0 79726,53 0 81335,-35 0 82975,18 0 84631,-18 0 86302,-18 0 87989,53 0 89692,-70 0 91410,17 0 93144,18 0 94894,0 0 96659,-18 0 98440,18 0 100236,-18 0 102048,71 0 103876,-53 0 105719,35 0 107578,-17 0 109468,35 0 111374,-54 18 113295,19-18 115232,17 0 117185,-17 0 119153,-1 0 121137,19 0 123137,-37 0 125137,54 0 127152,18 0 129183,-54 18 131229,1-18 133291,17 0 135369,-17 17 137462,-18-17 139571,-1 0 141711,1 0 143867,-35 0 146038,17 18 148225,18-18 150428,-35 0 152646,-1 18 154880,19-18 157130,17 0 159395,-36 0 161676,19 0 163972,34 0 166284,1 35 168612,-18-35 170955,17 0 173330,36 17 175720,-18-17 178126,36 0 180532,-18 0 182969,-54 18 185406,1-18 187859,18 18 190327,-18-18 192811,35 0 195311,-35 0 197826,17 0 200357,19 0 202903,-36 0 205465,0 0 208043,-18 0 210636,35 0 213261,-17 0 215901,-17 0 218557,16 0 221228,1 0 223915,-35 0 226618,17 0 229336,18 0 232070,-35 0 234820,0 0 237585,34 0 240366,-34 0 243162,0 0 245990,-1 0 248833,1 0 251692,0 0 254567,17 0 257442,-17 0 260332,17 0 263253,-18 0 266190,19 0 269143,-19 0 272096,19 0 275064,-1-18 278048,-17 18 281048,52-53 284063,-17 36 287094,18-1 290140,-36 18 293202,0-35 296280,36 35 299373,-54-18 302498,19 18 305638,-19 0 308794,19 0 311997,-1 0 315215,-18 0 318449,19 0 321699,-1 0 324964,-17-18 328245,-1 18 331526,19 0 334822,-19 0 338134,18 0 341462,1-17 344805,-1 17 348180,-17 0 351570,17 0 354976,-17 0 358397,-1 0 361834,1 0 365287,0 0 368787,-1 0 372302,1 0 375833,17 0 379379,0 0 382941,-17 0 386519,0 0 390112,-1 0 393721,36 0 397346,-18 0 401002,-17 0 404689,0 0 408407,-1 0 412172</inkml:trace>
  <inkml:trace contextRef="#ctx0" brushRef="#br0">2910 13564 0,'53'0'219,"-17"18"438,52-18 673,106 35 923,-106-35 1173,141 18 1439,-70-18 1721,0 0 2018,-89 0 2331,1 0 2660,35 0 3004,53 0 3379,-71 0 3770,18 0 4177,-1 0 4599,-52 0 5037,35 0 5491,1 0 5960,-1 0 6445,18 0 6945,0 0 7461,-1 0 7993,37 0 8540,-54 0 9103,18 0 9682,52 17 10276,-52-17 10901,0 18 11542,-36-18 12199,54 18 12871,-71-18 13559,53 0 14263,0 0 14982,17 0 15717,-17 0 16467,0 0 17233,-36 0 18015,-52 0 18797,70 0 19594,-35 0 20407,35 0 21236,71 0 22080,-53 0 22955,0 0 23846,17 0 24753,-52 0 25675,34 0 26613,-34-18 27567,52 18 28536,36-18 29521,-53 18 30521,0-17 31537,35-1 32569,-70 18 33616,-1 0 34679,36 0 35758,17-17 36852,-52 17 37962,0 0 39087,-19 0 40244,-16 0 41401,34 0 42573,-34 0 43761,16 0 44965,1 0 46184,-17 0 47419,-1 0 48669,36 0 49935,52 0 51217,-35 0 52514,0 0 53827,-17 0 55156,-36 0 56485,36 0 57845,-18 0 59220,53 0 60611,-54 0 62018,37 0 63440,16 0 64878,-34 0 66332,35 0 67801,-53 0 69286,35 0 70786,-53 0 72302,1 0 73834,16 0 75381,1 0 76944,36 0 78523,-19 0 80117,1 0 81727,-18 0 83352,-18 0 84993,35 0 86650,-17 0 88322,36 0 90010,-19 0 91714,18 0 93433,-35 17 95168,18-17 96918,17 0 98684,-18 0 100466,-17 0 102263,-17 0 104076,34 0 105905,-52 0 107749,0 0 109624,52 0 111515,-35 0 113422,1 0 115344,17 0 117282,17 0 119236,1 0 121205,-18 0 123190,17 0 125190,-35 0 127190,18 0 129206,36 0 131238,-54 0 133285,0 0 135348,0 0 137427,1 0 139521,-19 0 141646,19 0 143787,-1 0 145944,35 0 148116,36 18 150304,-18-18 152508,1 17 154727,-1-17 156962,18 18 159212,-89-18 161478,36 0 163760,-18 0 166057,18 18 168370,18-18 170699,-36 0 173043,18 0 175418,18 0 177809,-18 35 180216,0-35 182623,-36 0 185045,36 18 187483,-35-18 189937,17 0 192406,0 0 194891,-17 17 197391,-18 1 199954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T" type="integer" max="2147480000" units="dev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  <inkml:channelProperty channel="T" name="resolution" value="28.34646" units="1/dev"/>
        </inkml:channelProperties>
      </inkml:inkSource>
      <inkml:timestamp xml:id="ts0" timeString="2022-01-07T19:57:1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3122 15946 0,'35'0'235,"1"17"485,-1-17 751,0 18 1017,36 17 1299,-36 0 1596,18-17 1909,-18 0 2237,0-18 2581,36 0 2941,-18 0 3316,70 0 3707,-34 0 4114,-19 0 4536,71 0 4974,-52 0 5443,34 0 5928,0 0 6428,107 0 6944,-89-36 7476,-35 36 8023,176-53 8586,-53 1 9164,-70 34 9758,-36 18 10368,1 0 10993,35 0 11634,-71 0 12291,35 0 12963,-17 35 13651,0 18 14354,0 0 15073,17-35 15823,177 35 16589,-88-53 17371,-71 0 18168,53 0 18981,-18 0 19809,71 0 20653,-35 0 21513,17-18 22388,-70-17 23279,-36-18 24186,-17 17 25108,53 19 26046,-88-18 27015,-1 17 27984,89-17 28984,-53 17 30000,35 0 31032,0 1 32079,71 17 33142,-124 0 34220,71 0 35314,52 17 36424,124 19 37549,-176-1 38690,-18-17 39847,18 17 41019,35 0 42207,-88-35 43426,17 18 44645,36-18 45895,-53 0 47161,0-36 48443,17 1 49740,18 0 51053,-88 17 52366,71 1 53694,-36-19 55038,-35 36 56398,70 0 57773,-17 0 59164,0 0 60571,53 18 61993,-53 17 63431,-36 1 64884,18-1 66353,18 71 67853,71-1 69369,-125-52 70901,37-17 72448,16 17 74011,-34-36 75589,0-17 77183,-1 0 78793,-35 0 80418,1 0 82059,34-35 83716,54 0 85404,-18-1 87107,-18-17 88810,0 18 90545,53 0 92295,-53 0 94061,53-18 95843,-35 35 97625,18-17 99422,-18 35 101235,17 0 103063,71 0 104907,53 0 106767,-124 0 108642,-17 17 110533,0 1 112440,106 53 114378,-106-18 116316,35-18 118269,17 18 120254,-87-53 122254,53 0 124270,-72 0 126302,54 0 128349,0 0 130412,-53 0 132490,0 0 134584,35-18 136694,-35 18 138819,0 0 140960,35 0 143117,-35-18 145289,0 1 147477,18 17 149680,-1 0 151915,-17 0 154165,0 0 156431,0-18 158713,35 18 161010,-35 0 163323,0 0 165651,35-17 167995,-35-1 170355,0 18 172730,0 0 175121,35 0 177528,-35 0 179950,0 0 182388,0 0 184857,35 18 187342,-35-1 189842,0-17 192358,17 18 194890,1-18 197437,-18 0 200000,0 0 202578,35 0 205172,-35 0 207782,0 0 210407,0 0 213048,17 0 215705,-17 0 218377,18 0 221065,-1 0 223768,1 0 226503,-54 0 229238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T" type="integer" max="2147480000" units="dev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  <inkml:channelProperty channel="T" name="resolution" value="28.34646" units="1/dev"/>
        </inkml:channelProperties>
      </inkml:inkSource>
      <inkml:timestamp xml:id="ts0" timeString="2022-01-07T19:57:1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1676 5609 0,'35'18'250,"18"-18"516,35 0 782,71 0 1079,-89 0 1376,54 0 1689,-1 0 2017,-52 0 2361,35 17 2721,-36-17 3096,54 0 3487,17 0 3894,-35 18 4316,-53-18 4754,52 0 5207,-52 18 5676,53-18 6176,-53 0 6676,35 0 7208,-35 0 7740,71 17 8287,-36-17 8850,18 18 9428,35-18 10022,-18 18 10632,-52-18 11257,52 0 11898,1 0 12555,-71 0 13227,0 0 13915,17 0 14634,-35 0 15369,36 0 16119,-18 0 16885,-18 0 17667,36 0 18464,-54 0 19277,36 0 20105,0 0 20949,71 0 21809,-54 0 22684,18-18 23575,-35 18 24482,-35 0 25389,17 0 26311,18 0 27249,0-18 28202,18 1 29187,-54 17 30172,19-18 31188,34 18 32220,-35 0 33267,18 0 34330,18-18 35408,-18 18 36502,17 0 37612,-34-17 38737,17 17 39878,17-18 41035,-17 1 42207,18 17 43395,-36-18 44598,71 18 45833,-53 0 47068,52 0 48334,-34 0 49616,17 0 50913,-35 0 52226,18 0 53554,17 0 54898,-18 0 56258,1 0 57633,35 0 59024,53 0 60431,-89 0 61853,1 0 63291,-1 0 64744,-52 0 66197,52 0 67682,1 0 69167,0 0 70683,87 0 72215,1 0 73762,-106 0 75325,70 0 76903,-70 0 78497,36 0 80107,-1 0 81732,18 0 83373,52 0 85030,-52 0 86702,-35 0 88390,35 0 90093,-54 0 91812,1 0 93547,0 0 95313,-17 0 97095,16 0 98892,1 0 100705,18 0 102533,-18 0 104377,-18 0 106237,18 0 108112,-18 0 110003,1 0 111910,17 18 113832,70-1 115770,18-17 117739,-53 0 119708,1 0 121693,52 0 123709,-36 0 125741,-34 0 127788,0 0 129851,70 0 131929,-53 0 134023,0 0 136133,53 0 138258,-106 0 140399,54 0 142556,16 18 144728,19-18 146916,-71 0 149119,0 0 151338,0 0 153588,35 0 155854,-35 0 158136,17 0 160433,1 0 162746,-1 0 165074,-17 0 167418,0 0 169778,36 0 172153,-54 0 174544,18 0 176951,0 0 179373</inkml:trace>
  <inkml:trace contextRef="#ctx0" brushRef="#br0">3933 5715 0,'-70'0'219,"-36"0"438,53 0 672,-88 0 922,-18 0 1187,89 0 1468,-18-18 1765,70 1 2062,-53-19 2390,1 1 2718,-1 0 3062,-17-18 3437,53 53 3827,-36-35 4233,-17-54 4655,-18 1 5092,36 18 5545,-19 17 6014,54 18 6498,18-18 6998,-19 35 7513,1-35 8044,-18-53 8591,35 89 9153,18-72 9731,-17 36 10325,17-52 10950,0 52 11590,0 0 12246,0 0 12918,0 35 13605,0-17 14308,17 0 15027,1 17 15761,141-105 16511,35 34 17276,0 19 18057,0-36 18854,-53 53 19666,0 35 20494,71-52 21338,-53 35 22213,-1 17 23103,-17 0 24009,36 18 24931,34 0 25868,-69 0 26821,-54 0 27790,-18 0 28759,18 0 29743,54 0 30743,-37 36 31758,1-1 32789,18 35 33836,-36-34 34898,-53-19 35976,1 19 37070,-1 17 38195,0-1 39320,0 19 40476,1 35 41648,-19-36 42820,19 19 44007,-36 16 45210,0-16 46429,0-19 47663,0-17 48913,0 35 50178,0 18 51459,0-53 52756,-36 53 54068,1-36 55396,-36 72 56740,1-90 58115,-1 37 59505,-70-19 60911,35 1 62333,36-36 63770,-54 0 65223,-87 18 66692,52-17 68176,53-19 69676,0 1 71191,-52-18 72722,52 0 74269,-53 0 75831,18 0 77409,106 0 78987,-89 0 80596,18 0 82221,36 0 83861,-107 0 85517,19 0 87189,-1 0 88876,18 0 90579,-18 0 92298,88 0 94032,-17 0 95782,-35-18 97547,-36-17 99328,88 17 101125,-17 1 102937,0-19 104765,17 1 106624,1-53 108499,-1 0 110389,18-89 112295,53 89 114217,0 35 116154,0-53 118107,0 89 120076,0-71 122060,0 52 124060,71-70 126075,-36 1 128106,1 34 130153,52 0 132215,-18-17 134293,-17 53 136402,0 17 138527,-18-17 140667,1 17 142823,52 1 144995,-53-18 147182,106 17 149385,0 0 151604,18-17 153838,0-18 156088,17 53 158353,-88 0 160634,-17 0 162931,0 0 165243,-19 0 167571,-16 0 169930,-19 0 172305,1 18 174711,-18-1 177117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T" type="integer" max="2147480000" units="dev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  <inkml:channelProperty channel="T" name="resolution" value="28.34646" units="1/dev"/>
        </inkml:channelProperties>
      </inkml:inkSource>
      <inkml:timestamp xml:id="ts0" timeString="2022-01-07T19:57:1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7638 10954 0,'-36'0'203,"-34"17"406,-89-17 625,0 0 859,18-70 1109,18-18 1375,-1-89 1656,54 54 1953,34 35 2266,19 35 2594,-1 17 2938,0-122 3297,18 52 3672,0 35 4063,0 36 4454,0 0 4860,0 17 5282,0-17 5720,89-89 6173,87-34 6642,71-36 7126,-71 70 7626,124-17 8142,-106 106 8673,0 17 9220,0 36 9783,106 193 10377,-106 1 10986,0 35 11611,0 88 12252,-158-211 12908,-19-1 13580,-17-17 14268,0 0 14971,0 52 15690,-35 54 16424,17-177 17174,-70 124 17940,18-106 18721,-19 53 19518,36-36 20331,-88 36 21175,18-70 22019,-71 34 22894,-71-70 23785,106 0 24691,-123-70 25613,-53-36 26551,53-18 27504,194 89 28473,52 35 29457</inkml:trace>
  <inkml:trace contextRef="#ctx0" brushRef="#br0">21325 10707 0,'-17'0'203,"-36"0"406,35 0 625,-35-18 844,-53-88 1078,-52-211 1328,34 35 1594,18-89 1875,36 177 2172,35 88 2484,17-52 2828,18 87 3187,0-52 3562,53 52 3953,141-105 4359,-18 105 4781,-35 0 5218,71 19 5671,70 34 6140,-158 36 6624,17 70 7124,123 159 7640,-34 88 8171,-54 35 8718,-70-88 9280,0-35 9858,-71-123 10467,0-18 11092,1-36 11733,-19 36 12389,19-53 13061,-1 0 13748,-35 0 14451,-124 17 15170,54-34 15904,-1-1 16654,1-17 17420,-36 52 18201,18-70 18998,-36 0 19810,-17 0 20638,71 0 21466,-89-35 22325,18 17 23184,35 18 24075,35 0 24981,-17-17 25903,-18-19 26840,-70-17 27793,88 36 28762,-1-18 29746,54 35 30746,18-18 31762,-36 18 32793,17 0 33840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2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3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4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5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6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8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9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0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2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3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4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5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4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7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8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9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0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2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3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4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5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6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7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8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9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0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2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3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4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5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6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7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2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3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7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2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4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2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5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6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7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8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9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3.xml"/></Relationships>
</file>

<file path=ppt/notesSlides/_rels/notesSlide7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5.xml"/></Relationships>
</file>

<file path=ppt/notesSlides/_rels/notesSlide7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8.xml"/></Relationships>
</file>

<file path=ppt/notesSlides/_rels/notesSlide8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9.xml"/></Relationships>
</file>

<file path=ppt/notesSlides/_rels/notesSlide8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0.xml"/></Relationships>
</file>

<file path=ppt/notesSlides/_rels/notesSlide8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3.xml"/></Relationships>
</file>

<file path=ppt/notesSlides/_rels/notesSlide8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4.xml"/></Relationships>
</file>

<file path=ppt/notesSlides/_rels/notesSlide8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6.xml"/></Relationships>
</file>

<file path=ppt/notesSlides/_rels/notesSlide8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8.xml"/></Relationships>
</file>

<file path=ppt/notesSlides/_rels/notesSlide8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1.xml"/></Relationships>
</file>

<file path=ppt/notesSlides/_rels/notesSlide8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2.xml"/></Relationships>
</file>

<file path=ppt/notesSlides/_rels/notesSlide8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5.xml"/></Relationships>
</file>

<file path=ppt/notesSlides/_rels/notesSlide8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6.xml"/></Relationships>
</file>

<file path=ppt/notesSlides/_rels/notesSlide9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7.xml"/></Relationships>
</file>

<file path=ppt/notesSlides/_rels/notesSlide9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0.xml"/></Relationships>
</file>

<file path=ppt/notesSlides/_rels/notesSlide9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2.xml"/></Relationships>
</file>

<file path=ppt/notesSlides/_rels/notesSlide9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3.xml"/></Relationships>
</file>

<file path=ppt/notesSlides/_rels/notesSlide9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4.xml"/></Relationships>
</file>

<file path=ppt/notesSlides/_rels/notesSlide9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5.xml"/></Relationships>
</file>

<file path=ppt/notesSlides/_rels/notesSlide9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6.xml"/></Relationships>
</file>

<file path=ppt/notesSlides/_rels/notesSlide9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7.xml"/></Relationships>
</file>

<file path=ppt/notesSlides/_rels/notesSlide9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8.xml"/></Relationships>
</file>

<file path=ppt/notesSlides/_rels/notesSlide9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9.xml"/></Relationships>
</file>

<file path=ppt/notesSlides/_rels/notesSlide10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0.xml"/></Relationships>
</file>

<file path=ppt/notesSlides/_rels/notesSlide10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1.xml"/></Relationships>
</file>

<file path=ppt/notesSlides/_rels/notesSlide10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2.xml"/></Relationships>
</file>

<file path=ppt/notesSlides/_rels/notesSlide10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3.xml"/></Relationships>
</file>

<file path=ppt/notesSlides/_rels/notesSlide10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4.xml"/></Relationships>
</file>

<file path=ppt/notesSlides/_rels/notesSlide10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5.xml"/></Relationships>
</file>

<file path=ppt/notesSlides/_rels/notesSlide10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48" charset="-128"/>
                <a:cs typeface="MS PGothic" panose="020B0600070205080204" pitchFamily="48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48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48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48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48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48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48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48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48" charset="-128"/>
              </a:defRPr>
            </a:lvl9pPr>
          </a:lstStyle>
          <a:p>
            <a:fld id="{412BF6B1-B694-D34F-9D20-6EF8D68C9B82}" type="slidenum">
              <a:rPr lang="en-US" sz="1200"/>
            </a:fld>
            <a:endParaRPr lang="en-US" sz="1200"/>
          </a:p>
        </p:txBody>
      </p:sp>
      <p:sp>
        <p:nvSpPr>
          <p:cNvPr id="583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39939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dirty="0">
              <a:ea typeface="MS PGothic" panose="020B0600070205080204" pitchFamily="48" charset="-128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48" charset="-128"/>
                <a:cs typeface="MS PGothic" panose="020B0600070205080204" pitchFamily="48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48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48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48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48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48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48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48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48" charset="-128"/>
              </a:defRPr>
            </a:lvl9pPr>
          </a:lstStyle>
          <a:p>
            <a:fld id="{D1859F8A-62E6-4548-BB2A-BD54B369FB8E}" type="slidenum">
              <a:rPr lang="en-US" sz="1200"/>
            </a:fld>
            <a:endParaRPr lang="en-US" sz="1200"/>
          </a:p>
        </p:txBody>
      </p:sp>
      <p:sp>
        <p:nvSpPr>
          <p:cNvPr id="604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44035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dirty="0">
              <a:ea typeface="MS PGothic" panose="020B0600070205080204" pitchFamily="48" charset="-128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48" charset="-128"/>
                <a:cs typeface="MS PGothic" panose="020B0600070205080204" pitchFamily="48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48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48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48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48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48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48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48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48" charset="-128"/>
              </a:defRPr>
            </a:lvl9pPr>
          </a:lstStyle>
          <a:p>
            <a:fld id="{514D9E19-39D5-BA42-942F-105E00AAF27A}" type="slidenum">
              <a:rPr lang="en-US" sz="1200"/>
            </a:fld>
            <a:endParaRPr lang="en-US" sz="1200"/>
          </a:p>
        </p:txBody>
      </p:sp>
      <p:sp>
        <p:nvSpPr>
          <p:cNvPr id="614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46083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baseline="0" dirty="0">
              <a:ea typeface="MS PGothic" panose="020B0600070205080204" pitchFamily="48" charset="-128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2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48" charset="-128"/>
                <a:cs typeface="MS PGothic" panose="020B0600070205080204" pitchFamily="48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48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48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48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48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48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48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48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48" charset="-128"/>
              </a:defRPr>
            </a:lvl9pPr>
          </a:lstStyle>
          <a:p>
            <a:fld id="{C30517B6-34B6-A64A-84E9-C11EA9881584}" type="slidenum">
              <a:rPr lang="en-US" sz="1200"/>
            </a:fld>
            <a:endParaRPr lang="en-US" sz="1200"/>
          </a:p>
        </p:txBody>
      </p:sp>
      <p:sp>
        <p:nvSpPr>
          <p:cNvPr id="624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48131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dirty="0">
              <a:ea typeface="MS PGothic" panose="020B0600070205080204" pitchFamily="48" charset="-128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48" charset="-128"/>
                <a:cs typeface="MS PGothic" panose="020B0600070205080204" pitchFamily="48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48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48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48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48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48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48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48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48" charset="-128"/>
              </a:defRPr>
            </a:lvl9pPr>
          </a:lstStyle>
          <a:p>
            <a:fld id="{926AAD60-BDC1-8E44-BCA0-CA4A96B051B2}" type="slidenum">
              <a:rPr lang="en-US" sz="1200"/>
            </a:fld>
            <a:endParaRPr lang="en-US" sz="1200"/>
          </a:p>
        </p:txBody>
      </p:sp>
      <p:sp>
        <p:nvSpPr>
          <p:cNvPr id="634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50179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dirty="0">
              <a:ea typeface="MS PGothic" panose="020B0600070205080204" pitchFamily="48" charset="-128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48" charset="-128"/>
                <a:cs typeface="MS PGothic" panose="020B0600070205080204" pitchFamily="48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48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48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48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48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48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48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48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48" charset="-128"/>
              </a:defRPr>
            </a:lvl9pPr>
          </a:lstStyle>
          <a:p>
            <a:fld id="{B201D6DB-2063-6D4C-A4C7-F9C54686F27C}" type="slidenum">
              <a:rPr lang="en-US" sz="1200"/>
            </a:fld>
            <a:endParaRPr lang="en-US" sz="1200"/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52227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dirty="0">
              <a:ea typeface="MS PGothic" panose="020B0600070205080204" pitchFamily="48" charset="-128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48" charset="-128"/>
                <a:cs typeface="MS PGothic" panose="020B0600070205080204" pitchFamily="48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48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48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48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48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48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48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48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48" charset="-128"/>
              </a:defRPr>
            </a:lvl9pPr>
          </a:lstStyle>
          <a:p>
            <a:fld id="{AEF2BFCD-1F6D-3B40-A065-EDD908426F0A}" type="slidenum">
              <a:rPr lang="en-US" sz="1200"/>
            </a:fld>
            <a:endParaRPr lang="en-US" sz="1200"/>
          </a:p>
        </p:txBody>
      </p:sp>
      <p:sp>
        <p:nvSpPr>
          <p:cNvPr id="655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54275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dirty="0">
              <a:ea typeface="MS PGothic" panose="020B0600070205080204" pitchFamily="48" charset="-128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48" charset="-128"/>
                <a:cs typeface="MS PGothic" panose="020B0600070205080204" pitchFamily="48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48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48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48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48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48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48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48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48" charset="-128"/>
              </a:defRPr>
            </a:lvl9pPr>
          </a:lstStyle>
          <a:p>
            <a:fld id="{637AE875-B6AD-A440-BC3C-05EDFC62BBA0}" type="slidenum">
              <a:rPr lang="en-US" sz="1200"/>
            </a:fld>
            <a:endParaRPr lang="en-US" sz="1200"/>
          </a:p>
        </p:txBody>
      </p:sp>
      <p:sp>
        <p:nvSpPr>
          <p:cNvPr id="665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56323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dirty="0">
              <a:ea typeface="MS PGothic" panose="020B0600070205080204" pitchFamily="48" charset="-128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6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48" charset="-128"/>
                <a:cs typeface="MS PGothic" panose="020B0600070205080204" pitchFamily="48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48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48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48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48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48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48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48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48" charset="-128"/>
              </a:defRPr>
            </a:lvl9pPr>
          </a:lstStyle>
          <a:p>
            <a:fld id="{B1358E4C-FB17-804D-8DD4-0AB75377F2B1}" type="slidenum">
              <a:rPr lang="en-US" sz="1200"/>
            </a:fld>
            <a:endParaRPr lang="en-US" sz="1200"/>
          </a:p>
        </p:txBody>
      </p:sp>
      <p:sp>
        <p:nvSpPr>
          <p:cNvPr id="675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58371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dirty="0">
              <a:ea typeface="MS PGothic" panose="020B0600070205080204" pitchFamily="48" charset="-128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48" charset="-128"/>
                <a:cs typeface="MS PGothic" panose="020B0600070205080204" pitchFamily="48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48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48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48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48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48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48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48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48" charset="-128"/>
              </a:defRPr>
            </a:lvl9pPr>
          </a:lstStyle>
          <a:p>
            <a:fld id="{4BCF678C-59C9-024B-9E77-0C1D54FD21A5}" type="slidenum">
              <a:rPr lang="en-US" sz="1200"/>
            </a:fld>
            <a:endParaRPr lang="en-US" sz="1200"/>
          </a:p>
        </p:txBody>
      </p:sp>
      <p:sp>
        <p:nvSpPr>
          <p:cNvPr id="686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60419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dirty="0">
              <a:ea typeface="MS PGothic" panose="020B0600070205080204" pitchFamily="48" charset="-128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48" charset="-128"/>
                <a:cs typeface="MS PGothic" panose="020B0600070205080204" pitchFamily="48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48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48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48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48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48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48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48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48" charset="-128"/>
              </a:defRPr>
            </a:lvl9pPr>
          </a:lstStyle>
          <a:p>
            <a:fld id="{B039CC89-8052-DB4B-B83F-EFB5FA3EC75D}" type="slidenum">
              <a:rPr lang="en-US" sz="1200"/>
            </a:fld>
            <a:endParaRPr lang="en-US" sz="1200"/>
          </a:p>
        </p:txBody>
      </p:sp>
      <p:sp>
        <p:nvSpPr>
          <p:cNvPr id="696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62467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dirty="0">
              <a:ea typeface="MS PGothic" panose="020B0600070205080204" pitchFamily="48" charset="-128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B1CC4BC-A1A4-AD49-B160-7F7457AB42A4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48" charset="-128"/>
                <a:cs typeface="MS PGothic" panose="020B0600070205080204" pitchFamily="48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48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48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48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48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48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48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48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48" charset="-128"/>
              </a:defRPr>
            </a:lvl9pPr>
          </a:lstStyle>
          <a:p>
            <a:fld id="{E6BACEE3-C5EB-3044-9F89-77D80C91D2E7}" type="slidenum">
              <a:rPr lang="en-US" sz="1200"/>
            </a:fld>
            <a:endParaRPr lang="en-US" sz="1200"/>
          </a:p>
        </p:txBody>
      </p:sp>
      <p:sp>
        <p:nvSpPr>
          <p:cNvPr id="706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65539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dirty="0">
              <a:ea typeface="MS PGothic" panose="020B0600070205080204" pitchFamily="48" charset="-128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48" charset="-128"/>
                <a:cs typeface="MS PGothic" panose="020B0600070205080204" pitchFamily="48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48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48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48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48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48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48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48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48" charset="-128"/>
              </a:defRPr>
            </a:lvl9pPr>
          </a:lstStyle>
          <a:p>
            <a:fld id="{4E782C21-7A59-B641-8B11-AB868A9636B5}" type="slidenum">
              <a:rPr lang="en-US" sz="1200"/>
            </a:fld>
            <a:endParaRPr lang="en-US" sz="1200"/>
          </a:p>
        </p:txBody>
      </p:sp>
      <p:sp>
        <p:nvSpPr>
          <p:cNvPr id="716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67587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dirty="0">
              <a:ea typeface="MS PGothic" panose="020B0600070205080204" pitchFamily="48" charset="-128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48" charset="-128"/>
                <a:cs typeface="MS PGothic" panose="020B0600070205080204" pitchFamily="48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48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48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48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48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48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48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48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48" charset="-128"/>
              </a:defRPr>
            </a:lvl9pPr>
          </a:lstStyle>
          <a:p>
            <a:fld id="{49D04102-1970-0C49-999D-E2173DC3B404}" type="slidenum">
              <a:rPr lang="en-US" sz="1200"/>
            </a:fld>
            <a:endParaRPr lang="en-US" sz="1200"/>
          </a:p>
        </p:txBody>
      </p:sp>
      <p:sp>
        <p:nvSpPr>
          <p:cNvPr id="727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69635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dirty="0">
              <a:ea typeface="MS PGothic" panose="020B0600070205080204" pitchFamily="48" charset="-128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48" charset="-128"/>
                <a:cs typeface="MS PGothic" panose="020B0600070205080204" pitchFamily="48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48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48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48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48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48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48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48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48" charset="-128"/>
              </a:defRPr>
            </a:lvl9pPr>
          </a:lstStyle>
          <a:p>
            <a:fld id="{91BD98FB-0D50-D04D-8A2C-53A7AD274D8F}" type="slidenum">
              <a:rPr lang="en-US" sz="1200"/>
            </a:fld>
            <a:endParaRPr lang="en-US" sz="1200"/>
          </a:p>
        </p:txBody>
      </p:sp>
      <p:sp>
        <p:nvSpPr>
          <p:cNvPr id="542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7171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dirty="0">
              <a:ea typeface="MS PGothic" panose="020B0600070205080204" pitchFamily="48" charset="-128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48" charset="-128"/>
                <a:cs typeface="MS PGothic" panose="020B0600070205080204" pitchFamily="48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48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48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48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48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48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48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48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48" charset="-128"/>
              </a:defRPr>
            </a:lvl9pPr>
          </a:lstStyle>
          <a:p>
            <a:fld id="{5DF24091-6422-E24F-B21A-82CDEB755F48}" type="slidenum">
              <a:rPr lang="en-US" sz="1200"/>
            </a:fld>
            <a:endParaRPr lang="en-US" sz="1200"/>
          </a:p>
        </p:txBody>
      </p:sp>
      <p:sp>
        <p:nvSpPr>
          <p:cNvPr id="552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9219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dirty="0">
              <a:ea typeface="MS PGothic" panose="020B0600070205080204" pitchFamily="48" charset="-128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48" charset="-128"/>
                <a:cs typeface="MS PGothic" panose="020B0600070205080204" pitchFamily="48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48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48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48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48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48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48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48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48" charset="-128"/>
              </a:defRPr>
            </a:lvl9pPr>
          </a:lstStyle>
          <a:p>
            <a:fld id="{81C9BC45-C1D4-5B47-8E34-8C0DD24E7421}" type="slidenum">
              <a:rPr lang="en-US" sz="1200"/>
            </a:fld>
            <a:endParaRPr lang="en-US" sz="1200"/>
          </a:p>
        </p:txBody>
      </p:sp>
      <p:sp>
        <p:nvSpPr>
          <p:cNvPr id="573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3315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dirty="0">
              <a:ea typeface="MS PGothic" panose="020B0600070205080204" pitchFamily="48" charset="-128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48" charset="-128"/>
                <a:cs typeface="MS PGothic" panose="020B0600070205080204" pitchFamily="48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48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48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48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48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48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48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48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48" charset="-128"/>
              </a:defRPr>
            </a:lvl9pPr>
          </a:lstStyle>
          <a:p>
            <a:fld id="{879B5623-4B43-E340-8B01-351F14A52A8C}" type="slidenum">
              <a:rPr lang="en-US" sz="1200"/>
            </a:fld>
            <a:endParaRPr lang="en-US" sz="1200"/>
          </a:p>
        </p:txBody>
      </p:sp>
      <p:sp>
        <p:nvSpPr>
          <p:cNvPr id="583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5363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dirty="0">
              <a:ea typeface="MS PGothic" panose="020B0600070205080204" pitchFamily="48" charset="-128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48" charset="-128"/>
                <a:cs typeface="MS PGothic" panose="020B0600070205080204" pitchFamily="48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48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48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48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48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48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48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48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48" charset="-128"/>
              </a:defRPr>
            </a:lvl9pPr>
          </a:lstStyle>
          <a:p>
            <a:fld id="{5F86E4FC-2BDB-7240-8FD4-A8B54A25FC07}" type="slidenum">
              <a:rPr lang="en-US" sz="1200"/>
            </a:fld>
            <a:endParaRPr lang="en-US" sz="1200"/>
          </a:p>
        </p:txBody>
      </p:sp>
      <p:sp>
        <p:nvSpPr>
          <p:cNvPr id="593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7411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dirty="0">
              <a:ea typeface="MS PGothic" panose="020B0600070205080204" pitchFamily="48" charset="-128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48" charset="-128"/>
                <a:cs typeface="MS PGothic" panose="020B0600070205080204" pitchFamily="48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48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48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48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48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48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48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48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48" charset="-128"/>
              </a:defRPr>
            </a:lvl9pPr>
          </a:lstStyle>
          <a:p>
            <a:fld id="{B6019937-7FF2-3247-8BAB-4C871D991203}" type="slidenum">
              <a:rPr lang="en-US" sz="1200"/>
            </a:fld>
            <a:endParaRPr lang="en-US" sz="1200"/>
          </a:p>
        </p:txBody>
      </p:sp>
      <p:sp>
        <p:nvSpPr>
          <p:cNvPr id="604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9459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dirty="0">
              <a:ea typeface="MS PGothic" panose="020B0600070205080204" pitchFamily="48" charset="-128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48" charset="-128"/>
                <a:cs typeface="MS PGothic" panose="020B0600070205080204" pitchFamily="48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48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48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48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48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48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48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48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48" charset="-128"/>
              </a:defRPr>
            </a:lvl9pPr>
          </a:lstStyle>
          <a:p>
            <a:fld id="{BE2CEC09-3A78-A842-A5C9-BFB1ECF2C664}" type="slidenum">
              <a:rPr lang="en-US" sz="1200"/>
            </a:fld>
            <a:endParaRPr lang="en-US" sz="1200"/>
          </a:p>
        </p:txBody>
      </p:sp>
      <p:sp>
        <p:nvSpPr>
          <p:cNvPr id="614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21507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dirty="0">
              <a:ea typeface="MS PGothic" panose="020B0600070205080204" pitchFamily="48" charset="-128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48" charset="-128"/>
                <a:cs typeface="MS PGothic" panose="020B0600070205080204" pitchFamily="48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48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48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48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48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48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48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48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48" charset="-128"/>
              </a:defRPr>
            </a:lvl9pPr>
          </a:lstStyle>
          <a:p>
            <a:fld id="{8A261784-913F-2C4C-B7F0-935E35F6ABBF}" type="slidenum">
              <a:rPr lang="en-US" sz="1200"/>
            </a:fld>
            <a:endParaRPr lang="en-US" sz="1200"/>
          </a:p>
        </p:txBody>
      </p:sp>
      <p:sp>
        <p:nvSpPr>
          <p:cNvPr id="624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23555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dirty="0">
              <a:ea typeface="MS PGothic" panose="020B0600070205080204" pitchFamily="48" charset="-128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48" charset="-128"/>
                <a:cs typeface="MS PGothic" panose="020B0600070205080204" pitchFamily="48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48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48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48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48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48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48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48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48" charset="-128"/>
              </a:defRPr>
            </a:lvl9pPr>
          </a:lstStyle>
          <a:p>
            <a:fld id="{F7B7B885-012D-BC40-8D8E-36B9FC9448AE}" type="slidenum">
              <a:rPr lang="en-US" sz="1200"/>
            </a:fld>
            <a:endParaRPr lang="en-US" sz="1200"/>
          </a:p>
        </p:txBody>
      </p:sp>
      <p:sp>
        <p:nvSpPr>
          <p:cNvPr id="634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25603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dirty="0">
              <a:ea typeface="MS PGothic" panose="020B0600070205080204" pitchFamily="48" charset="-128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48" charset="-128"/>
                <a:cs typeface="MS PGothic" panose="020B0600070205080204" pitchFamily="48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48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48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48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48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48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48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48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48" charset="-128"/>
              </a:defRPr>
            </a:lvl9pPr>
          </a:lstStyle>
          <a:p>
            <a:fld id="{3C61DFFD-66F8-AD45-A42A-8AA36CCE58AA}" type="slidenum">
              <a:rPr lang="en-US" sz="1200"/>
            </a:fld>
            <a:endParaRPr lang="en-US" sz="1200"/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27651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dirty="0">
              <a:ea typeface="MS PGothic" panose="020B0600070205080204" pitchFamily="48" charset="-128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44F51025-2F32-344D-BACF-3AC8B902E09D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48" charset="-128"/>
                <a:cs typeface="MS PGothic" panose="020B0600070205080204" pitchFamily="48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48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48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48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48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48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48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48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48" charset="-128"/>
              </a:defRPr>
            </a:lvl9pPr>
          </a:lstStyle>
          <a:p>
            <a:fld id="{57AF96A9-F4DB-FE46-98AF-B2323F908581}" type="slidenum">
              <a:rPr lang="en-US" sz="1200"/>
            </a:fld>
            <a:endParaRPr lang="en-US" sz="1200"/>
          </a:p>
        </p:txBody>
      </p:sp>
      <p:sp>
        <p:nvSpPr>
          <p:cNvPr id="655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30723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dirty="0">
              <a:ea typeface="MS PGothic" panose="020B0600070205080204" pitchFamily="48" charset="-128"/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6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48" charset="-128"/>
                <a:cs typeface="MS PGothic" panose="020B0600070205080204" pitchFamily="48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48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48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48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48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48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48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48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48" charset="-128"/>
              </a:defRPr>
            </a:lvl9pPr>
          </a:lstStyle>
          <a:p>
            <a:fld id="{676F69C5-11E1-364E-97C6-8852837A003F}" type="slidenum">
              <a:rPr lang="en-US" sz="1200"/>
            </a:fld>
            <a:endParaRPr lang="en-US" sz="1200"/>
          </a:p>
        </p:txBody>
      </p:sp>
      <p:sp>
        <p:nvSpPr>
          <p:cNvPr id="665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32771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dirty="0">
              <a:ea typeface="MS PGothic" panose="020B0600070205080204" pitchFamily="48" charset="-128"/>
            </a:endParaRP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48" charset="-128"/>
                <a:cs typeface="MS PGothic" panose="020B0600070205080204" pitchFamily="48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48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48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48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48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48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48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48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48" charset="-128"/>
              </a:defRPr>
            </a:lvl9pPr>
          </a:lstStyle>
          <a:p>
            <a:fld id="{101509EC-0D2A-9442-924B-F0B760D4E671}" type="slidenum">
              <a:rPr lang="en-US" sz="1200"/>
            </a:fld>
            <a:endParaRPr lang="en-US" sz="1200"/>
          </a:p>
        </p:txBody>
      </p:sp>
      <p:sp>
        <p:nvSpPr>
          <p:cNvPr id="675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34819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dirty="0">
              <a:ea typeface="MS PGothic" panose="020B0600070205080204" pitchFamily="48" charset="-128"/>
            </a:endParaRP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48" charset="-128"/>
                <a:cs typeface="MS PGothic" panose="020B0600070205080204" pitchFamily="48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48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48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48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48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48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48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48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48" charset="-128"/>
              </a:defRPr>
            </a:lvl9pPr>
          </a:lstStyle>
          <a:p>
            <a:fld id="{AD33529F-DC90-8840-984B-4A91EB97231A}" type="slidenum">
              <a:rPr lang="en-US" sz="1200"/>
            </a:fld>
            <a:endParaRPr lang="en-US" sz="1200"/>
          </a:p>
        </p:txBody>
      </p:sp>
      <p:sp>
        <p:nvSpPr>
          <p:cNvPr id="522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25603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dirty="0">
              <a:ea typeface="MS PGothic" panose="020B0600070205080204" pitchFamily="48" charset="-128"/>
            </a:endParaRP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8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90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990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990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990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990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5DC29756-D988-E749-8F6D-CF4C12E290A5}" type="slidenum">
              <a:rPr lang="en-US" altLang="zh-CN"/>
            </a:fld>
            <a:endParaRPr lang="en-US" altLang="zh-CN"/>
          </a:p>
        </p:txBody>
      </p:sp>
      <p:sp>
        <p:nvSpPr>
          <p:cNvPr id="2478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24781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46150" y="4860925"/>
            <a:ext cx="5207000" cy="4605338"/>
          </a:xfrm>
          <a:noFill/>
        </p:spPr>
        <p:txBody>
          <a:bodyPr/>
          <a:lstStyle/>
          <a:p>
            <a:pPr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8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90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990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990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990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990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726512CA-202D-394D-85A3-AC226B62CCB0}" type="slidenum">
              <a:rPr lang="en-US" altLang="zh-CN"/>
            </a:fld>
            <a:endParaRPr lang="en-US" altLang="zh-CN"/>
          </a:p>
        </p:txBody>
      </p:sp>
      <p:sp>
        <p:nvSpPr>
          <p:cNvPr id="2488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24883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46150" y="4860925"/>
            <a:ext cx="5207000" cy="4605338"/>
          </a:xfrm>
          <a:noFill/>
        </p:spPr>
        <p:txBody>
          <a:bodyPr/>
          <a:lstStyle/>
          <a:p>
            <a:pPr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8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90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990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990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990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990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7F3E3FC5-3492-9B42-AF73-E5FFEB97EB62}" type="slidenum">
              <a:rPr lang="en-US" altLang="zh-CN"/>
            </a:fld>
            <a:endParaRPr lang="en-US" altLang="zh-CN"/>
          </a:p>
        </p:txBody>
      </p:sp>
      <p:sp>
        <p:nvSpPr>
          <p:cNvPr id="2498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24986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46150" y="4860925"/>
            <a:ext cx="5207000" cy="4605338"/>
          </a:xfrm>
          <a:noFill/>
        </p:spPr>
        <p:txBody>
          <a:bodyPr/>
          <a:lstStyle/>
          <a:p>
            <a:pPr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48" charset="-128"/>
                <a:cs typeface="MS PGothic" panose="020B0600070205080204" pitchFamily="48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48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48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48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48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48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48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48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48" charset="-128"/>
              </a:defRPr>
            </a:lvl9pPr>
          </a:lstStyle>
          <a:p>
            <a:fld id="{7C7EFB2D-DBBB-7C4C-8C0B-2BB3FF8F1180}" type="slidenum">
              <a:rPr lang="en-US" sz="1200"/>
            </a:fld>
            <a:endParaRPr lang="en-US" sz="1200"/>
          </a:p>
        </p:txBody>
      </p:sp>
      <p:sp>
        <p:nvSpPr>
          <p:cNvPr id="706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41987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dirty="0">
              <a:ea typeface="MS PGothic" panose="020B0600070205080204" pitchFamily="48" charset="-128"/>
            </a:endParaRP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44F51025-2F32-344D-BACF-3AC8B902E09D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48" charset="-128"/>
                <a:cs typeface="MS PGothic" panose="020B0600070205080204" pitchFamily="48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48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48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48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48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48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48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48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48" charset="-128"/>
              </a:defRPr>
            </a:lvl9pPr>
          </a:lstStyle>
          <a:p>
            <a:fld id="{95FAAD5C-2057-4640-9124-BA2E9A4125F5}" type="slidenum">
              <a:rPr lang="en-US" sz="1200"/>
            </a:fld>
            <a:endParaRPr lang="en-US" sz="1200"/>
          </a:p>
        </p:txBody>
      </p:sp>
      <p:sp>
        <p:nvSpPr>
          <p:cNvPr id="737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50179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dirty="0">
              <a:ea typeface="MS PGothic" panose="020B0600070205080204" pitchFamily="48" charset="-128"/>
            </a:endParaRPr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48" charset="-128"/>
                <a:cs typeface="MS PGothic" panose="020B0600070205080204" pitchFamily="48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48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48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48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48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48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48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48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48" charset="-128"/>
              </a:defRPr>
            </a:lvl9pPr>
          </a:lstStyle>
          <a:p>
            <a:fld id="{0728C8B6-630E-DA42-BD64-624F1437103B}" type="slidenum">
              <a:rPr lang="en-US" sz="1200"/>
            </a:fld>
            <a:endParaRPr lang="en-US" sz="1200"/>
          </a:p>
        </p:txBody>
      </p:sp>
      <p:sp>
        <p:nvSpPr>
          <p:cNvPr id="747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52227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dirty="0">
              <a:ea typeface="MS PGothic" panose="020B0600070205080204" pitchFamily="48" charset="-128"/>
            </a:endParaRPr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48" charset="-128"/>
                <a:cs typeface="MS PGothic" panose="020B0600070205080204" pitchFamily="48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48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48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48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48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48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48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48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48" charset="-128"/>
              </a:defRPr>
            </a:lvl9pPr>
          </a:lstStyle>
          <a:p>
            <a:fld id="{988D4B9D-7B2F-3F4E-8EBB-6E5B8020ABC8}" type="slidenum">
              <a:rPr lang="en-US" sz="1200"/>
            </a:fld>
            <a:endParaRPr lang="en-US" sz="1200"/>
          </a:p>
        </p:txBody>
      </p:sp>
      <p:sp>
        <p:nvSpPr>
          <p:cNvPr id="757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54275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dirty="0">
              <a:ea typeface="MS PGothic" panose="020B0600070205080204" pitchFamily="48" charset="-128"/>
            </a:endParaRPr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48" charset="-128"/>
                <a:cs typeface="MS PGothic" panose="020B0600070205080204" pitchFamily="48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48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48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48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48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48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48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48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48" charset="-128"/>
              </a:defRPr>
            </a:lvl9pPr>
          </a:lstStyle>
          <a:p>
            <a:fld id="{7E941833-F203-334A-8205-4F7E2C66BC17}" type="slidenum">
              <a:rPr lang="en-US" sz="1200"/>
            </a:fld>
            <a:endParaRPr lang="en-US" sz="1200"/>
          </a:p>
        </p:txBody>
      </p:sp>
      <p:sp>
        <p:nvSpPr>
          <p:cNvPr id="768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56323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dirty="0">
              <a:ea typeface="MS PGothic" panose="020B0600070205080204" pitchFamily="48" charset="-128"/>
            </a:endParaRPr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44F51025-2F32-344D-BACF-3AC8B902E09D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48" charset="-128"/>
                <a:cs typeface="MS PGothic" panose="020B0600070205080204" pitchFamily="48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48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48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48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48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48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48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48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48" charset="-128"/>
              </a:defRPr>
            </a:lvl9pPr>
          </a:lstStyle>
          <a:p>
            <a:fld id="{B9252564-F2BB-B740-B753-FC048D2C22B0}" type="slidenum">
              <a:rPr lang="en-US" sz="1200"/>
            </a:fld>
            <a:endParaRPr lang="en-US" sz="1200"/>
          </a:p>
        </p:txBody>
      </p:sp>
      <p:sp>
        <p:nvSpPr>
          <p:cNvPr id="778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62467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dirty="0">
              <a:ea typeface="MS PGothic" panose="020B0600070205080204" pitchFamily="48" charset="-128"/>
            </a:endParaRPr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44F51025-2F32-344D-BACF-3AC8B902E09D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48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48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48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48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48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48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48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48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48" charset="-128"/>
              </a:defRPr>
            </a:lvl9pPr>
          </a:lstStyle>
          <a:p>
            <a:fld id="{A032A84A-1632-4B8C-B2DE-D080EF56BFBE}" type="slidenum">
              <a:rPr lang="en-US" altLang="en-US" sz="1200" smtClean="0"/>
            </a:fld>
            <a:endParaRPr lang="en-US" altLang="en-US" sz="1200"/>
          </a:p>
        </p:txBody>
      </p:sp>
      <p:sp>
        <p:nvSpPr>
          <p:cNvPr id="552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55300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ea typeface="MS PGothic" panose="020B0600070205080204" pitchFamily="48" charset="-128"/>
            </a:endParaRPr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8674" name="Rectangle 7"/>
          <p:cNvSpPr txBox="1">
            <a:spLocks noGrp="1"/>
          </p:cNvSpPr>
          <p:nvPr>
            <p:ph type="sldNum" sz="quarter"/>
          </p:nvPr>
        </p:nvSpPr>
        <p:spPr>
          <a:xfrm>
            <a:off x="4022725" y="9718675"/>
            <a:ext cx="3078163" cy="511175"/>
          </a:xfrm>
          <a:prstGeom prst="rect">
            <a:avLst/>
          </a:prstGeom>
          <a:noFill/>
          <a:ln w="9525">
            <a:noFill/>
          </a:ln>
        </p:spPr>
        <p:txBody>
          <a:bodyPr lIns="99048" tIns="49524" rIns="99048" bIns="49524" anchor="b"/>
          <a:p>
            <a:pPr lvl="0" algn="r" eaLnBrk="1" hangingPunct="1"/>
            <a:fld id="{9A0DB2DC-4C9A-4742-B13C-FB6460FD3503}" type="slidenum">
              <a:rPr lang="en-US" altLang="zh-CN" sz="1300" b="0" dirty="0">
                <a:latin typeface="Arial" panose="020B0604020202020204" pitchFamily="34" charset="0"/>
                <a:ea typeface="宋体" panose="02010600030101010101" pitchFamily="2" charset="-122"/>
              </a:rPr>
            </a:fld>
            <a:endParaRPr lang="en-US" altLang="zh-CN" sz="1300" b="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8675" name="Rectangle 2"/>
          <p:cNvSpPr>
            <a:spLocks noTextEdit="1"/>
          </p:cNvSpPr>
          <p:nvPr>
            <p:ph type="sldImg"/>
          </p:nvPr>
        </p:nvSpPr>
        <p:spPr>
          <a:xfrm>
            <a:off x="993775" y="766763"/>
            <a:ext cx="5114925" cy="3836987"/>
          </a:xfrm>
          <a:ln>
            <a:solidFill>
              <a:srgbClr val="000000">
                <a:alpha val="100000"/>
              </a:srgbClr>
            </a:solidFill>
            <a:miter lim="800000"/>
          </a:ln>
        </p:spPr>
      </p:sp>
      <p:sp>
        <p:nvSpPr>
          <p:cNvPr id="28676" name="Rectangle 3"/>
          <p:cNvSpPr>
            <a:spLocks noGrp="1"/>
          </p:cNvSpPr>
          <p:nvPr>
            <p:ph type="body" idx="1"/>
          </p:nvPr>
        </p:nvSpPr>
        <p:spPr>
          <a:xfrm>
            <a:off x="709613" y="4859338"/>
            <a:ext cx="5683250" cy="4605337"/>
          </a:xfrm>
          <a:noFill/>
          <a:ln>
            <a:noFill/>
          </a:ln>
        </p:spPr>
        <p:txBody>
          <a:bodyPr wrap="square" lIns="99048" tIns="49524" rIns="99048" bIns="49524" anchor="t"/>
          <a:p>
            <a:pPr lvl="0"/>
            <a:endParaRPr lang="en-US" altLang="zh-CN" dirty="0"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0722" name="Rectangle 7"/>
          <p:cNvSpPr txBox="1">
            <a:spLocks noGrp="1"/>
          </p:cNvSpPr>
          <p:nvPr>
            <p:ph type="sldNum" sz="quarter"/>
          </p:nvPr>
        </p:nvSpPr>
        <p:spPr>
          <a:xfrm>
            <a:off x="4022725" y="9718675"/>
            <a:ext cx="3078163" cy="511175"/>
          </a:xfrm>
          <a:prstGeom prst="rect">
            <a:avLst/>
          </a:prstGeom>
          <a:noFill/>
          <a:ln w="9525">
            <a:noFill/>
          </a:ln>
        </p:spPr>
        <p:txBody>
          <a:bodyPr lIns="99048" tIns="49524" rIns="99048" bIns="49524" anchor="b"/>
          <a:p>
            <a:pPr lvl="0" algn="r" eaLnBrk="1" hangingPunct="1"/>
            <a:fld id="{9A0DB2DC-4C9A-4742-B13C-FB6460FD3503}" type="slidenum">
              <a:rPr lang="en-US" altLang="zh-CN" sz="1300" b="0" dirty="0">
                <a:latin typeface="Arial" panose="020B0604020202020204" pitchFamily="34" charset="0"/>
                <a:ea typeface="宋体" panose="02010600030101010101" pitchFamily="2" charset="-122"/>
              </a:rPr>
            </a:fld>
            <a:endParaRPr lang="en-US" altLang="zh-CN" sz="1300" b="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0723" name="Rectangle 2"/>
          <p:cNvSpPr>
            <a:spLocks noTextEdit="1"/>
          </p:cNvSpPr>
          <p:nvPr>
            <p:ph type="sldImg"/>
          </p:nvPr>
        </p:nvSpPr>
        <p:spPr>
          <a:xfrm>
            <a:off x="993775" y="766763"/>
            <a:ext cx="5114925" cy="3836987"/>
          </a:xfrm>
          <a:ln>
            <a:solidFill>
              <a:srgbClr val="000000">
                <a:alpha val="100000"/>
              </a:srgbClr>
            </a:solidFill>
            <a:miter lim="800000"/>
          </a:ln>
        </p:spPr>
      </p:sp>
      <p:sp>
        <p:nvSpPr>
          <p:cNvPr id="30724" name="Rectangle 3"/>
          <p:cNvSpPr>
            <a:spLocks noGrp="1"/>
          </p:cNvSpPr>
          <p:nvPr>
            <p:ph type="body" idx="1"/>
          </p:nvPr>
        </p:nvSpPr>
        <p:spPr>
          <a:xfrm>
            <a:off x="709613" y="4859338"/>
            <a:ext cx="5683250" cy="4605337"/>
          </a:xfrm>
          <a:noFill/>
          <a:ln>
            <a:noFill/>
          </a:ln>
        </p:spPr>
        <p:txBody>
          <a:bodyPr wrap="square" lIns="99048" tIns="49524" rIns="99048" bIns="49524" anchor="t"/>
          <a:p>
            <a:pPr lvl="0"/>
            <a:endParaRPr lang="en-US" altLang="zh-CN" dirty="0"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7106" name="Rectangle 7"/>
          <p:cNvSpPr txBox="1">
            <a:spLocks noGrp="1"/>
          </p:cNvSpPr>
          <p:nvPr>
            <p:ph type="sldNum" sz="quarter"/>
          </p:nvPr>
        </p:nvSpPr>
        <p:spPr>
          <a:xfrm>
            <a:off x="4022725" y="9718675"/>
            <a:ext cx="3078163" cy="511175"/>
          </a:xfrm>
          <a:prstGeom prst="rect">
            <a:avLst/>
          </a:prstGeom>
          <a:noFill/>
          <a:ln w="9525">
            <a:noFill/>
          </a:ln>
        </p:spPr>
        <p:txBody>
          <a:bodyPr lIns="99048" tIns="49524" rIns="99048" bIns="49524" anchor="b"/>
          <a:p>
            <a:pPr lvl="0" algn="r" eaLnBrk="1" hangingPunct="1"/>
            <a:fld id="{9A0DB2DC-4C9A-4742-B13C-FB6460FD3503}" type="slidenum">
              <a:rPr lang="en-US" altLang="zh-CN" sz="1300" b="0" dirty="0">
                <a:latin typeface="Arial" panose="020B0604020202020204" pitchFamily="34" charset="0"/>
                <a:ea typeface="宋体" panose="02010600030101010101" pitchFamily="2" charset="-122"/>
              </a:rPr>
            </a:fld>
            <a:endParaRPr lang="en-US" altLang="zh-CN" sz="1300" b="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47107" name="Rectangle 1026"/>
          <p:cNvSpPr>
            <a:spLocks noTextEdit="1"/>
          </p:cNvSpPr>
          <p:nvPr>
            <p:ph type="sldImg"/>
          </p:nvPr>
        </p:nvSpPr>
        <p:spPr>
          <a:xfrm>
            <a:off x="993775" y="766763"/>
            <a:ext cx="5114925" cy="3836987"/>
          </a:xfrm>
          <a:ln>
            <a:solidFill>
              <a:srgbClr val="000000">
                <a:alpha val="100000"/>
              </a:srgbClr>
            </a:solidFill>
            <a:miter lim="800000"/>
          </a:ln>
        </p:spPr>
      </p:sp>
      <p:sp>
        <p:nvSpPr>
          <p:cNvPr id="47108" name="Rectangle 1027"/>
          <p:cNvSpPr>
            <a:spLocks noGrp="1"/>
          </p:cNvSpPr>
          <p:nvPr>
            <p:ph type="body" idx="1"/>
          </p:nvPr>
        </p:nvSpPr>
        <p:spPr>
          <a:xfrm>
            <a:off x="709613" y="4859338"/>
            <a:ext cx="5683250" cy="4605337"/>
          </a:xfrm>
          <a:noFill/>
          <a:ln>
            <a:noFill/>
          </a:ln>
        </p:spPr>
        <p:txBody>
          <a:bodyPr wrap="square" lIns="99048" tIns="49524" rIns="99048" bIns="49524" anchor="t"/>
          <a:p>
            <a:pPr lvl="0"/>
            <a:endParaRPr lang="en-US" altLang="zh-CN" dirty="0"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1202" name="Rectangle 7"/>
          <p:cNvSpPr txBox="1">
            <a:spLocks noGrp="1"/>
          </p:cNvSpPr>
          <p:nvPr>
            <p:ph type="sldNum" sz="quarter"/>
          </p:nvPr>
        </p:nvSpPr>
        <p:spPr>
          <a:xfrm>
            <a:off x="4022725" y="9718675"/>
            <a:ext cx="3078163" cy="511175"/>
          </a:xfrm>
          <a:prstGeom prst="rect">
            <a:avLst/>
          </a:prstGeom>
          <a:noFill/>
          <a:ln w="9525">
            <a:noFill/>
          </a:ln>
        </p:spPr>
        <p:txBody>
          <a:bodyPr lIns="99048" tIns="49524" rIns="99048" bIns="49524" anchor="b"/>
          <a:p>
            <a:pPr lvl="0" algn="r" eaLnBrk="1" hangingPunct="1"/>
            <a:fld id="{9A0DB2DC-4C9A-4742-B13C-FB6460FD3503}" type="slidenum">
              <a:rPr lang="en-US" altLang="zh-CN" sz="1300" b="0" dirty="0">
                <a:latin typeface="Arial" panose="020B0604020202020204" pitchFamily="34" charset="0"/>
                <a:ea typeface="宋体" panose="02010600030101010101" pitchFamily="2" charset="-122"/>
              </a:rPr>
            </a:fld>
            <a:endParaRPr lang="en-US" altLang="zh-CN" sz="1300" b="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51203" name="Rectangle 1026"/>
          <p:cNvSpPr>
            <a:spLocks noTextEdit="1"/>
          </p:cNvSpPr>
          <p:nvPr>
            <p:ph type="sldImg"/>
          </p:nvPr>
        </p:nvSpPr>
        <p:spPr>
          <a:xfrm>
            <a:off x="993775" y="766763"/>
            <a:ext cx="5114925" cy="3836987"/>
          </a:xfrm>
          <a:ln>
            <a:solidFill>
              <a:srgbClr val="000000">
                <a:alpha val="100000"/>
              </a:srgbClr>
            </a:solidFill>
            <a:miter lim="800000"/>
          </a:ln>
        </p:spPr>
      </p:sp>
      <p:sp>
        <p:nvSpPr>
          <p:cNvPr id="51204" name="Rectangle 1027"/>
          <p:cNvSpPr>
            <a:spLocks noGrp="1"/>
          </p:cNvSpPr>
          <p:nvPr>
            <p:ph type="body" idx="1"/>
          </p:nvPr>
        </p:nvSpPr>
        <p:spPr>
          <a:xfrm>
            <a:off x="709613" y="4859338"/>
            <a:ext cx="5683250" cy="4605337"/>
          </a:xfrm>
          <a:noFill/>
          <a:ln>
            <a:noFill/>
          </a:ln>
        </p:spPr>
        <p:txBody>
          <a:bodyPr wrap="square" lIns="99048" tIns="49524" rIns="99048" bIns="49524" anchor="t"/>
          <a:p>
            <a:pPr lvl="0"/>
            <a:endParaRPr lang="en-US" altLang="zh-CN" dirty="0"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42" name="Rectangle 7"/>
          <p:cNvSpPr txBox="1">
            <a:spLocks noGrp="1"/>
          </p:cNvSpPr>
          <p:nvPr>
            <p:ph type="sldNum" sz="quarter"/>
          </p:nvPr>
        </p:nvSpPr>
        <p:spPr>
          <a:xfrm>
            <a:off x="4022725" y="9718675"/>
            <a:ext cx="3078163" cy="511175"/>
          </a:xfrm>
          <a:prstGeom prst="rect">
            <a:avLst/>
          </a:prstGeom>
          <a:noFill/>
          <a:ln w="9525">
            <a:noFill/>
          </a:ln>
        </p:spPr>
        <p:txBody>
          <a:bodyPr lIns="99048" tIns="49524" rIns="99048" bIns="49524" anchor="b"/>
          <a:p>
            <a:pPr lvl="0" algn="r" eaLnBrk="1" hangingPunct="1"/>
            <a:fld id="{9A0DB2DC-4C9A-4742-B13C-FB6460FD3503}" type="slidenum">
              <a:rPr lang="en-US" altLang="zh-CN" sz="1300" b="0" dirty="0">
                <a:latin typeface="Arial" panose="020B0604020202020204" pitchFamily="34" charset="0"/>
                <a:ea typeface="宋体" panose="02010600030101010101" pitchFamily="2" charset="-122"/>
              </a:rPr>
            </a:fld>
            <a:endParaRPr lang="en-US" altLang="zh-CN" sz="1300" b="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61443" name="Rectangle 2"/>
          <p:cNvSpPr>
            <a:spLocks noTextEdit="1"/>
          </p:cNvSpPr>
          <p:nvPr>
            <p:ph type="sldImg"/>
          </p:nvPr>
        </p:nvSpPr>
        <p:spPr>
          <a:xfrm>
            <a:off x="993775" y="766763"/>
            <a:ext cx="5114925" cy="3836987"/>
          </a:xfrm>
          <a:ln>
            <a:solidFill>
              <a:srgbClr val="000000">
                <a:alpha val="100000"/>
              </a:srgbClr>
            </a:solidFill>
            <a:miter lim="800000"/>
          </a:ln>
        </p:spPr>
      </p:sp>
      <p:sp>
        <p:nvSpPr>
          <p:cNvPr id="61444" name="Rectangle 3"/>
          <p:cNvSpPr>
            <a:spLocks noGrp="1"/>
          </p:cNvSpPr>
          <p:nvPr>
            <p:ph type="body" idx="1"/>
          </p:nvPr>
        </p:nvSpPr>
        <p:spPr>
          <a:xfrm>
            <a:off x="709613" y="4859338"/>
            <a:ext cx="5683250" cy="4605337"/>
          </a:xfrm>
          <a:noFill/>
          <a:ln>
            <a:noFill/>
          </a:ln>
        </p:spPr>
        <p:txBody>
          <a:bodyPr wrap="square" lIns="99048" tIns="49524" rIns="99048" bIns="49524" anchor="t"/>
          <a:p>
            <a:pPr lvl="0"/>
            <a:endParaRPr lang="en-US" altLang="zh-CN" dirty="0"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5537" name="Rectangle 7"/>
          <p:cNvSpPr txBox="1">
            <a:spLocks noGrp="1"/>
          </p:cNvSpPr>
          <p:nvPr>
            <p:ph type="sldNum" sz="quarter"/>
          </p:nvPr>
        </p:nvSpPr>
        <p:spPr>
          <a:xfrm>
            <a:off x="4022725" y="9718675"/>
            <a:ext cx="3078163" cy="511175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9048" tIns="49524" rIns="99048" bIns="49524" anchor="b"/>
          <a:p>
            <a:pPr lvl="0" algn="r" eaLnBrk="1" hangingPunct="1"/>
            <a:fld id="{9A0DB2DC-4C9A-4742-B13C-FB6460FD3503}" type="slidenum">
              <a:rPr lang="en-US" altLang="zh-CN" sz="1300" b="0" dirty="0">
                <a:latin typeface="Arial" panose="020B0604020202020204" pitchFamily="34" charset="0"/>
                <a:ea typeface="宋体" panose="02010600030101010101" pitchFamily="2" charset="-122"/>
              </a:rPr>
            </a:fld>
            <a:endParaRPr lang="en-US" altLang="zh-CN" sz="1300" b="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65538" name="Rectangle 2"/>
          <p:cNvSpPr>
            <a:spLocks noTextEdit="1"/>
          </p:cNvSpPr>
          <p:nvPr>
            <p:ph type="sldImg"/>
          </p:nvPr>
        </p:nvSpPr>
        <p:spPr>
          <a:xfrm>
            <a:off x="993775" y="766763"/>
            <a:ext cx="5114925" cy="3836987"/>
          </a:xfrm>
          <a:ln>
            <a:solidFill>
              <a:srgbClr val="000000"/>
            </a:solidFill>
            <a:miter/>
          </a:ln>
        </p:spPr>
      </p:sp>
      <p:sp>
        <p:nvSpPr>
          <p:cNvPr id="65539" name="Rectangle 3"/>
          <p:cNvSpPr>
            <a:spLocks noGrp="1"/>
          </p:cNvSpPr>
          <p:nvPr>
            <p:ph type="body"/>
          </p:nvPr>
        </p:nvSpPr>
        <p:spPr>
          <a:xfrm>
            <a:off x="709613" y="4859338"/>
            <a:ext cx="5683250" cy="4605337"/>
          </a:xfrm>
          <a:noFill/>
          <a:ln>
            <a:noFill/>
          </a:ln>
        </p:spPr>
        <p:txBody>
          <a:bodyPr wrap="square" lIns="99048" tIns="49524" rIns="99048" bIns="49524" anchor="t"/>
          <a:p>
            <a:pPr lvl="0"/>
            <a:endParaRPr lang="en-US" altLang="zh-CN" dirty="0"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9633" name="Rectangle 7"/>
          <p:cNvSpPr txBox="1">
            <a:spLocks noGrp="1"/>
          </p:cNvSpPr>
          <p:nvPr>
            <p:ph type="sldNum" sz="quarter"/>
          </p:nvPr>
        </p:nvSpPr>
        <p:spPr>
          <a:xfrm>
            <a:off x="4022725" y="9718675"/>
            <a:ext cx="3078163" cy="511175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9048" tIns="49524" rIns="99048" bIns="49524" anchor="b"/>
          <a:p>
            <a:pPr lvl="0" algn="r" eaLnBrk="1" hangingPunct="1"/>
            <a:fld id="{9A0DB2DC-4C9A-4742-B13C-FB6460FD3503}" type="slidenum">
              <a:rPr lang="en-US" altLang="zh-CN" sz="1300" b="0" dirty="0">
                <a:latin typeface="Arial" panose="020B0604020202020204" pitchFamily="34" charset="0"/>
                <a:ea typeface="宋体" panose="02010600030101010101" pitchFamily="2" charset="-122"/>
              </a:rPr>
            </a:fld>
            <a:endParaRPr lang="en-US" altLang="zh-CN" sz="1300" b="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69634" name="Rectangle 2"/>
          <p:cNvSpPr>
            <a:spLocks noTextEdit="1"/>
          </p:cNvSpPr>
          <p:nvPr>
            <p:ph type="sldImg"/>
          </p:nvPr>
        </p:nvSpPr>
        <p:spPr>
          <a:xfrm>
            <a:off x="993775" y="766763"/>
            <a:ext cx="5114925" cy="3836987"/>
          </a:xfrm>
          <a:ln>
            <a:solidFill>
              <a:srgbClr val="000000"/>
            </a:solidFill>
            <a:miter/>
          </a:ln>
        </p:spPr>
      </p:sp>
      <p:sp>
        <p:nvSpPr>
          <p:cNvPr id="69635" name="Rectangle 3"/>
          <p:cNvSpPr>
            <a:spLocks noGrp="1"/>
          </p:cNvSpPr>
          <p:nvPr>
            <p:ph type="body"/>
          </p:nvPr>
        </p:nvSpPr>
        <p:spPr>
          <a:xfrm>
            <a:off x="709613" y="4859338"/>
            <a:ext cx="5683250" cy="4605337"/>
          </a:xfrm>
          <a:noFill/>
          <a:ln>
            <a:noFill/>
          </a:ln>
        </p:spPr>
        <p:txBody>
          <a:bodyPr wrap="square" lIns="99048" tIns="49524" rIns="99048" bIns="49524" anchor="t"/>
          <a:p>
            <a:pPr lvl="0"/>
            <a:endParaRPr lang="en-US" altLang="zh-CN" dirty="0"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1681" name="Rectangle 7"/>
          <p:cNvSpPr txBox="1">
            <a:spLocks noGrp="1"/>
          </p:cNvSpPr>
          <p:nvPr>
            <p:ph type="sldNum" sz="quarter"/>
          </p:nvPr>
        </p:nvSpPr>
        <p:spPr>
          <a:xfrm>
            <a:off x="4022725" y="9718675"/>
            <a:ext cx="3078163" cy="511175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9048" tIns="49524" rIns="99048" bIns="49524" anchor="b"/>
          <a:p>
            <a:pPr lvl="0" algn="r" eaLnBrk="1" hangingPunct="1"/>
            <a:fld id="{9A0DB2DC-4C9A-4742-B13C-FB6460FD3503}" type="slidenum">
              <a:rPr lang="en-US" altLang="zh-CN" sz="1300" b="0" dirty="0">
                <a:latin typeface="Arial" panose="020B0604020202020204" pitchFamily="34" charset="0"/>
                <a:ea typeface="宋体" panose="02010600030101010101" pitchFamily="2" charset="-122"/>
              </a:rPr>
            </a:fld>
            <a:endParaRPr lang="en-US" altLang="zh-CN" sz="1300" b="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71682" name="Rectangle 2"/>
          <p:cNvSpPr>
            <a:spLocks noTextEdit="1"/>
          </p:cNvSpPr>
          <p:nvPr>
            <p:ph type="sldImg"/>
          </p:nvPr>
        </p:nvSpPr>
        <p:spPr>
          <a:xfrm>
            <a:off x="993775" y="766763"/>
            <a:ext cx="5114925" cy="3836987"/>
          </a:xfrm>
          <a:ln>
            <a:solidFill>
              <a:srgbClr val="000000"/>
            </a:solidFill>
            <a:miter/>
          </a:ln>
        </p:spPr>
      </p:sp>
      <p:sp>
        <p:nvSpPr>
          <p:cNvPr id="71683" name="Rectangle 3"/>
          <p:cNvSpPr>
            <a:spLocks noGrp="1"/>
          </p:cNvSpPr>
          <p:nvPr>
            <p:ph type="body"/>
          </p:nvPr>
        </p:nvSpPr>
        <p:spPr>
          <a:xfrm>
            <a:off x="709613" y="4859338"/>
            <a:ext cx="5683250" cy="4605337"/>
          </a:xfrm>
          <a:noFill/>
          <a:ln>
            <a:noFill/>
          </a:ln>
        </p:spPr>
        <p:txBody>
          <a:bodyPr wrap="square" lIns="99048" tIns="49524" rIns="99048" bIns="49524" anchor="t"/>
          <a:p>
            <a:pPr lvl="0"/>
            <a:endParaRPr lang="en-US" altLang="zh-CN" dirty="0"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5777" name="Rectangle 7"/>
          <p:cNvSpPr txBox="1">
            <a:spLocks noGrp="1"/>
          </p:cNvSpPr>
          <p:nvPr>
            <p:ph type="sldNum" sz="quarter"/>
          </p:nvPr>
        </p:nvSpPr>
        <p:spPr>
          <a:xfrm>
            <a:off x="4022725" y="9718675"/>
            <a:ext cx="3078163" cy="511175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9048" tIns="49524" rIns="99048" bIns="49524" anchor="b"/>
          <a:p>
            <a:pPr lvl="0" algn="r" eaLnBrk="1" hangingPunct="1"/>
            <a:fld id="{9A0DB2DC-4C9A-4742-B13C-FB6460FD3503}" type="slidenum">
              <a:rPr lang="en-US" altLang="zh-CN" sz="1300" b="0" dirty="0">
                <a:latin typeface="Arial" panose="020B0604020202020204" pitchFamily="34" charset="0"/>
                <a:ea typeface="宋体" panose="02010600030101010101" pitchFamily="2" charset="-122"/>
              </a:rPr>
            </a:fld>
            <a:endParaRPr lang="en-US" altLang="zh-CN" sz="1300" b="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75778" name="Rectangle 2"/>
          <p:cNvSpPr>
            <a:spLocks noTextEdit="1"/>
          </p:cNvSpPr>
          <p:nvPr>
            <p:ph type="sldImg"/>
          </p:nvPr>
        </p:nvSpPr>
        <p:spPr>
          <a:xfrm>
            <a:off x="993775" y="766763"/>
            <a:ext cx="5114925" cy="3836987"/>
          </a:xfrm>
          <a:ln>
            <a:solidFill>
              <a:srgbClr val="000000"/>
            </a:solidFill>
            <a:miter/>
          </a:ln>
        </p:spPr>
      </p:sp>
      <p:sp>
        <p:nvSpPr>
          <p:cNvPr id="75779" name="Rectangle 3"/>
          <p:cNvSpPr>
            <a:spLocks noGrp="1"/>
          </p:cNvSpPr>
          <p:nvPr>
            <p:ph type="body"/>
          </p:nvPr>
        </p:nvSpPr>
        <p:spPr>
          <a:xfrm>
            <a:off x="709613" y="4859338"/>
            <a:ext cx="5683250" cy="4605337"/>
          </a:xfrm>
          <a:noFill/>
          <a:ln>
            <a:noFill/>
          </a:ln>
        </p:spPr>
        <p:txBody>
          <a:bodyPr wrap="square" lIns="99048" tIns="49524" rIns="99048" bIns="49524" anchor="t"/>
          <a:p>
            <a:pPr lvl="0"/>
            <a:endParaRPr lang="en-US" altLang="zh-CN" dirty="0"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6257" name="Rectangle 7"/>
          <p:cNvSpPr txBox="1">
            <a:spLocks noGrp="1"/>
          </p:cNvSpPr>
          <p:nvPr>
            <p:ph type="sldNum" sz="quarter"/>
          </p:nvPr>
        </p:nvSpPr>
        <p:spPr>
          <a:xfrm>
            <a:off x="4022725" y="9718675"/>
            <a:ext cx="3078163" cy="511175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9048" tIns="49524" rIns="99048" bIns="49524" anchor="b"/>
          <a:p>
            <a:pPr lvl="0" algn="r" eaLnBrk="1" hangingPunct="1"/>
            <a:fld id="{9A0DB2DC-4C9A-4742-B13C-FB6460FD3503}" type="slidenum">
              <a:rPr lang="en-US" altLang="zh-CN" sz="1300" b="0" dirty="0">
                <a:latin typeface="Arial" panose="020B0604020202020204" pitchFamily="34" charset="0"/>
                <a:ea typeface="宋体" panose="02010600030101010101" pitchFamily="2" charset="-122"/>
              </a:rPr>
            </a:fld>
            <a:endParaRPr lang="en-US" altLang="zh-CN" sz="1300" b="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96258" name="Rectangle 2"/>
          <p:cNvSpPr>
            <a:spLocks noTextEdit="1"/>
          </p:cNvSpPr>
          <p:nvPr>
            <p:ph type="sldImg"/>
          </p:nvPr>
        </p:nvSpPr>
        <p:spPr>
          <a:xfrm>
            <a:off x="993775" y="766763"/>
            <a:ext cx="5114925" cy="3836987"/>
          </a:xfrm>
          <a:ln>
            <a:solidFill>
              <a:srgbClr val="000000"/>
            </a:solidFill>
            <a:miter/>
          </a:ln>
        </p:spPr>
      </p:sp>
      <p:sp>
        <p:nvSpPr>
          <p:cNvPr id="96259" name="Rectangle 3"/>
          <p:cNvSpPr>
            <a:spLocks noGrp="1"/>
          </p:cNvSpPr>
          <p:nvPr>
            <p:ph type="body"/>
          </p:nvPr>
        </p:nvSpPr>
        <p:spPr>
          <a:xfrm>
            <a:off x="709613" y="4859338"/>
            <a:ext cx="5683250" cy="4605337"/>
          </a:xfrm>
          <a:noFill/>
          <a:ln>
            <a:noFill/>
          </a:ln>
        </p:spPr>
        <p:txBody>
          <a:bodyPr wrap="square" lIns="99048" tIns="49524" rIns="99048" bIns="49524" anchor="t"/>
          <a:p>
            <a:pPr lvl="0"/>
            <a:endParaRPr lang="en-US" altLang="zh-CN" dirty="0"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2401" name="Rectangle 7"/>
          <p:cNvSpPr txBox="1">
            <a:spLocks noGrp="1"/>
          </p:cNvSpPr>
          <p:nvPr>
            <p:ph type="sldNum" sz="quarter"/>
          </p:nvPr>
        </p:nvSpPr>
        <p:spPr>
          <a:xfrm>
            <a:off x="4022725" y="9718675"/>
            <a:ext cx="3078163" cy="511175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9048" tIns="49524" rIns="99048" bIns="49524" anchor="b"/>
          <a:p>
            <a:pPr lvl="0" algn="r" eaLnBrk="1" hangingPunct="1"/>
            <a:fld id="{9A0DB2DC-4C9A-4742-B13C-FB6460FD3503}" type="slidenum">
              <a:rPr lang="en-US" altLang="zh-CN" sz="1300" b="0" dirty="0">
                <a:latin typeface="Arial" panose="020B0604020202020204" pitchFamily="34" charset="0"/>
                <a:ea typeface="宋体" panose="02010600030101010101" pitchFamily="2" charset="-122"/>
              </a:rPr>
            </a:fld>
            <a:endParaRPr lang="en-US" altLang="zh-CN" sz="1300" b="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402" name="Rectangle 2"/>
          <p:cNvSpPr>
            <a:spLocks noTextEdit="1"/>
          </p:cNvSpPr>
          <p:nvPr>
            <p:ph type="sldImg"/>
          </p:nvPr>
        </p:nvSpPr>
        <p:spPr>
          <a:xfrm>
            <a:off x="993775" y="766763"/>
            <a:ext cx="5114925" cy="3836987"/>
          </a:xfrm>
          <a:ln>
            <a:solidFill>
              <a:srgbClr val="000000"/>
            </a:solidFill>
            <a:miter/>
          </a:ln>
        </p:spPr>
      </p:sp>
      <p:sp>
        <p:nvSpPr>
          <p:cNvPr id="102403" name="Rectangle 3"/>
          <p:cNvSpPr>
            <a:spLocks noGrp="1"/>
          </p:cNvSpPr>
          <p:nvPr>
            <p:ph type="body"/>
          </p:nvPr>
        </p:nvSpPr>
        <p:spPr>
          <a:xfrm>
            <a:off x="709613" y="4859338"/>
            <a:ext cx="5683250" cy="4605337"/>
          </a:xfrm>
          <a:noFill/>
          <a:ln>
            <a:noFill/>
          </a:ln>
        </p:spPr>
        <p:txBody>
          <a:bodyPr wrap="square" lIns="99048" tIns="49524" rIns="99048" bIns="49524" anchor="t"/>
          <a:p>
            <a:pPr lvl="0"/>
            <a:endParaRPr lang="en-US" altLang="zh-CN" dirty="0"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6497" name="Rectangle 7"/>
          <p:cNvSpPr txBox="1">
            <a:spLocks noGrp="1"/>
          </p:cNvSpPr>
          <p:nvPr>
            <p:ph type="sldNum" sz="quarter"/>
          </p:nvPr>
        </p:nvSpPr>
        <p:spPr>
          <a:xfrm>
            <a:off x="4022725" y="9718675"/>
            <a:ext cx="3078163" cy="511175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9048" tIns="49524" rIns="99048" bIns="49524" anchor="b"/>
          <a:p>
            <a:pPr lvl="0" algn="r" eaLnBrk="1" hangingPunct="1"/>
            <a:fld id="{9A0DB2DC-4C9A-4742-B13C-FB6460FD3503}" type="slidenum">
              <a:rPr lang="en-US" altLang="zh-CN" sz="1300" b="0" dirty="0">
                <a:latin typeface="Arial" panose="020B0604020202020204" pitchFamily="34" charset="0"/>
                <a:ea typeface="宋体" panose="02010600030101010101" pitchFamily="2" charset="-122"/>
              </a:rPr>
            </a:fld>
            <a:endParaRPr lang="en-US" altLang="zh-CN" sz="1300" b="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6498" name="Rectangle 2"/>
          <p:cNvSpPr>
            <a:spLocks noTextEdit="1"/>
          </p:cNvSpPr>
          <p:nvPr>
            <p:ph type="sldImg"/>
          </p:nvPr>
        </p:nvSpPr>
        <p:spPr>
          <a:xfrm>
            <a:off x="993775" y="766763"/>
            <a:ext cx="5114925" cy="3836987"/>
          </a:xfrm>
          <a:ln>
            <a:solidFill>
              <a:srgbClr val="000000"/>
            </a:solidFill>
            <a:miter/>
          </a:ln>
        </p:spPr>
      </p:sp>
      <p:sp>
        <p:nvSpPr>
          <p:cNvPr id="106499" name="Rectangle 3"/>
          <p:cNvSpPr>
            <a:spLocks noGrp="1"/>
          </p:cNvSpPr>
          <p:nvPr>
            <p:ph type="body"/>
          </p:nvPr>
        </p:nvSpPr>
        <p:spPr>
          <a:xfrm>
            <a:off x="709613" y="4859338"/>
            <a:ext cx="5683250" cy="4605337"/>
          </a:xfrm>
          <a:noFill/>
          <a:ln>
            <a:noFill/>
          </a:ln>
        </p:spPr>
        <p:txBody>
          <a:bodyPr wrap="square" lIns="99048" tIns="49524" rIns="99048" bIns="49524" anchor="t"/>
          <a:p>
            <a:pPr lvl="0"/>
            <a:endParaRPr lang="en-US" altLang="zh-CN" dirty="0"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2641" name="Rectangle 7"/>
          <p:cNvSpPr txBox="1">
            <a:spLocks noGrp="1"/>
          </p:cNvSpPr>
          <p:nvPr>
            <p:ph type="sldNum" sz="quarter"/>
          </p:nvPr>
        </p:nvSpPr>
        <p:spPr>
          <a:xfrm>
            <a:off x="4022725" y="9718675"/>
            <a:ext cx="3078163" cy="511175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9048" tIns="49524" rIns="99048" bIns="49524" anchor="b"/>
          <a:p>
            <a:pPr lvl="0" algn="r" eaLnBrk="1" hangingPunct="1"/>
            <a:fld id="{9A0DB2DC-4C9A-4742-B13C-FB6460FD3503}" type="slidenum">
              <a:rPr lang="en-US" altLang="zh-CN" sz="1300" b="0" dirty="0">
                <a:latin typeface="Arial" panose="020B0604020202020204" pitchFamily="34" charset="0"/>
                <a:ea typeface="宋体" panose="02010600030101010101" pitchFamily="2" charset="-122"/>
              </a:rPr>
            </a:fld>
            <a:endParaRPr lang="en-US" altLang="zh-CN" sz="1300" b="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12642" name="Rectangle 2"/>
          <p:cNvSpPr>
            <a:spLocks noTextEdit="1"/>
          </p:cNvSpPr>
          <p:nvPr>
            <p:ph type="sldImg"/>
          </p:nvPr>
        </p:nvSpPr>
        <p:spPr>
          <a:xfrm>
            <a:off x="993775" y="766763"/>
            <a:ext cx="5114925" cy="3836987"/>
          </a:xfrm>
          <a:ln>
            <a:solidFill>
              <a:srgbClr val="000000"/>
            </a:solidFill>
            <a:miter/>
          </a:ln>
        </p:spPr>
      </p:sp>
      <p:sp>
        <p:nvSpPr>
          <p:cNvPr id="112643" name="Rectangle 3"/>
          <p:cNvSpPr>
            <a:spLocks noGrp="1"/>
          </p:cNvSpPr>
          <p:nvPr>
            <p:ph type="body"/>
          </p:nvPr>
        </p:nvSpPr>
        <p:spPr>
          <a:xfrm>
            <a:off x="709613" y="4859338"/>
            <a:ext cx="5683250" cy="4605337"/>
          </a:xfrm>
          <a:noFill/>
          <a:ln>
            <a:noFill/>
          </a:ln>
        </p:spPr>
        <p:txBody>
          <a:bodyPr wrap="square" lIns="99048" tIns="49524" rIns="99048" bIns="49524" anchor="t"/>
          <a:p>
            <a:pPr lvl="0"/>
            <a:endParaRPr lang="en-US" altLang="zh-CN" dirty="0"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4689" name="Rectangle 7"/>
          <p:cNvSpPr txBox="1">
            <a:spLocks noGrp="1"/>
          </p:cNvSpPr>
          <p:nvPr>
            <p:ph type="sldNum" sz="quarter"/>
          </p:nvPr>
        </p:nvSpPr>
        <p:spPr>
          <a:xfrm>
            <a:off x="4022725" y="9718675"/>
            <a:ext cx="3078163" cy="511175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9048" tIns="49524" rIns="99048" bIns="49524" anchor="b"/>
          <a:p>
            <a:pPr lvl="0" algn="r" eaLnBrk="1" hangingPunct="1"/>
            <a:fld id="{9A0DB2DC-4C9A-4742-B13C-FB6460FD3503}" type="slidenum">
              <a:rPr lang="en-US" altLang="zh-CN" sz="1300" b="0" dirty="0">
                <a:latin typeface="Arial" panose="020B0604020202020204" pitchFamily="34" charset="0"/>
                <a:ea typeface="宋体" panose="02010600030101010101" pitchFamily="2" charset="-122"/>
              </a:rPr>
            </a:fld>
            <a:endParaRPr lang="en-US" altLang="zh-CN" sz="1300" b="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14690" name="Rectangle 2"/>
          <p:cNvSpPr>
            <a:spLocks noTextEdit="1"/>
          </p:cNvSpPr>
          <p:nvPr>
            <p:ph type="sldImg"/>
          </p:nvPr>
        </p:nvSpPr>
        <p:spPr>
          <a:xfrm>
            <a:off x="993775" y="766763"/>
            <a:ext cx="5114925" cy="3836987"/>
          </a:xfrm>
          <a:ln>
            <a:solidFill>
              <a:srgbClr val="000000"/>
            </a:solidFill>
            <a:miter/>
          </a:ln>
        </p:spPr>
      </p:sp>
      <p:sp>
        <p:nvSpPr>
          <p:cNvPr id="114691" name="Rectangle 3"/>
          <p:cNvSpPr>
            <a:spLocks noGrp="1"/>
          </p:cNvSpPr>
          <p:nvPr>
            <p:ph type="body"/>
          </p:nvPr>
        </p:nvSpPr>
        <p:spPr>
          <a:xfrm>
            <a:off x="709613" y="4859338"/>
            <a:ext cx="5683250" cy="4605337"/>
          </a:xfrm>
          <a:noFill/>
          <a:ln>
            <a:noFill/>
          </a:ln>
        </p:spPr>
        <p:txBody>
          <a:bodyPr wrap="square" lIns="99048" tIns="49524" rIns="99048" bIns="49524" anchor="t"/>
          <a:p>
            <a:pPr lvl="0"/>
            <a:endParaRPr lang="en-US" altLang="zh-CN" dirty="0"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8785" name="Rectangle 7"/>
          <p:cNvSpPr txBox="1">
            <a:spLocks noGrp="1"/>
          </p:cNvSpPr>
          <p:nvPr>
            <p:ph type="sldNum" sz="quarter"/>
          </p:nvPr>
        </p:nvSpPr>
        <p:spPr>
          <a:xfrm>
            <a:off x="4022725" y="9718675"/>
            <a:ext cx="3078163" cy="511175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9048" tIns="49524" rIns="99048" bIns="49524" anchor="b"/>
          <a:p>
            <a:pPr lvl="0" algn="r" eaLnBrk="1" hangingPunct="1"/>
            <a:fld id="{9A0DB2DC-4C9A-4742-B13C-FB6460FD3503}" type="slidenum">
              <a:rPr lang="en-US" altLang="zh-CN" sz="1300" b="0" dirty="0">
                <a:latin typeface="Arial" panose="020B0604020202020204" pitchFamily="34" charset="0"/>
                <a:ea typeface="宋体" panose="02010600030101010101" pitchFamily="2" charset="-122"/>
              </a:rPr>
            </a:fld>
            <a:endParaRPr lang="en-US" altLang="zh-CN" sz="1300" b="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18786" name="Rectangle 2"/>
          <p:cNvSpPr>
            <a:spLocks noTextEdit="1"/>
          </p:cNvSpPr>
          <p:nvPr>
            <p:ph type="sldImg"/>
          </p:nvPr>
        </p:nvSpPr>
        <p:spPr>
          <a:xfrm>
            <a:off x="993775" y="766763"/>
            <a:ext cx="5114925" cy="3836987"/>
          </a:xfrm>
          <a:ln>
            <a:solidFill>
              <a:srgbClr val="000000"/>
            </a:solidFill>
            <a:miter/>
          </a:ln>
        </p:spPr>
      </p:sp>
      <p:sp>
        <p:nvSpPr>
          <p:cNvPr id="118787" name="Rectangle 3"/>
          <p:cNvSpPr>
            <a:spLocks noGrp="1"/>
          </p:cNvSpPr>
          <p:nvPr>
            <p:ph type="body"/>
          </p:nvPr>
        </p:nvSpPr>
        <p:spPr>
          <a:xfrm>
            <a:off x="709613" y="4859338"/>
            <a:ext cx="5683250" cy="4605337"/>
          </a:xfrm>
          <a:noFill/>
          <a:ln>
            <a:noFill/>
          </a:ln>
        </p:spPr>
        <p:txBody>
          <a:bodyPr wrap="square" lIns="99048" tIns="49524" rIns="99048" bIns="49524" anchor="t"/>
          <a:p>
            <a:pPr lvl="0"/>
            <a:endParaRPr lang="en-US" altLang="zh-CN" dirty="0"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0833" name="Rectangle 7"/>
          <p:cNvSpPr txBox="1">
            <a:spLocks noGrp="1"/>
          </p:cNvSpPr>
          <p:nvPr>
            <p:ph type="sldNum" sz="quarter"/>
          </p:nvPr>
        </p:nvSpPr>
        <p:spPr>
          <a:xfrm>
            <a:off x="4022725" y="9718675"/>
            <a:ext cx="3078163" cy="511175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9048" tIns="49524" rIns="99048" bIns="49524" anchor="b"/>
          <a:p>
            <a:pPr lvl="0" algn="r" eaLnBrk="1" hangingPunct="1"/>
            <a:fld id="{9A0DB2DC-4C9A-4742-B13C-FB6460FD3503}" type="slidenum">
              <a:rPr lang="en-US" altLang="zh-CN" sz="1300" b="0" dirty="0">
                <a:latin typeface="Arial" panose="020B0604020202020204" pitchFamily="34" charset="0"/>
                <a:ea typeface="宋体" panose="02010600030101010101" pitchFamily="2" charset="-122"/>
              </a:rPr>
            </a:fld>
            <a:endParaRPr lang="en-US" altLang="zh-CN" sz="1300" b="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20834" name="Rectangle 2"/>
          <p:cNvSpPr>
            <a:spLocks noTextEdit="1"/>
          </p:cNvSpPr>
          <p:nvPr>
            <p:ph type="sldImg"/>
          </p:nvPr>
        </p:nvSpPr>
        <p:spPr>
          <a:xfrm>
            <a:off x="993775" y="766763"/>
            <a:ext cx="5114925" cy="3836987"/>
          </a:xfrm>
          <a:ln>
            <a:solidFill>
              <a:srgbClr val="000000"/>
            </a:solidFill>
            <a:miter/>
          </a:ln>
        </p:spPr>
      </p:sp>
      <p:sp>
        <p:nvSpPr>
          <p:cNvPr id="120835" name="Rectangle 3"/>
          <p:cNvSpPr>
            <a:spLocks noGrp="1"/>
          </p:cNvSpPr>
          <p:nvPr>
            <p:ph type="body"/>
          </p:nvPr>
        </p:nvSpPr>
        <p:spPr>
          <a:xfrm>
            <a:off x="709613" y="4859338"/>
            <a:ext cx="5683250" cy="4605337"/>
          </a:xfrm>
          <a:noFill/>
          <a:ln>
            <a:noFill/>
          </a:ln>
        </p:spPr>
        <p:txBody>
          <a:bodyPr wrap="square" lIns="99048" tIns="49524" rIns="99048" bIns="49524" anchor="t"/>
          <a:p>
            <a:pPr lvl="0"/>
            <a:endParaRPr lang="en-US" altLang="zh-CN" dirty="0"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4145" name="Rectangle 7"/>
          <p:cNvSpPr txBox="1">
            <a:spLocks noGrp="1"/>
          </p:cNvSpPr>
          <p:nvPr>
            <p:ph type="sldNum" sz="quarter"/>
          </p:nvPr>
        </p:nvSpPr>
        <p:spPr>
          <a:xfrm>
            <a:off x="4022725" y="9718675"/>
            <a:ext cx="3078163" cy="511175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9048" tIns="49524" rIns="99048" bIns="49524" anchor="b"/>
          <a:p>
            <a:pPr lvl="0" algn="r" eaLnBrk="1" hangingPunct="1"/>
            <a:fld id="{9A0DB2DC-4C9A-4742-B13C-FB6460FD3503}" type="slidenum">
              <a:rPr lang="en-US" altLang="zh-CN" sz="1300" b="0" dirty="0">
                <a:latin typeface="Arial" panose="020B0604020202020204" pitchFamily="34" charset="0"/>
                <a:ea typeface="宋体" panose="02010600030101010101" pitchFamily="2" charset="-122"/>
              </a:rPr>
            </a:fld>
            <a:endParaRPr lang="en-US" altLang="zh-CN" sz="1300" b="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34146" name="Rectangle 2"/>
          <p:cNvSpPr>
            <a:spLocks noTextEdit="1"/>
          </p:cNvSpPr>
          <p:nvPr>
            <p:ph type="sldImg"/>
          </p:nvPr>
        </p:nvSpPr>
        <p:spPr>
          <a:xfrm>
            <a:off x="993775" y="766763"/>
            <a:ext cx="5114925" cy="3836987"/>
          </a:xfrm>
          <a:ln>
            <a:solidFill>
              <a:srgbClr val="000000"/>
            </a:solidFill>
            <a:miter/>
          </a:ln>
        </p:spPr>
      </p:sp>
      <p:sp>
        <p:nvSpPr>
          <p:cNvPr id="134147" name="Rectangle 3"/>
          <p:cNvSpPr>
            <a:spLocks noGrp="1"/>
          </p:cNvSpPr>
          <p:nvPr>
            <p:ph type="body"/>
          </p:nvPr>
        </p:nvSpPr>
        <p:spPr>
          <a:xfrm>
            <a:off x="709613" y="4859338"/>
            <a:ext cx="5683250" cy="4605337"/>
          </a:xfrm>
          <a:noFill/>
          <a:ln>
            <a:noFill/>
          </a:ln>
        </p:spPr>
        <p:txBody>
          <a:bodyPr wrap="square" lIns="99048" tIns="49524" rIns="99048" bIns="49524" anchor="t"/>
          <a:p>
            <a:pPr lvl="0"/>
            <a:endParaRPr lang="en-US" altLang="zh-CN" dirty="0"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0049" name="Rectangle 7"/>
          <p:cNvSpPr txBox="1">
            <a:spLocks noGrp="1"/>
          </p:cNvSpPr>
          <p:nvPr>
            <p:ph type="sldNum" sz="quarter"/>
          </p:nvPr>
        </p:nvSpPr>
        <p:spPr>
          <a:xfrm>
            <a:off x="4022725" y="9718675"/>
            <a:ext cx="3078163" cy="511175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9048" tIns="49524" rIns="99048" bIns="49524" anchor="b"/>
          <a:p>
            <a:pPr lvl="0" algn="r" eaLnBrk="1" hangingPunct="1"/>
            <a:fld id="{9A0DB2DC-4C9A-4742-B13C-FB6460FD3503}" type="slidenum">
              <a:rPr lang="en-US" altLang="zh-CN" sz="1300" b="0" dirty="0">
                <a:latin typeface="Arial" panose="020B0604020202020204" pitchFamily="34" charset="0"/>
                <a:ea typeface="宋体" panose="02010600030101010101" pitchFamily="2" charset="-122"/>
              </a:rPr>
            </a:fld>
            <a:endParaRPr lang="en-US" altLang="zh-CN" sz="1300" b="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30050" name="Rectangle 2"/>
          <p:cNvSpPr>
            <a:spLocks noTextEdit="1"/>
          </p:cNvSpPr>
          <p:nvPr>
            <p:ph type="sldImg"/>
          </p:nvPr>
        </p:nvSpPr>
        <p:spPr>
          <a:xfrm>
            <a:off x="993775" y="766763"/>
            <a:ext cx="5114925" cy="3836987"/>
          </a:xfrm>
          <a:ln>
            <a:solidFill>
              <a:srgbClr val="000000"/>
            </a:solidFill>
            <a:miter/>
          </a:ln>
        </p:spPr>
      </p:sp>
      <p:sp>
        <p:nvSpPr>
          <p:cNvPr id="130051" name="Rectangle 3"/>
          <p:cNvSpPr>
            <a:spLocks noGrp="1"/>
          </p:cNvSpPr>
          <p:nvPr>
            <p:ph type="body"/>
          </p:nvPr>
        </p:nvSpPr>
        <p:spPr>
          <a:xfrm>
            <a:off x="709613" y="4859338"/>
            <a:ext cx="5683250" cy="4605337"/>
          </a:xfrm>
          <a:noFill/>
          <a:ln>
            <a:noFill/>
          </a:ln>
        </p:spPr>
        <p:txBody>
          <a:bodyPr wrap="square" lIns="99048" tIns="49524" rIns="99048" bIns="49524" anchor="t"/>
          <a:p>
            <a:pPr lvl="0"/>
            <a:endParaRPr lang="en-US" altLang="zh-CN" dirty="0"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42337" name="Rectangle 7"/>
          <p:cNvSpPr txBox="1">
            <a:spLocks noGrp="1"/>
          </p:cNvSpPr>
          <p:nvPr>
            <p:ph type="sldNum" sz="quarter"/>
          </p:nvPr>
        </p:nvSpPr>
        <p:spPr>
          <a:xfrm>
            <a:off x="4022725" y="9718675"/>
            <a:ext cx="3078163" cy="511175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9048" tIns="49524" rIns="99048" bIns="49524" anchor="b"/>
          <a:p>
            <a:pPr lvl="0" algn="r" eaLnBrk="1" hangingPunct="1"/>
            <a:fld id="{9A0DB2DC-4C9A-4742-B13C-FB6460FD3503}" type="slidenum">
              <a:rPr lang="en-US" altLang="zh-CN" sz="1300" b="0" dirty="0">
                <a:latin typeface="Arial" panose="020B0604020202020204" pitchFamily="34" charset="0"/>
                <a:ea typeface="宋体" panose="02010600030101010101" pitchFamily="2" charset="-122"/>
              </a:rPr>
            </a:fld>
            <a:endParaRPr lang="en-US" altLang="zh-CN" sz="1300" b="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42338" name="Rectangle 2"/>
          <p:cNvSpPr>
            <a:spLocks noTextEdit="1"/>
          </p:cNvSpPr>
          <p:nvPr>
            <p:ph type="sldImg"/>
          </p:nvPr>
        </p:nvSpPr>
        <p:spPr>
          <a:xfrm>
            <a:off x="993775" y="766763"/>
            <a:ext cx="5114925" cy="3836987"/>
          </a:xfrm>
          <a:ln>
            <a:solidFill>
              <a:srgbClr val="000000"/>
            </a:solidFill>
            <a:miter/>
          </a:ln>
        </p:spPr>
      </p:sp>
      <p:sp>
        <p:nvSpPr>
          <p:cNvPr id="142339" name="Rectangle 3"/>
          <p:cNvSpPr>
            <a:spLocks noGrp="1"/>
          </p:cNvSpPr>
          <p:nvPr>
            <p:ph type="body"/>
          </p:nvPr>
        </p:nvSpPr>
        <p:spPr>
          <a:xfrm>
            <a:off x="709613" y="4859338"/>
            <a:ext cx="5683250" cy="4605337"/>
          </a:xfrm>
          <a:noFill/>
          <a:ln>
            <a:noFill/>
          </a:ln>
        </p:spPr>
        <p:txBody>
          <a:bodyPr wrap="square" lIns="99048" tIns="49524" rIns="99048" bIns="49524" anchor="t"/>
          <a:p>
            <a:pPr lvl="0"/>
            <a:endParaRPr lang="en-US" altLang="zh-CN" dirty="0"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52577" name="Rectangle 7"/>
          <p:cNvSpPr txBox="1">
            <a:spLocks noGrp="1"/>
          </p:cNvSpPr>
          <p:nvPr>
            <p:ph type="sldNum" sz="quarter"/>
          </p:nvPr>
        </p:nvSpPr>
        <p:spPr>
          <a:xfrm>
            <a:off x="4022725" y="9718675"/>
            <a:ext cx="3078163" cy="511175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9048" tIns="49524" rIns="99048" bIns="49524" anchor="b"/>
          <a:p>
            <a:pPr lvl="0" algn="r" eaLnBrk="1" hangingPunct="1"/>
            <a:fld id="{9A0DB2DC-4C9A-4742-B13C-FB6460FD3503}" type="slidenum">
              <a:rPr lang="en-US" altLang="zh-CN" sz="1300" b="0" dirty="0">
                <a:latin typeface="Arial" panose="020B0604020202020204" pitchFamily="34" charset="0"/>
                <a:ea typeface="宋体" panose="02010600030101010101" pitchFamily="2" charset="-122"/>
              </a:rPr>
            </a:fld>
            <a:endParaRPr lang="en-US" altLang="zh-CN" sz="1300" b="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52578" name="Rectangle 2"/>
          <p:cNvSpPr>
            <a:spLocks noGrp="1" noRot="1" noChangeAspect="1" noTextEdit="1"/>
          </p:cNvSpPr>
          <p:nvPr>
            <p:ph type="sldImg"/>
          </p:nvPr>
        </p:nvSpPr>
        <p:spPr>
          <a:xfrm>
            <a:off x="993775" y="766763"/>
            <a:ext cx="5114925" cy="3836987"/>
          </a:xfrm>
          <a:ln>
            <a:solidFill>
              <a:srgbClr val="000000"/>
            </a:solidFill>
            <a:miter/>
          </a:ln>
        </p:spPr>
      </p:sp>
      <p:sp>
        <p:nvSpPr>
          <p:cNvPr id="152579" name="Rectangle 3"/>
          <p:cNvSpPr>
            <a:spLocks noGrp="1"/>
          </p:cNvSpPr>
          <p:nvPr>
            <p:ph type="body"/>
          </p:nvPr>
        </p:nvSpPr>
        <p:spPr>
          <a:xfrm>
            <a:off x="709613" y="4859338"/>
            <a:ext cx="5683250" cy="4605337"/>
          </a:xfrm>
          <a:noFill/>
          <a:ln>
            <a:noFill/>
          </a:ln>
        </p:spPr>
        <p:txBody>
          <a:bodyPr wrap="square" lIns="99048" tIns="49524" rIns="99048" bIns="49524" anchor="t"/>
          <a:p>
            <a:pPr lvl="0"/>
            <a:endParaRPr lang="en-US" altLang="zh-CN" dirty="0"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48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48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48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48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48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48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48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48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48" charset="-128"/>
              </a:defRPr>
            </a:lvl9pPr>
          </a:lstStyle>
          <a:p>
            <a:fld id="{315150DA-F2B2-4ABA-9018-129E5AFAEFE8}" type="slidenum">
              <a:rPr lang="en-US" altLang="en-US" sz="1200" smtClean="0"/>
            </a:fld>
            <a:endParaRPr lang="en-US" altLang="en-US" sz="1200"/>
          </a:p>
        </p:txBody>
      </p:sp>
      <p:sp>
        <p:nvSpPr>
          <p:cNvPr id="614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61444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ea typeface="MS PGothic" panose="020B0600070205080204" pitchFamily="48" charset="-128"/>
            </a:endParaRPr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48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48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48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48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48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48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48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48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48" charset="-128"/>
              </a:defRPr>
            </a:lvl9pPr>
          </a:lstStyle>
          <a:p>
            <a:fld id="{66D79724-2297-4704-9732-EA4C4A997C32}" type="slidenum">
              <a:rPr lang="en-US" altLang="en-US" sz="1200" smtClean="0"/>
            </a:fld>
            <a:endParaRPr lang="en-US" altLang="en-US" sz="1200"/>
          </a:p>
        </p:txBody>
      </p:sp>
      <p:sp>
        <p:nvSpPr>
          <p:cNvPr id="696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69636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ea typeface="MS PGothic" panose="020B0600070205080204" pitchFamily="48" charset="-128"/>
            </a:endParaRPr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48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48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48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48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48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48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48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48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48" charset="-128"/>
              </a:defRPr>
            </a:lvl9pPr>
          </a:lstStyle>
          <a:p>
            <a:fld id="{04FBE999-F7CA-453F-99E3-5137BD42F530}" type="slidenum">
              <a:rPr lang="en-US" altLang="en-US" sz="1200" smtClean="0"/>
            </a:fld>
            <a:endParaRPr lang="en-US" altLang="en-US" sz="1200"/>
          </a:p>
        </p:txBody>
      </p:sp>
      <p:sp>
        <p:nvSpPr>
          <p:cNvPr id="665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66564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ea typeface="MS PGothic" panose="020B0600070205080204" pitchFamily="48" charset="-128"/>
            </a:endParaRPr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0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 b="1">
                <a:solidFill>
                  <a:schemeClr val="tx1"/>
                </a:solidFill>
                <a:latin typeface="Calibri" panose="020F0502020204030204" charset="0"/>
                <a:ea typeface="PMingLiU" pitchFamily="18" charset="-120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Calibri" panose="020F0502020204030204" charset="0"/>
                <a:ea typeface="PMingLiU" pitchFamily="18" charset="-120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Calibri" panose="020F0502020204030204" charset="0"/>
                <a:ea typeface="PMingLiU" pitchFamily="18" charset="-120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Calibri" panose="020F0502020204030204" charset="0"/>
                <a:ea typeface="PMingLiU" pitchFamily="18" charset="-120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Calibri" panose="020F0502020204030204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Calibri" panose="020F0502020204030204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Calibri" panose="020F0502020204030204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Calibri" panose="020F0502020204030204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Calibri" panose="020F0502020204030204" charset="0"/>
                <a:ea typeface="PMingLiU" pitchFamily="18" charset="-12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C352BBF8-12D6-4F72-9754-AABDE579E131}" type="slidenum">
              <a:rPr kumimoji="0" lang="en-US" altLang="zh-CN" sz="13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46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14692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endParaRPr lang="en-US" altLang="zh-CN"/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48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48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48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48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48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48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48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48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48" charset="-128"/>
              </a:defRPr>
            </a:lvl9pPr>
          </a:lstStyle>
          <a:p>
            <a:fld id="{BDCD6CCE-34C7-4582-91A5-3874BC3FF424}" type="slidenum">
              <a:rPr lang="en-US" altLang="en-US" sz="1200" smtClean="0"/>
            </a:fld>
            <a:endParaRPr lang="en-US" altLang="en-US" sz="1200"/>
          </a:p>
        </p:txBody>
      </p:sp>
      <p:sp>
        <p:nvSpPr>
          <p:cNvPr id="675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6758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ea typeface="MS PGothic" panose="020B0600070205080204" pitchFamily="48" charset="-128"/>
            </a:endParaRPr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48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48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48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48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48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48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48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48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48" charset="-128"/>
              </a:defRPr>
            </a:lvl9pPr>
          </a:lstStyle>
          <a:p>
            <a:fld id="{6CF45FAF-E3B7-4CE4-9E17-B46E70E388B6}" type="slidenum">
              <a:rPr lang="en-US" altLang="en-US" sz="1200" smtClean="0"/>
            </a:fld>
            <a:endParaRPr lang="en-US" altLang="en-US" sz="1200"/>
          </a:p>
        </p:txBody>
      </p:sp>
      <p:sp>
        <p:nvSpPr>
          <p:cNvPr id="716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71684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ea typeface="MS PGothic" panose="020B0600070205080204" pitchFamily="48" charset="-128"/>
            </a:endParaRPr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48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48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48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48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48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48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48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48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48" charset="-128"/>
              </a:defRPr>
            </a:lvl9pPr>
          </a:lstStyle>
          <a:p>
            <a:fld id="{F0FA3ED7-5F69-42EE-82C0-85B38F933EB0}" type="slidenum">
              <a:rPr lang="en-US" altLang="en-US" sz="1200" smtClean="0"/>
            </a:fld>
            <a:endParaRPr lang="en-US" altLang="en-US" sz="1200"/>
          </a:p>
        </p:txBody>
      </p:sp>
      <p:sp>
        <p:nvSpPr>
          <p:cNvPr id="727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7270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ea typeface="MS PGothic" panose="020B0600070205080204" pitchFamily="48" charset="-128"/>
            </a:endParaRPr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7BDE8582-A8B6-8240-B3D6-17B18DE04258}" type="slidenum">
              <a:rPr lang="en-US"/>
            </a:fld>
            <a:endParaRPr lang="en-US"/>
          </a:p>
        </p:txBody>
      </p:sp>
      <p:sp>
        <p:nvSpPr>
          <p:cNvPr id="419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4198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>
              <a:latin typeface="Arial" panose="020B0604020202020204" pitchFamily="34" charset="0"/>
              <a:ea typeface="MS PGothic" panose="020B0600070205080204" pitchFamily="48" charset="-128"/>
              <a:cs typeface="MS PGothic" panose="020B0600070205080204" pitchFamily="48" charset="-128"/>
            </a:endParaRPr>
          </a:p>
        </p:txBody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EF54082A-0232-1E4C-8804-07906CFA27C7}" type="slidenum">
              <a:rPr lang="en-US"/>
            </a:fld>
            <a:endParaRPr lang="en-US"/>
          </a:p>
        </p:txBody>
      </p:sp>
      <p:sp>
        <p:nvSpPr>
          <p:cNvPr id="440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44036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>
              <a:latin typeface="Arial" panose="020B0604020202020204" pitchFamily="34" charset="0"/>
              <a:ea typeface="MS PGothic" panose="020B0600070205080204" pitchFamily="48" charset="-128"/>
              <a:cs typeface="MS PGothic" panose="020B0600070205080204" pitchFamily="48" charset="-128"/>
            </a:endParaRPr>
          </a:p>
        </p:txBody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D0F55BB0-97F4-374F-A71F-161373DB5CE4}" type="slidenum">
              <a:rPr lang="en-US"/>
            </a:fld>
            <a:endParaRPr lang="en-US"/>
          </a:p>
        </p:txBody>
      </p:sp>
      <p:sp>
        <p:nvSpPr>
          <p:cNvPr id="471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4710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>
              <a:latin typeface="Arial" panose="020B0604020202020204" pitchFamily="34" charset="0"/>
              <a:ea typeface="MS PGothic" panose="020B0600070205080204" pitchFamily="48" charset="-128"/>
              <a:cs typeface="MS PGothic" panose="020B0600070205080204" pitchFamily="48" charset="-128"/>
            </a:endParaRPr>
          </a:p>
        </p:txBody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DA761D3-C0E3-794E-BA87-7D37EF3F8F2F}" type="slidenum">
              <a:rPr lang="en-US"/>
            </a:fld>
            <a:endParaRPr lang="en-US"/>
          </a:p>
        </p:txBody>
      </p:sp>
      <p:sp>
        <p:nvSpPr>
          <p:cNvPr id="481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4813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>
              <a:latin typeface="Arial" panose="020B0604020202020204" pitchFamily="34" charset="0"/>
              <a:ea typeface="MS PGothic" panose="020B0600070205080204" pitchFamily="48" charset="-128"/>
              <a:cs typeface="MS PGothic" panose="020B0600070205080204" pitchFamily="48" charset="-128"/>
            </a:endParaRPr>
          </a:p>
        </p:txBody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DA761D3-C0E3-794E-BA87-7D37EF3F8F2F}" type="slidenum">
              <a:rPr lang="en-US"/>
            </a:fld>
            <a:endParaRPr lang="en-US"/>
          </a:p>
        </p:txBody>
      </p:sp>
      <p:sp>
        <p:nvSpPr>
          <p:cNvPr id="481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4813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>
              <a:latin typeface="Arial" panose="020B0604020202020204" pitchFamily="34" charset="0"/>
              <a:ea typeface="MS PGothic" panose="020B0600070205080204" pitchFamily="48" charset="-128"/>
              <a:cs typeface="MS PGothic" panose="020B0600070205080204" pitchFamily="48" charset="-128"/>
            </a:endParaRPr>
          </a:p>
        </p:txBody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983078B0-5E82-6443-A12A-0007CEB4E867}" type="slidenum">
              <a:rPr lang="en-US"/>
            </a:fld>
            <a:endParaRPr lang="en-US"/>
          </a:p>
        </p:txBody>
      </p:sp>
      <p:sp>
        <p:nvSpPr>
          <p:cNvPr id="604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6042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>
              <a:latin typeface="Arial" panose="020B0604020202020204" pitchFamily="34" charset="0"/>
              <a:ea typeface="MS PGothic" panose="020B0600070205080204" pitchFamily="48" charset="-128"/>
              <a:cs typeface="MS PGothic" panose="020B0600070205080204" pitchFamily="48" charset="-128"/>
            </a:endParaRPr>
          </a:p>
        </p:txBody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5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49507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r>
              <a:rPr lang="en-US" altLang="zh-CN"/>
              <a:t>Answer: d</a:t>
            </a:r>
            <a:endParaRPr lang="en-US" altLang="zh-CN"/>
          </a:p>
        </p:txBody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>
            <a:miter lim="800000"/>
          </a:ln>
        </p:spPr>
        <p:txBody>
          <a:bodyPr/>
          <a:lstStyle/>
          <a:p>
            <a:fld id="{56F50ADD-EBBD-2747-907C-50D42194B854}" type="slidenum">
              <a:rPr lang="en-US"/>
            </a:fld>
            <a:endParaRPr lang="en-US"/>
          </a:p>
        </p:txBody>
      </p:sp>
      <p:sp>
        <p:nvSpPr>
          <p:cNvPr id="522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5222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>
              <a:ea typeface="MS PGothic" panose="020B0600070205080204" pitchFamily="48" charset="-128"/>
            </a:endParaRPr>
          </a:p>
        </p:txBody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>
            <a:miter lim="800000"/>
          </a:ln>
        </p:spPr>
        <p:txBody>
          <a:bodyPr/>
          <a:lstStyle/>
          <a:p>
            <a:fld id="{4A8D1174-3CC5-DF49-8787-5E27BE7ECC1C}" type="slidenum">
              <a:rPr lang="en-US"/>
            </a:fld>
            <a:endParaRPr lang="en-US"/>
          </a:p>
        </p:txBody>
      </p:sp>
      <p:sp>
        <p:nvSpPr>
          <p:cNvPr id="563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56324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>
              <a:ea typeface="MS PGothic" panose="020B0600070205080204" pitchFamily="48" charset="-128"/>
            </a:endParaRPr>
          </a:p>
        </p:txBody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>
            <a:miter lim="800000"/>
          </a:ln>
        </p:spPr>
        <p:txBody>
          <a:bodyPr/>
          <a:lstStyle/>
          <a:p>
            <a:fld id="{A414D5EE-87CF-5142-BA5E-3D3ADBF644E9}" type="slidenum">
              <a:rPr lang="en-US"/>
            </a:fld>
            <a:endParaRPr lang="en-US"/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>
              <a:ea typeface="MS PGothic" panose="020B0600070205080204" pitchFamily="48" charset="-128"/>
            </a:endParaRPr>
          </a:p>
        </p:txBody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8881FF54-17F6-F34A-95A0-C5D52A10725A}" type="slidenum">
              <a:rPr lang="en-US"/>
            </a:fld>
            <a:endParaRPr lang="en-US"/>
          </a:p>
        </p:txBody>
      </p:sp>
      <p:sp>
        <p:nvSpPr>
          <p:cNvPr id="419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4198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>
              <a:latin typeface="Arial" panose="020B0604020202020204" pitchFamily="34" charset="0"/>
              <a:ea typeface="MS PGothic" panose="020B0600070205080204" pitchFamily="48" charset="-128"/>
              <a:cs typeface="MS PGothic" panose="020B0600070205080204" pitchFamily="48" charset="-128"/>
            </a:endParaRPr>
          </a:p>
        </p:txBody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3995E3A5-6270-754D-90A8-F32F1A16EEC8}" type="slidenum">
              <a:rPr lang="en-US"/>
            </a:fld>
            <a:endParaRPr lang="en-US"/>
          </a:p>
        </p:txBody>
      </p:sp>
      <p:sp>
        <p:nvSpPr>
          <p:cNvPr id="430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4301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>
              <a:latin typeface="Arial" panose="020B0604020202020204" pitchFamily="34" charset="0"/>
              <a:ea typeface="MS PGothic" panose="020B0600070205080204" pitchFamily="48" charset="-128"/>
              <a:cs typeface="MS PGothic" panose="020B0600070205080204" pitchFamily="48" charset="-128"/>
            </a:endParaRPr>
          </a:p>
        </p:txBody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574345DA-910C-4C44-AA11-BC2262015F8A}" type="slidenum">
              <a:rPr lang="en-US"/>
            </a:fld>
            <a:endParaRPr lang="en-US"/>
          </a:p>
        </p:txBody>
      </p:sp>
      <p:sp>
        <p:nvSpPr>
          <p:cNvPr id="512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51204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>
              <a:latin typeface="Arial" panose="020B0604020202020204" pitchFamily="34" charset="0"/>
              <a:ea typeface="MS PGothic" panose="020B0600070205080204" pitchFamily="48" charset="-128"/>
              <a:cs typeface="MS PGothic" panose="020B0600070205080204" pitchFamily="48" charset="-128"/>
            </a:endParaRPr>
          </a:p>
        </p:txBody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BFC6EE2C-7EF2-3A4A-82F2-75F1DE78A18A}" type="slidenum">
              <a:rPr lang="en-US"/>
            </a:fld>
            <a:endParaRPr lang="en-US"/>
          </a:p>
        </p:txBody>
      </p:sp>
      <p:sp>
        <p:nvSpPr>
          <p:cNvPr id="522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5222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>
              <a:latin typeface="Arial" panose="020B0604020202020204" pitchFamily="34" charset="0"/>
              <a:ea typeface="MS PGothic" panose="020B0600070205080204" pitchFamily="48" charset="-128"/>
              <a:cs typeface="MS PGothic" panose="020B0600070205080204" pitchFamily="48" charset="-128"/>
            </a:endParaRPr>
          </a:p>
        </p:txBody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E5301D60-15A8-E941-80DA-36B594639D3C}" type="slidenum">
              <a:rPr lang="en-US"/>
            </a:fld>
            <a:endParaRPr lang="en-US"/>
          </a:p>
        </p:txBody>
      </p:sp>
      <p:sp>
        <p:nvSpPr>
          <p:cNvPr id="542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54276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>
              <a:latin typeface="Arial" panose="020B0604020202020204" pitchFamily="34" charset="0"/>
              <a:ea typeface="MS PGothic" panose="020B0600070205080204" pitchFamily="48" charset="-128"/>
              <a:cs typeface="MS PGothic" panose="020B0600070205080204" pitchFamily="48" charset="-128"/>
            </a:endParaRPr>
          </a:p>
        </p:txBody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8C620BE9-08D6-8C43-B3CE-E06F8EAAB6DC}" type="slidenum">
              <a:rPr lang="en-US"/>
            </a:fld>
            <a:endParaRPr lang="en-US"/>
          </a:p>
        </p:txBody>
      </p:sp>
      <p:sp>
        <p:nvSpPr>
          <p:cNvPr id="624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6246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>
              <a:latin typeface="Arial" panose="020B0604020202020204" pitchFamily="34" charset="0"/>
              <a:ea typeface="MS PGothic" panose="020B0600070205080204" pitchFamily="48" charset="-128"/>
              <a:cs typeface="MS PGothic" panose="020B0600070205080204" pitchFamily="48" charset="-128"/>
            </a:endParaRPr>
          </a:p>
        </p:txBody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>
            <a:miter lim="800000"/>
          </a:ln>
        </p:spPr>
        <p:txBody>
          <a:bodyPr/>
          <a:lstStyle/>
          <a:p>
            <a:fld id="{B54C1A3F-F28B-BE45-90BD-61D5EBA0826C}" type="slidenum">
              <a:rPr lang="en-US"/>
            </a:fld>
            <a:endParaRPr lang="en-US"/>
          </a:p>
        </p:txBody>
      </p:sp>
      <p:sp>
        <p:nvSpPr>
          <p:cNvPr id="327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3277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>
              <a:ea typeface="MS PGothic" panose="020B0600070205080204" pitchFamily="48" charset="-128"/>
            </a:endParaRPr>
          </a:p>
        </p:txBody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>
            <a:miter lim="800000"/>
          </a:ln>
        </p:spPr>
        <p:txBody>
          <a:bodyPr/>
          <a:lstStyle/>
          <a:p>
            <a:fld id="{2F19E2FF-A8CB-4C47-BCAD-8C2716AB2D8E}" type="slidenum">
              <a:rPr lang="en-US"/>
            </a:fld>
            <a:endParaRPr lang="en-US"/>
          </a:p>
        </p:txBody>
      </p:sp>
      <p:sp>
        <p:nvSpPr>
          <p:cNvPr id="358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35844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>
              <a:ea typeface="MS PGothic" panose="020B0600070205080204" pitchFamily="48" charset="-128"/>
            </a:endParaRPr>
          </a:p>
        </p:txBody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>
            <a:miter lim="800000"/>
          </a:ln>
        </p:spPr>
        <p:txBody>
          <a:bodyPr/>
          <a:lstStyle/>
          <a:p>
            <a:fld id="{30117396-B457-FC4D-B6B8-57534EF3C88D}" type="slidenum">
              <a:rPr lang="en-US"/>
            </a:fld>
            <a:endParaRPr lang="en-US"/>
          </a:p>
        </p:txBody>
      </p:sp>
      <p:sp>
        <p:nvSpPr>
          <p:cNvPr id="368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3686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>
              <a:ea typeface="MS PGothic" panose="020B0600070205080204" pitchFamily="48" charset="-128"/>
            </a:endParaRPr>
          </a:p>
        </p:txBody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>
            <a:miter lim="800000"/>
          </a:ln>
        </p:spPr>
        <p:txBody>
          <a:bodyPr/>
          <a:lstStyle/>
          <a:p>
            <a:fld id="{1B254EAB-0466-344E-9A4A-938CC122738F}" type="slidenum">
              <a:rPr lang="en-US"/>
            </a:fld>
            <a:endParaRPr lang="en-US"/>
          </a:p>
        </p:txBody>
      </p:sp>
      <p:sp>
        <p:nvSpPr>
          <p:cNvPr id="440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44036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>
              <a:ea typeface="MS PGothic" panose="020B0600070205080204" pitchFamily="48" charset="-128"/>
            </a:endParaRPr>
          </a:p>
        </p:txBody>
      </p:sp>
    </p:spTree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>
            <a:miter lim="800000"/>
          </a:ln>
        </p:spPr>
        <p:txBody>
          <a:bodyPr/>
          <a:lstStyle/>
          <a:p>
            <a:fld id="{0CC1EFB4-717D-B144-9067-66CD5492B0CE}" type="slidenum">
              <a:rPr lang="en-US"/>
            </a:fld>
            <a:endParaRPr lang="en-US"/>
          </a:p>
        </p:txBody>
      </p:sp>
      <p:sp>
        <p:nvSpPr>
          <p:cNvPr id="501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5018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>
              <a:ea typeface="MS PGothic" panose="020B0600070205080204" pitchFamily="48" charset="-128"/>
            </a:endParaRPr>
          </a:p>
        </p:txBody>
      </p:sp>
    </p:spTree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>
            <a:miter lim="800000"/>
          </a:ln>
        </p:spPr>
        <p:txBody>
          <a:bodyPr/>
          <a:lstStyle/>
          <a:p>
            <a:fld id="{793646DF-E3F9-1840-BF8D-49EAFAF3039B}" type="slidenum">
              <a:rPr lang="en-US"/>
            </a:fld>
            <a:endParaRPr lang="en-US"/>
          </a:p>
        </p:txBody>
      </p:sp>
      <p:sp>
        <p:nvSpPr>
          <p:cNvPr id="512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51204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>
              <a:ea typeface="MS PGothic" panose="020B0600070205080204" pitchFamily="48" charset="-128"/>
            </a:endParaRPr>
          </a:p>
        </p:txBody>
      </p:sp>
    </p:spTree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D0B8848F-2CCB-5746-88BF-CB5DB8BD3E99}" type="slidenum">
              <a:rPr lang="en-US"/>
            </a:fld>
            <a:endParaRPr lang="en-US"/>
          </a:p>
        </p:txBody>
      </p:sp>
      <p:sp>
        <p:nvSpPr>
          <p:cNvPr id="471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4710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>
              <a:latin typeface="Arial" panose="020B0604020202020204" pitchFamily="34" charset="0"/>
              <a:ea typeface="MS PGothic" panose="020B0600070205080204" pitchFamily="48" charset="-128"/>
              <a:cs typeface="MS PGothic" panose="020B0600070205080204" pitchFamily="48" charset="-128"/>
            </a:endParaRPr>
          </a:p>
        </p:txBody>
      </p:sp>
    </p:spTree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189263D4-32A1-5D49-B57D-1E68B2302F3C}" type="slidenum">
              <a:rPr lang="en-US"/>
            </a:fld>
            <a:endParaRPr lang="en-US"/>
          </a:p>
        </p:txBody>
      </p:sp>
      <p:sp>
        <p:nvSpPr>
          <p:cNvPr id="512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51204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>
              <a:latin typeface="Arial" panose="020B0604020202020204" pitchFamily="34" charset="0"/>
              <a:ea typeface="MS PGothic" panose="020B0600070205080204" pitchFamily="48" charset="-128"/>
              <a:cs typeface="MS PGothic" panose="020B0600070205080204" pitchFamily="48" charset="-128"/>
            </a:endParaRPr>
          </a:p>
        </p:txBody>
      </p:sp>
    </p:spTree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0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 b="1">
                <a:solidFill>
                  <a:schemeClr val="tx1"/>
                </a:solidFill>
                <a:latin typeface="Calibri" panose="020F0502020204030204" charset="0"/>
                <a:ea typeface="PMingLiU" pitchFamily="18" charset="-120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Calibri" panose="020F0502020204030204" charset="0"/>
                <a:ea typeface="PMingLiU" pitchFamily="18" charset="-120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Calibri" panose="020F0502020204030204" charset="0"/>
                <a:ea typeface="PMingLiU" pitchFamily="18" charset="-120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Calibri" panose="020F0502020204030204" charset="0"/>
                <a:ea typeface="PMingLiU" pitchFamily="18" charset="-120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Calibri" panose="020F0502020204030204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Calibri" panose="020F0502020204030204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Calibri" panose="020F0502020204030204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Calibri" panose="020F0502020204030204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Calibri" panose="020F0502020204030204" charset="0"/>
                <a:ea typeface="PMingLiU" pitchFamily="18" charset="-12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C352BBF8-12D6-4F72-9754-AABDE579E131}" type="slidenum">
              <a:rPr kumimoji="0" lang="en-US" altLang="zh-CN" sz="13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46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14692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endParaRPr lang="en-US" altLang="zh-CN"/>
          </a:p>
        </p:txBody>
      </p:sp>
    </p:spTree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0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 b="1">
                <a:solidFill>
                  <a:schemeClr val="tx1"/>
                </a:solidFill>
                <a:latin typeface="Calibri" panose="020F0502020204030204" charset="0"/>
                <a:ea typeface="PMingLiU" pitchFamily="18" charset="-120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Calibri" panose="020F0502020204030204" charset="0"/>
                <a:ea typeface="PMingLiU" pitchFamily="18" charset="-120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Calibri" panose="020F0502020204030204" charset="0"/>
                <a:ea typeface="PMingLiU" pitchFamily="18" charset="-120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Calibri" panose="020F0502020204030204" charset="0"/>
                <a:ea typeface="PMingLiU" pitchFamily="18" charset="-120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Calibri" panose="020F0502020204030204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Calibri" panose="020F0502020204030204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Calibri" panose="020F0502020204030204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Calibri" panose="020F0502020204030204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Calibri" panose="020F0502020204030204" charset="0"/>
                <a:ea typeface="PMingLiU" pitchFamily="18" charset="-12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C352BBF8-12D6-4F72-9754-AABDE579E131}" type="slidenum">
              <a:rPr kumimoji="0" lang="en-US" altLang="zh-CN" sz="13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46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14692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endParaRPr lang="en-US" altLang="zh-CN"/>
          </a:p>
        </p:txBody>
      </p:sp>
    </p:spTree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87E31390-1567-084D-B367-CD54ACC93C07}" type="slidenum">
              <a:rPr lang="en-US"/>
            </a:fld>
            <a:endParaRPr lang="en-US"/>
          </a:p>
        </p:txBody>
      </p:sp>
      <p:sp>
        <p:nvSpPr>
          <p:cNvPr id="655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6554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>
              <a:latin typeface="Arial" panose="020B0604020202020204" pitchFamily="34" charset="0"/>
              <a:ea typeface="MS PGothic" panose="020B0600070205080204" pitchFamily="48" charset="-128"/>
              <a:cs typeface="MS PGothic" panose="020B0600070205080204" pitchFamily="48" charset="-128"/>
            </a:endParaRPr>
          </a:p>
        </p:txBody>
      </p:sp>
    </p:spTree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D87F2186-1390-AA44-964C-BFEE67AD829F}" type="slidenum">
              <a:rPr lang="en-US"/>
            </a:fld>
            <a:endParaRPr lang="en-US"/>
          </a:p>
        </p:txBody>
      </p:sp>
      <p:sp>
        <p:nvSpPr>
          <p:cNvPr id="716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71684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>
              <a:latin typeface="Arial" panose="020B0604020202020204" pitchFamily="34" charset="0"/>
              <a:ea typeface="MS PGothic" panose="020B0600070205080204" pitchFamily="48" charset="-128"/>
              <a:cs typeface="MS PGothic" panose="020B0600070205080204" pitchFamily="48" charset="-128"/>
            </a:endParaRPr>
          </a:p>
        </p:txBody>
      </p:sp>
    </p:spTree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3A4B1145-6D7D-2443-8702-CC0406B9D5F2}" type="slidenum">
              <a:rPr lang="en-US"/>
            </a:fld>
            <a:endParaRPr lang="en-US"/>
          </a:p>
        </p:txBody>
      </p:sp>
      <p:sp>
        <p:nvSpPr>
          <p:cNvPr id="747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74756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>
              <a:latin typeface="Arial" panose="020B0604020202020204" pitchFamily="34" charset="0"/>
              <a:ea typeface="MS PGothic" panose="020B0600070205080204" pitchFamily="48" charset="-128"/>
              <a:cs typeface="MS PGothic" panose="020B0600070205080204" pitchFamily="48" charset="-128"/>
            </a:endParaRPr>
          </a:p>
        </p:txBody>
      </p:sp>
    </p:spTree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801F5A4B-20E5-E547-889F-BCA42242DBD7}" type="slidenum">
              <a:rPr lang="en-US"/>
            </a:fld>
            <a:endParaRPr lang="en-US"/>
          </a:p>
        </p:txBody>
      </p:sp>
      <p:sp>
        <p:nvSpPr>
          <p:cNvPr id="757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7578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>
              <a:latin typeface="Arial" panose="020B0604020202020204" pitchFamily="34" charset="0"/>
              <a:ea typeface="MS PGothic" panose="020B0600070205080204" pitchFamily="48" charset="-128"/>
              <a:cs typeface="MS PGothic" panose="020B0600070205080204" pitchFamily="48" charset="-128"/>
            </a:endParaRPr>
          </a:p>
        </p:txBody>
      </p:sp>
    </p:spTree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28B2D55E-0979-814A-A530-3F6C3FE5232D}" type="slidenum">
              <a:rPr lang="en-US"/>
            </a:fld>
            <a:endParaRPr lang="en-US"/>
          </a:p>
        </p:txBody>
      </p:sp>
      <p:sp>
        <p:nvSpPr>
          <p:cNvPr id="768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76804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>
              <a:latin typeface="Arial" panose="020B0604020202020204" pitchFamily="34" charset="0"/>
              <a:ea typeface="MS PGothic" panose="020B0600070205080204" pitchFamily="48" charset="-128"/>
              <a:cs typeface="MS PGothic" panose="020B0600070205080204" pitchFamily="48" charset="-128"/>
            </a:endParaRPr>
          </a:p>
        </p:txBody>
      </p:sp>
    </p:spTree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0BBF477E-E756-C94C-BCD8-6095D7AF2671}" type="slidenum">
              <a:rPr lang="en-US"/>
            </a:fld>
            <a:endParaRPr lang="en-US"/>
          </a:p>
        </p:txBody>
      </p:sp>
      <p:sp>
        <p:nvSpPr>
          <p:cNvPr id="860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8602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>
              <a:latin typeface="Arial" panose="020B0604020202020204" pitchFamily="34" charset="0"/>
              <a:ea typeface="MS PGothic" panose="020B0600070205080204" pitchFamily="48" charset="-128"/>
              <a:cs typeface="MS PGothic" panose="020B0600070205080204" pitchFamily="48" charset="-128"/>
            </a:endParaRPr>
          </a:p>
        </p:txBody>
      </p:sp>
    </p:spTree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B237821E-3119-EC44-99C5-44A20ABB498C}" type="slidenum">
              <a:rPr lang="en-US"/>
            </a:fld>
            <a:endParaRPr lang="en-US"/>
          </a:p>
        </p:txBody>
      </p:sp>
      <p:sp>
        <p:nvSpPr>
          <p:cNvPr id="870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87044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>
              <a:latin typeface="Arial" panose="020B0604020202020204" pitchFamily="34" charset="0"/>
              <a:ea typeface="MS PGothic" panose="020B0600070205080204" pitchFamily="48" charset="-128"/>
              <a:cs typeface="MS PGothic" panose="020B0600070205080204" pitchFamily="48" charset="-128"/>
            </a:endParaRPr>
          </a:p>
        </p:txBody>
      </p:sp>
    </p:spTree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E7721A6E-6B99-0648-A258-578A57383769}" type="slidenum">
              <a:rPr lang="en-US"/>
            </a:fld>
            <a:endParaRPr lang="en-US"/>
          </a:p>
        </p:txBody>
      </p:sp>
      <p:sp>
        <p:nvSpPr>
          <p:cNvPr id="890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8909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>
              <a:latin typeface="Arial" panose="020B0604020202020204" pitchFamily="34" charset="0"/>
              <a:ea typeface="MS PGothic" panose="020B0600070205080204" pitchFamily="48" charset="-128"/>
              <a:cs typeface="MS PGothic" panose="020B0600070205080204" pitchFamily="48" charset="-128"/>
            </a:endParaRPr>
          </a:p>
        </p:txBody>
      </p:sp>
    </p:spTree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06D0A2AC-13FB-254E-ACF8-E982123BD9AD}" type="slidenum">
              <a:rPr lang="en-US"/>
            </a:fld>
            <a:endParaRPr lang="en-US"/>
          </a:p>
        </p:txBody>
      </p:sp>
      <p:sp>
        <p:nvSpPr>
          <p:cNvPr id="440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44036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>
              <a:latin typeface="Arial" panose="020B0604020202020204" pitchFamily="34" charset="0"/>
              <a:ea typeface="MS PGothic" panose="020B0600070205080204" pitchFamily="48" charset="-128"/>
              <a:cs typeface="MS PGothic" panose="020B0600070205080204" pitchFamily="48" charset="-128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OverObj" preserve="1">
  <p:cSld name="Title and Tex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228600"/>
            <a:ext cx="12192000" cy="1143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914400" y="1981200"/>
            <a:ext cx="10363200" cy="1981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14400" y="4114800"/>
            <a:ext cx="10363200" cy="1981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</p:spTree>
  </p:cSld>
  <p:clrMapOvr>
    <a:masterClrMapping/>
  </p:clrMapOvr>
  <p:transition spd="slow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228600"/>
            <a:ext cx="12192000" cy="1143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914400" y="1981200"/>
            <a:ext cx="50800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981200"/>
            <a:ext cx="50800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</p:spTree>
  </p:cSld>
  <p:clrMapOvr>
    <a:masterClrMapping/>
  </p:clrMapOvr>
  <p:transition spd="slow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x" preserve="1">
  <p:cSld name="Title, Content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228600"/>
            <a:ext cx="12192000" cy="1143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4400" y="1981200"/>
            <a:ext cx="50800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197600" y="1981200"/>
            <a:ext cx="50800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</p:spTree>
  </p:cSld>
  <p:clrMapOvr>
    <a:masterClrMapping/>
  </p:clrMapOvr>
  <p:transition spd="slow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 and Content ov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228600"/>
            <a:ext cx="12192000" cy="1143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4400" y="1981200"/>
            <a:ext cx="10363200" cy="1981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4114800"/>
            <a:ext cx="10363200" cy="1981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47E4874D-4BBC-B443-8D87-A153C1D0BF68}" type="slidenum">
              <a:rPr lang="en-US"/>
            </a:fld>
            <a:endParaRPr lang="en-US"/>
          </a:p>
        </p:txBody>
      </p:sp>
    </p:spTree>
  </p:cSld>
  <p:clrMapOvr>
    <a:masterClrMapping/>
  </p:clrMapOvr>
  <p:transition spd="slow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 and Content ov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228600"/>
            <a:ext cx="121920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4400" y="1981200"/>
            <a:ext cx="10363200" cy="19812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4114800"/>
            <a:ext cx="10363200" cy="19812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DA76DD7-F366-44AB-9AC5-6061186F58B2}" type="slidenum">
              <a:rPr lang="en-US"/>
            </a:fld>
            <a:endParaRPr lang="en-US" dirty="0"/>
          </a:p>
        </p:txBody>
      </p:sp>
      <p:sp>
        <p:nvSpPr>
          <p:cNvPr id="7" name="Rectangle 12"/>
          <p:cNvSpPr>
            <a:spLocks noGrp="1" noChangeArrowheads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</p:cSld>
  <p:clrMapOvr>
    <a:masterClrMapping/>
  </p:clrMapOvr>
  <p:transition spd="slow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xOverObj" preserve="1">
  <p:cSld name="Title and Tex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228600"/>
            <a:ext cx="121920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914400" y="1981200"/>
            <a:ext cx="10363200" cy="19812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14400" y="4114800"/>
            <a:ext cx="10363200" cy="19812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8B8A273-334E-4DE2-B8DC-1E1B4D819EAC}" type="slidenum">
              <a:rPr lang="en-US"/>
            </a:fld>
            <a:endParaRPr lang="en-US" dirty="0"/>
          </a:p>
        </p:txBody>
      </p:sp>
      <p:sp>
        <p:nvSpPr>
          <p:cNvPr id="7" name="Rectangle 12"/>
          <p:cNvSpPr>
            <a:spLocks noGrp="1" noChangeArrowheads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</p:cSld>
  <p:clrMapOvr>
    <a:masterClrMapping/>
  </p:clrMapOvr>
  <p:transition spd="slow"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x" preserve="1">
  <p:cSld name="Title, Content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228600"/>
            <a:ext cx="121920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4400" y="1981200"/>
            <a:ext cx="5080000" cy="41148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197600" y="1981200"/>
            <a:ext cx="5080000" cy="41148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AB2B319-F66B-4011-A175-4555F9481B59}" type="slidenum">
              <a:rPr lang="en-US"/>
            </a:fld>
            <a:endParaRPr lang="en-US" dirty="0"/>
          </a:p>
        </p:txBody>
      </p:sp>
      <p:sp>
        <p:nvSpPr>
          <p:cNvPr id="7" name="Rectangle 12"/>
          <p:cNvSpPr>
            <a:spLocks noGrp="1" noChangeArrowheads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</p:cSld>
  <p:clrMapOvr>
    <a:masterClrMapping/>
  </p:clrMapOvr>
  <p:transition spd="slow"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228600"/>
            <a:ext cx="12192000" cy="1143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914400" y="1981200"/>
            <a:ext cx="50800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981200"/>
            <a:ext cx="50800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</p:spTree>
  </p:cSld>
  <p:clrMapOvr>
    <a:masterClrMapping/>
  </p:clrMapOvr>
  <p:transition spd="slow"/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Tx" preserve="1">
  <p:cSld name="Title, 2 Content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228600"/>
            <a:ext cx="12192000" cy="1143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914400" y="1981200"/>
            <a:ext cx="5080000" cy="1981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914400" y="4114800"/>
            <a:ext cx="5080000" cy="1981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half" idx="3"/>
          </p:nvPr>
        </p:nvSpPr>
        <p:spPr>
          <a:xfrm>
            <a:off x="6197600" y="1981200"/>
            <a:ext cx="50800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</p:spTree>
  </p:cSld>
  <p:clrMapOvr>
    <a:masterClrMapping/>
  </p:clrMapOvr>
  <p:transition spd="slow"/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228600"/>
            <a:ext cx="12192000" cy="1143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914400" y="1981200"/>
            <a:ext cx="50800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6197600" y="1981200"/>
            <a:ext cx="5080000" cy="1981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6197600" y="4114800"/>
            <a:ext cx="5080000" cy="1981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</p:spTree>
  </p:cSld>
  <p:clrMapOvr>
    <a:masterClrMapping/>
  </p:clrMapOvr>
  <p:transition spd="slow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4.xml"/><Relationship Id="rId8" Type="http://schemas.openxmlformats.org/officeDocument/2006/relationships/slideLayout" Target="../slideLayouts/slideLayout23.xml"/><Relationship Id="rId7" Type="http://schemas.openxmlformats.org/officeDocument/2006/relationships/slideLayout" Target="../slideLayouts/slideLayout22.xml"/><Relationship Id="rId6" Type="http://schemas.openxmlformats.org/officeDocument/2006/relationships/slideLayout" Target="../slideLayouts/slideLayout21.xml"/><Relationship Id="rId5" Type="http://schemas.openxmlformats.org/officeDocument/2006/relationships/slideLayout" Target="../slideLayouts/slideLayout20.xml"/><Relationship Id="rId4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8.xml"/><Relationship Id="rId2" Type="http://schemas.openxmlformats.org/officeDocument/2006/relationships/slideLayout" Target="../slideLayouts/slideLayout17.xml"/><Relationship Id="rId18" Type="http://schemas.openxmlformats.org/officeDocument/2006/relationships/theme" Target="../theme/theme2.xml"/><Relationship Id="rId17" Type="http://schemas.openxmlformats.org/officeDocument/2006/relationships/slideLayout" Target="../slideLayouts/slideLayout32.xml"/><Relationship Id="rId16" Type="http://schemas.openxmlformats.org/officeDocument/2006/relationships/slideLayout" Target="../slideLayouts/slideLayout31.xml"/><Relationship Id="rId15" Type="http://schemas.openxmlformats.org/officeDocument/2006/relationships/slideLayout" Target="../slideLayouts/slideLayout30.xml"/><Relationship Id="rId14" Type="http://schemas.openxmlformats.org/officeDocument/2006/relationships/slideLayout" Target="../slideLayouts/slideLayout29.xml"/><Relationship Id="rId13" Type="http://schemas.openxmlformats.org/officeDocument/2006/relationships/slideLayout" Target="../slideLayouts/slideLayout28.xml"/><Relationship Id="rId12" Type="http://schemas.openxmlformats.org/officeDocument/2006/relationships/slideLayout" Target="../slideLayouts/slideLayout27.xml"/><Relationship Id="rId11" Type="http://schemas.openxmlformats.org/officeDocument/2006/relationships/slideLayout" Target="../slideLayouts/slideLayout26.xml"/><Relationship Id="rId10" Type="http://schemas.openxmlformats.org/officeDocument/2006/relationships/slideLayout" Target="../slideLayouts/slideLayout25.xml"/><Relationship Id="rId1" Type="http://schemas.openxmlformats.org/officeDocument/2006/relationships/slideLayout" Target="../slideLayouts/slideLayout1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  <p:sldLayoutId id="2147483666" r:id="rId2"/>
    <p:sldLayoutId id="2147483667" r:id="rId3"/>
    <p:sldLayoutId id="2147483668" r:id="rId4"/>
    <p:sldLayoutId id="2147483669" r:id="rId5"/>
    <p:sldLayoutId id="2147483670" r:id="rId6"/>
    <p:sldLayoutId id="2147483671" r:id="rId7"/>
    <p:sldLayoutId id="2147483672" r:id="rId8"/>
    <p:sldLayoutId id="2147483673" r:id="rId9"/>
    <p:sldLayoutId id="2147483674" r:id="rId10"/>
    <p:sldLayoutId id="2147483675" r:id="rId11"/>
    <p:sldLayoutId id="2147483676" r:id="rId12"/>
    <p:sldLayoutId id="2147483677" r:id="rId13"/>
    <p:sldLayoutId id="2147483678" r:id="rId14"/>
    <p:sldLayoutId id="2147483679" r:id="rId15"/>
    <p:sldLayoutId id="2147483680" r:id="rId16"/>
    <p:sldLayoutId id="2147483681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29.xml"/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31.xml"/><Relationship Id="rId1" Type="http://schemas.openxmlformats.org/officeDocument/2006/relationships/image" Target="../media/image3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8.xml"/><Relationship Id="rId1" Type="http://schemas.openxmlformats.org/officeDocument/2006/relationships/image" Target="../media/image4.jpeg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4.xml"/><Relationship Id="rId4" Type="http://schemas.openxmlformats.org/officeDocument/2006/relationships/slideLayout" Target="../slideLayouts/slideLayout28.xml"/><Relationship Id="rId3" Type="http://schemas.openxmlformats.org/officeDocument/2006/relationships/tags" Target="../tags/tag1.xml"/><Relationship Id="rId2" Type="http://schemas.openxmlformats.org/officeDocument/2006/relationships/image" Target="../media/image4.jpeg"/><Relationship Id="rId1" Type="http://schemas.openxmlformats.org/officeDocument/2006/relationships/image" Target="../media/image5.jpeg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.xml"/><Relationship Id="rId3" Type="http://schemas.openxmlformats.org/officeDocument/2006/relationships/slideLayout" Target="../slideLayouts/slideLayout30.xml"/><Relationship Id="rId2" Type="http://schemas.openxmlformats.org/officeDocument/2006/relationships/image" Target="../media/image7.jpeg"/><Relationship Id="rId1" Type="http://schemas.openxmlformats.org/officeDocument/2006/relationships/image" Target="../media/image6.jpeg"/></Relationships>
</file>

<file path=ppt/slides/_rels/slide6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6.xml"/><Relationship Id="rId4" Type="http://schemas.openxmlformats.org/officeDocument/2006/relationships/slideLayout" Target="../slideLayouts/slideLayout17.xml"/><Relationship Id="rId3" Type="http://schemas.openxmlformats.org/officeDocument/2006/relationships/tags" Target="../tags/tag2.xml"/><Relationship Id="rId2" Type="http://schemas.openxmlformats.org/officeDocument/2006/relationships/image" Target="../media/image9.png"/><Relationship Id="rId1" Type="http://schemas.openxmlformats.org/officeDocument/2006/relationships/image" Target="../media/image8.jpeg"/></Relationships>
</file>

<file path=ppt/slides/_rels/slide7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7.xml"/><Relationship Id="rId4" Type="http://schemas.openxmlformats.org/officeDocument/2006/relationships/slideLayout" Target="../slideLayouts/slideLayout31.xml"/><Relationship Id="rId3" Type="http://schemas.openxmlformats.org/officeDocument/2006/relationships/tags" Target="../tags/tag3.xml"/><Relationship Id="rId2" Type="http://schemas.openxmlformats.org/officeDocument/2006/relationships/image" Target="../media/image11.jpeg"/><Relationship Id="rId1" Type="http://schemas.openxmlformats.org/officeDocument/2006/relationships/image" Target="../media/image10.jpe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28.xml"/><Relationship Id="rId1" Type="http://schemas.openxmlformats.org/officeDocument/2006/relationships/image" Target="../media/image12.jpeg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0.xml"/><Relationship Id="rId3" Type="http://schemas.openxmlformats.org/officeDocument/2006/relationships/slideLayout" Target="../slideLayouts/slideLayout27.xml"/><Relationship Id="rId2" Type="http://schemas.openxmlformats.org/officeDocument/2006/relationships/tags" Target="../tags/tag4.xml"/><Relationship Id="rId1" Type="http://schemas.openxmlformats.org/officeDocument/2006/relationships/image" Target="../media/image13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28.xml"/><Relationship Id="rId1" Type="http://schemas.openxmlformats.org/officeDocument/2006/relationships/image" Target="../media/image14.jpeg"/></Relationships>
</file>

<file path=ppt/slides/_rels/slide12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2.xml"/><Relationship Id="rId5" Type="http://schemas.openxmlformats.org/officeDocument/2006/relationships/slideLayout" Target="../slideLayouts/slideLayout17.xml"/><Relationship Id="rId4" Type="http://schemas.openxmlformats.org/officeDocument/2006/relationships/tags" Target="../tags/tag5.xml"/><Relationship Id="rId3" Type="http://schemas.openxmlformats.org/officeDocument/2006/relationships/image" Target="../media/image17.jpeg"/><Relationship Id="rId2" Type="http://schemas.openxmlformats.org/officeDocument/2006/relationships/image" Target="../media/image16.jpeg"/><Relationship Id="rId1" Type="http://schemas.openxmlformats.org/officeDocument/2006/relationships/image" Target="../media/image15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27.xml"/><Relationship Id="rId1" Type="http://schemas.openxmlformats.org/officeDocument/2006/relationships/tags" Target="../tags/tag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30.xml"/><Relationship Id="rId1" Type="http://schemas.openxmlformats.org/officeDocument/2006/relationships/image" Target="../media/image18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30.xml"/><Relationship Id="rId1" Type="http://schemas.openxmlformats.org/officeDocument/2006/relationships/image" Target="../media/image19.jpe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28.xml"/><Relationship Id="rId1" Type="http://schemas.openxmlformats.org/officeDocument/2006/relationships/image" Target="../media/image20.jpe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30.xml"/><Relationship Id="rId1" Type="http://schemas.openxmlformats.org/officeDocument/2006/relationships/image" Target="../media/image21.jpe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27.xml"/><Relationship Id="rId1" Type="http://schemas.openxmlformats.org/officeDocument/2006/relationships/image" Target="../media/image22.jpe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.xml"/><Relationship Id="rId2" Type="http://schemas.openxmlformats.org/officeDocument/2006/relationships/slideLayout" Target="../slideLayouts/slideLayout29.xml"/><Relationship Id="rId1" Type="http://schemas.openxmlformats.org/officeDocument/2006/relationships/image" Target="../media/image23.jpe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0.xml"/><Relationship Id="rId2" Type="http://schemas.openxmlformats.org/officeDocument/2006/relationships/slideLayout" Target="../slideLayouts/slideLayout27.xml"/><Relationship Id="rId1" Type="http://schemas.openxmlformats.org/officeDocument/2006/relationships/image" Target="../media/image24.jpe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1.xml"/><Relationship Id="rId2" Type="http://schemas.openxmlformats.org/officeDocument/2006/relationships/slideLayout" Target="../slideLayouts/slideLayout27.xml"/><Relationship Id="rId1" Type="http://schemas.openxmlformats.org/officeDocument/2006/relationships/image" Target="../media/image25.png"/></Relationships>
</file>

<file path=ppt/slides/_rels/slide24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2.xml"/><Relationship Id="rId4" Type="http://schemas.openxmlformats.org/officeDocument/2006/relationships/slideLayout" Target="../slideLayouts/slideLayout27.xml"/><Relationship Id="rId3" Type="http://schemas.openxmlformats.org/officeDocument/2006/relationships/tags" Target="../tags/tag7.xml"/><Relationship Id="rId2" Type="http://schemas.openxmlformats.org/officeDocument/2006/relationships/image" Target="../media/image27.png"/><Relationship Id="rId1" Type="http://schemas.openxmlformats.org/officeDocument/2006/relationships/image" Target="../media/image26.png"/></Relationships>
</file>

<file path=ppt/slides/_rels/slide2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3.xml"/><Relationship Id="rId3" Type="http://schemas.openxmlformats.org/officeDocument/2006/relationships/slideLayout" Target="../slideLayouts/slideLayout27.xml"/><Relationship Id="rId2" Type="http://schemas.openxmlformats.org/officeDocument/2006/relationships/image" Target="../media/image27.png"/><Relationship Id="rId1" Type="http://schemas.openxmlformats.org/officeDocument/2006/relationships/image" Target="../media/image28.png"/></Relationships>
</file>

<file path=ppt/slides/_rels/slide2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4.xml"/><Relationship Id="rId3" Type="http://schemas.openxmlformats.org/officeDocument/2006/relationships/slideLayout" Target="../slideLayouts/slideLayout32.xml"/><Relationship Id="rId2" Type="http://schemas.openxmlformats.org/officeDocument/2006/relationships/image" Target="../media/image30.jpeg"/><Relationship Id="rId1" Type="http://schemas.openxmlformats.org/officeDocument/2006/relationships/image" Target="../media/image29.jpe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5.xml"/><Relationship Id="rId2" Type="http://schemas.openxmlformats.org/officeDocument/2006/relationships/slideLayout" Target="../slideLayouts/slideLayout29.xml"/><Relationship Id="rId1" Type="http://schemas.openxmlformats.org/officeDocument/2006/relationships/image" Target="../media/image31.jpe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7.xml"/><Relationship Id="rId2" Type="http://schemas.openxmlformats.org/officeDocument/2006/relationships/slideLayout" Target="../slideLayouts/slideLayout29.xml"/><Relationship Id="rId1" Type="http://schemas.openxmlformats.org/officeDocument/2006/relationships/image" Target="../media/image32.jpeg"/></Relationships>
</file>

<file path=ppt/slides/_rels/slide3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8.xml"/><Relationship Id="rId3" Type="http://schemas.openxmlformats.org/officeDocument/2006/relationships/slideLayout" Target="../slideLayouts/slideLayout30.xml"/><Relationship Id="rId2" Type="http://schemas.openxmlformats.org/officeDocument/2006/relationships/image" Target="../media/image34.jpeg"/><Relationship Id="rId1" Type="http://schemas.openxmlformats.org/officeDocument/2006/relationships/image" Target="../media/image33.png"/></Relationships>
</file>

<file path=ppt/slides/_rels/slide3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9.xml"/><Relationship Id="rId3" Type="http://schemas.openxmlformats.org/officeDocument/2006/relationships/slideLayout" Target="../slideLayouts/slideLayout29.xml"/><Relationship Id="rId2" Type="http://schemas.openxmlformats.org/officeDocument/2006/relationships/image" Target="../media/image33.png"/><Relationship Id="rId1" Type="http://schemas.openxmlformats.org/officeDocument/2006/relationships/image" Target="../media/image35.png"/></Relationships>
</file>

<file path=ppt/slides/_rels/slide3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0.xml"/><Relationship Id="rId3" Type="http://schemas.openxmlformats.org/officeDocument/2006/relationships/slideLayout" Target="../slideLayouts/slideLayout17.xml"/><Relationship Id="rId2" Type="http://schemas.openxmlformats.org/officeDocument/2006/relationships/image" Target="../media/image37.jpeg"/><Relationship Id="rId1" Type="http://schemas.openxmlformats.org/officeDocument/2006/relationships/image" Target="../media/image36.jpe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1.xml"/><Relationship Id="rId2" Type="http://schemas.openxmlformats.org/officeDocument/2006/relationships/slideLayout" Target="../slideLayouts/slideLayout30.xml"/><Relationship Id="rId1" Type="http://schemas.openxmlformats.org/officeDocument/2006/relationships/image" Target="../media/image38.jpeg"/></Relationships>
</file>

<file path=ppt/slides/_rels/slide3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2.xml"/><Relationship Id="rId3" Type="http://schemas.openxmlformats.org/officeDocument/2006/relationships/slideLayout" Target="../slideLayouts/slideLayout29.xml"/><Relationship Id="rId2" Type="http://schemas.openxmlformats.org/officeDocument/2006/relationships/tags" Target="../tags/tag8.xml"/><Relationship Id="rId1" Type="http://schemas.openxmlformats.org/officeDocument/2006/relationships/image" Target="../media/image39.jpeg"/></Relationships>
</file>

<file path=ppt/slides/_rels/slide3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3.xml"/><Relationship Id="rId3" Type="http://schemas.openxmlformats.org/officeDocument/2006/relationships/slideLayout" Target="../slideLayouts/slideLayout17.xml"/><Relationship Id="rId2" Type="http://schemas.openxmlformats.org/officeDocument/2006/relationships/tags" Target="../tags/tag9.xml"/><Relationship Id="rId1" Type="http://schemas.openxmlformats.org/officeDocument/2006/relationships/image" Target="../media/image40.jpe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4.xml"/><Relationship Id="rId2" Type="http://schemas.openxmlformats.org/officeDocument/2006/relationships/slideLayout" Target="../slideLayouts/slideLayout29.xml"/><Relationship Id="rId1" Type="http://schemas.openxmlformats.org/officeDocument/2006/relationships/image" Target="../media/image41.jpeg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7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6.xml"/><Relationship Id="rId2" Type="http://schemas.openxmlformats.org/officeDocument/2006/relationships/slideLayout" Target="../slideLayouts/slideLayout28.xml"/><Relationship Id="rId1" Type="http://schemas.openxmlformats.org/officeDocument/2006/relationships/image" Target="../media/image42.jpeg"/></Relationships>
</file>

<file path=ppt/slides/_rels/slide40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7.xml"/><Relationship Id="rId4" Type="http://schemas.openxmlformats.org/officeDocument/2006/relationships/slideLayout" Target="../slideLayouts/slideLayout28.xml"/><Relationship Id="rId3" Type="http://schemas.openxmlformats.org/officeDocument/2006/relationships/tags" Target="../tags/tag10.xml"/><Relationship Id="rId2" Type="http://schemas.openxmlformats.org/officeDocument/2006/relationships/image" Target="../media/image44.jpeg"/><Relationship Id="rId1" Type="http://schemas.openxmlformats.org/officeDocument/2006/relationships/image" Target="../media/image43.jpe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8.xml"/><Relationship Id="rId2" Type="http://schemas.openxmlformats.org/officeDocument/2006/relationships/slideLayout" Target="../slideLayouts/slideLayout28.xml"/><Relationship Id="rId1" Type="http://schemas.openxmlformats.org/officeDocument/2006/relationships/image" Target="../media/image45.jpe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9.xml"/><Relationship Id="rId2" Type="http://schemas.openxmlformats.org/officeDocument/2006/relationships/slideLayout" Target="../slideLayouts/slideLayout30.xml"/><Relationship Id="rId1" Type="http://schemas.openxmlformats.org/officeDocument/2006/relationships/image" Target="../media/image46.jpe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0.xml"/><Relationship Id="rId2" Type="http://schemas.openxmlformats.org/officeDocument/2006/relationships/slideLayout" Target="../slideLayouts/slideLayout17.xml"/><Relationship Id="rId1" Type="http://schemas.openxmlformats.org/officeDocument/2006/relationships/image" Target="../media/image47.jpe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1.xml"/><Relationship Id="rId2" Type="http://schemas.openxmlformats.org/officeDocument/2006/relationships/slideLayout" Target="../slideLayouts/slideLayout27.xml"/><Relationship Id="rId1" Type="http://schemas.openxmlformats.org/officeDocument/2006/relationships/image" Target="../media/image48.jpeg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7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7.xml"/><Relationship Id="rId1" Type="http://schemas.openxmlformats.org/officeDocument/2006/relationships/image" Target="../media/image49.png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7.xml"/><Relationship Id="rId1" Type="http://schemas.openxmlformats.org/officeDocument/2006/relationships/image" Target="../media/image50.jpeg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7.xml"/><Relationship Id="rId1" Type="http://schemas.openxmlformats.org/officeDocument/2006/relationships/image" Target="../media/image51.png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7.xml"/><Relationship Id="rId1" Type="http://schemas.openxmlformats.org/officeDocument/2006/relationships/image" Target="../media/image52.jpeg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7.xml"/><Relationship Id="rId2" Type="http://schemas.openxmlformats.org/officeDocument/2006/relationships/image" Target="../media/image54.png"/><Relationship Id="rId1" Type="http://schemas.openxmlformats.org/officeDocument/2006/relationships/image" Target="../media/image53.jpeg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7.xml"/><Relationship Id="rId1" Type="http://schemas.openxmlformats.org/officeDocument/2006/relationships/image" Target="../media/image55.jpeg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7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4.xml"/><Relationship Id="rId2" Type="http://schemas.openxmlformats.org/officeDocument/2006/relationships/slideLayout" Target="../slideLayouts/slideLayout14.xml"/><Relationship Id="rId1" Type="http://schemas.openxmlformats.org/officeDocument/2006/relationships/image" Target="../media/image56.jpeg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5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57.jpeg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6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58.jpeg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2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0.xml"/><Relationship Id="rId2" Type="http://schemas.openxmlformats.org/officeDocument/2006/relationships/slideLayout" Target="../slideLayouts/slideLayout14.xml"/><Relationship Id="rId1" Type="http://schemas.openxmlformats.org/officeDocument/2006/relationships/image" Target="../media/image59.jpeg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1.xml"/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60.jpeg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3.xml"/><Relationship Id="rId2" Type="http://schemas.openxmlformats.org/officeDocument/2006/relationships/slideLayout" Target="../slideLayouts/slideLayout14.xml"/><Relationship Id="rId1" Type="http://schemas.openxmlformats.org/officeDocument/2006/relationships/image" Target="../media/image61.jpeg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5.xml"/><Relationship Id="rId2" Type="http://schemas.openxmlformats.org/officeDocument/2006/relationships/slideLayout" Target="../slideLayouts/slideLayout14.xml"/><Relationship Id="rId1" Type="http://schemas.openxmlformats.org/officeDocument/2006/relationships/image" Target="../media/image61.jpeg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6.xml"/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62.jpeg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7.xml"/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62.jpeg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12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1.xml"/><Relationship Id="rId2" Type="http://schemas.openxmlformats.org/officeDocument/2006/relationships/slideLayout" Target="../slideLayouts/slideLayout14.xml"/><Relationship Id="rId1" Type="http://schemas.openxmlformats.org/officeDocument/2006/relationships/image" Target="../media/image63.jpeg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4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64.jpeg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5.jpeg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6.jpeg"/></Relationships>
</file>

<file path=ppt/slides/_rels/slide9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5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67.jpeg"/></Relationships>
</file>

<file path=ppt/slides/_rels/slide9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7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8.jpeg"/></Relationships>
</file>

<file path=ppt/slides/_rels/slide9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7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69.emf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0.jpeg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8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71.emf"/></Relationships>
</file>

<file path=ppt/slides/_rels/slide10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2.jpeg"/></Relationships>
</file>

<file path=ppt/slides/_rels/slide10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7.xml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7.xml"/></Relationships>
</file>

<file path=ppt/slides/_rels/slide1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7.xml"/></Relationships>
</file>

<file path=ppt/slides/_rels/slide1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3.jpeg"/></Relationships>
</file>

<file path=ppt/slides/_rels/slide1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2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64.jpeg"/></Relationships>
</file>

<file path=ppt/slides/_rels/slide1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3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4.jpeg"/></Relationships>
</file>

<file path=ppt/slides/_rels/slide117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74.x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76.png"/><Relationship Id="rId3" Type="http://schemas.openxmlformats.org/officeDocument/2006/relationships/customXml" Target="../ink/ink1.xml"/><Relationship Id="rId2" Type="http://schemas.openxmlformats.org/officeDocument/2006/relationships/image" Target="../media/image74.jpeg"/><Relationship Id="rId1" Type="http://schemas.openxmlformats.org/officeDocument/2006/relationships/image" Target="../media/image75.jpeg"/></Relationships>
</file>

<file path=ppt/slides/_rels/slide118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75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78.png"/><Relationship Id="rId2" Type="http://schemas.openxmlformats.org/officeDocument/2006/relationships/customXml" Target="../ink/ink2.xml"/><Relationship Id="rId1" Type="http://schemas.openxmlformats.org/officeDocument/2006/relationships/image" Target="../media/image77.jpeg"/></Relationships>
</file>

<file path=ppt/slides/_rels/slide119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76.x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80.png"/><Relationship Id="rId3" Type="http://schemas.openxmlformats.org/officeDocument/2006/relationships/customXml" Target="../ink/ink3.xml"/><Relationship Id="rId2" Type="http://schemas.openxmlformats.org/officeDocument/2006/relationships/image" Target="../media/image79.jpeg"/><Relationship Id="rId1" Type="http://schemas.openxmlformats.org/officeDocument/2006/relationships/image" Target="../media/image77.jpeg"/></Relationships>
</file>

<file path=ppt/slides/_rels/slide12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81.png"/><Relationship Id="rId1" Type="http://schemas.openxmlformats.org/officeDocument/2006/relationships/customXml" Target="../ink/ink4.xml"/></Relationships>
</file>

<file path=ppt/slides/_rels/slide1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83.png"/><Relationship Id="rId2" Type="http://schemas.openxmlformats.org/officeDocument/2006/relationships/customXml" Target="../ink/ink5.xml"/><Relationship Id="rId1" Type="http://schemas.openxmlformats.org/officeDocument/2006/relationships/image" Target="../media/image82.jpeg"/></Relationships>
</file>

<file path=ppt/slides/_rels/slide1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7.xml"/><Relationship Id="rId1" Type="http://schemas.openxmlformats.org/officeDocument/2006/relationships/slideLayout" Target="../slideLayouts/slideLayout2.xml"/></Relationships>
</file>

<file path=ppt/slides/_rels/slide12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84.png"/><Relationship Id="rId1" Type="http://schemas.openxmlformats.org/officeDocument/2006/relationships/customXml" Target="../ink/ink6.xml"/></Relationships>
</file>

<file path=ppt/slides/_rels/slide12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78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85.png"/><Relationship Id="rId1" Type="http://schemas.openxmlformats.org/officeDocument/2006/relationships/tags" Target="../tags/tag11.xml"/></Relationships>
</file>

<file path=ppt/slides/_rels/slide12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4.jpeg"/></Relationships>
</file>

<file path=ppt/slides/_rels/slide12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hyperlink" Target="http://www.differencebetween.com/difference-between-amphiprotic-and-vs-amphoteric/www.differencebetween.com/difference-between-bronsted-and-vs-lewis/" TargetMode="External"/><Relationship Id="rId1" Type="http://schemas.openxmlformats.org/officeDocument/2006/relationships/hyperlink" Target="http://www.differencebetween.com/difference-between-amphiprotic-and-vs-amphoteric/www.differencebetween.com/difference-between-bronsted-lowry-and-vs-%20arrhenius/" TargetMode="External"/></Relationships>
</file>

<file path=ppt/slides/_rels/slide12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9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86.jpeg"/></Relationships>
</file>

<file path=ppt/slides/_rels/slide12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0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87.jpeg"/></Relationships>
</file>

<file path=ppt/slides/_rels/slide1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1.xml"/><Relationship Id="rId1" Type="http://schemas.openxmlformats.org/officeDocument/2006/relationships/slideLayout" Target="../slideLayouts/slideLayout2.xml"/></Relationships>
</file>

<file path=ppt/slides/_rels/slide1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8.jpeg"/></Relationships>
</file>

<file path=ppt/slides/_rels/slide13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2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64.jpeg"/></Relationships>
</file>

<file path=ppt/slides/_rels/slide1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3.xml"/><Relationship Id="rId1" Type="http://schemas.openxmlformats.org/officeDocument/2006/relationships/slideLayout" Target="../slideLayouts/slideLayout2.xml"/></Relationships>
</file>

<file path=ppt/slides/_rels/slide1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4.xml"/><Relationship Id="rId2" Type="http://schemas.openxmlformats.org/officeDocument/2006/relationships/slideLayout" Target="../slideLayouts/slideLayout14.xml"/><Relationship Id="rId1" Type="http://schemas.openxmlformats.org/officeDocument/2006/relationships/image" Target="../media/image89.jpeg"/></Relationships>
</file>

<file path=ppt/slides/_rels/slide13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0.jpeg"/></Relationships>
</file>

<file path=ppt/slides/_rels/slide13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5.xml"/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91.jpeg"/></Relationships>
</file>

<file path=ppt/slides/_rels/slide13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2.jpeg"/></Relationships>
</file>

<file path=ppt/slides/_rels/slide14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3.jpeg"/></Relationships>
</file>

<file path=ppt/slides/_rels/slide1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6.xml"/><Relationship Id="rId1" Type="http://schemas.openxmlformats.org/officeDocument/2006/relationships/slideLayout" Target="../slideLayouts/slideLayout2.xml"/></Relationships>
</file>

<file path=ppt/slides/_rels/slide14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7.xml"/><Relationship Id="rId2" Type="http://schemas.openxmlformats.org/officeDocument/2006/relationships/slideLayout" Target="../slideLayouts/slideLayout14.xml"/><Relationship Id="rId1" Type="http://schemas.openxmlformats.org/officeDocument/2006/relationships/image" Target="../media/image94.jpeg"/></Relationships>
</file>

<file path=ppt/slides/_rels/slide14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4.jpeg"/></Relationships>
</file>

<file path=ppt/slides/_rels/slide1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88.xml"/><Relationship Id="rId3" Type="http://schemas.openxmlformats.org/officeDocument/2006/relationships/slideLayout" Target="../slideLayouts/slideLayout13.xml"/><Relationship Id="rId2" Type="http://schemas.openxmlformats.org/officeDocument/2006/relationships/image" Target="../media/image96.jpeg"/><Relationship Id="rId1" Type="http://schemas.openxmlformats.org/officeDocument/2006/relationships/image" Target="../media/image95.jpeg"/></Relationships>
</file>

<file path=ppt/slides/_rels/slide14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89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98.jpeg"/><Relationship Id="rId1" Type="http://schemas.openxmlformats.org/officeDocument/2006/relationships/image" Target="../media/image97.jpeg"/></Relationships>
</file>

<file path=ppt/slides/_rels/slide14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0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9.jpeg"/></Relationships>
</file>

<file path=ppt/slides/_rels/slide14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00.jpeg"/></Relationships>
</file>

<file path=ppt/slides/_rels/slide14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01.jpeg"/></Relationships>
</file>

<file path=ppt/slides/_rels/slide1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1.xml"/><Relationship Id="rId1" Type="http://schemas.openxmlformats.org/officeDocument/2006/relationships/slideLayout" Target="../slideLayouts/slideLayout2.xml"/></Relationships>
</file>

<file path=ppt/slides/_rels/slide1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2.xml"/><Relationship Id="rId1" Type="http://schemas.openxmlformats.org/officeDocument/2006/relationships/slideLayout" Target="../slideLayouts/slideLayout2.xml"/></Relationships>
</file>

<file path=ppt/slides/_rels/slide1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3.xml"/><Relationship Id="rId1" Type="http://schemas.openxmlformats.org/officeDocument/2006/relationships/slideLayout" Target="../slideLayouts/slideLayout2.xml"/></Relationships>
</file>

<file path=ppt/slides/_rels/slide15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64.jpeg"/></Relationships>
</file>

<file path=ppt/slides/_rels/slide15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5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02.jpeg"/></Relationships>
</file>

<file path=ppt/slides/_rels/slide15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6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103.png"/></Relationships>
</file>

<file path=ppt/slides/_rels/slide1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7.xml"/><Relationship Id="rId1" Type="http://schemas.openxmlformats.org/officeDocument/2006/relationships/slideLayout" Target="../slideLayouts/slideLayout12.xml"/></Relationships>
</file>

<file path=ppt/slides/_rels/slide15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8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04.jpeg"/></Relationships>
</file>

<file path=ppt/slides/_rels/slide1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9.xml"/><Relationship Id="rId1" Type="http://schemas.openxmlformats.org/officeDocument/2006/relationships/slideLayout" Target="../slideLayouts/slideLayout7.xml"/></Relationships>
</file>

<file path=ppt/slides/_rels/slide1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0.xml"/><Relationship Id="rId1" Type="http://schemas.openxmlformats.org/officeDocument/2006/relationships/slideLayout" Target="../slideLayouts/slideLayout7.xml"/></Relationships>
</file>

<file path=ppt/slides/_rels/slide16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1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05.jpeg"/></Relationships>
</file>

<file path=ppt/slides/_rels/slide1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2.xml"/><Relationship Id="rId1" Type="http://schemas.openxmlformats.org/officeDocument/2006/relationships/slideLayout" Target="../slideLayouts/slideLayout7.xml"/></Relationships>
</file>

<file path=ppt/slides/_rels/slide16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3.xml"/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106.jpeg"/></Relationships>
</file>

<file path=ppt/slides/_rels/slide16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4.xml"/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107.jpeg"/></Relationships>
</file>

<file path=ppt/slides/_rels/slide16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5.xml"/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108.jpeg"/></Relationships>
</file>

<file path=ppt/slides/_rels/slide16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64.jpeg"/></Relationships>
</file>

<file path=ppt/slides/_rels/slide16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10.jpeg"/><Relationship Id="rId1" Type="http://schemas.openxmlformats.org/officeDocument/2006/relationships/image" Target="../media/image109.jpeg"/></Relationships>
</file>

<file path=ppt/slides/_rels/slide16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4.xml"/><Relationship Id="rId2" Type="http://schemas.openxmlformats.org/officeDocument/2006/relationships/image" Target="../media/image111.jpeg"/><Relationship Id="rId1" Type="http://schemas.openxmlformats.org/officeDocument/2006/relationships/image" Target="../media/image109.jpeg"/></Relationships>
</file>

<file path=ppt/slides/_rels/slide16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image" Target="../media/image112.jpeg"/><Relationship Id="rId1" Type="http://schemas.openxmlformats.org/officeDocument/2006/relationships/image" Target="../media/image109.jpeg"/></Relationships>
</file>

<file path=ppt/slides/_rels/slide17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4.xml"/><Relationship Id="rId2" Type="http://schemas.openxmlformats.org/officeDocument/2006/relationships/image" Target="../media/image113.jpeg"/><Relationship Id="rId1" Type="http://schemas.openxmlformats.org/officeDocument/2006/relationships/image" Target="../media/image109.jpeg"/></Relationships>
</file>

<file path=ppt/slides/_rels/slide17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115.png"/><Relationship Id="rId3" Type="http://schemas.openxmlformats.org/officeDocument/2006/relationships/image" Target="../media/image112.jpeg"/><Relationship Id="rId2" Type="http://schemas.openxmlformats.org/officeDocument/2006/relationships/image" Target="../media/image111.jpeg"/><Relationship Id="rId1" Type="http://schemas.openxmlformats.org/officeDocument/2006/relationships/image" Target="../media/image114.png"/></Relationships>
</file>

<file path=ppt/slides/_rels/slide17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4.xml"/><Relationship Id="rId2" Type="http://schemas.openxmlformats.org/officeDocument/2006/relationships/image" Target="../media/image116.jpeg"/><Relationship Id="rId1" Type="http://schemas.openxmlformats.org/officeDocument/2006/relationships/image" Target="../media/image109.jpeg"/></Relationships>
</file>

<file path=ppt/slides/_rels/slide17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5.xml"/><Relationship Id="rId2" Type="http://schemas.openxmlformats.org/officeDocument/2006/relationships/image" Target="../media/image117.jpeg"/><Relationship Id="rId1" Type="http://schemas.openxmlformats.org/officeDocument/2006/relationships/image" Target="../media/image109.jpeg"/></Relationships>
</file>

<file path=ppt/slides/_rels/slide17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5.xml"/><Relationship Id="rId3" Type="http://schemas.openxmlformats.org/officeDocument/2006/relationships/image" Target="../media/image119.jpeg"/><Relationship Id="rId2" Type="http://schemas.openxmlformats.org/officeDocument/2006/relationships/image" Target="../media/image118.jpeg"/><Relationship Id="rId1" Type="http://schemas.openxmlformats.org/officeDocument/2006/relationships/image" Target="../media/image109.jpeg"/></Relationships>
</file>

<file path=ppt/slides/_rels/slide17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21.jpeg"/><Relationship Id="rId2" Type="http://schemas.openxmlformats.org/officeDocument/2006/relationships/image" Target="../media/image120.jpeg"/><Relationship Id="rId1" Type="http://schemas.openxmlformats.org/officeDocument/2006/relationships/image" Target="../media/image109.jpeg"/></Relationships>
</file>

<file path=ppt/slides/_rels/slide17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122.jpeg"/><Relationship Id="rId1" Type="http://schemas.openxmlformats.org/officeDocument/2006/relationships/image" Target="../media/image109.jpeg"/></Relationships>
</file>

<file path=ppt/slides/_rels/slide17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09.jpeg"/></Relationships>
</file>

<file path=ppt/slides/_rels/slide17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09.jpeg"/></Relationships>
</file>

<file path=ppt/slides/_rels/slide17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5.xml"/><Relationship Id="rId2" Type="http://schemas.openxmlformats.org/officeDocument/2006/relationships/image" Target="../media/image123.jpeg"/><Relationship Id="rId1" Type="http://schemas.openxmlformats.org/officeDocument/2006/relationships/image" Target="../media/image109.jpeg"/></Relationships>
</file>

<file path=ppt/slides/_rels/slide18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5.xml"/><Relationship Id="rId2" Type="http://schemas.openxmlformats.org/officeDocument/2006/relationships/image" Target="../media/image124.jpeg"/><Relationship Id="rId1" Type="http://schemas.openxmlformats.org/officeDocument/2006/relationships/image" Target="../media/image109.jpeg"/></Relationships>
</file>

<file path=ppt/slides/_rels/slide18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125.jpeg"/><Relationship Id="rId1" Type="http://schemas.openxmlformats.org/officeDocument/2006/relationships/image" Target="../media/image109.jpeg"/></Relationships>
</file>

<file path=ppt/slides/_rels/slide18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125.jpeg"/><Relationship Id="rId1" Type="http://schemas.openxmlformats.org/officeDocument/2006/relationships/image" Target="../media/image109.jpeg"/></Relationships>
</file>

<file path=ppt/slides/_rels/slide18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4.xml"/><Relationship Id="rId2" Type="http://schemas.openxmlformats.org/officeDocument/2006/relationships/image" Target="../media/image126.jpeg"/><Relationship Id="rId1" Type="http://schemas.openxmlformats.org/officeDocument/2006/relationships/image" Target="../media/image109.jpeg"/></Relationships>
</file>

<file path=ppt/slides/_rels/slide18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2.xml"/><Relationship Id="rId3" Type="http://schemas.openxmlformats.org/officeDocument/2006/relationships/image" Target="../media/image128.jpeg"/><Relationship Id="rId2" Type="http://schemas.openxmlformats.org/officeDocument/2006/relationships/image" Target="../media/image127.jpeg"/><Relationship Id="rId1" Type="http://schemas.openxmlformats.org/officeDocument/2006/relationships/image" Target="../media/image109.jpeg"/></Relationships>
</file>

<file path=ppt/slides/_rels/slide18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5.xml"/><Relationship Id="rId3" Type="http://schemas.openxmlformats.org/officeDocument/2006/relationships/image" Target="../media/image130.jpeg"/><Relationship Id="rId2" Type="http://schemas.openxmlformats.org/officeDocument/2006/relationships/image" Target="../media/image129.jpeg"/><Relationship Id="rId1" Type="http://schemas.openxmlformats.org/officeDocument/2006/relationships/image" Target="../media/image109.jpeg"/></Relationships>
</file>

<file path=ppt/slides/_rels/slide18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5.xml"/><Relationship Id="rId3" Type="http://schemas.openxmlformats.org/officeDocument/2006/relationships/image" Target="../media/image132.jpeg"/><Relationship Id="rId2" Type="http://schemas.openxmlformats.org/officeDocument/2006/relationships/image" Target="../media/image131.jpeg"/><Relationship Id="rId1" Type="http://schemas.openxmlformats.org/officeDocument/2006/relationships/image" Target="../media/image109.jpeg"/></Relationships>
</file>

<file path=ppt/slides/_rels/slide1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3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12192000" cy="1143000"/>
          </a:xfrm>
        </p:spPr>
        <p:txBody>
          <a:bodyPr/>
          <a:lstStyle/>
          <a:p>
            <a:pPr algn="ctr" eaLnBrk="1" hangingPunct="1"/>
            <a:r>
              <a:rPr lang="en-US" sz="4000" b="1" dirty="0">
                <a:latin typeface="Arial" panose="020B0604020202020204" pitchFamily="34" charset="0"/>
                <a:ea typeface="MS PGothic" panose="020B0600070205080204" pitchFamily="48" charset="-128"/>
              </a:rPr>
              <a:t>Writing Lewis Structures</a:t>
            </a:r>
            <a:endParaRPr lang="en-US" sz="4000" b="1" dirty="0">
              <a:latin typeface="Arial" panose="020B0604020202020204" pitchFamily="34" charset="0"/>
              <a:ea typeface="MS PGothic" panose="020B0600070205080204" pitchFamily="48" charset="-128"/>
            </a:endParaRPr>
          </a:p>
        </p:txBody>
      </p:sp>
      <p:sp>
        <p:nvSpPr>
          <p:cNvPr id="38914" name="Rectangle 4"/>
          <p:cNvSpPr>
            <a:spLocks noGrp="1" noChangeArrowheads="1"/>
          </p:cNvSpPr>
          <p:nvPr>
            <p:ph type="body" sz="half" idx="2"/>
          </p:nvPr>
        </p:nvSpPr>
        <p:spPr>
          <a:xfrm>
            <a:off x="6245225" y="1600200"/>
            <a:ext cx="5772785" cy="1988820"/>
          </a:xfrm>
        </p:spPr>
        <p:txBody>
          <a:bodyPr/>
          <a:lstStyle/>
          <a:p>
            <a:pPr marL="533400" indent="-533400" eaLnBrk="1" hangingPunct="1">
              <a:buFontTx/>
              <a:buAutoNum type="arabicPeriod" startAt="3"/>
            </a:pPr>
            <a:r>
              <a:rPr lang="en-US" sz="2800" dirty="0">
                <a:latin typeface="Arial" panose="020B0604020202020204" pitchFamily="34" charset="0"/>
                <a:ea typeface="MS PGothic" panose="020B0600070205080204" pitchFamily="48" charset="-128"/>
              </a:rPr>
              <a:t>Complete the octets around all atoms bonded to the </a:t>
            </a:r>
            <a:r>
              <a:rPr lang="en-US" sz="2800" b="1" u="sng" dirty="0">
                <a:latin typeface="Arial" panose="020B0604020202020204" pitchFamily="34" charset="0"/>
                <a:ea typeface="MS PGothic" panose="020B0600070205080204" pitchFamily="48" charset="-128"/>
              </a:rPr>
              <a:t>central</a:t>
            </a:r>
            <a:r>
              <a:rPr lang="en-US" sz="2800" dirty="0">
                <a:latin typeface="Arial" panose="020B0604020202020204" pitchFamily="34" charset="0"/>
                <a:ea typeface="MS PGothic" panose="020B0600070205080204" pitchFamily="48" charset="-128"/>
              </a:rPr>
              <a:t> atom.</a:t>
            </a:r>
            <a:endParaRPr lang="en-US" sz="2800" dirty="0">
              <a:latin typeface="Arial" panose="020B0604020202020204" pitchFamily="34" charset="0"/>
              <a:ea typeface="MS PGothic" panose="020B0600070205080204" pitchFamily="48" charset="-128"/>
            </a:endParaRPr>
          </a:p>
          <a:p>
            <a:pPr marL="0" indent="0" algn="ctr" eaLnBrk="1" hangingPunct="1">
              <a:buNone/>
            </a:pPr>
            <a:r>
              <a:rPr lang="en-US" altLang="zh-CN" sz="2800" b="1" u="sng" dirty="0">
                <a:solidFill>
                  <a:srgbClr val="FF0000"/>
                </a:solidFill>
                <a:latin typeface="Arial" panose="020B0604020202020204" pitchFamily="34" charset="0"/>
                <a:ea typeface="MS PGothic" panose="020B0600070205080204" pitchFamily="48" charset="-128"/>
              </a:rPr>
              <a:t>surrounding</a:t>
            </a:r>
            <a:r>
              <a:rPr lang="en-US" altLang="zh-CN" sz="2800" b="1" dirty="0">
                <a:solidFill>
                  <a:srgbClr val="FF0000"/>
                </a:solidFill>
                <a:latin typeface="Arial" panose="020B0604020202020204" pitchFamily="34" charset="0"/>
                <a:ea typeface="MS PGothic" panose="020B0600070205080204" pitchFamily="48" charset="-128"/>
              </a:rPr>
              <a:t> atoms first!</a:t>
            </a:r>
            <a:endParaRPr lang="en-US" sz="2800" b="1" dirty="0">
              <a:solidFill>
                <a:srgbClr val="FF0000"/>
              </a:solidFill>
              <a:latin typeface="Arial" panose="020B0604020202020204" pitchFamily="34" charset="0"/>
              <a:ea typeface="MS PGothic" panose="020B0600070205080204" pitchFamily="48" charset="-128"/>
            </a:endParaRPr>
          </a:p>
        </p:txBody>
      </p:sp>
      <p:sp>
        <p:nvSpPr>
          <p:cNvPr id="38915" name="Rectangle 8"/>
          <p:cNvSpPr>
            <a:spLocks noChangeArrowheads="1"/>
          </p:cNvSpPr>
          <p:nvPr/>
        </p:nvSpPr>
        <p:spPr bwMode="auto">
          <a:xfrm>
            <a:off x="251460" y="3589020"/>
            <a:ext cx="5993765" cy="9531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en-US" sz="2800" dirty="0"/>
              <a:t>Keep track of the electrons:</a:t>
            </a:r>
            <a:endParaRPr lang="en-US" sz="2800" dirty="0"/>
          </a:p>
          <a:p>
            <a:r>
              <a:rPr lang="en-US" sz="2800" dirty="0"/>
              <a:t>26 </a:t>
            </a:r>
            <a:r>
              <a:rPr lang="en-US" sz="2800" dirty="0">
                <a:cs typeface="Arial" panose="020B0604020202020204" pitchFamily="34" charset="0"/>
              </a:rPr>
              <a:t>−</a:t>
            </a:r>
            <a:r>
              <a:rPr lang="en-US" sz="2800" dirty="0"/>
              <a:t> 6 = 20; 20 </a:t>
            </a:r>
            <a:r>
              <a:rPr lang="en-US" sz="2800" dirty="0">
                <a:cs typeface="Arial" panose="020B0604020202020204" pitchFamily="34" charset="0"/>
              </a:rPr>
              <a:t>−</a:t>
            </a:r>
            <a:r>
              <a:rPr lang="en-US" sz="2800" dirty="0"/>
              <a:t> 18 = 2</a:t>
            </a:r>
            <a:endParaRPr lang="en-US" sz="2800" dirty="0"/>
          </a:p>
        </p:txBody>
      </p:sp>
      <p:pic>
        <p:nvPicPr>
          <p:cNvPr id="38916" name="Picture 5" descr="08_Pg316_UnFigure_2.jpg"/>
          <p:cNvPicPr>
            <a:picLocks noChangeAspect="1"/>
          </p:cNvPicPr>
          <p:nvPr/>
        </p:nvPicPr>
        <p:blipFill>
          <a:blip r:embed="rId1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693"/>
          <a:stretch>
            <a:fillRect/>
          </a:stretch>
        </p:blipFill>
        <p:spPr bwMode="auto">
          <a:xfrm>
            <a:off x="610492" y="1143000"/>
            <a:ext cx="4019550" cy="2446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0962" name="Rectangle 4"/>
          <p:cNvSpPr>
            <a:spLocks noGrp="1" noChangeArrowheads="1"/>
          </p:cNvSpPr>
          <p:nvPr/>
        </p:nvSpPr>
        <p:spPr>
          <a:xfrm>
            <a:off x="6250305" y="3978910"/>
            <a:ext cx="5767705" cy="102806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33400" indent="-533400" eaLnBrk="1" hangingPunct="1">
              <a:buFontTx/>
              <a:buAutoNum type="arabicPeriod" startAt="4"/>
            </a:pPr>
            <a:r>
              <a:rPr lang="en-US" sz="2800" dirty="0">
                <a:latin typeface="Arial" panose="020B0604020202020204" pitchFamily="34" charset="0"/>
                <a:ea typeface="MS PGothic" panose="020B0600070205080204" pitchFamily="48" charset="-128"/>
              </a:rPr>
              <a:t>Place any leftover electrons on the </a:t>
            </a:r>
            <a:r>
              <a:rPr lang="en-US" sz="2800" dirty="0">
                <a:solidFill>
                  <a:srgbClr val="FF0000"/>
                </a:solidFill>
                <a:latin typeface="Arial" panose="020B0604020202020204" pitchFamily="34" charset="0"/>
                <a:ea typeface="MS PGothic" panose="020B0600070205080204" pitchFamily="48" charset="-128"/>
              </a:rPr>
              <a:t>central</a:t>
            </a:r>
            <a:r>
              <a:rPr lang="en-US" sz="2800" dirty="0">
                <a:latin typeface="Arial" panose="020B0604020202020204" pitchFamily="34" charset="0"/>
                <a:ea typeface="MS PGothic" panose="020B0600070205080204" pitchFamily="48" charset="-128"/>
              </a:rPr>
              <a:t> atom.</a:t>
            </a:r>
            <a:endParaRPr lang="en-US" sz="2800" dirty="0">
              <a:latin typeface="Arial" panose="020B0604020202020204" pitchFamily="34" charset="0"/>
              <a:ea typeface="MS PGothic" panose="020B0600070205080204" pitchFamily="48" charset="-128"/>
            </a:endParaRPr>
          </a:p>
        </p:txBody>
      </p:sp>
      <p:pic>
        <p:nvPicPr>
          <p:cNvPr id="40964" name="Picture 5" descr="08_Pg316_UnFigure_3.jpg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" b="2968"/>
          <a:stretch>
            <a:fillRect/>
          </a:stretch>
        </p:blipFill>
        <p:spPr bwMode="auto">
          <a:xfrm>
            <a:off x="482283" y="4406900"/>
            <a:ext cx="4037012" cy="2451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0963" name="Rectangle 6"/>
          <p:cNvSpPr>
            <a:spLocks noChangeArrowheads="1"/>
          </p:cNvSpPr>
          <p:nvPr/>
        </p:nvSpPr>
        <p:spPr bwMode="auto">
          <a:xfrm>
            <a:off x="6405245" y="5156200"/>
            <a:ext cx="5182870" cy="9531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p>
            <a:r>
              <a:rPr lang="en-US" sz="2800" dirty="0"/>
              <a:t>Keep track of the electrons:</a:t>
            </a:r>
            <a:endParaRPr lang="en-US" sz="2800" dirty="0"/>
          </a:p>
          <a:p>
            <a:r>
              <a:rPr lang="en-US" sz="2800" dirty="0"/>
              <a:t>26 </a:t>
            </a:r>
            <a:r>
              <a:rPr lang="en-US" sz="2800" dirty="0">
                <a:cs typeface="Arial" panose="020B0604020202020204" pitchFamily="34" charset="0"/>
              </a:rPr>
              <a:t>− </a:t>
            </a:r>
            <a:r>
              <a:rPr lang="en-US" sz="2800" dirty="0"/>
              <a:t>6 = 20; 20 </a:t>
            </a:r>
            <a:r>
              <a:rPr lang="en-US" sz="2800" dirty="0">
                <a:cs typeface="Arial" panose="020B0604020202020204" pitchFamily="34" charset="0"/>
              </a:rPr>
              <a:t>−</a:t>
            </a:r>
            <a:r>
              <a:rPr lang="en-US" sz="2800" dirty="0"/>
              <a:t> 18 = 2; 2 </a:t>
            </a:r>
            <a:r>
              <a:rPr lang="en-US" sz="2800" dirty="0">
                <a:cs typeface="Arial" panose="020B0604020202020204" pitchFamily="34" charset="0"/>
              </a:rPr>
              <a:t>−</a:t>
            </a:r>
            <a:r>
              <a:rPr lang="en-US" sz="2800" dirty="0"/>
              <a:t> 2 = 0</a:t>
            </a:r>
            <a:endParaRPr lang="en-US" sz="2800" dirty="0"/>
          </a:p>
        </p:txBody>
      </p:sp>
    </p:spTree>
  </p:cSld>
  <p:clrMapOvr>
    <a:masterClrMapping/>
  </p:clrMapOvr>
  <p:transition spd="slow" advTm="36453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0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en-US" b="1" dirty="0">
                <a:latin typeface="Arial" panose="020B0604020202020204" pitchFamily="34" charset="0"/>
                <a:ea typeface="MS PGothic" panose="020B0600070205080204" pitchFamily="48" charset="-128"/>
              </a:rPr>
              <a:t>Writing Lewis Structures</a:t>
            </a:r>
            <a:endParaRPr lang="en-US" b="1" dirty="0">
              <a:latin typeface="Arial" panose="020B0604020202020204" pitchFamily="34" charset="0"/>
              <a:ea typeface="MS PGothic" panose="020B0600070205080204" pitchFamily="48" charset="-128"/>
            </a:endParaRPr>
          </a:p>
        </p:txBody>
      </p:sp>
      <p:sp>
        <p:nvSpPr>
          <p:cNvPr id="43010" name="Rectangle 4"/>
          <p:cNvSpPr>
            <a:spLocks noGrp="1" noChangeArrowheads="1"/>
          </p:cNvSpPr>
          <p:nvPr>
            <p:ph type="body" sz="half" idx="3"/>
          </p:nvPr>
        </p:nvSpPr>
        <p:spPr>
          <a:xfrm>
            <a:off x="2209800" y="1600200"/>
            <a:ext cx="8458200" cy="1676400"/>
          </a:xfrm>
        </p:spPr>
        <p:txBody>
          <a:bodyPr/>
          <a:lstStyle/>
          <a:p>
            <a:pPr marL="0" indent="-914400" eaLnBrk="1" hangingPunct="1">
              <a:lnSpc>
                <a:spcPct val="90000"/>
              </a:lnSpc>
              <a:buNone/>
            </a:pPr>
            <a:r>
              <a:rPr lang="en-US" sz="3200" dirty="0">
                <a:latin typeface="Arial" panose="020B0604020202020204" pitchFamily="34" charset="0"/>
                <a:ea typeface="MS PGothic" panose="020B0600070205080204" pitchFamily="48" charset="-128"/>
              </a:rPr>
              <a:t>5</a:t>
            </a:r>
            <a:r>
              <a:rPr lang="en-US" sz="3200" i="1" dirty="0">
                <a:latin typeface="Arial" panose="020B0604020202020204" pitchFamily="34" charset="0"/>
                <a:ea typeface="MS PGothic" panose="020B0600070205080204" pitchFamily="48" charset="-128"/>
              </a:rPr>
              <a:t>.  If</a:t>
            </a:r>
            <a:r>
              <a:rPr lang="en-US" sz="3200" dirty="0">
                <a:latin typeface="Arial" panose="020B0604020202020204" pitchFamily="34" charset="0"/>
                <a:ea typeface="MS PGothic" panose="020B0600070205080204" pitchFamily="48" charset="-128"/>
              </a:rPr>
              <a:t> there are </a:t>
            </a:r>
            <a:r>
              <a:rPr lang="en-US" sz="3200" i="1" dirty="0">
                <a:latin typeface="Arial" panose="020B0604020202020204" pitchFamily="34" charset="0"/>
                <a:ea typeface="MS PGothic" panose="020B0600070205080204" pitchFamily="48" charset="-128"/>
              </a:rPr>
              <a:t>not</a:t>
            </a:r>
            <a:r>
              <a:rPr lang="en-US" sz="3200" dirty="0">
                <a:latin typeface="Arial" panose="020B0604020202020204" pitchFamily="34" charset="0"/>
                <a:ea typeface="MS PGothic" panose="020B0600070205080204" pitchFamily="48" charset="-128"/>
              </a:rPr>
              <a:t> enough electrons to give the</a:t>
            </a:r>
            <a:endParaRPr lang="en-US" sz="3200" dirty="0">
              <a:latin typeface="Arial" panose="020B0604020202020204" pitchFamily="34" charset="0"/>
              <a:ea typeface="MS PGothic" panose="020B0600070205080204" pitchFamily="48" charset="-128"/>
            </a:endParaRPr>
          </a:p>
          <a:p>
            <a:pPr marL="0" indent="-914400" eaLnBrk="1" hangingPunct="1">
              <a:lnSpc>
                <a:spcPct val="90000"/>
              </a:lnSpc>
              <a:buNone/>
            </a:pPr>
            <a:r>
              <a:rPr lang="en-US" sz="3200" dirty="0">
                <a:latin typeface="Arial" panose="020B0604020202020204" pitchFamily="34" charset="0"/>
                <a:ea typeface="MS PGothic" panose="020B0600070205080204" pitchFamily="48" charset="-128"/>
              </a:rPr>
              <a:t>     </a:t>
            </a:r>
            <a:r>
              <a:rPr lang="en-US" sz="3200" dirty="0">
                <a:solidFill>
                  <a:srgbClr val="FF0000"/>
                </a:solidFill>
                <a:latin typeface="Arial" panose="020B0604020202020204" pitchFamily="34" charset="0"/>
                <a:ea typeface="MS PGothic" panose="020B0600070205080204" pitchFamily="48" charset="-128"/>
              </a:rPr>
              <a:t>central</a:t>
            </a:r>
            <a:r>
              <a:rPr lang="en-US" sz="3200" dirty="0">
                <a:latin typeface="Arial" panose="020B0604020202020204" pitchFamily="34" charset="0"/>
                <a:ea typeface="MS PGothic" panose="020B0600070205080204" pitchFamily="48" charset="-128"/>
              </a:rPr>
              <a:t> atom an octet, try </a:t>
            </a:r>
            <a:r>
              <a:rPr lang="en-US" sz="3200" dirty="0">
                <a:solidFill>
                  <a:srgbClr val="FF0000"/>
                </a:solidFill>
                <a:latin typeface="Arial" panose="020B0604020202020204" pitchFamily="34" charset="0"/>
                <a:ea typeface="MS PGothic" panose="020B0600070205080204" pitchFamily="48" charset="-128"/>
              </a:rPr>
              <a:t>multiple</a:t>
            </a:r>
            <a:r>
              <a:rPr lang="en-US" sz="3200" dirty="0">
                <a:latin typeface="Arial" panose="020B0604020202020204" pitchFamily="34" charset="0"/>
                <a:ea typeface="MS PGothic" panose="020B0600070205080204" pitchFamily="48" charset="-128"/>
              </a:rPr>
              <a:t> bonds.</a:t>
            </a:r>
            <a:endParaRPr lang="en-US" sz="3200" dirty="0">
              <a:latin typeface="Arial" panose="020B0604020202020204" pitchFamily="34" charset="0"/>
              <a:ea typeface="MS PGothic" panose="020B0600070205080204" pitchFamily="48" charset="-128"/>
            </a:endParaRPr>
          </a:p>
        </p:txBody>
      </p:sp>
      <p:pic>
        <p:nvPicPr>
          <p:cNvPr id="43011" name="Picture 4" descr="08_Pg317_UnFigure_1.jpg"/>
          <p:cNvPicPr>
            <a:picLocks noChangeAspect="1"/>
          </p:cNvPicPr>
          <p:nvPr/>
        </p:nvPicPr>
        <p:blipFill>
          <a:blip r:embed="rId1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0017"/>
          <a:stretch>
            <a:fillRect/>
          </a:stretch>
        </p:blipFill>
        <p:spPr bwMode="auto">
          <a:xfrm>
            <a:off x="1828800" y="3903980"/>
            <a:ext cx="8534400" cy="1289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 advTm="39005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7" name="Rectangle 2"/>
          <p:cNvSpPr>
            <a:spLocks noGrp="1" noChangeArrowheads="1"/>
          </p:cNvSpPr>
          <p:nvPr>
            <p:ph type="title"/>
          </p:nvPr>
        </p:nvSpPr>
        <p:spPr>
          <a:xfrm>
            <a:off x="1524000" y="152400"/>
            <a:ext cx="9144000" cy="1143000"/>
          </a:xfrm>
        </p:spPr>
        <p:txBody>
          <a:bodyPr/>
          <a:lstStyle/>
          <a:p>
            <a:pPr algn="ctr" eaLnBrk="1" hangingPunct="1"/>
            <a:r>
              <a:rPr lang="en-US" sz="4000" b="1" dirty="0">
                <a:latin typeface="Arial" panose="020B0604020202020204" pitchFamily="34" charset="0"/>
                <a:ea typeface="MS PGothic" panose="020B0600070205080204" pitchFamily="48" charset="-128"/>
              </a:rPr>
              <a:t>Determine Formal Charge</a:t>
            </a:r>
            <a:endParaRPr lang="en-US" sz="4000" b="1" dirty="0">
              <a:latin typeface="Arial" panose="020B0604020202020204" pitchFamily="34" charset="0"/>
              <a:ea typeface="MS PGothic" panose="020B0600070205080204" pitchFamily="48" charset="-128"/>
            </a:endParaRPr>
          </a:p>
        </p:txBody>
      </p:sp>
      <p:sp>
        <p:nvSpPr>
          <p:cNvPr id="45058" name="Rectangle 4"/>
          <p:cNvSpPr>
            <a:spLocks noGrp="1" noChangeArrowheads="1"/>
          </p:cNvSpPr>
          <p:nvPr>
            <p:ph type="body" sz="half" idx="1"/>
          </p:nvPr>
        </p:nvSpPr>
        <p:spPr>
          <a:xfrm>
            <a:off x="1752600" y="1143000"/>
            <a:ext cx="8686800" cy="2971800"/>
          </a:xfrm>
        </p:spPr>
        <p:txBody>
          <a:bodyPr/>
          <a:lstStyle/>
          <a:p>
            <a:pPr eaLnBrk="1" hangingPunct="1"/>
            <a:r>
              <a:rPr lang="en-US" sz="2800" dirty="0">
                <a:latin typeface="Arial" panose="020B0604020202020204" pitchFamily="34" charset="0"/>
                <a:ea typeface="MS PGothic" panose="020B0600070205080204" pitchFamily="48" charset="-128"/>
              </a:rPr>
              <a:t>Assign formal charges.</a:t>
            </a:r>
            <a:endParaRPr lang="en-US" sz="2800" dirty="0">
              <a:latin typeface="Arial" panose="020B0604020202020204" pitchFamily="34" charset="0"/>
              <a:ea typeface="MS PGothic" panose="020B0600070205080204" pitchFamily="48" charset="-128"/>
            </a:endParaRPr>
          </a:p>
          <a:p>
            <a:pPr eaLnBrk="1" hangingPunct="1"/>
            <a:r>
              <a:rPr lang="en-US" sz="2800" b="1" dirty="0">
                <a:solidFill>
                  <a:srgbClr val="FF0000"/>
                </a:solidFill>
                <a:latin typeface="Arial" panose="020B0604020202020204" pitchFamily="34" charset="0"/>
                <a:ea typeface="MS PGothic" panose="020B0600070205080204" pitchFamily="48" charset="-128"/>
              </a:rPr>
              <a:t>Formal</a:t>
            </a:r>
            <a:r>
              <a:rPr lang="en-US" sz="2800" b="1" dirty="0">
                <a:latin typeface="Arial" panose="020B0604020202020204" pitchFamily="34" charset="0"/>
                <a:ea typeface="MS PGothic" panose="020B0600070205080204" pitchFamily="48" charset="-128"/>
              </a:rPr>
              <a:t> charge </a:t>
            </a:r>
            <a:r>
              <a:rPr lang="en-US" sz="2800" dirty="0">
                <a:latin typeface="Arial" panose="020B0604020202020204" pitchFamily="34" charset="0"/>
                <a:ea typeface="MS PGothic" panose="020B0600070205080204" pitchFamily="48" charset="-128"/>
              </a:rPr>
              <a:t>is the charge an atom would have if all of the electrons in a covalent bond were </a:t>
            </a:r>
            <a:r>
              <a:rPr lang="en-US" sz="2800" dirty="0">
                <a:solidFill>
                  <a:srgbClr val="FF0000"/>
                </a:solidFill>
                <a:latin typeface="Arial" panose="020B0604020202020204" pitchFamily="34" charset="0"/>
                <a:ea typeface="MS PGothic" panose="020B0600070205080204" pitchFamily="48" charset="-128"/>
              </a:rPr>
              <a:t>shared equally</a:t>
            </a:r>
            <a:r>
              <a:rPr lang="en-US" sz="2800" dirty="0">
                <a:latin typeface="Arial" panose="020B0604020202020204" pitchFamily="34" charset="0"/>
                <a:ea typeface="MS PGothic" panose="020B0600070205080204" pitchFamily="48" charset="-128"/>
              </a:rPr>
              <a:t>.</a:t>
            </a:r>
            <a:endParaRPr lang="en-US" sz="2800" dirty="0">
              <a:latin typeface="Arial" panose="020B0604020202020204" pitchFamily="34" charset="0"/>
              <a:ea typeface="MS PGothic" panose="020B0600070205080204" pitchFamily="48" charset="-128"/>
            </a:endParaRPr>
          </a:p>
          <a:p>
            <a:pPr eaLnBrk="1" hangingPunct="1"/>
            <a:r>
              <a:rPr lang="en-US" sz="2800" dirty="0">
                <a:latin typeface="Arial" panose="020B0604020202020204" pitchFamily="34" charset="0"/>
                <a:ea typeface="MS PGothic" panose="020B0600070205080204" pitchFamily="48" charset="-128"/>
              </a:rPr>
              <a:t>Formal charge  =  valence electrons  –                    </a:t>
            </a:r>
            <a:r>
              <a:rPr lang="en-US" sz="2800" dirty="0">
                <a:latin typeface="Arial" panose="020B0604020202020204" pitchFamily="34" charset="0"/>
                <a:ea typeface="MS PGothic" panose="020B0600070205080204" pitchFamily="48" charset="-128"/>
                <a:cs typeface="Times New Roman" panose="02020603050405020304" pitchFamily="18" charset="0"/>
              </a:rPr>
              <a:t>½ (bonding electrons)  –  </a:t>
            </a:r>
            <a:r>
              <a:rPr lang="en-US" sz="2800" i="1" dirty="0">
                <a:latin typeface="Arial" panose="020B0604020202020204" pitchFamily="34" charset="0"/>
                <a:ea typeface="MS PGothic" panose="020B0600070205080204" pitchFamily="48" charset="-128"/>
                <a:cs typeface="Times New Roman" panose="02020603050405020304" pitchFamily="18" charset="0"/>
              </a:rPr>
              <a:t>all</a:t>
            </a:r>
            <a:r>
              <a:rPr lang="en-US" sz="2800" dirty="0">
                <a:latin typeface="Arial" panose="020B0604020202020204" pitchFamily="34" charset="0"/>
                <a:ea typeface="MS PGothic" panose="020B0600070205080204" pitchFamily="48" charset="-128"/>
                <a:cs typeface="Times New Roman" panose="02020603050405020304" pitchFamily="18" charset="0"/>
              </a:rPr>
              <a:t> nonbonding electrons</a:t>
            </a:r>
            <a:endParaRPr lang="en-US" sz="2800" dirty="0">
              <a:latin typeface="Arial" panose="020B0604020202020204" pitchFamily="34" charset="0"/>
              <a:ea typeface="MS PGothic" panose="020B0600070205080204" pitchFamily="48" charset="-128"/>
            </a:endParaRPr>
          </a:p>
        </p:txBody>
      </p:sp>
      <p:pic>
        <p:nvPicPr>
          <p:cNvPr id="45059" name="Picture 4" descr="08_Pg318_UnFigure_2.jpg"/>
          <p:cNvPicPr>
            <a:picLocks noChangeAspect="1"/>
          </p:cNvPicPr>
          <p:nvPr/>
        </p:nvPicPr>
        <p:blipFill rotWithShape="1">
          <a:blip r:embed="rId1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6188"/>
          <a:stretch>
            <a:fillRect/>
          </a:stretch>
        </p:blipFill>
        <p:spPr bwMode="auto">
          <a:xfrm>
            <a:off x="1524000" y="4203580"/>
            <a:ext cx="7467600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3124200" y="4844870"/>
            <a:ext cx="4939665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Valence Electrons    6     4     6             6     4      6</a:t>
            </a:r>
            <a:endParaRPr lang="en-US" sz="2000" dirty="0"/>
          </a:p>
        </p:txBody>
      </p:sp>
      <p:sp>
        <p:nvSpPr>
          <p:cNvPr id="8" name="TextBox 7"/>
          <p:cNvSpPr txBox="1"/>
          <p:nvPr/>
        </p:nvSpPr>
        <p:spPr>
          <a:xfrm>
            <a:off x="2000687" y="5184625"/>
            <a:ext cx="606679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sz="2000" dirty="0"/>
              <a:t>−</a:t>
            </a:r>
            <a:r>
              <a:rPr lang="en-US" sz="2000" dirty="0"/>
              <a:t> ½   Total Bonding Electrons    2     4     2             1     4      3</a:t>
            </a:r>
            <a:endParaRPr lang="en-US" sz="2000" dirty="0"/>
          </a:p>
        </p:txBody>
      </p:sp>
      <p:sp>
        <p:nvSpPr>
          <p:cNvPr id="9" name="TextBox 8"/>
          <p:cNvSpPr txBox="1"/>
          <p:nvPr/>
        </p:nvSpPr>
        <p:spPr>
          <a:xfrm>
            <a:off x="2336355" y="5575180"/>
            <a:ext cx="5735955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sz="2000" dirty="0"/>
              <a:t>−</a:t>
            </a:r>
            <a:r>
              <a:rPr lang="en-US" sz="2000" dirty="0"/>
              <a:t>  Non-Bonding Electrons    4     0     4             6     4      2</a:t>
            </a:r>
            <a:endParaRPr lang="en-US" sz="2000" dirty="0"/>
          </a:p>
        </p:txBody>
      </p:sp>
      <p:sp>
        <p:nvSpPr>
          <p:cNvPr id="10" name="TextBox 9"/>
          <p:cNvSpPr txBox="1"/>
          <p:nvPr/>
        </p:nvSpPr>
        <p:spPr>
          <a:xfrm>
            <a:off x="3501885" y="5956240"/>
            <a:ext cx="465455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rgbClr val="C00000"/>
                </a:solidFill>
              </a:rPr>
              <a:t>Formal Charge    0     0     0            -1     0    +1</a:t>
            </a:r>
            <a:endParaRPr lang="en-US" sz="2000" dirty="0">
              <a:solidFill>
                <a:srgbClr val="C00000"/>
              </a:solidFill>
            </a:endParaRPr>
          </a:p>
        </p:txBody>
      </p:sp>
      <p:cxnSp>
        <p:nvCxnSpPr>
          <p:cNvPr id="5" name="Straight Connector 4"/>
          <p:cNvCxnSpPr/>
          <p:nvPr/>
        </p:nvCxnSpPr>
        <p:spPr bwMode="auto">
          <a:xfrm>
            <a:off x="2667000" y="5956180"/>
            <a:ext cx="6324600" cy="0"/>
          </a:xfrm>
          <a:prstGeom prst="line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</p:spTree>
  </p:cSld>
  <p:clrMapOvr>
    <a:masterClrMapping/>
  </p:clrMapOvr>
  <p:transition spd="slow" advTm="107830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en-US" sz="4000" b="1" dirty="0">
                <a:latin typeface="Arial" panose="020B0604020202020204" pitchFamily="34" charset="0"/>
                <a:ea typeface="MS PGothic" panose="020B0600070205080204" pitchFamily="48" charset="-128"/>
              </a:rPr>
              <a:t>Dominant Lewis Structures</a:t>
            </a:r>
            <a:endParaRPr lang="en-US" sz="4000" b="1" dirty="0">
              <a:latin typeface="Arial" panose="020B0604020202020204" pitchFamily="34" charset="0"/>
              <a:ea typeface="MS PGothic" panose="020B0600070205080204" pitchFamily="48" charset="-128"/>
            </a:endParaRPr>
          </a:p>
        </p:txBody>
      </p:sp>
      <p:sp>
        <p:nvSpPr>
          <p:cNvPr id="47106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1752600" y="1219200"/>
            <a:ext cx="8623300" cy="4538980"/>
          </a:xfrm>
        </p:spPr>
        <p:txBody>
          <a:bodyPr>
            <a:normAutofit lnSpcReduction="10000"/>
          </a:bodyPr>
          <a:lstStyle/>
          <a:p>
            <a:pPr eaLnBrk="1" hangingPunct="1"/>
            <a:r>
              <a:rPr lang="en-US" dirty="0">
                <a:latin typeface="Arial" panose="020B0604020202020204" pitchFamily="34" charset="0"/>
                <a:ea typeface="MS PGothic" panose="020B0600070205080204" pitchFamily="48" charset="-128"/>
              </a:rPr>
              <a:t>The dominant Lewis structure</a:t>
            </a:r>
            <a:endParaRPr lang="en-US" dirty="0">
              <a:latin typeface="Arial" panose="020B0604020202020204" pitchFamily="34" charset="0"/>
              <a:ea typeface="MS PGothic" panose="020B0600070205080204" pitchFamily="48" charset="-128"/>
            </a:endParaRPr>
          </a:p>
          <a:p>
            <a:pPr lvl="1" eaLnBrk="1" hangingPunct="1">
              <a:buFont typeface="Lucida Grande" charset="0"/>
              <a:buChar char="–"/>
            </a:pPr>
            <a:r>
              <a:rPr lang="en-US" dirty="0">
                <a:latin typeface="Arial" panose="020B0604020202020204" pitchFamily="34" charset="0"/>
                <a:ea typeface="MS PGothic" panose="020B0600070205080204" pitchFamily="48" charset="-128"/>
              </a:rPr>
              <a:t>is the one in which atoms have </a:t>
            </a:r>
            <a:r>
              <a:rPr lang="en-US" dirty="0">
                <a:solidFill>
                  <a:srgbClr val="FF0000"/>
                </a:solidFill>
                <a:latin typeface="Arial" panose="020B0604020202020204" pitchFamily="34" charset="0"/>
                <a:ea typeface="MS PGothic" panose="020B0600070205080204" pitchFamily="48" charset="-128"/>
              </a:rPr>
              <a:t>formal charges closest to zero</a:t>
            </a:r>
            <a:r>
              <a:rPr lang="en-US" dirty="0">
                <a:latin typeface="Arial" panose="020B0604020202020204" pitchFamily="34" charset="0"/>
                <a:ea typeface="MS PGothic" panose="020B0600070205080204" pitchFamily="48" charset="-128"/>
              </a:rPr>
              <a:t>.</a:t>
            </a:r>
            <a:endParaRPr lang="en-US" dirty="0">
              <a:latin typeface="Arial" panose="020B0604020202020204" pitchFamily="34" charset="0"/>
              <a:ea typeface="MS PGothic" panose="020B0600070205080204" pitchFamily="48" charset="-128"/>
            </a:endParaRPr>
          </a:p>
          <a:p>
            <a:pPr lvl="1" eaLnBrk="1" hangingPunct="1">
              <a:buFont typeface="Lucida Grande" charset="0"/>
              <a:buChar char="–"/>
            </a:pPr>
            <a:endParaRPr lang="en-US" dirty="0">
              <a:latin typeface="Arial" panose="020B0604020202020204" pitchFamily="34" charset="0"/>
              <a:ea typeface="MS PGothic" panose="020B0600070205080204" pitchFamily="48" charset="-128"/>
            </a:endParaRPr>
          </a:p>
          <a:p>
            <a:pPr marL="457200" lvl="1" indent="0" eaLnBrk="1" hangingPunct="1">
              <a:buNone/>
            </a:pPr>
            <a:endParaRPr lang="en-US" dirty="0">
              <a:latin typeface="Arial" panose="020B0604020202020204" pitchFamily="34" charset="0"/>
              <a:ea typeface="MS PGothic" panose="020B0600070205080204" pitchFamily="48" charset="-128"/>
            </a:endParaRPr>
          </a:p>
          <a:p>
            <a:pPr lvl="1" eaLnBrk="1" hangingPunct="1">
              <a:buFont typeface="Lucida Grande" charset="0"/>
              <a:buChar char="–"/>
            </a:pPr>
            <a:endParaRPr lang="en-US" dirty="0">
              <a:latin typeface="Arial" panose="020B0604020202020204" pitchFamily="34" charset="0"/>
              <a:ea typeface="MS PGothic" panose="020B0600070205080204" pitchFamily="48" charset="-128"/>
            </a:endParaRPr>
          </a:p>
          <a:p>
            <a:pPr lvl="1" eaLnBrk="1" hangingPunct="1">
              <a:buFont typeface="Lucida Grande" charset="0"/>
              <a:buChar char="–"/>
            </a:pPr>
            <a:endParaRPr lang="en-US" dirty="0">
              <a:latin typeface="Arial" panose="020B0604020202020204" pitchFamily="34" charset="0"/>
              <a:ea typeface="MS PGothic" panose="020B0600070205080204" pitchFamily="48" charset="-128"/>
            </a:endParaRPr>
          </a:p>
          <a:p>
            <a:pPr lvl="1" eaLnBrk="1" hangingPunct="1">
              <a:buFont typeface="Lucida Grande" charset="0"/>
              <a:buChar char="–"/>
            </a:pPr>
            <a:endParaRPr lang="en-US" dirty="0">
              <a:latin typeface="Arial" panose="020B0604020202020204" pitchFamily="34" charset="0"/>
              <a:ea typeface="MS PGothic" panose="020B0600070205080204" pitchFamily="48" charset="-128"/>
            </a:endParaRPr>
          </a:p>
          <a:p>
            <a:pPr lvl="1" eaLnBrk="1" hangingPunct="1">
              <a:buFont typeface="Lucida Grande" charset="0"/>
              <a:buChar char="–"/>
            </a:pPr>
            <a:r>
              <a:rPr lang="en-US" dirty="0">
                <a:latin typeface="Arial" panose="020B0604020202020204" pitchFamily="34" charset="0"/>
                <a:ea typeface="MS PGothic" panose="020B0600070205080204" pitchFamily="48" charset="-128"/>
              </a:rPr>
              <a:t>puts a </a:t>
            </a:r>
            <a:r>
              <a:rPr lang="en-US" dirty="0">
                <a:solidFill>
                  <a:srgbClr val="FF0000"/>
                </a:solidFill>
                <a:latin typeface="Arial" panose="020B0604020202020204" pitchFamily="34" charset="0"/>
                <a:ea typeface="MS PGothic" panose="020B0600070205080204" pitchFamily="48" charset="-128"/>
              </a:rPr>
              <a:t>negative</a:t>
            </a:r>
            <a:r>
              <a:rPr lang="en-US" dirty="0">
                <a:latin typeface="Arial" panose="020B0604020202020204" pitchFamily="34" charset="0"/>
                <a:ea typeface="MS PGothic" panose="020B0600070205080204" pitchFamily="48" charset="-128"/>
              </a:rPr>
              <a:t> formal charge on the </a:t>
            </a:r>
            <a:r>
              <a:rPr lang="en-US" dirty="0">
                <a:solidFill>
                  <a:srgbClr val="FF0000"/>
                </a:solidFill>
                <a:latin typeface="Arial" panose="020B0604020202020204" pitchFamily="34" charset="0"/>
                <a:ea typeface="MS PGothic" panose="020B0600070205080204" pitchFamily="48" charset="-128"/>
              </a:rPr>
              <a:t>most</a:t>
            </a:r>
            <a:r>
              <a:rPr lang="en-US" dirty="0">
                <a:latin typeface="Arial" panose="020B0604020202020204" pitchFamily="34" charset="0"/>
                <a:ea typeface="MS PGothic" panose="020B0600070205080204" pitchFamily="48" charset="-128"/>
              </a:rPr>
              <a:t> </a:t>
            </a:r>
            <a:r>
              <a:rPr lang="en-US" dirty="0">
                <a:solidFill>
                  <a:srgbClr val="FF0000"/>
                </a:solidFill>
                <a:latin typeface="Arial" panose="020B0604020202020204" pitchFamily="34" charset="0"/>
                <a:ea typeface="MS PGothic" panose="020B0600070205080204" pitchFamily="48" charset="-128"/>
              </a:rPr>
              <a:t>electronegative</a:t>
            </a:r>
            <a:r>
              <a:rPr lang="en-US" dirty="0">
                <a:latin typeface="Arial" panose="020B0604020202020204" pitchFamily="34" charset="0"/>
                <a:ea typeface="MS PGothic" panose="020B0600070205080204" pitchFamily="48" charset="-128"/>
              </a:rPr>
              <a:t> atom.</a:t>
            </a:r>
            <a:endParaRPr lang="en-US" dirty="0">
              <a:latin typeface="Arial" panose="020B0604020202020204" pitchFamily="34" charset="0"/>
              <a:ea typeface="MS PGothic" panose="020B0600070205080204" pitchFamily="48" charset="-128"/>
            </a:endParaRPr>
          </a:p>
          <a:p>
            <a:pPr lvl="1" eaLnBrk="1" hangingPunct="1"/>
            <a:endParaRPr lang="en-US" dirty="0">
              <a:latin typeface="Arial" panose="020B0604020202020204" pitchFamily="34" charset="0"/>
              <a:ea typeface="MS PGothic" panose="020B0600070205080204" pitchFamily="48" charset="-128"/>
            </a:endParaRPr>
          </a:p>
        </p:txBody>
      </p:sp>
      <p:pic>
        <p:nvPicPr>
          <p:cNvPr id="47107" name="Picture 4" descr="08_Pg318_UnFigure_4.jpg"/>
          <p:cNvPicPr>
            <a:picLocks noChangeAspect="1"/>
          </p:cNvPicPr>
          <p:nvPr/>
        </p:nvPicPr>
        <p:blipFill>
          <a:blip r:embed="rId1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2830"/>
          <a:stretch>
            <a:fillRect/>
          </a:stretch>
        </p:blipFill>
        <p:spPr bwMode="auto">
          <a:xfrm>
            <a:off x="2743200" y="4806462"/>
            <a:ext cx="6583001" cy="7787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4" descr="08_Pg318_UnFigure_2.jpg"/>
          <p:cNvPicPr>
            <a:picLocks noChangeAspect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6188"/>
          <a:stretch>
            <a:fillRect/>
          </a:stretch>
        </p:blipFill>
        <p:spPr bwMode="auto">
          <a:xfrm>
            <a:off x="0" y="2956560"/>
            <a:ext cx="9865360" cy="7353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Box 5"/>
          <p:cNvSpPr txBox="1"/>
          <p:nvPr/>
        </p:nvSpPr>
        <p:spPr>
          <a:xfrm>
            <a:off x="2743200" y="2324735"/>
            <a:ext cx="726503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C00000"/>
                </a:solidFill>
              </a:rPr>
              <a:t>Formal Charge          0       0        0               -1        0       +1</a:t>
            </a:r>
            <a:endParaRPr lang="en-US" sz="2400" dirty="0">
              <a:solidFill>
                <a:srgbClr val="C00000"/>
              </a:solidFill>
            </a:endParaRPr>
          </a:p>
        </p:txBody>
      </p:sp>
      <p:cxnSp>
        <p:nvCxnSpPr>
          <p:cNvPr id="7" name="Straight Connector 6"/>
          <p:cNvCxnSpPr/>
          <p:nvPr/>
        </p:nvCxnSpPr>
        <p:spPr bwMode="auto">
          <a:xfrm>
            <a:off x="-2514600" y="7391400"/>
            <a:ext cx="6324600" cy="0"/>
          </a:xfrm>
          <a:prstGeom prst="line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" name="TextBox 1"/>
          <p:cNvSpPr txBox="1"/>
          <p:nvPr/>
        </p:nvSpPr>
        <p:spPr>
          <a:xfrm>
            <a:off x="5888672" y="3671960"/>
            <a:ext cx="982345" cy="3371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C00000"/>
                </a:solidFill>
              </a:rPr>
              <a:t>dominant</a:t>
            </a:r>
            <a:endParaRPr lang="en-US" sz="1600" dirty="0">
              <a:solidFill>
                <a:srgbClr val="C00000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520777" y="5496975"/>
            <a:ext cx="982345" cy="3371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C00000"/>
                </a:solidFill>
              </a:rPr>
              <a:t>dominant</a:t>
            </a:r>
            <a:endParaRPr lang="en-US" sz="1600" dirty="0">
              <a:solidFill>
                <a:srgbClr val="C00000"/>
              </a:solidFill>
            </a:endParaRPr>
          </a:p>
        </p:txBody>
      </p:sp>
    </p:spTree>
    <p:custDataLst>
      <p:tags r:id="rId3"/>
    </p:custDataLst>
  </p:cSld>
  <p:clrMapOvr>
    <a:masterClrMapping/>
  </p:clrMapOvr>
  <p:transition spd="slow" advTm="102661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710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47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1752600" y="1143000"/>
            <a:ext cx="4953000" cy="5105400"/>
          </a:xfrm>
        </p:spPr>
        <p:txBody>
          <a:bodyPr/>
          <a:lstStyle/>
          <a:p>
            <a:pPr eaLnBrk="1" hangingPunct="1"/>
            <a:r>
              <a:rPr lang="en-US" sz="3200" dirty="0">
                <a:latin typeface="Arial" panose="020B0604020202020204" pitchFamily="34" charset="0"/>
                <a:ea typeface="MS PGothic" panose="020B0600070205080204" pitchFamily="48" charset="-128"/>
              </a:rPr>
              <a:t>Following our rules, this is the Lewis structure we would draw for ozone, O</a:t>
            </a:r>
            <a:r>
              <a:rPr lang="en-US" sz="3200" baseline="-25000" dirty="0">
                <a:latin typeface="Arial" panose="020B0604020202020204" pitchFamily="34" charset="0"/>
                <a:ea typeface="MS PGothic" panose="020B0600070205080204" pitchFamily="48" charset="-128"/>
              </a:rPr>
              <a:t>3</a:t>
            </a:r>
            <a:r>
              <a:rPr lang="en-US" sz="3200" dirty="0">
                <a:latin typeface="Arial" panose="020B0604020202020204" pitchFamily="34" charset="0"/>
                <a:ea typeface="MS PGothic" panose="020B0600070205080204" pitchFamily="48" charset="-128"/>
              </a:rPr>
              <a:t>.</a:t>
            </a:r>
            <a:endParaRPr lang="en-US" sz="3200" dirty="0">
              <a:latin typeface="Arial" panose="020B0604020202020204" pitchFamily="34" charset="0"/>
              <a:ea typeface="MS PGothic" panose="020B0600070205080204" pitchFamily="48" charset="-128"/>
            </a:endParaRPr>
          </a:p>
          <a:p>
            <a:pPr eaLnBrk="1" hangingPunct="1">
              <a:lnSpc>
                <a:spcPts val="1100"/>
              </a:lnSpc>
            </a:pPr>
            <a:endParaRPr lang="en-US" sz="3200" dirty="0">
              <a:latin typeface="Arial" panose="020B0604020202020204" pitchFamily="34" charset="0"/>
              <a:ea typeface="MS PGothic" panose="020B0600070205080204" pitchFamily="48" charset="-128"/>
            </a:endParaRPr>
          </a:p>
          <a:p>
            <a:pPr eaLnBrk="1" hangingPunct="1"/>
            <a:r>
              <a:rPr lang="en-US" sz="3200" dirty="0">
                <a:latin typeface="Arial" panose="020B0604020202020204" pitchFamily="34" charset="0"/>
                <a:ea typeface="MS PGothic" panose="020B0600070205080204" pitchFamily="48" charset="-128"/>
              </a:rPr>
              <a:t>However, it doesn’t agree with what is observed in nature:  Both O to O connections are the </a:t>
            </a:r>
            <a:r>
              <a:rPr lang="en-US" sz="3200" dirty="0">
                <a:solidFill>
                  <a:srgbClr val="FF0000"/>
                </a:solidFill>
                <a:latin typeface="Arial" panose="020B0604020202020204" pitchFamily="34" charset="0"/>
                <a:ea typeface="MS PGothic" panose="020B0600070205080204" pitchFamily="48" charset="-128"/>
              </a:rPr>
              <a:t>same</a:t>
            </a:r>
            <a:r>
              <a:rPr lang="en-US" sz="3200" dirty="0">
                <a:latin typeface="Arial" panose="020B0604020202020204" pitchFamily="34" charset="0"/>
                <a:ea typeface="MS PGothic" panose="020B0600070205080204" pitchFamily="48" charset="-128"/>
              </a:rPr>
              <a:t>.</a:t>
            </a:r>
            <a:endParaRPr lang="en-US" sz="3200" dirty="0">
              <a:latin typeface="Arial" panose="020B0604020202020204" pitchFamily="34" charset="0"/>
              <a:ea typeface="MS PGothic" panose="020B0600070205080204" pitchFamily="48" charset="-128"/>
            </a:endParaRPr>
          </a:p>
        </p:txBody>
      </p:sp>
      <p:pic>
        <p:nvPicPr>
          <p:cNvPr id="49155" name="Picture 7" descr="08_12_Figure.jpg"/>
          <p:cNvPicPr>
            <a:picLocks noChangeAspect="1"/>
          </p:cNvPicPr>
          <p:nvPr/>
        </p:nvPicPr>
        <p:blipFill>
          <a:blip r:embed="rId1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885"/>
          <a:stretch>
            <a:fillRect/>
          </a:stretch>
        </p:blipFill>
        <p:spPr bwMode="auto">
          <a:xfrm>
            <a:off x="7300750" y="3484000"/>
            <a:ext cx="2384689" cy="20170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9156" name="Picture 8" descr="08_Pg320_UnFigure_1.jpg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027"/>
          <a:stretch>
            <a:fillRect/>
          </a:stretch>
        </p:blipFill>
        <p:spPr bwMode="auto">
          <a:xfrm>
            <a:off x="7300595" y="1477645"/>
            <a:ext cx="2249170" cy="11309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Rectangle 2"/>
          <p:cNvSpPr txBox="1">
            <a:spLocks noChangeArrowheads="1"/>
          </p:cNvSpPr>
          <p:nvPr/>
        </p:nvSpPr>
        <p:spPr bwMode="auto">
          <a:xfrm>
            <a:off x="1295400" y="-76200"/>
            <a:ext cx="91440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+mj-lt"/>
                <a:ea typeface="+mj-ea"/>
                <a:cs typeface="MS PGothic" panose="020B0600070205080204" pitchFamily="48" charset="-128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48" charset="-128"/>
                <a:cs typeface="MS PGothic" panose="020B0600070205080204" pitchFamily="48" charset="-128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48" charset="-128"/>
                <a:cs typeface="MS PGothic" panose="020B0600070205080204" pitchFamily="48" charset="-128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48" charset="-128"/>
                <a:cs typeface="MS PGothic" panose="020B0600070205080204" pitchFamily="48" charset="-128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48" charset="-128"/>
                <a:cs typeface="MS PGothic" panose="020B0600070205080204" pitchFamily="48" charset="-128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48" charset="-128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48" charset="-128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48" charset="-128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48" charset="-128"/>
              </a:defRPr>
            </a:lvl9pPr>
          </a:lstStyle>
          <a:p>
            <a:pPr eaLnBrk="1" hangingPunct="1"/>
            <a:r>
              <a:rPr lang="en-US" sz="4000" b="1" kern="0">
                <a:latin typeface="Arial" panose="020B0604020202020204" pitchFamily="34" charset="0"/>
                <a:ea typeface="MS PGothic" panose="020B0600070205080204" pitchFamily="48" charset="-128"/>
              </a:rPr>
              <a:t>Resonance</a:t>
            </a:r>
            <a:endParaRPr lang="en-US" sz="4000" b="1" kern="0" dirty="0">
              <a:latin typeface="Arial" panose="020B0604020202020204" pitchFamily="34" charset="0"/>
              <a:ea typeface="MS PGothic" panose="020B0600070205080204" pitchFamily="48" charset="-128"/>
            </a:endParaRPr>
          </a:p>
        </p:txBody>
      </p:sp>
    </p:spTree>
  </p:cSld>
  <p:clrMapOvr>
    <a:masterClrMapping/>
  </p:clrMapOvr>
  <p:transition spd="slow" advTm="81105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1" name="Rectangle 2"/>
          <p:cNvSpPr>
            <a:spLocks noGrp="1" noChangeArrowheads="1"/>
          </p:cNvSpPr>
          <p:nvPr>
            <p:ph type="title"/>
          </p:nvPr>
        </p:nvSpPr>
        <p:spPr>
          <a:xfrm>
            <a:off x="1295400" y="-76200"/>
            <a:ext cx="9144000" cy="1143000"/>
          </a:xfrm>
        </p:spPr>
        <p:txBody>
          <a:bodyPr/>
          <a:lstStyle/>
          <a:p>
            <a:pPr algn="ctr" eaLnBrk="1" hangingPunct="1"/>
            <a:r>
              <a:rPr lang="en-US" sz="4000" b="1" dirty="0">
                <a:latin typeface="Arial" panose="020B0604020202020204" pitchFamily="34" charset="0"/>
                <a:ea typeface="MS PGothic" panose="020B0600070205080204" pitchFamily="48" charset="-128"/>
              </a:rPr>
              <a:t>Resonance</a:t>
            </a:r>
            <a:endParaRPr lang="en-US" sz="4000" b="1" dirty="0">
              <a:latin typeface="Arial" panose="020B0604020202020204" pitchFamily="34" charset="0"/>
              <a:ea typeface="MS PGothic" panose="020B0600070205080204" pitchFamily="48" charset="-128"/>
            </a:endParaRPr>
          </a:p>
        </p:txBody>
      </p:sp>
      <p:pic>
        <p:nvPicPr>
          <p:cNvPr id="51203" name="Picture 4" descr="08_13_Figure.jpg"/>
          <p:cNvPicPr>
            <a:picLocks noChangeAspect="1"/>
          </p:cNvPicPr>
          <p:nvPr/>
        </p:nvPicPr>
        <p:blipFill rotWithShape="1">
          <a:blip r:embed="rId1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9228" b="5853"/>
          <a:stretch>
            <a:fillRect/>
          </a:stretch>
        </p:blipFill>
        <p:spPr bwMode="auto">
          <a:xfrm>
            <a:off x="5126990" y="1674495"/>
            <a:ext cx="3121660" cy="32772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4" descr="08_13_Figure.jpg"/>
          <p:cNvPicPr>
            <a:picLocks noChangeAspect="1"/>
          </p:cNvPicPr>
          <p:nvPr/>
        </p:nvPicPr>
        <p:blipFill rotWithShape="1">
          <a:blip r:embed="rId1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127" b="67392"/>
          <a:stretch>
            <a:fillRect/>
          </a:stretch>
        </p:blipFill>
        <p:spPr bwMode="auto">
          <a:xfrm>
            <a:off x="8248650" y="1866265"/>
            <a:ext cx="3335655" cy="28943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11243733" y="2624667"/>
            <a:ext cx="3098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51202" name="Rectangle 3"/>
          <p:cNvSpPr>
            <a:spLocks noGrp="1" noChangeArrowheads="1"/>
          </p:cNvSpPr>
          <p:nvPr>
            <p:ph idx="1"/>
          </p:nvPr>
        </p:nvSpPr>
        <p:spPr>
          <a:xfrm>
            <a:off x="474980" y="1013460"/>
            <a:ext cx="5145405" cy="4572000"/>
          </a:xfrm>
        </p:spPr>
        <p:txBody>
          <a:bodyPr>
            <a:noAutofit/>
          </a:bodyPr>
          <a:lstStyle/>
          <a:p>
            <a:pPr eaLnBrk="1" hangingPunct="1"/>
            <a:r>
              <a:rPr lang="en-US" sz="3200" dirty="0">
                <a:latin typeface="Arial" panose="020B0604020202020204" pitchFamily="34" charset="0"/>
                <a:ea typeface="MS PGothic" panose="020B0600070205080204" pitchFamily="48" charset="-128"/>
              </a:rPr>
              <a:t>One Lewis structure cannot accurately depict a molecule </a:t>
            </a:r>
            <a:br>
              <a:rPr lang="en-US" sz="3200" dirty="0">
                <a:latin typeface="Arial" panose="020B0604020202020204" pitchFamily="34" charset="0"/>
                <a:ea typeface="MS PGothic" panose="020B0600070205080204" pitchFamily="48" charset="-128"/>
              </a:rPr>
            </a:br>
            <a:r>
              <a:rPr lang="en-US" sz="3200" dirty="0">
                <a:latin typeface="Arial" panose="020B0604020202020204" pitchFamily="34" charset="0"/>
                <a:ea typeface="MS PGothic" panose="020B0600070205080204" pitchFamily="48" charset="-128"/>
              </a:rPr>
              <a:t>like ozone.</a:t>
            </a:r>
            <a:endParaRPr lang="en-US" sz="3200" dirty="0">
              <a:latin typeface="Arial" panose="020B0604020202020204" pitchFamily="34" charset="0"/>
              <a:ea typeface="MS PGothic" panose="020B0600070205080204" pitchFamily="48" charset="-128"/>
            </a:endParaRPr>
          </a:p>
          <a:p>
            <a:pPr eaLnBrk="1" hangingPunct="1"/>
            <a:endParaRPr lang="en-US" sz="3200" dirty="0">
              <a:latin typeface="Arial" panose="020B0604020202020204" pitchFamily="34" charset="0"/>
              <a:ea typeface="MS PGothic" panose="020B0600070205080204" pitchFamily="48" charset="-128"/>
            </a:endParaRPr>
          </a:p>
          <a:p>
            <a:pPr eaLnBrk="1" hangingPunct="1"/>
            <a:r>
              <a:rPr lang="en-US" sz="3200" dirty="0">
                <a:latin typeface="Arial" panose="020B0604020202020204" pitchFamily="34" charset="0"/>
                <a:ea typeface="MS PGothic" panose="020B0600070205080204" pitchFamily="48" charset="-128"/>
              </a:rPr>
              <a:t>We use multiple structures, </a:t>
            </a:r>
            <a:r>
              <a:rPr lang="en-US" sz="3200" b="1" dirty="0">
                <a:latin typeface="Arial" panose="020B0604020202020204" pitchFamily="34" charset="0"/>
                <a:ea typeface="MS PGothic" panose="020B0600070205080204" pitchFamily="48" charset="-128"/>
              </a:rPr>
              <a:t>resonance structures</a:t>
            </a:r>
            <a:r>
              <a:rPr lang="en-US" sz="3200" dirty="0">
                <a:latin typeface="Arial" panose="020B0604020202020204" pitchFamily="34" charset="0"/>
                <a:ea typeface="MS PGothic" panose="020B0600070205080204" pitchFamily="48" charset="-128"/>
              </a:rPr>
              <a:t>, to describe the molecule.</a:t>
            </a:r>
            <a:endParaRPr lang="en-US" sz="3200" dirty="0">
              <a:latin typeface="Arial" panose="020B0604020202020204" pitchFamily="34" charset="0"/>
              <a:ea typeface="MS PGothic" panose="020B0600070205080204" pitchFamily="48" charset="-128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34105" y="5313045"/>
            <a:ext cx="4923790" cy="1296035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  <p:transition spd="slow" advTm="62638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49" name="Rectangle 2"/>
          <p:cNvSpPr>
            <a:spLocks noGrp="1" noChangeArrowheads="1"/>
          </p:cNvSpPr>
          <p:nvPr>
            <p:ph type="title"/>
          </p:nvPr>
        </p:nvSpPr>
        <p:spPr>
          <a:xfrm>
            <a:off x="914400" y="-76200"/>
            <a:ext cx="9144000" cy="1143000"/>
          </a:xfrm>
        </p:spPr>
        <p:txBody>
          <a:bodyPr/>
          <a:lstStyle/>
          <a:p>
            <a:pPr algn="ctr" eaLnBrk="1" hangingPunct="1"/>
            <a:r>
              <a:rPr lang="en-US" sz="4000" b="1" dirty="0">
                <a:latin typeface="Arial" panose="020B0604020202020204" pitchFamily="34" charset="0"/>
                <a:ea typeface="MS PGothic" panose="020B0600070205080204" pitchFamily="48" charset="-128"/>
              </a:rPr>
              <a:t>Resonance</a:t>
            </a:r>
            <a:endParaRPr lang="en-US" sz="4000" b="1" dirty="0">
              <a:latin typeface="Arial" panose="020B0604020202020204" pitchFamily="34" charset="0"/>
              <a:ea typeface="MS PGothic" panose="020B0600070205080204" pitchFamily="48" charset="-128"/>
            </a:endParaRPr>
          </a:p>
        </p:txBody>
      </p:sp>
      <p:sp>
        <p:nvSpPr>
          <p:cNvPr id="53250" name="Rectangle 4"/>
          <p:cNvSpPr>
            <a:spLocks noGrp="1" noChangeArrowheads="1"/>
          </p:cNvSpPr>
          <p:nvPr>
            <p:ph type="body" sz="half" idx="3"/>
          </p:nvPr>
        </p:nvSpPr>
        <p:spPr>
          <a:xfrm>
            <a:off x="6226991" y="872490"/>
            <a:ext cx="4343400" cy="4572000"/>
          </a:xfrm>
        </p:spPr>
        <p:txBody>
          <a:bodyPr>
            <a:noAutofit/>
          </a:bodyPr>
          <a:lstStyle/>
          <a:p>
            <a:pPr eaLnBrk="1" hangingPunct="1"/>
            <a:r>
              <a:rPr lang="en-US" sz="3200" dirty="0">
                <a:latin typeface="Arial" panose="020B0604020202020204" pitchFamily="34" charset="0"/>
                <a:ea typeface="MS PGothic" panose="020B0600070205080204" pitchFamily="48" charset="-128"/>
              </a:rPr>
              <a:t>The organic compound benzene, C</a:t>
            </a:r>
            <a:r>
              <a:rPr lang="en-US" sz="3200" baseline="-25000" dirty="0">
                <a:latin typeface="Arial" panose="020B0604020202020204" pitchFamily="34" charset="0"/>
                <a:ea typeface="MS PGothic" panose="020B0600070205080204" pitchFamily="48" charset="-128"/>
              </a:rPr>
              <a:t>6</a:t>
            </a:r>
            <a:r>
              <a:rPr lang="en-US" sz="3200" dirty="0">
                <a:latin typeface="Arial" panose="020B0604020202020204" pitchFamily="34" charset="0"/>
                <a:ea typeface="MS PGothic" panose="020B0600070205080204" pitchFamily="48" charset="-128"/>
              </a:rPr>
              <a:t>H</a:t>
            </a:r>
            <a:r>
              <a:rPr lang="en-US" sz="3200" baseline="-25000" dirty="0">
                <a:latin typeface="Arial" panose="020B0604020202020204" pitchFamily="34" charset="0"/>
                <a:ea typeface="MS PGothic" panose="020B0600070205080204" pitchFamily="48" charset="-128"/>
              </a:rPr>
              <a:t>6</a:t>
            </a:r>
            <a:r>
              <a:rPr lang="en-US" sz="3200" dirty="0">
                <a:latin typeface="Arial" panose="020B0604020202020204" pitchFamily="34" charset="0"/>
                <a:ea typeface="MS PGothic" panose="020B0600070205080204" pitchFamily="48" charset="-128"/>
              </a:rPr>
              <a:t>, has two resonance structures.</a:t>
            </a:r>
            <a:endParaRPr lang="en-US" sz="3200" dirty="0">
              <a:latin typeface="Arial" panose="020B0604020202020204" pitchFamily="34" charset="0"/>
              <a:ea typeface="MS PGothic" panose="020B0600070205080204" pitchFamily="48" charset="-128"/>
            </a:endParaRPr>
          </a:p>
          <a:p>
            <a:pPr eaLnBrk="1" hangingPunct="1"/>
            <a:r>
              <a:rPr lang="en-US" sz="3200" dirty="0">
                <a:latin typeface="Arial" panose="020B0604020202020204" pitchFamily="34" charset="0"/>
                <a:ea typeface="MS PGothic" panose="020B0600070205080204" pitchFamily="48" charset="-128"/>
              </a:rPr>
              <a:t>It is commonly depicted as a hexagon with a circle inside to signify the </a:t>
            </a:r>
            <a:r>
              <a:rPr lang="en-US" sz="3200" dirty="0">
                <a:solidFill>
                  <a:srgbClr val="FF0000"/>
                </a:solidFill>
                <a:latin typeface="Arial" panose="020B0604020202020204" pitchFamily="34" charset="0"/>
                <a:ea typeface="MS PGothic" panose="020B0600070205080204" pitchFamily="48" charset="-128"/>
              </a:rPr>
              <a:t>delocalized</a:t>
            </a:r>
            <a:r>
              <a:rPr lang="en-US" sz="3200" dirty="0">
                <a:latin typeface="Arial" panose="020B0604020202020204" pitchFamily="34" charset="0"/>
                <a:ea typeface="MS PGothic" panose="020B0600070205080204" pitchFamily="48" charset="-128"/>
              </a:rPr>
              <a:t> electrons in the ring.</a:t>
            </a:r>
            <a:endParaRPr lang="en-US" sz="3200" dirty="0">
              <a:latin typeface="Arial" panose="020B0604020202020204" pitchFamily="34" charset="0"/>
              <a:ea typeface="MS PGothic" panose="020B0600070205080204" pitchFamily="48" charset="-128"/>
            </a:endParaRPr>
          </a:p>
        </p:txBody>
      </p:sp>
      <p:sp>
        <p:nvSpPr>
          <p:cNvPr id="53251" name="TextBox 4"/>
          <p:cNvSpPr txBox="1">
            <a:spLocks noChangeArrowheads="1"/>
          </p:cNvSpPr>
          <p:nvPr/>
        </p:nvSpPr>
        <p:spPr bwMode="auto">
          <a:xfrm>
            <a:off x="2705100" y="5444490"/>
            <a:ext cx="6781800" cy="1198880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48" charset="-128"/>
                <a:cs typeface="MS PGothic" panose="020B0600070205080204" pitchFamily="48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48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48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48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48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48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48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48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48" charset="-128"/>
              </a:defRPr>
            </a:lvl9pPr>
          </a:lstStyle>
          <a:p>
            <a:r>
              <a:rPr lang="en-US" b="1" i="1" dirty="0">
                <a:solidFill>
                  <a:srgbClr val="FF0000"/>
                </a:solidFill>
              </a:rPr>
              <a:t>Localized</a:t>
            </a:r>
            <a:r>
              <a:rPr lang="en-US" i="1" dirty="0"/>
              <a:t> </a:t>
            </a:r>
            <a:r>
              <a:rPr lang="en-US" dirty="0"/>
              <a:t>electrons are specifically on one atom or shared between two atoms; </a:t>
            </a:r>
            <a:r>
              <a:rPr lang="en-US" i="1" dirty="0"/>
              <a:t>Delocalized </a:t>
            </a:r>
            <a:r>
              <a:rPr lang="en-US" dirty="0"/>
              <a:t>electrons are shared by multiple atoms.</a:t>
            </a:r>
            <a:endParaRPr lang="en-US" dirty="0"/>
          </a:p>
        </p:txBody>
      </p:sp>
      <p:pic>
        <p:nvPicPr>
          <p:cNvPr id="53252" name="Picture 6" descr="08_Pg322_UnFigure_1.jpg"/>
          <p:cNvPicPr>
            <a:picLocks noChangeAspect="1"/>
          </p:cNvPicPr>
          <p:nvPr/>
        </p:nvPicPr>
        <p:blipFill>
          <a:blip r:embed="rId1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2" b="4349"/>
          <a:stretch>
            <a:fillRect/>
          </a:stretch>
        </p:blipFill>
        <p:spPr bwMode="auto">
          <a:xfrm>
            <a:off x="1031875" y="1290320"/>
            <a:ext cx="4762500" cy="18675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3253" name="Picture 7" descr="08_Pg322_UnFigure_2.jpg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9048"/>
          <a:stretch>
            <a:fillRect/>
          </a:stretch>
        </p:blipFill>
        <p:spPr bwMode="auto">
          <a:xfrm>
            <a:off x="0" y="3621405"/>
            <a:ext cx="6465570" cy="12134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custDataLst>
      <p:tags r:id="rId3"/>
    </p:custDataLst>
  </p:cSld>
  <p:clrMapOvr>
    <a:masterClrMapping/>
  </p:clrMapOvr>
  <p:transition spd="slow" advTm="56874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32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en-US" sz="4000" b="1" dirty="0">
                <a:latin typeface="Arial" panose="020B0604020202020204" pitchFamily="34" charset="0"/>
                <a:ea typeface="MS PGothic" panose="020B0600070205080204" pitchFamily="48" charset="-128"/>
              </a:rPr>
              <a:t>Exceptions to the Octet Rule</a:t>
            </a:r>
            <a:endParaRPr lang="en-US" sz="4000" b="1" dirty="0">
              <a:latin typeface="Arial" panose="020B0604020202020204" pitchFamily="34" charset="0"/>
              <a:ea typeface="MS PGothic" panose="020B0600070205080204" pitchFamily="48" charset="-128"/>
            </a:endParaRPr>
          </a:p>
        </p:txBody>
      </p:sp>
      <p:sp>
        <p:nvSpPr>
          <p:cNvPr id="5529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524000" y="1473200"/>
            <a:ext cx="9144000" cy="5181600"/>
          </a:xfrm>
        </p:spPr>
        <p:txBody>
          <a:bodyPr>
            <a:noAutofit/>
          </a:bodyPr>
          <a:lstStyle/>
          <a:p>
            <a:pPr eaLnBrk="1" hangingPunct="1"/>
            <a:r>
              <a:rPr lang="en-US" sz="3200" dirty="0">
                <a:latin typeface="Arial" panose="020B0604020202020204" pitchFamily="34" charset="0"/>
                <a:ea typeface="MS PGothic" panose="020B0600070205080204" pitchFamily="48" charset="-128"/>
              </a:rPr>
              <a:t>There are </a:t>
            </a:r>
            <a:r>
              <a:rPr lang="en-US" sz="3200" dirty="0">
                <a:solidFill>
                  <a:srgbClr val="FF0000"/>
                </a:solidFill>
                <a:latin typeface="Arial" panose="020B0604020202020204" pitchFamily="34" charset="0"/>
                <a:ea typeface="MS PGothic" panose="020B0600070205080204" pitchFamily="48" charset="-128"/>
              </a:rPr>
              <a:t>4 types </a:t>
            </a:r>
            <a:r>
              <a:rPr lang="en-US" sz="3200" dirty="0">
                <a:latin typeface="Arial" panose="020B0604020202020204" pitchFamily="34" charset="0"/>
                <a:ea typeface="MS PGothic" panose="020B0600070205080204" pitchFamily="48" charset="-128"/>
              </a:rPr>
              <a:t>of molecules or polyatomic ions that do not follow the octet rule:</a:t>
            </a:r>
            <a:endParaRPr lang="en-US" sz="3200" dirty="0">
              <a:latin typeface="Arial" panose="020B0604020202020204" pitchFamily="34" charset="0"/>
              <a:ea typeface="MS PGothic" panose="020B0600070205080204" pitchFamily="48" charset="-128"/>
            </a:endParaRPr>
          </a:p>
          <a:p>
            <a:pPr lvl="1" eaLnBrk="1" hangingPunct="1">
              <a:buFont typeface="Lucida Grande" charset="0"/>
              <a:buChar char="–"/>
            </a:pPr>
            <a:r>
              <a:rPr lang="en-US" sz="3200" dirty="0">
                <a:latin typeface="Arial" panose="020B0604020202020204" pitchFamily="34" charset="0"/>
                <a:ea typeface="MS PGothic" panose="020B0600070205080204" pitchFamily="48" charset="-128"/>
              </a:rPr>
              <a:t>H atom needs only </a:t>
            </a:r>
            <a:r>
              <a:rPr lang="en-US" sz="3200" dirty="0">
                <a:solidFill>
                  <a:srgbClr val="FF0000"/>
                </a:solidFill>
                <a:latin typeface="Arial" panose="020B0604020202020204" pitchFamily="34" charset="0"/>
                <a:ea typeface="MS PGothic" panose="020B0600070205080204" pitchFamily="48" charset="-128"/>
              </a:rPr>
              <a:t>2</a:t>
            </a:r>
            <a:r>
              <a:rPr lang="en-US" sz="3200" dirty="0">
                <a:latin typeface="Arial" panose="020B0604020202020204" pitchFamily="34" charset="0"/>
                <a:ea typeface="MS PGothic" panose="020B0600070205080204" pitchFamily="48" charset="-128"/>
              </a:rPr>
              <a:t> electrons,</a:t>
            </a:r>
            <a:endParaRPr lang="en-US" sz="3200" dirty="0">
              <a:latin typeface="Arial" panose="020B0604020202020204" pitchFamily="34" charset="0"/>
              <a:ea typeface="MS PGothic" panose="020B0600070205080204" pitchFamily="48" charset="-128"/>
            </a:endParaRPr>
          </a:p>
          <a:p>
            <a:pPr lvl="1" eaLnBrk="1" hangingPunct="1">
              <a:buFont typeface="Lucida Grande" charset="0"/>
              <a:buChar char="–"/>
            </a:pPr>
            <a:r>
              <a:rPr lang="en-US" sz="3200" dirty="0">
                <a:latin typeface="Arial" panose="020B0604020202020204" pitchFamily="34" charset="0"/>
                <a:ea typeface="MS PGothic" panose="020B0600070205080204" pitchFamily="48" charset="-128"/>
              </a:rPr>
              <a:t>molecules or polyatomic ions with an </a:t>
            </a:r>
            <a:r>
              <a:rPr lang="en-US" sz="3200" dirty="0">
                <a:solidFill>
                  <a:srgbClr val="FF0000"/>
                </a:solidFill>
                <a:latin typeface="Arial" panose="020B0604020202020204" pitchFamily="34" charset="0"/>
                <a:ea typeface="MS PGothic" panose="020B0600070205080204" pitchFamily="48" charset="-128"/>
              </a:rPr>
              <a:t>odd</a:t>
            </a:r>
            <a:r>
              <a:rPr lang="en-US" sz="3200" dirty="0">
                <a:latin typeface="Arial" panose="020B0604020202020204" pitchFamily="34" charset="0"/>
                <a:ea typeface="MS PGothic" panose="020B0600070205080204" pitchFamily="48" charset="-128"/>
              </a:rPr>
              <a:t> number of electrons </a:t>
            </a:r>
            <a:endParaRPr lang="en-US" sz="3200" dirty="0">
              <a:latin typeface="Arial" panose="020B0604020202020204" pitchFamily="34" charset="0"/>
              <a:ea typeface="MS PGothic" panose="020B0600070205080204" pitchFamily="48" charset="-128"/>
            </a:endParaRPr>
          </a:p>
          <a:p>
            <a:pPr lvl="1" eaLnBrk="1" hangingPunct="1">
              <a:buFont typeface="Lucida Grande" charset="0"/>
              <a:buChar char="–"/>
            </a:pPr>
            <a:r>
              <a:rPr lang="en-US" sz="3200" dirty="0">
                <a:latin typeface="Arial" panose="020B0604020202020204" pitchFamily="34" charset="0"/>
                <a:ea typeface="MS PGothic" panose="020B0600070205080204" pitchFamily="48" charset="-128"/>
              </a:rPr>
              <a:t>molecules or polyatomic ions with less than an octet</a:t>
            </a:r>
            <a:endParaRPr lang="en-US" sz="3200" dirty="0">
              <a:latin typeface="Arial" panose="020B0604020202020204" pitchFamily="34" charset="0"/>
              <a:ea typeface="MS PGothic" panose="020B0600070205080204" pitchFamily="48" charset="-128"/>
            </a:endParaRPr>
          </a:p>
          <a:p>
            <a:pPr lvl="1" eaLnBrk="1" hangingPunct="1">
              <a:buFont typeface="Lucida Grande" charset="0"/>
              <a:buChar char="–"/>
            </a:pPr>
            <a:r>
              <a:rPr lang="en-US" sz="3200" dirty="0">
                <a:latin typeface="Arial" panose="020B0604020202020204" pitchFamily="34" charset="0"/>
                <a:ea typeface="MS PGothic" panose="020B0600070205080204" pitchFamily="48" charset="-128"/>
              </a:rPr>
              <a:t>Molecules or polyatomic ions with more than eight valence electrons (an expanded octet; </a:t>
            </a:r>
            <a:r>
              <a:rPr lang="en-US" sz="3200" dirty="0">
                <a:solidFill>
                  <a:srgbClr val="FF0000"/>
                </a:solidFill>
                <a:latin typeface="Arial" panose="020B0604020202020204" pitchFamily="34" charset="0"/>
                <a:ea typeface="MS PGothic" panose="020B0600070205080204" pitchFamily="48" charset="-128"/>
              </a:rPr>
              <a:t>3</a:t>
            </a:r>
            <a:r>
              <a:rPr lang="en-US" sz="3200" baseline="30000" dirty="0">
                <a:solidFill>
                  <a:srgbClr val="FF0000"/>
                </a:solidFill>
                <a:latin typeface="Arial" panose="020B0604020202020204" pitchFamily="34" charset="0"/>
                <a:ea typeface="MS PGothic" panose="020B0600070205080204" pitchFamily="48" charset="-128"/>
              </a:rPr>
              <a:t>rd</a:t>
            </a:r>
            <a:r>
              <a:rPr lang="en-US" sz="3200" dirty="0">
                <a:solidFill>
                  <a:srgbClr val="FF0000"/>
                </a:solidFill>
                <a:latin typeface="Arial" panose="020B0604020202020204" pitchFamily="34" charset="0"/>
                <a:ea typeface="MS PGothic" panose="020B0600070205080204" pitchFamily="48" charset="-128"/>
              </a:rPr>
              <a:t> and above periods because 3</a:t>
            </a:r>
            <a:r>
              <a:rPr lang="en-US" sz="3200" i="1" dirty="0">
                <a:solidFill>
                  <a:srgbClr val="FF0000"/>
                </a:solidFill>
                <a:latin typeface="Arial" panose="020B0604020202020204" pitchFamily="34" charset="0"/>
                <a:ea typeface="MS PGothic" panose="020B0600070205080204" pitchFamily="48" charset="-128"/>
              </a:rPr>
              <a:t>d</a:t>
            </a:r>
            <a:r>
              <a:rPr lang="en-US" sz="3200" dirty="0">
                <a:solidFill>
                  <a:srgbClr val="FF0000"/>
                </a:solidFill>
                <a:latin typeface="Arial" panose="020B0604020202020204" pitchFamily="34" charset="0"/>
                <a:ea typeface="MS PGothic" panose="020B0600070205080204" pitchFamily="48" charset="-128"/>
              </a:rPr>
              <a:t> orbitals are energetically accessible</a:t>
            </a:r>
            <a:r>
              <a:rPr lang="en-US" sz="3200" dirty="0">
                <a:latin typeface="Arial" panose="020B0604020202020204" pitchFamily="34" charset="0"/>
                <a:ea typeface="MS PGothic" panose="020B0600070205080204" pitchFamily="48" charset="-128"/>
              </a:rPr>
              <a:t>).</a:t>
            </a:r>
            <a:endParaRPr lang="en-US" sz="3200" dirty="0">
              <a:latin typeface="Arial" panose="020B0604020202020204" pitchFamily="34" charset="0"/>
              <a:ea typeface="MS PGothic" panose="020B0600070205080204" pitchFamily="48" charset="-128"/>
            </a:endParaRPr>
          </a:p>
        </p:txBody>
      </p:sp>
    </p:spTree>
  </p:cSld>
  <p:clrMapOvr>
    <a:masterClrMapping/>
  </p:clrMapOvr>
  <p:transition spd="slow" advTm="57315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en-US" sz="4000" b="1" dirty="0">
                <a:latin typeface="Arial" panose="020B0604020202020204" pitchFamily="34" charset="0"/>
                <a:ea typeface="MS PGothic" panose="020B0600070205080204" pitchFamily="48" charset="-128"/>
              </a:rPr>
              <a:t>Odd Number of Electrons</a:t>
            </a:r>
            <a:endParaRPr lang="en-US" sz="4000" b="1" dirty="0">
              <a:latin typeface="Arial" panose="020B0604020202020204" pitchFamily="34" charset="0"/>
              <a:ea typeface="MS PGothic" panose="020B0600070205080204" pitchFamily="48" charset="-128"/>
            </a:endParaRPr>
          </a:p>
        </p:txBody>
      </p:sp>
      <p:sp>
        <p:nvSpPr>
          <p:cNvPr id="57346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1714500" y="1674495"/>
            <a:ext cx="8763000" cy="1981200"/>
          </a:xfrm>
        </p:spPr>
        <p:txBody>
          <a:bodyPr>
            <a:noAutofit/>
          </a:bodyPr>
          <a:lstStyle/>
          <a:p>
            <a:pPr eaLnBrk="1" hangingPunct="1">
              <a:buFontTx/>
              <a:buNone/>
            </a:pPr>
            <a:r>
              <a:rPr lang="en-US" sz="3600" dirty="0">
                <a:latin typeface="Arial" panose="020B0604020202020204" pitchFamily="34" charset="0"/>
                <a:ea typeface="MS PGothic" panose="020B0600070205080204" pitchFamily="48" charset="-128"/>
              </a:rPr>
              <a:t>	Though relatively rare and usually quite unstable and reactive, there are ions and molecules with an odd number of electrons e.g. ClO</a:t>
            </a:r>
            <a:r>
              <a:rPr lang="en-US" sz="3600" baseline="-25000" dirty="0">
                <a:latin typeface="Arial" panose="020B0604020202020204" pitchFamily="34" charset="0"/>
                <a:ea typeface="MS PGothic" panose="020B0600070205080204" pitchFamily="48" charset="-128"/>
              </a:rPr>
              <a:t>2</a:t>
            </a:r>
            <a:r>
              <a:rPr lang="en-US" sz="3600" dirty="0">
                <a:latin typeface="Arial" panose="020B0604020202020204" pitchFamily="34" charset="0"/>
                <a:ea typeface="MS PGothic" panose="020B0600070205080204" pitchFamily="48" charset="-128"/>
              </a:rPr>
              <a:t>, NO, NO</a:t>
            </a:r>
            <a:r>
              <a:rPr lang="en-US" sz="3600" baseline="-25000" dirty="0">
                <a:latin typeface="Arial" panose="020B0604020202020204" pitchFamily="34" charset="0"/>
                <a:ea typeface="MS PGothic" panose="020B0600070205080204" pitchFamily="48" charset="-128"/>
              </a:rPr>
              <a:t>2</a:t>
            </a:r>
            <a:r>
              <a:rPr lang="en-US" sz="3600" dirty="0">
                <a:latin typeface="Arial" panose="020B0604020202020204" pitchFamily="34" charset="0"/>
                <a:ea typeface="MS PGothic" panose="020B0600070205080204" pitchFamily="48" charset="-128"/>
              </a:rPr>
              <a:t> and O</a:t>
            </a:r>
            <a:r>
              <a:rPr lang="en-US" sz="3600" baseline="-25000" dirty="0">
                <a:latin typeface="Arial" panose="020B0604020202020204" pitchFamily="34" charset="0"/>
                <a:ea typeface="MS PGothic" panose="020B0600070205080204" pitchFamily="48" charset="-128"/>
              </a:rPr>
              <a:t>2</a:t>
            </a:r>
            <a:r>
              <a:rPr lang="en-US" sz="3600" dirty="0">
                <a:latin typeface="Arial" panose="020B0604020202020204" pitchFamily="34" charset="0"/>
                <a:ea typeface="MS PGothic" panose="020B0600070205080204" pitchFamily="48" charset="-128"/>
              </a:rPr>
              <a:t>-</a:t>
            </a:r>
            <a:endParaRPr lang="en-US" sz="3600" dirty="0">
              <a:latin typeface="Arial" panose="020B0604020202020204" pitchFamily="34" charset="0"/>
              <a:ea typeface="MS PGothic" panose="020B0600070205080204" pitchFamily="48" charset="-128"/>
            </a:endParaRPr>
          </a:p>
        </p:txBody>
      </p:sp>
      <p:pic>
        <p:nvPicPr>
          <p:cNvPr id="57347" name="Picture 4" descr="08_Pg323_UnFigure_1.jpg"/>
          <p:cNvPicPr>
            <a:picLocks noChangeAspect="1"/>
          </p:cNvPicPr>
          <p:nvPr/>
        </p:nvPicPr>
        <p:blipFill>
          <a:blip r:embed="rId1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1266"/>
          <a:stretch>
            <a:fillRect/>
          </a:stretch>
        </p:blipFill>
        <p:spPr bwMode="auto">
          <a:xfrm>
            <a:off x="1449705" y="4181475"/>
            <a:ext cx="9678035" cy="13735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 advTm="42556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3" name="Rectangle 2"/>
          <p:cNvSpPr>
            <a:spLocks noGrp="1" noChangeArrowheads="1"/>
          </p:cNvSpPr>
          <p:nvPr>
            <p:ph type="title"/>
          </p:nvPr>
        </p:nvSpPr>
        <p:spPr>
          <a:xfrm>
            <a:off x="1868805" y="-212090"/>
            <a:ext cx="8799195" cy="1143000"/>
          </a:xfrm>
        </p:spPr>
        <p:txBody>
          <a:bodyPr/>
          <a:lstStyle/>
          <a:p>
            <a:pPr algn="ctr" eaLnBrk="1" hangingPunct="1"/>
            <a:r>
              <a:rPr lang="en-US" sz="4000" b="1" dirty="0">
                <a:latin typeface="Arial" panose="020B0604020202020204" pitchFamily="34" charset="0"/>
                <a:ea typeface="MS PGothic" panose="020B0600070205080204" pitchFamily="48" charset="-128"/>
              </a:rPr>
              <a:t>Fewer Than Eight Electrons</a:t>
            </a:r>
            <a:endParaRPr lang="en-US" sz="4000" b="1" dirty="0">
              <a:latin typeface="Arial" panose="020B0604020202020204" pitchFamily="34" charset="0"/>
              <a:ea typeface="MS PGothic" panose="020B0600070205080204" pitchFamily="48" charset="-128"/>
            </a:endParaRPr>
          </a:p>
        </p:txBody>
      </p:sp>
      <p:sp>
        <p:nvSpPr>
          <p:cNvPr id="59394" name="Rectangle 4"/>
          <p:cNvSpPr>
            <a:spLocks noGrp="1" noChangeArrowheads="1"/>
          </p:cNvSpPr>
          <p:nvPr>
            <p:ph type="body" sz="half" idx="2"/>
          </p:nvPr>
        </p:nvSpPr>
        <p:spPr>
          <a:xfrm>
            <a:off x="1790700" y="564515"/>
            <a:ext cx="8610600" cy="3657600"/>
          </a:xfrm>
        </p:spPr>
        <p:txBody>
          <a:bodyPr>
            <a:noAutofit/>
          </a:bodyPr>
          <a:lstStyle/>
          <a:p>
            <a:pPr eaLnBrk="1" hangingPunct="1"/>
            <a:r>
              <a:rPr lang="en-US" dirty="0">
                <a:latin typeface="Arial" panose="020B0604020202020204" pitchFamily="34" charset="0"/>
                <a:ea typeface="MS PGothic" panose="020B0600070205080204" pitchFamily="48" charset="-128"/>
              </a:rPr>
              <a:t>Elements in the second period </a:t>
            </a:r>
            <a:r>
              <a:rPr lang="en-US" i="1" dirty="0">
                <a:latin typeface="Arial" panose="020B0604020202020204" pitchFamily="34" charset="0"/>
                <a:ea typeface="MS PGothic" panose="020B0600070205080204" pitchFamily="48" charset="-128"/>
              </a:rPr>
              <a:t>before </a:t>
            </a:r>
            <a:r>
              <a:rPr lang="en-US" dirty="0">
                <a:latin typeface="Arial" panose="020B0604020202020204" pitchFamily="34" charset="0"/>
                <a:ea typeface="MS PGothic" panose="020B0600070205080204" pitchFamily="48" charset="-128"/>
              </a:rPr>
              <a:t>carbon can make stable compounds with fewer than eight electrons.</a:t>
            </a:r>
            <a:endParaRPr lang="en-US" dirty="0">
              <a:latin typeface="Arial" panose="020B0604020202020204" pitchFamily="34" charset="0"/>
              <a:ea typeface="MS PGothic" panose="020B0600070205080204" pitchFamily="48" charset="-128"/>
            </a:endParaRPr>
          </a:p>
          <a:p>
            <a:pPr eaLnBrk="1" hangingPunct="1">
              <a:lnSpc>
                <a:spcPts val="1400"/>
              </a:lnSpc>
            </a:pPr>
            <a:endParaRPr lang="en-US" dirty="0">
              <a:latin typeface="Arial" panose="020B0604020202020204" pitchFamily="34" charset="0"/>
              <a:ea typeface="MS PGothic" panose="020B0600070205080204" pitchFamily="48" charset="-128"/>
            </a:endParaRPr>
          </a:p>
          <a:p>
            <a:pPr eaLnBrk="1" hangingPunct="1"/>
            <a:r>
              <a:rPr lang="en-US" dirty="0">
                <a:latin typeface="Arial" panose="020B0604020202020204" pitchFamily="34" charset="0"/>
                <a:ea typeface="MS PGothic" panose="020B0600070205080204" pitchFamily="48" charset="-128"/>
              </a:rPr>
              <a:t>Consider BF</a:t>
            </a:r>
            <a:r>
              <a:rPr lang="en-US" baseline="-25000" dirty="0">
                <a:latin typeface="Arial" panose="020B0604020202020204" pitchFamily="34" charset="0"/>
                <a:ea typeface="MS PGothic" panose="020B0600070205080204" pitchFamily="48" charset="-128"/>
              </a:rPr>
              <a:t>3</a:t>
            </a:r>
            <a:r>
              <a:rPr lang="en-US" dirty="0">
                <a:latin typeface="Arial" panose="020B0604020202020204" pitchFamily="34" charset="0"/>
                <a:ea typeface="MS PGothic" panose="020B0600070205080204" pitchFamily="48" charset="-128"/>
              </a:rPr>
              <a:t>:</a:t>
            </a:r>
            <a:endParaRPr lang="en-US" dirty="0">
              <a:latin typeface="Arial" panose="020B0604020202020204" pitchFamily="34" charset="0"/>
              <a:ea typeface="MS PGothic" panose="020B0600070205080204" pitchFamily="48" charset="-128"/>
            </a:endParaRPr>
          </a:p>
          <a:p>
            <a:pPr lvl="1" eaLnBrk="1" hangingPunct="1">
              <a:buFont typeface="Lucida Grande" charset="0"/>
              <a:buChar char="–"/>
            </a:pPr>
            <a:r>
              <a:rPr lang="en-US" sz="2800" dirty="0">
                <a:latin typeface="Arial" panose="020B0604020202020204" pitchFamily="34" charset="0"/>
                <a:ea typeface="MS PGothic" panose="020B0600070205080204" pitchFamily="48" charset="-128"/>
              </a:rPr>
              <a:t>Giving boron a filled octet places a </a:t>
            </a:r>
            <a:r>
              <a:rPr lang="en-US" sz="2800" i="1" dirty="0">
                <a:latin typeface="Arial" panose="020B0604020202020204" pitchFamily="34" charset="0"/>
                <a:ea typeface="MS PGothic" panose="020B0600070205080204" pitchFamily="48" charset="-128"/>
              </a:rPr>
              <a:t>negative</a:t>
            </a:r>
            <a:r>
              <a:rPr lang="en-US" sz="2800" dirty="0">
                <a:latin typeface="Arial" panose="020B0604020202020204" pitchFamily="34" charset="0"/>
                <a:ea typeface="MS PGothic" panose="020B0600070205080204" pitchFamily="48" charset="-128"/>
              </a:rPr>
              <a:t> charge on the boron and a </a:t>
            </a:r>
            <a:r>
              <a:rPr lang="en-US" sz="2800" i="1" dirty="0">
                <a:latin typeface="Arial" panose="020B0604020202020204" pitchFamily="34" charset="0"/>
                <a:ea typeface="MS PGothic" panose="020B0600070205080204" pitchFamily="48" charset="-128"/>
              </a:rPr>
              <a:t>positive</a:t>
            </a:r>
            <a:r>
              <a:rPr lang="en-US" sz="2800" dirty="0">
                <a:latin typeface="Arial" panose="020B0604020202020204" pitchFamily="34" charset="0"/>
                <a:ea typeface="MS PGothic" panose="020B0600070205080204" pitchFamily="48" charset="-128"/>
              </a:rPr>
              <a:t> charge on fluorine.</a:t>
            </a:r>
            <a:endParaRPr lang="en-US" sz="2800" dirty="0">
              <a:latin typeface="Arial" panose="020B0604020202020204" pitchFamily="34" charset="0"/>
              <a:ea typeface="MS PGothic" panose="020B0600070205080204" pitchFamily="48" charset="-128"/>
            </a:endParaRPr>
          </a:p>
          <a:p>
            <a:pPr lvl="1" eaLnBrk="1" hangingPunct="1">
              <a:buFont typeface="Lucida Grande" charset="0"/>
              <a:buChar char="–"/>
            </a:pPr>
            <a:r>
              <a:rPr lang="en-US" sz="2800" dirty="0">
                <a:latin typeface="Arial" panose="020B0604020202020204" pitchFamily="34" charset="0"/>
                <a:ea typeface="MS PGothic" panose="020B0600070205080204" pitchFamily="48" charset="-128"/>
              </a:rPr>
              <a:t>This would not be an accurate picture of the distribution of electrons in BF</a:t>
            </a:r>
            <a:r>
              <a:rPr lang="en-US" sz="2800" baseline="-25000" dirty="0">
                <a:latin typeface="Arial" panose="020B0604020202020204" pitchFamily="34" charset="0"/>
                <a:ea typeface="MS PGothic" panose="020B0600070205080204" pitchFamily="48" charset="-128"/>
              </a:rPr>
              <a:t>3</a:t>
            </a:r>
            <a:r>
              <a:rPr lang="en-US" sz="2800" dirty="0">
                <a:latin typeface="Arial" panose="020B0604020202020204" pitchFamily="34" charset="0"/>
                <a:ea typeface="MS PGothic" panose="020B0600070205080204" pitchFamily="48" charset="-128"/>
              </a:rPr>
              <a:t>.</a:t>
            </a:r>
            <a:endParaRPr lang="en-US" sz="2800" dirty="0">
              <a:latin typeface="Arial" panose="020B0604020202020204" pitchFamily="34" charset="0"/>
              <a:ea typeface="MS PGothic" panose="020B0600070205080204" pitchFamily="48" charset="-128"/>
            </a:endParaRPr>
          </a:p>
        </p:txBody>
      </p:sp>
      <p:pic>
        <p:nvPicPr>
          <p:cNvPr id="59395" name="Picture 5" descr="08_Pg323_UnFigure_4.jpg"/>
          <p:cNvPicPr>
            <a:picLocks noChangeAspect="1"/>
          </p:cNvPicPr>
          <p:nvPr/>
        </p:nvPicPr>
        <p:blipFill>
          <a:blip r:embed="rId1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602"/>
          <a:stretch>
            <a:fillRect/>
          </a:stretch>
        </p:blipFill>
        <p:spPr bwMode="auto">
          <a:xfrm>
            <a:off x="1868805" y="4714875"/>
            <a:ext cx="8216265" cy="2143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4968875" y="5288816"/>
            <a:ext cx="347980" cy="3371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FF0000"/>
                </a:solidFill>
              </a:rPr>
              <a:t>-1</a:t>
            </a:r>
            <a:endParaRPr lang="en-US" sz="1600" dirty="0">
              <a:solidFill>
                <a:srgbClr val="FF0000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035395" y="5541645"/>
            <a:ext cx="285750" cy="3371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FF0000"/>
                </a:solidFill>
              </a:rPr>
              <a:t>0</a:t>
            </a:r>
            <a:endParaRPr lang="en-US" sz="1600" dirty="0">
              <a:solidFill>
                <a:srgbClr val="FF0000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000074" y="5988318"/>
            <a:ext cx="285750" cy="3371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FF0000"/>
                </a:solidFill>
              </a:rPr>
              <a:t>0</a:t>
            </a:r>
            <a:endParaRPr lang="en-US" sz="1600" dirty="0">
              <a:solidFill>
                <a:srgbClr val="FF0000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188268" y="5288816"/>
            <a:ext cx="347980" cy="3371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FF0000"/>
                </a:solidFill>
              </a:rPr>
              <a:t>-1</a:t>
            </a:r>
            <a:endParaRPr lang="en-US" sz="1600" dirty="0">
              <a:solidFill>
                <a:srgbClr val="FF0000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685250" y="4951631"/>
            <a:ext cx="285750" cy="3371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FF0000"/>
                </a:solidFill>
              </a:rPr>
              <a:t>0</a:t>
            </a:r>
            <a:endParaRPr lang="en-US" sz="1600" dirty="0">
              <a:solidFill>
                <a:srgbClr val="FF0000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250400" y="5988050"/>
            <a:ext cx="285750" cy="3371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FF0000"/>
                </a:solidFill>
              </a:rPr>
              <a:t>0</a:t>
            </a:r>
            <a:endParaRPr lang="en-US" sz="1600" dirty="0">
              <a:solidFill>
                <a:srgbClr val="FF0000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8401020" y="5541645"/>
            <a:ext cx="285750" cy="3371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FF0000"/>
                </a:solidFill>
              </a:rPr>
              <a:t>0</a:t>
            </a:r>
            <a:endParaRPr lang="en-US" sz="1600" dirty="0">
              <a:solidFill>
                <a:srgbClr val="FF0000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8865235" y="4951631"/>
            <a:ext cx="285750" cy="3371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FF0000"/>
                </a:solidFill>
              </a:rPr>
              <a:t>0</a:t>
            </a:r>
            <a:endParaRPr lang="en-US" sz="1600" dirty="0">
              <a:solidFill>
                <a:srgbClr val="FF0000"/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4320936" y="4951730"/>
            <a:ext cx="386715" cy="3371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FF0000"/>
                </a:solidFill>
              </a:rPr>
              <a:t>+1</a:t>
            </a:r>
            <a:endParaRPr lang="en-US" sz="1600" dirty="0">
              <a:solidFill>
                <a:srgbClr val="FF0000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6298733" y="5541810"/>
            <a:ext cx="386715" cy="3371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FF0000"/>
                </a:solidFill>
              </a:rPr>
              <a:t>+1</a:t>
            </a:r>
            <a:endParaRPr lang="en-US" sz="1600" dirty="0">
              <a:solidFill>
                <a:srgbClr val="FF0000"/>
              </a:solidFill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9384100" y="5779770"/>
            <a:ext cx="386715" cy="3371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FF0000"/>
                </a:solidFill>
              </a:rPr>
              <a:t>+1</a:t>
            </a:r>
            <a:endParaRPr lang="en-US" sz="1600" dirty="0">
              <a:solidFill>
                <a:srgbClr val="FF0000"/>
              </a:solidFill>
            </a:endParaRPr>
          </a:p>
        </p:txBody>
      </p:sp>
      <p:sp>
        <p:nvSpPr>
          <p:cNvPr id="4" name="TextBox 10"/>
          <p:cNvSpPr txBox="1"/>
          <p:nvPr/>
        </p:nvSpPr>
        <p:spPr>
          <a:xfrm>
            <a:off x="9422833" y="5288816"/>
            <a:ext cx="347980" cy="33718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sz="1600" dirty="0">
                <a:solidFill>
                  <a:srgbClr val="FF0000"/>
                </a:solidFill>
              </a:rPr>
              <a:t>-1</a:t>
            </a:r>
            <a:endParaRPr lang="en-US" sz="1600" dirty="0">
              <a:solidFill>
                <a:srgbClr val="FF0000"/>
              </a:solidFill>
            </a:endParaRPr>
          </a:p>
        </p:txBody>
      </p:sp>
    </p:spTree>
    <p:custDataLst>
      <p:tags r:id="rId2"/>
    </p:custDataLst>
  </p:cSld>
  <p:clrMapOvr>
    <a:masterClrMapping/>
  </p:clrMapOvr>
  <p:transition spd="slow" advTm="8261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8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  <p:bldP spid="18" grpId="0"/>
      <p:bldP spid="4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1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12192000" cy="1143000"/>
          </a:xfrm>
        </p:spPr>
        <p:txBody>
          <a:bodyPr/>
          <a:lstStyle/>
          <a:p>
            <a:pPr algn="ctr" eaLnBrk="1" hangingPunct="1"/>
            <a:r>
              <a:rPr lang="en-US" sz="4000" b="1" dirty="0">
                <a:latin typeface="Arial" panose="020B0604020202020204" pitchFamily="34" charset="0"/>
                <a:ea typeface="MS PGothic" panose="020B0600070205080204" pitchFamily="48" charset="-128"/>
              </a:rPr>
              <a:t>Fewer Than Eight Electrons</a:t>
            </a:r>
            <a:endParaRPr lang="en-US" sz="4000" b="1" dirty="0">
              <a:latin typeface="Arial" panose="020B0604020202020204" pitchFamily="34" charset="0"/>
              <a:ea typeface="MS PGothic" panose="020B0600070205080204" pitchFamily="48" charset="-128"/>
            </a:endParaRPr>
          </a:p>
        </p:txBody>
      </p:sp>
      <p:sp>
        <p:nvSpPr>
          <p:cNvPr id="61442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991235" y="1066800"/>
            <a:ext cx="10603865" cy="2438400"/>
          </a:xfrm>
        </p:spPr>
        <p:txBody>
          <a:bodyPr>
            <a:noAutofit/>
          </a:bodyPr>
          <a:lstStyle/>
          <a:p>
            <a:pPr eaLnBrk="1" hangingPunct="1">
              <a:buFontTx/>
              <a:buNone/>
            </a:pPr>
            <a:r>
              <a:rPr lang="en-US" sz="3600" dirty="0">
                <a:latin typeface="Arial" panose="020B0604020202020204" pitchFamily="34" charset="0"/>
                <a:ea typeface="MS PGothic" panose="020B0600070205080204" pitchFamily="48" charset="-128"/>
              </a:rPr>
              <a:t>   The lesson is: If filling the octet of the central atom results in a negative charge on the central atom and a positive charge on the more electronegative outer atom, don’t fill the octet of the central atom.</a:t>
            </a:r>
            <a:endParaRPr lang="en-US" sz="3600" dirty="0">
              <a:latin typeface="Arial" panose="020B0604020202020204" pitchFamily="34" charset="0"/>
              <a:ea typeface="MS PGothic" panose="020B0600070205080204" pitchFamily="48" charset="-128"/>
            </a:endParaRPr>
          </a:p>
        </p:txBody>
      </p:sp>
      <p:pic>
        <p:nvPicPr>
          <p:cNvPr id="61443" name="Picture 4" descr="08_Pg323_UnFigure_2.jpg"/>
          <p:cNvPicPr>
            <a:picLocks noChangeAspect="1"/>
          </p:cNvPicPr>
          <p:nvPr/>
        </p:nvPicPr>
        <p:blipFill>
          <a:blip r:embed="rId1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2" b="2380"/>
          <a:stretch>
            <a:fillRect/>
          </a:stretch>
        </p:blipFill>
        <p:spPr bwMode="auto">
          <a:xfrm>
            <a:off x="4832430" y="3758565"/>
            <a:ext cx="2921000" cy="2603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 advTm="30384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89" name="Title 4"/>
          <p:cNvSpPr>
            <a:spLocks noGrp="1"/>
          </p:cNvSpPr>
          <p:nvPr>
            <p:ph type="title"/>
          </p:nvPr>
        </p:nvSpPr>
        <p:spPr>
          <a:xfrm>
            <a:off x="1487251" y="0"/>
            <a:ext cx="9144000" cy="1143000"/>
          </a:xfrm>
        </p:spPr>
        <p:txBody>
          <a:bodyPr/>
          <a:lstStyle/>
          <a:p>
            <a:pPr algn="ctr"/>
            <a:r>
              <a:rPr lang="en-US" sz="4000" b="1" dirty="0">
                <a:latin typeface="Arial" panose="020B0604020202020204" pitchFamily="34" charset="0"/>
                <a:ea typeface="MS PGothic" panose="020B0600070205080204" pitchFamily="48" charset="-128"/>
              </a:rPr>
              <a:t>More Than Eight Electrons</a:t>
            </a:r>
            <a:endParaRPr lang="en-US" sz="4000" b="1" dirty="0">
              <a:latin typeface="Arial" panose="020B0604020202020204" pitchFamily="34" charset="0"/>
              <a:ea typeface="MS PGothic" panose="020B0600070205080204" pitchFamily="48" charset="-128"/>
            </a:endParaRP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1639570" y="991235"/>
            <a:ext cx="8839200" cy="2872740"/>
          </a:xfrm>
        </p:spPr>
        <p:txBody>
          <a:bodyPr>
            <a:noAutofit/>
          </a:bodyPr>
          <a:lstStyle/>
          <a:p>
            <a:pPr>
              <a:defRPr/>
            </a:pPr>
            <a:r>
              <a:rPr lang="en-US" sz="3600" dirty="0">
                <a:cs typeface="+mn-cs"/>
              </a:rPr>
              <a:t>When an element is in </a:t>
            </a:r>
            <a:r>
              <a:rPr lang="en-US" sz="3600" dirty="0">
                <a:solidFill>
                  <a:srgbClr val="FF0000"/>
                </a:solidFill>
                <a:cs typeface="+mn-cs"/>
              </a:rPr>
              <a:t>period 3 or below </a:t>
            </a:r>
            <a:r>
              <a:rPr lang="en-US" sz="3600" dirty="0">
                <a:cs typeface="+mn-cs"/>
              </a:rPr>
              <a:t>in the periodic table (e.g., </a:t>
            </a:r>
            <a:r>
              <a:rPr lang="en-US" sz="3600" dirty="0">
                <a:solidFill>
                  <a:srgbClr val="FF0000"/>
                </a:solidFill>
                <a:cs typeface="+mn-cs"/>
              </a:rPr>
              <a:t>periods 3, 4, 5, etc</a:t>
            </a:r>
            <a:r>
              <a:rPr lang="en-US" sz="3600" dirty="0">
                <a:cs typeface="+mn-cs"/>
              </a:rPr>
              <a:t>.), it can use </a:t>
            </a:r>
            <a:r>
              <a:rPr lang="en-US" sz="3600" i="1" dirty="0">
                <a:cs typeface="+mn-cs"/>
              </a:rPr>
              <a:t>d</a:t>
            </a:r>
            <a:r>
              <a:rPr lang="en-US" sz="3600" dirty="0">
                <a:cs typeface="+mn-cs"/>
              </a:rPr>
              <a:t>-orbitals to make </a:t>
            </a:r>
            <a:r>
              <a:rPr lang="en-US" sz="3600" i="1" dirty="0">
                <a:cs typeface="+mn-cs"/>
              </a:rPr>
              <a:t>more</a:t>
            </a:r>
            <a:r>
              <a:rPr lang="en-US" sz="3600" dirty="0">
                <a:cs typeface="+mn-cs"/>
              </a:rPr>
              <a:t> than four bonds.</a:t>
            </a:r>
            <a:endParaRPr lang="en-US" sz="3600" dirty="0">
              <a:cs typeface="+mn-cs"/>
            </a:endParaRPr>
          </a:p>
          <a:p>
            <a:pPr>
              <a:defRPr/>
            </a:pPr>
            <a:r>
              <a:rPr lang="en-US" sz="3600" dirty="0">
                <a:cs typeface="+mn-cs"/>
              </a:rPr>
              <a:t>Examples: PF</a:t>
            </a:r>
            <a:r>
              <a:rPr lang="en-US" sz="3600" baseline="-25000" dirty="0">
                <a:cs typeface="+mn-cs"/>
              </a:rPr>
              <a:t>5</a:t>
            </a:r>
            <a:r>
              <a:rPr lang="en-US" sz="3600" dirty="0">
                <a:cs typeface="+mn-cs"/>
              </a:rPr>
              <a:t> and PO</a:t>
            </a:r>
            <a:r>
              <a:rPr lang="en-US" sz="3600" baseline="-25000" dirty="0">
                <a:cs typeface="+mn-cs"/>
              </a:rPr>
              <a:t>4</a:t>
            </a:r>
            <a:r>
              <a:rPr lang="en-US" sz="3600" baseline="30000" dirty="0">
                <a:cs typeface="+mn-cs"/>
              </a:rPr>
              <a:t>3-</a:t>
            </a:r>
            <a:endParaRPr lang="en-US" sz="3600" baseline="30000" dirty="0">
              <a:cs typeface="+mn-cs"/>
            </a:endParaRPr>
          </a:p>
        </p:txBody>
      </p:sp>
      <p:pic>
        <p:nvPicPr>
          <p:cNvPr id="63491" name="Picture 6" descr="08_Pg324_UnFigure_2.jpg"/>
          <p:cNvPicPr>
            <a:picLocks noChangeAspect="1"/>
          </p:cNvPicPr>
          <p:nvPr/>
        </p:nvPicPr>
        <p:blipFill>
          <a:blip r:embed="rId1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145"/>
          <a:stretch>
            <a:fillRect/>
          </a:stretch>
        </p:blipFill>
        <p:spPr bwMode="auto">
          <a:xfrm>
            <a:off x="1487170" y="4168140"/>
            <a:ext cx="1897380" cy="2172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3492" name="Picture 7" descr="08_Pg324_UnFigure_3.jpg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257"/>
          <a:stretch>
            <a:fillRect/>
          </a:stretch>
        </p:blipFill>
        <p:spPr bwMode="auto">
          <a:xfrm>
            <a:off x="4018601" y="4302125"/>
            <a:ext cx="1631950" cy="1905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3493" name="Picture 8" descr="08_Pg325_UnFigure_2.jpg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893"/>
          <a:stretch>
            <a:fillRect/>
          </a:stretch>
        </p:blipFill>
        <p:spPr bwMode="auto">
          <a:xfrm>
            <a:off x="6018055" y="4302125"/>
            <a:ext cx="4967373" cy="16898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custDataLst>
      <p:tags r:id="rId4"/>
    </p:custDataLst>
  </p:cSld>
  <p:clrMapOvr>
    <a:masterClrMapping/>
  </p:clrMapOvr>
  <p:transition spd="slow" advTm="103596"/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en-US" sz="4000" b="1" dirty="0">
                <a:latin typeface="Arial" panose="020B0604020202020204" pitchFamily="34" charset="0"/>
                <a:ea typeface="MS PGothic" panose="020B0600070205080204" pitchFamily="48" charset="-128"/>
              </a:rPr>
              <a:t>Covalent Bond Strength</a:t>
            </a:r>
            <a:endParaRPr lang="en-US" sz="4000" b="1" dirty="0">
              <a:latin typeface="Arial" panose="020B0604020202020204" pitchFamily="34" charset="0"/>
              <a:ea typeface="MS PGothic" panose="020B0600070205080204" pitchFamily="48" charset="-128"/>
            </a:endParaRPr>
          </a:p>
        </p:txBody>
      </p:sp>
      <p:sp>
        <p:nvSpPr>
          <p:cNvPr id="64514" name="Rectangle 4"/>
          <p:cNvSpPr>
            <a:spLocks noGrp="1" noChangeArrowheads="1"/>
          </p:cNvSpPr>
          <p:nvPr>
            <p:ph type="body" sz="half" idx="2"/>
          </p:nvPr>
        </p:nvSpPr>
        <p:spPr>
          <a:xfrm>
            <a:off x="1625600" y="1219200"/>
            <a:ext cx="9193530" cy="4419600"/>
          </a:xfrm>
        </p:spPr>
        <p:txBody>
          <a:bodyPr>
            <a:noAutofit/>
          </a:bodyPr>
          <a:lstStyle/>
          <a:p>
            <a:pPr eaLnBrk="1" hangingPunct="1">
              <a:defRPr/>
            </a:pPr>
            <a:r>
              <a:rPr lang="en-US" sz="3600" dirty="0">
                <a:latin typeface="Arial" panose="020B0604020202020204" pitchFamily="34" charset="0"/>
                <a:ea typeface="MS PGothic" panose="020B0600070205080204" pitchFamily="48" charset="-128"/>
              </a:rPr>
              <a:t>The strength of a bond is measured by how much energy is required to break the bond.</a:t>
            </a:r>
            <a:endParaRPr lang="en-US" sz="3600" dirty="0">
              <a:latin typeface="Arial" panose="020B0604020202020204" pitchFamily="34" charset="0"/>
              <a:ea typeface="MS PGothic" panose="020B0600070205080204" pitchFamily="48" charset="-128"/>
            </a:endParaRPr>
          </a:p>
          <a:p>
            <a:pPr eaLnBrk="1" hangingPunct="1">
              <a:defRPr/>
            </a:pPr>
            <a:r>
              <a:rPr lang="en-US" sz="3600" dirty="0">
                <a:latin typeface="Arial" panose="020B0604020202020204" pitchFamily="34" charset="0"/>
                <a:ea typeface="MS PGothic" panose="020B0600070205080204" pitchFamily="48" charset="-128"/>
              </a:rPr>
              <a:t>This is called the </a:t>
            </a:r>
            <a:r>
              <a:rPr lang="en-US" sz="3600" b="1" dirty="0">
                <a:latin typeface="Arial" panose="020B0604020202020204" pitchFamily="34" charset="0"/>
                <a:ea typeface="MS PGothic" panose="020B0600070205080204" pitchFamily="48" charset="-128"/>
              </a:rPr>
              <a:t>bond</a:t>
            </a:r>
            <a:r>
              <a:rPr lang="en-US" sz="3600" dirty="0">
                <a:solidFill>
                  <a:srgbClr val="001964"/>
                </a:solidFill>
                <a:latin typeface="Arial" panose="020B0604020202020204" pitchFamily="34" charset="0"/>
                <a:ea typeface="MS PGothic" panose="020B0600070205080204" pitchFamily="48" charset="-128"/>
              </a:rPr>
              <a:t> </a:t>
            </a:r>
            <a:r>
              <a:rPr lang="en-US" sz="3600" b="1" dirty="0">
                <a:latin typeface="Arial" panose="020B0604020202020204" pitchFamily="34" charset="0"/>
                <a:ea typeface="MS PGothic" panose="020B0600070205080204" pitchFamily="48" charset="-128"/>
              </a:rPr>
              <a:t>enthalpy</a:t>
            </a:r>
            <a:r>
              <a:rPr lang="en-US" sz="3600" dirty="0">
                <a:latin typeface="Arial" panose="020B0604020202020204" pitchFamily="34" charset="0"/>
                <a:ea typeface="MS PGothic" panose="020B0600070205080204" pitchFamily="48" charset="-128"/>
              </a:rPr>
              <a:t>.</a:t>
            </a:r>
            <a:endParaRPr lang="en-US" sz="3600" dirty="0">
              <a:latin typeface="Arial" panose="020B0604020202020204" pitchFamily="34" charset="0"/>
              <a:ea typeface="MS PGothic" panose="020B0600070205080204" pitchFamily="48" charset="-128"/>
            </a:endParaRPr>
          </a:p>
          <a:p>
            <a:pPr eaLnBrk="1" hangingPunct="1">
              <a:defRPr/>
            </a:pPr>
            <a:r>
              <a:rPr lang="en-US" sz="3600" dirty="0">
                <a:latin typeface="Arial" panose="020B0604020202020204" pitchFamily="34" charset="0"/>
                <a:ea typeface="MS PGothic" panose="020B0600070205080204" pitchFamily="48" charset="-128"/>
              </a:rPr>
              <a:t>The bond enthalpy for a </a:t>
            </a:r>
            <a:r>
              <a:rPr lang="en-US" sz="3600" dirty="0" err="1">
                <a:latin typeface="Arial" panose="020B0604020202020204" pitchFamily="34" charset="0"/>
                <a:ea typeface="MS PGothic" panose="020B0600070205080204" pitchFamily="48" charset="-128"/>
              </a:rPr>
              <a:t>Cl</a:t>
            </a:r>
            <a:r>
              <a:rPr lang="en-US" sz="3600" dirty="0">
                <a:latin typeface="Arial" panose="020B0604020202020204" pitchFamily="34" charset="0"/>
                <a:ea typeface="MS PGothic" panose="020B0600070205080204" pitchFamily="48" charset="-128"/>
              </a:rPr>
              <a:t>—</a:t>
            </a:r>
            <a:r>
              <a:rPr lang="en-US" sz="3600" dirty="0" err="1">
                <a:latin typeface="Arial" panose="020B0604020202020204" pitchFamily="34" charset="0"/>
                <a:ea typeface="MS PGothic" panose="020B0600070205080204" pitchFamily="48" charset="-128"/>
              </a:rPr>
              <a:t>Cl</a:t>
            </a:r>
            <a:r>
              <a:rPr lang="en-US" sz="3600" dirty="0">
                <a:latin typeface="Arial" panose="020B0604020202020204" pitchFamily="34" charset="0"/>
                <a:ea typeface="MS PGothic" panose="020B0600070205080204" pitchFamily="48" charset="-128"/>
              </a:rPr>
              <a:t> bond, </a:t>
            </a:r>
            <a:r>
              <a:rPr lang="en-US" sz="3600" i="1" dirty="0">
                <a:latin typeface="Arial" panose="020B0604020202020204" pitchFamily="34" charset="0"/>
                <a:ea typeface="MS PGothic" panose="020B0600070205080204" pitchFamily="48" charset="-128"/>
              </a:rPr>
              <a:t>D</a:t>
            </a:r>
            <a:r>
              <a:rPr lang="en-US" sz="3600" dirty="0">
                <a:latin typeface="Arial" panose="020B0604020202020204" pitchFamily="34" charset="0"/>
                <a:ea typeface="MS PGothic" panose="020B0600070205080204" pitchFamily="48" charset="-128"/>
              </a:rPr>
              <a:t>(</a:t>
            </a:r>
            <a:r>
              <a:rPr lang="en-US" sz="3600" dirty="0" err="1">
                <a:latin typeface="Arial" panose="020B0604020202020204" pitchFamily="34" charset="0"/>
                <a:ea typeface="MS PGothic" panose="020B0600070205080204" pitchFamily="48" charset="-128"/>
              </a:rPr>
              <a:t>Cl</a:t>
            </a:r>
            <a:r>
              <a:rPr lang="en-US" sz="3600" dirty="0">
                <a:latin typeface="Arial" panose="020B0604020202020204" pitchFamily="34" charset="0"/>
                <a:ea typeface="MS PGothic" panose="020B0600070205080204" pitchFamily="48" charset="-128"/>
              </a:rPr>
              <a:t>— </a:t>
            </a:r>
            <a:r>
              <a:rPr lang="en-US" sz="3600" dirty="0" err="1">
                <a:latin typeface="Arial" panose="020B0604020202020204" pitchFamily="34" charset="0"/>
                <a:ea typeface="MS PGothic" panose="020B0600070205080204" pitchFamily="48" charset="-128"/>
              </a:rPr>
              <a:t>Cl</a:t>
            </a:r>
            <a:r>
              <a:rPr lang="en-US" sz="3600" dirty="0">
                <a:latin typeface="Arial" panose="020B0604020202020204" pitchFamily="34" charset="0"/>
                <a:ea typeface="MS PGothic" panose="020B0600070205080204" pitchFamily="48" charset="-128"/>
              </a:rPr>
              <a:t>), is measured to be 242 </a:t>
            </a:r>
            <a:r>
              <a:rPr lang="en-US" sz="3600" dirty="0">
                <a:solidFill>
                  <a:srgbClr val="FF0000"/>
                </a:solidFill>
                <a:latin typeface="Arial" panose="020B0604020202020204" pitchFamily="34" charset="0"/>
                <a:ea typeface="MS PGothic" panose="020B0600070205080204" pitchFamily="48" charset="-128"/>
              </a:rPr>
              <a:t>kJ/mol</a:t>
            </a:r>
            <a:r>
              <a:rPr lang="en-US" sz="3600" dirty="0">
                <a:latin typeface="Arial" panose="020B0604020202020204" pitchFamily="34" charset="0"/>
                <a:ea typeface="MS PGothic" panose="020B0600070205080204" pitchFamily="48" charset="-128"/>
              </a:rPr>
              <a:t>.</a:t>
            </a:r>
            <a:endParaRPr lang="en-US" sz="3600" dirty="0">
              <a:latin typeface="Arial" panose="020B0604020202020204" pitchFamily="34" charset="0"/>
              <a:ea typeface="MS PGothic" panose="020B0600070205080204" pitchFamily="48" charset="-128"/>
            </a:endParaRPr>
          </a:p>
          <a:p>
            <a:pPr eaLnBrk="1" hangingPunct="1">
              <a:defRPr/>
            </a:pPr>
            <a:r>
              <a:rPr lang="en-US" sz="3600" dirty="0">
                <a:latin typeface="Arial" panose="020B0604020202020204" pitchFamily="34" charset="0"/>
                <a:ea typeface="MS PGothic" panose="020B0600070205080204" pitchFamily="48" charset="-128"/>
              </a:rPr>
              <a:t>We write out reactions for breaking </a:t>
            </a:r>
            <a:r>
              <a:rPr lang="en-US" sz="3600" i="1" dirty="0">
                <a:latin typeface="Arial" panose="020B0604020202020204" pitchFamily="34" charset="0"/>
                <a:ea typeface="MS PGothic" panose="020B0600070205080204" pitchFamily="48" charset="-128"/>
              </a:rPr>
              <a:t>one mole </a:t>
            </a:r>
            <a:r>
              <a:rPr lang="en-US" sz="3600" dirty="0">
                <a:latin typeface="Arial" panose="020B0604020202020204" pitchFamily="34" charset="0"/>
                <a:ea typeface="MS PGothic" panose="020B0600070205080204" pitchFamily="48" charset="-128"/>
              </a:rPr>
              <a:t>of those bonds:</a:t>
            </a:r>
            <a:endParaRPr lang="en-US" sz="3600" dirty="0">
              <a:latin typeface="Arial" panose="020B0604020202020204" pitchFamily="34" charset="0"/>
              <a:ea typeface="MS PGothic" panose="020B0600070205080204" pitchFamily="48" charset="-128"/>
            </a:endParaRPr>
          </a:p>
          <a:p>
            <a:pPr marL="457200" indent="0" eaLnBrk="1" hangingPunct="1">
              <a:buClr>
                <a:srgbClr val="003300"/>
              </a:buClr>
              <a:buNone/>
              <a:defRPr/>
            </a:pPr>
            <a:r>
              <a:rPr lang="en-US" sz="3200" dirty="0">
                <a:latin typeface="Arial" panose="020B0604020202020204" pitchFamily="34" charset="0"/>
                <a:ea typeface="MS PGothic" panose="020B0600070205080204" pitchFamily="48" charset="-128"/>
              </a:rPr>
              <a:t>			</a:t>
            </a:r>
            <a:r>
              <a:rPr lang="en-US" sz="3200" dirty="0" err="1">
                <a:latin typeface="Arial" panose="020B0604020202020204" pitchFamily="34" charset="0"/>
                <a:ea typeface="MS PGothic" panose="020B0600070205080204" pitchFamily="48" charset="-128"/>
              </a:rPr>
              <a:t>Cl</a:t>
            </a:r>
            <a:r>
              <a:rPr lang="en-US" sz="3200" dirty="0">
                <a:latin typeface="Arial" panose="020B0604020202020204" pitchFamily="34" charset="0"/>
                <a:ea typeface="MS PGothic" panose="020B0600070205080204" pitchFamily="48" charset="-128"/>
              </a:rPr>
              <a:t>—</a:t>
            </a:r>
            <a:r>
              <a:rPr lang="en-US" sz="3200" dirty="0" err="1">
                <a:latin typeface="Arial" panose="020B0604020202020204" pitchFamily="34" charset="0"/>
                <a:ea typeface="MS PGothic" panose="020B0600070205080204" pitchFamily="48" charset="-128"/>
              </a:rPr>
              <a:t>Cl</a:t>
            </a:r>
            <a:r>
              <a:rPr lang="en-US" sz="3200" dirty="0">
                <a:latin typeface="Arial" panose="020B0604020202020204" pitchFamily="34" charset="0"/>
                <a:ea typeface="MS PGothic" panose="020B0600070205080204" pitchFamily="48" charset="-128"/>
              </a:rPr>
              <a:t>   </a:t>
            </a:r>
            <a:r>
              <a:rPr lang="en-US" sz="3200" dirty="0">
                <a:latin typeface="Arial" panose="020B0604020202020204" pitchFamily="34" charset="0"/>
                <a:ea typeface="MS PGothic" panose="020B0600070205080204" pitchFamily="48" charset="-128"/>
                <a:cs typeface="Times New Roman" panose="02020603050405020304" pitchFamily="18" charset="0"/>
              </a:rPr>
              <a:t>→  2 </a:t>
            </a:r>
            <a:r>
              <a:rPr lang="en-US" sz="3200" dirty="0" err="1">
                <a:latin typeface="Arial" panose="020B0604020202020204" pitchFamily="34" charset="0"/>
                <a:ea typeface="MS PGothic" panose="020B0600070205080204" pitchFamily="48" charset="-128"/>
                <a:cs typeface="Times New Roman" panose="02020603050405020304" pitchFamily="18" charset="0"/>
              </a:rPr>
              <a:t>Cl</a:t>
            </a:r>
            <a:r>
              <a:rPr lang="en-US" sz="3200" b="1" baseline="20000" dirty="0">
                <a:latin typeface="Times New Roman" panose="02020603050405020304" pitchFamily="18" charset="0"/>
                <a:ea typeface="MS PGothic" panose="020B0600070205080204" pitchFamily="48" charset="-128"/>
                <a:cs typeface="Times New Roman" panose="02020603050405020304" pitchFamily="18" charset="0"/>
              </a:rPr>
              <a:t>•</a:t>
            </a:r>
            <a:endParaRPr lang="en-US" sz="3200" b="1" baseline="20000" dirty="0">
              <a:latin typeface="Times New Roman" panose="02020603050405020304" pitchFamily="18" charset="0"/>
              <a:ea typeface="MS PGothic" panose="020B0600070205080204" pitchFamily="48" charset="-128"/>
              <a:cs typeface="Times New Roman" panose="02020603050405020304" pitchFamily="18" charset="0"/>
            </a:endParaRPr>
          </a:p>
        </p:txBody>
      </p:sp>
    </p:spTree>
    <p:custDataLst>
      <p:tags r:id="rId1"/>
    </p:custDataLst>
  </p:cSld>
  <p:clrMapOvr>
    <a:masterClrMapping/>
  </p:clrMapOvr>
  <p:transition spd="slow" advTm="38443"/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1" name="Rectangle 2"/>
          <p:cNvSpPr>
            <a:spLocks noGrp="1" noChangeArrowheads="1"/>
          </p:cNvSpPr>
          <p:nvPr>
            <p:ph type="title"/>
          </p:nvPr>
        </p:nvSpPr>
        <p:spPr>
          <a:xfrm>
            <a:off x="1507603" y="-76200"/>
            <a:ext cx="9144000" cy="1143000"/>
          </a:xfrm>
        </p:spPr>
        <p:txBody>
          <a:bodyPr/>
          <a:lstStyle/>
          <a:p>
            <a:pPr algn="ctr" eaLnBrk="1" hangingPunct="1"/>
            <a:r>
              <a:rPr lang="en-US" sz="4000" b="1" dirty="0">
                <a:latin typeface="Arial" panose="020B0604020202020204" pitchFamily="34" charset="0"/>
                <a:ea typeface="MS PGothic" panose="020B0600070205080204" pitchFamily="48" charset="-128"/>
              </a:rPr>
              <a:t>Average Bond Enthalpies</a:t>
            </a:r>
            <a:endParaRPr lang="en-US" sz="4000" b="1" dirty="0">
              <a:latin typeface="Arial" panose="020B0604020202020204" pitchFamily="34" charset="0"/>
              <a:ea typeface="MS PGothic" panose="020B0600070205080204" pitchFamily="48" charset="-128"/>
            </a:endParaRPr>
          </a:p>
        </p:txBody>
      </p:sp>
      <p:sp>
        <p:nvSpPr>
          <p:cNvPr id="66562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783590" y="838200"/>
            <a:ext cx="4855210" cy="5698490"/>
          </a:xfrm>
        </p:spPr>
        <p:txBody>
          <a:bodyPr/>
          <a:lstStyle/>
          <a:p>
            <a:pPr eaLnBrk="1" hangingPunct="1"/>
            <a:r>
              <a:rPr lang="en-US" sz="3200" dirty="0">
                <a:latin typeface="Arial" panose="020B0604020202020204" pitchFamily="34" charset="0"/>
                <a:ea typeface="MS PGothic" panose="020B0600070205080204" pitchFamily="48" charset="-128"/>
              </a:rPr>
              <a:t>Note that these are </a:t>
            </a:r>
            <a:r>
              <a:rPr lang="en-US" sz="3200" i="1" dirty="0">
                <a:latin typeface="Arial" panose="020B0604020202020204" pitchFamily="34" charset="0"/>
                <a:ea typeface="MS PGothic" panose="020B0600070205080204" pitchFamily="48" charset="-128"/>
              </a:rPr>
              <a:t>averages </a:t>
            </a:r>
            <a:r>
              <a:rPr lang="en-US" sz="3200" dirty="0">
                <a:latin typeface="Arial" panose="020B0604020202020204" pitchFamily="34" charset="0"/>
                <a:ea typeface="MS PGothic" panose="020B0600070205080204" pitchFamily="48" charset="-128"/>
              </a:rPr>
              <a:t>over many different compounds; not every bond in nature for a pair of atoms has exactly the same bond energy.</a:t>
            </a:r>
            <a:endParaRPr lang="en-US" sz="3200" dirty="0">
              <a:latin typeface="Arial" panose="020B0604020202020204" pitchFamily="34" charset="0"/>
              <a:ea typeface="MS PGothic" panose="020B0600070205080204" pitchFamily="48" charset="-128"/>
            </a:endParaRPr>
          </a:p>
          <a:p>
            <a:pPr eaLnBrk="1" hangingPunct="1"/>
            <a:r>
              <a:rPr lang="en-US" sz="3200" dirty="0">
                <a:latin typeface="Arial" panose="020B0604020202020204" pitchFamily="34" charset="0"/>
                <a:ea typeface="MS PGothic" panose="020B0600070205080204" pitchFamily="48" charset="-128"/>
              </a:rPr>
              <a:t>Average bond enthalpies are positive, because bond breaking is an </a:t>
            </a:r>
            <a:r>
              <a:rPr lang="en-US" sz="3200" dirty="0">
                <a:solidFill>
                  <a:srgbClr val="FF0000"/>
                </a:solidFill>
                <a:latin typeface="Arial" panose="020B0604020202020204" pitchFamily="34" charset="0"/>
                <a:ea typeface="MS PGothic" panose="020B0600070205080204" pitchFamily="48" charset="-128"/>
              </a:rPr>
              <a:t>endothermic</a:t>
            </a:r>
            <a:r>
              <a:rPr lang="en-US" sz="3200" dirty="0">
                <a:latin typeface="Arial" panose="020B0604020202020204" pitchFamily="34" charset="0"/>
                <a:ea typeface="MS PGothic" panose="020B0600070205080204" pitchFamily="48" charset="-128"/>
              </a:rPr>
              <a:t> process.</a:t>
            </a:r>
            <a:endParaRPr lang="en-US" sz="3200" dirty="0">
              <a:latin typeface="Arial" panose="020B0604020202020204" pitchFamily="34" charset="0"/>
              <a:ea typeface="MS PGothic" panose="020B0600070205080204" pitchFamily="48" charset="-128"/>
            </a:endParaRPr>
          </a:p>
          <a:p>
            <a:pPr eaLnBrk="1" hangingPunct="1"/>
            <a:endParaRPr lang="en-US" sz="3200" dirty="0">
              <a:latin typeface="Arial" panose="020B0604020202020204" pitchFamily="34" charset="0"/>
              <a:ea typeface="MS PGothic" panose="020B0600070205080204" pitchFamily="48" charset="-128"/>
            </a:endParaRPr>
          </a:p>
        </p:txBody>
      </p:sp>
      <p:pic>
        <p:nvPicPr>
          <p:cNvPr id="66563" name="Picture 4" descr="08_04_Table.jpg"/>
          <p:cNvPicPr>
            <a:picLocks noChangeAspect="1"/>
          </p:cNvPicPr>
          <p:nvPr/>
        </p:nvPicPr>
        <p:blipFill>
          <a:blip r:embed="rId1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486"/>
          <a:stretch>
            <a:fillRect/>
          </a:stretch>
        </p:blipFill>
        <p:spPr bwMode="auto">
          <a:xfrm>
            <a:off x="5638800" y="914400"/>
            <a:ext cx="5777865" cy="594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3" name="直接连接符 2"/>
          <p:cNvCxnSpPr/>
          <p:nvPr/>
        </p:nvCxnSpPr>
        <p:spPr bwMode="auto">
          <a:xfrm>
            <a:off x="5715000" y="1890000"/>
            <a:ext cx="838800" cy="0"/>
          </a:xfrm>
          <a:prstGeom prst="line">
            <a:avLst/>
          </a:prstGeom>
          <a:ln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" name="直接连接符 6"/>
          <p:cNvCxnSpPr/>
          <p:nvPr/>
        </p:nvCxnSpPr>
        <p:spPr bwMode="auto">
          <a:xfrm>
            <a:off x="5715000" y="4824000"/>
            <a:ext cx="838200" cy="0"/>
          </a:xfrm>
          <a:prstGeom prst="line">
            <a:avLst/>
          </a:prstGeom>
          <a:ln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" name="直接连接符 7"/>
          <p:cNvCxnSpPr/>
          <p:nvPr/>
        </p:nvCxnSpPr>
        <p:spPr bwMode="auto">
          <a:xfrm>
            <a:off x="5715000" y="5029200"/>
            <a:ext cx="838200" cy="0"/>
          </a:xfrm>
          <a:prstGeom prst="line">
            <a:avLst/>
          </a:prstGeom>
          <a:ln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  <p:transition spd="slow" advTm="4410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09" name="Rectangle 2"/>
          <p:cNvSpPr>
            <a:spLocks noGrp="1" noChangeArrowheads="1"/>
          </p:cNvSpPr>
          <p:nvPr>
            <p:ph type="title"/>
          </p:nvPr>
        </p:nvSpPr>
        <p:spPr>
          <a:xfrm>
            <a:off x="1042035" y="111760"/>
            <a:ext cx="10107295" cy="1447800"/>
          </a:xfrm>
        </p:spPr>
        <p:txBody>
          <a:bodyPr/>
          <a:lstStyle/>
          <a:p>
            <a:pPr algn="ctr" eaLnBrk="1" hangingPunct="1"/>
            <a:r>
              <a:rPr lang="en-US" sz="4000" b="1" dirty="0">
                <a:latin typeface="Arial" panose="020B0604020202020204" pitchFamily="34" charset="0"/>
                <a:ea typeface="MS PGothic" panose="020B0600070205080204" pitchFamily="48" charset="-128"/>
              </a:rPr>
              <a:t>Using Bond Enthalpies to Estimate </a:t>
            </a:r>
            <a:r>
              <a:rPr lang="en-US" altLang="zh-CN" sz="4000" b="1" dirty="0">
                <a:latin typeface="Symbol" panose="05050102010706020507" charset="0"/>
                <a:ea typeface="MS PGothic" panose="020B0600070205080204" pitchFamily="48" charset="-128"/>
                <a:sym typeface="Symbol" panose="05050102010706020507" charset="0"/>
              </a:rPr>
              <a:t></a:t>
            </a:r>
            <a:r>
              <a:rPr lang="en-US" altLang="zh-CN" sz="4000" b="1" i="1" dirty="0" err="1">
                <a:latin typeface="Arial" panose="020B0604020202020204" pitchFamily="34" charset="0"/>
                <a:ea typeface="MS PGothic" panose="020B0600070205080204" pitchFamily="48" charset="-128"/>
              </a:rPr>
              <a:t>H</a:t>
            </a:r>
            <a:r>
              <a:rPr lang="en-US" altLang="zh-CN" sz="4000" b="1" baseline="-25000" dirty="0" err="1">
                <a:latin typeface="Arial" panose="020B0604020202020204" pitchFamily="34" charset="0"/>
                <a:ea typeface="MS PGothic" panose="020B0600070205080204" pitchFamily="48" charset="-128"/>
              </a:rPr>
              <a:t>rxn</a:t>
            </a:r>
            <a:endParaRPr lang="en-US" altLang="zh-CN" sz="4000" b="1" baseline="-25000" dirty="0" err="1">
              <a:latin typeface="Arial" panose="020B0604020202020204" pitchFamily="34" charset="0"/>
              <a:ea typeface="MS PGothic" panose="020B0600070205080204" pitchFamily="48" charset="-128"/>
            </a:endParaRPr>
          </a:p>
        </p:txBody>
      </p:sp>
      <p:sp>
        <p:nvSpPr>
          <p:cNvPr id="68610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1042670" y="1371600"/>
            <a:ext cx="4875530" cy="3962400"/>
          </a:xfrm>
        </p:spPr>
        <p:txBody>
          <a:bodyPr>
            <a:noAutofit/>
          </a:bodyPr>
          <a:lstStyle/>
          <a:p>
            <a:pPr eaLnBrk="1" hangingPunct="1"/>
            <a:r>
              <a:rPr lang="en-US" dirty="0">
                <a:latin typeface="Arial" panose="020B0604020202020204" pitchFamily="34" charset="0"/>
                <a:ea typeface="MS PGothic" panose="020B0600070205080204" pitchFamily="48" charset="-128"/>
              </a:rPr>
              <a:t>One way to </a:t>
            </a:r>
            <a:r>
              <a:rPr lang="en-US" i="1" dirty="0">
                <a:latin typeface="Arial" panose="020B0604020202020204" pitchFamily="34" charset="0"/>
                <a:ea typeface="MS PGothic" panose="020B0600070205080204" pitchFamily="48" charset="-128"/>
              </a:rPr>
              <a:t>estimate</a:t>
            </a:r>
            <a:r>
              <a:rPr lang="en-US" dirty="0">
                <a:latin typeface="Arial" panose="020B0604020202020204" pitchFamily="34" charset="0"/>
                <a:ea typeface="MS PGothic" panose="020B0600070205080204" pitchFamily="48" charset="-128"/>
              </a:rPr>
              <a:t> </a:t>
            </a:r>
            <a:r>
              <a:rPr lang="en-US" altLang="zh-CN" sz="3200" b="1" dirty="0">
                <a:latin typeface="Symbol" panose="05050102010706020507" charset="0"/>
                <a:ea typeface="MS PGothic" panose="020B0600070205080204" pitchFamily="48" charset="-128"/>
                <a:sym typeface="Symbol" panose="05050102010706020507" charset="0"/>
              </a:rPr>
              <a:t></a:t>
            </a:r>
            <a:r>
              <a:rPr lang="en-US" altLang="zh-CN" sz="3200" b="1" i="1" dirty="0" err="1">
                <a:latin typeface="Arial" panose="020B0604020202020204" pitchFamily="34" charset="0"/>
                <a:ea typeface="MS PGothic" panose="020B0600070205080204" pitchFamily="48" charset="-128"/>
              </a:rPr>
              <a:t>H</a:t>
            </a:r>
            <a:r>
              <a:rPr lang="en-US" altLang="zh-CN" sz="3200" b="1" baseline="-25000" dirty="0" err="1">
                <a:latin typeface="Arial" panose="020B0604020202020204" pitchFamily="34" charset="0"/>
                <a:ea typeface="MS PGothic" panose="020B0600070205080204" pitchFamily="48" charset="-128"/>
              </a:rPr>
              <a:t>rxn</a:t>
            </a:r>
            <a:r>
              <a:rPr lang="en-US" altLang="zh-CN" sz="3200" b="1" baseline="-25000" dirty="0">
                <a:latin typeface="Arial" panose="020B0604020202020204" pitchFamily="34" charset="0"/>
                <a:ea typeface="MS PGothic" panose="020B0600070205080204" pitchFamily="48" charset="-128"/>
              </a:rPr>
              <a:t> </a:t>
            </a:r>
            <a:r>
              <a:rPr lang="en-US" dirty="0">
                <a:latin typeface="Arial" panose="020B0604020202020204" pitchFamily="34" charset="0"/>
                <a:ea typeface="MS PGothic" panose="020B0600070205080204" pitchFamily="48" charset="-128"/>
              </a:rPr>
              <a:t>is to use the bond enthalpies of bonds broken and the new bonds formed.</a:t>
            </a:r>
            <a:endParaRPr lang="en-US" dirty="0">
              <a:latin typeface="Arial" panose="020B0604020202020204" pitchFamily="34" charset="0"/>
              <a:ea typeface="MS PGothic" panose="020B0600070205080204" pitchFamily="48" charset="-128"/>
            </a:endParaRPr>
          </a:p>
          <a:p>
            <a:pPr eaLnBrk="1" hangingPunct="1">
              <a:lnSpc>
                <a:spcPts val="2100"/>
              </a:lnSpc>
            </a:pPr>
            <a:endParaRPr lang="en-US" dirty="0">
              <a:latin typeface="Arial" panose="020B0604020202020204" pitchFamily="34" charset="0"/>
              <a:ea typeface="MS PGothic" panose="020B0600070205080204" pitchFamily="48" charset="-128"/>
            </a:endParaRPr>
          </a:p>
          <a:p>
            <a:pPr eaLnBrk="1" hangingPunct="1"/>
            <a:r>
              <a:rPr lang="en-US" dirty="0">
                <a:latin typeface="Arial" panose="020B0604020202020204" pitchFamily="34" charset="0"/>
                <a:ea typeface="MS PGothic" panose="020B0600070205080204" pitchFamily="48" charset="-128"/>
              </a:rPr>
              <a:t>Energy is added to break bonds and released when making bonds.</a:t>
            </a:r>
            <a:endParaRPr lang="en-US" dirty="0">
              <a:latin typeface="Arial" panose="020B0604020202020204" pitchFamily="34" charset="0"/>
              <a:ea typeface="MS PGothic" panose="020B0600070205080204" pitchFamily="48" charset="-128"/>
            </a:endParaRPr>
          </a:p>
        </p:txBody>
      </p:sp>
      <p:sp>
        <p:nvSpPr>
          <p:cNvPr id="68611" name="Rectangle 6"/>
          <p:cNvSpPr>
            <a:spLocks noChangeArrowheads="1"/>
          </p:cNvSpPr>
          <p:nvPr/>
        </p:nvSpPr>
        <p:spPr bwMode="auto">
          <a:xfrm>
            <a:off x="881380" y="5334000"/>
            <a:ext cx="10885170" cy="1076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rgbClr val="FF0000"/>
                </a:solidFill>
                <a:latin typeface="Symbol" panose="05050102010706020507" charset="0"/>
                <a:sym typeface="Symbol" panose="05050102010706020507" charset="0"/>
              </a:rPr>
              <a:t></a:t>
            </a:r>
            <a:r>
              <a:rPr lang="en-US" sz="3200" b="1" i="1" dirty="0" err="1">
                <a:solidFill>
                  <a:srgbClr val="FF0000"/>
                </a:solidFill>
              </a:rPr>
              <a:t>H</a:t>
            </a:r>
            <a:r>
              <a:rPr lang="en-US" sz="3200" b="1" i="1" baseline="-25000" dirty="0" err="1">
                <a:solidFill>
                  <a:srgbClr val="FF0000"/>
                </a:solidFill>
              </a:rPr>
              <a:t>rxn</a:t>
            </a:r>
            <a:r>
              <a:rPr lang="en-US" sz="3200" b="1" dirty="0">
                <a:solidFill>
                  <a:srgbClr val="FF0000"/>
                </a:solidFill>
              </a:rPr>
              <a:t> </a:t>
            </a:r>
            <a:r>
              <a:rPr lang="en-US" sz="3200" dirty="0"/>
              <a:t>= </a:t>
            </a:r>
            <a:r>
              <a:rPr lang="en-US" sz="3200" dirty="0">
                <a:latin typeface="Symbol" panose="05050102010706020507" charset="0"/>
                <a:sym typeface="Symbol" panose="05050102010706020507" charset="0"/>
              </a:rPr>
              <a:t></a:t>
            </a:r>
            <a:r>
              <a:rPr lang="en-US" sz="3200" dirty="0"/>
              <a:t>(bond enthalpies of all bonds </a:t>
            </a:r>
            <a:r>
              <a:rPr lang="en-US" sz="3200" dirty="0">
                <a:solidFill>
                  <a:srgbClr val="FF0000"/>
                </a:solidFill>
              </a:rPr>
              <a:t>broken</a:t>
            </a:r>
            <a:r>
              <a:rPr lang="en-US" sz="3200" dirty="0"/>
              <a:t>)       </a:t>
            </a:r>
            <a:endParaRPr lang="en-US" sz="3200" dirty="0"/>
          </a:p>
          <a:p>
            <a:r>
              <a:rPr lang="en-US" sz="3200" dirty="0"/>
              <a:t>          </a:t>
            </a:r>
            <a:r>
              <a:rPr lang="en-US" sz="3200" dirty="0">
                <a:cs typeface="Arial" panose="020B0604020202020204" pitchFamily="34" charset="0"/>
              </a:rPr>
              <a:t>−  </a:t>
            </a:r>
            <a:r>
              <a:rPr lang="en-US" sz="3200" dirty="0">
                <a:latin typeface="Symbol" panose="05050102010706020507" charset="0"/>
                <a:sym typeface="Symbol" panose="05050102010706020507" charset="0"/>
              </a:rPr>
              <a:t></a:t>
            </a:r>
            <a:r>
              <a:rPr lang="en-US" sz="3200" dirty="0"/>
              <a:t>(bond enthalpies of all bonds </a:t>
            </a:r>
            <a:r>
              <a:rPr lang="en-US" sz="3200" dirty="0">
                <a:solidFill>
                  <a:srgbClr val="FF0000"/>
                </a:solidFill>
              </a:rPr>
              <a:t>formed</a:t>
            </a:r>
            <a:r>
              <a:rPr lang="en-US" sz="3200" dirty="0"/>
              <a:t>).</a:t>
            </a:r>
            <a:endParaRPr lang="en-US" sz="3200" dirty="0"/>
          </a:p>
        </p:txBody>
      </p:sp>
      <p:pic>
        <p:nvPicPr>
          <p:cNvPr id="68612" name="Picture 5" descr="08_15_Figure.jpg"/>
          <p:cNvPicPr>
            <a:picLocks noChangeAspect="1"/>
          </p:cNvPicPr>
          <p:nvPr/>
        </p:nvPicPr>
        <p:blipFill>
          <a:blip r:embed="rId1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409"/>
          <a:stretch>
            <a:fillRect/>
          </a:stretch>
        </p:blipFill>
        <p:spPr bwMode="auto">
          <a:xfrm>
            <a:off x="6303645" y="1067435"/>
            <a:ext cx="5169535" cy="43383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 advTm="54339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-154305" y="2766060"/>
            <a:ext cx="12500610" cy="1325880"/>
          </a:xfrm>
        </p:spPr>
        <p:txBody>
          <a:bodyPr>
            <a:normAutofit fontScale="90000"/>
          </a:bodyPr>
          <a:p>
            <a:pPr algn="ctr"/>
            <a:r>
              <a:rPr lang="en-US" altLang="zh-CN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&amp;quot"/>
                <a:sym typeface="+mn-ea"/>
              </a:rPr>
              <a:t>Chapter </a:t>
            </a:r>
            <a:r>
              <a:rPr lang="en-US" altLang="zh-CN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&amp;quot"/>
                <a:sym typeface="+mn-ea"/>
              </a:rPr>
              <a:t>9: Molecular Geometry and Bonding Theories</a:t>
            </a:r>
            <a:br>
              <a:rPr lang="en-US" altLang="zh-CN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&amp;quot"/>
                <a:sym typeface="+mn-ea"/>
              </a:rPr>
            </a:br>
            <a:r>
              <a:rPr lang="zh-CN" altLang="en-US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&amp;quot"/>
                <a:sym typeface="+mn-ea"/>
              </a:rPr>
              <a:t>化学键的方向</a:t>
            </a:r>
            <a:r>
              <a:rPr lang="en-US" altLang="zh-CN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&amp;quot"/>
                <a:sym typeface="+mn-ea"/>
              </a:rPr>
              <a:t>——</a:t>
            </a:r>
            <a:r>
              <a:rPr lang="zh-CN" altLang="en-US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&amp;quot"/>
                <a:sym typeface="+mn-ea"/>
              </a:rPr>
              <a:t>分子构成</a:t>
            </a:r>
            <a:endParaRPr lang="zh-CN" altLang="en-US" dirty="0">
              <a:ln>
                <a:noFill/>
              </a:ln>
              <a:solidFill>
                <a:srgbClr val="000000"/>
              </a:solidFill>
              <a:effectLst/>
              <a:latin typeface="Arial" panose="020B0604020202020204" pitchFamily="34" charset="0"/>
              <a:ea typeface="&amp;quot"/>
              <a:sym typeface="+mn-ea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8425" y="2766060"/>
            <a:ext cx="12191365" cy="1325880"/>
          </a:xfrm>
        </p:spPr>
        <p:txBody>
          <a:bodyPr>
            <a:normAutofit/>
          </a:bodyPr>
          <a:p>
            <a:pPr algn="ctr"/>
            <a:r>
              <a:rPr lang="zh-CN" altLang="en-US"/>
              <a:t>第一部分：</a:t>
            </a:r>
            <a:r>
              <a:rPr lang="en-US">
                <a:latin typeface="Arial" panose="020B0604020202020204" pitchFamily="34" charset="0"/>
                <a:ea typeface="MS PGothic" panose="020B0600070205080204" pitchFamily="48" charset="-128"/>
                <a:sym typeface="+mn-ea"/>
              </a:rPr>
              <a:t>VSEPR Model</a:t>
            </a:r>
            <a:endParaRPr lang="en-US" altLang="zh-CN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5" name="Rectangle 2"/>
          <p:cNvSpPr>
            <a:spLocks noGrp="1" noChangeArrowheads="1"/>
          </p:cNvSpPr>
          <p:nvPr>
            <p:ph type="title"/>
          </p:nvPr>
        </p:nvSpPr>
        <p:spPr>
          <a:xfrm>
            <a:off x="1524000" y="0"/>
            <a:ext cx="9144000" cy="1143000"/>
          </a:xfrm>
        </p:spPr>
        <p:txBody>
          <a:bodyPr/>
          <a:lstStyle/>
          <a:p>
            <a:pPr algn="ctr" eaLnBrk="1" hangingPunct="1"/>
            <a:r>
              <a:rPr lang="en-US">
                <a:latin typeface="Arial" panose="020B0604020202020204" pitchFamily="34" charset="0"/>
                <a:ea typeface="MS PGothic" panose="020B0600070205080204" pitchFamily="48" charset="-128"/>
              </a:rPr>
              <a:t>Molecular Shapes</a:t>
            </a:r>
            <a:endParaRPr lang="en-US">
              <a:latin typeface="Arial" panose="020B0604020202020204" pitchFamily="34" charset="0"/>
              <a:ea typeface="MS PGothic" panose="020B0600070205080204" pitchFamily="48" charset="-128"/>
            </a:endParaRPr>
          </a:p>
        </p:txBody>
      </p:sp>
      <p:sp>
        <p:nvSpPr>
          <p:cNvPr id="6146" name="Rectangle 4"/>
          <p:cNvSpPr>
            <a:spLocks noGrp="1" noChangeArrowheads="1"/>
          </p:cNvSpPr>
          <p:nvPr>
            <p:ph type="body" sz="half" idx="1"/>
          </p:nvPr>
        </p:nvSpPr>
        <p:spPr>
          <a:xfrm>
            <a:off x="1752600" y="914400"/>
            <a:ext cx="8839200" cy="2819400"/>
          </a:xfrm>
        </p:spPr>
        <p:txBody>
          <a:bodyPr>
            <a:noAutofit/>
          </a:bodyPr>
          <a:lstStyle/>
          <a:p>
            <a:pPr eaLnBrk="1" hangingPunct="1"/>
            <a:r>
              <a:rPr lang="en-US" sz="3200">
                <a:latin typeface="Arial" panose="020B0604020202020204" pitchFamily="34" charset="0"/>
                <a:ea typeface="MS PGothic" panose="020B0600070205080204" pitchFamily="48" charset="-128"/>
              </a:rPr>
              <a:t>Lewis Structures show bonding and lone pairs, but do </a:t>
            </a:r>
            <a:r>
              <a:rPr lang="en-US" sz="3200" i="1">
                <a:latin typeface="Arial" panose="020B0604020202020204" pitchFamily="34" charset="0"/>
                <a:ea typeface="MS PGothic" panose="020B0600070205080204" pitchFamily="48" charset="-128"/>
              </a:rPr>
              <a:t>not </a:t>
            </a:r>
            <a:r>
              <a:rPr lang="en-US" sz="3200">
                <a:latin typeface="Arial" panose="020B0604020202020204" pitchFamily="34" charset="0"/>
                <a:ea typeface="MS PGothic" panose="020B0600070205080204" pitchFamily="48" charset="-128"/>
              </a:rPr>
              <a:t>denote shape.</a:t>
            </a:r>
            <a:endParaRPr lang="en-US" sz="3200">
              <a:latin typeface="Arial" panose="020B0604020202020204" pitchFamily="34" charset="0"/>
              <a:ea typeface="MS PGothic" panose="020B0600070205080204" pitchFamily="48" charset="-128"/>
            </a:endParaRPr>
          </a:p>
          <a:p>
            <a:pPr eaLnBrk="1" hangingPunct="1"/>
            <a:r>
              <a:rPr lang="en-US" sz="3200">
                <a:latin typeface="Arial" panose="020B0604020202020204" pitchFamily="34" charset="0"/>
                <a:ea typeface="MS PGothic" panose="020B0600070205080204" pitchFamily="48" charset="-128"/>
              </a:rPr>
              <a:t>However, we </a:t>
            </a:r>
            <a:r>
              <a:rPr lang="en-US" sz="3200" i="1">
                <a:latin typeface="Arial" panose="020B0604020202020204" pitchFamily="34" charset="0"/>
                <a:ea typeface="MS PGothic" panose="020B0600070205080204" pitchFamily="48" charset="-128"/>
              </a:rPr>
              <a:t>use </a:t>
            </a:r>
            <a:r>
              <a:rPr lang="en-US" sz="3200">
                <a:latin typeface="Arial" panose="020B0604020202020204" pitchFamily="34" charset="0"/>
                <a:ea typeface="MS PGothic" panose="020B0600070205080204" pitchFamily="48" charset="-128"/>
              </a:rPr>
              <a:t>Lewis Structures to help us determine shapes.</a:t>
            </a:r>
            <a:endParaRPr lang="en-US" sz="3200">
              <a:latin typeface="Arial" panose="020B0604020202020204" pitchFamily="34" charset="0"/>
              <a:ea typeface="MS PGothic" panose="020B0600070205080204" pitchFamily="48" charset="-128"/>
            </a:endParaRPr>
          </a:p>
          <a:p>
            <a:pPr eaLnBrk="1" hangingPunct="1"/>
            <a:r>
              <a:rPr lang="en-US" sz="3200">
                <a:latin typeface="Arial" panose="020B0604020202020204" pitchFamily="34" charset="0"/>
                <a:ea typeface="MS PGothic" panose="020B0600070205080204" pitchFamily="48" charset="-128"/>
              </a:rPr>
              <a:t>Here we see some common shapes for molecules with two or three atoms connected to a central atom.</a:t>
            </a:r>
            <a:endParaRPr lang="en-US" sz="3200">
              <a:latin typeface="Arial" panose="020B0604020202020204" pitchFamily="34" charset="0"/>
              <a:ea typeface="MS PGothic" panose="020B0600070205080204" pitchFamily="48" charset="-128"/>
            </a:endParaRPr>
          </a:p>
        </p:txBody>
      </p:sp>
      <p:pic>
        <p:nvPicPr>
          <p:cNvPr id="6147" name="Picture 4" descr="09_02_Figure.jpg"/>
          <p:cNvPicPr>
            <a:picLocks noChangeAspect="1"/>
          </p:cNvPicPr>
          <p:nvPr/>
        </p:nvPicPr>
        <p:blipFill>
          <a:blip r:embed="rId1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7449"/>
          <a:stretch>
            <a:fillRect/>
          </a:stretch>
        </p:blipFill>
        <p:spPr bwMode="auto">
          <a:xfrm>
            <a:off x="2087245" y="4200525"/>
            <a:ext cx="8169275" cy="1938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2832735" y="6138962"/>
            <a:ext cx="632460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00" dirty="0"/>
              <a:t>Common shapes of molecules with general formula </a:t>
            </a:r>
            <a:r>
              <a:rPr lang="en-US" sz="1800" b="1" dirty="0" err="1">
                <a:solidFill>
                  <a:srgbClr val="C00000"/>
                </a:solidFill>
              </a:rPr>
              <a:t>AB</a:t>
            </a:r>
            <a:r>
              <a:rPr lang="en-US" sz="2000" b="1" i="1" baseline="-25000" dirty="0" err="1">
                <a:solidFill>
                  <a:srgbClr val="C00000"/>
                </a:solidFill>
              </a:rPr>
              <a:t>n</a:t>
            </a:r>
            <a:r>
              <a:rPr lang="en-US" sz="1800" baseline="-25000" dirty="0"/>
              <a:t> </a:t>
            </a:r>
            <a:r>
              <a:rPr lang="en-US" sz="1800" dirty="0"/>
              <a:t> where </a:t>
            </a:r>
            <a:r>
              <a:rPr lang="en-US" sz="1800" b="1" i="1" dirty="0">
                <a:solidFill>
                  <a:srgbClr val="C00000"/>
                </a:solidFill>
              </a:rPr>
              <a:t>n</a:t>
            </a:r>
            <a:r>
              <a:rPr lang="en-US" sz="1800" dirty="0"/>
              <a:t> is number of B atom connected to a central A atom</a:t>
            </a:r>
            <a:endParaRPr lang="en-US" sz="1800" baseline="-25000" dirty="0"/>
          </a:p>
        </p:txBody>
      </p:sp>
    </p:spTree>
  </p:cSld>
  <p:clrMapOvr>
    <a:masterClrMapping/>
  </p:clrMapOvr>
  <p:transition spd="slow" advTm="57191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3" name="Rectangle 2"/>
          <p:cNvSpPr>
            <a:spLocks noGrp="1" noChangeArrowheads="1"/>
          </p:cNvSpPr>
          <p:nvPr>
            <p:ph type="title"/>
          </p:nvPr>
        </p:nvSpPr>
        <p:spPr>
          <a:xfrm>
            <a:off x="852170" y="228600"/>
            <a:ext cx="5223510" cy="114300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>
                <a:latin typeface="Arial" panose="020B0604020202020204" pitchFamily="34" charset="0"/>
                <a:ea typeface="MS PGothic" panose="020B0600070205080204" pitchFamily="48" charset="-128"/>
              </a:rPr>
              <a:t>What Determines the </a:t>
            </a:r>
            <a:br>
              <a:rPr lang="en-US">
                <a:latin typeface="Arial" panose="020B0604020202020204" pitchFamily="34" charset="0"/>
                <a:ea typeface="MS PGothic" panose="020B0600070205080204" pitchFamily="48" charset="-128"/>
              </a:rPr>
            </a:br>
            <a:r>
              <a:rPr lang="en-US">
                <a:latin typeface="Arial" panose="020B0604020202020204" pitchFamily="34" charset="0"/>
                <a:ea typeface="MS PGothic" panose="020B0600070205080204" pitchFamily="48" charset="-128"/>
              </a:rPr>
              <a:t>Shape of a Molecule?</a:t>
            </a:r>
            <a:endParaRPr lang="en-US">
              <a:latin typeface="Arial" panose="020B0604020202020204" pitchFamily="34" charset="0"/>
              <a:ea typeface="MS PGothic" panose="020B0600070205080204" pitchFamily="48" charset="-128"/>
            </a:endParaRPr>
          </a:p>
        </p:txBody>
      </p:sp>
      <p:sp>
        <p:nvSpPr>
          <p:cNvPr id="8194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0" y="1371600"/>
            <a:ext cx="5622925" cy="4343400"/>
          </a:xfrm>
        </p:spPr>
        <p:txBody>
          <a:bodyPr>
            <a:noAutofit/>
          </a:bodyPr>
          <a:lstStyle/>
          <a:p>
            <a:pPr eaLnBrk="1" hangingPunct="1">
              <a:lnSpc>
                <a:spcPct val="90000"/>
              </a:lnSpc>
            </a:pPr>
            <a:r>
              <a:rPr lang="en-US" sz="3200">
                <a:latin typeface="Arial" panose="020B0604020202020204" pitchFamily="34" charset="0"/>
                <a:ea typeface="MS PGothic" panose="020B0600070205080204" pitchFamily="48" charset="-128"/>
              </a:rPr>
              <a:t>Simply put, electron pairs, whether they be bonding or nonbonding, repel each other.</a:t>
            </a:r>
            <a:endParaRPr lang="en-US" sz="3200">
              <a:latin typeface="Arial" panose="020B0604020202020204" pitchFamily="34" charset="0"/>
              <a:ea typeface="MS PGothic" panose="020B0600070205080204" pitchFamily="48" charset="-128"/>
            </a:endParaRPr>
          </a:p>
          <a:p>
            <a:pPr eaLnBrk="1" hangingPunct="1">
              <a:lnSpc>
                <a:spcPct val="90000"/>
              </a:lnSpc>
            </a:pPr>
            <a:r>
              <a:rPr lang="en-US" sz="3200">
                <a:latin typeface="Arial" panose="020B0604020202020204" pitchFamily="34" charset="0"/>
                <a:ea typeface="MS PGothic" panose="020B0600070205080204" pitchFamily="48" charset="-128"/>
              </a:rPr>
              <a:t>By assuming the electron pairs are placed as far as possible from each other, we can predict the shape of the molecule.</a:t>
            </a:r>
            <a:endParaRPr lang="en-US" sz="3200">
              <a:latin typeface="Arial" panose="020B0604020202020204" pitchFamily="34" charset="0"/>
              <a:ea typeface="MS PGothic" panose="020B0600070205080204" pitchFamily="48" charset="-128"/>
            </a:endParaRPr>
          </a:p>
        </p:txBody>
      </p:sp>
      <p:sp>
        <p:nvSpPr>
          <p:cNvPr id="8195" name="TextBox 1"/>
          <p:cNvSpPr txBox="1">
            <a:spLocks noChangeArrowheads="1"/>
          </p:cNvSpPr>
          <p:nvPr/>
        </p:nvSpPr>
        <p:spPr bwMode="auto">
          <a:xfrm>
            <a:off x="0" y="5715000"/>
            <a:ext cx="7924800" cy="1076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48" charset="-128"/>
                <a:cs typeface="MS PGothic" panose="020B0600070205080204" pitchFamily="48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48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48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48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48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48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48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48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48" charset="-128"/>
              </a:defRPr>
            </a:lvl9pPr>
          </a:lstStyle>
          <a:p>
            <a:pPr>
              <a:buFontTx/>
              <a:buChar char="•"/>
            </a:pPr>
            <a:r>
              <a:rPr lang="en-US" sz="3200" dirty="0"/>
              <a:t>This is the Valence-Shell Electron-Pair Repulsion</a:t>
            </a:r>
            <a:r>
              <a:rPr lang="en-US" sz="3200" b="1" dirty="0"/>
              <a:t> (VSEPR)</a:t>
            </a:r>
            <a:r>
              <a:rPr lang="en-US" sz="3200" dirty="0"/>
              <a:t> model.</a:t>
            </a:r>
            <a:endParaRPr lang="en-US" sz="3200" dirty="0"/>
          </a:p>
        </p:txBody>
      </p:sp>
      <p:pic>
        <p:nvPicPr>
          <p:cNvPr id="8196" name="Picture 5" descr="09_03_Figure.jpg"/>
          <p:cNvPicPr>
            <a:picLocks noChangeAspect="1"/>
          </p:cNvPicPr>
          <p:nvPr/>
        </p:nvPicPr>
        <p:blipFill>
          <a:blip r:embed="rId1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718"/>
          <a:stretch>
            <a:fillRect/>
          </a:stretch>
        </p:blipFill>
        <p:spPr bwMode="auto">
          <a:xfrm>
            <a:off x="5602605" y="413385"/>
            <a:ext cx="6589395" cy="48494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 advTm="73891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9" name="Rectangle 2"/>
          <p:cNvSpPr>
            <a:spLocks noGrp="1" noChangeArrowheads="1"/>
          </p:cNvSpPr>
          <p:nvPr>
            <p:ph type="title"/>
          </p:nvPr>
        </p:nvSpPr>
        <p:spPr>
          <a:xfrm>
            <a:off x="3140710" y="76200"/>
            <a:ext cx="9051290" cy="1122045"/>
          </a:xfrm>
        </p:spPr>
        <p:txBody>
          <a:bodyPr>
            <a:noAutofit/>
          </a:bodyPr>
          <a:lstStyle/>
          <a:p>
            <a:pPr eaLnBrk="1" hangingPunct="1"/>
            <a:r>
              <a:rPr lang="en-US" sz="4000">
                <a:latin typeface="Arial" panose="020B0604020202020204" pitchFamily="34" charset="0"/>
                <a:ea typeface="MS PGothic" panose="020B0600070205080204" pitchFamily="48" charset="-128"/>
              </a:rPr>
              <a:t>Valence-Shell Electron-Pair Repulsion </a:t>
            </a:r>
            <a:br>
              <a:rPr lang="en-US" sz="4000">
                <a:latin typeface="Arial" panose="020B0604020202020204" pitchFamily="34" charset="0"/>
                <a:ea typeface="MS PGothic" panose="020B0600070205080204" pitchFamily="48" charset="-128"/>
              </a:rPr>
            </a:br>
            <a:r>
              <a:rPr lang="en-US" sz="4000">
                <a:latin typeface="Arial" panose="020B0604020202020204" pitchFamily="34" charset="0"/>
                <a:ea typeface="MS PGothic" panose="020B0600070205080204" pitchFamily="48" charset="-128"/>
              </a:rPr>
              <a:t>(VSEPR) Model</a:t>
            </a:r>
            <a:endParaRPr lang="en-US" sz="4000">
              <a:latin typeface="Arial" panose="020B0604020202020204" pitchFamily="34" charset="0"/>
              <a:ea typeface="MS PGothic" panose="020B0600070205080204" pitchFamily="48" charset="-128"/>
            </a:endParaRPr>
          </a:p>
        </p:txBody>
      </p:sp>
      <p:sp>
        <p:nvSpPr>
          <p:cNvPr id="12290" name="Rectangle 3"/>
          <p:cNvSpPr>
            <a:spLocks noGrp="1" noChangeArrowheads="1"/>
          </p:cNvSpPr>
          <p:nvPr>
            <p:ph type="body" sz="half" idx="2"/>
          </p:nvPr>
        </p:nvSpPr>
        <p:spPr>
          <a:xfrm>
            <a:off x="4866005" y="1524000"/>
            <a:ext cx="5649595" cy="4876800"/>
          </a:xfrm>
        </p:spPr>
        <p:txBody>
          <a:bodyPr>
            <a:noAutofit/>
          </a:bodyPr>
          <a:lstStyle/>
          <a:p>
            <a:pPr eaLnBrk="1" hangingPunct="1">
              <a:buFontTx/>
              <a:buNone/>
            </a:pPr>
            <a:r>
              <a:rPr lang="en-US" sz="3200" i="1" dirty="0">
                <a:latin typeface="Arial" panose="020B0604020202020204" pitchFamily="34" charset="0"/>
                <a:ea typeface="MS PGothic" panose="020B0600070205080204" pitchFamily="48" charset="-128"/>
              </a:rPr>
              <a:t>	“The best arrangement of a given number of electron domains is the one that </a:t>
            </a:r>
            <a:r>
              <a:rPr lang="en-US" sz="3200" i="1" dirty="0">
                <a:solidFill>
                  <a:srgbClr val="FF0000"/>
                </a:solidFill>
                <a:latin typeface="Arial" panose="020B0604020202020204" pitchFamily="34" charset="0"/>
                <a:ea typeface="MS PGothic" panose="020B0600070205080204" pitchFamily="48" charset="-128"/>
              </a:rPr>
              <a:t>minimizes</a:t>
            </a:r>
            <a:r>
              <a:rPr lang="en-US" sz="3200" i="1" dirty="0">
                <a:latin typeface="Arial" panose="020B0604020202020204" pitchFamily="34" charset="0"/>
                <a:ea typeface="MS PGothic" panose="020B0600070205080204" pitchFamily="48" charset="-128"/>
              </a:rPr>
              <a:t> the </a:t>
            </a:r>
            <a:r>
              <a:rPr lang="en-US" sz="3200" i="1" dirty="0">
                <a:solidFill>
                  <a:srgbClr val="FF0000"/>
                </a:solidFill>
                <a:latin typeface="Arial" panose="020B0604020202020204" pitchFamily="34" charset="0"/>
                <a:ea typeface="MS PGothic" panose="020B0600070205080204" pitchFamily="48" charset="-128"/>
              </a:rPr>
              <a:t>repulsions</a:t>
            </a:r>
            <a:r>
              <a:rPr lang="en-US" sz="3200" i="1" dirty="0">
                <a:latin typeface="Arial" panose="020B0604020202020204" pitchFamily="34" charset="0"/>
                <a:ea typeface="MS PGothic" panose="020B0600070205080204" pitchFamily="48" charset="-128"/>
              </a:rPr>
              <a:t> among them.”</a:t>
            </a:r>
            <a:endParaRPr lang="en-US" sz="3200" i="1" dirty="0">
              <a:latin typeface="Arial" panose="020B0604020202020204" pitchFamily="34" charset="0"/>
              <a:ea typeface="MS PGothic" panose="020B0600070205080204" pitchFamily="48" charset="-128"/>
            </a:endParaRPr>
          </a:p>
          <a:p>
            <a:pPr eaLnBrk="1" hangingPunct="1">
              <a:buFontTx/>
              <a:buNone/>
            </a:pPr>
            <a:r>
              <a:rPr lang="en-US" sz="3200" dirty="0">
                <a:latin typeface="Arial" panose="020B0604020202020204" pitchFamily="34" charset="0"/>
                <a:ea typeface="MS PGothic" panose="020B0600070205080204" pitchFamily="48" charset="-128"/>
              </a:rPr>
              <a:t>	(The balloon analogy in the figure to the left demonstrates the maximum distances, which minimize repulsions.)</a:t>
            </a:r>
            <a:endParaRPr lang="en-US" sz="3200" dirty="0">
              <a:latin typeface="Arial" panose="020B0604020202020204" pitchFamily="34" charset="0"/>
              <a:ea typeface="MS PGothic" panose="020B0600070205080204" pitchFamily="48" charset="-128"/>
            </a:endParaRPr>
          </a:p>
        </p:txBody>
      </p:sp>
      <p:pic>
        <p:nvPicPr>
          <p:cNvPr id="12291" name="Picture 4" descr="09_05_Figure.jpg"/>
          <p:cNvPicPr>
            <a:picLocks noChangeAspect="1"/>
          </p:cNvPicPr>
          <p:nvPr/>
        </p:nvPicPr>
        <p:blipFill>
          <a:blip r:embed="rId1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408"/>
          <a:stretch>
            <a:fillRect/>
          </a:stretch>
        </p:blipFill>
        <p:spPr bwMode="auto">
          <a:xfrm>
            <a:off x="598805" y="-16510"/>
            <a:ext cx="2217420" cy="68745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 advTm="50505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7" name="Rectangle 2"/>
          <p:cNvSpPr>
            <a:spLocks noGrp="1" noChangeArrowheads="1"/>
          </p:cNvSpPr>
          <p:nvPr>
            <p:ph type="title"/>
          </p:nvPr>
        </p:nvSpPr>
        <p:spPr>
          <a:xfrm>
            <a:off x="1524000" y="33338"/>
            <a:ext cx="9144000" cy="804862"/>
          </a:xfrm>
        </p:spPr>
        <p:txBody>
          <a:bodyPr/>
          <a:lstStyle/>
          <a:p>
            <a:pPr algn="ctr" eaLnBrk="1" hangingPunct="1"/>
            <a:r>
              <a:rPr lang="en-US" sz="4000">
                <a:latin typeface="Arial" panose="020B0604020202020204" pitchFamily="34" charset="0"/>
                <a:ea typeface="MS PGothic" panose="020B0600070205080204" pitchFamily="48" charset="-128"/>
              </a:rPr>
              <a:t>Electron-Domain Geometries</a:t>
            </a:r>
            <a:endParaRPr lang="en-US" sz="4000">
              <a:latin typeface="Arial" panose="020B0604020202020204" pitchFamily="34" charset="0"/>
              <a:ea typeface="MS PGothic" panose="020B0600070205080204" pitchFamily="48" charset="-128"/>
            </a:endParaRPr>
          </a:p>
        </p:txBody>
      </p:sp>
      <p:sp>
        <p:nvSpPr>
          <p:cNvPr id="14338" name="Rectangle 4"/>
          <p:cNvSpPr>
            <a:spLocks noGrp="1" noChangeArrowheads="1"/>
          </p:cNvSpPr>
          <p:nvPr>
            <p:ph type="body" sz="half" idx="2"/>
          </p:nvPr>
        </p:nvSpPr>
        <p:spPr>
          <a:xfrm>
            <a:off x="5116195" y="1066800"/>
            <a:ext cx="5551805" cy="5791200"/>
          </a:xfrm>
        </p:spPr>
        <p:txBody>
          <a:bodyPr>
            <a:noAutofit/>
          </a:bodyPr>
          <a:lstStyle/>
          <a:p>
            <a:pPr eaLnBrk="1" hangingPunct="1"/>
            <a:r>
              <a:rPr lang="en-US" sz="3200">
                <a:latin typeface="Arial" panose="020B0604020202020204" pitchFamily="34" charset="0"/>
                <a:ea typeface="MS PGothic" panose="020B0600070205080204" pitchFamily="48" charset="-128"/>
              </a:rPr>
              <a:t>The Table shows the electron-domain geometries for two through six electron domains around a central atom.</a:t>
            </a:r>
            <a:endParaRPr lang="en-US" sz="3200">
              <a:latin typeface="Arial" panose="020B0604020202020204" pitchFamily="34" charset="0"/>
              <a:ea typeface="MS PGothic" panose="020B0600070205080204" pitchFamily="48" charset="-128"/>
            </a:endParaRPr>
          </a:p>
          <a:p>
            <a:pPr eaLnBrk="1" hangingPunct="1"/>
            <a:r>
              <a:rPr lang="en-US" sz="3200">
                <a:latin typeface="Arial" panose="020B0604020202020204" pitchFamily="34" charset="0"/>
                <a:ea typeface="MS PGothic" panose="020B0600070205080204" pitchFamily="48" charset="-128"/>
              </a:rPr>
              <a:t>To determine the electron-domain geometry, count the total number of lone pairs, single, double, and triple bonds on </a:t>
            </a:r>
            <a:br>
              <a:rPr lang="en-US" sz="3200">
                <a:latin typeface="Arial" panose="020B0604020202020204" pitchFamily="34" charset="0"/>
                <a:ea typeface="MS PGothic" panose="020B0600070205080204" pitchFamily="48" charset="-128"/>
              </a:rPr>
            </a:br>
            <a:r>
              <a:rPr lang="en-US" sz="3200">
                <a:latin typeface="Arial" panose="020B0604020202020204" pitchFamily="34" charset="0"/>
                <a:ea typeface="MS PGothic" panose="020B0600070205080204" pitchFamily="48" charset="-128"/>
              </a:rPr>
              <a:t>the central atom.</a:t>
            </a:r>
            <a:endParaRPr lang="en-US" sz="3200">
              <a:latin typeface="Arial" panose="020B0604020202020204" pitchFamily="34" charset="0"/>
              <a:ea typeface="MS PGothic" panose="020B0600070205080204" pitchFamily="48" charset="-128"/>
            </a:endParaRPr>
          </a:p>
        </p:txBody>
      </p:sp>
      <p:pic>
        <p:nvPicPr>
          <p:cNvPr id="14339" name="Picture 4" descr="09_01_Table.jpg"/>
          <p:cNvPicPr>
            <a:picLocks noChangeAspect="1"/>
          </p:cNvPicPr>
          <p:nvPr/>
        </p:nvPicPr>
        <p:blipFill>
          <a:blip r:embed="rId1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632"/>
          <a:stretch>
            <a:fillRect/>
          </a:stretch>
        </p:blipFill>
        <p:spPr bwMode="auto">
          <a:xfrm>
            <a:off x="663575" y="685800"/>
            <a:ext cx="4190365" cy="61715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 advTm="52922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Rectangle 2"/>
          <p:cNvSpPr>
            <a:spLocks noGrp="1" noChangeArrowheads="1"/>
          </p:cNvSpPr>
          <p:nvPr>
            <p:ph type="title"/>
          </p:nvPr>
        </p:nvSpPr>
        <p:spPr>
          <a:xfrm>
            <a:off x="1524000" y="0"/>
            <a:ext cx="9144000" cy="1143000"/>
          </a:xfrm>
        </p:spPr>
        <p:txBody>
          <a:bodyPr/>
          <a:lstStyle/>
          <a:p>
            <a:pPr algn="ctr" eaLnBrk="1" hangingPunct="1"/>
            <a:r>
              <a:rPr lang="en-US" dirty="0">
                <a:latin typeface="Arial" panose="020B0604020202020204" pitchFamily="34" charset="0"/>
                <a:ea typeface="MS PGothic" panose="020B0600070205080204" pitchFamily="48" charset="-128"/>
              </a:rPr>
              <a:t>Molecular Geometries</a:t>
            </a:r>
            <a:endParaRPr lang="en-US" dirty="0">
              <a:latin typeface="Arial" panose="020B0604020202020204" pitchFamily="34" charset="0"/>
              <a:ea typeface="MS PGothic" panose="020B0600070205080204" pitchFamily="48" charset="-128"/>
            </a:endParaRPr>
          </a:p>
        </p:txBody>
      </p:sp>
      <p:sp>
        <p:nvSpPr>
          <p:cNvPr id="16386" name="Rectangle 4"/>
          <p:cNvSpPr>
            <a:spLocks noGrp="1" noChangeArrowheads="1"/>
          </p:cNvSpPr>
          <p:nvPr>
            <p:ph type="body" sz="half" idx="2"/>
          </p:nvPr>
        </p:nvSpPr>
        <p:spPr>
          <a:xfrm>
            <a:off x="2089785" y="3907790"/>
            <a:ext cx="8229600" cy="3003550"/>
          </a:xfrm>
        </p:spPr>
        <p:txBody>
          <a:bodyPr>
            <a:noAutofit/>
          </a:bodyPr>
          <a:lstStyle/>
          <a:p>
            <a:pPr eaLnBrk="1" hangingPunct="1">
              <a:lnSpc>
                <a:spcPct val="90000"/>
              </a:lnSpc>
            </a:pPr>
            <a:r>
              <a:rPr lang="en-US" dirty="0">
                <a:latin typeface="Arial" panose="020B0604020202020204" pitchFamily="34" charset="0"/>
                <a:ea typeface="MS PGothic" panose="020B0600070205080204" pitchFamily="48" charset="-128"/>
              </a:rPr>
              <a:t>Once you have determined the </a:t>
            </a:r>
            <a:r>
              <a:rPr lang="en-US" b="1" dirty="0">
                <a:solidFill>
                  <a:srgbClr val="FF0000"/>
                </a:solidFill>
                <a:latin typeface="Arial" panose="020B0604020202020204" pitchFamily="34" charset="0"/>
                <a:ea typeface="MS PGothic" panose="020B0600070205080204" pitchFamily="48" charset="-128"/>
              </a:rPr>
              <a:t>electron-domain geometry</a:t>
            </a:r>
            <a:r>
              <a:rPr lang="en-US" dirty="0">
                <a:latin typeface="Arial" panose="020B0604020202020204" pitchFamily="34" charset="0"/>
                <a:ea typeface="MS PGothic" panose="020B0600070205080204" pitchFamily="48" charset="-128"/>
              </a:rPr>
              <a:t>, use the arrangement of the bonded atoms </a:t>
            </a:r>
            <a:br>
              <a:rPr lang="en-US" dirty="0">
                <a:latin typeface="Arial" panose="020B0604020202020204" pitchFamily="34" charset="0"/>
                <a:ea typeface="MS PGothic" panose="020B0600070205080204" pitchFamily="48" charset="-128"/>
              </a:rPr>
            </a:br>
            <a:r>
              <a:rPr lang="en-US" dirty="0">
                <a:latin typeface="Arial" panose="020B0604020202020204" pitchFamily="34" charset="0"/>
                <a:ea typeface="MS PGothic" panose="020B0600070205080204" pitchFamily="48" charset="-128"/>
              </a:rPr>
              <a:t>to determine the </a:t>
            </a:r>
            <a:r>
              <a:rPr lang="en-US" b="1" u="sng" dirty="0">
                <a:solidFill>
                  <a:srgbClr val="7030A0"/>
                </a:solidFill>
                <a:latin typeface="Arial" panose="020B0604020202020204" pitchFamily="34" charset="0"/>
                <a:ea typeface="MS PGothic" panose="020B0600070205080204" pitchFamily="48" charset="-128"/>
              </a:rPr>
              <a:t>molecular geometry</a:t>
            </a:r>
            <a:r>
              <a:rPr lang="en-US" dirty="0">
                <a:latin typeface="Arial" panose="020B0604020202020204" pitchFamily="34" charset="0"/>
                <a:ea typeface="MS PGothic" panose="020B0600070205080204" pitchFamily="48" charset="-128"/>
              </a:rPr>
              <a:t>.</a:t>
            </a:r>
            <a:endParaRPr lang="en-US" dirty="0">
              <a:latin typeface="Arial" panose="020B0604020202020204" pitchFamily="34" charset="0"/>
              <a:ea typeface="MS PGothic" panose="020B0600070205080204" pitchFamily="48" charset="-128"/>
            </a:endParaRPr>
          </a:p>
          <a:p>
            <a:pPr eaLnBrk="1" hangingPunct="1">
              <a:lnSpc>
                <a:spcPct val="90000"/>
              </a:lnSpc>
            </a:pPr>
            <a:r>
              <a:rPr lang="en-US" dirty="0">
                <a:latin typeface="Arial" panose="020B0604020202020204" pitchFamily="34" charset="0"/>
                <a:ea typeface="MS PGothic" panose="020B0600070205080204" pitchFamily="48" charset="-128"/>
              </a:rPr>
              <a:t>Tables 9.2 and 9.3 show the potential molecular geometries. We will look at each electron domain </a:t>
            </a:r>
            <a:br>
              <a:rPr lang="en-US" dirty="0">
                <a:latin typeface="Arial" panose="020B0604020202020204" pitchFamily="34" charset="0"/>
                <a:ea typeface="MS PGothic" panose="020B0600070205080204" pitchFamily="48" charset="-128"/>
              </a:rPr>
            </a:br>
            <a:r>
              <a:rPr lang="en-US" dirty="0">
                <a:latin typeface="Arial" panose="020B0604020202020204" pitchFamily="34" charset="0"/>
                <a:ea typeface="MS PGothic" panose="020B0600070205080204" pitchFamily="48" charset="-128"/>
              </a:rPr>
              <a:t>to see what molecular geometries are possible.</a:t>
            </a:r>
            <a:endParaRPr lang="en-US" dirty="0">
              <a:latin typeface="Arial" panose="020B0604020202020204" pitchFamily="34" charset="0"/>
              <a:ea typeface="MS PGothic" panose="020B0600070205080204" pitchFamily="48" charset="-128"/>
            </a:endParaRPr>
          </a:p>
        </p:txBody>
      </p:sp>
      <p:pic>
        <p:nvPicPr>
          <p:cNvPr id="16387" name="Picture 4" descr="09_06_Figure.jpg"/>
          <p:cNvPicPr>
            <a:picLocks noChangeAspect="1"/>
          </p:cNvPicPr>
          <p:nvPr/>
        </p:nvPicPr>
        <p:blipFill>
          <a:blip r:embed="rId1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791"/>
          <a:stretch>
            <a:fillRect/>
          </a:stretch>
        </p:blipFill>
        <p:spPr bwMode="auto">
          <a:xfrm>
            <a:off x="2201228" y="935990"/>
            <a:ext cx="7788275" cy="297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 advTm="61174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en-US" sz="4800">
                <a:latin typeface="Arial" panose="020B0604020202020204" pitchFamily="34" charset="0"/>
                <a:ea typeface="MS PGothic" panose="020B0600070205080204" pitchFamily="48" charset="-128"/>
              </a:rPr>
              <a:t>Linear Electron Domain</a:t>
            </a:r>
            <a:endParaRPr lang="en-US" sz="4800">
              <a:latin typeface="Arial" panose="020B0604020202020204" pitchFamily="34" charset="0"/>
              <a:ea typeface="MS PGothic" panose="020B0600070205080204" pitchFamily="48" charset="-128"/>
            </a:endParaRPr>
          </a:p>
        </p:txBody>
      </p:sp>
      <p:sp>
        <p:nvSpPr>
          <p:cNvPr id="18434" name="Rectangle 4"/>
          <p:cNvSpPr>
            <a:spLocks noGrp="1" noChangeArrowheads="1"/>
          </p:cNvSpPr>
          <p:nvPr>
            <p:ph type="body" sz="half" idx="2"/>
          </p:nvPr>
        </p:nvSpPr>
        <p:spPr>
          <a:xfrm>
            <a:off x="2291080" y="4419600"/>
            <a:ext cx="7772400" cy="2438400"/>
          </a:xfrm>
        </p:spPr>
        <p:txBody>
          <a:bodyPr/>
          <a:lstStyle/>
          <a:p>
            <a:pPr eaLnBrk="1" hangingPunct="1"/>
            <a:r>
              <a:rPr lang="en-US" sz="2800">
                <a:latin typeface="Arial" panose="020B0604020202020204" pitchFamily="34" charset="0"/>
                <a:ea typeface="MS PGothic" panose="020B0600070205080204" pitchFamily="48" charset="-128"/>
              </a:rPr>
              <a:t>In the linear domain, there is only one molecular geometry: linear.</a:t>
            </a:r>
            <a:endParaRPr lang="en-US" sz="2800">
              <a:latin typeface="Arial" panose="020B0604020202020204" pitchFamily="34" charset="0"/>
              <a:ea typeface="MS PGothic" panose="020B0600070205080204" pitchFamily="48" charset="-128"/>
            </a:endParaRPr>
          </a:p>
          <a:p>
            <a:pPr eaLnBrk="1" hangingPunct="1"/>
            <a:r>
              <a:rPr lang="en-US" sz="2800">
                <a:latin typeface="Arial" panose="020B0604020202020204" pitchFamily="34" charset="0"/>
                <a:ea typeface="MS PGothic" panose="020B0600070205080204" pitchFamily="48" charset="-128"/>
              </a:rPr>
              <a:t>NOTE: If there are only two atoms in the molecule, the molecule will be linear no matter what the electron domain is.</a:t>
            </a:r>
            <a:endParaRPr lang="en-US" sz="2800">
              <a:latin typeface="Arial" panose="020B0604020202020204" pitchFamily="34" charset="0"/>
              <a:ea typeface="MS PGothic" panose="020B0600070205080204" pitchFamily="48" charset="-128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010285"/>
            <a:ext cx="12207240" cy="3093085"/>
          </a:xfrm>
          <a:prstGeom prst="rect">
            <a:avLst/>
          </a:prstGeom>
        </p:spPr>
      </p:pic>
    </p:spTree>
  </p:cSld>
  <p:clrMapOvr>
    <a:masterClrMapping/>
  </p:clrMapOvr>
  <p:transition spd="slow" advTm="38010"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7075" y="2247265"/>
            <a:ext cx="8196580" cy="2688590"/>
          </a:xfrm>
          <a:prstGeom prst="rect">
            <a:avLst/>
          </a:prstGeom>
        </p:spPr>
      </p:pic>
      <p:sp>
        <p:nvSpPr>
          <p:cNvPr id="20481" name="Rectangle 2"/>
          <p:cNvSpPr>
            <a:spLocks noGrp="1" noChangeArrowheads="1"/>
          </p:cNvSpPr>
          <p:nvPr>
            <p:ph type="title"/>
          </p:nvPr>
        </p:nvSpPr>
        <p:spPr>
          <a:xfrm>
            <a:off x="1523365" y="-108585"/>
            <a:ext cx="9144000" cy="1143000"/>
          </a:xfrm>
        </p:spPr>
        <p:txBody>
          <a:bodyPr/>
          <a:lstStyle/>
          <a:p>
            <a:pPr algn="ctr" eaLnBrk="1" hangingPunct="1"/>
            <a:r>
              <a:rPr lang="en-US" sz="4800" dirty="0" err="1">
                <a:latin typeface="Arial" panose="020B0604020202020204" pitchFamily="34" charset="0"/>
                <a:ea typeface="MS PGothic" panose="020B0600070205080204" pitchFamily="48" charset="-128"/>
              </a:rPr>
              <a:t>Trigonal</a:t>
            </a:r>
            <a:r>
              <a:rPr lang="en-US" sz="4800" dirty="0">
                <a:latin typeface="Arial" panose="020B0604020202020204" pitchFamily="34" charset="0"/>
                <a:ea typeface="MS PGothic" panose="020B0600070205080204" pitchFamily="48" charset="-128"/>
              </a:rPr>
              <a:t> Planar Electron Domain</a:t>
            </a:r>
            <a:endParaRPr lang="en-US" sz="4800" dirty="0">
              <a:latin typeface="Arial" panose="020B0604020202020204" pitchFamily="34" charset="0"/>
              <a:ea typeface="MS PGothic" panose="020B0600070205080204" pitchFamily="48" charset="-128"/>
            </a:endParaRPr>
          </a:p>
        </p:txBody>
      </p:sp>
      <p:sp>
        <p:nvSpPr>
          <p:cNvPr id="11267" name="Rectangle 4"/>
          <p:cNvSpPr>
            <a:spLocks noGrp="1" noChangeArrowheads="1"/>
          </p:cNvSpPr>
          <p:nvPr>
            <p:ph type="body" sz="half" idx="2"/>
          </p:nvPr>
        </p:nvSpPr>
        <p:spPr>
          <a:xfrm>
            <a:off x="876300" y="4866005"/>
            <a:ext cx="10438765" cy="1828800"/>
          </a:xfrm>
        </p:spPr>
        <p:txBody>
          <a:bodyPr>
            <a:noAutofit/>
          </a:bodyPr>
          <a:lstStyle/>
          <a:p>
            <a:pPr eaLnBrk="1" hangingPunct="1">
              <a:defRPr/>
            </a:pPr>
            <a:r>
              <a:rPr lang="en-US" dirty="0">
                <a:latin typeface="Arial" panose="020B0604020202020204" pitchFamily="34" charset="0"/>
                <a:ea typeface="MS PGothic" panose="020B0600070205080204" pitchFamily="48" charset="-128"/>
              </a:rPr>
              <a:t>There are two molecular geometries:</a:t>
            </a:r>
            <a:endParaRPr lang="en-US" dirty="0">
              <a:latin typeface="Arial" panose="020B0604020202020204" pitchFamily="34" charset="0"/>
              <a:ea typeface="MS PGothic" panose="020B0600070205080204" pitchFamily="48" charset="-128"/>
            </a:endParaRPr>
          </a:p>
          <a:p>
            <a:pPr marL="740410" indent="-283210" eaLnBrk="1" hangingPunct="1">
              <a:buFont typeface="Lucida Grande"/>
              <a:buChar char="–"/>
              <a:defRPr/>
            </a:pPr>
            <a:r>
              <a:rPr lang="en-US" dirty="0" err="1">
                <a:latin typeface="Arial" panose="020B0604020202020204" pitchFamily="34" charset="0"/>
                <a:ea typeface="MS PGothic" panose="020B0600070205080204" pitchFamily="48" charset="-128"/>
              </a:rPr>
              <a:t>trigonal</a:t>
            </a:r>
            <a:r>
              <a:rPr lang="en-US" dirty="0">
                <a:latin typeface="Arial" panose="020B0604020202020204" pitchFamily="34" charset="0"/>
                <a:ea typeface="MS PGothic" panose="020B0600070205080204" pitchFamily="48" charset="-128"/>
              </a:rPr>
              <a:t> planar, if all electron domains are bonding, and</a:t>
            </a:r>
            <a:endParaRPr lang="en-US" dirty="0">
              <a:latin typeface="Arial" panose="020B0604020202020204" pitchFamily="34" charset="0"/>
              <a:ea typeface="MS PGothic" panose="020B0600070205080204" pitchFamily="48" charset="-128"/>
            </a:endParaRPr>
          </a:p>
          <a:p>
            <a:pPr marL="740410" indent="-283210" eaLnBrk="1" hangingPunct="1">
              <a:buFont typeface="Lucida Grande"/>
              <a:buChar char="–"/>
              <a:defRPr/>
            </a:pPr>
            <a:r>
              <a:rPr lang="en-US" dirty="0">
                <a:latin typeface="Arial" panose="020B0604020202020204" pitchFamily="34" charset="0"/>
                <a:ea typeface="MS PGothic" panose="020B0600070205080204" pitchFamily="48" charset="-128"/>
              </a:rPr>
              <a:t>bent, if one of the domains is a nonbonding pair.</a:t>
            </a:r>
            <a:endParaRPr lang="en-US" dirty="0">
              <a:latin typeface="Arial" panose="020B0604020202020204" pitchFamily="34" charset="0"/>
              <a:ea typeface="MS PGothic" panose="020B0600070205080204" pitchFamily="48" charset="-128"/>
            </a:endParaRPr>
          </a:p>
        </p:txBody>
      </p:sp>
      <p:sp>
        <p:nvSpPr>
          <p:cNvPr id="4" name="Rectangle 3"/>
          <p:cNvSpPr/>
          <p:nvPr/>
        </p:nvSpPr>
        <p:spPr bwMode="auto">
          <a:xfrm>
            <a:off x="6805295" y="2247900"/>
            <a:ext cx="1574165" cy="1377950"/>
          </a:xfrm>
          <a:prstGeom prst="rect">
            <a:avLst/>
          </a:prstGeom>
          <a:noFill/>
          <a:ln>
            <a:solidFill>
              <a:srgbClr val="FF0000"/>
            </a:solidFill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MS PGothic" panose="020B0600070205080204" pitchFamily="48" charset="-128"/>
            </a:endParaRPr>
          </a:p>
        </p:txBody>
      </p:sp>
      <p:sp>
        <p:nvSpPr>
          <p:cNvPr id="7" name="Rectangle 6"/>
          <p:cNvSpPr/>
          <p:nvPr/>
        </p:nvSpPr>
        <p:spPr bwMode="auto">
          <a:xfrm>
            <a:off x="6805295" y="3625850"/>
            <a:ext cx="1574165" cy="1240155"/>
          </a:xfrm>
          <a:prstGeom prst="rect">
            <a:avLst/>
          </a:prstGeom>
          <a:noFill/>
          <a:ln>
            <a:solidFill>
              <a:srgbClr val="FF0000"/>
            </a:solidFill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MS PGothic" panose="020B0600070205080204" pitchFamily="48" charset="-128"/>
            </a:endParaRPr>
          </a:p>
        </p:txBody>
      </p:sp>
      <p:pic>
        <p:nvPicPr>
          <p:cNvPr id="10" name="Picture 9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64055" y="685165"/>
            <a:ext cx="8261985" cy="1562100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  <p:transition spd="slow" advTm="48756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ldLvl="0" animBg="1"/>
      <p:bldP spid="7" grpId="0" bldLvl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Rectangle 2"/>
          <p:cNvSpPr>
            <a:spLocks noGrp="1" noChangeArrowheads="1"/>
          </p:cNvSpPr>
          <p:nvPr>
            <p:ph type="title"/>
          </p:nvPr>
        </p:nvSpPr>
        <p:spPr>
          <a:xfrm>
            <a:off x="1524000" y="-76200"/>
            <a:ext cx="9144000" cy="1143000"/>
          </a:xfrm>
        </p:spPr>
        <p:txBody>
          <a:bodyPr/>
          <a:lstStyle/>
          <a:p>
            <a:pPr algn="ctr" eaLnBrk="1" hangingPunct="1"/>
            <a:r>
              <a:rPr lang="en-US" sz="4800" dirty="0">
                <a:latin typeface="Arial" panose="020B0604020202020204" pitchFamily="34" charset="0"/>
                <a:ea typeface="MS PGothic" panose="020B0600070205080204" pitchFamily="48" charset="-128"/>
              </a:rPr>
              <a:t>Tetrahedral Electron Domain</a:t>
            </a:r>
            <a:endParaRPr lang="en-US" sz="4800" dirty="0">
              <a:latin typeface="Arial" panose="020B0604020202020204" pitchFamily="34" charset="0"/>
              <a:ea typeface="MS PGothic" panose="020B0600070205080204" pitchFamily="48" charset="-128"/>
            </a:endParaRPr>
          </a:p>
        </p:txBody>
      </p:sp>
      <p:sp>
        <p:nvSpPr>
          <p:cNvPr id="12291" name="Rectangle 4"/>
          <p:cNvSpPr>
            <a:spLocks noGrp="1" noChangeArrowheads="1"/>
          </p:cNvSpPr>
          <p:nvPr>
            <p:ph type="body" sz="half" idx="2"/>
          </p:nvPr>
        </p:nvSpPr>
        <p:spPr>
          <a:xfrm>
            <a:off x="2144395" y="4876800"/>
            <a:ext cx="7772400" cy="1981200"/>
          </a:xfrm>
        </p:spPr>
        <p:txBody>
          <a:bodyPr/>
          <a:lstStyle/>
          <a:p>
            <a:pPr eaLnBrk="1" hangingPunct="1">
              <a:defRPr/>
            </a:pPr>
            <a:r>
              <a:rPr lang="en-US" dirty="0">
                <a:latin typeface="Arial" panose="020B0604020202020204" pitchFamily="34" charset="0"/>
                <a:ea typeface="MS PGothic" panose="020B0600070205080204" pitchFamily="48" charset="-128"/>
              </a:rPr>
              <a:t>There are three molecular geometries:</a:t>
            </a:r>
            <a:endParaRPr lang="en-US" dirty="0">
              <a:latin typeface="Arial" panose="020B0604020202020204" pitchFamily="34" charset="0"/>
              <a:ea typeface="MS PGothic" panose="020B0600070205080204" pitchFamily="48" charset="-128"/>
            </a:endParaRPr>
          </a:p>
          <a:p>
            <a:pPr marL="740410" indent="-283210" eaLnBrk="1" hangingPunct="1">
              <a:buFont typeface="Lucida Grande"/>
              <a:buChar char="–"/>
              <a:defRPr/>
            </a:pPr>
            <a:r>
              <a:rPr lang="en-US" sz="2400" dirty="0">
                <a:latin typeface="Arial" panose="020B0604020202020204" pitchFamily="34" charset="0"/>
                <a:ea typeface="MS PGothic" panose="020B0600070205080204" pitchFamily="48" charset="-128"/>
              </a:rPr>
              <a:t>tetrahedral, if all are bonding pairs,</a:t>
            </a:r>
            <a:endParaRPr lang="en-US" sz="2400" dirty="0">
              <a:latin typeface="Arial" panose="020B0604020202020204" pitchFamily="34" charset="0"/>
              <a:ea typeface="MS PGothic" panose="020B0600070205080204" pitchFamily="48" charset="-128"/>
            </a:endParaRPr>
          </a:p>
          <a:p>
            <a:pPr marL="740410" indent="-283210" eaLnBrk="1" hangingPunct="1">
              <a:buFont typeface="Lucida Grande"/>
              <a:buChar char="–"/>
              <a:defRPr/>
            </a:pPr>
            <a:r>
              <a:rPr lang="en-US" sz="2400" dirty="0" err="1">
                <a:latin typeface="Arial" panose="020B0604020202020204" pitchFamily="34" charset="0"/>
                <a:ea typeface="MS PGothic" panose="020B0600070205080204" pitchFamily="48" charset="-128"/>
              </a:rPr>
              <a:t>trigonal</a:t>
            </a:r>
            <a:r>
              <a:rPr lang="en-US" sz="2400" dirty="0">
                <a:latin typeface="Arial" panose="020B0604020202020204" pitchFamily="34" charset="0"/>
                <a:ea typeface="MS PGothic" panose="020B0600070205080204" pitchFamily="48" charset="-128"/>
              </a:rPr>
              <a:t> pyramidal, if one is a nonbonding pair, and</a:t>
            </a:r>
            <a:endParaRPr lang="en-US" sz="2400" dirty="0">
              <a:latin typeface="Arial" panose="020B0604020202020204" pitchFamily="34" charset="0"/>
              <a:ea typeface="MS PGothic" panose="020B0600070205080204" pitchFamily="48" charset="-128"/>
            </a:endParaRPr>
          </a:p>
          <a:p>
            <a:pPr marL="740410" indent="-283210" eaLnBrk="1" hangingPunct="1">
              <a:buFont typeface="Lucida Grande"/>
              <a:buChar char="–"/>
              <a:defRPr/>
            </a:pPr>
            <a:r>
              <a:rPr lang="en-US" sz="2400" dirty="0">
                <a:latin typeface="Arial" panose="020B0604020202020204" pitchFamily="34" charset="0"/>
                <a:ea typeface="MS PGothic" panose="020B0600070205080204" pitchFamily="48" charset="-128"/>
              </a:rPr>
              <a:t>bent, if there are two nonbonding pairs.</a:t>
            </a:r>
            <a:endParaRPr lang="en-US" sz="2400" dirty="0">
              <a:latin typeface="Arial" panose="020B0604020202020204" pitchFamily="34" charset="0"/>
              <a:ea typeface="MS PGothic" panose="020B0600070205080204" pitchFamily="48" charset="-128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975" b="4869"/>
          <a:stretch>
            <a:fillRect/>
          </a:stretch>
        </p:blipFill>
        <p:spPr>
          <a:xfrm>
            <a:off x="2818765" y="1903730"/>
            <a:ext cx="6301105" cy="3093085"/>
          </a:xfrm>
          <a:prstGeom prst="rect">
            <a:avLst/>
          </a:prstGeom>
        </p:spPr>
      </p:pic>
      <p:pic>
        <p:nvPicPr>
          <p:cNvPr id="10" name="Picture 9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5730" y="770255"/>
            <a:ext cx="6249670" cy="1133475"/>
          </a:xfrm>
          <a:prstGeom prst="rect">
            <a:avLst/>
          </a:prstGeom>
        </p:spPr>
      </p:pic>
    </p:spTree>
  </p:cSld>
  <p:clrMapOvr>
    <a:masterClrMapping/>
  </p:clrMapOvr>
  <p:transition spd="slow" advTm="39721"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Rectangle 2"/>
          <p:cNvSpPr>
            <a:spLocks noGrp="1" noChangeArrowheads="1"/>
          </p:cNvSpPr>
          <p:nvPr>
            <p:ph type="title"/>
          </p:nvPr>
        </p:nvSpPr>
        <p:spPr>
          <a:xfrm>
            <a:off x="281940" y="76200"/>
            <a:ext cx="8796655" cy="1143000"/>
          </a:xfrm>
        </p:spPr>
        <p:txBody>
          <a:bodyPr/>
          <a:lstStyle/>
          <a:p>
            <a:pPr eaLnBrk="1" hangingPunct="1"/>
            <a:r>
              <a:rPr lang="en-US">
                <a:latin typeface="Arial" panose="020B0604020202020204" pitchFamily="34" charset="0"/>
                <a:ea typeface="MS PGothic" panose="020B0600070205080204" pitchFamily="48" charset="-128"/>
              </a:rPr>
              <a:t>Nonbonding Pairs and Bond Angle</a:t>
            </a:r>
            <a:endParaRPr lang="en-US">
              <a:latin typeface="Arial" panose="020B0604020202020204" pitchFamily="34" charset="0"/>
              <a:ea typeface="MS PGothic" panose="020B0600070205080204" pitchFamily="48" charset="-128"/>
            </a:endParaRPr>
          </a:p>
        </p:txBody>
      </p:sp>
      <p:sp>
        <p:nvSpPr>
          <p:cNvPr id="24578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1132840" y="1219200"/>
            <a:ext cx="6334760" cy="3025775"/>
          </a:xfrm>
        </p:spPr>
        <p:txBody>
          <a:bodyPr>
            <a:noAutofit/>
          </a:bodyPr>
          <a:lstStyle/>
          <a:p>
            <a:pPr eaLnBrk="1" hangingPunct="1"/>
            <a:r>
              <a:rPr lang="en-US" sz="3600" dirty="0">
                <a:latin typeface="Arial" panose="020B0604020202020204" pitchFamily="34" charset="0"/>
                <a:ea typeface="MS PGothic" panose="020B0600070205080204" pitchFamily="48" charset="-128"/>
              </a:rPr>
              <a:t>Nonbonding pairs are physically larger than bonding pairs.</a:t>
            </a:r>
            <a:endParaRPr lang="en-US" sz="3600" dirty="0">
              <a:latin typeface="Arial" panose="020B0604020202020204" pitchFamily="34" charset="0"/>
              <a:ea typeface="MS PGothic" panose="020B0600070205080204" pitchFamily="48" charset="-128"/>
            </a:endParaRPr>
          </a:p>
          <a:p>
            <a:pPr eaLnBrk="1" hangingPunct="1"/>
            <a:r>
              <a:rPr lang="en-US" sz="3600" dirty="0">
                <a:latin typeface="Arial" panose="020B0604020202020204" pitchFamily="34" charset="0"/>
                <a:ea typeface="MS PGothic" panose="020B0600070205080204" pitchFamily="48" charset="-128"/>
              </a:rPr>
              <a:t>Therefore, their repulsions are greater; this tends to </a:t>
            </a:r>
            <a:r>
              <a:rPr lang="en-US" sz="3600" dirty="0">
                <a:solidFill>
                  <a:srgbClr val="FF0000"/>
                </a:solidFill>
                <a:latin typeface="Arial" panose="020B0604020202020204" pitchFamily="34" charset="0"/>
                <a:ea typeface="MS PGothic" panose="020B0600070205080204" pitchFamily="48" charset="-128"/>
              </a:rPr>
              <a:t>compress</a:t>
            </a:r>
            <a:r>
              <a:rPr lang="en-US" sz="3600" dirty="0">
                <a:latin typeface="Arial" panose="020B0604020202020204" pitchFamily="34" charset="0"/>
                <a:ea typeface="MS PGothic" panose="020B0600070205080204" pitchFamily="48" charset="-128"/>
              </a:rPr>
              <a:t> bond </a:t>
            </a:r>
            <a:r>
              <a:rPr lang="en-US" sz="3600" dirty="0">
                <a:solidFill>
                  <a:srgbClr val="FF0000"/>
                </a:solidFill>
                <a:latin typeface="Arial" panose="020B0604020202020204" pitchFamily="34" charset="0"/>
                <a:ea typeface="MS PGothic" panose="020B0600070205080204" pitchFamily="48" charset="-128"/>
              </a:rPr>
              <a:t>angles</a:t>
            </a:r>
            <a:r>
              <a:rPr lang="en-US" sz="3600" dirty="0">
                <a:latin typeface="Arial" panose="020B0604020202020204" pitchFamily="34" charset="0"/>
                <a:ea typeface="MS PGothic" panose="020B0600070205080204" pitchFamily="48" charset="-128"/>
              </a:rPr>
              <a:t>.</a:t>
            </a:r>
            <a:endParaRPr lang="en-US" sz="3600" dirty="0">
              <a:latin typeface="Arial" panose="020B0604020202020204" pitchFamily="34" charset="0"/>
              <a:ea typeface="MS PGothic" panose="020B0600070205080204" pitchFamily="48" charset="-128"/>
            </a:endParaRPr>
          </a:p>
        </p:txBody>
      </p:sp>
      <p:pic>
        <p:nvPicPr>
          <p:cNvPr id="24579" name="Picture 5" descr="09_07_Figure.jpg"/>
          <p:cNvPicPr>
            <a:picLocks noChangeAspect="1"/>
          </p:cNvPicPr>
          <p:nvPr/>
        </p:nvPicPr>
        <p:blipFill>
          <a:blip r:embed="rId1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637"/>
          <a:stretch>
            <a:fillRect/>
          </a:stretch>
        </p:blipFill>
        <p:spPr bwMode="auto">
          <a:xfrm>
            <a:off x="9078595" y="103505"/>
            <a:ext cx="2764155" cy="66509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4580" name="Picture 6" descr="09_Pg351_UnFigure_5.jpg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923"/>
          <a:stretch>
            <a:fillRect/>
          </a:stretch>
        </p:blipFill>
        <p:spPr bwMode="auto">
          <a:xfrm>
            <a:off x="150495" y="4702810"/>
            <a:ext cx="8079105" cy="19767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 advTm="119919"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en-US" sz="4800">
                <a:latin typeface="Arial" panose="020B0604020202020204" pitchFamily="34" charset="0"/>
                <a:ea typeface="MS PGothic" panose="020B0600070205080204" pitchFamily="48" charset="-128"/>
              </a:rPr>
              <a:t>Multiple Bonds and Bond Angles</a:t>
            </a:r>
            <a:endParaRPr lang="en-US" sz="4800">
              <a:latin typeface="Arial" panose="020B0604020202020204" pitchFamily="34" charset="0"/>
              <a:ea typeface="MS PGothic" panose="020B0600070205080204" pitchFamily="48" charset="-128"/>
            </a:endParaRPr>
          </a:p>
        </p:txBody>
      </p:sp>
      <p:sp>
        <p:nvSpPr>
          <p:cNvPr id="26626" name="Rectangle 4"/>
          <p:cNvSpPr>
            <a:spLocks noGrp="1" noChangeArrowheads="1"/>
          </p:cNvSpPr>
          <p:nvPr>
            <p:ph type="body" sz="half" idx="2"/>
          </p:nvPr>
        </p:nvSpPr>
        <p:spPr>
          <a:xfrm>
            <a:off x="6139815" y="1197610"/>
            <a:ext cx="5496560" cy="5159375"/>
          </a:xfrm>
        </p:spPr>
        <p:txBody>
          <a:bodyPr>
            <a:noAutofit/>
          </a:bodyPr>
          <a:lstStyle/>
          <a:p>
            <a:pPr eaLnBrk="1" hangingPunct="1"/>
            <a:r>
              <a:rPr lang="en-US" sz="3600" dirty="0">
                <a:latin typeface="Arial" panose="020B0604020202020204" pitchFamily="34" charset="0"/>
                <a:ea typeface="MS PGothic" panose="020B0600070205080204" pitchFamily="48" charset="-128"/>
              </a:rPr>
              <a:t>Double and triple bonds have larger electron domains than single bonds.</a:t>
            </a:r>
            <a:endParaRPr lang="en-US" sz="3600" dirty="0">
              <a:latin typeface="Arial" panose="020B0604020202020204" pitchFamily="34" charset="0"/>
              <a:ea typeface="MS PGothic" panose="020B0600070205080204" pitchFamily="48" charset="-128"/>
            </a:endParaRPr>
          </a:p>
          <a:p>
            <a:pPr eaLnBrk="1" hangingPunct="1"/>
            <a:r>
              <a:rPr lang="en-US" sz="3600" dirty="0">
                <a:latin typeface="Arial" panose="020B0604020202020204" pitchFamily="34" charset="0"/>
                <a:ea typeface="MS PGothic" panose="020B0600070205080204" pitchFamily="48" charset="-128"/>
              </a:rPr>
              <a:t>They exert a greater repulsive force than single bonds, making their bond angles greater.</a:t>
            </a:r>
            <a:endParaRPr lang="en-US" sz="3600" dirty="0">
              <a:latin typeface="Arial" panose="020B0604020202020204" pitchFamily="34" charset="0"/>
              <a:ea typeface="MS PGothic" panose="020B0600070205080204" pitchFamily="48" charset="-128"/>
            </a:endParaRPr>
          </a:p>
        </p:txBody>
      </p:sp>
      <p:pic>
        <p:nvPicPr>
          <p:cNvPr id="2" name="Picture 1" descr="09_Pg352_UnFigure_1.jpg"/>
          <p:cNvPicPr>
            <a:picLocks noChangeAspect="1"/>
          </p:cNvPicPr>
          <p:nvPr/>
        </p:nvPicPr>
        <p:blipFill rotWithShape="1">
          <a:blip r:embed="rId1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659"/>
          <a:stretch>
            <a:fillRect/>
          </a:stretch>
        </p:blipFill>
        <p:spPr>
          <a:xfrm>
            <a:off x="2122805" y="2103120"/>
            <a:ext cx="3640455" cy="3348990"/>
          </a:xfrm>
          <a:prstGeom prst="rect">
            <a:avLst/>
          </a:prstGeom>
        </p:spPr>
      </p:pic>
    </p:spTree>
  </p:cSld>
  <p:clrMapOvr>
    <a:masterClrMapping/>
  </p:clrMapOvr>
  <p:transition spd="slow" advTm="69511"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3" name="Title 4"/>
          <p:cNvSpPr>
            <a:spLocks noGrp="1"/>
          </p:cNvSpPr>
          <p:nvPr>
            <p:ph type="title"/>
          </p:nvPr>
        </p:nvSpPr>
        <p:spPr>
          <a:xfrm>
            <a:off x="838200" y="198120"/>
            <a:ext cx="10515600" cy="1325563"/>
          </a:xfrm>
        </p:spPr>
        <p:txBody>
          <a:bodyPr/>
          <a:lstStyle/>
          <a:p>
            <a:pPr algn="ctr"/>
            <a:r>
              <a:rPr lang="en-US" sz="4800">
                <a:latin typeface="Arial" panose="020B0604020202020204" pitchFamily="34" charset="0"/>
                <a:ea typeface="MS PGothic" panose="020B0600070205080204" pitchFamily="48" charset="-128"/>
              </a:rPr>
              <a:t>Expanding beyond the Octet Rule</a:t>
            </a:r>
            <a:endParaRPr lang="en-US" sz="4800">
              <a:latin typeface="Arial" panose="020B0604020202020204" pitchFamily="34" charset="0"/>
              <a:ea typeface="MS PGothic" panose="020B0600070205080204" pitchFamily="48" charset="-128"/>
            </a:endParaRPr>
          </a:p>
        </p:txBody>
      </p:sp>
      <p:sp>
        <p:nvSpPr>
          <p:cNvPr id="28674" name="Content Placeholder 5"/>
          <p:cNvSpPr>
            <a:spLocks noGrp="1"/>
          </p:cNvSpPr>
          <p:nvPr>
            <p:ph idx="1"/>
          </p:nvPr>
        </p:nvSpPr>
        <p:spPr>
          <a:xfrm>
            <a:off x="2008505" y="1643380"/>
            <a:ext cx="8174990" cy="4572000"/>
          </a:xfrm>
        </p:spPr>
        <p:txBody>
          <a:bodyPr>
            <a:noAutofit/>
          </a:bodyPr>
          <a:lstStyle/>
          <a:p>
            <a:r>
              <a:rPr lang="en-US" sz="3600" dirty="0">
                <a:latin typeface="Arial" panose="020B0604020202020204" pitchFamily="34" charset="0"/>
                <a:ea typeface="MS PGothic" panose="020B0600070205080204" pitchFamily="48" charset="-128"/>
              </a:rPr>
              <a:t>Remember that some elements can break the octet rule and make </a:t>
            </a:r>
            <a:r>
              <a:rPr lang="en-US" sz="3600" i="1" dirty="0">
                <a:latin typeface="Arial" panose="020B0604020202020204" pitchFamily="34" charset="0"/>
                <a:ea typeface="MS PGothic" panose="020B0600070205080204" pitchFamily="48" charset="-128"/>
              </a:rPr>
              <a:t>more</a:t>
            </a:r>
            <a:r>
              <a:rPr lang="en-US" sz="3600" dirty="0">
                <a:latin typeface="Arial" panose="020B0604020202020204" pitchFamily="34" charset="0"/>
                <a:ea typeface="MS PGothic" panose="020B0600070205080204" pitchFamily="48" charset="-128"/>
              </a:rPr>
              <a:t> than four bonds (or have </a:t>
            </a:r>
            <a:r>
              <a:rPr lang="en-US" sz="3600" dirty="0">
                <a:solidFill>
                  <a:srgbClr val="FF0000"/>
                </a:solidFill>
                <a:latin typeface="Arial" panose="020B0604020202020204" pitchFamily="34" charset="0"/>
                <a:ea typeface="MS PGothic" panose="020B0600070205080204" pitchFamily="48" charset="-128"/>
              </a:rPr>
              <a:t>more than four electron domains</a:t>
            </a:r>
            <a:r>
              <a:rPr lang="en-US" sz="3600" dirty="0">
                <a:latin typeface="Arial" panose="020B0604020202020204" pitchFamily="34" charset="0"/>
                <a:ea typeface="MS PGothic" panose="020B0600070205080204" pitchFamily="48" charset="-128"/>
              </a:rPr>
              <a:t>).</a:t>
            </a:r>
            <a:endParaRPr lang="en-US" sz="3600" dirty="0">
              <a:latin typeface="Arial" panose="020B0604020202020204" pitchFamily="34" charset="0"/>
              <a:ea typeface="MS PGothic" panose="020B0600070205080204" pitchFamily="48" charset="-128"/>
            </a:endParaRPr>
          </a:p>
          <a:p>
            <a:r>
              <a:rPr lang="en-US" sz="3600" dirty="0">
                <a:latin typeface="Arial" panose="020B0604020202020204" pitchFamily="34" charset="0"/>
                <a:ea typeface="MS PGothic" panose="020B0600070205080204" pitchFamily="48" charset="-128"/>
              </a:rPr>
              <a:t>The result is two more possible electron domains: five = </a:t>
            </a:r>
            <a:r>
              <a:rPr lang="en-US" sz="3600" dirty="0" err="1">
                <a:latin typeface="Arial" panose="020B0604020202020204" pitchFamily="34" charset="0"/>
                <a:ea typeface="MS PGothic" panose="020B0600070205080204" pitchFamily="48" charset="-128"/>
              </a:rPr>
              <a:t>trigonal</a:t>
            </a:r>
            <a:r>
              <a:rPr lang="en-US" sz="3600" dirty="0">
                <a:latin typeface="Arial" panose="020B0604020202020204" pitchFamily="34" charset="0"/>
                <a:ea typeface="MS PGothic" panose="020B0600070205080204" pitchFamily="48" charset="-128"/>
              </a:rPr>
              <a:t> </a:t>
            </a:r>
            <a:r>
              <a:rPr lang="en-US" sz="3600" dirty="0" err="1">
                <a:latin typeface="Arial" panose="020B0604020202020204" pitchFamily="34" charset="0"/>
                <a:ea typeface="MS PGothic" panose="020B0600070205080204" pitchFamily="48" charset="-128"/>
              </a:rPr>
              <a:t>bipyramidal</a:t>
            </a:r>
            <a:r>
              <a:rPr lang="en-US" sz="3600" dirty="0">
                <a:latin typeface="Arial" panose="020B0604020202020204" pitchFamily="34" charset="0"/>
                <a:ea typeface="MS PGothic" panose="020B0600070205080204" pitchFamily="48" charset="-128"/>
              </a:rPr>
              <a:t>; </a:t>
            </a:r>
            <a:br>
              <a:rPr lang="en-US" sz="3600" dirty="0">
                <a:latin typeface="Arial" panose="020B0604020202020204" pitchFamily="34" charset="0"/>
                <a:ea typeface="MS PGothic" panose="020B0600070205080204" pitchFamily="48" charset="-128"/>
              </a:rPr>
            </a:br>
            <a:r>
              <a:rPr lang="en-US" sz="3600" dirty="0">
                <a:latin typeface="Arial" panose="020B0604020202020204" pitchFamily="34" charset="0"/>
                <a:ea typeface="MS PGothic" panose="020B0600070205080204" pitchFamily="48" charset="-128"/>
              </a:rPr>
              <a:t>six = octahedral (as was seen in the slide on electron-domain geometries).</a:t>
            </a:r>
            <a:endParaRPr lang="en-US" sz="3600" dirty="0">
              <a:latin typeface="Arial" panose="020B0604020202020204" pitchFamily="34" charset="0"/>
              <a:ea typeface="MS PGothic" panose="020B0600070205080204" pitchFamily="48" charset="-128"/>
            </a:endParaRPr>
          </a:p>
        </p:txBody>
      </p:sp>
    </p:spTree>
  </p:cSld>
  <p:clrMapOvr>
    <a:masterClrMapping/>
  </p:clrMapOvr>
  <p:transition spd="slow" advTm="53505"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en-US" sz="4800">
                <a:latin typeface="Arial" panose="020B0604020202020204" pitchFamily="34" charset="0"/>
                <a:ea typeface="MS PGothic" panose="020B0600070205080204" pitchFamily="48" charset="-128"/>
              </a:rPr>
              <a:t>Trigonal Bipyramidal Electron Domain</a:t>
            </a:r>
            <a:endParaRPr lang="en-US" sz="4800">
              <a:latin typeface="Arial" panose="020B0604020202020204" pitchFamily="34" charset="0"/>
              <a:ea typeface="MS PGothic" panose="020B0600070205080204" pitchFamily="48" charset="-128"/>
            </a:endParaRPr>
          </a:p>
        </p:txBody>
      </p:sp>
      <p:sp>
        <p:nvSpPr>
          <p:cNvPr id="29698" name="Rectangle 5"/>
          <p:cNvSpPr>
            <a:spLocks noGrp="1" noChangeArrowheads="1"/>
          </p:cNvSpPr>
          <p:nvPr>
            <p:ph type="body" sz="half" idx="2"/>
          </p:nvPr>
        </p:nvSpPr>
        <p:spPr>
          <a:xfrm>
            <a:off x="6172200" y="1981200"/>
            <a:ext cx="4679950" cy="4277995"/>
          </a:xfrm>
        </p:spPr>
        <p:txBody>
          <a:bodyPr/>
          <a:lstStyle/>
          <a:p>
            <a:pPr eaLnBrk="1" hangingPunct="1"/>
            <a:r>
              <a:rPr lang="en-US" sz="3600" dirty="0">
                <a:latin typeface="Arial" panose="020B0604020202020204" pitchFamily="34" charset="0"/>
                <a:ea typeface="MS PGothic" panose="020B0600070205080204" pitchFamily="48" charset="-128"/>
              </a:rPr>
              <a:t>There are two distinct positions in this geometry:</a:t>
            </a:r>
            <a:endParaRPr lang="en-US" sz="3600" dirty="0">
              <a:latin typeface="Arial" panose="020B0604020202020204" pitchFamily="34" charset="0"/>
              <a:ea typeface="MS PGothic" panose="020B0600070205080204" pitchFamily="48" charset="-128"/>
            </a:endParaRPr>
          </a:p>
          <a:p>
            <a:pPr marL="914400" indent="-457200" eaLnBrk="1" hangingPunct="1">
              <a:buFont typeface="Lucida Grande"/>
              <a:buChar char="–"/>
            </a:pPr>
            <a:r>
              <a:rPr lang="en-US" sz="3600" dirty="0">
                <a:latin typeface="Arial" panose="020B0604020202020204" pitchFamily="34" charset="0"/>
                <a:ea typeface="MS PGothic" panose="020B0600070205080204" pitchFamily="48" charset="-128"/>
              </a:rPr>
              <a:t>Axial</a:t>
            </a:r>
            <a:endParaRPr lang="en-US" sz="3600" dirty="0">
              <a:latin typeface="Arial" panose="020B0604020202020204" pitchFamily="34" charset="0"/>
              <a:ea typeface="MS PGothic" panose="020B0600070205080204" pitchFamily="48" charset="-128"/>
            </a:endParaRPr>
          </a:p>
          <a:p>
            <a:pPr marL="914400" indent="-457200" eaLnBrk="1" hangingPunct="1">
              <a:buFont typeface="Lucida Grande"/>
              <a:buChar char="–"/>
            </a:pPr>
            <a:r>
              <a:rPr lang="en-US" sz="3600" dirty="0">
                <a:latin typeface="Arial" panose="020B0604020202020204" pitchFamily="34" charset="0"/>
                <a:ea typeface="MS PGothic" panose="020B0600070205080204" pitchFamily="48" charset="-128"/>
              </a:rPr>
              <a:t>Equatorial</a:t>
            </a:r>
            <a:endParaRPr lang="en-US" sz="3600" dirty="0">
              <a:latin typeface="Arial" panose="020B0604020202020204" pitchFamily="34" charset="0"/>
              <a:ea typeface="MS PGothic" panose="020B0600070205080204" pitchFamily="48" charset="-128"/>
            </a:endParaRPr>
          </a:p>
          <a:p>
            <a:pPr eaLnBrk="1" hangingPunct="1"/>
            <a:r>
              <a:rPr lang="en-US" sz="3600" dirty="0">
                <a:latin typeface="Arial" panose="020B0604020202020204" pitchFamily="34" charset="0"/>
                <a:ea typeface="MS PGothic" panose="020B0600070205080204" pitchFamily="48" charset="-128"/>
              </a:rPr>
              <a:t>Lone pairs occupy equatorial positions</a:t>
            </a:r>
            <a:r>
              <a:rPr lang="en-US" sz="3200" dirty="0">
                <a:latin typeface="Arial" panose="020B0604020202020204" pitchFamily="34" charset="0"/>
                <a:ea typeface="MS PGothic" panose="020B0600070205080204" pitchFamily="48" charset="-128"/>
              </a:rPr>
              <a:t>.</a:t>
            </a:r>
            <a:endParaRPr lang="en-US" sz="3200" dirty="0">
              <a:latin typeface="Arial" panose="020B0604020202020204" pitchFamily="34" charset="0"/>
              <a:ea typeface="MS PGothic" panose="020B0600070205080204" pitchFamily="48" charset="-128"/>
            </a:endParaRPr>
          </a:p>
        </p:txBody>
      </p:sp>
      <p:pic>
        <p:nvPicPr>
          <p:cNvPr id="2" name="Picture 1" descr="09_08_Figure.jpg"/>
          <p:cNvPicPr>
            <a:picLocks noChangeAspect="1"/>
          </p:cNvPicPr>
          <p:nvPr/>
        </p:nvPicPr>
        <p:blipFill rotWithShape="1">
          <a:blip r:embed="rId1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157"/>
          <a:stretch>
            <a:fillRect/>
          </a:stretch>
        </p:blipFill>
        <p:spPr>
          <a:xfrm>
            <a:off x="1257300" y="2355850"/>
            <a:ext cx="4914900" cy="3195955"/>
          </a:xfrm>
          <a:prstGeom prst="rect">
            <a:avLst/>
          </a:prstGeom>
        </p:spPr>
      </p:pic>
    </p:spTree>
  </p:cSld>
  <p:clrMapOvr>
    <a:masterClrMapping/>
  </p:clrMapOvr>
  <p:transition spd="slow" advTm="50776"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Rectangle 2"/>
          <p:cNvSpPr>
            <a:spLocks noGrp="1" noChangeArrowheads="1"/>
          </p:cNvSpPr>
          <p:nvPr>
            <p:ph type="title"/>
          </p:nvPr>
        </p:nvSpPr>
        <p:spPr>
          <a:xfrm>
            <a:off x="86995" y="381000"/>
            <a:ext cx="4974590" cy="114300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dirty="0" err="1">
                <a:latin typeface="Arial" panose="020B0604020202020204" pitchFamily="34" charset="0"/>
                <a:ea typeface="MS PGothic" panose="020B0600070205080204" pitchFamily="48" charset="-128"/>
              </a:rPr>
              <a:t>Trigonal</a:t>
            </a:r>
            <a:r>
              <a:rPr lang="en-US" dirty="0">
                <a:latin typeface="Arial" panose="020B0604020202020204" pitchFamily="34" charset="0"/>
                <a:ea typeface="MS PGothic" panose="020B0600070205080204" pitchFamily="48" charset="-128"/>
              </a:rPr>
              <a:t> </a:t>
            </a:r>
            <a:r>
              <a:rPr lang="en-US" dirty="0" err="1">
                <a:latin typeface="Arial" panose="020B0604020202020204" pitchFamily="34" charset="0"/>
                <a:ea typeface="MS PGothic" panose="020B0600070205080204" pitchFamily="48" charset="-128"/>
              </a:rPr>
              <a:t>Bipyramidal</a:t>
            </a:r>
            <a:r>
              <a:rPr lang="en-US" dirty="0">
                <a:latin typeface="Arial" panose="020B0604020202020204" pitchFamily="34" charset="0"/>
                <a:ea typeface="MS PGothic" panose="020B0600070205080204" pitchFamily="48" charset="-128"/>
              </a:rPr>
              <a:t> </a:t>
            </a:r>
            <a:br>
              <a:rPr lang="en-US" dirty="0">
                <a:latin typeface="Arial" panose="020B0604020202020204" pitchFamily="34" charset="0"/>
                <a:ea typeface="MS PGothic" panose="020B0600070205080204" pitchFamily="48" charset="-128"/>
              </a:rPr>
            </a:br>
            <a:r>
              <a:rPr lang="en-US" dirty="0">
                <a:latin typeface="Arial" panose="020B0604020202020204" pitchFamily="34" charset="0"/>
                <a:ea typeface="MS PGothic" panose="020B0600070205080204" pitchFamily="48" charset="-128"/>
              </a:rPr>
              <a:t>Electron Domain</a:t>
            </a:r>
            <a:endParaRPr lang="en-US" dirty="0">
              <a:latin typeface="Arial" panose="020B0604020202020204" pitchFamily="34" charset="0"/>
              <a:ea typeface="MS PGothic" panose="020B0600070205080204" pitchFamily="48" charset="-128"/>
            </a:endParaRPr>
          </a:p>
        </p:txBody>
      </p:sp>
      <p:sp>
        <p:nvSpPr>
          <p:cNvPr id="31746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86995" y="1720215"/>
            <a:ext cx="4233545" cy="3167380"/>
          </a:xfrm>
        </p:spPr>
        <p:txBody>
          <a:bodyPr>
            <a:normAutofit lnSpcReduction="10000"/>
          </a:bodyPr>
          <a:lstStyle/>
          <a:p>
            <a:pPr eaLnBrk="1" hangingPunct="1"/>
            <a:r>
              <a:rPr lang="en-US" dirty="0">
                <a:latin typeface="Arial" panose="020B0604020202020204" pitchFamily="34" charset="0"/>
                <a:ea typeface="MS PGothic" panose="020B0600070205080204" pitchFamily="48" charset="-128"/>
              </a:rPr>
              <a:t>There are four distinct molecular geometries in this domain:</a:t>
            </a:r>
            <a:endParaRPr lang="en-US" dirty="0">
              <a:latin typeface="Arial" panose="020B0604020202020204" pitchFamily="34" charset="0"/>
              <a:ea typeface="MS PGothic" panose="020B0600070205080204" pitchFamily="48" charset="-128"/>
            </a:endParaRPr>
          </a:p>
          <a:p>
            <a:pPr marL="457200" indent="0" eaLnBrk="1" hangingPunct="1">
              <a:buNone/>
            </a:pPr>
            <a:r>
              <a:rPr lang="en-US" sz="2400" dirty="0">
                <a:latin typeface="Arial" panose="020B0604020202020204" pitchFamily="34" charset="0"/>
                <a:ea typeface="MS PGothic" panose="020B0600070205080204" pitchFamily="48" charset="-128"/>
              </a:rPr>
              <a:t>&gt; Trigonal bipyramidal</a:t>
            </a:r>
            <a:endParaRPr lang="en-US" sz="2400" dirty="0">
              <a:latin typeface="Arial" panose="020B0604020202020204" pitchFamily="34" charset="0"/>
              <a:ea typeface="MS PGothic" panose="020B0600070205080204" pitchFamily="48" charset="-128"/>
            </a:endParaRPr>
          </a:p>
          <a:p>
            <a:pPr marL="457200" indent="0" eaLnBrk="1" hangingPunct="1">
              <a:buNone/>
            </a:pPr>
            <a:r>
              <a:rPr lang="en-US" sz="2400" dirty="0">
                <a:latin typeface="Arial" panose="020B0604020202020204" pitchFamily="34" charset="0"/>
                <a:ea typeface="MS PGothic" panose="020B0600070205080204" pitchFamily="48" charset="-128"/>
              </a:rPr>
              <a:t>&gt; Seesaw</a:t>
            </a:r>
            <a:endParaRPr lang="en-US" sz="2400" dirty="0">
              <a:latin typeface="Arial" panose="020B0604020202020204" pitchFamily="34" charset="0"/>
              <a:ea typeface="MS PGothic" panose="020B0600070205080204" pitchFamily="48" charset="-128"/>
            </a:endParaRPr>
          </a:p>
          <a:p>
            <a:pPr marL="457200" indent="0" eaLnBrk="1" hangingPunct="1">
              <a:buNone/>
            </a:pPr>
            <a:r>
              <a:rPr lang="en-US" sz="2400" dirty="0">
                <a:latin typeface="Arial" panose="020B0604020202020204" pitchFamily="34" charset="0"/>
                <a:ea typeface="MS PGothic" panose="020B0600070205080204" pitchFamily="48" charset="-128"/>
              </a:rPr>
              <a:t>&gt; T-shaped</a:t>
            </a:r>
            <a:endParaRPr lang="en-US" sz="2400" dirty="0">
              <a:latin typeface="Arial" panose="020B0604020202020204" pitchFamily="34" charset="0"/>
              <a:ea typeface="MS PGothic" panose="020B0600070205080204" pitchFamily="48" charset="-128"/>
            </a:endParaRPr>
          </a:p>
          <a:p>
            <a:pPr marL="742950" indent="-285750" eaLnBrk="1" hangingPunct="1">
              <a:buFont typeface="Wingdings" panose="05000000000000000000" pitchFamily="2" charset="2"/>
              <a:buChar char="Ø"/>
            </a:pPr>
            <a:r>
              <a:rPr lang="en-US" sz="2400" dirty="0">
                <a:latin typeface="Arial" panose="020B0604020202020204" pitchFamily="34" charset="0"/>
                <a:ea typeface="MS PGothic" panose="020B0600070205080204" pitchFamily="48" charset="-128"/>
              </a:rPr>
              <a:t>Linear</a:t>
            </a:r>
            <a:endParaRPr lang="en-US" sz="2400" dirty="0">
              <a:latin typeface="Arial" panose="020B0604020202020204" pitchFamily="34" charset="0"/>
              <a:ea typeface="MS PGothic" panose="020B0600070205080204" pitchFamily="48" charset="-128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86680" y="723900"/>
            <a:ext cx="7005320" cy="5562600"/>
          </a:xfrm>
          <a:prstGeom prst="rect">
            <a:avLst/>
          </a:prstGeom>
        </p:spPr>
      </p:pic>
      <p:pic>
        <p:nvPicPr>
          <p:cNvPr id="9" name="Picture 4" descr="09_Pg341_UnFigure_2_L"/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995" y="4682490"/>
            <a:ext cx="5896610" cy="19418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 advTm="132099"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en-US">
                <a:latin typeface="Arial" panose="020B0604020202020204" pitchFamily="34" charset="0"/>
                <a:ea typeface="MS PGothic" panose="020B0600070205080204" pitchFamily="48" charset="-128"/>
              </a:rPr>
              <a:t>Octahedral Electron Domain</a:t>
            </a:r>
            <a:endParaRPr lang="en-US">
              <a:latin typeface="Arial" panose="020B0604020202020204" pitchFamily="34" charset="0"/>
              <a:ea typeface="MS PGothic" panose="020B0600070205080204" pitchFamily="48" charset="-128"/>
            </a:endParaRPr>
          </a:p>
        </p:txBody>
      </p:sp>
      <p:sp>
        <p:nvSpPr>
          <p:cNvPr id="33794" name="Rectangle 4"/>
          <p:cNvSpPr>
            <a:spLocks noGrp="1" noChangeArrowheads="1"/>
          </p:cNvSpPr>
          <p:nvPr>
            <p:ph type="body" sz="half" idx="2"/>
          </p:nvPr>
        </p:nvSpPr>
        <p:spPr>
          <a:xfrm>
            <a:off x="7506335" y="1371600"/>
            <a:ext cx="4445635" cy="5236210"/>
          </a:xfrm>
        </p:spPr>
        <p:txBody>
          <a:bodyPr>
            <a:noAutofit/>
          </a:bodyPr>
          <a:lstStyle/>
          <a:p>
            <a:pPr eaLnBrk="1" hangingPunct="1"/>
            <a:r>
              <a:rPr lang="en-US" sz="3600" dirty="0">
                <a:latin typeface="Arial" panose="020B0604020202020204" pitchFamily="34" charset="0"/>
                <a:ea typeface="MS PGothic" panose="020B0600070205080204" pitchFamily="48" charset="-128"/>
              </a:rPr>
              <a:t>All positions are equivalent in the octahedral domain.</a:t>
            </a:r>
            <a:endParaRPr lang="en-US" sz="3600" dirty="0">
              <a:latin typeface="Arial" panose="020B0604020202020204" pitchFamily="34" charset="0"/>
              <a:ea typeface="MS PGothic" panose="020B0600070205080204" pitchFamily="48" charset="-128"/>
            </a:endParaRPr>
          </a:p>
          <a:p>
            <a:pPr eaLnBrk="1" hangingPunct="1"/>
            <a:r>
              <a:rPr lang="en-US" sz="3600" dirty="0">
                <a:latin typeface="Arial" panose="020B0604020202020204" pitchFamily="34" charset="0"/>
                <a:ea typeface="MS PGothic" panose="020B0600070205080204" pitchFamily="48" charset="-128"/>
              </a:rPr>
              <a:t>There are three molecular geometries:</a:t>
            </a:r>
            <a:endParaRPr lang="en-US" sz="3600" dirty="0">
              <a:latin typeface="Arial" panose="020B0604020202020204" pitchFamily="34" charset="0"/>
              <a:ea typeface="MS PGothic" panose="020B0600070205080204" pitchFamily="48" charset="-128"/>
            </a:endParaRPr>
          </a:p>
          <a:p>
            <a:pPr marL="740410" indent="-283210" eaLnBrk="1" hangingPunct="1">
              <a:buFont typeface="Lucida Grande"/>
              <a:buChar char="–"/>
            </a:pPr>
            <a:r>
              <a:rPr lang="en-US" sz="3200" dirty="0">
                <a:latin typeface="Arial" panose="020B0604020202020204" pitchFamily="34" charset="0"/>
                <a:ea typeface="MS PGothic" panose="020B0600070205080204" pitchFamily="48" charset="-128"/>
              </a:rPr>
              <a:t>Octahedral</a:t>
            </a:r>
            <a:endParaRPr lang="en-US" sz="3200" dirty="0">
              <a:latin typeface="Arial" panose="020B0604020202020204" pitchFamily="34" charset="0"/>
              <a:ea typeface="MS PGothic" panose="020B0600070205080204" pitchFamily="48" charset="-128"/>
            </a:endParaRPr>
          </a:p>
          <a:p>
            <a:pPr marL="740410" indent="-283210" eaLnBrk="1" hangingPunct="1">
              <a:buFont typeface="Lucida Grande"/>
              <a:buChar char="–"/>
            </a:pPr>
            <a:r>
              <a:rPr lang="en-US" sz="3200" dirty="0">
                <a:latin typeface="Arial" panose="020B0604020202020204" pitchFamily="34" charset="0"/>
                <a:ea typeface="MS PGothic" panose="020B0600070205080204" pitchFamily="48" charset="-128"/>
              </a:rPr>
              <a:t>Square pyramidal</a:t>
            </a:r>
            <a:endParaRPr lang="en-US" sz="3200" dirty="0">
              <a:latin typeface="Arial" panose="020B0604020202020204" pitchFamily="34" charset="0"/>
              <a:ea typeface="MS PGothic" panose="020B0600070205080204" pitchFamily="48" charset="-128"/>
            </a:endParaRPr>
          </a:p>
          <a:p>
            <a:pPr marL="740410" indent="-283210" eaLnBrk="1" hangingPunct="1">
              <a:buFont typeface="Lucida Grande"/>
              <a:buChar char="–"/>
            </a:pPr>
            <a:r>
              <a:rPr lang="en-US" sz="3200" dirty="0">
                <a:latin typeface="Arial" panose="020B0604020202020204" pitchFamily="34" charset="0"/>
                <a:ea typeface="MS PGothic" panose="020B0600070205080204" pitchFamily="48" charset="-128"/>
              </a:rPr>
              <a:t>Square planar</a:t>
            </a:r>
            <a:endParaRPr lang="en-US" sz="3200" dirty="0">
              <a:latin typeface="Arial" panose="020B0604020202020204" pitchFamily="34" charset="0"/>
              <a:ea typeface="MS PGothic" panose="020B0600070205080204" pitchFamily="48" charset="-128"/>
            </a:endParaRPr>
          </a:p>
        </p:txBody>
      </p:sp>
      <p:grpSp>
        <p:nvGrpSpPr>
          <p:cNvPr id="6" name="Group 5"/>
          <p:cNvGrpSpPr/>
          <p:nvPr/>
        </p:nvGrpSpPr>
        <p:grpSpPr>
          <a:xfrm>
            <a:off x="0" y="1029970"/>
            <a:ext cx="7506970" cy="5467985"/>
            <a:chOff x="100642" y="2147613"/>
            <a:chExt cx="5233358" cy="3086587"/>
          </a:xfrm>
        </p:grpSpPr>
        <p:pic>
          <p:nvPicPr>
            <p:cNvPr id="5" name="Picture 4"/>
            <p:cNvPicPr>
              <a:picLocks noChangeAspect="1"/>
            </p:cNvPicPr>
            <p:nvPr/>
          </p:nvPicPr>
          <p:blipFill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67337" y="2667000"/>
              <a:ext cx="4964990" cy="2567200"/>
            </a:xfrm>
            <a:prstGeom prst="rect">
              <a:avLst/>
            </a:prstGeom>
          </p:spPr>
        </p:pic>
        <p:pic>
          <p:nvPicPr>
            <p:cNvPr id="8" name="Picture 7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87500"/>
            <a:stretch>
              <a:fillRect/>
            </a:stretch>
          </p:blipFill>
          <p:spPr>
            <a:xfrm>
              <a:off x="100642" y="2147613"/>
              <a:ext cx="5233358" cy="519387"/>
            </a:xfrm>
            <a:prstGeom prst="rect">
              <a:avLst/>
            </a:prstGeom>
          </p:spPr>
        </p:pic>
      </p:grpSp>
    </p:spTree>
  </p:cSld>
  <p:clrMapOvr>
    <a:masterClrMapping/>
  </p:clrMapOvr>
  <p:transition spd="slow" advTm="49451"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Rectangle 2"/>
          <p:cNvSpPr>
            <a:spLocks noGrp="1" noChangeArrowheads="1"/>
          </p:cNvSpPr>
          <p:nvPr>
            <p:ph type="title"/>
          </p:nvPr>
        </p:nvSpPr>
        <p:spPr>
          <a:xfrm>
            <a:off x="1524000" y="-152400"/>
            <a:ext cx="9144000" cy="1143000"/>
          </a:xfrm>
        </p:spPr>
        <p:txBody>
          <a:bodyPr/>
          <a:lstStyle/>
          <a:p>
            <a:pPr algn="ctr" eaLnBrk="1" hangingPunct="1"/>
            <a:r>
              <a:rPr lang="en-US" sz="4000" b="1" dirty="0">
                <a:solidFill>
                  <a:srgbClr val="FF0000"/>
                </a:solidFill>
                <a:latin typeface="Arial" panose="020B0604020202020204" pitchFamily="34" charset="0"/>
                <a:ea typeface="MS PGothic" panose="020B0600070205080204" pitchFamily="48" charset="-128"/>
              </a:rPr>
              <a:t>Polar</a:t>
            </a:r>
            <a:r>
              <a:rPr lang="en-US" sz="4000" b="1" dirty="0">
                <a:latin typeface="Arial" panose="020B0604020202020204" pitchFamily="34" charset="0"/>
                <a:ea typeface="MS PGothic" panose="020B0600070205080204" pitchFamily="48" charset="-128"/>
              </a:rPr>
              <a:t> Covalent Bonds</a:t>
            </a:r>
            <a:endParaRPr lang="en-US" sz="4000" b="1" dirty="0">
              <a:latin typeface="Arial" panose="020B0604020202020204" pitchFamily="34" charset="0"/>
              <a:ea typeface="MS PGothic" panose="020B0600070205080204" pitchFamily="48" charset="-128"/>
            </a:endParaRPr>
          </a:p>
        </p:txBody>
      </p:sp>
      <p:sp>
        <p:nvSpPr>
          <p:cNvPr id="24578" name="Rectangle 4"/>
          <p:cNvSpPr>
            <a:spLocks noGrp="1" noChangeArrowheads="1"/>
          </p:cNvSpPr>
          <p:nvPr>
            <p:ph idx="1"/>
          </p:nvPr>
        </p:nvSpPr>
        <p:spPr>
          <a:xfrm>
            <a:off x="1820862" y="838200"/>
            <a:ext cx="8847138" cy="2819400"/>
          </a:xfrm>
        </p:spPr>
        <p:txBody>
          <a:bodyPr>
            <a:noAutofit/>
          </a:bodyPr>
          <a:lstStyle/>
          <a:p>
            <a:pPr eaLnBrk="1" hangingPunct="1"/>
            <a:r>
              <a:rPr lang="en-US" dirty="0">
                <a:latin typeface="Arial" panose="020B0604020202020204" pitchFamily="34" charset="0"/>
                <a:ea typeface="MS PGothic" panose="020B0600070205080204" pitchFamily="48" charset="-128"/>
              </a:rPr>
              <a:t>The electrons in a covalent bond are </a:t>
            </a:r>
            <a:r>
              <a:rPr lang="en-US" dirty="0">
                <a:solidFill>
                  <a:srgbClr val="FF0000"/>
                </a:solidFill>
                <a:latin typeface="Arial" panose="020B0604020202020204" pitchFamily="34" charset="0"/>
                <a:ea typeface="MS PGothic" panose="020B0600070205080204" pitchFamily="48" charset="-128"/>
              </a:rPr>
              <a:t>not</a:t>
            </a:r>
            <a:r>
              <a:rPr lang="en-US" dirty="0">
                <a:latin typeface="Arial" panose="020B0604020202020204" pitchFamily="34" charset="0"/>
                <a:ea typeface="MS PGothic" panose="020B0600070205080204" pitchFamily="48" charset="-128"/>
              </a:rPr>
              <a:t> always shared </a:t>
            </a:r>
            <a:r>
              <a:rPr lang="en-US" dirty="0">
                <a:solidFill>
                  <a:srgbClr val="FF0000"/>
                </a:solidFill>
                <a:latin typeface="Arial" panose="020B0604020202020204" pitchFamily="34" charset="0"/>
                <a:ea typeface="MS PGothic" panose="020B0600070205080204" pitchFamily="48" charset="-128"/>
              </a:rPr>
              <a:t>equally</a:t>
            </a:r>
            <a:r>
              <a:rPr lang="en-US" dirty="0">
                <a:latin typeface="Arial" panose="020B0604020202020204" pitchFamily="34" charset="0"/>
                <a:ea typeface="MS PGothic" panose="020B0600070205080204" pitchFamily="48" charset="-128"/>
              </a:rPr>
              <a:t>.</a:t>
            </a:r>
            <a:endParaRPr lang="en-US" dirty="0">
              <a:latin typeface="Arial" panose="020B0604020202020204" pitchFamily="34" charset="0"/>
              <a:ea typeface="MS PGothic" panose="020B0600070205080204" pitchFamily="48" charset="-128"/>
            </a:endParaRPr>
          </a:p>
          <a:p>
            <a:pPr eaLnBrk="1" hangingPunct="1"/>
            <a:r>
              <a:rPr lang="en-US" dirty="0">
                <a:latin typeface="Arial" panose="020B0604020202020204" pitchFamily="34" charset="0"/>
                <a:ea typeface="MS PGothic" panose="020B0600070205080204" pitchFamily="48" charset="-128"/>
              </a:rPr>
              <a:t>Bond polarity - measurement of how equally or unequally the electrons in any covalent bond are share.</a:t>
            </a:r>
            <a:endParaRPr lang="en-US" dirty="0">
              <a:latin typeface="Arial" panose="020B0604020202020204" pitchFamily="34" charset="0"/>
              <a:ea typeface="MS PGothic" panose="020B0600070205080204" pitchFamily="48" charset="-128"/>
            </a:endParaRPr>
          </a:p>
          <a:p>
            <a:pPr eaLnBrk="1" hangingPunct="1"/>
            <a:r>
              <a:rPr lang="en-US" dirty="0">
                <a:latin typeface="Arial" panose="020B0604020202020204" pitchFamily="34" charset="0"/>
                <a:ea typeface="MS PGothic" panose="020B0600070205080204" pitchFamily="48" charset="-128"/>
              </a:rPr>
              <a:t>Fluorine pulls harder on the electrons it shares with hydrogen than hydrogen does.</a:t>
            </a:r>
            <a:endParaRPr lang="en-US" dirty="0">
              <a:latin typeface="Arial" panose="020B0604020202020204" pitchFamily="34" charset="0"/>
              <a:ea typeface="MS PGothic" panose="020B0600070205080204" pitchFamily="48" charset="-128"/>
            </a:endParaRPr>
          </a:p>
          <a:p>
            <a:pPr eaLnBrk="1" hangingPunct="1"/>
            <a:r>
              <a:rPr lang="en-US" dirty="0">
                <a:latin typeface="Arial" panose="020B0604020202020204" pitchFamily="34" charset="0"/>
                <a:ea typeface="MS PGothic" panose="020B0600070205080204" pitchFamily="48" charset="-128"/>
              </a:rPr>
              <a:t>Therefore, the fluorine end of the molecule has more electron density than the hydrogen end.</a:t>
            </a:r>
            <a:endParaRPr lang="en-US" dirty="0">
              <a:latin typeface="Arial" panose="020B0604020202020204" pitchFamily="34" charset="0"/>
              <a:ea typeface="MS PGothic" panose="020B0600070205080204" pitchFamily="48" charset="-128"/>
            </a:endParaRPr>
          </a:p>
        </p:txBody>
      </p:sp>
      <p:pic>
        <p:nvPicPr>
          <p:cNvPr id="24579" name="Picture 4" descr="08_08_Figure.jpg"/>
          <p:cNvPicPr>
            <a:picLocks noChangeAspect="1"/>
          </p:cNvPicPr>
          <p:nvPr/>
        </p:nvPicPr>
        <p:blipFill rotWithShape="1">
          <a:blip r:embed="rId1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" b="58212"/>
          <a:stretch>
            <a:fillRect/>
          </a:stretch>
        </p:blipFill>
        <p:spPr bwMode="auto">
          <a:xfrm>
            <a:off x="5973445" y="5114290"/>
            <a:ext cx="5779135" cy="1473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12" descr="08_08_Figure_L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134" r="37109" b="6461"/>
          <a:stretch>
            <a:fillRect/>
          </a:stretch>
        </p:blipFill>
        <p:spPr bwMode="auto">
          <a:xfrm>
            <a:off x="2233930" y="4954905"/>
            <a:ext cx="3821430" cy="17926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 advTm="88638"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9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689610" y="1219200"/>
            <a:ext cx="5936615" cy="4919980"/>
          </a:xfrm>
        </p:spPr>
        <p:txBody>
          <a:bodyPr>
            <a:noAutofit/>
          </a:bodyPr>
          <a:lstStyle/>
          <a:p>
            <a:pPr eaLnBrk="1" hangingPunct="1">
              <a:buClr>
                <a:srgbClr val="0000FF"/>
              </a:buClr>
              <a:buSzPct val="70000"/>
            </a:pPr>
            <a:r>
              <a:rPr lang="en-US" altLang="zh-CN" sz="3600" dirty="0">
                <a:latin typeface="Arial" panose="020B0604020202020204" pitchFamily="34" charset="0"/>
                <a:cs typeface="Arial" panose="020B0604020202020204" pitchFamily="34" charset="0"/>
              </a:rPr>
              <a:t>In Chapter 8, we discussed dipoles moment.</a:t>
            </a:r>
            <a:endParaRPr lang="en-US" altLang="zh-CN" sz="3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eaLnBrk="1" hangingPunct="1">
              <a:buClr>
                <a:srgbClr val="0000FF"/>
              </a:buClr>
              <a:buSzPct val="70000"/>
            </a:pPr>
            <a:r>
              <a:rPr lang="en-US" altLang="zh-CN" sz="3600" dirty="0">
                <a:latin typeface="Arial" panose="020B0604020202020204" pitchFamily="34" charset="0"/>
                <a:cs typeface="Arial" panose="020B0604020202020204" pitchFamily="34" charset="0"/>
              </a:rPr>
              <a:t>Bond dipole: the dipole moment due only to  the two atoms in that bond</a:t>
            </a:r>
            <a:endParaRPr lang="en-US" altLang="zh-CN" sz="3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eaLnBrk="1" hangingPunct="1">
              <a:buClr>
                <a:srgbClr val="0000FF"/>
              </a:buClr>
              <a:buSzPct val="70000"/>
            </a:pPr>
            <a:r>
              <a:rPr lang="en-US" altLang="zh-CN" sz="3600" dirty="0">
                <a:latin typeface="Arial" panose="020B0604020202020204" pitchFamily="34" charset="0"/>
                <a:cs typeface="Arial" panose="020B0604020202020204" pitchFamily="34" charset="0"/>
              </a:rPr>
              <a:t>A molecule possesses polar bonds does not mean the molecule </a:t>
            </a:r>
            <a:r>
              <a:rPr lang="en-US" altLang="zh-CN" sz="3600" i="1" dirty="0">
                <a:latin typeface="Arial" panose="020B0604020202020204" pitchFamily="34" charset="0"/>
                <a:cs typeface="Arial" panose="020B0604020202020204" pitchFamily="34" charset="0"/>
              </a:rPr>
              <a:t>as a whole</a:t>
            </a:r>
            <a:r>
              <a:rPr lang="en-US" altLang="zh-CN" sz="3600" dirty="0">
                <a:latin typeface="Arial" panose="020B0604020202020204" pitchFamily="34" charset="0"/>
                <a:cs typeface="Arial" panose="020B0604020202020204" pitchFamily="34" charset="0"/>
              </a:rPr>
              <a:t> will be polar.</a:t>
            </a:r>
            <a:endParaRPr lang="en-US" altLang="zh-CN" sz="3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80900" name="Picture 4" descr="09_10_Figure_L"/>
          <p:cNvPicPr>
            <a:picLocks noChangeAspect="1" noChangeArrowheads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07250" y="1219200"/>
            <a:ext cx="4023360" cy="55822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0901" name="Rectangle 5"/>
          <p:cNvSpPr>
            <a:spLocks noChangeArrowheads="1"/>
          </p:cNvSpPr>
          <p:nvPr/>
        </p:nvSpPr>
        <p:spPr bwMode="auto">
          <a:xfrm>
            <a:off x="7835900" y="3014345"/>
            <a:ext cx="2743200" cy="288925"/>
          </a:xfrm>
          <a:prstGeom prst="rect">
            <a:avLst/>
          </a:prstGeom>
          <a:noFill/>
          <a:ln w="19050">
            <a:solidFill>
              <a:srgbClr val="FF0000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>
              <a:solidFill>
                <a:srgbClr val="0033CC"/>
              </a:solidFill>
              <a:latin typeface="Calibri" panose="020F0502020204030204" charset="0"/>
            </a:endParaRPr>
          </a:p>
        </p:txBody>
      </p:sp>
      <p:sp>
        <p:nvSpPr>
          <p:cNvPr id="8" name="Rectangle 2"/>
          <p:cNvSpPr txBox="1">
            <a:spLocks noChangeArrowheads="1"/>
          </p:cNvSpPr>
          <p:nvPr/>
        </p:nvSpPr>
        <p:spPr bwMode="auto">
          <a:xfrm>
            <a:off x="1524000" y="76200"/>
            <a:ext cx="91440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+mj-lt"/>
                <a:ea typeface="+mj-ea"/>
                <a:cs typeface="MS PGothic" panose="020B0600070205080204" pitchFamily="48" charset="-128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48" charset="-128"/>
                <a:cs typeface="MS PGothic" panose="020B0600070205080204" pitchFamily="48" charset="-128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48" charset="-128"/>
                <a:cs typeface="MS PGothic" panose="020B0600070205080204" pitchFamily="48" charset="-128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48" charset="-128"/>
                <a:cs typeface="MS PGothic" panose="020B0600070205080204" pitchFamily="48" charset="-128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48" charset="-128"/>
                <a:cs typeface="MS PGothic" panose="020B0600070205080204" pitchFamily="48" charset="-128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48" charset="-128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48" charset="-128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48" charset="-128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48" charset="-128"/>
              </a:defRPr>
            </a:lvl9pPr>
          </a:lstStyle>
          <a:p>
            <a:pPr eaLnBrk="1" hangingPunct="1"/>
            <a:r>
              <a:rPr lang="en-US" sz="4800" kern="0" dirty="0">
                <a:latin typeface="Arial" panose="020B0604020202020204" pitchFamily="34" charset="0"/>
                <a:ea typeface="MS PGothic" panose="020B0600070205080204" pitchFamily="48" charset="-128"/>
              </a:rPr>
              <a:t>Polarity</a:t>
            </a:r>
            <a:endParaRPr lang="en-US" sz="4800" kern="0" dirty="0">
              <a:latin typeface="Arial" panose="020B0604020202020204" pitchFamily="34" charset="0"/>
              <a:ea typeface="MS PGothic" panose="020B0600070205080204" pitchFamily="48" charset="-128"/>
            </a:endParaRPr>
          </a:p>
        </p:txBody>
      </p:sp>
    </p:spTree>
  </p:cSld>
  <p:clrMapOvr>
    <a:masterClrMapping/>
  </p:clrMapOvr>
  <p:transition advTm="93883"/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3" name="Rectangle 3"/>
          <p:cNvSpPr>
            <a:spLocks noGrp="1" noChangeArrowheads="1"/>
          </p:cNvSpPr>
          <p:nvPr>
            <p:ph type="body" sz="half" idx="2"/>
          </p:nvPr>
        </p:nvSpPr>
        <p:spPr>
          <a:xfrm>
            <a:off x="1342390" y="1389380"/>
            <a:ext cx="5293995" cy="4559300"/>
          </a:xfrm>
        </p:spPr>
        <p:txBody>
          <a:bodyPr>
            <a:noAutofit/>
          </a:bodyPr>
          <a:lstStyle/>
          <a:p>
            <a:pPr eaLnBrk="1" hangingPunct="1">
              <a:buClr>
                <a:srgbClr val="0000FF"/>
              </a:buClr>
              <a:buSzPct val="70000"/>
            </a:pPr>
            <a:r>
              <a:rPr lang="en-US" altLang="zh-CN" sz="4000" dirty="0"/>
              <a:t>Bond dipoles and dipole moments are vector quantities.</a:t>
            </a:r>
            <a:endParaRPr lang="en-US" altLang="zh-CN" sz="4000" dirty="0"/>
          </a:p>
          <a:p>
            <a:pPr eaLnBrk="1" hangingPunct="1">
              <a:buClr>
                <a:srgbClr val="0000FF"/>
              </a:buClr>
              <a:buSzPct val="70000"/>
            </a:pPr>
            <a:r>
              <a:rPr lang="en-US" altLang="zh-CN" sz="4000" dirty="0"/>
              <a:t>By adding the individual bond dipoles, one can determine the overall dipole moment for the molecule.</a:t>
            </a:r>
            <a:endParaRPr lang="en-US" altLang="zh-CN" sz="4000" dirty="0"/>
          </a:p>
        </p:txBody>
      </p:sp>
      <p:pic>
        <p:nvPicPr>
          <p:cNvPr id="7" name="Picture 4" descr="09_11_Figure_L"/>
          <p:cNvPicPr>
            <a:picLocks noChangeAspect="1" noChangeArrowheads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10295" y="780415"/>
            <a:ext cx="2512695" cy="60109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Rectangle 2"/>
          <p:cNvSpPr txBox="1">
            <a:spLocks noChangeArrowheads="1"/>
          </p:cNvSpPr>
          <p:nvPr/>
        </p:nvSpPr>
        <p:spPr bwMode="auto">
          <a:xfrm>
            <a:off x="1524000" y="76200"/>
            <a:ext cx="91440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+mj-lt"/>
                <a:ea typeface="+mj-ea"/>
                <a:cs typeface="MS PGothic" panose="020B0600070205080204" pitchFamily="48" charset="-128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48" charset="-128"/>
                <a:cs typeface="MS PGothic" panose="020B0600070205080204" pitchFamily="48" charset="-128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48" charset="-128"/>
                <a:cs typeface="MS PGothic" panose="020B0600070205080204" pitchFamily="48" charset="-128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48" charset="-128"/>
                <a:cs typeface="MS PGothic" panose="020B0600070205080204" pitchFamily="48" charset="-128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48" charset="-128"/>
                <a:cs typeface="MS PGothic" panose="020B0600070205080204" pitchFamily="48" charset="-128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48" charset="-128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48" charset="-128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48" charset="-128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48" charset="-128"/>
              </a:defRPr>
            </a:lvl9pPr>
          </a:lstStyle>
          <a:p>
            <a:pPr eaLnBrk="1" hangingPunct="1"/>
            <a:r>
              <a:rPr lang="en-US" kern="0" dirty="0">
                <a:latin typeface="Arial" panose="020B0604020202020204" pitchFamily="34" charset="0"/>
                <a:ea typeface="MS PGothic" panose="020B0600070205080204" pitchFamily="48" charset="-128"/>
              </a:rPr>
              <a:t>Molecular Polarity</a:t>
            </a:r>
            <a:endParaRPr lang="en-US" kern="0" dirty="0">
              <a:latin typeface="Arial" panose="020B0604020202020204" pitchFamily="34" charset="0"/>
              <a:ea typeface="MS PGothic" panose="020B0600070205080204" pitchFamily="48" charset="-128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8970010" y="2622451"/>
            <a:ext cx="31115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/>
              <a:t>H</a:t>
            </a:r>
            <a:endParaRPr lang="en-US" sz="1600" b="1" dirty="0"/>
          </a:p>
        </p:txBody>
      </p:sp>
      <p:sp>
        <p:nvSpPr>
          <p:cNvPr id="9" name="TextBox 8"/>
          <p:cNvSpPr txBox="1"/>
          <p:nvPr/>
        </p:nvSpPr>
        <p:spPr>
          <a:xfrm>
            <a:off x="10668000" y="2622451"/>
            <a:ext cx="332142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/>
              <a:t>H</a:t>
            </a:r>
            <a:endParaRPr lang="en-US" sz="1600" b="1" dirty="0"/>
          </a:p>
        </p:txBody>
      </p:sp>
      <p:sp>
        <p:nvSpPr>
          <p:cNvPr id="10" name="TextBox 9"/>
          <p:cNvSpPr txBox="1"/>
          <p:nvPr/>
        </p:nvSpPr>
        <p:spPr>
          <a:xfrm>
            <a:off x="9806542" y="1946861"/>
            <a:ext cx="320040" cy="3371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/>
              <a:t>O</a:t>
            </a:r>
            <a:endParaRPr lang="en-US" sz="1600" b="1" dirty="0"/>
          </a:p>
        </p:txBody>
      </p:sp>
      <p:sp>
        <p:nvSpPr>
          <p:cNvPr id="6" name="Rectangle 5"/>
          <p:cNvSpPr/>
          <p:nvPr/>
        </p:nvSpPr>
        <p:spPr bwMode="auto">
          <a:xfrm>
            <a:off x="9742170" y="2782202"/>
            <a:ext cx="448708" cy="667753"/>
          </a:xfrm>
          <a:prstGeom prst="rect">
            <a:avLst/>
          </a:prstGeom>
          <a:noFill/>
          <a:ln w="12700">
            <a:solidFill>
              <a:srgbClr val="FF0000"/>
            </a:solidFill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MS PGothic" panose="020B0600070205080204" pitchFamily="48" charset="-128"/>
            </a:endParaRPr>
          </a:p>
        </p:txBody>
      </p:sp>
    </p:spTree>
    <p:custDataLst>
      <p:tags r:id="rId2"/>
    </p:custDataLst>
  </p:cSld>
  <p:clrMapOvr>
    <a:masterClrMapping/>
  </p:clrMapOvr>
  <p:transition advTm="45822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ldLvl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708" name="Picture 4" descr="C:\Users\dpcuser\Desktop\图片1.jpg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51088" y="1320800"/>
            <a:ext cx="7053262" cy="4932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2998788" y="2617788"/>
            <a:ext cx="727710" cy="3987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CN" sz="2000" b="1" dirty="0">
                <a:solidFill>
                  <a:srgbClr val="0000FF"/>
                </a:solidFill>
                <a:latin typeface="+mj-lt"/>
              </a:rPr>
              <a:t>Polar</a:t>
            </a:r>
            <a:endParaRPr lang="zh-CN" altLang="en-US" sz="2000" b="1" dirty="0">
              <a:solidFill>
                <a:srgbClr val="0000FF"/>
              </a:solidFill>
              <a:latin typeface="+mj-lt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669338" y="2417763"/>
            <a:ext cx="727710" cy="3987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CN" sz="2000" b="1" dirty="0">
                <a:solidFill>
                  <a:srgbClr val="0000FF"/>
                </a:solidFill>
                <a:latin typeface="+mj-lt"/>
              </a:rPr>
              <a:t>Polar</a:t>
            </a:r>
            <a:endParaRPr lang="zh-CN" altLang="en-US" sz="2000" b="1" dirty="0">
              <a:solidFill>
                <a:srgbClr val="0000FF"/>
              </a:solidFill>
              <a:latin typeface="+mj-lt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902700" y="5497513"/>
            <a:ext cx="727710" cy="3987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CN" sz="2000" b="1" dirty="0">
                <a:solidFill>
                  <a:srgbClr val="0000FF"/>
                </a:solidFill>
                <a:latin typeface="+mj-lt"/>
              </a:rPr>
              <a:t>Polar</a:t>
            </a:r>
            <a:endParaRPr lang="zh-CN" altLang="en-US" sz="2000" b="1" dirty="0">
              <a:solidFill>
                <a:srgbClr val="0000FF"/>
              </a:solidFill>
              <a:latin typeface="+mj-lt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790950" y="5908675"/>
            <a:ext cx="1173480" cy="3987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CN" sz="2000" b="1" dirty="0">
                <a:solidFill>
                  <a:srgbClr val="0000FF"/>
                </a:solidFill>
                <a:latin typeface="+mj-lt"/>
              </a:rPr>
              <a:t>Nonpolar</a:t>
            </a:r>
            <a:endParaRPr lang="zh-CN" altLang="en-US" sz="2000" b="1" dirty="0">
              <a:solidFill>
                <a:srgbClr val="0000FF"/>
              </a:solidFill>
              <a:latin typeface="+mj-lt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094413" y="3787775"/>
            <a:ext cx="1173480" cy="3987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CN" sz="2000" b="1" dirty="0">
                <a:solidFill>
                  <a:srgbClr val="0000FF"/>
                </a:solidFill>
                <a:latin typeface="+mj-lt"/>
              </a:rPr>
              <a:t>Nonpolar</a:t>
            </a:r>
            <a:endParaRPr lang="zh-CN" altLang="en-US" sz="2000" b="1" dirty="0">
              <a:solidFill>
                <a:srgbClr val="0000FF"/>
              </a:solidFill>
              <a:latin typeface="+mj-lt"/>
            </a:endParaRPr>
          </a:p>
        </p:txBody>
      </p:sp>
      <p:sp>
        <p:nvSpPr>
          <p:cNvPr id="14" name="Rectangle 2"/>
          <p:cNvSpPr txBox="1">
            <a:spLocks noChangeArrowheads="1"/>
          </p:cNvSpPr>
          <p:nvPr/>
        </p:nvSpPr>
        <p:spPr bwMode="auto">
          <a:xfrm>
            <a:off x="1524000" y="76200"/>
            <a:ext cx="91440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+mj-lt"/>
                <a:ea typeface="+mj-ea"/>
                <a:cs typeface="MS PGothic" panose="020B0600070205080204" pitchFamily="48" charset="-128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48" charset="-128"/>
                <a:cs typeface="MS PGothic" panose="020B0600070205080204" pitchFamily="48" charset="-128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48" charset="-128"/>
                <a:cs typeface="MS PGothic" panose="020B0600070205080204" pitchFamily="48" charset="-128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48" charset="-128"/>
                <a:cs typeface="MS PGothic" panose="020B0600070205080204" pitchFamily="48" charset="-128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48" charset="-128"/>
                <a:cs typeface="MS PGothic" panose="020B0600070205080204" pitchFamily="48" charset="-128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48" charset="-128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48" charset="-128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48" charset="-128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48" charset="-128"/>
              </a:defRPr>
            </a:lvl9pPr>
          </a:lstStyle>
          <a:p>
            <a:pPr eaLnBrk="1" hangingPunct="1"/>
            <a:r>
              <a:rPr lang="en-US" kern="0" dirty="0">
                <a:latin typeface="Arial" panose="020B0604020202020204" pitchFamily="34" charset="0"/>
                <a:ea typeface="MS PGothic" panose="020B0600070205080204" pitchFamily="48" charset="-128"/>
              </a:rPr>
              <a:t>Molecular Polarity</a:t>
            </a:r>
            <a:endParaRPr lang="en-US" kern="0" dirty="0">
              <a:latin typeface="Arial" panose="020B0604020202020204" pitchFamily="34" charset="0"/>
              <a:ea typeface="MS PGothic" panose="020B0600070205080204" pitchFamily="48" charset="-128"/>
            </a:endParaRPr>
          </a:p>
        </p:txBody>
      </p:sp>
    </p:spTree>
    <p:custDataLst>
      <p:tags r:id="rId2"/>
    </p:custDataLst>
  </p:cSld>
  <p:clrMapOvr>
    <a:masterClrMapping/>
  </p:clrMapOvr>
  <p:transition advTm="79225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8" grpId="0"/>
      <p:bldP spid="9" grpId="0"/>
      <p:bldP spid="10" grpId="0"/>
      <p:bldP spid="11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en-US" dirty="0">
                <a:latin typeface="Arial" panose="020B0604020202020204" pitchFamily="34" charset="0"/>
                <a:ea typeface="MS PGothic" panose="020B0600070205080204" pitchFamily="48" charset="-128"/>
              </a:rPr>
              <a:t>Valence-Bond Theory</a:t>
            </a:r>
            <a:endParaRPr lang="en-US" dirty="0">
              <a:latin typeface="Arial" panose="020B0604020202020204" pitchFamily="34" charset="0"/>
              <a:ea typeface="MS PGothic" panose="020B0600070205080204" pitchFamily="48" charset="-128"/>
            </a:endParaRPr>
          </a:p>
        </p:txBody>
      </p:sp>
      <p:sp>
        <p:nvSpPr>
          <p:cNvPr id="40962" name="Rectangle 4"/>
          <p:cNvSpPr>
            <a:spLocks noGrp="1" noChangeArrowheads="1"/>
          </p:cNvSpPr>
          <p:nvPr>
            <p:ph type="body" sz="half" idx="2"/>
          </p:nvPr>
        </p:nvSpPr>
        <p:spPr>
          <a:xfrm>
            <a:off x="5323205" y="1447800"/>
            <a:ext cx="5594350" cy="4648200"/>
          </a:xfrm>
        </p:spPr>
        <p:txBody>
          <a:bodyPr>
            <a:noAutofit/>
          </a:bodyPr>
          <a:lstStyle/>
          <a:p>
            <a:pPr eaLnBrk="1" hangingPunct="1"/>
            <a:r>
              <a:rPr lang="en-US" sz="3600" dirty="0">
                <a:latin typeface="Arial" panose="020B0604020202020204" pitchFamily="34" charset="0"/>
                <a:ea typeface="MS PGothic" panose="020B0600070205080204" pitchFamily="48" charset="-128"/>
              </a:rPr>
              <a:t>In Valence-Bond Theory, electrons of two atoms begin to occupy the same space.</a:t>
            </a:r>
            <a:endParaRPr lang="en-US" sz="3600" dirty="0">
              <a:latin typeface="Arial" panose="020B0604020202020204" pitchFamily="34" charset="0"/>
              <a:ea typeface="MS PGothic" panose="020B0600070205080204" pitchFamily="48" charset="-128"/>
            </a:endParaRPr>
          </a:p>
          <a:p>
            <a:pPr eaLnBrk="1" hangingPunct="1"/>
            <a:r>
              <a:rPr lang="en-US" sz="3600" dirty="0">
                <a:latin typeface="Arial" panose="020B0604020202020204" pitchFamily="34" charset="0"/>
                <a:ea typeface="MS PGothic" panose="020B0600070205080204" pitchFamily="48" charset="-128"/>
              </a:rPr>
              <a:t>This is called </a:t>
            </a:r>
            <a:r>
              <a:rPr lang="en-US" sz="3600" dirty="0">
                <a:solidFill>
                  <a:srgbClr val="FF0000"/>
                </a:solidFill>
                <a:latin typeface="Arial" panose="020B0604020202020204" pitchFamily="34" charset="0"/>
                <a:ea typeface="MS PGothic" panose="020B0600070205080204" pitchFamily="48" charset="-128"/>
              </a:rPr>
              <a:t>“overlap” of orbitals</a:t>
            </a:r>
            <a:r>
              <a:rPr lang="en-US" sz="3600" dirty="0">
                <a:latin typeface="Arial" panose="020B0604020202020204" pitchFamily="34" charset="0"/>
                <a:ea typeface="MS PGothic" panose="020B0600070205080204" pitchFamily="48" charset="-128"/>
              </a:rPr>
              <a:t>.</a:t>
            </a:r>
            <a:endParaRPr lang="en-US" sz="3600" dirty="0">
              <a:latin typeface="Arial" panose="020B0604020202020204" pitchFamily="34" charset="0"/>
              <a:ea typeface="MS PGothic" panose="020B0600070205080204" pitchFamily="48" charset="-128"/>
            </a:endParaRPr>
          </a:p>
          <a:p>
            <a:pPr eaLnBrk="1" hangingPunct="1"/>
            <a:r>
              <a:rPr lang="en-US" sz="3600" dirty="0">
                <a:latin typeface="Arial" panose="020B0604020202020204" pitchFamily="34" charset="0"/>
                <a:ea typeface="MS PGothic" panose="020B0600070205080204" pitchFamily="48" charset="-128"/>
              </a:rPr>
              <a:t>The </a:t>
            </a:r>
            <a:r>
              <a:rPr lang="en-US" sz="3600" dirty="0">
                <a:solidFill>
                  <a:srgbClr val="FF0000"/>
                </a:solidFill>
                <a:latin typeface="Arial" panose="020B0604020202020204" pitchFamily="34" charset="0"/>
                <a:ea typeface="MS PGothic" panose="020B0600070205080204" pitchFamily="48" charset="-128"/>
              </a:rPr>
              <a:t>sharing of space </a:t>
            </a:r>
            <a:r>
              <a:rPr lang="en-US" sz="3600" dirty="0">
                <a:latin typeface="Arial" panose="020B0604020202020204" pitchFamily="34" charset="0"/>
                <a:ea typeface="MS PGothic" panose="020B0600070205080204" pitchFamily="48" charset="-128"/>
              </a:rPr>
              <a:t>between two electrons of opposite spin results in a covalent bond.</a:t>
            </a:r>
            <a:endParaRPr lang="en-US" sz="3600" dirty="0">
              <a:latin typeface="Arial" panose="020B0604020202020204" pitchFamily="34" charset="0"/>
              <a:ea typeface="MS PGothic" panose="020B0600070205080204" pitchFamily="48" charset="-128"/>
            </a:endParaRPr>
          </a:p>
        </p:txBody>
      </p:sp>
      <p:pic>
        <p:nvPicPr>
          <p:cNvPr id="2" name="Picture 1" descr="09_13_Figure.jpg"/>
          <p:cNvPicPr>
            <a:picLocks noChangeAspect="1"/>
          </p:cNvPicPr>
          <p:nvPr/>
        </p:nvPicPr>
        <p:blipFill rotWithShape="1">
          <a:blip r:embed="rId1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582"/>
          <a:stretch>
            <a:fillRect/>
          </a:stretch>
        </p:blipFill>
        <p:spPr>
          <a:xfrm>
            <a:off x="1665605" y="1055370"/>
            <a:ext cx="3200400" cy="5565775"/>
          </a:xfrm>
          <a:prstGeom prst="rect">
            <a:avLst/>
          </a:prstGeom>
        </p:spPr>
      </p:pic>
    </p:spTree>
  </p:cSld>
  <p:clrMapOvr>
    <a:masterClrMapping/>
  </p:clrMapOvr>
  <p:transition spd="slow" advTm="70119"/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8425" y="2766060"/>
            <a:ext cx="12191365" cy="1325880"/>
          </a:xfrm>
        </p:spPr>
        <p:txBody>
          <a:bodyPr>
            <a:normAutofit/>
          </a:bodyPr>
          <a:p>
            <a:pPr algn="ctr"/>
            <a:r>
              <a:rPr lang="zh-CN" altLang="en-US"/>
              <a:t>第二部分：</a:t>
            </a:r>
            <a:r>
              <a:rPr lang="en-US">
                <a:latin typeface="Arial" panose="020B0604020202020204" pitchFamily="34" charset="0"/>
                <a:ea typeface="MS PGothic" panose="020B0600070205080204" pitchFamily="48" charset="-128"/>
                <a:sym typeface="+mn-ea"/>
              </a:rPr>
              <a:t>Hybrid Orbitals</a:t>
            </a:r>
            <a:endParaRPr lang="en-US" altLang="zh-CN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1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4800">
                <a:latin typeface="Arial" panose="020B0604020202020204" pitchFamily="34" charset="0"/>
                <a:ea typeface="MS PGothic" panose="020B0600070205080204" pitchFamily="48" charset="-128"/>
              </a:rPr>
              <a:t>Hybrid Orbitals</a:t>
            </a:r>
            <a:endParaRPr lang="en-US" sz="4800">
              <a:latin typeface="Arial" panose="020B0604020202020204" pitchFamily="34" charset="0"/>
              <a:ea typeface="MS PGothic" panose="020B0600070205080204" pitchFamily="48" charset="-128"/>
            </a:endParaRPr>
          </a:p>
        </p:txBody>
      </p:sp>
      <p:sp>
        <p:nvSpPr>
          <p:cNvPr id="46082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3600" b="1" dirty="0">
                <a:latin typeface="Arial" panose="020B0604020202020204" pitchFamily="34" charset="0"/>
                <a:ea typeface="MS PGothic" panose="020B0600070205080204" pitchFamily="48" charset="-128"/>
              </a:rPr>
              <a:t>Hybrid orbitals</a:t>
            </a:r>
            <a:r>
              <a:rPr lang="en-US" sz="3600" dirty="0">
                <a:latin typeface="Arial" panose="020B0604020202020204" pitchFamily="34" charset="0"/>
                <a:ea typeface="MS PGothic" panose="020B0600070205080204" pitchFamily="48" charset="-128"/>
              </a:rPr>
              <a:t> form by “mixing” of atomic orbitals to create new orbitals of equal energy, called </a:t>
            </a:r>
            <a:r>
              <a:rPr lang="en-US" sz="3600" dirty="0">
                <a:solidFill>
                  <a:srgbClr val="FF0000"/>
                </a:solidFill>
                <a:latin typeface="Arial" panose="020B0604020202020204" pitchFamily="34" charset="0"/>
                <a:ea typeface="MS PGothic" panose="020B0600070205080204" pitchFamily="48" charset="-128"/>
              </a:rPr>
              <a:t>degenerate</a:t>
            </a:r>
            <a:r>
              <a:rPr lang="en-US" sz="3600" dirty="0">
                <a:latin typeface="Arial" panose="020B0604020202020204" pitchFamily="34" charset="0"/>
                <a:ea typeface="MS PGothic" panose="020B0600070205080204" pitchFamily="48" charset="-128"/>
              </a:rPr>
              <a:t> orbitals.</a:t>
            </a:r>
            <a:endParaRPr lang="en-US" sz="3600" dirty="0">
              <a:latin typeface="Arial" panose="020B0604020202020204" pitchFamily="34" charset="0"/>
              <a:ea typeface="MS PGothic" panose="020B0600070205080204" pitchFamily="48" charset="-128"/>
            </a:endParaRPr>
          </a:p>
          <a:p>
            <a:r>
              <a:rPr lang="en-US" sz="3600" dirty="0">
                <a:latin typeface="Arial" panose="020B0604020202020204" pitchFamily="34" charset="0"/>
                <a:ea typeface="MS PGothic" panose="020B0600070205080204" pitchFamily="48" charset="-128"/>
              </a:rPr>
              <a:t>When two orbitals “mix” they create two orbitals; when three orbitals mix, they create three orbitals; etc.</a:t>
            </a:r>
            <a:endParaRPr lang="en-US" sz="3600" dirty="0">
              <a:latin typeface="Arial" panose="020B0604020202020204" pitchFamily="34" charset="0"/>
              <a:ea typeface="MS PGothic" panose="020B0600070205080204" pitchFamily="48" charset="-128"/>
            </a:endParaRPr>
          </a:p>
        </p:txBody>
      </p:sp>
    </p:spTree>
  </p:cSld>
  <p:clrMapOvr>
    <a:masterClrMapping/>
  </p:clrMapOvr>
  <p:transition spd="slow" advTm="49204"/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en-US" i="1">
                <a:latin typeface="Arial" panose="020B0604020202020204" pitchFamily="34" charset="0"/>
                <a:ea typeface="MS PGothic" panose="020B0600070205080204" pitchFamily="48" charset="-128"/>
              </a:rPr>
              <a:t>sp</a:t>
            </a:r>
            <a:r>
              <a:rPr lang="en-US">
                <a:latin typeface="Arial" panose="020B0604020202020204" pitchFamily="34" charset="0"/>
                <a:ea typeface="MS PGothic" panose="020B0600070205080204" pitchFamily="48" charset="-128"/>
              </a:rPr>
              <a:t> Orbitals</a:t>
            </a:r>
            <a:endParaRPr lang="en-US">
              <a:latin typeface="Arial" panose="020B0604020202020204" pitchFamily="34" charset="0"/>
              <a:ea typeface="MS PGothic" panose="020B0600070205080204" pitchFamily="48" charset="-128"/>
            </a:endParaRPr>
          </a:p>
        </p:txBody>
      </p:sp>
      <p:sp>
        <p:nvSpPr>
          <p:cNvPr id="49154" name="Rectangle 4"/>
          <p:cNvSpPr>
            <a:spLocks noGrp="1" noChangeArrowheads="1"/>
          </p:cNvSpPr>
          <p:nvPr>
            <p:ph type="body" sz="half" idx="1"/>
          </p:nvPr>
        </p:nvSpPr>
        <p:spPr>
          <a:xfrm>
            <a:off x="1981200" y="1143000"/>
            <a:ext cx="8382000" cy="3439160"/>
          </a:xfrm>
        </p:spPr>
        <p:txBody>
          <a:bodyPr>
            <a:noAutofit/>
          </a:bodyPr>
          <a:lstStyle/>
          <a:p>
            <a:pPr eaLnBrk="1" hangingPunct="1">
              <a:lnSpc>
                <a:spcPct val="90000"/>
              </a:lnSpc>
            </a:pPr>
            <a:r>
              <a:rPr lang="en-US" sz="3200" dirty="0">
                <a:latin typeface="Arial" panose="020B0604020202020204" pitchFamily="34" charset="0"/>
                <a:ea typeface="MS PGothic" panose="020B0600070205080204" pitchFamily="48" charset="-128"/>
              </a:rPr>
              <a:t>Mixing the </a:t>
            </a:r>
            <a:r>
              <a:rPr lang="en-US" sz="3200" i="1" dirty="0">
                <a:latin typeface="Arial" panose="020B0604020202020204" pitchFamily="34" charset="0"/>
                <a:ea typeface="MS PGothic" panose="020B0600070205080204" pitchFamily="48" charset="-128"/>
              </a:rPr>
              <a:t>s</a:t>
            </a:r>
            <a:r>
              <a:rPr lang="en-US" sz="3200" dirty="0">
                <a:latin typeface="Arial" panose="020B0604020202020204" pitchFamily="34" charset="0"/>
                <a:ea typeface="MS PGothic" panose="020B0600070205080204" pitchFamily="48" charset="-128"/>
              </a:rPr>
              <a:t> and </a:t>
            </a:r>
            <a:r>
              <a:rPr lang="en-US" sz="3200" i="1" dirty="0">
                <a:latin typeface="Arial" panose="020B0604020202020204" pitchFamily="34" charset="0"/>
                <a:ea typeface="MS PGothic" panose="020B0600070205080204" pitchFamily="48" charset="-128"/>
              </a:rPr>
              <a:t>p</a:t>
            </a:r>
            <a:r>
              <a:rPr lang="en-US" sz="3200" dirty="0">
                <a:latin typeface="Arial" panose="020B0604020202020204" pitchFamily="34" charset="0"/>
                <a:ea typeface="MS PGothic" panose="020B0600070205080204" pitchFamily="48" charset="-128"/>
              </a:rPr>
              <a:t> orbitals yields two degenerate orbitals that are hybrids of the two orbitals.</a:t>
            </a:r>
            <a:endParaRPr lang="en-US" sz="3200" dirty="0">
              <a:latin typeface="Arial" panose="020B0604020202020204" pitchFamily="34" charset="0"/>
              <a:ea typeface="MS PGothic" panose="020B0600070205080204" pitchFamily="48" charset="-128"/>
            </a:endParaRPr>
          </a:p>
          <a:p>
            <a:pPr marL="740410" indent="-283210" eaLnBrk="1" hangingPunct="1">
              <a:lnSpc>
                <a:spcPct val="90000"/>
              </a:lnSpc>
              <a:buFont typeface="Lucida Grande"/>
              <a:buChar char="–"/>
            </a:pPr>
            <a:r>
              <a:rPr lang="en-US" sz="3200" dirty="0">
                <a:latin typeface="Arial" panose="020B0604020202020204" pitchFamily="34" charset="0"/>
                <a:ea typeface="MS PGothic" panose="020B0600070205080204" pitchFamily="48" charset="-128"/>
              </a:rPr>
              <a:t>These </a:t>
            </a:r>
            <a:r>
              <a:rPr lang="en-US" sz="3200" i="1" dirty="0" err="1">
                <a:latin typeface="Arial" panose="020B0604020202020204" pitchFamily="34" charset="0"/>
                <a:ea typeface="MS PGothic" panose="020B0600070205080204" pitchFamily="48" charset="-128"/>
              </a:rPr>
              <a:t>sp</a:t>
            </a:r>
            <a:r>
              <a:rPr lang="en-US" sz="3200" dirty="0">
                <a:latin typeface="Arial" panose="020B0604020202020204" pitchFamily="34" charset="0"/>
                <a:ea typeface="MS PGothic" panose="020B0600070205080204" pitchFamily="48" charset="-128"/>
              </a:rPr>
              <a:t> hybrid orbitals have two lobes like a </a:t>
            </a:r>
            <a:r>
              <a:rPr lang="en-US" sz="3200" i="1" dirty="0">
                <a:latin typeface="Arial" panose="020B0604020202020204" pitchFamily="34" charset="0"/>
                <a:ea typeface="MS PGothic" panose="020B0600070205080204" pitchFamily="48" charset="-128"/>
              </a:rPr>
              <a:t>p</a:t>
            </a:r>
            <a:r>
              <a:rPr lang="en-US" sz="3200" dirty="0">
                <a:latin typeface="Arial" panose="020B0604020202020204" pitchFamily="34" charset="0"/>
                <a:ea typeface="MS PGothic" panose="020B0600070205080204" pitchFamily="48" charset="-128"/>
              </a:rPr>
              <a:t> orbital.</a:t>
            </a:r>
            <a:endParaRPr lang="en-US" sz="3200" dirty="0">
              <a:latin typeface="Arial" panose="020B0604020202020204" pitchFamily="34" charset="0"/>
              <a:ea typeface="MS PGothic" panose="020B0600070205080204" pitchFamily="48" charset="-128"/>
            </a:endParaRPr>
          </a:p>
          <a:p>
            <a:pPr marL="740410" indent="-283210" eaLnBrk="1" hangingPunct="1">
              <a:lnSpc>
                <a:spcPct val="90000"/>
              </a:lnSpc>
              <a:buFont typeface="Lucida Grande"/>
              <a:buChar char="–"/>
            </a:pPr>
            <a:r>
              <a:rPr lang="en-US" sz="3200" dirty="0">
                <a:latin typeface="Arial" panose="020B0604020202020204" pitchFamily="34" charset="0"/>
                <a:ea typeface="MS PGothic" panose="020B0600070205080204" pitchFamily="48" charset="-128"/>
              </a:rPr>
              <a:t>One of the lobes is larger and more rounded, as is the </a:t>
            </a:r>
            <a:r>
              <a:rPr lang="en-US" sz="3200" i="1" dirty="0">
                <a:latin typeface="Arial" panose="020B0604020202020204" pitchFamily="34" charset="0"/>
                <a:ea typeface="MS PGothic" panose="020B0600070205080204" pitchFamily="48" charset="-128"/>
              </a:rPr>
              <a:t>s</a:t>
            </a:r>
            <a:r>
              <a:rPr lang="en-US" sz="3200" dirty="0">
                <a:latin typeface="Arial" panose="020B0604020202020204" pitchFamily="34" charset="0"/>
                <a:ea typeface="MS PGothic" panose="020B0600070205080204" pitchFamily="48" charset="-128"/>
              </a:rPr>
              <a:t> orbital.</a:t>
            </a:r>
            <a:endParaRPr lang="en-US" sz="3200" dirty="0">
              <a:latin typeface="Arial" panose="020B0604020202020204" pitchFamily="34" charset="0"/>
              <a:ea typeface="MS PGothic" panose="020B0600070205080204" pitchFamily="48" charset="-128"/>
            </a:endParaRPr>
          </a:p>
        </p:txBody>
      </p:sp>
      <p:pic>
        <p:nvPicPr>
          <p:cNvPr id="3" name="Picture 2" descr="09_15_Figure.jpg"/>
          <p:cNvPicPr>
            <a:picLocks noChangeAspect="1"/>
          </p:cNvPicPr>
          <p:nvPr/>
        </p:nvPicPr>
        <p:blipFill rotWithShape="1">
          <a:blip r:embed="rId1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7298"/>
          <a:stretch>
            <a:fillRect/>
          </a:stretch>
        </p:blipFill>
        <p:spPr>
          <a:xfrm>
            <a:off x="2019300" y="4667250"/>
            <a:ext cx="8305800" cy="1930400"/>
          </a:xfrm>
          <a:prstGeom prst="rect">
            <a:avLst/>
          </a:prstGeom>
        </p:spPr>
      </p:pic>
    </p:spTree>
  </p:cSld>
  <p:clrMapOvr>
    <a:masterClrMapping/>
  </p:clrMapOvr>
  <p:transition spd="slow" advTm="45572"/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1" name="Rectangle 2"/>
          <p:cNvSpPr>
            <a:spLocks noGrp="1" noChangeArrowheads="1"/>
          </p:cNvSpPr>
          <p:nvPr>
            <p:ph type="title"/>
          </p:nvPr>
        </p:nvSpPr>
        <p:spPr>
          <a:xfrm>
            <a:off x="1524000" y="152400"/>
            <a:ext cx="9144000" cy="1143000"/>
          </a:xfrm>
        </p:spPr>
        <p:txBody>
          <a:bodyPr/>
          <a:lstStyle/>
          <a:p>
            <a:pPr algn="ctr" eaLnBrk="1" hangingPunct="1"/>
            <a:r>
              <a:rPr lang="en-US">
                <a:latin typeface="Arial" panose="020B0604020202020204" pitchFamily="34" charset="0"/>
                <a:ea typeface="MS PGothic" panose="020B0600070205080204" pitchFamily="48" charset="-128"/>
              </a:rPr>
              <a:t>Position of </a:t>
            </a:r>
            <a:r>
              <a:rPr lang="en-US" i="1">
                <a:latin typeface="Arial" panose="020B0604020202020204" pitchFamily="34" charset="0"/>
                <a:ea typeface="MS PGothic" panose="020B0600070205080204" pitchFamily="48" charset="-128"/>
              </a:rPr>
              <a:t>sp</a:t>
            </a:r>
            <a:r>
              <a:rPr lang="en-US">
                <a:latin typeface="Arial" panose="020B0604020202020204" pitchFamily="34" charset="0"/>
                <a:ea typeface="MS PGothic" panose="020B0600070205080204" pitchFamily="48" charset="-128"/>
              </a:rPr>
              <a:t> Orbitals</a:t>
            </a:r>
            <a:endParaRPr lang="en-US">
              <a:latin typeface="Arial" panose="020B0604020202020204" pitchFamily="34" charset="0"/>
              <a:ea typeface="MS PGothic" panose="020B0600070205080204" pitchFamily="48" charset="-128"/>
            </a:endParaRPr>
          </a:p>
        </p:txBody>
      </p:sp>
      <p:sp>
        <p:nvSpPr>
          <p:cNvPr id="51202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1905000" y="1143000"/>
            <a:ext cx="8382000" cy="19812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sz="2800">
                <a:latin typeface="Arial" panose="020B0604020202020204" pitchFamily="34" charset="0"/>
                <a:ea typeface="MS PGothic" panose="020B0600070205080204" pitchFamily="48" charset="-128"/>
              </a:rPr>
              <a:t>These two degenerate orbitals would align themselves 180</a:t>
            </a:r>
            <a:r>
              <a:rPr lang="en-US" sz="2800">
                <a:latin typeface="Arial" panose="020B0604020202020204" pitchFamily="34" charset="0"/>
                <a:ea typeface="MS PGothic" panose="020B0600070205080204" pitchFamily="48" charset="-128"/>
                <a:sym typeface="Symbol" panose="05050102010706020507" charset="0"/>
              </a:rPr>
              <a:t> from each other.</a:t>
            </a:r>
            <a:endParaRPr lang="en-US" sz="2800">
              <a:latin typeface="Arial" panose="020B0604020202020204" pitchFamily="34" charset="0"/>
              <a:ea typeface="MS PGothic" panose="020B0600070205080204" pitchFamily="48" charset="-128"/>
              <a:sym typeface="Symbol" panose="05050102010706020507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en-US" sz="2800">
                <a:latin typeface="Arial" panose="020B0604020202020204" pitchFamily="34" charset="0"/>
                <a:ea typeface="MS PGothic" panose="020B0600070205080204" pitchFamily="48" charset="-128"/>
                <a:sym typeface="Symbol" panose="05050102010706020507" charset="0"/>
              </a:rPr>
              <a:t>This is consistent with the observed geometry of Be compounds (like BeF</a:t>
            </a:r>
            <a:r>
              <a:rPr lang="en-US" sz="2800" baseline="-25000">
                <a:latin typeface="Arial" panose="020B0604020202020204" pitchFamily="34" charset="0"/>
                <a:ea typeface="MS PGothic" panose="020B0600070205080204" pitchFamily="48" charset="-128"/>
                <a:sym typeface="Symbol" panose="05050102010706020507" charset="0"/>
              </a:rPr>
              <a:t>2</a:t>
            </a:r>
            <a:r>
              <a:rPr lang="en-US" sz="2800">
                <a:latin typeface="Arial" panose="020B0604020202020204" pitchFamily="34" charset="0"/>
                <a:ea typeface="MS PGothic" panose="020B0600070205080204" pitchFamily="48" charset="-128"/>
                <a:sym typeface="Symbol" panose="05050102010706020507" charset="0"/>
              </a:rPr>
              <a:t>) and VSEPR: linear.</a:t>
            </a:r>
            <a:endParaRPr lang="en-US" sz="2800">
              <a:latin typeface="Arial" panose="020B0604020202020204" pitchFamily="34" charset="0"/>
              <a:ea typeface="MS PGothic" panose="020B0600070205080204" pitchFamily="48" charset="-128"/>
            </a:endParaRPr>
          </a:p>
          <a:p>
            <a:pPr eaLnBrk="1" hangingPunct="1">
              <a:lnSpc>
                <a:spcPct val="90000"/>
              </a:lnSpc>
            </a:pPr>
            <a:endParaRPr lang="en-US" sz="2800">
              <a:latin typeface="Arial" panose="020B0604020202020204" pitchFamily="34" charset="0"/>
              <a:ea typeface="MS PGothic" panose="020B0600070205080204" pitchFamily="48" charset="-128"/>
            </a:endParaRPr>
          </a:p>
        </p:txBody>
      </p:sp>
      <p:pic>
        <p:nvPicPr>
          <p:cNvPr id="2" name="Picture 1" descr="09_16_Figure.jpg"/>
          <p:cNvPicPr>
            <a:picLocks noChangeAspect="1"/>
          </p:cNvPicPr>
          <p:nvPr/>
        </p:nvPicPr>
        <p:blipFill rotWithShape="1">
          <a:blip r:embed="rId1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847"/>
          <a:stretch>
            <a:fillRect/>
          </a:stretch>
        </p:blipFill>
        <p:spPr>
          <a:xfrm>
            <a:off x="3048000" y="3281826"/>
            <a:ext cx="6781800" cy="1970318"/>
          </a:xfrm>
          <a:prstGeom prst="rect">
            <a:avLst/>
          </a:prstGeom>
        </p:spPr>
      </p:pic>
      <p:pic>
        <p:nvPicPr>
          <p:cNvPr id="6" name="Picture 5" descr="pg 20 1st.jpg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38700" y="5452950"/>
            <a:ext cx="2514600" cy="816286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  <p:transition spd="slow" advTm="49721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49" name="Rectangle 2"/>
          <p:cNvSpPr>
            <a:spLocks noGrp="1" noChangeArrowheads="1"/>
          </p:cNvSpPr>
          <p:nvPr>
            <p:ph type="title"/>
          </p:nvPr>
        </p:nvSpPr>
        <p:spPr>
          <a:xfrm>
            <a:off x="686435" y="0"/>
            <a:ext cx="11048365" cy="129540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>
                <a:latin typeface="Arial" panose="020B0604020202020204" pitchFamily="34" charset="0"/>
                <a:ea typeface="MS PGothic" panose="020B0600070205080204" pitchFamily="48" charset="-128"/>
              </a:rPr>
              <a:t>Three Electron Domains Gives </a:t>
            </a:r>
            <a:r>
              <a:rPr lang="en-US" i="1">
                <a:latin typeface="Arial" panose="020B0604020202020204" pitchFamily="34" charset="0"/>
                <a:ea typeface="MS PGothic" panose="020B0600070205080204" pitchFamily="48" charset="-128"/>
              </a:rPr>
              <a:t>sp</a:t>
            </a:r>
            <a:r>
              <a:rPr lang="en-US" baseline="30000">
                <a:latin typeface="Arial" panose="020B0604020202020204" pitchFamily="34" charset="0"/>
                <a:ea typeface="MS PGothic" panose="020B0600070205080204" pitchFamily="48" charset="-128"/>
              </a:rPr>
              <a:t>2</a:t>
            </a:r>
            <a:r>
              <a:rPr lang="en-US">
                <a:latin typeface="Arial" panose="020B0604020202020204" pitchFamily="34" charset="0"/>
                <a:ea typeface="MS PGothic" panose="020B0600070205080204" pitchFamily="48" charset="-128"/>
              </a:rPr>
              <a:t> Hybridization</a:t>
            </a:r>
            <a:endParaRPr lang="en-US">
              <a:latin typeface="Arial" panose="020B0604020202020204" pitchFamily="34" charset="0"/>
              <a:ea typeface="MS PGothic" panose="020B0600070205080204" pitchFamily="48" charset="-128"/>
            </a:endParaRPr>
          </a:p>
        </p:txBody>
      </p:sp>
      <p:sp>
        <p:nvSpPr>
          <p:cNvPr id="53250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2209800" y="1447800"/>
            <a:ext cx="7772400" cy="1066800"/>
          </a:xfrm>
        </p:spPr>
        <p:txBody>
          <a:bodyPr/>
          <a:lstStyle/>
          <a:p>
            <a:pPr algn="ctr" eaLnBrk="1" hangingPunct="1">
              <a:buFontTx/>
              <a:buNone/>
            </a:pPr>
            <a:r>
              <a:rPr lang="en-US" sz="3200" dirty="0">
                <a:latin typeface="Arial" panose="020B0604020202020204" pitchFamily="34" charset="0"/>
                <a:ea typeface="MS PGothic" panose="020B0600070205080204" pitchFamily="48" charset="-128"/>
              </a:rPr>
              <a:t>For BF</a:t>
            </a:r>
            <a:r>
              <a:rPr lang="en-US" sz="3200" baseline="-25000" dirty="0">
                <a:latin typeface="Arial" panose="020B0604020202020204" pitchFamily="34" charset="0"/>
                <a:ea typeface="MS PGothic" panose="020B0600070205080204" pitchFamily="48" charset="-128"/>
              </a:rPr>
              <a:t>3, </a:t>
            </a:r>
            <a:r>
              <a:rPr lang="en-US" sz="3200" dirty="0">
                <a:latin typeface="Arial" panose="020B0604020202020204" pitchFamily="34" charset="0"/>
                <a:ea typeface="MS PGothic" panose="020B0600070205080204" pitchFamily="48" charset="-128"/>
              </a:rPr>
              <a:t>using a similar model for boron leads to three degenerate </a:t>
            </a:r>
            <a:r>
              <a:rPr lang="en-US" sz="3200" i="1" dirty="0">
                <a:latin typeface="Arial" panose="020B0604020202020204" pitchFamily="34" charset="0"/>
                <a:ea typeface="MS PGothic" panose="020B0600070205080204" pitchFamily="48" charset="-128"/>
              </a:rPr>
              <a:t>sp</a:t>
            </a:r>
            <a:r>
              <a:rPr lang="en-US" sz="3200" i="1" baseline="30000" dirty="0">
                <a:latin typeface="Arial" panose="020B0604020202020204" pitchFamily="34" charset="0"/>
                <a:ea typeface="MS PGothic" panose="020B0600070205080204" pitchFamily="48" charset="-128"/>
              </a:rPr>
              <a:t>2</a:t>
            </a:r>
            <a:r>
              <a:rPr lang="en-US" sz="3200" dirty="0">
                <a:latin typeface="Arial" panose="020B0604020202020204" pitchFamily="34" charset="0"/>
                <a:ea typeface="MS PGothic" panose="020B0600070205080204" pitchFamily="48" charset="-128"/>
              </a:rPr>
              <a:t> orbitals.</a:t>
            </a:r>
            <a:endParaRPr lang="en-US" sz="3200" dirty="0">
              <a:latin typeface="Arial" panose="020B0604020202020204" pitchFamily="34" charset="0"/>
              <a:ea typeface="MS PGothic" panose="020B0600070205080204" pitchFamily="48" charset="-128"/>
            </a:endParaRPr>
          </a:p>
        </p:txBody>
      </p:sp>
      <p:sp>
        <p:nvSpPr>
          <p:cNvPr id="53251" name="Text Box 7"/>
          <p:cNvSpPr txBox="1">
            <a:spLocks noChangeArrowheads="1"/>
          </p:cNvSpPr>
          <p:nvPr/>
        </p:nvSpPr>
        <p:spPr bwMode="auto">
          <a:xfrm>
            <a:off x="1981200" y="3429000"/>
            <a:ext cx="309880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48" charset="-128"/>
                <a:cs typeface="MS PGothic" panose="020B0600070205080204" pitchFamily="48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48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48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48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48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48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48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48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48" charset="-128"/>
              </a:defRPr>
            </a:lvl9pPr>
          </a:lstStyle>
          <a:p>
            <a:endParaRPr lang="en-US"/>
          </a:p>
        </p:txBody>
      </p:sp>
      <p:pic>
        <p:nvPicPr>
          <p:cNvPr id="2" name="Picture 1" descr="09_17_Figure.jpg"/>
          <p:cNvPicPr>
            <a:picLocks noChangeAspect="1"/>
          </p:cNvPicPr>
          <p:nvPr/>
        </p:nvPicPr>
        <p:blipFill rotWithShape="1">
          <a:blip r:embed="rId1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" b="2648"/>
          <a:stretch>
            <a:fillRect/>
          </a:stretch>
        </p:blipFill>
        <p:spPr>
          <a:xfrm>
            <a:off x="3352800" y="2475139"/>
            <a:ext cx="5715000" cy="397011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791495" y="5071353"/>
            <a:ext cx="2008505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i="1" dirty="0"/>
              <a:t>Trigonal planar geometry</a:t>
            </a:r>
            <a:endParaRPr lang="en-US" sz="1400" i="1" dirty="0"/>
          </a:p>
        </p:txBody>
      </p:sp>
    </p:spTree>
  </p:cSld>
  <p:clrMapOvr>
    <a:masterClrMapping/>
  </p:clrMapOvr>
  <p:transition spd="slow" advTm="64788"/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en-US" sz="4800">
                <a:latin typeface="Arial" panose="020B0604020202020204" pitchFamily="34" charset="0"/>
                <a:ea typeface="MS PGothic" panose="020B0600070205080204" pitchFamily="48" charset="-128"/>
              </a:rPr>
              <a:t>Carbon: </a:t>
            </a:r>
            <a:r>
              <a:rPr lang="en-US" sz="4800" i="1">
                <a:latin typeface="Arial" panose="020B0604020202020204" pitchFamily="34" charset="0"/>
                <a:ea typeface="MS PGothic" panose="020B0600070205080204" pitchFamily="48" charset="-128"/>
              </a:rPr>
              <a:t>sp</a:t>
            </a:r>
            <a:r>
              <a:rPr lang="en-US" sz="4800" baseline="30000">
                <a:latin typeface="Arial" panose="020B0604020202020204" pitchFamily="34" charset="0"/>
                <a:ea typeface="MS PGothic" panose="020B0600070205080204" pitchFamily="48" charset="-128"/>
              </a:rPr>
              <a:t>3</a:t>
            </a:r>
            <a:r>
              <a:rPr lang="en-US" sz="4800">
                <a:latin typeface="Arial" panose="020B0604020202020204" pitchFamily="34" charset="0"/>
                <a:ea typeface="MS PGothic" panose="020B0600070205080204" pitchFamily="48" charset="-128"/>
              </a:rPr>
              <a:t> Hybridization</a:t>
            </a:r>
            <a:endParaRPr lang="en-US" sz="4800">
              <a:latin typeface="Arial" panose="020B0604020202020204" pitchFamily="34" charset="0"/>
              <a:ea typeface="MS PGothic" panose="020B0600070205080204" pitchFamily="48" charset="-128"/>
            </a:endParaRPr>
          </a:p>
        </p:txBody>
      </p:sp>
      <p:sp>
        <p:nvSpPr>
          <p:cNvPr id="55298" name="Rectangle 4"/>
          <p:cNvSpPr>
            <a:spLocks noGrp="1" noChangeArrowheads="1"/>
          </p:cNvSpPr>
          <p:nvPr>
            <p:ph type="body" sz="half" idx="1"/>
          </p:nvPr>
        </p:nvSpPr>
        <p:spPr>
          <a:xfrm>
            <a:off x="1828800" y="2362200"/>
            <a:ext cx="2286000" cy="2133600"/>
          </a:xfrm>
        </p:spPr>
        <p:txBody>
          <a:bodyPr/>
          <a:lstStyle/>
          <a:p>
            <a:pPr marL="0" indent="0" eaLnBrk="1" hangingPunct="1">
              <a:lnSpc>
                <a:spcPct val="90000"/>
              </a:lnSpc>
              <a:buFontTx/>
              <a:buNone/>
            </a:pPr>
            <a:r>
              <a:rPr lang="en-US" sz="2800" dirty="0">
                <a:latin typeface="Arial" panose="020B0604020202020204" pitchFamily="34" charset="0"/>
                <a:ea typeface="MS PGothic" panose="020B0600070205080204" pitchFamily="48" charset="-128"/>
              </a:rPr>
              <a:t>With carbon, we get four degenerate </a:t>
            </a:r>
            <a:r>
              <a:rPr lang="en-US" sz="2800" i="1" dirty="0">
                <a:latin typeface="Arial" panose="020B0604020202020204" pitchFamily="34" charset="0"/>
                <a:ea typeface="MS PGothic" panose="020B0600070205080204" pitchFamily="48" charset="-128"/>
              </a:rPr>
              <a:t>sp</a:t>
            </a:r>
            <a:r>
              <a:rPr lang="en-US" sz="2800" i="1" baseline="30000" dirty="0">
                <a:latin typeface="Arial" panose="020B0604020202020204" pitchFamily="34" charset="0"/>
                <a:ea typeface="MS PGothic" panose="020B0600070205080204" pitchFamily="48" charset="-128"/>
              </a:rPr>
              <a:t>3</a:t>
            </a:r>
            <a:r>
              <a:rPr lang="en-US" sz="2800" dirty="0">
                <a:latin typeface="Arial" panose="020B0604020202020204" pitchFamily="34" charset="0"/>
                <a:ea typeface="MS PGothic" panose="020B0600070205080204" pitchFamily="48" charset="-128"/>
              </a:rPr>
              <a:t> orbitals.</a:t>
            </a:r>
            <a:endParaRPr lang="en-US" sz="2800" dirty="0">
              <a:latin typeface="Arial" panose="020B0604020202020204" pitchFamily="34" charset="0"/>
              <a:ea typeface="MS PGothic" panose="020B0600070205080204" pitchFamily="48" charset="-128"/>
            </a:endParaRPr>
          </a:p>
        </p:txBody>
      </p:sp>
      <p:pic>
        <p:nvPicPr>
          <p:cNvPr id="2" name="Picture 1" descr="09_18_Figure.jpg"/>
          <p:cNvPicPr>
            <a:picLocks noChangeAspect="1"/>
          </p:cNvPicPr>
          <p:nvPr/>
        </p:nvPicPr>
        <p:blipFill rotWithShape="1">
          <a:blip r:embed="rId1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623"/>
          <a:stretch>
            <a:fillRect/>
          </a:stretch>
        </p:blipFill>
        <p:spPr>
          <a:xfrm>
            <a:off x="4267200" y="1219200"/>
            <a:ext cx="5149520" cy="541019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934200" y="6397823"/>
            <a:ext cx="174371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i="1" dirty="0"/>
              <a:t>Tetrahedral geometry</a:t>
            </a:r>
            <a:endParaRPr lang="en-US" sz="1400" i="1" dirty="0"/>
          </a:p>
        </p:txBody>
      </p:sp>
    </p:spTree>
  </p:cSld>
  <p:clrMapOvr>
    <a:masterClrMapping/>
  </p:clrMapOvr>
  <p:transition spd="slow" advTm="39921"/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3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>
                <a:latin typeface="Arial" panose="020B0604020202020204" pitchFamily="34" charset="0"/>
                <a:ea typeface="MS PGothic" panose="020B0600070205080204" pitchFamily="48" charset="-128"/>
              </a:rPr>
              <a:t>Hybrid Orbital Summary</a:t>
            </a:r>
            <a:endParaRPr lang="en-US">
              <a:latin typeface="Arial" panose="020B0604020202020204" pitchFamily="34" charset="0"/>
              <a:ea typeface="MS PGothic" panose="020B0600070205080204" pitchFamily="48" charset="-128"/>
            </a:endParaRPr>
          </a:p>
        </p:txBody>
      </p:sp>
      <p:sp>
        <p:nvSpPr>
          <p:cNvPr id="59394" name="Content Placeholder 2"/>
          <p:cNvSpPr>
            <a:spLocks noGrp="1"/>
          </p:cNvSpPr>
          <p:nvPr>
            <p:ph idx="1"/>
          </p:nvPr>
        </p:nvSpPr>
        <p:spPr>
          <a:xfrm>
            <a:off x="1391285" y="1296670"/>
            <a:ext cx="4628515" cy="4380230"/>
          </a:xfrm>
        </p:spPr>
        <p:txBody>
          <a:bodyPr/>
          <a:lstStyle/>
          <a:p>
            <a:pPr marL="514350" indent="-514350">
              <a:buFontTx/>
              <a:buAutoNum type="arabicParenR"/>
            </a:pPr>
            <a:r>
              <a:rPr lang="en-US" sz="2400" dirty="0">
                <a:latin typeface="Arial" panose="020B0604020202020204" pitchFamily="34" charset="0"/>
                <a:ea typeface="MS PGothic" panose="020B0600070205080204" pitchFamily="48" charset="-128"/>
              </a:rPr>
              <a:t>Draw the Lewis structure.</a:t>
            </a:r>
            <a:endParaRPr lang="en-US" sz="2400" dirty="0">
              <a:latin typeface="Arial" panose="020B0604020202020204" pitchFamily="34" charset="0"/>
              <a:ea typeface="MS PGothic" panose="020B0600070205080204" pitchFamily="48" charset="-128"/>
            </a:endParaRPr>
          </a:p>
          <a:p>
            <a:pPr marL="514350" indent="-514350">
              <a:buFontTx/>
              <a:buAutoNum type="arabicParenR"/>
            </a:pPr>
            <a:r>
              <a:rPr lang="en-US" sz="2400" dirty="0">
                <a:latin typeface="Arial" panose="020B0604020202020204" pitchFamily="34" charset="0"/>
                <a:ea typeface="MS PGothic" panose="020B0600070205080204" pitchFamily="48" charset="-128"/>
              </a:rPr>
              <a:t>Determine the # of Electron domains </a:t>
            </a:r>
            <a:endParaRPr lang="en-US" sz="2400" dirty="0">
              <a:latin typeface="Arial" panose="020B0604020202020204" pitchFamily="34" charset="0"/>
              <a:ea typeface="MS PGothic" panose="020B0600070205080204" pitchFamily="48" charset="-128"/>
            </a:endParaRPr>
          </a:p>
          <a:p>
            <a:pPr marL="514350" indent="-514350">
              <a:buFontTx/>
              <a:buAutoNum type="arabicParenR"/>
            </a:pPr>
            <a:r>
              <a:rPr lang="en-US" sz="2400" dirty="0">
                <a:latin typeface="Arial" panose="020B0604020202020204" pitchFamily="34" charset="0"/>
                <a:ea typeface="MS PGothic" panose="020B0600070205080204" pitchFamily="48" charset="-128"/>
              </a:rPr>
              <a:t>Find the combination of orbitals for hybridization (</a:t>
            </a:r>
            <a:r>
              <a:rPr lang="en-US" sz="2400" i="1" dirty="0">
                <a:solidFill>
                  <a:srgbClr val="FF0000"/>
                </a:solidFill>
                <a:latin typeface="Arial" panose="020B0604020202020204" pitchFamily="34" charset="0"/>
                <a:ea typeface="MS PGothic" panose="020B0600070205080204" pitchFamily="48" charset="-128"/>
              </a:rPr>
              <a:t>s</a:t>
            </a:r>
            <a:r>
              <a:rPr lang="en-US" sz="2400" dirty="0">
                <a:latin typeface="Arial" panose="020B0604020202020204" pitchFamily="34" charset="0"/>
                <a:ea typeface="MS PGothic" panose="020B0600070205080204" pitchFamily="48" charset="-128"/>
              </a:rPr>
              <a:t> + # of </a:t>
            </a:r>
            <a:r>
              <a:rPr lang="en-US" sz="2400" i="1" dirty="0">
                <a:solidFill>
                  <a:srgbClr val="FF0000"/>
                </a:solidFill>
                <a:latin typeface="Arial" panose="020B0604020202020204" pitchFamily="34" charset="0"/>
                <a:ea typeface="MS PGothic" panose="020B0600070205080204" pitchFamily="48" charset="-128"/>
              </a:rPr>
              <a:t>p</a:t>
            </a:r>
            <a:r>
              <a:rPr lang="en-US" sz="2400" i="1" dirty="0">
                <a:latin typeface="Arial" panose="020B0604020202020204" pitchFamily="34" charset="0"/>
                <a:ea typeface="MS PGothic" panose="020B0600070205080204" pitchFamily="48" charset="-128"/>
              </a:rPr>
              <a:t> </a:t>
            </a:r>
            <a:r>
              <a:rPr lang="en-US" sz="2400" dirty="0">
                <a:latin typeface="Arial" panose="020B0604020202020204" pitchFamily="34" charset="0"/>
                <a:ea typeface="MS PGothic" panose="020B0600070205080204" pitchFamily="48" charset="-128"/>
              </a:rPr>
              <a:t>orbitals) from the </a:t>
            </a:r>
            <a:r>
              <a:rPr lang="en-US" sz="2400" b="1" u="sng" dirty="0">
                <a:solidFill>
                  <a:srgbClr val="FF0000"/>
                </a:solidFill>
                <a:latin typeface="Arial" panose="020B0604020202020204" pitchFamily="34" charset="0"/>
                <a:ea typeface="MS PGothic" panose="020B0600070205080204" pitchFamily="48" charset="-128"/>
              </a:rPr>
              <a:t>same</a:t>
            </a:r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  <a:ea typeface="MS PGothic" panose="020B0600070205080204" pitchFamily="48" charset="-128"/>
              </a:rPr>
              <a:t> </a:t>
            </a:r>
            <a:r>
              <a:rPr lang="en-US" sz="2400" dirty="0">
                <a:latin typeface="Arial" panose="020B0604020202020204" pitchFamily="34" charset="0"/>
                <a:ea typeface="MS PGothic" panose="020B0600070205080204" pitchFamily="48" charset="-128"/>
              </a:rPr>
              <a:t>atom.  </a:t>
            </a:r>
            <a:endParaRPr lang="en-US" sz="2400" dirty="0">
              <a:latin typeface="Arial" panose="020B0604020202020204" pitchFamily="34" charset="0"/>
              <a:ea typeface="MS PGothic" panose="020B0600070205080204" pitchFamily="48" charset="-128"/>
            </a:endParaRPr>
          </a:p>
          <a:p>
            <a:pPr marL="0" indent="0">
              <a:buNone/>
            </a:pPr>
            <a:r>
              <a:rPr lang="en-US" sz="2400" dirty="0">
                <a:latin typeface="Arial" panose="020B0604020202020204" pitchFamily="34" charset="0"/>
                <a:ea typeface="MS PGothic" panose="020B0600070205080204" pitchFamily="48" charset="-128"/>
              </a:rPr>
              <a:t>  </a:t>
            </a:r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  <a:ea typeface="MS PGothic" panose="020B0600070205080204" pitchFamily="48" charset="-128"/>
              </a:rPr>
              <a:t>2</a:t>
            </a:r>
            <a:r>
              <a:rPr lang="en-US" sz="2400" dirty="0">
                <a:latin typeface="Arial" panose="020B0604020202020204" pitchFamily="34" charset="0"/>
                <a:ea typeface="MS PGothic" panose="020B0600070205080204" pitchFamily="48" charset="-128"/>
              </a:rPr>
              <a:t> e-domains =&gt; </a:t>
            </a:r>
            <a:r>
              <a:rPr lang="en-US" sz="2400" i="1" dirty="0">
                <a:latin typeface="Arial" panose="020B0604020202020204" pitchFamily="34" charset="0"/>
                <a:ea typeface="MS PGothic" panose="020B0600070205080204" pitchFamily="48" charset="-128"/>
              </a:rPr>
              <a:t>s</a:t>
            </a:r>
            <a:r>
              <a:rPr lang="en-US" sz="2400" dirty="0">
                <a:latin typeface="Arial" panose="020B0604020202020204" pitchFamily="34" charset="0"/>
                <a:ea typeface="MS PGothic" panose="020B0600070205080204" pitchFamily="48" charset="-128"/>
              </a:rPr>
              <a:t>+1 </a:t>
            </a:r>
            <a:r>
              <a:rPr lang="en-US" sz="2400" i="1" dirty="0">
                <a:latin typeface="Arial" panose="020B0604020202020204" pitchFamily="34" charset="0"/>
                <a:ea typeface="MS PGothic" panose="020B0600070205080204" pitchFamily="48" charset="-128"/>
              </a:rPr>
              <a:t>p</a:t>
            </a:r>
            <a:r>
              <a:rPr lang="en-US" sz="2400" dirty="0">
                <a:latin typeface="Arial" panose="020B0604020202020204" pitchFamily="34" charset="0"/>
                <a:ea typeface="MS PGothic" panose="020B0600070205080204" pitchFamily="48" charset="-128"/>
              </a:rPr>
              <a:t> = </a:t>
            </a:r>
            <a:r>
              <a:rPr lang="en-US" sz="2400" i="1" dirty="0" err="1">
                <a:solidFill>
                  <a:srgbClr val="FF0000"/>
                </a:solidFill>
                <a:latin typeface="Arial" panose="020B0604020202020204" pitchFamily="34" charset="0"/>
                <a:ea typeface="MS PGothic" panose="020B0600070205080204" pitchFamily="48" charset="-128"/>
              </a:rPr>
              <a:t>sp</a:t>
            </a:r>
            <a:endParaRPr lang="en-US" sz="2400" i="1" dirty="0">
              <a:solidFill>
                <a:srgbClr val="FF0000"/>
              </a:solidFill>
              <a:latin typeface="Arial" panose="020B0604020202020204" pitchFamily="34" charset="0"/>
              <a:ea typeface="MS PGothic" panose="020B0600070205080204" pitchFamily="48" charset="-128"/>
            </a:endParaRPr>
          </a:p>
          <a:p>
            <a:pPr marL="0" indent="0">
              <a:buNone/>
            </a:pPr>
            <a:r>
              <a:rPr lang="en-US" sz="2400" dirty="0">
                <a:latin typeface="Arial" panose="020B0604020202020204" pitchFamily="34" charset="0"/>
                <a:ea typeface="MS PGothic" panose="020B0600070205080204" pitchFamily="48" charset="-128"/>
              </a:rPr>
              <a:t>  </a:t>
            </a:r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  <a:ea typeface="MS PGothic" panose="020B0600070205080204" pitchFamily="48" charset="-128"/>
              </a:rPr>
              <a:t>3</a:t>
            </a:r>
            <a:r>
              <a:rPr lang="en-US" sz="2400" dirty="0">
                <a:latin typeface="Arial" panose="020B0604020202020204" pitchFamily="34" charset="0"/>
                <a:ea typeface="MS PGothic" panose="020B0600070205080204" pitchFamily="48" charset="-128"/>
              </a:rPr>
              <a:t> e-domains =&gt; </a:t>
            </a:r>
            <a:r>
              <a:rPr lang="en-US" sz="2400" i="1" dirty="0">
                <a:latin typeface="Arial" panose="020B0604020202020204" pitchFamily="34" charset="0"/>
                <a:ea typeface="MS PGothic" panose="020B0600070205080204" pitchFamily="48" charset="-128"/>
              </a:rPr>
              <a:t>s</a:t>
            </a:r>
            <a:r>
              <a:rPr lang="en-US" sz="2400" dirty="0">
                <a:latin typeface="Arial" panose="020B0604020202020204" pitchFamily="34" charset="0"/>
                <a:ea typeface="MS PGothic" panose="020B0600070205080204" pitchFamily="48" charset="-128"/>
              </a:rPr>
              <a:t>+2 </a:t>
            </a:r>
            <a:r>
              <a:rPr lang="en-US" sz="2400" i="1" dirty="0">
                <a:latin typeface="Arial" panose="020B0604020202020204" pitchFamily="34" charset="0"/>
                <a:ea typeface="MS PGothic" panose="020B0600070205080204" pitchFamily="48" charset="-128"/>
              </a:rPr>
              <a:t>p’s</a:t>
            </a:r>
            <a:r>
              <a:rPr lang="en-US" sz="2400" dirty="0">
                <a:latin typeface="Arial" panose="020B0604020202020204" pitchFamily="34" charset="0"/>
                <a:ea typeface="MS PGothic" panose="020B0600070205080204" pitchFamily="48" charset="-128"/>
              </a:rPr>
              <a:t> = </a:t>
            </a:r>
            <a:r>
              <a:rPr lang="en-US" sz="2400" i="1" dirty="0">
                <a:solidFill>
                  <a:srgbClr val="FF0000"/>
                </a:solidFill>
                <a:latin typeface="Arial" panose="020B0604020202020204" pitchFamily="34" charset="0"/>
                <a:ea typeface="MS PGothic" panose="020B0600070205080204" pitchFamily="48" charset="-128"/>
              </a:rPr>
              <a:t>sp</a:t>
            </a:r>
            <a:r>
              <a:rPr lang="en-US" sz="2400" baseline="30000" dirty="0">
                <a:solidFill>
                  <a:srgbClr val="FF0000"/>
                </a:solidFill>
                <a:latin typeface="Arial" panose="020B0604020202020204" pitchFamily="34" charset="0"/>
                <a:ea typeface="MS PGothic" panose="020B0600070205080204" pitchFamily="48" charset="-128"/>
              </a:rPr>
              <a:t>2</a:t>
            </a:r>
            <a:endParaRPr lang="en-US" sz="2400" dirty="0">
              <a:solidFill>
                <a:srgbClr val="FF0000"/>
              </a:solidFill>
              <a:latin typeface="Arial" panose="020B0604020202020204" pitchFamily="34" charset="0"/>
              <a:ea typeface="MS PGothic" panose="020B0600070205080204" pitchFamily="48" charset="-128"/>
            </a:endParaRPr>
          </a:p>
          <a:p>
            <a:pPr marL="0" indent="0">
              <a:buNone/>
            </a:pPr>
            <a:r>
              <a:rPr lang="en-US" sz="2400" dirty="0">
                <a:latin typeface="Arial" panose="020B0604020202020204" pitchFamily="34" charset="0"/>
                <a:ea typeface="MS PGothic" panose="020B0600070205080204" pitchFamily="48" charset="-128"/>
              </a:rPr>
              <a:t>  </a:t>
            </a:r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  <a:ea typeface="MS PGothic" panose="020B0600070205080204" pitchFamily="48" charset="-128"/>
              </a:rPr>
              <a:t>4</a:t>
            </a:r>
            <a:r>
              <a:rPr lang="en-US" sz="2400" dirty="0">
                <a:latin typeface="Arial" panose="020B0604020202020204" pitchFamily="34" charset="0"/>
                <a:ea typeface="MS PGothic" panose="020B0600070205080204" pitchFamily="48" charset="-128"/>
              </a:rPr>
              <a:t> e-domains =&gt; </a:t>
            </a:r>
            <a:r>
              <a:rPr lang="en-US" sz="2400" i="1" dirty="0">
                <a:latin typeface="Arial" panose="020B0604020202020204" pitchFamily="34" charset="0"/>
                <a:ea typeface="MS PGothic" panose="020B0600070205080204" pitchFamily="48" charset="-128"/>
              </a:rPr>
              <a:t>s</a:t>
            </a:r>
            <a:r>
              <a:rPr lang="en-US" sz="2400" dirty="0">
                <a:latin typeface="Arial" panose="020B0604020202020204" pitchFamily="34" charset="0"/>
                <a:ea typeface="MS PGothic" panose="020B0600070205080204" pitchFamily="48" charset="-128"/>
              </a:rPr>
              <a:t>+3 </a:t>
            </a:r>
            <a:r>
              <a:rPr lang="en-US" sz="2400" i="1" dirty="0">
                <a:latin typeface="Arial" panose="020B0604020202020204" pitchFamily="34" charset="0"/>
                <a:ea typeface="MS PGothic" panose="020B0600070205080204" pitchFamily="48" charset="-128"/>
              </a:rPr>
              <a:t>p’s</a:t>
            </a:r>
            <a:r>
              <a:rPr lang="en-US" sz="2400" dirty="0">
                <a:latin typeface="Arial" panose="020B0604020202020204" pitchFamily="34" charset="0"/>
                <a:ea typeface="MS PGothic" panose="020B0600070205080204" pitchFamily="48" charset="-128"/>
              </a:rPr>
              <a:t> = </a:t>
            </a:r>
            <a:r>
              <a:rPr lang="en-US" sz="2400" i="1" dirty="0">
                <a:solidFill>
                  <a:srgbClr val="FF0000"/>
                </a:solidFill>
                <a:latin typeface="Arial" panose="020B0604020202020204" pitchFamily="34" charset="0"/>
                <a:ea typeface="MS PGothic" panose="020B0600070205080204" pitchFamily="48" charset="-128"/>
              </a:rPr>
              <a:t>sp</a:t>
            </a:r>
            <a:r>
              <a:rPr lang="en-US" sz="2400" baseline="30000" dirty="0">
                <a:solidFill>
                  <a:srgbClr val="FF0000"/>
                </a:solidFill>
                <a:latin typeface="Arial" panose="020B0604020202020204" pitchFamily="34" charset="0"/>
                <a:ea typeface="MS PGothic" panose="020B0600070205080204" pitchFamily="48" charset="-128"/>
              </a:rPr>
              <a:t>3</a:t>
            </a:r>
            <a:endParaRPr lang="en-US" sz="2400" baseline="30000" dirty="0">
              <a:solidFill>
                <a:srgbClr val="FF0000"/>
              </a:solidFill>
              <a:latin typeface="Arial" panose="020B0604020202020204" pitchFamily="34" charset="0"/>
              <a:ea typeface="MS PGothic" panose="020B0600070205080204" pitchFamily="48" charset="-128"/>
            </a:endParaRPr>
          </a:p>
          <a:p>
            <a:pPr marL="0" indent="0">
              <a:buNone/>
            </a:pPr>
            <a:endParaRPr lang="en-US" sz="2200" dirty="0">
              <a:solidFill>
                <a:srgbClr val="0000FF"/>
              </a:solidFill>
              <a:latin typeface="Arial" panose="020B0604020202020204" pitchFamily="34" charset="0"/>
              <a:ea typeface="MS PGothic" panose="020B0600070205080204" pitchFamily="48" charset="-128"/>
            </a:endParaRPr>
          </a:p>
          <a:p>
            <a:pPr marL="0" indent="0">
              <a:buNone/>
            </a:pPr>
            <a:endParaRPr lang="en-US" sz="2200" dirty="0">
              <a:solidFill>
                <a:srgbClr val="0000FF"/>
              </a:solidFill>
              <a:latin typeface="Arial" panose="020B0604020202020204" pitchFamily="34" charset="0"/>
              <a:ea typeface="MS PGothic" panose="020B0600070205080204" pitchFamily="48" charset="-128"/>
            </a:endParaRPr>
          </a:p>
        </p:txBody>
      </p:sp>
      <p:pic>
        <p:nvPicPr>
          <p:cNvPr id="3" name="Picture 2" descr="09_04_Table.jpg"/>
          <p:cNvPicPr>
            <a:picLocks noChangeAspect="1"/>
          </p:cNvPicPr>
          <p:nvPr/>
        </p:nvPicPr>
        <p:blipFill rotWithShape="1">
          <a:blip r:embed="rId1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627"/>
          <a:stretch>
            <a:fillRect/>
          </a:stretch>
        </p:blipFill>
        <p:spPr>
          <a:xfrm>
            <a:off x="5910580" y="1446107"/>
            <a:ext cx="4505325" cy="4080933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3276600" y="5676149"/>
            <a:ext cx="571500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00FF"/>
                </a:solidFill>
              </a:rPr>
              <a:t>Arrangement of hybrid orbitals follows the rule for electron-domain geometry</a:t>
            </a:r>
            <a:endParaRPr lang="en-US" dirty="0"/>
          </a:p>
        </p:txBody>
      </p:sp>
    </p:spTree>
  </p:cSld>
  <p:clrMapOvr>
    <a:masterClrMapping/>
  </p:clrMapOvr>
  <p:transition spd="slow" advTm="68943"/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1" name="Rectangle 2"/>
          <p:cNvSpPr>
            <a:spLocks noGrp="1" noChangeArrowheads="1"/>
          </p:cNvSpPr>
          <p:nvPr>
            <p:ph type="title"/>
          </p:nvPr>
        </p:nvSpPr>
        <p:spPr>
          <a:xfrm>
            <a:off x="1524000" y="0"/>
            <a:ext cx="9144000" cy="1143000"/>
          </a:xfrm>
        </p:spPr>
        <p:txBody>
          <a:bodyPr/>
          <a:lstStyle/>
          <a:p>
            <a:pPr algn="ctr" eaLnBrk="1" hangingPunct="1"/>
            <a:r>
              <a:rPr lang="en-US">
                <a:latin typeface="Arial" panose="020B0604020202020204" pitchFamily="34" charset="0"/>
                <a:ea typeface="MS PGothic" panose="020B0600070205080204" pitchFamily="48" charset="-128"/>
              </a:rPr>
              <a:t>Sigma (</a:t>
            </a:r>
            <a:r>
              <a:rPr lang="en-US" i="1">
                <a:latin typeface="Symbol" panose="05050102010706020507" charset="0"/>
                <a:ea typeface="MS PGothic" panose="020B0600070205080204" pitchFamily="48" charset="-128"/>
                <a:sym typeface="Symbol" panose="05050102010706020507" charset="0"/>
              </a:rPr>
              <a:t></a:t>
            </a:r>
            <a:r>
              <a:rPr lang="en-US">
                <a:latin typeface="Arial" panose="020B0604020202020204" pitchFamily="34" charset="0"/>
                <a:ea typeface="MS PGothic" panose="020B0600070205080204" pitchFamily="48" charset="-128"/>
              </a:rPr>
              <a:t>) and Pi (</a:t>
            </a:r>
            <a:r>
              <a:rPr lang="en-US" i="1">
                <a:latin typeface="Symbol" panose="05050102010706020507" charset="0"/>
                <a:ea typeface="MS PGothic" panose="020B0600070205080204" pitchFamily="48" charset="-128"/>
                <a:sym typeface="Symbol" panose="05050102010706020507" charset="0"/>
              </a:rPr>
              <a:t></a:t>
            </a:r>
            <a:r>
              <a:rPr lang="en-US">
                <a:latin typeface="Symbol" panose="05050102010706020507" charset="0"/>
                <a:ea typeface="MS PGothic" panose="020B0600070205080204" pitchFamily="48" charset="-128"/>
                <a:sym typeface="Symbol" panose="05050102010706020507" charset="0"/>
              </a:rPr>
              <a:t>)</a:t>
            </a:r>
            <a:r>
              <a:rPr lang="en-US">
                <a:latin typeface="Arial" panose="020B0604020202020204" pitchFamily="34" charset="0"/>
                <a:ea typeface="MS PGothic" panose="020B0600070205080204" pitchFamily="48" charset="-128"/>
              </a:rPr>
              <a:t> Bonds</a:t>
            </a:r>
            <a:endParaRPr lang="en-US">
              <a:latin typeface="Arial" panose="020B0604020202020204" pitchFamily="34" charset="0"/>
              <a:ea typeface="MS PGothic" panose="020B0600070205080204" pitchFamily="48" charset="-128"/>
            </a:endParaRPr>
          </a:p>
        </p:txBody>
      </p:sp>
      <p:sp>
        <p:nvSpPr>
          <p:cNvPr id="61442" name="Rectangle 4"/>
          <p:cNvSpPr>
            <a:spLocks noGrp="1" noChangeArrowheads="1"/>
          </p:cNvSpPr>
          <p:nvPr>
            <p:ph type="body" sz="half" idx="2"/>
          </p:nvPr>
        </p:nvSpPr>
        <p:spPr>
          <a:xfrm>
            <a:off x="1676400" y="3048000"/>
            <a:ext cx="8839200" cy="3810635"/>
          </a:xfrm>
        </p:spPr>
        <p:txBody>
          <a:bodyPr>
            <a:noAutofit/>
          </a:bodyPr>
          <a:lstStyle/>
          <a:p>
            <a:pPr eaLnBrk="1" hangingPunct="1"/>
            <a:r>
              <a:rPr lang="en-US" dirty="0">
                <a:latin typeface="Arial" panose="020B0604020202020204" pitchFamily="34" charset="0"/>
                <a:ea typeface="MS PGothic" panose="020B0600070205080204" pitchFamily="48" charset="-128"/>
              </a:rPr>
              <a:t>Sigma bonds are characterized by</a:t>
            </a:r>
            <a:endParaRPr lang="en-US" dirty="0">
              <a:latin typeface="Arial" panose="020B0604020202020204" pitchFamily="34" charset="0"/>
              <a:ea typeface="MS PGothic" panose="020B0600070205080204" pitchFamily="48" charset="-128"/>
            </a:endParaRPr>
          </a:p>
          <a:p>
            <a:pPr marL="740410" indent="-283210" eaLnBrk="1" hangingPunct="1">
              <a:buFont typeface="Lucida Grande"/>
              <a:buChar char="–"/>
            </a:pPr>
            <a:r>
              <a:rPr lang="en-US" dirty="0">
                <a:solidFill>
                  <a:srgbClr val="FF0000"/>
                </a:solidFill>
                <a:latin typeface="Arial" panose="020B0604020202020204" pitchFamily="34" charset="0"/>
                <a:ea typeface="MS PGothic" panose="020B0600070205080204" pitchFamily="48" charset="-128"/>
              </a:rPr>
              <a:t>head-to-head</a:t>
            </a:r>
            <a:r>
              <a:rPr lang="en-US" dirty="0">
                <a:latin typeface="Arial" panose="020B0604020202020204" pitchFamily="34" charset="0"/>
                <a:ea typeface="MS PGothic" panose="020B0600070205080204" pitchFamily="48" charset="-128"/>
              </a:rPr>
              <a:t> overlap.</a:t>
            </a:r>
            <a:endParaRPr lang="en-US" dirty="0">
              <a:latin typeface="Arial" panose="020B0604020202020204" pitchFamily="34" charset="0"/>
              <a:ea typeface="MS PGothic" panose="020B0600070205080204" pitchFamily="48" charset="-128"/>
            </a:endParaRPr>
          </a:p>
          <a:p>
            <a:pPr marL="740410" indent="-283210" eaLnBrk="1" hangingPunct="1">
              <a:buFont typeface="Lucida Grande"/>
              <a:buChar char="–"/>
            </a:pPr>
            <a:r>
              <a:rPr lang="en-US" dirty="0">
                <a:latin typeface="Arial" panose="020B0604020202020204" pitchFamily="34" charset="0"/>
                <a:ea typeface="MS PGothic" panose="020B0600070205080204" pitchFamily="48" charset="-128"/>
              </a:rPr>
              <a:t>cylindrical symmetry of electron density about the </a:t>
            </a:r>
            <a:r>
              <a:rPr lang="en-US" dirty="0" err="1">
                <a:latin typeface="Arial" panose="020B0604020202020204" pitchFamily="34" charset="0"/>
                <a:ea typeface="MS PGothic" panose="020B0600070205080204" pitchFamily="48" charset="-128"/>
              </a:rPr>
              <a:t>internuclear</a:t>
            </a:r>
            <a:r>
              <a:rPr lang="en-US" dirty="0">
                <a:latin typeface="Arial" panose="020B0604020202020204" pitchFamily="34" charset="0"/>
                <a:ea typeface="MS PGothic" panose="020B0600070205080204" pitchFamily="48" charset="-128"/>
              </a:rPr>
              <a:t> axis.</a:t>
            </a:r>
            <a:endParaRPr lang="en-US" dirty="0">
              <a:latin typeface="Arial" panose="020B0604020202020204" pitchFamily="34" charset="0"/>
              <a:ea typeface="MS PGothic" panose="020B0600070205080204" pitchFamily="48" charset="-128"/>
            </a:endParaRPr>
          </a:p>
          <a:p>
            <a:pPr eaLnBrk="1" hangingPunct="1"/>
            <a:r>
              <a:rPr lang="en-US" dirty="0">
                <a:latin typeface="Arial" panose="020B0604020202020204" pitchFamily="34" charset="0"/>
                <a:ea typeface="MS PGothic" panose="020B0600070205080204" pitchFamily="48" charset="-128"/>
              </a:rPr>
              <a:t>Pi bonds are characterized by</a:t>
            </a:r>
            <a:endParaRPr lang="en-US" dirty="0">
              <a:latin typeface="Arial" panose="020B0604020202020204" pitchFamily="34" charset="0"/>
              <a:ea typeface="MS PGothic" panose="020B0600070205080204" pitchFamily="48" charset="-128"/>
            </a:endParaRPr>
          </a:p>
          <a:p>
            <a:pPr marL="740410" indent="-283210" eaLnBrk="1" hangingPunct="1">
              <a:buFont typeface="Lucida Grande"/>
              <a:buChar char="–"/>
            </a:pPr>
            <a:r>
              <a:rPr lang="en-US" dirty="0">
                <a:solidFill>
                  <a:srgbClr val="FF0000"/>
                </a:solidFill>
                <a:latin typeface="Arial" panose="020B0604020202020204" pitchFamily="34" charset="0"/>
                <a:ea typeface="MS PGothic" panose="020B0600070205080204" pitchFamily="48" charset="-128"/>
              </a:rPr>
              <a:t>side-to-side</a:t>
            </a:r>
            <a:r>
              <a:rPr lang="en-US" dirty="0">
                <a:latin typeface="Arial" panose="020B0604020202020204" pitchFamily="34" charset="0"/>
                <a:ea typeface="MS PGothic" panose="020B0600070205080204" pitchFamily="48" charset="-128"/>
              </a:rPr>
              <a:t> overlap.</a:t>
            </a:r>
            <a:endParaRPr lang="en-US" dirty="0">
              <a:latin typeface="Arial" panose="020B0604020202020204" pitchFamily="34" charset="0"/>
              <a:ea typeface="MS PGothic" panose="020B0600070205080204" pitchFamily="48" charset="-128"/>
            </a:endParaRPr>
          </a:p>
          <a:p>
            <a:pPr marL="740410" indent="-283210" eaLnBrk="1" hangingPunct="1">
              <a:buFont typeface="Lucida Grande"/>
              <a:buChar char="–"/>
            </a:pPr>
            <a:r>
              <a:rPr lang="en-US" dirty="0">
                <a:latin typeface="Arial" panose="020B0604020202020204" pitchFamily="34" charset="0"/>
                <a:ea typeface="MS PGothic" panose="020B0600070205080204" pitchFamily="48" charset="-128"/>
              </a:rPr>
              <a:t>electron density above and below the </a:t>
            </a:r>
            <a:br>
              <a:rPr lang="en-US" dirty="0">
                <a:latin typeface="Arial" panose="020B0604020202020204" pitchFamily="34" charset="0"/>
                <a:ea typeface="MS PGothic" panose="020B0600070205080204" pitchFamily="48" charset="-128"/>
              </a:rPr>
            </a:br>
            <a:r>
              <a:rPr lang="en-US" dirty="0" err="1">
                <a:latin typeface="Arial" panose="020B0604020202020204" pitchFamily="34" charset="0"/>
                <a:ea typeface="MS PGothic" panose="020B0600070205080204" pitchFamily="48" charset="-128"/>
              </a:rPr>
              <a:t>internuclear</a:t>
            </a:r>
            <a:r>
              <a:rPr lang="en-US" dirty="0">
                <a:latin typeface="Arial" panose="020B0604020202020204" pitchFamily="34" charset="0"/>
                <a:ea typeface="MS PGothic" panose="020B0600070205080204" pitchFamily="48" charset="-128"/>
              </a:rPr>
              <a:t> axis.</a:t>
            </a:r>
            <a:endParaRPr lang="en-US" dirty="0">
              <a:latin typeface="Arial" panose="020B0604020202020204" pitchFamily="34" charset="0"/>
              <a:ea typeface="MS PGothic" panose="020B0600070205080204" pitchFamily="48" charset="-128"/>
            </a:endParaRPr>
          </a:p>
        </p:txBody>
      </p:sp>
      <p:pic>
        <p:nvPicPr>
          <p:cNvPr id="2" name="Picture 1" descr="09_21_Figure.jpg"/>
          <p:cNvPicPr>
            <a:picLocks noChangeAspect="1"/>
          </p:cNvPicPr>
          <p:nvPr/>
        </p:nvPicPr>
        <p:blipFill rotWithShape="1">
          <a:blip r:embed="rId1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410"/>
          <a:stretch>
            <a:fillRect/>
          </a:stretch>
        </p:blipFill>
        <p:spPr>
          <a:xfrm>
            <a:off x="2514600" y="1066800"/>
            <a:ext cx="7281714" cy="1981200"/>
          </a:xfrm>
          <a:prstGeom prst="rect">
            <a:avLst/>
          </a:prstGeom>
        </p:spPr>
      </p:pic>
    </p:spTree>
  </p:cSld>
  <p:clrMapOvr>
    <a:masterClrMapping/>
  </p:clrMapOvr>
  <p:transition spd="slow" advTm="50574"/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3" name="Title 1"/>
          <p:cNvSpPr>
            <a:spLocks noGrp="1"/>
          </p:cNvSpPr>
          <p:nvPr>
            <p:ph type="title"/>
          </p:nvPr>
        </p:nvSpPr>
        <p:spPr>
          <a:xfrm>
            <a:off x="1524000" y="-2894"/>
            <a:ext cx="9144000" cy="1143000"/>
          </a:xfrm>
        </p:spPr>
        <p:txBody>
          <a:bodyPr/>
          <a:lstStyle/>
          <a:p>
            <a:pPr algn="ctr"/>
            <a:r>
              <a:rPr lang="en-US" sz="3600" b="1" dirty="0">
                <a:latin typeface="Arial" panose="020B0604020202020204" pitchFamily="34" charset="0"/>
                <a:ea typeface="MS PGothic" panose="020B0600070205080204" pitchFamily="48" charset="-128"/>
              </a:rPr>
              <a:t>Localized or Delocalized Electrons</a:t>
            </a:r>
            <a:endParaRPr lang="en-US" sz="3600" b="1" dirty="0">
              <a:latin typeface="Arial" panose="020B0604020202020204" pitchFamily="34" charset="0"/>
              <a:ea typeface="MS PGothic" panose="020B0600070205080204" pitchFamily="48" charset="-128"/>
            </a:endParaRPr>
          </a:p>
        </p:txBody>
      </p:sp>
      <p:sp>
        <p:nvSpPr>
          <p:cNvPr id="64514" name="Content Placeholder 2"/>
          <p:cNvSpPr>
            <a:spLocks noGrp="1"/>
          </p:cNvSpPr>
          <p:nvPr>
            <p:ph idx="1"/>
          </p:nvPr>
        </p:nvSpPr>
        <p:spPr>
          <a:xfrm>
            <a:off x="2209800" y="990600"/>
            <a:ext cx="7772400" cy="3657600"/>
          </a:xfrm>
        </p:spPr>
        <p:txBody>
          <a:bodyPr>
            <a:noAutofit/>
          </a:bodyPr>
          <a:lstStyle/>
          <a:p>
            <a:r>
              <a:rPr lang="en-US" sz="3600" dirty="0">
                <a:latin typeface="Arial" panose="020B0604020202020204" pitchFamily="34" charset="0"/>
                <a:ea typeface="MS PGothic" panose="020B0600070205080204" pitchFamily="48" charset="-128"/>
              </a:rPr>
              <a:t>Bonding electrons (</a:t>
            </a:r>
            <a:r>
              <a:rPr lang="el-GR" sz="3600" i="1" dirty="0">
                <a:latin typeface="Arial" panose="020B0604020202020204" pitchFamily="34" charset="0"/>
                <a:ea typeface="MS PGothic" panose="020B0600070205080204" pitchFamily="48" charset="-128"/>
                <a:cs typeface="Arial" panose="020B0604020202020204" pitchFamily="34" charset="0"/>
              </a:rPr>
              <a:t>σ</a:t>
            </a:r>
            <a:r>
              <a:rPr lang="en-US" sz="3600" dirty="0">
                <a:latin typeface="Arial" panose="020B0604020202020204" pitchFamily="34" charset="0"/>
                <a:ea typeface="MS PGothic" panose="020B0600070205080204" pitchFamily="48" charset="-128"/>
                <a:cs typeface="Arial" panose="020B0604020202020204" pitchFamily="34" charset="0"/>
              </a:rPr>
              <a:t> or </a:t>
            </a:r>
            <a:r>
              <a:rPr lang="el-GR" sz="3600" i="1" dirty="0">
                <a:latin typeface="Arial" panose="020B0604020202020204" pitchFamily="34" charset="0"/>
                <a:ea typeface="MS PGothic" panose="020B0600070205080204" pitchFamily="48" charset="-128"/>
                <a:cs typeface="Arial" panose="020B0604020202020204" pitchFamily="34" charset="0"/>
              </a:rPr>
              <a:t>π</a:t>
            </a:r>
            <a:r>
              <a:rPr lang="en-US" sz="3600" dirty="0">
                <a:latin typeface="Arial" panose="020B0604020202020204" pitchFamily="34" charset="0"/>
                <a:ea typeface="MS PGothic" panose="020B0600070205080204" pitchFamily="48" charset="-128"/>
                <a:cs typeface="Arial" panose="020B0604020202020204" pitchFamily="34" charset="0"/>
              </a:rPr>
              <a:t>) that are specifically shared between two atoms</a:t>
            </a:r>
            <a:r>
              <a:rPr lang="en-US" sz="3600" dirty="0">
                <a:latin typeface="Arial" panose="020B0604020202020204" pitchFamily="34" charset="0"/>
                <a:ea typeface="MS PGothic" panose="020B0600070205080204" pitchFamily="48" charset="-128"/>
              </a:rPr>
              <a:t> are called </a:t>
            </a:r>
            <a:r>
              <a:rPr lang="en-US" sz="3600" b="1" dirty="0">
                <a:latin typeface="Arial" panose="020B0604020202020204" pitchFamily="34" charset="0"/>
                <a:ea typeface="MS PGothic" panose="020B0600070205080204" pitchFamily="48" charset="-128"/>
              </a:rPr>
              <a:t>localized</a:t>
            </a:r>
            <a:r>
              <a:rPr lang="en-US" sz="3600" dirty="0">
                <a:latin typeface="Arial" panose="020B0604020202020204" pitchFamily="34" charset="0"/>
                <a:ea typeface="MS PGothic" panose="020B0600070205080204" pitchFamily="48" charset="-128"/>
              </a:rPr>
              <a:t> electrons.</a:t>
            </a:r>
            <a:endParaRPr lang="en-US" sz="3600" dirty="0">
              <a:latin typeface="Arial" panose="020B0604020202020204" pitchFamily="34" charset="0"/>
              <a:ea typeface="MS PGothic" panose="020B0600070205080204" pitchFamily="48" charset="-128"/>
            </a:endParaRPr>
          </a:p>
          <a:p>
            <a:r>
              <a:rPr lang="en-US" sz="3600" dirty="0">
                <a:latin typeface="Arial" panose="020B0604020202020204" pitchFamily="34" charset="0"/>
                <a:ea typeface="MS PGothic" panose="020B0600070205080204" pitchFamily="48" charset="-128"/>
                <a:cs typeface="Arial" panose="020B0604020202020204" pitchFamily="34" charset="0"/>
              </a:rPr>
              <a:t>In many molecules, we can’t describe all electrons that way (</a:t>
            </a:r>
            <a:r>
              <a:rPr lang="en-US" sz="3600" dirty="0">
                <a:solidFill>
                  <a:srgbClr val="0000FF"/>
                </a:solidFill>
                <a:latin typeface="Arial" panose="020B0604020202020204" pitchFamily="34" charset="0"/>
                <a:ea typeface="MS PGothic" panose="020B0600070205080204" pitchFamily="48" charset="-128"/>
                <a:cs typeface="Arial" panose="020B0604020202020204" pitchFamily="34" charset="0"/>
              </a:rPr>
              <a:t>resonance</a:t>
            </a:r>
            <a:r>
              <a:rPr lang="en-US" sz="3600" dirty="0">
                <a:latin typeface="Arial" panose="020B0604020202020204" pitchFamily="34" charset="0"/>
                <a:ea typeface="MS PGothic" panose="020B0600070205080204" pitchFamily="48" charset="-128"/>
                <a:cs typeface="Arial" panose="020B0604020202020204" pitchFamily="34" charset="0"/>
              </a:rPr>
              <a:t>); the other electrons (shared by multiple atoms) are called </a:t>
            </a:r>
            <a:r>
              <a:rPr lang="en-US" sz="3600" b="1" dirty="0">
                <a:solidFill>
                  <a:srgbClr val="0000FF"/>
                </a:solidFill>
                <a:latin typeface="Arial" panose="020B0604020202020204" pitchFamily="34" charset="0"/>
                <a:ea typeface="MS PGothic" panose="020B0600070205080204" pitchFamily="48" charset="-128"/>
                <a:cs typeface="Arial" panose="020B0604020202020204" pitchFamily="34" charset="0"/>
              </a:rPr>
              <a:t>delocalized</a:t>
            </a:r>
            <a:r>
              <a:rPr lang="en-US" sz="3600" dirty="0">
                <a:solidFill>
                  <a:srgbClr val="0000FF"/>
                </a:solidFill>
                <a:latin typeface="Arial" panose="020B0604020202020204" pitchFamily="34" charset="0"/>
                <a:ea typeface="MS PGothic" panose="020B0600070205080204" pitchFamily="48" charset="-128"/>
                <a:cs typeface="Arial" panose="020B0604020202020204" pitchFamily="34" charset="0"/>
              </a:rPr>
              <a:t> </a:t>
            </a:r>
            <a:r>
              <a:rPr lang="en-US" sz="3600" dirty="0">
                <a:latin typeface="Arial" panose="020B0604020202020204" pitchFamily="34" charset="0"/>
                <a:ea typeface="MS PGothic" panose="020B0600070205080204" pitchFamily="48" charset="-128"/>
                <a:cs typeface="Arial" panose="020B0604020202020204" pitchFamily="34" charset="0"/>
              </a:rPr>
              <a:t>electrons.</a:t>
            </a:r>
            <a:endParaRPr lang="en-US" sz="3600" dirty="0">
              <a:latin typeface="Arial" panose="020B0604020202020204" pitchFamily="34" charset="0"/>
              <a:ea typeface="MS PGothic" panose="020B0600070205080204" pitchFamily="48" charset="-128"/>
              <a:cs typeface="Arial" panose="020B0604020202020204" pitchFamily="34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2552700" y="5627370"/>
            <a:ext cx="708660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We have to view the </a:t>
            </a:r>
            <a:r>
              <a:rPr lang="en-US" b="1" u="sng" dirty="0">
                <a:solidFill>
                  <a:srgbClr val="FF0000"/>
                </a:solidFill>
              </a:rPr>
              <a:t>molecule as a whole</a:t>
            </a:r>
            <a:r>
              <a:rPr lang="en-US" b="1" dirty="0">
                <a:solidFill>
                  <a:srgbClr val="FF0000"/>
                </a:solidFill>
              </a:rPr>
              <a:t>, including all (not just the valence) electrons!</a:t>
            </a:r>
            <a:endParaRPr lang="en-US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ransition spd="slow" advTm="27325"/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8425" y="2766060"/>
            <a:ext cx="12191365" cy="1325880"/>
          </a:xfrm>
        </p:spPr>
        <p:txBody>
          <a:bodyPr>
            <a:normAutofit/>
          </a:bodyPr>
          <a:p>
            <a:pPr algn="ctr"/>
            <a:r>
              <a:rPr lang="zh-CN" altLang="en-US"/>
              <a:t>第三</a:t>
            </a:r>
            <a:r>
              <a:rPr lang="zh-CN" altLang="en-US"/>
              <a:t>部分：</a:t>
            </a:r>
            <a:r>
              <a:rPr lang="en-US">
                <a:latin typeface="Arial" panose="020B0604020202020204" pitchFamily="34" charset="0"/>
                <a:ea typeface="MS PGothic" panose="020B0600070205080204" pitchFamily="48" charset="-128"/>
                <a:sym typeface="+mn-ea"/>
              </a:rPr>
              <a:t>MO</a:t>
            </a:r>
            <a:endParaRPr lang="en-US" altLang="zh-CN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289050" y="387350"/>
            <a:ext cx="9614535" cy="582041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661670" marR="1511935" indent="-573405">
              <a:lnSpc>
                <a:spcPct val="100000"/>
              </a:lnSpc>
              <a:spcBef>
                <a:spcPts val="95"/>
              </a:spcBef>
              <a:buFont typeface="Wingdings" panose="05000000000000000000"/>
              <a:buChar char=""/>
              <a:tabLst>
                <a:tab pos="661670" algn="l"/>
                <a:tab pos="662305" algn="l"/>
              </a:tabLst>
            </a:pPr>
            <a:r>
              <a:rPr sz="3600" b="1" spc="-10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Electron </a:t>
            </a:r>
            <a:r>
              <a:rPr sz="3600" b="1" spc="-20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configurations </a:t>
            </a:r>
            <a:r>
              <a:rPr sz="3600" b="1" spc="-5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and molecular  </a:t>
            </a:r>
            <a:r>
              <a:rPr sz="3600" b="1" spc="-15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properties</a:t>
            </a:r>
            <a:endParaRPr sz="3600">
              <a:latin typeface="Calibri" panose="020F0502020204030204"/>
              <a:cs typeface="Calibri" panose="020F0502020204030204"/>
            </a:endParaRPr>
          </a:p>
          <a:p>
            <a:pPr marL="626745" marR="93980" indent="-457835">
              <a:lnSpc>
                <a:spcPct val="102000"/>
              </a:lnSpc>
              <a:spcBef>
                <a:spcPts val="700"/>
              </a:spcBef>
              <a:buSzPct val="70000"/>
              <a:buFont typeface="Wingdings" panose="05000000000000000000"/>
              <a:buChar char=""/>
              <a:tabLst>
                <a:tab pos="626745" algn="l"/>
                <a:tab pos="627380" algn="l"/>
                <a:tab pos="4559935" algn="l"/>
              </a:tabLst>
            </a:pPr>
            <a:r>
              <a:rPr sz="3200" b="1" spc="-1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Paramagnetism</a:t>
            </a:r>
            <a:r>
              <a:rPr sz="3200" b="1" spc="-2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3200" b="1" spc="-1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(</a:t>
            </a:r>
            <a:r>
              <a:rPr sz="3200" b="1" spc="15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顺磁</a:t>
            </a:r>
            <a:r>
              <a:rPr sz="3200" b="1" spc="10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性</a:t>
            </a:r>
            <a:r>
              <a:rPr sz="3200" b="1" spc="-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)</a:t>
            </a:r>
            <a:r>
              <a:rPr sz="3200" b="1" spc="-5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:</a:t>
            </a:r>
            <a:r>
              <a:rPr sz="3200" dirty="0">
                <a:solidFill>
                  <a:schemeClr val="tx1"/>
                </a:solidFill>
                <a:latin typeface="Calibri" panose="020F0502020204030204"/>
                <a:cs typeface="Calibri" panose="020F0502020204030204"/>
              </a:rPr>
              <a:t>Molecules with one </a:t>
            </a:r>
            <a:r>
              <a:rPr sz="3200" spc="-5" dirty="0">
                <a:solidFill>
                  <a:schemeClr val="tx1"/>
                </a:solidFill>
                <a:latin typeface="Calibri" panose="020F0502020204030204"/>
                <a:cs typeface="Calibri" panose="020F0502020204030204"/>
              </a:rPr>
              <a:t>or </a:t>
            </a:r>
            <a:r>
              <a:rPr sz="3200" spc="-10" dirty="0">
                <a:solidFill>
                  <a:schemeClr val="tx1"/>
                </a:solidFill>
                <a:latin typeface="Calibri" panose="020F0502020204030204"/>
                <a:cs typeface="Calibri" panose="020F0502020204030204"/>
              </a:rPr>
              <a:t>more </a:t>
            </a:r>
            <a:r>
              <a:rPr sz="3200" b="1" spc="5" dirty="0">
                <a:solidFill>
                  <a:schemeClr val="tx1"/>
                </a:solidFill>
                <a:latin typeface="Calibri" panose="020F0502020204030204"/>
                <a:cs typeface="Calibri" panose="020F0502020204030204"/>
              </a:rPr>
              <a:t>unpaired </a:t>
            </a:r>
            <a:r>
              <a:rPr sz="3200" b="1" dirty="0">
                <a:solidFill>
                  <a:schemeClr val="tx1"/>
                </a:solidFill>
                <a:latin typeface="Calibri" panose="020F0502020204030204"/>
                <a:cs typeface="Calibri" panose="020F0502020204030204"/>
              </a:rPr>
              <a:t>electrons </a:t>
            </a:r>
            <a:r>
              <a:rPr sz="3200" spc="-15" dirty="0">
                <a:solidFill>
                  <a:schemeClr val="tx1"/>
                </a:solidFill>
                <a:latin typeface="Calibri" panose="020F0502020204030204"/>
                <a:cs typeface="Calibri" panose="020F0502020204030204"/>
              </a:rPr>
              <a:t>are </a:t>
            </a:r>
            <a:r>
              <a:rPr sz="3200" spc="-20" dirty="0">
                <a:solidFill>
                  <a:schemeClr val="tx1"/>
                </a:solidFill>
                <a:latin typeface="Calibri" panose="020F0502020204030204"/>
                <a:cs typeface="Calibri" panose="020F0502020204030204"/>
              </a:rPr>
              <a:t>attracted </a:t>
            </a:r>
            <a:r>
              <a:rPr sz="3200" spc="-15" dirty="0">
                <a:solidFill>
                  <a:schemeClr val="tx1"/>
                </a:solidFill>
                <a:latin typeface="Calibri" panose="020F0502020204030204"/>
                <a:cs typeface="Calibri" panose="020F0502020204030204"/>
              </a:rPr>
              <a:t>to </a:t>
            </a:r>
            <a:r>
              <a:rPr sz="3200" spc="5" dirty="0">
                <a:solidFill>
                  <a:schemeClr val="tx1"/>
                </a:solidFill>
                <a:latin typeface="Calibri" panose="020F0502020204030204"/>
                <a:cs typeface="Calibri" panose="020F0502020204030204"/>
              </a:rPr>
              <a:t>a </a:t>
            </a:r>
            <a:r>
              <a:rPr sz="3200" spc="-5" dirty="0">
                <a:solidFill>
                  <a:schemeClr val="tx1"/>
                </a:solidFill>
                <a:latin typeface="Calibri" panose="020F0502020204030204"/>
                <a:cs typeface="Calibri" panose="020F0502020204030204"/>
              </a:rPr>
              <a:t>magnetic  </a:t>
            </a:r>
            <a:r>
              <a:rPr sz="3200" dirty="0">
                <a:solidFill>
                  <a:schemeClr val="tx1"/>
                </a:solidFill>
                <a:latin typeface="Calibri" panose="020F0502020204030204"/>
                <a:cs typeface="Calibri" panose="020F0502020204030204"/>
              </a:rPr>
              <a:t>filed.</a:t>
            </a:r>
            <a:r>
              <a:rPr sz="3200" spc="25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顺</a:t>
            </a:r>
            <a:r>
              <a:rPr sz="3200" spc="5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磁性</a:t>
            </a:r>
            <a:r>
              <a:rPr sz="3200" spc="-15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是</a:t>
            </a:r>
            <a:r>
              <a:rPr sz="3200" spc="5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一种</a:t>
            </a:r>
            <a:r>
              <a:rPr sz="3200" spc="-15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弱</a:t>
            </a:r>
            <a:r>
              <a:rPr sz="3200" spc="5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磁性</a:t>
            </a:r>
            <a:r>
              <a:rPr sz="3200" spc="-15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。</a:t>
            </a:r>
            <a:r>
              <a:rPr sz="3200" spc="5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当分</a:t>
            </a:r>
            <a:r>
              <a:rPr sz="3200" spc="-15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子</a:t>
            </a:r>
            <a:r>
              <a:rPr sz="3200" spc="5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轨道</a:t>
            </a:r>
            <a:r>
              <a:rPr sz="3200" spc="-15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或</a:t>
            </a:r>
            <a:r>
              <a:rPr sz="3200" spc="5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原子</a:t>
            </a:r>
            <a:r>
              <a:rPr sz="3200" spc="-15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轨</a:t>
            </a:r>
            <a:r>
              <a:rPr sz="3200" spc="5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道 </a:t>
            </a:r>
            <a:r>
              <a:rPr sz="3200" spc="10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上有</a:t>
            </a:r>
            <a:r>
              <a:rPr sz="3200" b="1" spc="10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落</a:t>
            </a:r>
            <a:r>
              <a:rPr sz="3200" b="1" spc="-25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单</a:t>
            </a:r>
            <a:r>
              <a:rPr sz="3200" b="1" spc="10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的电</a:t>
            </a:r>
            <a:r>
              <a:rPr sz="3200" b="1" spc="-25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子</a:t>
            </a:r>
            <a:r>
              <a:rPr sz="3200" spc="-20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时</a:t>
            </a:r>
            <a:r>
              <a:rPr sz="3200" spc="10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，就会</a:t>
            </a:r>
            <a:r>
              <a:rPr sz="3200" spc="-25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产</a:t>
            </a:r>
            <a:r>
              <a:rPr sz="3200" spc="10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生顺</a:t>
            </a:r>
            <a:r>
              <a:rPr sz="3200" spc="-25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磁</a:t>
            </a:r>
            <a:r>
              <a:rPr sz="3200" spc="-20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性</a:t>
            </a:r>
            <a:r>
              <a:rPr sz="3200" spc="10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。</a:t>
            </a:r>
            <a:endParaRPr sz="320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626745" indent="-457835">
              <a:lnSpc>
                <a:spcPts val="3125"/>
              </a:lnSpc>
              <a:buSzPct val="70000"/>
              <a:buFont typeface="Wingdings" panose="05000000000000000000"/>
              <a:buChar char=""/>
              <a:tabLst>
                <a:tab pos="626745" algn="l"/>
                <a:tab pos="627380" algn="l"/>
              </a:tabLst>
            </a:pPr>
            <a:r>
              <a:rPr sz="3200" b="1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Diamagnetism(</a:t>
            </a:r>
            <a:r>
              <a:rPr sz="3200" b="1" spc="-5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反</a:t>
            </a:r>
            <a:r>
              <a:rPr sz="3200" b="1" spc="15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磁</a:t>
            </a:r>
            <a:r>
              <a:rPr sz="3200" b="1" spc="-5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性</a:t>
            </a:r>
            <a:r>
              <a:rPr sz="3200" b="1" spc="-1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)</a:t>
            </a:r>
            <a:r>
              <a:rPr sz="3200" b="1" spc="-10" dirty="0">
                <a:solidFill>
                  <a:schemeClr val="tx1"/>
                </a:solidFill>
                <a:latin typeface="Calibri" panose="020F0502020204030204"/>
                <a:cs typeface="Calibri" panose="020F0502020204030204"/>
              </a:rPr>
              <a:t>:</a:t>
            </a:r>
            <a:r>
              <a:rPr sz="3200" b="1" spc="-65" dirty="0">
                <a:solidFill>
                  <a:schemeClr val="tx1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3200" spc="-15" dirty="0">
                <a:solidFill>
                  <a:schemeClr val="tx1"/>
                </a:solidFill>
                <a:latin typeface="Calibri" panose="020F0502020204030204"/>
                <a:cs typeface="Calibri" panose="020F0502020204030204"/>
              </a:rPr>
              <a:t>Substance</a:t>
            </a:r>
            <a:r>
              <a:rPr sz="3200" spc="5" dirty="0">
                <a:solidFill>
                  <a:schemeClr val="tx1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3200" b="1" dirty="0">
                <a:solidFill>
                  <a:schemeClr val="tx1"/>
                </a:solidFill>
                <a:latin typeface="Calibri" panose="020F0502020204030204"/>
                <a:cs typeface="Calibri" panose="020F0502020204030204"/>
              </a:rPr>
              <a:t>with</a:t>
            </a:r>
            <a:r>
              <a:rPr sz="3200" b="1" spc="5" dirty="0">
                <a:solidFill>
                  <a:schemeClr val="tx1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3200" b="1" dirty="0">
                <a:solidFill>
                  <a:schemeClr val="tx1"/>
                </a:solidFill>
                <a:latin typeface="Calibri" panose="020F0502020204030204"/>
                <a:cs typeface="Calibri" panose="020F0502020204030204"/>
              </a:rPr>
              <a:t>no</a:t>
            </a:r>
            <a:r>
              <a:rPr sz="3200" b="1" spc="-35" dirty="0">
                <a:solidFill>
                  <a:schemeClr val="tx1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3200" b="1" dirty="0">
                <a:solidFill>
                  <a:schemeClr val="tx1"/>
                </a:solidFill>
                <a:latin typeface="Calibri" panose="020F0502020204030204"/>
                <a:cs typeface="Calibri" panose="020F0502020204030204"/>
              </a:rPr>
              <a:t>unpaired</a:t>
            </a:r>
            <a:endParaRPr sz="3200">
              <a:solidFill>
                <a:schemeClr val="tx1"/>
              </a:solidFill>
              <a:latin typeface="Calibri" panose="020F0502020204030204"/>
              <a:cs typeface="Calibri" panose="020F0502020204030204"/>
            </a:endParaRPr>
          </a:p>
          <a:p>
            <a:pPr marL="626745">
              <a:lnSpc>
                <a:spcPts val="3335"/>
              </a:lnSpc>
            </a:pPr>
            <a:r>
              <a:rPr sz="3200" b="1" dirty="0">
                <a:solidFill>
                  <a:schemeClr val="tx1"/>
                </a:solidFill>
                <a:latin typeface="Calibri" panose="020F0502020204030204"/>
                <a:cs typeface="Calibri" panose="020F0502020204030204"/>
              </a:rPr>
              <a:t>electrons </a:t>
            </a:r>
            <a:r>
              <a:rPr sz="3200" spc="-15" dirty="0">
                <a:solidFill>
                  <a:schemeClr val="tx1"/>
                </a:solidFill>
                <a:latin typeface="Calibri" panose="020F0502020204030204"/>
                <a:cs typeface="Calibri" panose="020F0502020204030204"/>
              </a:rPr>
              <a:t>are </a:t>
            </a:r>
            <a:r>
              <a:rPr sz="3200" spc="-5" dirty="0">
                <a:solidFill>
                  <a:schemeClr val="tx1"/>
                </a:solidFill>
                <a:latin typeface="Calibri" panose="020F0502020204030204"/>
                <a:cs typeface="Calibri" panose="020F0502020204030204"/>
              </a:rPr>
              <a:t>weekly </a:t>
            </a:r>
            <a:r>
              <a:rPr sz="3200" spc="-10" dirty="0">
                <a:solidFill>
                  <a:schemeClr val="tx1"/>
                </a:solidFill>
                <a:latin typeface="Calibri" panose="020F0502020204030204"/>
                <a:cs typeface="Calibri" panose="020F0502020204030204"/>
              </a:rPr>
              <a:t>repelled </a:t>
            </a:r>
            <a:r>
              <a:rPr sz="3200" spc="-15" dirty="0">
                <a:solidFill>
                  <a:schemeClr val="tx1"/>
                </a:solidFill>
                <a:latin typeface="Calibri" panose="020F0502020204030204"/>
                <a:cs typeface="Calibri" panose="020F0502020204030204"/>
              </a:rPr>
              <a:t>by </a:t>
            </a:r>
            <a:r>
              <a:rPr sz="3200" spc="-5" dirty="0">
                <a:solidFill>
                  <a:schemeClr val="tx1"/>
                </a:solidFill>
                <a:latin typeface="Calibri" panose="020F0502020204030204"/>
                <a:cs typeface="Calibri" panose="020F0502020204030204"/>
              </a:rPr>
              <a:t>magnetic</a:t>
            </a:r>
            <a:r>
              <a:rPr sz="3200" spc="-90" dirty="0">
                <a:solidFill>
                  <a:schemeClr val="tx1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3200" dirty="0">
                <a:solidFill>
                  <a:schemeClr val="tx1"/>
                </a:solidFill>
                <a:latin typeface="Calibri" panose="020F0502020204030204"/>
                <a:cs typeface="Calibri" panose="020F0502020204030204"/>
              </a:rPr>
              <a:t>field.</a:t>
            </a:r>
            <a:endParaRPr sz="3200">
              <a:solidFill>
                <a:schemeClr val="tx1"/>
              </a:solidFill>
              <a:latin typeface="Calibri" panose="020F0502020204030204"/>
              <a:cs typeface="Calibri" panose="020F0502020204030204"/>
            </a:endParaRPr>
          </a:p>
          <a:p>
            <a:pPr marL="628650" marR="804545" indent="-457835">
              <a:lnSpc>
                <a:spcPct val="100000"/>
              </a:lnSpc>
              <a:spcBef>
                <a:spcPts val="390"/>
              </a:spcBef>
              <a:buFont typeface="Arial" panose="020B0604020202020204"/>
              <a:buChar char="•"/>
              <a:tabLst>
                <a:tab pos="628015" algn="l"/>
                <a:tab pos="629285" algn="l"/>
              </a:tabLst>
            </a:pPr>
            <a:r>
              <a:rPr sz="2800" spc="-5" dirty="0">
                <a:solidFill>
                  <a:schemeClr val="tx1"/>
                </a:solidFill>
                <a:latin typeface="Calibri" panose="020F0502020204030204"/>
                <a:cs typeface="Calibri" panose="020F0502020204030204"/>
              </a:rPr>
              <a:t>Lewis structure </a:t>
            </a:r>
            <a:r>
              <a:rPr sz="2800" spc="-15" dirty="0">
                <a:solidFill>
                  <a:schemeClr val="tx1"/>
                </a:solidFill>
                <a:latin typeface="Calibri" panose="020F0502020204030204"/>
                <a:cs typeface="Calibri" panose="020F0502020204030204"/>
              </a:rPr>
              <a:t>for </a:t>
            </a:r>
            <a:r>
              <a:rPr sz="2800" spc="5" dirty="0">
                <a:solidFill>
                  <a:schemeClr val="tx1"/>
                </a:solidFill>
                <a:latin typeface="Calibri" panose="020F0502020204030204"/>
                <a:cs typeface="Calibri" panose="020F0502020204030204"/>
              </a:rPr>
              <a:t>O</a:t>
            </a:r>
            <a:r>
              <a:rPr sz="2800" spc="7" baseline="-21000" dirty="0">
                <a:solidFill>
                  <a:schemeClr val="tx1"/>
                </a:solidFill>
                <a:latin typeface="Calibri" panose="020F0502020204030204"/>
                <a:cs typeface="Calibri" panose="020F0502020204030204"/>
              </a:rPr>
              <a:t>2 </a:t>
            </a:r>
            <a:r>
              <a:rPr sz="2800" spc="-10" dirty="0">
                <a:solidFill>
                  <a:schemeClr val="tx1"/>
                </a:solidFill>
                <a:latin typeface="Calibri" panose="020F0502020204030204"/>
                <a:cs typeface="Calibri" panose="020F0502020204030204"/>
              </a:rPr>
              <a:t>shows </a:t>
            </a:r>
            <a:r>
              <a:rPr sz="2800" dirty="0">
                <a:solidFill>
                  <a:schemeClr val="tx1"/>
                </a:solidFill>
                <a:latin typeface="Calibri" panose="020F0502020204030204"/>
                <a:cs typeface="Calibri" panose="020F0502020204030204"/>
              </a:rPr>
              <a:t>a double bond and </a:t>
            </a:r>
            <a:r>
              <a:rPr sz="2800" spc="-10" dirty="0">
                <a:solidFill>
                  <a:schemeClr val="tx1"/>
                </a:solidFill>
                <a:latin typeface="Calibri" panose="020F0502020204030204"/>
                <a:cs typeface="Calibri" panose="020F0502020204030204"/>
              </a:rPr>
              <a:t>complete  </a:t>
            </a:r>
            <a:r>
              <a:rPr sz="2800" dirty="0">
                <a:solidFill>
                  <a:schemeClr val="tx1"/>
                </a:solidFill>
                <a:latin typeface="Calibri" panose="020F0502020204030204"/>
                <a:cs typeface="Calibri" panose="020F0502020204030204"/>
              </a:rPr>
              <a:t>pairing </a:t>
            </a:r>
            <a:r>
              <a:rPr sz="2800" spc="-5" dirty="0">
                <a:solidFill>
                  <a:schemeClr val="tx1"/>
                </a:solidFill>
                <a:latin typeface="Calibri" panose="020F0502020204030204"/>
                <a:cs typeface="Calibri" panose="020F0502020204030204"/>
              </a:rPr>
              <a:t>of</a:t>
            </a:r>
            <a:r>
              <a:rPr sz="2800" spc="-45" dirty="0">
                <a:solidFill>
                  <a:schemeClr val="tx1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800" spc="-5" dirty="0">
                <a:solidFill>
                  <a:schemeClr val="tx1"/>
                </a:solidFill>
                <a:latin typeface="Calibri" panose="020F0502020204030204"/>
                <a:cs typeface="Calibri" panose="020F0502020204030204"/>
              </a:rPr>
              <a:t>electrons;</a:t>
            </a:r>
            <a:endParaRPr sz="2800">
              <a:solidFill>
                <a:schemeClr val="tx1"/>
              </a:solidFill>
              <a:latin typeface="Calibri" panose="020F0502020204030204"/>
              <a:cs typeface="Calibri" panose="020F0502020204030204"/>
            </a:endParaRPr>
          </a:p>
          <a:p>
            <a:pPr marL="628650" indent="-458470">
              <a:lnSpc>
                <a:spcPct val="100000"/>
              </a:lnSpc>
              <a:spcBef>
                <a:spcPts val="5"/>
              </a:spcBef>
              <a:buFont typeface="Arial" panose="020B0604020202020204"/>
              <a:buChar char="•"/>
              <a:tabLst>
                <a:tab pos="628015" algn="l"/>
                <a:tab pos="629285" algn="l"/>
              </a:tabLst>
            </a:pPr>
            <a:r>
              <a:rPr sz="2800" spc="-35" dirty="0">
                <a:solidFill>
                  <a:schemeClr val="tx1"/>
                </a:solidFill>
                <a:latin typeface="Calibri" panose="020F0502020204030204"/>
                <a:cs typeface="Calibri" panose="020F0502020204030204"/>
              </a:rPr>
              <a:t>Together </a:t>
            </a:r>
            <a:r>
              <a:rPr sz="2800" spc="-5" dirty="0">
                <a:solidFill>
                  <a:schemeClr val="tx1"/>
                </a:solidFill>
                <a:latin typeface="Calibri" panose="020F0502020204030204"/>
                <a:cs typeface="Calibri" panose="020F0502020204030204"/>
              </a:rPr>
              <a:t>with valence </a:t>
            </a:r>
            <a:r>
              <a:rPr sz="2800" dirty="0">
                <a:solidFill>
                  <a:schemeClr val="tx1"/>
                </a:solidFill>
                <a:latin typeface="Calibri" panose="020F0502020204030204"/>
                <a:cs typeface="Calibri" panose="020F0502020204030204"/>
              </a:rPr>
              <a:t>bond </a:t>
            </a:r>
            <a:r>
              <a:rPr sz="2800" spc="-25" dirty="0">
                <a:solidFill>
                  <a:schemeClr val="tx1"/>
                </a:solidFill>
                <a:latin typeface="Calibri" panose="020F0502020204030204"/>
                <a:cs typeface="Calibri" panose="020F0502020204030204"/>
              </a:rPr>
              <a:t>theory, </a:t>
            </a:r>
            <a:r>
              <a:rPr sz="2800" dirty="0">
                <a:solidFill>
                  <a:schemeClr val="tx1"/>
                </a:solidFill>
                <a:latin typeface="Calibri" panose="020F0502020204030204"/>
                <a:cs typeface="Calibri" panose="020F0502020204030204"/>
              </a:rPr>
              <a:t>both </a:t>
            </a:r>
            <a:r>
              <a:rPr sz="2800" spc="-15" dirty="0">
                <a:solidFill>
                  <a:schemeClr val="tx1"/>
                </a:solidFill>
                <a:latin typeface="Calibri" panose="020F0502020204030204"/>
                <a:cs typeface="Calibri" panose="020F0502020204030204"/>
              </a:rPr>
              <a:t>can </a:t>
            </a:r>
            <a:r>
              <a:rPr sz="2800" dirty="0">
                <a:solidFill>
                  <a:schemeClr val="tx1"/>
                </a:solidFill>
                <a:latin typeface="Calibri" panose="020F0502020204030204"/>
                <a:cs typeface="Calibri" panose="020F0502020204030204"/>
              </a:rPr>
              <a:t>not </a:t>
            </a:r>
            <a:r>
              <a:rPr sz="2800" spc="-10" dirty="0">
                <a:solidFill>
                  <a:schemeClr val="tx1"/>
                </a:solidFill>
                <a:latin typeface="Calibri" panose="020F0502020204030204"/>
                <a:cs typeface="Calibri" panose="020F0502020204030204"/>
              </a:rPr>
              <a:t>explain</a:t>
            </a:r>
            <a:r>
              <a:rPr sz="2800" spc="-80" dirty="0">
                <a:solidFill>
                  <a:schemeClr val="tx1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800" dirty="0">
                <a:solidFill>
                  <a:schemeClr val="tx1"/>
                </a:solidFill>
                <a:latin typeface="Calibri" panose="020F0502020204030204"/>
                <a:cs typeface="Calibri" panose="020F0502020204030204"/>
              </a:rPr>
              <a:t>the</a:t>
            </a:r>
            <a:endParaRPr sz="2800">
              <a:solidFill>
                <a:schemeClr val="tx1"/>
              </a:solidFill>
              <a:latin typeface="Calibri" panose="020F0502020204030204"/>
              <a:cs typeface="Calibri" panose="020F0502020204030204"/>
            </a:endParaRPr>
          </a:p>
          <a:p>
            <a:pPr marL="628650">
              <a:lnSpc>
                <a:spcPct val="100000"/>
              </a:lnSpc>
            </a:pPr>
            <a:r>
              <a:rPr sz="2800" b="1" spc="-15" dirty="0">
                <a:solidFill>
                  <a:schemeClr val="tx1"/>
                </a:solidFill>
                <a:latin typeface="Calibri" panose="020F0502020204030204"/>
                <a:cs typeface="Calibri" panose="020F0502020204030204"/>
              </a:rPr>
              <a:t>Paramagnetism </a:t>
            </a:r>
            <a:r>
              <a:rPr sz="2800" spc="-5" dirty="0">
                <a:solidFill>
                  <a:schemeClr val="tx1"/>
                </a:solidFill>
                <a:latin typeface="Calibri" panose="020F0502020204030204"/>
                <a:cs typeface="Calibri" panose="020F0502020204030204"/>
              </a:rPr>
              <a:t>of</a:t>
            </a:r>
            <a:r>
              <a:rPr sz="2800" spc="45" dirty="0">
                <a:solidFill>
                  <a:schemeClr val="tx1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800" spc="-5" dirty="0">
                <a:solidFill>
                  <a:schemeClr val="tx1"/>
                </a:solidFill>
                <a:latin typeface="Calibri" panose="020F0502020204030204"/>
                <a:cs typeface="Calibri" panose="020F0502020204030204"/>
              </a:rPr>
              <a:t>O</a:t>
            </a:r>
            <a:r>
              <a:rPr sz="2800" spc="-7" baseline="-21000" dirty="0">
                <a:solidFill>
                  <a:schemeClr val="tx1"/>
                </a:solidFill>
                <a:latin typeface="Calibri" panose="020F0502020204030204"/>
                <a:cs typeface="Calibri" panose="020F0502020204030204"/>
              </a:rPr>
              <a:t>2</a:t>
            </a:r>
            <a:r>
              <a:rPr sz="2800" spc="-5" dirty="0">
                <a:solidFill>
                  <a:schemeClr val="tx1"/>
                </a:solidFill>
                <a:latin typeface="Calibri" panose="020F0502020204030204"/>
                <a:cs typeface="Calibri" panose="020F0502020204030204"/>
              </a:rPr>
              <a:t>.</a:t>
            </a:r>
            <a:endParaRPr sz="2800" spc="-5" dirty="0">
              <a:solidFill>
                <a:schemeClr val="tx1"/>
              </a:solidFill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43535"/>
            <a:ext cx="10515600" cy="1325563"/>
          </a:xfrm>
        </p:spPr>
        <p:txBody>
          <a:bodyPr>
            <a:normAutofit/>
          </a:bodyPr>
          <a:p>
            <a:pPr algn="ctr"/>
            <a:r>
              <a:rPr b="1" spc="-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  <a:sym typeface="+mn-ea"/>
              </a:rPr>
              <a:t>Molecular</a:t>
            </a:r>
            <a:r>
              <a:rPr b="1" spc="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  <a:sym typeface="+mn-ea"/>
              </a:rPr>
              <a:t> </a:t>
            </a:r>
            <a:r>
              <a:rPr b="1" spc="-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  <a:sym typeface="+mn-ea"/>
              </a:rPr>
              <a:t>Orbitals</a:t>
            </a:r>
            <a:endParaRPr lang="zh-CN" altLang="en-US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pPr>
              <a:lnSpc>
                <a:spcPct val="100000"/>
              </a:lnSpc>
            </a:pPr>
            <a:r>
              <a:rPr sz="3600" spc="-5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  <a:sym typeface="+mn-ea"/>
              </a:rPr>
              <a:t>Molecular orbitals </a:t>
            </a:r>
            <a:r>
              <a:rPr sz="3600" spc="-10" dirty="0">
                <a:latin typeface="Calibri" panose="020F0502020204030204"/>
                <a:cs typeface="Calibri" panose="020F0502020204030204"/>
                <a:sym typeface="+mn-ea"/>
              </a:rPr>
              <a:t>result </a:t>
            </a:r>
            <a:r>
              <a:rPr sz="3600" spc="-15" dirty="0">
                <a:latin typeface="Calibri" panose="020F0502020204030204"/>
                <a:cs typeface="Calibri" panose="020F0502020204030204"/>
                <a:sym typeface="+mn-ea"/>
              </a:rPr>
              <a:t>from </a:t>
            </a:r>
            <a:r>
              <a:rPr sz="3600" spc="-5" dirty="0">
                <a:latin typeface="Calibri" panose="020F0502020204030204"/>
                <a:cs typeface="Calibri" panose="020F0502020204030204"/>
                <a:sym typeface="+mn-ea"/>
              </a:rPr>
              <a:t>the  combination of </a:t>
            </a:r>
            <a:r>
              <a:rPr sz="3600" spc="-10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  <a:sym typeface="+mn-ea"/>
              </a:rPr>
              <a:t>atomic</a:t>
            </a:r>
            <a:r>
              <a:rPr sz="3600" spc="20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  <a:sym typeface="+mn-ea"/>
              </a:rPr>
              <a:t> </a:t>
            </a:r>
            <a:r>
              <a:rPr sz="3600" spc="-5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  <a:sym typeface="+mn-ea"/>
              </a:rPr>
              <a:t>orbitals</a:t>
            </a:r>
            <a:r>
              <a:rPr sz="3600" spc="-5" dirty="0">
                <a:latin typeface="Calibri" panose="020F0502020204030204"/>
                <a:cs typeface="Calibri" panose="020F0502020204030204"/>
                <a:sym typeface="+mn-ea"/>
              </a:rPr>
              <a:t>.</a:t>
            </a:r>
            <a:endParaRPr sz="3600" spc="-5" dirty="0">
              <a:latin typeface="Calibri" panose="020F0502020204030204"/>
              <a:cs typeface="Calibri" panose="020F0502020204030204"/>
              <a:sym typeface="+mn-ea"/>
            </a:endParaRPr>
          </a:p>
          <a:p>
            <a:pPr>
              <a:lnSpc>
                <a:spcPct val="100000"/>
              </a:lnSpc>
            </a:pPr>
            <a:r>
              <a:rPr sz="3600" spc="-5" dirty="0">
                <a:latin typeface="Calibri" panose="020F0502020204030204"/>
                <a:cs typeface="Calibri" panose="020F0502020204030204"/>
                <a:sym typeface="+mn-ea"/>
              </a:rPr>
              <a:t>Since orbitals </a:t>
            </a:r>
            <a:r>
              <a:rPr sz="3600" spc="-15" dirty="0">
                <a:latin typeface="Calibri" panose="020F0502020204030204"/>
                <a:cs typeface="Calibri" panose="020F0502020204030204"/>
                <a:sym typeface="+mn-ea"/>
              </a:rPr>
              <a:t>are </a:t>
            </a:r>
            <a:r>
              <a:rPr sz="3600" spc="-20" dirty="0">
                <a:latin typeface="Calibri" panose="020F0502020204030204"/>
                <a:cs typeface="Calibri" panose="020F0502020204030204"/>
                <a:sym typeface="+mn-ea"/>
              </a:rPr>
              <a:t>wave </a:t>
            </a:r>
            <a:r>
              <a:rPr sz="3600" spc="-5" dirty="0">
                <a:latin typeface="Calibri" panose="020F0502020204030204"/>
                <a:cs typeface="Calibri" panose="020F0502020204030204"/>
                <a:sym typeface="+mn-ea"/>
              </a:rPr>
              <a:t>functions, they </a:t>
            </a:r>
            <a:r>
              <a:rPr sz="3600" spc="-10" dirty="0">
                <a:latin typeface="Calibri" panose="020F0502020204030204"/>
                <a:cs typeface="Calibri" panose="020F0502020204030204"/>
                <a:sym typeface="+mn-ea"/>
              </a:rPr>
              <a:t>can  combine </a:t>
            </a:r>
            <a:r>
              <a:rPr sz="3600" spc="-5" dirty="0">
                <a:latin typeface="Calibri" panose="020F0502020204030204"/>
                <a:cs typeface="Calibri" panose="020F0502020204030204"/>
                <a:sym typeface="+mn-ea"/>
              </a:rPr>
              <a:t>either </a:t>
            </a:r>
            <a:r>
              <a:rPr sz="3600" spc="-10" dirty="0">
                <a:latin typeface="Calibri" panose="020F0502020204030204"/>
                <a:cs typeface="Calibri" panose="020F0502020204030204"/>
                <a:sym typeface="+mn-ea"/>
              </a:rPr>
              <a:t>constructively (forming </a:t>
            </a:r>
            <a:r>
              <a:rPr sz="3600" spc="-5" dirty="0">
                <a:latin typeface="Calibri" panose="020F0502020204030204"/>
                <a:cs typeface="Calibri" panose="020F0502020204030204"/>
                <a:sym typeface="+mn-ea"/>
              </a:rPr>
              <a:t>a  bonding molecular orbital), or </a:t>
            </a:r>
            <a:r>
              <a:rPr sz="3600" spc="-10" dirty="0">
                <a:latin typeface="Calibri" panose="020F0502020204030204"/>
                <a:cs typeface="Calibri" panose="020F0502020204030204"/>
                <a:sym typeface="+mn-ea"/>
              </a:rPr>
              <a:t>destructively  (forming </a:t>
            </a:r>
            <a:r>
              <a:rPr sz="3600" spc="-5" dirty="0">
                <a:latin typeface="Calibri" panose="020F0502020204030204"/>
                <a:cs typeface="Calibri" panose="020F0502020204030204"/>
                <a:sym typeface="+mn-ea"/>
              </a:rPr>
              <a:t>an antibonding molecular</a:t>
            </a:r>
            <a:r>
              <a:rPr sz="3600" spc="95" dirty="0">
                <a:latin typeface="Calibri" panose="020F0502020204030204"/>
                <a:cs typeface="Calibri" panose="020F0502020204030204"/>
                <a:sym typeface="+mn-ea"/>
              </a:rPr>
              <a:t> </a:t>
            </a:r>
            <a:r>
              <a:rPr sz="3600" spc="-10" dirty="0">
                <a:latin typeface="Calibri" panose="020F0502020204030204"/>
                <a:cs typeface="Calibri" panose="020F0502020204030204"/>
                <a:sym typeface="+mn-ea"/>
              </a:rPr>
              <a:t>orbital).</a:t>
            </a:r>
            <a:endParaRPr sz="3600">
              <a:latin typeface="Calibri" panose="020F0502020204030204"/>
              <a:cs typeface="Calibri" panose="020F0502020204030204"/>
            </a:endParaRPr>
          </a:p>
          <a:p>
            <a:endParaRPr lang="zh-CN" altLang="en-US" sz="3600"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p>
            <a:pPr algn="ctr"/>
            <a:r>
              <a:rPr b="1" spc="-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  <a:sym typeface="+mn-ea"/>
              </a:rPr>
              <a:t>Molecular</a:t>
            </a:r>
            <a:r>
              <a:rPr b="1" spc="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  <a:sym typeface="+mn-ea"/>
              </a:rPr>
              <a:t> </a:t>
            </a:r>
            <a:r>
              <a:rPr b="1" spc="-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  <a:sym typeface="+mn-ea"/>
              </a:rPr>
              <a:t>Orbitals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pPr marL="440055" marR="760095" indent="284480" algn="l">
              <a:lnSpc>
                <a:spcPct val="100000"/>
              </a:lnSpc>
            </a:pPr>
            <a:r>
              <a:rPr sz="3600" spc="-5" dirty="0">
                <a:latin typeface="Calibri" panose="020F0502020204030204"/>
                <a:cs typeface="Calibri" panose="020F0502020204030204"/>
                <a:sym typeface="+mn-ea"/>
              </a:rPr>
              <a:t>Molecular orbitals </a:t>
            </a:r>
            <a:r>
              <a:rPr sz="3600" spc="-15" dirty="0">
                <a:latin typeface="Calibri" panose="020F0502020204030204"/>
                <a:cs typeface="Calibri" panose="020F0502020204030204"/>
                <a:sym typeface="+mn-ea"/>
              </a:rPr>
              <a:t>form </a:t>
            </a:r>
            <a:r>
              <a:rPr sz="3600" spc="-5" dirty="0">
                <a:latin typeface="Calibri" panose="020F0502020204030204"/>
                <a:cs typeface="Calibri" panose="020F0502020204030204"/>
                <a:sym typeface="+mn-ea"/>
              </a:rPr>
              <a:t>when </a:t>
            </a:r>
            <a:r>
              <a:rPr sz="3600" spc="-10" dirty="0">
                <a:latin typeface="Calibri" panose="020F0502020204030204"/>
                <a:cs typeface="Calibri" panose="020F0502020204030204"/>
                <a:sym typeface="+mn-ea"/>
              </a:rPr>
              <a:t>atomic  </a:t>
            </a:r>
            <a:r>
              <a:rPr sz="3600" spc="-5" dirty="0">
                <a:latin typeface="Calibri" panose="020F0502020204030204"/>
                <a:cs typeface="Calibri" panose="020F0502020204030204"/>
                <a:sym typeface="+mn-ea"/>
              </a:rPr>
              <a:t>orbitals </a:t>
            </a:r>
            <a:r>
              <a:rPr sz="3600" dirty="0">
                <a:latin typeface="Calibri" panose="020F0502020204030204"/>
                <a:cs typeface="Calibri" panose="020F0502020204030204"/>
                <a:sym typeface="+mn-ea"/>
              </a:rPr>
              <a:t>with </a:t>
            </a:r>
            <a:r>
              <a:rPr sz="3600" spc="-5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  <a:sym typeface="+mn-ea"/>
              </a:rPr>
              <a:t>similar energies </a:t>
            </a:r>
            <a:r>
              <a:rPr sz="3600" spc="-5" dirty="0">
                <a:latin typeface="Calibri" panose="020F0502020204030204"/>
                <a:cs typeface="Calibri" panose="020F0502020204030204"/>
                <a:sym typeface="+mn-ea"/>
              </a:rPr>
              <a:t>and </a:t>
            </a:r>
            <a:r>
              <a:rPr sz="3600" spc="-1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  <a:sym typeface="+mn-ea"/>
              </a:rPr>
              <a:t>proper  </a:t>
            </a:r>
            <a:r>
              <a:rPr sz="3600" spc="-1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  <a:sym typeface="+mn-ea"/>
              </a:rPr>
              <a:t>symmetry </a:t>
            </a:r>
            <a:r>
              <a:rPr sz="3600" spc="-10" dirty="0">
                <a:latin typeface="Calibri" panose="020F0502020204030204"/>
                <a:cs typeface="Calibri" panose="020F0502020204030204"/>
                <a:sym typeface="+mn-ea"/>
              </a:rPr>
              <a:t>can overlap.</a:t>
            </a:r>
            <a:r>
              <a:rPr sz="3600" spc="305" dirty="0">
                <a:latin typeface="Calibri" panose="020F0502020204030204"/>
                <a:cs typeface="Calibri" panose="020F0502020204030204"/>
                <a:sym typeface="+mn-ea"/>
              </a:rPr>
              <a:t> </a:t>
            </a:r>
            <a:r>
              <a:rPr sz="3600" b="1" spc="-5" dirty="0">
                <a:solidFill>
                  <a:srgbClr val="0000FF"/>
                </a:solidFill>
                <a:latin typeface="楷体" panose="02010609060101010101" charset="-122"/>
                <a:cs typeface="楷体" panose="02010609060101010101" charset="-122"/>
                <a:sym typeface="+mn-ea"/>
              </a:rPr>
              <a:t>门 </a:t>
            </a:r>
            <a:r>
              <a:rPr sz="3600" b="1" spc="5" dirty="0">
                <a:solidFill>
                  <a:srgbClr val="0000FF"/>
                </a:solidFill>
                <a:latin typeface="楷体" panose="02010609060101010101" charset="-122"/>
                <a:cs typeface="楷体" panose="02010609060101010101" charset="-122"/>
                <a:sym typeface="+mn-ea"/>
              </a:rPr>
              <a:t>当 </a:t>
            </a:r>
            <a:r>
              <a:rPr sz="3600" b="1" spc="-5" dirty="0">
                <a:solidFill>
                  <a:srgbClr val="C00000"/>
                </a:solidFill>
                <a:latin typeface="楷体" panose="02010609060101010101" charset="-122"/>
                <a:cs typeface="楷体" panose="02010609060101010101" charset="-122"/>
                <a:sym typeface="+mn-ea"/>
              </a:rPr>
              <a:t>户 对</a:t>
            </a:r>
            <a:endParaRPr sz="3600">
              <a:latin typeface="楷体" panose="02010609060101010101" charset="-122"/>
              <a:cs typeface="楷体" panose="02010609060101010101" charset="-122"/>
            </a:endParaRPr>
          </a:p>
          <a:p>
            <a:pPr marL="440055" marR="365760" indent="284480" algn="l">
              <a:lnSpc>
                <a:spcPct val="100000"/>
              </a:lnSpc>
              <a:spcBef>
                <a:spcPts val="385"/>
              </a:spcBef>
            </a:pPr>
            <a:r>
              <a:rPr sz="3600" spc="-15" dirty="0">
                <a:latin typeface="Calibri" panose="020F0502020204030204"/>
                <a:cs typeface="Calibri" panose="020F0502020204030204"/>
                <a:sym typeface="+mn-ea"/>
              </a:rPr>
              <a:t>Atomic </a:t>
            </a:r>
            <a:r>
              <a:rPr sz="3600" spc="-5" dirty="0">
                <a:latin typeface="Calibri" panose="020F0502020204030204"/>
                <a:cs typeface="Calibri" panose="020F0502020204030204"/>
                <a:sym typeface="+mn-ea"/>
              </a:rPr>
              <a:t>orbitals </a:t>
            </a:r>
            <a:r>
              <a:rPr sz="3600" dirty="0">
                <a:latin typeface="Calibri" panose="020F0502020204030204"/>
                <a:cs typeface="Calibri" panose="020F0502020204030204"/>
                <a:sym typeface="+mn-ea"/>
              </a:rPr>
              <a:t>with </a:t>
            </a:r>
            <a:r>
              <a:rPr sz="3600" spc="-10" dirty="0">
                <a:latin typeface="Calibri" panose="020F0502020204030204"/>
                <a:cs typeface="Calibri" panose="020F0502020204030204"/>
                <a:sym typeface="+mn-ea"/>
              </a:rPr>
              <a:t>differing </a:t>
            </a:r>
            <a:r>
              <a:rPr sz="3600" spc="-5" dirty="0">
                <a:latin typeface="Calibri" panose="020F0502020204030204"/>
                <a:cs typeface="Calibri" panose="020F0502020204030204"/>
                <a:sym typeface="+mn-ea"/>
              </a:rPr>
              <a:t>energies </a:t>
            </a:r>
            <a:r>
              <a:rPr sz="3600" spc="-10" dirty="0">
                <a:latin typeface="Calibri" panose="020F0502020204030204"/>
                <a:cs typeface="Calibri" panose="020F0502020204030204"/>
                <a:sym typeface="+mn-ea"/>
              </a:rPr>
              <a:t>or  </a:t>
            </a:r>
            <a:r>
              <a:rPr sz="3600" spc="-5" dirty="0">
                <a:latin typeface="Calibri" panose="020F0502020204030204"/>
                <a:cs typeface="Calibri" panose="020F0502020204030204"/>
                <a:sym typeface="+mn-ea"/>
              </a:rPr>
              <a:t>the </a:t>
            </a:r>
            <a:r>
              <a:rPr sz="3600" spc="-15" dirty="0">
                <a:latin typeface="Calibri" panose="020F0502020204030204"/>
                <a:cs typeface="Calibri" panose="020F0502020204030204"/>
                <a:sym typeface="+mn-ea"/>
              </a:rPr>
              <a:t>wrong </a:t>
            </a:r>
            <a:r>
              <a:rPr sz="3600" spc="-5" dirty="0">
                <a:latin typeface="Calibri" panose="020F0502020204030204"/>
                <a:cs typeface="Calibri" panose="020F0502020204030204"/>
                <a:sym typeface="+mn-ea"/>
              </a:rPr>
              <a:t>spatial </a:t>
            </a:r>
            <a:r>
              <a:rPr sz="3600" spc="-10" dirty="0">
                <a:latin typeface="Calibri" panose="020F0502020204030204"/>
                <a:cs typeface="Calibri" panose="020F0502020204030204"/>
                <a:sym typeface="+mn-ea"/>
              </a:rPr>
              <a:t>orientation </a:t>
            </a:r>
            <a:r>
              <a:rPr sz="3600" spc="-5" dirty="0">
                <a:latin typeface="Calibri" panose="020F0502020204030204"/>
                <a:cs typeface="Calibri" panose="020F0502020204030204"/>
                <a:sym typeface="+mn-ea"/>
              </a:rPr>
              <a:t>(orthogonal) </a:t>
            </a:r>
            <a:r>
              <a:rPr sz="3600" spc="-10" dirty="0">
                <a:latin typeface="Calibri" panose="020F0502020204030204"/>
                <a:cs typeface="Calibri" panose="020F0502020204030204"/>
                <a:sym typeface="+mn-ea"/>
              </a:rPr>
              <a:t>do  not combine, </a:t>
            </a:r>
            <a:r>
              <a:rPr sz="3600" spc="-5" dirty="0">
                <a:latin typeface="Calibri" panose="020F0502020204030204"/>
                <a:cs typeface="Calibri" panose="020F0502020204030204"/>
                <a:sym typeface="+mn-ea"/>
              </a:rPr>
              <a:t>and </a:t>
            </a:r>
            <a:r>
              <a:rPr sz="3600" spc="-15" dirty="0">
                <a:latin typeface="Calibri" panose="020F0502020204030204"/>
                <a:cs typeface="Calibri" panose="020F0502020204030204"/>
                <a:sym typeface="+mn-ea"/>
              </a:rPr>
              <a:t>are </a:t>
            </a:r>
            <a:r>
              <a:rPr sz="3600" spc="-5" dirty="0">
                <a:latin typeface="Calibri" panose="020F0502020204030204"/>
                <a:cs typeface="Calibri" panose="020F0502020204030204"/>
                <a:sym typeface="+mn-ea"/>
              </a:rPr>
              <a:t>called </a:t>
            </a:r>
            <a:r>
              <a:rPr sz="3600" i="1" spc="-10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  <a:sym typeface="+mn-ea"/>
              </a:rPr>
              <a:t>non-bonding  </a:t>
            </a:r>
            <a:r>
              <a:rPr sz="3600" spc="-5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  <a:sym typeface="+mn-ea"/>
              </a:rPr>
              <a:t>orbitals</a:t>
            </a:r>
            <a:r>
              <a:rPr sz="3600" spc="-5" dirty="0">
                <a:latin typeface="Calibri" panose="020F0502020204030204"/>
                <a:cs typeface="Calibri" panose="020F0502020204030204"/>
                <a:sym typeface="+mn-ea"/>
              </a:rPr>
              <a:t>.</a:t>
            </a:r>
            <a:endParaRPr sz="3600">
              <a:latin typeface="Calibri" panose="020F0502020204030204"/>
              <a:cs typeface="Calibri" panose="020F0502020204030204"/>
            </a:endParaRPr>
          </a:p>
          <a:p>
            <a:pPr algn="l"/>
            <a:endParaRPr lang="zh-CN" altLang="en-US" sz="3600"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p>
            <a:pPr algn="ctr"/>
            <a:r>
              <a:rPr b="1" spc="-1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  <a:sym typeface="+mn-ea"/>
              </a:rPr>
              <a:t>Forming </a:t>
            </a:r>
            <a:r>
              <a:rPr b="1" spc="-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  <a:sym typeface="+mn-ea"/>
              </a:rPr>
              <a:t>Molecular</a:t>
            </a:r>
            <a:r>
              <a:rPr b="1" spc="2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  <a:sym typeface="+mn-ea"/>
              </a:rPr>
              <a:t> </a:t>
            </a:r>
            <a:r>
              <a:rPr b="1" spc="-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  <a:sym typeface="+mn-ea"/>
              </a:rPr>
              <a:t>Orbitals</a:t>
            </a:r>
            <a:endParaRPr lang="zh-CN" altLang="en-US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pPr>
              <a:lnSpc>
                <a:spcPct val="100000"/>
              </a:lnSpc>
              <a:spcBef>
                <a:spcPts val="35"/>
              </a:spcBef>
            </a:pPr>
            <a:r>
              <a:rPr sz="3200" spc="-15" dirty="0">
                <a:latin typeface="Calibri" panose="020F0502020204030204"/>
                <a:cs typeface="Calibri" panose="020F0502020204030204"/>
                <a:sym typeface="+mn-ea"/>
              </a:rPr>
              <a:t>Atomic </a:t>
            </a:r>
            <a:r>
              <a:rPr sz="3200" spc="-10" dirty="0">
                <a:latin typeface="Calibri" panose="020F0502020204030204"/>
                <a:cs typeface="Calibri" panose="020F0502020204030204"/>
                <a:sym typeface="+mn-ea"/>
              </a:rPr>
              <a:t>Orbitals </a:t>
            </a:r>
            <a:r>
              <a:rPr sz="3200" spc="-5" dirty="0">
                <a:latin typeface="Calibri" panose="020F0502020204030204"/>
                <a:cs typeface="Calibri" panose="020F0502020204030204"/>
                <a:sym typeface="+mn-ea"/>
              </a:rPr>
              <a:t>(s, p, d, f…) </a:t>
            </a:r>
            <a:r>
              <a:rPr sz="3200" spc="-15" dirty="0">
                <a:latin typeface="Calibri" panose="020F0502020204030204"/>
                <a:cs typeface="Calibri" panose="020F0502020204030204"/>
                <a:sym typeface="+mn-ea"/>
              </a:rPr>
              <a:t>are </a:t>
            </a:r>
            <a:r>
              <a:rPr sz="3200" spc="-5" dirty="0">
                <a:latin typeface="Calibri" panose="020F0502020204030204"/>
                <a:cs typeface="Calibri" panose="020F0502020204030204"/>
                <a:sym typeface="+mn-ea"/>
              </a:rPr>
              <a:t>pictorial  </a:t>
            </a:r>
            <a:r>
              <a:rPr sz="3200" spc="-10" dirty="0">
                <a:latin typeface="Calibri" panose="020F0502020204030204"/>
                <a:cs typeface="Calibri" panose="020F0502020204030204"/>
                <a:sym typeface="+mn-ea"/>
              </a:rPr>
              <a:t>representations </a:t>
            </a:r>
            <a:r>
              <a:rPr sz="3200" spc="-5" dirty="0">
                <a:latin typeface="Calibri" panose="020F0502020204030204"/>
                <a:cs typeface="Calibri" panose="020F0502020204030204"/>
                <a:sym typeface="+mn-ea"/>
              </a:rPr>
              <a:t>of solutions </a:t>
            </a:r>
            <a:r>
              <a:rPr sz="3200" spc="-10" dirty="0">
                <a:latin typeface="Calibri" panose="020F0502020204030204"/>
                <a:cs typeface="Calibri" panose="020F0502020204030204"/>
                <a:sym typeface="+mn-ea"/>
              </a:rPr>
              <a:t>to </a:t>
            </a:r>
            <a:r>
              <a:rPr sz="3200" spc="-5" dirty="0">
                <a:latin typeface="Calibri" panose="020F0502020204030204"/>
                <a:cs typeface="Calibri" panose="020F0502020204030204"/>
                <a:sym typeface="+mn-ea"/>
              </a:rPr>
              <a:t>the quantum  mechanical equations describing </a:t>
            </a:r>
            <a:r>
              <a:rPr sz="3200" spc="-10" dirty="0">
                <a:latin typeface="Calibri" panose="020F0502020204030204"/>
                <a:cs typeface="Calibri" panose="020F0502020204030204"/>
                <a:sym typeface="+mn-ea"/>
              </a:rPr>
              <a:t>electron  </a:t>
            </a:r>
            <a:r>
              <a:rPr sz="3200" spc="-5" dirty="0">
                <a:latin typeface="Calibri" panose="020F0502020204030204"/>
                <a:cs typeface="Calibri" panose="020F0502020204030204"/>
                <a:sym typeface="+mn-ea"/>
              </a:rPr>
              <a:t>locations </a:t>
            </a:r>
            <a:r>
              <a:rPr sz="3200" dirty="0">
                <a:latin typeface="Calibri" panose="020F0502020204030204"/>
                <a:cs typeface="Calibri" panose="020F0502020204030204"/>
                <a:sym typeface="+mn-ea"/>
              </a:rPr>
              <a:t>in</a:t>
            </a:r>
            <a:r>
              <a:rPr sz="3200" spc="5" dirty="0">
                <a:latin typeface="Calibri" panose="020F0502020204030204"/>
                <a:cs typeface="Calibri" panose="020F0502020204030204"/>
                <a:sym typeface="+mn-ea"/>
              </a:rPr>
              <a:t> </a:t>
            </a:r>
            <a:r>
              <a:rPr sz="3200" spc="-10" dirty="0">
                <a:latin typeface="Calibri" panose="020F0502020204030204"/>
                <a:cs typeface="Calibri" panose="020F0502020204030204"/>
                <a:sym typeface="+mn-ea"/>
              </a:rPr>
              <a:t>atoms.</a:t>
            </a:r>
            <a:endParaRPr sz="3200" spc="-10" dirty="0">
              <a:latin typeface="Calibri" panose="020F0502020204030204"/>
              <a:cs typeface="Calibri" panose="020F0502020204030204"/>
              <a:sym typeface="+mn-ea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r>
              <a:rPr sz="3200" spc="-5" dirty="0">
                <a:latin typeface="Calibri" panose="020F0502020204030204"/>
                <a:cs typeface="Calibri" panose="020F0502020204030204"/>
                <a:sym typeface="+mn-ea"/>
              </a:rPr>
              <a:t>A </a:t>
            </a:r>
            <a:r>
              <a:rPr sz="3200" spc="-20" dirty="0">
                <a:latin typeface="Calibri" panose="020F0502020204030204"/>
                <a:cs typeface="Calibri" panose="020F0502020204030204"/>
                <a:sym typeface="+mn-ea"/>
              </a:rPr>
              <a:t>wave </a:t>
            </a:r>
            <a:r>
              <a:rPr sz="3200" spc="-5" dirty="0">
                <a:latin typeface="Calibri" panose="020F0502020204030204"/>
                <a:cs typeface="Calibri" panose="020F0502020204030204"/>
                <a:sym typeface="+mn-ea"/>
              </a:rPr>
              <a:t>function </a:t>
            </a:r>
            <a:r>
              <a:rPr sz="3200" dirty="0">
                <a:latin typeface="Calibri" panose="020F0502020204030204"/>
                <a:cs typeface="Calibri" panose="020F0502020204030204"/>
                <a:sym typeface="+mn-ea"/>
              </a:rPr>
              <a:t>is </a:t>
            </a:r>
            <a:r>
              <a:rPr sz="3200" spc="-5" dirty="0">
                <a:latin typeface="Calibri" panose="020F0502020204030204"/>
                <a:cs typeface="Calibri" panose="020F0502020204030204"/>
                <a:sym typeface="+mn-ea"/>
              </a:rPr>
              <a:t>a solution </a:t>
            </a:r>
            <a:r>
              <a:rPr sz="3200" spc="-10" dirty="0">
                <a:latin typeface="Calibri" panose="020F0502020204030204"/>
                <a:cs typeface="Calibri" panose="020F0502020204030204"/>
                <a:sym typeface="+mn-ea"/>
              </a:rPr>
              <a:t>to </a:t>
            </a:r>
            <a:r>
              <a:rPr sz="3200" spc="-5" dirty="0">
                <a:latin typeface="Calibri" panose="020F0502020204030204"/>
                <a:cs typeface="Calibri" panose="020F0502020204030204"/>
                <a:sym typeface="+mn-ea"/>
              </a:rPr>
              <a:t>the quantum  mechanical</a:t>
            </a:r>
            <a:r>
              <a:rPr sz="3200" spc="25" dirty="0">
                <a:latin typeface="Calibri" panose="020F0502020204030204"/>
                <a:cs typeface="Calibri" panose="020F0502020204030204"/>
                <a:sym typeface="+mn-ea"/>
              </a:rPr>
              <a:t> </a:t>
            </a:r>
            <a:r>
              <a:rPr sz="3200" spc="-5" dirty="0">
                <a:latin typeface="Calibri" panose="020F0502020204030204"/>
                <a:cs typeface="Calibri" panose="020F0502020204030204"/>
                <a:sym typeface="+mn-ea"/>
              </a:rPr>
              <a:t>equation.</a:t>
            </a:r>
            <a:endParaRPr sz="3200" spc="-5" dirty="0">
              <a:latin typeface="Calibri" panose="020F0502020204030204"/>
              <a:cs typeface="Calibri" panose="020F0502020204030204"/>
              <a:sym typeface="+mn-ea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r>
              <a:rPr sz="3200" spc="-40" dirty="0">
                <a:latin typeface="Calibri" panose="020F0502020204030204"/>
                <a:cs typeface="Calibri" panose="020F0502020204030204"/>
                <a:sym typeface="+mn-ea"/>
              </a:rPr>
              <a:t>We </a:t>
            </a:r>
            <a:r>
              <a:rPr sz="3200" spc="-10" dirty="0">
                <a:latin typeface="Calibri" panose="020F0502020204030204"/>
                <a:cs typeface="Calibri" panose="020F0502020204030204"/>
                <a:sym typeface="+mn-ea"/>
              </a:rPr>
              <a:t>use </a:t>
            </a:r>
            <a:r>
              <a:rPr sz="3200" spc="-5" dirty="0">
                <a:latin typeface="Symbol" panose="05050102010706020507"/>
                <a:cs typeface="Symbol" panose="05050102010706020507"/>
                <a:sym typeface="+mn-ea"/>
              </a:rPr>
              <a:t></a:t>
            </a:r>
            <a:r>
              <a:rPr sz="3200" spc="-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3200" spc="-10" dirty="0">
                <a:latin typeface="Calibri" panose="020F0502020204030204"/>
                <a:cs typeface="Calibri" panose="020F0502020204030204"/>
                <a:sym typeface="+mn-ea"/>
              </a:rPr>
              <a:t>to </a:t>
            </a:r>
            <a:r>
              <a:rPr sz="3200" spc="-15" dirty="0">
                <a:latin typeface="Calibri" panose="020F0502020204030204"/>
                <a:cs typeface="Calibri" panose="020F0502020204030204"/>
                <a:sym typeface="+mn-ea"/>
              </a:rPr>
              <a:t>represent </a:t>
            </a:r>
            <a:r>
              <a:rPr sz="3200" spc="-5" dirty="0">
                <a:latin typeface="Calibri" panose="020F0502020204030204"/>
                <a:cs typeface="Calibri" panose="020F0502020204030204"/>
                <a:sym typeface="+mn-ea"/>
              </a:rPr>
              <a:t>a given </a:t>
            </a:r>
            <a:r>
              <a:rPr sz="3200" spc="-20" dirty="0">
                <a:latin typeface="Calibri" panose="020F0502020204030204"/>
                <a:cs typeface="Calibri" panose="020F0502020204030204"/>
                <a:sym typeface="+mn-ea"/>
              </a:rPr>
              <a:t>wave</a:t>
            </a:r>
            <a:r>
              <a:rPr sz="3200" spc="100" dirty="0">
                <a:latin typeface="Calibri" panose="020F0502020204030204"/>
                <a:cs typeface="Calibri" panose="020F0502020204030204"/>
                <a:sym typeface="+mn-ea"/>
              </a:rPr>
              <a:t> </a:t>
            </a:r>
            <a:r>
              <a:rPr sz="3200" spc="-5" dirty="0">
                <a:latin typeface="Calibri" panose="020F0502020204030204"/>
                <a:cs typeface="Calibri" panose="020F0502020204030204"/>
                <a:sym typeface="+mn-ea"/>
              </a:rPr>
              <a:t>function.</a:t>
            </a:r>
            <a:endParaRPr sz="3200" spc="-5" dirty="0">
              <a:latin typeface="Calibri" panose="020F0502020204030204"/>
              <a:cs typeface="Calibri" panose="020F0502020204030204"/>
              <a:sym typeface="+mn-ea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r>
              <a:rPr sz="3200" spc="-10" dirty="0">
                <a:latin typeface="Calibri" panose="020F0502020204030204"/>
                <a:cs typeface="Calibri" panose="020F0502020204030204"/>
                <a:sym typeface="+mn-ea"/>
              </a:rPr>
              <a:t>The </a:t>
            </a:r>
            <a:r>
              <a:rPr sz="3200" spc="-5" dirty="0">
                <a:latin typeface="Calibri" panose="020F0502020204030204"/>
                <a:cs typeface="Calibri" panose="020F0502020204030204"/>
                <a:sym typeface="+mn-ea"/>
              </a:rPr>
              <a:t>orbitals </a:t>
            </a:r>
            <a:r>
              <a:rPr sz="3200" spc="-15" dirty="0">
                <a:latin typeface="Calibri" panose="020F0502020204030204"/>
                <a:cs typeface="Calibri" panose="020F0502020204030204"/>
                <a:sym typeface="+mn-ea"/>
              </a:rPr>
              <a:t>are </a:t>
            </a:r>
            <a:r>
              <a:rPr sz="3200" dirty="0">
                <a:latin typeface="Calibri" panose="020F0502020204030204"/>
                <a:cs typeface="Calibri" panose="020F0502020204030204"/>
                <a:sym typeface="+mn-ea"/>
              </a:rPr>
              <a:t>actually </a:t>
            </a:r>
            <a:r>
              <a:rPr sz="3200" spc="-10" dirty="0">
                <a:latin typeface="Calibri" panose="020F0502020204030204"/>
                <a:cs typeface="Calibri" panose="020F0502020204030204"/>
                <a:sym typeface="+mn-ea"/>
              </a:rPr>
              <a:t>pictures </a:t>
            </a:r>
            <a:r>
              <a:rPr sz="3200" spc="-5" dirty="0">
                <a:latin typeface="Calibri" panose="020F0502020204030204"/>
                <a:cs typeface="Calibri" panose="020F0502020204030204"/>
                <a:sym typeface="+mn-ea"/>
              </a:rPr>
              <a:t>of </a:t>
            </a:r>
            <a:r>
              <a:rPr sz="3200" spc="-5" dirty="0">
                <a:latin typeface="Symbol" panose="05050102010706020507"/>
                <a:cs typeface="Symbol" panose="05050102010706020507"/>
                <a:sym typeface="+mn-ea"/>
              </a:rPr>
              <a:t></a:t>
            </a:r>
            <a:r>
              <a:rPr sz="3200" spc="-7" baseline="26000" dirty="0">
                <a:latin typeface="Calibri" panose="020F0502020204030204"/>
                <a:cs typeface="Calibri" panose="020F0502020204030204"/>
                <a:sym typeface="+mn-ea"/>
              </a:rPr>
              <a:t>2  </a:t>
            </a:r>
            <a:r>
              <a:rPr sz="3200" spc="-5" dirty="0">
                <a:latin typeface="Calibri" panose="020F0502020204030204"/>
                <a:cs typeface="Calibri" panose="020F0502020204030204"/>
                <a:sym typeface="+mn-ea"/>
              </a:rPr>
              <a:t>functions.</a:t>
            </a:r>
            <a:endParaRPr sz="3200" spc="-5" dirty="0">
              <a:latin typeface="Calibri" panose="020F0502020204030204"/>
              <a:cs typeface="Calibri" panose="020F0502020204030204"/>
              <a:sym typeface="+mn-ea"/>
            </a:endParaRPr>
          </a:p>
          <a:p>
            <a:pPr algn="ctr">
              <a:lnSpc>
                <a:spcPct val="100000"/>
              </a:lnSpc>
              <a:spcBef>
                <a:spcPts val="35"/>
              </a:spcBef>
            </a:pPr>
            <a:r>
              <a:rPr lang="zh-CN" altLang="en-US" sz="3200" spc="-5" dirty="0">
                <a:latin typeface="Calibri" panose="020F0502020204030204"/>
                <a:cs typeface="Calibri" panose="020F0502020204030204"/>
                <a:sym typeface="+mn-ea"/>
              </a:rPr>
              <a:t>（第六章内容</a:t>
            </a:r>
            <a:r>
              <a:rPr lang="zh-CN" altLang="en-US" sz="3200" spc="-5" dirty="0">
                <a:latin typeface="Calibri" panose="020F0502020204030204"/>
                <a:cs typeface="Calibri" panose="020F0502020204030204"/>
                <a:sym typeface="+mn-ea"/>
              </a:rPr>
              <a:t>）</a:t>
            </a:r>
            <a:endParaRPr lang="zh-CN" altLang="en-US" sz="3200" spc="-5" dirty="0">
              <a:latin typeface="Calibri" panose="020F0502020204030204"/>
              <a:cs typeface="Calibri" panose="020F0502020204030204"/>
              <a:sym typeface="+mn-ea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r>
              <a:rPr b="1" spc="-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  <a:sym typeface="+mn-ea"/>
              </a:rPr>
              <a:t>Linear </a:t>
            </a:r>
            <a:r>
              <a:rPr b="1" spc="-1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  <a:sym typeface="+mn-ea"/>
              </a:rPr>
              <a:t>Combinations </a:t>
            </a:r>
            <a:r>
              <a:rPr b="1" spc="-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  <a:sym typeface="+mn-ea"/>
              </a:rPr>
              <a:t>of </a:t>
            </a:r>
            <a:r>
              <a:rPr b="1" spc="-1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  <a:sym typeface="+mn-ea"/>
              </a:rPr>
              <a:t>Atomic </a:t>
            </a:r>
            <a:r>
              <a:rPr b="1" spc="-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  <a:sym typeface="+mn-ea"/>
              </a:rPr>
              <a:t>Orbitals  </a:t>
            </a:r>
            <a:r>
              <a:rPr b="1" spc="-2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  <a:sym typeface="+mn-ea"/>
              </a:rPr>
              <a:t>(LCAO’s)</a:t>
            </a:r>
            <a:endParaRPr lang="zh-CN" altLang="en-US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pPr marL="191770" marR="348615" indent="360680">
              <a:lnSpc>
                <a:spcPct val="100000"/>
              </a:lnSpc>
              <a:spcBef>
                <a:spcPts val="1260"/>
              </a:spcBef>
            </a:pPr>
            <a:r>
              <a:rPr sz="4000" spc="-5" dirty="0">
                <a:latin typeface="Calibri" panose="020F0502020204030204"/>
                <a:cs typeface="Calibri" panose="020F0502020204030204"/>
                <a:sym typeface="+mn-ea"/>
              </a:rPr>
              <a:t>Molecular </a:t>
            </a:r>
            <a:r>
              <a:rPr sz="4000" spc="-10" dirty="0">
                <a:latin typeface="Calibri" panose="020F0502020204030204"/>
                <a:cs typeface="Calibri" panose="020F0502020204030204"/>
                <a:sym typeface="+mn-ea"/>
              </a:rPr>
              <a:t>Orbitals </a:t>
            </a:r>
            <a:r>
              <a:rPr sz="4000" spc="-15" dirty="0">
                <a:latin typeface="Calibri" panose="020F0502020204030204"/>
                <a:cs typeface="Calibri" panose="020F0502020204030204"/>
                <a:sym typeface="+mn-ea"/>
              </a:rPr>
              <a:t>are formed </a:t>
            </a:r>
            <a:r>
              <a:rPr sz="4000" spc="-10" dirty="0">
                <a:latin typeface="Calibri" panose="020F0502020204030204"/>
                <a:cs typeface="Calibri" panose="020F0502020204030204"/>
                <a:sym typeface="+mn-ea"/>
              </a:rPr>
              <a:t>by combining  </a:t>
            </a:r>
            <a:r>
              <a:rPr sz="4000" spc="-30" dirty="0">
                <a:latin typeface="Calibri" panose="020F0502020204030204"/>
                <a:cs typeface="Calibri" panose="020F0502020204030204"/>
                <a:sym typeface="+mn-ea"/>
              </a:rPr>
              <a:t>AO’s:</a:t>
            </a:r>
            <a:endParaRPr sz="4000">
              <a:latin typeface="Calibri" panose="020F0502020204030204"/>
              <a:cs typeface="Calibri" panose="020F0502020204030204"/>
            </a:endParaRPr>
          </a:p>
          <a:p>
            <a:pPr marL="598805">
              <a:lnSpc>
                <a:spcPct val="100000"/>
              </a:lnSpc>
              <a:spcBef>
                <a:spcPts val="315"/>
              </a:spcBef>
            </a:pPr>
            <a:r>
              <a:rPr sz="4000" spc="-5" dirty="0">
                <a:latin typeface="Symbol" panose="05050102010706020507"/>
                <a:cs typeface="Symbol" panose="05050102010706020507"/>
                <a:sym typeface="+mn-ea"/>
              </a:rPr>
              <a:t></a:t>
            </a:r>
            <a:r>
              <a:rPr sz="4000" spc="-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4000" spc="-5" dirty="0">
                <a:latin typeface="Calibri" panose="020F0502020204030204"/>
                <a:cs typeface="Calibri" panose="020F0502020204030204"/>
                <a:sym typeface="+mn-ea"/>
              </a:rPr>
              <a:t>= c</a:t>
            </a:r>
            <a:r>
              <a:rPr sz="4000" spc="-7" baseline="-21000" dirty="0">
                <a:latin typeface="Times New Roman" panose="02020603050405020304"/>
                <a:cs typeface="Times New Roman" panose="02020603050405020304"/>
                <a:sym typeface="+mn-ea"/>
              </a:rPr>
              <a:t>a</a:t>
            </a:r>
            <a:r>
              <a:rPr sz="4000" spc="-5" dirty="0">
                <a:latin typeface="Symbol" panose="05050102010706020507"/>
                <a:cs typeface="Symbol" panose="05050102010706020507"/>
                <a:sym typeface="+mn-ea"/>
              </a:rPr>
              <a:t></a:t>
            </a:r>
            <a:r>
              <a:rPr sz="4000" spc="-7" baseline="-21000" dirty="0">
                <a:latin typeface="Times New Roman" panose="02020603050405020304"/>
                <a:cs typeface="Times New Roman" panose="02020603050405020304"/>
                <a:sym typeface="+mn-ea"/>
              </a:rPr>
              <a:t>a </a:t>
            </a:r>
            <a:r>
              <a:rPr sz="4000" spc="-5" dirty="0">
                <a:latin typeface="Calibri" panose="020F0502020204030204"/>
                <a:cs typeface="Calibri" panose="020F0502020204030204"/>
                <a:sym typeface="+mn-ea"/>
              </a:rPr>
              <a:t>+</a:t>
            </a:r>
            <a:r>
              <a:rPr sz="4000" dirty="0">
                <a:latin typeface="Calibri" panose="020F0502020204030204"/>
                <a:cs typeface="Calibri" panose="020F0502020204030204"/>
                <a:sym typeface="+mn-ea"/>
              </a:rPr>
              <a:t> </a:t>
            </a:r>
            <a:r>
              <a:rPr sz="4000" spc="-5" dirty="0">
                <a:latin typeface="Calibri" panose="020F0502020204030204"/>
                <a:cs typeface="Calibri" panose="020F0502020204030204"/>
                <a:sym typeface="+mn-ea"/>
              </a:rPr>
              <a:t>c</a:t>
            </a:r>
            <a:r>
              <a:rPr sz="4000" spc="-7" baseline="-21000" dirty="0">
                <a:latin typeface="Times New Roman" panose="02020603050405020304"/>
                <a:cs typeface="Times New Roman" panose="02020603050405020304"/>
                <a:sym typeface="+mn-ea"/>
              </a:rPr>
              <a:t>b</a:t>
            </a:r>
            <a:r>
              <a:rPr sz="4000" spc="-5" dirty="0">
                <a:latin typeface="Symbol" panose="05050102010706020507"/>
                <a:cs typeface="Symbol" panose="05050102010706020507"/>
                <a:sym typeface="+mn-ea"/>
              </a:rPr>
              <a:t></a:t>
            </a:r>
            <a:r>
              <a:rPr sz="4000" spc="-7" baseline="-21000" dirty="0">
                <a:latin typeface="Times New Roman" panose="02020603050405020304"/>
                <a:cs typeface="Times New Roman" panose="02020603050405020304"/>
                <a:sym typeface="+mn-ea"/>
              </a:rPr>
              <a:t>b</a:t>
            </a:r>
            <a:endParaRPr sz="4000" baseline="-21000">
              <a:latin typeface="Times New Roman" panose="02020603050405020304"/>
              <a:cs typeface="Times New Roman" panose="02020603050405020304"/>
            </a:endParaRPr>
          </a:p>
          <a:p>
            <a:pPr marL="598805">
              <a:lnSpc>
                <a:spcPct val="100000"/>
              </a:lnSpc>
              <a:spcBef>
                <a:spcPts val="300"/>
              </a:spcBef>
            </a:pPr>
            <a:r>
              <a:rPr sz="4000" spc="-5" dirty="0">
                <a:latin typeface="Symbol" panose="05050102010706020507"/>
                <a:cs typeface="Symbol" panose="05050102010706020507"/>
                <a:sym typeface="+mn-ea"/>
              </a:rPr>
              <a:t></a:t>
            </a:r>
            <a:r>
              <a:rPr sz="4000" spc="-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4000" spc="-5" dirty="0">
                <a:latin typeface="Calibri" panose="020F0502020204030204"/>
                <a:cs typeface="Calibri" panose="020F0502020204030204"/>
                <a:sym typeface="+mn-ea"/>
              </a:rPr>
              <a:t>= a molecular </a:t>
            </a:r>
            <a:r>
              <a:rPr sz="4000" spc="-20" dirty="0">
                <a:latin typeface="Calibri" panose="020F0502020204030204"/>
                <a:cs typeface="Calibri" panose="020F0502020204030204"/>
                <a:sym typeface="+mn-ea"/>
              </a:rPr>
              <a:t>wave</a:t>
            </a:r>
            <a:r>
              <a:rPr sz="4000" dirty="0">
                <a:latin typeface="Calibri" panose="020F0502020204030204"/>
                <a:cs typeface="Calibri" panose="020F0502020204030204"/>
                <a:sym typeface="+mn-ea"/>
              </a:rPr>
              <a:t> </a:t>
            </a:r>
            <a:r>
              <a:rPr sz="4000" spc="-5" dirty="0">
                <a:latin typeface="Calibri" panose="020F0502020204030204"/>
                <a:cs typeface="Calibri" panose="020F0502020204030204"/>
                <a:sym typeface="+mn-ea"/>
              </a:rPr>
              <a:t>function</a:t>
            </a:r>
            <a:endParaRPr sz="4000">
              <a:latin typeface="Calibri" panose="020F0502020204030204"/>
              <a:cs typeface="Calibri" panose="020F0502020204030204"/>
            </a:endParaRPr>
          </a:p>
          <a:p>
            <a:pPr marL="553085" marR="440055" indent="45720">
              <a:lnSpc>
                <a:spcPct val="115000"/>
              </a:lnSpc>
              <a:spcBef>
                <a:spcPts val="10"/>
              </a:spcBef>
            </a:pPr>
            <a:r>
              <a:rPr sz="4000" spc="-5" dirty="0">
                <a:latin typeface="Symbol" panose="05050102010706020507"/>
                <a:cs typeface="Symbol" panose="05050102010706020507"/>
                <a:sym typeface="+mn-ea"/>
              </a:rPr>
              <a:t></a:t>
            </a:r>
            <a:r>
              <a:rPr sz="4000" spc="-7" baseline="-21000" dirty="0">
                <a:latin typeface="Calibri" panose="020F0502020204030204"/>
                <a:cs typeface="Calibri" panose="020F0502020204030204"/>
                <a:sym typeface="+mn-ea"/>
              </a:rPr>
              <a:t>a </a:t>
            </a:r>
            <a:r>
              <a:rPr sz="4000" spc="-5" dirty="0">
                <a:latin typeface="Calibri" panose="020F0502020204030204"/>
                <a:cs typeface="Calibri" panose="020F0502020204030204"/>
                <a:sym typeface="+mn-ea"/>
              </a:rPr>
              <a:t>= an </a:t>
            </a:r>
            <a:r>
              <a:rPr sz="4000" spc="-10" dirty="0">
                <a:latin typeface="Calibri" panose="020F0502020204030204"/>
                <a:cs typeface="Calibri" panose="020F0502020204030204"/>
                <a:sym typeface="+mn-ea"/>
              </a:rPr>
              <a:t>atomic </a:t>
            </a:r>
            <a:r>
              <a:rPr sz="4000" spc="-20" dirty="0">
                <a:latin typeface="Calibri" panose="020F0502020204030204"/>
                <a:cs typeface="Calibri" panose="020F0502020204030204"/>
                <a:sym typeface="+mn-ea"/>
              </a:rPr>
              <a:t>wave </a:t>
            </a:r>
            <a:r>
              <a:rPr sz="4000" spc="-5" dirty="0">
                <a:latin typeface="Calibri" panose="020F0502020204030204"/>
                <a:cs typeface="Calibri" panose="020F0502020204030204"/>
                <a:sym typeface="+mn-ea"/>
              </a:rPr>
              <a:t>function </a:t>
            </a:r>
            <a:r>
              <a:rPr sz="4000" spc="-15" dirty="0">
                <a:latin typeface="Calibri" panose="020F0502020204030204"/>
                <a:cs typeface="Calibri" panose="020F0502020204030204"/>
                <a:sym typeface="+mn-ea"/>
              </a:rPr>
              <a:t>from </a:t>
            </a:r>
            <a:r>
              <a:rPr sz="4000" spc="-10" dirty="0">
                <a:latin typeface="Calibri" panose="020F0502020204030204"/>
                <a:cs typeface="Calibri" panose="020F0502020204030204"/>
                <a:sym typeface="+mn-ea"/>
              </a:rPr>
              <a:t>atom </a:t>
            </a:r>
            <a:r>
              <a:rPr sz="4000" spc="-5" dirty="0">
                <a:latin typeface="Calibri" panose="020F0502020204030204"/>
                <a:cs typeface="Calibri" panose="020F0502020204030204"/>
                <a:sym typeface="+mn-ea"/>
              </a:rPr>
              <a:t>A  c = </a:t>
            </a:r>
            <a:r>
              <a:rPr sz="4000" spc="-15" dirty="0">
                <a:latin typeface="Calibri" panose="020F0502020204030204"/>
                <a:cs typeface="Calibri" panose="020F0502020204030204"/>
                <a:sym typeface="+mn-ea"/>
              </a:rPr>
              <a:t>constant </a:t>
            </a:r>
            <a:r>
              <a:rPr sz="4000" spc="-5" dirty="0">
                <a:latin typeface="Calibri" panose="020F0502020204030204"/>
                <a:cs typeface="Calibri" panose="020F0502020204030204"/>
                <a:sym typeface="+mn-ea"/>
              </a:rPr>
              <a:t>that </a:t>
            </a:r>
            <a:r>
              <a:rPr sz="4000" spc="-10" dirty="0">
                <a:latin typeface="Calibri" panose="020F0502020204030204"/>
                <a:cs typeface="Calibri" panose="020F0502020204030204"/>
                <a:sym typeface="+mn-ea"/>
              </a:rPr>
              <a:t>can </a:t>
            </a:r>
            <a:r>
              <a:rPr sz="4000" spc="-5" dirty="0">
                <a:latin typeface="Calibri" panose="020F0502020204030204"/>
                <a:cs typeface="Calibri" panose="020F0502020204030204"/>
                <a:sym typeface="+mn-ea"/>
              </a:rPr>
              <a:t>be + or</a:t>
            </a:r>
            <a:r>
              <a:rPr sz="4000" spc="70" dirty="0">
                <a:latin typeface="Calibri" panose="020F0502020204030204"/>
                <a:cs typeface="Calibri" panose="020F0502020204030204"/>
                <a:sym typeface="+mn-ea"/>
              </a:rPr>
              <a:t> </a:t>
            </a:r>
            <a:r>
              <a:rPr sz="4000" spc="-5" dirty="0">
                <a:latin typeface="Calibri" panose="020F0502020204030204"/>
                <a:cs typeface="Calibri" panose="020F0502020204030204"/>
                <a:sym typeface="+mn-ea"/>
              </a:rPr>
              <a:t>–</a:t>
            </a:r>
            <a:endParaRPr sz="4000">
              <a:latin typeface="Calibri" panose="020F0502020204030204"/>
              <a:cs typeface="Calibri" panose="020F0502020204030204"/>
            </a:endParaRPr>
          </a:p>
          <a:p>
            <a:endParaRPr lang="zh-CN" altLang="en-US" sz="4000"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object 3"/>
          <p:cNvSpPr/>
          <p:nvPr/>
        </p:nvSpPr>
        <p:spPr>
          <a:xfrm>
            <a:off x="1141095" y="2520950"/>
            <a:ext cx="4249420" cy="3416935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p/>
        </p:txBody>
      </p:sp>
      <p:sp>
        <p:nvSpPr>
          <p:cNvPr id="5" name="文本框 4"/>
          <p:cNvSpPr txBox="1"/>
          <p:nvPr/>
        </p:nvSpPr>
        <p:spPr>
          <a:xfrm>
            <a:off x="6960870" y="1790065"/>
            <a:ext cx="4735195" cy="50158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sz="3200" spc="-5" dirty="0">
                <a:latin typeface="Calibri" panose="020F0502020204030204"/>
                <a:cs typeface="Calibri" panose="020F0502020204030204"/>
                <a:sym typeface="+mn-ea"/>
              </a:rPr>
              <a:t>The result is </a:t>
            </a:r>
            <a:r>
              <a:rPr sz="3200" dirty="0">
                <a:latin typeface="Calibri" panose="020F0502020204030204"/>
                <a:cs typeface="Calibri" panose="020F0502020204030204"/>
                <a:sym typeface="+mn-ea"/>
              </a:rPr>
              <a:t>an  </a:t>
            </a:r>
            <a:r>
              <a:rPr sz="3200" spc="-5" dirty="0">
                <a:latin typeface="Calibri" panose="020F0502020204030204"/>
                <a:cs typeface="Calibri" panose="020F0502020204030204"/>
                <a:sym typeface="+mn-ea"/>
              </a:rPr>
              <a:t>energy </a:t>
            </a:r>
            <a:r>
              <a:rPr sz="3200" spc="-10" dirty="0">
                <a:latin typeface="Calibri" panose="020F0502020204030204"/>
                <a:cs typeface="Calibri" panose="020F0502020204030204"/>
                <a:sym typeface="+mn-ea"/>
              </a:rPr>
              <a:t>level diagram  </a:t>
            </a:r>
            <a:r>
              <a:rPr sz="3200" dirty="0">
                <a:latin typeface="Calibri" panose="020F0502020204030204"/>
                <a:cs typeface="Calibri" panose="020F0502020204030204"/>
                <a:sym typeface="+mn-ea"/>
              </a:rPr>
              <a:t>with </a:t>
            </a:r>
            <a:r>
              <a:rPr sz="3200" spc="-5" dirty="0">
                <a:latin typeface="Calibri" panose="020F0502020204030204"/>
                <a:cs typeface="Calibri" panose="020F0502020204030204"/>
                <a:sym typeface="+mn-ea"/>
              </a:rPr>
              <a:t>the bonding</a:t>
            </a:r>
            <a:r>
              <a:rPr sz="3200" spc="-80" dirty="0">
                <a:latin typeface="Calibri" panose="020F0502020204030204"/>
                <a:cs typeface="Calibri" panose="020F0502020204030204"/>
                <a:sym typeface="+mn-ea"/>
              </a:rPr>
              <a:t> </a:t>
            </a:r>
            <a:r>
              <a:rPr sz="3200" dirty="0">
                <a:latin typeface="Calibri" panose="020F0502020204030204"/>
                <a:cs typeface="Calibri" panose="020F0502020204030204"/>
                <a:sym typeface="+mn-ea"/>
              </a:rPr>
              <a:t>orbital  </a:t>
            </a:r>
            <a:r>
              <a:rPr sz="3200" spc="-5" dirty="0">
                <a:latin typeface="Calibri" panose="020F0502020204030204"/>
                <a:cs typeface="Calibri" panose="020F0502020204030204"/>
                <a:sym typeface="+mn-ea"/>
              </a:rPr>
              <a:t>occupied </a:t>
            </a:r>
            <a:r>
              <a:rPr sz="3200" spc="-10" dirty="0">
                <a:latin typeface="Calibri" panose="020F0502020204030204"/>
                <a:cs typeface="Calibri" panose="020F0502020204030204"/>
                <a:sym typeface="+mn-ea"/>
              </a:rPr>
              <a:t>by </a:t>
            </a:r>
            <a:r>
              <a:rPr sz="3200" dirty="0">
                <a:latin typeface="Calibri" panose="020F0502020204030204"/>
                <a:cs typeface="Calibri" panose="020F0502020204030204"/>
                <a:sym typeface="+mn-ea"/>
              </a:rPr>
              <a:t>a </a:t>
            </a:r>
            <a:r>
              <a:rPr sz="3200" spc="-5" dirty="0">
                <a:latin typeface="Calibri" panose="020F0502020204030204"/>
                <a:cs typeface="Calibri" panose="020F0502020204030204"/>
                <a:sym typeface="+mn-ea"/>
              </a:rPr>
              <a:t>pair of  electrons. The filling of  the lower molecular  orbital </a:t>
            </a:r>
            <a:r>
              <a:rPr sz="3200" spc="-10" dirty="0">
                <a:latin typeface="Calibri" panose="020F0502020204030204"/>
                <a:cs typeface="Calibri" panose="020F0502020204030204"/>
                <a:sym typeface="+mn-ea"/>
              </a:rPr>
              <a:t>indicates that  </a:t>
            </a:r>
            <a:r>
              <a:rPr sz="3200" spc="-5" dirty="0">
                <a:latin typeface="Calibri" panose="020F0502020204030204"/>
                <a:cs typeface="Calibri" panose="020F0502020204030204"/>
                <a:sym typeface="+mn-ea"/>
              </a:rPr>
              <a:t>the </a:t>
            </a:r>
            <a:r>
              <a:rPr sz="3200" dirty="0">
                <a:latin typeface="Calibri" panose="020F0502020204030204"/>
                <a:cs typeface="Calibri" panose="020F0502020204030204"/>
                <a:sym typeface="+mn-ea"/>
              </a:rPr>
              <a:t>molecule </a:t>
            </a:r>
            <a:r>
              <a:rPr sz="3200" spc="-5" dirty="0">
                <a:latin typeface="Calibri" panose="020F0502020204030204"/>
                <a:cs typeface="Calibri" panose="020F0502020204030204"/>
                <a:sym typeface="+mn-ea"/>
              </a:rPr>
              <a:t>is stable  </a:t>
            </a:r>
            <a:r>
              <a:rPr sz="3200" spc="-10" dirty="0">
                <a:latin typeface="Calibri" panose="020F0502020204030204"/>
                <a:cs typeface="Calibri" panose="020F0502020204030204"/>
                <a:sym typeface="+mn-ea"/>
              </a:rPr>
              <a:t>compared to </a:t>
            </a:r>
            <a:r>
              <a:rPr sz="3200" spc="-5" dirty="0">
                <a:latin typeface="Calibri" panose="020F0502020204030204"/>
                <a:cs typeface="Calibri" panose="020F0502020204030204"/>
                <a:sym typeface="+mn-ea"/>
              </a:rPr>
              <a:t>the two  individual </a:t>
            </a:r>
            <a:r>
              <a:rPr sz="3200" spc="-10" dirty="0">
                <a:latin typeface="Calibri" panose="020F0502020204030204"/>
                <a:cs typeface="Calibri" panose="020F0502020204030204"/>
                <a:sym typeface="+mn-ea"/>
              </a:rPr>
              <a:t>atoms.</a:t>
            </a:r>
            <a:endParaRPr sz="3200">
              <a:latin typeface="Calibri" panose="020F0502020204030204"/>
              <a:cs typeface="Calibri" panose="020F0502020204030204"/>
            </a:endParaRPr>
          </a:p>
          <a:p>
            <a:endParaRPr lang="zh-CN" altLang="en-US" sz="32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2482215" y="734060"/>
            <a:ext cx="7228205" cy="7683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sz="4400" b="1" spc="-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  <a:sym typeface="+mn-ea"/>
              </a:rPr>
              <a:t>Molecular </a:t>
            </a:r>
            <a:r>
              <a:rPr sz="4400" b="1" spc="-1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  <a:sym typeface="+mn-ea"/>
              </a:rPr>
              <a:t>Orbital</a:t>
            </a:r>
            <a:r>
              <a:rPr sz="4400" b="1" spc="1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  <a:sym typeface="+mn-ea"/>
              </a:rPr>
              <a:t> </a:t>
            </a:r>
            <a:r>
              <a:rPr sz="4400" b="1" spc="-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  <a:sym typeface="+mn-ea"/>
              </a:rPr>
              <a:t>Theory</a:t>
            </a:r>
            <a:endParaRPr lang="zh-CN" altLang="en-US" sz="440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p>
            <a:pPr algn="ctr"/>
            <a:r>
              <a:rPr b="1" spc="-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  <a:sym typeface="+mn-ea"/>
              </a:rPr>
              <a:t>Rules </a:t>
            </a:r>
            <a:r>
              <a:rPr b="1" spc="-1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  <a:sym typeface="+mn-ea"/>
              </a:rPr>
              <a:t>for Combining </a:t>
            </a:r>
            <a:r>
              <a:rPr b="1" spc="-1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  <a:sym typeface="+mn-ea"/>
              </a:rPr>
              <a:t>Atomic</a:t>
            </a:r>
            <a:r>
              <a:rPr b="1" spc="4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  <a:sym typeface="+mn-ea"/>
              </a:rPr>
              <a:t> </a:t>
            </a:r>
            <a:r>
              <a:rPr b="1" spc="-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  <a:sym typeface="+mn-ea"/>
              </a:rPr>
              <a:t>Orbitals</a:t>
            </a:r>
            <a:endParaRPr lang="zh-CN" altLang="en-US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pPr>
              <a:lnSpc>
                <a:spcPct val="100000"/>
              </a:lnSpc>
              <a:spcBef>
                <a:spcPts val="40"/>
              </a:spcBef>
            </a:pPr>
            <a:r>
              <a:rPr sz="3600" spc="-10" dirty="0">
                <a:latin typeface="Calibri" panose="020F0502020204030204"/>
                <a:cs typeface="Calibri" panose="020F0502020204030204"/>
                <a:sym typeface="+mn-ea"/>
              </a:rPr>
              <a:t>The number </a:t>
            </a:r>
            <a:r>
              <a:rPr sz="3600" spc="-5" dirty="0">
                <a:latin typeface="Calibri" panose="020F0502020204030204"/>
                <a:cs typeface="Calibri" panose="020F0502020204030204"/>
                <a:sym typeface="+mn-ea"/>
              </a:rPr>
              <a:t>of molecular orbitals = </a:t>
            </a:r>
            <a:endParaRPr sz="3600" spc="-5" dirty="0">
              <a:latin typeface="Calibri" panose="020F0502020204030204"/>
              <a:cs typeface="Calibri" panose="020F0502020204030204"/>
              <a:sym typeface="+mn-ea"/>
            </a:endParaRPr>
          </a:p>
          <a:p>
            <a:pPr marL="0" indent="0">
              <a:lnSpc>
                <a:spcPct val="100000"/>
              </a:lnSpc>
              <a:spcBef>
                <a:spcPts val="40"/>
              </a:spcBef>
              <a:buNone/>
            </a:pPr>
            <a:r>
              <a:rPr sz="3600" spc="-5" dirty="0">
                <a:latin typeface="Calibri" panose="020F0502020204030204"/>
                <a:cs typeface="Calibri" panose="020F0502020204030204"/>
                <a:sym typeface="+mn-ea"/>
              </a:rPr>
              <a:t>  the  </a:t>
            </a:r>
            <a:r>
              <a:rPr sz="3600" spc="-10" dirty="0">
                <a:latin typeface="Calibri" panose="020F0502020204030204"/>
                <a:cs typeface="Calibri" panose="020F0502020204030204"/>
                <a:sym typeface="+mn-ea"/>
              </a:rPr>
              <a:t>number </a:t>
            </a:r>
            <a:r>
              <a:rPr sz="3600" spc="-5" dirty="0">
                <a:latin typeface="Calibri" panose="020F0502020204030204"/>
                <a:cs typeface="Calibri" panose="020F0502020204030204"/>
                <a:sym typeface="+mn-ea"/>
              </a:rPr>
              <a:t>of </a:t>
            </a:r>
            <a:r>
              <a:rPr sz="3600" spc="-10" dirty="0">
                <a:latin typeface="Calibri" panose="020F0502020204030204"/>
                <a:cs typeface="Calibri" panose="020F0502020204030204"/>
                <a:sym typeface="+mn-ea"/>
              </a:rPr>
              <a:t>atomic </a:t>
            </a:r>
            <a:r>
              <a:rPr sz="3600" spc="-5" dirty="0">
                <a:latin typeface="Calibri" panose="020F0502020204030204"/>
                <a:cs typeface="Calibri" panose="020F0502020204030204"/>
                <a:sym typeface="+mn-ea"/>
              </a:rPr>
              <a:t>orbitals</a:t>
            </a:r>
            <a:r>
              <a:rPr sz="3600" spc="40" dirty="0">
                <a:latin typeface="Calibri" panose="020F0502020204030204"/>
                <a:cs typeface="Calibri" panose="020F0502020204030204"/>
                <a:sym typeface="+mn-ea"/>
              </a:rPr>
              <a:t> </a:t>
            </a:r>
            <a:r>
              <a:rPr sz="3600" spc="-10" dirty="0">
                <a:latin typeface="Calibri" panose="020F0502020204030204"/>
                <a:cs typeface="Calibri" panose="020F0502020204030204"/>
                <a:sym typeface="+mn-ea"/>
              </a:rPr>
              <a:t>combined.</a:t>
            </a:r>
            <a:endParaRPr sz="3600" spc="-10" dirty="0">
              <a:latin typeface="Calibri" panose="020F0502020204030204"/>
              <a:cs typeface="Calibri" panose="020F0502020204030204"/>
              <a:sym typeface="+mn-ea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r>
              <a:rPr sz="3600" spc="-10" dirty="0">
                <a:latin typeface="Calibri" panose="020F0502020204030204"/>
                <a:cs typeface="Calibri" panose="020F0502020204030204"/>
                <a:sym typeface="+mn-ea"/>
              </a:rPr>
              <a:t>The </a:t>
            </a:r>
            <a:r>
              <a:rPr sz="3600" spc="-15" dirty="0">
                <a:latin typeface="Calibri" panose="020F0502020204030204"/>
                <a:cs typeface="Calibri" panose="020F0502020204030204"/>
                <a:sym typeface="+mn-ea"/>
              </a:rPr>
              <a:t>strength </a:t>
            </a:r>
            <a:r>
              <a:rPr sz="3600" spc="-5" dirty="0">
                <a:latin typeface="Calibri" panose="020F0502020204030204"/>
                <a:cs typeface="Calibri" panose="020F0502020204030204"/>
                <a:sym typeface="+mn-ea"/>
              </a:rPr>
              <a:t>of the </a:t>
            </a:r>
            <a:r>
              <a:rPr sz="3600" spc="-10" dirty="0">
                <a:latin typeface="Calibri" panose="020F0502020204030204"/>
                <a:cs typeface="Calibri" panose="020F0502020204030204"/>
                <a:sym typeface="+mn-ea"/>
              </a:rPr>
              <a:t>bond depends upon </a:t>
            </a:r>
            <a:r>
              <a:rPr sz="3600" spc="-5" dirty="0">
                <a:latin typeface="Calibri" panose="020F0502020204030204"/>
                <a:cs typeface="Calibri" panose="020F0502020204030204"/>
                <a:sym typeface="+mn-ea"/>
              </a:rPr>
              <a:t>the  </a:t>
            </a:r>
            <a:r>
              <a:rPr sz="3600" spc="-10" dirty="0">
                <a:latin typeface="Calibri" panose="020F0502020204030204"/>
                <a:cs typeface="Calibri" panose="020F0502020204030204"/>
                <a:sym typeface="+mn-ea"/>
              </a:rPr>
              <a:t>degree </a:t>
            </a:r>
            <a:r>
              <a:rPr sz="3600" spc="-5" dirty="0">
                <a:latin typeface="Calibri" panose="020F0502020204030204"/>
                <a:cs typeface="Calibri" panose="020F0502020204030204"/>
                <a:sym typeface="+mn-ea"/>
              </a:rPr>
              <a:t>of </a:t>
            </a:r>
            <a:r>
              <a:rPr sz="3600" spc="-10" dirty="0">
                <a:latin typeface="Calibri" panose="020F0502020204030204"/>
                <a:cs typeface="Calibri" panose="020F0502020204030204"/>
                <a:sym typeface="+mn-ea"/>
              </a:rPr>
              <a:t>orbital</a:t>
            </a:r>
            <a:r>
              <a:rPr sz="3600" spc="40" dirty="0">
                <a:latin typeface="Calibri" panose="020F0502020204030204"/>
                <a:cs typeface="Calibri" panose="020F0502020204030204"/>
                <a:sym typeface="+mn-ea"/>
              </a:rPr>
              <a:t> </a:t>
            </a:r>
            <a:r>
              <a:rPr sz="3600" spc="-10" dirty="0">
                <a:latin typeface="Calibri" panose="020F0502020204030204"/>
                <a:cs typeface="Calibri" panose="020F0502020204030204"/>
                <a:sym typeface="+mn-ea"/>
              </a:rPr>
              <a:t>overlap.</a:t>
            </a:r>
            <a:endParaRPr sz="3600">
              <a:latin typeface="Calibri" panose="020F0502020204030204"/>
              <a:cs typeface="Calibri" panose="020F0502020204030204"/>
            </a:endParaRPr>
          </a:p>
          <a:p>
            <a:endParaRPr lang="zh-CN" altLang="en-US" sz="3600"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pPr algn="ctr"/>
            <a:r>
              <a:rPr b="1" spc="-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  <a:sym typeface="+mn-ea"/>
              </a:rPr>
              <a:t>Molecular </a:t>
            </a:r>
            <a:r>
              <a:rPr b="1" spc="-1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  <a:sym typeface="+mn-ea"/>
              </a:rPr>
              <a:t>Orbital</a:t>
            </a:r>
            <a:r>
              <a:rPr b="1" spc="-2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  <a:sym typeface="+mn-ea"/>
              </a:rPr>
              <a:t> </a:t>
            </a:r>
            <a:r>
              <a:rPr b="1" spc="-1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  <a:sym typeface="+mn-ea"/>
              </a:rPr>
              <a:t>Diagram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4909820" cy="4351655"/>
          </a:xfrm>
        </p:spPr>
        <p:txBody>
          <a:bodyPr/>
          <a:p>
            <a:r>
              <a:rPr sz="3600" dirty="0">
                <a:latin typeface="Calibri" panose="020F0502020204030204"/>
                <a:cs typeface="Calibri" panose="020F0502020204030204"/>
                <a:sym typeface="+mn-ea"/>
              </a:rPr>
              <a:t>This </a:t>
            </a:r>
            <a:r>
              <a:rPr sz="3600" spc="-5" dirty="0">
                <a:latin typeface="Calibri" panose="020F0502020204030204"/>
                <a:cs typeface="Calibri" panose="020F0502020204030204"/>
                <a:sym typeface="+mn-ea"/>
              </a:rPr>
              <a:t>is </a:t>
            </a:r>
            <a:r>
              <a:rPr sz="3600" dirty="0">
                <a:latin typeface="Calibri" panose="020F0502020204030204"/>
                <a:cs typeface="Calibri" panose="020F0502020204030204"/>
                <a:sym typeface="+mn-ea"/>
              </a:rPr>
              <a:t>a  molecular </a:t>
            </a:r>
            <a:r>
              <a:rPr sz="3600" spc="-5" dirty="0">
                <a:latin typeface="Calibri" panose="020F0502020204030204"/>
                <a:cs typeface="Calibri" panose="020F0502020204030204"/>
                <a:sym typeface="+mn-ea"/>
              </a:rPr>
              <a:t>orbital  energy </a:t>
            </a:r>
            <a:r>
              <a:rPr sz="3600" spc="-10" dirty="0">
                <a:latin typeface="Calibri" panose="020F0502020204030204"/>
                <a:cs typeface="Calibri" panose="020F0502020204030204"/>
                <a:sym typeface="+mn-ea"/>
              </a:rPr>
              <a:t>level  </a:t>
            </a:r>
            <a:r>
              <a:rPr sz="3600" spc="-5" dirty="0">
                <a:latin typeface="Calibri" panose="020F0502020204030204"/>
                <a:cs typeface="Calibri" panose="020F0502020204030204"/>
                <a:sym typeface="+mn-ea"/>
              </a:rPr>
              <a:t>diagram </a:t>
            </a:r>
            <a:r>
              <a:rPr sz="3600" spc="-15" dirty="0">
                <a:latin typeface="Calibri" panose="020F0502020204030204"/>
                <a:cs typeface="Calibri" panose="020F0502020204030204"/>
                <a:sym typeface="+mn-ea"/>
              </a:rPr>
              <a:t>for </a:t>
            </a:r>
            <a:r>
              <a:rPr sz="3600" dirty="0">
                <a:latin typeface="Calibri" panose="020F0502020204030204"/>
                <a:cs typeface="Calibri" panose="020F0502020204030204"/>
                <a:sym typeface="+mn-ea"/>
              </a:rPr>
              <a:t>the </a:t>
            </a:r>
            <a:r>
              <a:rPr sz="3600" i="1" dirty="0">
                <a:latin typeface="Calibri" panose="020F0502020204030204"/>
                <a:cs typeface="Calibri" panose="020F0502020204030204"/>
                <a:sym typeface="+mn-ea"/>
              </a:rPr>
              <a:t>p  </a:t>
            </a:r>
            <a:r>
              <a:rPr sz="3600" spc="-5" dirty="0">
                <a:latin typeface="Calibri" panose="020F0502020204030204"/>
                <a:cs typeface="Calibri" panose="020F0502020204030204"/>
                <a:sym typeface="+mn-ea"/>
              </a:rPr>
              <a:t>orbitals. Note that  </a:t>
            </a:r>
            <a:r>
              <a:rPr sz="3600" dirty="0">
                <a:latin typeface="Calibri" panose="020F0502020204030204"/>
                <a:cs typeface="Calibri" panose="020F0502020204030204"/>
                <a:sym typeface="+mn-ea"/>
              </a:rPr>
              <a:t>the σ bonding  </a:t>
            </a:r>
            <a:r>
              <a:rPr sz="3600" spc="-5" dirty="0">
                <a:latin typeface="Calibri" panose="020F0502020204030204"/>
                <a:cs typeface="Calibri" panose="020F0502020204030204"/>
                <a:sym typeface="+mn-ea"/>
              </a:rPr>
              <a:t>orbital is </a:t>
            </a:r>
            <a:r>
              <a:rPr sz="3600" spc="-10" dirty="0">
                <a:latin typeface="Calibri" panose="020F0502020204030204"/>
                <a:cs typeface="Calibri" panose="020F0502020204030204"/>
                <a:sym typeface="+mn-ea"/>
              </a:rPr>
              <a:t>lowest </a:t>
            </a:r>
            <a:r>
              <a:rPr sz="3600" spc="-5" dirty="0">
                <a:latin typeface="Calibri" panose="020F0502020204030204"/>
                <a:cs typeface="Calibri" panose="020F0502020204030204"/>
                <a:sym typeface="+mn-ea"/>
              </a:rPr>
              <a:t>in  energy </a:t>
            </a:r>
            <a:r>
              <a:rPr sz="3600" dirty="0">
                <a:latin typeface="Calibri" panose="020F0502020204030204"/>
                <a:cs typeface="Calibri" panose="020F0502020204030204"/>
                <a:sym typeface="+mn-ea"/>
              </a:rPr>
              <a:t>due </a:t>
            </a:r>
            <a:r>
              <a:rPr sz="3600" spc="-10" dirty="0">
                <a:latin typeface="Calibri" panose="020F0502020204030204"/>
                <a:cs typeface="Calibri" panose="020F0502020204030204"/>
                <a:sym typeface="+mn-ea"/>
              </a:rPr>
              <a:t>to </a:t>
            </a:r>
            <a:r>
              <a:rPr sz="3600" dirty="0">
                <a:latin typeface="Calibri" panose="020F0502020204030204"/>
                <a:cs typeface="Calibri" panose="020F0502020204030204"/>
                <a:sym typeface="+mn-ea"/>
              </a:rPr>
              <a:t>the  </a:t>
            </a:r>
            <a:r>
              <a:rPr sz="3600" spc="-10" dirty="0">
                <a:latin typeface="Calibri" panose="020F0502020204030204"/>
                <a:cs typeface="Calibri" panose="020F0502020204030204"/>
                <a:sym typeface="+mn-ea"/>
              </a:rPr>
              <a:t>greater </a:t>
            </a:r>
            <a:r>
              <a:rPr sz="3600" spc="-5" dirty="0">
                <a:latin typeface="Calibri" panose="020F0502020204030204"/>
                <a:cs typeface="Calibri" panose="020F0502020204030204"/>
                <a:sym typeface="+mn-ea"/>
              </a:rPr>
              <a:t>overlap  end-on-end.</a:t>
            </a:r>
            <a:endParaRPr sz="3600">
              <a:latin typeface="Calibri" panose="020F0502020204030204"/>
              <a:cs typeface="Calibri" panose="020F0502020204030204"/>
            </a:endParaRPr>
          </a:p>
          <a:p>
            <a:endParaRPr lang="zh-CN" altLang="en-US" sz="36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4" name="object 3"/>
          <p:cNvSpPr/>
          <p:nvPr/>
        </p:nvSpPr>
        <p:spPr>
          <a:xfrm>
            <a:off x="7458075" y="2117090"/>
            <a:ext cx="4355465" cy="3768090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p/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object 2"/>
          <p:cNvSpPr txBox="1"/>
          <p:nvPr/>
        </p:nvSpPr>
        <p:spPr>
          <a:xfrm>
            <a:off x="3691890" y="675005"/>
            <a:ext cx="4808220" cy="68897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p>
            <a:pPr marL="25400" algn="ctr">
              <a:lnSpc>
                <a:spcPct val="100000"/>
              </a:lnSpc>
              <a:spcBef>
                <a:spcPts val="95"/>
              </a:spcBef>
            </a:pPr>
            <a:r>
              <a:rPr sz="4400" b="1" spc="-1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MO Diagram for</a:t>
            </a:r>
            <a:r>
              <a:rPr sz="4400" b="1" spc="-3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4400" b="1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O</a:t>
            </a:r>
            <a:r>
              <a:rPr sz="4400" b="1" baseline="-2100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2</a:t>
            </a:r>
            <a:endParaRPr sz="4400" baseline="-210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5" name="object 3"/>
          <p:cNvSpPr/>
          <p:nvPr/>
        </p:nvSpPr>
        <p:spPr>
          <a:xfrm>
            <a:off x="913765" y="1762125"/>
            <a:ext cx="4175125" cy="4557395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p/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p>
            <a:pPr algn="ctr"/>
            <a:r>
              <a:rPr b="1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  <a:sym typeface="+mn-ea"/>
              </a:rPr>
              <a:t>Bond</a:t>
            </a:r>
            <a:r>
              <a:rPr b="1" spc="-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  <a:sym typeface="+mn-ea"/>
              </a:rPr>
              <a:t> </a:t>
            </a:r>
            <a:r>
              <a:rPr b="1" spc="-1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  <a:sym typeface="+mn-ea"/>
              </a:rPr>
              <a:t>Order</a:t>
            </a:r>
            <a:endParaRPr lang="zh-CN" altLang="en-US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pPr marL="211455" marR="177800" indent="284480">
              <a:lnSpc>
                <a:spcPct val="100000"/>
              </a:lnSpc>
            </a:pPr>
            <a:r>
              <a:rPr sz="4000" spc="-5" dirty="0">
                <a:latin typeface="Calibri" panose="020F0502020204030204"/>
                <a:cs typeface="Calibri" panose="020F0502020204030204"/>
                <a:sym typeface="+mn-ea"/>
              </a:rPr>
              <a:t>Bond </a:t>
            </a:r>
            <a:r>
              <a:rPr sz="4000" spc="-15" dirty="0">
                <a:latin typeface="Calibri" panose="020F0502020204030204"/>
                <a:cs typeface="Calibri" panose="020F0502020204030204"/>
                <a:sym typeface="+mn-ea"/>
              </a:rPr>
              <a:t>order </a:t>
            </a:r>
            <a:r>
              <a:rPr sz="4000" dirty="0">
                <a:latin typeface="Calibri" panose="020F0502020204030204"/>
                <a:cs typeface="Calibri" panose="020F0502020204030204"/>
                <a:sym typeface="+mn-ea"/>
              </a:rPr>
              <a:t>is </a:t>
            </a:r>
            <a:r>
              <a:rPr sz="4000" spc="-5" dirty="0">
                <a:latin typeface="Calibri" panose="020F0502020204030204"/>
                <a:cs typeface="Calibri" panose="020F0502020204030204"/>
                <a:sym typeface="+mn-ea"/>
              </a:rPr>
              <a:t>an </a:t>
            </a:r>
            <a:r>
              <a:rPr sz="4000" spc="-10" dirty="0">
                <a:latin typeface="Calibri" panose="020F0502020204030204"/>
                <a:cs typeface="Calibri" panose="020F0502020204030204"/>
                <a:sym typeface="+mn-ea"/>
              </a:rPr>
              <a:t>indicator </a:t>
            </a:r>
            <a:r>
              <a:rPr sz="4000" spc="-5" dirty="0">
                <a:latin typeface="Calibri" panose="020F0502020204030204"/>
                <a:cs typeface="Calibri" panose="020F0502020204030204"/>
                <a:sym typeface="+mn-ea"/>
              </a:rPr>
              <a:t>of the </a:t>
            </a:r>
            <a:r>
              <a:rPr sz="4000" spc="-10" dirty="0">
                <a:latin typeface="Calibri" panose="020F0502020204030204"/>
                <a:cs typeface="Calibri" panose="020F0502020204030204"/>
                <a:sym typeface="+mn-ea"/>
              </a:rPr>
              <a:t>bond </a:t>
            </a:r>
            <a:r>
              <a:rPr sz="4000" spc="-15" dirty="0">
                <a:latin typeface="Calibri" panose="020F0502020204030204"/>
                <a:cs typeface="Calibri" panose="020F0502020204030204"/>
                <a:sym typeface="+mn-ea"/>
              </a:rPr>
              <a:t>strength  </a:t>
            </a:r>
            <a:r>
              <a:rPr sz="4000" spc="-5" dirty="0">
                <a:latin typeface="Calibri" panose="020F0502020204030204"/>
                <a:cs typeface="Calibri" panose="020F0502020204030204"/>
                <a:sym typeface="+mn-ea"/>
              </a:rPr>
              <a:t>and length. A </a:t>
            </a:r>
            <a:r>
              <a:rPr sz="4000" spc="-10" dirty="0">
                <a:latin typeface="Calibri" panose="020F0502020204030204"/>
                <a:cs typeface="Calibri" panose="020F0502020204030204"/>
                <a:sym typeface="+mn-ea"/>
              </a:rPr>
              <a:t>bond </a:t>
            </a:r>
            <a:r>
              <a:rPr sz="4000" spc="-15" dirty="0">
                <a:latin typeface="Calibri" panose="020F0502020204030204"/>
                <a:cs typeface="Calibri" panose="020F0502020204030204"/>
                <a:sym typeface="+mn-ea"/>
              </a:rPr>
              <a:t>order </a:t>
            </a:r>
            <a:r>
              <a:rPr sz="4000" spc="-5" dirty="0">
                <a:latin typeface="Calibri" panose="020F0502020204030204"/>
                <a:cs typeface="Calibri" panose="020F0502020204030204"/>
                <a:sym typeface="+mn-ea"/>
              </a:rPr>
              <a:t>of 1 </a:t>
            </a:r>
            <a:r>
              <a:rPr sz="4000" dirty="0">
                <a:latin typeface="Calibri" panose="020F0502020204030204"/>
                <a:cs typeface="Calibri" panose="020F0502020204030204"/>
                <a:sym typeface="+mn-ea"/>
              </a:rPr>
              <a:t>is </a:t>
            </a:r>
            <a:r>
              <a:rPr sz="4000" spc="-5" dirty="0">
                <a:latin typeface="Calibri" panose="020F0502020204030204"/>
                <a:cs typeface="Calibri" panose="020F0502020204030204"/>
                <a:sym typeface="+mn-ea"/>
              </a:rPr>
              <a:t>equivalent </a:t>
            </a:r>
            <a:r>
              <a:rPr sz="4000" spc="-10" dirty="0">
                <a:latin typeface="Calibri" panose="020F0502020204030204"/>
                <a:cs typeface="Calibri" panose="020F0502020204030204"/>
                <a:sym typeface="+mn-ea"/>
              </a:rPr>
              <a:t>to </a:t>
            </a:r>
            <a:r>
              <a:rPr sz="4000" spc="-5" dirty="0">
                <a:latin typeface="Calibri" panose="020F0502020204030204"/>
                <a:cs typeface="Calibri" panose="020F0502020204030204"/>
                <a:sym typeface="+mn-ea"/>
              </a:rPr>
              <a:t>a  single </a:t>
            </a:r>
            <a:r>
              <a:rPr sz="4000" spc="-10" dirty="0">
                <a:latin typeface="Calibri" panose="020F0502020204030204"/>
                <a:cs typeface="Calibri" panose="020F0502020204030204"/>
                <a:sym typeface="+mn-ea"/>
              </a:rPr>
              <a:t>bond. Fractional bond </a:t>
            </a:r>
            <a:r>
              <a:rPr sz="4000" spc="-20" dirty="0">
                <a:latin typeface="Calibri" panose="020F0502020204030204"/>
                <a:cs typeface="Calibri" panose="020F0502020204030204"/>
                <a:sym typeface="+mn-ea"/>
              </a:rPr>
              <a:t>orders </a:t>
            </a:r>
            <a:r>
              <a:rPr sz="4000" spc="-15" dirty="0">
                <a:latin typeface="Calibri" panose="020F0502020204030204"/>
                <a:cs typeface="Calibri" panose="020F0502020204030204"/>
                <a:sym typeface="+mn-ea"/>
              </a:rPr>
              <a:t>are</a:t>
            </a:r>
            <a:r>
              <a:rPr sz="4000" spc="170" dirty="0">
                <a:latin typeface="Calibri" panose="020F0502020204030204"/>
                <a:cs typeface="Calibri" panose="020F0502020204030204"/>
                <a:sym typeface="+mn-ea"/>
              </a:rPr>
              <a:t> </a:t>
            </a:r>
            <a:r>
              <a:rPr sz="4000" spc="-5" dirty="0">
                <a:latin typeface="Calibri" panose="020F0502020204030204"/>
                <a:cs typeface="Calibri" panose="020F0502020204030204"/>
                <a:sym typeface="+mn-ea"/>
              </a:rPr>
              <a:t>possible.</a:t>
            </a:r>
            <a:endParaRPr sz="4000">
              <a:latin typeface="Calibri" panose="020F0502020204030204"/>
              <a:cs typeface="Calibri" panose="020F0502020204030204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r>
              <a:rPr sz="4000" spc="-10" dirty="0">
                <a:latin typeface="Calibri" panose="020F0502020204030204"/>
                <a:cs typeface="Calibri" panose="020F0502020204030204"/>
                <a:sym typeface="+mn-ea"/>
              </a:rPr>
              <a:t>The bond </a:t>
            </a:r>
            <a:r>
              <a:rPr sz="4000" spc="-15" dirty="0">
                <a:latin typeface="Calibri" panose="020F0502020204030204"/>
                <a:cs typeface="Calibri" panose="020F0502020204030204"/>
                <a:sym typeface="+mn-ea"/>
              </a:rPr>
              <a:t>order </a:t>
            </a:r>
            <a:r>
              <a:rPr sz="4000" spc="-5" dirty="0">
                <a:latin typeface="Calibri" panose="020F0502020204030204"/>
                <a:cs typeface="Calibri" panose="020F0502020204030204"/>
                <a:sym typeface="+mn-ea"/>
              </a:rPr>
              <a:t>of the molecule</a:t>
            </a:r>
            <a:r>
              <a:rPr sz="4000" spc="85" dirty="0">
                <a:latin typeface="Calibri" panose="020F0502020204030204"/>
                <a:cs typeface="Calibri" panose="020F0502020204030204"/>
                <a:sym typeface="+mn-ea"/>
              </a:rPr>
              <a:t> </a:t>
            </a:r>
            <a:r>
              <a:rPr sz="4000" spc="-5" dirty="0">
                <a:latin typeface="Calibri" panose="020F0502020204030204"/>
                <a:cs typeface="Calibri" panose="020F0502020204030204"/>
                <a:sym typeface="+mn-ea"/>
              </a:rPr>
              <a:t>=</a:t>
            </a:r>
            <a:endParaRPr sz="4000" spc="-5" dirty="0">
              <a:latin typeface="Calibri" panose="020F0502020204030204"/>
              <a:cs typeface="Calibri" panose="020F0502020204030204"/>
              <a:sym typeface="+mn-ea"/>
            </a:endParaRPr>
          </a:p>
          <a:p>
            <a:pPr marL="0" indent="0">
              <a:lnSpc>
                <a:spcPct val="100000"/>
              </a:lnSpc>
              <a:spcBef>
                <a:spcPts val="45"/>
              </a:spcBef>
              <a:buNone/>
            </a:pPr>
            <a:r>
              <a:rPr lang="en-US" sz="4000" spc="-5" dirty="0">
                <a:latin typeface="Calibri" panose="020F0502020204030204"/>
                <a:cs typeface="Calibri" panose="020F0502020204030204"/>
                <a:sym typeface="+mn-ea"/>
              </a:rPr>
              <a:t>	[</a:t>
            </a:r>
            <a:r>
              <a:rPr sz="4000" spc="-5" dirty="0">
                <a:latin typeface="Calibri" panose="020F0502020204030204"/>
                <a:cs typeface="Calibri" panose="020F0502020204030204"/>
                <a:sym typeface="+mn-ea"/>
              </a:rPr>
              <a:t>(# </a:t>
            </a:r>
            <a:r>
              <a:rPr sz="4000" dirty="0">
                <a:latin typeface="Calibri" panose="020F0502020204030204"/>
                <a:cs typeface="Calibri" panose="020F0502020204030204"/>
                <a:sym typeface="+mn-ea"/>
              </a:rPr>
              <a:t>e</a:t>
            </a:r>
            <a:r>
              <a:rPr sz="4000" baseline="25000" dirty="0">
                <a:latin typeface="Calibri" panose="020F0502020204030204"/>
                <a:cs typeface="Calibri" panose="020F0502020204030204"/>
                <a:sym typeface="+mn-ea"/>
              </a:rPr>
              <a:t>- </a:t>
            </a:r>
            <a:r>
              <a:rPr sz="4000" spc="-5" dirty="0">
                <a:latin typeface="Calibri" panose="020F0502020204030204"/>
                <a:cs typeface="Calibri" panose="020F0502020204030204"/>
                <a:sym typeface="+mn-ea"/>
              </a:rPr>
              <a:t>in bonding orbitals) </a:t>
            </a:r>
            <a:r>
              <a:rPr sz="4000" b="1" dirty="0">
                <a:latin typeface="Calibri" panose="020F0502020204030204"/>
                <a:cs typeface="Calibri" panose="020F0502020204030204"/>
                <a:sym typeface="+mn-ea"/>
              </a:rPr>
              <a:t>- </a:t>
            </a:r>
            <a:r>
              <a:rPr sz="4000" spc="-5" dirty="0">
                <a:latin typeface="Calibri" panose="020F0502020204030204"/>
                <a:cs typeface="Calibri" panose="020F0502020204030204"/>
                <a:sym typeface="+mn-ea"/>
              </a:rPr>
              <a:t>(# </a:t>
            </a:r>
            <a:r>
              <a:rPr sz="4000" dirty="0">
                <a:latin typeface="Calibri" panose="020F0502020204030204"/>
                <a:cs typeface="Calibri" panose="020F0502020204030204"/>
                <a:sym typeface="+mn-ea"/>
              </a:rPr>
              <a:t>e</a:t>
            </a:r>
            <a:r>
              <a:rPr sz="4000" baseline="25000" dirty="0">
                <a:latin typeface="Calibri" panose="020F0502020204030204"/>
                <a:cs typeface="Calibri" panose="020F0502020204030204"/>
                <a:sym typeface="+mn-ea"/>
              </a:rPr>
              <a:t>- </a:t>
            </a:r>
            <a:r>
              <a:rPr sz="4000" spc="-5" dirty="0">
                <a:latin typeface="Calibri" panose="020F0502020204030204"/>
                <a:cs typeface="Calibri" panose="020F0502020204030204"/>
                <a:sym typeface="+mn-ea"/>
              </a:rPr>
              <a:t>in anti-bonding orbitals)</a:t>
            </a:r>
            <a:r>
              <a:rPr lang="en-US" sz="4000" spc="-5" dirty="0">
                <a:latin typeface="Calibri" panose="020F0502020204030204"/>
                <a:cs typeface="Calibri" panose="020F0502020204030204"/>
                <a:sym typeface="+mn-ea"/>
              </a:rPr>
              <a:t>]/2</a:t>
            </a:r>
            <a:endParaRPr lang="en-US" sz="4000" spc="-5" dirty="0">
              <a:latin typeface="Calibri" panose="020F0502020204030204"/>
              <a:cs typeface="Calibri" panose="020F0502020204030204"/>
              <a:sym typeface="+mn-ea"/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object 3"/>
          <p:cNvSpPr/>
          <p:nvPr/>
        </p:nvSpPr>
        <p:spPr>
          <a:xfrm>
            <a:off x="2551430" y="0"/>
            <a:ext cx="7089775" cy="6858635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p/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4" name="object 14"/>
          <p:cNvSpPr/>
          <p:nvPr/>
        </p:nvSpPr>
        <p:spPr>
          <a:xfrm>
            <a:off x="0" y="0"/>
            <a:ext cx="4893945" cy="6785610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p/>
        </p:txBody>
      </p:sp>
      <p:sp>
        <p:nvSpPr>
          <p:cNvPr id="5" name="object 4"/>
          <p:cNvSpPr/>
          <p:nvPr/>
        </p:nvSpPr>
        <p:spPr>
          <a:xfrm>
            <a:off x="5273675" y="0"/>
            <a:ext cx="6623050" cy="6858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p/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object 5"/>
          <p:cNvSpPr/>
          <p:nvPr/>
        </p:nvSpPr>
        <p:spPr>
          <a:xfrm>
            <a:off x="2282190" y="198755"/>
            <a:ext cx="7499350" cy="6525260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p/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60350" y="2766060"/>
            <a:ext cx="11671935" cy="1325880"/>
          </a:xfrm>
        </p:spPr>
        <p:txBody>
          <a:bodyPr>
            <a:normAutofit/>
          </a:bodyPr>
          <a:p>
            <a:pPr algn="ctr"/>
            <a:r>
              <a:rPr lang="en-US" altLang="zh-CN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Gadugi" panose="020B0502040204020203" charset="0"/>
                <a:sym typeface="+mn-ea"/>
              </a:rPr>
              <a:t>Chapter 11: Liquids and Intermolecular Forces</a:t>
            </a:r>
            <a:endParaRPr lang="en-US" altLang="zh-CN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4"/>
          <p:cNvSpPr txBox="1"/>
          <p:nvPr/>
        </p:nvSpPr>
        <p:spPr bwMode="auto">
          <a:xfrm>
            <a:off x="2209800" y="9525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48" charset="-128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48" charset="-128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48" charset="-128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48" charset="-128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48" charset="-128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48" charset="-128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48" charset="-128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48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en-US" sz="3200" b="0" i="0" u="none" strike="noStrike" kern="0" cap="none" spc="0" normalizeH="0" baseline="0" noProof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 panose="020B0604020202020204"/>
                <a:ea typeface="MS PGothic" panose="020B0600070205080204" pitchFamily="48" charset="-128"/>
                <a:cs typeface="+mj-cs"/>
              </a:rPr>
              <a:t>Types of Intermolecular Force</a:t>
            </a:r>
            <a:endParaRPr kumimoji="0" lang="en-US" altLang="en-US" sz="3200" b="0" i="0" u="none" strike="noStrike" kern="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Arial" panose="020B0604020202020204"/>
              <a:ea typeface="MS PGothic" panose="020B0600070205080204" pitchFamily="48" charset="-128"/>
              <a:cs typeface="+mj-cs"/>
            </a:endParaRPr>
          </a:p>
        </p:txBody>
      </p:sp>
      <p:sp>
        <p:nvSpPr>
          <p:cNvPr id="3" name="Content Placeholder 5"/>
          <p:cNvSpPr txBox="1"/>
          <p:nvPr/>
        </p:nvSpPr>
        <p:spPr bwMode="auto">
          <a:xfrm>
            <a:off x="1981200" y="990600"/>
            <a:ext cx="8153400" cy="5105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0" lang="en-US" altLang="en-US" sz="26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 panose="020B0604020202020204"/>
                <a:ea typeface="MS PGothic" panose="020B0600070205080204" pitchFamily="48" charset="-128"/>
                <a:cs typeface="+mn-cs"/>
              </a:rPr>
              <a:t>Weakest to strongest </a:t>
            </a:r>
            <a:r>
              <a:rPr kumimoji="0" lang="en-US" altLang="en-US" sz="2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MS PGothic" panose="020B0600070205080204" pitchFamily="48" charset="-128"/>
                <a:cs typeface="+mn-cs"/>
              </a:rPr>
              <a:t>forces:</a:t>
            </a:r>
            <a:endParaRPr kumimoji="0" lang="en-US" altLang="en-US" sz="2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MS PGothic" panose="020B0600070205080204" pitchFamily="48" charset="-128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003300"/>
              </a:buClr>
              <a:buSzTx/>
              <a:buFont typeface="Wingdings" panose="05000000000000000000" pitchFamily="2" charset="2"/>
              <a:buChar char="Ø"/>
              <a:defRPr/>
            </a:pPr>
            <a:r>
              <a:rPr kumimoji="0" lang="en-US" altLang="en-US" sz="2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MS PGothic" panose="020B0600070205080204" pitchFamily="48" charset="-128"/>
                <a:cs typeface="+mn-cs"/>
              </a:rPr>
              <a:t>dispersion forces (or London dispersion forces) </a:t>
            </a: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Arial" panose="020B0604020202020204"/>
                <a:ea typeface="MS PGothic" panose="020B0600070205080204" pitchFamily="48" charset="-128"/>
                <a:cs typeface="+mn-cs"/>
              </a:rPr>
              <a:t>色散力</a:t>
            </a:r>
            <a:endParaRPr kumimoji="0" lang="en-US" altLang="en-US" sz="1200" b="0" i="0" u="none" strike="noStrike" kern="0" cap="none" spc="0" normalizeH="0" baseline="0" noProof="0" dirty="0">
              <a:ln>
                <a:noFill/>
              </a:ln>
              <a:solidFill>
                <a:srgbClr val="00B0F0"/>
              </a:solidFill>
              <a:effectLst/>
              <a:uLnTx/>
              <a:uFillTx/>
              <a:latin typeface="Arial" panose="020B0604020202020204"/>
              <a:ea typeface="MS PGothic" panose="020B0600070205080204" pitchFamily="48" charset="-128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003300"/>
              </a:buClr>
              <a:buSzTx/>
              <a:buFont typeface="Wingdings" panose="05000000000000000000" pitchFamily="2" charset="2"/>
              <a:buChar char="Ø"/>
              <a:defRPr/>
            </a:pPr>
            <a:r>
              <a:rPr kumimoji="0" lang="en-US" altLang="en-US" sz="2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MS PGothic" panose="020B0600070205080204" pitchFamily="48" charset="-128"/>
                <a:cs typeface="+mn-cs"/>
              </a:rPr>
              <a:t>dipole–dipole forces </a:t>
            </a: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Arial" panose="020B0604020202020204"/>
                <a:ea typeface="MS PGothic" panose="020B0600070205080204" pitchFamily="48" charset="-128"/>
                <a:cs typeface="+mn-cs"/>
              </a:rPr>
              <a:t>静电力</a:t>
            </a:r>
            <a:endParaRPr kumimoji="0" lang="en-US" altLang="en-US" sz="2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MS PGothic" panose="020B0600070205080204" pitchFamily="48" charset="-128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003300"/>
              </a:buClr>
              <a:buSzTx/>
              <a:buFont typeface="Wingdings" panose="05000000000000000000" pitchFamily="2" charset="2"/>
              <a:buChar char="Ø"/>
              <a:defRPr/>
            </a:pPr>
            <a:r>
              <a:rPr kumimoji="0" lang="en-US" altLang="en-US" sz="2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MS PGothic" panose="020B0600070205080204" pitchFamily="48" charset="-128"/>
                <a:cs typeface="+mn-cs"/>
              </a:rPr>
              <a:t>hydrogen bonding (a special dipole–dipole force)</a:t>
            </a:r>
            <a:endParaRPr kumimoji="0" lang="en-US" altLang="en-US" sz="2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MS PGothic" panose="020B0600070205080204" pitchFamily="48" charset="-128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003300"/>
              </a:buClr>
              <a:buSzTx/>
              <a:buFont typeface="Wingdings" panose="05000000000000000000" pitchFamily="2" charset="2"/>
              <a:buChar char="Ø"/>
              <a:defRPr/>
            </a:pPr>
            <a:r>
              <a:rPr kumimoji="0" lang="en-US" altLang="en-US" sz="2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MS PGothic" panose="020B0600070205080204" pitchFamily="48" charset="-128"/>
                <a:cs typeface="+mn-cs"/>
              </a:rPr>
              <a:t>ion–dipole forces</a:t>
            </a:r>
            <a:endParaRPr kumimoji="0" lang="en-US" altLang="en-US" sz="2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MS PGothic" panose="020B0600070205080204" pitchFamily="48" charset="-128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C00000"/>
              </a:buClr>
              <a:buSzTx/>
              <a:buFont typeface="Courier New" panose="02070309020205020404" pitchFamily="49" charset="0"/>
              <a:buChar char="o"/>
              <a:defRPr/>
            </a:pPr>
            <a:r>
              <a:rPr kumimoji="0" lang="en-US" altLang="en-US" sz="2600" b="0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Arial" panose="020B0604020202020204"/>
                <a:ea typeface="MS PGothic" panose="020B0600070205080204" pitchFamily="48" charset="-128"/>
                <a:cs typeface="+mn-cs"/>
              </a:rPr>
              <a:t>Note: The first two types are also referred to collectively as </a:t>
            </a:r>
            <a:r>
              <a:rPr kumimoji="0" lang="en-US" altLang="en-US" sz="2600" b="0" i="1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Arial" panose="020B0604020202020204"/>
                <a:ea typeface="MS PGothic" panose="020B0600070205080204" pitchFamily="48" charset="-128"/>
                <a:cs typeface="+mn-cs"/>
              </a:rPr>
              <a:t>van der Waals forces</a:t>
            </a:r>
            <a:r>
              <a:rPr kumimoji="0" lang="en-US" altLang="en-US" sz="2600" b="0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Arial" panose="020B0604020202020204"/>
                <a:ea typeface="MS PGothic" panose="020B0600070205080204" pitchFamily="48" charset="-128"/>
                <a:cs typeface="+mn-cs"/>
              </a:rPr>
              <a:t>.</a:t>
            </a:r>
            <a:endParaRPr kumimoji="0" lang="en-US" altLang="en-US" sz="2600" b="0" i="0" u="none" strike="noStrike" kern="0" cap="none" spc="0" normalizeH="0" baseline="0" noProof="0" dirty="0">
              <a:ln>
                <a:noFill/>
              </a:ln>
              <a:solidFill>
                <a:srgbClr val="FFC000"/>
              </a:solidFill>
              <a:effectLst/>
              <a:uLnTx/>
              <a:uFillTx/>
              <a:latin typeface="Arial" panose="020B0604020202020204"/>
              <a:ea typeface="MS PGothic" panose="020B0600070205080204" pitchFamily="48" charset="-128"/>
              <a:cs typeface="+mn-cs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6312024" y="5589240"/>
            <a:ext cx="4320480" cy="11684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色散力（伦敦力）              </a:t>
            </a: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rgbClr val="00B0F0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偶极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-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偶极力 （注：有时有分成静电力和诱导力）             </a:t>
            </a: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rgbClr val="00B0F0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氢键（特殊的偶极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-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偶极力）              </a:t>
            </a: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rgbClr val="00B0F0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离子偶极力              </a:t>
            </a: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rgbClr val="00B0F0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注：前两种类型也统称为范德华力。 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FFC000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箭头: 下 4"/>
          <p:cNvSpPr/>
          <p:nvPr/>
        </p:nvSpPr>
        <p:spPr bwMode="auto">
          <a:xfrm>
            <a:off x="1703512" y="1850464"/>
            <a:ext cx="205680" cy="2592288"/>
          </a:xfrm>
          <a:prstGeom prst="downArrow">
            <a:avLst>
              <a:gd name="adj1" fmla="val 50000"/>
              <a:gd name="adj2" fmla="val 329651"/>
            </a:avLst>
          </a:prstGeom>
          <a:gradFill flip="none" rotWithShape="1">
            <a:gsLst>
              <a:gs pos="0">
                <a:srgbClr val="FF0000"/>
              </a:gs>
              <a:gs pos="100000">
                <a:srgbClr val="FFFF00"/>
              </a:gs>
            </a:gsLst>
            <a:lin ang="16200000" scaled="1"/>
            <a:tileRect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slow">
    <p:wedge/>
  </p:transition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60350" y="2766060"/>
            <a:ext cx="11671935" cy="1325880"/>
          </a:xfrm>
        </p:spPr>
        <p:txBody>
          <a:bodyPr>
            <a:normAutofit fontScale="90000"/>
          </a:bodyPr>
          <a:p>
            <a:pPr algn="ctr"/>
            <a:r>
              <a:rPr lang="en-US" altLang="zh-CN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Gadugi" panose="020B0502040204020203" charset="0"/>
                <a:sym typeface="+mn-ea"/>
              </a:rPr>
              <a:t>Intermolecular Forces VS Intramolecular Forces</a:t>
            </a:r>
            <a:endParaRPr lang="en-US" altLang="zh-CN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itle 1"/>
          <p:cNvSpPr>
            <a:spLocks noGrp="1"/>
          </p:cNvSpPr>
          <p:nvPr>
            <p:ph type="title"/>
          </p:nvPr>
        </p:nvSpPr>
        <p:spPr>
          <a:xfrm>
            <a:off x="191770" y="401320"/>
            <a:ext cx="11807825" cy="1325880"/>
          </a:xfrm>
        </p:spPr>
        <p:txBody>
          <a:bodyPr/>
          <a:lstStyle/>
          <a:p>
            <a:pPr algn="ctr"/>
            <a:r>
              <a:rPr lang="en-US" altLang="en-US" sz="4000"/>
              <a:t>Liquid Properties Affected by Intermolecular Forces</a:t>
            </a:r>
            <a:endParaRPr lang="en-US" altLang="en-US" sz="4000"/>
          </a:p>
        </p:txBody>
      </p:sp>
      <p:sp>
        <p:nvSpPr>
          <p:cNvPr id="2048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z="4000"/>
              <a:t>boiling point (previously discussed) and melting point</a:t>
            </a:r>
            <a:endParaRPr lang="en-US" altLang="en-US" sz="4000"/>
          </a:p>
          <a:p>
            <a:r>
              <a:rPr lang="en-US" altLang="en-US" sz="4000"/>
              <a:t>viscosity</a:t>
            </a:r>
            <a:endParaRPr lang="en-US" altLang="en-US" sz="4000"/>
          </a:p>
          <a:p>
            <a:r>
              <a:rPr lang="en-US" altLang="en-US" sz="4000"/>
              <a:t>surface tension</a:t>
            </a:r>
            <a:endParaRPr lang="en-US" altLang="en-US" sz="4000"/>
          </a:p>
          <a:p>
            <a:r>
              <a:rPr lang="en-US" altLang="en-US" sz="4000"/>
              <a:t>capillary action</a:t>
            </a:r>
            <a:endParaRPr lang="en-US" altLang="en-US" sz="4000"/>
          </a:p>
          <a:p>
            <a:endParaRPr lang="en-US" altLang="en-US" sz="4000"/>
          </a:p>
        </p:txBody>
      </p:sp>
    </p:spTree>
  </p:cSld>
  <p:clrMapOvr>
    <a:masterClrMapping/>
  </p:clrMapOvr>
  <p:transition spd="slow"/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1524000" y="152400"/>
            <a:ext cx="7772400" cy="1143000"/>
          </a:xfrm>
        </p:spPr>
        <p:txBody>
          <a:bodyPr/>
          <a:lstStyle/>
          <a:p>
            <a:pPr algn="ctr" eaLnBrk="1" hangingPunct="1"/>
            <a:r>
              <a:rPr lang="en-US" altLang="en-US" sz="6000"/>
              <a:t>Colligative Properties</a:t>
            </a:r>
            <a:endParaRPr lang="en-US" altLang="en-US" sz="6000"/>
          </a:p>
        </p:txBody>
      </p:sp>
      <p:sp>
        <p:nvSpPr>
          <p:cNvPr id="30723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1981200" y="1524000"/>
            <a:ext cx="7772400" cy="4953000"/>
          </a:xfrm>
        </p:spPr>
        <p:txBody>
          <a:bodyPr/>
          <a:lstStyle/>
          <a:p>
            <a:pPr eaLnBrk="1" hangingPunct="1"/>
            <a:r>
              <a:rPr lang="en-US" altLang="en-US" sz="4000" b="1"/>
              <a:t>Colligative properties</a:t>
            </a:r>
            <a:r>
              <a:rPr lang="en-US" altLang="en-US" sz="4000"/>
              <a:t> depend only on the </a:t>
            </a:r>
            <a:r>
              <a:rPr lang="en-US" altLang="en-US" sz="4000" i="1"/>
              <a:t>quantity</a:t>
            </a:r>
            <a:r>
              <a:rPr lang="en-US" altLang="en-US" sz="4000"/>
              <a:t>, not on the </a:t>
            </a:r>
            <a:r>
              <a:rPr lang="en-US" altLang="en-US" sz="4000" i="1"/>
              <a:t>identity</a:t>
            </a:r>
            <a:r>
              <a:rPr lang="en-US" altLang="en-US" sz="4000"/>
              <a:t> of the solute particles.</a:t>
            </a:r>
            <a:endParaRPr lang="en-US" altLang="en-US" sz="4000"/>
          </a:p>
          <a:p>
            <a:pPr eaLnBrk="1" hangingPunct="1"/>
            <a:r>
              <a:rPr lang="en-US" altLang="en-US" sz="4000"/>
              <a:t>Among colligative properties are:</a:t>
            </a:r>
            <a:endParaRPr lang="en-US" altLang="en-US" sz="4000"/>
          </a:p>
          <a:p>
            <a:pPr lvl="1" eaLnBrk="1" hangingPunct="1"/>
            <a:r>
              <a:rPr lang="en-US" altLang="en-US" sz="3600"/>
              <a:t>Vapor-pressure lowering </a:t>
            </a:r>
            <a:endParaRPr lang="en-US" altLang="en-US" sz="3600"/>
          </a:p>
          <a:p>
            <a:pPr lvl="1" eaLnBrk="1" hangingPunct="1"/>
            <a:r>
              <a:rPr lang="en-US" altLang="en-US" sz="3600"/>
              <a:t>Boiling-point elevation</a:t>
            </a:r>
            <a:endParaRPr lang="en-US" altLang="en-US" sz="3600"/>
          </a:p>
          <a:p>
            <a:pPr lvl="1" eaLnBrk="1" hangingPunct="1"/>
            <a:r>
              <a:rPr lang="en-US" altLang="en-US" sz="3600"/>
              <a:t>Freezing-point depression</a:t>
            </a:r>
            <a:endParaRPr lang="en-US" altLang="en-US" sz="3600"/>
          </a:p>
          <a:p>
            <a:pPr lvl="1" eaLnBrk="1" hangingPunct="1"/>
            <a:r>
              <a:rPr lang="en-US" altLang="en-US" sz="3600"/>
              <a:t>Osmotic pressure</a:t>
            </a:r>
            <a:endParaRPr lang="en-US" altLang="en-US" sz="3600"/>
          </a:p>
        </p:txBody>
      </p:sp>
    </p:spTree>
  </p:cSld>
  <p:clrMapOvr>
    <a:masterClrMapping/>
  </p:clrMapOvr>
  <p:transition spd="slow"/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35330" y="2766060"/>
            <a:ext cx="10721975" cy="1325880"/>
          </a:xfrm>
        </p:spPr>
        <p:txBody>
          <a:bodyPr>
            <a:normAutofit fontScale="90000"/>
          </a:bodyPr>
          <a:p>
            <a:pPr algn="ctr"/>
            <a:r>
              <a:rPr lang="en-US" altLang="zh-CN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&amp;quot"/>
                <a:sym typeface="+mn-ea"/>
              </a:rPr>
              <a:t>Chapter 5: Thermochemistry</a:t>
            </a:r>
            <a:br>
              <a:rPr lang="en-US" altLang="zh-CN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&amp;quot"/>
                <a:sym typeface="+mn-ea"/>
              </a:rPr>
            </a:br>
            <a:r>
              <a:rPr lang="zh-CN" altLang="en-US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&amp;quot"/>
                <a:sym typeface="+mn-ea"/>
              </a:rPr>
              <a:t>热化学</a:t>
            </a:r>
            <a:endParaRPr lang="zh-CN" altLang="en-US" dirty="0">
              <a:ln>
                <a:noFill/>
              </a:ln>
              <a:solidFill>
                <a:srgbClr val="000000"/>
              </a:solidFill>
              <a:effectLst/>
              <a:latin typeface="Arial" panose="020B0604020202020204" pitchFamily="34" charset="0"/>
              <a:ea typeface="&amp;quot"/>
              <a:sym typeface="+mn-ea"/>
            </a:endParaRP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2766060"/>
            <a:ext cx="10515600" cy="1325563"/>
          </a:xfrm>
        </p:spPr>
        <p:txBody>
          <a:bodyPr>
            <a:normAutofit/>
          </a:bodyPr>
          <a:p>
            <a:pPr algn="ctr"/>
            <a:r>
              <a:rPr lang="en-US" altLang="zh-CN" noProof="0" dirty="0">
                <a:latin typeface="Calibri" panose="020F0502020204030204" charset="0"/>
                <a:ea typeface="宋体" panose="02010600030101010101" pitchFamily="2" charset="-122"/>
                <a:cs typeface="+mn-cs"/>
                <a:sym typeface="+mn-ea"/>
              </a:rPr>
              <a:t>energy changes in chemical reactions</a:t>
            </a:r>
            <a:endParaRPr lang="zh-CN" altLang="en-US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7650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/>
          <a:p>
            <a:pPr algn="ctr"/>
            <a:r>
              <a:rPr lang="en-US" altLang="zh-CN" sz="4800" b="1" dirty="0"/>
              <a:t>Definitions:  System and Surroundings</a:t>
            </a:r>
            <a:endParaRPr lang="en-US" altLang="zh-CN" sz="4800" b="1" dirty="0"/>
          </a:p>
        </p:txBody>
      </p:sp>
      <p:sp>
        <p:nvSpPr>
          <p:cNvPr id="13315" name="Rectangle 3"/>
          <p:cNvSpPr>
            <a:spLocks noGrp="1"/>
          </p:cNvSpPr>
          <p:nvPr>
            <p:ph type="body" sz="half" idx="2"/>
          </p:nvPr>
        </p:nvSpPr>
        <p:spPr>
          <a:xfrm>
            <a:off x="5628640" y="1714500"/>
            <a:ext cx="5201285" cy="4648200"/>
          </a:xfrm>
        </p:spPr>
        <p:txBody>
          <a:bodyPr vert="horz" wrap="square" lIns="91440" tIns="45720" rIns="91440" bIns="45720" anchor="t">
            <a:noAutofit/>
          </a:bodyPr>
          <a:p>
            <a:pPr>
              <a:buClrTx/>
              <a:buSzTx/>
              <a:buFont typeface="Arial" panose="020B0604020202020204" pitchFamily="34" charset="0"/>
            </a:pPr>
            <a:r>
              <a:rPr lang="en-US" altLang="zh-CN" sz="3600" dirty="0"/>
              <a:t>The </a:t>
            </a:r>
            <a:r>
              <a:rPr lang="en-US" altLang="zh-CN" sz="3600" b="1" dirty="0"/>
              <a:t>system</a:t>
            </a:r>
            <a:r>
              <a:rPr lang="en-US" altLang="zh-CN" sz="3600" dirty="0"/>
              <a:t> includes the molecules we want to study (here, the hydrogen and oxygen molecules).</a:t>
            </a:r>
            <a:endParaRPr lang="en-US" altLang="zh-CN" sz="3600" dirty="0"/>
          </a:p>
          <a:p>
            <a:pPr>
              <a:buClrTx/>
              <a:buSzTx/>
              <a:buFont typeface="Arial" panose="020B0604020202020204" pitchFamily="34" charset="0"/>
            </a:pPr>
            <a:endParaRPr lang="en-US" altLang="zh-CN" sz="3600" dirty="0"/>
          </a:p>
          <a:p>
            <a:pPr>
              <a:buClrTx/>
              <a:buSzTx/>
              <a:buFont typeface="Arial" panose="020B0604020202020204" pitchFamily="34" charset="0"/>
            </a:pPr>
            <a:r>
              <a:rPr lang="en-US" altLang="zh-CN" sz="3600" dirty="0"/>
              <a:t>The </a:t>
            </a:r>
            <a:r>
              <a:rPr lang="en-US" altLang="zh-CN" sz="3600" b="1" dirty="0"/>
              <a:t>surroundings</a:t>
            </a:r>
            <a:r>
              <a:rPr lang="en-US" altLang="zh-CN" sz="3600" dirty="0"/>
              <a:t> are everything else (here, the cylinder and piston).</a:t>
            </a:r>
            <a:endParaRPr lang="en-US" altLang="zh-CN" sz="3600" dirty="0"/>
          </a:p>
        </p:txBody>
      </p:sp>
      <p:pic>
        <p:nvPicPr>
          <p:cNvPr id="27652" name="Picture 10" descr="05_04_Figure_L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05865" y="1219200"/>
            <a:ext cx="3905250" cy="56388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charRg st="95" end="16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315" grpId="0" build="p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9698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/>
          <a:p>
            <a:pPr algn="ctr"/>
            <a:r>
              <a:rPr lang="en-US" altLang="zh-CN" b="1" dirty="0">
                <a:solidFill>
                  <a:srgbClr val="C00000"/>
                </a:solidFill>
              </a:rPr>
              <a:t>First Law of Thermodynamics</a:t>
            </a:r>
            <a:endParaRPr lang="en-US" altLang="zh-CN" b="1" dirty="0">
              <a:solidFill>
                <a:srgbClr val="C00000"/>
              </a:solidFill>
            </a:endParaRPr>
          </a:p>
        </p:txBody>
      </p:sp>
      <p:sp>
        <p:nvSpPr>
          <p:cNvPr id="27651" name="Rectangle 3"/>
          <p:cNvSpPr>
            <a:spLocks noGrp="1"/>
          </p:cNvSpPr>
          <p:nvPr>
            <p:ph type="body" sz="half" idx="1"/>
          </p:nvPr>
        </p:nvSpPr>
        <p:spPr>
          <a:xfrm>
            <a:off x="1933575" y="1052513"/>
            <a:ext cx="8305800" cy="2209800"/>
          </a:xfrm>
        </p:spPr>
        <p:txBody>
          <a:bodyPr vert="horz" wrap="square" lIns="91440" tIns="45720" rIns="91440" bIns="45720" anchor="t">
            <a:noAutofit/>
          </a:bodyPr>
          <a:p>
            <a:pPr>
              <a:buClrTx/>
              <a:buSzTx/>
              <a:buFont typeface="Arial" panose="020B0604020202020204" pitchFamily="34" charset="0"/>
            </a:pPr>
            <a:r>
              <a:rPr lang="en-US" altLang="zh-CN" sz="3200" dirty="0"/>
              <a:t>Energy is neither created nor destroyed.</a:t>
            </a:r>
            <a:endParaRPr lang="en-US" altLang="zh-CN" sz="3200" dirty="0"/>
          </a:p>
          <a:p>
            <a:pPr>
              <a:buClrTx/>
              <a:buSzTx/>
              <a:buFont typeface="Arial" panose="020B0604020202020204" pitchFamily="34" charset="0"/>
            </a:pPr>
            <a:r>
              <a:rPr lang="en-US" altLang="zh-CN" sz="3200" dirty="0"/>
              <a:t>In other words, the </a:t>
            </a:r>
            <a:r>
              <a:rPr lang="en-US" altLang="zh-CN" sz="3200" dirty="0">
                <a:solidFill>
                  <a:srgbClr val="0000CC"/>
                </a:solidFill>
              </a:rPr>
              <a:t>total energy </a:t>
            </a:r>
            <a:r>
              <a:rPr lang="en-US" altLang="zh-CN" sz="3200" dirty="0"/>
              <a:t>of the universe is a </a:t>
            </a:r>
            <a:r>
              <a:rPr lang="en-US" altLang="zh-CN" sz="3200" dirty="0">
                <a:solidFill>
                  <a:srgbClr val="0000CC"/>
                </a:solidFill>
              </a:rPr>
              <a:t>constant</a:t>
            </a:r>
            <a:r>
              <a:rPr lang="en-US" altLang="zh-CN" sz="3200" dirty="0"/>
              <a:t>; if the system loses energy, it must be gained by the surroundings, and vice versa.</a:t>
            </a:r>
            <a:endParaRPr lang="en-US" altLang="zh-CN" sz="3200" dirty="0"/>
          </a:p>
        </p:txBody>
      </p:sp>
      <p:pic>
        <p:nvPicPr>
          <p:cNvPr id="29700" name="Picture 11" descr="05_05_Figure_L"/>
          <p:cNvPicPr>
            <a:picLocks noChangeAspect="1"/>
          </p:cNvPicPr>
          <p:nvPr/>
        </p:nvPicPr>
        <p:blipFill>
          <a:blip r:embed="rId1">
            <a:lum bright="-6000" contrast="10000"/>
          </a:blip>
          <a:stretch>
            <a:fillRect/>
          </a:stretch>
        </p:blipFill>
        <p:spPr>
          <a:xfrm>
            <a:off x="0" y="3087688"/>
            <a:ext cx="6357938" cy="3770312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文本框 1"/>
          <p:cNvSpPr txBox="1"/>
          <p:nvPr/>
        </p:nvSpPr>
        <p:spPr>
          <a:xfrm>
            <a:off x="6358255" y="3575050"/>
            <a:ext cx="6646545" cy="22326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3200" b="1" dirty="0">
                <a:solidFill>
                  <a:srgbClr val="C00000"/>
                </a:solidFill>
                <a:sym typeface="+mn-ea"/>
              </a:rPr>
              <a:t>Internal Energy</a:t>
            </a:r>
            <a:r>
              <a:rPr lang="zh-CN" altLang="en-US" sz="3200" b="1" dirty="0">
                <a:solidFill>
                  <a:srgbClr val="C00000"/>
                </a:solidFill>
                <a:sym typeface="+mn-ea"/>
              </a:rPr>
              <a:t>：</a:t>
            </a:r>
            <a:r>
              <a:rPr lang="en-US" altLang="zh-CN" sz="3200" b="1" u="sng" dirty="0">
                <a:solidFill>
                  <a:srgbClr val="0000FF"/>
                </a:solidFill>
                <a:latin typeface="Symbol" panose="05050102010706020507" charset="2"/>
                <a:sym typeface="Symbol" panose="05050102010706020507" charset="2"/>
              </a:rPr>
              <a:t></a:t>
            </a:r>
            <a:r>
              <a:rPr lang="en-US" altLang="zh-CN" sz="3200" b="1" i="1" dirty="0">
                <a:sym typeface="+mn-ea"/>
              </a:rPr>
              <a:t>E</a:t>
            </a:r>
            <a:r>
              <a:rPr lang="en-US" altLang="zh-CN" sz="3200" b="1" dirty="0">
                <a:sym typeface="+mn-ea"/>
              </a:rPr>
              <a:t> = </a:t>
            </a:r>
            <a:r>
              <a:rPr lang="en-US" altLang="zh-CN" sz="3200" b="1" i="1" dirty="0">
                <a:sym typeface="+mn-ea"/>
              </a:rPr>
              <a:t>E</a:t>
            </a:r>
            <a:r>
              <a:rPr lang="en-US" altLang="zh-CN" sz="3200" b="1" u="sng" baseline="-25000" dirty="0">
                <a:solidFill>
                  <a:srgbClr val="0000FF"/>
                </a:solidFill>
                <a:sym typeface="+mn-ea"/>
              </a:rPr>
              <a:t>final</a:t>
            </a:r>
            <a:r>
              <a:rPr lang="en-US" altLang="zh-CN" sz="3200" b="1" dirty="0">
                <a:sym typeface="+mn-ea"/>
              </a:rPr>
              <a:t> </a:t>
            </a:r>
            <a:r>
              <a:rPr lang="en-US" altLang="zh-CN" sz="3200" b="1" dirty="0">
                <a:cs typeface="Arial" panose="020B0604020202020204" pitchFamily="34" charset="0"/>
                <a:sym typeface="+mn-ea"/>
              </a:rPr>
              <a:t>−</a:t>
            </a:r>
            <a:r>
              <a:rPr lang="en-US" altLang="zh-CN" sz="3200" b="1" dirty="0">
                <a:sym typeface="+mn-ea"/>
              </a:rPr>
              <a:t> </a:t>
            </a:r>
            <a:r>
              <a:rPr lang="en-US" altLang="zh-CN" sz="3200" b="1" i="1" dirty="0">
                <a:sym typeface="+mn-ea"/>
              </a:rPr>
              <a:t>E</a:t>
            </a:r>
            <a:r>
              <a:rPr lang="en-US" altLang="zh-CN" sz="3200" b="1" u="sng" baseline="-25000" dirty="0">
                <a:solidFill>
                  <a:srgbClr val="0000FF"/>
                </a:solidFill>
                <a:sym typeface="+mn-ea"/>
              </a:rPr>
              <a:t>initial</a:t>
            </a:r>
            <a:endParaRPr lang="en-US" altLang="zh-CN" sz="3200" b="1" u="sng" baseline="-25000" dirty="0">
              <a:solidFill>
                <a:srgbClr val="0000FF"/>
              </a:solidFill>
              <a:sym typeface="+mn-ea"/>
            </a:endParaRPr>
          </a:p>
          <a:p>
            <a:endParaRPr lang="en-US" altLang="zh-CN" sz="3200" b="1" u="sng" baseline="-25000" dirty="0">
              <a:solidFill>
                <a:srgbClr val="0000FF"/>
              </a:solidFill>
              <a:sym typeface="+mn-ea"/>
            </a:endParaRPr>
          </a:p>
          <a:p>
            <a:pPr lvl="1">
              <a:lnSpc>
                <a:spcPct val="90000"/>
              </a:lnSpc>
            </a:pPr>
            <a:r>
              <a:rPr lang="en-US" altLang="zh-CN" sz="3200" dirty="0">
                <a:latin typeface="Symbol" panose="05050102010706020507" charset="2"/>
                <a:sym typeface="Symbol" panose="05050102010706020507" charset="2"/>
              </a:rPr>
              <a:t></a:t>
            </a:r>
            <a:r>
              <a:rPr lang="en-US" altLang="zh-CN" sz="3200" i="1" dirty="0">
                <a:sym typeface="+mn-ea"/>
              </a:rPr>
              <a:t>E</a:t>
            </a:r>
            <a:r>
              <a:rPr lang="en-US" altLang="zh-CN" sz="3200" dirty="0">
                <a:sym typeface="+mn-ea"/>
              </a:rPr>
              <a:t> &gt; 0, </a:t>
            </a:r>
            <a:r>
              <a:rPr lang="en-US" altLang="zh-CN" sz="3200" i="1" dirty="0">
                <a:sym typeface="+mn-ea"/>
              </a:rPr>
              <a:t>E</a:t>
            </a:r>
            <a:r>
              <a:rPr lang="en-US" altLang="zh-CN" sz="3200" baseline="-25000" dirty="0">
                <a:sym typeface="+mn-ea"/>
              </a:rPr>
              <a:t>final</a:t>
            </a:r>
            <a:r>
              <a:rPr lang="en-US" altLang="zh-CN" sz="3200" dirty="0">
                <a:sym typeface="+mn-ea"/>
              </a:rPr>
              <a:t> &gt; </a:t>
            </a:r>
            <a:r>
              <a:rPr lang="en-US" altLang="zh-CN" sz="3200" i="1" dirty="0">
                <a:sym typeface="+mn-ea"/>
              </a:rPr>
              <a:t>E</a:t>
            </a:r>
            <a:r>
              <a:rPr lang="en-US" altLang="zh-CN" sz="3200" baseline="-25000" dirty="0">
                <a:sym typeface="+mn-ea"/>
              </a:rPr>
              <a:t>initial </a:t>
            </a:r>
            <a:r>
              <a:rPr lang="en-US" altLang="zh-CN" sz="3200" b="1" dirty="0">
                <a:solidFill>
                  <a:srgbClr val="FF0000"/>
                </a:solidFill>
                <a:sym typeface="+mn-ea"/>
              </a:rPr>
              <a:t>en</a:t>
            </a:r>
            <a:r>
              <a:rPr lang="en-US" altLang="zh-CN" sz="3200" b="1" dirty="0">
                <a:sym typeface="+mn-ea"/>
              </a:rPr>
              <a:t>dergonic</a:t>
            </a:r>
            <a:endParaRPr lang="en-US" altLang="zh-CN" sz="3200" b="1" dirty="0">
              <a:sym typeface="+mn-ea"/>
            </a:endParaRPr>
          </a:p>
          <a:p>
            <a:pPr lvl="1">
              <a:lnSpc>
                <a:spcPct val="90000"/>
              </a:lnSpc>
            </a:pPr>
            <a:endParaRPr lang="en-US" altLang="zh-CN" sz="3200" b="1" dirty="0">
              <a:sym typeface="+mn-ea"/>
            </a:endParaRPr>
          </a:p>
          <a:p>
            <a:pPr lvl="1">
              <a:lnSpc>
                <a:spcPct val="90000"/>
              </a:lnSpc>
            </a:pPr>
            <a:r>
              <a:rPr lang="en-US" altLang="zh-CN" sz="3200" dirty="0">
                <a:latin typeface="Symbol" panose="05050102010706020507" charset="2"/>
                <a:sym typeface="Symbol" panose="05050102010706020507" charset="2"/>
              </a:rPr>
              <a:t></a:t>
            </a:r>
            <a:r>
              <a:rPr lang="en-US" altLang="zh-CN" sz="3200" i="1" dirty="0">
                <a:sym typeface="+mn-ea"/>
              </a:rPr>
              <a:t>E</a:t>
            </a:r>
            <a:r>
              <a:rPr lang="en-US" altLang="zh-CN" sz="3200" dirty="0">
                <a:sym typeface="+mn-ea"/>
              </a:rPr>
              <a:t> &lt; 0, </a:t>
            </a:r>
            <a:r>
              <a:rPr lang="en-US" altLang="zh-CN" sz="3200" i="1" dirty="0">
                <a:sym typeface="+mn-ea"/>
              </a:rPr>
              <a:t>E</a:t>
            </a:r>
            <a:r>
              <a:rPr lang="en-US" altLang="zh-CN" sz="3200" baseline="-25000" dirty="0">
                <a:sym typeface="+mn-ea"/>
              </a:rPr>
              <a:t>final</a:t>
            </a:r>
            <a:r>
              <a:rPr lang="en-US" altLang="zh-CN" sz="3200" dirty="0">
                <a:sym typeface="+mn-ea"/>
              </a:rPr>
              <a:t> &lt; </a:t>
            </a:r>
            <a:r>
              <a:rPr lang="en-US" altLang="zh-CN" sz="3200" i="1" dirty="0">
                <a:sym typeface="+mn-ea"/>
              </a:rPr>
              <a:t>E</a:t>
            </a:r>
            <a:r>
              <a:rPr lang="en-US" altLang="zh-CN" sz="3200" baseline="-25000" dirty="0">
                <a:sym typeface="+mn-ea"/>
              </a:rPr>
              <a:t>initial </a:t>
            </a:r>
            <a:r>
              <a:rPr lang="en-US" altLang="zh-CN" sz="3200" b="1" dirty="0">
                <a:solidFill>
                  <a:srgbClr val="FF0000"/>
                </a:solidFill>
                <a:sym typeface="+mn-ea"/>
              </a:rPr>
              <a:t>ex   </a:t>
            </a:r>
            <a:r>
              <a:rPr lang="en-US" altLang="zh-CN" sz="3200" b="1" dirty="0">
                <a:sym typeface="+mn-ea"/>
              </a:rPr>
              <a:t>ergonic</a:t>
            </a:r>
            <a:endParaRPr lang="en-US" altLang="zh-CN" sz="3200" b="1" u="sng" baseline="-25000" dirty="0">
              <a:solidFill>
                <a:srgbClr val="0000FF"/>
              </a:solidFill>
              <a:sym typeface="+mn-ea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charRg st="41" end="18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651" grpId="0" build="p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6082" name="Rectangle 1026"/>
          <p:cNvSpPr>
            <a:spLocks noGrp="1"/>
          </p:cNvSpPr>
          <p:nvPr>
            <p:ph type="title"/>
          </p:nvPr>
        </p:nvSpPr>
        <p:spPr>
          <a:xfrm>
            <a:off x="4244975" y="497205"/>
            <a:ext cx="7076440" cy="1860550"/>
          </a:xfrm>
        </p:spPr>
        <p:txBody>
          <a:bodyPr vert="horz" wrap="square" lIns="91440" tIns="45720" rIns="91440" bIns="45720" anchor="ctr"/>
          <a:p>
            <a:pPr algn="ctr"/>
            <a:r>
              <a:rPr lang="en-US" altLang="zh-CN" b="1" dirty="0">
                <a:solidFill>
                  <a:srgbClr val="C00000"/>
                </a:solidFill>
              </a:rPr>
              <a:t>Exchange of Heat between </a:t>
            </a:r>
            <a:br>
              <a:rPr lang="en-US" altLang="zh-CN" b="1" dirty="0">
                <a:solidFill>
                  <a:srgbClr val="C00000"/>
                </a:solidFill>
              </a:rPr>
            </a:br>
            <a:r>
              <a:rPr lang="en-US" altLang="zh-CN" b="1" dirty="0">
                <a:solidFill>
                  <a:srgbClr val="C00000"/>
                </a:solidFill>
              </a:rPr>
              <a:t>System and Surroundings</a:t>
            </a:r>
            <a:endParaRPr lang="en-US" altLang="zh-CN" b="1" dirty="0">
              <a:solidFill>
                <a:srgbClr val="C00000"/>
              </a:solidFill>
            </a:endParaRPr>
          </a:p>
        </p:txBody>
      </p:sp>
      <p:sp>
        <p:nvSpPr>
          <p:cNvPr id="46083" name="Rectangle 1027"/>
          <p:cNvSpPr>
            <a:spLocks noGrp="1"/>
          </p:cNvSpPr>
          <p:nvPr>
            <p:ph type="body" sz="half" idx="1"/>
          </p:nvPr>
        </p:nvSpPr>
        <p:spPr>
          <a:xfrm>
            <a:off x="4244975" y="2586355"/>
            <a:ext cx="8077200" cy="3440430"/>
          </a:xfrm>
        </p:spPr>
        <p:txBody>
          <a:bodyPr vert="horz" wrap="square" lIns="91440" tIns="45720" rIns="91440" bIns="45720" anchor="t">
            <a:noAutofit/>
          </a:bodyPr>
          <a:p>
            <a:pPr>
              <a:buClrTx/>
              <a:buSzTx/>
              <a:buFont typeface="Arial" panose="020B0604020202020204" pitchFamily="34" charset="0"/>
            </a:pPr>
            <a:r>
              <a:rPr lang="en-US" altLang="zh-CN" sz="3600" dirty="0"/>
              <a:t>When heat is absorbed by the system from the surroundings, the process is </a:t>
            </a:r>
            <a:r>
              <a:rPr lang="en-US" altLang="zh-CN" sz="3600" b="1" u="sng" dirty="0">
                <a:solidFill>
                  <a:srgbClr val="C00000"/>
                </a:solidFill>
              </a:rPr>
              <a:t>en</a:t>
            </a:r>
            <a:r>
              <a:rPr lang="en-US" altLang="zh-CN" sz="3600" b="1" dirty="0">
                <a:solidFill>
                  <a:srgbClr val="C00000"/>
                </a:solidFill>
              </a:rPr>
              <a:t>dothermic </a:t>
            </a:r>
            <a:r>
              <a:rPr lang="en-US" altLang="zh-CN" sz="3600" b="1" dirty="0">
                <a:solidFill>
                  <a:srgbClr val="0000FF"/>
                </a:solidFill>
              </a:rPr>
              <a:t>(</a:t>
            </a:r>
            <a:r>
              <a:rPr lang="en-US" altLang="zh-CN" sz="3600" b="1" u="sng" dirty="0">
                <a:solidFill>
                  <a:srgbClr val="0000FF"/>
                </a:solidFill>
              </a:rPr>
              <a:t>en</a:t>
            </a:r>
            <a:r>
              <a:rPr lang="en-US" altLang="zh-CN" sz="3600" b="1" dirty="0">
                <a:solidFill>
                  <a:srgbClr val="0000FF"/>
                </a:solidFill>
              </a:rPr>
              <a:t>ter)</a:t>
            </a:r>
            <a:r>
              <a:rPr lang="en-US" altLang="zh-CN" sz="3600" dirty="0">
                <a:solidFill>
                  <a:srgbClr val="0000FF"/>
                </a:solidFill>
              </a:rPr>
              <a:t>.</a:t>
            </a:r>
            <a:endParaRPr lang="en-US" altLang="zh-CN" sz="3600" dirty="0">
              <a:solidFill>
                <a:srgbClr val="0000FF"/>
              </a:solidFill>
            </a:endParaRPr>
          </a:p>
          <a:p>
            <a:pPr>
              <a:buClrTx/>
              <a:buSzTx/>
              <a:buFont typeface="Arial" panose="020B0604020202020204" pitchFamily="34" charset="0"/>
            </a:pPr>
            <a:r>
              <a:rPr lang="en-US" altLang="zh-CN" sz="3600" dirty="0"/>
              <a:t>When heat is released by the system into the surroundings, the process is </a:t>
            </a:r>
            <a:r>
              <a:rPr lang="en-US" altLang="zh-CN" sz="3600" b="1" u="sng" dirty="0">
                <a:solidFill>
                  <a:srgbClr val="C00000"/>
                </a:solidFill>
              </a:rPr>
              <a:t>ex</a:t>
            </a:r>
            <a:r>
              <a:rPr lang="en-US" altLang="zh-CN" sz="3600" b="1" dirty="0">
                <a:solidFill>
                  <a:srgbClr val="C00000"/>
                </a:solidFill>
              </a:rPr>
              <a:t>othermic </a:t>
            </a:r>
            <a:r>
              <a:rPr lang="en-US" altLang="zh-CN" sz="3600" b="1" dirty="0">
                <a:solidFill>
                  <a:srgbClr val="0000FF"/>
                </a:solidFill>
              </a:rPr>
              <a:t>(</a:t>
            </a:r>
            <a:r>
              <a:rPr lang="en-US" altLang="zh-CN" sz="3600" b="1" u="sng" dirty="0">
                <a:solidFill>
                  <a:srgbClr val="0000FF"/>
                </a:solidFill>
              </a:rPr>
              <a:t>ex</a:t>
            </a:r>
            <a:r>
              <a:rPr lang="en-US" altLang="zh-CN" sz="3600" b="1" dirty="0">
                <a:solidFill>
                  <a:srgbClr val="0000FF"/>
                </a:solidFill>
              </a:rPr>
              <a:t>it)</a:t>
            </a:r>
            <a:r>
              <a:rPr lang="en-US" altLang="zh-CN" sz="3600" dirty="0">
                <a:solidFill>
                  <a:srgbClr val="0000FF"/>
                </a:solidFill>
              </a:rPr>
              <a:t>.</a:t>
            </a:r>
            <a:endParaRPr lang="en-US" altLang="zh-CN" sz="3600" dirty="0">
              <a:solidFill>
                <a:srgbClr val="0000FF"/>
              </a:solidFill>
            </a:endParaRPr>
          </a:p>
        </p:txBody>
      </p:sp>
      <p:sp>
        <p:nvSpPr>
          <p:cNvPr id="46084" name="Rectangle 1028"/>
          <p:cNvSpPr/>
          <p:nvPr/>
        </p:nvSpPr>
        <p:spPr>
          <a:xfrm>
            <a:off x="4038600" y="5900738"/>
            <a:ext cx="1066800" cy="228600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txBody>
          <a:bodyPr wrap="none" anchor="ctr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buNone/>
            </a:pPr>
            <a:endParaRPr lang="en-US" altLang="zh-CN" sz="2800" b="1" dirty="0">
              <a:ea typeface="PMingLiU" pitchFamily="18" charset="-120"/>
            </a:endParaRPr>
          </a:p>
        </p:txBody>
      </p:sp>
      <p:sp>
        <p:nvSpPr>
          <p:cNvPr id="46085" name="Rectangle 1029"/>
          <p:cNvSpPr/>
          <p:nvPr/>
        </p:nvSpPr>
        <p:spPr>
          <a:xfrm>
            <a:off x="6248400" y="5900738"/>
            <a:ext cx="1066800" cy="228600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txBody>
          <a:bodyPr wrap="none" anchor="ctr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buNone/>
            </a:pPr>
            <a:endParaRPr lang="en-US" altLang="zh-CN" sz="2800" b="1" dirty="0">
              <a:ea typeface="PMingLiU" pitchFamily="18" charset="-120"/>
            </a:endParaRPr>
          </a:p>
        </p:txBody>
      </p:sp>
      <p:pic>
        <p:nvPicPr>
          <p:cNvPr id="46086" name="Picture 1032" descr="05_08_FigureB_L"/>
          <p:cNvPicPr>
            <a:picLocks noChangeAspect="1"/>
          </p:cNvPicPr>
          <p:nvPr/>
        </p:nvPicPr>
        <p:blipFill>
          <a:blip r:embed="rId1"/>
          <a:srcRect b="13429"/>
          <a:stretch>
            <a:fillRect/>
          </a:stretch>
        </p:blipFill>
        <p:spPr>
          <a:xfrm>
            <a:off x="0" y="39370"/>
            <a:ext cx="3800475" cy="677862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 spd="slow"/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0178" name="Rectangle 1026"/>
          <p:cNvSpPr>
            <a:spLocks noGrp="1"/>
          </p:cNvSpPr>
          <p:nvPr>
            <p:ph type="title"/>
          </p:nvPr>
        </p:nvSpPr>
        <p:spPr>
          <a:xfrm>
            <a:off x="1525588" y="188913"/>
            <a:ext cx="9144000" cy="1143000"/>
          </a:xfrm>
        </p:spPr>
        <p:txBody>
          <a:bodyPr vert="horz" wrap="square" lIns="91440" tIns="45720" rIns="91440" bIns="45720" anchor="ctr"/>
          <a:p>
            <a:pPr algn="ctr"/>
            <a:r>
              <a:rPr lang="en-US" altLang="zh-CN" sz="6000" b="1" dirty="0">
                <a:solidFill>
                  <a:srgbClr val="C00000"/>
                </a:solidFill>
              </a:rPr>
              <a:t>State Functions</a:t>
            </a:r>
            <a:endParaRPr lang="en-US" altLang="zh-CN" sz="6000" b="1" dirty="0">
              <a:solidFill>
                <a:srgbClr val="C00000"/>
              </a:solidFill>
            </a:endParaRPr>
          </a:p>
        </p:txBody>
      </p:sp>
      <p:sp>
        <p:nvSpPr>
          <p:cNvPr id="50179" name="Rectangle 1027"/>
          <p:cNvSpPr>
            <a:spLocks noGrp="1"/>
          </p:cNvSpPr>
          <p:nvPr>
            <p:ph type="body" sz="half" idx="1"/>
          </p:nvPr>
        </p:nvSpPr>
        <p:spPr>
          <a:xfrm>
            <a:off x="1454150" y="1430020"/>
            <a:ext cx="9283700" cy="4973955"/>
          </a:xfrm>
        </p:spPr>
        <p:txBody>
          <a:bodyPr vert="horz" wrap="square" lIns="91440" tIns="45720" rIns="91440" bIns="45720" anchor="t">
            <a:noAutofit/>
          </a:bodyPr>
          <a:p>
            <a:pPr>
              <a:buClrTx/>
              <a:buSzTx/>
              <a:buFont typeface="Arial" panose="020B0604020202020204" pitchFamily="34" charset="0"/>
            </a:pPr>
            <a:r>
              <a:rPr lang="en-US" altLang="zh-CN" sz="4000" dirty="0"/>
              <a:t>Therefore, internal energy is a state function.</a:t>
            </a:r>
            <a:endParaRPr lang="en-US" altLang="zh-CN" sz="4000" dirty="0"/>
          </a:p>
          <a:p>
            <a:pPr>
              <a:buClrTx/>
              <a:buSzTx/>
              <a:buFont typeface="Arial" panose="020B0604020202020204" pitchFamily="34" charset="0"/>
            </a:pPr>
            <a:r>
              <a:rPr lang="en-US" altLang="zh-CN" sz="4000" dirty="0"/>
              <a:t>It depends only on the present </a:t>
            </a:r>
            <a:r>
              <a:rPr lang="en-US" altLang="zh-CN" sz="4000" u="sng" dirty="0"/>
              <a:t>state</a:t>
            </a:r>
            <a:r>
              <a:rPr lang="en-US" altLang="zh-CN" sz="4000" dirty="0"/>
              <a:t> of the system, not on the </a:t>
            </a:r>
            <a:r>
              <a:rPr lang="en-US" altLang="zh-CN" sz="4000" u="sng" dirty="0"/>
              <a:t>path</a:t>
            </a:r>
            <a:r>
              <a:rPr lang="en-US" altLang="zh-CN" sz="4000" dirty="0"/>
              <a:t> by which the system arrived at that state.</a:t>
            </a:r>
            <a:endParaRPr lang="en-US" altLang="zh-CN" sz="4000" dirty="0"/>
          </a:p>
          <a:p>
            <a:pPr>
              <a:buClrTx/>
              <a:buSzTx/>
              <a:buFont typeface="Arial" panose="020B0604020202020204" pitchFamily="34" charset="0"/>
            </a:pPr>
            <a:r>
              <a:rPr lang="en-US" altLang="zh-CN" sz="4000" dirty="0"/>
              <a:t>And so, </a:t>
            </a:r>
            <a:r>
              <a:rPr lang="en-US" altLang="zh-CN" sz="4000" dirty="0">
                <a:latin typeface="Symbol" panose="05050102010706020507" charset="2"/>
                <a:sym typeface="Symbol" panose="05050102010706020507" charset="2"/>
              </a:rPr>
              <a:t></a:t>
            </a:r>
            <a:r>
              <a:rPr lang="en-US" altLang="zh-CN" sz="4000" i="1" dirty="0"/>
              <a:t>E</a:t>
            </a:r>
            <a:r>
              <a:rPr lang="en-US" altLang="zh-CN" sz="4000" dirty="0"/>
              <a:t> depends only on </a:t>
            </a:r>
            <a:r>
              <a:rPr lang="en-US" altLang="zh-CN" sz="4000" i="1" dirty="0"/>
              <a:t>E</a:t>
            </a:r>
            <a:r>
              <a:rPr lang="en-US" altLang="zh-CN" sz="4000" baseline="-25000" dirty="0"/>
              <a:t>initial</a:t>
            </a:r>
            <a:r>
              <a:rPr lang="en-US" altLang="zh-CN" sz="4000" dirty="0"/>
              <a:t> and </a:t>
            </a:r>
            <a:r>
              <a:rPr lang="en-US" altLang="zh-CN" sz="4000" i="1" dirty="0"/>
              <a:t>E</a:t>
            </a:r>
            <a:r>
              <a:rPr lang="en-US" altLang="zh-CN" sz="4000" baseline="-25000" dirty="0"/>
              <a:t>final</a:t>
            </a:r>
            <a:r>
              <a:rPr lang="en-US" altLang="zh-CN" sz="4000" dirty="0"/>
              <a:t>.</a:t>
            </a:r>
            <a:endParaRPr lang="en-US" altLang="zh-CN" sz="4000" dirty="0"/>
          </a:p>
        </p:txBody>
      </p:sp>
    </p:spTree>
  </p:cSld>
  <p:clrMapOvr>
    <a:masterClrMapping/>
  </p:clrMapOvr>
  <p:transition spd="slow"/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0418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/>
          <a:p>
            <a:pPr algn="ctr"/>
            <a:r>
              <a:rPr lang="en-US" altLang="zh-CN" sz="3200" b="1" dirty="0">
                <a:solidFill>
                  <a:srgbClr val="C00000"/>
                </a:solidFill>
              </a:rPr>
              <a:t>Enthalpy</a:t>
            </a:r>
            <a:endParaRPr lang="en-US" altLang="zh-CN" sz="3200" b="1" dirty="0">
              <a:solidFill>
                <a:srgbClr val="C00000"/>
              </a:solidFill>
            </a:endParaRPr>
          </a:p>
        </p:txBody>
      </p:sp>
      <p:sp>
        <p:nvSpPr>
          <p:cNvPr id="45059" name="Rectangle 3"/>
          <p:cNvSpPr>
            <a:spLocks noGrp="1"/>
          </p:cNvSpPr>
          <p:nvPr>
            <p:ph idx="1"/>
          </p:nvPr>
        </p:nvSpPr>
        <p:spPr>
          <a:xfrm>
            <a:off x="1981200" y="1471930"/>
            <a:ext cx="8153400" cy="4747260"/>
          </a:xfrm>
        </p:spPr>
        <p:txBody>
          <a:bodyPr vert="horz" wrap="square" lIns="91440" tIns="45720" rIns="91440" bIns="45720" anchor="t">
            <a:noAutofit/>
          </a:bodyPr>
          <a:p>
            <a:r>
              <a:rPr lang="en-US" altLang="zh-CN" sz="3600" dirty="0"/>
              <a:t>If a process takes place </a:t>
            </a:r>
            <a:r>
              <a:rPr lang="en-US" altLang="zh-CN" sz="3600" dirty="0">
                <a:solidFill>
                  <a:srgbClr val="C00000"/>
                </a:solidFill>
              </a:rPr>
              <a:t>at constant pressure </a:t>
            </a:r>
            <a:r>
              <a:rPr lang="en-US" altLang="zh-CN" sz="3600" dirty="0"/>
              <a:t>(as the majority of processes we study do) and the only work done is pressure–volume work, we can account for heat flow during the process by measuring the </a:t>
            </a:r>
            <a:r>
              <a:rPr lang="en-US" altLang="zh-CN" sz="3600" i="1" dirty="0"/>
              <a:t>enthalpy </a:t>
            </a:r>
            <a:r>
              <a:rPr lang="en-US" altLang="zh-CN" sz="3600" dirty="0"/>
              <a:t>of the system.</a:t>
            </a:r>
            <a:endParaRPr lang="en-US" altLang="zh-CN" sz="3600" dirty="0"/>
          </a:p>
          <a:p>
            <a:r>
              <a:rPr lang="en-US" altLang="zh-CN" sz="3600" b="1" dirty="0"/>
              <a:t>Enthalpy</a:t>
            </a:r>
            <a:r>
              <a:rPr lang="en-US" altLang="zh-CN" sz="3600" dirty="0"/>
              <a:t> is the internal energy plus the product of pressure and volume:</a:t>
            </a:r>
            <a:endParaRPr lang="en-US" altLang="zh-CN" sz="3600" dirty="0"/>
          </a:p>
        </p:txBody>
      </p:sp>
      <p:sp>
        <p:nvSpPr>
          <p:cNvPr id="45060" name="Rectangle 4"/>
          <p:cNvSpPr/>
          <p:nvPr/>
        </p:nvSpPr>
        <p:spPr>
          <a:xfrm>
            <a:off x="4914900" y="5638800"/>
            <a:ext cx="2362200" cy="58356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buNone/>
            </a:pPr>
            <a:r>
              <a:rPr lang="en-US" altLang="zh-CN" b="1" i="1" dirty="0">
                <a:solidFill>
                  <a:srgbClr val="C00000"/>
                </a:solidFill>
                <a:ea typeface="PMingLiU" pitchFamily="18" charset="-120"/>
              </a:rPr>
              <a:t>H</a:t>
            </a:r>
            <a:r>
              <a:rPr lang="en-US" altLang="zh-CN" b="1" dirty="0">
                <a:solidFill>
                  <a:srgbClr val="C00000"/>
                </a:solidFill>
                <a:latin typeface="Times New Roman" panose="02020603050405020304" pitchFamily="18" charset="0"/>
                <a:ea typeface="PMingLiU" pitchFamily="18" charset="-120"/>
              </a:rPr>
              <a:t> = </a:t>
            </a:r>
            <a:r>
              <a:rPr lang="en-US" altLang="zh-CN" b="1" i="1" dirty="0">
                <a:solidFill>
                  <a:srgbClr val="C00000"/>
                </a:solidFill>
                <a:ea typeface="PMingLiU" pitchFamily="18" charset="-120"/>
              </a:rPr>
              <a:t>E</a:t>
            </a:r>
            <a:r>
              <a:rPr lang="en-US" altLang="zh-CN" b="1" dirty="0">
                <a:solidFill>
                  <a:srgbClr val="C00000"/>
                </a:solidFill>
                <a:ea typeface="PMingLiU" pitchFamily="18" charset="-120"/>
              </a:rPr>
              <a:t> + </a:t>
            </a:r>
            <a:r>
              <a:rPr lang="en-US" altLang="zh-CN" b="1" i="1" dirty="0">
                <a:solidFill>
                  <a:srgbClr val="C00000"/>
                </a:solidFill>
                <a:ea typeface="PMingLiU" pitchFamily="18" charset="-120"/>
              </a:rPr>
              <a:t>PV</a:t>
            </a:r>
            <a:endParaRPr lang="en-US" altLang="zh-CN" b="1" i="1" dirty="0">
              <a:solidFill>
                <a:srgbClr val="C00000"/>
              </a:solidFill>
              <a:latin typeface="Times New Roman" panose="02020603050405020304" pitchFamily="18" charset="0"/>
              <a:ea typeface="PMingLiU" pitchFamily="18" charset="-12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9">
                                            <p:txEl>
                                              <p:charRg st="226" end="29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059" grpId="0" build="p"/>
      <p:bldP spid="45060" grpId="0"/>
    </p:bld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4513" name="Rectangle 2"/>
          <p:cNvSpPr>
            <a:spLocks noGrp="1"/>
          </p:cNvSpPr>
          <p:nvPr>
            <p:ph type="title"/>
          </p:nvPr>
        </p:nvSpPr>
        <p:spPr>
          <a:xfrm>
            <a:off x="1756093" y="-171450"/>
            <a:ext cx="8229600" cy="1143000"/>
          </a:xfrm>
        </p:spPr>
        <p:txBody>
          <a:bodyPr vert="horz" wrap="square" lIns="91440" tIns="45720" rIns="91440" bIns="45720" anchor="ctr"/>
          <a:p>
            <a:pPr algn="ctr"/>
            <a:r>
              <a:rPr lang="en-US" altLang="zh-CN" sz="4800" b="1" dirty="0">
                <a:solidFill>
                  <a:srgbClr val="C00000"/>
                </a:solidFill>
              </a:rPr>
              <a:t>Enthalpy</a:t>
            </a:r>
            <a:endParaRPr lang="en-US" altLang="zh-CN" sz="4800" b="1" dirty="0">
              <a:solidFill>
                <a:srgbClr val="C00000"/>
              </a:solidFill>
            </a:endParaRPr>
          </a:p>
        </p:txBody>
      </p:sp>
      <p:sp>
        <p:nvSpPr>
          <p:cNvPr id="66563" name="Rectangle 3"/>
          <p:cNvSpPr>
            <a:spLocks noGrp="1" noChangeArrowheads="1"/>
          </p:cNvSpPr>
          <p:nvPr>
            <p:ph idx="1"/>
          </p:nvPr>
        </p:nvSpPr>
        <p:spPr>
          <a:xfrm>
            <a:off x="887730" y="694055"/>
            <a:ext cx="10440035" cy="6163945"/>
          </a:xfrm>
        </p:spPr>
        <p:txBody>
          <a:bodyPr vert="horz" wrap="square" lIns="91440" tIns="45720" rIns="91440" bIns="45720" numCol="1" anchor="t" anchorCtr="0" compatLnSpc="1">
            <a:no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en-US" altLang="zh-CN" sz="36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Since </a:t>
            </a:r>
            <a:r>
              <a:rPr kumimoji="0" lang="en-US" altLang="zh-CN" sz="36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ymbol" panose="05050102010706020507" charset="2"/>
                <a:ea typeface="+mn-ea"/>
                <a:cs typeface="+mn-cs"/>
                <a:sym typeface="Symbol" panose="05050102010706020507" charset="2"/>
              </a:rPr>
              <a:t></a:t>
            </a:r>
            <a:r>
              <a:rPr kumimoji="0" lang="en-US" altLang="zh-CN" sz="3600" b="0" i="1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</a:t>
            </a:r>
            <a:r>
              <a:rPr kumimoji="0" lang="en-US" altLang="zh-CN" sz="36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= </a:t>
            </a:r>
            <a:r>
              <a:rPr kumimoji="0" lang="en-US" altLang="zh-CN" sz="3600" b="0" i="1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</a:t>
            </a:r>
            <a:r>
              <a:rPr kumimoji="0" lang="en-US" altLang="zh-CN" sz="36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+ </a:t>
            </a:r>
            <a:r>
              <a:rPr kumimoji="0" lang="en-US" altLang="zh-CN" sz="3600" b="0" i="1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w</a:t>
            </a:r>
            <a:r>
              <a:rPr kumimoji="0" lang="en-US" altLang="zh-CN" sz="36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and if under constant pressure, </a:t>
            </a:r>
            <a:r>
              <a:rPr kumimoji="0" lang="en-US" altLang="zh-CN" sz="3600" b="0" i="1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w</a:t>
            </a:r>
            <a:r>
              <a:rPr kumimoji="0" lang="en-US" altLang="zh-CN" sz="36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= </a:t>
            </a:r>
            <a:r>
              <a:rPr kumimoji="0" lang="en-US" altLang="zh-CN" sz="36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Arial" panose="020B0604020202020204" pitchFamily="34" charset="0"/>
              </a:rPr>
              <a:t>−</a:t>
            </a:r>
            <a:r>
              <a:rPr kumimoji="0" lang="en-US" altLang="zh-CN" sz="3600" b="0" i="1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</a:t>
            </a:r>
            <a:r>
              <a:rPr kumimoji="0" lang="en-US" altLang="zh-CN" sz="36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ymbol" panose="05050102010706020507" charset="2"/>
                <a:ea typeface="+mn-ea"/>
                <a:cs typeface="+mn-cs"/>
                <a:sym typeface="Symbol" panose="05050102010706020507" charset="2"/>
              </a:rPr>
              <a:t></a:t>
            </a:r>
            <a:r>
              <a:rPr kumimoji="0" lang="en-US" altLang="zh-CN" sz="3600" b="0" i="1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V</a:t>
            </a:r>
            <a:r>
              <a:rPr kumimoji="0" lang="en-US" altLang="zh-CN" sz="36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, we can substitute these into the above expression:</a:t>
            </a:r>
            <a:endParaRPr kumimoji="0" lang="en-US" altLang="zh-CN" sz="36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36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				</a:t>
            </a:r>
            <a:r>
              <a:rPr kumimoji="0" lang="en-US" altLang="zh-CN" sz="36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ymbol" panose="05050102010706020507" charset="2"/>
                <a:ea typeface="+mn-ea"/>
                <a:cs typeface="+mn-cs"/>
                <a:sym typeface="Symbol" panose="05050102010706020507" charset="2"/>
              </a:rPr>
              <a:t></a:t>
            </a:r>
            <a:r>
              <a:rPr kumimoji="0" lang="en-US" altLang="zh-CN" sz="3600" b="0" i="1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anose="05050102010706020507" charset="2"/>
              </a:rPr>
              <a:t>E</a:t>
            </a:r>
            <a:r>
              <a:rPr kumimoji="0" lang="en-US" altLang="zh-CN" sz="36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= </a:t>
            </a:r>
            <a:r>
              <a:rPr kumimoji="0" lang="en-US" altLang="zh-CN" sz="3600" b="0" i="1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</a:t>
            </a:r>
            <a:r>
              <a:rPr kumimoji="0" lang="en-US" altLang="zh-CN" sz="3600" b="0" i="1" u="none" strike="noStrike" kern="1200" cap="none" spc="0" normalizeH="0" baseline="-25000" noProof="0" dirty="0" err="1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</a:t>
            </a:r>
            <a:r>
              <a:rPr kumimoji="0" lang="en-US" altLang="zh-CN" sz="36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- </a:t>
            </a:r>
            <a:r>
              <a:rPr kumimoji="0" lang="en-US" altLang="zh-CN" sz="3600" b="0" i="1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</a:t>
            </a:r>
            <a:r>
              <a:rPr kumimoji="0" lang="en-US" altLang="zh-CN" sz="36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ymbol" panose="05050102010706020507" charset="2"/>
                <a:ea typeface="+mn-ea"/>
                <a:cs typeface="+mn-cs"/>
                <a:sym typeface="Symbol" panose="05050102010706020507" charset="2"/>
              </a:rPr>
              <a:t></a:t>
            </a:r>
            <a:r>
              <a:rPr kumimoji="0" lang="en-US" altLang="zh-CN" sz="3600" b="0" i="1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V</a:t>
            </a:r>
            <a:endParaRPr kumimoji="0" lang="en-US" altLang="zh-CN" sz="3600" b="0" i="1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36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				</a:t>
            </a:r>
            <a:r>
              <a:rPr kumimoji="0" lang="en-US" altLang="zh-CN" sz="3600" b="0" i="1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altLang="zh-CN" sz="3600" b="0" i="1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</a:t>
            </a:r>
            <a:r>
              <a:rPr kumimoji="0" lang="en-US" altLang="zh-CN" sz="3600" b="0" i="1" u="none" strike="noStrike" kern="1200" cap="none" spc="0" normalizeH="0" baseline="-25000" noProof="0" dirty="0" err="1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</a:t>
            </a:r>
            <a:r>
              <a:rPr kumimoji="0" lang="en-US" altLang="zh-CN" sz="36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= </a:t>
            </a:r>
            <a:r>
              <a:rPr kumimoji="0" lang="en-US" altLang="zh-CN" sz="36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ymbol" panose="05050102010706020507" charset="2"/>
                <a:ea typeface="+mn-ea"/>
                <a:cs typeface="+mn-cs"/>
                <a:sym typeface="Symbol" panose="05050102010706020507" charset="2"/>
              </a:rPr>
              <a:t></a:t>
            </a:r>
            <a:r>
              <a:rPr kumimoji="0" lang="en-US" altLang="zh-CN" sz="36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</a:t>
            </a:r>
            <a:r>
              <a:rPr kumimoji="0" lang="en-US" altLang="zh-CN" sz="3600" b="0" i="1" u="sng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</a:t>
            </a:r>
            <a:r>
              <a:rPr kumimoji="0" lang="en-US" altLang="zh-CN" sz="3600" b="0" i="1" u="sng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altLang="zh-CN" sz="3600" b="0" i="0" u="sng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+ </a:t>
            </a:r>
            <a:r>
              <a:rPr kumimoji="0" lang="en-US" altLang="zh-CN" sz="3600" b="0" i="1" u="sng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PV</a:t>
            </a:r>
            <a:r>
              <a:rPr kumimoji="0" lang="en-US" altLang="zh-CN" sz="36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)</a:t>
            </a:r>
            <a:endParaRPr kumimoji="0" lang="en-US" altLang="zh-CN" sz="36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3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	</a:t>
            </a:r>
            <a:r>
              <a:rPr kumimoji="0" lang="en-US" altLang="zh-CN" sz="36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			</a:t>
            </a:r>
            <a:r>
              <a:rPr kumimoji="0" lang="en-US" altLang="zh-CN" sz="3600" b="0" i="1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altLang="zh-CN" sz="3600" b="0" i="1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</a:t>
            </a:r>
            <a:r>
              <a:rPr kumimoji="0" lang="en-US" altLang="zh-CN" sz="3600" b="0" i="1" u="none" strike="noStrike" kern="1200" cap="none" spc="0" normalizeH="0" baseline="-25000" noProof="0" dirty="0" err="1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</a:t>
            </a:r>
            <a:r>
              <a:rPr kumimoji="0" lang="en-US" altLang="zh-CN" sz="36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= </a:t>
            </a:r>
            <a:r>
              <a:rPr kumimoji="0" lang="en-US" altLang="zh-CN" sz="36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ymbol" panose="05050102010706020507" charset="2"/>
                <a:ea typeface="+mn-ea"/>
                <a:cs typeface="+mn-cs"/>
                <a:sym typeface="Symbol" panose="05050102010706020507" charset="2"/>
              </a:rPr>
              <a:t></a:t>
            </a:r>
            <a:r>
              <a:rPr kumimoji="0" lang="en-US" altLang="zh-CN" sz="3600" b="0" i="1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H</a:t>
            </a:r>
            <a:r>
              <a:rPr kumimoji="0" lang="zh-CN" altLang="en-US" sz="36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， </a:t>
            </a:r>
            <a:r>
              <a:rPr kumimoji="0" lang="en-US" altLang="zh-CN" sz="3600" b="0" i="1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H</a:t>
            </a:r>
            <a:r>
              <a:rPr kumimoji="0" lang="en-US" altLang="zh-CN" sz="36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= </a:t>
            </a:r>
            <a:r>
              <a:rPr kumimoji="0" lang="en-US" altLang="zh-CN" sz="3600" b="0" i="1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</a:t>
            </a:r>
            <a:r>
              <a:rPr kumimoji="0" lang="en-US" altLang="zh-CN" sz="36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+</a:t>
            </a:r>
            <a:r>
              <a:rPr kumimoji="0" lang="en-US" altLang="zh-CN" sz="3600" b="0" i="1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PV</a:t>
            </a:r>
            <a:endParaRPr kumimoji="0" lang="en-US" altLang="zh-CN" sz="3600" b="0" i="1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ts val="1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36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	</a:t>
            </a:r>
            <a:endParaRPr kumimoji="0" lang="en-US" altLang="zh-CN" sz="36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514350" marR="0" lvl="0" indent="-5143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AutoNum type="arabicPeriod"/>
              <a:defRPr/>
            </a:pPr>
            <a:r>
              <a:rPr kumimoji="0" lang="en-US" altLang="zh-CN" sz="3600" b="0" i="1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H</a:t>
            </a:r>
            <a:r>
              <a:rPr kumimoji="0" lang="en-US" altLang="zh-CN" sz="36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must be a state function. </a:t>
            </a:r>
            <a:endParaRPr kumimoji="0" lang="en-US" altLang="zh-CN" sz="36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514350" marR="0" lvl="0" indent="-5143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AutoNum type="arabicPeriod"/>
              <a:defRPr/>
            </a:pPr>
            <a:r>
              <a:rPr kumimoji="0" lang="en-US" altLang="zh-CN" sz="3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</a:t>
            </a:r>
            <a:r>
              <a:rPr kumimoji="0" lang="en-US" altLang="zh-CN" sz="36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 </a:t>
            </a:r>
            <a:r>
              <a:rPr kumimoji="0" lang="en-US" altLang="zh-CN" sz="3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constant pressure</a:t>
            </a:r>
            <a:r>
              <a:rPr kumimoji="0" lang="en-US" altLang="zh-CN" sz="36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, the </a:t>
            </a:r>
            <a:r>
              <a:rPr kumimoji="0" lang="en-US" altLang="zh-CN" sz="3600" b="0" i="0" u="sng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amount</a:t>
            </a:r>
            <a:r>
              <a:rPr kumimoji="0" lang="en-US" altLang="zh-CN" sz="36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of  enthalpy change (</a:t>
            </a:r>
            <a:r>
              <a:rPr kumimoji="0" lang="en-US" altLang="zh-CN" sz="36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ymbol" panose="05050102010706020507" charset="2"/>
                <a:ea typeface="+mn-ea"/>
                <a:cs typeface="+mn-cs"/>
                <a:sym typeface="Symbol" panose="05050102010706020507" charset="2"/>
              </a:rPr>
              <a:t></a:t>
            </a:r>
            <a:r>
              <a:rPr kumimoji="0" lang="en-US" altLang="zh-CN" sz="3600" b="0" i="1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H</a:t>
            </a:r>
            <a:r>
              <a:rPr kumimoji="0" lang="en-US" altLang="zh-CN" sz="36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) is the same as  the heat (</a:t>
            </a:r>
            <a:r>
              <a:rPr kumimoji="0" lang="en-US" altLang="zh-CN" sz="3600" b="0" i="1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</a:t>
            </a:r>
            <a:r>
              <a:rPr kumimoji="0" lang="en-US" altLang="zh-CN" sz="3600" b="0" i="1" u="none" strike="noStrike" kern="1200" cap="none" spc="0" normalizeH="0" baseline="-25000" noProof="0" dirty="0" err="1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</a:t>
            </a:r>
            <a:r>
              <a:rPr kumimoji="0" lang="en-US" altLang="zh-CN" sz="36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) gained or lost. </a:t>
            </a:r>
            <a:endParaRPr kumimoji="0" lang="en-US" altLang="zh-CN" sz="36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ransition/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8609" name="Rectangle 2"/>
          <p:cNvSpPr>
            <a:spLocks noGrp="1"/>
          </p:cNvSpPr>
          <p:nvPr>
            <p:ph type="title"/>
          </p:nvPr>
        </p:nvSpPr>
        <p:spPr>
          <a:xfrm>
            <a:off x="981075" y="241300"/>
            <a:ext cx="12192000" cy="1739265"/>
          </a:xfrm>
        </p:spPr>
        <p:txBody>
          <a:bodyPr vert="horz" wrap="square" lIns="91440" tIns="45720" rIns="91440" bIns="45720" anchor="ctr">
            <a:normAutofit/>
          </a:bodyPr>
          <a:p>
            <a:pPr algn="ctr"/>
            <a:r>
              <a:rPr lang="en-US" altLang="zh-CN" sz="4800" b="1" dirty="0">
                <a:solidFill>
                  <a:srgbClr val="C00000"/>
                </a:solidFill>
              </a:rPr>
              <a:t>Endothermicity</a:t>
            </a:r>
            <a:br>
              <a:rPr lang="en-US" altLang="zh-CN" sz="4800" b="1" dirty="0">
                <a:solidFill>
                  <a:srgbClr val="C00000"/>
                </a:solidFill>
              </a:rPr>
            </a:br>
            <a:r>
              <a:rPr lang="en-US" altLang="zh-CN" sz="4800" b="1" dirty="0">
                <a:solidFill>
                  <a:srgbClr val="C00000"/>
                </a:solidFill>
              </a:rPr>
              <a:t> Exothermicity</a:t>
            </a:r>
            <a:endParaRPr lang="en-US" altLang="zh-CN" sz="4800" b="1" dirty="0">
              <a:solidFill>
                <a:srgbClr val="C00000"/>
              </a:solidFill>
            </a:endParaRPr>
          </a:p>
        </p:txBody>
      </p:sp>
      <p:sp>
        <p:nvSpPr>
          <p:cNvPr id="68610" name="Rectangle 3"/>
          <p:cNvSpPr>
            <a:spLocks noGrp="1"/>
          </p:cNvSpPr>
          <p:nvPr>
            <p:ph type="body" sz="half" idx="2"/>
          </p:nvPr>
        </p:nvSpPr>
        <p:spPr>
          <a:xfrm>
            <a:off x="4410075" y="1981200"/>
            <a:ext cx="6895465" cy="4114800"/>
          </a:xfrm>
        </p:spPr>
        <p:txBody>
          <a:bodyPr vert="horz" wrap="square" lIns="91440" tIns="45720" rIns="91440" bIns="45720" anchor="t">
            <a:noAutofit/>
          </a:bodyPr>
          <a:p>
            <a:pPr>
              <a:buClrTx/>
              <a:buSzTx/>
              <a:buFont typeface="Arial" panose="020B0604020202020204" pitchFamily="34" charset="0"/>
            </a:pPr>
            <a:r>
              <a:rPr lang="en-US" altLang="zh-CN" sz="4800" dirty="0"/>
              <a:t>A process is endothermic when </a:t>
            </a:r>
            <a:r>
              <a:rPr lang="en-US" altLang="zh-CN" sz="4800" dirty="0">
                <a:latin typeface="Symbol" panose="05050102010706020507" charset="2"/>
                <a:sym typeface="Symbol" panose="05050102010706020507" charset="2"/>
              </a:rPr>
              <a:t></a:t>
            </a:r>
            <a:r>
              <a:rPr lang="en-US" altLang="zh-CN" sz="4800" i="1" dirty="0"/>
              <a:t>H</a:t>
            </a:r>
            <a:r>
              <a:rPr lang="en-US" altLang="zh-CN" sz="4800" dirty="0"/>
              <a:t> is positive.</a:t>
            </a:r>
            <a:endParaRPr lang="en-US" altLang="zh-CN" sz="4800" dirty="0"/>
          </a:p>
          <a:p>
            <a:pPr>
              <a:buClrTx/>
              <a:buSzTx/>
              <a:buFont typeface="Arial" panose="020B0604020202020204" pitchFamily="34" charset="0"/>
            </a:pPr>
            <a:r>
              <a:rPr lang="en-US" altLang="zh-CN" sz="4800" dirty="0"/>
              <a:t>A process is exothermic when </a:t>
            </a:r>
            <a:r>
              <a:rPr lang="en-US" altLang="zh-CN" sz="4800" dirty="0">
                <a:latin typeface="Symbol" panose="05050102010706020507" charset="2"/>
                <a:sym typeface="Symbol" panose="05050102010706020507" charset="2"/>
              </a:rPr>
              <a:t></a:t>
            </a:r>
            <a:r>
              <a:rPr lang="en-US" altLang="zh-CN" sz="4800" i="1" dirty="0"/>
              <a:t>H</a:t>
            </a:r>
            <a:r>
              <a:rPr lang="en-US" altLang="zh-CN" sz="4800" dirty="0"/>
              <a:t> is negative</a:t>
            </a:r>
            <a:r>
              <a:rPr lang="en-US" altLang="zh-CN" sz="3600" dirty="0"/>
              <a:t>.</a:t>
            </a:r>
            <a:endParaRPr lang="en-US" altLang="zh-CN" sz="3600" dirty="0"/>
          </a:p>
        </p:txBody>
      </p:sp>
      <p:pic>
        <p:nvPicPr>
          <p:cNvPr id="68611" name="Picture 12" descr="05_12_Figure_L"/>
          <p:cNvPicPr>
            <a:picLocks noChangeAspect="1"/>
          </p:cNvPicPr>
          <p:nvPr/>
        </p:nvPicPr>
        <p:blipFill>
          <a:blip r:embed="rId1">
            <a:lum bright="-6000" contrast="10000"/>
          </a:blip>
          <a:stretch>
            <a:fillRect/>
          </a:stretch>
        </p:blipFill>
        <p:spPr>
          <a:xfrm>
            <a:off x="130810" y="0"/>
            <a:ext cx="3105150" cy="694563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 spd="slow"/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0657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/>
          <a:p>
            <a:pPr algn="ctr"/>
            <a:r>
              <a:rPr lang="en-US" altLang="zh-CN" sz="4800" b="1" dirty="0">
                <a:solidFill>
                  <a:srgbClr val="C00000"/>
                </a:solidFill>
              </a:rPr>
              <a:t>Enthalpy of Reaction</a:t>
            </a:r>
            <a:endParaRPr lang="en-US" altLang="zh-CN" sz="4800" b="1" dirty="0">
              <a:solidFill>
                <a:srgbClr val="C00000"/>
              </a:solidFill>
            </a:endParaRPr>
          </a:p>
        </p:txBody>
      </p:sp>
      <p:sp>
        <p:nvSpPr>
          <p:cNvPr id="54275" name="Rectangle 3"/>
          <p:cNvSpPr>
            <a:spLocks noGrp="1"/>
          </p:cNvSpPr>
          <p:nvPr>
            <p:ph type="body" sz="half" idx="1"/>
          </p:nvPr>
        </p:nvSpPr>
        <p:spPr>
          <a:xfrm>
            <a:off x="684530" y="1844675"/>
            <a:ext cx="5556250" cy="4114800"/>
          </a:xfrm>
        </p:spPr>
        <p:txBody>
          <a:bodyPr vert="horz" wrap="square" lIns="91440" tIns="45720" rIns="91440" bIns="45720" anchor="t">
            <a:normAutofit lnSpcReduction="20000"/>
          </a:bodyPr>
          <a:p>
            <a:pPr>
              <a:buClrTx/>
              <a:buSzTx/>
              <a:buFontTx/>
              <a:buNone/>
            </a:pPr>
            <a:r>
              <a:rPr lang="en-US" altLang="zh-CN" sz="4000" dirty="0"/>
              <a:t>	The </a:t>
            </a:r>
            <a:r>
              <a:rPr lang="en-US" altLang="zh-CN" sz="4000" i="1" dirty="0"/>
              <a:t>change</a:t>
            </a:r>
            <a:r>
              <a:rPr lang="en-US" altLang="zh-CN" sz="4000" dirty="0"/>
              <a:t> in enthalpy, </a:t>
            </a:r>
            <a:r>
              <a:rPr lang="en-US" altLang="zh-CN" sz="4000" dirty="0">
                <a:latin typeface="Symbol" panose="05050102010706020507" charset="2"/>
                <a:sym typeface="Symbol" panose="05050102010706020507" charset="2"/>
              </a:rPr>
              <a:t></a:t>
            </a:r>
            <a:r>
              <a:rPr lang="en-US" altLang="zh-CN" sz="4000" i="1" dirty="0"/>
              <a:t>H</a:t>
            </a:r>
            <a:r>
              <a:rPr lang="en-US" altLang="zh-CN" sz="4000" dirty="0"/>
              <a:t>, is the enthalpy of the products (</a:t>
            </a:r>
            <a:r>
              <a:rPr lang="en-US" altLang="zh-CN" sz="4000" dirty="0">
                <a:solidFill>
                  <a:srgbClr val="FF0000"/>
                </a:solidFill>
              </a:rPr>
              <a:t>final</a:t>
            </a:r>
            <a:r>
              <a:rPr lang="en-US" altLang="zh-CN" sz="4000" dirty="0"/>
              <a:t> state) minus the enthalpy of the reactants (</a:t>
            </a:r>
            <a:r>
              <a:rPr lang="en-US" altLang="zh-CN" sz="4000" dirty="0">
                <a:solidFill>
                  <a:srgbClr val="FF0000"/>
                </a:solidFill>
              </a:rPr>
              <a:t>initial</a:t>
            </a:r>
            <a:r>
              <a:rPr lang="en-US" altLang="zh-CN" sz="4000" dirty="0"/>
              <a:t> state):</a:t>
            </a:r>
            <a:r>
              <a:rPr lang="en-US" altLang="zh-CN" sz="2800" dirty="0"/>
              <a:t> </a:t>
            </a:r>
            <a:endParaRPr lang="en-US" altLang="zh-CN" sz="2800" dirty="0"/>
          </a:p>
          <a:p>
            <a:pPr>
              <a:buClrTx/>
              <a:buSzTx/>
              <a:buFontTx/>
              <a:buNone/>
            </a:pPr>
            <a:endParaRPr lang="en-US" altLang="zh-CN" sz="2800" dirty="0"/>
          </a:p>
          <a:p>
            <a:pPr>
              <a:buClrTx/>
              <a:buSzTx/>
              <a:buFontTx/>
              <a:buNone/>
            </a:pPr>
            <a:r>
              <a:rPr lang="en-US" altLang="zh-CN" sz="4000" b="1" dirty="0">
                <a:solidFill>
                  <a:srgbClr val="C00000"/>
                </a:solidFill>
                <a:latin typeface="Symbol" panose="05050102010706020507" charset="2"/>
                <a:sym typeface="Symbol" panose="05050102010706020507" charset="2"/>
              </a:rPr>
              <a:t></a:t>
            </a:r>
            <a:r>
              <a:rPr lang="en-US" altLang="zh-CN" sz="4000" b="1" i="1" dirty="0">
                <a:solidFill>
                  <a:srgbClr val="C00000"/>
                </a:solidFill>
              </a:rPr>
              <a:t>H</a:t>
            </a:r>
            <a:r>
              <a:rPr lang="en-US" altLang="zh-CN" sz="4000" b="1" dirty="0">
                <a:solidFill>
                  <a:srgbClr val="C00000"/>
                </a:solidFill>
              </a:rPr>
              <a:t> = </a:t>
            </a:r>
            <a:r>
              <a:rPr lang="en-US" altLang="zh-CN" sz="4000" b="1" i="1" dirty="0">
                <a:solidFill>
                  <a:srgbClr val="C00000"/>
                </a:solidFill>
              </a:rPr>
              <a:t>H</a:t>
            </a:r>
            <a:r>
              <a:rPr lang="en-US" altLang="zh-CN" sz="4000" b="1" baseline="-25000" dirty="0">
                <a:solidFill>
                  <a:srgbClr val="C00000"/>
                </a:solidFill>
              </a:rPr>
              <a:t>products</a:t>
            </a:r>
            <a:r>
              <a:rPr lang="en-US" altLang="zh-CN" sz="4000" b="1" i="1" dirty="0">
                <a:solidFill>
                  <a:srgbClr val="C00000"/>
                </a:solidFill>
              </a:rPr>
              <a:t> </a:t>
            </a:r>
            <a:r>
              <a:rPr lang="en-US" altLang="zh-CN" sz="4000" b="1" dirty="0">
                <a:solidFill>
                  <a:srgbClr val="C00000"/>
                </a:solidFill>
              </a:rPr>
              <a:t>− </a:t>
            </a:r>
            <a:r>
              <a:rPr lang="en-US" altLang="zh-CN" sz="4000" b="1" i="1" dirty="0">
                <a:solidFill>
                  <a:srgbClr val="C00000"/>
                </a:solidFill>
              </a:rPr>
              <a:t>H</a:t>
            </a:r>
            <a:r>
              <a:rPr lang="en-US" altLang="zh-CN" sz="4000" b="1" baseline="-25000" dirty="0">
                <a:solidFill>
                  <a:srgbClr val="C00000"/>
                </a:solidFill>
              </a:rPr>
              <a:t>reactants </a:t>
            </a:r>
            <a:endParaRPr lang="en-US" altLang="zh-CN" sz="4000" b="1" baseline="-25000" dirty="0">
              <a:solidFill>
                <a:srgbClr val="C00000"/>
              </a:solidFill>
            </a:endParaRPr>
          </a:p>
        </p:txBody>
      </p:sp>
      <p:pic>
        <p:nvPicPr>
          <p:cNvPr id="70659" name="Picture 10" descr="05_16_Figure_L"/>
          <p:cNvPicPr>
            <a:picLocks noChangeAspect="1"/>
          </p:cNvPicPr>
          <p:nvPr/>
        </p:nvPicPr>
        <p:blipFill>
          <a:blip r:embed="rId1">
            <a:lum bright="-6000" contrast="10000"/>
          </a:blip>
          <a:stretch>
            <a:fillRect/>
          </a:stretch>
        </p:blipFill>
        <p:spPr>
          <a:xfrm>
            <a:off x="6473190" y="1724025"/>
            <a:ext cx="4934585" cy="513397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5">
                                            <p:txEl>
                                              <p:charRg st="130" end="15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275" grpId="0" build="p"/>
    </p:bld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4753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/>
          <a:p>
            <a:pPr algn="ctr"/>
            <a:r>
              <a:rPr lang="en-US" altLang="zh-CN" sz="6000" b="1" dirty="0">
                <a:solidFill>
                  <a:srgbClr val="C00000"/>
                </a:solidFill>
              </a:rPr>
              <a:t>The Truth about Enthalpy</a:t>
            </a:r>
            <a:endParaRPr lang="en-US" altLang="zh-CN" sz="6000" b="1" dirty="0">
              <a:solidFill>
                <a:srgbClr val="C00000"/>
              </a:solidFill>
            </a:endParaRPr>
          </a:p>
        </p:txBody>
      </p:sp>
      <p:sp>
        <p:nvSpPr>
          <p:cNvPr id="56323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/>
          <a:p>
            <a:pPr marL="609600" indent="-609600">
              <a:buFontTx/>
              <a:buAutoNum type="arabicPeriod"/>
            </a:pPr>
            <a:r>
              <a:rPr lang="en-US" altLang="zh-CN" sz="4400" dirty="0"/>
              <a:t>Enthalpy is an extensive property.</a:t>
            </a:r>
            <a:endParaRPr lang="en-US" altLang="zh-CN" sz="4400" dirty="0"/>
          </a:p>
          <a:p>
            <a:pPr marL="609600" indent="-609600">
              <a:buFontTx/>
              <a:buAutoNum type="arabicPeriod"/>
            </a:pPr>
            <a:r>
              <a:rPr lang="en-US" altLang="zh-CN" sz="4400" dirty="0">
                <a:sym typeface="Symbol" panose="05050102010706020507" charset="2"/>
              </a:rPr>
              <a:t></a:t>
            </a:r>
            <a:r>
              <a:rPr lang="en-US" altLang="zh-CN" sz="4400" i="1" dirty="0"/>
              <a:t>H</a:t>
            </a:r>
            <a:r>
              <a:rPr lang="en-US" altLang="zh-CN" sz="4400" dirty="0"/>
              <a:t> for a reaction in the forward direction is equal in size, but opposite in sign, to </a:t>
            </a:r>
            <a:r>
              <a:rPr lang="en-US" altLang="zh-CN" sz="4400" dirty="0">
                <a:sym typeface="Symbol" panose="05050102010706020507" charset="2"/>
              </a:rPr>
              <a:t></a:t>
            </a:r>
            <a:r>
              <a:rPr lang="en-US" altLang="zh-CN" sz="4400" i="1" dirty="0"/>
              <a:t>H</a:t>
            </a:r>
            <a:r>
              <a:rPr lang="en-US" altLang="zh-CN" sz="4400" dirty="0"/>
              <a:t> for the reverse reaction.</a:t>
            </a:r>
            <a:endParaRPr lang="en-US" altLang="zh-CN" sz="4400" dirty="0"/>
          </a:p>
          <a:p>
            <a:pPr marL="609600" indent="-609600">
              <a:buFontTx/>
              <a:buAutoNum type="arabicPeriod"/>
            </a:pPr>
            <a:r>
              <a:rPr lang="en-US" altLang="zh-CN" sz="4400" dirty="0">
                <a:sym typeface="Symbol" panose="05050102010706020507" charset="2"/>
              </a:rPr>
              <a:t></a:t>
            </a:r>
            <a:r>
              <a:rPr lang="en-US" altLang="zh-CN" sz="4400" i="1" dirty="0"/>
              <a:t>H</a:t>
            </a:r>
            <a:r>
              <a:rPr lang="en-US" altLang="zh-CN" sz="4400" dirty="0"/>
              <a:t> for a reaction depends on the state of the products and the state of the reactants.</a:t>
            </a:r>
            <a:endParaRPr lang="en-US" altLang="zh-CN" sz="4400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3">
                                            <p:txEl>
                                              <p:charRg st="35" end="15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3">
                                            <p:txEl>
                                              <p:charRg st="150" end="23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6323" grpId="0" build="p"/>
    </p:bld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5233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/>
          <a:p>
            <a:pPr algn="ctr"/>
            <a:r>
              <a:rPr lang="en-US" altLang="zh-CN" sz="4800" b="1" dirty="0">
                <a:solidFill>
                  <a:srgbClr val="C00000"/>
                </a:solidFill>
              </a:rPr>
              <a:t>Calori</a:t>
            </a:r>
            <a:r>
              <a:rPr lang="en-US" altLang="zh-CN" sz="4800" b="1" u="sng" dirty="0">
                <a:solidFill>
                  <a:srgbClr val="C00000"/>
                </a:solidFill>
              </a:rPr>
              <a:t>metry (method)</a:t>
            </a:r>
            <a:r>
              <a:rPr lang="en-US" altLang="zh-CN" sz="4800" b="1" dirty="0">
                <a:solidFill>
                  <a:srgbClr val="C00000"/>
                </a:solidFill>
              </a:rPr>
              <a:t> – </a:t>
            </a:r>
            <a:r>
              <a:rPr lang="en-US" altLang="zh-CN" sz="4800" dirty="0"/>
              <a:t>calori</a:t>
            </a:r>
            <a:r>
              <a:rPr lang="en-US" altLang="zh-CN" sz="4800" u="sng" dirty="0"/>
              <a:t>meter (device)</a:t>
            </a:r>
            <a:r>
              <a:rPr lang="en-US" altLang="zh-CN" sz="4800" dirty="0"/>
              <a:t> </a:t>
            </a:r>
            <a:endParaRPr lang="en-US" altLang="zh-CN" sz="4800" b="1" dirty="0">
              <a:solidFill>
                <a:srgbClr val="C00000"/>
              </a:solidFill>
            </a:endParaRPr>
          </a:p>
        </p:txBody>
      </p:sp>
      <p:sp>
        <p:nvSpPr>
          <p:cNvPr id="95234" name="Rectangle 5"/>
          <p:cNvSpPr>
            <a:spLocks noGrp="1"/>
          </p:cNvSpPr>
          <p:nvPr>
            <p:ph type="body" sz="half" idx="2"/>
          </p:nvPr>
        </p:nvSpPr>
        <p:spPr>
          <a:xfrm>
            <a:off x="5114925" y="1998980"/>
            <a:ext cx="6006465" cy="4859020"/>
          </a:xfrm>
        </p:spPr>
        <p:txBody>
          <a:bodyPr vert="horz" wrap="square" lIns="91440" tIns="45720" rIns="91440" bIns="45720" anchor="t">
            <a:noAutofit/>
          </a:bodyPr>
          <a:p>
            <a:pPr>
              <a:buClrTx/>
              <a:buSzTx/>
              <a:buFontTx/>
              <a:buNone/>
            </a:pPr>
            <a:r>
              <a:rPr lang="en-US" altLang="zh-CN" sz="4000" dirty="0"/>
              <a:t>	Since we cannot know the absolute amount of enthalpy of the reactants or the products, we measure </a:t>
            </a:r>
            <a:r>
              <a:rPr lang="en-US" altLang="zh-CN" sz="4000" dirty="0">
                <a:latin typeface="Symbol" panose="05050102010706020507" charset="2"/>
                <a:sym typeface="Symbol" panose="05050102010706020507" charset="2"/>
              </a:rPr>
              <a:t></a:t>
            </a:r>
            <a:r>
              <a:rPr lang="en-US" altLang="zh-CN" sz="4000" i="1" dirty="0"/>
              <a:t>H</a:t>
            </a:r>
            <a:r>
              <a:rPr lang="en-US" altLang="zh-CN" sz="4000" dirty="0"/>
              <a:t> through </a:t>
            </a:r>
            <a:r>
              <a:rPr lang="en-US" altLang="zh-CN" sz="4000" b="1" u="sng" dirty="0"/>
              <a:t>calori</a:t>
            </a:r>
            <a:r>
              <a:rPr lang="en-US" altLang="zh-CN" sz="4000" b="1" dirty="0">
                <a:solidFill>
                  <a:srgbClr val="FF0000"/>
                </a:solidFill>
              </a:rPr>
              <a:t>metry</a:t>
            </a:r>
            <a:r>
              <a:rPr lang="en-US" altLang="zh-CN" sz="4000" dirty="0"/>
              <a:t>, which is the measurement of heat flow.</a:t>
            </a:r>
            <a:endParaRPr lang="en-US" altLang="zh-CN" sz="4000" dirty="0"/>
          </a:p>
        </p:txBody>
      </p:sp>
      <p:pic>
        <p:nvPicPr>
          <p:cNvPr id="95235" name="Picture 19" descr="05_18_Figure_L"/>
          <p:cNvPicPr>
            <a:picLocks noChangeAspect="1"/>
          </p:cNvPicPr>
          <p:nvPr/>
        </p:nvPicPr>
        <p:blipFill>
          <a:blip r:embed="rId1">
            <a:lum bright="-6000" contrast="10000"/>
          </a:blip>
          <a:stretch>
            <a:fillRect/>
          </a:stretch>
        </p:blipFill>
        <p:spPr>
          <a:xfrm>
            <a:off x="465773" y="1232218"/>
            <a:ext cx="4105275" cy="547687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 spd="slow"/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1377" name="Rectangle 2"/>
          <p:cNvSpPr>
            <a:spLocks noGrp="1"/>
          </p:cNvSpPr>
          <p:nvPr>
            <p:ph type="title"/>
          </p:nvPr>
        </p:nvSpPr>
        <p:spPr>
          <a:xfrm>
            <a:off x="1866900" y="228600"/>
            <a:ext cx="8458200" cy="1143000"/>
          </a:xfrm>
        </p:spPr>
        <p:txBody>
          <a:bodyPr vert="horz" wrap="square" lIns="91440" tIns="45720" rIns="91440" bIns="45720" anchor="ctr"/>
          <a:p>
            <a:r>
              <a:rPr lang="en-US" altLang="zh-CN" sz="3200" b="1" dirty="0">
                <a:solidFill>
                  <a:srgbClr val="C00000"/>
                </a:solidFill>
              </a:rPr>
              <a:t>Heat Capacity and Specific Heat</a:t>
            </a:r>
            <a:endParaRPr lang="en-US" altLang="zh-CN" sz="3200" b="1" dirty="0">
              <a:solidFill>
                <a:srgbClr val="C00000"/>
              </a:solidFill>
            </a:endParaRPr>
          </a:p>
        </p:txBody>
      </p:sp>
      <p:sp>
        <p:nvSpPr>
          <p:cNvPr id="101378" name="Rectangle 3"/>
          <p:cNvSpPr txBox="1"/>
          <p:nvPr/>
        </p:nvSpPr>
        <p:spPr>
          <a:xfrm>
            <a:off x="2063750" y="1484313"/>
            <a:ext cx="7924800" cy="762000"/>
          </a:xfrm>
          <a:prstGeom prst="rect">
            <a:avLst/>
          </a:prstGeom>
          <a:noFill/>
          <a:ln w="9525">
            <a:noFill/>
          </a:ln>
        </p:spPr>
        <p:txBody>
          <a:bodyPr anchor="t"/>
          <a:p>
            <a:pPr marL="342900" indent="-342900" eaLnBrk="0" hangingPunct="0">
              <a:spcBef>
                <a:spcPct val="20000"/>
              </a:spcBef>
            </a:pPr>
            <a:r>
              <a:rPr lang="en-US" altLang="zh-CN" sz="3200" b="0" dirty="0">
                <a:latin typeface="Calibri" panose="020F0502020204030204" charset="0"/>
                <a:ea typeface="宋体" panose="02010600030101010101" pitchFamily="2" charset="-122"/>
              </a:rPr>
              <a:t>Heat capacity is</a:t>
            </a:r>
            <a:endParaRPr lang="en-US" altLang="zh-CN" sz="3200" b="0" dirty="0">
              <a:latin typeface="Calibri" panose="020F0502020204030204" charset="0"/>
              <a:ea typeface="宋体" panose="02010600030101010101" pitchFamily="2" charset="-122"/>
            </a:endParaRPr>
          </a:p>
        </p:txBody>
      </p:sp>
      <p:grpSp>
        <p:nvGrpSpPr>
          <p:cNvPr id="101379" name="Group 23"/>
          <p:cNvGrpSpPr/>
          <p:nvPr/>
        </p:nvGrpSpPr>
        <p:grpSpPr>
          <a:xfrm>
            <a:off x="2270125" y="1920875"/>
            <a:ext cx="7554913" cy="1193800"/>
            <a:chOff x="359" y="1632"/>
            <a:chExt cx="4759" cy="752"/>
          </a:xfrm>
        </p:grpSpPr>
        <p:sp>
          <p:nvSpPr>
            <p:cNvPr id="19" name="Rectangle 4"/>
            <p:cNvSpPr>
              <a:spLocks noChangeArrowheads="1"/>
            </p:cNvSpPr>
            <p:nvPr/>
          </p:nvSpPr>
          <p:spPr bwMode="auto">
            <a:xfrm>
              <a:off x="359" y="1835"/>
              <a:ext cx="1744" cy="3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en-US" altLang="zh-CN" sz="3200" b="1" i="0" u="none" strike="noStrike" kern="1200" cap="none" spc="0" normalizeH="0" baseline="0" noProof="0" dirty="0" smtClean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alibri" panose="020F0502020204030204" charset="0"/>
                  <a:ea typeface="PMingLiU" pitchFamily="18" charset="-120"/>
                  <a:cs typeface="+mn-cs"/>
                </a:rPr>
                <a:t>heat</a:t>
              </a:r>
              <a:r>
                <a:rPr kumimoji="0" lang="en-US" altLang="zh-CN" sz="3200" b="1" i="0" u="none" strike="noStrike" kern="1200" cap="none" spc="0" normalizeH="0" baseline="0" noProof="0" dirty="0" smtClean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PMingLiU" pitchFamily="18" charset="-120"/>
                  <a:cs typeface="+mn-cs"/>
                </a:rPr>
                <a:t> </a:t>
              </a:r>
              <a:r>
                <a:rPr kumimoji="0" lang="en-US" altLang="zh-CN" sz="3200" b="1" i="0" u="none" strike="noStrike" kern="1200" cap="none" spc="0" normalizeH="0" baseline="0" noProof="0" dirty="0" smtClean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PMingLiU" pitchFamily="18" charset="-120"/>
                  <a:cs typeface="+mn-cs"/>
                </a:rPr>
                <a:t>capacity</a:t>
              </a:r>
              <a:r>
                <a:rPr kumimoji="0" lang="en-US" altLang="zh-CN" sz="3200" b="1" i="0" u="none" strike="noStrike" kern="1200" cap="none" spc="0" normalizeH="0" baseline="0" noProof="0" dirty="0" smtClean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PMingLiU" pitchFamily="18" charset="-120"/>
                  <a:cs typeface="+mn-cs"/>
                </a:rPr>
                <a:t> =</a:t>
              </a:r>
              <a:endParaRPr kumimoji="0" lang="en-US" altLang="zh-CN" sz="32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charset="0"/>
                <a:ea typeface="PMingLiU" pitchFamily="18" charset="-120"/>
                <a:cs typeface="+mn-cs"/>
              </a:endParaRPr>
            </a:p>
          </p:txBody>
        </p:sp>
        <p:grpSp>
          <p:nvGrpSpPr>
            <p:cNvPr id="101381" name="Group 22"/>
            <p:cNvGrpSpPr/>
            <p:nvPr/>
          </p:nvGrpSpPr>
          <p:grpSpPr>
            <a:xfrm>
              <a:off x="2112" y="1632"/>
              <a:ext cx="3006" cy="752"/>
              <a:chOff x="2112" y="1632"/>
              <a:chExt cx="3006" cy="752"/>
            </a:xfrm>
          </p:grpSpPr>
          <p:sp>
            <p:nvSpPr>
              <p:cNvPr id="101382" name="Rectangle 5"/>
              <p:cNvSpPr/>
              <p:nvPr/>
            </p:nvSpPr>
            <p:spPr>
              <a:xfrm>
                <a:off x="2750" y="1632"/>
                <a:ext cx="1800" cy="36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t">
                <a:spAutoFit/>
              </a:bodyPr>
              <a:p>
                <a:pPr algn="ctr">
                  <a:spcBef>
                    <a:spcPct val="20000"/>
                  </a:spcBef>
                </a:pPr>
                <a:r>
                  <a:rPr lang="en-US" altLang="zh-CN" sz="3200" dirty="0">
                    <a:latin typeface="Calibri" panose="020F0502020204030204" charset="0"/>
                    <a:ea typeface="PMingLiU" pitchFamily="18" charset="-120"/>
                  </a:rPr>
                  <a:t>heat transferred</a:t>
                </a:r>
                <a:endParaRPr lang="en-US" altLang="zh-CN" sz="3200" dirty="0">
                  <a:latin typeface="Calibri" panose="020F0502020204030204" charset="0"/>
                  <a:ea typeface="PMingLiU" pitchFamily="18" charset="-120"/>
                </a:endParaRPr>
              </a:p>
            </p:txBody>
          </p:sp>
          <p:sp>
            <p:nvSpPr>
              <p:cNvPr id="101383" name="Rectangle 6"/>
              <p:cNvSpPr/>
              <p:nvPr/>
            </p:nvSpPr>
            <p:spPr>
              <a:xfrm>
                <a:off x="2647" y="2016"/>
                <a:ext cx="2231" cy="36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t">
                <a:spAutoFit/>
              </a:bodyPr>
              <a:p>
                <a:pPr algn="ctr">
                  <a:spcBef>
                    <a:spcPct val="20000"/>
                  </a:spcBef>
                </a:pPr>
                <a:r>
                  <a:rPr lang="en-US" altLang="zh-CN" sz="3200" dirty="0">
                    <a:latin typeface="Calibri" panose="020F0502020204030204" charset="0"/>
                    <a:ea typeface="PMingLiU" pitchFamily="18" charset="-120"/>
                  </a:rPr>
                  <a:t>temperature change</a:t>
                </a:r>
                <a:endParaRPr lang="en-US" altLang="zh-CN" sz="3200" dirty="0">
                  <a:latin typeface="Calibri" panose="020F0502020204030204" charset="0"/>
                  <a:ea typeface="PMingLiU" pitchFamily="18" charset="-120"/>
                </a:endParaRPr>
              </a:p>
            </p:txBody>
          </p:sp>
          <p:sp>
            <p:nvSpPr>
              <p:cNvPr id="101384" name="Line 9"/>
              <p:cNvSpPr/>
              <p:nvPr/>
            </p:nvSpPr>
            <p:spPr>
              <a:xfrm>
                <a:off x="2112" y="2016"/>
                <a:ext cx="3006" cy="0"/>
              </a:xfrm>
              <a:prstGeom prst="line">
                <a:avLst/>
              </a:prstGeom>
              <a:ln w="254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</p:grpSp>
      <p:sp>
        <p:nvSpPr>
          <p:cNvPr id="101385" name="Rectangle 3"/>
          <p:cNvSpPr txBox="1"/>
          <p:nvPr/>
        </p:nvSpPr>
        <p:spPr>
          <a:xfrm>
            <a:off x="2135188" y="3598863"/>
            <a:ext cx="7924800" cy="762000"/>
          </a:xfrm>
          <a:prstGeom prst="rect">
            <a:avLst/>
          </a:prstGeom>
          <a:noFill/>
          <a:ln w="9525">
            <a:noFill/>
          </a:ln>
        </p:spPr>
        <p:txBody>
          <a:bodyPr anchor="t"/>
          <a:p>
            <a:pPr marL="342900" indent="-342900" eaLnBrk="0" hangingPunct="0">
              <a:spcBef>
                <a:spcPct val="20000"/>
              </a:spcBef>
            </a:pPr>
            <a:r>
              <a:rPr lang="en-US" altLang="zh-CN" sz="3200" b="0" dirty="0">
                <a:latin typeface="Calibri" panose="020F0502020204030204" charset="0"/>
                <a:ea typeface="宋体" panose="02010600030101010101" pitchFamily="2" charset="-122"/>
              </a:rPr>
              <a:t>Specific heat, then, is</a:t>
            </a:r>
            <a:endParaRPr lang="en-US" altLang="zh-CN" sz="3200" b="0" dirty="0">
              <a:latin typeface="Calibri" panose="020F0502020204030204" charset="0"/>
              <a:ea typeface="宋体" panose="02010600030101010101" pitchFamily="2" charset="-122"/>
            </a:endParaRPr>
          </a:p>
        </p:txBody>
      </p:sp>
      <p:grpSp>
        <p:nvGrpSpPr>
          <p:cNvPr id="101386" name="Group 23"/>
          <p:cNvGrpSpPr/>
          <p:nvPr/>
        </p:nvGrpSpPr>
        <p:grpSpPr>
          <a:xfrm>
            <a:off x="2443163" y="4035425"/>
            <a:ext cx="7694613" cy="1193800"/>
            <a:chOff x="423" y="1632"/>
            <a:chExt cx="4847" cy="752"/>
          </a:xfrm>
        </p:grpSpPr>
        <p:sp>
          <p:nvSpPr>
            <p:cNvPr id="101387" name="Rectangle 4"/>
            <p:cNvSpPr/>
            <p:nvPr/>
          </p:nvSpPr>
          <p:spPr>
            <a:xfrm>
              <a:off x="423" y="1835"/>
              <a:ext cx="1669" cy="36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>
              <a:spAutoFit/>
            </a:bodyPr>
            <a:p>
              <a:pPr algn="ctr">
                <a:spcBef>
                  <a:spcPct val="20000"/>
                </a:spcBef>
              </a:pPr>
              <a:r>
                <a:rPr lang="en-US" altLang="zh-CN" sz="3200" b="1" dirty="0">
                  <a:latin typeface="Calibri" panose="020F0502020204030204" charset="0"/>
                  <a:ea typeface="PMingLiU" pitchFamily="18" charset="-120"/>
                </a:rPr>
                <a:t>Specific heat</a:t>
              </a:r>
              <a:r>
                <a:rPr lang="en-US" altLang="zh-CN" sz="3200" dirty="0">
                  <a:latin typeface="Times New Roman" panose="02020603050405020304" pitchFamily="18" charset="0"/>
                  <a:ea typeface="PMingLiU" pitchFamily="18" charset="-120"/>
                </a:rPr>
                <a:t> =</a:t>
              </a:r>
              <a:endParaRPr lang="en-US" altLang="zh-CN" sz="3200" dirty="0">
                <a:latin typeface="Calibri" panose="020F0502020204030204" charset="0"/>
                <a:ea typeface="PMingLiU" pitchFamily="18" charset="-120"/>
              </a:endParaRPr>
            </a:p>
          </p:txBody>
        </p:sp>
        <p:grpSp>
          <p:nvGrpSpPr>
            <p:cNvPr id="101388" name="Group 22"/>
            <p:cNvGrpSpPr/>
            <p:nvPr/>
          </p:nvGrpSpPr>
          <p:grpSpPr>
            <a:xfrm>
              <a:off x="2112" y="1632"/>
              <a:ext cx="3158" cy="752"/>
              <a:chOff x="2112" y="1632"/>
              <a:chExt cx="3158" cy="752"/>
            </a:xfrm>
          </p:grpSpPr>
          <p:sp>
            <p:nvSpPr>
              <p:cNvPr id="101389" name="Rectangle 5"/>
              <p:cNvSpPr/>
              <p:nvPr/>
            </p:nvSpPr>
            <p:spPr>
              <a:xfrm>
                <a:off x="2750" y="1632"/>
                <a:ext cx="1800" cy="36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t">
                <a:spAutoFit/>
              </a:bodyPr>
              <a:p>
                <a:pPr algn="ctr">
                  <a:spcBef>
                    <a:spcPct val="20000"/>
                  </a:spcBef>
                </a:pPr>
                <a:r>
                  <a:rPr lang="en-US" altLang="zh-CN" sz="3200" dirty="0">
                    <a:latin typeface="Calibri" panose="020F0502020204030204" charset="0"/>
                    <a:ea typeface="PMingLiU" pitchFamily="18" charset="-120"/>
                  </a:rPr>
                  <a:t>heat transferred</a:t>
                </a:r>
                <a:endParaRPr lang="en-US" altLang="zh-CN" sz="3200" dirty="0">
                  <a:latin typeface="Calibri" panose="020F0502020204030204" charset="0"/>
                  <a:ea typeface="PMingLiU" pitchFamily="18" charset="-120"/>
                </a:endParaRPr>
              </a:p>
            </p:txBody>
          </p:sp>
          <p:sp>
            <p:nvSpPr>
              <p:cNvPr id="101390" name="Rectangle 6"/>
              <p:cNvSpPr/>
              <p:nvPr/>
            </p:nvSpPr>
            <p:spPr>
              <a:xfrm>
                <a:off x="2255" y="2016"/>
                <a:ext cx="3015" cy="36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t">
                <a:spAutoFit/>
              </a:bodyPr>
              <a:p>
                <a:pPr algn="ctr">
                  <a:spcBef>
                    <a:spcPct val="20000"/>
                  </a:spcBef>
                </a:pPr>
                <a:r>
                  <a:rPr lang="en-US" altLang="zh-CN" sz="3200" dirty="0">
                    <a:solidFill>
                      <a:srgbClr val="FF0000"/>
                    </a:solidFill>
                    <a:latin typeface="Calibri" panose="020F0502020204030204" charset="0"/>
                    <a:ea typeface="PMingLiU" pitchFamily="18" charset="-120"/>
                  </a:rPr>
                  <a:t>mass</a:t>
                </a:r>
                <a:r>
                  <a:rPr lang="en-US" altLang="zh-CN" sz="3200" dirty="0">
                    <a:latin typeface="Calibri" panose="020F0502020204030204" charset="0"/>
                    <a:ea typeface="PMingLiU" pitchFamily="18" charset="-120"/>
                  </a:rPr>
                  <a:t> </a:t>
                </a:r>
                <a:r>
                  <a:rPr lang="en-US" altLang="zh-CN" sz="3200" dirty="0">
                    <a:latin typeface="Calibri" panose="020F0502020204030204" charset="0"/>
                    <a:ea typeface="PMingLiU" pitchFamily="18" charset="-120"/>
                    <a:sym typeface="Symbol" panose="05050102010706020507" charset="2"/>
                  </a:rPr>
                  <a:t> </a:t>
                </a:r>
                <a:r>
                  <a:rPr lang="en-US" altLang="zh-CN" sz="3200" dirty="0">
                    <a:latin typeface="Calibri" panose="020F0502020204030204" charset="0"/>
                    <a:ea typeface="PMingLiU" pitchFamily="18" charset="-120"/>
                  </a:rPr>
                  <a:t>temperature change</a:t>
                </a:r>
                <a:endParaRPr lang="en-US" altLang="zh-CN" sz="3200" dirty="0">
                  <a:latin typeface="Calibri" panose="020F0502020204030204" charset="0"/>
                  <a:ea typeface="PMingLiU" pitchFamily="18" charset="-120"/>
                </a:endParaRPr>
              </a:p>
            </p:txBody>
          </p:sp>
          <p:sp>
            <p:nvSpPr>
              <p:cNvPr id="101391" name="Line 9"/>
              <p:cNvSpPr/>
              <p:nvPr/>
            </p:nvSpPr>
            <p:spPr>
              <a:xfrm>
                <a:off x="2112" y="2016"/>
                <a:ext cx="3006" cy="0"/>
              </a:xfrm>
              <a:prstGeom prst="line">
                <a:avLst/>
              </a:prstGeom>
              <a:ln w="254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</p:grpSp>
      <p:grpSp>
        <p:nvGrpSpPr>
          <p:cNvPr id="101392" name="Group 21"/>
          <p:cNvGrpSpPr/>
          <p:nvPr/>
        </p:nvGrpSpPr>
        <p:grpSpPr>
          <a:xfrm>
            <a:off x="3924300" y="5296535"/>
            <a:ext cx="3319145" cy="1331682"/>
            <a:chOff x="2126" y="2611"/>
            <a:chExt cx="1507" cy="683"/>
          </a:xfrm>
        </p:grpSpPr>
        <p:sp>
          <p:nvSpPr>
            <p:cNvPr id="101393" name="Rectangle 11"/>
            <p:cNvSpPr/>
            <p:nvPr/>
          </p:nvSpPr>
          <p:spPr>
            <a:xfrm>
              <a:off x="2126" y="2805"/>
              <a:ext cx="423" cy="29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anchor="t">
              <a:spAutoFit/>
            </a:bodyPr>
            <a:p>
              <a:pPr algn="ctr">
                <a:spcBef>
                  <a:spcPct val="20000"/>
                </a:spcBef>
              </a:pPr>
              <a:r>
                <a:rPr lang="en-US" altLang="zh-CN" sz="3200" i="1" dirty="0">
                  <a:latin typeface="Calibri" panose="020F0502020204030204" charset="0"/>
                  <a:ea typeface="PMingLiU" pitchFamily="18" charset="-120"/>
                </a:rPr>
                <a:t>s</a:t>
              </a:r>
              <a:r>
                <a:rPr lang="en-US" altLang="zh-CN" sz="3200" dirty="0">
                  <a:latin typeface="Times New Roman" panose="02020603050405020304" pitchFamily="18" charset="0"/>
                  <a:ea typeface="PMingLiU" pitchFamily="18" charset="-120"/>
                </a:rPr>
                <a:t> =</a:t>
              </a:r>
              <a:endParaRPr lang="en-US" altLang="zh-CN" sz="3200" i="1" dirty="0">
                <a:latin typeface="Calibri" panose="020F0502020204030204" charset="0"/>
                <a:ea typeface="PMingLiU" pitchFamily="18" charset="-120"/>
              </a:endParaRPr>
            </a:p>
          </p:txBody>
        </p:sp>
        <p:grpSp>
          <p:nvGrpSpPr>
            <p:cNvPr id="101394" name="Group 20"/>
            <p:cNvGrpSpPr/>
            <p:nvPr/>
          </p:nvGrpSpPr>
          <p:grpSpPr>
            <a:xfrm>
              <a:off x="2654" y="2611"/>
              <a:ext cx="979" cy="683"/>
              <a:chOff x="2654" y="2611"/>
              <a:chExt cx="979" cy="683"/>
            </a:xfrm>
          </p:grpSpPr>
          <p:sp>
            <p:nvSpPr>
              <p:cNvPr id="101395" name="Rectangle 12"/>
              <p:cNvSpPr/>
              <p:nvPr/>
            </p:nvSpPr>
            <p:spPr>
              <a:xfrm>
                <a:off x="2989" y="2611"/>
                <a:ext cx="247" cy="299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square" anchor="t">
                <a:spAutoFit/>
              </a:bodyPr>
              <a:p>
                <a:pPr algn="ctr">
                  <a:spcBef>
                    <a:spcPct val="20000"/>
                  </a:spcBef>
                </a:pPr>
                <a:r>
                  <a:rPr lang="en-US" altLang="zh-CN" sz="3200" i="1" dirty="0">
                    <a:latin typeface="Calibri" panose="020F0502020204030204" charset="0"/>
                    <a:ea typeface="PMingLiU" pitchFamily="18" charset="-120"/>
                  </a:rPr>
                  <a:t>q</a:t>
                </a:r>
                <a:endParaRPr lang="en-US" altLang="zh-CN" sz="3200" i="1" dirty="0">
                  <a:latin typeface="Calibri" panose="020F0502020204030204" charset="0"/>
                  <a:ea typeface="PMingLiU" pitchFamily="18" charset="-120"/>
                </a:endParaRPr>
              </a:p>
            </p:txBody>
          </p:sp>
          <p:sp>
            <p:nvSpPr>
              <p:cNvPr id="101396" name="Rectangle 13"/>
              <p:cNvSpPr/>
              <p:nvPr/>
            </p:nvSpPr>
            <p:spPr>
              <a:xfrm>
                <a:off x="2711" y="2995"/>
                <a:ext cx="856" cy="299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square" anchor="t">
                <a:spAutoFit/>
              </a:bodyPr>
              <a:p>
                <a:pPr algn="ctr">
                  <a:spcBef>
                    <a:spcPct val="20000"/>
                  </a:spcBef>
                </a:pPr>
                <a:r>
                  <a:rPr lang="en-US" altLang="zh-CN" sz="3200" i="1" dirty="0">
                    <a:solidFill>
                      <a:srgbClr val="FF0000"/>
                    </a:solidFill>
                    <a:latin typeface="Calibri" panose="020F0502020204030204" charset="0"/>
                    <a:ea typeface="PMingLiU" pitchFamily="18" charset="-120"/>
                  </a:rPr>
                  <a:t>m</a:t>
                </a:r>
                <a:r>
                  <a:rPr lang="en-US" altLang="zh-CN" sz="3200" dirty="0">
                    <a:latin typeface="Calibri" panose="020F0502020204030204" charset="0"/>
                    <a:ea typeface="PMingLiU" pitchFamily="18" charset="-120"/>
                  </a:rPr>
                  <a:t> </a:t>
                </a:r>
                <a:r>
                  <a:rPr lang="en-US" altLang="zh-CN" sz="3200" dirty="0">
                    <a:latin typeface="Calibri" panose="020F0502020204030204" charset="0"/>
                    <a:ea typeface="PMingLiU" pitchFamily="18" charset="-120"/>
                    <a:sym typeface="Symbol" panose="05050102010706020507" charset="2"/>
                  </a:rPr>
                  <a:t> </a:t>
                </a:r>
                <a:r>
                  <a:rPr lang="en-US" altLang="zh-CN" sz="3200" dirty="0">
                    <a:latin typeface="Symbol" panose="05050102010706020507" charset="2"/>
                    <a:ea typeface="PMingLiU" pitchFamily="18" charset="-120"/>
                    <a:sym typeface="Symbol" panose="05050102010706020507" charset="2"/>
                  </a:rPr>
                  <a:t></a:t>
                </a:r>
                <a:r>
                  <a:rPr lang="en-US" altLang="zh-CN" sz="3200" i="1" dirty="0">
                    <a:latin typeface="Calibri" panose="020F0502020204030204" charset="0"/>
                    <a:ea typeface="PMingLiU" pitchFamily="18" charset="-120"/>
                  </a:rPr>
                  <a:t>T</a:t>
                </a:r>
                <a:endParaRPr lang="en-US" altLang="zh-CN" sz="3200" i="1" dirty="0">
                  <a:latin typeface="Calibri" panose="020F0502020204030204" charset="0"/>
                  <a:ea typeface="PMingLiU" pitchFamily="18" charset="-120"/>
                </a:endParaRPr>
              </a:p>
            </p:txBody>
          </p:sp>
          <p:sp>
            <p:nvSpPr>
              <p:cNvPr id="101397" name="Line 14"/>
              <p:cNvSpPr/>
              <p:nvPr/>
            </p:nvSpPr>
            <p:spPr>
              <a:xfrm>
                <a:off x="2654" y="2995"/>
                <a:ext cx="979" cy="0"/>
              </a:xfrm>
              <a:prstGeom prst="line">
                <a:avLst/>
              </a:prstGeom>
              <a:ln w="254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</p:grpSp>
    </p:spTree>
  </p:cSld>
  <p:clrMapOvr>
    <a:masterClrMapping/>
  </p:clrMapOvr>
  <p:transition/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5473" name="Rectangle 2"/>
          <p:cNvSpPr>
            <a:spLocks noGrp="1"/>
          </p:cNvSpPr>
          <p:nvPr>
            <p:ph type="title"/>
          </p:nvPr>
        </p:nvSpPr>
        <p:spPr>
          <a:xfrm>
            <a:off x="5499735" y="402590"/>
            <a:ext cx="7019290" cy="866140"/>
          </a:xfrm>
        </p:spPr>
        <p:txBody>
          <a:bodyPr vert="horz" wrap="square" lIns="91440" tIns="45720" rIns="91440" bIns="45720" anchor="ctr">
            <a:noAutofit/>
          </a:bodyPr>
          <a:p>
            <a:r>
              <a:rPr lang="en-US" altLang="zh-CN" sz="3200" b="1" dirty="0">
                <a:solidFill>
                  <a:srgbClr val="C00000"/>
                </a:solidFill>
              </a:rPr>
              <a:t> </a:t>
            </a:r>
            <a:r>
              <a:rPr lang="en-US" altLang="zh-CN" sz="3600" b="1" dirty="0">
                <a:solidFill>
                  <a:srgbClr val="C00000"/>
                </a:solidFill>
              </a:rPr>
              <a:t>Constant Pressure Calorimetry</a:t>
            </a:r>
            <a:endParaRPr lang="en-US" altLang="zh-CN" sz="3600" b="1" dirty="0">
              <a:solidFill>
                <a:srgbClr val="C00000"/>
              </a:solidFill>
            </a:endParaRPr>
          </a:p>
        </p:txBody>
      </p:sp>
      <p:sp>
        <p:nvSpPr>
          <p:cNvPr id="105474" name="Rectangle 3"/>
          <p:cNvSpPr>
            <a:spLocks noGrp="1"/>
          </p:cNvSpPr>
          <p:nvPr>
            <p:ph type="body" sz="half" idx="2"/>
          </p:nvPr>
        </p:nvSpPr>
        <p:spPr>
          <a:xfrm>
            <a:off x="5808980" y="1628775"/>
            <a:ext cx="4672965" cy="4585970"/>
          </a:xfrm>
        </p:spPr>
        <p:txBody>
          <a:bodyPr vert="horz" wrap="square" lIns="91440" tIns="45720" rIns="91440" bIns="45720" anchor="t"/>
          <a:p>
            <a:pPr>
              <a:buClrTx/>
              <a:buSzTx/>
              <a:buFontTx/>
              <a:buNone/>
            </a:pPr>
            <a:r>
              <a:rPr lang="en-US" altLang="zh-CN" sz="3600"/>
              <a:t>	Because the specific heat for water is well known (4.184 J/g-K), we can measure </a:t>
            </a:r>
            <a:r>
              <a:rPr lang="en-US" altLang="zh-CN" sz="3600">
                <a:latin typeface="微软雅黑" panose="020B0503020204020204" charset="-122"/>
                <a:ea typeface="微软雅黑" panose="020B0503020204020204" charset="-122"/>
              </a:rPr>
              <a:t>∆</a:t>
            </a:r>
            <a:r>
              <a:rPr lang="en-US" altLang="zh-CN" sz="3600"/>
              <a:t>H for the reaction with this equation:</a:t>
            </a:r>
            <a:endParaRPr lang="en-US" altLang="zh-CN" sz="3600"/>
          </a:p>
          <a:p>
            <a:pPr>
              <a:buClrTx/>
              <a:buSzTx/>
              <a:buFontTx/>
              <a:buNone/>
            </a:pPr>
            <a:r>
              <a:rPr lang="en-US" altLang="zh-CN" sz="3600"/>
              <a:t>	</a:t>
            </a:r>
            <a:r>
              <a:rPr lang="en-US" altLang="zh-CN" sz="3600" i="1"/>
              <a:t>q</a:t>
            </a:r>
            <a:r>
              <a:rPr lang="en-US" altLang="zh-CN" sz="3600"/>
              <a:t> = </a:t>
            </a:r>
            <a:r>
              <a:rPr lang="en-US" altLang="zh-CN" sz="3600" i="1"/>
              <a:t>m</a:t>
            </a:r>
            <a:r>
              <a:rPr lang="en-US" altLang="zh-CN" sz="3600"/>
              <a:t> * </a:t>
            </a:r>
            <a:r>
              <a:rPr lang="en-US" altLang="zh-CN" sz="3600" i="1"/>
              <a:t>s</a:t>
            </a:r>
            <a:r>
              <a:rPr lang="en-US" altLang="zh-CN" sz="3600"/>
              <a:t> *</a:t>
            </a:r>
            <a:r>
              <a:rPr lang="en-US" altLang="zh-CN" sz="3600">
                <a:latin typeface="微软雅黑" panose="020B0503020204020204" charset="-122"/>
                <a:ea typeface="微软雅黑" panose="020B0503020204020204" charset="-122"/>
              </a:rPr>
              <a:t>∆</a:t>
            </a:r>
            <a:r>
              <a:rPr lang="en-US" altLang="zh-CN" sz="3600" i="1"/>
              <a:t>T</a:t>
            </a:r>
            <a:endParaRPr lang="en-US" altLang="zh-CN" sz="3600" i="1"/>
          </a:p>
        </p:txBody>
      </p:sp>
      <p:pic>
        <p:nvPicPr>
          <p:cNvPr id="105475" name="Picture 19" descr="05_18_Figure_L"/>
          <p:cNvPicPr>
            <a:picLocks noChangeAspect="1"/>
          </p:cNvPicPr>
          <p:nvPr/>
        </p:nvPicPr>
        <p:blipFill>
          <a:blip r:embed="rId1">
            <a:lum bright="-6000" contrast="10000"/>
          </a:blip>
          <a:stretch>
            <a:fillRect/>
          </a:stretch>
        </p:blipFill>
        <p:spPr>
          <a:xfrm>
            <a:off x="0" y="-24130"/>
            <a:ext cx="5158740" cy="688213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5476" name="Rectangle 4"/>
          <p:cNvSpPr/>
          <p:nvPr/>
        </p:nvSpPr>
        <p:spPr>
          <a:xfrm>
            <a:off x="7239477" y="5795963"/>
            <a:ext cx="2273935" cy="583565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p>
            <a:pPr algn="ctr">
              <a:spcBef>
                <a:spcPct val="20000"/>
              </a:spcBef>
            </a:pPr>
            <a:r>
              <a:rPr lang="en-US" altLang="zh-CN" sz="3200" b="0" dirty="0">
                <a:latin typeface="Calibri" panose="020F0502020204030204" charset="0"/>
                <a:ea typeface="PMingLiU" pitchFamily="18" charset="-120"/>
              </a:rPr>
              <a:t>Specific heat</a:t>
            </a:r>
            <a:r>
              <a:rPr lang="en-US" altLang="zh-CN" sz="3200" b="0" dirty="0">
                <a:latin typeface="Times New Roman" panose="02020603050405020304" pitchFamily="18" charset="0"/>
                <a:ea typeface="PMingLiU" pitchFamily="18" charset="-120"/>
              </a:rPr>
              <a:t> </a:t>
            </a:r>
            <a:endParaRPr lang="en-US" altLang="zh-CN" sz="3200" b="0" dirty="0">
              <a:latin typeface="Calibri" panose="020F0502020204030204" charset="0"/>
              <a:ea typeface="PMingLiU" pitchFamily="18" charset="-120"/>
            </a:endParaRPr>
          </a:p>
        </p:txBody>
      </p:sp>
      <p:cxnSp>
        <p:nvCxnSpPr>
          <p:cNvPr id="7" name="Straight Arrow Connector 6"/>
          <p:cNvCxnSpPr/>
          <p:nvPr/>
        </p:nvCxnSpPr>
        <p:spPr>
          <a:xfrm flipH="1" flipV="1">
            <a:off x="7726363" y="5151438"/>
            <a:ext cx="457200" cy="654050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slow"/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1617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/>
          <a:p>
            <a:pPr algn="ctr"/>
            <a:r>
              <a:rPr lang="en-US" altLang="zh-CN" b="1" dirty="0">
                <a:solidFill>
                  <a:srgbClr val="C00000"/>
                </a:solidFill>
              </a:rPr>
              <a:t>Bomb Calorimetry </a:t>
            </a:r>
            <a:r>
              <a:rPr lang="en-US" altLang="zh-CN" dirty="0">
                <a:solidFill>
                  <a:srgbClr val="0000FF"/>
                </a:solidFill>
              </a:rPr>
              <a:t>(fixed volume but not pressure)</a:t>
            </a:r>
            <a:endParaRPr lang="en-US" altLang="zh-CN" dirty="0">
              <a:solidFill>
                <a:srgbClr val="0000FF"/>
              </a:solidFill>
            </a:endParaRPr>
          </a:p>
        </p:txBody>
      </p:sp>
      <p:sp>
        <p:nvSpPr>
          <p:cNvPr id="89091" name="Rectangle 3"/>
          <p:cNvSpPr>
            <a:spLocks noGrp="1"/>
          </p:cNvSpPr>
          <p:nvPr>
            <p:ph type="body" sz="half" idx="1"/>
          </p:nvPr>
        </p:nvSpPr>
        <p:spPr>
          <a:xfrm>
            <a:off x="413385" y="1268730"/>
            <a:ext cx="5473065" cy="4495800"/>
          </a:xfrm>
        </p:spPr>
        <p:txBody>
          <a:bodyPr vert="horz" wrap="square" lIns="91440" tIns="45720" rIns="91440" bIns="45720" anchor="t">
            <a:noAutofit/>
          </a:bodyPr>
          <a:p>
            <a:pPr>
              <a:buClrTx/>
              <a:buSzTx/>
              <a:buFont typeface="Arial" panose="020B0604020202020204" pitchFamily="34" charset="0"/>
            </a:pPr>
            <a:r>
              <a:rPr lang="en-US" altLang="zh-CN" sz="4000" dirty="0"/>
              <a:t>Reactions can be carried out in a sealed “bomb” such as this one.</a:t>
            </a:r>
            <a:endParaRPr lang="en-US" altLang="zh-CN" sz="4000" dirty="0"/>
          </a:p>
          <a:p>
            <a:pPr>
              <a:buClrTx/>
              <a:buSzTx/>
              <a:buFont typeface="Arial" panose="020B0604020202020204" pitchFamily="34" charset="0"/>
            </a:pPr>
            <a:r>
              <a:rPr lang="en-US" altLang="zh-CN" sz="4000" dirty="0"/>
              <a:t>The heat absorbed (or released) by the water is a very good approximation of the enthalpy change for the reaction.</a:t>
            </a:r>
            <a:endParaRPr lang="en-US" altLang="zh-CN" sz="4000" dirty="0"/>
          </a:p>
        </p:txBody>
      </p:sp>
      <p:pic>
        <p:nvPicPr>
          <p:cNvPr id="111619" name="Picture 10" descr="05_19_Figure_L"/>
          <p:cNvPicPr>
            <a:picLocks noChangeAspect="1"/>
          </p:cNvPicPr>
          <p:nvPr/>
        </p:nvPicPr>
        <p:blipFill>
          <a:blip r:embed="rId1">
            <a:lum bright="-6000" contrast="10000"/>
          </a:blip>
          <a:stretch>
            <a:fillRect/>
          </a:stretch>
        </p:blipFill>
        <p:spPr>
          <a:xfrm>
            <a:off x="6096000" y="1295400"/>
            <a:ext cx="4392613" cy="5140325"/>
          </a:xfrm>
          <a:prstGeom prst="rect">
            <a:avLst/>
          </a:prstGeom>
          <a:noFill/>
          <a:ln w="9525">
            <a:noFill/>
          </a:ln>
        </p:spPr>
      </p:pic>
      <p:cxnSp>
        <p:nvCxnSpPr>
          <p:cNvPr id="3" name="Straight Arrow Connector 2"/>
          <p:cNvCxnSpPr/>
          <p:nvPr/>
        </p:nvCxnSpPr>
        <p:spPr>
          <a:xfrm flipH="1">
            <a:off x="9767888" y="1295400"/>
            <a:ext cx="504825" cy="84772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4" name="Straight Arrow Connector 3"/>
          <p:cNvCxnSpPr/>
          <p:nvPr/>
        </p:nvCxnSpPr>
        <p:spPr>
          <a:xfrm>
            <a:off x="6816725" y="5516563"/>
            <a:ext cx="503238" cy="0"/>
          </a:xfrm>
          <a:prstGeom prst="straightConnector1">
            <a:avLst/>
          </a:prstGeom>
          <a:ln w="38100"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091">
                                            <p:txEl>
                                              <p:charRg st="66" end="18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9091" grpId="0" build="p"/>
    </p:bld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3665" name="Rectangle 2"/>
          <p:cNvSpPr>
            <a:spLocks noGrp="1"/>
          </p:cNvSpPr>
          <p:nvPr>
            <p:ph type="title"/>
          </p:nvPr>
        </p:nvSpPr>
        <p:spPr>
          <a:xfrm>
            <a:off x="-1279525" y="-317"/>
            <a:ext cx="9144000" cy="1143000"/>
          </a:xfrm>
        </p:spPr>
        <p:txBody>
          <a:bodyPr vert="horz" wrap="square" lIns="91440" tIns="45720" rIns="91440" bIns="45720" anchor="ctr"/>
          <a:p>
            <a:pPr algn="ctr"/>
            <a:r>
              <a:rPr lang="en-US" altLang="zh-CN" b="1" dirty="0">
                <a:solidFill>
                  <a:srgbClr val="C00000"/>
                </a:solidFill>
              </a:rPr>
              <a:t>Bomb Calorimetry</a:t>
            </a:r>
            <a:endParaRPr lang="en-US" altLang="zh-CN" b="1" dirty="0">
              <a:solidFill>
                <a:srgbClr val="C00000"/>
              </a:solidFill>
            </a:endParaRPr>
          </a:p>
        </p:txBody>
      </p:sp>
      <p:sp>
        <p:nvSpPr>
          <p:cNvPr id="113666" name="Rectangle 3"/>
          <p:cNvSpPr>
            <a:spLocks noGrp="1"/>
          </p:cNvSpPr>
          <p:nvPr>
            <p:ph type="body" sz="half" idx="1"/>
          </p:nvPr>
        </p:nvSpPr>
        <p:spPr>
          <a:xfrm>
            <a:off x="885190" y="836930"/>
            <a:ext cx="5210810" cy="4495800"/>
          </a:xfrm>
        </p:spPr>
        <p:txBody>
          <a:bodyPr vert="horz" wrap="square" lIns="91440" tIns="45720" rIns="91440" bIns="45720" anchor="t">
            <a:noAutofit/>
          </a:bodyPr>
          <a:p>
            <a:pPr>
              <a:buClrTx/>
              <a:buSzTx/>
              <a:buFont typeface="Arial" panose="020B0604020202020204" pitchFamily="34" charset="0"/>
            </a:pPr>
            <a:r>
              <a:rPr lang="en-US" altLang="zh-CN" dirty="0"/>
              <a:t>Because the </a:t>
            </a:r>
            <a:r>
              <a:rPr lang="en-US" altLang="zh-CN" u="sng" dirty="0"/>
              <a:t>volume </a:t>
            </a:r>
            <a:r>
              <a:rPr lang="en-US" altLang="zh-CN" dirty="0"/>
              <a:t>in the bomb calorimeter is </a:t>
            </a:r>
            <a:r>
              <a:rPr lang="en-US" altLang="zh-CN" u="sng" dirty="0"/>
              <a:t>constant,</a:t>
            </a:r>
            <a:r>
              <a:rPr lang="en-US" altLang="zh-CN" dirty="0"/>
              <a:t> what is measured is really the change in internal energy, </a:t>
            </a:r>
            <a:r>
              <a:rPr lang="en-US" altLang="zh-CN" dirty="0">
                <a:latin typeface="Symbol" panose="05050102010706020507" charset="2"/>
                <a:sym typeface="Symbol" panose="05050102010706020507" charset="2"/>
              </a:rPr>
              <a:t></a:t>
            </a:r>
            <a:r>
              <a:rPr lang="en-US" altLang="zh-CN" i="1" dirty="0"/>
              <a:t>E</a:t>
            </a:r>
            <a:r>
              <a:rPr lang="en-US" altLang="zh-CN" dirty="0"/>
              <a:t>, not </a:t>
            </a:r>
            <a:r>
              <a:rPr lang="en-US" altLang="zh-CN" dirty="0">
                <a:latin typeface="Symbol" panose="05050102010706020507" charset="2"/>
                <a:sym typeface="Symbol" panose="05050102010706020507" charset="2"/>
              </a:rPr>
              <a:t></a:t>
            </a:r>
            <a:r>
              <a:rPr lang="en-US" altLang="zh-CN" i="1" dirty="0"/>
              <a:t>H</a:t>
            </a:r>
            <a:r>
              <a:rPr lang="en-US" altLang="zh-CN" dirty="0"/>
              <a:t>.</a:t>
            </a:r>
            <a:endParaRPr lang="en-US" altLang="zh-CN" dirty="0"/>
          </a:p>
          <a:p>
            <a:pPr>
              <a:buClrTx/>
              <a:buSzTx/>
              <a:buFont typeface="Symbol" panose="05050102010706020507" charset="2"/>
              <a:buChar char=" "/>
            </a:pPr>
            <a:r>
              <a:rPr lang="en-US" altLang="zh-CN" dirty="0">
                <a:latin typeface="Symbol" panose="05050102010706020507" charset="2"/>
                <a:sym typeface="Symbol" panose="05050102010706020507" charset="2"/>
              </a:rPr>
              <a:t></a:t>
            </a:r>
            <a:r>
              <a:rPr lang="en-US" altLang="zh-CN" i="1" dirty="0">
                <a:sym typeface="Symbol" panose="05050102010706020507" charset="2"/>
              </a:rPr>
              <a:t>E</a:t>
            </a:r>
            <a:r>
              <a:rPr lang="en-US" altLang="zh-CN" dirty="0"/>
              <a:t> = </a:t>
            </a:r>
            <a:r>
              <a:rPr lang="en-US" altLang="zh-CN" i="1" dirty="0"/>
              <a:t>q</a:t>
            </a:r>
            <a:r>
              <a:rPr lang="en-US" altLang="zh-CN" i="1" baseline="-25000" dirty="0">
                <a:solidFill>
                  <a:srgbClr val="FF0000"/>
                </a:solidFill>
              </a:rPr>
              <a:t> </a:t>
            </a:r>
            <a:r>
              <a:rPr lang="en-US" altLang="zh-CN" dirty="0"/>
              <a:t>+</a:t>
            </a:r>
            <a:r>
              <a:rPr lang="en-US" altLang="zh-CN" i="1" dirty="0">
                <a:solidFill>
                  <a:srgbClr val="FF0000"/>
                </a:solidFill>
              </a:rPr>
              <a:t> </a:t>
            </a:r>
            <a:r>
              <a:rPr lang="en-US" altLang="zh-CN" i="1" dirty="0"/>
              <a:t>w</a:t>
            </a:r>
            <a:endParaRPr lang="en-US" altLang="zh-CN" i="1" dirty="0"/>
          </a:p>
          <a:p>
            <a:pPr>
              <a:buClrTx/>
              <a:buSzTx/>
              <a:buFont typeface="Symbol" panose="05050102010706020507" charset="2"/>
              <a:buChar char=" "/>
            </a:pPr>
            <a:r>
              <a:rPr lang="en-US" altLang="zh-CN" dirty="0">
                <a:latin typeface="Symbol" panose="05050102010706020507" charset="2"/>
                <a:sym typeface="Symbol" panose="05050102010706020507" charset="2"/>
              </a:rPr>
              <a:t></a:t>
            </a:r>
            <a:r>
              <a:rPr lang="en-US" altLang="zh-CN" i="1" dirty="0">
                <a:sym typeface="Symbol" panose="05050102010706020507" charset="2"/>
              </a:rPr>
              <a:t>E</a:t>
            </a:r>
            <a:r>
              <a:rPr lang="en-US" altLang="zh-CN" dirty="0"/>
              <a:t> = </a:t>
            </a:r>
            <a:r>
              <a:rPr lang="en-US" altLang="zh-CN" i="1" dirty="0"/>
              <a:t>q</a:t>
            </a:r>
            <a:r>
              <a:rPr lang="en-US" altLang="zh-CN" i="1" baseline="-25000" dirty="0">
                <a:solidFill>
                  <a:srgbClr val="FF0000"/>
                </a:solidFill>
              </a:rPr>
              <a:t>v </a:t>
            </a:r>
            <a:r>
              <a:rPr lang="en-US" altLang="zh-CN" dirty="0"/>
              <a:t>+</a:t>
            </a:r>
            <a:r>
              <a:rPr lang="en-US" altLang="zh-CN" i="1" dirty="0">
                <a:solidFill>
                  <a:srgbClr val="FF0000"/>
                </a:solidFill>
              </a:rPr>
              <a:t> </a:t>
            </a:r>
            <a:r>
              <a:rPr lang="en-US" altLang="zh-CN" dirty="0">
                <a:solidFill>
                  <a:srgbClr val="FF0000"/>
                </a:solidFill>
              </a:rPr>
              <a:t>0 (if constant V)</a:t>
            </a:r>
            <a:endParaRPr lang="en-US" altLang="zh-CN" dirty="0">
              <a:solidFill>
                <a:srgbClr val="FF0000"/>
              </a:solidFill>
            </a:endParaRPr>
          </a:p>
          <a:p>
            <a:pPr>
              <a:buClrTx/>
              <a:buSzTx/>
              <a:buFont typeface="Symbol" panose="05050102010706020507" charset="2"/>
              <a:buChar char=" "/>
            </a:pPr>
            <a:r>
              <a:rPr lang="en-US" altLang="zh-CN" b="1" dirty="0">
                <a:latin typeface="Symbol" panose="05050102010706020507" charset="2"/>
                <a:sym typeface="Symbol" panose="05050102010706020507" charset="2"/>
              </a:rPr>
              <a:t></a:t>
            </a:r>
            <a:r>
              <a:rPr lang="en-US" altLang="zh-CN" b="1" i="1" dirty="0">
                <a:sym typeface="Symbol" panose="05050102010706020507" charset="2"/>
              </a:rPr>
              <a:t>E</a:t>
            </a:r>
            <a:r>
              <a:rPr lang="en-US" altLang="zh-CN" b="1" dirty="0"/>
              <a:t> = </a:t>
            </a:r>
            <a:r>
              <a:rPr lang="en-US" altLang="zh-CN" b="1" i="1" dirty="0"/>
              <a:t>q</a:t>
            </a:r>
            <a:r>
              <a:rPr lang="en-US" altLang="zh-CN" b="1" i="1" baseline="-25000" dirty="0">
                <a:solidFill>
                  <a:srgbClr val="FF0000"/>
                </a:solidFill>
              </a:rPr>
              <a:t>v</a:t>
            </a:r>
            <a:endParaRPr lang="en-US" altLang="zh-CN" b="1" i="1" baseline="-25000" dirty="0">
              <a:solidFill>
                <a:srgbClr val="FF0000"/>
              </a:solidFill>
            </a:endParaRPr>
          </a:p>
          <a:p>
            <a:pPr>
              <a:buClrTx/>
              <a:buSzTx/>
              <a:buFont typeface="Symbol" panose="05050102010706020507" charset="2"/>
              <a:buChar char=" "/>
            </a:pPr>
            <a:endParaRPr lang="en-US" altLang="zh-CN" b="1" i="1" dirty="0"/>
          </a:p>
          <a:p>
            <a:pPr>
              <a:buClrTx/>
              <a:buSzTx/>
              <a:buFontTx/>
              <a:buNone/>
            </a:pPr>
            <a:r>
              <a:rPr lang="en-US" altLang="zh-CN" dirty="0"/>
              <a:t>	</a:t>
            </a:r>
            <a:r>
              <a:rPr lang="en-US" altLang="zh-CN" dirty="0">
                <a:solidFill>
                  <a:srgbClr val="FF0000"/>
                </a:solidFill>
                <a:latin typeface="Symbol" panose="05050102010706020507" charset="2"/>
                <a:sym typeface="Symbol" panose="05050102010706020507" charset="2"/>
              </a:rPr>
              <a:t></a:t>
            </a:r>
            <a:r>
              <a:rPr lang="en-US" altLang="zh-CN" i="1" dirty="0">
                <a:solidFill>
                  <a:srgbClr val="FF0000"/>
                </a:solidFill>
              </a:rPr>
              <a:t>H</a:t>
            </a:r>
            <a:r>
              <a:rPr lang="zh-CN" altLang="en-US" dirty="0">
                <a:solidFill>
                  <a:srgbClr val="FF0000"/>
                </a:solidFill>
              </a:rPr>
              <a:t> </a:t>
            </a:r>
            <a:r>
              <a:rPr lang="en-US" altLang="zh-CN" dirty="0"/>
              <a:t>= </a:t>
            </a:r>
            <a:r>
              <a:rPr lang="en-US" altLang="zh-CN" dirty="0">
                <a:latin typeface="Symbol" panose="05050102010706020507" charset="2"/>
                <a:sym typeface="Symbol" panose="05050102010706020507" charset="2"/>
              </a:rPr>
              <a:t></a:t>
            </a:r>
            <a:r>
              <a:rPr lang="en-US" altLang="zh-CN" dirty="0"/>
              <a:t>(</a:t>
            </a:r>
            <a:r>
              <a:rPr lang="en-US" altLang="zh-CN" i="1" dirty="0"/>
              <a:t>E</a:t>
            </a:r>
            <a:r>
              <a:rPr lang="en-US" altLang="zh-CN" dirty="0"/>
              <a:t>+</a:t>
            </a:r>
            <a:r>
              <a:rPr lang="en-US" altLang="zh-CN" i="1" dirty="0"/>
              <a:t>PV</a:t>
            </a:r>
            <a:r>
              <a:rPr lang="en-US" altLang="zh-CN" dirty="0"/>
              <a:t>) = </a:t>
            </a:r>
            <a:r>
              <a:rPr lang="en-US" altLang="zh-CN" dirty="0">
                <a:latin typeface="Symbol" panose="05050102010706020507" charset="2"/>
                <a:sym typeface="Symbol" panose="05050102010706020507" charset="2"/>
              </a:rPr>
              <a:t></a:t>
            </a:r>
            <a:r>
              <a:rPr lang="en-US" altLang="zh-CN" i="1" dirty="0"/>
              <a:t>E +</a:t>
            </a:r>
            <a:r>
              <a:rPr lang="en-US" altLang="zh-CN" dirty="0">
                <a:latin typeface="Symbol" panose="05050102010706020507" charset="2"/>
                <a:sym typeface="Symbol" panose="05050102010706020507" charset="2"/>
              </a:rPr>
              <a:t> </a:t>
            </a:r>
            <a:r>
              <a:rPr lang="en-US" altLang="zh-CN" dirty="0">
                <a:sym typeface="Symbol" panose="05050102010706020507" charset="2"/>
              </a:rPr>
              <a:t>(</a:t>
            </a:r>
            <a:r>
              <a:rPr lang="en-US" altLang="zh-CN" i="1" dirty="0"/>
              <a:t>PV</a:t>
            </a:r>
            <a:r>
              <a:rPr lang="en-US" altLang="zh-CN" dirty="0"/>
              <a:t>)</a:t>
            </a:r>
            <a:endParaRPr lang="en-US" altLang="zh-CN" dirty="0"/>
          </a:p>
          <a:p>
            <a:pPr>
              <a:buClrTx/>
              <a:buSzTx/>
              <a:buFont typeface="Arial" panose="020B0604020202020204" pitchFamily="34" charset="0"/>
              <a:buNone/>
            </a:pPr>
            <a:r>
              <a:rPr lang="en-US" altLang="zh-CN" dirty="0"/>
              <a:t>            </a:t>
            </a:r>
            <a:r>
              <a:rPr lang="en-US" altLang="zh-CN" dirty="0">
                <a:solidFill>
                  <a:srgbClr val="FF0000"/>
                </a:solidFill>
              </a:rPr>
              <a:t>= </a:t>
            </a:r>
            <a:r>
              <a:rPr lang="en-US" altLang="zh-CN" dirty="0">
                <a:solidFill>
                  <a:srgbClr val="FF0000"/>
                </a:solidFill>
                <a:latin typeface="Symbol" panose="05050102010706020507" charset="2"/>
                <a:sym typeface="Symbol" panose="05050102010706020507" charset="2"/>
              </a:rPr>
              <a:t></a:t>
            </a:r>
            <a:r>
              <a:rPr lang="en-US" altLang="zh-CN" i="1" dirty="0">
                <a:solidFill>
                  <a:srgbClr val="FF0000"/>
                </a:solidFill>
              </a:rPr>
              <a:t>E +</a:t>
            </a:r>
            <a:r>
              <a:rPr lang="en-US" altLang="zh-CN" dirty="0">
                <a:solidFill>
                  <a:srgbClr val="FF0000"/>
                </a:solidFill>
                <a:latin typeface="Symbol" panose="05050102010706020507" charset="2"/>
                <a:sym typeface="Symbol" panose="05050102010706020507" charset="2"/>
              </a:rPr>
              <a:t> </a:t>
            </a:r>
            <a:r>
              <a:rPr lang="en-US" altLang="zh-CN" dirty="0">
                <a:solidFill>
                  <a:srgbClr val="0000FF"/>
                </a:solidFill>
                <a:latin typeface="Symbol" panose="05050102010706020507" charset="2"/>
                <a:sym typeface="Symbol" panose="05050102010706020507" charset="2"/>
              </a:rPr>
              <a:t>(</a:t>
            </a:r>
            <a:r>
              <a:rPr lang="en-US" altLang="zh-CN" i="1" dirty="0">
                <a:solidFill>
                  <a:srgbClr val="0000FF"/>
                </a:solidFill>
              </a:rPr>
              <a:t>P</a:t>
            </a:r>
            <a:r>
              <a:rPr lang="en-US" altLang="zh-CN" i="1" baseline="-25000" dirty="0">
                <a:solidFill>
                  <a:srgbClr val="0000FF"/>
                </a:solidFill>
              </a:rPr>
              <a:t>f</a:t>
            </a:r>
            <a:r>
              <a:rPr lang="en-US" altLang="zh-CN" i="1" dirty="0">
                <a:solidFill>
                  <a:srgbClr val="0000FF"/>
                </a:solidFill>
              </a:rPr>
              <a:t>V</a:t>
            </a:r>
            <a:r>
              <a:rPr lang="en-US" altLang="zh-CN" i="1" baseline="-25000" dirty="0">
                <a:solidFill>
                  <a:srgbClr val="0000FF"/>
                </a:solidFill>
              </a:rPr>
              <a:t>f</a:t>
            </a:r>
            <a:r>
              <a:rPr lang="en-US" altLang="zh-CN" i="1" dirty="0">
                <a:solidFill>
                  <a:srgbClr val="0000FF"/>
                </a:solidFill>
              </a:rPr>
              <a:t> - P</a:t>
            </a:r>
            <a:r>
              <a:rPr lang="en-US" altLang="zh-CN" i="1" baseline="-25000" dirty="0">
                <a:solidFill>
                  <a:srgbClr val="0000FF"/>
                </a:solidFill>
              </a:rPr>
              <a:t>i</a:t>
            </a:r>
            <a:r>
              <a:rPr lang="en-US" altLang="zh-CN" i="1" dirty="0">
                <a:solidFill>
                  <a:srgbClr val="0000FF"/>
                </a:solidFill>
              </a:rPr>
              <a:t>V</a:t>
            </a:r>
            <a:r>
              <a:rPr lang="en-US" altLang="zh-CN" i="1" baseline="-25000" dirty="0">
                <a:solidFill>
                  <a:srgbClr val="0000FF"/>
                </a:solidFill>
              </a:rPr>
              <a:t>i</a:t>
            </a:r>
            <a:r>
              <a:rPr lang="en-US" altLang="zh-CN" dirty="0">
                <a:solidFill>
                  <a:srgbClr val="0000FF"/>
                </a:solidFill>
                <a:latin typeface="Symbol" panose="05050102010706020507" charset="2"/>
                <a:sym typeface="Symbol" panose="05050102010706020507" charset="2"/>
              </a:rPr>
              <a:t>)</a:t>
            </a:r>
            <a:endParaRPr lang="en-US" altLang="zh-CN" dirty="0">
              <a:solidFill>
                <a:srgbClr val="0000FF"/>
              </a:solidFill>
              <a:latin typeface="Symbol" panose="05050102010706020507" charset="2"/>
              <a:sym typeface="Symbol" panose="05050102010706020507" charset="2"/>
            </a:endParaRPr>
          </a:p>
          <a:p>
            <a:pPr>
              <a:lnSpc>
                <a:spcPts val="1500"/>
              </a:lnSpc>
              <a:buClrTx/>
              <a:buSzTx/>
              <a:buFont typeface="Arial" panose="020B0604020202020204" pitchFamily="34" charset="0"/>
              <a:buNone/>
            </a:pPr>
            <a:endParaRPr lang="en-US" altLang="zh-CN" dirty="0">
              <a:solidFill>
                <a:srgbClr val="0000FF"/>
              </a:solidFill>
            </a:endParaRPr>
          </a:p>
          <a:p>
            <a:pPr>
              <a:buClrTx/>
              <a:buSzTx/>
              <a:buFont typeface="Arial" panose="020B0604020202020204" pitchFamily="34" charset="0"/>
            </a:pPr>
            <a:r>
              <a:rPr lang="en-US" altLang="zh-CN" dirty="0"/>
              <a:t>For most reactions, the difference is very small.</a:t>
            </a:r>
            <a:endParaRPr lang="en-US" altLang="zh-CN" dirty="0"/>
          </a:p>
        </p:txBody>
      </p:sp>
      <p:pic>
        <p:nvPicPr>
          <p:cNvPr id="113667" name="Picture 10" descr="05_19_Figure_L"/>
          <p:cNvPicPr>
            <a:picLocks noChangeAspect="1"/>
          </p:cNvPicPr>
          <p:nvPr/>
        </p:nvPicPr>
        <p:blipFill>
          <a:blip r:embed="rId1">
            <a:lum bright="-6000" contrast="10000"/>
          </a:blip>
          <a:stretch>
            <a:fillRect/>
          </a:stretch>
        </p:blipFill>
        <p:spPr>
          <a:xfrm>
            <a:off x="6294120" y="119380"/>
            <a:ext cx="5597525" cy="6548120"/>
          </a:xfrm>
          <a:prstGeom prst="rect">
            <a:avLst/>
          </a:prstGeom>
          <a:noFill/>
          <a:ln w="9525">
            <a:noFill/>
          </a:ln>
        </p:spPr>
      </p:pic>
      <p:cxnSp>
        <p:nvCxnSpPr>
          <p:cNvPr id="6" name="Straight Arrow Connector 5"/>
          <p:cNvCxnSpPr/>
          <p:nvPr/>
        </p:nvCxnSpPr>
        <p:spPr>
          <a:xfrm>
            <a:off x="6888163" y="5013325"/>
            <a:ext cx="503238" cy="0"/>
          </a:xfrm>
          <a:prstGeom prst="straightConnector1">
            <a:avLst/>
          </a:prstGeom>
          <a:ln w="38100"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slow"/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7761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/>
          <a:p>
            <a:pPr algn="ctr"/>
            <a:r>
              <a:rPr lang="en-US" altLang="zh-CN" sz="6000" b="1" dirty="0"/>
              <a:t>Enthalpies of Formation (</a:t>
            </a:r>
            <a:r>
              <a:rPr lang="en-US" altLang="zh-CN" sz="6000" dirty="0">
                <a:latin typeface="Symbol" panose="05050102010706020507" charset="2"/>
                <a:sym typeface="Symbol" panose="05050102010706020507" charset="2"/>
              </a:rPr>
              <a:t></a:t>
            </a:r>
            <a:r>
              <a:rPr lang="en-US" altLang="zh-CN" sz="6000" i="1" dirty="0"/>
              <a:t>H</a:t>
            </a:r>
            <a:r>
              <a:rPr lang="en-US" altLang="zh-CN" sz="6000" i="1" baseline="-25000" dirty="0">
                <a:solidFill>
                  <a:srgbClr val="FF0000"/>
                </a:solidFill>
              </a:rPr>
              <a:t>f</a:t>
            </a:r>
            <a:r>
              <a:rPr lang="en-US" altLang="zh-CN" sz="6000" b="1" dirty="0"/>
              <a:t>)</a:t>
            </a:r>
            <a:endParaRPr lang="en-US" altLang="zh-CN" sz="6000" b="1" dirty="0"/>
          </a:p>
        </p:txBody>
      </p:sp>
      <p:sp>
        <p:nvSpPr>
          <p:cNvPr id="117762" name="Rectangle 3"/>
          <p:cNvSpPr>
            <a:spLocks noGrp="1"/>
          </p:cNvSpPr>
          <p:nvPr>
            <p:ph idx="1"/>
          </p:nvPr>
        </p:nvSpPr>
        <p:spPr>
          <a:xfrm>
            <a:off x="774065" y="1380490"/>
            <a:ext cx="10643870" cy="5477510"/>
          </a:xfrm>
        </p:spPr>
        <p:txBody>
          <a:bodyPr vert="horz" wrap="square" lIns="91440" tIns="45720" rIns="91440" bIns="45720" anchor="t">
            <a:noAutofit/>
          </a:bodyPr>
          <a:p>
            <a:pPr>
              <a:buFontTx/>
              <a:buNone/>
            </a:pPr>
            <a:r>
              <a:rPr lang="en-US" altLang="zh-CN" sz="4000" dirty="0"/>
              <a:t>	An enthalpy of </a:t>
            </a:r>
            <a:r>
              <a:rPr lang="en-US" altLang="zh-CN" sz="4000" dirty="0">
                <a:solidFill>
                  <a:srgbClr val="FF0000"/>
                </a:solidFill>
              </a:rPr>
              <a:t>formation</a:t>
            </a:r>
            <a:r>
              <a:rPr lang="en-US" altLang="zh-CN" sz="4000" dirty="0"/>
              <a:t>, </a:t>
            </a:r>
            <a:r>
              <a:rPr lang="en-US" altLang="zh-CN" sz="4000" dirty="0">
                <a:latin typeface="Symbol" panose="05050102010706020507" charset="2"/>
                <a:sym typeface="Symbol" panose="05050102010706020507" charset="2"/>
              </a:rPr>
              <a:t></a:t>
            </a:r>
            <a:r>
              <a:rPr lang="en-US" altLang="zh-CN" sz="4000" i="1" dirty="0"/>
              <a:t>H</a:t>
            </a:r>
            <a:r>
              <a:rPr lang="en-US" altLang="zh-CN" sz="4000" i="1" baseline="-25000" dirty="0">
                <a:solidFill>
                  <a:srgbClr val="FF0000"/>
                </a:solidFill>
              </a:rPr>
              <a:t>f</a:t>
            </a:r>
            <a:r>
              <a:rPr lang="en-US" altLang="zh-CN" sz="4000" dirty="0"/>
              <a:t>, is defined as the enthalpy change </a:t>
            </a:r>
            <a:r>
              <a:rPr lang="en-US" altLang="zh-CN" sz="4000" u="sng" dirty="0"/>
              <a:t>for the reaction in which </a:t>
            </a:r>
            <a:r>
              <a:rPr lang="en-US" altLang="zh-CN" sz="4000" u="sng" dirty="0">
                <a:solidFill>
                  <a:srgbClr val="FF0000"/>
                </a:solidFill>
              </a:rPr>
              <a:t>1 mole of </a:t>
            </a:r>
            <a:r>
              <a:rPr lang="en-US" altLang="zh-CN" sz="4000" u="sng" dirty="0"/>
              <a:t>a compound is made from its </a:t>
            </a:r>
            <a:r>
              <a:rPr lang="en-US" altLang="zh-CN" sz="4000" u="sng" dirty="0">
                <a:solidFill>
                  <a:srgbClr val="0000CC"/>
                </a:solidFill>
              </a:rPr>
              <a:t>constituent elements</a:t>
            </a:r>
            <a:r>
              <a:rPr lang="en-US" altLang="zh-CN" sz="4000" u="sng" dirty="0"/>
              <a:t> in their elemental forms.</a:t>
            </a:r>
            <a:endParaRPr lang="en-US" altLang="zh-CN" sz="4000" u="sng" dirty="0"/>
          </a:p>
          <a:p>
            <a:pPr>
              <a:buFontTx/>
              <a:buNone/>
            </a:pPr>
            <a:endParaRPr lang="en-US" altLang="zh-CN" sz="4000" u="sng" dirty="0"/>
          </a:p>
          <a:p>
            <a:pPr>
              <a:buFontTx/>
              <a:buNone/>
            </a:pPr>
            <a:endParaRPr lang="en-US" altLang="zh-CN" sz="4000" u="sng" dirty="0"/>
          </a:p>
          <a:p>
            <a:pPr>
              <a:buFontTx/>
              <a:buNone/>
            </a:pPr>
            <a:r>
              <a:rPr lang="en-US" altLang="zh-CN" sz="4000" dirty="0"/>
              <a:t>Not ANY reaction, but a specific type – </a:t>
            </a:r>
            <a:r>
              <a:rPr lang="en-US" altLang="zh-CN" sz="4000" dirty="0">
                <a:solidFill>
                  <a:srgbClr val="0000FF"/>
                </a:solidFill>
              </a:rPr>
              <a:t>formation reaction</a:t>
            </a:r>
            <a:r>
              <a:rPr lang="en-US" altLang="zh-CN" sz="4000" dirty="0"/>
              <a:t>.</a:t>
            </a:r>
            <a:endParaRPr lang="en-US" altLang="zh-CN" sz="4000" dirty="0"/>
          </a:p>
        </p:txBody>
      </p:sp>
    </p:spTree>
  </p:cSld>
  <p:clrMapOvr>
    <a:masterClrMapping/>
  </p:clrMapOvr>
  <p:transition/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9809" name="Rectangle 2"/>
          <p:cNvSpPr>
            <a:spLocks noGrp="1"/>
          </p:cNvSpPr>
          <p:nvPr>
            <p:ph type="title"/>
          </p:nvPr>
        </p:nvSpPr>
        <p:spPr>
          <a:xfrm>
            <a:off x="1790700" y="228600"/>
            <a:ext cx="8610600" cy="1143000"/>
          </a:xfrm>
        </p:spPr>
        <p:txBody>
          <a:bodyPr vert="horz" wrap="square" lIns="91440" tIns="45720" rIns="91440" bIns="45720" anchor="ctr"/>
          <a:p>
            <a:pPr algn="ctr"/>
            <a:r>
              <a:rPr lang="en-US" altLang="zh-CN" b="1" u="sng" dirty="0">
                <a:solidFill>
                  <a:srgbClr val="0000FF"/>
                </a:solidFill>
              </a:rPr>
              <a:t>Standard</a:t>
            </a:r>
            <a:r>
              <a:rPr lang="en-US" altLang="zh-CN" b="1" dirty="0">
                <a:solidFill>
                  <a:srgbClr val="C00000"/>
                </a:solidFill>
              </a:rPr>
              <a:t> Enthalpies of Formation</a:t>
            </a:r>
            <a:endParaRPr lang="en-US" altLang="zh-CN" b="1" dirty="0">
              <a:solidFill>
                <a:srgbClr val="C00000"/>
              </a:solidFill>
            </a:endParaRPr>
          </a:p>
        </p:txBody>
      </p:sp>
      <p:sp>
        <p:nvSpPr>
          <p:cNvPr id="119810" name="Rectangle 3"/>
          <p:cNvSpPr>
            <a:spLocks noGrp="1"/>
          </p:cNvSpPr>
          <p:nvPr>
            <p:ph type="body" sz="half" idx="1"/>
          </p:nvPr>
        </p:nvSpPr>
        <p:spPr>
          <a:xfrm>
            <a:off x="613410" y="1371600"/>
            <a:ext cx="10965815" cy="6123940"/>
          </a:xfrm>
        </p:spPr>
        <p:txBody>
          <a:bodyPr vert="horz" wrap="square" lIns="91440" tIns="45720" rIns="91440" bIns="45720" anchor="t">
            <a:noAutofit/>
          </a:bodyPr>
          <a:p>
            <a:pPr>
              <a:buClrTx/>
              <a:buSzTx/>
              <a:buFontTx/>
              <a:buNone/>
            </a:pPr>
            <a:r>
              <a:rPr lang="en-US" altLang="zh-CN" sz="3600" dirty="0"/>
              <a:t>	Standard enthalpies of formation, </a:t>
            </a:r>
            <a:r>
              <a:rPr lang="en-US" altLang="zh-CN" sz="3600" dirty="0">
                <a:latin typeface="Symbol" panose="05050102010706020507" charset="2"/>
                <a:sym typeface="Symbol" panose="05050102010706020507" charset="2"/>
              </a:rPr>
              <a:t></a:t>
            </a:r>
            <a:r>
              <a:rPr lang="en-US" altLang="zh-CN" sz="3600" i="1" dirty="0"/>
              <a:t>H</a:t>
            </a:r>
            <a:r>
              <a:rPr lang="en-US" altLang="zh-CN" sz="3600" i="1" baseline="-25000" dirty="0">
                <a:sym typeface="Symbol" panose="05050102010706020507" charset="2"/>
              </a:rPr>
              <a:t>f</a:t>
            </a:r>
            <a:r>
              <a:rPr lang="en-US" altLang="zh-CN" sz="3600" baseline="30000" dirty="0">
                <a:solidFill>
                  <a:srgbClr val="FF0000"/>
                </a:solidFill>
                <a:sym typeface="Symbol" panose="05050102010706020507" charset="2"/>
              </a:rPr>
              <a:t>o</a:t>
            </a:r>
            <a:r>
              <a:rPr lang="en-US" altLang="zh-CN" sz="3600" dirty="0">
                <a:sym typeface="Symbol" panose="05050102010706020507" charset="2"/>
              </a:rPr>
              <a:t>, are measured under </a:t>
            </a:r>
            <a:r>
              <a:rPr lang="en-US" altLang="zh-CN" sz="3600" u="sng" dirty="0">
                <a:sym typeface="Symbol" panose="05050102010706020507" charset="2"/>
              </a:rPr>
              <a:t>standard conditions </a:t>
            </a:r>
            <a:r>
              <a:rPr lang="en-US" altLang="zh-CN" sz="3600" dirty="0">
                <a:sym typeface="Symbol" panose="05050102010706020507" charset="2"/>
              </a:rPr>
              <a:t>(</a:t>
            </a:r>
            <a:r>
              <a:rPr lang="en-US" altLang="zh-CN" sz="3600" dirty="0">
                <a:solidFill>
                  <a:srgbClr val="0000FF"/>
                </a:solidFill>
                <a:sym typeface="Symbol" panose="05050102010706020507" charset="2"/>
              </a:rPr>
              <a:t>25 </a:t>
            </a:r>
            <a:r>
              <a:rPr lang="en-US" altLang="zh-CN" sz="3600" baseline="30000" dirty="0">
                <a:solidFill>
                  <a:srgbClr val="0000FF"/>
                </a:solidFill>
                <a:sym typeface="Symbol" panose="05050102010706020507" charset="2"/>
              </a:rPr>
              <a:t>o</a:t>
            </a:r>
            <a:r>
              <a:rPr lang="en-US" altLang="zh-CN" sz="3600" dirty="0">
                <a:solidFill>
                  <a:srgbClr val="0000FF"/>
                </a:solidFill>
                <a:sym typeface="Symbol" panose="05050102010706020507" charset="2"/>
              </a:rPr>
              <a:t>C and 1.00 atm pressure</a:t>
            </a:r>
            <a:r>
              <a:rPr lang="en-US" altLang="zh-CN" sz="3600" dirty="0">
                <a:sym typeface="Symbol" panose="05050102010706020507" charset="2"/>
              </a:rPr>
              <a:t>).</a:t>
            </a:r>
            <a:endParaRPr lang="en-US" altLang="zh-CN" sz="3600" dirty="0">
              <a:sym typeface="Symbol" panose="05050102010706020507" charset="2"/>
            </a:endParaRPr>
          </a:p>
          <a:p>
            <a:pPr>
              <a:buClrTx/>
              <a:buSzTx/>
              <a:buFontTx/>
              <a:buNone/>
            </a:pPr>
            <a:r>
              <a:rPr lang="en-US" altLang="zh-CN" sz="3600" dirty="0">
                <a:latin typeface="Calibri" panose="020F0502020204030204" charset="0"/>
                <a:ea typeface="PMingLiU" pitchFamily="18" charset="-120"/>
                <a:sym typeface="+mn-ea"/>
              </a:rPr>
              <a:t>  By definition, the standard enthalpy of formation of the </a:t>
            </a:r>
            <a:r>
              <a:rPr lang="en-US" altLang="zh-CN" sz="3600" u="sng" dirty="0">
                <a:latin typeface="Calibri" panose="020F0502020204030204" charset="0"/>
                <a:ea typeface="PMingLiU" pitchFamily="18" charset="-120"/>
                <a:sym typeface="+mn-ea"/>
              </a:rPr>
              <a:t>most stable form </a:t>
            </a:r>
            <a:r>
              <a:rPr lang="en-US" altLang="zh-CN" sz="3600" dirty="0">
                <a:latin typeface="Calibri" panose="020F0502020204030204" charset="0"/>
                <a:ea typeface="PMingLiU" pitchFamily="18" charset="-120"/>
                <a:sym typeface="+mn-ea"/>
              </a:rPr>
              <a:t>of any </a:t>
            </a:r>
            <a:r>
              <a:rPr lang="en-US" altLang="zh-CN" sz="3600" u="sng" dirty="0">
                <a:latin typeface="Calibri" panose="020F0502020204030204" charset="0"/>
                <a:ea typeface="PMingLiU" pitchFamily="18" charset="-120"/>
                <a:sym typeface="+mn-ea"/>
              </a:rPr>
              <a:t>element</a:t>
            </a:r>
            <a:r>
              <a:rPr lang="en-US" altLang="zh-CN" sz="3600" dirty="0">
                <a:latin typeface="Calibri" panose="020F0502020204030204" charset="0"/>
                <a:ea typeface="PMingLiU" pitchFamily="18" charset="-120"/>
                <a:sym typeface="+mn-ea"/>
              </a:rPr>
              <a:t> is zero because there is no formation reaction needed when the element is already in its standard state.</a:t>
            </a:r>
            <a:endParaRPr lang="en-US" altLang="zh-CN" sz="3600" dirty="0">
              <a:latin typeface="Calibri" panose="020F0502020204030204" charset="0"/>
              <a:ea typeface="PMingLiU" pitchFamily="18" charset="-120"/>
              <a:sym typeface="+mn-ea"/>
            </a:endParaRPr>
          </a:p>
          <a:p>
            <a:pPr>
              <a:buClrTx/>
              <a:buSzTx/>
              <a:buFontTx/>
              <a:buNone/>
            </a:pPr>
            <a:r>
              <a:rPr lang="en-US" altLang="zh-CN" sz="3600" dirty="0">
                <a:latin typeface="Calibri" panose="020F0502020204030204" charset="0"/>
                <a:ea typeface="PMingLiU" pitchFamily="18" charset="-120"/>
                <a:sym typeface="+mn-ea"/>
              </a:rPr>
              <a:t>  Thus, the values of</a:t>
            </a:r>
            <a:r>
              <a:rPr lang="en-US" altLang="zh-CN" sz="3600" dirty="0">
                <a:latin typeface="Symbol" panose="05050102010706020507" charset="2"/>
                <a:ea typeface="宋体" panose="02010600030101010101" pitchFamily="2" charset="-122"/>
                <a:sym typeface="Symbol" panose="05050102010706020507" charset="2"/>
              </a:rPr>
              <a:t> </a:t>
            </a:r>
            <a:r>
              <a:rPr lang="en-US" altLang="zh-CN" sz="3600" i="1" dirty="0">
                <a:latin typeface="Calibri" panose="020F0502020204030204" charset="0"/>
                <a:ea typeface="宋体" panose="02010600030101010101" pitchFamily="2" charset="-122"/>
                <a:sym typeface="+mn-ea"/>
              </a:rPr>
              <a:t>H</a:t>
            </a:r>
            <a:r>
              <a:rPr lang="en-US" altLang="zh-CN" sz="3600" i="1" baseline="-25000" dirty="0">
                <a:latin typeface="Calibri" panose="020F0502020204030204" charset="0"/>
                <a:ea typeface="宋体" panose="02010600030101010101" pitchFamily="2" charset="-122"/>
                <a:sym typeface="Symbol" panose="05050102010706020507" charset="2"/>
              </a:rPr>
              <a:t>f</a:t>
            </a:r>
            <a:r>
              <a:rPr lang="en-US" altLang="zh-CN" sz="3600" baseline="30000" dirty="0">
                <a:latin typeface="Calibri" panose="020F0502020204030204" charset="0"/>
                <a:ea typeface="宋体" panose="02010600030101010101" pitchFamily="2" charset="-122"/>
                <a:sym typeface="Symbol" panose="05050102010706020507" charset="2"/>
              </a:rPr>
              <a:t>o</a:t>
            </a:r>
            <a:r>
              <a:rPr lang="en-US" altLang="zh-CN" sz="3600" dirty="0">
                <a:latin typeface="Calibri" panose="020F0502020204030204" charset="0"/>
                <a:ea typeface="PMingLiU" pitchFamily="18" charset="-120"/>
                <a:sym typeface="+mn-ea"/>
              </a:rPr>
              <a:t> for C(graphite), H</a:t>
            </a:r>
            <a:r>
              <a:rPr lang="en-US" altLang="zh-CN" sz="3600" baseline="-25000" dirty="0">
                <a:latin typeface="Calibri" panose="020F0502020204030204" charset="0"/>
                <a:ea typeface="PMingLiU" pitchFamily="18" charset="-120"/>
                <a:sym typeface="+mn-ea"/>
              </a:rPr>
              <a:t>2</a:t>
            </a:r>
            <a:r>
              <a:rPr lang="en-US" altLang="zh-CN" sz="3600" dirty="0">
                <a:latin typeface="Calibri" panose="020F0502020204030204" charset="0"/>
                <a:ea typeface="PMingLiU" pitchFamily="18" charset="-120"/>
                <a:sym typeface="+mn-ea"/>
              </a:rPr>
              <a:t>(g), O</a:t>
            </a:r>
            <a:r>
              <a:rPr lang="en-US" altLang="zh-CN" sz="3600" baseline="-25000" dirty="0">
                <a:latin typeface="Calibri" panose="020F0502020204030204" charset="0"/>
                <a:ea typeface="PMingLiU" pitchFamily="18" charset="-120"/>
                <a:sym typeface="+mn-ea"/>
              </a:rPr>
              <a:t>2</a:t>
            </a:r>
            <a:r>
              <a:rPr lang="en-US" altLang="zh-CN" sz="3600" dirty="0">
                <a:latin typeface="Calibri" panose="020F0502020204030204" charset="0"/>
                <a:ea typeface="PMingLiU" pitchFamily="18" charset="-120"/>
                <a:sym typeface="+mn-ea"/>
              </a:rPr>
              <a:t>(g), and the standard states of other elements are zero by definition.</a:t>
            </a:r>
            <a:endParaRPr lang="en-US" altLang="zh-CN" sz="3600" b="0" dirty="0">
              <a:latin typeface="Calibri" panose="020F0502020204030204" charset="0"/>
              <a:ea typeface="PMingLiU" pitchFamily="18" charset="-120"/>
            </a:endParaRPr>
          </a:p>
          <a:p>
            <a:pPr>
              <a:buClrTx/>
              <a:buSzTx/>
              <a:buFontTx/>
              <a:buNone/>
            </a:pPr>
            <a:endParaRPr lang="en-US" altLang="zh-CN" sz="3600" dirty="0">
              <a:sym typeface="Symbol" panose="05050102010706020507" charset="2"/>
            </a:endParaRPr>
          </a:p>
        </p:txBody>
      </p:sp>
    </p:spTree>
  </p:cSld>
  <p:clrMapOvr>
    <a:masterClrMapping/>
  </p:clrMapOvr>
  <p:transition spd="slow"/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3121" name="Rectangle 2"/>
          <p:cNvSpPr>
            <a:spLocks noGrp="1"/>
          </p:cNvSpPr>
          <p:nvPr>
            <p:ph type="title"/>
          </p:nvPr>
        </p:nvSpPr>
        <p:spPr>
          <a:xfrm>
            <a:off x="838200" y="45720"/>
            <a:ext cx="10515600" cy="1325563"/>
          </a:xfrm>
        </p:spPr>
        <p:txBody>
          <a:bodyPr vert="horz" wrap="square" lIns="91440" tIns="45720" rIns="91440" bIns="45720" anchor="ctr"/>
          <a:p>
            <a:pPr algn="ctr"/>
            <a:r>
              <a:rPr lang="en-US" altLang="zh-CN" sz="4800" b="1" dirty="0">
                <a:solidFill>
                  <a:srgbClr val="C00000"/>
                </a:solidFill>
              </a:rPr>
              <a:t>Hess’s Law</a:t>
            </a:r>
            <a:endParaRPr lang="en-US" altLang="zh-CN" sz="4800" b="1" dirty="0">
              <a:solidFill>
                <a:srgbClr val="C00000"/>
              </a:solidFill>
            </a:endParaRPr>
          </a:p>
        </p:txBody>
      </p:sp>
      <p:sp>
        <p:nvSpPr>
          <p:cNvPr id="92163" name="Rectangle 3"/>
          <p:cNvSpPr>
            <a:spLocks noGrp="1" noChangeArrowheads="1"/>
          </p:cNvSpPr>
          <p:nvPr>
            <p:ph idx="1"/>
          </p:nvPr>
        </p:nvSpPr>
        <p:spPr>
          <a:xfrm>
            <a:off x="245110" y="1135380"/>
            <a:ext cx="11701780" cy="5441315"/>
          </a:xfrm>
        </p:spPr>
        <p:txBody>
          <a:bodyPr vert="horz" wrap="square" lIns="91440" tIns="45720" rIns="91440" bIns="45720" numCol="1" anchor="t" anchorCtr="0" compatLnSpc="1">
            <a:no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en-US" altLang="zh-CN" sz="4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ymbol" panose="05050102010706020507" charset="2"/>
                <a:ea typeface="+mn-ea"/>
                <a:cs typeface="+mn-cs"/>
                <a:sym typeface="Symbol" panose="05050102010706020507" charset="2"/>
              </a:rPr>
              <a:t></a:t>
            </a:r>
            <a:r>
              <a:rPr kumimoji="0" lang="en-US" altLang="zh-CN" sz="4000" b="0" i="1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H</a:t>
            </a:r>
            <a:r>
              <a:rPr kumimoji="0" lang="en-US" altLang="zh-CN" sz="4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is available or known for many reactions, and it is </a:t>
            </a:r>
            <a:r>
              <a:rPr kumimoji="0" lang="en-US" altLang="zh-CN" sz="4000" b="0" i="0" u="sng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inconvenient</a:t>
            </a:r>
            <a:r>
              <a:rPr kumimoji="0" lang="en-US" altLang="zh-CN" sz="4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to measure </a:t>
            </a:r>
            <a:r>
              <a:rPr kumimoji="0" lang="en-US" altLang="zh-CN" sz="4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ymbol" panose="05050102010706020507" charset="2"/>
                <a:ea typeface="+mn-ea"/>
                <a:cs typeface="+mn-cs"/>
                <a:sym typeface="Symbol" panose="05050102010706020507" charset="2"/>
              </a:rPr>
              <a:t></a:t>
            </a:r>
            <a:r>
              <a:rPr kumimoji="0" lang="en-US" altLang="zh-CN" sz="4000" b="0" i="1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H</a:t>
            </a:r>
            <a:r>
              <a:rPr kumimoji="0" lang="en-US" altLang="zh-CN" sz="4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for </a:t>
            </a:r>
            <a:r>
              <a:rPr kumimoji="0" lang="en-US" altLang="zh-CN" sz="4000" b="0" i="0" u="sng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every</a:t>
            </a:r>
            <a:r>
              <a:rPr kumimoji="0" lang="en-US" altLang="zh-CN" sz="4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reaction in which we are interested.</a:t>
            </a:r>
            <a:endParaRPr kumimoji="0" lang="en-US" altLang="zh-CN" sz="40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en-US" altLang="zh-CN" sz="4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However, we can </a:t>
            </a:r>
            <a:r>
              <a:rPr kumimoji="0" lang="en-US" altLang="zh-CN" sz="4000" b="0" i="0" u="sng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estimate</a:t>
            </a:r>
            <a:r>
              <a:rPr kumimoji="0" lang="en-US" altLang="zh-CN" sz="4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altLang="zh-CN" sz="4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ymbol" panose="05050102010706020507" charset="2"/>
                <a:ea typeface="+mn-ea"/>
                <a:cs typeface="+mn-cs"/>
                <a:sym typeface="Symbol" panose="05050102010706020507" charset="2"/>
              </a:rPr>
              <a:t></a:t>
            </a:r>
            <a:r>
              <a:rPr kumimoji="0" lang="en-US" altLang="zh-CN" sz="4000" b="0" i="1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H</a:t>
            </a:r>
            <a:r>
              <a:rPr kumimoji="0" lang="en-US" altLang="zh-CN" sz="4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of MANY reactions yet to be tested by using </a:t>
            </a:r>
            <a:r>
              <a:rPr kumimoji="0" lang="en-US" altLang="zh-CN" sz="4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ymbol" panose="05050102010706020507" charset="2"/>
                <a:ea typeface="+mn-ea"/>
                <a:cs typeface="+mn-cs"/>
                <a:sym typeface="Symbol" panose="05050102010706020507" charset="2"/>
              </a:rPr>
              <a:t></a:t>
            </a:r>
            <a:r>
              <a:rPr kumimoji="0" lang="en-US" altLang="zh-CN" sz="4000" b="0" i="1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H</a:t>
            </a:r>
            <a:r>
              <a:rPr kumimoji="0" lang="en-US" altLang="zh-CN" sz="4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values that are already known.</a:t>
            </a:r>
            <a:endParaRPr kumimoji="0" lang="en-US" altLang="zh-CN" sz="40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4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4000" b="0" i="0" u="sng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</a:t>
            </a:r>
            <a:r>
              <a:rPr kumimoji="0" lang="en-US" altLang="zh-CN" sz="4000" b="0" i="0" u="sng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rom </a:t>
            </a:r>
            <a:r>
              <a:rPr kumimoji="0" lang="en-US" altLang="zh-CN" sz="4000" b="0" i="0" u="sng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known</a:t>
            </a:r>
            <a:r>
              <a:rPr kumimoji="0" lang="en-US" altLang="zh-CN" sz="4000" b="0" i="0" u="sng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reactions to </a:t>
            </a:r>
            <a:r>
              <a:rPr kumimoji="0" lang="en-US" altLang="zh-CN" sz="4000" b="0" i="0" u="sng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unknown</a:t>
            </a:r>
            <a:r>
              <a:rPr kumimoji="0" lang="en-US" altLang="zh-CN" sz="4000" b="0" i="0" u="sng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reactions</a:t>
            </a:r>
            <a:endParaRPr kumimoji="0" lang="en-US" altLang="zh-CN" sz="4000" b="0" i="0" u="sng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63">
                                            <p:txEl>
                                              <p:charRg st="129" end="23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63">
                                            <p:txEl>
                                              <p:charRg st="236" end="27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163" grpId="0" build="p"/>
    </p:bld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9025" name="Rectangle 2"/>
          <p:cNvSpPr>
            <a:spLocks noGrp="1"/>
          </p:cNvSpPr>
          <p:nvPr>
            <p:ph type="title"/>
          </p:nvPr>
        </p:nvSpPr>
        <p:spPr>
          <a:xfrm>
            <a:off x="-491490" y="210820"/>
            <a:ext cx="7250430" cy="1143000"/>
          </a:xfrm>
        </p:spPr>
        <p:txBody>
          <a:bodyPr vert="horz" wrap="square" lIns="91440" tIns="45720" rIns="91440" bIns="45720" anchor="ctr"/>
          <a:p>
            <a:pPr algn="ctr"/>
            <a:r>
              <a:rPr lang="en-US" altLang="zh-CN" sz="5400" b="1" dirty="0">
                <a:solidFill>
                  <a:srgbClr val="C00000"/>
                </a:solidFill>
              </a:rPr>
              <a:t>Hess’s Law</a:t>
            </a:r>
            <a:endParaRPr lang="en-US" altLang="zh-CN" sz="5400" b="1" dirty="0">
              <a:solidFill>
                <a:srgbClr val="C00000"/>
              </a:solidFill>
            </a:endParaRPr>
          </a:p>
        </p:txBody>
      </p:sp>
      <p:sp>
        <p:nvSpPr>
          <p:cNvPr id="129026" name="Rectangle 3"/>
          <p:cNvSpPr>
            <a:spLocks noGrp="1"/>
          </p:cNvSpPr>
          <p:nvPr>
            <p:ph type="body" sz="half" idx="2"/>
          </p:nvPr>
        </p:nvSpPr>
        <p:spPr>
          <a:xfrm>
            <a:off x="6621145" y="-133985"/>
            <a:ext cx="5004435" cy="5404485"/>
          </a:xfrm>
        </p:spPr>
        <p:txBody>
          <a:bodyPr vert="horz" wrap="square" lIns="91440" tIns="45720" rIns="91440" bIns="45720" anchor="t">
            <a:noAutofit/>
          </a:bodyPr>
          <a:p>
            <a:pPr>
              <a:buClrTx/>
              <a:buSzTx/>
              <a:buFontTx/>
              <a:buNone/>
            </a:pPr>
            <a:r>
              <a:rPr lang="en-US" altLang="zh-CN" sz="3600" dirty="0"/>
              <a:t>	Because </a:t>
            </a:r>
            <a:r>
              <a:rPr lang="en-US" altLang="zh-CN" sz="3600" dirty="0">
                <a:latin typeface="Symbol" panose="05050102010706020507" charset="2"/>
                <a:sym typeface="Symbol" panose="05050102010706020507" charset="2"/>
              </a:rPr>
              <a:t></a:t>
            </a:r>
            <a:r>
              <a:rPr lang="en-US" altLang="zh-CN" sz="3600" i="1" dirty="0"/>
              <a:t>H</a:t>
            </a:r>
            <a:r>
              <a:rPr lang="en-US" altLang="zh-CN" sz="3600" dirty="0"/>
              <a:t> is a </a:t>
            </a:r>
            <a:r>
              <a:rPr lang="en-US" altLang="zh-CN" sz="3600" dirty="0">
                <a:solidFill>
                  <a:srgbClr val="FF0000"/>
                </a:solidFill>
              </a:rPr>
              <a:t>state function</a:t>
            </a:r>
            <a:r>
              <a:rPr lang="en-US" altLang="zh-CN" sz="3600" dirty="0"/>
              <a:t>, the total enthalpy change depends only on the initial state of the reactants and the final state of the products.</a:t>
            </a:r>
            <a:endParaRPr lang="en-US" altLang="zh-CN" sz="3600" dirty="0"/>
          </a:p>
          <a:p>
            <a:pPr>
              <a:buClrTx/>
              <a:buSzTx/>
              <a:buFontTx/>
              <a:buNone/>
            </a:pPr>
            <a:r>
              <a:rPr lang="en-US" altLang="zh-CN" sz="3600" dirty="0">
                <a:sym typeface="+mn-ea"/>
              </a:rPr>
              <a:t>“if a reaction is carried out in a series of steps, </a:t>
            </a:r>
            <a:r>
              <a:rPr lang="en-US" altLang="zh-CN" sz="3600" dirty="0">
                <a:latin typeface="Symbol" panose="05050102010706020507" charset="2"/>
                <a:sym typeface="Symbol" panose="05050102010706020507" charset="2"/>
              </a:rPr>
              <a:t></a:t>
            </a:r>
            <a:r>
              <a:rPr lang="en-US" altLang="zh-CN" sz="3600" i="1" dirty="0">
                <a:sym typeface="+mn-ea"/>
              </a:rPr>
              <a:t>H</a:t>
            </a:r>
            <a:r>
              <a:rPr lang="en-US" altLang="zh-CN" sz="3600" dirty="0">
                <a:sym typeface="+mn-ea"/>
              </a:rPr>
              <a:t> for the </a:t>
            </a:r>
            <a:r>
              <a:rPr lang="en-US" altLang="zh-CN" sz="3600" dirty="0">
                <a:solidFill>
                  <a:srgbClr val="FF0000"/>
                </a:solidFill>
                <a:sym typeface="+mn-ea"/>
              </a:rPr>
              <a:t>overall reaction </a:t>
            </a:r>
            <a:r>
              <a:rPr lang="en-US" altLang="zh-CN" sz="3600" dirty="0">
                <a:sym typeface="+mn-ea"/>
              </a:rPr>
              <a:t>will be equal to the sum of the enthalpy changes for the </a:t>
            </a:r>
            <a:r>
              <a:rPr lang="en-US" altLang="zh-CN" sz="3600" dirty="0">
                <a:solidFill>
                  <a:srgbClr val="0000FF"/>
                </a:solidFill>
                <a:sym typeface="+mn-ea"/>
              </a:rPr>
              <a:t>individual steps</a:t>
            </a:r>
            <a:r>
              <a:rPr lang="en-US" altLang="zh-CN" sz="3600" dirty="0">
                <a:sym typeface="+mn-ea"/>
              </a:rPr>
              <a:t>.”</a:t>
            </a:r>
            <a:endParaRPr lang="en-US" altLang="zh-CN" sz="3600" dirty="0"/>
          </a:p>
          <a:p>
            <a:pPr>
              <a:buClrTx/>
              <a:buSzTx/>
              <a:buFontTx/>
              <a:buNone/>
            </a:pPr>
            <a:endParaRPr lang="en-US" altLang="zh-CN" sz="3600" dirty="0"/>
          </a:p>
        </p:txBody>
      </p:sp>
      <p:pic>
        <p:nvPicPr>
          <p:cNvPr id="129027" name="Picture 13" descr="05_22_Figure_L"/>
          <p:cNvPicPr>
            <a:picLocks noChangeAspect="1"/>
          </p:cNvPicPr>
          <p:nvPr/>
        </p:nvPicPr>
        <p:blipFill>
          <a:blip r:embed="rId1">
            <a:lum bright="-6000" contrast="10000"/>
          </a:blip>
          <a:stretch>
            <a:fillRect/>
          </a:stretch>
        </p:blipFill>
        <p:spPr>
          <a:xfrm>
            <a:off x="0" y="982980"/>
            <a:ext cx="6621145" cy="428752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31076" name="Rectangle 1"/>
          <p:cNvSpPr/>
          <p:nvPr/>
        </p:nvSpPr>
        <p:spPr>
          <a:xfrm>
            <a:off x="250825" y="5270500"/>
            <a:ext cx="6119495" cy="52197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p>
            <a:pPr algn="ctr"/>
            <a:r>
              <a:rPr lang="en-US" altLang="zh-CN" sz="2800" dirty="0">
                <a:solidFill>
                  <a:srgbClr val="FF0000"/>
                </a:solidFill>
                <a:latin typeface="Calibri" panose="020F0502020204030204" charset="0"/>
                <a:ea typeface="PMingLiU" pitchFamily="18" charset="-120"/>
              </a:rPr>
              <a:t>CH</a:t>
            </a:r>
            <a:r>
              <a:rPr lang="en-US" altLang="zh-CN" sz="2800" baseline="-25000" dirty="0">
                <a:solidFill>
                  <a:srgbClr val="FF0000"/>
                </a:solidFill>
                <a:latin typeface="Calibri" panose="020F0502020204030204" charset="0"/>
                <a:ea typeface="PMingLiU" pitchFamily="18" charset="-120"/>
              </a:rPr>
              <a:t>4</a:t>
            </a:r>
            <a:r>
              <a:rPr lang="en-US" altLang="zh-CN" sz="2800" dirty="0">
                <a:solidFill>
                  <a:srgbClr val="FF0000"/>
                </a:solidFill>
                <a:latin typeface="Calibri" panose="020F0502020204030204" charset="0"/>
                <a:ea typeface="PMingLiU" pitchFamily="18" charset="-120"/>
              </a:rPr>
              <a:t>(</a:t>
            </a:r>
            <a:r>
              <a:rPr lang="en-US" altLang="zh-CN" sz="2800" i="1" dirty="0">
                <a:solidFill>
                  <a:srgbClr val="FF0000"/>
                </a:solidFill>
                <a:latin typeface="Calibri" panose="020F0502020204030204" charset="0"/>
                <a:ea typeface="PMingLiU" pitchFamily="18" charset="-120"/>
              </a:rPr>
              <a:t>g</a:t>
            </a:r>
            <a:r>
              <a:rPr lang="en-US" altLang="zh-CN" sz="2800" dirty="0">
                <a:solidFill>
                  <a:srgbClr val="FF0000"/>
                </a:solidFill>
                <a:latin typeface="Calibri" panose="020F0502020204030204" charset="0"/>
                <a:ea typeface="PMingLiU" pitchFamily="18" charset="-120"/>
              </a:rPr>
              <a:t>) + 2O</a:t>
            </a:r>
            <a:r>
              <a:rPr lang="en-US" altLang="zh-CN" sz="2800" baseline="-25000" dirty="0">
                <a:solidFill>
                  <a:srgbClr val="FF0000"/>
                </a:solidFill>
                <a:latin typeface="Calibri" panose="020F0502020204030204" charset="0"/>
                <a:ea typeface="PMingLiU" pitchFamily="18" charset="-120"/>
              </a:rPr>
              <a:t>2</a:t>
            </a:r>
            <a:r>
              <a:rPr lang="en-US" altLang="zh-CN" sz="2800" dirty="0">
                <a:solidFill>
                  <a:srgbClr val="FF0000"/>
                </a:solidFill>
                <a:latin typeface="Calibri" panose="020F0502020204030204" charset="0"/>
                <a:ea typeface="PMingLiU" pitchFamily="18" charset="-120"/>
              </a:rPr>
              <a:t>(</a:t>
            </a:r>
            <a:r>
              <a:rPr lang="en-US" altLang="zh-CN" sz="2800" i="1" dirty="0">
                <a:solidFill>
                  <a:srgbClr val="FF0000"/>
                </a:solidFill>
                <a:latin typeface="Calibri" panose="020F0502020204030204" charset="0"/>
                <a:ea typeface="PMingLiU" pitchFamily="18" charset="-120"/>
              </a:rPr>
              <a:t>g</a:t>
            </a:r>
            <a:r>
              <a:rPr lang="en-US" altLang="zh-CN" sz="2800" dirty="0">
                <a:solidFill>
                  <a:srgbClr val="FF0000"/>
                </a:solidFill>
                <a:latin typeface="Calibri" panose="020F0502020204030204" charset="0"/>
                <a:ea typeface="PMingLiU" pitchFamily="18" charset="-120"/>
              </a:rPr>
              <a:t>)</a:t>
            </a:r>
            <a:r>
              <a:rPr lang="en-US" altLang="zh-CN" sz="2800" baseline="-25000" dirty="0">
                <a:solidFill>
                  <a:srgbClr val="FF0000"/>
                </a:solidFill>
                <a:latin typeface="Calibri" panose="020F0502020204030204" charset="0"/>
                <a:ea typeface="PMingLiU" pitchFamily="18" charset="-120"/>
              </a:rPr>
              <a:t> </a:t>
            </a:r>
            <a:r>
              <a:rPr lang="en-US" altLang="zh-CN" sz="2800" dirty="0">
                <a:solidFill>
                  <a:srgbClr val="FF0000"/>
                </a:solidFill>
                <a:latin typeface="Calibri" panose="020F0502020204030204" charset="0"/>
                <a:ea typeface="PMingLiU" pitchFamily="18" charset="-120"/>
                <a:sym typeface="Symbol" panose="05050102010706020507" charset="2"/>
              </a:rPr>
              <a:t></a:t>
            </a:r>
            <a:r>
              <a:rPr lang="en-US" altLang="zh-CN" sz="2800" dirty="0">
                <a:solidFill>
                  <a:srgbClr val="FF0000"/>
                </a:solidFill>
                <a:latin typeface="Calibri" panose="020F0502020204030204" charset="0"/>
                <a:ea typeface="PMingLiU" pitchFamily="18" charset="-120"/>
              </a:rPr>
              <a:t> 3CO</a:t>
            </a:r>
            <a:r>
              <a:rPr lang="en-US" altLang="zh-CN" sz="2800" baseline="-25000" dirty="0">
                <a:solidFill>
                  <a:srgbClr val="FF0000"/>
                </a:solidFill>
                <a:latin typeface="Calibri" panose="020F0502020204030204" charset="0"/>
                <a:ea typeface="PMingLiU" pitchFamily="18" charset="-120"/>
              </a:rPr>
              <a:t>2</a:t>
            </a:r>
            <a:r>
              <a:rPr lang="en-US" altLang="zh-CN" sz="2800" dirty="0">
                <a:solidFill>
                  <a:srgbClr val="FF0000"/>
                </a:solidFill>
                <a:latin typeface="Calibri" panose="020F0502020204030204" charset="0"/>
                <a:ea typeface="PMingLiU" pitchFamily="18" charset="-120"/>
              </a:rPr>
              <a:t>(</a:t>
            </a:r>
            <a:r>
              <a:rPr lang="en-US" altLang="zh-CN" sz="2800" i="1" dirty="0">
                <a:solidFill>
                  <a:srgbClr val="FF0000"/>
                </a:solidFill>
                <a:latin typeface="Calibri" panose="020F0502020204030204" charset="0"/>
                <a:ea typeface="PMingLiU" pitchFamily="18" charset="-120"/>
              </a:rPr>
              <a:t>g</a:t>
            </a:r>
            <a:r>
              <a:rPr lang="en-US" altLang="zh-CN" sz="2800" dirty="0">
                <a:solidFill>
                  <a:srgbClr val="FF0000"/>
                </a:solidFill>
                <a:latin typeface="Calibri" panose="020F0502020204030204" charset="0"/>
                <a:ea typeface="PMingLiU" pitchFamily="18" charset="-120"/>
              </a:rPr>
              <a:t>) + 2H</a:t>
            </a:r>
            <a:r>
              <a:rPr lang="en-US" altLang="zh-CN" sz="2800" baseline="-25000" dirty="0">
                <a:solidFill>
                  <a:srgbClr val="FF0000"/>
                </a:solidFill>
                <a:latin typeface="Calibri" panose="020F0502020204030204" charset="0"/>
                <a:ea typeface="PMingLiU" pitchFamily="18" charset="-120"/>
              </a:rPr>
              <a:t>2</a:t>
            </a:r>
            <a:r>
              <a:rPr lang="en-US" altLang="zh-CN" sz="2800" dirty="0">
                <a:solidFill>
                  <a:srgbClr val="FF0000"/>
                </a:solidFill>
                <a:latin typeface="Calibri" panose="020F0502020204030204" charset="0"/>
                <a:ea typeface="PMingLiU" pitchFamily="18" charset="-120"/>
              </a:rPr>
              <a:t>O(</a:t>
            </a:r>
            <a:r>
              <a:rPr lang="en-US" altLang="zh-CN" sz="2800" i="1" dirty="0">
                <a:solidFill>
                  <a:srgbClr val="FF0000"/>
                </a:solidFill>
                <a:latin typeface="Calibri" panose="020F0502020204030204" charset="0"/>
                <a:ea typeface="PMingLiU" pitchFamily="18" charset="-120"/>
              </a:rPr>
              <a:t>l</a:t>
            </a:r>
            <a:r>
              <a:rPr lang="en-US" altLang="zh-CN" sz="2800" dirty="0">
                <a:solidFill>
                  <a:srgbClr val="FF0000"/>
                </a:solidFill>
                <a:latin typeface="Calibri" panose="020F0502020204030204" charset="0"/>
                <a:ea typeface="PMingLiU" pitchFamily="18" charset="-120"/>
              </a:rPr>
              <a:t>)</a:t>
            </a:r>
            <a:endParaRPr lang="en-US" altLang="zh-CN" sz="2800" dirty="0">
              <a:solidFill>
                <a:srgbClr val="FF0000"/>
              </a:solidFill>
              <a:latin typeface="Calibri" panose="020F0502020204030204" charset="0"/>
              <a:ea typeface="PMingLiU" pitchFamily="18" charset="-120"/>
            </a:endParaRPr>
          </a:p>
        </p:txBody>
      </p:sp>
      <p:sp>
        <p:nvSpPr>
          <p:cNvPr id="131077" name="Rectangle 5"/>
          <p:cNvSpPr/>
          <p:nvPr/>
        </p:nvSpPr>
        <p:spPr>
          <a:xfrm>
            <a:off x="405924" y="5668963"/>
            <a:ext cx="5964555" cy="521970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p>
            <a:pPr algn="ctr"/>
            <a:r>
              <a:rPr lang="en-US" altLang="zh-CN" sz="2800" dirty="0">
                <a:solidFill>
                  <a:srgbClr val="0000FF"/>
                </a:solidFill>
                <a:latin typeface="Calibri" panose="020F0502020204030204" charset="0"/>
                <a:ea typeface="PMingLiU" pitchFamily="18" charset="-120"/>
              </a:rPr>
              <a:t>CH</a:t>
            </a:r>
            <a:r>
              <a:rPr lang="en-US" altLang="zh-CN" sz="2800" baseline="-25000" dirty="0">
                <a:solidFill>
                  <a:srgbClr val="0000FF"/>
                </a:solidFill>
                <a:latin typeface="Calibri" panose="020F0502020204030204" charset="0"/>
                <a:ea typeface="PMingLiU" pitchFamily="18" charset="-120"/>
              </a:rPr>
              <a:t>4</a:t>
            </a:r>
            <a:r>
              <a:rPr lang="en-US" altLang="zh-CN" sz="2800" dirty="0">
                <a:solidFill>
                  <a:srgbClr val="0000FF"/>
                </a:solidFill>
                <a:latin typeface="Calibri" panose="020F0502020204030204" charset="0"/>
                <a:ea typeface="PMingLiU" pitchFamily="18" charset="-120"/>
              </a:rPr>
              <a:t>(</a:t>
            </a:r>
            <a:r>
              <a:rPr lang="en-US" altLang="zh-CN" sz="2800" i="1" dirty="0">
                <a:solidFill>
                  <a:srgbClr val="0000FF"/>
                </a:solidFill>
                <a:latin typeface="Calibri" panose="020F0502020204030204" charset="0"/>
                <a:ea typeface="PMingLiU" pitchFamily="18" charset="-120"/>
              </a:rPr>
              <a:t>g</a:t>
            </a:r>
            <a:r>
              <a:rPr lang="en-US" altLang="zh-CN" sz="2800" dirty="0">
                <a:solidFill>
                  <a:srgbClr val="0000FF"/>
                </a:solidFill>
                <a:latin typeface="Calibri" panose="020F0502020204030204" charset="0"/>
                <a:ea typeface="PMingLiU" pitchFamily="18" charset="-120"/>
              </a:rPr>
              <a:t>) + (3/2)O</a:t>
            </a:r>
            <a:r>
              <a:rPr lang="en-US" altLang="zh-CN" sz="2800" baseline="-25000" dirty="0">
                <a:solidFill>
                  <a:srgbClr val="0000FF"/>
                </a:solidFill>
                <a:latin typeface="Calibri" panose="020F0502020204030204" charset="0"/>
                <a:ea typeface="PMingLiU" pitchFamily="18" charset="-120"/>
              </a:rPr>
              <a:t>2</a:t>
            </a:r>
            <a:r>
              <a:rPr lang="en-US" altLang="zh-CN" sz="2800" dirty="0">
                <a:solidFill>
                  <a:srgbClr val="0000FF"/>
                </a:solidFill>
                <a:latin typeface="Calibri" panose="020F0502020204030204" charset="0"/>
                <a:ea typeface="PMingLiU" pitchFamily="18" charset="-120"/>
              </a:rPr>
              <a:t>(</a:t>
            </a:r>
            <a:r>
              <a:rPr lang="en-US" altLang="zh-CN" sz="2800" i="1" dirty="0">
                <a:solidFill>
                  <a:srgbClr val="0000FF"/>
                </a:solidFill>
                <a:latin typeface="Calibri" panose="020F0502020204030204" charset="0"/>
                <a:ea typeface="PMingLiU" pitchFamily="18" charset="-120"/>
              </a:rPr>
              <a:t>g</a:t>
            </a:r>
            <a:r>
              <a:rPr lang="en-US" altLang="zh-CN" sz="2800" dirty="0">
                <a:solidFill>
                  <a:srgbClr val="0000FF"/>
                </a:solidFill>
                <a:latin typeface="Calibri" panose="020F0502020204030204" charset="0"/>
                <a:ea typeface="PMingLiU" pitchFamily="18" charset="-120"/>
              </a:rPr>
              <a:t>)</a:t>
            </a:r>
            <a:r>
              <a:rPr lang="en-US" altLang="zh-CN" sz="2800" baseline="-25000" dirty="0">
                <a:solidFill>
                  <a:srgbClr val="0000FF"/>
                </a:solidFill>
                <a:latin typeface="Calibri" panose="020F0502020204030204" charset="0"/>
                <a:ea typeface="PMingLiU" pitchFamily="18" charset="-120"/>
              </a:rPr>
              <a:t> </a:t>
            </a:r>
            <a:r>
              <a:rPr lang="en-US" altLang="zh-CN" sz="2800" dirty="0">
                <a:solidFill>
                  <a:srgbClr val="0000FF"/>
                </a:solidFill>
                <a:latin typeface="Calibri" panose="020F0502020204030204" charset="0"/>
                <a:ea typeface="PMingLiU" pitchFamily="18" charset="-120"/>
                <a:sym typeface="Symbol" panose="05050102010706020507" charset="2"/>
              </a:rPr>
              <a:t></a:t>
            </a:r>
            <a:r>
              <a:rPr lang="en-US" altLang="zh-CN" sz="2800" dirty="0">
                <a:solidFill>
                  <a:srgbClr val="0000FF"/>
                </a:solidFill>
                <a:latin typeface="Calibri" panose="020F0502020204030204" charset="0"/>
                <a:ea typeface="PMingLiU" pitchFamily="18" charset="-120"/>
              </a:rPr>
              <a:t> CO(</a:t>
            </a:r>
            <a:r>
              <a:rPr lang="en-US" altLang="zh-CN" sz="2800" i="1" dirty="0">
                <a:solidFill>
                  <a:srgbClr val="0000FF"/>
                </a:solidFill>
                <a:latin typeface="Calibri" panose="020F0502020204030204" charset="0"/>
                <a:ea typeface="PMingLiU" pitchFamily="18" charset="-120"/>
              </a:rPr>
              <a:t>g</a:t>
            </a:r>
            <a:r>
              <a:rPr lang="en-US" altLang="zh-CN" sz="2800" dirty="0">
                <a:solidFill>
                  <a:srgbClr val="0000FF"/>
                </a:solidFill>
                <a:latin typeface="Calibri" panose="020F0502020204030204" charset="0"/>
                <a:ea typeface="PMingLiU" pitchFamily="18" charset="-120"/>
              </a:rPr>
              <a:t>) + 2H</a:t>
            </a:r>
            <a:r>
              <a:rPr lang="en-US" altLang="zh-CN" sz="2800" baseline="-25000" dirty="0">
                <a:solidFill>
                  <a:srgbClr val="0000FF"/>
                </a:solidFill>
                <a:latin typeface="Calibri" panose="020F0502020204030204" charset="0"/>
                <a:ea typeface="PMingLiU" pitchFamily="18" charset="-120"/>
              </a:rPr>
              <a:t>2</a:t>
            </a:r>
            <a:r>
              <a:rPr lang="en-US" altLang="zh-CN" sz="2800" dirty="0">
                <a:solidFill>
                  <a:srgbClr val="0000FF"/>
                </a:solidFill>
                <a:latin typeface="Calibri" panose="020F0502020204030204" charset="0"/>
                <a:ea typeface="PMingLiU" pitchFamily="18" charset="-120"/>
              </a:rPr>
              <a:t>O(</a:t>
            </a:r>
            <a:r>
              <a:rPr lang="en-US" altLang="zh-CN" sz="2800" i="1" dirty="0">
                <a:solidFill>
                  <a:srgbClr val="0000FF"/>
                </a:solidFill>
                <a:latin typeface="Calibri" panose="020F0502020204030204" charset="0"/>
                <a:ea typeface="PMingLiU" pitchFamily="18" charset="-120"/>
              </a:rPr>
              <a:t>l</a:t>
            </a:r>
            <a:r>
              <a:rPr lang="en-US" altLang="zh-CN" sz="2800" dirty="0">
                <a:solidFill>
                  <a:srgbClr val="0000FF"/>
                </a:solidFill>
                <a:latin typeface="Calibri" panose="020F0502020204030204" charset="0"/>
                <a:ea typeface="PMingLiU" pitchFamily="18" charset="-120"/>
              </a:rPr>
              <a:t>)</a:t>
            </a:r>
            <a:endParaRPr lang="en-US" altLang="zh-CN" sz="2800" dirty="0">
              <a:solidFill>
                <a:srgbClr val="0000FF"/>
              </a:solidFill>
              <a:latin typeface="Calibri" panose="020F0502020204030204" charset="0"/>
              <a:ea typeface="PMingLiU" pitchFamily="18" charset="-120"/>
            </a:endParaRPr>
          </a:p>
        </p:txBody>
      </p:sp>
      <p:sp>
        <p:nvSpPr>
          <p:cNvPr id="131078" name="Rectangle 6"/>
          <p:cNvSpPr/>
          <p:nvPr/>
        </p:nvSpPr>
        <p:spPr>
          <a:xfrm>
            <a:off x="465138" y="6191250"/>
            <a:ext cx="6155690" cy="521970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p>
            <a:pPr algn="ctr"/>
            <a:r>
              <a:rPr lang="en-US" altLang="zh-CN" sz="2800" dirty="0">
                <a:solidFill>
                  <a:srgbClr val="0000FF"/>
                </a:solidFill>
                <a:latin typeface="Calibri" panose="020F0502020204030204" charset="0"/>
                <a:ea typeface="PMingLiU" pitchFamily="18" charset="-120"/>
              </a:rPr>
              <a:t>CO(</a:t>
            </a:r>
            <a:r>
              <a:rPr lang="en-US" altLang="zh-CN" sz="2800" i="1" dirty="0">
                <a:solidFill>
                  <a:srgbClr val="0000FF"/>
                </a:solidFill>
                <a:latin typeface="Calibri" panose="020F0502020204030204" charset="0"/>
                <a:ea typeface="PMingLiU" pitchFamily="18" charset="-120"/>
              </a:rPr>
              <a:t>g</a:t>
            </a:r>
            <a:r>
              <a:rPr lang="en-US" altLang="zh-CN" sz="2800" dirty="0">
                <a:solidFill>
                  <a:srgbClr val="0000FF"/>
                </a:solidFill>
                <a:latin typeface="Calibri" panose="020F0502020204030204" charset="0"/>
                <a:ea typeface="PMingLiU" pitchFamily="18" charset="-120"/>
              </a:rPr>
              <a:t>) + (1/2)O</a:t>
            </a:r>
            <a:r>
              <a:rPr lang="en-US" altLang="zh-CN" sz="2800" baseline="-25000" dirty="0">
                <a:solidFill>
                  <a:srgbClr val="0000FF"/>
                </a:solidFill>
                <a:latin typeface="Calibri" panose="020F0502020204030204" charset="0"/>
                <a:ea typeface="PMingLiU" pitchFamily="18" charset="-120"/>
              </a:rPr>
              <a:t>2</a:t>
            </a:r>
            <a:r>
              <a:rPr lang="en-US" altLang="zh-CN" sz="2800" dirty="0">
                <a:solidFill>
                  <a:srgbClr val="0000FF"/>
                </a:solidFill>
                <a:latin typeface="Calibri" panose="020F0502020204030204" charset="0"/>
                <a:ea typeface="PMingLiU" pitchFamily="18" charset="-120"/>
              </a:rPr>
              <a:t>(</a:t>
            </a:r>
            <a:r>
              <a:rPr lang="en-US" altLang="zh-CN" sz="2800" i="1" dirty="0">
                <a:solidFill>
                  <a:srgbClr val="0000FF"/>
                </a:solidFill>
                <a:latin typeface="Calibri" panose="020F0502020204030204" charset="0"/>
                <a:ea typeface="PMingLiU" pitchFamily="18" charset="-120"/>
              </a:rPr>
              <a:t>g</a:t>
            </a:r>
            <a:r>
              <a:rPr lang="en-US" altLang="zh-CN" sz="2800" dirty="0">
                <a:solidFill>
                  <a:srgbClr val="0000FF"/>
                </a:solidFill>
                <a:latin typeface="Calibri" panose="020F0502020204030204" charset="0"/>
                <a:ea typeface="PMingLiU" pitchFamily="18" charset="-120"/>
              </a:rPr>
              <a:t>)</a:t>
            </a:r>
            <a:r>
              <a:rPr lang="en-US" altLang="zh-CN" sz="2800" baseline="-25000" dirty="0">
                <a:solidFill>
                  <a:srgbClr val="0000FF"/>
                </a:solidFill>
                <a:latin typeface="Calibri" panose="020F0502020204030204" charset="0"/>
                <a:ea typeface="PMingLiU" pitchFamily="18" charset="-120"/>
              </a:rPr>
              <a:t> </a:t>
            </a:r>
            <a:r>
              <a:rPr lang="en-US" altLang="zh-CN" sz="2800" dirty="0">
                <a:solidFill>
                  <a:srgbClr val="0000FF"/>
                </a:solidFill>
                <a:latin typeface="Calibri" panose="020F0502020204030204" charset="0"/>
                <a:ea typeface="PMingLiU" pitchFamily="18" charset="-120"/>
                <a:sym typeface="Symbol" panose="05050102010706020507" charset="2"/>
              </a:rPr>
              <a:t></a:t>
            </a:r>
            <a:r>
              <a:rPr lang="en-US" altLang="zh-CN" sz="2800" dirty="0">
                <a:solidFill>
                  <a:srgbClr val="0000FF"/>
                </a:solidFill>
                <a:latin typeface="Calibri" panose="020F0502020204030204" charset="0"/>
                <a:ea typeface="PMingLiU" pitchFamily="18" charset="-120"/>
              </a:rPr>
              <a:t> 3CO</a:t>
            </a:r>
            <a:r>
              <a:rPr lang="en-US" altLang="zh-CN" sz="2800" baseline="-25000" dirty="0">
                <a:solidFill>
                  <a:srgbClr val="0000FF"/>
                </a:solidFill>
                <a:latin typeface="Calibri" panose="020F0502020204030204" charset="0"/>
                <a:ea typeface="PMingLiU" pitchFamily="18" charset="-120"/>
              </a:rPr>
              <a:t>2</a:t>
            </a:r>
            <a:r>
              <a:rPr lang="en-US" altLang="zh-CN" sz="2800" dirty="0">
                <a:solidFill>
                  <a:srgbClr val="0000FF"/>
                </a:solidFill>
                <a:latin typeface="Calibri" panose="020F0502020204030204" charset="0"/>
                <a:ea typeface="PMingLiU" pitchFamily="18" charset="-120"/>
              </a:rPr>
              <a:t>(</a:t>
            </a:r>
            <a:r>
              <a:rPr lang="en-US" altLang="zh-CN" sz="2800" i="1" dirty="0">
                <a:solidFill>
                  <a:srgbClr val="0000FF"/>
                </a:solidFill>
                <a:latin typeface="Calibri" panose="020F0502020204030204" charset="0"/>
                <a:ea typeface="PMingLiU" pitchFamily="18" charset="-120"/>
              </a:rPr>
              <a:t>g</a:t>
            </a:r>
            <a:r>
              <a:rPr lang="en-US" altLang="zh-CN" sz="2800" dirty="0">
                <a:solidFill>
                  <a:srgbClr val="0000FF"/>
                </a:solidFill>
                <a:latin typeface="Calibri" panose="020F0502020204030204" charset="0"/>
                <a:ea typeface="PMingLiU" pitchFamily="18" charset="-120"/>
              </a:rPr>
              <a:t>) + 2H</a:t>
            </a:r>
            <a:r>
              <a:rPr lang="en-US" altLang="zh-CN" sz="2800" baseline="-25000" dirty="0">
                <a:solidFill>
                  <a:srgbClr val="0000FF"/>
                </a:solidFill>
                <a:latin typeface="Calibri" panose="020F0502020204030204" charset="0"/>
                <a:ea typeface="PMingLiU" pitchFamily="18" charset="-120"/>
              </a:rPr>
              <a:t>2</a:t>
            </a:r>
            <a:r>
              <a:rPr lang="en-US" altLang="zh-CN" sz="2800" dirty="0">
                <a:solidFill>
                  <a:srgbClr val="0000FF"/>
                </a:solidFill>
                <a:latin typeface="Calibri" panose="020F0502020204030204" charset="0"/>
                <a:ea typeface="PMingLiU" pitchFamily="18" charset="-120"/>
              </a:rPr>
              <a:t>O(</a:t>
            </a:r>
            <a:r>
              <a:rPr lang="en-US" altLang="zh-CN" sz="2800" i="1" dirty="0">
                <a:solidFill>
                  <a:srgbClr val="0000FF"/>
                </a:solidFill>
                <a:latin typeface="Calibri" panose="020F0502020204030204" charset="0"/>
                <a:ea typeface="PMingLiU" pitchFamily="18" charset="-120"/>
              </a:rPr>
              <a:t>l</a:t>
            </a:r>
            <a:r>
              <a:rPr lang="en-US" altLang="zh-CN" sz="2800" dirty="0">
                <a:solidFill>
                  <a:srgbClr val="0000FF"/>
                </a:solidFill>
                <a:latin typeface="Calibri" panose="020F0502020204030204" charset="0"/>
                <a:ea typeface="PMingLiU" pitchFamily="18" charset="-120"/>
              </a:rPr>
              <a:t>)</a:t>
            </a:r>
            <a:endParaRPr lang="en-US" altLang="zh-CN" sz="2800" dirty="0">
              <a:solidFill>
                <a:srgbClr val="0000FF"/>
              </a:solidFill>
              <a:latin typeface="Calibri" panose="020F0502020204030204" charset="0"/>
              <a:ea typeface="PMingLiU" pitchFamily="18" charset="-120"/>
            </a:endParaRPr>
          </a:p>
        </p:txBody>
      </p:sp>
    </p:spTree>
  </p:cSld>
  <p:clrMapOvr>
    <a:masterClrMapping/>
  </p:clrMapOvr>
  <p:transition spd="slow"/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41313" name="Rectangle 2"/>
          <p:cNvSpPr>
            <a:spLocks noGrp="1"/>
          </p:cNvSpPr>
          <p:nvPr>
            <p:ph type="title"/>
          </p:nvPr>
        </p:nvSpPr>
        <p:spPr>
          <a:xfrm>
            <a:off x="803275" y="-317"/>
            <a:ext cx="10585450" cy="1143000"/>
          </a:xfrm>
        </p:spPr>
        <p:txBody>
          <a:bodyPr vert="horz" wrap="square" lIns="91440" tIns="45720" rIns="91440" bIns="45720" anchor="ctr">
            <a:noAutofit/>
          </a:bodyPr>
          <a:p>
            <a:pPr algn="ctr"/>
            <a:r>
              <a:rPr lang="en-US" altLang="zh-CN" sz="3600" b="1" dirty="0">
                <a:solidFill>
                  <a:srgbClr val="C00000"/>
                </a:solidFill>
              </a:rPr>
              <a:t>Calculation of </a:t>
            </a:r>
            <a:r>
              <a:rPr lang="en-US" altLang="zh-CN" sz="3600" b="1" dirty="0">
                <a:solidFill>
                  <a:srgbClr val="C00000"/>
                </a:solidFill>
                <a:latin typeface="Symbol" panose="05050102010706020507" charset="2"/>
                <a:sym typeface="Symbol" panose="05050102010706020507" charset="2"/>
              </a:rPr>
              <a:t></a:t>
            </a:r>
            <a:r>
              <a:rPr lang="en-US" altLang="zh-CN" sz="3600" b="1" i="1" dirty="0">
                <a:solidFill>
                  <a:srgbClr val="C00000"/>
                </a:solidFill>
              </a:rPr>
              <a:t>H </a:t>
            </a:r>
            <a:r>
              <a:rPr lang="en-US" altLang="zh-CN" sz="3600" b="1" dirty="0">
                <a:solidFill>
                  <a:srgbClr val="000000"/>
                </a:solidFill>
                <a:latin typeface="Arial" panose="020B0604020202020204" pitchFamily="34" charset="0"/>
              </a:rPr>
              <a:t>from Enthalpies of Formation</a:t>
            </a:r>
            <a:endParaRPr lang="en-US" altLang="zh-CN" sz="3600" b="1" dirty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114691" name="Rectangle 3"/>
          <p:cNvSpPr>
            <a:spLocks noGrp="1"/>
          </p:cNvSpPr>
          <p:nvPr>
            <p:ph idx="1"/>
          </p:nvPr>
        </p:nvSpPr>
        <p:spPr>
          <a:xfrm>
            <a:off x="946150" y="998220"/>
            <a:ext cx="10299065" cy="4525645"/>
          </a:xfrm>
        </p:spPr>
        <p:txBody>
          <a:bodyPr vert="horz" wrap="square" lIns="91440" tIns="45720" rIns="91440" bIns="45720" anchor="t">
            <a:noAutofit/>
          </a:bodyPr>
          <a:p>
            <a:pPr>
              <a:lnSpc>
                <a:spcPct val="90000"/>
              </a:lnSpc>
              <a:buFontTx/>
              <a:buNone/>
            </a:pPr>
            <a:r>
              <a:rPr lang="en-US" altLang="zh-CN" sz="4400" dirty="0"/>
              <a:t>	We can use Hess’s law in this way:</a:t>
            </a:r>
            <a:endParaRPr lang="en-US" altLang="zh-CN" sz="4400" dirty="0"/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zh-CN" sz="4400" dirty="0"/>
              <a:t>	</a:t>
            </a:r>
            <a:r>
              <a:rPr lang="en-US" altLang="zh-CN" sz="4400" dirty="0">
                <a:latin typeface="Symbol" panose="05050102010706020507" charset="2"/>
                <a:sym typeface="Symbol" panose="05050102010706020507" charset="2"/>
              </a:rPr>
              <a:t></a:t>
            </a:r>
            <a:r>
              <a:rPr lang="en-US" altLang="zh-CN" sz="4400" i="1" dirty="0"/>
              <a:t>H</a:t>
            </a:r>
            <a:r>
              <a:rPr lang="en-US" altLang="zh-CN" sz="4400" dirty="0"/>
              <a:t> = </a:t>
            </a:r>
            <a:r>
              <a:rPr lang="en-US" altLang="zh-CN" sz="5400" dirty="0">
                <a:latin typeface="Symbol" panose="05050102010706020507" charset="2"/>
                <a:sym typeface="Symbol" panose="05050102010706020507" charset="2"/>
              </a:rPr>
              <a:t></a:t>
            </a:r>
            <a:r>
              <a:rPr lang="en-US" altLang="zh-CN" sz="4400" i="1" dirty="0"/>
              <a:t>n</a:t>
            </a:r>
            <a:r>
              <a:rPr lang="en-US" altLang="zh-CN" sz="4400" dirty="0">
                <a:latin typeface="Symbol" panose="05050102010706020507" charset="2"/>
                <a:sym typeface="Symbol" panose="05050102010706020507" charset="2"/>
              </a:rPr>
              <a:t></a:t>
            </a:r>
            <a:r>
              <a:rPr lang="en-US" altLang="zh-CN" sz="4400" i="1" dirty="0"/>
              <a:t>H</a:t>
            </a:r>
            <a:r>
              <a:rPr lang="en-US" altLang="zh-CN" sz="4400" i="1" baseline="-25000" dirty="0"/>
              <a:t>f</a:t>
            </a:r>
            <a:r>
              <a:rPr lang="en-US" altLang="zh-CN" sz="4400" baseline="30000" dirty="0"/>
              <a:t>o</a:t>
            </a:r>
            <a:r>
              <a:rPr lang="en-US" altLang="zh-CN" sz="4400" baseline="-25000" dirty="0"/>
              <a:t>,</a:t>
            </a:r>
            <a:r>
              <a:rPr lang="en-US" altLang="zh-CN" sz="4400" baseline="-25000" dirty="0">
                <a:solidFill>
                  <a:srgbClr val="FF0000"/>
                </a:solidFill>
                <a:sym typeface="Symbol" panose="05050102010706020507" charset="2"/>
              </a:rPr>
              <a:t>products</a:t>
            </a:r>
            <a:r>
              <a:rPr lang="en-US" altLang="zh-CN" sz="4400" dirty="0">
                <a:sym typeface="Symbol" panose="05050102010706020507" charset="2"/>
              </a:rPr>
              <a:t> – </a:t>
            </a:r>
            <a:r>
              <a:rPr lang="en-US" altLang="zh-CN" sz="5400" dirty="0">
                <a:latin typeface="Symbol" panose="05050102010706020507" charset="2"/>
                <a:sym typeface="Symbol" panose="05050102010706020507" charset="2"/>
              </a:rPr>
              <a:t></a:t>
            </a:r>
            <a:r>
              <a:rPr lang="en-US" altLang="zh-CN" sz="4400" i="1" dirty="0"/>
              <a:t>m</a:t>
            </a:r>
            <a:r>
              <a:rPr lang="en-US" altLang="zh-CN" sz="4400" dirty="0">
                <a:latin typeface="Symbol" panose="05050102010706020507" charset="2"/>
                <a:sym typeface="Symbol" panose="05050102010706020507" charset="2"/>
              </a:rPr>
              <a:t></a:t>
            </a:r>
            <a:r>
              <a:rPr lang="en-US" altLang="zh-CN" sz="4400" i="1" dirty="0">
                <a:sym typeface="Symbol" panose="05050102010706020507" charset="2"/>
              </a:rPr>
              <a:t>H</a:t>
            </a:r>
            <a:r>
              <a:rPr lang="en-US" altLang="zh-CN" sz="4400" i="1" baseline="-25000" dirty="0">
                <a:sym typeface="Symbol" panose="05050102010706020507" charset="2"/>
              </a:rPr>
              <a:t>f</a:t>
            </a:r>
            <a:r>
              <a:rPr lang="en-US" altLang="zh-CN" sz="4400" baseline="30000" dirty="0"/>
              <a:t>o</a:t>
            </a:r>
            <a:r>
              <a:rPr lang="en-US" altLang="zh-CN" sz="4400" i="1" baseline="-25000" dirty="0">
                <a:sym typeface="Symbol" panose="05050102010706020507" charset="2"/>
              </a:rPr>
              <a:t>,</a:t>
            </a:r>
            <a:r>
              <a:rPr lang="en-US" altLang="zh-CN" sz="4400" baseline="-25000" dirty="0">
                <a:solidFill>
                  <a:srgbClr val="FF0000"/>
                </a:solidFill>
                <a:sym typeface="Symbol" panose="05050102010706020507" charset="2"/>
              </a:rPr>
              <a:t>reactants</a:t>
            </a:r>
            <a:r>
              <a:rPr lang="en-US" altLang="zh-CN" sz="4400" dirty="0">
                <a:sym typeface="Symbol" panose="05050102010706020507" charset="2"/>
              </a:rPr>
              <a:t> </a:t>
            </a:r>
            <a:endParaRPr lang="en-US" altLang="zh-CN" sz="4400" dirty="0">
              <a:sym typeface="Symbol" panose="05050102010706020507" charset="2"/>
            </a:endParaRPr>
          </a:p>
          <a:p>
            <a:pPr>
              <a:lnSpc>
                <a:spcPct val="90000"/>
              </a:lnSpc>
              <a:buFontTx/>
              <a:buNone/>
            </a:pPr>
            <a:endParaRPr lang="en-US" altLang="zh-CN" sz="4400" dirty="0">
              <a:sym typeface="Symbol" panose="05050102010706020507" charset="2"/>
            </a:endParaRP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zh-CN" sz="4400" dirty="0">
                <a:sym typeface="Symbol" panose="05050102010706020507" charset="2"/>
              </a:rPr>
              <a:t>	where </a:t>
            </a:r>
            <a:r>
              <a:rPr lang="en-US" altLang="zh-CN" sz="4400" i="1" dirty="0">
                <a:sym typeface="Symbol" panose="05050102010706020507" charset="2"/>
              </a:rPr>
              <a:t>n</a:t>
            </a:r>
            <a:r>
              <a:rPr lang="en-US" altLang="zh-CN" sz="4400" dirty="0">
                <a:sym typeface="Symbol" panose="05050102010706020507" charset="2"/>
              </a:rPr>
              <a:t> and </a:t>
            </a:r>
            <a:r>
              <a:rPr lang="en-US" altLang="zh-CN" sz="4400" i="1" dirty="0">
                <a:sym typeface="Symbol" panose="05050102010706020507" charset="2"/>
              </a:rPr>
              <a:t>m</a:t>
            </a:r>
            <a:r>
              <a:rPr lang="en-US" altLang="zh-CN" sz="4400" dirty="0">
                <a:sym typeface="Symbol" panose="05050102010706020507" charset="2"/>
              </a:rPr>
              <a:t> are the stoichiometric coefficients.</a:t>
            </a:r>
            <a:endParaRPr lang="en-US" altLang="zh-CN" sz="4400" dirty="0">
              <a:sym typeface="Symbol" panose="05050102010706020507" charset="2"/>
            </a:endParaRP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zh-CN" sz="4400" dirty="0">
                <a:sym typeface="+mn-ea"/>
              </a:rPr>
              <a:t>Standard enthalpies of formation, </a:t>
            </a:r>
            <a:r>
              <a:rPr lang="en-US" altLang="zh-CN" sz="4400" dirty="0">
                <a:latin typeface="Symbol" panose="05050102010706020507" charset="2"/>
                <a:sym typeface="Symbol" panose="05050102010706020507" charset="2"/>
              </a:rPr>
              <a:t></a:t>
            </a:r>
            <a:r>
              <a:rPr lang="en-US" altLang="zh-CN" sz="4400" i="1" dirty="0">
                <a:sym typeface="+mn-ea"/>
              </a:rPr>
              <a:t>H</a:t>
            </a:r>
            <a:r>
              <a:rPr lang="en-US" altLang="zh-CN" sz="4400" i="1" baseline="-25000" dirty="0">
                <a:sym typeface="Symbol" panose="05050102010706020507" charset="2"/>
              </a:rPr>
              <a:t>f</a:t>
            </a:r>
            <a:r>
              <a:rPr lang="en-US" altLang="zh-CN" sz="4400" baseline="30000" dirty="0">
                <a:solidFill>
                  <a:srgbClr val="FF0000"/>
                </a:solidFill>
                <a:sym typeface="Symbol" panose="05050102010706020507" charset="2"/>
              </a:rPr>
              <a:t>o</a:t>
            </a:r>
            <a:r>
              <a:rPr lang="en-US" altLang="zh-CN" sz="4400" dirty="0">
                <a:sym typeface="Symbol" panose="05050102010706020507" charset="2"/>
              </a:rPr>
              <a:t>, are measured under </a:t>
            </a:r>
            <a:r>
              <a:rPr lang="en-US" altLang="zh-CN" sz="4400" u="sng" dirty="0">
                <a:sym typeface="Symbol" panose="05050102010706020507" charset="2"/>
              </a:rPr>
              <a:t>standard conditions </a:t>
            </a:r>
            <a:r>
              <a:rPr lang="en-US" altLang="zh-CN" sz="4400" dirty="0">
                <a:sym typeface="Symbol" panose="05050102010706020507" charset="2"/>
              </a:rPr>
              <a:t>(</a:t>
            </a:r>
            <a:r>
              <a:rPr lang="en-US" altLang="zh-CN" sz="4400" dirty="0">
                <a:solidFill>
                  <a:srgbClr val="FF0000"/>
                </a:solidFill>
                <a:sym typeface="Symbol" panose="05050102010706020507" charset="2"/>
              </a:rPr>
              <a:t>25 </a:t>
            </a:r>
            <a:r>
              <a:rPr lang="en-US" altLang="zh-CN" sz="4400" baseline="30000" dirty="0">
                <a:solidFill>
                  <a:srgbClr val="FF0000"/>
                </a:solidFill>
                <a:sym typeface="Symbol" panose="05050102010706020507" charset="2"/>
              </a:rPr>
              <a:t>o</a:t>
            </a:r>
            <a:r>
              <a:rPr lang="en-US" altLang="zh-CN" sz="4400" dirty="0">
                <a:solidFill>
                  <a:srgbClr val="FF0000"/>
                </a:solidFill>
                <a:sym typeface="Symbol" panose="05050102010706020507" charset="2"/>
              </a:rPr>
              <a:t>C </a:t>
            </a:r>
            <a:r>
              <a:rPr lang="en-US" altLang="zh-CN" sz="4400" dirty="0">
                <a:sym typeface="Symbol" panose="05050102010706020507" charset="2"/>
              </a:rPr>
              <a:t>and </a:t>
            </a:r>
            <a:r>
              <a:rPr lang="en-US" altLang="zh-CN" sz="4400" dirty="0">
                <a:solidFill>
                  <a:srgbClr val="FF0000"/>
                </a:solidFill>
                <a:sym typeface="Symbol" panose="05050102010706020507" charset="2"/>
              </a:rPr>
              <a:t>1.00 atm </a:t>
            </a:r>
            <a:r>
              <a:rPr lang="en-US" altLang="zh-CN" sz="4400" dirty="0">
                <a:sym typeface="Symbol" panose="05050102010706020507" charset="2"/>
              </a:rPr>
              <a:t>pressure).</a:t>
            </a:r>
            <a:endParaRPr lang="en-US" altLang="zh-CN" sz="4400" dirty="0"/>
          </a:p>
          <a:p>
            <a:pPr>
              <a:lnSpc>
                <a:spcPct val="90000"/>
              </a:lnSpc>
              <a:buFontTx/>
              <a:buNone/>
            </a:pPr>
            <a:endParaRPr lang="en-US" altLang="zh-CN" sz="4400" dirty="0">
              <a:sym typeface="Symbol" panose="05050102010706020507" charset="2"/>
            </a:endParaRPr>
          </a:p>
          <a:p>
            <a:pPr>
              <a:lnSpc>
                <a:spcPct val="90000"/>
              </a:lnSpc>
              <a:buFontTx/>
              <a:buNone/>
            </a:pPr>
            <a:endParaRPr lang="en-US" altLang="zh-CN" sz="4400" dirty="0"/>
          </a:p>
          <a:p>
            <a:pPr>
              <a:lnSpc>
                <a:spcPct val="90000"/>
              </a:lnSpc>
              <a:buFontTx/>
              <a:buNone/>
            </a:pPr>
            <a:endParaRPr lang="en-US" altLang="zh-CN" sz="4400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  <p:bldLst>
      <p:bldP spid="114691" grpId="0" build="p"/>
    </p:bld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51553" name="Rectangle 2"/>
          <p:cNvSpPr>
            <a:spLocks noGrp="1"/>
          </p:cNvSpPr>
          <p:nvPr>
            <p:ph type="title"/>
          </p:nvPr>
        </p:nvSpPr>
        <p:spPr>
          <a:xfrm>
            <a:off x="2209800" y="-317"/>
            <a:ext cx="7772400" cy="1143000"/>
          </a:xfrm>
        </p:spPr>
        <p:txBody>
          <a:bodyPr vert="horz" wrap="square" lIns="91440" tIns="45720" rIns="91440" bIns="45720" anchor="ctr"/>
          <a:p>
            <a:pPr algn="ctr"/>
            <a:r>
              <a:rPr lang="en-US" altLang="zh-CN" sz="5400" b="1" dirty="0">
                <a:solidFill>
                  <a:srgbClr val="C00000"/>
                </a:solidFill>
              </a:rPr>
              <a:t>Bond Enthalpies</a:t>
            </a:r>
            <a:endParaRPr lang="en-US" altLang="zh-CN" sz="5400" b="1" dirty="0">
              <a:solidFill>
                <a:srgbClr val="C00000"/>
              </a:solidFill>
            </a:endParaRPr>
          </a:p>
        </p:txBody>
      </p:sp>
      <p:sp>
        <p:nvSpPr>
          <p:cNvPr id="151554" name="Rectangle 3"/>
          <p:cNvSpPr>
            <a:spLocks noGrp="1"/>
          </p:cNvSpPr>
          <p:nvPr>
            <p:ph idx="1"/>
          </p:nvPr>
        </p:nvSpPr>
        <p:spPr>
          <a:xfrm>
            <a:off x="327025" y="909955"/>
            <a:ext cx="11520805" cy="3568065"/>
          </a:xfrm>
        </p:spPr>
        <p:txBody>
          <a:bodyPr vert="horz" wrap="square" lIns="91440" tIns="45720" rIns="91440" bIns="45720" anchor="t">
            <a:noAutofit/>
          </a:bodyPr>
          <a:p>
            <a:pPr marL="0" indent="0">
              <a:lnSpc>
                <a:spcPct val="90000"/>
              </a:lnSpc>
              <a:buNone/>
            </a:pPr>
            <a:r>
              <a:rPr lang="en-US" altLang="zh-CN" sz="4400" b="1" dirty="0">
                <a:latin typeface="Arial" panose="020B0604020202020204" pitchFamily="34" charset="0"/>
                <a:cs typeface="Arial" panose="020B0604020202020204" pitchFamily="34" charset="0"/>
              </a:rPr>
              <a:t>Chemical Energy</a:t>
            </a:r>
            <a:endParaRPr lang="en-US" altLang="zh-CN" sz="4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90000"/>
              </a:lnSpc>
              <a:buNone/>
            </a:pPr>
            <a:r>
              <a:rPr lang="en-US" altLang="zh-CN" sz="4400" dirty="0">
                <a:latin typeface="Arial" panose="020B0604020202020204" pitchFamily="34" charset="0"/>
                <a:cs typeface="Arial" panose="020B0604020202020204" pitchFamily="34" charset="0"/>
              </a:rPr>
              <a:t>     </a:t>
            </a:r>
            <a:r>
              <a:rPr lang="en-US" altLang="zh-CN" sz="4400" u="sng" dirty="0">
                <a:latin typeface="Arial" panose="020B0604020202020204" pitchFamily="34" charset="0"/>
                <a:cs typeface="Arial" panose="020B0604020202020204" pitchFamily="34" charset="0"/>
              </a:rPr>
              <a:t>Breaking</a:t>
            </a:r>
            <a:r>
              <a:rPr lang="en-US" altLang="zh-CN" sz="4400" dirty="0">
                <a:latin typeface="Arial" panose="020B0604020202020204" pitchFamily="34" charset="0"/>
                <a:cs typeface="Arial" panose="020B0604020202020204" pitchFamily="34" charset="0"/>
              </a:rPr>
              <a:t> old </a:t>
            </a:r>
            <a:r>
              <a:rPr lang="en-US" altLang="zh-CN" sz="4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bond(s)</a:t>
            </a:r>
            <a:r>
              <a:rPr lang="en-US" altLang="zh-CN" sz="4400" dirty="0">
                <a:latin typeface="Arial" panose="020B0604020202020204" pitchFamily="34" charset="0"/>
                <a:cs typeface="Arial" panose="020B0604020202020204" pitchFamily="34" charset="0"/>
              </a:rPr>
              <a:t> in the reactants</a:t>
            </a:r>
            <a:endParaRPr lang="en-US" altLang="zh-CN" sz="4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90000"/>
              </a:lnSpc>
              <a:buNone/>
            </a:pPr>
            <a:r>
              <a:rPr lang="en-US" altLang="zh-CN" sz="4400" dirty="0">
                <a:latin typeface="Arial" panose="020B0604020202020204" pitchFamily="34" charset="0"/>
                <a:cs typeface="Arial" panose="020B0604020202020204" pitchFamily="34" charset="0"/>
              </a:rPr>
              <a:t>     while </a:t>
            </a:r>
            <a:r>
              <a:rPr lang="en-US" altLang="zh-CN" sz="4400" u="sng" dirty="0">
                <a:latin typeface="Arial" panose="020B0604020202020204" pitchFamily="34" charset="0"/>
                <a:cs typeface="Arial" panose="020B0604020202020204" pitchFamily="34" charset="0"/>
              </a:rPr>
              <a:t>making</a:t>
            </a:r>
            <a:r>
              <a:rPr lang="en-US" altLang="zh-CN" sz="4400" dirty="0">
                <a:latin typeface="Arial" panose="020B0604020202020204" pitchFamily="34" charset="0"/>
                <a:cs typeface="Arial" panose="020B0604020202020204" pitchFamily="34" charset="0"/>
              </a:rPr>
              <a:t> new </a:t>
            </a:r>
            <a:r>
              <a:rPr lang="en-US" altLang="zh-CN" sz="4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bond(s)</a:t>
            </a:r>
            <a:r>
              <a:rPr lang="en-US" altLang="zh-CN" sz="4400" dirty="0">
                <a:latin typeface="Arial" panose="020B0604020202020204" pitchFamily="34" charset="0"/>
                <a:cs typeface="Arial" panose="020B0604020202020204" pitchFamily="34" charset="0"/>
              </a:rPr>
              <a:t> in the products </a:t>
            </a:r>
            <a:endParaRPr lang="en-US" altLang="zh-CN" sz="4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90000"/>
              </a:lnSpc>
              <a:buNone/>
            </a:pPr>
            <a:r>
              <a:rPr lang="en-US" altLang="zh-CN" sz="4400" dirty="0"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  <a:sym typeface="+mn-ea"/>
              </a:rPr>
              <a:t>Bond enthalpy values given in chemical data books are </a:t>
            </a:r>
            <a:r>
              <a:rPr lang="en-US" altLang="zh-CN" sz="4400" dirty="0">
                <a:solidFill>
                  <a:srgbClr val="FF0000"/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  <a:sym typeface="+mn-ea"/>
              </a:rPr>
              <a:t>averaged values</a:t>
            </a:r>
            <a:r>
              <a:rPr lang="en-US" altLang="zh-CN" sz="4400" dirty="0"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  <a:sym typeface="+mn-ea"/>
              </a:rPr>
              <a:t>. </a:t>
            </a:r>
            <a:endParaRPr lang="zh-CN" altLang="en-US" sz="4400" dirty="0">
              <a:latin typeface="Arial" panose="020B0604020202020204" pitchFamily="34" charset="0"/>
              <a:ea typeface="微软雅黑" panose="020B0503020204020204" charset="-122"/>
              <a:cs typeface="Arial" panose="020B0604020202020204" pitchFamily="34" charset="0"/>
            </a:endParaRPr>
          </a:p>
          <a:p>
            <a:pPr marL="0" indent="0">
              <a:lnSpc>
                <a:spcPct val="90000"/>
              </a:lnSpc>
              <a:buNone/>
            </a:pPr>
            <a:endParaRPr lang="en-US" altLang="zh-CN" sz="4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7697" name="Rectangle 1"/>
          <p:cNvSpPr/>
          <p:nvPr/>
        </p:nvSpPr>
        <p:spPr>
          <a:xfrm>
            <a:off x="653415" y="4801235"/>
            <a:ext cx="10868025" cy="92202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p>
            <a:pPr eaLnBrk="0" hangingPunct="0"/>
            <a:r>
              <a:rPr lang="en-US" altLang="zh-CN" sz="5400" dirty="0">
                <a:latin typeface="Calibri" panose="020F0502020204030204" charset="0"/>
                <a:ea typeface="PMingLiU" pitchFamily="18" charset="-120"/>
              </a:rPr>
              <a:t>ΔH = ∑ ΔH</a:t>
            </a:r>
            <a:r>
              <a:rPr lang="en-US" altLang="zh-CN" sz="5400" baseline="-25000" dirty="0">
                <a:latin typeface="Calibri" panose="020F0502020204030204" charset="0"/>
                <a:ea typeface="PMingLiU" pitchFamily="18" charset="-120"/>
              </a:rPr>
              <a:t>(bonds broken)</a:t>
            </a:r>
            <a:r>
              <a:rPr lang="en-US" altLang="zh-CN" sz="5400" dirty="0">
                <a:latin typeface="Calibri" panose="020F0502020204030204" charset="0"/>
                <a:ea typeface="PMingLiU" pitchFamily="18" charset="-120"/>
              </a:rPr>
              <a:t> - ∑ ΔH</a:t>
            </a:r>
            <a:r>
              <a:rPr lang="en-US" altLang="zh-CN" sz="5400" baseline="-25000" dirty="0">
                <a:latin typeface="Calibri" panose="020F0502020204030204" charset="0"/>
                <a:ea typeface="PMingLiU" pitchFamily="18" charset="-120"/>
              </a:rPr>
              <a:t>(bonds formed)</a:t>
            </a:r>
            <a:endParaRPr lang="en-US" altLang="zh-CN" sz="5400" baseline="-25000" dirty="0">
              <a:latin typeface="Calibri" panose="020F0502020204030204" charset="0"/>
              <a:ea typeface="PMingLiU" pitchFamily="18" charset="-120"/>
            </a:endParaRPr>
          </a:p>
        </p:txBody>
      </p:sp>
    </p:spTree>
  </p:cSld>
  <p:clrMapOvr>
    <a:masterClrMapping/>
  </p:clrMapOvr>
  <p:transition/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itle 1"/>
          <p:cNvSpPr/>
          <p:nvPr/>
        </p:nvSpPr>
        <p:spPr bwMode="auto">
          <a:xfrm>
            <a:off x="6019800" y="1676400"/>
            <a:ext cx="4572000" cy="35052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algn="ctr" eaLnBrk="1" hangingPunct="1"/>
            <a:r>
              <a:rPr lang="en-US" altLang="en-US" sz="3400" b="1">
                <a:solidFill>
                  <a:srgbClr val="000000"/>
                </a:solidFill>
              </a:rPr>
              <a:t>Chapter 14</a:t>
            </a:r>
            <a:br>
              <a:rPr lang="en-US" altLang="en-US" sz="3400" b="1">
                <a:solidFill>
                  <a:srgbClr val="000000"/>
                </a:solidFill>
              </a:rPr>
            </a:br>
            <a:br>
              <a:rPr lang="en-US" altLang="en-US" sz="3400" b="1">
                <a:solidFill>
                  <a:srgbClr val="000000"/>
                </a:solidFill>
              </a:rPr>
            </a:br>
            <a:r>
              <a:rPr lang="en-US" altLang="en-US" sz="3400" b="1">
                <a:solidFill>
                  <a:srgbClr val="000000"/>
                </a:solidFill>
              </a:rPr>
              <a:t>Chemical Kinetics</a:t>
            </a:r>
            <a:endParaRPr lang="en-US" altLang="en-US" sz="3400" b="1">
              <a:solidFill>
                <a:srgbClr val="000000"/>
              </a:solidFill>
            </a:endParaRPr>
          </a:p>
        </p:txBody>
      </p:sp>
      <p:sp>
        <p:nvSpPr>
          <p:cNvPr id="3075" name="Subtitle 2"/>
          <p:cNvSpPr/>
          <p:nvPr/>
        </p:nvSpPr>
        <p:spPr bwMode="auto">
          <a:xfrm>
            <a:off x="6019800" y="5791200"/>
            <a:ext cx="4572000" cy="9906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algn="ctr" eaLnBrk="1" hangingPunct="1"/>
            <a:r>
              <a:rPr lang="en-US" altLang="en-US" sz="1800">
                <a:solidFill>
                  <a:srgbClr val="0D0D0D"/>
                </a:solidFill>
              </a:rPr>
              <a:t>James F. Kirby</a:t>
            </a:r>
            <a:endParaRPr lang="en-US" altLang="en-US" sz="1800">
              <a:solidFill>
                <a:srgbClr val="0D0D0D"/>
              </a:solidFill>
            </a:endParaRPr>
          </a:p>
          <a:p>
            <a:pPr algn="ctr" eaLnBrk="1" hangingPunct="1"/>
            <a:r>
              <a:rPr lang="en-US" altLang="en-US" sz="1800">
                <a:solidFill>
                  <a:srgbClr val="0D0D0D"/>
                </a:solidFill>
              </a:rPr>
              <a:t>Quinnipiac University</a:t>
            </a:r>
            <a:endParaRPr lang="en-US" altLang="en-US" sz="1800">
              <a:solidFill>
                <a:srgbClr val="0D0D0D"/>
              </a:solidFill>
            </a:endParaRPr>
          </a:p>
          <a:p>
            <a:pPr algn="ctr" eaLnBrk="1" hangingPunct="1"/>
            <a:r>
              <a:rPr lang="en-US" altLang="en-US" sz="1800">
                <a:solidFill>
                  <a:srgbClr val="0D0D0D"/>
                </a:solidFill>
              </a:rPr>
              <a:t>Hamden, CT</a:t>
            </a:r>
            <a:endParaRPr lang="en-US" altLang="en-US" sz="1800">
              <a:solidFill>
                <a:srgbClr val="0D0D0D"/>
              </a:solidFill>
            </a:endParaRPr>
          </a:p>
        </p:txBody>
      </p:sp>
      <p:sp>
        <p:nvSpPr>
          <p:cNvPr id="3076" name="Rectangle 10"/>
          <p:cNvSpPr>
            <a:spLocks noChangeArrowheads="1"/>
          </p:cNvSpPr>
          <p:nvPr/>
        </p:nvSpPr>
        <p:spPr bwMode="auto">
          <a:xfrm>
            <a:off x="6019800" y="700088"/>
            <a:ext cx="4648200" cy="521970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/>
          <a:p>
            <a:pPr algn="ctr" eaLnBrk="1" hangingPunct="1"/>
            <a:r>
              <a:rPr lang="en-US" altLang="en-US" sz="2800">
                <a:solidFill>
                  <a:srgbClr val="000000"/>
                </a:solidFill>
                <a:cs typeface="Arial" panose="020B0604020202020204" pitchFamily="34" charset="0"/>
              </a:rPr>
              <a:t>Lecture Presentation</a:t>
            </a:r>
            <a:endParaRPr lang="en-US" altLang="en-US" sz="2800">
              <a:solidFill>
                <a:srgbClr val="000000"/>
              </a:solidFill>
              <a:cs typeface="Arial" panose="020B0604020202020204" pitchFamily="34" charset="0"/>
            </a:endParaRPr>
          </a:p>
        </p:txBody>
      </p:sp>
      <p:pic>
        <p:nvPicPr>
          <p:cNvPr id="7" name="Picture 1" descr="BROW0417_13_ecat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 bwMode="auto">
          <a:xfrm>
            <a:off x="1752600" y="736303"/>
            <a:ext cx="4227513" cy="5309193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</p:pic>
    </p:spTree>
  </p:cSld>
  <p:clrMapOvr>
    <a:masterClrMapping/>
  </p:clrMapOvr>
  <p:transition spd="slow"/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itle 1"/>
          <p:cNvSpPr>
            <a:spLocks noGrp="1"/>
          </p:cNvSpPr>
          <p:nvPr>
            <p:ph type="title"/>
          </p:nvPr>
        </p:nvSpPr>
        <p:spPr>
          <a:xfrm>
            <a:off x="2667000" y="609600"/>
            <a:ext cx="6934200" cy="1371600"/>
          </a:xfrm>
        </p:spPr>
        <p:txBody>
          <a:bodyPr/>
          <a:lstStyle/>
          <a:p>
            <a:pPr eaLnBrk="1" hangingPunct="1"/>
            <a:r>
              <a:rPr lang="en-US" altLang="en-US"/>
              <a:t>Factors that Affect Reaction Rates</a:t>
            </a:r>
            <a:endParaRPr lang="en-US" altLang="en-US"/>
          </a:p>
        </p:txBody>
      </p:sp>
      <p:sp>
        <p:nvSpPr>
          <p:cNvPr id="5123" name="Content Placeholder 2"/>
          <p:cNvSpPr>
            <a:spLocks noGrp="1"/>
          </p:cNvSpPr>
          <p:nvPr>
            <p:ph idx="1"/>
          </p:nvPr>
        </p:nvSpPr>
        <p:spPr>
          <a:xfrm>
            <a:off x="2209800" y="2133600"/>
            <a:ext cx="7772400" cy="3962400"/>
          </a:xfrm>
        </p:spPr>
        <p:txBody>
          <a:bodyPr/>
          <a:lstStyle/>
          <a:p>
            <a:pPr marL="514350" indent="-514350" eaLnBrk="1" hangingPunct="1">
              <a:buFontTx/>
              <a:buAutoNum type="arabicParenR"/>
            </a:pPr>
            <a:r>
              <a:rPr lang="en-US" altLang="en-US"/>
              <a:t>Physical state of the reactants</a:t>
            </a:r>
            <a:endParaRPr lang="en-US" altLang="en-US"/>
          </a:p>
          <a:p>
            <a:pPr marL="514350" indent="-514350" eaLnBrk="1" hangingPunct="1">
              <a:buFontTx/>
              <a:buAutoNum type="arabicParenR"/>
            </a:pPr>
            <a:r>
              <a:rPr lang="en-US" altLang="en-US"/>
              <a:t>Reactant concentrations</a:t>
            </a:r>
            <a:endParaRPr lang="en-US" altLang="en-US"/>
          </a:p>
          <a:p>
            <a:pPr marL="514350" indent="-514350" eaLnBrk="1" hangingPunct="1">
              <a:buFontTx/>
              <a:buAutoNum type="arabicParenR"/>
            </a:pPr>
            <a:r>
              <a:rPr lang="en-US" altLang="en-US"/>
              <a:t>Reaction temperature</a:t>
            </a:r>
            <a:endParaRPr lang="en-US" altLang="en-US"/>
          </a:p>
          <a:p>
            <a:pPr marL="514350" indent="-514350" eaLnBrk="1" hangingPunct="1">
              <a:buFontTx/>
              <a:buAutoNum type="arabicParenR"/>
            </a:pPr>
            <a:r>
              <a:rPr lang="en-US" altLang="en-US"/>
              <a:t>Presence of a catalyst</a:t>
            </a:r>
            <a:endParaRPr lang="en-US" altLang="en-US"/>
          </a:p>
        </p:txBody>
      </p:sp>
    </p:spTree>
  </p:cSld>
  <p:clrMapOvr>
    <a:masterClrMapping/>
  </p:clrMapOvr>
  <p:transition spd="slow"/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itle 1"/>
          <p:cNvSpPr>
            <a:spLocks noGrp="1"/>
          </p:cNvSpPr>
          <p:nvPr>
            <p:ph type="title"/>
          </p:nvPr>
        </p:nvSpPr>
        <p:spPr>
          <a:xfrm>
            <a:off x="2209800" y="0"/>
            <a:ext cx="7772400" cy="1143000"/>
          </a:xfrm>
        </p:spPr>
        <p:txBody>
          <a:bodyPr/>
          <a:lstStyle/>
          <a:p>
            <a:r>
              <a:rPr lang="en-US" altLang="en-US"/>
              <a:t>Reaction Rate</a:t>
            </a:r>
            <a:endParaRPr lang="en-US" altLang="en-US"/>
          </a:p>
        </p:txBody>
      </p:sp>
      <p:sp>
        <p:nvSpPr>
          <p:cNvPr id="10243" name="Content Placeholder 2"/>
          <p:cNvSpPr>
            <a:spLocks noGrp="1"/>
          </p:cNvSpPr>
          <p:nvPr>
            <p:ph idx="1"/>
          </p:nvPr>
        </p:nvSpPr>
        <p:spPr>
          <a:xfrm>
            <a:off x="2362200" y="990600"/>
            <a:ext cx="7696200" cy="5257800"/>
          </a:xfrm>
        </p:spPr>
        <p:txBody>
          <a:bodyPr/>
          <a:lstStyle/>
          <a:p>
            <a:r>
              <a:rPr lang="en-US" altLang="en-US" b="1"/>
              <a:t>Rate</a:t>
            </a:r>
            <a:r>
              <a:rPr lang="en-US" altLang="en-US"/>
              <a:t> is a change in concentration over a time period:  </a:t>
            </a:r>
            <a:r>
              <a:rPr lang="el-GR" altLang="en-US">
                <a:cs typeface="Arial" panose="020B0604020202020204" pitchFamily="34" charset="0"/>
              </a:rPr>
              <a:t>Δ</a:t>
            </a:r>
            <a:r>
              <a:rPr lang="en-US" altLang="en-US">
                <a:cs typeface="Arial" panose="020B0604020202020204" pitchFamily="34" charset="0"/>
              </a:rPr>
              <a:t>[ ]/</a:t>
            </a:r>
            <a:r>
              <a:rPr lang="el-GR" altLang="en-US">
                <a:cs typeface="Arial" panose="020B0604020202020204" pitchFamily="34" charset="0"/>
              </a:rPr>
              <a:t>Δ</a:t>
            </a:r>
            <a:r>
              <a:rPr lang="en-US" altLang="en-US" i="1">
                <a:cs typeface="Arial" panose="020B0604020202020204" pitchFamily="34" charset="0"/>
              </a:rPr>
              <a:t>t</a:t>
            </a:r>
            <a:r>
              <a:rPr lang="en-US" altLang="en-US">
                <a:cs typeface="Arial" panose="020B0604020202020204" pitchFamily="34" charset="0"/>
              </a:rPr>
              <a:t>.</a:t>
            </a:r>
            <a:endParaRPr lang="en-US" altLang="en-US">
              <a:cs typeface="Arial" panose="020B0604020202020204" pitchFamily="34" charset="0"/>
            </a:endParaRPr>
          </a:p>
          <a:p>
            <a:r>
              <a:rPr lang="el-GR" altLang="en-US">
                <a:cs typeface="Arial" panose="020B0604020202020204" pitchFamily="34" charset="0"/>
              </a:rPr>
              <a:t>Δ</a:t>
            </a:r>
            <a:r>
              <a:rPr lang="en-US" altLang="en-US">
                <a:cs typeface="Arial" panose="020B0604020202020204" pitchFamily="34" charset="0"/>
              </a:rPr>
              <a:t> means “change in.”</a:t>
            </a:r>
            <a:endParaRPr lang="en-US" altLang="en-US">
              <a:cs typeface="Arial" panose="020B0604020202020204" pitchFamily="34" charset="0"/>
            </a:endParaRPr>
          </a:p>
          <a:p>
            <a:r>
              <a:rPr lang="en-US" altLang="en-US">
                <a:cs typeface="Arial" panose="020B0604020202020204" pitchFamily="34" charset="0"/>
              </a:rPr>
              <a:t>[ ] means molar concentration.</a:t>
            </a:r>
            <a:endParaRPr lang="en-US" altLang="en-US">
              <a:cs typeface="Arial" panose="020B0604020202020204" pitchFamily="34" charset="0"/>
            </a:endParaRPr>
          </a:p>
          <a:p>
            <a:r>
              <a:rPr lang="en-US" altLang="en-US" i="1">
                <a:cs typeface="Arial" panose="020B0604020202020204" pitchFamily="34" charset="0"/>
              </a:rPr>
              <a:t>t</a:t>
            </a:r>
            <a:r>
              <a:rPr lang="en-US" altLang="en-US">
                <a:cs typeface="Arial" panose="020B0604020202020204" pitchFamily="34" charset="0"/>
              </a:rPr>
              <a:t> represents time.</a:t>
            </a:r>
            <a:endParaRPr lang="en-US" altLang="en-US">
              <a:cs typeface="Arial" panose="020B0604020202020204" pitchFamily="34" charset="0"/>
            </a:endParaRPr>
          </a:p>
          <a:p>
            <a:r>
              <a:rPr lang="en-US" altLang="en-US">
                <a:cs typeface="Arial" panose="020B0604020202020204" pitchFamily="34" charset="0"/>
              </a:rPr>
              <a:t>Types of rate measured:</a:t>
            </a:r>
            <a:endParaRPr lang="en-US" altLang="en-US">
              <a:cs typeface="Arial" panose="020B0604020202020204" pitchFamily="34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altLang="en-US">
                <a:cs typeface="Arial" panose="020B0604020202020204" pitchFamily="34" charset="0"/>
              </a:rPr>
              <a:t>average rate</a:t>
            </a:r>
            <a:endParaRPr lang="en-US" altLang="en-US">
              <a:cs typeface="Arial" panose="020B0604020202020204" pitchFamily="34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altLang="en-US">
                <a:cs typeface="Arial" panose="020B0604020202020204" pitchFamily="34" charset="0"/>
              </a:rPr>
              <a:t>instantaneous rate</a:t>
            </a:r>
            <a:endParaRPr lang="en-US" altLang="en-US">
              <a:cs typeface="Arial" panose="020B0604020202020204" pitchFamily="34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altLang="en-US">
                <a:cs typeface="Arial" panose="020B0604020202020204" pitchFamily="34" charset="0"/>
              </a:rPr>
              <a:t>initial rate</a:t>
            </a:r>
            <a:endParaRPr lang="en-US" altLang="en-US"/>
          </a:p>
        </p:txBody>
      </p:sp>
    </p:spTree>
  </p:cSld>
  <p:clrMapOvr>
    <a:masterClrMapping/>
  </p:clrMapOvr>
  <p:transition spd="slow"/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1"/>
          <p:cNvSpPr>
            <a:spLocks noGrp="1"/>
          </p:cNvSpPr>
          <p:nvPr>
            <p:ph type="title"/>
          </p:nvPr>
        </p:nvSpPr>
        <p:spPr>
          <a:xfrm>
            <a:off x="2209800" y="23813"/>
            <a:ext cx="7772400" cy="1143000"/>
          </a:xfrm>
        </p:spPr>
        <p:txBody>
          <a:bodyPr/>
          <a:lstStyle/>
          <a:p>
            <a:r>
              <a:rPr lang="en-US" altLang="en-US"/>
              <a:t>Plotting Rate Data</a:t>
            </a:r>
            <a:endParaRPr lang="en-US" altLang="en-US"/>
          </a:p>
        </p:txBody>
      </p:sp>
      <p:sp>
        <p:nvSpPr>
          <p:cNvPr id="13315" name="Content Placeholder 2"/>
          <p:cNvSpPr>
            <a:spLocks noGrp="1"/>
          </p:cNvSpPr>
          <p:nvPr>
            <p:ph idx="1"/>
          </p:nvPr>
        </p:nvSpPr>
        <p:spPr>
          <a:xfrm>
            <a:off x="1676400" y="1066800"/>
            <a:ext cx="5183188" cy="5562600"/>
          </a:xfrm>
        </p:spPr>
        <p:txBody>
          <a:bodyPr/>
          <a:lstStyle/>
          <a:p>
            <a:r>
              <a:rPr lang="en-US" altLang="en-US" sz="2800"/>
              <a:t>A plot of the data gives more information about rate.</a:t>
            </a:r>
            <a:endParaRPr lang="en-US" altLang="en-US" sz="2800"/>
          </a:p>
          <a:p>
            <a:r>
              <a:rPr lang="en-US" altLang="en-US" sz="2800"/>
              <a:t>The slope of the curve at one point in time gives the </a:t>
            </a:r>
            <a:r>
              <a:rPr lang="en-US" altLang="en-US" sz="2800" b="1"/>
              <a:t>instantaneous rate</a:t>
            </a:r>
            <a:r>
              <a:rPr lang="en-US" altLang="en-US" sz="2800"/>
              <a:t>.</a:t>
            </a:r>
            <a:endParaRPr lang="en-US" altLang="en-US" sz="2800" b="1"/>
          </a:p>
          <a:p>
            <a:r>
              <a:rPr lang="en-US" altLang="en-US" sz="2800"/>
              <a:t>The instantaneous rate at time zero is called the </a:t>
            </a:r>
            <a:r>
              <a:rPr lang="en-US" altLang="en-US" sz="2800" b="1"/>
              <a:t>initial rate</a:t>
            </a:r>
            <a:r>
              <a:rPr lang="en-US" altLang="en-US" sz="2800"/>
              <a:t>; this is often the rate of interest to chemists.</a:t>
            </a:r>
            <a:endParaRPr lang="en-US" altLang="en-US" sz="2800"/>
          </a:p>
          <a:p>
            <a:r>
              <a:rPr lang="en-US" altLang="en-US" sz="2800"/>
              <a:t>This figure shows instantaneous and initial rate of the earlier example.</a:t>
            </a:r>
            <a:endParaRPr lang="en-US" altLang="en-US" sz="2800"/>
          </a:p>
        </p:txBody>
      </p:sp>
      <p:sp>
        <p:nvSpPr>
          <p:cNvPr id="13317" name="TextBox 4"/>
          <p:cNvSpPr txBox="1">
            <a:spLocks noChangeArrowheads="1"/>
          </p:cNvSpPr>
          <p:nvPr/>
        </p:nvSpPr>
        <p:spPr bwMode="auto">
          <a:xfrm>
            <a:off x="6929438" y="5334000"/>
            <a:ext cx="2824162" cy="1198880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2400">
                <a:solidFill>
                  <a:srgbClr val="00197D"/>
                </a:solidFill>
              </a:rPr>
              <a:t>Note: Reactions typically slow down over time!</a:t>
            </a:r>
            <a:endParaRPr lang="en-US" altLang="en-US" sz="2400">
              <a:solidFill>
                <a:srgbClr val="00197D"/>
              </a:solidFill>
            </a:endParaRPr>
          </a:p>
        </p:txBody>
      </p:sp>
      <p:pic>
        <p:nvPicPr>
          <p:cNvPr id="6" name="Picture 5" descr="14_04_Figure.jpg"/>
          <p:cNvPicPr>
            <a:picLocks noChangeAspect="1"/>
          </p:cNvPicPr>
          <p:nvPr/>
        </p:nvPicPr>
        <p:blipFill>
          <a:blip r:embed="rId1"/>
          <a:srcRect b="2546"/>
          <a:stretch>
            <a:fillRect/>
          </a:stretch>
        </p:blipFill>
        <p:spPr>
          <a:xfrm>
            <a:off x="7162800" y="1295400"/>
            <a:ext cx="3183025" cy="3429000"/>
          </a:xfrm>
          <a:prstGeom prst="rect">
            <a:avLst/>
          </a:prstGeom>
        </p:spPr>
      </p:pic>
    </p:spTree>
  </p:cSld>
  <p:clrMapOvr>
    <a:masterClrMapping/>
  </p:clrMapOvr>
  <p:transition spd="slow"/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itle 1"/>
          <p:cNvSpPr>
            <a:spLocks noGrp="1"/>
          </p:cNvSpPr>
          <p:nvPr>
            <p:ph type="title"/>
          </p:nvPr>
        </p:nvSpPr>
        <p:spPr>
          <a:xfrm>
            <a:off x="2209800" y="76200"/>
            <a:ext cx="7772400" cy="1295400"/>
          </a:xfrm>
        </p:spPr>
        <p:txBody>
          <a:bodyPr/>
          <a:lstStyle/>
          <a:p>
            <a:r>
              <a:rPr lang="en-US" altLang="en-US"/>
              <a:t>An Example of How Concentration Affects Rate</a:t>
            </a:r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05000" y="1346200"/>
            <a:ext cx="8458200" cy="3124200"/>
          </a:xfrm>
        </p:spPr>
        <p:txBody>
          <a:bodyPr/>
          <a:lstStyle/>
          <a:p>
            <a:pPr>
              <a:defRPr/>
            </a:pPr>
            <a:r>
              <a:rPr lang="en-US" sz="2800" dirty="0"/>
              <a:t>Experiments 1–3 show how [NH</a:t>
            </a:r>
            <a:r>
              <a:rPr lang="en-US" sz="2800" baseline="-25000" dirty="0"/>
              <a:t>4</a:t>
            </a:r>
            <a:r>
              <a:rPr lang="en-US" sz="2800" baseline="30000" dirty="0"/>
              <a:t>+</a:t>
            </a:r>
            <a:r>
              <a:rPr lang="en-US" sz="2800" dirty="0"/>
              <a:t>] affects rate.</a:t>
            </a:r>
            <a:endParaRPr lang="en-US" sz="2800" dirty="0"/>
          </a:p>
          <a:p>
            <a:pPr>
              <a:defRPr/>
            </a:pPr>
            <a:r>
              <a:rPr lang="en-US" sz="2800" dirty="0"/>
              <a:t>Experiments 4–6 show how [NO</a:t>
            </a:r>
            <a:r>
              <a:rPr lang="en-US" sz="2800" baseline="-25000" dirty="0"/>
              <a:t>2</a:t>
            </a:r>
            <a:r>
              <a:rPr lang="en-US" sz="2800" baseline="30000" dirty="0"/>
              <a:t>−</a:t>
            </a:r>
            <a:r>
              <a:rPr lang="en-US" sz="2800" dirty="0"/>
              <a:t>] affects rate.</a:t>
            </a:r>
            <a:endParaRPr lang="en-US" sz="2800" dirty="0"/>
          </a:p>
          <a:p>
            <a:pPr>
              <a:defRPr/>
            </a:pPr>
            <a:r>
              <a:rPr lang="en-US" sz="2800" dirty="0"/>
              <a:t>Result: The </a:t>
            </a:r>
            <a:r>
              <a:rPr lang="en-US" sz="2800" b="1" dirty="0"/>
              <a:t>rate law</a:t>
            </a:r>
            <a:r>
              <a:rPr lang="en-US" sz="2800" dirty="0"/>
              <a:t>, which shows the relationship between rate and concentration for all reactants:</a:t>
            </a:r>
            <a:endParaRPr lang="en-US" sz="2800" dirty="0"/>
          </a:p>
          <a:p>
            <a:pPr marL="0" indent="0">
              <a:buFontTx/>
              <a:buNone/>
              <a:defRPr/>
            </a:pPr>
            <a:r>
              <a:rPr lang="en-US" sz="2800" b="1" dirty="0"/>
              <a:t>		</a:t>
            </a:r>
            <a:r>
              <a:rPr lang="en-US" sz="2800" dirty="0"/>
              <a:t>Rate = k [NH</a:t>
            </a:r>
            <a:r>
              <a:rPr lang="en-US" sz="2800" baseline="-25000" dirty="0"/>
              <a:t>4</a:t>
            </a:r>
            <a:r>
              <a:rPr lang="en-US" sz="2800" baseline="30000" dirty="0"/>
              <a:t>+</a:t>
            </a:r>
            <a:r>
              <a:rPr lang="en-US" sz="2800" dirty="0"/>
              <a:t>] [NO</a:t>
            </a:r>
            <a:r>
              <a:rPr lang="en-US" sz="2800" baseline="-25000" dirty="0"/>
              <a:t>2</a:t>
            </a:r>
            <a:r>
              <a:rPr lang="en-US" sz="2800" baseline="30000" dirty="0"/>
              <a:t>−</a:t>
            </a:r>
            <a:r>
              <a:rPr lang="en-US" sz="2800" dirty="0"/>
              <a:t>]</a:t>
            </a:r>
            <a:endParaRPr lang="en-US" sz="2800" b="1" dirty="0"/>
          </a:p>
        </p:txBody>
      </p:sp>
      <p:pic>
        <p:nvPicPr>
          <p:cNvPr id="5" name="Picture 4" descr="14_02_Table.jpg"/>
          <p:cNvPicPr>
            <a:picLocks noChangeAspect="1"/>
          </p:cNvPicPr>
          <p:nvPr/>
        </p:nvPicPr>
        <p:blipFill>
          <a:blip r:embed="rId1"/>
          <a:srcRect b="4268"/>
          <a:stretch>
            <a:fillRect/>
          </a:stretch>
        </p:blipFill>
        <p:spPr>
          <a:xfrm>
            <a:off x="3962400" y="4419600"/>
            <a:ext cx="4267200" cy="1914144"/>
          </a:xfrm>
          <a:prstGeom prst="rect">
            <a:avLst/>
          </a:prstGeom>
        </p:spPr>
      </p:pic>
    </p:spTree>
  </p:cSld>
  <p:clrMapOvr>
    <a:masterClrMapping/>
  </p:clrMapOvr>
  <p:transition spd="slow"/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1524000" y="228600"/>
            <a:ext cx="7772400" cy="1143000"/>
          </a:xfrm>
        </p:spPr>
        <p:txBody>
          <a:bodyPr/>
          <a:lstStyle/>
          <a:p>
            <a:pPr eaLnBrk="1" hangingPunct="1"/>
            <a:r>
              <a:rPr lang="en-US" altLang="en-US"/>
              <a:t>Molecularity</a:t>
            </a:r>
            <a:endParaRPr lang="en-US" altLang="en-US"/>
          </a:p>
        </p:txBody>
      </p:sp>
      <p:sp>
        <p:nvSpPr>
          <p:cNvPr id="41987" name="Rectangle 4"/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1524000" y="4648200"/>
            <a:ext cx="7772400" cy="1295400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en-US" altLang="en-US" sz="2800"/>
              <a:t>	The </a:t>
            </a:r>
            <a:r>
              <a:rPr lang="en-US" altLang="en-US" sz="2800" b="1"/>
              <a:t>molecularity</a:t>
            </a:r>
            <a:r>
              <a:rPr lang="en-US" altLang="en-US" sz="2800"/>
              <a:t> of an elementary reaction tells how many molecules are involved in that step of the mechanism.</a:t>
            </a:r>
            <a:endParaRPr lang="en-US" altLang="en-US" sz="2800"/>
          </a:p>
        </p:txBody>
      </p:sp>
      <p:pic>
        <p:nvPicPr>
          <p:cNvPr id="5" name="Picture 4" descr="14_03_Table.jpg"/>
          <p:cNvPicPr>
            <a:picLocks noChangeAspect="1"/>
          </p:cNvPicPr>
          <p:nvPr/>
        </p:nvPicPr>
        <p:blipFill>
          <a:blip r:embed="rId1"/>
          <a:srcRect b="6063"/>
          <a:stretch>
            <a:fillRect/>
          </a:stretch>
        </p:blipFill>
        <p:spPr>
          <a:xfrm>
            <a:off x="1828800" y="1313688"/>
            <a:ext cx="8534400" cy="3258312"/>
          </a:xfrm>
          <a:prstGeom prst="rect">
            <a:avLst/>
          </a:prstGeom>
        </p:spPr>
      </p:pic>
    </p:spTree>
  </p:cSld>
  <p:clrMapOvr>
    <a:masterClrMapping/>
  </p:clrMapOvr>
  <p:transition spd="slow"/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1524000" y="0"/>
            <a:ext cx="7772400" cy="1143000"/>
          </a:xfrm>
        </p:spPr>
        <p:txBody>
          <a:bodyPr/>
          <a:lstStyle/>
          <a:p>
            <a:pPr eaLnBrk="1" hangingPunct="1"/>
            <a:r>
              <a:rPr lang="en-US" altLang="en-US"/>
              <a:t>More about Rate Law</a:t>
            </a:r>
            <a:endParaRPr lang="en-US" altLang="en-US"/>
          </a:p>
        </p:txBody>
      </p:sp>
      <p:sp>
        <p:nvSpPr>
          <p:cNvPr id="20483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1524000" y="1174750"/>
            <a:ext cx="8458200" cy="5105400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en-US" sz="2800" dirty="0"/>
              <a:t>The exponents tell the </a:t>
            </a:r>
            <a:r>
              <a:rPr lang="en-US" altLang="en-US" sz="2800" b="1" dirty="0"/>
              <a:t>order</a:t>
            </a:r>
            <a:r>
              <a:rPr lang="en-US" altLang="en-US" sz="2800" dirty="0"/>
              <a:t> of the reaction with respect to each reactant.</a:t>
            </a:r>
            <a:endParaRPr lang="en-US" altLang="en-US" sz="2800" dirty="0"/>
          </a:p>
          <a:p>
            <a:pPr eaLnBrk="1" hangingPunct="1">
              <a:defRPr/>
            </a:pPr>
            <a:r>
              <a:rPr lang="en-US" altLang="en-US" sz="2800" dirty="0"/>
              <a:t>In our example from the last slide:</a:t>
            </a:r>
            <a:endParaRPr lang="en-US" altLang="en-US" sz="2800" dirty="0"/>
          </a:p>
          <a:p>
            <a:pPr marL="0" indent="0" eaLnBrk="1" hangingPunct="1">
              <a:buFontTx/>
              <a:buNone/>
              <a:defRPr/>
            </a:pPr>
            <a:r>
              <a:rPr lang="en-US" altLang="en-US" sz="2800" dirty="0"/>
              <a:t>	</a:t>
            </a:r>
            <a:r>
              <a:rPr lang="en-US" sz="2800" dirty="0"/>
              <a:t>Rate = </a:t>
            </a:r>
            <a:r>
              <a:rPr lang="en-US" sz="2800" i="1" dirty="0"/>
              <a:t>k </a:t>
            </a:r>
            <a:r>
              <a:rPr lang="en-US" sz="2800" dirty="0"/>
              <a:t>[NH</a:t>
            </a:r>
            <a:r>
              <a:rPr lang="en-US" sz="2800" baseline="-25000" dirty="0"/>
              <a:t>4</a:t>
            </a:r>
            <a:r>
              <a:rPr lang="en-US" sz="2800" baseline="30000" dirty="0"/>
              <a:t>+</a:t>
            </a:r>
            <a:r>
              <a:rPr lang="en-US" sz="2800" dirty="0"/>
              <a:t>] [NO</a:t>
            </a:r>
            <a:r>
              <a:rPr lang="en-US" sz="2800" baseline="-25000" dirty="0"/>
              <a:t>2</a:t>
            </a:r>
            <a:r>
              <a:rPr lang="en-US" sz="2800" baseline="30000" dirty="0"/>
              <a:t>−</a:t>
            </a:r>
            <a:r>
              <a:rPr lang="en-US" sz="2800" dirty="0"/>
              <a:t>]</a:t>
            </a:r>
            <a:endParaRPr lang="en-US" sz="2800" b="1" dirty="0"/>
          </a:p>
          <a:p>
            <a:pPr eaLnBrk="1" hangingPunct="1">
              <a:buFont typeface="Arial" panose="020B0604020202020204" pitchFamily="34" charset="0"/>
              <a:buChar char="•"/>
              <a:defRPr/>
            </a:pPr>
            <a:r>
              <a:rPr lang="en-US" altLang="en-US" sz="2800" dirty="0"/>
              <a:t>The order with respect to each reactant is 1. (It is </a:t>
            </a:r>
            <a:r>
              <a:rPr lang="en-US" altLang="en-US" sz="2800" i="1" dirty="0"/>
              <a:t>first order </a:t>
            </a:r>
            <a:r>
              <a:rPr lang="en-US" altLang="en-US" sz="2800" dirty="0"/>
              <a:t>in </a:t>
            </a:r>
            <a:r>
              <a:rPr lang="en-US" sz="2800" dirty="0"/>
              <a:t>NH</a:t>
            </a:r>
            <a:r>
              <a:rPr lang="en-US" sz="2800" baseline="-25000" dirty="0"/>
              <a:t>4</a:t>
            </a:r>
            <a:r>
              <a:rPr lang="en-US" sz="2800" baseline="30000" dirty="0"/>
              <a:t>+</a:t>
            </a:r>
            <a:r>
              <a:rPr lang="en-US" sz="2800" dirty="0"/>
              <a:t> and NO</a:t>
            </a:r>
            <a:r>
              <a:rPr lang="en-US" sz="2800" baseline="-25000" dirty="0"/>
              <a:t>2</a:t>
            </a:r>
            <a:r>
              <a:rPr lang="en-US" sz="2800" baseline="30000" dirty="0"/>
              <a:t>−</a:t>
            </a:r>
            <a:r>
              <a:rPr lang="en-US" sz="2800" dirty="0"/>
              <a:t>.)</a:t>
            </a:r>
            <a:endParaRPr lang="en-US" sz="2800" b="1" dirty="0"/>
          </a:p>
          <a:p>
            <a:pPr eaLnBrk="1" hangingPunct="1">
              <a:buFont typeface="Arial" panose="020B0604020202020204" pitchFamily="34" charset="0"/>
              <a:buChar char="•"/>
              <a:defRPr/>
            </a:pPr>
            <a:r>
              <a:rPr lang="en-US" altLang="en-US" sz="2800" dirty="0"/>
              <a:t>The </a:t>
            </a:r>
            <a:r>
              <a:rPr lang="en-US" altLang="en-US" sz="2800" i="1" dirty="0"/>
              <a:t>reaction</a:t>
            </a:r>
            <a:r>
              <a:rPr lang="en-US" altLang="en-US" sz="2800" dirty="0"/>
              <a:t> is </a:t>
            </a:r>
            <a:r>
              <a:rPr lang="en-US" altLang="en-US" sz="2800" i="1" dirty="0"/>
              <a:t>second order</a:t>
            </a:r>
            <a:r>
              <a:rPr lang="en-US" altLang="en-US" sz="2800" dirty="0"/>
              <a:t> (1 + 1 = 2; we just add up all of the reactants’ orders to get the reaction’s order).</a:t>
            </a:r>
            <a:endParaRPr lang="en-US" altLang="en-US" sz="2800" dirty="0"/>
          </a:p>
          <a:p>
            <a:pPr eaLnBrk="1" hangingPunct="1">
              <a:buFont typeface="Arial" panose="020B0604020202020204" pitchFamily="34" charset="0"/>
              <a:buChar char="•"/>
              <a:defRPr/>
            </a:pPr>
            <a:r>
              <a:rPr lang="en-US" altLang="en-US" sz="2800" dirty="0"/>
              <a:t>What is </a:t>
            </a:r>
            <a:r>
              <a:rPr lang="en-US" altLang="en-US" sz="2800" i="1" dirty="0"/>
              <a:t>k</a:t>
            </a:r>
            <a:r>
              <a:rPr lang="en-US" altLang="en-US" sz="2800" dirty="0"/>
              <a:t>? It is the </a:t>
            </a:r>
            <a:r>
              <a:rPr lang="en-US" altLang="en-US" sz="2800" b="1" dirty="0"/>
              <a:t>rate constant</a:t>
            </a:r>
            <a:r>
              <a:rPr lang="en-US" altLang="en-US" sz="2800" dirty="0"/>
              <a:t>. It is a temperature-dependent quantity.</a:t>
            </a:r>
            <a:endParaRPr lang="en-US" altLang="en-US" sz="2800" dirty="0"/>
          </a:p>
        </p:txBody>
      </p:sp>
    </p:spTree>
  </p:cSld>
  <p:clrMapOvr>
    <a:masterClrMapping/>
  </p:clrMapOvr>
  <p:transition spd="slow"/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First Order Reactions</a:t>
            </a:r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Some rates depend </a:t>
            </a:r>
            <a:r>
              <a:rPr lang="en-US" i="1" dirty="0"/>
              <a:t>only</a:t>
            </a:r>
            <a:r>
              <a:rPr lang="en-US" dirty="0"/>
              <a:t> on one reactant to the first power.</a:t>
            </a:r>
            <a:endParaRPr lang="en-US" dirty="0"/>
          </a:p>
          <a:p>
            <a:pPr>
              <a:defRPr/>
            </a:pPr>
            <a:r>
              <a:rPr lang="en-US" dirty="0"/>
              <a:t>These are </a:t>
            </a:r>
            <a:r>
              <a:rPr lang="en-US" i="1" dirty="0"/>
              <a:t>first order</a:t>
            </a:r>
            <a:r>
              <a:rPr lang="en-US" dirty="0"/>
              <a:t> reactions.</a:t>
            </a:r>
            <a:endParaRPr lang="en-US" dirty="0"/>
          </a:p>
          <a:p>
            <a:pPr>
              <a:defRPr/>
            </a:pPr>
            <a:r>
              <a:rPr lang="en-US" dirty="0"/>
              <a:t>The rate law becomes:</a:t>
            </a:r>
            <a:endParaRPr lang="en-US" dirty="0"/>
          </a:p>
          <a:p>
            <a:pPr marL="0" indent="0">
              <a:buFontTx/>
              <a:buNone/>
              <a:defRPr/>
            </a:pPr>
            <a:r>
              <a:rPr lang="en-US" dirty="0"/>
              <a:t>	Rate = </a:t>
            </a:r>
            <a:r>
              <a:rPr lang="en-US" i="1" dirty="0"/>
              <a:t>k</a:t>
            </a:r>
            <a:r>
              <a:rPr lang="en-US" dirty="0"/>
              <a:t> [A]</a:t>
            </a:r>
            <a:endParaRPr lang="en-US" dirty="0"/>
          </a:p>
        </p:txBody>
      </p:sp>
    </p:spTree>
  </p:cSld>
  <p:clrMapOvr>
    <a:masterClrMapping/>
  </p:clrMapOvr>
  <p:transition spd="slow"/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2"/>
          <p:cNvSpPr>
            <a:spLocks noGrp="1" noChangeArrowheads="1"/>
          </p:cNvSpPr>
          <p:nvPr>
            <p:ph type="title"/>
          </p:nvPr>
        </p:nvSpPr>
        <p:spPr>
          <a:xfrm>
            <a:off x="3276600" y="0"/>
            <a:ext cx="5815013" cy="1524000"/>
          </a:xfrm>
        </p:spPr>
        <p:txBody>
          <a:bodyPr/>
          <a:lstStyle/>
          <a:p>
            <a:pPr eaLnBrk="1" hangingPunct="1"/>
            <a:r>
              <a:rPr lang="en-US" altLang="en-US" dirty="0">
                <a:solidFill>
                  <a:srgbClr val="000000"/>
                </a:solidFill>
              </a:rPr>
              <a:t>Relating k to [A] in a First Order Reaction</a:t>
            </a:r>
            <a:endParaRPr lang="en-US" altLang="en-US" dirty="0">
              <a:solidFill>
                <a:srgbClr val="000000"/>
              </a:solidFill>
            </a:endParaRPr>
          </a:p>
        </p:txBody>
      </p:sp>
      <p:sp>
        <p:nvSpPr>
          <p:cNvPr id="74755" name="Rectangle 3"/>
          <p:cNvSpPr>
            <a:spLocks noGrp="1" noChangeArrowheads="1"/>
          </p:cNvSpPr>
          <p:nvPr>
            <p:ph idx="1"/>
          </p:nvPr>
        </p:nvSpPr>
        <p:spPr>
          <a:xfrm>
            <a:off x="2209800" y="1447800"/>
            <a:ext cx="7772400" cy="4648200"/>
          </a:xfrm>
        </p:spPr>
        <p:txBody>
          <a:bodyPr/>
          <a:lstStyle/>
          <a:p>
            <a:pPr eaLnBrk="1" hangingPunct="1"/>
            <a:r>
              <a:rPr lang="en-US" altLang="en-US" dirty="0">
                <a:solidFill>
                  <a:srgbClr val="000000"/>
                </a:solidFill>
              </a:rPr>
              <a:t>rate = </a:t>
            </a:r>
            <a:r>
              <a:rPr lang="en-US" altLang="en-US" i="1" dirty="0">
                <a:solidFill>
                  <a:srgbClr val="000000"/>
                </a:solidFill>
              </a:rPr>
              <a:t>k</a:t>
            </a:r>
            <a:r>
              <a:rPr lang="en-US" altLang="en-US" dirty="0">
                <a:solidFill>
                  <a:srgbClr val="000000"/>
                </a:solidFill>
              </a:rPr>
              <a:t> [</a:t>
            </a:r>
            <a:r>
              <a:rPr lang="en-US" altLang="en-US" i="1" dirty="0">
                <a:solidFill>
                  <a:srgbClr val="000000"/>
                </a:solidFill>
              </a:rPr>
              <a:t>A</a:t>
            </a:r>
            <a:r>
              <a:rPr lang="en-US" altLang="en-US" dirty="0">
                <a:solidFill>
                  <a:srgbClr val="000000"/>
                </a:solidFill>
              </a:rPr>
              <a:t>]</a:t>
            </a:r>
            <a:endParaRPr lang="en-US" altLang="en-US" dirty="0">
              <a:solidFill>
                <a:srgbClr val="000000"/>
              </a:solidFill>
            </a:endParaRPr>
          </a:p>
          <a:p>
            <a:pPr eaLnBrk="1" hangingPunct="1"/>
            <a:r>
              <a:rPr lang="en-US" altLang="en-US" dirty="0">
                <a:solidFill>
                  <a:srgbClr val="000000"/>
                </a:solidFill>
              </a:rPr>
              <a:t>rate = −</a:t>
            </a:r>
            <a:r>
              <a:rPr lang="el-GR" altLang="en-US" dirty="0">
                <a:solidFill>
                  <a:srgbClr val="000000"/>
                </a:solidFill>
                <a:cs typeface="Times New Roman" panose="02020603050405020304" pitchFamily="18" charset="0"/>
              </a:rPr>
              <a:t>Δ</a:t>
            </a:r>
            <a:r>
              <a:rPr lang="en-US" altLang="en-US" dirty="0">
                <a:solidFill>
                  <a:srgbClr val="000000"/>
                </a:solidFill>
                <a:cs typeface="Times New Roman" panose="02020603050405020304" pitchFamily="18" charset="0"/>
              </a:rPr>
              <a:t> [</a:t>
            </a:r>
            <a:r>
              <a:rPr lang="en-US" altLang="en-US" i="1" dirty="0">
                <a:solidFill>
                  <a:srgbClr val="000000"/>
                </a:solidFill>
                <a:cs typeface="Times New Roman" panose="02020603050405020304" pitchFamily="18" charset="0"/>
              </a:rPr>
              <a:t>A</a:t>
            </a:r>
            <a:r>
              <a:rPr lang="en-US" altLang="en-US" dirty="0">
                <a:solidFill>
                  <a:srgbClr val="000000"/>
                </a:solidFill>
                <a:cs typeface="Times New Roman" panose="02020603050405020304" pitchFamily="18" charset="0"/>
              </a:rPr>
              <a:t>] / </a:t>
            </a:r>
            <a:r>
              <a:rPr lang="el-GR" altLang="en-US" dirty="0">
                <a:solidFill>
                  <a:srgbClr val="000000"/>
                </a:solidFill>
                <a:cs typeface="Times New Roman" panose="02020603050405020304" pitchFamily="18" charset="0"/>
              </a:rPr>
              <a:t>Δ</a:t>
            </a:r>
            <a:r>
              <a:rPr lang="en-US" altLang="en-US" i="1" dirty="0">
                <a:solidFill>
                  <a:srgbClr val="000000"/>
                </a:solidFill>
                <a:cs typeface="Times New Roman" panose="02020603050405020304" pitchFamily="18" charset="0"/>
              </a:rPr>
              <a:t>t</a:t>
            </a:r>
            <a:endParaRPr lang="en-US" altLang="en-US" i="1" dirty="0">
              <a:solidFill>
                <a:srgbClr val="000000"/>
              </a:solidFill>
              <a:cs typeface="Times New Roman" panose="02020603050405020304" pitchFamily="18" charset="0"/>
            </a:endParaRPr>
          </a:p>
          <a:p>
            <a:pPr eaLnBrk="1" hangingPunct="1"/>
            <a:r>
              <a:rPr lang="en-US" altLang="en-US" dirty="0">
                <a:solidFill>
                  <a:srgbClr val="000000"/>
                </a:solidFill>
                <a:cs typeface="Times New Roman" panose="02020603050405020304" pitchFamily="18" charset="0"/>
              </a:rPr>
              <a:t>So:  </a:t>
            </a:r>
            <a:r>
              <a:rPr lang="en-US" altLang="en-US" i="1" dirty="0">
                <a:solidFill>
                  <a:srgbClr val="000000"/>
                </a:solidFill>
                <a:cs typeface="Times New Roman" panose="02020603050405020304" pitchFamily="18" charset="0"/>
              </a:rPr>
              <a:t>k</a:t>
            </a:r>
            <a:r>
              <a:rPr lang="en-US" altLang="en-US" dirty="0">
                <a:solidFill>
                  <a:srgbClr val="000000"/>
                </a:solidFill>
                <a:cs typeface="Times New Roman" panose="02020603050405020304" pitchFamily="18" charset="0"/>
              </a:rPr>
              <a:t> [</a:t>
            </a:r>
            <a:r>
              <a:rPr lang="en-US" altLang="en-US" i="1" dirty="0">
                <a:solidFill>
                  <a:srgbClr val="000000"/>
                </a:solidFill>
                <a:cs typeface="Times New Roman" panose="02020603050405020304" pitchFamily="18" charset="0"/>
              </a:rPr>
              <a:t>A</a:t>
            </a:r>
            <a:r>
              <a:rPr lang="en-US" altLang="en-US" dirty="0">
                <a:solidFill>
                  <a:srgbClr val="000000"/>
                </a:solidFill>
                <a:cs typeface="Times New Roman" panose="02020603050405020304" pitchFamily="18" charset="0"/>
              </a:rPr>
              <a:t>]  = </a:t>
            </a:r>
            <a:r>
              <a:rPr lang="en-US" altLang="en-US" dirty="0">
                <a:solidFill>
                  <a:srgbClr val="000000"/>
                </a:solidFill>
              </a:rPr>
              <a:t>−</a:t>
            </a:r>
            <a:r>
              <a:rPr lang="el-GR" altLang="en-US" dirty="0">
                <a:solidFill>
                  <a:srgbClr val="000000"/>
                </a:solidFill>
                <a:cs typeface="Times New Roman" panose="02020603050405020304" pitchFamily="18" charset="0"/>
              </a:rPr>
              <a:t>Δ</a:t>
            </a:r>
            <a:r>
              <a:rPr lang="en-US" altLang="en-US" dirty="0">
                <a:solidFill>
                  <a:srgbClr val="000000"/>
                </a:solidFill>
                <a:cs typeface="Times New Roman" panose="02020603050405020304" pitchFamily="18" charset="0"/>
              </a:rPr>
              <a:t> [</a:t>
            </a:r>
            <a:r>
              <a:rPr lang="en-US" altLang="en-US" i="1" dirty="0">
                <a:solidFill>
                  <a:srgbClr val="000000"/>
                </a:solidFill>
                <a:cs typeface="Times New Roman" panose="02020603050405020304" pitchFamily="18" charset="0"/>
              </a:rPr>
              <a:t>A</a:t>
            </a:r>
            <a:r>
              <a:rPr lang="en-US" altLang="en-US" dirty="0">
                <a:solidFill>
                  <a:srgbClr val="000000"/>
                </a:solidFill>
                <a:cs typeface="Times New Roman" panose="02020603050405020304" pitchFamily="18" charset="0"/>
              </a:rPr>
              <a:t>] / </a:t>
            </a:r>
            <a:r>
              <a:rPr lang="el-GR" altLang="en-US" dirty="0">
                <a:solidFill>
                  <a:srgbClr val="000000"/>
                </a:solidFill>
                <a:cs typeface="Times New Roman" panose="02020603050405020304" pitchFamily="18" charset="0"/>
              </a:rPr>
              <a:t>Δ</a:t>
            </a:r>
            <a:r>
              <a:rPr lang="en-US" altLang="en-US" i="1" dirty="0">
                <a:solidFill>
                  <a:srgbClr val="000000"/>
                </a:solidFill>
                <a:cs typeface="Times New Roman" panose="02020603050405020304" pitchFamily="18" charset="0"/>
              </a:rPr>
              <a:t>t</a:t>
            </a:r>
            <a:endParaRPr lang="en-US" altLang="en-US" i="1" dirty="0">
              <a:solidFill>
                <a:srgbClr val="000000"/>
              </a:solidFill>
              <a:cs typeface="Times New Roman" panose="02020603050405020304" pitchFamily="18" charset="0"/>
            </a:endParaRPr>
          </a:p>
          <a:p>
            <a:pPr eaLnBrk="1" hangingPunct="1"/>
            <a:r>
              <a:rPr lang="en-US" altLang="en-US" dirty="0">
                <a:solidFill>
                  <a:srgbClr val="000000"/>
                </a:solidFill>
                <a:cs typeface="Times New Roman" panose="02020603050405020304" pitchFamily="18" charset="0"/>
              </a:rPr>
              <a:t>Rearrange to:  </a:t>
            </a:r>
            <a:r>
              <a:rPr lang="el-GR" altLang="en-US" dirty="0">
                <a:solidFill>
                  <a:srgbClr val="000000"/>
                </a:solidFill>
                <a:cs typeface="Times New Roman" panose="02020603050405020304" pitchFamily="18" charset="0"/>
              </a:rPr>
              <a:t>Δ</a:t>
            </a:r>
            <a:r>
              <a:rPr lang="en-US" altLang="en-US" dirty="0">
                <a:solidFill>
                  <a:srgbClr val="000000"/>
                </a:solidFill>
                <a:cs typeface="Times New Roman" panose="02020603050405020304" pitchFamily="18" charset="0"/>
              </a:rPr>
              <a:t> [</a:t>
            </a:r>
            <a:r>
              <a:rPr lang="en-US" altLang="en-US" i="1" dirty="0">
                <a:solidFill>
                  <a:srgbClr val="000000"/>
                </a:solidFill>
                <a:cs typeface="Times New Roman" panose="02020603050405020304" pitchFamily="18" charset="0"/>
              </a:rPr>
              <a:t>A</a:t>
            </a:r>
            <a:r>
              <a:rPr lang="en-US" altLang="en-US" dirty="0">
                <a:solidFill>
                  <a:srgbClr val="000000"/>
                </a:solidFill>
                <a:cs typeface="Times New Roman" panose="02020603050405020304" pitchFamily="18" charset="0"/>
              </a:rPr>
              <a:t>] / [</a:t>
            </a:r>
            <a:r>
              <a:rPr lang="en-US" altLang="en-US" i="1" dirty="0">
                <a:solidFill>
                  <a:srgbClr val="000000"/>
                </a:solidFill>
                <a:cs typeface="Times New Roman" panose="02020603050405020304" pitchFamily="18" charset="0"/>
              </a:rPr>
              <a:t>A</a:t>
            </a:r>
            <a:r>
              <a:rPr lang="en-US" altLang="en-US" dirty="0">
                <a:solidFill>
                  <a:srgbClr val="000000"/>
                </a:solidFill>
                <a:cs typeface="Times New Roman" panose="02020603050405020304" pitchFamily="18" charset="0"/>
              </a:rPr>
              <a:t>]  =  </a:t>
            </a:r>
            <a:r>
              <a:rPr lang="en-US" altLang="en-US" dirty="0">
                <a:solidFill>
                  <a:srgbClr val="000000"/>
                </a:solidFill>
              </a:rPr>
              <a:t>− </a:t>
            </a:r>
            <a:r>
              <a:rPr lang="en-US" altLang="en-US" i="1" dirty="0">
                <a:solidFill>
                  <a:srgbClr val="000000"/>
                </a:solidFill>
                <a:cs typeface="Times New Roman" panose="02020603050405020304" pitchFamily="18" charset="0"/>
              </a:rPr>
              <a:t>k</a:t>
            </a:r>
            <a:r>
              <a:rPr lang="en-US" altLang="en-US" dirty="0">
                <a:solidFill>
                  <a:srgbClr val="000000"/>
                </a:solidFill>
                <a:cs typeface="Times New Roman" panose="02020603050405020304" pitchFamily="18" charset="0"/>
              </a:rPr>
              <a:t> </a:t>
            </a:r>
            <a:r>
              <a:rPr lang="el-GR" altLang="en-US" dirty="0">
                <a:solidFill>
                  <a:srgbClr val="000000"/>
                </a:solidFill>
                <a:cs typeface="Times New Roman" panose="02020603050405020304" pitchFamily="18" charset="0"/>
              </a:rPr>
              <a:t>Δ</a:t>
            </a:r>
            <a:r>
              <a:rPr lang="en-US" altLang="en-US" i="1" dirty="0">
                <a:solidFill>
                  <a:srgbClr val="000000"/>
                </a:solidFill>
                <a:cs typeface="Times New Roman" panose="02020603050405020304" pitchFamily="18" charset="0"/>
              </a:rPr>
              <a:t>t</a:t>
            </a:r>
            <a:endParaRPr lang="en-US" altLang="en-US" i="1" dirty="0">
              <a:solidFill>
                <a:srgbClr val="000000"/>
              </a:solidFill>
              <a:cs typeface="Times New Roman" panose="02020603050405020304" pitchFamily="18" charset="0"/>
            </a:endParaRPr>
          </a:p>
          <a:p>
            <a:pPr eaLnBrk="1" hangingPunct="1"/>
            <a:r>
              <a:rPr lang="en-US" altLang="en-US" dirty="0">
                <a:solidFill>
                  <a:srgbClr val="000000"/>
                </a:solidFill>
                <a:cs typeface="Times New Roman" panose="02020603050405020304" pitchFamily="18" charset="0"/>
              </a:rPr>
              <a:t>Integrate:  </a:t>
            </a:r>
            <a:r>
              <a:rPr lang="en-US" altLang="en-US" dirty="0" err="1">
                <a:solidFill>
                  <a:srgbClr val="000000"/>
                </a:solidFill>
                <a:cs typeface="Times New Roman" panose="02020603050405020304" pitchFamily="18" charset="0"/>
              </a:rPr>
              <a:t>ln</a:t>
            </a:r>
            <a:r>
              <a:rPr lang="en-US" altLang="en-US" dirty="0">
                <a:solidFill>
                  <a:srgbClr val="000000"/>
                </a:solidFill>
                <a:cs typeface="Times New Roman" panose="02020603050405020304" pitchFamily="18" charset="0"/>
              </a:rPr>
              <a:t> ([</a:t>
            </a:r>
            <a:r>
              <a:rPr lang="en-US" altLang="en-US" i="1" dirty="0">
                <a:solidFill>
                  <a:srgbClr val="000000"/>
                </a:solidFill>
                <a:cs typeface="Times New Roman" panose="02020603050405020304" pitchFamily="18" charset="0"/>
              </a:rPr>
              <a:t>A</a:t>
            </a:r>
            <a:r>
              <a:rPr lang="en-US" altLang="en-US" dirty="0">
                <a:solidFill>
                  <a:srgbClr val="000000"/>
                </a:solidFill>
                <a:cs typeface="Times New Roman" panose="02020603050405020304" pitchFamily="18" charset="0"/>
              </a:rPr>
              <a:t>] / [</a:t>
            </a:r>
            <a:r>
              <a:rPr lang="en-US" altLang="en-US" i="1" dirty="0">
                <a:solidFill>
                  <a:srgbClr val="000000"/>
                </a:solidFill>
                <a:cs typeface="Times New Roman" panose="02020603050405020304" pitchFamily="18" charset="0"/>
              </a:rPr>
              <a:t>A</a:t>
            </a:r>
            <a:r>
              <a:rPr lang="en-US" altLang="en-US" dirty="0">
                <a:solidFill>
                  <a:srgbClr val="000000"/>
                </a:solidFill>
                <a:cs typeface="Times New Roman" panose="02020603050405020304" pitchFamily="18" charset="0"/>
              </a:rPr>
              <a:t>]</a:t>
            </a:r>
            <a:r>
              <a:rPr lang="en-US" altLang="en-US" baseline="-25000" dirty="0">
                <a:solidFill>
                  <a:srgbClr val="000000"/>
                </a:solidFill>
                <a:cs typeface="Times New Roman" panose="02020603050405020304" pitchFamily="18" charset="0"/>
              </a:rPr>
              <a:t>o</a:t>
            </a:r>
            <a:r>
              <a:rPr lang="en-US" altLang="en-US" dirty="0">
                <a:solidFill>
                  <a:srgbClr val="000000"/>
                </a:solidFill>
                <a:cs typeface="Times New Roman" panose="02020603050405020304" pitchFamily="18" charset="0"/>
              </a:rPr>
              <a:t>)  =  − </a:t>
            </a:r>
            <a:r>
              <a:rPr lang="en-US" altLang="en-US" i="1" dirty="0">
                <a:solidFill>
                  <a:srgbClr val="000000"/>
                </a:solidFill>
                <a:cs typeface="Times New Roman" panose="02020603050405020304" pitchFamily="18" charset="0"/>
              </a:rPr>
              <a:t>k</a:t>
            </a:r>
            <a:r>
              <a:rPr lang="en-US" altLang="en-US" dirty="0">
                <a:solidFill>
                  <a:srgbClr val="000000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i="1" dirty="0">
                <a:solidFill>
                  <a:srgbClr val="000000"/>
                </a:solidFill>
                <a:cs typeface="Times New Roman" panose="02020603050405020304" pitchFamily="18" charset="0"/>
              </a:rPr>
              <a:t>t</a:t>
            </a:r>
            <a:endParaRPr lang="en-US" altLang="en-US" i="1" dirty="0">
              <a:solidFill>
                <a:srgbClr val="000000"/>
              </a:solidFill>
              <a:cs typeface="Times New Roman" panose="02020603050405020304" pitchFamily="18" charset="0"/>
            </a:endParaRPr>
          </a:p>
          <a:p>
            <a:pPr eaLnBrk="1" hangingPunct="1"/>
            <a:r>
              <a:rPr lang="en-US" altLang="en-US" dirty="0">
                <a:solidFill>
                  <a:srgbClr val="000000"/>
                </a:solidFill>
                <a:cs typeface="Times New Roman" panose="02020603050405020304" pitchFamily="18" charset="0"/>
              </a:rPr>
              <a:t>Rearrange:  </a:t>
            </a:r>
            <a:r>
              <a:rPr lang="en-US" altLang="en-US" dirty="0" err="1">
                <a:solidFill>
                  <a:srgbClr val="000000"/>
                </a:solidFill>
                <a:cs typeface="Times New Roman" panose="02020603050405020304" pitchFamily="18" charset="0"/>
              </a:rPr>
              <a:t>ln</a:t>
            </a:r>
            <a:r>
              <a:rPr lang="en-US" altLang="en-US" dirty="0">
                <a:solidFill>
                  <a:srgbClr val="000000"/>
                </a:solidFill>
                <a:cs typeface="Times New Roman" panose="02020603050405020304" pitchFamily="18" charset="0"/>
              </a:rPr>
              <a:t> [</a:t>
            </a:r>
            <a:r>
              <a:rPr lang="en-US" altLang="en-US" i="1" dirty="0">
                <a:solidFill>
                  <a:srgbClr val="000000"/>
                </a:solidFill>
                <a:cs typeface="Times New Roman" panose="02020603050405020304" pitchFamily="18" charset="0"/>
              </a:rPr>
              <a:t>A</a:t>
            </a:r>
            <a:r>
              <a:rPr lang="en-US" altLang="en-US" dirty="0">
                <a:solidFill>
                  <a:srgbClr val="000000"/>
                </a:solidFill>
                <a:cs typeface="Times New Roman" panose="02020603050405020304" pitchFamily="18" charset="0"/>
              </a:rPr>
              <a:t>]  =  − k t  +  </a:t>
            </a:r>
            <a:r>
              <a:rPr lang="en-US" altLang="en-US" dirty="0" err="1">
                <a:solidFill>
                  <a:srgbClr val="000000"/>
                </a:solidFill>
                <a:cs typeface="Times New Roman" panose="02020603050405020304" pitchFamily="18" charset="0"/>
              </a:rPr>
              <a:t>ln</a:t>
            </a:r>
            <a:r>
              <a:rPr lang="en-US" altLang="en-US" dirty="0">
                <a:solidFill>
                  <a:srgbClr val="000000"/>
                </a:solidFill>
                <a:cs typeface="Times New Roman" panose="02020603050405020304" pitchFamily="18" charset="0"/>
              </a:rPr>
              <a:t> [</a:t>
            </a:r>
            <a:r>
              <a:rPr lang="en-US" altLang="en-US" i="1" dirty="0">
                <a:solidFill>
                  <a:srgbClr val="000000"/>
                </a:solidFill>
                <a:cs typeface="Times New Roman" panose="02020603050405020304" pitchFamily="18" charset="0"/>
              </a:rPr>
              <a:t>A</a:t>
            </a:r>
            <a:r>
              <a:rPr lang="en-US" altLang="en-US" dirty="0">
                <a:solidFill>
                  <a:srgbClr val="000000"/>
                </a:solidFill>
                <a:cs typeface="Times New Roman" panose="02020603050405020304" pitchFamily="18" charset="0"/>
              </a:rPr>
              <a:t>]</a:t>
            </a:r>
            <a:r>
              <a:rPr lang="en-US" altLang="en-US" baseline="-25000" dirty="0">
                <a:solidFill>
                  <a:srgbClr val="000000"/>
                </a:solidFill>
                <a:cs typeface="Times New Roman" panose="02020603050405020304" pitchFamily="18" charset="0"/>
              </a:rPr>
              <a:t>o</a:t>
            </a:r>
            <a:r>
              <a:rPr lang="en-US" altLang="en-US" dirty="0">
                <a:solidFill>
                  <a:srgbClr val="000000"/>
                </a:solidFill>
                <a:cs typeface="Times New Roman" panose="02020603050405020304" pitchFamily="18" charset="0"/>
              </a:rPr>
              <a:t> </a:t>
            </a:r>
            <a:endParaRPr lang="en-US" altLang="en-US" dirty="0">
              <a:solidFill>
                <a:srgbClr val="000000"/>
              </a:solidFill>
              <a:cs typeface="Times New Roman" panose="02020603050405020304" pitchFamily="18" charset="0"/>
            </a:endParaRPr>
          </a:p>
          <a:p>
            <a:pPr eaLnBrk="1" hangingPunct="1"/>
            <a:r>
              <a:rPr lang="en-US" altLang="en-US" dirty="0">
                <a:solidFill>
                  <a:srgbClr val="000000"/>
                </a:solidFill>
                <a:cs typeface="Times New Roman" panose="02020603050405020304" pitchFamily="18" charset="0"/>
              </a:rPr>
              <a:t>Note:  this follows the equation of a line:  </a:t>
            </a:r>
            <a:r>
              <a:rPr lang="en-US" altLang="en-US" i="1" dirty="0">
                <a:solidFill>
                  <a:srgbClr val="000000"/>
                </a:solidFill>
                <a:cs typeface="Times New Roman" panose="02020603050405020304" pitchFamily="18" charset="0"/>
              </a:rPr>
              <a:t>y</a:t>
            </a:r>
            <a:r>
              <a:rPr lang="en-US" altLang="en-US" dirty="0">
                <a:solidFill>
                  <a:srgbClr val="000000"/>
                </a:solidFill>
                <a:cs typeface="Times New Roman" panose="02020603050405020304" pitchFamily="18" charset="0"/>
              </a:rPr>
              <a:t>  =  </a:t>
            </a:r>
            <a:r>
              <a:rPr lang="en-US" altLang="en-US" i="1" dirty="0">
                <a:solidFill>
                  <a:srgbClr val="000000"/>
                </a:solidFill>
                <a:cs typeface="Times New Roman" panose="02020603050405020304" pitchFamily="18" charset="0"/>
              </a:rPr>
              <a:t>m</a:t>
            </a:r>
            <a:r>
              <a:rPr lang="en-US" altLang="en-US" dirty="0">
                <a:solidFill>
                  <a:srgbClr val="000000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i="1" dirty="0">
                <a:solidFill>
                  <a:srgbClr val="000000"/>
                </a:solidFill>
                <a:cs typeface="Times New Roman" panose="02020603050405020304" pitchFamily="18" charset="0"/>
              </a:rPr>
              <a:t>x</a:t>
            </a:r>
            <a:r>
              <a:rPr lang="en-US" altLang="en-US" dirty="0">
                <a:solidFill>
                  <a:srgbClr val="000000"/>
                </a:solidFill>
                <a:cs typeface="Times New Roman" panose="02020603050405020304" pitchFamily="18" charset="0"/>
              </a:rPr>
              <a:t>  +  </a:t>
            </a:r>
            <a:r>
              <a:rPr lang="en-US" altLang="en-US" i="1" dirty="0">
                <a:solidFill>
                  <a:srgbClr val="000000"/>
                </a:solidFill>
                <a:cs typeface="Times New Roman" panose="02020603050405020304" pitchFamily="18" charset="0"/>
              </a:rPr>
              <a:t>b</a:t>
            </a:r>
            <a:endParaRPr lang="en-US" altLang="en-US" i="1" dirty="0">
              <a:solidFill>
                <a:srgbClr val="000000"/>
              </a:solidFill>
              <a:cs typeface="Times New Roman" panose="02020603050405020304" pitchFamily="18" charset="0"/>
            </a:endParaRPr>
          </a:p>
          <a:p>
            <a:pPr eaLnBrk="1" hangingPunct="1"/>
            <a:r>
              <a:rPr lang="en-US" altLang="en-US" dirty="0">
                <a:solidFill>
                  <a:srgbClr val="000000"/>
                </a:solidFill>
                <a:cs typeface="Times New Roman" panose="02020603050405020304" pitchFamily="18" charset="0"/>
              </a:rPr>
              <a:t>So, a plot of </a:t>
            </a:r>
            <a:r>
              <a:rPr lang="en-US" altLang="en-US" dirty="0" err="1">
                <a:solidFill>
                  <a:srgbClr val="000000"/>
                </a:solidFill>
                <a:cs typeface="Times New Roman" panose="02020603050405020304" pitchFamily="18" charset="0"/>
              </a:rPr>
              <a:t>ln</a:t>
            </a:r>
            <a:r>
              <a:rPr lang="en-US" altLang="en-US" dirty="0">
                <a:solidFill>
                  <a:srgbClr val="000000"/>
                </a:solidFill>
                <a:cs typeface="Times New Roman" panose="02020603050405020304" pitchFamily="18" charset="0"/>
              </a:rPr>
              <a:t> [</a:t>
            </a:r>
            <a:r>
              <a:rPr lang="en-US" altLang="en-US" i="1" dirty="0">
                <a:solidFill>
                  <a:srgbClr val="000000"/>
                </a:solidFill>
                <a:cs typeface="Times New Roman" panose="02020603050405020304" pitchFamily="18" charset="0"/>
              </a:rPr>
              <a:t>A</a:t>
            </a:r>
            <a:r>
              <a:rPr lang="en-US" altLang="en-US" dirty="0">
                <a:solidFill>
                  <a:srgbClr val="000000"/>
                </a:solidFill>
                <a:cs typeface="Times New Roman" panose="02020603050405020304" pitchFamily="18" charset="0"/>
              </a:rPr>
              <a:t>] vs. </a:t>
            </a:r>
            <a:r>
              <a:rPr lang="en-US" altLang="en-US" i="1" dirty="0">
                <a:solidFill>
                  <a:srgbClr val="000000"/>
                </a:solidFill>
                <a:cs typeface="Times New Roman" panose="02020603050405020304" pitchFamily="18" charset="0"/>
              </a:rPr>
              <a:t>t</a:t>
            </a:r>
            <a:r>
              <a:rPr lang="en-US" altLang="en-US" dirty="0">
                <a:solidFill>
                  <a:srgbClr val="000000"/>
                </a:solidFill>
                <a:cs typeface="Times New Roman" panose="02020603050405020304" pitchFamily="18" charset="0"/>
              </a:rPr>
              <a:t> is linear.</a:t>
            </a:r>
            <a:endParaRPr lang="en-US" altLang="en-US" dirty="0">
              <a:solidFill>
                <a:srgbClr val="000000"/>
              </a:solidFill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7475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475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747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747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747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747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747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747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747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747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747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747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5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7475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7475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5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7475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7475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5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7475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7475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4754" grpId="0"/>
      <p:bldP spid="74755" grpId="0" build="p"/>
    </p:bldLst>
  </p:timing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title"/>
          </p:nvPr>
        </p:nvSpPr>
        <p:spPr>
          <a:xfrm>
            <a:off x="2133600" y="152400"/>
            <a:ext cx="7772400" cy="1143000"/>
          </a:xfrm>
        </p:spPr>
        <p:txBody>
          <a:bodyPr/>
          <a:lstStyle/>
          <a:p>
            <a:pPr eaLnBrk="1" hangingPunct="1"/>
            <a:r>
              <a:rPr lang="en-US" altLang="en-US"/>
              <a:t>Half-life</a:t>
            </a:r>
            <a:endParaRPr lang="en-US" altLang="en-US"/>
          </a:p>
        </p:txBody>
      </p:sp>
      <p:sp>
        <p:nvSpPr>
          <p:cNvPr id="81923" name="Rectangle 3"/>
          <p:cNvSpPr>
            <a:spLocks noGrp="1" noChangeArrowheads="1"/>
          </p:cNvSpPr>
          <p:nvPr>
            <p:ph idx="1"/>
          </p:nvPr>
        </p:nvSpPr>
        <p:spPr>
          <a:xfrm>
            <a:off x="1752600" y="1143000"/>
            <a:ext cx="5943600" cy="5181600"/>
          </a:xfrm>
        </p:spPr>
        <p:txBody>
          <a:bodyPr/>
          <a:lstStyle/>
          <a:p>
            <a:pPr eaLnBrk="1" hangingPunct="1"/>
            <a:r>
              <a:rPr lang="en-US" altLang="en-US"/>
              <a:t>Definition: The amount of time it takes for one-half of a reactant to be used up in a chemical reaction.</a:t>
            </a:r>
            <a:endParaRPr lang="en-US" altLang="en-US"/>
          </a:p>
          <a:p>
            <a:pPr eaLnBrk="1" hangingPunct="1"/>
            <a:r>
              <a:rPr lang="en-US" altLang="en-US"/>
              <a:t>First Order Reaction:</a:t>
            </a:r>
            <a:endParaRPr lang="en-US" altLang="en-US"/>
          </a:p>
          <a:p>
            <a:pPr lvl="1" eaLnBrk="1" hangingPunct="1">
              <a:buFont typeface="Wingdings" panose="05000000000000000000" pitchFamily="2" charset="2"/>
              <a:buChar char="§"/>
            </a:pPr>
            <a:r>
              <a:rPr lang="en-US" altLang="en-US"/>
              <a:t>ln [</a:t>
            </a:r>
            <a:r>
              <a:rPr lang="en-US" altLang="en-US" i="1"/>
              <a:t>A</a:t>
            </a:r>
            <a:r>
              <a:rPr lang="en-US" altLang="en-US"/>
              <a:t>]  =  − </a:t>
            </a:r>
            <a:r>
              <a:rPr lang="en-US" altLang="en-US" i="1"/>
              <a:t>k t</a:t>
            </a:r>
            <a:r>
              <a:rPr lang="en-US" altLang="en-US"/>
              <a:t>  +  ln [</a:t>
            </a:r>
            <a:r>
              <a:rPr lang="en-US" altLang="en-US" i="1"/>
              <a:t>A</a:t>
            </a:r>
            <a:r>
              <a:rPr lang="en-US" altLang="en-US"/>
              <a:t>]</a:t>
            </a:r>
            <a:r>
              <a:rPr lang="en-US" altLang="en-US" baseline="-25000"/>
              <a:t>o</a:t>
            </a:r>
            <a:r>
              <a:rPr lang="en-US" altLang="en-US"/>
              <a:t> </a:t>
            </a:r>
            <a:endParaRPr lang="en-US" altLang="en-US"/>
          </a:p>
          <a:p>
            <a:pPr lvl="1" eaLnBrk="1" hangingPunct="1">
              <a:buFont typeface="Wingdings" panose="05000000000000000000" pitchFamily="2" charset="2"/>
              <a:buChar char="§"/>
            </a:pPr>
            <a:r>
              <a:rPr lang="en-US" altLang="en-US"/>
              <a:t>ln ([</a:t>
            </a:r>
            <a:r>
              <a:rPr lang="en-US" altLang="en-US" i="1"/>
              <a:t>A</a:t>
            </a:r>
            <a:r>
              <a:rPr lang="en-US" altLang="en-US"/>
              <a:t>]</a:t>
            </a:r>
            <a:r>
              <a:rPr lang="en-US" altLang="en-US" baseline="-25000"/>
              <a:t>o</a:t>
            </a:r>
            <a:r>
              <a:rPr lang="en-US" altLang="en-US"/>
              <a:t>/2)  =  − </a:t>
            </a:r>
            <a:r>
              <a:rPr lang="en-US" altLang="en-US" i="1"/>
              <a:t>k</a:t>
            </a:r>
            <a:r>
              <a:rPr lang="en-US" altLang="en-US"/>
              <a:t> </a:t>
            </a:r>
            <a:r>
              <a:rPr lang="en-US" altLang="en-US" i="1"/>
              <a:t>t</a:t>
            </a:r>
            <a:r>
              <a:rPr lang="en-US" altLang="en-US" baseline="-25000">
                <a:cs typeface="Arial" panose="020B0604020202020204" pitchFamily="34" charset="0"/>
              </a:rPr>
              <a:t>½</a:t>
            </a:r>
            <a:r>
              <a:rPr lang="en-US" altLang="en-US"/>
              <a:t>  + ln [</a:t>
            </a:r>
            <a:r>
              <a:rPr lang="en-US" altLang="en-US" i="1"/>
              <a:t>A</a:t>
            </a:r>
            <a:r>
              <a:rPr lang="en-US" altLang="en-US"/>
              <a:t>]</a:t>
            </a:r>
            <a:r>
              <a:rPr lang="en-US" altLang="en-US" baseline="-25000"/>
              <a:t>o</a:t>
            </a:r>
            <a:r>
              <a:rPr lang="en-US" altLang="en-US"/>
              <a:t> </a:t>
            </a:r>
            <a:endParaRPr lang="en-US" altLang="en-US"/>
          </a:p>
          <a:p>
            <a:pPr lvl="1" eaLnBrk="1" hangingPunct="1">
              <a:buFont typeface="Wingdings" panose="05000000000000000000" pitchFamily="2" charset="2"/>
              <a:buChar char="§"/>
            </a:pPr>
            <a:r>
              <a:rPr lang="en-US" altLang="en-US"/>
              <a:t>− ln ([</a:t>
            </a:r>
            <a:r>
              <a:rPr lang="en-US" altLang="en-US" i="1"/>
              <a:t>A</a:t>
            </a:r>
            <a:r>
              <a:rPr lang="en-US" altLang="en-US"/>
              <a:t>]</a:t>
            </a:r>
            <a:r>
              <a:rPr lang="en-US" altLang="en-US" baseline="-25000"/>
              <a:t>o</a:t>
            </a:r>
            <a:r>
              <a:rPr lang="en-US" altLang="en-US"/>
              <a:t>/2)  +  ln [</a:t>
            </a:r>
            <a:r>
              <a:rPr lang="en-US" altLang="en-US" i="1"/>
              <a:t>A</a:t>
            </a:r>
            <a:r>
              <a:rPr lang="en-US" altLang="en-US"/>
              <a:t>]</a:t>
            </a:r>
            <a:r>
              <a:rPr lang="en-US" altLang="en-US" baseline="-25000"/>
              <a:t>o</a:t>
            </a:r>
            <a:r>
              <a:rPr lang="en-US" altLang="en-US"/>
              <a:t>  =  </a:t>
            </a:r>
            <a:r>
              <a:rPr lang="en-US" altLang="en-US" i="1"/>
              <a:t>k t</a:t>
            </a:r>
            <a:r>
              <a:rPr lang="en-US" altLang="en-US" baseline="-25000">
                <a:cs typeface="Arial" panose="020B0604020202020204" pitchFamily="34" charset="0"/>
              </a:rPr>
              <a:t>½</a:t>
            </a:r>
            <a:endParaRPr lang="en-US" altLang="en-US">
              <a:cs typeface="Arial" panose="020B0604020202020204" pitchFamily="34" charset="0"/>
            </a:endParaRPr>
          </a:p>
          <a:p>
            <a:pPr lvl="1" eaLnBrk="1" hangingPunct="1">
              <a:buFont typeface="Wingdings" panose="05000000000000000000" pitchFamily="2" charset="2"/>
              <a:buChar char="§"/>
            </a:pPr>
            <a:r>
              <a:rPr lang="en-US" altLang="en-US"/>
              <a:t>ln ([</a:t>
            </a:r>
            <a:r>
              <a:rPr lang="en-US" altLang="en-US" i="1"/>
              <a:t>A</a:t>
            </a:r>
            <a:r>
              <a:rPr lang="en-US" altLang="en-US"/>
              <a:t>]</a:t>
            </a:r>
            <a:r>
              <a:rPr lang="en-US" altLang="en-US" baseline="-25000"/>
              <a:t>o </a:t>
            </a:r>
            <a:r>
              <a:rPr lang="en-US" altLang="en-US"/>
              <a:t>/ [</a:t>
            </a:r>
            <a:r>
              <a:rPr lang="en-US" altLang="en-US" i="1"/>
              <a:t>A</a:t>
            </a:r>
            <a:r>
              <a:rPr lang="en-US" altLang="en-US"/>
              <a:t>]</a:t>
            </a:r>
            <a:r>
              <a:rPr lang="en-US" altLang="en-US" baseline="-25000"/>
              <a:t>o</a:t>
            </a:r>
            <a:r>
              <a:rPr lang="en-US" altLang="en-US"/>
              <a:t>/2)  =  </a:t>
            </a:r>
            <a:r>
              <a:rPr lang="en-US" altLang="en-US" i="1"/>
              <a:t>k t</a:t>
            </a:r>
            <a:r>
              <a:rPr lang="en-US" altLang="en-US" baseline="-25000">
                <a:cs typeface="Arial" panose="020B0604020202020204" pitchFamily="34" charset="0"/>
              </a:rPr>
              <a:t>½</a:t>
            </a:r>
            <a:r>
              <a:rPr lang="en-US" altLang="en-US">
                <a:cs typeface="Arial" panose="020B0604020202020204" pitchFamily="34" charset="0"/>
              </a:rPr>
              <a:t> </a:t>
            </a:r>
            <a:endParaRPr lang="en-US" altLang="en-US">
              <a:cs typeface="Arial" panose="020B0604020202020204" pitchFamily="34" charset="0"/>
            </a:endParaRPr>
          </a:p>
          <a:p>
            <a:pPr lvl="1" eaLnBrk="1" hangingPunct="1">
              <a:buFont typeface="Wingdings" panose="05000000000000000000" pitchFamily="2" charset="2"/>
              <a:buChar char="§"/>
            </a:pPr>
            <a:r>
              <a:rPr lang="en-US" altLang="en-US">
                <a:cs typeface="Arial" panose="020B0604020202020204" pitchFamily="34" charset="0"/>
              </a:rPr>
              <a:t>ln 2  = </a:t>
            </a:r>
            <a:r>
              <a:rPr lang="en-US" altLang="en-US" i="1"/>
              <a:t>k t</a:t>
            </a:r>
            <a:r>
              <a:rPr lang="en-US" altLang="en-US" baseline="-25000">
                <a:cs typeface="Arial" panose="020B0604020202020204" pitchFamily="34" charset="0"/>
              </a:rPr>
              <a:t>½</a:t>
            </a:r>
            <a:r>
              <a:rPr lang="en-US" altLang="en-US">
                <a:cs typeface="Arial" panose="020B0604020202020204" pitchFamily="34" charset="0"/>
              </a:rPr>
              <a:t>   or </a:t>
            </a:r>
            <a:r>
              <a:rPr lang="en-US" altLang="en-US" i="1"/>
              <a:t>t</a:t>
            </a:r>
            <a:r>
              <a:rPr lang="en-US" altLang="en-US" baseline="-25000">
                <a:cs typeface="Arial" panose="020B0604020202020204" pitchFamily="34" charset="0"/>
              </a:rPr>
              <a:t>½</a:t>
            </a:r>
            <a:r>
              <a:rPr lang="en-US" altLang="en-US">
                <a:cs typeface="Arial" panose="020B0604020202020204" pitchFamily="34" charset="0"/>
              </a:rPr>
              <a:t> = 0.693/</a:t>
            </a:r>
            <a:r>
              <a:rPr lang="en-US" altLang="en-US" i="1">
                <a:cs typeface="Arial" panose="020B0604020202020204" pitchFamily="34" charset="0"/>
              </a:rPr>
              <a:t>k</a:t>
            </a:r>
            <a:r>
              <a:rPr lang="en-US" altLang="en-US">
                <a:cs typeface="Arial" panose="020B0604020202020204" pitchFamily="34" charset="0"/>
              </a:rPr>
              <a:t> </a:t>
            </a:r>
            <a:endParaRPr lang="en-US" altLang="en-US">
              <a:cs typeface="Arial" panose="020B0604020202020204" pitchFamily="34" charset="0"/>
            </a:endParaRPr>
          </a:p>
        </p:txBody>
      </p:sp>
      <p:pic>
        <p:nvPicPr>
          <p:cNvPr id="5" name="Picture 4" descr="14_11_Figure.jpg"/>
          <p:cNvPicPr>
            <a:picLocks noChangeAspect="1"/>
          </p:cNvPicPr>
          <p:nvPr/>
        </p:nvPicPr>
        <p:blipFill>
          <a:blip r:embed="rId1"/>
          <a:srcRect b="2546"/>
          <a:stretch>
            <a:fillRect/>
          </a:stretch>
        </p:blipFill>
        <p:spPr>
          <a:xfrm>
            <a:off x="7239000" y="1822937"/>
            <a:ext cx="3213149" cy="2825263"/>
          </a:xfrm>
          <a:prstGeom prst="rect">
            <a:avLst/>
          </a:prstGeom>
        </p:spPr>
      </p:pic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3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1923" grpId="0" build="p"/>
    </p:bldLst>
  </p:timing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/>
        </p:nvSpPr>
        <p:spPr>
          <a:xfrm>
            <a:off x="1847528" y="1916832"/>
            <a:ext cx="8352928" cy="460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  </a:t>
            </a:r>
            <a:endParaRPr kumimoji="0" lang="zh-CN" altLang="en-US" sz="16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1720850" y="188913"/>
            <a:ext cx="8750300" cy="6480175"/>
          </a:xfrm>
          <a:prstGeom prst="rect">
            <a:avLst/>
          </a:prstGeom>
          <a:noFill/>
          <a:ln w="38100" cap="flat" cmpd="sng" algn="ctr">
            <a:solidFill>
              <a:srgbClr val="00B050"/>
            </a:solidFill>
            <a:prstDash val="solid"/>
          </a:ln>
          <a:effectLst/>
        </p:spPr>
        <p:txBody>
          <a:bodyPr anchor="ctr"/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B050"/>
              </a:solidFill>
              <a:effectLst/>
              <a:uLnTx/>
              <a:uFillTx/>
              <a:latin typeface="Arial" panose="020B060402020202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1991544" y="211081"/>
            <a:ext cx="7754284" cy="5530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小结：一级反应速率公式的推导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  <a:sym typeface="Wingdings" panose="05000000000000000000" pitchFamily="2" charset="2"/>
              </a:rPr>
              <a:t>（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用反应物浓度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[A]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表示）：</a:t>
            </a:r>
            <a:endParaRPr kumimoji="0" lang="en-US" altLang="zh-CN" sz="1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95800" y="764239"/>
            <a:ext cx="3878735" cy="5869361"/>
          </a:xfrm>
          <a:prstGeom prst="rect">
            <a:avLst/>
          </a:prstGeom>
        </p:spPr>
      </p:pic>
      <p:sp>
        <p:nvSpPr>
          <p:cNvPr id="3" name="矩形 2"/>
          <p:cNvSpPr/>
          <p:nvPr/>
        </p:nvSpPr>
        <p:spPr>
          <a:xfrm>
            <a:off x="6511218" y="4027149"/>
            <a:ext cx="3789680" cy="4603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ln[A]</a:t>
            </a: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对</a:t>
            </a:r>
            <a:r>
              <a:rPr kumimoji="0" lang="en-US" altLang="zh-CN" sz="1600" b="1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t</a:t>
            </a: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作图给出一条直线，斜率等于</a:t>
            </a: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kumimoji="0" lang="en-US" altLang="zh-CN" sz="1600" b="1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k</a:t>
            </a:r>
            <a:r>
              <a:rPr kumimoji="0" lang="en-US" altLang="zh-CN" sz="1600" b="1" i="0" u="none" strike="noStrike" kern="1200" cap="none" spc="0" normalizeH="0" baseline="-2500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endParaRPr kumimoji="0" lang="zh-CN" altLang="en-US" sz="1600" b="1" i="0" u="none" strike="noStrike" kern="1200" cap="none" spc="0" normalizeH="0" baseline="-2500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7" name="矩形: 圆角 6"/>
          <p:cNvSpPr/>
          <p:nvPr/>
        </p:nvSpPr>
        <p:spPr>
          <a:xfrm>
            <a:off x="4151784" y="4072603"/>
            <a:ext cx="2029972" cy="369332"/>
          </a:xfrm>
          <a:prstGeom prst="roundRect">
            <a:avLst>
              <a:gd name="adj" fmla="val 2359"/>
            </a:avLst>
          </a:prstGeom>
          <a:noFill/>
          <a:ln w="127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矩形: 圆角 7"/>
          <p:cNvSpPr/>
          <p:nvPr/>
        </p:nvSpPr>
        <p:spPr>
          <a:xfrm>
            <a:off x="4136334" y="6009622"/>
            <a:ext cx="2029972" cy="597475"/>
          </a:xfrm>
          <a:prstGeom prst="roundRect">
            <a:avLst>
              <a:gd name="adj" fmla="val 2359"/>
            </a:avLst>
          </a:prstGeom>
          <a:noFill/>
          <a:ln w="127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slow"/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Second Order Reactions</a:t>
            </a:r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Some rates depend </a:t>
            </a:r>
            <a:r>
              <a:rPr lang="en-US" i="1" dirty="0"/>
              <a:t>only </a:t>
            </a:r>
            <a:r>
              <a:rPr lang="en-US" dirty="0"/>
              <a:t>on a reactant to the second power.</a:t>
            </a:r>
            <a:endParaRPr lang="en-US" dirty="0"/>
          </a:p>
          <a:p>
            <a:pPr>
              <a:defRPr/>
            </a:pPr>
            <a:r>
              <a:rPr lang="en-US" dirty="0"/>
              <a:t>These are </a:t>
            </a:r>
            <a:r>
              <a:rPr lang="en-US" i="1" dirty="0"/>
              <a:t>second order</a:t>
            </a:r>
            <a:r>
              <a:rPr lang="en-US" dirty="0"/>
              <a:t> reactions.</a:t>
            </a:r>
            <a:endParaRPr lang="en-US" dirty="0"/>
          </a:p>
          <a:p>
            <a:pPr>
              <a:defRPr/>
            </a:pPr>
            <a:r>
              <a:rPr lang="en-US" dirty="0"/>
              <a:t>The rate law becomes:</a:t>
            </a:r>
            <a:endParaRPr lang="en-US" dirty="0"/>
          </a:p>
          <a:p>
            <a:pPr marL="0" indent="0">
              <a:buFontTx/>
              <a:buNone/>
              <a:defRPr/>
            </a:pPr>
            <a:r>
              <a:rPr lang="en-US" dirty="0"/>
              <a:t>	Rate = </a:t>
            </a:r>
            <a:r>
              <a:rPr lang="en-US" i="1" dirty="0"/>
              <a:t>k</a:t>
            </a:r>
            <a:r>
              <a:rPr lang="en-US" dirty="0"/>
              <a:t> [</a:t>
            </a:r>
            <a:r>
              <a:rPr lang="en-US" i="1" dirty="0"/>
              <a:t>A</a:t>
            </a:r>
            <a:r>
              <a:rPr lang="en-US" dirty="0"/>
              <a:t>]</a:t>
            </a:r>
            <a:r>
              <a:rPr lang="en-US" baseline="30000" dirty="0"/>
              <a:t>2</a:t>
            </a:r>
            <a:endParaRPr lang="en-US" dirty="0"/>
          </a:p>
        </p:txBody>
      </p:sp>
    </p:spTree>
  </p:cSld>
  <p:clrMapOvr>
    <a:masterClrMapping/>
  </p:clrMapOvr>
  <p:transition spd="slow"/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0" y="152400"/>
            <a:ext cx="7491413" cy="1371600"/>
          </a:xfrm>
        </p:spPr>
        <p:txBody>
          <a:bodyPr/>
          <a:lstStyle/>
          <a:p>
            <a:pPr eaLnBrk="1" hangingPunct="1"/>
            <a:r>
              <a:rPr lang="en-US" altLang="en-US" sz="4000"/>
              <a:t>Solving the Second Order Reaction for </a:t>
            </a:r>
            <a:r>
              <a:rPr lang="en-US" altLang="en-US" sz="4000" i="1"/>
              <a:t>A</a:t>
            </a:r>
            <a:r>
              <a:rPr lang="en-US" altLang="en-US" sz="4000"/>
              <a:t>  </a:t>
            </a:r>
            <a:r>
              <a:rPr lang="en-US" altLang="en-US" sz="4000">
                <a:cs typeface="Times New Roman" panose="02020603050405020304" pitchFamily="18" charset="0"/>
              </a:rPr>
              <a:t>→  Products</a:t>
            </a:r>
            <a:endParaRPr lang="en-US" altLang="en-US" sz="4000">
              <a:cs typeface="Times New Roman" panose="02020603050405020304" pitchFamily="18" charset="0"/>
            </a:endParaRPr>
          </a:p>
        </p:txBody>
      </p:sp>
      <p:sp>
        <p:nvSpPr>
          <p:cNvPr id="80899" name="Rectangle 3"/>
          <p:cNvSpPr>
            <a:spLocks noGrp="1" noChangeArrowheads="1"/>
          </p:cNvSpPr>
          <p:nvPr>
            <p:ph idx="1"/>
          </p:nvPr>
        </p:nvSpPr>
        <p:spPr>
          <a:xfrm>
            <a:off x="2209800" y="1524000"/>
            <a:ext cx="7772400" cy="4572000"/>
          </a:xfrm>
        </p:spPr>
        <p:txBody>
          <a:bodyPr/>
          <a:lstStyle/>
          <a:p>
            <a:pPr eaLnBrk="1" hangingPunct="1"/>
            <a:r>
              <a:rPr lang="en-US" altLang="en-US"/>
              <a:t>rate = </a:t>
            </a:r>
            <a:r>
              <a:rPr lang="en-US" altLang="en-US" i="1"/>
              <a:t>k</a:t>
            </a:r>
            <a:r>
              <a:rPr lang="en-US" altLang="en-US"/>
              <a:t> [</a:t>
            </a:r>
            <a:r>
              <a:rPr lang="en-US" altLang="en-US" i="1"/>
              <a:t>A</a:t>
            </a:r>
            <a:r>
              <a:rPr lang="en-US" altLang="en-US"/>
              <a:t>]</a:t>
            </a:r>
            <a:r>
              <a:rPr lang="en-US" altLang="en-US" baseline="30000"/>
              <a:t>2</a:t>
            </a:r>
            <a:r>
              <a:rPr lang="en-US" altLang="en-US"/>
              <a:t> </a:t>
            </a:r>
            <a:endParaRPr lang="en-US" altLang="en-US"/>
          </a:p>
          <a:p>
            <a:pPr eaLnBrk="1" hangingPunct="1"/>
            <a:r>
              <a:rPr lang="en-US" altLang="en-US"/>
              <a:t>rate = − </a:t>
            </a:r>
            <a:r>
              <a:rPr lang="el-GR" altLang="en-US">
                <a:cs typeface="Times New Roman" panose="02020603050405020304" pitchFamily="18" charset="0"/>
              </a:rPr>
              <a:t>Δ</a:t>
            </a:r>
            <a:r>
              <a:rPr lang="en-US" altLang="en-US">
                <a:cs typeface="Times New Roman" panose="02020603050405020304" pitchFamily="18" charset="0"/>
              </a:rPr>
              <a:t> [</a:t>
            </a:r>
            <a:r>
              <a:rPr lang="en-US" altLang="en-US" i="1">
                <a:cs typeface="Times New Roman" panose="02020603050405020304" pitchFamily="18" charset="0"/>
              </a:rPr>
              <a:t>A</a:t>
            </a:r>
            <a:r>
              <a:rPr lang="en-US" altLang="en-US">
                <a:cs typeface="Times New Roman" panose="02020603050405020304" pitchFamily="18" charset="0"/>
              </a:rPr>
              <a:t>] / </a:t>
            </a:r>
            <a:r>
              <a:rPr lang="el-GR" altLang="en-US">
                <a:cs typeface="Times New Roman" panose="02020603050405020304" pitchFamily="18" charset="0"/>
              </a:rPr>
              <a:t>Δ</a:t>
            </a:r>
            <a:r>
              <a:rPr lang="en-US" altLang="en-US">
                <a:cs typeface="Times New Roman" panose="02020603050405020304" pitchFamily="18" charset="0"/>
              </a:rPr>
              <a:t> </a:t>
            </a:r>
            <a:r>
              <a:rPr lang="en-US" altLang="en-US" i="1">
                <a:cs typeface="Times New Roman" panose="02020603050405020304" pitchFamily="18" charset="0"/>
              </a:rPr>
              <a:t>t</a:t>
            </a:r>
            <a:endParaRPr lang="en-US" altLang="en-US" i="1">
              <a:cs typeface="Times New Roman" panose="02020603050405020304" pitchFamily="18" charset="0"/>
            </a:endParaRPr>
          </a:p>
          <a:p>
            <a:pPr eaLnBrk="1" hangingPunct="1"/>
            <a:r>
              <a:rPr lang="en-US" altLang="en-US">
                <a:cs typeface="Times New Roman" panose="02020603050405020304" pitchFamily="18" charset="0"/>
              </a:rPr>
              <a:t>So, </a:t>
            </a:r>
            <a:r>
              <a:rPr lang="en-US" altLang="en-US" i="1"/>
              <a:t>k</a:t>
            </a:r>
            <a:r>
              <a:rPr lang="en-US" altLang="en-US"/>
              <a:t> [</a:t>
            </a:r>
            <a:r>
              <a:rPr lang="en-US" altLang="en-US" i="1"/>
              <a:t>A</a:t>
            </a:r>
            <a:r>
              <a:rPr lang="en-US" altLang="en-US"/>
              <a:t>]</a:t>
            </a:r>
            <a:r>
              <a:rPr lang="en-US" altLang="en-US" baseline="30000"/>
              <a:t>2</a:t>
            </a:r>
            <a:r>
              <a:rPr lang="en-US" altLang="en-US"/>
              <a:t> = − </a:t>
            </a:r>
            <a:r>
              <a:rPr lang="el-GR" altLang="en-US">
                <a:cs typeface="Times New Roman" panose="02020603050405020304" pitchFamily="18" charset="0"/>
              </a:rPr>
              <a:t>Δ</a:t>
            </a:r>
            <a:r>
              <a:rPr lang="en-US" altLang="en-US">
                <a:cs typeface="Times New Roman" panose="02020603050405020304" pitchFamily="18" charset="0"/>
              </a:rPr>
              <a:t> [</a:t>
            </a:r>
            <a:r>
              <a:rPr lang="en-US" altLang="en-US" i="1">
                <a:cs typeface="Times New Roman" panose="02020603050405020304" pitchFamily="18" charset="0"/>
              </a:rPr>
              <a:t>A</a:t>
            </a:r>
            <a:r>
              <a:rPr lang="en-US" altLang="en-US">
                <a:cs typeface="Times New Roman" panose="02020603050405020304" pitchFamily="18" charset="0"/>
              </a:rPr>
              <a:t>] / </a:t>
            </a:r>
            <a:r>
              <a:rPr lang="el-GR" altLang="en-US">
                <a:cs typeface="Times New Roman" panose="02020603050405020304" pitchFamily="18" charset="0"/>
              </a:rPr>
              <a:t>Δ</a:t>
            </a:r>
            <a:r>
              <a:rPr lang="en-US" altLang="en-US">
                <a:cs typeface="Times New Roman" panose="02020603050405020304" pitchFamily="18" charset="0"/>
              </a:rPr>
              <a:t> </a:t>
            </a:r>
            <a:r>
              <a:rPr lang="en-US" altLang="en-US" i="1">
                <a:cs typeface="Times New Roman" panose="02020603050405020304" pitchFamily="18" charset="0"/>
              </a:rPr>
              <a:t>t</a:t>
            </a:r>
            <a:endParaRPr lang="en-US" altLang="en-US" i="1">
              <a:cs typeface="Times New Roman" panose="02020603050405020304" pitchFamily="18" charset="0"/>
            </a:endParaRPr>
          </a:p>
          <a:p>
            <a:pPr eaLnBrk="1" hangingPunct="1"/>
            <a:r>
              <a:rPr lang="en-US" altLang="en-US">
                <a:cs typeface="Times New Roman" panose="02020603050405020304" pitchFamily="18" charset="0"/>
              </a:rPr>
              <a:t>Rearranging: </a:t>
            </a:r>
            <a:r>
              <a:rPr lang="en-US" altLang="en-US"/>
              <a:t> </a:t>
            </a:r>
            <a:r>
              <a:rPr lang="el-GR" altLang="en-US">
                <a:cs typeface="Times New Roman" panose="02020603050405020304" pitchFamily="18" charset="0"/>
              </a:rPr>
              <a:t>Δ</a:t>
            </a:r>
            <a:r>
              <a:rPr lang="en-US" altLang="en-US">
                <a:cs typeface="Times New Roman" panose="02020603050405020304" pitchFamily="18" charset="0"/>
              </a:rPr>
              <a:t> [</a:t>
            </a:r>
            <a:r>
              <a:rPr lang="en-US" altLang="en-US" i="1">
                <a:cs typeface="Times New Roman" panose="02020603050405020304" pitchFamily="18" charset="0"/>
              </a:rPr>
              <a:t>A</a:t>
            </a:r>
            <a:r>
              <a:rPr lang="en-US" altLang="en-US">
                <a:cs typeface="Times New Roman" panose="02020603050405020304" pitchFamily="18" charset="0"/>
              </a:rPr>
              <a:t>] / [</a:t>
            </a:r>
            <a:r>
              <a:rPr lang="en-US" altLang="en-US" i="1">
                <a:cs typeface="Times New Roman" panose="02020603050405020304" pitchFamily="18" charset="0"/>
              </a:rPr>
              <a:t>A</a:t>
            </a:r>
            <a:r>
              <a:rPr lang="en-US" altLang="en-US">
                <a:cs typeface="Times New Roman" panose="02020603050405020304" pitchFamily="18" charset="0"/>
              </a:rPr>
              <a:t>]</a:t>
            </a:r>
            <a:r>
              <a:rPr lang="en-US" altLang="en-US" baseline="30000">
                <a:cs typeface="Times New Roman" panose="02020603050405020304" pitchFamily="18" charset="0"/>
              </a:rPr>
              <a:t>2</a:t>
            </a:r>
            <a:r>
              <a:rPr lang="en-US" altLang="en-US">
                <a:cs typeface="Times New Roman" panose="02020603050405020304" pitchFamily="18" charset="0"/>
              </a:rPr>
              <a:t>  =  − </a:t>
            </a:r>
            <a:r>
              <a:rPr lang="en-US" altLang="en-US" i="1">
                <a:cs typeface="Times New Roman" panose="02020603050405020304" pitchFamily="18" charset="0"/>
              </a:rPr>
              <a:t>k</a:t>
            </a:r>
            <a:r>
              <a:rPr lang="en-US" altLang="en-US">
                <a:cs typeface="Times New Roman" panose="02020603050405020304" pitchFamily="18" charset="0"/>
              </a:rPr>
              <a:t>  </a:t>
            </a:r>
            <a:r>
              <a:rPr lang="el-GR" altLang="en-US">
                <a:cs typeface="Times New Roman" panose="02020603050405020304" pitchFamily="18" charset="0"/>
              </a:rPr>
              <a:t>Δ</a:t>
            </a:r>
            <a:r>
              <a:rPr lang="en-US" altLang="en-US">
                <a:cs typeface="Times New Roman" panose="02020603050405020304" pitchFamily="18" charset="0"/>
              </a:rPr>
              <a:t> </a:t>
            </a:r>
            <a:r>
              <a:rPr lang="en-US" altLang="en-US" i="1">
                <a:cs typeface="Times New Roman" panose="02020603050405020304" pitchFamily="18" charset="0"/>
              </a:rPr>
              <a:t>t</a:t>
            </a:r>
            <a:endParaRPr lang="en-US" altLang="en-US" i="1">
              <a:cs typeface="Times New Roman" panose="02020603050405020304" pitchFamily="18" charset="0"/>
            </a:endParaRPr>
          </a:p>
          <a:p>
            <a:pPr eaLnBrk="1" hangingPunct="1"/>
            <a:r>
              <a:rPr lang="en-US" altLang="en-US">
                <a:cs typeface="Times New Roman" panose="02020603050405020304" pitchFamily="18" charset="0"/>
              </a:rPr>
              <a:t>Using calculus:  1/[</a:t>
            </a:r>
            <a:r>
              <a:rPr lang="en-US" altLang="en-US" i="1">
                <a:cs typeface="Times New Roman" panose="02020603050405020304" pitchFamily="18" charset="0"/>
              </a:rPr>
              <a:t>A</a:t>
            </a:r>
            <a:r>
              <a:rPr lang="en-US" altLang="en-US">
                <a:cs typeface="Times New Roman" panose="02020603050405020304" pitchFamily="18" charset="0"/>
              </a:rPr>
              <a:t>] = 1/[</a:t>
            </a:r>
            <a:r>
              <a:rPr lang="en-US" altLang="en-US" i="1">
                <a:cs typeface="Times New Roman" panose="02020603050405020304" pitchFamily="18" charset="0"/>
              </a:rPr>
              <a:t>A</a:t>
            </a:r>
            <a:r>
              <a:rPr lang="en-US" altLang="en-US">
                <a:cs typeface="Times New Roman" panose="02020603050405020304" pitchFamily="18" charset="0"/>
              </a:rPr>
              <a:t>]</a:t>
            </a:r>
            <a:r>
              <a:rPr lang="en-US" altLang="en-US" baseline="-25000">
                <a:cs typeface="Times New Roman" panose="02020603050405020304" pitchFamily="18" charset="0"/>
              </a:rPr>
              <a:t>o</a:t>
            </a:r>
            <a:r>
              <a:rPr lang="en-US" altLang="en-US">
                <a:cs typeface="Times New Roman" panose="02020603050405020304" pitchFamily="18" charset="0"/>
              </a:rPr>
              <a:t> + </a:t>
            </a:r>
            <a:r>
              <a:rPr lang="en-US" altLang="en-US" i="1">
                <a:cs typeface="Times New Roman" panose="02020603050405020304" pitchFamily="18" charset="0"/>
              </a:rPr>
              <a:t>k t</a:t>
            </a:r>
            <a:endParaRPr lang="en-US" altLang="en-US" i="1">
              <a:cs typeface="Times New Roman" panose="02020603050405020304" pitchFamily="18" charset="0"/>
            </a:endParaRPr>
          </a:p>
          <a:p>
            <a:pPr eaLnBrk="1" hangingPunct="1"/>
            <a:r>
              <a:rPr lang="en-US" altLang="en-US">
                <a:cs typeface="Times New Roman" panose="02020603050405020304" pitchFamily="18" charset="0"/>
              </a:rPr>
              <a:t>Notice: The linear relationships for first order and second order reactions differ!</a:t>
            </a:r>
            <a:endParaRPr lang="el-GR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8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808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899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80899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8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808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8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808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8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808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8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808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8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808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8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808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0898" grpId="0" bldLvl="0" animBg="1"/>
      <p:bldP spid="80899" grpId="0" build="p"/>
    </p:bldLst>
  </p:timing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Title 1"/>
          <p:cNvSpPr>
            <a:spLocks noGrp="1"/>
          </p:cNvSpPr>
          <p:nvPr>
            <p:ph type="title"/>
          </p:nvPr>
        </p:nvSpPr>
        <p:spPr>
          <a:xfrm>
            <a:off x="2209800" y="0"/>
            <a:ext cx="7772400" cy="1828800"/>
          </a:xfrm>
        </p:spPr>
        <p:txBody>
          <a:bodyPr/>
          <a:lstStyle/>
          <a:p>
            <a:r>
              <a:rPr lang="en-US" altLang="en-US"/>
              <a:t>An Example of a Second Order Reaction:  Decomposition of NO</a:t>
            </a:r>
            <a:r>
              <a:rPr lang="en-US" altLang="en-US" baseline="-25000"/>
              <a:t>2</a:t>
            </a:r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52600" y="1905000"/>
            <a:ext cx="4572000" cy="4724400"/>
          </a:xfrm>
        </p:spPr>
        <p:txBody>
          <a:bodyPr/>
          <a:lstStyle/>
          <a:p>
            <a:pPr>
              <a:buFont typeface="Wingdings" panose="05000000000000000000" pitchFamily="2" charset="2"/>
              <a:buChar char="Ø"/>
              <a:defRPr/>
            </a:pPr>
            <a:r>
              <a:rPr lang="en-US" dirty="0"/>
              <a:t>A plot following NO</a:t>
            </a:r>
            <a:r>
              <a:rPr lang="en-US" baseline="-25000" dirty="0"/>
              <a:t>2</a:t>
            </a:r>
            <a:r>
              <a:rPr lang="en-US" dirty="0"/>
              <a:t> decomposition shows that it must be second order because it is linear for 1/[NO</a:t>
            </a:r>
            <a:r>
              <a:rPr lang="en-US" baseline="-25000" dirty="0"/>
              <a:t>2</a:t>
            </a:r>
            <a:r>
              <a:rPr lang="en-US" dirty="0"/>
              <a:t>], </a:t>
            </a:r>
            <a:r>
              <a:rPr lang="en-US" i="1" dirty="0"/>
              <a:t>not</a:t>
            </a:r>
            <a:r>
              <a:rPr lang="en-US" dirty="0"/>
              <a:t> linear for </a:t>
            </a:r>
            <a:r>
              <a:rPr lang="en-US" dirty="0" err="1"/>
              <a:t>ln</a:t>
            </a:r>
            <a:r>
              <a:rPr lang="en-US" dirty="0"/>
              <a:t> [NO</a:t>
            </a:r>
            <a:r>
              <a:rPr lang="en-US" baseline="-25000" dirty="0"/>
              <a:t>2</a:t>
            </a:r>
            <a:r>
              <a:rPr lang="en-US" dirty="0"/>
              <a:t>].</a:t>
            </a:r>
            <a:endParaRPr lang="en-US" dirty="0"/>
          </a:p>
          <a:p>
            <a:pPr>
              <a:buFont typeface="Wingdings" panose="05000000000000000000" pitchFamily="2" charset="2"/>
              <a:buChar char="Ø"/>
              <a:defRPr/>
            </a:pPr>
            <a:r>
              <a:rPr lang="en-US" dirty="0"/>
              <a:t>Equation:</a:t>
            </a:r>
            <a:endParaRPr lang="en-US" dirty="0"/>
          </a:p>
          <a:p>
            <a:pPr marL="0" indent="0">
              <a:buFontTx/>
              <a:buNone/>
              <a:defRPr/>
            </a:pPr>
            <a:r>
              <a:rPr lang="en-US" dirty="0"/>
              <a:t>	</a:t>
            </a:r>
            <a:r>
              <a:rPr lang="en-US" dirty="0" err="1"/>
              <a:t>NO</a:t>
            </a:r>
            <a:r>
              <a:rPr lang="en-US" baseline="-25000" dirty="0" err="1"/>
              <a:t>2</a:t>
            </a:r>
            <a:r>
              <a:rPr lang="en-US" dirty="0"/>
              <a:t> </a:t>
            </a:r>
            <a:r>
              <a:rPr lang="en-US" dirty="0">
                <a:cs typeface="Arial" panose="020B0604020202020204"/>
              </a:rPr>
              <a:t>→ NO + ½ </a:t>
            </a:r>
            <a:r>
              <a:rPr lang="en-US" dirty="0" err="1">
                <a:cs typeface="Arial" panose="020B0604020202020204"/>
              </a:rPr>
              <a:t>O</a:t>
            </a:r>
            <a:r>
              <a:rPr lang="en-US" baseline="-25000" dirty="0" err="1">
                <a:cs typeface="Arial" panose="020B0604020202020204"/>
              </a:rPr>
              <a:t>2</a:t>
            </a:r>
            <a:endParaRPr lang="en-US" dirty="0"/>
          </a:p>
        </p:txBody>
      </p:sp>
      <p:pic>
        <p:nvPicPr>
          <p:cNvPr id="5" name="Picture 4" descr="14_09_Figure.jpg"/>
          <p:cNvPicPr>
            <a:picLocks noChangeAspect="1"/>
          </p:cNvPicPr>
          <p:nvPr/>
        </p:nvPicPr>
        <p:blipFill>
          <a:blip r:embed="rId1"/>
          <a:srcRect b="2546"/>
          <a:stretch>
            <a:fillRect/>
          </a:stretch>
        </p:blipFill>
        <p:spPr>
          <a:xfrm>
            <a:off x="6858000" y="2057400"/>
            <a:ext cx="2306634" cy="4114800"/>
          </a:xfrm>
          <a:prstGeom prst="rect">
            <a:avLst/>
          </a:prstGeom>
        </p:spPr>
      </p:pic>
    </p:spTree>
  </p:cSld>
  <p:clrMapOvr>
    <a:masterClrMapping/>
  </p:clrMapOvr>
  <p:transition spd="slow"/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2"/>
          <p:cNvSpPr>
            <a:spLocks noGrp="1" noChangeArrowheads="1"/>
          </p:cNvSpPr>
          <p:nvPr>
            <p:ph type="title"/>
          </p:nvPr>
        </p:nvSpPr>
        <p:spPr>
          <a:xfrm>
            <a:off x="2133600" y="152400"/>
            <a:ext cx="7491413" cy="1524000"/>
          </a:xfrm>
        </p:spPr>
        <p:txBody>
          <a:bodyPr/>
          <a:lstStyle/>
          <a:p>
            <a:pPr eaLnBrk="1" hangingPunct="1"/>
            <a:r>
              <a:rPr lang="en-US" altLang="en-US"/>
              <a:t>Half-Life and Second Order Reactions</a:t>
            </a:r>
            <a:endParaRPr lang="en-US" altLang="en-US"/>
          </a:p>
        </p:txBody>
      </p:sp>
      <p:sp>
        <p:nvSpPr>
          <p:cNvPr id="84995" name="Rectangle 3"/>
          <p:cNvSpPr>
            <a:spLocks noGrp="1" noChangeArrowheads="1"/>
          </p:cNvSpPr>
          <p:nvPr>
            <p:ph idx="1"/>
          </p:nvPr>
        </p:nvSpPr>
        <p:spPr>
          <a:xfrm>
            <a:off x="2057400" y="1676400"/>
            <a:ext cx="7848600" cy="4867275"/>
          </a:xfrm>
        </p:spPr>
        <p:txBody>
          <a:bodyPr/>
          <a:lstStyle/>
          <a:p>
            <a:pPr eaLnBrk="1" hangingPunct="1"/>
            <a:r>
              <a:rPr lang="en-US" altLang="en-US">
                <a:cs typeface="Times New Roman" panose="02020603050405020304" pitchFamily="18" charset="0"/>
              </a:rPr>
              <a:t>Using the integrated rate law, we can see how half-life is derived:</a:t>
            </a:r>
            <a:endParaRPr lang="en-US" altLang="en-US">
              <a:cs typeface="Times New Roman" panose="02020603050405020304" pitchFamily="18" charset="0"/>
            </a:endParaRPr>
          </a:p>
          <a:p>
            <a:pPr lvl="1" eaLnBrk="1" hangingPunct="1">
              <a:buClr>
                <a:srgbClr val="006600"/>
              </a:buClr>
              <a:buFont typeface="Wingdings" panose="05000000000000000000" pitchFamily="2" charset="2"/>
              <a:buChar char="Ø"/>
            </a:pPr>
            <a:r>
              <a:rPr lang="en-US" altLang="en-US">
                <a:cs typeface="Times New Roman" panose="02020603050405020304" pitchFamily="18" charset="0"/>
              </a:rPr>
              <a:t>1/[</a:t>
            </a:r>
            <a:r>
              <a:rPr lang="en-US" altLang="en-US" i="1">
                <a:cs typeface="Times New Roman" panose="02020603050405020304" pitchFamily="18" charset="0"/>
              </a:rPr>
              <a:t>A</a:t>
            </a:r>
            <a:r>
              <a:rPr lang="en-US" altLang="en-US">
                <a:cs typeface="Times New Roman" panose="02020603050405020304" pitchFamily="18" charset="0"/>
              </a:rPr>
              <a:t>] = 1/[</a:t>
            </a:r>
            <a:r>
              <a:rPr lang="en-US" altLang="en-US" i="1">
                <a:cs typeface="Times New Roman" panose="02020603050405020304" pitchFamily="18" charset="0"/>
              </a:rPr>
              <a:t>A</a:t>
            </a:r>
            <a:r>
              <a:rPr lang="en-US" altLang="en-US">
                <a:cs typeface="Times New Roman" panose="02020603050405020304" pitchFamily="18" charset="0"/>
              </a:rPr>
              <a:t>]</a:t>
            </a:r>
            <a:r>
              <a:rPr lang="en-US" altLang="en-US" baseline="-25000">
                <a:cs typeface="Times New Roman" panose="02020603050405020304" pitchFamily="18" charset="0"/>
              </a:rPr>
              <a:t>o</a:t>
            </a:r>
            <a:r>
              <a:rPr lang="en-US" altLang="en-US">
                <a:cs typeface="Times New Roman" panose="02020603050405020304" pitchFamily="18" charset="0"/>
              </a:rPr>
              <a:t> + </a:t>
            </a:r>
            <a:r>
              <a:rPr lang="en-US" altLang="en-US" i="1">
                <a:cs typeface="Times New Roman" panose="02020603050405020304" pitchFamily="18" charset="0"/>
              </a:rPr>
              <a:t>k t</a:t>
            </a:r>
            <a:endParaRPr lang="en-US" altLang="en-US" i="1">
              <a:cs typeface="Times New Roman" panose="02020603050405020304" pitchFamily="18" charset="0"/>
            </a:endParaRPr>
          </a:p>
          <a:p>
            <a:pPr lvl="1" eaLnBrk="1" hangingPunct="1">
              <a:buClr>
                <a:srgbClr val="006600"/>
              </a:buClr>
              <a:buFont typeface="Wingdings" panose="05000000000000000000" pitchFamily="2" charset="2"/>
              <a:buChar char="Ø"/>
            </a:pPr>
            <a:r>
              <a:rPr lang="en-US" altLang="en-US">
                <a:cs typeface="Times New Roman" panose="02020603050405020304" pitchFamily="18" charset="0"/>
              </a:rPr>
              <a:t>1/([</a:t>
            </a:r>
            <a:r>
              <a:rPr lang="en-US" altLang="en-US" i="1">
                <a:cs typeface="Times New Roman" panose="02020603050405020304" pitchFamily="18" charset="0"/>
              </a:rPr>
              <a:t>A</a:t>
            </a:r>
            <a:r>
              <a:rPr lang="en-US" altLang="en-US">
                <a:cs typeface="Times New Roman" panose="02020603050405020304" pitchFamily="18" charset="0"/>
              </a:rPr>
              <a:t>]</a:t>
            </a:r>
            <a:r>
              <a:rPr lang="en-US" altLang="en-US" baseline="-25000">
                <a:cs typeface="Times New Roman" panose="02020603050405020304" pitchFamily="18" charset="0"/>
              </a:rPr>
              <a:t>o</a:t>
            </a:r>
            <a:r>
              <a:rPr lang="en-US" altLang="en-US">
                <a:cs typeface="Times New Roman" panose="02020603050405020304" pitchFamily="18" charset="0"/>
              </a:rPr>
              <a:t>/2)  =  1/[</a:t>
            </a:r>
            <a:r>
              <a:rPr lang="en-US" altLang="en-US" i="1">
                <a:cs typeface="Times New Roman" panose="02020603050405020304" pitchFamily="18" charset="0"/>
              </a:rPr>
              <a:t>A</a:t>
            </a:r>
            <a:r>
              <a:rPr lang="en-US" altLang="en-US">
                <a:cs typeface="Times New Roman" panose="02020603050405020304" pitchFamily="18" charset="0"/>
              </a:rPr>
              <a:t>]</a:t>
            </a:r>
            <a:r>
              <a:rPr lang="en-US" altLang="en-US" baseline="-25000">
                <a:cs typeface="Times New Roman" panose="02020603050405020304" pitchFamily="18" charset="0"/>
              </a:rPr>
              <a:t>o</a:t>
            </a:r>
            <a:r>
              <a:rPr lang="en-US" altLang="en-US">
                <a:cs typeface="Times New Roman" panose="02020603050405020304" pitchFamily="18" charset="0"/>
              </a:rPr>
              <a:t> + </a:t>
            </a:r>
            <a:r>
              <a:rPr lang="en-US" altLang="en-US" i="1">
                <a:cs typeface="Times New Roman" panose="02020603050405020304" pitchFamily="18" charset="0"/>
              </a:rPr>
              <a:t>k t</a:t>
            </a:r>
            <a:r>
              <a:rPr lang="en-US" altLang="en-US" baseline="-25000">
                <a:cs typeface="Arial" panose="020B0604020202020204" pitchFamily="34" charset="0"/>
              </a:rPr>
              <a:t>½</a:t>
            </a:r>
            <a:endParaRPr lang="en-US" altLang="en-US">
              <a:cs typeface="Arial" panose="020B0604020202020204" pitchFamily="34" charset="0"/>
            </a:endParaRPr>
          </a:p>
          <a:p>
            <a:pPr lvl="1" eaLnBrk="1" hangingPunct="1">
              <a:buClr>
                <a:srgbClr val="006600"/>
              </a:buClr>
              <a:buFont typeface="Wingdings" panose="05000000000000000000" pitchFamily="2" charset="2"/>
              <a:buChar char="Ø"/>
            </a:pPr>
            <a:r>
              <a:rPr lang="en-US" altLang="en-US">
                <a:cs typeface="Times New Roman" panose="02020603050405020304" pitchFamily="18" charset="0"/>
              </a:rPr>
              <a:t>2/[</a:t>
            </a:r>
            <a:r>
              <a:rPr lang="en-US" altLang="en-US" i="1">
                <a:cs typeface="Times New Roman" panose="02020603050405020304" pitchFamily="18" charset="0"/>
              </a:rPr>
              <a:t>A</a:t>
            </a:r>
            <a:r>
              <a:rPr lang="en-US" altLang="en-US">
                <a:cs typeface="Times New Roman" panose="02020603050405020304" pitchFamily="18" charset="0"/>
              </a:rPr>
              <a:t>]</a:t>
            </a:r>
            <a:r>
              <a:rPr lang="en-US" altLang="en-US" baseline="-25000">
                <a:cs typeface="Times New Roman" panose="02020603050405020304" pitchFamily="18" charset="0"/>
              </a:rPr>
              <a:t>o</a:t>
            </a:r>
            <a:r>
              <a:rPr lang="en-US" altLang="en-US">
                <a:cs typeface="Times New Roman" panose="02020603050405020304" pitchFamily="18" charset="0"/>
              </a:rPr>
              <a:t> −1/[</a:t>
            </a:r>
            <a:r>
              <a:rPr lang="en-US" altLang="en-US" i="1">
                <a:cs typeface="Times New Roman" panose="02020603050405020304" pitchFamily="18" charset="0"/>
              </a:rPr>
              <a:t>A</a:t>
            </a:r>
            <a:r>
              <a:rPr lang="en-US" altLang="en-US">
                <a:cs typeface="Times New Roman" panose="02020603050405020304" pitchFamily="18" charset="0"/>
              </a:rPr>
              <a:t>]</a:t>
            </a:r>
            <a:r>
              <a:rPr lang="en-US" altLang="en-US" baseline="-25000">
                <a:cs typeface="Times New Roman" panose="02020603050405020304" pitchFamily="18" charset="0"/>
              </a:rPr>
              <a:t>o</a:t>
            </a:r>
            <a:r>
              <a:rPr lang="en-US" altLang="en-US">
                <a:cs typeface="Times New Roman" panose="02020603050405020304" pitchFamily="18" charset="0"/>
              </a:rPr>
              <a:t>  =  </a:t>
            </a:r>
            <a:r>
              <a:rPr lang="en-US" altLang="en-US" i="1">
                <a:cs typeface="Times New Roman" panose="02020603050405020304" pitchFamily="18" charset="0"/>
              </a:rPr>
              <a:t>k t</a:t>
            </a:r>
            <a:r>
              <a:rPr lang="en-US" altLang="en-US" baseline="-25000">
                <a:cs typeface="Arial" panose="020B0604020202020204" pitchFamily="34" charset="0"/>
              </a:rPr>
              <a:t>½</a:t>
            </a:r>
            <a:r>
              <a:rPr lang="en-US" altLang="en-US">
                <a:cs typeface="Arial" panose="020B0604020202020204" pitchFamily="34" charset="0"/>
              </a:rPr>
              <a:t> </a:t>
            </a:r>
            <a:endParaRPr lang="en-US" altLang="en-US">
              <a:cs typeface="Arial" panose="020B0604020202020204" pitchFamily="34" charset="0"/>
            </a:endParaRPr>
          </a:p>
          <a:p>
            <a:pPr lvl="1" eaLnBrk="1" hangingPunct="1">
              <a:buClr>
                <a:srgbClr val="006600"/>
              </a:buClr>
              <a:buFont typeface="Wingdings" panose="05000000000000000000" pitchFamily="2" charset="2"/>
              <a:buChar char="Ø"/>
            </a:pPr>
            <a:r>
              <a:rPr lang="en-US" altLang="en-US" i="1">
                <a:cs typeface="Times New Roman" panose="02020603050405020304" pitchFamily="18" charset="0"/>
              </a:rPr>
              <a:t>t</a:t>
            </a:r>
            <a:r>
              <a:rPr lang="en-US" altLang="en-US" baseline="-25000">
                <a:cs typeface="Arial" panose="020B0604020202020204" pitchFamily="34" charset="0"/>
              </a:rPr>
              <a:t>½</a:t>
            </a:r>
            <a:r>
              <a:rPr lang="en-US" altLang="en-US">
                <a:cs typeface="Arial" panose="020B0604020202020204" pitchFamily="34" charset="0"/>
              </a:rPr>
              <a:t>  =  1 / (</a:t>
            </a:r>
            <a:r>
              <a:rPr lang="en-US" altLang="en-US" i="1">
                <a:cs typeface="Arial" panose="020B0604020202020204" pitchFamily="34" charset="0"/>
              </a:rPr>
              <a:t>k</a:t>
            </a:r>
            <a:r>
              <a:rPr lang="en-US" altLang="en-US">
                <a:cs typeface="Arial" panose="020B0604020202020204" pitchFamily="34" charset="0"/>
              </a:rPr>
              <a:t> </a:t>
            </a:r>
            <a:r>
              <a:rPr lang="en-US" altLang="en-US">
                <a:cs typeface="Times New Roman" panose="02020603050405020304" pitchFamily="18" charset="0"/>
              </a:rPr>
              <a:t>[</a:t>
            </a:r>
            <a:r>
              <a:rPr lang="en-US" altLang="en-US" i="1">
                <a:cs typeface="Times New Roman" panose="02020603050405020304" pitchFamily="18" charset="0"/>
              </a:rPr>
              <a:t>A</a:t>
            </a:r>
            <a:r>
              <a:rPr lang="en-US" altLang="en-US">
                <a:cs typeface="Times New Roman" panose="02020603050405020304" pitchFamily="18" charset="0"/>
              </a:rPr>
              <a:t>]</a:t>
            </a:r>
            <a:r>
              <a:rPr lang="en-US" altLang="en-US" baseline="-25000">
                <a:cs typeface="Times New Roman" panose="02020603050405020304" pitchFamily="18" charset="0"/>
              </a:rPr>
              <a:t>o</a:t>
            </a:r>
            <a:r>
              <a:rPr lang="en-US" altLang="en-US">
                <a:cs typeface="Times New Roman" panose="02020603050405020304" pitchFamily="18" charset="0"/>
              </a:rPr>
              <a:t>)</a:t>
            </a:r>
            <a:endParaRPr lang="en-US" altLang="en-US">
              <a:cs typeface="Times New Roman" panose="02020603050405020304" pitchFamily="18" charset="0"/>
            </a:endParaRPr>
          </a:p>
          <a:p>
            <a:pPr eaLnBrk="1" hangingPunct="1"/>
            <a:r>
              <a:rPr lang="en-US" altLang="en-US">
                <a:cs typeface="Times New Roman" panose="02020603050405020304" pitchFamily="18" charset="0"/>
              </a:rPr>
              <a:t>So, half-life is a concentration dependent quantity for second order reactions!</a:t>
            </a:r>
            <a:endParaRPr lang="en-US" altLang="en-US"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>
    <p:split orient="vert"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0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8499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499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849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0" presetClass="entr" presetSubtype="0" decel="10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95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84995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84995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84995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0" presetClass="entr" presetSubtype="0" decel="10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849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49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849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50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849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849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849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50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849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849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849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50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849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849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849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50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849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849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849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50" presetClass="entr" presetSubtype="0" decel="10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9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8499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8499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1000"/>
                                        <p:tgtEl>
                                          <p:spTgt spid="8499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4994" grpId="0" bldLvl="0" animBg="1"/>
      <p:bldP spid="84995" grpId="0" build="p"/>
    </p:bldLst>
  </p:timing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/>
        </p:nvSpPr>
        <p:spPr>
          <a:xfrm>
            <a:off x="1847528" y="1916832"/>
            <a:ext cx="8352928" cy="460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  </a:t>
            </a:r>
            <a:endParaRPr kumimoji="0" lang="zh-CN" altLang="en-US" sz="16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1720850" y="188913"/>
            <a:ext cx="8750300" cy="6480175"/>
          </a:xfrm>
          <a:prstGeom prst="rect">
            <a:avLst/>
          </a:prstGeom>
          <a:noFill/>
          <a:ln w="38100" cap="flat" cmpd="sng" algn="ctr">
            <a:solidFill>
              <a:srgbClr val="00B050"/>
            </a:solidFill>
            <a:prstDash val="solid"/>
          </a:ln>
          <a:effectLst/>
        </p:spPr>
        <p:txBody>
          <a:bodyPr anchor="ctr"/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B050"/>
              </a:solidFill>
              <a:effectLst/>
              <a:uLnTx/>
              <a:uFillTx/>
              <a:latin typeface="Arial" panose="020B060402020202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1991544" y="211081"/>
            <a:ext cx="7754284" cy="5530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小结：二级反应速率公式的推导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  <a:sym typeface="Wingdings" panose="05000000000000000000" pitchFamily="2" charset="2"/>
              </a:rPr>
              <a:t>（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用反应物浓度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[A]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表示）：</a:t>
            </a:r>
            <a:endParaRPr kumimoji="0" lang="en-US" altLang="zh-CN" sz="1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35760" y="764704"/>
            <a:ext cx="4045287" cy="5717544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6011641" y="4441529"/>
            <a:ext cx="2539365" cy="36830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1/[A]</a:t>
            </a:r>
            <a:r>
              <a:rPr kumimoji="0" lang="zh-CN" alt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对</a:t>
            </a:r>
            <a:r>
              <a:rPr kumimoji="0" lang="en-US" altLang="zh-CN" sz="1800" b="1" i="1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t</a:t>
            </a:r>
            <a:r>
              <a:rPr kumimoji="0" lang="zh-CN" alt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作图，斜率为</a:t>
            </a:r>
            <a:r>
              <a:rPr kumimoji="0" lang="en-US" altLang="zh-CN" sz="1800" b="1" i="1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k</a:t>
            </a:r>
            <a:r>
              <a:rPr kumimoji="0" lang="en-US" altLang="zh-CN" sz="1800" b="1" i="0" u="none" strike="noStrike" kern="0" cap="none" spc="0" normalizeH="0" baseline="-2500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7" name="矩形: 圆角 6"/>
          <p:cNvSpPr/>
          <p:nvPr/>
        </p:nvSpPr>
        <p:spPr>
          <a:xfrm>
            <a:off x="3863752" y="5846249"/>
            <a:ext cx="1368152" cy="653667"/>
          </a:xfrm>
          <a:prstGeom prst="roundRect">
            <a:avLst>
              <a:gd name="adj" fmla="val 2359"/>
            </a:avLst>
          </a:prstGeom>
          <a:noFill/>
          <a:ln w="127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矩形: 圆角 7"/>
          <p:cNvSpPr/>
          <p:nvPr/>
        </p:nvSpPr>
        <p:spPr>
          <a:xfrm>
            <a:off x="3850004" y="4441530"/>
            <a:ext cx="2029972" cy="369332"/>
          </a:xfrm>
          <a:prstGeom prst="roundRect">
            <a:avLst>
              <a:gd name="adj" fmla="val 2359"/>
            </a:avLst>
          </a:prstGeom>
          <a:noFill/>
          <a:ln w="127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slow"/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Zero Order Reactions</a:t>
            </a:r>
            <a:endParaRPr lang="en-US" altLang="en-US"/>
          </a:p>
        </p:txBody>
      </p:sp>
      <p:sp>
        <p:nvSpPr>
          <p:cNvPr id="28675" name="Content Placeholder 2"/>
          <p:cNvSpPr>
            <a:spLocks noGrp="1"/>
          </p:cNvSpPr>
          <p:nvPr>
            <p:ph idx="1"/>
          </p:nvPr>
        </p:nvSpPr>
        <p:spPr>
          <a:xfrm>
            <a:off x="1752600" y="1295400"/>
            <a:ext cx="4495800" cy="5257800"/>
          </a:xfrm>
        </p:spPr>
        <p:txBody>
          <a:bodyPr/>
          <a:lstStyle/>
          <a:p>
            <a:r>
              <a:rPr lang="en-US" altLang="en-US"/>
              <a:t>Occasionally, rate is </a:t>
            </a:r>
            <a:r>
              <a:rPr lang="en-US" altLang="en-US" i="1"/>
              <a:t>independent</a:t>
            </a:r>
            <a:r>
              <a:rPr lang="en-US" altLang="en-US"/>
              <a:t> of the concentration of the reactant:</a:t>
            </a:r>
            <a:endParaRPr lang="en-US" altLang="en-US"/>
          </a:p>
          <a:p>
            <a:r>
              <a:rPr lang="en-US" altLang="en-US"/>
              <a:t>Rate = </a:t>
            </a:r>
            <a:r>
              <a:rPr lang="en-US" altLang="en-US" i="1"/>
              <a:t>k</a:t>
            </a:r>
            <a:endParaRPr lang="en-US" altLang="en-US" i="1"/>
          </a:p>
          <a:p>
            <a:r>
              <a:rPr lang="en-US" altLang="en-US"/>
              <a:t>These are </a:t>
            </a:r>
            <a:r>
              <a:rPr lang="en-US" altLang="en-US" i="1"/>
              <a:t>zero order</a:t>
            </a:r>
            <a:r>
              <a:rPr lang="en-US" altLang="en-US"/>
              <a:t> reactions.</a:t>
            </a:r>
            <a:endParaRPr lang="en-US" altLang="en-US"/>
          </a:p>
          <a:p>
            <a:r>
              <a:rPr lang="en-US" altLang="en-US"/>
              <a:t>These reactions are linear in concentration.</a:t>
            </a:r>
            <a:endParaRPr lang="en-US" altLang="en-US"/>
          </a:p>
        </p:txBody>
      </p:sp>
      <p:pic>
        <p:nvPicPr>
          <p:cNvPr id="5" name="Picture 4" descr="14_10_Figure.jpg"/>
          <p:cNvPicPr>
            <a:picLocks noChangeAspect="1"/>
          </p:cNvPicPr>
          <p:nvPr/>
        </p:nvPicPr>
        <p:blipFill>
          <a:blip r:embed="rId1"/>
          <a:srcRect b="2546"/>
          <a:stretch>
            <a:fillRect/>
          </a:stretch>
        </p:blipFill>
        <p:spPr>
          <a:xfrm>
            <a:off x="6324600" y="1520442"/>
            <a:ext cx="4114800" cy="3965958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6629400" y="5562600"/>
            <a:ext cx="4229694" cy="9709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20000"/>
              </a:spcBef>
              <a:spcAft>
                <a:spcPct val="0"/>
              </a:spcAft>
            </a:pPr>
            <a:r>
              <a:rPr lang="zh-CN" altLang="en-US" sz="2600" b="1" kern="0" dirty="0">
                <a:solidFill>
                  <a:srgbClr val="FF0000"/>
                </a:solidFill>
              </a:rPr>
              <a:t>注意：原图斜率标记有错！</a:t>
            </a:r>
            <a:endParaRPr lang="en-US" altLang="zh-CN" sz="2600" b="1" kern="0" dirty="0">
              <a:solidFill>
                <a:srgbClr val="FF0000"/>
              </a:solidFill>
            </a:endParaRPr>
          </a:p>
          <a:p>
            <a:pPr lvl="0" eaLnBrk="0" fontAlgn="base" hangingPunct="0">
              <a:spcBef>
                <a:spcPct val="20000"/>
              </a:spcBef>
              <a:spcAft>
                <a:spcPct val="0"/>
              </a:spcAft>
            </a:pPr>
            <a:r>
              <a:rPr lang="zh-CN" altLang="en-US" sz="2600" b="1" kern="0" dirty="0">
                <a:solidFill>
                  <a:srgbClr val="FF0000"/>
                </a:solidFill>
              </a:rPr>
              <a:t>更正：</a:t>
            </a:r>
            <a:r>
              <a:rPr lang="en-US" altLang="zh-CN" sz="2600" b="1" kern="0" dirty="0">
                <a:solidFill>
                  <a:srgbClr val="FF0000"/>
                </a:solidFill>
              </a:rPr>
              <a:t>Slope= -</a:t>
            </a:r>
            <a:r>
              <a:rPr lang="en-US" altLang="zh-CN" sz="2600" b="1" i="1" kern="0" dirty="0">
                <a:solidFill>
                  <a:srgbClr val="FF0000"/>
                </a:solidFill>
              </a:rPr>
              <a:t>k</a:t>
            </a:r>
            <a:endParaRPr lang="en-US" altLang="en-US" sz="2600" b="1" i="1" kern="0" baseline="-25000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ransition spd="slow"/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1524000" y="228600"/>
            <a:ext cx="7772400" cy="1143000"/>
          </a:xfrm>
        </p:spPr>
        <p:txBody>
          <a:bodyPr/>
          <a:lstStyle/>
          <a:p>
            <a:pPr eaLnBrk="1" hangingPunct="1"/>
            <a:r>
              <a:rPr lang="en-US" altLang="en-US"/>
              <a:t>The Collision Model</a:t>
            </a:r>
            <a:endParaRPr lang="en-US" altLang="en-US"/>
          </a:p>
        </p:txBody>
      </p:sp>
      <p:sp>
        <p:nvSpPr>
          <p:cNvPr id="32771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1524000" y="1981200"/>
            <a:ext cx="7772400" cy="4114800"/>
          </a:xfrm>
        </p:spPr>
        <p:txBody>
          <a:bodyPr/>
          <a:lstStyle/>
          <a:p>
            <a:pPr eaLnBrk="1" hangingPunct="1"/>
            <a:r>
              <a:rPr lang="en-US" altLang="en-US"/>
              <a:t>In a chemical reaction, bonds are broken and new bonds are formed.</a:t>
            </a:r>
            <a:endParaRPr lang="en-US" altLang="en-US"/>
          </a:p>
          <a:p>
            <a:pPr eaLnBrk="1" hangingPunct="1"/>
            <a:r>
              <a:rPr lang="en-US" altLang="en-US"/>
              <a:t>Molecules can only react if they collide with each other.</a:t>
            </a:r>
            <a:endParaRPr lang="en-US" altLang="en-US"/>
          </a:p>
        </p:txBody>
      </p:sp>
    </p:spTree>
  </p:cSld>
  <p:clrMapOvr>
    <a:masterClrMapping/>
  </p:clrMapOvr>
  <p:transition spd="slow"/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Title 1"/>
          <p:cNvSpPr>
            <a:spLocks noGrp="1"/>
          </p:cNvSpPr>
          <p:nvPr>
            <p:ph type="title"/>
          </p:nvPr>
        </p:nvSpPr>
        <p:spPr>
          <a:xfrm>
            <a:off x="2743200" y="152400"/>
            <a:ext cx="6553200" cy="1371600"/>
          </a:xfrm>
        </p:spPr>
        <p:txBody>
          <a:bodyPr/>
          <a:lstStyle/>
          <a:p>
            <a:r>
              <a:rPr lang="en-US" altLang="en-US"/>
              <a:t>Transition State (Activated Complex)</a:t>
            </a:r>
            <a:endParaRPr lang="en-US" altLang="en-US"/>
          </a:p>
        </p:txBody>
      </p:sp>
      <p:sp>
        <p:nvSpPr>
          <p:cNvPr id="35843" name="Content Placeholder 2"/>
          <p:cNvSpPr>
            <a:spLocks noGrp="1"/>
          </p:cNvSpPr>
          <p:nvPr>
            <p:ph idx="1"/>
          </p:nvPr>
        </p:nvSpPr>
        <p:spPr>
          <a:xfrm>
            <a:off x="1981200" y="1600200"/>
            <a:ext cx="8382000" cy="4495800"/>
          </a:xfrm>
        </p:spPr>
        <p:txBody>
          <a:bodyPr/>
          <a:lstStyle/>
          <a:p>
            <a:r>
              <a:rPr lang="en-US" altLang="en-US"/>
              <a:t>Reactants gain energy as the reaction proceeds until the particles reach the maximum energy state.</a:t>
            </a:r>
            <a:endParaRPr lang="en-US" altLang="en-US"/>
          </a:p>
          <a:p>
            <a:r>
              <a:rPr lang="en-US" altLang="en-US"/>
              <a:t>The organization of the atoms at this highest energy state is called the </a:t>
            </a:r>
            <a:r>
              <a:rPr lang="en-US" altLang="en-US" b="1"/>
              <a:t>transition state</a:t>
            </a:r>
            <a:r>
              <a:rPr lang="en-US" altLang="en-US"/>
              <a:t> (or activated complex).</a:t>
            </a:r>
            <a:endParaRPr lang="en-US" altLang="en-US"/>
          </a:p>
          <a:p>
            <a:r>
              <a:rPr lang="en-US" altLang="en-US"/>
              <a:t>The energy needed to form this state is called the </a:t>
            </a:r>
            <a:r>
              <a:rPr lang="en-US" altLang="en-US" i="1"/>
              <a:t>activation energy</a:t>
            </a:r>
            <a:r>
              <a:rPr lang="en-US" altLang="en-US"/>
              <a:t>.</a:t>
            </a:r>
            <a:endParaRPr lang="en-US" altLang="en-US"/>
          </a:p>
        </p:txBody>
      </p:sp>
    </p:spTree>
  </p:cSld>
  <p:clrMapOvr>
    <a:masterClrMapping/>
  </p:clrMapOvr>
  <p:transition spd="slow"/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Title 1"/>
          <p:cNvSpPr>
            <a:spLocks noGrp="1"/>
          </p:cNvSpPr>
          <p:nvPr>
            <p:ph type="title"/>
          </p:nvPr>
        </p:nvSpPr>
        <p:spPr>
          <a:xfrm>
            <a:off x="2209800" y="228600"/>
            <a:ext cx="7772400" cy="1371600"/>
          </a:xfrm>
        </p:spPr>
        <p:txBody>
          <a:bodyPr/>
          <a:lstStyle/>
          <a:p>
            <a:r>
              <a:rPr lang="en-US" altLang="en-US"/>
              <a:t>What is Required of a Plausible Mechanism?</a:t>
            </a:r>
            <a:endParaRPr lang="en-US" altLang="en-US"/>
          </a:p>
        </p:txBody>
      </p:sp>
      <p:sp>
        <p:nvSpPr>
          <p:cNvPr id="45059" name="Content Placeholder 2"/>
          <p:cNvSpPr>
            <a:spLocks noGrp="1"/>
          </p:cNvSpPr>
          <p:nvPr>
            <p:ph idx="1"/>
          </p:nvPr>
        </p:nvSpPr>
        <p:spPr>
          <a:xfrm>
            <a:off x="1981200" y="1752600"/>
            <a:ext cx="8305800" cy="4343400"/>
          </a:xfrm>
        </p:spPr>
        <p:txBody>
          <a:bodyPr/>
          <a:lstStyle/>
          <a:p>
            <a:r>
              <a:rPr lang="en-US" altLang="en-US"/>
              <a:t>The </a:t>
            </a:r>
            <a:r>
              <a:rPr lang="en-US" altLang="en-US" i="1"/>
              <a:t>rate law</a:t>
            </a:r>
            <a:r>
              <a:rPr lang="en-US" altLang="en-US"/>
              <a:t> must be able to be devised from the rate-determining step.</a:t>
            </a:r>
            <a:endParaRPr lang="en-US" altLang="en-US"/>
          </a:p>
          <a:p>
            <a:r>
              <a:rPr lang="en-US" altLang="en-US"/>
              <a:t>The </a:t>
            </a:r>
            <a:r>
              <a:rPr lang="en-US" altLang="en-US" i="1"/>
              <a:t>stoichiometry </a:t>
            </a:r>
            <a:r>
              <a:rPr lang="en-US" altLang="en-US"/>
              <a:t>must be obtained when all steps are added up.</a:t>
            </a:r>
            <a:endParaRPr lang="en-US" altLang="en-US"/>
          </a:p>
          <a:p>
            <a:r>
              <a:rPr lang="en-US" altLang="en-US"/>
              <a:t>Each step must balance, like any equation.</a:t>
            </a:r>
            <a:endParaRPr lang="en-US" altLang="en-US"/>
          </a:p>
          <a:p>
            <a:r>
              <a:rPr lang="en-US" altLang="en-US"/>
              <a:t>All intermediates are made and used up.</a:t>
            </a:r>
            <a:endParaRPr lang="en-US" altLang="en-US"/>
          </a:p>
          <a:p>
            <a:r>
              <a:rPr lang="en-US" altLang="en-US"/>
              <a:t>Any catalyst is used and regenerated.</a:t>
            </a:r>
            <a:endParaRPr lang="en-US" altLang="en-US"/>
          </a:p>
        </p:txBody>
      </p:sp>
    </p:spTree>
  </p:cSld>
  <p:clrMapOvr>
    <a:masterClrMapping/>
  </p:clrMapOvr>
  <p:transition spd="slow"/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Title 1"/>
          <p:cNvSpPr>
            <a:spLocks noGrp="1"/>
          </p:cNvSpPr>
          <p:nvPr>
            <p:ph type="title"/>
          </p:nvPr>
        </p:nvSpPr>
        <p:spPr>
          <a:xfrm>
            <a:off x="2209800" y="0"/>
            <a:ext cx="7772400" cy="1371600"/>
          </a:xfrm>
        </p:spPr>
        <p:txBody>
          <a:bodyPr/>
          <a:lstStyle/>
          <a:p>
            <a:r>
              <a:rPr lang="en-US" altLang="en-US"/>
              <a:t>A Mechanism With a Slow Initial Step</a:t>
            </a:r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52600" y="1524000"/>
            <a:ext cx="8610600" cy="4572000"/>
          </a:xfrm>
        </p:spPr>
        <p:txBody>
          <a:bodyPr/>
          <a:lstStyle/>
          <a:p>
            <a:pPr>
              <a:defRPr/>
            </a:pPr>
            <a:r>
              <a:rPr lang="en-US" dirty="0"/>
              <a:t>Overall equation: NO</a:t>
            </a:r>
            <a:r>
              <a:rPr lang="en-US" baseline="-25000" dirty="0"/>
              <a:t>2</a:t>
            </a:r>
            <a:r>
              <a:rPr lang="en-US" dirty="0"/>
              <a:t> + CO </a:t>
            </a:r>
            <a:r>
              <a:rPr lang="en-US" dirty="0">
                <a:cs typeface="Arial" panose="020B0604020202020204"/>
              </a:rPr>
              <a:t>→ NO + CO</a:t>
            </a:r>
            <a:r>
              <a:rPr lang="en-US" baseline="-25000" dirty="0">
                <a:cs typeface="Arial" panose="020B0604020202020204"/>
              </a:rPr>
              <a:t>2</a:t>
            </a:r>
            <a:endParaRPr lang="en-US" dirty="0">
              <a:cs typeface="Arial" panose="020B0604020202020204"/>
            </a:endParaRPr>
          </a:p>
          <a:p>
            <a:pPr>
              <a:defRPr/>
            </a:pPr>
            <a:r>
              <a:rPr lang="en-US" dirty="0">
                <a:cs typeface="Arial" panose="020B0604020202020204"/>
              </a:rPr>
              <a:t>Rate law: Rate = </a:t>
            </a:r>
            <a:r>
              <a:rPr lang="en-US" i="1" dirty="0">
                <a:cs typeface="Arial" panose="020B0604020202020204"/>
              </a:rPr>
              <a:t>k</a:t>
            </a:r>
            <a:r>
              <a:rPr lang="en-US" dirty="0">
                <a:cs typeface="Arial" panose="020B0604020202020204"/>
              </a:rPr>
              <a:t> [</a:t>
            </a:r>
            <a:r>
              <a:rPr lang="en-US" dirty="0"/>
              <a:t>NO</a:t>
            </a:r>
            <a:r>
              <a:rPr lang="en-US" baseline="-25000" dirty="0"/>
              <a:t>2</a:t>
            </a:r>
            <a:r>
              <a:rPr lang="en-US" dirty="0"/>
              <a:t>]</a:t>
            </a:r>
            <a:r>
              <a:rPr lang="en-US" baseline="30000" dirty="0"/>
              <a:t>2</a:t>
            </a:r>
            <a:endParaRPr lang="en-US" dirty="0"/>
          </a:p>
          <a:p>
            <a:pPr>
              <a:defRPr/>
            </a:pPr>
            <a:endParaRPr lang="en-US" dirty="0"/>
          </a:p>
          <a:p>
            <a:pPr>
              <a:defRPr/>
            </a:pPr>
            <a:r>
              <a:rPr lang="en-US" dirty="0"/>
              <a:t>If the first step is the rate-determining step, the coefficients on the reactants side are the same as the order in the rate law!</a:t>
            </a:r>
            <a:endParaRPr lang="en-US" dirty="0"/>
          </a:p>
          <a:p>
            <a:pPr>
              <a:defRPr/>
            </a:pPr>
            <a:r>
              <a:rPr lang="en-US" dirty="0"/>
              <a:t>So, the first step of the mechanism begins:</a:t>
            </a:r>
            <a:endParaRPr lang="en-US" dirty="0"/>
          </a:p>
          <a:p>
            <a:pPr marL="0" indent="0">
              <a:buFontTx/>
              <a:buNone/>
              <a:defRPr/>
            </a:pPr>
            <a:r>
              <a:rPr lang="en-US" dirty="0"/>
              <a:t>		</a:t>
            </a:r>
            <a:r>
              <a:rPr lang="en-US" dirty="0" err="1"/>
              <a:t>NO</a:t>
            </a:r>
            <a:r>
              <a:rPr lang="en-US" baseline="-25000" dirty="0" err="1"/>
              <a:t>2</a:t>
            </a:r>
            <a:r>
              <a:rPr lang="en-US" dirty="0"/>
              <a:t> + </a:t>
            </a:r>
            <a:r>
              <a:rPr lang="en-US" dirty="0" err="1"/>
              <a:t>NO</a:t>
            </a:r>
            <a:r>
              <a:rPr lang="en-US" baseline="-25000" dirty="0" err="1"/>
              <a:t>2</a:t>
            </a:r>
            <a:r>
              <a:rPr lang="en-US" dirty="0"/>
              <a:t> </a:t>
            </a:r>
            <a:r>
              <a:rPr lang="en-US" dirty="0">
                <a:cs typeface="Arial" panose="020B0604020202020204"/>
              </a:rPr>
              <a:t>→</a:t>
            </a:r>
            <a:endParaRPr lang="en-US" dirty="0"/>
          </a:p>
        </p:txBody>
      </p:sp>
    </p:spTree>
  </p:cSld>
  <p:clrMapOvr>
    <a:masterClrMapping/>
  </p:clrMapOvr>
  <p:transition spd="slow"/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Title 1"/>
          <p:cNvSpPr>
            <a:spLocks noGrp="1"/>
          </p:cNvSpPr>
          <p:nvPr>
            <p:ph type="title"/>
          </p:nvPr>
        </p:nvSpPr>
        <p:spPr>
          <a:xfrm>
            <a:off x="2209800" y="76200"/>
            <a:ext cx="7772400" cy="1295400"/>
          </a:xfrm>
        </p:spPr>
        <p:txBody>
          <a:bodyPr/>
          <a:lstStyle/>
          <a:p>
            <a:r>
              <a:rPr lang="en-US" altLang="en-US"/>
              <a:t>A Mechanism With a Slow Initial Step (continued)</a:t>
            </a:r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The easiest way to complete the first step is to make a product:</a:t>
            </a:r>
            <a:endParaRPr lang="en-US" dirty="0"/>
          </a:p>
          <a:p>
            <a:pPr marL="0" indent="0">
              <a:buFontTx/>
              <a:buNone/>
              <a:defRPr/>
            </a:pPr>
            <a:r>
              <a:rPr lang="en-US" dirty="0"/>
              <a:t>	</a:t>
            </a:r>
            <a:r>
              <a:rPr lang="en-US" dirty="0" err="1"/>
              <a:t>NO</a:t>
            </a:r>
            <a:r>
              <a:rPr lang="en-US" baseline="-25000" dirty="0" err="1"/>
              <a:t>2</a:t>
            </a:r>
            <a:r>
              <a:rPr lang="en-US" dirty="0"/>
              <a:t> + </a:t>
            </a:r>
            <a:r>
              <a:rPr lang="en-US" dirty="0" err="1"/>
              <a:t>NO</a:t>
            </a:r>
            <a:r>
              <a:rPr lang="en-US" baseline="-25000" dirty="0" err="1"/>
              <a:t>2</a:t>
            </a:r>
            <a:r>
              <a:rPr lang="en-US" dirty="0"/>
              <a:t> </a:t>
            </a:r>
            <a:r>
              <a:rPr lang="en-US" dirty="0">
                <a:cs typeface="Arial" panose="020B0604020202020204"/>
              </a:rPr>
              <a:t>→ NO + </a:t>
            </a:r>
            <a:r>
              <a:rPr lang="en-US" dirty="0" err="1">
                <a:cs typeface="Arial" panose="020B0604020202020204"/>
              </a:rPr>
              <a:t>NO</a:t>
            </a:r>
            <a:r>
              <a:rPr lang="en-US" baseline="-25000" dirty="0" err="1">
                <a:cs typeface="Arial" panose="020B0604020202020204"/>
              </a:rPr>
              <a:t>3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  <a:defRPr/>
            </a:pPr>
            <a:r>
              <a:rPr lang="en-US" dirty="0"/>
              <a:t>We do not see </a:t>
            </a:r>
            <a:r>
              <a:rPr lang="en-US" dirty="0">
                <a:cs typeface="Arial" panose="020B0604020202020204"/>
              </a:rPr>
              <a:t>NO</a:t>
            </a:r>
            <a:r>
              <a:rPr lang="en-US" baseline="-25000" dirty="0">
                <a:cs typeface="Arial" panose="020B0604020202020204"/>
              </a:rPr>
              <a:t>3</a:t>
            </a:r>
            <a:r>
              <a:rPr lang="en-US" dirty="0">
                <a:cs typeface="Arial" panose="020B0604020202020204"/>
              </a:rPr>
              <a:t> in the stoichiometry, so it is an </a:t>
            </a:r>
            <a:r>
              <a:rPr lang="en-US" b="1" dirty="0">
                <a:cs typeface="Arial" panose="020B0604020202020204"/>
              </a:rPr>
              <a:t>intermediate</a:t>
            </a:r>
            <a:r>
              <a:rPr lang="en-US" dirty="0">
                <a:cs typeface="Arial" panose="020B0604020202020204"/>
              </a:rPr>
              <a:t>, which needs to be used in a faster next step.</a:t>
            </a:r>
            <a:endParaRPr lang="en-US" dirty="0"/>
          </a:p>
          <a:p>
            <a:pPr marL="0" indent="0">
              <a:buFontTx/>
              <a:buNone/>
              <a:defRPr/>
            </a:pPr>
            <a:r>
              <a:rPr lang="en-US" dirty="0"/>
              <a:t>	</a:t>
            </a:r>
            <a:r>
              <a:rPr lang="en-US" dirty="0" err="1">
                <a:cs typeface="Arial" panose="020B0604020202020204"/>
              </a:rPr>
              <a:t>NO</a:t>
            </a:r>
            <a:r>
              <a:rPr lang="en-US" baseline="-25000" dirty="0" err="1">
                <a:cs typeface="Arial" panose="020B0604020202020204"/>
              </a:rPr>
              <a:t>3</a:t>
            </a:r>
            <a:r>
              <a:rPr lang="en-US" dirty="0"/>
              <a:t> + CO </a:t>
            </a:r>
            <a:r>
              <a:rPr lang="en-US" dirty="0">
                <a:cs typeface="Arial" panose="020B0604020202020204"/>
              </a:rPr>
              <a:t>→ </a:t>
            </a:r>
            <a:r>
              <a:rPr lang="en-US" dirty="0" err="1"/>
              <a:t>NO</a:t>
            </a:r>
            <a:r>
              <a:rPr lang="en-US" baseline="-25000" dirty="0" err="1"/>
              <a:t>2</a:t>
            </a:r>
            <a:r>
              <a:rPr lang="en-US" dirty="0"/>
              <a:t> + CO</a:t>
            </a:r>
            <a:r>
              <a:rPr lang="en-US" baseline="-25000" dirty="0"/>
              <a:t>2</a:t>
            </a:r>
            <a:r>
              <a:rPr lang="en-US" dirty="0"/>
              <a:t> </a:t>
            </a:r>
            <a:endParaRPr lang="en-US" dirty="0"/>
          </a:p>
        </p:txBody>
      </p:sp>
    </p:spTree>
  </p:cSld>
  <p:clrMapOvr>
    <a:masterClrMapping/>
  </p:clrMapOvr>
  <p:transition spd="slow"/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Title 1"/>
          <p:cNvSpPr>
            <a:spLocks noGrp="1"/>
          </p:cNvSpPr>
          <p:nvPr>
            <p:ph type="title"/>
          </p:nvPr>
        </p:nvSpPr>
        <p:spPr>
          <a:xfrm>
            <a:off x="2971800" y="228600"/>
            <a:ext cx="6400800" cy="1143000"/>
          </a:xfrm>
        </p:spPr>
        <p:txBody>
          <a:bodyPr/>
          <a:lstStyle/>
          <a:p>
            <a:r>
              <a:rPr lang="en-US" altLang="en-US"/>
              <a:t>A Mechanism With a Fast Initial Step</a:t>
            </a:r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81200" y="1752600"/>
            <a:ext cx="8382000" cy="4343400"/>
          </a:xfrm>
        </p:spPr>
        <p:txBody>
          <a:bodyPr/>
          <a:lstStyle/>
          <a:p>
            <a:pPr>
              <a:defRPr/>
            </a:pPr>
            <a:r>
              <a:rPr lang="en-US" altLang="en-US" dirty="0"/>
              <a:t>Equation for the reaction:</a:t>
            </a:r>
            <a:endParaRPr lang="en-US" altLang="en-US" dirty="0"/>
          </a:p>
          <a:p>
            <a:pPr marL="0" indent="0">
              <a:buFontTx/>
              <a:buNone/>
              <a:defRPr/>
            </a:pPr>
            <a:r>
              <a:rPr lang="en-US" dirty="0"/>
              <a:t>	2 NO + </a:t>
            </a:r>
            <a:r>
              <a:rPr lang="en-US" dirty="0" err="1"/>
              <a:t>Br</a:t>
            </a:r>
            <a:r>
              <a:rPr lang="en-US" baseline="-25000" dirty="0" err="1"/>
              <a:t>2</a:t>
            </a:r>
            <a:r>
              <a:rPr lang="en-US" dirty="0"/>
              <a:t>  ⇌  2 </a:t>
            </a:r>
            <a:r>
              <a:rPr lang="en-US" dirty="0" err="1"/>
              <a:t>NOBr</a:t>
            </a:r>
            <a:endParaRPr lang="en-US" dirty="0"/>
          </a:p>
          <a:p>
            <a:pPr eaLnBrk="1" hangingPunct="1">
              <a:defRPr/>
            </a:pPr>
            <a:r>
              <a:rPr lang="en-US" altLang="en-US" dirty="0"/>
              <a:t>The rate law for this reaction is found to be</a:t>
            </a:r>
            <a:endParaRPr lang="en-US" altLang="en-US" dirty="0"/>
          </a:p>
          <a:p>
            <a:pPr marL="0" indent="0" eaLnBrk="1" hangingPunct="1">
              <a:buFontTx/>
              <a:buNone/>
              <a:defRPr/>
            </a:pPr>
            <a:r>
              <a:rPr lang="en-US" altLang="en-US" dirty="0"/>
              <a:t>	Rate  =  </a:t>
            </a:r>
            <a:r>
              <a:rPr lang="en-US" altLang="en-US" i="1" dirty="0"/>
              <a:t>k</a:t>
            </a:r>
            <a:r>
              <a:rPr lang="en-US" altLang="en-US" dirty="0"/>
              <a:t> [NO]</a:t>
            </a:r>
            <a:r>
              <a:rPr lang="en-US" altLang="en-US" baseline="30000" dirty="0"/>
              <a:t>2</a:t>
            </a:r>
            <a:r>
              <a:rPr lang="en-US" altLang="en-US" dirty="0"/>
              <a:t> [</a:t>
            </a:r>
            <a:r>
              <a:rPr lang="en-US" altLang="en-US" dirty="0" err="1"/>
              <a:t>Br</a:t>
            </a:r>
            <a:r>
              <a:rPr lang="en-US" altLang="en-US" baseline="-25000" dirty="0" err="1"/>
              <a:t>2</a:t>
            </a:r>
            <a:r>
              <a:rPr lang="en-US" altLang="en-US" dirty="0"/>
              <a:t>]</a:t>
            </a:r>
            <a:endParaRPr lang="en-US" altLang="en-US" dirty="0"/>
          </a:p>
          <a:p>
            <a:pPr eaLnBrk="1" hangingPunct="1">
              <a:defRPr/>
            </a:pPr>
            <a:r>
              <a:rPr lang="en-US" altLang="en-US" dirty="0"/>
              <a:t>Because </a:t>
            </a:r>
            <a:r>
              <a:rPr lang="en-US" altLang="en-US" dirty="0" err="1"/>
              <a:t>termolecular</a:t>
            </a:r>
            <a:r>
              <a:rPr lang="en-US" altLang="en-US" dirty="0"/>
              <a:t> processes are rare, this rate law suggests a multistep mechanism.</a:t>
            </a:r>
            <a:endParaRPr lang="en-US" altLang="en-US" dirty="0"/>
          </a:p>
          <a:p>
            <a:pPr>
              <a:buFont typeface="Arial" panose="020B0604020202020204" pitchFamily="34" charset="0"/>
              <a:buChar char="•"/>
              <a:defRPr/>
            </a:pPr>
            <a:endParaRPr lang="en-US" dirty="0"/>
          </a:p>
        </p:txBody>
      </p:sp>
    </p:spTree>
  </p:cSld>
  <p:clrMapOvr>
    <a:masterClrMapping/>
  </p:clrMapOvr>
  <p:transition spd="slow"/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Title 1"/>
          <p:cNvSpPr>
            <a:spLocks noGrp="1"/>
          </p:cNvSpPr>
          <p:nvPr>
            <p:ph type="title"/>
          </p:nvPr>
        </p:nvSpPr>
        <p:spPr>
          <a:xfrm>
            <a:off x="2209800" y="304800"/>
            <a:ext cx="7772400" cy="1371600"/>
          </a:xfrm>
        </p:spPr>
        <p:txBody>
          <a:bodyPr/>
          <a:lstStyle/>
          <a:p>
            <a:r>
              <a:rPr lang="en-US" altLang="en-US"/>
              <a:t>A Mechanism With a Slow Initial Step (completed)</a:t>
            </a:r>
            <a:endParaRPr lang="en-US" altLang="en-US"/>
          </a:p>
        </p:txBody>
      </p:sp>
      <p:sp>
        <p:nvSpPr>
          <p:cNvPr id="48131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/>
              <a:t>Since the first step is the slowest step, it gives the rate law.</a:t>
            </a:r>
            <a:endParaRPr lang="en-US" altLang="en-US"/>
          </a:p>
          <a:p>
            <a:r>
              <a:rPr lang="en-US" altLang="en-US"/>
              <a:t>If you add up all of the individual steps (2 of them), you get the stoichiometry.</a:t>
            </a:r>
            <a:endParaRPr lang="en-US" altLang="en-US"/>
          </a:p>
          <a:p>
            <a:r>
              <a:rPr lang="en-US" altLang="en-US"/>
              <a:t>Each step balances.</a:t>
            </a:r>
            <a:endParaRPr lang="en-US" altLang="en-US"/>
          </a:p>
          <a:p>
            <a:r>
              <a:rPr lang="en-US" altLang="en-US"/>
              <a:t>This is a plausible mechanism.</a:t>
            </a:r>
            <a:endParaRPr lang="en-US" altLang="en-US"/>
          </a:p>
        </p:txBody>
      </p:sp>
    </p:spTree>
  </p:cSld>
  <p:clrMapOvr>
    <a:masterClrMapping/>
  </p:clrMapOvr>
  <p:transition spd="slow"/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1524000" y="228600"/>
            <a:ext cx="7772400" cy="1143000"/>
          </a:xfrm>
        </p:spPr>
        <p:txBody>
          <a:bodyPr/>
          <a:lstStyle/>
          <a:p>
            <a:pPr eaLnBrk="1" hangingPunct="1"/>
            <a:r>
              <a:rPr lang="en-US" altLang="en-US"/>
              <a:t>What is the Rate Law?</a:t>
            </a:r>
            <a:endParaRPr lang="en-US" altLang="en-US"/>
          </a:p>
        </p:txBody>
      </p:sp>
      <p:sp>
        <p:nvSpPr>
          <p:cNvPr id="51203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1524000" y="1981200"/>
            <a:ext cx="7772400" cy="4114800"/>
          </a:xfrm>
        </p:spPr>
        <p:txBody>
          <a:bodyPr/>
          <a:lstStyle/>
          <a:p>
            <a:pPr eaLnBrk="1" hangingPunct="1"/>
            <a:r>
              <a:rPr lang="en-US" altLang="en-US"/>
              <a:t>The rate of the overall reaction depends upon the rate of the slow step.</a:t>
            </a:r>
            <a:endParaRPr lang="en-US" altLang="en-US"/>
          </a:p>
          <a:p>
            <a:pPr eaLnBrk="1" hangingPunct="1"/>
            <a:r>
              <a:rPr lang="en-US" altLang="en-US"/>
              <a:t>The rate law for that step would be</a:t>
            </a:r>
            <a:endParaRPr lang="en-US" altLang="en-US"/>
          </a:p>
          <a:p>
            <a:pPr eaLnBrk="1" hangingPunct="1"/>
            <a:endParaRPr lang="en-US" altLang="en-US"/>
          </a:p>
          <a:p>
            <a:pPr algn="ctr" eaLnBrk="1" hangingPunct="1">
              <a:buFontTx/>
              <a:buNone/>
            </a:pPr>
            <a:r>
              <a:rPr lang="en-US" altLang="en-US"/>
              <a:t>Rate = </a:t>
            </a:r>
            <a:r>
              <a:rPr lang="en-US" altLang="en-US" i="1"/>
              <a:t>k</a:t>
            </a:r>
            <a:r>
              <a:rPr lang="en-US" altLang="en-US" i="1" baseline="-25000"/>
              <a:t>2</a:t>
            </a:r>
            <a:r>
              <a:rPr lang="en-US" altLang="en-US"/>
              <a:t>[NOBr</a:t>
            </a:r>
            <a:r>
              <a:rPr lang="en-US" altLang="en-US" baseline="-25000"/>
              <a:t>2</a:t>
            </a:r>
            <a:r>
              <a:rPr lang="en-US" altLang="en-US"/>
              <a:t>] [NO]</a:t>
            </a:r>
            <a:endParaRPr lang="en-US" altLang="en-US"/>
          </a:p>
          <a:p>
            <a:pPr algn="ctr" eaLnBrk="1" hangingPunct="1">
              <a:buFontTx/>
              <a:buNone/>
            </a:pPr>
            <a:endParaRPr lang="en-US" altLang="en-US"/>
          </a:p>
          <a:p>
            <a:pPr eaLnBrk="1" hangingPunct="1"/>
            <a:r>
              <a:rPr lang="en-US" altLang="en-US"/>
              <a:t>But how can we find [NOBr</a:t>
            </a:r>
            <a:r>
              <a:rPr lang="en-US" altLang="en-US" baseline="-25000"/>
              <a:t>2</a:t>
            </a:r>
            <a:r>
              <a:rPr lang="en-US" altLang="en-US"/>
              <a:t>]?</a:t>
            </a:r>
            <a:endParaRPr lang="en-US" altLang="en-US"/>
          </a:p>
        </p:txBody>
      </p:sp>
    </p:spTree>
  </p:cSld>
  <p:clrMapOvr>
    <a:masterClrMapping/>
  </p:clrMapOvr>
  <p:transition spd="slow"/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1524000" y="228600"/>
            <a:ext cx="7772400" cy="1143000"/>
          </a:xfrm>
        </p:spPr>
        <p:txBody>
          <a:bodyPr/>
          <a:lstStyle/>
          <a:p>
            <a:pPr eaLnBrk="1" hangingPunct="1"/>
            <a:r>
              <a:rPr lang="en-US" altLang="en-US"/>
              <a:t>[NOBr</a:t>
            </a:r>
            <a:r>
              <a:rPr lang="en-US" altLang="en-US" baseline="-25000"/>
              <a:t>2</a:t>
            </a:r>
            <a:r>
              <a:rPr lang="en-US" altLang="en-US"/>
              <a:t>] (An Intermediate)?</a:t>
            </a:r>
            <a:endParaRPr lang="en-US" altLang="en-US"/>
          </a:p>
        </p:txBody>
      </p:sp>
      <p:sp>
        <p:nvSpPr>
          <p:cNvPr id="52227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1524000" y="1676400"/>
            <a:ext cx="7772400" cy="4419600"/>
          </a:xfrm>
        </p:spPr>
        <p:txBody>
          <a:bodyPr/>
          <a:lstStyle/>
          <a:p>
            <a:pPr eaLnBrk="1" hangingPunct="1"/>
            <a:r>
              <a:rPr lang="en-US" altLang="en-US"/>
              <a:t>NOBr</a:t>
            </a:r>
            <a:r>
              <a:rPr lang="en-US" altLang="en-US" baseline="-25000"/>
              <a:t>2</a:t>
            </a:r>
            <a:r>
              <a:rPr lang="en-US" altLang="en-US"/>
              <a:t> can react two ways:</a:t>
            </a:r>
            <a:endParaRPr lang="en-US" altLang="en-US"/>
          </a:p>
          <a:p>
            <a:pPr lvl="1" eaLnBrk="1" hangingPunct="1"/>
            <a:r>
              <a:rPr lang="en-US" altLang="en-US"/>
              <a:t>With NO to form NOBr.</a:t>
            </a:r>
            <a:endParaRPr lang="en-US" altLang="en-US"/>
          </a:p>
          <a:p>
            <a:pPr lvl="1" eaLnBrk="1" hangingPunct="1"/>
            <a:r>
              <a:rPr lang="en-US" altLang="en-US"/>
              <a:t>By decomposition to reform NO and Br</a:t>
            </a:r>
            <a:r>
              <a:rPr lang="en-US" altLang="en-US" baseline="-25000"/>
              <a:t>2</a:t>
            </a:r>
            <a:r>
              <a:rPr lang="en-US" altLang="en-US"/>
              <a:t>.</a:t>
            </a:r>
            <a:endParaRPr lang="en-US" altLang="en-US"/>
          </a:p>
          <a:p>
            <a:pPr eaLnBrk="1" hangingPunct="1"/>
            <a:r>
              <a:rPr lang="en-US" altLang="en-US"/>
              <a:t>The reactants and products of the first step are in equilibrium with each other.</a:t>
            </a:r>
            <a:endParaRPr lang="en-US" altLang="en-US"/>
          </a:p>
          <a:p>
            <a:pPr eaLnBrk="1" hangingPunct="1"/>
            <a:r>
              <a:rPr lang="en-US" altLang="en-US"/>
              <a:t>For an equilibrium (as we will see in the next chapter):</a:t>
            </a:r>
            <a:endParaRPr lang="en-US" altLang="en-US"/>
          </a:p>
          <a:p>
            <a:pPr algn="ctr" eaLnBrk="1" hangingPunct="1">
              <a:buFontTx/>
              <a:buNone/>
            </a:pPr>
            <a:r>
              <a:rPr lang="en-US" altLang="en-US"/>
              <a:t>Rate</a:t>
            </a:r>
            <a:r>
              <a:rPr lang="en-US" altLang="en-US" i="1" baseline="-25000"/>
              <a:t>f</a:t>
            </a:r>
            <a:r>
              <a:rPr lang="en-US" altLang="en-US"/>
              <a:t> = Rate</a:t>
            </a:r>
            <a:r>
              <a:rPr lang="en-US" altLang="en-US" i="1" baseline="-25000"/>
              <a:t>r</a:t>
            </a:r>
            <a:endParaRPr lang="en-US" altLang="en-US">
              <a:solidFill>
                <a:schemeClr val="accent2"/>
              </a:solidFill>
            </a:endParaRPr>
          </a:p>
        </p:txBody>
      </p:sp>
    </p:spTree>
  </p:cSld>
  <p:clrMapOvr>
    <a:masterClrMapping/>
  </p:clrMapOvr>
  <p:transition spd="slow"/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The Rate Law (Finally!)</a:t>
            </a:r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00200" y="1371600"/>
            <a:ext cx="8915400" cy="4724400"/>
          </a:xfrm>
        </p:spPr>
        <p:txBody>
          <a:bodyPr/>
          <a:lstStyle/>
          <a:p>
            <a:pPr>
              <a:defRPr/>
            </a:pPr>
            <a:r>
              <a:rPr lang="en-US" dirty="0"/>
              <a:t>Substituting for the forward and reverse rates:</a:t>
            </a:r>
            <a:endParaRPr lang="en-US" dirty="0"/>
          </a:p>
          <a:p>
            <a:pPr marL="0" indent="0">
              <a:buFontTx/>
              <a:buNone/>
              <a:defRPr/>
            </a:pPr>
            <a:r>
              <a:rPr lang="en-US" dirty="0"/>
              <a:t>	</a:t>
            </a:r>
            <a:r>
              <a:rPr lang="en-US" i="1" dirty="0"/>
              <a:t>k</a:t>
            </a:r>
            <a:r>
              <a:rPr lang="en-US" baseline="-25000" dirty="0"/>
              <a:t>1</a:t>
            </a:r>
            <a:r>
              <a:rPr lang="en-US" dirty="0"/>
              <a:t> [NO] [Br</a:t>
            </a:r>
            <a:r>
              <a:rPr lang="en-US" baseline="-25000" dirty="0"/>
              <a:t>2</a:t>
            </a:r>
            <a:r>
              <a:rPr lang="en-US" dirty="0"/>
              <a:t>]  =  </a:t>
            </a:r>
            <a:r>
              <a:rPr lang="en-US" i="1" dirty="0"/>
              <a:t>k</a:t>
            </a:r>
            <a:r>
              <a:rPr lang="en-US" baseline="-25000" dirty="0"/>
              <a:t>−1</a:t>
            </a:r>
            <a:r>
              <a:rPr lang="en-US" dirty="0"/>
              <a:t> [NOBr</a:t>
            </a:r>
            <a:r>
              <a:rPr lang="en-US" baseline="-25000" dirty="0"/>
              <a:t>2</a:t>
            </a:r>
            <a:r>
              <a:rPr lang="en-US" dirty="0"/>
              <a:t>]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  <a:defRPr/>
            </a:pPr>
            <a:r>
              <a:rPr lang="en-US" dirty="0"/>
              <a:t>Solve for [</a:t>
            </a:r>
            <a:r>
              <a:rPr lang="en-US" dirty="0" err="1"/>
              <a:t>NOBr</a:t>
            </a:r>
            <a:r>
              <a:rPr lang="en-US" baseline="-25000" dirty="0" err="1"/>
              <a:t>2</a:t>
            </a:r>
            <a:r>
              <a:rPr lang="en-US" dirty="0"/>
              <a:t>], then substitute into the rate law:</a:t>
            </a:r>
            <a:endParaRPr lang="en-US" dirty="0"/>
          </a:p>
          <a:p>
            <a:pPr marL="0" indent="0">
              <a:buFontTx/>
              <a:buNone/>
              <a:defRPr/>
            </a:pPr>
            <a:r>
              <a:rPr lang="en-US" dirty="0"/>
              <a:t>	Rate = </a:t>
            </a:r>
            <a:r>
              <a:rPr lang="en-US" i="1" dirty="0"/>
              <a:t>k</a:t>
            </a:r>
            <a:r>
              <a:rPr lang="en-US" baseline="-25000" dirty="0"/>
              <a:t>2</a:t>
            </a:r>
            <a:r>
              <a:rPr lang="en-US" dirty="0"/>
              <a:t> (</a:t>
            </a:r>
            <a:r>
              <a:rPr lang="en-US" i="1" dirty="0"/>
              <a:t>k</a:t>
            </a:r>
            <a:r>
              <a:rPr lang="en-US" baseline="-25000" dirty="0"/>
              <a:t>1</a:t>
            </a:r>
            <a:r>
              <a:rPr lang="en-US" dirty="0"/>
              <a:t>/</a:t>
            </a:r>
            <a:r>
              <a:rPr lang="en-US" i="1" dirty="0"/>
              <a:t>k</a:t>
            </a:r>
            <a:r>
              <a:rPr lang="en-US" baseline="-25000" dirty="0"/>
              <a:t>−1</a:t>
            </a:r>
            <a:r>
              <a:rPr lang="en-US" dirty="0"/>
              <a:t>) [NO] [Br</a:t>
            </a:r>
            <a:r>
              <a:rPr lang="en-US" baseline="-25000" dirty="0"/>
              <a:t>2</a:t>
            </a:r>
            <a:r>
              <a:rPr lang="en-US" dirty="0"/>
              <a:t>] [NO]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  <a:defRPr/>
            </a:pPr>
            <a:r>
              <a:rPr lang="en-US" dirty="0"/>
              <a:t>This gives the observed rate law!</a:t>
            </a:r>
            <a:endParaRPr lang="en-US" dirty="0"/>
          </a:p>
          <a:p>
            <a:pPr marL="0" indent="0">
              <a:buFontTx/>
              <a:buNone/>
              <a:defRPr/>
            </a:pPr>
            <a:r>
              <a:rPr lang="en-US" dirty="0"/>
              <a:t>	Rate = </a:t>
            </a:r>
            <a:r>
              <a:rPr lang="en-US" i="1" dirty="0"/>
              <a:t>k</a:t>
            </a:r>
            <a:r>
              <a:rPr lang="en-US" dirty="0"/>
              <a:t> </a:t>
            </a:r>
            <a:r>
              <a:rPr lang="en-US" altLang="en-US" dirty="0"/>
              <a:t>[NO]</a:t>
            </a:r>
            <a:r>
              <a:rPr lang="en-US" altLang="en-US" baseline="30000" dirty="0"/>
              <a:t>2</a:t>
            </a:r>
            <a:r>
              <a:rPr lang="en-US" altLang="en-US" dirty="0"/>
              <a:t> [</a:t>
            </a:r>
            <a:r>
              <a:rPr lang="en-US" altLang="en-US" dirty="0" err="1"/>
              <a:t>Br</a:t>
            </a:r>
            <a:r>
              <a:rPr lang="en-US" altLang="en-US" baseline="-25000" dirty="0" err="1"/>
              <a:t>2</a:t>
            </a:r>
            <a:r>
              <a:rPr lang="en-US" altLang="en-US" dirty="0"/>
              <a:t>]</a:t>
            </a:r>
            <a:endParaRPr lang="en-US" altLang="en-US" dirty="0"/>
          </a:p>
        </p:txBody>
      </p:sp>
    </p:spTree>
  </p:cSld>
  <p:clrMapOvr>
    <a:masterClrMapping/>
  </p:clrMapOvr>
  <p:transition spd="slow"/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Lock-and-Key Model </a:t>
            </a:r>
            <a:r>
              <a:rPr lang="en-US" altLang="zh-CN"/>
              <a:t>of </a:t>
            </a:r>
            <a:r>
              <a:rPr lang="en-US" altLang="zh-CN"/>
              <a:t>enzyme</a:t>
            </a:r>
            <a:endParaRPr lang="en-US" altLang="zh-CN"/>
          </a:p>
        </p:txBody>
      </p:sp>
      <p:sp>
        <p:nvSpPr>
          <p:cNvPr id="59395" name="Content Placeholder 2"/>
          <p:cNvSpPr>
            <a:spLocks noGrp="1"/>
          </p:cNvSpPr>
          <p:nvPr>
            <p:ph idx="1"/>
          </p:nvPr>
        </p:nvSpPr>
        <p:spPr>
          <a:xfrm>
            <a:off x="2133600" y="1371600"/>
            <a:ext cx="7772400" cy="2438400"/>
          </a:xfrm>
        </p:spPr>
        <p:txBody>
          <a:bodyPr/>
          <a:lstStyle/>
          <a:p>
            <a:r>
              <a:rPr lang="en-US" altLang="en-US"/>
              <a:t>In the enzyme–substrate model, the substrate fits into the active site of an enzyme, much like a key fits into a lock.</a:t>
            </a:r>
            <a:endParaRPr lang="en-US" altLang="en-US"/>
          </a:p>
          <a:p>
            <a:r>
              <a:rPr lang="en-US" altLang="en-US"/>
              <a:t>They are specific.</a:t>
            </a:r>
            <a:endParaRPr lang="en-US" altLang="en-US"/>
          </a:p>
        </p:txBody>
      </p:sp>
      <p:pic>
        <p:nvPicPr>
          <p:cNvPr id="5" name="Picture 4" descr="14_27_Figure.jpg"/>
          <p:cNvPicPr>
            <a:picLocks noChangeAspect="1"/>
          </p:cNvPicPr>
          <p:nvPr/>
        </p:nvPicPr>
        <p:blipFill>
          <a:blip r:embed="rId1"/>
          <a:srcRect b="4937"/>
          <a:stretch>
            <a:fillRect/>
          </a:stretch>
        </p:blipFill>
        <p:spPr>
          <a:xfrm>
            <a:off x="2743200" y="3581400"/>
            <a:ext cx="6508094" cy="2819400"/>
          </a:xfrm>
          <a:prstGeom prst="rect">
            <a:avLst/>
          </a:prstGeom>
        </p:spPr>
      </p:pic>
    </p:spTree>
  </p:cSld>
  <p:clrMapOvr>
    <a:masterClrMapping/>
  </p:clrMapOvr>
  <p:transition spd="slow"/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itle 1"/>
          <p:cNvSpPr/>
          <p:nvPr/>
        </p:nvSpPr>
        <p:spPr bwMode="auto">
          <a:xfrm>
            <a:off x="6019800" y="1676400"/>
            <a:ext cx="4572000" cy="3505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anchor="ctr"/>
          <a:lstStyle/>
          <a:p>
            <a:pPr algn="ctr" eaLnBrk="1" hangingPunct="1"/>
            <a:r>
              <a:rPr lang="en-US" sz="3400" b="1">
                <a:solidFill>
                  <a:srgbClr val="000000"/>
                </a:solidFill>
              </a:rPr>
              <a:t>Chapter 15</a:t>
            </a:r>
            <a:br>
              <a:rPr lang="en-US" sz="3400" b="1">
                <a:solidFill>
                  <a:srgbClr val="000000"/>
                </a:solidFill>
              </a:rPr>
            </a:br>
            <a:br>
              <a:rPr lang="en-US" sz="3400" b="1">
                <a:solidFill>
                  <a:srgbClr val="000000"/>
                </a:solidFill>
              </a:rPr>
            </a:br>
            <a:r>
              <a:rPr lang="en-US" sz="3600" b="1"/>
              <a:t>Chemical Equilibrium</a:t>
            </a:r>
            <a:endParaRPr lang="en-US" sz="3400" b="1">
              <a:solidFill>
                <a:srgbClr val="000000"/>
              </a:solidFill>
            </a:endParaRPr>
          </a:p>
        </p:txBody>
      </p:sp>
      <p:sp>
        <p:nvSpPr>
          <p:cNvPr id="3075" name="Subtitle 2"/>
          <p:cNvSpPr/>
          <p:nvPr/>
        </p:nvSpPr>
        <p:spPr bwMode="auto">
          <a:xfrm>
            <a:off x="6019800" y="5791200"/>
            <a:ext cx="4572000" cy="9906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pPr algn="ctr" eaLnBrk="1" hangingPunct="1"/>
            <a:r>
              <a:rPr lang="en-US" sz="1800">
                <a:solidFill>
                  <a:srgbClr val="0D0D0D"/>
                </a:solidFill>
              </a:rPr>
              <a:t>James F. Kirby</a:t>
            </a:r>
            <a:endParaRPr lang="en-US" sz="1800">
              <a:solidFill>
                <a:srgbClr val="0D0D0D"/>
              </a:solidFill>
            </a:endParaRPr>
          </a:p>
          <a:p>
            <a:pPr algn="ctr" eaLnBrk="1" hangingPunct="1"/>
            <a:r>
              <a:rPr lang="en-US" sz="1800">
                <a:solidFill>
                  <a:srgbClr val="0D0D0D"/>
                </a:solidFill>
              </a:rPr>
              <a:t>Quinnipiac University</a:t>
            </a:r>
            <a:endParaRPr lang="en-US" sz="1800">
              <a:solidFill>
                <a:srgbClr val="0D0D0D"/>
              </a:solidFill>
            </a:endParaRPr>
          </a:p>
          <a:p>
            <a:pPr algn="ctr" eaLnBrk="1" hangingPunct="1"/>
            <a:r>
              <a:rPr lang="en-US" sz="1800">
                <a:solidFill>
                  <a:srgbClr val="0D0D0D"/>
                </a:solidFill>
              </a:rPr>
              <a:t>Hamden, CT</a:t>
            </a:r>
            <a:endParaRPr lang="en-US" sz="1800">
              <a:solidFill>
                <a:srgbClr val="0D0D0D"/>
              </a:solidFill>
            </a:endParaRPr>
          </a:p>
        </p:txBody>
      </p:sp>
      <p:sp>
        <p:nvSpPr>
          <p:cNvPr id="3076" name="Rectangle 10"/>
          <p:cNvSpPr>
            <a:spLocks noChangeArrowheads="1"/>
          </p:cNvSpPr>
          <p:nvPr/>
        </p:nvSpPr>
        <p:spPr bwMode="auto">
          <a:xfrm>
            <a:off x="6019800" y="700088"/>
            <a:ext cx="4648200" cy="52197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algn="ctr" eaLnBrk="1" hangingPunct="1"/>
            <a:r>
              <a:rPr lang="en-US" sz="2800">
                <a:solidFill>
                  <a:srgbClr val="000000"/>
                </a:solidFill>
                <a:ea typeface="Arial" panose="020B0604020202020204" pitchFamily="34" charset="0"/>
                <a:cs typeface="Arial" panose="020B0604020202020204" pitchFamily="34" charset="0"/>
              </a:rPr>
              <a:t>Lecture Presentation</a:t>
            </a:r>
            <a:endParaRPr lang="en-US" sz="2800">
              <a:solidFill>
                <a:srgbClr val="000000"/>
              </a:solidFill>
              <a:ea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" name="Picture 1" descr="BROW0417_13_ecat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 bwMode="auto">
          <a:xfrm>
            <a:off x="1752600" y="736303"/>
            <a:ext cx="4227513" cy="5309193"/>
          </a:xfrm>
          <a:prstGeom prst="rect">
            <a:avLst/>
          </a:prstGeom>
          <a:noFill/>
          <a:ln w="3175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 spd="slow"/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200" b="1" dirty="0"/>
              <a:t>The Concept of Equilibrium</a:t>
            </a:r>
            <a:endParaRPr lang="en-US" sz="3200" b="1" dirty="0"/>
          </a:p>
        </p:txBody>
      </p:sp>
      <p:sp>
        <p:nvSpPr>
          <p:cNvPr id="5123" name="Rectangle 3"/>
          <p:cNvSpPr>
            <a:spLocks noGrp="1" noChangeArrowheads="1"/>
          </p:cNvSpPr>
          <p:nvPr>
            <p:ph idx="1"/>
          </p:nvPr>
        </p:nvSpPr>
        <p:spPr>
          <a:xfrm>
            <a:off x="1866900" y="3505200"/>
            <a:ext cx="8458200" cy="2971800"/>
          </a:xfrm>
        </p:spPr>
        <p:txBody>
          <a:bodyPr/>
          <a:lstStyle/>
          <a:p>
            <a:pPr eaLnBrk="1" hangingPunct="1"/>
            <a:r>
              <a:rPr lang="en-US" sz="2800" dirty="0"/>
              <a:t>As a system approaches equilibrium, both the forward and reverse reactions are occurring.</a:t>
            </a:r>
            <a:endParaRPr lang="en-US" sz="2800" dirty="0"/>
          </a:p>
          <a:p>
            <a:pPr eaLnBrk="1" hangingPunct="1"/>
            <a:r>
              <a:rPr lang="en-US" sz="2800" dirty="0"/>
              <a:t>At equilibrium, the forward and reverse reactions are proceeding </a:t>
            </a:r>
            <a:r>
              <a:rPr lang="en-US" sz="2800" i="1" dirty="0"/>
              <a:t>at the same rate</a:t>
            </a:r>
            <a:r>
              <a:rPr lang="en-US" sz="2800" dirty="0"/>
              <a:t> </a:t>
            </a:r>
            <a:r>
              <a:rPr lang="en-US" altLang="zh-CN" sz="2800" dirty="0"/>
              <a:t>– </a:t>
            </a:r>
            <a:r>
              <a:rPr lang="en-US" altLang="zh-CN" sz="2800" b="1" dirty="0">
                <a:solidFill>
                  <a:srgbClr val="FF0000"/>
                </a:solidFill>
              </a:rPr>
              <a:t>DYNAMIC</a:t>
            </a:r>
            <a:r>
              <a:rPr lang="zh-CN" altLang="en-US" sz="2800" b="1" dirty="0">
                <a:solidFill>
                  <a:srgbClr val="FF0000"/>
                </a:solidFill>
              </a:rPr>
              <a:t>！</a:t>
            </a:r>
            <a:endParaRPr lang="en-US" sz="2800" b="1" dirty="0">
              <a:solidFill>
                <a:srgbClr val="FF0000"/>
              </a:solidFill>
            </a:endParaRPr>
          </a:p>
          <a:p>
            <a:pPr eaLnBrk="1" hangingPunct="1"/>
            <a:r>
              <a:rPr lang="en-US" sz="2800" dirty="0"/>
              <a:t>Once equilibrium is achieved, the </a:t>
            </a:r>
            <a:r>
              <a:rPr lang="en-US" sz="2800" i="1" dirty="0"/>
              <a:t>amount</a:t>
            </a:r>
            <a:r>
              <a:rPr lang="en-US" sz="2800" dirty="0"/>
              <a:t> of each reactant and product remains constant.</a:t>
            </a:r>
            <a:endParaRPr lang="en-US" sz="2800" dirty="0"/>
          </a:p>
          <a:p>
            <a:pPr eaLnBrk="1" hangingPunct="1"/>
            <a:endParaRPr lang="en-US" sz="2800" dirty="0"/>
          </a:p>
        </p:txBody>
      </p:sp>
      <p:pic>
        <p:nvPicPr>
          <p:cNvPr id="6" name="Picture 5" descr="15_02_Figure.jpg"/>
          <p:cNvPicPr>
            <a:picLocks noChangeAspect="1"/>
          </p:cNvPicPr>
          <p:nvPr/>
        </p:nvPicPr>
        <p:blipFill>
          <a:blip r:embed="rId1"/>
          <a:srcRect b="6564"/>
          <a:stretch>
            <a:fillRect/>
          </a:stretch>
        </p:blipFill>
        <p:spPr>
          <a:xfrm>
            <a:off x="2743200" y="1219200"/>
            <a:ext cx="6781800" cy="2344566"/>
          </a:xfrm>
          <a:prstGeom prst="rect">
            <a:avLst/>
          </a:prstGeom>
        </p:spPr>
      </p:pic>
    </p:spTree>
  </p:cSld>
  <p:clrMapOvr>
    <a:masterClrMapping/>
  </p:clrMapOvr>
  <p:transition spd="slow"/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200" b="1" dirty="0"/>
              <a:t>The Meaning of Equilibrium</a:t>
            </a:r>
            <a:endParaRPr lang="en-US" sz="3200" b="1" dirty="0"/>
          </a:p>
        </p:txBody>
      </p:sp>
      <p:sp>
        <p:nvSpPr>
          <p:cNvPr id="112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752600" y="1219200"/>
            <a:ext cx="8001000" cy="3505200"/>
          </a:xfrm>
        </p:spPr>
        <p:txBody>
          <a:bodyPr/>
          <a:lstStyle/>
          <a:p>
            <a:pPr eaLnBrk="1" hangingPunct="1"/>
            <a:r>
              <a:rPr lang="en-US" dirty="0"/>
              <a:t>Therefore, at equilibrium</a:t>
            </a:r>
            <a:endParaRPr lang="en-US" dirty="0"/>
          </a:p>
          <a:p>
            <a:pPr eaLnBrk="1" hangingPunct="1">
              <a:buFontTx/>
              <a:buNone/>
            </a:pPr>
            <a:r>
              <a:rPr lang="en-US" dirty="0"/>
              <a:t>		</a:t>
            </a:r>
            <a:r>
              <a:rPr lang="en-US" dirty="0" err="1"/>
              <a:t>Rate</a:t>
            </a:r>
            <a:r>
              <a:rPr lang="en-US" i="1" baseline="-25000" dirty="0" err="1"/>
              <a:t>f</a:t>
            </a:r>
            <a:r>
              <a:rPr lang="en-US" dirty="0"/>
              <a:t> = Rate</a:t>
            </a:r>
            <a:r>
              <a:rPr lang="en-US" i="1" baseline="-25000" dirty="0"/>
              <a:t>r</a:t>
            </a:r>
            <a:endParaRPr lang="en-US" i="1" baseline="-25000" dirty="0"/>
          </a:p>
          <a:p>
            <a:pPr eaLnBrk="1" hangingPunct="1">
              <a:buFontTx/>
              <a:buNone/>
            </a:pPr>
            <a:r>
              <a:rPr lang="en-US" i="1" baseline="-25000" dirty="0"/>
              <a:t>		</a:t>
            </a:r>
            <a:r>
              <a:rPr lang="en-US" i="1" dirty="0" err="1"/>
              <a:t>k</a:t>
            </a:r>
            <a:r>
              <a:rPr lang="en-US" i="1" baseline="-25000" dirty="0" err="1"/>
              <a:t>f</a:t>
            </a:r>
            <a:r>
              <a:rPr lang="en-US" dirty="0"/>
              <a:t>[N</a:t>
            </a:r>
            <a:r>
              <a:rPr lang="en-US" baseline="-25000" dirty="0"/>
              <a:t>2</a:t>
            </a:r>
            <a:r>
              <a:rPr lang="en-US" dirty="0"/>
              <a:t>O</a:t>
            </a:r>
            <a:r>
              <a:rPr lang="en-US" baseline="-25000" dirty="0"/>
              <a:t>4</a:t>
            </a:r>
            <a:r>
              <a:rPr lang="en-US" dirty="0"/>
              <a:t>]  =  </a:t>
            </a:r>
            <a:r>
              <a:rPr lang="en-US" i="1" dirty="0" err="1"/>
              <a:t>k</a:t>
            </a:r>
            <a:r>
              <a:rPr lang="en-US" i="1" baseline="-25000" dirty="0" err="1"/>
              <a:t>r</a:t>
            </a:r>
            <a:r>
              <a:rPr lang="en-US" dirty="0"/>
              <a:t>[NO</a:t>
            </a:r>
            <a:r>
              <a:rPr lang="en-US" baseline="-25000" dirty="0"/>
              <a:t>2</a:t>
            </a:r>
            <a:r>
              <a:rPr lang="en-US" dirty="0"/>
              <a:t>]</a:t>
            </a:r>
            <a:r>
              <a:rPr lang="en-US" baseline="30000" dirty="0"/>
              <a:t>2</a:t>
            </a:r>
            <a:endParaRPr lang="en-US" dirty="0"/>
          </a:p>
          <a:p>
            <a:pPr eaLnBrk="1" hangingPunct="1"/>
            <a:endParaRPr lang="en-US" dirty="0"/>
          </a:p>
          <a:p>
            <a:pPr eaLnBrk="1" hangingPunct="1"/>
            <a:r>
              <a:rPr lang="en-US" dirty="0"/>
              <a:t>Rewriting this, it becomes the expression for the equilibrium constant, </a:t>
            </a:r>
            <a:r>
              <a:rPr lang="en-US" i="1" dirty="0" err="1"/>
              <a:t>K</a:t>
            </a:r>
            <a:r>
              <a:rPr lang="en-US" baseline="-25000" dirty="0" err="1"/>
              <a:t>eq</a:t>
            </a:r>
            <a:r>
              <a:rPr lang="en-US" dirty="0"/>
              <a:t>.</a:t>
            </a:r>
            <a:endParaRPr lang="en-US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7000" y="4800600"/>
            <a:ext cx="4107180" cy="969010"/>
          </a:xfrm>
          <a:prstGeom prst="rect">
            <a:avLst/>
          </a:prstGeom>
        </p:spPr>
      </p:pic>
      <p:pic>
        <p:nvPicPr>
          <p:cNvPr id="5" name="Picture 4" descr="15_02_Figure.jpg"/>
          <p:cNvPicPr>
            <a:picLocks noChangeAspect="1"/>
          </p:cNvPicPr>
          <p:nvPr/>
        </p:nvPicPr>
        <p:blipFill rotWithShape="1">
          <a:blip r:embed="rId2"/>
          <a:srcRect l="54141" r="1" b="17557"/>
          <a:stretch>
            <a:fillRect/>
          </a:stretch>
        </p:blipFill>
        <p:spPr>
          <a:xfrm>
            <a:off x="6774180" y="1143000"/>
            <a:ext cx="3436620" cy="2286000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r:id="rId3" p14:bwMode="auto">
            <p14:nvContentPartPr>
              <p14:cNvPr id="3" name="墨迹 2"/>
              <p14:cNvContentPartPr/>
              <p14:nvPr/>
            </p14:nvContentPartPr>
            <p14:xfrm>
              <a:off x="2590680" y="4038480"/>
              <a:ext cx="5734440" cy="2057760"/>
            </p14:xfrm>
          </p:contentPart>
        </mc:Choice>
        <mc:Fallback xmlns="">
          <p:pic>
            <p:nvPicPr>
              <p:cNvPr id="3" name="墨迹 2"/>
            </p:nvPicPr>
            <p:blipFill>
              <a:blip r:embed="rId4"/>
            </p:blipFill>
            <p:spPr>
              <a:xfrm>
                <a:off x="2590680" y="4038480"/>
                <a:ext cx="5734440" cy="2057760"/>
              </a:xfrm>
              <a:prstGeom prst="rect"/>
            </p:spPr>
          </p:pic>
        </mc:Fallback>
      </mc:AlternateContent>
    </p:spTree>
  </p:cSld>
  <p:clrMapOvr>
    <a:masterClrMapping/>
  </p:clrMapOvr>
  <p:transition spd="slow"/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>
          <a:xfrm>
            <a:off x="1524000" y="19050"/>
            <a:ext cx="9144000" cy="1143000"/>
          </a:xfrm>
        </p:spPr>
        <p:txBody>
          <a:bodyPr/>
          <a:lstStyle/>
          <a:p>
            <a:pPr eaLnBrk="1" hangingPunct="1"/>
            <a:r>
              <a:rPr lang="en-US" sz="3200" b="1" dirty="0"/>
              <a:t>The Equilibrium Constant</a:t>
            </a:r>
            <a:endParaRPr lang="en-US" sz="3200" b="1" dirty="0"/>
          </a:p>
        </p:txBody>
      </p:sp>
      <p:sp>
        <p:nvSpPr>
          <p:cNvPr id="13315" name="Rectangle 3"/>
          <p:cNvSpPr>
            <a:spLocks noGrp="1" noChangeArrowheads="1"/>
          </p:cNvSpPr>
          <p:nvPr>
            <p:ph idx="1"/>
          </p:nvPr>
        </p:nvSpPr>
        <p:spPr>
          <a:xfrm>
            <a:off x="2154238" y="1546160"/>
            <a:ext cx="7980362" cy="2057400"/>
          </a:xfrm>
        </p:spPr>
        <p:txBody>
          <a:bodyPr/>
          <a:lstStyle/>
          <a:p>
            <a:pPr eaLnBrk="1" hangingPunct="1"/>
            <a:r>
              <a:rPr lang="en-US" sz="2800" dirty="0"/>
              <a:t>Consider the generalized reaction</a:t>
            </a:r>
            <a:endParaRPr lang="en-US" sz="2800" dirty="0"/>
          </a:p>
          <a:p>
            <a:pPr eaLnBrk="1" hangingPunct="1">
              <a:buFontTx/>
              <a:buNone/>
            </a:pPr>
            <a:r>
              <a:rPr lang="en-US" sz="2800" dirty="0"/>
              <a:t>	</a:t>
            </a:r>
            <a:r>
              <a:rPr lang="en-US" sz="2800" i="1" dirty="0"/>
              <a:t>a</a:t>
            </a:r>
            <a:r>
              <a:rPr lang="en-US" sz="2800" dirty="0"/>
              <a:t> A  +  </a:t>
            </a:r>
            <a:r>
              <a:rPr lang="en-US" sz="2800" i="1" dirty="0"/>
              <a:t>b</a:t>
            </a:r>
            <a:r>
              <a:rPr lang="en-US" sz="2800" dirty="0"/>
              <a:t> B ⇌  </a:t>
            </a:r>
            <a:r>
              <a:rPr lang="en-US" sz="2800" i="1" dirty="0"/>
              <a:t>d</a:t>
            </a:r>
            <a:r>
              <a:rPr lang="en-US" sz="2800" dirty="0"/>
              <a:t> D  +  </a:t>
            </a:r>
            <a:r>
              <a:rPr lang="en-US" sz="2800" i="1" dirty="0"/>
              <a:t>e</a:t>
            </a:r>
            <a:r>
              <a:rPr lang="en-US" sz="2800" dirty="0"/>
              <a:t> E</a:t>
            </a:r>
            <a:endParaRPr lang="en-US" sz="2800" dirty="0"/>
          </a:p>
          <a:p>
            <a:pPr eaLnBrk="1" hangingPunct="1"/>
            <a:r>
              <a:rPr lang="en-US" sz="2800" dirty="0"/>
              <a:t>The equilibrium expression for this reaction would be</a:t>
            </a:r>
            <a:endParaRPr lang="en-US" sz="2800" dirty="0"/>
          </a:p>
        </p:txBody>
      </p:sp>
      <p:sp>
        <p:nvSpPr>
          <p:cNvPr id="10244" name="Rectangle 6"/>
          <p:cNvSpPr>
            <a:spLocks noChangeArrowheads="1"/>
          </p:cNvSpPr>
          <p:nvPr/>
        </p:nvSpPr>
        <p:spPr bwMode="auto">
          <a:xfrm>
            <a:off x="2154238" y="3505200"/>
            <a:ext cx="7772400" cy="1219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pPr eaLnBrk="1" hangingPunct="1">
              <a:spcBef>
                <a:spcPct val="20000"/>
              </a:spcBef>
            </a:pPr>
            <a:endParaRPr lang="en-US" sz="3200"/>
          </a:p>
        </p:txBody>
      </p:sp>
      <p:grpSp>
        <p:nvGrpSpPr>
          <p:cNvPr id="10245" name="Group 21"/>
          <p:cNvGrpSpPr/>
          <p:nvPr/>
        </p:nvGrpSpPr>
        <p:grpSpPr bwMode="auto">
          <a:xfrm>
            <a:off x="4422775" y="4724400"/>
            <a:ext cx="1655763" cy="1011238"/>
            <a:chOff x="1872" y="3168"/>
            <a:chExt cx="1043" cy="637"/>
          </a:xfrm>
        </p:grpSpPr>
        <p:sp>
          <p:nvSpPr>
            <p:cNvPr id="10250" name="Rectangle 9"/>
            <p:cNvSpPr>
              <a:spLocks noChangeArrowheads="1"/>
            </p:cNvSpPr>
            <p:nvPr/>
          </p:nvSpPr>
          <p:spPr bwMode="auto">
            <a:xfrm>
              <a:off x="1872" y="3360"/>
              <a:ext cx="195" cy="445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>
              <a:spAutoFit/>
            </a:bodyPr>
            <a:lstStyle/>
            <a:p>
              <a:endParaRPr lang="en-US" sz="4000"/>
            </a:p>
          </p:txBody>
        </p:sp>
        <p:sp>
          <p:nvSpPr>
            <p:cNvPr id="10251" name="Rectangle 10"/>
            <p:cNvSpPr>
              <a:spLocks noChangeArrowheads="1"/>
            </p:cNvSpPr>
            <p:nvPr/>
          </p:nvSpPr>
          <p:spPr bwMode="auto">
            <a:xfrm>
              <a:off x="2720" y="3168"/>
              <a:ext cx="195" cy="445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>
              <a:spAutoFit/>
            </a:bodyPr>
            <a:lstStyle/>
            <a:p>
              <a:endParaRPr lang="en-US" sz="4000" i="1"/>
            </a:p>
          </p:txBody>
        </p:sp>
      </p:grpSp>
      <p:pic>
        <p:nvPicPr>
          <p:cNvPr id="2" name="Picture 1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0000" y="3419410"/>
            <a:ext cx="4702810" cy="1022350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r:id="rId2" p14:bwMode="auto">
            <p14:nvContentPartPr>
              <p14:cNvPr id="3" name="墨迹 2"/>
              <p14:cNvContentPartPr/>
              <p14:nvPr/>
            </p14:nvContentPartPr>
            <p14:xfrm>
              <a:off x="3689400" y="4197240"/>
              <a:ext cx="4845240" cy="1226160"/>
            </p14:xfrm>
          </p:contentPart>
        </mc:Choice>
        <mc:Fallback xmlns="">
          <p:pic>
            <p:nvPicPr>
              <p:cNvPr id="3" name="墨迹 2"/>
            </p:nvPicPr>
            <p:blipFill>
              <a:blip r:embed="rId3"/>
            </p:blipFill>
            <p:spPr>
              <a:xfrm>
                <a:off x="3689400" y="4197240"/>
                <a:ext cx="4845240" cy="1226160"/>
              </a:xfrm>
              <a:prstGeom prst="rect"/>
            </p:spPr>
          </p:pic>
        </mc:Fallback>
      </mc:AlternateContent>
    </p:spTree>
  </p:cSld>
  <p:clrMapOvr>
    <a:masterClrMapping/>
  </p:clrMapOvr>
  <p:transition spd="slow"/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>
          <a:xfrm>
            <a:off x="1524000" y="19050"/>
            <a:ext cx="9144000" cy="1143000"/>
          </a:xfrm>
        </p:spPr>
        <p:txBody>
          <a:bodyPr/>
          <a:lstStyle/>
          <a:p>
            <a:pPr eaLnBrk="1" hangingPunct="1"/>
            <a:r>
              <a:rPr lang="en-US" sz="3200" b="1" dirty="0"/>
              <a:t>The Equilibrium Constant</a:t>
            </a:r>
            <a:endParaRPr lang="en-US" sz="3200" b="1" dirty="0"/>
          </a:p>
        </p:txBody>
      </p:sp>
      <p:sp>
        <p:nvSpPr>
          <p:cNvPr id="13315" name="Rectangle 3"/>
          <p:cNvSpPr>
            <a:spLocks noGrp="1" noChangeArrowheads="1"/>
          </p:cNvSpPr>
          <p:nvPr>
            <p:ph idx="1"/>
          </p:nvPr>
        </p:nvSpPr>
        <p:spPr>
          <a:xfrm>
            <a:off x="2154238" y="1066800"/>
            <a:ext cx="7980362" cy="2057400"/>
          </a:xfrm>
        </p:spPr>
        <p:txBody>
          <a:bodyPr/>
          <a:lstStyle/>
          <a:p>
            <a:pPr eaLnBrk="1" hangingPunct="1"/>
            <a:r>
              <a:rPr lang="en-US" sz="2800" dirty="0"/>
              <a:t>Consider the generalized reaction</a:t>
            </a:r>
            <a:endParaRPr lang="en-US" sz="2800" dirty="0"/>
          </a:p>
          <a:p>
            <a:pPr eaLnBrk="1" hangingPunct="1">
              <a:buFontTx/>
              <a:buNone/>
            </a:pPr>
            <a:r>
              <a:rPr lang="en-US" sz="2800" dirty="0"/>
              <a:t>	</a:t>
            </a:r>
            <a:r>
              <a:rPr lang="en-US" sz="2800" i="1" dirty="0"/>
              <a:t>a</a:t>
            </a:r>
            <a:r>
              <a:rPr lang="en-US" sz="2800" dirty="0"/>
              <a:t> A  +  </a:t>
            </a:r>
            <a:r>
              <a:rPr lang="en-US" sz="2800" i="1" dirty="0"/>
              <a:t>b</a:t>
            </a:r>
            <a:r>
              <a:rPr lang="en-US" sz="2800" dirty="0"/>
              <a:t> B ⇌  </a:t>
            </a:r>
            <a:r>
              <a:rPr lang="en-US" sz="2800" i="1" dirty="0"/>
              <a:t>d</a:t>
            </a:r>
            <a:r>
              <a:rPr lang="en-US" sz="2800" dirty="0"/>
              <a:t> D  +  </a:t>
            </a:r>
            <a:r>
              <a:rPr lang="en-US" sz="2800" i="1" dirty="0"/>
              <a:t>e</a:t>
            </a:r>
            <a:r>
              <a:rPr lang="en-US" sz="2800" dirty="0"/>
              <a:t> E</a:t>
            </a:r>
            <a:endParaRPr lang="en-US" sz="2800" dirty="0"/>
          </a:p>
          <a:p>
            <a:pPr eaLnBrk="1" hangingPunct="1"/>
            <a:r>
              <a:rPr lang="en-US" sz="2800" dirty="0"/>
              <a:t>The equilibrium expression for this reaction would be</a:t>
            </a:r>
            <a:endParaRPr lang="en-US" sz="2800" dirty="0"/>
          </a:p>
        </p:txBody>
      </p:sp>
      <p:sp>
        <p:nvSpPr>
          <p:cNvPr id="10244" name="Rectangle 6"/>
          <p:cNvSpPr>
            <a:spLocks noChangeArrowheads="1"/>
          </p:cNvSpPr>
          <p:nvPr/>
        </p:nvSpPr>
        <p:spPr bwMode="auto">
          <a:xfrm>
            <a:off x="2154238" y="3505200"/>
            <a:ext cx="7772400" cy="1219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pPr eaLnBrk="1" hangingPunct="1">
              <a:spcBef>
                <a:spcPct val="20000"/>
              </a:spcBef>
            </a:pPr>
            <a:endParaRPr lang="en-US" sz="3200"/>
          </a:p>
        </p:txBody>
      </p:sp>
      <p:grpSp>
        <p:nvGrpSpPr>
          <p:cNvPr id="10245" name="Group 21"/>
          <p:cNvGrpSpPr/>
          <p:nvPr/>
        </p:nvGrpSpPr>
        <p:grpSpPr bwMode="auto">
          <a:xfrm>
            <a:off x="4422775" y="4724400"/>
            <a:ext cx="1655763" cy="1011238"/>
            <a:chOff x="1872" y="3168"/>
            <a:chExt cx="1043" cy="637"/>
          </a:xfrm>
        </p:grpSpPr>
        <p:sp>
          <p:nvSpPr>
            <p:cNvPr id="10250" name="Rectangle 9"/>
            <p:cNvSpPr>
              <a:spLocks noChangeArrowheads="1"/>
            </p:cNvSpPr>
            <p:nvPr/>
          </p:nvSpPr>
          <p:spPr bwMode="auto">
            <a:xfrm>
              <a:off x="1872" y="3360"/>
              <a:ext cx="195" cy="445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>
              <a:spAutoFit/>
            </a:bodyPr>
            <a:lstStyle/>
            <a:p>
              <a:endParaRPr lang="en-US" sz="4000"/>
            </a:p>
          </p:txBody>
        </p:sp>
        <p:sp>
          <p:nvSpPr>
            <p:cNvPr id="10251" name="Rectangle 10"/>
            <p:cNvSpPr>
              <a:spLocks noChangeArrowheads="1"/>
            </p:cNvSpPr>
            <p:nvPr/>
          </p:nvSpPr>
          <p:spPr bwMode="auto">
            <a:xfrm>
              <a:off x="2720" y="3168"/>
              <a:ext cx="195" cy="445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>
              <a:spAutoFit/>
            </a:bodyPr>
            <a:lstStyle/>
            <a:p>
              <a:endParaRPr lang="en-US" sz="4000" i="1"/>
            </a:p>
          </p:txBody>
        </p:sp>
      </p:grpSp>
      <p:sp>
        <p:nvSpPr>
          <p:cNvPr id="3" name="TextBox 2"/>
          <p:cNvSpPr txBox="1"/>
          <p:nvPr/>
        </p:nvSpPr>
        <p:spPr>
          <a:xfrm>
            <a:off x="2154238" y="3983038"/>
            <a:ext cx="8056562" cy="166052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dirty="0"/>
              <a:t>Also, since </a:t>
            </a:r>
            <a:r>
              <a:rPr lang="en-US" sz="2800" dirty="0">
                <a:solidFill>
                  <a:srgbClr val="0000C9"/>
                </a:solidFill>
              </a:rPr>
              <a:t>pressure</a:t>
            </a:r>
            <a:r>
              <a:rPr lang="en-US" sz="2800" dirty="0"/>
              <a:t> is proportional to </a:t>
            </a:r>
            <a:r>
              <a:rPr lang="en-US" sz="2800" dirty="0">
                <a:solidFill>
                  <a:srgbClr val="FF0000"/>
                </a:solidFill>
              </a:rPr>
              <a:t>concentration</a:t>
            </a:r>
            <a:r>
              <a:rPr lang="en-US" sz="2800" dirty="0"/>
              <a:t> for gases in a closed system, the equilibrium expression can also be written</a:t>
            </a:r>
            <a:endParaRPr lang="en-US" sz="2800" dirty="0"/>
          </a:p>
          <a:p>
            <a:pPr marL="342900" indent="-342900"/>
            <a:endParaRPr lang="en-US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0000" y="2940050"/>
            <a:ext cx="4702810" cy="102235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00600" y="5463540"/>
            <a:ext cx="2595880" cy="1013460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r:id="rId3" p14:bwMode="auto">
            <p14:nvContentPartPr>
              <p14:cNvPr id="4" name="墨迹 3"/>
              <p14:cNvContentPartPr/>
              <p14:nvPr/>
            </p14:nvContentPartPr>
            <p14:xfrm>
              <a:off x="2571600" y="3454560"/>
              <a:ext cx="7601400" cy="1505160"/>
            </p14:xfrm>
          </p:contentPart>
        </mc:Choice>
        <mc:Fallback xmlns="">
          <p:pic>
            <p:nvPicPr>
              <p:cNvPr id="4" name="墨迹 3"/>
            </p:nvPicPr>
            <p:blipFill>
              <a:blip r:embed="rId4"/>
            </p:blipFill>
            <p:spPr>
              <a:xfrm>
                <a:off x="2571600" y="3454560"/>
                <a:ext cx="7601400" cy="1505160"/>
              </a:xfrm>
              <a:prstGeom prst="rect"/>
            </p:spPr>
          </p:pic>
        </mc:Fallback>
      </mc:AlternateContent>
    </p:spTree>
  </p:cSld>
  <p:clrMapOvr>
    <a:masterClrMapping/>
  </p:clrMapOvr>
  <p:transition spd="slow"/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itle 1"/>
          <p:cNvSpPr>
            <a:spLocks noGrp="1"/>
          </p:cNvSpPr>
          <p:nvPr>
            <p:ph type="title"/>
          </p:nvPr>
        </p:nvSpPr>
        <p:spPr>
          <a:xfrm>
            <a:off x="1524000" y="228600"/>
            <a:ext cx="9144000" cy="1143000"/>
          </a:xfrm>
        </p:spPr>
        <p:txBody>
          <a:bodyPr/>
          <a:lstStyle/>
          <a:p>
            <a:r>
              <a:rPr lang="en-US" sz="3200" b="1" dirty="0"/>
              <a:t>Homogeneous vs. Heterogeneous</a:t>
            </a:r>
            <a:endParaRPr lang="en-US" sz="3200" b="1" dirty="0"/>
          </a:p>
        </p:txBody>
      </p:sp>
      <p:sp>
        <p:nvSpPr>
          <p:cNvPr id="17411" name="Content Placeholder 2"/>
          <p:cNvSpPr>
            <a:spLocks noGrp="1"/>
          </p:cNvSpPr>
          <p:nvPr>
            <p:ph idx="1"/>
          </p:nvPr>
        </p:nvSpPr>
        <p:spPr>
          <a:xfrm>
            <a:off x="2286000" y="1600200"/>
            <a:ext cx="7543800" cy="4495800"/>
          </a:xfrm>
        </p:spPr>
        <p:txBody>
          <a:bodyPr/>
          <a:lstStyle/>
          <a:p>
            <a:r>
              <a:rPr lang="en-US" b="1" dirty="0"/>
              <a:t>Homogeneous </a:t>
            </a:r>
            <a:r>
              <a:rPr lang="en-US" b="1" dirty="0" err="1"/>
              <a:t>equilibria</a:t>
            </a:r>
            <a:r>
              <a:rPr lang="en-US" dirty="0"/>
              <a:t> occur when all reactants and products are in the same phase.</a:t>
            </a:r>
            <a:endParaRPr lang="en-US" dirty="0"/>
          </a:p>
          <a:p>
            <a:r>
              <a:rPr lang="en-US" b="1" dirty="0"/>
              <a:t>Heterogeneous </a:t>
            </a:r>
            <a:r>
              <a:rPr lang="en-US" b="1" dirty="0" err="1"/>
              <a:t>equilibria</a:t>
            </a:r>
            <a:r>
              <a:rPr lang="en-US" dirty="0"/>
              <a:t> occur when something in the equilibrium is in a different phase.</a:t>
            </a:r>
            <a:endParaRPr lang="en-US" dirty="0"/>
          </a:p>
          <a:p>
            <a:r>
              <a:rPr lang="en-US" dirty="0"/>
              <a:t>The value used for the concentration of a </a:t>
            </a:r>
            <a:r>
              <a:rPr lang="en-US" u="sng" dirty="0">
                <a:solidFill>
                  <a:srgbClr val="FF0000"/>
                </a:solidFill>
              </a:rPr>
              <a:t>pure substance </a:t>
            </a:r>
            <a:r>
              <a:rPr lang="en-US" dirty="0"/>
              <a:t>is always 1.</a:t>
            </a:r>
            <a:endParaRPr lang="en-US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r:id="rId1" p14:bwMode="auto">
            <p14:nvContentPartPr>
              <p14:cNvPr id="2" name="墨迹 1"/>
              <p14:cNvContentPartPr/>
              <p14:nvPr/>
            </p14:nvContentPartPr>
            <p14:xfrm>
              <a:off x="2647920" y="5702400"/>
              <a:ext cx="5937480" cy="184320"/>
            </p14:xfrm>
          </p:contentPart>
        </mc:Choice>
        <mc:Fallback xmlns="">
          <p:pic>
            <p:nvPicPr>
              <p:cNvPr id="2" name="墨迹 1"/>
            </p:nvPicPr>
            <p:blipFill>
              <a:blip r:embed="rId2"/>
            </p:blipFill>
            <p:spPr>
              <a:xfrm>
                <a:off x="2647920" y="5702400"/>
                <a:ext cx="5937480" cy="184320"/>
              </a:xfrm>
              <a:prstGeom prst="rect"/>
            </p:spPr>
          </p:pic>
        </mc:Fallback>
      </mc:AlternateContent>
    </p:spTree>
  </p:cSld>
  <p:clrMapOvr>
    <a:masterClrMapping/>
  </p:clrMapOvr>
  <p:transition spd="slow"/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9" name="Content Placeholder 2"/>
          <p:cNvSpPr>
            <a:spLocks noGrp="1"/>
          </p:cNvSpPr>
          <p:nvPr>
            <p:ph idx="1"/>
          </p:nvPr>
        </p:nvSpPr>
        <p:spPr>
          <a:xfrm>
            <a:off x="1981200" y="304800"/>
            <a:ext cx="8382000" cy="3352800"/>
          </a:xfrm>
        </p:spPr>
        <p:txBody>
          <a:bodyPr/>
          <a:lstStyle/>
          <a:p>
            <a:pPr marL="0" indent="0">
              <a:buFontTx/>
              <a:buNone/>
            </a:pPr>
            <a:r>
              <a:rPr lang="en-US" sz="3000" dirty="0"/>
              <a:t>A 1.000 L flask is filled with 1.000 </a:t>
            </a:r>
            <a:r>
              <a:rPr lang="en-US" sz="3000" dirty="0" err="1"/>
              <a:t>mol</a:t>
            </a:r>
            <a:r>
              <a:rPr lang="en-US" sz="3000" dirty="0"/>
              <a:t> of H</a:t>
            </a:r>
            <a:r>
              <a:rPr lang="en-US" sz="3000" baseline="-25000" dirty="0"/>
              <a:t>2</a:t>
            </a:r>
            <a:r>
              <a:rPr lang="en-US" sz="3000" dirty="0"/>
              <a:t>(</a:t>
            </a:r>
            <a:r>
              <a:rPr lang="en-US" sz="3000" i="1" dirty="0"/>
              <a:t>g</a:t>
            </a:r>
            <a:r>
              <a:rPr lang="en-US" sz="3000" dirty="0"/>
              <a:t>) and 2.000 </a:t>
            </a:r>
            <a:r>
              <a:rPr lang="en-US" sz="3000" dirty="0" err="1"/>
              <a:t>mol</a:t>
            </a:r>
            <a:r>
              <a:rPr lang="en-US" sz="3000" dirty="0"/>
              <a:t> of I</a:t>
            </a:r>
            <a:r>
              <a:rPr lang="en-US" sz="3000" baseline="-25000" dirty="0"/>
              <a:t>2</a:t>
            </a:r>
            <a:r>
              <a:rPr lang="en-US" sz="3000" dirty="0"/>
              <a:t>(</a:t>
            </a:r>
            <a:r>
              <a:rPr lang="en-US" sz="3000" i="1" dirty="0"/>
              <a:t>g</a:t>
            </a:r>
            <a:r>
              <a:rPr lang="en-US" sz="3000" dirty="0"/>
              <a:t>) at 448 </a:t>
            </a:r>
            <a:r>
              <a:rPr lang="en-US" sz="3000" dirty="0">
                <a:latin typeface="Arial" panose="020B0604020202020204"/>
                <a:ea typeface="Arial" panose="020B0604020202020204" pitchFamily="34" charset="0"/>
                <a:cs typeface="Arial" panose="020B0604020202020204"/>
              </a:rPr>
              <a:t>°</a:t>
            </a:r>
            <a:r>
              <a:rPr lang="en-US" sz="3000" dirty="0">
                <a:ea typeface="Arial" panose="020B0604020202020204" pitchFamily="34" charset="0"/>
                <a:cs typeface="Arial" panose="020B0604020202020204" pitchFamily="34" charset="0"/>
              </a:rPr>
              <a:t>C. Given a </a:t>
            </a:r>
            <a:r>
              <a:rPr lang="en-US" sz="3000" i="1" dirty="0" err="1">
                <a:ea typeface="Arial" panose="020B0604020202020204" pitchFamily="34" charset="0"/>
                <a:cs typeface="Arial" panose="020B0604020202020204" pitchFamily="34" charset="0"/>
              </a:rPr>
              <a:t>K</a:t>
            </a:r>
            <a:r>
              <a:rPr lang="en-US" sz="3000" i="1" baseline="-25000" dirty="0" err="1">
                <a:ea typeface="Arial" panose="020B0604020202020204" pitchFamily="34" charset="0"/>
                <a:cs typeface="Arial" panose="020B0604020202020204" pitchFamily="34" charset="0"/>
              </a:rPr>
              <a:t>c</a:t>
            </a:r>
            <a:r>
              <a:rPr lang="en-US" sz="3000" dirty="0">
                <a:ea typeface="Arial" panose="020B0604020202020204" pitchFamily="34" charset="0"/>
                <a:cs typeface="Arial" panose="020B0604020202020204" pitchFamily="34" charset="0"/>
              </a:rPr>
              <a:t> of 50.5 at 448 °C, what are the equilibrium concentrations of H</a:t>
            </a:r>
            <a:r>
              <a:rPr lang="en-US" sz="3000" baseline="-25000" dirty="0">
                <a:ea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US" sz="3000" dirty="0">
                <a:ea typeface="Arial" panose="020B0604020202020204" pitchFamily="34" charset="0"/>
                <a:cs typeface="Arial" panose="020B0604020202020204" pitchFamily="34" charset="0"/>
              </a:rPr>
              <a:t>, I</a:t>
            </a:r>
            <a:r>
              <a:rPr lang="en-US" sz="3000" baseline="-25000" dirty="0">
                <a:ea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US" sz="3000" dirty="0">
                <a:ea typeface="Arial" panose="020B0604020202020204" pitchFamily="34" charset="0"/>
                <a:cs typeface="Arial" panose="020B0604020202020204" pitchFamily="34" charset="0"/>
              </a:rPr>
              <a:t>, and HI?</a:t>
            </a:r>
            <a:endParaRPr lang="en-US" sz="3000" dirty="0">
              <a:ea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ts val="2600"/>
              </a:lnSpc>
              <a:buFontTx/>
              <a:buNone/>
            </a:pPr>
            <a:endParaRPr lang="en-US" dirty="0">
              <a:ea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FontTx/>
              <a:buNone/>
            </a:pPr>
            <a:r>
              <a:rPr lang="en-US" dirty="0">
                <a:ea typeface="Arial" panose="020B0604020202020204" pitchFamily="34" charset="0"/>
                <a:cs typeface="Arial" panose="020B0604020202020204" pitchFamily="34" charset="0"/>
              </a:rPr>
              <a:t>		H</a:t>
            </a:r>
            <a:r>
              <a:rPr lang="en-US" baseline="-25000" dirty="0">
                <a:ea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US" dirty="0">
                <a:ea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US" i="1" dirty="0">
                <a:ea typeface="Arial" panose="020B0604020202020204" pitchFamily="34" charset="0"/>
                <a:cs typeface="Arial" panose="020B0604020202020204" pitchFamily="34" charset="0"/>
              </a:rPr>
              <a:t>g</a:t>
            </a:r>
            <a:r>
              <a:rPr lang="en-US" dirty="0">
                <a:ea typeface="Arial" panose="020B0604020202020204" pitchFamily="34" charset="0"/>
                <a:cs typeface="Arial" panose="020B0604020202020204" pitchFamily="34" charset="0"/>
              </a:rPr>
              <a:t>) + I</a:t>
            </a:r>
            <a:r>
              <a:rPr lang="en-US" baseline="-25000" dirty="0">
                <a:ea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US" dirty="0">
                <a:ea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US" i="1" dirty="0">
                <a:ea typeface="Arial" panose="020B0604020202020204" pitchFamily="34" charset="0"/>
                <a:cs typeface="Arial" panose="020B0604020202020204" pitchFamily="34" charset="0"/>
              </a:rPr>
              <a:t>g</a:t>
            </a:r>
            <a:r>
              <a:rPr lang="en-US" dirty="0">
                <a:ea typeface="Arial" panose="020B0604020202020204" pitchFamily="34" charset="0"/>
                <a:cs typeface="Arial" panose="020B0604020202020204" pitchFamily="34" charset="0"/>
              </a:rPr>
              <a:t>) </a:t>
            </a:r>
            <a:r>
              <a:rPr lang="en-US" dirty="0"/>
              <a:t>⇌ 2 HI(</a:t>
            </a:r>
            <a:r>
              <a:rPr lang="en-US" i="1" dirty="0"/>
              <a:t>g</a:t>
            </a:r>
            <a:r>
              <a:rPr lang="en-US" dirty="0"/>
              <a:t>)</a:t>
            </a:r>
            <a:endParaRPr lang="en-US" dirty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905000" y="3657600"/>
          <a:ext cx="8305800" cy="2667000"/>
        </p:xfrm>
        <a:graphic>
          <a:graphicData uri="http://schemas.openxmlformats.org/drawingml/2006/table">
            <a:tbl>
              <a:tblPr/>
              <a:tblGrid>
                <a:gridCol w="2719070"/>
                <a:gridCol w="1909445"/>
                <a:gridCol w="1909445"/>
                <a:gridCol w="1767840"/>
              </a:tblGrid>
              <a:tr h="889000"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pitchFamily="48" charset="-128"/>
                          <a:cs typeface="MS PGothic" panose="020B0600070205080204" pitchFamily="48" charset="-128"/>
                        </a:rPr>
                        <a:t>initial</a:t>
                      </a: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pitchFamily="48" charset="-128"/>
                          <a:cs typeface="MS PGothic" panose="020B0600070205080204" pitchFamily="48" charset="-128"/>
                        </a:rPr>
                        <a:t> concentration (</a:t>
                      </a:r>
                      <a:r>
                        <a:rPr kumimoji="0" lang="en-US" sz="18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pitchFamily="48" charset="-128"/>
                          <a:cs typeface="MS PGothic" panose="020B0600070205080204" pitchFamily="48" charset="-128"/>
                        </a:rPr>
                        <a:t>M</a:t>
                      </a: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pitchFamily="48" charset="-128"/>
                          <a:cs typeface="MS PGothic" panose="020B0600070205080204" pitchFamily="48" charset="-128"/>
                        </a:rPr>
                        <a:t>)</a:t>
                      </a:r>
                      <a:endParaRPr kumimoji="0" 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MS PGothic" panose="020B0600070205080204" pitchFamily="48" charset="-128"/>
                        <a:cs typeface="MS PGothic" panose="020B0600070205080204" pitchFamily="48" charset="-128"/>
                      </a:endParaRPr>
                    </a:p>
                  </a:txBody>
                  <a:tcPr marL="91432" marR="91432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pitchFamily="48" charset="-128"/>
                          <a:cs typeface="MS PGothic" panose="020B0600070205080204" pitchFamily="48" charset="-128"/>
                        </a:rPr>
                        <a:t>1.000</a:t>
                      </a:r>
                      <a:endParaRPr kumimoji="0" 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MS PGothic" panose="020B0600070205080204" pitchFamily="48" charset="-128"/>
                        <a:cs typeface="MS PGothic" panose="020B0600070205080204" pitchFamily="48" charset="-128"/>
                      </a:endParaRPr>
                    </a:p>
                  </a:txBody>
                  <a:tcPr marL="91432" marR="91432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pitchFamily="48" charset="-128"/>
                          <a:cs typeface="MS PGothic" panose="020B0600070205080204" pitchFamily="48" charset="-128"/>
                        </a:rPr>
                        <a:t>2.000</a:t>
                      </a:r>
                      <a:endParaRPr kumimoji="0" 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MS PGothic" panose="020B0600070205080204" pitchFamily="48" charset="-128"/>
                        <a:cs typeface="MS PGothic" panose="020B0600070205080204" pitchFamily="48" charset="-128"/>
                      </a:endParaRPr>
                    </a:p>
                  </a:txBody>
                  <a:tcPr marL="91432" marR="91432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pitchFamily="48" charset="-128"/>
                          <a:cs typeface="MS PGothic" panose="020B0600070205080204" pitchFamily="48" charset="-128"/>
                        </a:rPr>
                        <a:t>0</a:t>
                      </a:r>
                      <a:endParaRPr kumimoji="0" 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MS PGothic" panose="020B0600070205080204" pitchFamily="48" charset="-128"/>
                        <a:cs typeface="MS PGothic" panose="020B0600070205080204" pitchFamily="48" charset="-128"/>
                      </a:endParaRPr>
                    </a:p>
                  </a:txBody>
                  <a:tcPr marL="91432" marR="91432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</a:tr>
              <a:tr h="889000"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pitchFamily="48" charset="-128"/>
                          <a:cs typeface="MS PGothic" panose="020B0600070205080204" pitchFamily="48" charset="-128"/>
                        </a:rPr>
                        <a:t>change</a:t>
                      </a: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pitchFamily="48" charset="-128"/>
                          <a:cs typeface="MS PGothic" panose="020B0600070205080204" pitchFamily="48" charset="-128"/>
                        </a:rPr>
                        <a:t> in concentration (</a:t>
                      </a:r>
                      <a:r>
                        <a:rPr kumimoji="0" lang="en-US" sz="18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pitchFamily="48" charset="-128"/>
                          <a:cs typeface="MS PGothic" panose="020B0600070205080204" pitchFamily="48" charset="-128"/>
                        </a:rPr>
                        <a:t>M</a:t>
                      </a: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pitchFamily="48" charset="-128"/>
                          <a:cs typeface="MS PGothic" panose="020B0600070205080204" pitchFamily="48" charset="-128"/>
                        </a:rPr>
                        <a:t>)</a:t>
                      </a:r>
                      <a:endParaRPr kumimoji="0" 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MS PGothic" panose="020B0600070205080204" pitchFamily="48" charset="-128"/>
                        <a:cs typeface="MS PGothic" panose="020B0600070205080204" pitchFamily="48" charset="-128"/>
                      </a:endParaRPr>
                    </a:p>
                  </a:txBody>
                  <a:tcPr marL="91432" marR="91432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pitchFamily="48" charset="-128"/>
                          <a:cs typeface="MS PGothic" panose="020B0600070205080204" pitchFamily="48" charset="-128"/>
                        </a:rPr>
                        <a:t>–</a:t>
                      </a:r>
                      <a:r>
                        <a:rPr kumimoji="0" lang="en-US" sz="1800" b="1" i="1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pitchFamily="48" charset="-128"/>
                          <a:cs typeface="MS PGothic" panose="020B0600070205080204" pitchFamily="48" charset="-128"/>
                        </a:rPr>
                        <a:t>x</a:t>
                      </a:r>
                      <a:endParaRPr kumimoji="0" lang="en-US" sz="1800" b="1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MS PGothic" panose="020B0600070205080204" pitchFamily="48" charset="-128"/>
                        <a:cs typeface="MS PGothic" panose="020B0600070205080204" pitchFamily="48" charset="-128"/>
                      </a:endParaRPr>
                    </a:p>
                  </a:txBody>
                  <a:tcPr marL="91432" marR="91432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pitchFamily="48" charset="-128"/>
                          <a:cs typeface="MS PGothic" panose="020B0600070205080204" pitchFamily="48" charset="-128"/>
                        </a:rPr>
                        <a:t>–</a:t>
                      </a:r>
                      <a:r>
                        <a:rPr kumimoji="0" lang="en-US" sz="18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pitchFamily="48" charset="-128"/>
                          <a:cs typeface="MS PGothic" panose="020B0600070205080204" pitchFamily="48" charset="-128"/>
                        </a:rPr>
                        <a:t>x</a:t>
                      </a:r>
                      <a:endParaRPr kumimoji="0" lang="en-US" sz="1800" b="1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MS PGothic" panose="020B0600070205080204" pitchFamily="48" charset="-128"/>
                        <a:cs typeface="MS PGothic" panose="020B0600070205080204" pitchFamily="48" charset="-128"/>
                      </a:endParaRPr>
                    </a:p>
                  </a:txBody>
                  <a:tcPr marL="91432" marR="91432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pitchFamily="48" charset="-128"/>
                          <a:cs typeface="MS PGothic" panose="020B0600070205080204" pitchFamily="48" charset="-128"/>
                        </a:rPr>
                        <a:t>+2</a:t>
                      </a:r>
                      <a:r>
                        <a:rPr kumimoji="0" lang="en-US" sz="18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pitchFamily="48" charset="-128"/>
                          <a:cs typeface="MS PGothic" panose="020B0600070205080204" pitchFamily="48" charset="-128"/>
                        </a:rPr>
                        <a:t>x</a:t>
                      </a:r>
                      <a:endParaRPr kumimoji="0" lang="en-US" sz="18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MS PGothic" panose="020B0600070205080204" pitchFamily="48" charset="-128"/>
                        <a:cs typeface="MS PGothic" panose="020B0600070205080204" pitchFamily="48" charset="-128"/>
                      </a:endParaRPr>
                    </a:p>
                  </a:txBody>
                  <a:tcPr marL="91432" marR="91432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</a:tr>
              <a:tr h="889000"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pitchFamily="48" charset="-128"/>
                          <a:cs typeface="MS PGothic" panose="020B0600070205080204" pitchFamily="48" charset="-128"/>
                        </a:rPr>
                        <a:t>equilibrium </a:t>
                      </a: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pitchFamily="48" charset="-128"/>
                          <a:cs typeface="MS PGothic" panose="020B0600070205080204" pitchFamily="48" charset="-128"/>
                        </a:rPr>
                        <a:t>concentration (</a:t>
                      </a:r>
                      <a:r>
                        <a:rPr kumimoji="0" lang="en-US" sz="18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pitchFamily="48" charset="-128"/>
                          <a:cs typeface="MS PGothic" panose="020B0600070205080204" pitchFamily="48" charset="-128"/>
                        </a:rPr>
                        <a:t>M</a:t>
                      </a: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pitchFamily="48" charset="-128"/>
                          <a:cs typeface="MS PGothic" panose="020B0600070205080204" pitchFamily="48" charset="-128"/>
                        </a:rPr>
                        <a:t>)</a:t>
                      </a:r>
                      <a:endParaRPr kumimoji="0" 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MS PGothic" panose="020B0600070205080204" pitchFamily="48" charset="-128"/>
                        <a:cs typeface="MS PGothic" panose="020B0600070205080204" pitchFamily="48" charset="-128"/>
                      </a:endParaRPr>
                    </a:p>
                  </a:txBody>
                  <a:tcPr marL="91432" marR="91432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9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pitchFamily="48" charset="-128"/>
                          <a:cs typeface="MS PGothic" panose="020B0600070205080204" pitchFamily="48" charset="-128"/>
                        </a:rPr>
                        <a:t>1.000 – </a:t>
                      </a:r>
                      <a:r>
                        <a:rPr kumimoji="0" lang="en-US" sz="18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pitchFamily="48" charset="-128"/>
                          <a:cs typeface="MS PGothic" panose="020B0600070205080204" pitchFamily="48" charset="-128"/>
                        </a:rPr>
                        <a:t>x</a:t>
                      </a:r>
                      <a:endParaRPr kumimoji="0" lang="en-US" sz="18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MS PGothic" panose="020B0600070205080204" pitchFamily="48" charset="-128"/>
                        <a:cs typeface="MS PGothic" panose="020B0600070205080204" pitchFamily="48" charset="-128"/>
                      </a:endParaRPr>
                    </a:p>
                  </a:txBody>
                  <a:tcPr marL="91432" marR="91432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9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pitchFamily="48" charset="-128"/>
                          <a:cs typeface="MS PGothic" panose="020B0600070205080204" pitchFamily="48" charset="-128"/>
                        </a:rPr>
                        <a:t>2.000 – </a:t>
                      </a:r>
                      <a:r>
                        <a:rPr kumimoji="0" lang="en-US" sz="18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pitchFamily="48" charset="-128"/>
                          <a:cs typeface="MS PGothic" panose="020B0600070205080204" pitchFamily="48" charset="-128"/>
                        </a:rPr>
                        <a:t>x</a:t>
                      </a:r>
                      <a:endParaRPr kumimoji="0" lang="en-US" sz="18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MS PGothic" panose="020B0600070205080204" pitchFamily="48" charset="-128"/>
                        <a:cs typeface="MS PGothic" panose="020B0600070205080204" pitchFamily="48" charset="-128"/>
                      </a:endParaRPr>
                    </a:p>
                  </a:txBody>
                  <a:tcPr marL="91432" marR="91432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9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pitchFamily="48" charset="-128"/>
                          <a:cs typeface="MS PGothic" panose="020B0600070205080204" pitchFamily="48" charset="-128"/>
                        </a:rPr>
                        <a:t>2</a:t>
                      </a:r>
                      <a:r>
                        <a:rPr kumimoji="0" lang="en-US" sz="18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pitchFamily="48" charset="-128"/>
                          <a:cs typeface="MS PGothic" panose="020B0600070205080204" pitchFamily="48" charset="-128"/>
                        </a:rPr>
                        <a:t>x</a:t>
                      </a:r>
                      <a:endParaRPr kumimoji="0" lang="en-US" sz="1800" b="1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MS PGothic" panose="020B0600070205080204" pitchFamily="48" charset="-128"/>
                        <a:cs typeface="MS PGothic" panose="020B0600070205080204" pitchFamily="48" charset="-128"/>
                      </a:endParaRPr>
                    </a:p>
                  </a:txBody>
                  <a:tcPr marL="91432" marR="91432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9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slow"/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dirty="0"/>
              <a:t>Comparing </a:t>
            </a:r>
            <a:r>
              <a:rPr lang="en-US" sz="3200" b="1" i="1" dirty="0"/>
              <a:t>Q</a:t>
            </a:r>
            <a:r>
              <a:rPr lang="en-US" sz="3200" b="1" dirty="0"/>
              <a:t> and </a:t>
            </a:r>
            <a:r>
              <a:rPr lang="en-US" sz="3200" b="1" i="1" dirty="0"/>
              <a:t>K</a:t>
            </a:r>
            <a:endParaRPr lang="en-US" sz="3200" b="1" i="1" dirty="0"/>
          </a:p>
        </p:txBody>
      </p:sp>
      <p:sp>
        <p:nvSpPr>
          <p:cNvPr id="27651" name="Content Placeholder 2"/>
          <p:cNvSpPr>
            <a:spLocks noGrp="1"/>
          </p:cNvSpPr>
          <p:nvPr>
            <p:ph idx="1"/>
          </p:nvPr>
        </p:nvSpPr>
        <p:spPr>
          <a:xfrm>
            <a:off x="1905000" y="1524000"/>
            <a:ext cx="4419600" cy="4724400"/>
          </a:xfrm>
        </p:spPr>
        <p:txBody>
          <a:bodyPr/>
          <a:lstStyle/>
          <a:p>
            <a:r>
              <a:rPr lang="en-US" sz="2800" dirty="0"/>
              <a:t>Nature wants </a:t>
            </a:r>
            <a:r>
              <a:rPr lang="en-US" sz="2800" i="1" dirty="0"/>
              <a:t>Q</a:t>
            </a:r>
            <a:r>
              <a:rPr lang="en-US" sz="2800" dirty="0"/>
              <a:t> = </a:t>
            </a:r>
            <a:r>
              <a:rPr lang="en-US" sz="2800" i="1" dirty="0"/>
              <a:t>K.</a:t>
            </a:r>
            <a:endParaRPr lang="en-US" sz="2800" i="1" dirty="0"/>
          </a:p>
          <a:p>
            <a:r>
              <a:rPr lang="en-US" sz="2800" dirty="0"/>
              <a:t>If </a:t>
            </a:r>
            <a:r>
              <a:rPr lang="en-US" sz="2800" i="1" dirty="0"/>
              <a:t>Q</a:t>
            </a:r>
            <a:r>
              <a:rPr lang="en-US" sz="2800" dirty="0"/>
              <a:t> &lt; </a:t>
            </a:r>
            <a:r>
              <a:rPr lang="en-US" sz="2800" i="1" dirty="0"/>
              <a:t>K</a:t>
            </a:r>
            <a:r>
              <a:rPr lang="en-US" sz="2800" dirty="0"/>
              <a:t>, nature will make the reaction proceed to products.</a:t>
            </a:r>
            <a:endParaRPr lang="en-US" sz="2800" dirty="0"/>
          </a:p>
          <a:p>
            <a:r>
              <a:rPr lang="en-US" sz="2800" dirty="0"/>
              <a:t>If </a:t>
            </a:r>
            <a:r>
              <a:rPr lang="en-US" sz="2800" i="1" dirty="0"/>
              <a:t>Q</a:t>
            </a:r>
            <a:r>
              <a:rPr lang="en-US" sz="2800" dirty="0"/>
              <a:t> = </a:t>
            </a:r>
            <a:r>
              <a:rPr lang="en-US" sz="2800" i="1" dirty="0"/>
              <a:t>K</a:t>
            </a:r>
            <a:r>
              <a:rPr lang="en-US" sz="2800" dirty="0"/>
              <a:t>, the reaction is in equilibrium.</a:t>
            </a:r>
            <a:endParaRPr lang="en-US" sz="2800" dirty="0"/>
          </a:p>
          <a:p>
            <a:r>
              <a:rPr lang="en-US" sz="2800" dirty="0"/>
              <a:t>If </a:t>
            </a:r>
            <a:r>
              <a:rPr lang="en-US" sz="2800" i="1" dirty="0"/>
              <a:t>Q</a:t>
            </a:r>
            <a:r>
              <a:rPr lang="en-US" sz="2800" dirty="0"/>
              <a:t> &gt; </a:t>
            </a:r>
            <a:r>
              <a:rPr lang="en-US" sz="2800" i="1" dirty="0"/>
              <a:t>K</a:t>
            </a:r>
            <a:r>
              <a:rPr lang="en-US" sz="2800" dirty="0"/>
              <a:t>, nature will make the reaction proceed to reactants.</a:t>
            </a:r>
            <a:endParaRPr lang="en-US" sz="2800" dirty="0"/>
          </a:p>
        </p:txBody>
      </p:sp>
      <p:pic>
        <p:nvPicPr>
          <p:cNvPr id="5" name="Picture 4" descr="15_08_Figure.jpg"/>
          <p:cNvPicPr>
            <a:picLocks noChangeAspect="1"/>
          </p:cNvPicPr>
          <p:nvPr/>
        </p:nvPicPr>
        <p:blipFill>
          <a:blip r:embed="rId1"/>
          <a:srcRect b="2546"/>
          <a:stretch>
            <a:fillRect/>
          </a:stretch>
        </p:blipFill>
        <p:spPr>
          <a:xfrm>
            <a:off x="6553198" y="1219200"/>
            <a:ext cx="3380717" cy="4663440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r:id="rId2" p14:bwMode="auto">
            <p14:nvContentPartPr>
              <p14:cNvPr id="2" name="墨迹 1"/>
              <p14:cNvContentPartPr/>
              <p14:nvPr/>
            </p14:nvContentPartPr>
            <p14:xfrm>
              <a:off x="2114400" y="1365120"/>
              <a:ext cx="3759840" cy="730800"/>
            </p14:xfrm>
          </p:contentPart>
        </mc:Choice>
        <mc:Fallback xmlns="">
          <p:pic>
            <p:nvPicPr>
              <p:cNvPr id="2" name="墨迹 1"/>
            </p:nvPicPr>
            <p:blipFill>
              <a:blip r:embed="rId3"/>
            </p:blipFill>
            <p:spPr>
              <a:xfrm>
                <a:off x="2114400" y="1365120"/>
                <a:ext cx="3759840" cy="730800"/>
              </a:xfrm>
              <a:prstGeom prst="rect"/>
            </p:spPr>
          </p:pic>
        </mc:Fallback>
      </mc:AlternateContent>
    </p:spTree>
  </p:cSld>
  <p:clrMapOvr>
    <a:masterClrMapping/>
  </p:clrMapOvr>
  <p:transition spd="slow"/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/>
          <p:cNvSpPr>
            <a:spLocks noGrp="1" noChangeArrowheads="1"/>
          </p:cNvSpPr>
          <p:nvPr>
            <p:ph type="title"/>
          </p:nvPr>
        </p:nvSpPr>
        <p:spPr>
          <a:xfrm>
            <a:off x="1524000" y="533400"/>
            <a:ext cx="9144000" cy="1143000"/>
          </a:xfrm>
        </p:spPr>
        <p:txBody>
          <a:bodyPr/>
          <a:lstStyle/>
          <a:p>
            <a:pPr eaLnBrk="1" hangingPunct="1"/>
            <a:r>
              <a:rPr lang="en-US" sz="3600" b="1" dirty="0" err="1"/>
              <a:t>LeChâtelier’s</a:t>
            </a:r>
            <a:r>
              <a:rPr lang="en-US" sz="3600" b="1" dirty="0"/>
              <a:t> Principle</a:t>
            </a:r>
            <a:endParaRPr lang="en-US" sz="3600" b="1" dirty="0"/>
          </a:p>
        </p:txBody>
      </p:sp>
      <p:sp>
        <p:nvSpPr>
          <p:cNvPr id="327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828800" y="2057400"/>
            <a:ext cx="8382000" cy="2286000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en-US" dirty="0"/>
              <a:t>	“If a system at equilibrium is </a:t>
            </a:r>
            <a:r>
              <a:rPr lang="en-US" dirty="0">
                <a:solidFill>
                  <a:srgbClr val="FF0000"/>
                </a:solidFill>
              </a:rPr>
              <a:t>disturbed</a:t>
            </a:r>
            <a:r>
              <a:rPr lang="en-US" dirty="0"/>
              <a:t> </a:t>
            </a:r>
            <a:r>
              <a:rPr lang="en-US" dirty="0">
                <a:solidFill>
                  <a:srgbClr val="FF0000"/>
                </a:solidFill>
              </a:rPr>
              <a:t>by a change </a:t>
            </a:r>
            <a:r>
              <a:rPr lang="en-US" dirty="0"/>
              <a:t>in </a:t>
            </a:r>
            <a:r>
              <a:rPr lang="en-US" u="sng" dirty="0"/>
              <a:t>temperature</a:t>
            </a:r>
            <a:r>
              <a:rPr lang="en-US" dirty="0"/>
              <a:t>, </a:t>
            </a:r>
            <a:r>
              <a:rPr lang="en-US" u="sng" dirty="0"/>
              <a:t>pressure </a:t>
            </a:r>
            <a:r>
              <a:rPr lang="zh-CN" altLang="en-US" u="sng" dirty="0"/>
              <a:t>（</a:t>
            </a:r>
            <a:r>
              <a:rPr lang="en-US" altLang="zh-CN" u="sng" dirty="0"/>
              <a:t>volume</a:t>
            </a:r>
            <a:r>
              <a:rPr lang="zh-CN" altLang="en-US" u="sng" dirty="0"/>
              <a:t>）</a:t>
            </a:r>
            <a:r>
              <a:rPr lang="en-US" dirty="0"/>
              <a:t>, or the </a:t>
            </a:r>
            <a:r>
              <a:rPr lang="en-US" u="sng" dirty="0"/>
              <a:t>concentration</a:t>
            </a:r>
            <a:r>
              <a:rPr lang="en-US" dirty="0"/>
              <a:t> of one of the components, the system will shift its equilibrium position so as to </a:t>
            </a:r>
            <a:r>
              <a:rPr lang="en-US" dirty="0">
                <a:solidFill>
                  <a:srgbClr val="FF0000"/>
                </a:solidFill>
              </a:rPr>
              <a:t>counteract </a:t>
            </a:r>
            <a:r>
              <a:rPr lang="zh-CN" altLang="en-US" dirty="0">
                <a:solidFill>
                  <a:srgbClr val="FF0000"/>
                </a:solidFill>
              </a:rPr>
              <a:t>（</a:t>
            </a:r>
            <a:r>
              <a:rPr lang="en-US" altLang="zh-CN" dirty="0">
                <a:solidFill>
                  <a:srgbClr val="FF0000"/>
                </a:solidFill>
              </a:rPr>
              <a:t>offset</a:t>
            </a:r>
            <a:r>
              <a:rPr lang="zh-CN" altLang="en-US" dirty="0">
                <a:solidFill>
                  <a:srgbClr val="FF0000"/>
                </a:solidFill>
              </a:rPr>
              <a:t>）</a:t>
            </a:r>
            <a:r>
              <a:rPr lang="en-US" dirty="0"/>
              <a:t> </a:t>
            </a:r>
            <a:r>
              <a:rPr lang="en-US" dirty="0">
                <a:solidFill>
                  <a:srgbClr val="FF0000"/>
                </a:solidFill>
              </a:rPr>
              <a:t>the effect </a:t>
            </a:r>
            <a:r>
              <a:rPr lang="en-US" dirty="0"/>
              <a:t>of the disturbance.”</a:t>
            </a:r>
            <a:endParaRPr lang="en-US" baseline="30000" dirty="0"/>
          </a:p>
        </p:txBody>
      </p:sp>
    </p:spTree>
  </p:cSld>
  <p:clrMapOvr>
    <a:masterClrMapping/>
  </p:clrMapOvr>
  <p:transition spd="slow"/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dirty="0"/>
              <a:t>An Exothermic Equilibrium</a:t>
            </a:r>
            <a:endParaRPr lang="en-US" sz="3200" b="1" dirty="0"/>
          </a:p>
        </p:txBody>
      </p:sp>
      <p:sp>
        <p:nvSpPr>
          <p:cNvPr id="38915" name="Content Placeholder 2"/>
          <p:cNvSpPr>
            <a:spLocks noGrp="1"/>
          </p:cNvSpPr>
          <p:nvPr>
            <p:ph idx="1"/>
          </p:nvPr>
        </p:nvSpPr>
        <p:spPr>
          <a:xfrm>
            <a:off x="2362200" y="1600200"/>
            <a:ext cx="7696200" cy="4876800"/>
          </a:xfrm>
        </p:spPr>
        <p:txBody>
          <a:bodyPr/>
          <a:lstStyle/>
          <a:p>
            <a:r>
              <a:rPr lang="en-US" sz="2800" dirty="0"/>
              <a:t>The Haber Process for producing ammonia from the elements is </a:t>
            </a:r>
            <a:r>
              <a:rPr lang="en-US" sz="2800" dirty="0">
                <a:solidFill>
                  <a:srgbClr val="FF0000"/>
                </a:solidFill>
              </a:rPr>
              <a:t>exothermic</a:t>
            </a:r>
            <a:r>
              <a:rPr lang="en-US" sz="2800" dirty="0"/>
              <a:t>.</a:t>
            </a:r>
            <a:endParaRPr lang="en-US" sz="2800" dirty="0"/>
          </a:p>
          <a:p>
            <a:r>
              <a:rPr lang="en-US" sz="2800" dirty="0"/>
              <a:t>One would think that cooling down the reactants would result in more product (larger </a:t>
            </a:r>
            <a:r>
              <a:rPr lang="en-US" sz="2800" i="1" dirty="0" err="1"/>
              <a:t>K</a:t>
            </a:r>
            <a:r>
              <a:rPr lang="en-US" sz="2800" baseline="-25000" dirty="0" err="1"/>
              <a:t>eq</a:t>
            </a:r>
            <a:r>
              <a:rPr lang="en-US" sz="2800" dirty="0"/>
              <a:t>) </a:t>
            </a:r>
            <a:r>
              <a:rPr lang="en-US" altLang="zh-CN" sz="2800" dirty="0"/>
              <a:t>but slower reaction</a:t>
            </a:r>
            <a:r>
              <a:rPr lang="zh-CN" altLang="en-US" sz="2800" dirty="0"/>
              <a:t> </a:t>
            </a:r>
            <a:r>
              <a:rPr lang="en-US" altLang="zh-CN" sz="2800" dirty="0"/>
              <a:t>(smaller </a:t>
            </a:r>
            <a:r>
              <a:rPr lang="en-US" altLang="zh-CN" sz="2800" i="1" dirty="0"/>
              <a:t>k</a:t>
            </a:r>
            <a:r>
              <a:rPr lang="en-US" altLang="zh-CN" sz="2800" dirty="0"/>
              <a:t>)</a:t>
            </a:r>
            <a:r>
              <a:rPr lang="en-US" sz="2800" dirty="0"/>
              <a:t>.</a:t>
            </a:r>
            <a:endParaRPr lang="en-US" sz="2800" dirty="0"/>
          </a:p>
          <a:p>
            <a:r>
              <a:rPr lang="en-US" sz="2800" dirty="0"/>
              <a:t>The activation energy for this reaction is high!</a:t>
            </a:r>
            <a:endParaRPr lang="en-US" sz="2800" dirty="0"/>
          </a:p>
          <a:p>
            <a:r>
              <a:rPr lang="en-US" sz="2800" dirty="0"/>
              <a:t>This is the </a:t>
            </a:r>
            <a:r>
              <a:rPr lang="en-US" sz="2800" i="1" dirty="0"/>
              <a:t>one </a:t>
            </a:r>
            <a:r>
              <a:rPr lang="en-US" sz="2800" dirty="0"/>
              <a:t>instance where a system in equilibrium can be affected by a </a:t>
            </a:r>
            <a:r>
              <a:rPr lang="en-US" sz="2800" dirty="0">
                <a:solidFill>
                  <a:srgbClr val="FF0000"/>
                </a:solidFill>
              </a:rPr>
              <a:t>catalyst</a:t>
            </a:r>
            <a:r>
              <a:rPr lang="en-US" sz="2800" dirty="0"/>
              <a:t>!</a:t>
            </a:r>
            <a:endParaRPr lang="en-US" sz="2800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r:id="rId1" p14:bwMode="auto">
            <p14:nvContentPartPr>
              <p14:cNvPr id="2" name="墨迹 1"/>
              <p14:cNvContentPartPr/>
              <p14:nvPr/>
            </p14:nvContentPartPr>
            <p14:xfrm>
              <a:off x="3924120" y="3060720"/>
              <a:ext cx="5868000" cy="1105200"/>
            </p14:xfrm>
          </p:contentPart>
        </mc:Choice>
        <mc:Fallback xmlns="">
          <p:pic>
            <p:nvPicPr>
              <p:cNvPr id="2" name="墨迹 1"/>
            </p:nvPicPr>
            <p:blipFill>
              <a:blip r:embed="rId2"/>
            </p:blipFill>
            <p:spPr>
              <a:xfrm>
                <a:off x="3924120" y="3060720"/>
                <a:ext cx="5868000" cy="1105200"/>
              </a:xfrm>
              <a:prstGeom prst="rect"/>
            </p:spPr>
          </p:pic>
        </mc:Fallback>
      </mc:AlternateContent>
    </p:spTree>
  </p:cSld>
  <p:clrMapOvr>
    <a:masterClrMapping/>
  </p:clrMapOvr>
  <p:transition spd="slow"/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Title 1"/>
          <p:cNvSpPr>
            <a:spLocks noGrp="1"/>
          </p:cNvSpPr>
          <p:nvPr>
            <p:ph type="ctrTitle"/>
          </p:nvPr>
        </p:nvSpPr>
        <p:spPr>
          <a:xfrm>
            <a:off x="2209800" y="609600"/>
            <a:ext cx="7772400" cy="1470025"/>
          </a:xfrm>
        </p:spPr>
        <p:txBody>
          <a:bodyPr/>
          <a:lstStyle/>
          <a:p>
            <a:pPr algn="l"/>
            <a:r>
              <a:rPr lang="en-US" altLang="zh-CN">
                <a:latin typeface="Arial" panose="020B0604020202020204" pitchFamily="34" charset="0"/>
                <a:cs typeface="Arial" panose="020B0604020202020204" pitchFamily="34" charset="0"/>
              </a:rPr>
              <a:t>Equilibrium constants typically have units of</a:t>
            </a:r>
            <a:endParaRPr lang="en-US" altLang="zh-CN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8067" name="Subtitle 2"/>
          <p:cNvSpPr>
            <a:spLocks noGrp="1"/>
          </p:cNvSpPr>
          <p:nvPr>
            <p:ph type="subTitle" idx="1"/>
          </p:nvPr>
        </p:nvSpPr>
        <p:spPr>
          <a:xfrm>
            <a:off x="2895600" y="2819400"/>
            <a:ext cx="6400800" cy="2819400"/>
          </a:xfrm>
        </p:spPr>
        <p:txBody>
          <a:bodyPr/>
          <a:lstStyle/>
          <a:p>
            <a:pPr marL="514350" indent="-514350" algn="l">
              <a:buFont typeface="Arial" panose="020B0604020202020204" pitchFamily="34" charset="0"/>
              <a:buAutoNum type="alphaLcPeriod"/>
            </a:pPr>
            <a:r>
              <a:rPr lang="en-US" altLang="zh-CN">
                <a:solidFill>
                  <a:srgbClr val="0D0D0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M.</a:t>
            </a:r>
            <a:endParaRPr lang="en-US" altLang="zh-CN">
              <a:solidFill>
                <a:srgbClr val="0D0D0D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indent="-514350" algn="l">
              <a:buFont typeface="Arial" panose="020B0604020202020204" pitchFamily="34" charset="0"/>
              <a:buAutoNum type="alphaLcPeriod" startAt="2"/>
            </a:pPr>
            <a:r>
              <a:rPr lang="en-US" altLang="zh-CN">
                <a:solidFill>
                  <a:srgbClr val="0D0D0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</a:t>
            </a:r>
            <a:r>
              <a:rPr lang="en-US" altLang="zh-CN" baseline="30000">
                <a:solidFill>
                  <a:srgbClr val="0D0D0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US" altLang="zh-CN">
                <a:solidFill>
                  <a:srgbClr val="0D0D0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n-US" altLang="zh-CN">
              <a:solidFill>
                <a:srgbClr val="0D0D0D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indent="-514350" algn="l">
              <a:buFont typeface="Arial" panose="020B0604020202020204" pitchFamily="34" charset="0"/>
              <a:buAutoNum type="alphaLcPeriod" startAt="3"/>
            </a:pPr>
            <a:r>
              <a:rPr lang="en-US" altLang="zh-CN">
                <a:solidFill>
                  <a:srgbClr val="0D0D0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</a:t>
            </a:r>
            <a:r>
              <a:rPr lang="en-US" altLang="zh-CN" baseline="30000">
                <a:solidFill>
                  <a:srgbClr val="0D0D0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1–</a:t>
            </a:r>
            <a:r>
              <a:rPr lang="en-US" altLang="zh-CN">
                <a:solidFill>
                  <a:srgbClr val="0D0D0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n-US" altLang="zh-CN">
              <a:solidFill>
                <a:srgbClr val="0D0D0D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indent="-514350" algn="l"/>
            <a:r>
              <a:rPr lang="en-US" altLang="zh-CN">
                <a:solidFill>
                  <a:srgbClr val="0D0D0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d.	None of the above</a:t>
            </a:r>
            <a:endParaRPr lang="en-US" altLang="zh-CN">
              <a:solidFill>
                <a:srgbClr val="0D0D0D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88068" name="PRS Question Icon" descr="PRS Question Icon"/>
          <p:cNvPicPr>
            <a:picLocks noChangeAspect="1" noChangeArrowheads="1"/>
          </p:cNvPicPr>
          <p:nvPr>
            <p:custDataLst>
              <p:tags r:id="rId1"/>
            </p:custData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87500" y="6223000"/>
            <a:ext cx="406400" cy="406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extBox 4"/>
          <p:cNvSpPr txBox="1">
            <a:spLocks noChangeArrowheads="1"/>
          </p:cNvSpPr>
          <p:nvPr/>
        </p:nvSpPr>
        <p:spPr bwMode="auto">
          <a:xfrm>
            <a:off x="2927350" y="4657725"/>
            <a:ext cx="431800" cy="368300"/>
          </a:xfrm>
          <a:prstGeom prst="rect">
            <a:avLst/>
          </a:prstGeom>
          <a:noFill/>
          <a:ln w="38100">
            <a:solidFill>
              <a:srgbClr val="FF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zh-CN" altLang="zh-CN">
              <a:latin typeface="Calibri" panose="020F0502020204030204" charset="0"/>
              <a:ea typeface="MS PGothic" panose="020B0600070205080204" pitchFamily="48" charset="-128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ldLvl="0" animBg="1"/>
    </p:bldLst>
  </p:timing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ChangeArrowheads="1"/>
          </p:cNvSpPr>
          <p:nvPr/>
        </p:nvSpPr>
        <p:spPr bwMode="auto">
          <a:xfrm>
            <a:off x="5943600" y="2514600"/>
            <a:ext cx="4724400" cy="18288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anchor="ctr"/>
          <a:lstStyle/>
          <a:p>
            <a:pPr algn="ctr" eaLnBrk="1" hangingPunct="1"/>
            <a:r>
              <a:rPr lang="en-US" sz="3400" b="1"/>
              <a:t>Chapter 16</a:t>
            </a:r>
            <a:br>
              <a:rPr lang="en-US" sz="3400" b="1"/>
            </a:br>
            <a:br>
              <a:rPr lang="en-US" sz="3400" b="1"/>
            </a:br>
            <a:r>
              <a:rPr lang="en-US" sz="3400" b="1"/>
              <a:t>Acid–Base </a:t>
            </a:r>
            <a:br>
              <a:rPr lang="en-US" sz="3400" b="1"/>
            </a:br>
            <a:r>
              <a:rPr lang="en-US" sz="3400" b="1"/>
              <a:t>Equilibria</a:t>
            </a:r>
            <a:endParaRPr lang="en-US" sz="3400" b="1"/>
          </a:p>
        </p:txBody>
      </p:sp>
      <p:sp>
        <p:nvSpPr>
          <p:cNvPr id="3075" name="Rectangle 10"/>
          <p:cNvSpPr>
            <a:spLocks noChangeArrowheads="1"/>
          </p:cNvSpPr>
          <p:nvPr/>
        </p:nvSpPr>
        <p:spPr bwMode="auto">
          <a:xfrm>
            <a:off x="6019800" y="700088"/>
            <a:ext cx="4648200" cy="52197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algn="ctr" eaLnBrk="1" hangingPunct="1"/>
            <a:r>
              <a:rPr lang="en-US" sz="2800">
                <a:solidFill>
                  <a:srgbClr val="000000"/>
                </a:solidFill>
                <a:ea typeface="Arial" panose="020B0604020202020204" pitchFamily="34" charset="0"/>
                <a:cs typeface="Arial" panose="020B0604020202020204" pitchFamily="34" charset="0"/>
              </a:rPr>
              <a:t>Lecture Presentation</a:t>
            </a:r>
            <a:endParaRPr lang="en-US" sz="2800">
              <a:solidFill>
                <a:srgbClr val="000000"/>
              </a:solidFill>
              <a:ea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076" name="Subtitle 2"/>
          <p:cNvSpPr/>
          <p:nvPr/>
        </p:nvSpPr>
        <p:spPr bwMode="auto">
          <a:xfrm>
            <a:off x="6019800" y="5791200"/>
            <a:ext cx="4572000" cy="9906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pPr algn="ctr" eaLnBrk="1" hangingPunct="1"/>
            <a:r>
              <a:rPr lang="en-US" sz="1800">
                <a:solidFill>
                  <a:srgbClr val="0D0D0D"/>
                </a:solidFill>
              </a:rPr>
              <a:t>James F. Kirby</a:t>
            </a:r>
            <a:endParaRPr lang="en-US" sz="1800">
              <a:solidFill>
                <a:srgbClr val="0D0D0D"/>
              </a:solidFill>
            </a:endParaRPr>
          </a:p>
          <a:p>
            <a:pPr algn="ctr" eaLnBrk="1" hangingPunct="1"/>
            <a:r>
              <a:rPr lang="en-US" sz="1800">
                <a:solidFill>
                  <a:srgbClr val="0D0D0D"/>
                </a:solidFill>
              </a:rPr>
              <a:t>Quinnipiac University</a:t>
            </a:r>
            <a:endParaRPr lang="en-US" sz="1800">
              <a:solidFill>
                <a:srgbClr val="0D0D0D"/>
              </a:solidFill>
            </a:endParaRPr>
          </a:p>
          <a:p>
            <a:pPr algn="ctr" eaLnBrk="1" hangingPunct="1"/>
            <a:r>
              <a:rPr lang="en-US" sz="1800">
                <a:solidFill>
                  <a:srgbClr val="0D0D0D"/>
                </a:solidFill>
              </a:rPr>
              <a:t>Hamden, CT</a:t>
            </a:r>
            <a:endParaRPr lang="en-US" sz="1800">
              <a:solidFill>
                <a:srgbClr val="0D0D0D"/>
              </a:solidFill>
            </a:endParaRPr>
          </a:p>
        </p:txBody>
      </p:sp>
      <p:sp>
        <p:nvSpPr>
          <p:cNvPr id="3077" name="Text Box 12"/>
          <p:cNvSpPr txBox="1">
            <a:spLocks noChangeArrowheads="1"/>
          </p:cNvSpPr>
          <p:nvPr/>
        </p:nvSpPr>
        <p:spPr bwMode="auto">
          <a:xfrm>
            <a:off x="1889125" y="6580188"/>
            <a:ext cx="8229600" cy="24511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eaLnBrk="1" hangingPunct="1"/>
            <a:r>
              <a:rPr lang="en-US" sz="1000">
                <a:solidFill>
                  <a:srgbClr val="73738C"/>
                </a:solidFill>
              </a:rPr>
              <a:t>© 20</a:t>
            </a:r>
            <a:r>
              <a:rPr lang="en-US" altLang="zh-TW" sz="1000">
                <a:solidFill>
                  <a:srgbClr val="73738C"/>
                </a:solidFill>
                <a:ea typeface="PMingLiU" pitchFamily="18" charset="-120"/>
                <a:cs typeface="PMingLiU" pitchFamily="18" charset="-120"/>
              </a:rPr>
              <a:t>15</a:t>
            </a:r>
            <a:r>
              <a:rPr lang="en-US" sz="1000">
                <a:solidFill>
                  <a:srgbClr val="73738C"/>
                </a:solidFill>
              </a:rPr>
              <a:t> Pearson Education, Inc.</a:t>
            </a:r>
            <a:endParaRPr lang="en-US" b="1">
              <a:solidFill>
                <a:srgbClr val="73738C"/>
              </a:solidFill>
            </a:endParaRPr>
          </a:p>
        </p:txBody>
      </p:sp>
      <p:pic>
        <p:nvPicPr>
          <p:cNvPr id="7" name="Picture 1" descr="BROW0417_13_ecat.jpg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 bwMode="auto">
          <a:xfrm>
            <a:off x="1752600" y="736303"/>
            <a:ext cx="4227513" cy="5309193"/>
          </a:xfrm>
          <a:prstGeom prst="rect">
            <a:avLst/>
          </a:prstGeom>
          <a:noFill/>
          <a:ln w="3175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200" b="1" dirty="0" smtClean="0"/>
              <a:t>Comparison of Three Acid/Base Definitions</a:t>
            </a:r>
            <a:endParaRPr lang="zh-CN" altLang="en-US" sz="3200" b="1" dirty="0"/>
          </a:p>
        </p:txBody>
      </p:sp>
      <p:sp>
        <p:nvSpPr>
          <p:cNvPr id="5" name="矩形 4"/>
          <p:cNvSpPr/>
          <p:nvPr/>
        </p:nvSpPr>
        <p:spPr>
          <a:xfrm>
            <a:off x="1981200" y="2209800"/>
            <a:ext cx="8458200" cy="23380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b="1" u="sng" dirty="0" smtClean="0"/>
              <a:t>Definition </a:t>
            </a:r>
            <a:r>
              <a:rPr lang="en-US" altLang="zh-CN" b="1" u="sng" dirty="0"/>
              <a:t>              </a:t>
            </a:r>
            <a:r>
              <a:rPr lang="en-US" altLang="zh-CN" b="1" u="sng" dirty="0" smtClean="0"/>
              <a:t>Acid </a:t>
            </a:r>
            <a:r>
              <a:rPr lang="en-US" altLang="zh-CN" b="1" u="sng" dirty="0"/>
              <a:t>                </a:t>
            </a:r>
            <a:r>
              <a:rPr lang="en-US" altLang="zh-CN" b="1" u="sng" dirty="0" smtClean="0"/>
              <a:t>   Base</a:t>
            </a:r>
            <a:endParaRPr lang="en-US" altLang="zh-CN" b="1" u="sng" dirty="0" smtClean="0"/>
          </a:p>
          <a:p>
            <a:br>
              <a:rPr lang="en-US" altLang="zh-CN" dirty="0"/>
            </a:br>
            <a:r>
              <a:rPr lang="en-US" altLang="zh-CN" sz="2200" dirty="0">
                <a:hlinkClick r:id="rId1" tooltip="Difference Between Bronsted Lowry and Arrhenius"/>
              </a:rPr>
              <a:t>Arrhenius </a:t>
            </a:r>
            <a:r>
              <a:rPr lang="en-US" altLang="zh-CN" sz="2200" dirty="0"/>
              <a:t>         </a:t>
            </a:r>
            <a:r>
              <a:rPr lang="en-US" altLang="zh-CN" sz="2200" dirty="0" smtClean="0"/>
              <a:t>H</a:t>
            </a:r>
            <a:r>
              <a:rPr lang="en-US" altLang="zh-CN" sz="2200" baseline="30000" dirty="0" smtClean="0"/>
              <a:t>+</a:t>
            </a:r>
            <a:r>
              <a:rPr lang="en-US" altLang="zh-CN" sz="2200" dirty="0" smtClean="0"/>
              <a:t> </a:t>
            </a:r>
            <a:r>
              <a:rPr lang="en-US" altLang="zh-CN" sz="2200" dirty="0" smtClean="0"/>
              <a:t>producer </a:t>
            </a:r>
            <a:r>
              <a:rPr lang="en-US" altLang="zh-CN" sz="2200" dirty="0" smtClean="0">
                <a:solidFill>
                  <a:srgbClr val="FF0000"/>
                </a:solidFill>
              </a:rPr>
              <a:t>in water </a:t>
            </a:r>
            <a:r>
              <a:rPr lang="en-US" altLang="zh-CN" sz="2200" dirty="0"/>
              <a:t>   </a:t>
            </a:r>
            <a:r>
              <a:rPr lang="en-US" altLang="zh-CN" sz="2200" dirty="0" smtClean="0"/>
              <a:t>OH</a:t>
            </a:r>
            <a:r>
              <a:rPr lang="en-US" altLang="zh-CN" sz="2200" baseline="30000" dirty="0"/>
              <a:t>–</a:t>
            </a:r>
            <a:r>
              <a:rPr lang="en-US" altLang="zh-CN" sz="2200" dirty="0"/>
              <a:t> </a:t>
            </a:r>
            <a:r>
              <a:rPr lang="en-US" altLang="zh-CN" sz="2200" dirty="0" smtClean="0"/>
              <a:t>producer </a:t>
            </a:r>
            <a:r>
              <a:rPr lang="en-US" altLang="zh-CN" sz="2200" dirty="0" smtClean="0">
                <a:solidFill>
                  <a:srgbClr val="FF0000"/>
                </a:solidFill>
              </a:rPr>
              <a:t>in water</a:t>
            </a:r>
            <a:endParaRPr lang="en-US" altLang="zh-CN" sz="2200" dirty="0" smtClean="0">
              <a:solidFill>
                <a:srgbClr val="FF0000"/>
              </a:solidFill>
            </a:endParaRPr>
          </a:p>
          <a:p>
            <a:br>
              <a:rPr lang="en-US" altLang="zh-CN" sz="2200" dirty="0"/>
            </a:br>
            <a:r>
              <a:rPr lang="en-US" altLang="zh-CN" sz="2200" dirty="0" err="1">
                <a:hlinkClick r:id="rId1" tooltip="Difference Between Bronsted Lowry and Arrhenius"/>
              </a:rPr>
              <a:t>Bronsted</a:t>
            </a:r>
            <a:r>
              <a:rPr lang="en-US" altLang="zh-CN" sz="2200" dirty="0">
                <a:hlinkClick r:id="rId1" tooltip="Difference Between Bronsted Lowry and Arrhenius"/>
              </a:rPr>
              <a:t>-Lowry  </a:t>
            </a:r>
            <a:r>
              <a:rPr lang="en-US" altLang="zh-CN" sz="2200" dirty="0"/>
              <a:t>    </a:t>
            </a:r>
            <a:r>
              <a:rPr lang="en-US" altLang="zh-CN" sz="2200" dirty="0" smtClean="0"/>
              <a:t>H</a:t>
            </a:r>
            <a:r>
              <a:rPr lang="en-US" altLang="zh-CN" sz="2200" baseline="30000" dirty="0"/>
              <a:t>+</a:t>
            </a:r>
            <a:r>
              <a:rPr lang="en-US" altLang="zh-CN" sz="2200" dirty="0"/>
              <a:t> donor           </a:t>
            </a:r>
            <a:r>
              <a:rPr lang="en-US" altLang="zh-CN" sz="2200" dirty="0" smtClean="0"/>
              <a:t>    </a:t>
            </a:r>
            <a:r>
              <a:rPr lang="en-US" altLang="zh-CN" sz="2200" dirty="0" smtClean="0"/>
              <a:t>   H</a:t>
            </a:r>
            <a:r>
              <a:rPr lang="en-US" altLang="zh-CN" sz="2200" baseline="30000" dirty="0"/>
              <a:t>+</a:t>
            </a:r>
            <a:r>
              <a:rPr lang="en-US" altLang="zh-CN" sz="2200" dirty="0"/>
              <a:t> accepter</a:t>
            </a:r>
            <a:br>
              <a:rPr lang="en-US" altLang="zh-CN" sz="2200" dirty="0"/>
            </a:br>
            <a:endParaRPr lang="en-US" altLang="zh-CN" sz="2200" dirty="0" smtClean="0"/>
          </a:p>
          <a:p>
            <a:r>
              <a:rPr lang="en-US" altLang="zh-CN" sz="2200" dirty="0" smtClean="0">
                <a:hlinkClick r:id="rId2" tooltip="Difference Between Bronsted and Lewis"/>
              </a:rPr>
              <a:t>Lewis</a:t>
            </a:r>
            <a:r>
              <a:rPr lang="en-US" altLang="zh-CN" sz="2200" dirty="0" smtClean="0"/>
              <a:t> </a:t>
            </a:r>
            <a:r>
              <a:rPr lang="en-US" altLang="zh-CN" sz="2200" dirty="0"/>
              <a:t>                 </a:t>
            </a:r>
            <a:r>
              <a:rPr lang="en-US" altLang="zh-CN" sz="2200" dirty="0" smtClean="0"/>
              <a:t>e</a:t>
            </a:r>
            <a:r>
              <a:rPr lang="en-US" altLang="zh-CN" sz="2200" baseline="30000" dirty="0" smtClean="0"/>
              <a:t>-</a:t>
            </a:r>
            <a:r>
              <a:rPr lang="en-US" altLang="zh-CN" sz="2200" dirty="0" smtClean="0"/>
              <a:t> </a:t>
            </a:r>
            <a:r>
              <a:rPr lang="en-US" altLang="zh-CN" sz="2200" dirty="0"/>
              <a:t>pair acceptor    </a:t>
            </a:r>
            <a:r>
              <a:rPr lang="en-US" altLang="zh-CN" sz="2200" dirty="0" smtClean="0"/>
              <a:t> </a:t>
            </a:r>
            <a:r>
              <a:rPr lang="en-US" altLang="zh-CN" sz="2200" dirty="0" smtClean="0"/>
              <a:t>      e</a:t>
            </a:r>
            <a:r>
              <a:rPr lang="en-US" altLang="zh-CN" sz="2200" baseline="30000" dirty="0" smtClean="0"/>
              <a:t>-</a:t>
            </a:r>
            <a:r>
              <a:rPr lang="en-US" altLang="zh-CN" sz="2200" dirty="0" smtClean="0"/>
              <a:t> </a:t>
            </a:r>
            <a:r>
              <a:rPr lang="en-US" altLang="zh-CN" sz="2200" dirty="0"/>
              <a:t>pair </a:t>
            </a:r>
            <a:r>
              <a:rPr lang="en-US" altLang="zh-CN" sz="2200" dirty="0" smtClean="0"/>
              <a:t>donor</a:t>
            </a:r>
            <a:endParaRPr lang="zh-CN" altLang="en-US" sz="2200" dirty="0"/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>
          <a:xfrm>
            <a:off x="1524000" y="76200"/>
            <a:ext cx="9144000" cy="1143000"/>
          </a:xfrm>
        </p:spPr>
        <p:txBody>
          <a:bodyPr/>
          <a:lstStyle/>
          <a:p>
            <a:pPr eaLnBrk="1" hangingPunct="1"/>
            <a:r>
              <a:rPr lang="en-US" dirty="0"/>
              <a:t>What Is Different about Water?</a:t>
            </a:r>
            <a:endParaRPr lang="en-US" dirty="0"/>
          </a:p>
        </p:txBody>
      </p:sp>
      <p:sp>
        <p:nvSpPr>
          <p:cNvPr id="6147" name="Rectangle 4"/>
          <p:cNvSpPr>
            <a:spLocks noGrp="1" noChangeArrowheads="1"/>
          </p:cNvSpPr>
          <p:nvPr>
            <p:ph type="body" sz="half" idx="1"/>
          </p:nvPr>
        </p:nvSpPr>
        <p:spPr>
          <a:xfrm>
            <a:off x="2052164" y="1066800"/>
            <a:ext cx="7772400" cy="2971800"/>
          </a:xfrm>
        </p:spPr>
        <p:txBody>
          <a:bodyPr/>
          <a:lstStyle/>
          <a:p>
            <a:pPr eaLnBrk="1" hangingPunct="1"/>
            <a:r>
              <a:rPr lang="en-US" sz="2800" dirty="0"/>
              <a:t>Water can act as a </a:t>
            </a:r>
            <a:r>
              <a:rPr lang="en-US" sz="2800" dirty="0" err="1"/>
              <a:t>Brønsted</a:t>
            </a:r>
            <a:r>
              <a:rPr lang="en-US" sz="2800" dirty="0"/>
              <a:t>–Lowry base and </a:t>
            </a:r>
            <a:r>
              <a:rPr lang="en-US" sz="2800" dirty="0">
                <a:solidFill>
                  <a:srgbClr val="00B050"/>
                </a:solidFill>
              </a:rPr>
              <a:t>accept a proton (H</a:t>
            </a:r>
            <a:r>
              <a:rPr lang="en-US" sz="2800" baseline="30000" dirty="0">
                <a:solidFill>
                  <a:srgbClr val="00B050"/>
                </a:solidFill>
              </a:rPr>
              <a:t>+</a:t>
            </a:r>
            <a:r>
              <a:rPr lang="en-US" sz="2800" dirty="0">
                <a:solidFill>
                  <a:srgbClr val="00B050"/>
                </a:solidFill>
              </a:rPr>
              <a:t>) </a:t>
            </a:r>
            <a:r>
              <a:rPr lang="en-US" sz="2800" dirty="0"/>
              <a:t>from an acid, as on the previous slide.</a:t>
            </a:r>
            <a:endParaRPr lang="en-US" sz="2800" dirty="0"/>
          </a:p>
          <a:p>
            <a:pPr eaLnBrk="1" hangingPunct="1"/>
            <a:r>
              <a:rPr lang="en-US" sz="2800" dirty="0"/>
              <a:t>It can also </a:t>
            </a:r>
            <a:r>
              <a:rPr lang="en-US" sz="2800" dirty="0">
                <a:solidFill>
                  <a:srgbClr val="FF0000"/>
                </a:solidFill>
              </a:rPr>
              <a:t>donate a proton </a:t>
            </a:r>
            <a:r>
              <a:rPr lang="en-US" sz="2800" dirty="0"/>
              <a:t>and act as an acid, as is seen below.</a:t>
            </a:r>
            <a:endParaRPr lang="en-US" sz="2800" dirty="0"/>
          </a:p>
          <a:p>
            <a:pPr eaLnBrk="1" hangingPunct="1"/>
            <a:r>
              <a:rPr lang="en-US" sz="2800" dirty="0"/>
              <a:t>This makes water </a:t>
            </a:r>
            <a:r>
              <a:rPr lang="en-US" sz="2800" b="1" u="sng" dirty="0" err="1"/>
              <a:t>amphi</a:t>
            </a:r>
            <a:r>
              <a:rPr lang="en-US" sz="2800" b="1" dirty="0" err="1">
                <a:solidFill>
                  <a:srgbClr val="FF0000"/>
                </a:solidFill>
              </a:rPr>
              <a:t>protic</a:t>
            </a:r>
            <a:r>
              <a:rPr lang="en-US" sz="2800" dirty="0"/>
              <a:t>.</a:t>
            </a:r>
            <a:endParaRPr lang="en-US" sz="2800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43200" y="4114800"/>
            <a:ext cx="6690360" cy="6553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261283" y="5105400"/>
            <a:ext cx="5199380" cy="92202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altLang="zh-CN" b="1" dirty="0" smtClean="0"/>
              <a:t>amphoteric</a:t>
            </a:r>
            <a:r>
              <a:rPr lang="en-US" altLang="zh-CN" dirty="0" smtClean="0"/>
              <a:t> </a:t>
            </a:r>
            <a:r>
              <a:rPr lang="en-US" altLang="zh-CN" dirty="0"/>
              <a:t>– behaving as an acid and as a </a:t>
            </a:r>
            <a:r>
              <a:rPr lang="en-US" altLang="zh-CN" dirty="0" smtClean="0"/>
              <a:t>base</a:t>
            </a:r>
            <a:endParaRPr lang="en-US" altLang="zh-CN" dirty="0"/>
          </a:p>
          <a:p>
            <a:pPr algn="ctr"/>
            <a:endParaRPr lang="en-US" altLang="zh-CN" dirty="0" smtClean="0"/>
          </a:p>
          <a:p>
            <a:pPr algn="ctr"/>
            <a:r>
              <a:rPr lang="en-US" altLang="zh-CN" dirty="0" smtClean="0"/>
              <a:t>Al</a:t>
            </a:r>
            <a:r>
              <a:rPr lang="en-US" altLang="zh-CN" baseline="-25000" dirty="0" smtClean="0"/>
              <a:t>2</a:t>
            </a:r>
            <a:r>
              <a:rPr lang="en-US" altLang="zh-CN" dirty="0" smtClean="0"/>
              <a:t>O</a:t>
            </a:r>
            <a:r>
              <a:rPr lang="en-US" altLang="zh-CN" baseline="-25000" dirty="0" smtClean="0"/>
              <a:t>3 </a:t>
            </a:r>
            <a:r>
              <a:rPr lang="en-US" altLang="zh-CN" dirty="0" smtClean="0"/>
              <a:t>can react with an acid and a base.</a:t>
            </a:r>
            <a:endParaRPr lang="zh-CN" altLang="en-US" dirty="0"/>
          </a:p>
        </p:txBody>
      </p:sp>
      <p:sp>
        <p:nvSpPr>
          <p:cNvPr id="4" name="矩形 3"/>
          <p:cNvSpPr/>
          <p:nvPr/>
        </p:nvSpPr>
        <p:spPr bwMode="auto">
          <a:xfrm>
            <a:off x="10439400" y="5410200"/>
            <a:ext cx="914400" cy="9144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MS PGothic" panose="020B0600070205080204" pitchFamily="48" charset="-128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Autoionization of Water</a:t>
            </a:r>
            <a:endParaRPr lang="en-US"/>
          </a:p>
        </p:txBody>
      </p:sp>
      <p:sp>
        <p:nvSpPr>
          <p:cNvPr id="10243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2209800" y="1447800"/>
            <a:ext cx="7772400" cy="1981200"/>
          </a:xfrm>
        </p:spPr>
        <p:txBody>
          <a:bodyPr/>
          <a:lstStyle/>
          <a:p>
            <a:pPr eaLnBrk="1" hangingPunct="1"/>
            <a:r>
              <a:rPr lang="en-US" sz="2800" dirty="0"/>
              <a:t>Water is </a:t>
            </a:r>
            <a:r>
              <a:rPr lang="en-US" sz="2800" b="1" u="sng" dirty="0"/>
              <a:t>amphoteric</a:t>
            </a:r>
            <a:r>
              <a:rPr lang="en-US" sz="2800" dirty="0"/>
              <a:t>.</a:t>
            </a:r>
            <a:endParaRPr lang="en-US" sz="2800" dirty="0"/>
          </a:p>
          <a:p>
            <a:pPr eaLnBrk="1" hangingPunct="1"/>
            <a:r>
              <a:rPr lang="en-US" sz="2800" dirty="0"/>
              <a:t>In pure water, a few molecules act as bases and a few act as acids.</a:t>
            </a:r>
            <a:endParaRPr lang="en-US" sz="2800" dirty="0"/>
          </a:p>
          <a:p>
            <a:pPr eaLnBrk="1" hangingPunct="1"/>
            <a:r>
              <a:rPr lang="en-US" sz="2800" dirty="0"/>
              <a:t>This is referred to as </a:t>
            </a:r>
            <a:r>
              <a:rPr lang="en-US" sz="2800" b="1" dirty="0" err="1"/>
              <a:t>autoionization</a:t>
            </a:r>
            <a:r>
              <a:rPr lang="en-US" sz="2800" dirty="0"/>
              <a:t>.</a:t>
            </a:r>
            <a:endParaRPr lang="en-US" sz="2800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57918" y="3581400"/>
            <a:ext cx="5476164" cy="2743200"/>
          </a:xfrm>
          <a:prstGeom prst="rect">
            <a:avLst/>
          </a:prstGeom>
        </p:spPr>
      </p:pic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>
          <a:xfrm>
            <a:off x="1524000" y="0"/>
            <a:ext cx="9144000" cy="1143000"/>
          </a:xfrm>
        </p:spPr>
        <p:txBody>
          <a:bodyPr/>
          <a:lstStyle/>
          <a:p>
            <a:pPr eaLnBrk="1" hangingPunct="1"/>
            <a:r>
              <a:rPr lang="en-US" sz="3200" b="1" dirty="0"/>
              <a:t>Calculating </a:t>
            </a:r>
            <a:r>
              <a:rPr lang="en-US" sz="3200" b="1" i="1" dirty="0" err="1"/>
              <a:t>K</a:t>
            </a:r>
            <a:r>
              <a:rPr lang="en-US" sz="3200" b="1" i="1" baseline="-25000" dirty="0" err="1"/>
              <a:t>a</a:t>
            </a:r>
            <a:r>
              <a:rPr lang="en-US" sz="3200" b="1" dirty="0"/>
              <a:t> from the pH</a:t>
            </a:r>
            <a:endParaRPr lang="en-US" sz="3200" b="1" dirty="0"/>
          </a:p>
        </p:txBody>
      </p:sp>
      <p:sp>
        <p:nvSpPr>
          <p:cNvPr id="215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09800" y="1030288"/>
            <a:ext cx="7772400" cy="2085975"/>
          </a:xfrm>
        </p:spPr>
        <p:txBody>
          <a:bodyPr/>
          <a:lstStyle/>
          <a:p>
            <a:pPr eaLnBrk="1" hangingPunct="1"/>
            <a:r>
              <a:rPr lang="en-US" sz="2600" dirty="0"/>
              <a:t>The pH of a 0.10 </a:t>
            </a:r>
            <a:r>
              <a:rPr lang="en-US" sz="2600" i="1" dirty="0"/>
              <a:t>M</a:t>
            </a:r>
            <a:r>
              <a:rPr lang="en-US" sz="2600" dirty="0"/>
              <a:t> solution of formic acid, HCOOH, at 25 </a:t>
            </a:r>
            <a:r>
              <a:rPr lang="en-US" sz="2600" dirty="0">
                <a:sym typeface="Symbol" panose="05050102010706020507" charset="2"/>
              </a:rPr>
              <a:t>C is 2.38. Calculate </a:t>
            </a:r>
            <a:r>
              <a:rPr lang="en-US" sz="2600" i="1" dirty="0" err="1">
                <a:sym typeface="Symbol" panose="05050102010706020507" charset="2"/>
              </a:rPr>
              <a:t>K</a:t>
            </a:r>
            <a:r>
              <a:rPr lang="en-US" sz="2600" i="1" baseline="-25000" dirty="0" err="1">
                <a:sym typeface="Symbol" panose="05050102010706020507" charset="2"/>
              </a:rPr>
              <a:t>a</a:t>
            </a:r>
            <a:r>
              <a:rPr lang="en-US" sz="2600" dirty="0">
                <a:sym typeface="Symbol" panose="05050102010706020507" charset="2"/>
              </a:rPr>
              <a:t> for formic acid at this temperature.</a:t>
            </a:r>
            <a:endParaRPr lang="en-US" sz="2600" dirty="0">
              <a:sym typeface="Symbol" panose="05050102010706020507" charset="2"/>
            </a:endParaRPr>
          </a:p>
          <a:p>
            <a:pPr eaLnBrk="1" hangingPunct="1">
              <a:buFont typeface="Wingdings" panose="05000000000000000000" pitchFamily="2" charset="2"/>
              <a:buChar char="Ø"/>
            </a:pPr>
            <a:r>
              <a:rPr lang="en-US" sz="2600" dirty="0"/>
              <a:t>We know that</a:t>
            </a:r>
            <a:endParaRPr lang="en-US" sz="2600" dirty="0"/>
          </a:p>
          <a:p>
            <a:pPr algn="ctr" eaLnBrk="1" hangingPunct="1">
              <a:buFontTx/>
              <a:buNone/>
            </a:pPr>
            <a:endParaRPr lang="en-US" sz="2600" dirty="0"/>
          </a:p>
        </p:txBody>
      </p:sp>
      <p:grpSp>
        <p:nvGrpSpPr>
          <p:cNvPr id="21508" name="Group 13"/>
          <p:cNvGrpSpPr/>
          <p:nvPr/>
        </p:nvGrpSpPr>
        <p:grpSpPr bwMode="auto">
          <a:xfrm>
            <a:off x="5181600" y="2514600"/>
            <a:ext cx="3452805" cy="952500"/>
            <a:chOff x="1872" y="2832"/>
            <a:chExt cx="2174" cy="600"/>
          </a:xfrm>
        </p:grpSpPr>
        <p:sp>
          <p:nvSpPr>
            <p:cNvPr id="21511" name="Rectangle 6"/>
            <p:cNvSpPr>
              <a:spLocks noChangeArrowheads="1"/>
            </p:cNvSpPr>
            <p:nvPr/>
          </p:nvSpPr>
          <p:spPr bwMode="auto">
            <a:xfrm>
              <a:off x="2427" y="2832"/>
              <a:ext cx="1619" cy="60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sz="2800" dirty="0"/>
                <a:t>[H</a:t>
              </a:r>
              <a:r>
                <a:rPr lang="en-US" sz="2800" baseline="-25000" dirty="0"/>
                <a:t>3</a:t>
              </a:r>
              <a:r>
                <a:rPr lang="en-US" sz="2800" dirty="0"/>
                <a:t>O</a:t>
              </a:r>
              <a:r>
                <a:rPr lang="en-US" sz="2800" baseline="30000" dirty="0"/>
                <a:t>+</a:t>
              </a:r>
              <a:r>
                <a:rPr lang="en-US" sz="2800" dirty="0"/>
                <a:t>][HCOO</a:t>
              </a:r>
              <a:r>
                <a:rPr lang="en-US" sz="2800" baseline="40000" dirty="0"/>
                <a:t>–</a:t>
              </a:r>
              <a:r>
                <a:rPr lang="en-US" sz="2800" dirty="0"/>
                <a:t>]</a:t>
              </a:r>
              <a:endParaRPr lang="en-US" sz="2800" dirty="0"/>
            </a:p>
            <a:p>
              <a:pPr algn="ctr"/>
              <a:r>
                <a:rPr lang="en-US" sz="2800" dirty="0"/>
                <a:t>[HCOOH]</a:t>
              </a:r>
              <a:endParaRPr lang="en-US" sz="2800" dirty="0"/>
            </a:p>
          </p:txBody>
        </p:sp>
        <p:sp>
          <p:nvSpPr>
            <p:cNvPr id="21512" name="Line 7"/>
            <p:cNvSpPr>
              <a:spLocks noChangeShapeType="1"/>
            </p:cNvSpPr>
            <p:nvPr/>
          </p:nvSpPr>
          <p:spPr bwMode="auto">
            <a:xfrm>
              <a:off x="2434" y="3151"/>
              <a:ext cx="160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1513" name="Rectangle 8"/>
            <p:cNvSpPr>
              <a:spLocks noChangeArrowheads="1"/>
            </p:cNvSpPr>
            <p:nvPr/>
          </p:nvSpPr>
          <p:spPr bwMode="auto">
            <a:xfrm>
              <a:off x="1872" y="2967"/>
              <a:ext cx="539" cy="329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>
              <a:spAutoFit/>
            </a:bodyPr>
            <a:lstStyle/>
            <a:p>
              <a:r>
                <a:rPr lang="en-US" sz="2800" i="1"/>
                <a:t>K</a:t>
              </a:r>
              <a:r>
                <a:rPr lang="en-US" sz="2800" i="1" baseline="-25000"/>
                <a:t>a</a:t>
              </a:r>
              <a:r>
                <a:rPr lang="en-US" sz="2800"/>
                <a:t> =</a:t>
              </a:r>
              <a:endParaRPr lang="en-US" sz="2800" i="1"/>
            </a:p>
          </p:txBody>
        </p:sp>
      </p:grpSp>
      <p:sp>
        <p:nvSpPr>
          <p:cNvPr id="21510" name="Rectangle 1"/>
          <p:cNvSpPr>
            <a:spLocks noChangeArrowheads="1"/>
          </p:cNvSpPr>
          <p:nvPr/>
        </p:nvSpPr>
        <p:spPr bwMode="auto">
          <a:xfrm>
            <a:off x="2335607" y="3733800"/>
            <a:ext cx="7189393" cy="209169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600" dirty="0"/>
              <a:t>To calculate </a:t>
            </a:r>
            <a:r>
              <a:rPr lang="en-US" sz="2600" i="1" dirty="0" err="1"/>
              <a:t>K</a:t>
            </a:r>
            <a:r>
              <a:rPr lang="en-US" sz="2600" i="1" baseline="-25000" dirty="0" err="1"/>
              <a:t>a</a:t>
            </a:r>
            <a:r>
              <a:rPr lang="en-US" sz="2600" dirty="0"/>
              <a:t>, we need the equilibrium concentrations of all three things.</a:t>
            </a:r>
            <a:endParaRPr lang="en-US" sz="2600" dirty="0"/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600" dirty="0"/>
              <a:t>We can find [H</a:t>
            </a:r>
            <a:r>
              <a:rPr lang="en-US" sz="2600" baseline="-25000" dirty="0"/>
              <a:t>3</a:t>
            </a:r>
            <a:r>
              <a:rPr lang="en-US" sz="2600" dirty="0"/>
              <a:t>O</a:t>
            </a:r>
            <a:r>
              <a:rPr lang="en-US" sz="2600" baseline="30000" dirty="0"/>
              <a:t>+</a:t>
            </a:r>
            <a:r>
              <a:rPr lang="en-US" sz="2600" dirty="0"/>
              <a:t>], which is the same as [HCOO</a:t>
            </a:r>
            <a:r>
              <a:rPr lang="en-US" sz="2600" baseline="40000" dirty="0"/>
              <a:t>–</a:t>
            </a:r>
            <a:r>
              <a:rPr lang="en-US" sz="2600" dirty="0"/>
              <a:t>], from the </a:t>
            </a:r>
            <a:r>
              <a:rPr lang="en-US" sz="2600" dirty="0" err="1"/>
              <a:t>pH.</a:t>
            </a:r>
            <a:endParaRPr lang="en-US" sz="2600" dirty="0"/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600" dirty="0"/>
              <a:t>[H</a:t>
            </a:r>
            <a:r>
              <a:rPr lang="en-US" sz="2600" baseline="-25000" dirty="0"/>
              <a:t>3</a:t>
            </a:r>
            <a:r>
              <a:rPr lang="en-US" sz="2600" dirty="0"/>
              <a:t>O</a:t>
            </a:r>
            <a:r>
              <a:rPr lang="en-US" sz="2600" baseline="30000" dirty="0"/>
              <a:t>+</a:t>
            </a:r>
            <a:r>
              <a:rPr lang="en-US" sz="2600" dirty="0"/>
              <a:t>] = [HCOO</a:t>
            </a:r>
            <a:r>
              <a:rPr lang="en-US" sz="2600" baseline="40000" dirty="0"/>
              <a:t>–</a:t>
            </a:r>
            <a:r>
              <a:rPr lang="en-US" sz="2600" dirty="0"/>
              <a:t>] = 10</a:t>
            </a:r>
            <a:r>
              <a:rPr lang="en-US" sz="2600" baseline="30000" dirty="0"/>
              <a:t>–2.38</a:t>
            </a:r>
            <a:r>
              <a:rPr lang="en-US" sz="2600" dirty="0"/>
              <a:t> = </a:t>
            </a:r>
            <a:r>
              <a:rPr lang="en-US" sz="2600" dirty="0" smtClean="0"/>
              <a:t>4.2 × 10</a:t>
            </a:r>
            <a:r>
              <a:rPr lang="en-US" sz="2600" baseline="30000" dirty="0" smtClean="0"/>
              <a:t>–3</a:t>
            </a:r>
            <a:endParaRPr lang="en-US" sz="2600" dirty="0"/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Title 1"/>
          <p:cNvSpPr>
            <a:spLocks noGrp="1"/>
          </p:cNvSpPr>
          <p:nvPr>
            <p:ph type="title"/>
          </p:nvPr>
        </p:nvSpPr>
        <p:spPr>
          <a:xfrm>
            <a:off x="1524000" y="0"/>
            <a:ext cx="9144000" cy="1371600"/>
          </a:xfrm>
        </p:spPr>
        <p:txBody>
          <a:bodyPr/>
          <a:lstStyle/>
          <a:p>
            <a:r>
              <a:rPr lang="en-US" sz="3200" b="1" dirty="0" smtClean="0"/>
              <a:t>Steps to </a:t>
            </a:r>
            <a:r>
              <a:rPr lang="en-US" sz="3200" b="1" dirty="0"/>
              <a:t>Follow to Calculate pH Using </a:t>
            </a:r>
            <a:r>
              <a:rPr lang="en-US" sz="3200" b="1" i="1" dirty="0" err="1"/>
              <a:t>K</a:t>
            </a:r>
            <a:r>
              <a:rPr lang="en-US" sz="3200" b="1" i="1" baseline="-25000" dirty="0" err="1"/>
              <a:t>a</a:t>
            </a:r>
            <a:endParaRPr lang="en-US" sz="3200" b="1" i="1" dirty="0"/>
          </a:p>
        </p:txBody>
      </p:sp>
      <p:sp>
        <p:nvSpPr>
          <p:cNvPr id="25603" name="Content Placeholder 2"/>
          <p:cNvSpPr>
            <a:spLocks noGrp="1"/>
          </p:cNvSpPr>
          <p:nvPr>
            <p:ph idx="1"/>
          </p:nvPr>
        </p:nvSpPr>
        <p:spPr>
          <a:xfrm>
            <a:off x="1905000" y="1524000"/>
            <a:ext cx="8915400" cy="4724400"/>
          </a:xfrm>
        </p:spPr>
        <p:txBody>
          <a:bodyPr/>
          <a:lstStyle/>
          <a:p>
            <a:pPr marL="514350" indent="-514350">
              <a:buFontTx/>
              <a:buAutoNum type="arabicParenR"/>
            </a:pPr>
            <a:r>
              <a:rPr lang="en-US" sz="2800" dirty="0"/>
              <a:t>Write the chemical equation for the ionization equilibrium.</a:t>
            </a:r>
            <a:endParaRPr lang="en-US" sz="2800" dirty="0"/>
          </a:p>
          <a:p>
            <a:pPr marL="514350" indent="-514350">
              <a:buFontTx/>
              <a:buAutoNum type="arabicParenR"/>
            </a:pPr>
            <a:r>
              <a:rPr lang="en-US" sz="2800" dirty="0"/>
              <a:t>Write the equilibrium constant expression.</a:t>
            </a:r>
            <a:endParaRPr lang="en-US" sz="2800" dirty="0"/>
          </a:p>
          <a:p>
            <a:pPr marL="514350" indent="-514350">
              <a:buFontTx/>
              <a:buAutoNum type="arabicParenR"/>
            </a:pPr>
            <a:r>
              <a:rPr lang="en-US" sz="2800" dirty="0"/>
              <a:t>Set up a table for </a:t>
            </a:r>
            <a:r>
              <a:rPr lang="en-US" sz="2800" dirty="0">
                <a:solidFill>
                  <a:srgbClr val="FF0000"/>
                </a:solidFill>
              </a:rPr>
              <a:t>I</a:t>
            </a:r>
            <a:r>
              <a:rPr lang="en-US" sz="2800" dirty="0"/>
              <a:t>nitial/</a:t>
            </a:r>
            <a:r>
              <a:rPr lang="en-US" sz="2800" dirty="0">
                <a:solidFill>
                  <a:srgbClr val="FF0000"/>
                </a:solidFill>
              </a:rPr>
              <a:t>C</a:t>
            </a:r>
            <a:r>
              <a:rPr lang="en-US" sz="2800" dirty="0"/>
              <a:t>hange in/</a:t>
            </a:r>
            <a:r>
              <a:rPr lang="en-US" sz="2800" dirty="0">
                <a:solidFill>
                  <a:srgbClr val="FF0000"/>
                </a:solidFill>
              </a:rPr>
              <a:t>E</a:t>
            </a:r>
            <a:r>
              <a:rPr lang="en-US" sz="2800" dirty="0"/>
              <a:t>quilibrium Concentration to determine equilibrium concentrations as a function of change (</a:t>
            </a:r>
            <a:r>
              <a:rPr lang="en-US" sz="2800" i="1" dirty="0"/>
              <a:t>x</a:t>
            </a:r>
            <a:r>
              <a:rPr lang="en-US" sz="2800" dirty="0"/>
              <a:t>).</a:t>
            </a:r>
            <a:endParaRPr lang="en-US" sz="2800" dirty="0"/>
          </a:p>
          <a:p>
            <a:pPr marL="514350" indent="-514350">
              <a:buFontTx/>
              <a:buAutoNum type="arabicParenR"/>
            </a:pPr>
            <a:r>
              <a:rPr lang="en-US" sz="2800" dirty="0"/>
              <a:t>Substitute equilibrium concentrations into the equilibrium constant expression and solve for </a:t>
            </a:r>
            <a:r>
              <a:rPr lang="en-US" sz="2800" i="1" dirty="0"/>
              <a:t>x</a:t>
            </a:r>
            <a:r>
              <a:rPr lang="en-US" sz="2800" dirty="0"/>
              <a:t>. (Make assumptions if you can!)</a:t>
            </a:r>
            <a:endParaRPr lang="en-US" sz="2800" dirty="0"/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Title 1"/>
          <p:cNvSpPr>
            <a:spLocks noGrp="1"/>
          </p:cNvSpPr>
          <p:nvPr>
            <p:ph type="title"/>
          </p:nvPr>
        </p:nvSpPr>
        <p:spPr>
          <a:xfrm>
            <a:off x="1562100" y="-175549"/>
            <a:ext cx="9144000" cy="1143000"/>
          </a:xfrm>
        </p:spPr>
        <p:txBody>
          <a:bodyPr/>
          <a:lstStyle/>
          <a:p>
            <a:r>
              <a:rPr lang="en-US" sz="3200" b="1" dirty="0"/>
              <a:t>Carboxylic Acids</a:t>
            </a:r>
            <a:endParaRPr lang="en-US" sz="3200" b="1" dirty="0"/>
          </a:p>
        </p:txBody>
      </p:sp>
      <p:sp>
        <p:nvSpPr>
          <p:cNvPr id="46083" name="Content Placeholder 2"/>
          <p:cNvSpPr>
            <a:spLocks noGrp="1"/>
          </p:cNvSpPr>
          <p:nvPr>
            <p:ph idx="1"/>
          </p:nvPr>
        </p:nvSpPr>
        <p:spPr>
          <a:xfrm>
            <a:off x="2230538" y="942373"/>
            <a:ext cx="7980262" cy="3886200"/>
          </a:xfrm>
        </p:spPr>
        <p:txBody>
          <a:bodyPr/>
          <a:lstStyle/>
          <a:p>
            <a:r>
              <a:rPr lang="en-US" sz="2800" b="1" dirty="0"/>
              <a:t>Carboxylic acids</a:t>
            </a:r>
            <a:r>
              <a:rPr lang="en-US" sz="2800" dirty="0"/>
              <a:t> are organic acids containing the </a:t>
            </a:r>
            <a:r>
              <a:rPr lang="en-US" sz="2800" dirty="0">
                <a:solidFill>
                  <a:srgbClr val="FF0000"/>
                </a:solidFill>
              </a:rPr>
              <a:t>—COO</a:t>
            </a:r>
            <a:r>
              <a:rPr lang="en-US" sz="2800" dirty="0">
                <a:solidFill>
                  <a:srgbClr val="0000FF"/>
                </a:solidFill>
              </a:rPr>
              <a:t>H</a:t>
            </a:r>
            <a:r>
              <a:rPr lang="en-US" sz="2800" dirty="0">
                <a:solidFill>
                  <a:srgbClr val="FF0000"/>
                </a:solidFill>
              </a:rPr>
              <a:t> group</a:t>
            </a:r>
            <a:r>
              <a:rPr lang="en-US" sz="2800" dirty="0" smtClean="0"/>
              <a:t>.</a:t>
            </a:r>
            <a:endParaRPr lang="en-US" sz="2800" dirty="0" smtClean="0"/>
          </a:p>
          <a:p>
            <a:pPr>
              <a:lnSpc>
                <a:spcPts val="2100"/>
              </a:lnSpc>
            </a:pPr>
            <a:endParaRPr lang="en-US" sz="2800" dirty="0"/>
          </a:p>
          <a:p>
            <a:r>
              <a:rPr lang="en-US" sz="2800" dirty="0"/>
              <a:t>Factors contributing to their acidic behavior:</a:t>
            </a:r>
            <a:endParaRPr lang="en-US" sz="2800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/>
              <a:t>Other </a:t>
            </a:r>
            <a:r>
              <a:rPr lang="en-US" sz="2400" u="sng" dirty="0"/>
              <a:t>O attached to C </a:t>
            </a:r>
            <a:r>
              <a:rPr lang="en-US" sz="2400" dirty="0"/>
              <a:t>draws electron density from O—H bond, increasing polarity.</a:t>
            </a:r>
            <a:endParaRPr lang="en-US" sz="2400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/>
              <a:t>Its conjugate base (carboxylate anion) has </a:t>
            </a:r>
            <a:r>
              <a:rPr lang="en-US" sz="2400" u="sng" dirty="0"/>
              <a:t>resonance</a:t>
            </a:r>
            <a:r>
              <a:rPr lang="en-US" sz="2400" dirty="0"/>
              <a:t> forms to stabilize the anion.</a:t>
            </a:r>
            <a:endParaRPr lang="en-US" sz="2400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235"/>
          <a:stretch>
            <a:fillRect/>
          </a:stretch>
        </p:blipFill>
        <p:spPr>
          <a:xfrm>
            <a:off x="3200400" y="4572000"/>
            <a:ext cx="6121683" cy="1668705"/>
          </a:xfrm>
          <a:prstGeom prst="rect">
            <a:avLst/>
          </a:prstGeom>
        </p:spPr>
      </p:pic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itle 1"/>
          <p:cNvSpPr/>
          <p:nvPr/>
        </p:nvSpPr>
        <p:spPr bwMode="auto">
          <a:xfrm>
            <a:off x="6019800" y="1676400"/>
            <a:ext cx="4572000" cy="3505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anchor="ctr"/>
          <a:lstStyle/>
          <a:p>
            <a:pPr algn="ctr" eaLnBrk="1" hangingPunct="1"/>
            <a:r>
              <a:rPr lang="en-US" sz="3400" b="1">
                <a:solidFill>
                  <a:srgbClr val="000000"/>
                </a:solidFill>
              </a:rPr>
              <a:t>Chapter 17</a:t>
            </a:r>
            <a:br>
              <a:rPr lang="en-US" sz="3400" b="1">
                <a:solidFill>
                  <a:srgbClr val="000000"/>
                </a:solidFill>
              </a:rPr>
            </a:br>
            <a:br>
              <a:rPr lang="en-US" sz="3400" b="1">
                <a:solidFill>
                  <a:srgbClr val="000000"/>
                </a:solidFill>
              </a:rPr>
            </a:br>
            <a:r>
              <a:rPr lang="en-US" sz="3400" b="1">
                <a:solidFill>
                  <a:srgbClr val="000000"/>
                </a:solidFill>
              </a:rPr>
              <a:t>Additional Aspects of Aqueous Equilibria</a:t>
            </a:r>
            <a:endParaRPr lang="en-US" sz="3400" b="1">
              <a:solidFill>
                <a:srgbClr val="000000"/>
              </a:solidFill>
            </a:endParaRPr>
          </a:p>
        </p:txBody>
      </p:sp>
      <p:sp>
        <p:nvSpPr>
          <p:cNvPr id="3075" name="Subtitle 2"/>
          <p:cNvSpPr/>
          <p:nvPr/>
        </p:nvSpPr>
        <p:spPr bwMode="auto">
          <a:xfrm>
            <a:off x="6019800" y="5791200"/>
            <a:ext cx="4572000" cy="9906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pPr algn="ctr" eaLnBrk="1" hangingPunct="1"/>
            <a:r>
              <a:rPr lang="en-US" sz="1800">
                <a:solidFill>
                  <a:srgbClr val="0D0D0D"/>
                </a:solidFill>
              </a:rPr>
              <a:t>James F. Kirby</a:t>
            </a:r>
            <a:endParaRPr lang="en-US" sz="1800">
              <a:solidFill>
                <a:srgbClr val="0D0D0D"/>
              </a:solidFill>
            </a:endParaRPr>
          </a:p>
          <a:p>
            <a:pPr algn="ctr" eaLnBrk="1" hangingPunct="1"/>
            <a:r>
              <a:rPr lang="en-US" sz="1800">
                <a:solidFill>
                  <a:srgbClr val="0D0D0D"/>
                </a:solidFill>
              </a:rPr>
              <a:t>Quinnipiac University</a:t>
            </a:r>
            <a:endParaRPr lang="en-US" sz="1800">
              <a:solidFill>
                <a:srgbClr val="0D0D0D"/>
              </a:solidFill>
            </a:endParaRPr>
          </a:p>
          <a:p>
            <a:pPr algn="ctr" eaLnBrk="1" hangingPunct="1"/>
            <a:r>
              <a:rPr lang="en-US" sz="1800">
                <a:solidFill>
                  <a:srgbClr val="0D0D0D"/>
                </a:solidFill>
              </a:rPr>
              <a:t>Hamden, CT</a:t>
            </a:r>
            <a:endParaRPr lang="en-US" sz="1800">
              <a:solidFill>
                <a:srgbClr val="0D0D0D"/>
              </a:solidFill>
            </a:endParaRPr>
          </a:p>
        </p:txBody>
      </p:sp>
      <p:sp>
        <p:nvSpPr>
          <p:cNvPr id="3076" name="Rectangle 10"/>
          <p:cNvSpPr>
            <a:spLocks noChangeArrowheads="1"/>
          </p:cNvSpPr>
          <p:nvPr/>
        </p:nvSpPr>
        <p:spPr bwMode="auto">
          <a:xfrm>
            <a:off x="6019800" y="700088"/>
            <a:ext cx="4648200" cy="52197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algn="ctr" eaLnBrk="1" hangingPunct="1"/>
            <a:r>
              <a:rPr lang="en-US" sz="2800">
                <a:solidFill>
                  <a:srgbClr val="000000"/>
                </a:solidFill>
                <a:ea typeface="Arial" panose="020B0604020202020204" pitchFamily="34" charset="0"/>
                <a:cs typeface="Arial" panose="020B0604020202020204" pitchFamily="34" charset="0"/>
              </a:rPr>
              <a:t>Lecture Presentation</a:t>
            </a:r>
            <a:endParaRPr lang="en-US" sz="2800">
              <a:solidFill>
                <a:srgbClr val="000000"/>
              </a:solidFill>
              <a:ea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077" name="Text Box 12"/>
          <p:cNvSpPr txBox="1">
            <a:spLocks noChangeArrowheads="1"/>
          </p:cNvSpPr>
          <p:nvPr/>
        </p:nvSpPr>
        <p:spPr bwMode="auto">
          <a:xfrm>
            <a:off x="1889125" y="6580188"/>
            <a:ext cx="8229600" cy="24511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eaLnBrk="1" hangingPunct="1"/>
            <a:r>
              <a:rPr lang="en-US" sz="1000">
                <a:solidFill>
                  <a:srgbClr val="73738C"/>
                </a:solidFill>
              </a:rPr>
              <a:t>© 2015 Pearson Education, Inc.</a:t>
            </a:r>
            <a:endParaRPr lang="en-US" b="1">
              <a:solidFill>
                <a:srgbClr val="73738C"/>
              </a:solidFill>
            </a:endParaRPr>
          </a:p>
        </p:txBody>
      </p:sp>
      <p:pic>
        <p:nvPicPr>
          <p:cNvPr id="7" name="Picture 1" descr="BROW0417_13_ecat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 bwMode="auto">
          <a:xfrm>
            <a:off x="1752600" y="736303"/>
            <a:ext cx="4227513" cy="5309193"/>
          </a:xfrm>
          <a:prstGeom prst="rect">
            <a:avLst/>
          </a:prstGeom>
          <a:noFill/>
          <a:ln w="3175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 spd="slow"/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The Common-Ion Effect</a:t>
            </a:r>
            <a:endParaRPr lang="en-US"/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324100" y="1600200"/>
            <a:ext cx="7543800" cy="4191000"/>
          </a:xfrm>
        </p:spPr>
        <p:txBody>
          <a:bodyPr/>
          <a:lstStyle/>
          <a:p>
            <a:pPr eaLnBrk="1" hangingPunct="1"/>
            <a:r>
              <a:rPr lang="en-US"/>
              <a:t>“Whenever a weak electrolyte and a strong electrolyte containing a common ion are together in solution, the weak electrolyte ionizes less than it would if it were alone in solution.”</a:t>
            </a:r>
            <a:endParaRPr lang="en-US"/>
          </a:p>
          <a:p>
            <a:pPr eaLnBrk="1" hangingPunct="1"/>
            <a:r>
              <a:rPr lang="en-US"/>
              <a:t>This affects acid–base equilibria.</a:t>
            </a:r>
            <a:endParaRPr lang="en-US"/>
          </a:p>
          <a:p>
            <a:pPr eaLnBrk="1" hangingPunct="1"/>
            <a:r>
              <a:rPr lang="en-US"/>
              <a:t>We will also see (later in the chapter) how it affects solubility.</a:t>
            </a:r>
            <a:endParaRPr lang="en-US"/>
          </a:p>
        </p:txBody>
      </p:sp>
    </p:spTree>
  </p:cSld>
  <p:clrMapOvr>
    <a:masterClrMapping/>
  </p:clrMapOvr>
  <p:transition spd="slow"/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itle 1"/>
          <p:cNvSpPr>
            <a:spLocks noGrp="1"/>
          </p:cNvSpPr>
          <p:nvPr>
            <p:ph type="title"/>
          </p:nvPr>
        </p:nvSpPr>
        <p:spPr>
          <a:xfrm>
            <a:off x="1524000" y="3175"/>
            <a:ext cx="9144000" cy="987425"/>
          </a:xfrm>
        </p:spPr>
        <p:txBody>
          <a:bodyPr/>
          <a:lstStyle/>
          <a:p>
            <a:r>
              <a:rPr lang="en-US"/>
              <a:t>Calculating the pH of a Buffer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33600" y="914400"/>
            <a:ext cx="8001000" cy="5334000"/>
          </a:xfrm>
        </p:spPr>
        <p:txBody>
          <a:bodyPr/>
          <a:lstStyle/>
          <a:p>
            <a:r>
              <a:rPr lang="en-US" dirty="0"/>
              <a:t>For a weak acid: </a:t>
            </a:r>
            <a:r>
              <a:rPr lang="en-US" i="1" dirty="0"/>
              <a:t>K</a:t>
            </a:r>
            <a:r>
              <a:rPr lang="en-US" i="1" baseline="-25000" dirty="0"/>
              <a:t>a</a:t>
            </a:r>
            <a:r>
              <a:rPr lang="en-US" dirty="0"/>
              <a:t> = [H</a:t>
            </a:r>
            <a:r>
              <a:rPr lang="en-US" baseline="30000" dirty="0"/>
              <a:t>+</a:t>
            </a:r>
            <a:r>
              <a:rPr lang="en-US" dirty="0"/>
              <a:t>][A</a:t>
            </a:r>
            <a:r>
              <a:rPr lang="en-US" baseline="40000" dirty="0"/>
              <a:t>–</a:t>
            </a:r>
            <a:r>
              <a:rPr lang="en-US" dirty="0"/>
              <a:t>]/[HA]</a:t>
            </a:r>
            <a:endParaRPr lang="en-US" dirty="0"/>
          </a:p>
          <a:p>
            <a:r>
              <a:rPr lang="en-US" dirty="0"/>
              <a:t>Take –log of both sides:</a:t>
            </a:r>
            <a:endParaRPr lang="en-US" dirty="0"/>
          </a:p>
          <a:p>
            <a:pPr>
              <a:buFontTx/>
              <a:buNone/>
            </a:pPr>
            <a:r>
              <a:rPr lang="en-US" dirty="0"/>
              <a:t>	–log </a:t>
            </a:r>
            <a:r>
              <a:rPr lang="en-US" i="1" dirty="0"/>
              <a:t>K</a:t>
            </a:r>
            <a:r>
              <a:rPr lang="en-US" i="1" baseline="-25000" dirty="0"/>
              <a:t>a</a:t>
            </a:r>
            <a:r>
              <a:rPr lang="en-US" dirty="0"/>
              <a:t> = –</a:t>
            </a:r>
            <a:r>
              <a:rPr lang="en-US" dirty="0" err="1"/>
              <a:t>log[H</a:t>
            </a:r>
            <a:r>
              <a:rPr lang="en-US" baseline="30000" dirty="0"/>
              <a:t>+</a:t>
            </a:r>
            <a:r>
              <a:rPr lang="en-US" dirty="0"/>
              <a:t>] + –</a:t>
            </a:r>
            <a:r>
              <a:rPr lang="en-US" dirty="0" err="1"/>
              <a:t>log([A</a:t>
            </a:r>
            <a:r>
              <a:rPr lang="en-US" baseline="40000" dirty="0"/>
              <a:t>–</a:t>
            </a:r>
            <a:r>
              <a:rPr lang="en-US" dirty="0"/>
              <a:t>]/[HA])</a:t>
            </a:r>
            <a:endParaRPr lang="en-US" dirty="0"/>
          </a:p>
          <a:p>
            <a:r>
              <a:rPr lang="en-US" dirty="0"/>
              <a:t>Rearrange:</a:t>
            </a:r>
            <a:endParaRPr lang="en-US" dirty="0"/>
          </a:p>
          <a:p>
            <a:pPr>
              <a:buFontTx/>
              <a:buNone/>
            </a:pPr>
            <a:r>
              <a:rPr lang="en-US" dirty="0"/>
              <a:t>	–</a:t>
            </a:r>
            <a:r>
              <a:rPr lang="en-US" dirty="0" err="1"/>
              <a:t>log[H</a:t>
            </a:r>
            <a:r>
              <a:rPr lang="en-US" baseline="30000" dirty="0"/>
              <a:t>+</a:t>
            </a:r>
            <a:r>
              <a:rPr lang="en-US" dirty="0"/>
              <a:t>]  = –</a:t>
            </a:r>
            <a:r>
              <a:rPr lang="en-US"/>
              <a:t>log </a:t>
            </a:r>
            <a:r>
              <a:rPr lang="en-US" i="1"/>
              <a:t>K</a:t>
            </a:r>
            <a:r>
              <a:rPr lang="en-US" i="1" baseline="-25000"/>
              <a:t>a</a:t>
            </a:r>
            <a:r>
              <a:rPr lang="en-US"/>
              <a:t> +log</a:t>
            </a:r>
            <a:r>
              <a:rPr lang="en-US" dirty="0" err="1"/>
              <a:t>([A</a:t>
            </a:r>
            <a:r>
              <a:rPr lang="en-US" baseline="40000" dirty="0"/>
              <a:t>–</a:t>
            </a:r>
            <a:r>
              <a:rPr lang="en-US" dirty="0"/>
              <a:t>]/[HA])</a:t>
            </a:r>
            <a:endParaRPr lang="en-US" dirty="0"/>
          </a:p>
          <a:p>
            <a:r>
              <a:rPr lang="en-US" dirty="0"/>
              <a:t>Which is:</a:t>
            </a:r>
            <a:endParaRPr lang="en-US" dirty="0"/>
          </a:p>
          <a:p>
            <a:pPr>
              <a:buFontTx/>
              <a:buNone/>
            </a:pPr>
            <a:r>
              <a:rPr lang="en-US" dirty="0"/>
              <a:t>	pH  =  </a:t>
            </a:r>
            <a:r>
              <a:rPr lang="en-US" err="1"/>
              <a:t>p</a:t>
            </a:r>
            <a:r>
              <a:rPr lang="en-US" i="1" err="1"/>
              <a:t>K</a:t>
            </a:r>
            <a:r>
              <a:rPr lang="en-US" i="1" baseline="-25000" err="1"/>
              <a:t>a</a:t>
            </a:r>
            <a:r>
              <a:rPr lang="en-US"/>
              <a:t> + log</a:t>
            </a:r>
            <a:r>
              <a:rPr lang="en-US" dirty="0" err="1"/>
              <a:t>([A</a:t>
            </a:r>
            <a:r>
              <a:rPr lang="en-US" baseline="40000" dirty="0"/>
              <a:t>–</a:t>
            </a:r>
            <a:r>
              <a:rPr lang="en-US" dirty="0"/>
              <a:t>]/[HA])</a:t>
            </a:r>
            <a:endParaRPr lang="en-US" dirty="0"/>
          </a:p>
          <a:p>
            <a:r>
              <a:rPr lang="en-US" dirty="0"/>
              <a:t>This equation is known as the </a:t>
            </a:r>
            <a:r>
              <a:rPr lang="en-US" b="1" dirty="0"/>
              <a:t>Henderson–</a:t>
            </a:r>
            <a:r>
              <a:rPr lang="en-US" b="1" dirty="0" err="1"/>
              <a:t>Hasselbalch</a:t>
            </a:r>
            <a:r>
              <a:rPr lang="en-US" b="1" dirty="0"/>
              <a:t> equation</a:t>
            </a:r>
            <a:r>
              <a:rPr lang="en-US" dirty="0"/>
              <a:t>.   This applies only to buffers.</a:t>
            </a:r>
            <a:endParaRPr lang="en-US" dirty="0"/>
          </a:p>
        </p:txBody>
      </p:sp>
      <p:sp>
        <p:nvSpPr>
          <p:cNvPr id="2" name="文本框 1"/>
          <p:cNvSpPr txBox="1"/>
          <p:nvPr/>
        </p:nvSpPr>
        <p:spPr>
          <a:xfrm>
            <a:off x="8172450" y="4881245"/>
            <a:ext cx="3095625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4000">
                <a:solidFill>
                  <a:srgbClr val="FF0000"/>
                </a:solidFill>
              </a:rPr>
              <a:t>第三个公式！</a:t>
            </a:r>
            <a:endParaRPr lang="zh-CN" altLang="en-US" sz="4000">
              <a:solidFill>
                <a:srgbClr val="FF0000"/>
              </a:solidFill>
            </a:endParaRPr>
          </a:p>
        </p:txBody>
      </p:sp>
    </p:spTree>
  </p:cSld>
  <p:clrMapOvr>
    <a:masterClrMapping/>
  </p:clrMapOvr>
  <p:transition spd="slow"/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title"/>
          </p:nvPr>
        </p:nvSpPr>
        <p:spPr>
          <a:xfrm>
            <a:off x="1509712" y="152400"/>
            <a:ext cx="9144001" cy="1143000"/>
          </a:xfrm>
        </p:spPr>
        <p:txBody>
          <a:bodyPr/>
          <a:lstStyle/>
          <a:p>
            <a:pPr eaLnBrk="1" hangingPunct="1"/>
            <a:r>
              <a:rPr lang="en-US"/>
              <a:t>Titration of a Strong Acid with a Strong Base</a:t>
            </a:r>
            <a:endParaRPr lang="en-US"/>
          </a:p>
        </p:txBody>
      </p:sp>
      <p:sp>
        <p:nvSpPr>
          <p:cNvPr id="19459" name="Rectangle 4"/>
          <p:cNvSpPr>
            <a:spLocks noGrp="1" noChangeArrowheads="1"/>
          </p:cNvSpPr>
          <p:nvPr>
            <p:ph type="body" sz="half" idx="2"/>
          </p:nvPr>
        </p:nvSpPr>
        <p:spPr>
          <a:xfrm>
            <a:off x="1905000" y="1371600"/>
            <a:ext cx="8229600" cy="4876800"/>
          </a:xfrm>
        </p:spPr>
        <p:txBody>
          <a:bodyPr/>
          <a:lstStyle/>
          <a:p>
            <a:pPr eaLnBrk="1" hangingPunct="1"/>
            <a:r>
              <a:rPr lang="en-US" sz="2800" dirty="0"/>
              <a:t>From the start of the titration to near the equivalence point, the pH goes up slowly.</a:t>
            </a:r>
            <a:endParaRPr lang="en-US" sz="2800" dirty="0"/>
          </a:p>
          <a:p>
            <a:pPr eaLnBrk="1" hangingPunct="1"/>
            <a:r>
              <a:rPr lang="en-US" sz="2800" dirty="0"/>
              <a:t>Just before (and after) the equivalence point, </a:t>
            </a:r>
            <a:br>
              <a:rPr lang="en-US" sz="2800" dirty="0"/>
            </a:br>
            <a:r>
              <a:rPr lang="en-US" sz="2800" dirty="0"/>
              <a:t>the pH rises rapidly.</a:t>
            </a:r>
            <a:endParaRPr lang="en-US" sz="2800" dirty="0"/>
          </a:p>
          <a:p>
            <a:pPr eaLnBrk="1" hangingPunct="1"/>
            <a:r>
              <a:rPr lang="en-US" sz="2800" dirty="0"/>
              <a:t>At the equivalence </a:t>
            </a:r>
            <a:br>
              <a:rPr lang="en-US" sz="2800" dirty="0"/>
            </a:br>
            <a:r>
              <a:rPr lang="en-US" sz="2800" dirty="0"/>
              <a:t>point, pH = 7.</a:t>
            </a:r>
            <a:endParaRPr lang="en-US" sz="2800" dirty="0"/>
          </a:p>
          <a:p>
            <a:pPr eaLnBrk="1" hangingPunct="1"/>
            <a:r>
              <a:rPr lang="en-US" sz="2800" dirty="0"/>
              <a:t>As more base is </a:t>
            </a:r>
            <a:br>
              <a:rPr lang="en-US" sz="2800" dirty="0"/>
            </a:br>
            <a:r>
              <a:rPr lang="en-US" sz="2800" dirty="0"/>
              <a:t>added, the pH </a:t>
            </a:r>
            <a:br>
              <a:rPr lang="en-US" sz="2800" dirty="0"/>
            </a:br>
            <a:r>
              <a:rPr lang="en-US" sz="2800" dirty="0"/>
              <a:t>again levels off.</a:t>
            </a:r>
            <a:endParaRPr lang="en-US" sz="2800" dirty="0"/>
          </a:p>
        </p:txBody>
      </p:sp>
      <p:pic>
        <p:nvPicPr>
          <p:cNvPr id="6" name="Picture 5" descr="17_07_Figure.jpg"/>
          <p:cNvPicPr>
            <a:picLocks noChangeAspect="1"/>
          </p:cNvPicPr>
          <p:nvPr/>
        </p:nvPicPr>
        <p:blipFill>
          <a:blip r:embed="rId1"/>
          <a:srcRect b="2546"/>
          <a:stretch>
            <a:fillRect/>
          </a:stretch>
        </p:blipFill>
        <p:spPr>
          <a:xfrm>
            <a:off x="5486400" y="2895600"/>
            <a:ext cx="4026408" cy="3401119"/>
          </a:xfrm>
          <a:prstGeom prst="rect">
            <a:avLst/>
          </a:prstGeom>
        </p:spPr>
      </p:pic>
    </p:spTree>
  </p:cSld>
  <p:clrMapOvr>
    <a:masterClrMapping/>
  </p:clrMapOvr>
  <p:transition spd="slow"/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itle 4"/>
          <p:cNvSpPr>
            <a:spLocks noGrp="1"/>
          </p:cNvSpPr>
          <p:nvPr>
            <p:ph type="title"/>
          </p:nvPr>
        </p:nvSpPr>
        <p:spPr>
          <a:xfrm>
            <a:off x="1524000" y="0"/>
            <a:ext cx="9144000" cy="1371600"/>
          </a:xfrm>
        </p:spPr>
        <p:txBody>
          <a:bodyPr/>
          <a:lstStyle/>
          <a:p>
            <a:r>
              <a:rPr lang="en-US"/>
              <a:t>Titration of a Strong Base with a Strong Acid</a:t>
            </a:r>
            <a:endParaRPr lang="en-US"/>
          </a:p>
        </p:txBody>
      </p:sp>
      <p:sp>
        <p:nvSpPr>
          <p:cNvPr id="20483" name="Content Placeholder 5"/>
          <p:cNvSpPr>
            <a:spLocks noGrp="1"/>
          </p:cNvSpPr>
          <p:nvPr>
            <p:ph idx="1"/>
          </p:nvPr>
        </p:nvSpPr>
        <p:spPr>
          <a:xfrm>
            <a:off x="5562600" y="1447800"/>
            <a:ext cx="4876800" cy="4267200"/>
          </a:xfrm>
        </p:spPr>
        <p:txBody>
          <a:bodyPr/>
          <a:lstStyle/>
          <a:p>
            <a:r>
              <a:rPr lang="en-US"/>
              <a:t>It looks like you “flipped over” the strong acid being titrated by a strong base.</a:t>
            </a:r>
            <a:endParaRPr lang="en-US"/>
          </a:p>
          <a:p>
            <a:r>
              <a:rPr lang="en-US"/>
              <a:t>Start with a high pH (basic solution); the pH = 7 at the equivalence point; low pH to end.</a:t>
            </a:r>
            <a:endParaRPr lang="en-US"/>
          </a:p>
        </p:txBody>
      </p:sp>
      <p:pic>
        <p:nvPicPr>
          <p:cNvPr id="5" name="Picture 4" descr="17_08_Figure.jpg"/>
          <p:cNvPicPr>
            <a:picLocks noChangeAspect="1"/>
          </p:cNvPicPr>
          <p:nvPr/>
        </p:nvPicPr>
        <p:blipFill>
          <a:blip r:embed="rId1"/>
          <a:srcRect b="2546"/>
          <a:stretch>
            <a:fillRect/>
          </a:stretch>
        </p:blipFill>
        <p:spPr>
          <a:xfrm>
            <a:off x="1676400" y="2185246"/>
            <a:ext cx="3733800" cy="3493178"/>
          </a:xfrm>
          <a:prstGeom prst="rect">
            <a:avLst/>
          </a:prstGeom>
        </p:spPr>
      </p:pic>
    </p:spTree>
  </p:cSld>
  <p:clrMapOvr>
    <a:masterClrMapping/>
  </p:clrMapOvr>
  <p:transition spd="slow"/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Titration of a Weak Acid with a Strong Base</a:t>
            </a:r>
            <a:endParaRPr lang="en-US"/>
          </a:p>
        </p:txBody>
      </p:sp>
      <p:sp>
        <p:nvSpPr>
          <p:cNvPr id="21507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1524000" y="1447800"/>
            <a:ext cx="5410200" cy="49530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sz="2800"/>
              <a:t>Use </a:t>
            </a:r>
            <a:r>
              <a:rPr lang="en-US" sz="2800" i="1"/>
              <a:t>K</a:t>
            </a:r>
            <a:r>
              <a:rPr lang="en-US" sz="2800" i="1" baseline="-25000"/>
              <a:t>a</a:t>
            </a:r>
            <a:r>
              <a:rPr lang="en-US" sz="2800"/>
              <a:t> to find initial pH.</a:t>
            </a:r>
            <a:endParaRPr lang="en-US" sz="2800"/>
          </a:p>
          <a:p>
            <a:pPr eaLnBrk="1" hangingPunct="1">
              <a:lnSpc>
                <a:spcPct val="90000"/>
              </a:lnSpc>
            </a:pPr>
            <a:r>
              <a:rPr lang="en-US" sz="2800"/>
              <a:t>Find the pH in the “buffer region” using stoichiometry followed by the Henderson–Hasselbalch equation.</a:t>
            </a:r>
            <a:endParaRPr lang="en-US" sz="2800"/>
          </a:p>
          <a:p>
            <a:pPr eaLnBrk="1" hangingPunct="1">
              <a:lnSpc>
                <a:spcPct val="90000"/>
              </a:lnSpc>
            </a:pPr>
            <a:r>
              <a:rPr lang="en-US" sz="2800"/>
              <a:t>At the equivalence point the pH is &gt;7. Use the conjugate base of the weak acid to determine the pH.</a:t>
            </a:r>
            <a:endParaRPr lang="en-US" sz="2800"/>
          </a:p>
          <a:p>
            <a:pPr eaLnBrk="1" hangingPunct="1">
              <a:lnSpc>
                <a:spcPct val="90000"/>
              </a:lnSpc>
            </a:pPr>
            <a:r>
              <a:rPr lang="en-US" sz="2800"/>
              <a:t>As more base is added, the pH levels off. This is exactly the same as for strong acids.</a:t>
            </a:r>
            <a:endParaRPr lang="en-US" sz="2800"/>
          </a:p>
        </p:txBody>
      </p:sp>
      <p:pic>
        <p:nvPicPr>
          <p:cNvPr id="6" name="Picture 5" descr="17_09_Figure.jpg"/>
          <p:cNvPicPr>
            <a:picLocks noChangeAspect="1"/>
          </p:cNvPicPr>
          <p:nvPr/>
        </p:nvPicPr>
        <p:blipFill>
          <a:blip r:embed="rId1"/>
          <a:srcRect b="2546"/>
          <a:stretch>
            <a:fillRect/>
          </a:stretch>
        </p:blipFill>
        <p:spPr>
          <a:xfrm>
            <a:off x="6440438" y="1620487"/>
            <a:ext cx="4075162" cy="3713513"/>
          </a:xfrm>
          <a:prstGeom prst="rect">
            <a:avLst/>
          </a:prstGeom>
        </p:spPr>
      </p:pic>
    </p:spTree>
  </p:cSld>
  <p:clrMapOvr>
    <a:masterClrMapping/>
  </p:clrMapOvr>
  <p:transition spd="slow"/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Title 4"/>
          <p:cNvSpPr>
            <a:spLocks noGrp="1"/>
          </p:cNvSpPr>
          <p:nvPr>
            <p:ph type="title"/>
          </p:nvPr>
        </p:nvSpPr>
        <p:spPr>
          <a:xfrm>
            <a:off x="1527175" y="152400"/>
            <a:ext cx="9144000" cy="1524000"/>
          </a:xfrm>
        </p:spPr>
        <p:txBody>
          <a:bodyPr/>
          <a:lstStyle/>
          <a:p>
            <a:r>
              <a:rPr lang="en-US"/>
              <a:t>Ways That a Weak Acid Titration Differs from a Strong Acid Titration</a:t>
            </a:r>
            <a:endParaRPr lang="en-US"/>
          </a:p>
        </p:txBody>
      </p:sp>
      <p:sp>
        <p:nvSpPr>
          <p:cNvPr id="22531" name="Content Placeholder 5"/>
          <p:cNvSpPr>
            <a:spLocks noGrp="1"/>
          </p:cNvSpPr>
          <p:nvPr>
            <p:ph idx="1"/>
          </p:nvPr>
        </p:nvSpPr>
        <p:spPr>
          <a:xfrm>
            <a:off x="1604962" y="1524000"/>
            <a:ext cx="5100638" cy="4953000"/>
          </a:xfrm>
        </p:spPr>
        <p:txBody>
          <a:bodyPr/>
          <a:lstStyle/>
          <a:p>
            <a:pPr marL="514350" indent="-514350">
              <a:buFontTx/>
              <a:buAutoNum type="arabicParenR"/>
            </a:pPr>
            <a:r>
              <a:rPr lang="en-US" sz="2800" dirty="0"/>
              <a:t>A solution of weak acid </a:t>
            </a:r>
            <a:br>
              <a:rPr lang="en-US" sz="2800" dirty="0"/>
            </a:br>
            <a:r>
              <a:rPr lang="en-US" sz="2800" dirty="0"/>
              <a:t>has a higher initial pH </a:t>
            </a:r>
            <a:br>
              <a:rPr lang="en-US" sz="2800" dirty="0"/>
            </a:br>
            <a:r>
              <a:rPr lang="en-US" sz="2800" dirty="0"/>
              <a:t>than a strong acid.</a:t>
            </a:r>
            <a:endParaRPr lang="en-US" sz="2800" dirty="0"/>
          </a:p>
          <a:p>
            <a:pPr marL="514350" indent="-514350">
              <a:buFontTx/>
              <a:buAutoNum type="arabicParenR"/>
            </a:pPr>
            <a:r>
              <a:rPr lang="en-US" sz="2800" dirty="0"/>
              <a:t>The pH change near the equivalence point is </a:t>
            </a:r>
            <a:br>
              <a:rPr lang="en-US" sz="2800" dirty="0"/>
            </a:br>
            <a:r>
              <a:rPr lang="en-US" sz="2800" dirty="0"/>
              <a:t>smaller for a weak acid. (This is at least partly </a:t>
            </a:r>
            <a:br>
              <a:rPr lang="en-US" sz="2800" dirty="0"/>
            </a:br>
            <a:r>
              <a:rPr lang="en-US" sz="2800" dirty="0"/>
              <a:t>due to the buffer region.)</a:t>
            </a:r>
            <a:endParaRPr lang="en-US" sz="2800" dirty="0"/>
          </a:p>
          <a:p>
            <a:pPr marL="514350" indent="-514350">
              <a:buFontTx/>
              <a:buAutoNum type="arabicParenR"/>
            </a:pPr>
            <a:r>
              <a:rPr lang="en-US" sz="2800" dirty="0"/>
              <a:t>The pH at the equivalence point is greater than 7 for </a:t>
            </a:r>
            <a:br>
              <a:rPr lang="en-US" sz="2800" dirty="0"/>
            </a:br>
            <a:r>
              <a:rPr lang="en-US" sz="2800" dirty="0"/>
              <a:t>a weak acid.</a:t>
            </a:r>
            <a:endParaRPr lang="en-US" sz="2800" dirty="0"/>
          </a:p>
        </p:txBody>
      </p:sp>
      <p:pic>
        <p:nvPicPr>
          <p:cNvPr id="5" name="Picture 4" descr="17_11_Figure.jpg"/>
          <p:cNvPicPr>
            <a:picLocks noChangeAspect="1"/>
          </p:cNvPicPr>
          <p:nvPr/>
        </p:nvPicPr>
        <p:blipFill>
          <a:blip r:embed="rId1"/>
          <a:srcRect b="2546"/>
          <a:stretch>
            <a:fillRect/>
          </a:stretch>
        </p:blipFill>
        <p:spPr>
          <a:xfrm>
            <a:off x="6400800" y="1752600"/>
            <a:ext cx="4045644" cy="3642464"/>
          </a:xfrm>
          <a:prstGeom prst="rect">
            <a:avLst/>
          </a:prstGeom>
        </p:spPr>
      </p:pic>
    </p:spTree>
  </p:cSld>
  <p:clrMapOvr>
    <a:masterClrMapping/>
  </p:clrMapOvr>
  <p:transition spd="slow"/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Indicator Choice Can Be Critical!</a:t>
            </a:r>
            <a:endParaRPr lang="en-US"/>
          </a:p>
        </p:txBody>
      </p:sp>
      <p:pic>
        <p:nvPicPr>
          <p:cNvPr id="5" name="Picture 4" descr="17_14_Figure.jpg"/>
          <p:cNvPicPr>
            <a:picLocks noChangeAspect="1"/>
          </p:cNvPicPr>
          <p:nvPr/>
        </p:nvPicPr>
        <p:blipFill>
          <a:blip r:embed="rId1"/>
          <a:srcRect b="4068"/>
          <a:stretch>
            <a:fillRect/>
          </a:stretch>
        </p:blipFill>
        <p:spPr>
          <a:xfrm>
            <a:off x="1981200" y="1447800"/>
            <a:ext cx="8229600" cy="4297027"/>
          </a:xfrm>
          <a:prstGeom prst="rect">
            <a:avLst/>
          </a:prstGeom>
        </p:spPr>
      </p:pic>
    </p:spTree>
  </p:cSld>
  <p:clrMapOvr>
    <a:masterClrMapping/>
  </p:clrMapOvr>
  <p:transition spd="slow"/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Solubility Product</a:t>
            </a:r>
            <a:endParaRPr lang="en-US"/>
          </a:p>
        </p:txBody>
      </p:sp>
      <p:sp>
        <p:nvSpPr>
          <p:cNvPr id="276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09800" y="1295400"/>
            <a:ext cx="7772400" cy="4800600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Char char="Ø"/>
            </a:pPr>
            <a:r>
              <a:rPr lang="en-US" dirty="0"/>
              <a:t>For example:</a:t>
            </a:r>
            <a:endParaRPr lang="en-US" dirty="0"/>
          </a:p>
          <a:p>
            <a:pPr eaLnBrk="1" hangingPunct="1">
              <a:buFontTx/>
              <a:buNone/>
            </a:pPr>
            <a:r>
              <a:rPr lang="en-US" dirty="0"/>
              <a:t>	BaSO</a:t>
            </a:r>
            <a:r>
              <a:rPr lang="en-US" baseline="-25000" dirty="0"/>
              <a:t>4</a:t>
            </a:r>
            <a:r>
              <a:rPr lang="en-US" dirty="0"/>
              <a:t>(</a:t>
            </a:r>
            <a:r>
              <a:rPr lang="en-US" i="1" dirty="0"/>
              <a:t>s</a:t>
            </a:r>
            <a:r>
              <a:rPr lang="en-US" dirty="0"/>
              <a:t>) ⇌ Ba</a:t>
            </a:r>
            <a:r>
              <a:rPr lang="en-US" baseline="30000" dirty="0"/>
              <a:t>2+</a:t>
            </a:r>
            <a:r>
              <a:rPr lang="en-US" dirty="0"/>
              <a:t>(</a:t>
            </a:r>
            <a:r>
              <a:rPr lang="en-US" i="1" dirty="0"/>
              <a:t>aq</a:t>
            </a:r>
            <a:r>
              <a:rPr lang="en-US" dirty="0"/>
              <a:t>) + SO</a:t>
            </a:r>
            <a:r>
              <a:rPr lang="en-US" baseline="-25000" dirty="0"/>
              <a:t>4</a:t>
            </a:r>
            <a:r>
              <a:rPr lang="en-US" baseline="30000" dirty="0"/>
              <a:t>2–</a:t>
            </a:r>
            <a:r>
              <a:rPr lang="en-US" dirty="0"/>
              <a:t>(</a:t>
            </a:r>
            <a:r>
              <a:rPr lang="en-US" i="1" dirty="0" err="1"/>
              <a:t>aq</a:t>
            </a:r>
            <a:r>
              <a:rPr lang="en-US" dirty="0"/>
              <a:t>)</a:t>
            </a:r>
            <a:endParaRPr lang="en-US" dirty="0"/>
          </a:p>
          <a:p>
            <a:pPr eaLnBrk="1" hangingPunct="1">
              <a:buFont typeface="Wingdings" panose="05000000000000000000" pitchFamily="2" charset="2"/>
              <a:buChar char="Ø"/>
            </a:pPr>
            <a:r>
              <a:rPr lang="en-US" dirty="0"/>
              <a:t>The equilibrium constant expression is </a:t>
            </a:r>
            <a:endParaRPr lang="en-US" dirty="0"/>
          </a:p>
          <a:p>
            <a:pPr algn="ctr" eaLnBrk="1" hangingPunct="1">
              <a:buFontTx/>
              <a:buNone/>
            </a:pPr>
            <a:r>
              <a:rPr lang="en-US" i="1" dirty="0" err="1"/>
              <a:t>K</a:t>
            </a:r>
            <a:r>
              <a:rPr lang="en-US" i="1" baseline="-25000" dirty="0" err="1"/>
              <a:t>sp</a:t>
            </a:r>
            <a:r>
              <a:rPr lang="en-US" dirty="0"/>
              <a:t> = [Ba</a:t>
            </a:r>
            <a:r>
              <a:rPr lang="en-US" baseline="30000" dirty="0"/>
              <a:t>2+</a:t>
            </a:r>
            <a:r>
              <a:rPr lang="en-US" dirty="0"/>
              <a:t>][SO</a:t>
            </a:r>
            <a:r>
              <a:rPr lang="en-US" baseline="-25000" dirty="0"/>
              <a:t>4</a:t>
            </a:r>
            <a:r>
              <a:rPr lang="en-US" baseline="30000" dirty="0"/>
              <a:t>2</a:t>
            </a:r>
            <a:r>
              <a:rPr lang="en-US" baseline="30000" dirty="0">
                <a:ea typeface="Arial" panose="020B0604020202020204" pitchFamily="34" charset="0"/>
                <a:cs typeface="Arial" panose="020B0604020202020204" pitchFamily="34" charset="0"/>
                <a:sym typeface="Symbol" panose="05050102010706020507" charset="2"/>
              </a:rPr>
              <a:t></a:t>
            </a:r>
            <a:r>
              <a:rPr lang="en-US" dirty="0"/>
              <a:t>]</a:t>
            </a:r>
            <a:endParaRPr lang="en-US" dirty="0"/>
          </a:p>
          <a:p>
            <a:pPr eaLnBrk="1" hangingPunct="1">
              <a:buFont typeface="Wingdings" panose="05000000000000000000" pitchFamily="2" charset="2"/>
              <a:buChar char="Ø"/>
            </a:pPr>
            <a:r>
              <a:rPr lang="en-US" dirty="0"/>
              <a:t>Another example:</a:t>
            </a:r>
            <a:endParaRPr lang="en-US" dirty="0"/>
          </a:p>
          <a:p>
            <a:pPr eaLnBrk="1" hangingPunct="1">
              <a:buFontTx/>
              <a:buNone/>
            </a:pPr>
            <a:r>
              <a:rPr lang="en-US" dirty="0"/>
              <a:t>Ba</a:t>
            </a:r>
            <a:r>
              <a:rPr lang="en-US" baseline="-25000" dirty="0"/>
              <a:t>3</a:t>
            </a:r>
            <a:r>
              <a:rPr lang="en-US" dirty="0"/>
              <a:t>(PO</a:t>
            </a:r>
            <a:r>
              <a:rPr lang="en-US" baseline="-25000" dirty="0"/>
              <a:t>4</a:t>
            </a:r>
            <a:r>
              <a:rPr lang="en-US" dirty="0"/>
              <a:t>)</a:t>
            </a:r>
            <a:r>
              <a:rPr lang="en-US" baseline="-25000" dirty="0"/>
              <a:t>2</a:t>
            </a:r>
            <a:r>
              <a:rPr lang="en-US" dirty="0"/>
              <a:t>(</a:t>
            </a:r>
            <a:r>
              <a:rPr lang="en-US" i="1" dirty="0"/>
              <a:t>s</a:t>
            </a:r>
            <a:r>
              <a:rPr lang="en-US" dirty="0"/>
              <a:t>) ⇌ 3 Ba</a:t>
            </a:r>
            <a:r>
              <a:rPr lang="en-US" baseline="30000" dirty="0"/>
              <a:t>2+</a:t>
            </a:r>
            <a:r>
              <a:rPr lang="en-US" dirty="0"/>
              <a:t>(</a:t>
            </a:r>
            <a:r>
              <a:rPr lang="en-US" i="1" dirty="0"/>
              <a:t>aq</a:t>
            </a:r>
            <a:r>
              <a:rPr lang="en-US" dirty="0"/>
              <a:t>) + 2 PO</a:t>
            </a:r>
            <a:r>
              <a:rPr lang="en-US" baseline="-25000" dirty="0"/>
              <a:t>4</a:t>
            </a:r>
            <a:r>
              <a:rPr lang="en-US" baseline="30000" dirty="0"/>
              <a:t>3–</a:t>
            </a:r>
            <a:r>
              <a:rPr lang="en-US" dirty="0"/>
              <a:t>(</a:t>
            </a:r>
            <a:r>
              <a:rPr lang="en-US" i="1" dirty="0" err="1"/>
              <a:t>aq</a:t>
            </a:r>
            <a:r>
              <a:rPr lang="en-US" dirty="0"/>
              <a:t>)</a:t>
            </a:r>
            <a:endParaRPr lang="en-US" dirty="0"/>
          </a:p>
          <a:p>
            <a:pPr eaLnBrk="1" hangingPunct="1">
              <a:buFont typeface="Wingdings" panose="05000000000000000000" pitchFamily="2" charset="2"/>
              <a:buChar char="Ø"/>
            </a:pPr>
            <a:r>
              <a:rPr lang="en-US" dirty="0"/>
              <a:t>The equilibrium constant expression is </a:t>
            </a:r>
            <a:endParaRPr lang="en-US" dirty="0"/>
          </a:p>
          <a:p>
            <a:pPr algn="ctr" eaLnBrk="1" hangingPunct="1">
              <a:buFontTx/>
              <a:buNone/>
            </a:pPr>
            <a:r>
              <a:rPr lang="en-US" i="1" dirty="0" err="1"/>
              <a:t>K</a:t>
            </a:r>
            <a:r>
              <a:rPr lang="en-US" i="1" baseline="-25000" dirty="0" err="1"/>
              <a:t>sp</a:t>
            </a:r>
            <a:r>
              <a:rPr lang="en-US" dirty="0"/>
              <a:t> = [Ba</a:t>
            </a:r>
            <a:r>
              <a:rPr lang="en-US" baseline="30000" dirty="0"/>
              <a:t>2+</a:t>
            </a:r>
            <a:r>
              <a:rPr lang="en-US" dirty="0"/>
              <a:t>]</a:t>
            </a:r>
            <a:r>
              <a:rPr lang="en-US" baseline="30000" dirty="0"/>
              <a:t>3</a:t>
            </a:r>
            <a:r>
              <a:rPr lang="en-US" dirty="0"/>
              <a:t>[PO</a:t>
            </a:r>
            <a:r>
              <a:rPr lang="en-US" baseline="-25000" dirty="0"/>
              <a:t>4</a:t>
            </a:r>
            <a:r>
              <a:rPr lang="en-US" baseline="30000" dirty="0"/>
              <a:t>3</a:t>
            </a:r>
            <a:r>
              <a:rPr lang="en-US" baseline="30000" dirty="0">
                <a:ea typeface="Arial" panose="020B0604020202020204" pitchFamily="34" charset="0"/>
                <a:cs typeface="Arial" panose="020B0604020202020204" pitchFamily="34" charset="0"/>
                <a:sym typeface="Symbol" panose="05050102010706020507" charset="2"/>
              </a:rPr>
              <a:t></a:t>
            </a:r>
            <a:r>
              <a:rPr lang="en-US" dirty="0"/>
              <a:t>]</a:t>
            </a:r>
            <a:r>
              <a:rPr lang="en-US" baseline="30000" dirty="0"/>
              <a:t>2</a:t>
            </a:r>
            <a:endParaRPr lang="en-US" dirty="0"/>
          </a:p>
          <a:p>
            <a:pPr eaLnBrk="1" hangingPunct="1">
              <a:buFontTx/>
              <a:buNone/>
            </a:pPr>
            <a:endParaRPr lang="en-US" dirty="0"/>
          </a:p>
          <a:p>
            <a:pPr algn="ctr" eaLnBrk="1" hangingPunct="1">
              <a:buFontTx/>
              <a:buNone/>
            </a:pPr>
            <a:endParaRPr lang="en-US" dirty="0"/>
          </a:p>
        </p:txBody>
      </p:sp>
    </p:spTree>
  </p:cSld>
  <p:clrMapOvr>
    <a:masterClrMapping/>
  </p:clrMapOvr>
  <p:transition spd="slow"/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Selective Precipitation of Ions</a:t>
            </a:r>
            <a:endParaRPr lang="en-US"/>
          </a:p>
        </p:txBody>
      </p:sp>
      <p:sp>
        <p:nvSpPr>
          <p:cNvPr id="39939" name="Rectangle 3"/>
          <p:cNvSpPr>
            <a:spLocks noGrp="1" noChangeArrowheads="1"/>
          </p:cNvSpPr>
          <p:nvPr>
            <p:ph type="body" sz="half" idx="2"/>
          </p:nvPr>
        </p:nvSpPr>
        <p:spPr>
          <a:xfrm>
            <a:off x="6172200" y="1600200"/>
            <a:ext cx="3962400" cy="4114800"/>
          </a:xfrm>
        </p:spPr>
        <p:txBody>
          <a:bodyPr/>
          <a:lstStyle/>
          <a:p>
            <a:pPr marL="290830" indent="-290830" eaLnBrk="1" hangingPunct="1">
              <a:buFontTx/>
              <a:buNone/>
            </a:pPr>
            <a:r>
              <a:rPr lang="en-US" sz="2800" dirty="0"/>
              <a:t>	One can use differences in </a:t>
            </a:r>
            <a:r>
              <a:rPr lang="en-US" sz="2800" dirty="0" err="1"/>
              <a:t>solubilities</a:t>
            </a:r>
            <a:r>
              <a:rPr lang="en-US" sz="2800" dirty="0"/>
              <a:t> of salts to separate ions in a mixture. This has been used for qualitative analysis of the presence of ions in a solution.</a:t>
            </a:r>
            <a:endParaRPr lang="en-US" sz="2800" dirty="0"/>
          </a:p>
        </p:txBody>
      </p:sp>
      <p:pic>
        <p:nvPicPr>
          <p:cNvPr id="6" name="Picture 5" descr="17_23_Figure.jpg"/>
          <p:cNvPicPr>
            <a:picLocks noChangeAspect="1"/>
          </p:cNvPicPr>
          <p:nvPr/>
        </p:nvPicPr>
        <p:blipFill>
          <a:blip r:embed="rId1"/>
          <a:srcRect b="2546"/>
          <a:stretch>
            <a:fillRect/>
          </a:stretch>
        </p:blipFill>
        <p:spPr>
          <a:xfrm>
            <a:off x="1905000" y="1295400"/>
            <a:ext cx="4495800" cy="5044594"/>
          </a:xfrm>
          <a:prstGeom prst="rect">
            <a:avLst/>
          </a:prstGeom>
        </p:spPr>
      </p:pic>
    </p:spTree>
  </p:cSld>
  <p:clrMapOvr>
    <a:masterClrMapping/>
  </p:clrMapOvr>
  <p:transition spd="slow"/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ChangeArrowheads="1"/>
          </p:cNvSpPr>
          <p:nvPr/>
        </p:nvSpPr>
        <p:spPr bwMode="auto">
          <a:xfrm>
            <a:off x="5943600" y="2514600"/>
            <a:ext cx="4724400" cy="18288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anchor="ctr"/>
          <a:lstStyle/>
          <a:p>
            <a:pPr algn="ctr"/>
            <a:r>
              <a:rPr lang="en-US" sz="3400" b="1"/>
              <a:t>Chapter 19</a:t>
            </a:r>
            <a:br>
              <a:rPr lang="en-US" sz="3400" b="1"/>
            </a:br>
            <a:br>
              <a:rPr lang="en-US" sz="3400" b="1"/>
            </a:br>
            <a:r>
              <a:rPr lang="en-US" sz="3400" b="1"/>
              <a:t>Chemical Thermodynamics</a:t>
            </a:r>
            <a:endParaRPr lang="en-US" sz="3400" b="1"/>
          </a:p>
        </p:txBody>
      </p:sp>
      <p:sp>
        <p:nvSpPr>
          <p:cNvPr id="3075" name="Rectangle 10"/>
          <p:cNvSpPr>
            <a:spLocks noChangeArrowheads="1"/>
          </p:cNvSpPr>
          <p:nvPr/>
        </p:nvSpPr>
        <p:spPr bwMode="auto">
          <a:xfrm>
            <a:off x="6019800" y="700088"/>
            <a:ext cx="4648200" cy="52197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algn="ctr"/>
            <a:r>
              <a:rPr lang="en-US" sz="2800">
                <a:solidFill>
                  <a:srgbClr val="000000"/>
                </a:solidFill>
                <a:ea typeface="Arial" panose="020B0604020202020204" pitchFamily="34" charset="0"/>
                <a:cs typeface="Arial" panose="020B0604020202020204" pitchFamily="34" charset="0"/>
              </a:rPr>
              <a:t>Lecture Presentation</a:t>
            </a:r>
            <a:endParaRPr lang="en-US" sz="2800">
              <a:solidFill>
                <a:srgbClr val="000000"/>
              </a:solidFill>
              <a:ea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076" name="Subtitle 2"/>
          <p:cNvSpPr/>
          <p:nvPr/>
        </p:nvSpPr>
        <p:spPr bwMode="auto">
          <a:xfrm>
            <a:off x="6019800" y="5791200"/>
            <a:ext cx="4572000" cy="9906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pPr algn="ctr"/>
            <a:r>
              <a:rPr lang="en-US">
                <a:solidFill>
                  <a:srgbClr val="0D0D0D"/>
                </a:solidFill>
              </a:rPr>
              <a:t>James  F. Kirby</a:t>
            </a:r>
            <a:endParaRPr lang="en-US">
              <a:solidFill>
                <a:srgbClr val="0D0D0D"/>
              </a:solidFill>
            </a:endParaRPr>
          </a:p>
          <a:p>
            <a:pPr algn="ctr"/>
            <a:r>
              <a:rPr lang="en-US">
                <a:solidFill>
                  <a:srgbClr val="0D0D0D"/>
                </a:solidFill>
              </a:rPr>
              <a:t>Quinnipiac University</a:t>
            </a:r>
            <a:endParaRPr lang="en-US">
              <a:solidFill>
                <a:srgbClr val="0D0D0D"/>
              </a:solidFill>
            </a:endParaRPr>
          </a:p>
          <a:p>
            <a:pPr algn="ctr"/>
            <a:r>
              <a:rPr lang="en-US">
                <a:solidFill>
                  <a:srgbClr val="0D0D0D"/>
                </a:solidFill>
              </a:rPr>
              <a:t>Hamden, CT</a:t>
            </a:r>
            <a:endParaRPr lang="en-US">
              <a:solidFill>
                <a:srgbClr val="0D0D0D"/>
              </a:solidFill>
            </a:endParaRPr>
          </a:p>
        </p:txBody>
      </p:sp>
      <p:sp>
        <p:nvSpPr>
          <p:cNvPr id="3077" name="Text Box 12"/>
          <p:cNvSpPr txBox="1">
            <a:spLocks noChangeArrowheads="1"/>
          </p:cNvSpPr>
          <p:nvPr/>
        </p:nvSpPr>
        <p:spPr bwMode="auto">
          <a:xfrm>
            <a:off x="1889125" y="6580188"/>
            <a:ext cx="8229600" cy="24511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r>
              <a:rPr lang="en-US" sz="1000">
                <a:solidFill>
                  <a:srgbClr val="73738C"/>
                </a:solidFill>
              </a:rPr>
              <a:t>© 2015 Pearson Education, Inc.</a:t>
            </a:r>
            <a:endParaRPr lang="en-US" sz="2400" b="1">
              <a:solidFill>
                <a:srgbClr val="73738C"/>
              </a:solidFill>
            </a:endParaRPr>
          </a:p>
        </p:txBody>
      </p:sp>
      <p:pic>
        <p:nvPicPr>
          <p:cNvPr id="7" name="Picture 1" descr="BROW0417_13_ecat.jpg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 bwMode="auto">
          <a:xfrm>
            <a:off x="1752600" y="736303"/>
            <a:ext cx="4227513" cy="5309193"/>
          </a:xfrm>
          <a:prstGeom prst="rect">
            <a:avLst/>
          </a:prstGeom>
          <a:noFill/>
          <a:ln w="3175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 spd="slow"/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Enthalpy/Entropy</a:t>
            </a:r>
            <a:endParaRPr lang="en-US"/>
          </a:p>
        </p:txBody>
      </p:sp>
      <p:sp>
        <p:nvSpPr>
          <p:cNvPr id="5123" name="Content Placeholder 2"/>
          <p:cNvSpPr>
            <a:spLocks noGrp="1"/>
          </p:cNvSpPr>
          <p:nvPr>
            <p:ph idx="1"/>
          </p:nvPr>
        </p:nvSpPr>
        <p:spPr>
          <a:xfrm>
            <a:off x="2133600" y="1676400"/>
            <a:ext cx="7772400" cy="4114800"/>
          </a:xfrm>
        </p:spPr>
        <p:txBody>
          <a:bodyPr/>
          <a:lstStyle/>
          <a:p>
            <a:pPr eaLnBrk="1" hangingPunct="1"/>
            <a:r>
              <a:rPr lang="en-US"/>
              <a:t>Enthalpy is the heat absorbed by a system during a constant-pressure process.</a:t>
            </a:r>
            <a:endParaRPr lang="en-US"/>
          </a:p>
          <a:p>
            <a:pPr eaLnBrk="1" hangingPunct="1"/>
            <a:r>
              <a:rPr lang="en-US"/>
              <a:t>Entropy is a measure of the randomness in a system.</a:t>
            </a:r>
            <a:endParaRPr lang="en-US"/>
          </a:p>
          <a:p>
            <a:pPr eaLnBrk="1" hangingPunct="1"/>
            <a:r>
              <a:rPr lang="en-US"/>
              <a:t>Both play a role in determining whether a process is spontaneous.</a:t>
            </a:r>
            <a:endParaRPr lang="en-US"/>
          </a:p>
        </p:txBody>
      </p:sp>
    </p:spTree>
  </p:cSld>
  <p:clrMapOvr>
    <a:masterClrMapping/>
  </p:clrMapOvr>
  <p:transition spd="slow"/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>
          <a:xfrm>
            <a:off x="1524000" y="-104775"/>
            <a:ext cx="9144000" cy="1143000"/>
          </a:xfrm>
        </p:spPr>
        <p:txBody>
          <a:bodyPr/>
          <a:lstStyle/>
          <a:p>
            <a:pPr eaLnBrk="1" hangingPunct="1"/>
            <a:r>
              <a:rPr lang="en-US"/>
              <a:t>Spontaneous Processes</a:t>
            </a:r>
            <a:endParaRPr lang="en-US"/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1541463" y="914400"/>
            <a:ext cx="5202237" cy="5334000"/>
          </a:xfrm>
        </p:spPr>
        <p:txBody>
          <a:bodyPr/>
          <a:lstStyle/>
          <a:p>
            <a:pPr eaLnBrk="1" hangingPunct="1"/>
            <a:r>
              <a:rPr lang="en-US" sz="2800" b="1" dirty="0"/>
              <a:t>Spontaneous processes</a:t>
            </a:r>
            <a:r>
              <a:rPr lang="en-US" sz="2800" dirty="0"/>
              <a:t> proceed without any outside assistance.</a:t>
            </a:r>
            <a:endParaRPr lang="en-US" sz="2800" dirty="0"/>
          </a:p>
          <a:p>
            <a:pPr eaLnBrk="1" hangingPunct="1"/>
            <a:r>
              <a:rPr lang="en-US" sz="2800" dirty="0"/>
              <a:t>The gas in vessel A will spontaneously effuse into vessel B, but it will </a:t>
            </a:r>
            <a:r>
              <a:rPr lang="en-US" sz="2800" i="1" dirty="0"/>
              <a:t>not</a:t>
            </a:r>
            <a:r>
              <a:rPr lang="en-US" sz="2800" dirty="0"/>
              <a:t> spontaneously return to vessel A.</a:t>
            </a:r>
            <a:endParaRPr lang="en-US" sz="2800" dirty="0"/>
          </a:p>
          <a:p>
            <a:pPr marL="342900" lvl="1" indent="-342900" eaLnBrk="1" hangingPunct="1">
              <a:buFontTx/>
              <a:buChar char="•"/>
            </a:pPr>
            <a:r>
              <a:rPr lang="en-US" dirty="0"/>
              <a:t>Processes that are spontaneous in one direction are </a:t>
            </a:r>
            <a:r>
              <a:rPr lang="en-US" dirty="0" err="1"/>
              <a:t>nonspontaneous</a:t>
            </a:r>
            <a:r>
              <a:rPr lang="en-US" dirty="0"/>
              <a:t> in the reverse direction.</a:t>
            </a:r>
            <a:endParaRPr lang="en-US" dirty="0"/>
          </a:p>
        </p:txBody>
      </p:sp>
      <p:pic>
        <p:nvPicPr>
          <p:cNvPr id="6" name="Picture 5" descr="19_02_Figure.jpg"/>
          <p:cNvPicPr>
            <a:picLocks noChangeAspect="1"/>
          </p:cNvPicPr>
          <p:nvPr/>
        </p:nvPicPr>
        <p:blipFill>
          <a:blip r:embed="rId1" cstate="print"/>
          <a:srcRect b="2546"/>
          <a:stretch>
            <a:fillRect/>
          </a:stretch>
        </p:blipFill>
        <p:spPr>
          <a:xfrm>
            <a:off x="6629400" y="1455493"/>
            <a:ext cx="1752600" cy="4488107"/>
          </a:xfrm>
          <a:prstGeom prst="rect">
            <a:avLst/>
          </a:prstGeom>
        </p:spPr>
      </p:pic>
      <p:pic>
        <p:nvPicPr>
          <p:cNvPr id="7" name="Picture 6" descr="19_01_Figure.jpg"/>
          <p:cNvPicPr>
            <a:picLocks noChangeAspect="1"/>
          </p:cNvPicPr>
          <p:nvPr/>
        </p:nvPicPr>
        <p:blipFill>
          <a:blip r:embed="rId2" cstate="print"/>
          <a:srcRect b="2546"/>
          <a:stretch>
            <a:fillRect/>
          </a:stretch>
        </p:blipFill>
        <p:spPr>
          <a:xfrm>
            <a:off x="8371416" y="838200"/>
            <a:ext cx="2105220" cy="4724400"/>
          </a:xfrm>
          <a:prstGeom prst="rect">
            <a:avLst/>
          </a:prstGeom>
        </p:spPr>
      </p:pic>
    </p:spTree>
  </p:cSld>
  <p:clrMapOvr>
    <a:masterClrMapping/>
  </p:clrMapOvr>
  <p:transition spd="slow"/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Entropy</a:t>
            </a:r>
            <a:endParaRPr lang="en-US"/>
          </a:p>
        </p:txBody>
      </p:sp>
      <p:sp>
        <p:nvSpPr>
          <p:cNvPr id="112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981200" y="1371600"/>
            <a:ext cx="8305800" cy="4419600"/>
          </a:xfrm>
        </p:spPr>
        <p:txBody>
          <a:bodyPr/>
          <a:lstStyle/>
          <a:p>
            <a:pPr eaLnBrk="1" hangingPunct="1"/>
            <a:r>
              <a:rPr lang="en-US" b="1" dirty="0"/>
              <a:t>Entropy</a:t>
            </a:r>
            <a:r>
              <a:rPr lang="en-US" dirty="0"/>
              <a:t> can be thought of as a measure of the randomness of a system.</a:t>
            </a:r>
            <a:endParaRPr lang="en-US" dirty="0"/>
          </a:p>
          <a:p>
            <a:pPr eaLnBrk="1" hangingPunct="1"/>
            <a:r>
              <a:rPr lang="en-US" dirty="0"/>
              <a:t>It is a state function:</a:t>
            </a:r>
            <a:endParaRPr lang="en-US" dirty="0"/>
          </a:p>
          <a:p>
            <a:pPr eaLnBrk="1" hangingPunct="1">
              <a:buFontTx/>
              <a:buNone/>
            </a:pPr>
            <a:r>
              <a:rPr lang="en-US"/>
              <a:t>	</a:t>
            </a:r>
            <a:endParaRPr lang="en-US" dirty="0"/>
          </a:p>
          <a:p>
            <a:pPr eaLnBrk="1" hangingPunct="1">
              <a:spcBef>
                <a:spcPts val="1400"/>
              </a:spcBef>
            </a:pPr>
            <a:r>
              <a:rPr lang="en-US"/>
              <a:t>It </a:t>
            </a:r>
            <a:r>
              <a:rPr lang="en-US" dirty="0"/>
              <a:t>can be found by heat transfer from surroundings at a given temperature:</a:t>
            </a:r>
            <a:endParaRPr lang="en-US" dirty="0"/>
          </a:p>
          <a:p>
            <a:pPr eaLnBrk="1" hangingPunct="1">
              <a:buFontTx/>
              <a:buNone/>
            </a:pPr>
            <a:r>
              <a:rPr lang="en-US"/>
              <a:t>	</a:t>
            </a:r>
            <a:endParaRPr lang="en-US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0" y="3225800"/>
            <a:ext cx="2960370" cy="35560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43400" y="4953000"/>
            <a:ext cx="3489960" cy="624840"/>
          </a:xfrm>
          <a:prstGeom prst="rect">
            <a:avLst/>
          </a:prstGeom>
        </p:spPr>
      </p:pic>
    </p:spTree>
  </p:cSld>
  <p:clrMapOvr>
    <a:masterClrMapping/>
  </p:clrMapOvr>
  <p:transition spd="slow"/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Second Law of Thermodynamics</a:t>
            </a:r>
            <a:endParaRPr lang="en-US"/>
          </a:p>
        </p:txBody>
      </p:sp>
      <p:sp>
        <p:nvSpPr>
          <p:cNvPr id="102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133600" y="1371600"/>
            <a:ext cx="7772400" cy="2438400"/>
          </a:xfrm>
        </p:spPr>
        <p:txBody>
          <a:bodyPr/>
          <a:lstStyle/>
          <a:p>
            <a:pPr eaLnBrk="1" hangingPunct="1"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en-US"/>
              <a:t>The entropy of the universe increases in any spontaneous processes.</a:t>
            </a:r>
            <a:endParaRPr lang="en-US"/>
          </a:p>
          <a:p>
            <a:pPr eaLnBrk="1" hangingPunct="1"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en-US"/>
              <a:t>This results in the following relationships:</a:t>
            </a:r>
            <a:endParaRPr lang="en-US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24225" y="3795495"/>
            <a:ext cx="5543550" cy="768350"/>
          </a:xfrm>
          <a:prstGeom prst="rect">
            <a:avLst/>
          </a:prstGeom>
        </p:spPr>
      </p:pic>
    </p:spTree>
  </p:cSld>
  <p:clrMapOvr>
    <a:masterClrMapping/>
  </p:clrMapOvr>
  <p:transition spd="slow"/>
</p:sld>
</file>

<file path=ppt/slides/slide1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Boltzmann’s Use of Microstates</a:t>
            </a:r>
            <a:endParaRPr lang="en-US"/>
          </a:p>
        </p:txBody>
      </p:sp>
      <p:sp>
        <p:nvSpPr>
          <p:cNvPr id="13315" name="Content Placeholder 2"/>
          <p:cNvSpPr>
            <a:spLocks noGrp="1"/>
          </p:cNvSpPr>
          <p:nvPr>
            <p:ph idx="1"/>
          </p:nvPr>
        </p:nvSpPr>
        <p:spPr>
          <a:xfrm>
            <a:off x="1752600" y="1447800"/>
            <a:ext cx="8763000" cy="4419600"/>
          </a:xfrm>
        </p:spPr>
        <p:txBody>
          <a:bodyPr/>
          <a:lstStyle/>
          <a:p>
            <a:r>
              <a:rPr lang="en-US"/>
              <a:t>Because there are so many possible microstates, we can’t look at every picture.</a:t>
            </a:r>
            <a:endParaRPr lang="en-US"/>
          </a:p>
          <a:p>
            <a:r>
              <a:rPr lang="en-US" i="1"/>
              <a:t>W</a:t>
            </a:r>
            <a:r>
              <a:rPr lang="en-US"/>
              <a:t> represents the number of microstates.</a:t>
            </a:r>
            <a:endParaRPr lang="en-US"/>
          </a:p>
          <a:p>
            <a:r>
              <a:rPr lang="en-US"/>
              <a:t>Entropy is a measure of how many microstates are associated with a particular macroscopic state.</a:t>
            </a:r>
            <a:endParaRPr lang="en-US"/>
          </a:p>
          <a:p>
            <a:r>
              <a:rPr lang="en-US"/>
              <a:t>The connection between the number of microstates and the entropy of the system is:</a:t>
            </a:r>
            <a:endParaRPr lang="en-US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57800" y="5867400"/>
            <a:ext cx="1485900" cy="236220"/>
          </a:xfrm>
          <a:prstGeom prst="rect">
            <a:avLst/>
          </a:prstGeom>
        </p:spPr>
      </p:pic>
    </p:spTree>
  </p:cSld>
  <p:clrMapOvr>
    <a:masterClrMapping/>
  </p:clrMapOvr>
  <p:transition spd="slow"/>
</p:sld>
</file>

<file path=ppt/slides/slide1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Entropy Change</a:t>
            </a:r>
            <a:endParaRPr lang="en-US"/>
          </a:p>
        </p:txBody>
      </p:sp>
      <p:sp>
        <p:nvSpPr>
          <p:cNvPr id="14339" name="Content Placeholder 2"/>
          <p:cNvSpPr>
            <a:spLocks noGrp="1"/>
          </p:cNvSpPr>
          <p:nvPr>
            <p:ph idx="1"/>
          </p:nvPr>
        </p:nvSpPr>
        <p:spPr>
          <a:xfrm>
            <a:off x="1828800" y="1295400"/>
            <a:ext cx="8610600" cy="3124200"/>
          </a:xfrm>
        </p:spPr>
        <p:txBody>
          <a:bodyPr/>
          <a:lstStyle/>
          <a:p>
            <a:r>
              <a:rPr lang="en-US"/>
              <a:t>Since entropy is a state function, the final value minus the initial value will give the overall change.</a:t>
            </a:r>
            <a:endParaRPr lang="en-US"/>
          </a:p>
          <a:p>
            <a:r>
              <a:rPr lang="en-US"/>
              <a:t>In this case, an increase in the number of microstates results in a positive entropy change (more disorder).</a:t>
            </a:r>
            <a:endParaRPr lang="en-US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00" y="4572000"/>
            <a:ext cx="5737860" cy="739140"/>
          </a:xfrm>
          <a:prstGeom prst="rect">
            <a:avLst/>
          </a:prstGeom>
        </p:spPr>
      </p:pic>
    </p:spTree>
  </p:cSld>
  <p:clrMapOvr>
    <a:masterClrMapping/>
  </p:clrMapOvr>
  <p:transition spd="slow"/>
</p:sld>
</file>

<file path=ppt/slides/slide1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Entropy Changes</a:t>
            </a:r>
            <a:endParaRPr lang="en-US"/>
          </a:p>
        </p:txBody>
      </p:sp>
      <p:sp>
        <p:nvSpPr>
          <p:cNvPr id="215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695450" y="1752600"/>
            <a:ext cx="8801100" cy="4495800"/>
          </a:xfrm>
        </p:spPr>
        <p:txBody>
          <a:bodyPr/>
          <a:lstStyle/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dirty="0"/>
              <a:t>	Entropy changes for a reaction can be calculated in a manner analogous to that by which </a:t>
            </a:r>
            <a:r>
              <a:rPr lang="en-US" dirty="0">
                <a:latin typeface="Symbol" panose="05050102010706020507" charset="2"/>
                <a:sym typeface="Symbol" panose="05050102010706020507" charset="2"/>
              </a:rPr>
              <a:t></a:t>
            </a:r>
            <a:r>
              <a:rPr lang="en-US" i="1" dirty="0"/>
              <a:t>H</a:t>
            </a:r>
            <a:r>
              <a:rPr lang="en-US" dirty="0"/>
              <a:t> is calculated:</a:t>
            </a:r>
            <a:endParaRPr lang="en-US" dirty="0"/>
          </a:p>
          <a:p>
            <a:pPr algn="ctr" eaLnBrk="1" hangingPunct="1">
              <a:lnSpc>
                <a:spcPct val="90000"/>
              </a:lnSpc>
              <a:buFontTx/>
              <a:buNone/>
            </a:pPr>
            <a:endParaRPr lang="en-US" dirty="0"/>
          </a:p>
          <a:p>
            <a:pPr algn="ctr" eaLnBrk="1" hangingPunct="1">
              <a:lnSpc>
                <a:spcPct val="90000"/>
              </a:lnSpc>
              <a:buFontTx/>
              <a:buNone/>
            </a:pPr>
            <a:r>
              <a:rPr lang="en-US" sz="3600">
                <a:latin typeface="Symbol" panose="05050102010706020507" charset="2"/>
                <a:sym typeface="Symbol" panose="05050102010706020507" charset="2"/>
              </a:rPr>
              <a:t></a:t>
            </a:r>
            <a:r>
              <a:rPr lang="en-US" i="1"/>
              <a:t>S</a:t>
            </a:r>
            <a:r>
              <a:rPr lang="en-US">
                <a:latin typeface="Arial" panose="020B0604020202020204"/>
                <a:cs typeface="Arial" panose="020B0604020202020204"/>
                <a:sym typeface="Symbol" panose="05050102010706020507" charset="2"/>
              </a:rPr>
              <a:t>°</a:t>
            </a:r>
            <a:r>
              <a:rPr lang="en-US">
                <a:sym typeface="Symbol" panose="05050102010706020507" charset="2"/>
              </a:rPr>
              <a:t> </a:t>
            </a:r>
            <a:r>
              <a:rPr lang="en-US" dirty="0">
                <a:sym typeface="Symbol" panose="05050102010706020507" charset="2"/>
              </a:rPr>
              <a:t>= </a:t>
            </a:r>
            <a:r>
              <a:rPr lang="en-US" sz="4000" dirty="0" err="1">
                <a:latin typeface="Symbol" panose="05050102010706020507" charset="2"/>
                <a:sym typeface="Symbol" panose="05050102010706020507" charset="2"/>
              </a:rPr>
              <a:t></a:t>
            </a:r>
            <a:r>
              <a:rPr lang="en-US" sz="3600" i="1" dirty="0" err="1"/>
              <a:t>n</a:t>
            </a:r>
            <a:r>
              <a:rPr lang="en-US" sz="3600" err="1">
                <a:latin typeface="Symbol" panose="05050102010706020507" charset="2"/>
                <a:sym typeface="Symbol" panose="05050102010706020507" charset="2"/>
              </a:rPr>
              <a:t></a:t>
            </a:r>
            <a:r>
              <a:rPr lang="en-US" i="1">
                <a:sym typeface="Symbol" panose="05050102010706020507" charset="2"/>
              </a:rPr>
              <a:t>S</a:t>
            </a:r>
            <a:r>
              <a:rPr lang="en-US">
                <a:latin typeface="Arial" panose="020B0604020202020204"/>
                <a:cs typeface="Arial" panose="020B0604020202020204"/>
                <a:sym typeface="Symbol" panose="05050102010706020507" charset="2"/>
              </a:rPr>
              <a:t>°</a:t>
            </a:r>
            <a:r>
              <a:rPr lang="en-US" sz="2800">
                <a:sym typeface="Symbol" panose="05050102010706020507" charset="2"/>
              </a:rPr>
              <a:t>(</a:t>
            </a:r>
            <a:r>
              <a:rPr lang="en-US" sz="2800" dirty="0" err="1">
                <a:sym typeface="Symbol" panose="05050102010706020507" charset="2"/>
              </a:rPr>
              <a:t>products</a:t>
            </a:r>
            <a:r>
              <a:rPr lang="en-US" sz="2800" dirty="0">
                <a:sym typeface="Symbol" panose="05050102010706020507" charset="2"/>
              </a:rPr>
              <a:t>)</a:t>
            </a:r>
            <a:r>
              <a:rPr lang="en-US" dirty="0">
                <a:sym typeface="Symbol" panose="05050102010706020507" charset="2"/>
              </a:rPr>
              <a:t> – </a:t>
            </a:r>
            <a:r>
              <a:rPr lang="en-US" sz="4000" dirty="0" err="1">
                <a:latin typeface="Symbol" panose="05050102010706020507" charset="2"/>
                <a:sym typeface="Symbol" panose="05050102010706020507" charset="2"/>
              </a:rPr>
              <a:t></a:t>
            </a:r>
            <a:r>
              <a:rPr lang="en-US" sz="3600" i="1" dirty="0" err="1"/>
              <a:t>m</a:t>
            </a:r>
            <a:r>
              <a:rPr lang="en-US" sz="3600" err="1">
                <a:latin typeface="Symbol" panose="05050102010706020507" charset="2"/>
                <a:sym typeface="Symbol" panose="05050102010706020507" charset="2"/>
              </a:rPr>
              <a:t></a:t>
            </a:r>
            <a:r>
              <a:rPr lang="en-US" i="1">
                <a:sym typeface="Symbol" panose="05050102010706020507" charset="2"/>
              </a:rPr>
              <a:t>S</a:t>
            </a:r>
            <a:r>
              <a:rPr lang="en-US">
                <a:latin typeface="Arial" panose="020B0604020202020204"/>
                <a:cs typeface="Arial" panose="020B0604020202020204"/>
                <a:sym typeface="Symbol" panose="05050102010706020507" charset="2"/>
              </a:rPr>
              <a:t>°</a:t>
            </a:r>
            <a:r>
              <a:rPr lang="en-US" sz="2800">
                <a:sym typeface="Symbol" panose="05050102010706020507" charset="2"/>
              </a:rPr>
              <a:t>(</a:t>
            </a:r>
            <a:r>
              <a:rPr lang="en-US" sz="2800" dirty="0" err="1">
                <a:sym typeface="Symbol" panose="05050102010706020507" charset="2"/>
              </a:rPr>
              <a:t>reactants</a:t>
            </a:r>
            <a:r>
              <a:rPr lang="en-US" sz="2800" dirty="0">
                <a:sym typeface="Symbol" panose="05050102010706020507" charset="2"/>
              </a:rPr>
              <a:t>)</a:t>
            </a:r>
            <a:endParaRPr lang="en-US" dirty="0"/>
          </a:p>
          <a:p>
            <a:pPr algn="ctr" eaLnBrk="1" hangingPunct="1">
              <a:buFontTx/>
              <a:buNone/>
            </a:pPr>
            <a:r>
              <a:rPr lang="en-US" dirty="0"/>
              <a:t>	</a:t>
            </a:r>
            <a:endParaRPr lang="en-US" dirty="0"/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dirty="0"/>
              <a:t>	where </a:t>
            </a:r>
            <a:r>
              <a:rPr lang="en-US" i="1" dirty="0" err="1"/>
              <a:t>n</a:t>
            </a:r>
            <a:r>
              <a:rPr lang="en-US" dirty="0"/>
              <a:t> and </a:t>
            </a:r>
            <a:r>
              <a:rPr lang="en-US" i="1" dirty="0" err="1"/>
              <a:t>m</a:t>
            </a:r>
            <a:r>
              <a:rPr lang="en-US" dirty="0"/>
              <a:t> are the coefficients in the balanced chemical equation.</a:t>
            </a:r>
            <a:endParaRPr lang="en-US" dirty="0"/>
          </a:p>
        </p:txBody>
      </p:sp>
    </p:spTree>
  </p:cSld>
  <p:clrMapOvr>
    <a:masterClrMapping/>
  </p:clrMapOvr>
  <p:transition spd="slow"/>
</p:sld>
</file>

<file path=ppt/slides/slide15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title"/>
          </p:nvPr>
        </p:nvSpPr>
        <p:spPr>
          <a:xfrm>
            <a:off x="1981200" y="0"/>
            <a:ext cx="8458200" cy="1143000"/>
          </a:xfrm>
        </p:spPr>
        <p:txBody>
          <a:bodyPr/>
          <a:lstStyle/>
          <a:p>
            <a:pPr eaLnBrk="1" hangingPunct="1"/>
            <a:r>
              <a:rPr lang="en-US"/>
              <a:t>Total Entropy and Spontaneity</a:t>
            </a:r>
            <a:endParaRPr lang="en-US"/>
          </a:p>
        </p:txBody>
      </p:sp>
      <p:sp>
        <p:nvSpPr>
          <p:cNvPr id="266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905000" y="1219200"/>
            <a:ext cx="8534400" cy="4953000"/>
          </a:xfrm>
        </p:spPr>
        <p:txBody>
          <a:bodyPr/>
          <a:lstStyle/>
          <a:p>
            <a:pPr eaLnBrk="1" hangingPunct="1"/>
            <a:r>
              <a:rPr lang="el-GR" sz="2800">
                <a:latin typeface="Arial Unicode MS" charset="0"/>
                <a:ea typeface="Arial Unicode MS" charset="0"/>
                <a:cs typeface="Arial Unicode MS" charset="0"/>
              </a:rPr>
              <a:t>Δ</a:t>
            </a:r>
            <a:r>
              <a:rPr lang="en-US" sz="2800" i="1">
                <a:latin typeface="Arial Unicode MS" charset="0"/>
                <a:ea typeface="Arial Unicode MS" charset="0"/>
                <a:cs typeface="Arial Unicode MS" charset="0"/>
              </a:rPr>
              <a:t>S</a:t>
            </a:r>
            <a:r>
              <a:rPr lang="en-US" sz="2800" baseline="-25000">
                <a:latin typeface="Arial Unicode MS" charset="0"/>
                <a:ea typeface="Arial Unicode MS" charset="0"/>
                <a:cs typeface="Arial Unicode MS" charset="0"/>
              </a:rPr>
              <a:t>universe</a:t>
            </a:r>
            <a:r>
              <a:rPr lang="en-US" sz="2800">
                <a:latin typeface="Arial Unicode MS" charset="0"/>
                <a:ea typeface="Arial Unicode MS" charset="0"/>
                <a:cs typeface="Arial Unicode MS" charset="0"/>
              </a:rPr>
              <a:t>  =  </a:t>
            </a:r>
            <a:r>
              <a:rPr lang="el-GR" sz="2800">
                <a:latin typeface="Arial Unicode MS" charset="0"/>
                <a:ea typeface="Arial Unicode MS" charset="0"/>
                <a:cs typeface="Arial Unicode MS" charset="0"/>
              </a:rPr>
              <a:t>Δ</a:t>
            </a:r>
            <a:r>
              <a:rPr lang="en-US" sz="2800" i="1">
                <a:latin typeface="Arial Unicode MS" charset="0"/>
                <a:ea typeface="Arial Unicode MS" charset="0"/>
                <a:cs typeface="Arial Unicode MS" charset="0"/>
              </a:rPr>
              <a:t>S</a:t>
            </a:r>
            <a:r>
              <a:rPr lang="en-US" sz="2800" baseline="-25000">
                <a:latin typeface="Arial Unicode MS" charset="0"/>
                <a:ea typeface="Arial Unicode MS" charset="0"/>
                <a:cs typeface="Arial Unicode MS" charset="0"/>
              </a:rPr>
              <a:t>system</a:t>
            </a:r>
            <a:r>
              <a:rPr lang="en-US" sz="2800">
                <a:latin typeface="Arial Unicode MS" charset="0"/>
                <a:ea typeface="Arial Unicode MS" charset="0"/>
                <a:cs typeface="Arial Unicode MS" charset="0"/>
              </a:rPr>
              <a:t>  +  </a:t>
            </a:r>
            <a:r>
              <a:rPr lang="el-GR" sz="2800">
                <a:latin typeface="Arial Unicode MS" charset="0"/>
                <a:ea typeface="Arial Unicode MS" charset="0"/>
                <a:cs typeface="Arial Unicode MS" charset="0"/>
              </a:rPr>
              <a:t>Δ</a:t>
            </a:r>
            <a:r>
              <a:rPr lang="en-US" sz="2800" i="1">
                <a:latin typeface="Arial Unicode MS" charset="0"/>
                <a:ea typeface="Arial Unicode MS" charset="0"/>
                <a:cs typeface="Arial Unicode MS" charset="0"/>
              </a:rPr>
              <a:t>S</a:t>
            </a:r>
            <a:r>
              <a:rPr lang="en-US" sz="2800" baseline="-25000">
                <a:latin typeface="Arial Unicode MS" charset="0"/>
                <a:ea typeface="Arial Unicode MS" charset="0"/>
                <a:cs typeface="Arial Unicode MS" charset="0"/>
              </a:rPr>
              <a:t>surroundings</a:t>
            </a:r>
            <a:endParaRPr lang="en-US" sz="2800">
              <a:latin typeface="Arial Unicode MS" charset="0"/>
              <a:ea typeface="Arial Unicode MS" charset="0"/>
              <a:cs typeface="Arial Unicode MS" charset="0"/>
            </a:endParaRPr>
          </a:p>
          <a:p>
            <a:pPr eaLnBrk="1" hangingPunct="1"/>
            <a:r>
              <a:rPr lang="en-US" sz="2800">
                <a:latin typeface="Arial Unicode MS" charset="0"/>
                <a:ea typeface="Arial Unicode MS" charset="0"/>
                <a:cs typeface="Arial Unicode MS" charset="0"/>
              </a:rPr>
              <a:t>Substitute for the entropy of the surroundings:</a:t>
            </a:r>
            <a:endParaRPr lang="en-US" sz="2800">
              <a:latin typeface="Arial Unicode MS" charset="0"/>
              <a:ea typeface="Arial Unicode MS" charset="0"/>
              <a:cs typeface="Arial Unicode MS" charset="0"/>
            </a:endParaRPr>
          </a:p>
          <a:p>
            <a:pPr lvl="1" eaLnBrk="1" hangingPunct="1">
              <a:buClr>
                <a:srgbClr val="00CC00"/>
              </a:buClr>
              <a:buFont typeface="Wingdings" panose="05000000000000000000" pitchFamily="2" charset="2"/>
              <a:buChar char="Ø"/>
            </a:pPr>
            <a:r>
              <a:rPr lang="el-GR">
                <a:latin typeface="Arial Unicode MS" charset="0"/>
                <a:ea typeface="Arial Unicode MS" charset="0"/>
                <a:cs typeface="Arial Unicode MS" charset="0"/>
              </a:rPr>
              <a:t>Δ</a:t>
            </a:r>
            <a:r>
              <a:rPr lang="en-US" i="1">
                <a:latin typeface="Arial Unicode MS" charset="0"/>
                <a:ea typeface="Arial Unicode MS" charset="0"/>
                <a:cs typeface="Arial Unicode MS" charset="0"/>
              </a:rPr>
              <a:t>S</a:t>
            </a:r>
            <a:r>
              <a:rPr lang="en-US" baseline="-25000">
                <a:latin typeface="Arial Unicode MS" charset="0"/>
                <a:ea typeface="Arial Unicode MS" charset="0"/>
                <a:cs typeface="Arial Unicode MS" charset="0"/>
              </a:rPr>
              <a:t>universe</a:t>
            </a:r>
            <a:r>
              <a:rPr lang="en-US">
                <a:latin typeface="Arial Unicode MS" charset="0"/>
                <a:ea typeface="Arial Unicode MS" charset="0"/>
                <a:cs typeface="Arial Unicode MS" charset="0"/>
              </a:rPr>
              <a:t>  =  </a:t>
            </a:r>
            <a:r>
              <a:rPr lang="el-GR">
                <a:latin typeface="Arial Unicode MS" charset="0"/>
                <a:ea typeface="Arial Unicode MS" charset="0"/>
                <a:cs typeface="Arial Unicode MS" charset="0"/>
              </a:rPr>
              <a:t>Δ</a:t>
            </a:r>
            <a:r>
              <a:rPr lang="en-US" i="1">
                <a:latin typeface="Arial Unicode MS" charset="0"/>
                <a:ea typeface="Arial Unicode MS" charset="0"/>
                <a:cs typeface="Arial Unicode MS" charset="0"/>
              </a:rPr>
              <a:t>S</a:t>
            </a:r>
            <a:r>
              <a:rPr lang="en-US" baseline="-25000">
                <a:latin typeface="Arial Unicode MS" charset="0"/>
                <a:ea typeface="Arial Unicode MS" charset="0"/>
                <a:cs typeface="Arial Unicode MS" charset="0"/>
              </a:rPr>
              <a:t>system</a:t>
            </a:r>
            <a:r>
              <a:rPr lang="en-US">
                <a:latin typeface="Arial Unicode MS" charset="0"/>
                <a:ea typeface="Arial Unicode MS" charset="0"/>
                <a:cs typeface="Arial Unicode MS" charset="0"/>
              </a:rPr>
              <a:t>  –  </a:t>
            </a:r>
            <a:r>
              <a:rPr lang="el-GR">
                <a:latin typeface="Arial Unicode MS" charset="0"/>
                <a:ea typeface="Arial Unicode MS" charset="0"/>
                <a:cs typeface="Arial Unicode MS" charset="0"/>
              </a:rPr>
              <a:t>Δ</a:t>
            </a:r>
            <a:r>
              <a:rPr lang="en-US" i="1">
                <a:latin typeface="Arial Unicode MS" charset="0"/>
                <a:ea typeface="Arial Unicode MS" charset="0"/>
                <a:cs typeface="Arial Unicode MS" charset="0"/>
              </a:rPr>
              <a:t>H</a:t>
            </a:r>
            <a:r>
              <a:rPr lang="en-US" baseline="-25000">
                <a:latin typeface="Arial Unicode MS" charset="0"/>
                <a:ea typeface="Arial Unicode MS" charset="0"/>
                <a:cs typeface="Arial Unicode MS" charset="0"/>
              </a:rPr>
              <a:t>system</a:t>
            </a:r>
            <a:r>
              <a:rPr lang="en-US">
                <a:latin typeface="Arial Unicode MS" charset="0"/>
                <a:ea typeface="Arial Unicode MS" charset="0"/>
                <a:cs typeface="Arial Unicode MS" charset="0"/>
              </a:rPr>
              <a:t>/</a:t>
            </a:r>
            <a:r>
              <a:rPr lang="en-US" i="1">
                <a:latin typeface="Arial Unicode MS" charset="0"/>
                <a:ea typeface="Arial Unicode MS" charset="0"/>
                <a:cs typeface="Arial Unicode MS" charset="0"/>
              </a:rPr>
              <a:t>T</a:t>
            </a:r>
            <a:endParaRPr lang="en-US" i="1">
              <a:latin typeface="Arial Unicode MS" charset="0"/>
              <a:ea typeface="Arial Unicode MS" charset="0"/>
              <a:cs typeface="Arial Unicode MS" charset="0"/>
            </a:endParaRPr>
          </a:p>
          <a:p>
            <a:pPr eaLnBrk="1" hangingPunct="1"/>
            <a:r>
              <a:rPr lang="en-US" sz="2800">
                <a:latin typeface="Arial Unicode MS" charset="0"/>
                <a:ea typeface="Arial Unicode MS" charset="0"/>
                <a:cs typeface="Arial Unicode MS" charset="0"/>
              </a:rPr>
              <a:t>Multiply by −</a:t>
            </a:r>
            <a:r>
              <a:rPr lang="en-US" sz="2800" i="1">
                <a:latin typeface="Arial Unicode MS" charset="0"/>
                <a:ea typeface="Arial Unicode MS" charset="0"/>
                <a:cs typeface="Arial Unicode MS" charset="0"/>
              </a:rPr>
              <a:t>T</a:t>
            </a:r>
            <a:r>
              <a:rPr lang="en-US" sz="2800">
                <a:latin typeface="Arial Unicode MS" charset="0"/>
                <a:ea typeface="Arial Unicode MS" charset="0"/>
                <a:cs typeface="Arial Unicode MS" charset="0"/>
              </a:rPr>
              <a:t>:</a:t>
            </a:r>
            <a:endParaRPr lang="en-US" sz="2800">
              <a:latin typeface="Arial Unicode MS" charset="0"/>
              <a:ea typeface="Arial Unicode MS" charset="0"/>
              <a:cs typeface="Arial Unicode MS" charset="0"/>
            </a:endParaRPr>
          </a:p>
          <a:p>
            <a:pPr lvl="1" eaLnBrk="1" hangingPunct="1">
              <a:buClr>
                <a:srgbClr val="00CC00"/>
              </a:buClr>
              <a:buFont typeface="Wingdings" panose="05000000000000000000" pitchFamily="2" charset="2"/>
              <a:buChar char="Ø"/>
            </a:pPr>
            <a:r>
              <a:rPr lang="en-US">
                <a:latin typeface="Arial Unicode MS" charset="0"/>
                <a:ea typeface="Arial Unicode MS" charset="0"/>
                <a:cs typeface="Arial Unicode MS" charset="0"/>
              </a:rPr>
              <a:t>−</a:t>
            </a:r>
            <a:r>
              <a:rPr lang="en-US" i="1">
                <a:latin typeface="Arial Unicode MS" charset="0"/>
                <a:ea typeface="Arial Unicode MS" charset="0"/>
                <a:cs typeface="Arial Unicode MS" charset="0"/>
              </a:rPr>
              <a:t>T</a:t>
            </a:r>
            <a:r>
              <a:rPr lang="el-GR">
                <a:latin typeface="Arial Unicode MS" charset="0"/>
                <a:ea typeface="Arial Unicode MS" charset="0"/>
                <a:cs typeface="Arial Unicode MS" charset="0"/>
              </a:rPr>
              <a:t>Δ</a:t>
            </a:r>
            <a:r>
              <a:rPr lang="en-US" i="1">
                <a:latin typeface="Arial Unicode MS" charset="0"/>
                <a:ea typeface="Arial Unicode MS" charset="0"/>
                <a:cs typeface="Arial Unicode MS" charset="0"/>
              </a:rPr>
              <a:t>S</a:t>
            </a:r>
            <a:r>
              <a:rPr lang="en-US" baseline="-25000">
                <a:latin typeface="Arial Unicode MS" charset="0"/>
                <a:ea typeface="Arial Unicode MS" charset="0"/>
                <a:cs typeface="Arial Unicode MS" charset="0"/>
              </a:rPr>
              <a:t>universe</a:t>
            </a:r>
            <a:r>
              <a:rPr lang="en-US">
                <a:latin typeface="Arial Unicode MS" charset="0"/>
                <a:ea typeface="Arial Unicode MS" charset="0"/>
                <a:cs typeface="Arial Unicode MS" charset="0"/>
              </a:rPr>
              <a:t>  =  −</a:t>
            </a:r>
            <a:r>
              <a:rPr lang="en-US" i="1">
                <a:latin typeface="Arial Unicode MS" charset="0"/>
                <a:ea typeface="Arial Unicode MS" charset="0"/>
                <a:cs typeface="Arial Unicode MS" charset="0"/>
              </a:rPr>
              <a:t>T</a:t>
            </a:r>
            <a:r>
              <a:rPr lang="el-GR">
                <a:latin typeface="Arial Unicode MS" charset="0"/>
                <a:ea typeface="Arial Unicode MS" charset="0"/>
                <a:cs typeface="Arial Unicode MS" charset="0"/>
              </a:rPr>
              <a:t>Δ</a:t>
            </a:r>
            <a:r>
              <a:rPr lang="en-US" i="1">
                <a:latin typeface="Arial Unicode MS" charset="0"/>
                <a:ea typeface="Arial Unicode MS" charset="0"/>
                <a:cs typeface="Arial Unicode MS" charset="0"/>
              </a:rPr>
              <a:t>S</a:t>
            </a:r>
            <a:r>
              <a:rPr lang="en-US" baseline="-25000">
                <a:latin typeface="Arial Unicode MS" charset="0"/>
                <a:ea typeface="Arial Unicode MS" charset="0"/>
                <a:cs typeface="Arial Unicode MS" charset="0"/>
              </a:rPr>
              <a:t>system</a:t>
            </a:r>
            <a:r>
              <a:rPr lang="en-US">
                <a:latin typeface="Arial Unicode MS" charset="0"/>
                <a:ea typeface="Arial Unicode MS" charset="0"/>
                <a:cs typeface="Arial Unicode MS" charset="0"/>
              </a:rPr>
              <a:t> +  </a:t>
            </a:r>
            <a:r>
              <a:rPr lang="el-GR">
                <a:latin typeface="Arial Unicode MS" charset="0"/>
                <a:ea typeface="Arial Unicode MS" charset="0"/>
                <a:cs typeface="Arial Unicode MS" charset="0"/>
              </a:rPr>
              <a:t>Δ</a:t>
            </a:r>
            <a:r>
              <a:rPr lang="en-US" i="1">
                <a:latin typeface="Arial Unicode MS" charset="0"/>
                <a:ea typeface="Arial Unicode MS" charset="0"/>
                <a:cs typeface="Arial Unicode MS" charset="0"/>
              </a:rPr>
              <a:t>H</a:t>
            </a:r>
            <a:r>
              <a:rPr lang="en-US" baseline="-25000">
                <a:latin typeface="Arial Unicode MS" charset="0"/>
                <a:ea typeface="Arial Unicode MS" charset="0"/>
                <a:cs typeface="Arial Unicode MS" charset="0"/>
              </a:rPr>
              <a:t>system</a:t>
            </a:r>
            <a:endParaRPr lang="en-US">
              <a:latin typeface="Arial Unicode MS" charset="0"/>
              <a:ea typeface="Arial Unicode MS" charset="0"/>
              <a:cs typeface="Arial Unicode MS" charset="0"/>
            </a:endParaRPr>
          </a:p>
          <a:p>
            <a:pPr eaLnBrk="1" hangingPunct="1"/>
            <a:r>
              <a:rPr lang="en-US" sz="2800">
                <a:latin typeface="Arial Unicode MS" charset="0"/>
                <a:ea typeface="Arial Unicode MS" charset="0"/>
                <a:cs typeface="Arial Unicode MS" charset="0"/>
              </a:rPr>
              <a:t>Rearrange:</a:t>
            </a:r>
            <a:endParaRPr lang="en-US" sz="2800">
              <a:latin typeface="Arial Unicode MS" charset="0"/>
              <a:ea typeface="Arial Unicode MS" charset="0"/>
              <a:cs typeface="Arial Unicode MS" charset="0"/>
            </a:endParaRPr>
          </a:p>
          <a:p>
            <a:pPr lvl="1" eaLnBrk="1" hangingPunct="1">
              <a:buClr>
                <a:srgbClr val="00CC00"/>
              </a:buClr>
              <a:buFont typeface="Wingdings" panose="05000000000000000000" pitchFamily="2" charset="2"/>
              <a:buChar char="Ø"/>
            </a:pPr>
            <a:r>
              <a:rPr lang="en-US">
                <a:latin typeface="Arial Unicode MS" charset="0"/>
                <a:ea typeface="Arial Unicode MS" charset="0"/>
                <a:cs typeface="Arial Unicode MS" charset="0"/>
              </a:rPr>
              <a:t>−</a:t>
            </a:r>
            <a:r>
              <a:rPr lang="en-US" i="1">
                <a:latin typeface="Arial Unicode MS" charset="0"/>
                <a:ea typeface="Arial Unicode MS" charset="0"/>
                <a:cs typeface="Arial Unicode MS" charset="0"/>
              </a:rPr>
              <a:t>T</a:t>
            </a:r>
            <a:r>
              <a:rPr lang="el-GR">
                <a:latin typeface="Arial Unicode MS" charset="0"/>
                <a:ea typeface="Arial Unicode MS" charset="0"/>
                <a:cs typeface="Arial Unicode MS" charset="0"/>
              </a:rPr>
              <a:t>Δ</a:t>
            </a:r>
            <a:r>
              <a:rPr lang="en-US" i="1">
                <a:latin typeface="Arial Unicode MS" charset="0"/>
                <a:ea typeface="Arial Unicode MS" charset="0"/>
                <a:cs typeface="Arial Unicode MS" charset="0"/>
              </a:rPr>
              <a:t>S</a:t>
            </a:r>
            <a:r>
              <a:rPr lang="en-US" baseline="-25000">
                <a:latin typeface="Arial Unicode MS" charset="0"/>
                <a:ea typeface="Arial Unicode MS" charset="0"/>
                <a:cs typeface="Arial Unicode MS" charset="0"/>
              </a:rPr>
              <a:t>universe</a:t>
            </a:r>
            <a:r>
              <a:rPr lang="en-US">
                <a:latin typeface="Arial Unicode MS" charset="0"/>
                <a:ea typeface="Arial Unicode MS" charset="0"/>
                <a:cs typeface="Arial Unicode MS" charset="0"/>
              </a:rPr>
              <a:t>  =  </a:t>
            </a:r>
            <a:r>
              <a:rPr lang="el-GR">
                <a:latin typeface="Arial Unicode MS" charset="0"/>
                <a:ea typeface="Arial Unicode MS" charset="0"/>
                <a:cs typeface="Arial Unicode MS" charset="0"/>
              </a:rPr>
              <a:t>Δ</a:t>
            </a:r>
            <a:r>
              <a:rPr lang="en-US" i="1">
                <a:latin typeface="Arial Unicode MS" charset="0"/>
                <a:ea typeface="Arial Unicode MS" charset="0"/>
                <a:cs typeface="Arial Unicode MS" charset="0"/>
              </a:rPr>
              <a:t>H</a:t>
            </a:r>
            <a:r>
              <a:rPr lang="en-US" baseline="-25000">
                <a:latin typeface="Arial Unicode MS" charset="0"/>
                <a:ea typeface="Arial Unicode MS" charset="0"/>
                <a:cs typeface="Arial Unicode MS" charset="0"/>
              </a:rPr>
              <a:t>system</a:t>
            </a:r>
            <a:r>
              <a:rPr lang="en-US">
                <a:latin typeface="Arial Unicode MS" charset="0"/>
                <a:ea typeface="Arial Unicode MS" charset="0"/>
                <a:cs typeface="Arial Unicode MS" charset="0"/>
              </a:rPr>
              <a:t>  −  </a:t>
            </a:r>
            <a:r>
              <a:rPr lang="en-US" i="1">
                <a:latin typeface="Arial Unicode MS" charset="0"/>
                <a:ea typeface="Arial Unicode MS" charset="0"/>
                <a:cs typeface="Arial Unicode MS" charset="0"/>
              </a:rPr>
              <a:t>T</a:t>
            </a:r>
            <a:r>
              <a:rPr lang="el-GR">
                <a:latin typeface="Arial Unicode MS" charset="0"/>
                <a:ea typeface="Arial Unicode MS" charset="0"/>
                <a:cs typeface="Arial Unicode MS" charset="0"/>
              </a:rPr>
              <a:t>Δ</a:t>
            </a:r>
            <a:r>
              <a:rPr lang="en-US" i="1">
                <a:latin typeface="Arial Unicode MS" charset="0"/>
                <a:ea typeface="Arial Unicode MS" charset="0"/>
                <a:cs typeface="Arial Unicode MS" charset="0"/>
              </a:rPr>
              <a:t>S</a:t>
            </a:r>
            <a:r>
              <a:rPr lang="en-US" baseline="-25000">
                <a:latin typeface="Arial Unicode MS" charset="0"/>
                <a:ea typeface="Arial Unicode MS" charset="0"/>
                <a:cs typeface="Arial Unicode MS" charset="0"/>
              </a:rPr>
              <a:t>system</a:t>
            </a:r>
            <a:endParaRPr lang="en-US" baseline="-25000">
              <a:latin typeface="Arial Unicode MS" charset="0"/>
              <a:ea typeface="Arial Unicode MS" charset="0"/>
              <a:cs typeface="Arial Unicode MS" charset="0"/>
            </a:endParaRPr>
          </a:p>
          <a:p>
            <a:pPr eaLnBrk="1" hangingPunct="1"/>
            <a:r>
              <a:rPr lang="en-US" sz="2800">
                <a:latin typeface="Arial Unicode MS" charset="0"/>
                <a:ea typeface="Arial Unicode MS" charset="0"/>
                <a:cs typeface="Arial Unicode MS" charset="0"/>
              </a:rPr>
              <a:t>Call </a:t>
            </a:r>
            <a:r>
              <a:rPr lang="en-US" sz="2800" b="1">
                <a:latin typeface="Arial Unicode MS" charset="0"/>
                <a:ea typeface="Arial Unicode MS" charset="0"/>
                <a:cs typeface="Arial Unicode MS" charset="0"/>
              </a:rPr>
              <a:t>−</a:t>
            </a:r>
            <a:r>
              <a:rPr lang="en-US" sz="2800" b="1" i="1">
                <a:latin typeface="Arial Unicode MS" charset="0"/>
                <a:ea typeface="Arial Unicode MS" charset="0"/>
                <a:cs typeface="Arial Unicode MS" charset="0"/>
              </a:rPr>
              <a:t>T</a:t>
            </a:r>
            <a:r>
              <a:rPr lang="el-GR" sz="2800" b="1">
                <a:latin typeface="Arial Unicode MS" charset="0"/>
                <a:ea typeface="Arial Unicode MS" charset="0"/>
                <a:cs typeface="Arial Unicode MS" charset="0"/>
              </a:rPr>
              <a:t>Δ</a:t>
            </a:r>
            <a:r>
              <a:rPr lang="en-US" sz="2800" b="1" i="1">
                <a:latin typeface="Arial Unicode MS" charset="0"/>
                <a:ea typeface="Arial Unicode MS" charset="0"/>
                <a:cs typeface="Arial Unicode MS" charset="0"/>
              </a:rPr>
              <a:t>S</a:t>
            </a:r>
            <a:r>
              <a:rPr lang="en-US" sz="2800" b="1" baseline="-25000">
                <a:latin typeface="Arial Unicode MS" charset="0"/>
                <a:ea typeface="Arial Unicode MS" charset="0"/>
                <a:cs typeface="Arial Unicode MS" charset="0"/>
              </a:rPr>
              <a:t>universe</a:t>
            </a:r>
            <a:r>
              <a:rPr lang="en-US" sz="2800">
                <a:latin typeface="Arial Unicode MS" charset="0"/>
                <a:ea typeface="Arial Unicode MS" charset="0"/>
                <a:cs typeface="Arial Unicode MS" charset="0"/>
              </a:rPr>
              <a:t> the </a:t>
            </a:r>
            <a:r>
              <a:rPr lang="en-US" sz="2800" b="1">
                <a:latin typeface="Arial Unicode MS" charset="0"/>
                <a:ea typeface="Arial Unicode MS" charset="0"/>
                <a:cs typeface="Arial Unicode MS" charset="0"/>
              </a:rPr>
              <a:t>Gibbs Free Energy (</a:t>
            </a:r>
            <a:r>
              <a:rPr lang="el-GR" sz="2800" b="1">
                <a:latin typeface="Arial Unicode MS" charset="0"/>
                <a:ea typeface="Arial Unicode MS" charset="0"/>
                <a:cs typeface="Arial Unicode MS" charset="0"/>
              </a:rPr>
              <a:t>Δ</a:t>
            </a:r>
            <a:r>
              <a:rPr lang="en-US" sz="2800" b="1" i="1">
                <a:latin typeface="Arial Unicode MS" charset="0"/>
                <a:ea typeface="Arial Unicode MS" charset="0"/>
                <a:cs typeface="Arial Unicode MS" charset="0"/>
              </a:rPr>
              <a:t>G</a:t>
            </a:r>
            <a:r>
              <a:rPr lang="en-US" sz="2800" b="1">
                <a:latin typeface="Arial Unicode MS" charset="0"/>
                <a:ea typeface="Arial Unicode MS" charset="0"/>
                <a:cs typeface="Arial Unicode MS" charset="0"/>
              </a:rPr>
              <a:t>):</a:t>
            </a:r>
            <a:endParaRPr lang="en-US" sz="2800" b="1">
              <a:latin typeface="Arial Unicode MS" charset="0"/>
              <a:ea typeface="Arial Unicode MS" charset="0"/>
              <a:cs typeface="Arial Unicode MS" charset="0"/>
            </a:endParaRPr>
          </a:p>
          <a:p>
            <a:pPr lvl="1" eaLnBrk="1" hangingPunct="1">
              <a:buFont typeface="Arial" panose="020B0604020202020204" pitchFamily="34" charset="0"/>
              <a:buChar char="•"/>
            </a:pPr>
            <a:r>
              <a:rPr lang="el-GR" sz="3200" b="1">
                <a:latin typeface="Arial Unicode MS" charset="0"/>
                <a:ea typeface="Arial Unicode MS" charset="0"/>
                <a:cs typeface="Arial Unicode MS" charset="0"/>
              </a:rPr>
              <a:t>Δ</a:t>
            </a:r>
            <a:r>
              <a:rPr lang="en-US" sz="3200" b="1" i="1">
                <a:latin typeface="Arial Unicode MS" charset="0"/>
                <a:ea typeface="Arial Unicode MS" charset="0"/>
                <a:cs typeface="Arial Unicode MS" charset="0"/>
              </a:rPr>
              <a:t>G</a:t>
            </a:r>
            <a:r>
              <a:rPr lang="en-US" sz="3200" b="1">
                <a:latin typeface="Arial Unicode MS" charset="0"/>
                <a:ea typeface="Arial Unicode MS" charset="0"/>
                <a:cs typeface="Arial Unicode MS" charset="0"/>
              </a:rPr>
              <a:t>  =  </a:t>
            </a:r>
            <a:r>
              <a:rPr lang="el-GR" sz="3200" b="1">
                <a:latin typeface="Arial Unicode MS" charset="0"/>
                <a:ea typeface="Arial Unicode MS" charset="0"/>
                <a:cs typeface="Arial Unicode MS" charset="0"/>
              </a:rPr>
              <a:t>Δ</a:t>
            </a:r>
            <a:r>
              <a:rPr lang="en-US" sz="3200" b="1" i="1">
                <a:latin typeface="Arial Unicode MS" charset="0"/>
                <a:ea typeface="Arial Unicode MS" charset="0"/>
                <a:cs typeface="Arial Unicode MS" charset="0"/>
              </a:rPr>
              <a:t>H</a:t>
            </a:r>
            <a:r>
              <a:rPr lang="en-US" sz="3200" b="1">
                <a:latin typeface="Arial Unicode MS" charset="0"/>
                <a:ea typeface="Arial Unicode MS" charset="0"/>
                <a:cs typeface="Arial Unicode MS" charset="0"/>
              </a:rPr>
              <a:t>  − </a:t>
            </a:r>
            <a:r>
              <a:rPr lang="en-US" sz="3200" b="1" i="1">
                <a:latin typeface="Arial Unicode MS" charset="0"/>
                <a:ea typeface="Arial Unicode MS" charset="0"/>
                <a:cs typeface="Arial Unicode MS" charset="0"/>
              </a:rPr>
              <a:t>T</a:t>
            </a:r>
            <a:r>
              <a:rPr lang="en-US" sz="3200" b="1">
                <a:latin typeface="Arial Unicode MS" charset="0"/>
                <a:ea typeface="Arial Unicode MS" charset="0"/>
                <a:cs typeface="Arial Unicode MS" charset="0"/>
              </a:rPr>
              <a:t> </a:t>
            </a:r>
            <a:r>
              <a:rPr lang="el-GR" sz="3200" b="1">
                <a:latin typeface="Arial Unicode MS" charset="0"/>
                <a:ea typeface="Arial Unicode MS" charset="0"/>
                <a:cs typeface="Arial Unicode MS" charset="0"/>
              </a:rPr>
              <a:t>Δ</a:t>
            </a:r>
            <a:r>
              <a:rPr lang="en-US" sz="3200" b="1" i="1">
                <a:latin typeface="Arial Unicode MS" charset="0"/>
                <a:ea typeface="Arial Unicode MS" charset="0"/>
                <a:cs typeface="Arial Unicode MS" charset="0"/>
              </a:rPr>
              <a:t>S</a:t>
            </a:r>
            <a:endParaRPr lang="el-GR" sz="3200" b="1" i="1">
              <a:latin typeface="Arial Unicode MS" charset="0"/>
              <a:ea typeface="Arial Unicode MS" charset="0"/>
              <a:cs typeface="Arial Unicode MS" charset="0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3429000" y="5919470"/>
            <a:ext cx="401002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3200">
                <a:solidFill>
                  <a:srgbClr val="FF0000"/>
                </a:solidFill>
              </a:rPr>
              <a:t>第四个公式！！！</a:t>
            </a:r>
            <a:endParaRPr lang="zh-CN" altLang="en-US" sz="3200">
              <a:solidFill>
                <a:srgbClr val="FF0000"/>
              </a:solidFill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66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66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9" dur="1000"/>
                                        <p:tgtEl>
                                          <p:spTgt spid="266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26627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26627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26627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66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266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266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66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266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266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44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66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266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266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4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266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266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266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44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266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266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266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4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662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2662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2662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44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2662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2662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2662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4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2662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2662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2662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44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2662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2662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2662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626" grpId="0" bldLvl="0" animBg="1"/>
      <p:bldP spid="26627" grpId="0" build="p"/>
    </p:bldLst>
  </p:timing>
</p:sld>
</file>

<file path=ppt/slides/slide1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Free Energy and Equilibrium</a:t>
            </a:r>
            <a:endParaRPr lang="en-US"/>
          </a:p>
        </p:txBody>
      </p:sp>
      <p:sp>
        <p:nvSpPr>
          <p:cNvPr id="286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905000" y="1447800"/>
            <a:ext cx="8610600" cy="4343400"/>
          </a:xfrm>
        </p:spPr>
        <p:txBody>
          <a:bodyPr/>
          <a:lstStyle/>
          <a:p>
            <a:pPr marL="0" indent="0" eaLnBrk="1" hangingPunct="1">
              <a:buFontTx/>
              <a:buNone/>
            </a:pPr>
            <a:r>
              <a:rPr lang="en-US"/>
              <a:t>Under any conditions, standard or nonstandard, the free energy change can be found this way:</a:t>
            </a:r>
            <a:endParaRPr lang="en-US"/>
          </a:p>
          <a:p>
            <a:pPr marL="0" indent="0" eaLnBrk="1" hangingPunct="1">
              <a:buFontTx/>
              <a:buNone/>
            </a:pPr>
            <a:endParaRPr lang="en-US">
              <a:latin typeface="Symbol" panose="05050102010706020507" charset="2"/>
              <a:sym typeface="Symbol" panose="05050102010706020507" charset="2"/>
            </a:endParaRPr>
          </a:p>
          <a:p>
            <a:pPr marL="0" indent="0" eaLnBrk="1" hangingPunct="1">
              <a:buFontTx/>
              <a:buNone/>
            </a:pPr>
            <a:r>
              <a:rPr lang="en-US">
                <a:latin typeface="Symbol" panose="05050102010706020507" charset="2"/>
                <a:sym typeface="Symbol" panose="05050102010706020507" charset="2"/>
              </a:rPr>
              <a:t></a:t>
            </a:r>
            <a:r>
              <a:rPr lang="en-US" i="1"/>
              <a:t>G</a:t>
            </a:r>
            <a:r>
              <a:rPr lang="en-US"/>
              <a:t> = </a:t>
            </a:r>
            <a:r>
              <a:rPr lang="en-US">
                <a:latin typeface="Symbol" panose="05050102010706020507" charset="2"/>
                <a:sym typeface="Symbol" panose="05050102010706020507" charset="2"/>
              </a:rPr>
              <a:t></a:t>
            </a:r>
            <a:r>
              <a:rPr lang="en-US" i="1"/>
              <a:t>G</a:t>
            </a:r>
            <a:r>
              <a:rPr lang="en-US">
                <a:latin typeface="Arial" panose="020B0604020202020204"/>
                <a:cs typeface="Arial" panose="020B0604020202020204"/>
                <a:sym typeface="Symbol" panose="05050102010706020507" charset="2"/>
              </a:rPr>
              <a:t>°</a:t>
            </a:r>
            <a:r>
              <a:rPr lang="en-US">
                <a:sym typeface="Symbol" panose="05050102010706020507" charset="2"/>
              </a:rPr>
              <a:t> + </a:t>
            </a:r>
            <a:r>
              <a:rPr lang="en-US" i="1">
                <a:sym typeface="Symbol" panose="05050102010706020507" charset="2"/>
              </a:rPr>
              <a:t>RT </a:t>
            </a:r>
            <a:r>
              <a:rPr lang="en-US">
                <a:sym typeface="Symbol" panose="05050102010706020507" charset="2"/>
              </a:rPr>
              <a:t>ln </a:t>
            </a:r>
            <a:r>
              <a:rPr lang="en-US" i="1">
                <a:sym typeface="Symbol" panose="05050102010706020507" charset="2"/>
              </a:rPr>
              <a:t>Q</a:t>
            </a:r>
            <a:endParaRPr lang="en-US" i="1">
              <a:sym typeface="Symbol" panose="05050102010706020507" charset="2"/>
            </a:endParaRPr>
          </a:p>
          <a:p>
            <a:pPr marL="0" indent="0" eaLnBrk="1" hangingPunct="1">
              <a:buFontTx/>
              <a:buNone/>
            </a:pPr>
            <a:endParaRPr lang="en-US">
              <a:sym typeface="Symbol" panose="05050102010706020507" charset="2"/>
            </a:endParaRPr>
          </a:p>
          <a:p>
            <a:pPr marL="0" indent="0" eaLnBrk="1" hangingPunct="1">
              <a:buFontTx/>
              <a:buNone/>
            </a:pPr>
            <a:r>
              <a:rPr lang="en-US" sz="2800"/>
              <a:t>(Under standard conditions, concentrations are 1 </a:t>
            </a:r>
            <a:r>
              <a:rPr lang="en-US" sz="2800" i="1"/>
              <a:t>M</a:t>
            </a:r>
            <a:r>
              <a:rPr lang="en-US" sz="2800"/>
              <a:t>, so </a:t>
            </a:r>
            <a:r>
              <a:rPr lang="en-US" sz="2800" i="1"/>
              <a:t>Q</a:t>
            </a:r>
            <a:r>
              <a:rPr lang="en-US" sz="2800"/>
              <a:t> = 1 and ln </a:t>
            </a:r>
            <a:r>
              <a:rPr lang="en-US" sz="2800" i="1"/>
              <a:t>Q</a:t>
            </a:r>
            <a:r>
              <a:rPr lang="en-US" sz="2800"/>
              <a:t> = 0; the last term drops out.)</a:t>
            </a:r>
            <a:endParaRPr lang="en-US" sz="2800"/>
          </a:p>
        </p:txBody>
      </p:sp>
    </p:spTree>
  </p:cSld>
  <p:clrMapOvr>
    <a:masterClrMapping/>
  </p:clrMapOvr>
  <p:transition spd="slow"/>
</p:sld>
</file>

<file path=ppt/slides/slide1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Free Energy and Equilibrium</a:t>
            </a:r>
            <a:endParaRPr lang="en-US"/>
          </a:p>
        </p:txBody>
      </p:sp>
      <p:sp>
        <p:nvSpPr>
          <p:cNvPr id="296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09800" y="1676400"/>
            <a:ext cx="7772400" cy="4724400"/>
          </a:xfrm>
        </p:spPr>
        <p:txBody>
          <a:bodyPr/>
          <a:lstStyle/>
          <a:p>
            <a:pPr eaLnBrk="1" hangingPunct="1"/>
            <a:r>
              <a:rPr lang="en-US"/>
              <a:t>At equilibrium, </a:t>
            </a:r>
            <a:r>
              <a:rPr lang="en-US" i="1"/>
              <a:t>Q</a:t>
            </a:r>
            <a:r>
              <a:rPr lang="en-US"/>
              <a:t> = </a:t>
            </a:r>
            <a:r>
              <a:rPr lang="en-US" i="1"/>
              <a:t>K</a:t>
            </a:r>
            <a:r>
              <a:rPr lang="en-US"/>
              <a:t>, and </a:t>
            </a:r>
            <a:r>
              <a:rPr lang="en-US">
                <a:latin typeface="Symbol" panose="05050102010706020507" charset="2"/>
                <a:sym typeface="Symbol" panose="05050102010706020507" charset="2"/>
              </a:rPr>
              <a:t></a:t>
            </a:r>
            <a:r>
              <a:rPr lang="en-US" i="1"/>
              <a:t>G</a:t>
            </a:r>
            <a:r>
              <a:rPr lang="en-US"/>
              <a:t> = 0.</a:t>
            </a:r>
            <a:endParaRPr lang="en-US"/>
          </a:p>
          <a:p>
            <a:pPr eaLnBrk="1" hangingPunct="1"/>
            <a:r>
              <a:rPr lang="en-US"/>
              <a:t>The equation becomes</a:t>
            </a:r>
            <a:endParaRPr lang="en-US"/>
          </a:p>
          <a:p>
            <a:pPr algn="ctr" eaLnBrk="1" hangingPunct="1">
              <a:buFontTx/>
              <a:buNone/>
            </a:pPr>
            <a:r>
              <a:rPr lang="en-US"/>
              <a:t>0 = </a:t>
            </a:r>
            <a:r>
              <a:rPr lang="en-US">
                <a:latin typeface="Symbol" panose="05050102010706020507" charset="2"/>
                <a:sym typeface="Symbol" panose="05050102010706020507" charset="2"/>
              </a:rPr>
              <a:t></a:t>
            </a:r>
            <a:r>
              <a:rPr lang="en-US" i="1"/>
              <a:t>G</a:t>
            </a:r>
            <a:r>
              <a:rPr lang="en-US">
                <a:latin typeface="Arial" panose="020B0604020202020204"/>
                <a:cs typeface="Arial" panose="020B0604020202020204"/>
                <a:sym typeface="Symbol" panose="05050102010706020507" charset="2"/>
              </a:rPr>
              <a:t>°</a:t>
            </a:r>
            <a:r>
              <a:rPr lang="en-US">
                <a:sym typeface="Symbol" panose="05050102010706020507" charset="2"/>
              </a:rPr>
              <a:t> + </a:t>
            </a:r>
            <a:r>
              <a:rPr lang="en-US" i="1">
                <a:sym typeface="Symbol" panose="05050102010706020507" charset="2"/>
              </a:rPr>
              <a:t>RT</a:t>
            </a:r>
            <a:r>
              <a:rPr lang="en-US">
                <a:sym typeface="Symbol" panose="05050102010706020507" charset="2"/>
              </a:rPr>
              <a:t> ln </a:t>
            </a:r>
            <a:r>
              <a:rPr lang="en-US" i="1">
                <a:sym typeface="Symbol" panose="05050102010706020507" charset="2"/>
              </a:rPr>
              <a:t>K</a:t>
            </a:r>
            <a:endParaRPr lang="en-US">
              <a:sym typeface="Symbol" panose="05050102010706020507" charset="2"/>
            </a:endParaRPr>
          </a:p>
          <a:p>
            <a:pPr eaLnBrk="1" hangingPunct="1"/>
            <a:r>
              <a:rPr lang="en-US"/>
              <a:t>Rearranging, this becomes</a:t>
            </a:r>
            <a:endParaRPr lang="en-US"/>
          </a:p>
          <a:p>
            <a:pPr algn="ctr" eaLnBrk="1" hangingPunct="1">
              <a:buFontTx/>
              <a:buNone/>
            </a:pPr>
            <a:r>
              <a:rPr lang="en-US">
                <a:latin typeface="Symbol" panose="05050102010706020507" charset="2"/>
                <a:sym typeface="Symbol" panose="05050102010706020507" charset="2"/>
              </a:rPr>
              <a:t></a:t>
            </a:r>
            <a:r>
              <a:rPr lang="en-US" i="1"/>
              <a:t>G</a:t>
            </a:r>
            <a:r>
              <a:rPr lang="en-US">
                <a:latin typeface="Arial" panose="020B0604020202020204"/>
                <a:cs typeface="Arial" panose="020B0604020202020204"/>
                <a:sym typeface="Symbol" panose="05050102010706020507" charset="2"/>
              </a:rPr>
              <a:t>°</a:t>
            </a:r>
            <a:r>
              <a:rPr lang="en-US">
                <a:sym typeface="Symbol" panose="05050102010706020507" charset="2"/>
              </a:rPr>
              <a:t> = </a:t>
            </a:r>
            <a:r>
              <a:rPr lang="en-US" i="1">
                <a:sym typeface="Symbol" panose="05050102010706020507" charset="2"/>
              </a:rPr>
              <a:t>RT</a:t>
            </a:r>
            <a:r>
              <a:rPr lang="en-US">
                <a:sym typeface="Symbol" panose="05050102010706020507" charset="2"/>
              </a:rPr>
              <a:t> ln </a:t>
            </a:r>
            <a:r>
              <a:rPr lang="en-US" i="1">
                <a:sym typeface="Symbol" panose="05050102010706020507" charset="2"/>
              </a:rPr>
              <a:t>K</a:t>
            </a:r>
            <a:endParaRPr lang="en-US">
              <a:sym typeface="Symbol" panose="05050102010706020507" charset="2"/>
            </a:endParaRPr>
          </a:p>
          <a:p>
            <a:pPr eaLnBrk="1" hangingPunct="1">
              <a:buFontTx/>
              <a:buNone/>
            </a:pPr>
            <a:r>
              <a:rPr lang="en-US"/>
              <a:t>	or</a:t>
            </a:r>
            <a:endParaRPr lang="en-US"/>
          </a:p>
          <a:p>
            <a:pPr eaLnBrk="1" hangingPunct="1">
              <a:buFontTx/>
              <a:buNone/>
            </a:pPr>
            <a:r>
              <a:rPr lang="en-US"/>
              <a:t>				  </a:t>
            </a:r>
            <a:r>
              <a:rPr lang="en-US" i="1"/>
              <a:t>K</a:t>
            </a:r>
            <a:r>
              <a:rPr lang="en-US"/>
              <a:t> = e</a:t>
            </a:r>
            <a:endParaRPr lang="en-US"/>
          </a:p>
        </p:txBody>
      </p:sp>
      <p:sp>
        <p:nvSpPr>
          <p:cNvPr id="29701" name="Text Box 10"/>
          <p:cNvSpPr txBox="1">
            <a:spLocks noChangeArrowheads="1"/>
          </p:cNvSpPr>
          <p:nvPr/>
        </p:nvSpPr>
        <p:spPr bwMode="auto">
          <a:xfrm>
            <a:off x="6153150" y="5181600"/>
            <a:ext cx="1201738" cy="3683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algn="ctr" eaLnBrk="0" hangingPunct="0"/>
            <a:r>
              <a:rPr lang="en-US">
                <a:ea typeface="Arial" panose="020B0604020202020204" pitchFamily="34" charset="0"/>
                <a:cs typeface="Arial" panose="020B0604020202020204" pitchFamily="34" charset="0"/>
                <a:sym typeface="Symbol" panose="05050102010706020507" charset="2"/>
              </a:rPr>
              <a:t></a:t>
            </a:r>
            <a:r>
              <a:rPr lang="en-US">
                <a:latin typeface="Symbol" panose="05050102010706020507" charset="2"/>
                <a:sym typeface="Symbol" panose="05050102010706020507" charset="2"/>
              </a:rPr>
              <a:t></a:t>
            </a:r>
            <a:r>
              <a:rPr lang="en-US" i="1"/>
              <a:t>G</a:t>
            </a:r>
            <a:r>
              <a:rPr lang="en-US">
                <a:sym typeface="Symbol" panose="05050102010706020507"/>
              </a:rPr>
              <a:t></a:t>
            </a:r>
            <a:r>
              <a:rPr lang="en-US">
                <a:sym typeface="Symbol" panose="05050102010706020507" charset="2"/>
              </a:rPr>
              <a:t>/</a:t>
            </a:r>
            <a:r>
              <a:rPr lang="en-US" i="1">
                <a:sym typeface="Symbol" panose="05050102010706020507" charset="2"/>
              </a:rPr>
              <a:t>RT</a:t>
            </a:r>
            <a:endParaRPr lang="en-US"/>
          </a:p>
        </p:txBody>
      </p:sp>
      <p:sp>
        <p:nvSpPr>
          <p:cNvPr id="2" name="文本框 1"/>
          <p:cNvSpPr txBox="1"/>
          <p:nvPr/>
        </p:nvSpPr>
        <p:spPr>
          <a:xfrm>
            <a:off x="5229225" y="5878830"/>
            <a:ext cx="360934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800">
                <a:solidFill>
                  <a:srgbClr val="FF0000"/>
                </a:solidFill>
              </a:rPr>
              <a:t>第五个公式！</a:t>
            </a:r>
            <a:endParaRPr lang="zh-CN" altLang="en-US" sz="2800">
              <a:solidFill>
                <a:srgbClr val="FF0000"/>
              </a:solidFill>
            </a:endParaRPr>
          </a:p>
        </p:txBody>
      </p:sp>
    </p:spTree>
  </p:cSld>
  <p:clrMapOvr>
    <a:masterClrMapping/>
  </p:clrMapOvr>
  <p:transition spd="slow"/>
</p:sld>
</file>

<file path=ppt/slides/slide1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Title 1"/>
          <p:cNvSpPr/>
          <p:nvPr/>
        </p:nvSpPr>
        <p:spPr bwMode="auto">
          <a:xfrm>
            <a:off x="6019800" y="1676400"/>
            <a:ext cx="4572000" cy="3505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anchor="ctr"/>
          <a:lstStyle/>
          <a:p>
            <a:pPr algn="ctr" eaLnBrk="1" hangingPunct="1"/>
            <a:r>
              <a:rPr lang="en-US" sz="3400" b="1"/>
              <a:t>Chapter 20</a:t>
            </a:r>
            <a:br>
              <a:rPr lang="en-US" sz="3400" b="1"/>
            </a:br>
            <a:br>
              <a:rPr lang="en-US" sz="3400" b="1"/>
            </a:br>
            <a:r>
              <a:rPr lang="en-US" sz="3400" b="1"/>
              <a:t>Electrochemistry</a:t>
            </a:r>
            <a:endParaRPr lang="en-US" sz="3400" b="1"/>
          </a:p>
          <a:p>
            <a:pPr algn="ctr" eaLnBrk="1" hangingPunct="1"/>
            <a:endParaRPr lang="en-US" sz="3400" b="1"/>
          </a:p>
        </p:txBody>
      </p:sp>
      <p:sp>
        <p:nvSpPr>
          <p:cNvPr id="3076" name="Subtitle 2"/>
          <p:cNvSpPr/>
          <p:nvPr/>
        </p:nvSpPr>
        <p:spPr bwMode="auto">
          <a:xfrm>
            <a:off x="6019800" y="5791200"/>
            <a:ext cx="4572000" cy="9906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pPr algn="ctr" eaLnBrk="1" hangingPunct="1"/>
            <a:r>
              <a:rPr lang="en-US" sz="1800">
                <a:solidFill>
                  <a:srgbClr val="0D0D0D"/>
                </a:solidFill>
              </a:rPr>
              <a:t>James F. Kirby</a:t>
            </a:r>
            <a:endParaRPr lang="en-US" sz="1800">
              <a:solidFill>
                <a:srgbClr val="0D0D0D"/>
              </a:solidFill>
            </a:endParaRPr>
          </a:p>
          <a:p>
            <a:pPr algn="ctr" eaLnBrk="1" hangingPunct="1"/>
            <a:r>
              <a:rPr lang="en-US" sz="1800">
                <a:solidFill>
                  <a:srgbClr val="0D0D0D"/>
                </a:solidFill>
              </a:rPr>
              <a:t>Quinnipiac University</a:t>
            </a:r>
            <a:endParaRPr lang="en-US" sz="1800">
              <a:solidFill>
                <a:srgbClr val="0D0D0D"/>
              </a:solidFill>
            </a:endParaRPr>
          </a:p>
          <a:p>
            <a:pPr algn="ctr" eaLnBrk="1" hangingPunct="1"/>
            <a:r>
              <a:rPr lang="en-US" sz="1800">
                <a:solidFill>
                  <a:srgbClr val="0D0D0D"/>
                </a:solidFill>
              </a:rPr>
              <a:t>Hamden, CT</a:t>
            </a:r>
            <a:endParaRPr lang="en-US" sz="1800">
              <a:solidFill>
                <a:srgbClr val="0D0D0D"/>
              </a:solidFill>
            </a:endParaRPr>
          </a:p>
        </p:txBody>
      </p:sp>
      <p:sp>
        <p:nvSpPr>
          <p:cNvPr id="3077" name="Rectangle 10"/>
          <p:cNvSpPr>
            <a:spLocks noChangeArrowheads="1"/>
          </p:cNvSpPr>
          <p:nvPr/>
        </p:nvSpPr>
        <p:spPr bwMode="auto">
          <a:xfrm>
            <a:off x="6019800" y="700088"/>
            <a:ext cx="4648200" cy="52197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algn="ctr" eaLnBrk="1" hangingPunct="1"/>
            <a:r>
              <a:rPr lang="en-US" sz="2800">
                <a:solidFill>
                  <a:srgbClr val="000000"/>
                </a:solidFill>
                <a:ea typeface="Arial" panose="020B0604020202020204" pitchFamily="34" charset="0"/>
                <a:cs typeface="Arial" panose="020B0604020202020204" pitchFamily="34" charset="0"/>
              </a:rPr>
              <a:t>Lecture Presentation</a:t>
            </a:r>
            <a:endParaRPr lang="en-US" sz="2800">
              <a:solidFill>
                <a:srgbClr val="000000"/>
              </a:solidFill>
              <a:ea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8" name="Picture 1" descr="BROW0417_13_ecat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 bwMode="auto">
          <a:xfrm>
            <a:off x="1752600" y="736303"/>
            <a:ext cx="4227513" cy="5309193"/>
          </a:xfrm>
          <a:prstGeom prst="rect">
            <a:avLst/>
          </a:prstGeom>
          <a:noFill/>
          <a:ln w="3175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 spd="slow"/>
</p:sld>
</file>

<file path=ppt/slides/slide1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1524000" y="0"/>
            <a:ext cx="9144000" cy="990600"/>
          </a:xfrm>
        </p:spPr>
        <p:txBody>
          <a:bodyPr/>
          <a:lstStyle/>
          <a:p>
            <a:pPr eaLnBrk="1" hangingPunct="1"/>
            <a:r>
              <a:rPr lang="en-US"/>
              <a:t>Oxidation and Reduction</a:t>
            </a:r>
            <a:endParaRPr lang="en-US"/>
          </a:p>
        </p:txBody>
      </p:sp>
      <p:sp>
        <p:nvSpPr>
          <p:cNvPr id="6147" name="Rectangle 4"/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1752600" y="2886075"/>
            <a:ext cx="8686800" cy="3362325"/>
          </a:xfrm>
        </p:spPr>
        <p:txBody>
          <a:bodyPr/>
          <a:lstStyle/>
          <a:p>
            <a:pPr eaLnBrk="1" hangingPunct="1"/>
            <a:r>
              <a:rPr lang="en-US" sz="2800"/>
              <a:t>A species is </a:t>
            </a:r>
            <a:r>
              <a:rPr lang="en-US" sz="2800" b="1"/>
              <a:t>oxidized</a:t>
            </a:r>
            <a:r>
              <a:rPr lang="en-US" sz="2800"/>
              <a:t> when it loses electrons.</a:t>
            </a:r>
            <a:endParaRPr lang="en-US" sz="2800"/>
          </a:p>
          <a:p>
            <a:pPr lvl="1" eaLnBrk="1" hangingPunct="1"/>
            <a:r>
              <a:rPr lang="en-US" sz="2400"/>
              <a:t>Zinc loses two electrons, forming the Zn</a:t>
            </a:r>
            <a:r>
              <a:rPr lang="en-US" sz="2400" baseline="30000"/>
              <a:t>2+</a:t>
            </a:r>
            <a:r>
              <a:rPr lang="en-US" sz="2400"/>
              <a:t> ion.</a:t>
            </a:r>
            <a:endParaRPr lang="en-US" sz="2400"/>
          </a:p>
          <a:p>
            <a:pPr eaLnBrk="1" hangingPunct="1"/>
            <a:r>
              <a:rPr lang="en-US" sz="2800"/>
              <a:t>A species is </a:t>
            </a:r>
            <a:r>
              <a:rPr lang="en-US" sz="2800" b="1"/>
              <a:t>reduced</a:t>
            </a:r>
            <a:r>
              <a:rPr lang="en-US" sz="2800"/>
              <a:t> when it gains electrons.</a:t>
            </a:r>
            <a:endParaRPr lang="en-US" sz="2800"/>
          </a:p>
          <a:p>
            <a:pPr lvl="1" eaLnBrk="1" hangingPunct="1"/>
            <a:r>
              <a:rPr lang="en-US" sz="2400"/>
              <a:t>H</a:t>
            </a:r>
            <a:r>
              <a:rPr lang="en-US" sz="2400" baseline="30000"/>
              <a:t>+</a:t>
            </a:r>
            <a:r>
              <a:rPr lang="en-US" sz="2400"/>
              <a:t> gains an electron, forming H</a:t>
            </a:r>
            <a:r>
              <a:rPr lang="en-US" sz="2400" baseline="-25000"/>
              <a:t>2</a:t>
            </a:r>
            <a:r>
              <a:rPr lang="en-US" sz="2400"/>
              <a:t>.</a:t>
            </a:r>
            <a:endParaRPr lang="en-US" sz="2400"/>
          </a:p>
          <a:p>
            <a:pPr eaLnBrk="1" hangingPunct="1"/>
            <a:r>
              <a:rPr lang="en-US" sz="2800"/>
              <a:t>An</a:t>
            </a:r>
            <a:r>
              <a:rPr lang="en-US" sz="2800" b="1"/>
              <a:t> oxidizing agent</a:t>
            </a:r>
            <a:r>
              <a:rPr lang="en-US" sz="2800"/>
              <a:t> causes something else to be oxidized (H</a:t>
            </a:r>
            <a:r>
              <a:rPr lang="en-US" sz="2800" baseline="30000"/>
              <a:t>+</a:t>
            </a:r>
            <a:r>
              <a:rPr lang="en-US" sz="2800"/>
              <a:t>); a </a:t>
            </a:r>
            <a:r>
              <a:rPr lang="en-US" sz="2800" b="1"/>
              <a:t>reducing agent </a:t>
            </a:r>
            <a:r>
              <a:rPr lang="en-US" sz="2800"/>
              <a:t>causes something else to be reduced (Zn).</a:t>
            </a:r>
            <a:endParaRPr lang="en-US" sz="2800"/>
          </a:p>
          <a:p>
            <a:pPr eaLnBrk="1" hangingPunct="1">
              <a:buFontTx/>
              <a:buNone/>
            </a:pPr>
            <a:endParaRPr lang="en-US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3577" y="917085"/>
            <a:ext cx="4284845" cy="1957218"/>
          </a:xfrm>
          <a:prstGeom prst="rect">
            <a:avLst/>
          </a:prstGeom>
        </p:spPr>
      </p:pic>
    </p:spTree>
  </p:cSld>
  <p:clrMapOvr>
    <a:masterClrMapping/>
  </p:clrMapOvr>
  <p:transition spd="slow"/>
</p:sld>
</file>

<file path=ppt/slides/slide1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2044029" y="849017"/>
            <a:ext cx="6539532" cy="56311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69875" marR="0" lvl="0" indent="-269875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1. 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将氧化还原反应方程分为一个氧化半反应和一个还原半反应。              </a:t>
            </a:r>
            <a:endParaRPr kumimoji="0" lang="en-US" altLang="zh-CN" sz="16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269875" marR="0" lvl="0" indent="-269875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2. 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平衡每一个半反应：              </a:t>
            </a:r>
            <a:endParaRPr kumimoji="0" lang="en-US" altLang="zh-CN" sz="16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269875" marR="0" lvl="0" indent="-269875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(a) 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首先，平衡除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H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和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O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外的元素。这一般是乘以适当的系数。              </a:t>
            </a:r>
            <a:endParaRPr kumimoji="0" lang="en-US" altLang="zh-CN" sz="16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269875" marR="0" lvl="0" indent="-269875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(b)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平衡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O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原子数：缺少</a:t>
            </a:r>
            <a:r>
              <a:rPr kumimoji="0" lang="en-US" altLang="zh-CN" sz="1600" b="0" i="1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n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个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O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的一侧添加</a:t>
            </a:r>
            <a:r>
              <a:rPr kumimoji="0" lang="en-US" altLang="zh-CN" sz="1600" b="0" i="1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n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个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H</a:t>
            </a:r>
            <a:r>
              <a:rPr kumimoji="0" lang="en-US" altLang="zh-CN" sz="1600" b="0" i="0" u="none" strike="noStrike" kern="1200" cap="none" spc="0" normalizeH="0" baseline="-2500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O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。              </a:t>
            </a:r>
            <a:endParaRPr kumimoji="0" lang="en-US" altLang="zh-CN" sz="16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269875" marR="0" lvl="0" indent="-269875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(c)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平衡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H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原子数：缺少</a:t>
            </a:r>
            <a:r>
              <a:rPr kumimoji="0" lang="en-US" altLang="zh-CN" sz="1600" b="0" i="1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m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个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H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的一侧添加</a:t>
            </a:r>
            <a:r>
              <a:rPr kumimoji="0" lang="en-US" altLang="zh-CN" sz="1600" b="0" i="1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m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个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H</a:t>
            </a:r>
            <a:r>
              <a:rPr kumimoji="0" lang="en-US" altLang="zh-CN" sz="1600" b="0" i="0" u="none" strike="noStrike" kern="1200" cap="none" spc="0" normalizeH="0" baseline="3000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+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。              </a:t>
            </a:r>
            <a:endParaRPr kumimoji="0" lang="en-US" altLang="zh-CN" sz="16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177800" marR="0" lvl="0" indent="-1778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(d) 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根据需要添加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e</a:t>
            </a:r>
            <a:r>
              <a:rPr kumimoji="0" lang="en-US" altLang="zh-CN" sz="1600" b="0" i="0" u="none" strike="noStrike" kern="1200" cap="none" spc="0" normalizeH="0" baseline="3000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，使任一个半反应式的两边净电荷相等（平衡电荷），即：在正电荷过剩的一侧加上同等数目的电子。</a:t>
            </a:r>
            <a:endParaRPr kumimoji="0" lang="en-US" altLang="zh-CN" sz="16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177800" marR="0" lvl="0" indent="-1778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重要的是这个特定顺序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(a)-(d)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，见图表总结。</a:t>
            </a:r>
            <a:endParaRPr kumimoji="0" lang="en-US" altLang="zh-CN" sz="16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177800" marR="0" lvl="0" indent="-1778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最后，检查每个半反应中电子数是否对应于氧化态变化。</a:t>
            </a:r>
            <a:endParaRPr kumimoji="0" lang="en-US" altLang="zh-CN" sz="16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177800" marR="0" lvl="0" indent="-1778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3. 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根据需要将两个半反应式分别乘以适当的整数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使氧化半反应中失去的电子数等于还原半反应中获得的电子数。              </a:t>
            </a:r>
            <a:endParaRPr kumimoji="0" lang="en-US" altLang="zh-CN" sz="16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177800" lvl="0" indent="-177800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4. 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将两个半反应式相加（</a:t>
            </a:r>
            <a:r>
              <a:rPr lang="zh-CN" altLang="en-US" sz="1600" dirty="0">
                <a:solidFill>
                  <a:srgbClr val="C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注意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：有的教科书中将两个半反应都按还原式来写，那就要将两个半反应式相减。本课程不用那种写法</a:t>
            </a:r>
            <a:r>
              <a:rPr lang="zh-CN" altLang="en-US" sz="1600" dirty="0">
                <a:solidFill>
                  <a:srgbClr val="C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）构成总的氧化还原反应方程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，消去</a:t>
            </a:r>
            <a:r>
              <a:rPr lang="zh-CN" altLang="en-US" sz="1600" dirty="0">
                <a:solidFill>
                  <a:srgbClr val="C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方程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两边相同的物种来</a:t>
            </a:r>
            <a:r>
              <a:rPr lang="zh-CN" altLang="en-US" sz="1600" dirty="0">
                <a:solidFill>
                  <a:srgbClr val="C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简化。              </a:t>
            </a:r>
            <a:endParaRPr kumimoji="0" lang="en-US" altLang="zh-CN" sz="16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177800" marR="0" lvl="0" indent="-1778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5. 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检查原子和电荷是否平衡。</a:t>
            </a: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1730899" y="614516"/>
            <a:ext cx="8750300" cy="6054570"/>
          </a:xfrm>
          <a:prstGeom prst="rect">
            <a:avLst/>
          </a:prstGeom>
          <a:noFill/>
          <a:ln w="952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B050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54597" y="1085613"/>
            <a:ext cx="1700422" cy="1828153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4047345" y="75691"/>
            <a:ext cx="4611063" cy="460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酸性介质中的配平（中文详解）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</p:txBody>
      </p:sp>
    </p:spTree>
  </p:cSld>
  <p:clrMapOvr>
    <a:masterClrMapping/>
  </p:clrMapOvr>
  <p:transition spd="slow"/>
</p:sld>
</file>

<file path=ppt/slides/slide1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/>
        </p:nvSpPr>
        <p:spPr>
          <a:xfrm>
            <a:off x="1720850" y="756999"/>
            <a:ext cx="8750300" cy="5904383"/>
          </a:xfrm>
          <a:prstGeom prst="rect">
            <a:avLst/>
          </a:prstGeom>
          <a:noFill/>
          <a:ln w="952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B050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1524000" y="801869"/>
            <a:ext cx="8424936" cy="460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  </a:t>
            </a: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3333FF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一种最简单的做法是：</a:t>
            </a:r>
            <a:endParaRPr kumimoji="0" lang="zh-CN" altLang="en-US" sz="1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1855694" y="1216791"/>
            <a:ext cx="8667426" cy="49390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69875" lvl="0" indent="-269875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kumimoji="0" lang="en-US" altLang="zh-CN" sz="1500" b="1" i="0" u="none" strike="noStrike" kern="1200" cap="none" spc="0" normalizeH="0" baseline="0" noProof="0" dirty="0">
                <a:ln>
                  <a:noFill/>
                </a:ln>
                <a:solidFill>
                  <a:srgbClr val="00197D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1. </a:t>
            </a:r>
            <a:r>
              <a:rPr kumimoji="0" lang="zh-CN" alt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00197D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将氧化还原方程拆成两个半反应式，即</a:t>
            </a:r>
            <a:r>
              <a:rPr lang="zh-CN" altLang="en-US" sz="1500" b="1" dirty="0">
                <a:solidFill>
                  <a:srgbClr val="00197D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氧化半反应式和还原半反应式。</a:t>
            </a:r>
            <a:endParaRPr kumimoji="0" lang="en-US" altLang="zh-CN" sz="1500" b="1" i="0" u="none" strike="noStrike" kern="1200" cap="none" spc="0" normalizeH="0" baseline="0" noProof="0" dirty="0">
              <a:ln>
                <a:noFill/>
              </a:ln>
              <a:solidFill>
                <a:srgbClr val="00197D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269875" marR="0" lvl="0" indent="-269875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500" b="1" i="0" u="none" strike="noStrike" kern="1200" cap="none" spc="0" normalizeH="0" baseline="0" noProof="0" dirty="0">
                <a:ln>
                  <a:noFill/>
                </a:ln>
                <a:solidFill>
                  <a:srgbClr val="00197D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2. </a:t>
            </a:r>
            <a:r>
              <a:rPr kumimoji="0" lang="zh-CN" alt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00197D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平衡半反应式：</a:t>
            </a:r>
            <a:endParaRPr kumimoji="0" lang="en-US" altLang="zh-CN" sz="1500" b="1" i="0" u="none" strike="noStrike" kern="1200" cap="none" spc="0" normalizeH="0" baseline="0" noProof="0" dirty="0">
              <a:ln>
                <a:noFill/>
              </a:ln>
              <a:solidFill>
                <a:srgbClr val="00197D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269875" lvl="0" indent="-269875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kumimoji="0" lang="zh-CN" alt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00197D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（</a:t>
            </a:r>
            <a:r>
              <a:rPr kumimoji="0" lang="en-US" altLang="zh-CN" sz="1500" b="1" i="0" u="none" strike="noStrike" kern="1200" cap="none" spc="0" normalizeH="0" baseline="0" noProof="0" dirty="0">
                <a:ln>
                  <a:noFill/>
                </a:ln>
                <a:solidFill>
                  <a:srgbClr val="00197D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kumimoji="0" lang="zh-CN" alt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00197D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）仿照酸溶液中的做法平衡两个半反应式</a:t>
            </a:r>
            <a:r>
              <a:rPr lang="zh-CN" altLang="en-US" sz="1500" b="1" dirty="0">
                <a:solidFill>
                  <a:srgbClr val="00197D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，首先平衡除</a:t>
            </a:r>
            <a:r>
              <a:rPr lang="en-US" altLang="zh-CN" sz="1500" b="1" dirty="0">
                <a:solidFill>
                  <a:srgbClr val="00197D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H</a:t>
            </a:r>
            <a:r>
              <a:rPr lang="zh-CN" altLang="en-US" sz="1500" b="1" dirty="0">
                <a:solidFill>
                  <a:srgbClr val="00197D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和</a:t>
            </a:r>
            <a:r>
              <a:rPr lang="en-US" altLang="zh-CN" sz="1500" b="1" dirty="0">
                <a:solidFill>
                  <a:srgbClr val="00197D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O</a:t>
            </a:r>
            <a:r>
              <a:rPr lang="zh-CN" altLang="en-US" sz="1500" b="1" dirty="0">
                <a:solidFill>
                  <a:srgbClr val="00197D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外的元素。</a:t>
            </a:r>
            <a:endParaRPr kumimoji="0" lang="en-US" altLang="zh-CN" sz="1500" b="1" i="0" u="none" strike="noStrike" kern="1200" cap="none" spc="0" normalizeH="0" baseline="0" noProof="0" dirty="0">
              <a:ln>
                <a:noFill/>
              </a:ln>
              <a:solidFill>
                <a:srgbClr val="00197D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269875" marR="0" lvl="0" indent="-269875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500" b="1" i="0" u="none" strike="noStrike" kern="1200" cap="none" spc="0" normalizeH="0" baseline="0" noProof="0" dirty="0">
                <a:ln>
                  <a:noFill/>
                </a:ln>
                <a:solidFill>
                  <a:srgbClr val="00197D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</a:t>
            </a:r>
            <a:r>
              <a:rPr kumimoji="0" lang="zh-CN" alt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00197D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（</a:t>
            </a:r>
            <a:r>
              <a:rPr kumimoji="0" lang="en-US" altLang="zh-CN" sz="1500" b="1" i="0" u="none" strike="noStrike" kern="1200" cap="none" spc="0" normalizeH="0" baseline="0" noProof="0" dirty="0">
                <a:ln>
                  <a:noFill/>
                </a:ln>
                <a:solidFill>
                  <a:srgbClr val="00197D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kumimoji="0" lang="zh-CN" alt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00197D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）对任何一个半反应式，只要一侧有</a:t>
            </a:r>
            <a:r>
              <a:rPr kumimoji="0" lang="en-US" altLang="zh-CN" sz="1500" b="1" i="1" u="none" strike="noStrike" kern="1200" cap="none" spc="0" normalizeH="0" baseline="0" noProof="0" dirty="0">
                <a:ln>
                  <a:noFill/>
                </a:ln>
                <a:solidFill>
                  <a:srgbClr val="00197D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n</a:t>
            </a:r>
            <a:r>
              <a:rPr kumimoji="0" lang="zh-CN" alt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00197D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个</a:t>
            </a:r>
            <a:r>
              <a:rPr kumimoji="0" lang="en-US" altLang="zh-CN" sz="1500" b="1" i="0" u="none" strike="noStrike" kern="1200" cap="none" spc="0" normalizeH="0" baseline="0" noProof="0" dirty="0">
                <a:ln>
                  <a:noFill/>
                </a:ln>
                <a:solidFill>
                  <a:srgbClr val="00197D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H</a:t>
            </a:r>
            <a:r>
              <a:rPr kumimoji="0" lang="en-US" altLang="zh-CN" sz="1500" b="1" i="0" u="none" strike="noStrike" kern="1200" cap="none" spc="0" normalizeH="0" baseline="30000" noProof="0" dirty="0">
                <a:ln>
                  <a:noFill/>
                </a:ln>
                <a:solidFill>
                  <a:srgbClr val="00197D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+</a:t>
            </a:r>
            <a:r>
              <a:rPr kumimoji="0" lang="zh-CN" alt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00197D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，就给两侧都加</a:t>
            </a:r>
            <a:r>
              <a:rPr kumimoji="0" lang="en-US" altLang="zh-CN" sz="1500" b="1" i="1" u="none" strike="noStrike" kern="1200" cap="none" spc="0" normalizeH="0" baseline="0" noProof="0" dirty="0">
                <a:ln>
                  <a:noFill/>
                </a:ln>
                <a:solidFill>
                  <a:srgbClr val="00197D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n</a:t>
            </a:r>
            <a:r>
              <a:rPr kumimoji="0" lang="zh-CN" alt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00197D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个</a:t>
            </a:r>
            <a:r>
              <a:rPr kumimoji="0" lang="en-US" altLang="zh-CN" sz="1500" b="1" i="0" u="none" strike="noStrike" kern="1200" cap="none" spc="0" normalizeH="0" baseline="0" noProof="0" dirty="0">
                <a:ln>
                  <a:noFill/>
                </a:ln>
                <a:solidFill>
                  <a:srgbClr val="00197D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OH</a:t>
            </a:r>
            <a:r>
              <a:rPr kumimoji="0" lang="en-US" altLang="zh-CN" sz="1500" b="1" i="0" u="none" strike="noStrike" kern="1200" cap="none" spc="0" normalizeH="0" baseline="30000" noProof="0" dirty="0">
                <a:ln>
                  <a:noFill/>
                </a:ln>
                <a:solidFill>
                  <a:srgbClr val="00197D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- </a:t>
            </a:r>
            <a:r>
              <a:rPr kumimoji="0" lang="zh-CN" alt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00197D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。</a:t>
            </a:r>
            <a:endParaRPr kumimoji="0" lang="en-US" altLang="zh-CN" sz="1500" b="1" i="0" u="none" strike="noStrike" kern="1200" cap="none" spc="0" normalizeH="0" baseline="30000" noProof="0" dirty="0">
              <a:ln>
                <a:noFill/>
              </a:ln>
              <a:solidFill>
                <a:srgbClr val="00197D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806450" lvl="0" indent="-806450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kumimoji="0" lang="en-US" altLang="zh-CN" sz="1500" b="1" i="0" u="none" strike="noStrike" kern="1200" cap="none" spc="0" normalizeH="0" baseline="0" noProof="0" dirty="0">
                <a:ln>
                  <a:noFill/>
                </a:ln>
                <a:solidFill>
                  <a:srgbClr val="00197D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</a:t>
            </a:r>
            <a:r>
              <a:rPr kumimoji="0" lang="zh-CN" alt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00197D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（</a:t>
            </a:r>
            <a:r>
              <a:rPr kumimoji="0" lang="en-US" altLang="zh-CN" sz="1500" b="1" i="0" u="none" strike="noStrike" kern="1200" cap="none" spc="0" normalizeH="0" baseline="0" noProof="0" dirty="0">
                <a:ln>
                  <a:noFill/>
                </a:ln>
                <a:solidFill>
                  <a:srgbClr val="00197D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</a:t>
            </a:r>
            <a:r>
              <a:rPr kumimoji="0" lang="zh-CN" alt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00197D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）对任何一个半反应式，只要同一侧出现</a:t>
            </a:r>
            <a:r>
              <a:rPr kumimoji="0" lang="en-US" altLang="zh-CN" sz="1500" b="1" i="0" u="none" strike="noStrike" kern="1200" cap="none" spc="0" normalizeH="0" baseline="0" noProof="0" dirty="0">
                <a:ln>
                  <a:noFill/>
                </a:ln>
                <a:solidFill>
                  <a:srgbClr val="00197D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H</a:t>
            </a:r>
            <a:r>
              <a:rPr kumimoji="0" lang="en-US" altLang="zh-CN" sz="1500" b="1" i="0" u="none" strike="noStrike" kern="1200" cap="none" spc="0" normalizeH="0" baseline="30000" noProof="0" dirty="0">
                <a:ln>
                  <a:noFill/>
                </a:ln>
                <a:solidFill>
                  <a:srgbClr val="00197D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+</a:t>
            </a:r>
            <a:r>
              <a:rPr kumimoji="0" lang="zh-CN" alt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00197D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和</a:t>
            </a:r>
            <a:r>
              <a:rPr kumimoji="0" lang="en-US" altLang="zh-CN" sz="1500" b="1" i="0" u="none" strike="noStrike" kern="1200" cap="none" spc="0" normalizeH="0" baseline="0" noProof="0" dirty="0">
                <a:ln>
                  <a:noFill/>
                </a:ln>
                <a:solidFill>
                  <a:srgbClr val="00197D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OH</a:t>
            </a:r>
            <a:r>
              <a:rPr kumimoji="0" lang="en-US" altLang="zh-CN" sz="1500" b="1" i="0" u="none" strike="noStrike" kern="1200" cap="none" spc="0" normalizeH="0" baseline="30000" noProof="0" dirty="0">
                <a:ln>
                  <a:noFill/>
                </a:ln>
                <a:solidFill>
                  <a:srgbClr val="00197D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kumimoji="0" lang="zh-CN" alt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00197D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，就将它们结合成一定数目的</a:t>
            </a:r>
            <a:r>
              <a:rPr kumimoji="0" lang="en-US" altLang="zh-CN" sz="1500" b="1" i="0" u="none" strike="noStrike" kern="1200" cap="none" spc="0" normalizeH="0" baseline="0" noProof="0" dirty="0">
                <a:ln>
                  <a:noFill/>
                </a:ln>
                <a:solidFill>
                  <a:srgbClr val="00197D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H</a:t>
            </a:r>
            <a:r>
              <a:rPr kumimoji="0" lang="en-US" altLang="zh-CN" sz="1500" b="1" i="0" u="none" strike="noStrike" kern="1200" cap="none" spc="0" normalizeH="0" baseline="-25000" noProof="0" dirty="0">
                <a:ln>
                  <a:noFill/>
                </a:ln>
                <a:solidFill>
                  <a:srgbClr val="00197D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kumimoji="0" lang="en-US" altLang="zh-CN" sz="1500" b="1" i="0" u="none" strike="noStrike" kern="1200" cap="none" spc="0" normalizeH="0" baseline="0" noProof="0" dirty="0">
                <a:ln>
                  <a:noFill/>
                </a:ln>
                <a:solidFill>
                  <a:srgbClr val="00197D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O</a:t>
            </a:r>
            <a:r>
              <a:rPr kumimoji="0" lang="en-US" altLang="zh-CN" sz="1500" b="1" i="0" u="none" strike="noStrike" kern="1200" cap="none" spc="0" normalizeH="0" baseline="30000" noProof="0" dirty="0">
                <a:ln>
                  <a:noFill/>
                </a:ln>
                <a:solidFill>
                  <a:srgbClr val="00197D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kumimoji="0" lang="zh-CN" alt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00197D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。然后</a:t>
            </a:r>
            <a:r>
              <a:rPr lang="zh-CN" altLang="en-US" sz="1500" b="1" dirty="0">
                <a:solidFill>
                  <a:srgbClr val="00197D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从半反应式两侧</a:t>
            </a:r>
            <a:r>
              <a:rPr kumimoji="0" lang="zh-CN" alt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00197D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删去相等数量的</a:t>
            </a:r>
            <a:r>
              <a:rPr kumimoji="0" lang="en-US" altLang="zh-CN" sz="1500" b="1" i="0" u="none" strike="noStrike" kern="1200" cap="none" spc="0" normalizeH="0" baseline="0" noProof="0" dirty="0">
                <a:ln>
                  <a:noFill/>
                </a:ln>
                <a:solidFill>
                  <a:srgbClr val="00197D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H</a:t>
            </a:r>
            <a:r>
              <a:rPr kumimoji="0" lang="en-US" altLang="zh-CN" sz="1500" b="1" i="0" u="none" strike="noStrike" kern="1200" cap="none" spc="0" normalizeH="0" baseline="-25000" noProof="0" dirty="0">
                <a:ln>
                  <a:noFill/>
                </a:ln>
                <a:solidFill>
                  <a:srgbClr val="00197D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kumimoji="0" lang="en-US" altLang="zh-CN" sz="1500" b="1" i="0" u="none" strike="noStrike" kern="1200" cap="none" spc="0" normalizeH="0" baseline="0" noProof="0" dirty="0">
                <a:ln>
                  <a:noFill/>
                </a:ln>
                <a:solidFill>
                  <a:srgbClr val="00197D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O</a:t>
            </a:r>
            <a:r>
              <a:rPr kumimoji="0" lang="zh-CN" alt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00197D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。            </a:t>
            </a:r>
            <a:endParaRPr kumimoji="0" lang="en-US" altLang="zh-CN" sz="1500" b="1" i="0" u="none" strike="noStrike" kern="1200" cap="none" spc="0" normalizeH="0" baseline="0" noProof="0" dirty="0">
              <a:ln>
                <a:noFill/>
              </a:ln>
              <a:solidFill>
                <a:srgbClr val="00197D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269875" marR="0" lvl="0" indent="-269875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500" b="1" i="0" u="none" strike="noStrike" kern="1200" cap="none" spc="0" normalizeH="0" baseline="0" noProof="0" dirty="0">
                <a:ln>
                  <a:noFill/>
                </a:ln>
                <a:solidFill>
                  <a:srgbClr val="00197D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</a:t>
            </a:r>
            <a:r>
              <a:rPr kumimoji="0" lang="zh-CN" alt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00197D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（</a:t>
            </a:r>
            <a:r>
              <a:rPr kumimoji="0" lang="en-US" altLang="zh-CN" sz="1500" b="1" i="0" u="none" strike="noStrike" kern="1200" cap="none" spc="0" normalizeH="0" baseline="0" noProof="0" dirty="0">
                <a:ln>
                  <a:noFill/>
                </a:ln>
                <a:solidFill>
                  <a:srgbClr val="00197D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d</a:t>
            </a:r>
            <a:r>
              <a:rPr kumimoji="0" lang="zh-CN" alt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00197D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）对每个半反应式添加电子，使两侧净电荷相等。</a:t>
            </a:r>
            <a:endParaRPr kumimoji="0" lang="en-US" altLang="zh-CN" sz="1500" b="1" i="0" u="none" strike="noStrike" kern="1200" cap="none" spc="0" normalizeH="0" baseline="0" noProof="0" dirty="0">
              <a:ln>
                <a:noFill/>
              </a:ln>
              <a:solidFill>
                <a:srgbClr val="00197D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269875" lvl="0" indent="-269875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kumimoji="0" lang="en-US" altLang="zh-CN" sz="1500" b="1" i="0" u="none" strike="noStrike" kern="1200" cap="none" spc="0" normalizeH="0" baseline="0" noProof="0" dirty="0">
                <a:ln>
                  <a:noFill/>
                </a:ln>
                <a:solidFill>
                  <a:srgbClr val="00197D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   </a:t>
            </a:r>
            <a:r>
              <a:rPr kumimoji="0" lang="zh-CN" alt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00197D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到此为止，分别配平了两个半反应式。以下进一步</a:t>
            </a:r>
            <a:r>
              <a:rPr lang="zh-CN" altLang="en-US" sz="1500" b="1" dirty="0">
                <a:solidFill>
                  <a:srgbClr val="00197D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配平氧化还原方程</a:t>
            </a:r>
            <a:r>
              <a:rPr kumimoji="0" lang="zh-CN" alt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00197D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：              </a:t>
            </a:r>
            <a:endParaRPr kumimoji="0" lang="en-US" altLang="zh-CN" sz="1500" b="1" i="0" u="none" strike="noStrike" kern="1200" cap="none" spc="0" normalizeH="0" baseline="0" noProof="0" dirty="0">
              <a:ln>
                <a:noFill/>
              </a:ln>
              <a:solidFill>
                <a:srgbClr val="00197D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177800" marR="0" lvl="0" indent="-1778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500" b="1" i="0" u="none" strike="noStrike" kern="1200" cap="none" spc="0" normalizeH="0" baseline="0" noProof="0" dirty="0">
                <a:ln>
                  <a:noFill/>
                </a:ln>
                <a:solidFill>
                  <a:srgbClr val="00197D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3.  </a:t>
            </a:r>
            <a:r>
              <a:rPr kumimoji="0" lang="zh-CN" alt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00197D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根据需要，将两个分别半反应式乘以适当的整数</a:t>
            </a:r>
            <a:r>
              <a:rPr kumimoji="0" lang="en-US" altLang="zh-CN" sz="1500" b="1" i="0" u="none" strike="noStrike" kern="1200" cap="none" spc="0" normalizeH="0" baseline="0" noProof="0" dirty="0">
                <a:ln>
                  <a:noFill/>
                </a:ln>
                <a:solidFill>
                  <a:srgbClr val="00197D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, </a:t>
            </a:r>
            <a:r>
              <a:rPr kumimoji="0" lang="zh-CN" alt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00197D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使氧化半反应失去的电子数等于还原半反应获得的电子数。              </a:t>
            </a:r>
            <a:endParaRPr kumimoji="0" lang="en-US" altLang="zh-CN" sz="1500" b="1" i="0" u="none" strike="noStrike" kern="1200" cap="none" spc="0" normalizeH="0" baseline="0" noProof="0" dirty="0">
              <a:ln>
                <a:noFill/>
              </a:ln>
              <a:solidFill>
                <a:srgbClr val="00197D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177800" lvl="0" indent="-177800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CN" sz="1500" b="1" i="0" u="none" strike="noStrike" kern="1200" cap="none" spc="0" normalizeH="0" baseline="0" noProof="0" dirty="0">
                <a:ln>
                  <a:noFill/>
                </a:ln>
                <a:solidFill>
                  <a:srgbClr val="00197D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4.  </a:t>
            </a:r>
            <a:r>
              <a:rPr kumimoji="0" lang="zh-CN" alt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00197D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将两个半反应式</a:t>
            </a:r>
            <a:r>
              <a:rPr lang="zh-CN" altLang="en-US" sz="1500" b="1" dirty="0">
                <a:solidFill>
                  <a:srgbClr val="00197D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相加（注意：有的教科书中将两个半反应都按还原式来写，那就要将两个半反应式相减。本课程不用那种写法）构成</a:t>
            </a:r>
            <a:r>
              <a:rPr kumimoji="0" lang="zh-CN" alt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00197D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总的氧化还原反应方程，消去方程两侧相同的物种来简化。              </a:t>
            </a:r>
            <a:endParaRPr kumimoji="0" lang="en-US" altLang="zh-CN" sz="1500" b="1" i="0" u="none" strike="noStrike" kern="1200" cap="none" spc="0" normalizeH="0" baseline="0" noProof="0" dirty="0">
              <a:ln>
                <a:noFill/>
              </a:ln>
              <a:solidFill>
                <a:srgbClr val="00197D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177800" marR="0" lvl="0" indent="-1778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500" b="1" i="0" u="none" strike="noStrike" kern="1200" cap="none" spc="0" normalizeH="0" baseline="0" noProof="0" dirty="0">
                <a:ln>
                  <a:noFill/>
                </a:ln>
                <a:solidFill>
                  <a:srgbClr val="00197D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5. </a:t>
            </a:r>
            <a:r>
              <a:rPr kumimoji="0" lang="zh-CN" alt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00197D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检查原子和电荷是否平衡。</a:t>
            </a:r>
            <a:endParaRPr kumimoji="0" lang="zh-CN" altLang="en-US" sz="1500" b="1" i="0" u="none" strike="noStrike" kern="1200" cap="none" spc="0" normalizeH="0" baseline="0" noProof="0" dirty="0">
              <a:ln>
                <a:noFill/>
              </a:ln>
              <a:solidFill>
                <a:srgbClr val="00197D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500" b="1" i="0" u="none" strike="noStrike" kern="1200" cap="none" spc="0" normalizeH="0" baseline="0" noProof="0" dirty="0">
              <a:ln>
                <a:noFill/>
              </a:ln>
              <a:solidFill>
                <a:srgbClr val="00197D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4511824" y="189601"/>
            <a:ext cx="5112568" cy="460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3333FF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碱性介质中的配平（中文详解）     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FFC000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</p:txBody>
      </p:sp>
    </p:spTree>
  </p:cSld>
  <p:clrMapOvr>
    <a:masterClrMapping/>
  </p:clrMapOvr>
  <p:transition spd="slow"/>
</p:sld>
</file>

<file path=ppt/slides/slide1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/>
              <a:t>Voltaic Cells</a:t>
            </a:r>
            <a:endParaRPr lang="en-US"/>
          </a:p>
        </p:txBody>
      </p:sp>
      <p:sp>
        <p:nvSpPr>
          <p:cNvPr id="21507" name="Rectangle 4"/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1676400" y="1066800"/>
            <a:ext cx="4572000" cy="5181600"/>
          </a:xfrm>
        </p:spPr>
        <p:txBody>
          <a:bodyPr/>
          <a:lstStyle/>
          <a:p>
            <a:pPr eaLnBrk="1" hangingPunct="1"/>
            <a:r>
              <a:rPr lang="en-US" sz="2800"/>
              <a:t>The oxidation occurs </a:t>
            </a:r>
            <a:br>
              <a:rPr lang="en-US" sz="2800"/>
            </a:br>
            <a:r>
              <a:rPr lang="en-US" sz="2800"/>
              <a:t>at the </a:t>
            </a:r>
            <a:r>
              <a:rPr lang="en-US" sz="2800" b="1"/>
              <a:t>anode</a:t>
            </a:r>
            <a:r>
              <a:rPr lang="en-US" sz="2800"/>
              <a:t>.</a:t>
            </a:r>
            <a:endParaRPr lang="en-US" sz="2800"/>
          </a:p>
          <a:p>
            <a:pPr eaLnBrk="1" hangingPunct="1"/>
            <a:r>
              <a:rPr lang="en-US" sz="2800"/>
              <a:t>The reduction occurs </a:t>
            </a:r>
            <a:br>
              <a:rPr lang="en-US" sz="2800"/>
            </a:br>
            <a:r>
              <a:rPr lang="en-US" sz="2800"/>
              <a:t>at the </a:t>
            </a:r>
            <a:r>
              <a:rPr lang="en-US" sz="2800" b="1"/>
              <a:t>cathode</a:t>
            </a:r>
            <a:r>
              <a:rPr lang="en-US" sz="2800"/>
              <a:t>.</a:t>
            </a:r>
            <a:endParaRPr lang="en-US" sz="2800"/>
          </a:p>
          <a:p>
            <a:pPr eaLnBrk="1" hangingPunct="1"/>
            <a:r>
              <a:rPr lang="en-US" sz="2800"/>
              <a:t>When electrons flow, charges aren’t </a:t>
            </a:r>
            <a:br>
              <a:rPr lang="en-US" sz="2800"/>
            </a:br>
            <a:r>
              <a:rPr lang="en-US" sz="2800"/>
              <a:t>balanced. So, a salt bridge, usually a </a:t>
            </a:r>
            <a:br>
              <a:rPr lang="en-US" sz="2800"/>
            </a:br>
            <a:r>
              <a:rPr lang="en-US" sz="2800"/>
              <a:t>U-shaped tube that contains a salt/agar solution, is used to keep the charges balanced.</a:t>
            </a:r>
            <a:endParaRPr lang="en-US" sz="2800"/>
          </a:p>
          <a:p>
            <a:pPr eaLnBrk="1" hangingPunct="1"/>
            <a:endParaRPr lang="en-US" sz="280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702"/>
          <a:stretch>
            <a:fillRect/>
          </a:stretch>
        </p:blipFill>
        <p:spPr>
          <a:xfrm>
            <a:off x="5828864" y="1271257"/>
            <a:ext cx="4697966" cy="2598099"/>
          </a:xfrm>
          <a:prstGeom prst="rect">
            <a:avLst/>
          </a:prstGeom>
        </p:spPr>
      </p:pic>
    </p:spTree>
  </p:cSld>
  <p:clrMapOvr>
    <a:masterClrMapping/>
  </p:clrMapOvr>
  <p:transition spd="slow"/>
</p:sld>
</file>

<file path=ppt/slides/slide1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/>
              <a:t>Standard Cell Potentials</a:t>
            </a:r>
            <a:endParaRPr lang="en-US"/>
          </a:p>
        </p:txBody>
      </p:sp>
      <p:sp>
        <p:nvSpPr>
          <p:cNvPr id="27651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2209800" y="1981200"/>
            <a:ext cx="7772400" cy="1295400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en-US"/>
              <a:t>	The cell potential at standard conditions can be found through this equation:</a:t>
            </a:r>
            <a:endParaRPr lang="en-US"/>
          </a:p>
        </p:txBody>
      </p:sp>
      <p:grpSp>
        <p:nvGrpSpPr>
          <p:cNvPr id="27652" name="Group 15"/>
          <p:cNvGrpSpPr/>
          <p:nvPr/>
        </p:nvGrpSpPr>
        <p:grpSpPr bwMode="auto">
          <a:xfrm>
            <a:off x="2895600" y="3492500"/>
            <a:ext cx="6511925" cy="612775"/>
            <a:chOff x="864" y="2200"/>
            <a:chExt cx="4102" cy="386"/>
          </a:xfrm>
        </p:grpSpPr>
        <p:grpSp>
          <p:nvGrpSpPr>
            <p:cNvPr id="27655" name="Group 14"/>
            <p:cNvGrpSpPr/>
            <p:nvPr/>
          </p:nvGrpSpPr>
          <p:grpSpPr bwMode="auto">
            <a:xfrm>
              <a:off x="864" y="2200"/>
              <a:ext cx="535" cy="376"/>
              <a:chOff x="864" y="2200"/>
              <a:chExt cx="535" cy="376"/>
            </a:xfrm>
          </p:grpSpPr>
          <p:sp>
            <p:nvSpPr>
              <p:cNvPr id="27659" name="Rectangle 4"/>
              <p:cNvSpPr>
                <a:spLocks noChangeArrowheads="1"/>
              </p:cNvSpPr>
              <p:nvPr/>
            </p:nvSpPr>
            <p:spPr bwMode="auto">
              <a:xfrm>
                <a:off x="864" y="2208"/>
                <a:ext cx="535" cy="368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wrap="none">
                <a:spAutoFit/>
              </a:bodyPr>
              <a:lstStyle/>
              <a:p>
                <a:r>
                  <a:rPr lang="en-US" sz="3200" i="1"/>
                  <a:t>E</a:t>
                </a:r>
                <a:r>
                  <a:rPr lang="en-US" sz="3200" baseline="-25000"/>
                  <a:t>cell</a:t>
                </a:r>
                <a:endParaRPr lang="en-US" sz="3200" i="1"/>
              </a:p>
            </p:txBody>
          </p:sp>
          <p:sp>
            <p:nvSpPr>
              <p:cNvPr id="27660" name="Rectangle 5"/>
              <p:cNvSpPr>
                <a:spLocks noChangeArrowheads="1"/>
              </p:cNvSpPr>
              <p:nvPr/>
            </p:nvSpPr>
            <p:spPr bwMode="auto">
              <a:xfrm>
                <a:off x="1044" y="2200"/>
                <a:ext cx="218" cy="371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wrap="none">
                <a:spAutoFit/>
              </a:bodyPr>
              <a:lstStyle/>
              <a:p>
                <a:r>
                  <a:rPr lang="en-US" sz="320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  <a:sym typeface="Symbol" panose="05050102010706020507" charset="2"/>
                  </a:rPr>
                  <a:t>°</a:t>
                </a:r>
                <a:endParaRPr lang="en-US" sz="3200"/>
              </a:p>
            </p:txBody>
          </p:sp>
        </p:grpSp>
        <p:sp>
          <p:nvSpPr>
            <p:cNvPr id="27656" name="Rectangle 7"/>
            <p:cNvSpPr>
              <a:spLocks noChangeArrowheads="1"/>
            </p:cNvSpPr>
            <p:nvPr/>
          </p:nvSpPr>
          <p:spPr bwMode="auto">
            <a:xfrm>
              <a:off x="1416" y="2218"/>
              <a:ext cx="3550" cy="368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>
              <a:spAutoFit/>
            </a:bodyPr>
            <a:lstStyle/>
            <a:p>
              <a:r>
                <a:rPr lang="en-US" sz="3200"/>
                <a:t>= </a:t>
              </a:r>
              <a:r>
                <a:rPr lang="en-US" sz="3200" i="1"/>
                <a:t>E</a:t>
              </a:r>
              <a:r>
                <a:rPr lang="en-US" sz="3200" baseline="-25000"/>
                <a:t>red</a:t>
              </a:r>
              <a:r>
                <a:rPr lang="en-US" sz="3200"/>
                <a:t> (cathode) </a:t>
              </a:r>
              <a:r>
                <a:rPr lang="en-US" sz="3200">
                  <a:ea typeface="Arial" panose="020B0604020202020204" pitchFamily="34" charset="0"/>
                  <a:cs typeface="Arial" panose="020B0604020202020204" pitchFamily="34" charset="0"/>
                  <a:sym typeface="Symbol" panose="05050102010706020507" charset="2"/>
                </a:rPr>
                <a:t>–</a:t>
              </a:r>
              <a:r>
                <a:rPr lang="en-US" sz="3200"/>
                <a:t> </a:t>
              </a:r>
              <a:r>
                <a:rPr lang="en-US" sz="3200" i="1"/>
                <a:t>E</a:t>
              </a:r>
              <a:r>
                <a:rPr lang="en-US" sz="3200" baseline="-25000"/>
                <a:t>red</a:t>
              </a:r>
              <a:r>
                <a:rPr lang="en-US" sz="3200"/>
                <a:t> (anode)</a:t>
              </a:r>
              <a:endParaRPr lang="en-US" sz="3200"/>
            </a:p>
          </p:txBody>
        </p:sp>
        <p:sp>
          <p:nvSpPr>
            <p:cNvPr id="27657" name="Rectangle 8"/>
            <p:cNvSpPr>
              <a:spLocks noChangeArrowheads="1"/>
            </p:cNvSpPr>
            <p:nvPr/>
          </p:nvSpPr>
          <p:spPr bwMode="auto">
            <a:xfrm>
              <a:off x="1817" y="2206"/>
              <a:ext cx="218" cy="368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>
              <a:spAutoFit/>
            </a:bodyPr>
            <a:lstStyle/>
            <a:p>
              <a:r>
                <a:rPr lang="en-US" sz="3200"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  <a:sym typeface="Symbol" panose="05050102010706020507" charset="2"/>
                </a:rPr>
                <a:t>°</a:t>
              </a:r>
              <a:endParaRPr lang="en-US" sz="2400"/>
            </a:p>
          </p:txBody>
        </p:sp>
        <p:sp>
          <p:nvSpPr>
            <p:cNvPr id="27658" name="Rectangle 9"/>
            <p:cNvSpPr>
              <a:spLocks noChangeArrowheads="1"/>
            </p:cNvSpPr>
            <p:nvPr/>
          </p:nvSpPr>
          <p:spPr bwMode="auto">
            <a:xfrm>
              <a:off x="3673" y="2206"/>
              <a:ext cx="218" cy="368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>
              <a:spAutoFit/>
            </a:bodyPr>
            <a:lstStyle/>
            <a:p>
              <a:r>
                <a:rPr lang="en-US" sz="3200"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  <a:sym typeface="Symbol" panose="05050102010706020507" charset="2"/>
                </a:rPr>
                <a:t>°</a:t>
              </a:r>
              <a:endParaRPr lang="en-US" sz="2400"/>
            </a:p>
          </p:txBody>
        </p:sp>
      </p:grpSp>
      <p:sp>
        <p:nvSpPr>
          <p:cNvPr id="27653" name="Rectangle 12"/>
          <p:cNvSpPr>
            <a:spLocks noChangeArrowheads="1"/>
          </p:cNvSpPr>
          <p:nvPr/>
        </p:nvSpPr>
        <p:spPr bwMode="auto">
          <a:xfrm>
            <a:off x="2209800" y="4419600"/>
            <a:ext cx="6862763" cy="156845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marL="339725" indent="-339725"/>
            <a:r>
              <a:rPr lang="en-US" sz="3200"/>
              <a:t>	Because cell potential is based on the potential energy per unit of charge, it is an intensive property.</a:t>
            </a:r>
            <a:endParaRPr lang="en-US" sz="3200"/>
          </a:p>
        </p:txBody>
      </p:sp>
    </p:spTree>
  </p:cSld>
  <p:clrMapOvr>
    <a:masterClrMapping/>
  </p:clrMapOvr>
  <p:transition spd="slow"/>
</p:sld>
</file>

<file path=ppt/slides/slide1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/>
              <a:t>Free Energy and Redox</a:t>
            </a:r>
            <a:endParaRPr lang="en-US"/>
          </a:p>
        </p:txBody>
      </p:sp>
      <p:sp>
        <p:nvSpPr>
          <p:cNvPr id="30723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1752600" y="1371600"/>
            <a:ext cx="8763000" cy="4724400"/>
          </a:xfrm>
        </p:spPr>
        <p:txBody>
          <a:bodyPr/>
          <a:lstStyle/>
          <a:p>
            <a:pPr eaLnBrk="1" hangingPunct="1"/>
            <a:r>
              <a:rPr lang="en-US" sz="2800"/>
              <a:t>Spontaneous redox reactions produce a positive cell potential, or emf.</a:t>
            </a:r>
            <a:endParaRPr lang="en-US" sz="2800"/>
          </a:p>
          <a:p>
            <a:pPr eaLnBrk="1" hangingPunct="1"/>
            <a:r>
              <a:rPr lang="en-US" sz="2800" i="1"/>
              <a:t>E</a:t>
            </a:r>
            <a:r>
              <a:rPr lang="en-US" sz="280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°</a:t>
            </a:r>
            <a:r>
              <a:rPr lang="en-US" sz="2800">
                <a:ea typeface="Arial" panose="020B0604020202020204" pitchFamily="34" charset="0"/>
                <a:cs typeface="Arial" panose="020B0604020202020204" pitchFamily="34" charset="0"/>
              </a:rPr>
              <a:t> = </a:t>
            </a:r>
            <a:r>
              <a:rPr lang="en-US" sz="2800" i="1">
                <a:ea typeface="Arial" panose="020B0604020202020204" pitchFamily="34" charset="0"/>
                <a:cs typeface="Arial" panose="020B0604020202020204" pitchFamily="34" charset="0"/>
              </a:rPr>
              <a:t>E</a:t>
            </a:r>
            <a:r>
              <a:rPr lang="en-US" sz="280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°</a:t>
            </a:r>
            <a:r>
              <a:rPr lang="en-US" sz="2800" baseline="-25000">
                <a:ea typeface="Arial" panose="020B0604020202020204" pitchFamily="34" charset="0"/>
                <a:cs typeface="Arial" panose="020B0604020202020204" pitchFamily="34" charset="0"/>
              </a:rPr>
              <a:t>red</a:t>
            </a:r>
            <a:r>
              <a:rPr lang="en-US" sz="2800">
                <a:ea typeface="Arial" panose="020B0604020202020204" pitchFamily="34" charset="0"/>
                <a:cs typeface="Arial" panose="020B0604020202020204" pitchFamily="34" charset="0"/>
              </a:rPr>
              <a:t> (reduction) – </a:t>
            </a:r>
            <a:r>
              <a:rPr lang="en-US" sz="2800" i="1">
                <a:ea typeface="Arial" panose="020B0604020202020204" pitchFamily="34" charset="0"/>
                <a:cs typeface="Arial" panose="020B0604020202020204" pitchFamily="34" charset="0"/>
              </a:rPr>
              <a:t>E</a:t>
            </a:r>
            <a:r>
              <a:rPr lang="en-US" sz="280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°</a:t>
            </a:r>
            <a:r>
              <a:rPr lang="en-US" sz="2800" baseline="-25000">
                <a:ea typeface="Arial" panose="020B0604020202020204" pitchFamily="34" charset="0"/>
                <a:cs typeface="Arial" panose="020B0604020202020204" pitchFamily="34" charset="0"/>
              </a:rPr>
              <a:t>red</a:t>
            </a:r>
            <a:r>
              <a:rPr lang="en-US" sz="2800">
                <a:ea typeface="Arial" panose="020B0604020202020204" pitchFamily="34" charset="0"/>
                <a:cs typeface="Arial" panose="020B0604020202020204" pitchFamily="34" charset="0"/>
              </a:rPr>
              <a:t> (oxidation)</a:t>
            </a:r>
            <a:endParaRPr lang="en-US" sz="2800">
              <a:ea typeface="Arial" panose="020B0604020202020204" pitchFamily="34" charset="0"/>
              <a:cs typeface="Arial" panose="020B0604020202020204" pitchFamily="34" charset="0"/>
            </a:endParaRPr>
          </a:p>
          <a:p>
            <a:pPr eaLnBrk="1" hangingPunct="1"/>
            <a:r>
              <a:rPr lang="en-US" sz="2800">
                <a:ea typeface="Arial" panose="020B0604020202020204" pitchFamily="34" charset="0"/>
                <a:cs typeface="Arial" panose="020B0604020202020204" pitchFamily="34" charset="0"/>
              </a:rPr>
              <a:t>Note that this is true for ALL redox reactions, not only for voltaic cells.</a:t>
            </a:r>
            <a:endParaRPr lang="en-US" sz="2800">
              <a:ea typeface="Arial" panose="020B0604020202020204" pitchFamily="34" charset="0"/>
              <a:cs typeface="Arial" panose="020B0604020202020204" pitchFamily="34" charset="0"/>
            </a:endParaRPr>
          </a:p>
          <a:p>
            <a:pPr eaLnBrk="1" hangingPunct="1"/>
            <a:r>
              <a:rPr lang="en-US" sz="2800">
                <a:ea typeface="Arial" panose="020B0604020202020204" pitchFamily="34" charset="0"/>
                <a:cs typeface="Arial" panose="020B0604020202020204" pitchFamily="34" charset="0"/>
              </a:rPr>
              <a:t>Since Gibbs free energy is the measure of spontaneity, positive emf corresponds to </a:t>
            </a:r>
            <a:br>
              <a:rPr lang="en-US" sz="2800">
                <a:ea typeface="Arial" panose="020B0604020202020204" pitchFamily="34" charset="0"/>
                <a:cs typeface="Arial" panose="020B0604020202020204" pitchFamily="34" charset="0"/>
              </a:rPr>
            </a:br>
            <a:r>
              <a:rPr lang="en-US" sz="2800">
                <a:ea typeface="Arial" panose="020B0604020202020204" pitchFamily="34" charset="0"/>
                <a:cs typeface="Arial" panose="020B0604020202020204" pitchFamily="34" charset="0"/>
              </a:rPr>
              <a:t>negative </a:t>
            </a:r>
            <a:r>
              <a:rPr lang="el-GR" sz="2800">
                <a:ea typeface="Arial" panose="020B0604020202020204" pitchFamily="34" charset="0"/>
                <a:cs typeface="Arial" panose="020B0604020202020204" pitchFamily="34" charset="0"/>
              </a:rPr>
              <a:t>Δ</a:t>
            </a:r>
            <a:r>
              <a:rPr lang="en-US" sz="2800" i="1">
                <a:ea typeface="Arial" panose="020B0604020202020204" pitchFamily="34" charset="0"/>
                <a:cs typeface="Arial" panose="020B0604020202020204" pitchFamily="34" charset="0"/>
              </a:rPr>
              <a:t>G</a:t>
            </a:r>
            <a:r>
              <a:rPr lang="en-US" sz="2800">
                <a:ea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n-US" sz="2800">
              <a:ea typeface="Arial" panose="020B0604020202020204" pitchFamily="34" charset="0"/>
              <a:cs typeface="Arial" panose="020B0604020202020204" pitchFamily="34" charset="0"/>
            </a:endParaRPr>
          </a:p>
          <a:p>
            <a:pPr eaLnBrk="1" hangingPunct="1"/>
            <a:r>
              <a:rPr lang="en-US" sz="2800">
                <a:ea typeface="Arial" panose="020B0604020202020204" pitchFamily="34" charset="0"/>
                <a:cs typeface="Arial" panose="020B0604020202020204" pitchFamily="34" charset="0"/>
              </a:rPr>
              <a:t>How do they relate? </a:t>
            </a:r>
            <a:r>
              <a:rPr lang="el-GR" sz="2800">
                <a:ea typeface="Arial" panose="020B0604020202020204" pitchFamily="34" charset="0"/>
                <a:cs typeface="Arial" panose="020B0604020202020204" pitchFamily="34" charset="0"/>
              </a:rPr>
              <a:t>Δ</a:t>
            </a:r>
            <a:r>
              <a:rPr lang="en-US" sz="2800" i="1">
                <a:ea typeface="Arial" panose="020B0604020202020204" pitchFamily="34" charset="0"/>
                <a:cs typeface="Arial" panose="020B0604020202020204" pitchFamily="34" charset="0"/>
              </a:rPr>
              <a:t>G</a:t>
            </a:r>
            <a:r>
              <a:rPr lang="el-GR" sz="2800">
                <a:ea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>
                <a:ea typeface="Arial" panose="020B0604020202020204" pitchFamily="34" charset="0"/>
                <a:cs typeface="Arial" panose="020B0604020202020204" pitchFamily="34" charset="0"/>
              </a:rPr>
              <a:t>= –</a:t>
            </a:r>
            <a:r>
              <a:rPr lang="en-US" sz="2800" i="1">
                <a:ea typeface="Arial" panose="020B0604020202020204" pitchFamily="34" charset="0"/>
                <a:cs typeface="Arial" panose="020B0604020202020204" pitchFamily="34" charset="0"/>
              </a:rPr>
              <a:t>nFE</a:t>
            </a:r>
            <a:r>
              <a:rPr lang="en-US" sz="2800">
                <a:ea typeface="Arial" panose="020B0604020202020204" pitchFamily="34" charset="0"/>
                <a:cs typeface="Arial" panose="020B0604020202020204" pitchFamily="34" charset="0"/>
              </a:rPr>
              <a:t> (</a:t>
            </a:r>
            <a:r>
              <a:rPr lang="en-US" sz="2800" i="1">
                <a:ea typeface="Arial" panose="020B0604020202020204" pitchFamily="34" charset="0"/>
                <a:cs typeface="Arial" panose="020B0604020202020204" pitchFamily="34" charset="0"/>
              </a:rPr>
              <a:t>F</a:t>
            </a:r>
            <a:r>
              <a:rPr lang="en-US" sz="2800">
                <a:ea typeface="Arial" panose="020B0604020202020204" pitchFamily="34" charset="0"/>
                <a:cs typeface="Arial" panose="020B0604020202020204" pitchFamily="34" charset="0"/>
              </a:rPr>
              <a:t> is the Faraday constant, 96,485 C/mol.)</a:t>
            </a:r>
            <a:endParaRPr lang="en-US" sz="2800"/>
          </a:p>
        </p:txBody>
      </p:sp>
      <p:sp>
        <p:nvSpPr>
          <p:cNvPr id="2" name="文本框 1"/>
          <p:cNvSpPr txBox="1"/>
          <p:nvPr/>
        </p:nvSpPr>
        <p:spPr>
          <a:xfrm>
            <a:off x="3762375" y="6186170"/>
            <a:ext cx="301942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800">
                <a:solidFill>
                  <a:srgbClr val="FF0000"/>
                </a:solidFill>
              </a:rPr>
              <a:t>第六个公式！</a:t>
            </a:r>
            <a:endParaRPr lang="zh-CN" altLang="en-US" sz="2800">
              <a:solidFill>
                <a:srgbClr val="FF0000"/>
              </a:solidFill>
            </a:endParaRPr>
          </a:p>
        </p:txBody>
      </p:sp>
    </p:spTree>
  </p:cSld>
  <p:clrMapOvr>
    <a:masterClrMapping/>
  </p:clrMapOvr>
  <p:transition spd="slow"/>
</p:sld>
</file>

<file path=ppt/slides/slide1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/>
              <a:t>Free Energy, Redox, and K</a:t>
            </a:r>
            <a:endParaRPr lang="en-US"/>
          </a:p>
        </p:txBody>
      </p:sp>
      <p:sp>
        <p:nvSpPr>
          <p:cNvPr id="31747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2590800" y="1600200"/>
            <a:ext cx="7391400" cy="1752600"/>
          </a:xfrm>
        </p:spPr>
        <p:txBody>
          <a:bodyPr/>
          <a:lstStyle/>
          <a:p>
            <a:pPr eaLnBrk="1" hangingPunct="1"/>
            <a:r>
              <a:rPr lang="en-US">
                <a:ea typeface="Arial" panose="020B0604020202020204" pitchFamily="34" charset="0"/>
                <a:cs typeface="Arial" panose="020B0604020202020204" pitchFamily="34" charset="0"/>
              </a:rPr>
              <a:t>How is everything related?</a:t>
            </a:r>
            <a:endParaRPr lang="en-US">
              <a:ea typeface="Arial" panose="020B0604020202020204" pitchFamily="34" charset="0"/>
              <a:cs typeface="Arial" panose="020B0604020202020204" pitchFamily="34" charset="0"/>
            </a:endParaRPr>
          </a:p>
          <a:p>
            <a:pPr eaLnBrk="1" hangingPunct="1"/>
            <a:r>
              <a:rPr lang="el-GR">
                <a:ea typeface="Arial" panose="020B0604020202020204" pitchFamily="34" charset="0"/>
                <a:cs typeface="Arial" panose="020B0604020202020204" pitchFamily="34" charset="0"/>
              </a:rPr>
              <a:t>Δ</a:t>
            </a:r>
            <a:r>
              <a:rPr lang="en-US" i="1">
                <a:ea typeface="Arial" panose="020B0604020202020204" pitchFamily="34" charset="0"/>
                <a:cs typeface="Arial" panose="020B0604020202020204" pitchFamily="34" charset="0"/>
              </a:rPr>
              <a:t>G</a:t>
            </a:r>
            <a:r>
              <a:rPr lang="en-US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°</a:t>
            </a:r>
            <a:r>
              <a:rPr lang="el-GR">
                <a:ea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>
                <a:ea typeface="Arial" panose="020B0604020202020204" pitchFamily="34" charset="0"/>
                <a:cs typeface="Arial" panose="020B0604020202020204" pitchFamily="34" charset="0"/>
              </a:rPr>
              <a:t>= –</a:t>
            </a:r>
            <a:r>
              <a:rPr lang="en-US" i="1">
                <a:ea typeface="Arial" panose="020B0604020202020204" pitchFamily="34" charset="0"/>
                <a:cs typeface="Arial" panose="020B0604020202020204" pitchFamily="34" charset="0"/>
              </a:rPr>
              <a:t>nFE</a:t>
            </a:r>
            <a:r>
              <a:rPr lang="en-US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°</a:t>
            </a:r>
            <a:r>
              <a:rPr lang="en-US">
                <a:ea typeface="Arial" panose="020B0604020202020204" pitchFamily="34" charset="0"/>
                <a:cs typeface="Arial" panose="020B0604020202020204" pitchFamily="34" charset="0"/>
              </a:rPr>
              <a:t> = –</a:t>
            </a:r>
            <a:r>
              <a:rPr lang="en-US" i="1">
                <a:ea typeface="Arial" panose="020B0604020202020204" pitchFamily="34" charset="0"/>
                <a:cs typeface="Arial" panose="020B0604020202020204" pitchFamily="34" charset="0"/>
              </a:rPr>
              <a:t>RT</a:t>
            </a:r>
            <a:r>
              <a:rPr lang="en-US">
                <a:ea typeface="Arial" panose="020B0604020202020204" pitchFamily="34" charset="0"/>
                <a:cs typeface="Arial" panose="020B0604020202020204" pitchFamily="34" charset="0"/>
              </a:rPr>
              <a:t> ln </a:t>
            </a:r>
            <a:r>
              <a:rPr lang="en-US" i="1">
                <a:ea typeface="Arial" panose="020B0604020202020204" pitchFamily="34" charset="0"/>
                <a:cs typeface="Arial" panose="020B0604020202020204" pitchFamily="34" charset="0"/>
              </a:rPr>
              <a:t>K</a:t>
            </a:r>
            <a:endParaRPr lang="en-US" i="1">
              <a:ea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762"/>
          <a:stretch>
            <a:fillRect/>
          </a:stretch>
        </p:blipFill>
        <p:spPr>
          <a:xfrm>
            <a:off x="2592404" y="3032142"/>
            <a:ext cx="7182275" cy="2877770"/>
          </a:xfrm>
          <a:prstGeom prst="rect">
            <a:avLst/>
          </a:prstGeom>
        </p:spPr>
      </p:pic>
    </p:spTree>
  </p:cSld>
  <p:clrMapOvr>
    <a:masterClrMapping/>
  </p:clrMapOvr>
  <p:transition spd="slow"/>
</p:sld>
</file>

<file path=ppt/slides/slide1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1524000" y="0"/>
            <a:ext cx="9144000" cy="1143000"/>
          </a:xfrm>
        </p:spPr>
        <p:txBody>
          <a:bodyPr/>
          <a:lstStyle/>
          <a:p>
            <a:pPr eaLnBrk="1" hangingPunct="1"/>
            <a:r>
              <a:rPr lang="en-US"/>
              <a:t>Nernst Equation</a:t>
            </a:r>
            <a:endParaRPr lang="en-US"/>
          </a:p>
        </p:txBody>
      </p:sp>
      <p:sp>
        <p:nvSpPr>
          <p:cNvPr id="33795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2209800" y="914400"/>
            <a:ext cx="7772400" cy="5181600"/>
          </a:xfrm>
        </p:spPr>
        <p:txBody>
          <a:bodyPr/>
          <a:lstStyle/>
          <a:p>
            <a:pPr eaLnBrk="1" hangingPunct="1"/>
            <a:r>
              <a:rPr lang="en-US" dirty="0"/>
              <a:t>Remember, </a:t>
            </a:r>
            <a:r>
              <a:rPr lang="el-GR" dirty="0">
                <a:ea typeface="Arial" panose="020B0604020202020204" pitchFamily="34" charset="0"/>
                <a:cs typeface="Arial" panose="020B0604020202020204" pitchFamily="34" charset="0"/>
              </a:rPr>
              <a:t>Δ</a:t>
            </a:r>
            <a:r>
              <a:rPr lang="en-US" i="1" dirty="0"/>
              <a:t>G</a:t>
            </a:r>
            <a:r>
              <a:rPr lang="en-US" dirty="0"/>
              <a:t> = </a:t>
            </a:r>
            <a:r>
              <a:rPr lang="el-GR" dirty="0">
                <a:ea typeface="Arial" panose="020B0604020202020204" pitchFamily="34" charset="0"/>
                <a:cs typeface="Arial" panose="020B0604020202020204" pitchFamily="34" charset="0"/>
              </a:rPr>
              <a:t>Δ</a:t>
            </a:r>
            <a:r>
              <a:rPr lang="en-US" i="1" dirty="0"/>
              <a:t>G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°</a:t>
            </a:r>
            <a:r>
              <a:rPr lang="en-US" dirty="0">
                <a:sym typeface="Symbol" panose="05050102010706020507" charset="2"/>
              </a:rPr>
              <a:t> + </a:t>
            </a:r>
            <a:r>
              <a:rPr lang="en-US" i="1" dirty="0">
                <a:sym typeface="Symbol" panose="05050102010706020507" charset="2"/>
              </a:rPr>
              <a:t>RT</a:t>
            </a:r>
            <a:r>
              <a:rPr lang="en-US" dirty="0">
                <a:sym typeface="Symbol" panose="05050102010706020507" charset="2"/>
              </a:rPr>
              <a:t> ln </a:t>
            </a:r>
            <a:r>
              <a:rPr lang="en-US" i="1" dirty="0">
                <a:sym typeface="Symbol" panose="05050102010706020507" charset="2"/>
              </a:rPr>
              <a:t>Q</a:t>
            </a:r>
            <a:endParaRPr lang="en-US" dirty="0">
              <a:sym typeface="Symbol" panose="05050102010706020507" charset="2"/>
            </a:endParaRPr>
          </a:p>
          <a:p>
            <a:pPr eaLnBrk="1" hangingPunct="1"/>
            <a:r>
              <a:rPr lang="en-US" dirty="0"/>
              <a:t>So, </a:t>
            </a:r>
            <a:r>
              <a:rPr lang="en-US" dirty="0">
                <a:ea typeface="Arial" panose="020B0604020202020204" pitchFamily="34" charset="0"/>
                <a:cs typeface="Arial" panose="020B0604020202020204" pitchFamily="34" charset="0"/>
                <a:sym typeface="Symbol" panose="05050102010706020507" charset="2"/>
              </a:rPr>
              <a:t>–</a:t>
            </a:r>
            <a:r>
              <a:rPr lang="en-US" i="1" dirty="0" err="1"/>
              <a:t>nFE</a:t>
            </a:r>
            <a:r>
              <a:rPr lang="en-US" dirty="0"/>
              <a:t> = </a:t>
            </a:r>
            <a:r>
              <a:rPr lang="en-US" altLang="zh-CN" dirty="0">
                <a:solidFill>
                  <a:srgbClr val="FF0000"/>
                </a:solidFill>
              </a:rPr>
              <a:t>-</a:t>
            </a:r>
            <a:r>
              <a:rPr lang="en-US" i="1" dirty="0" err="1"/>
              <a:t>nFE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°</a:t>
            </a:r>
            <a:r>
              <a:rPr lang="en-US" dirty="0">
                <a:sym typeface="Symbol" panose="05050102010706020507" charset="2"/>
              </a:rPr>
              <a:t> + </a:t>
            </a:r>
            <a:r>
              <a:rPr lang="en-US" i="1" dirty="0">
                <a:sym typeface="Symbol" panose="05050102010706020507" charset="2"/>
              </a:rPr>
              <a:t>RT</a:t>
            </a:r>
            <a:r>
              <a:rPr lang="en-US" dirty="0">
                <a:sym typeface="Symbol" panose="05050102010706020507" charset="2"/>
              </a:rPr>
              <a:t> ln </a:t>
            </a:r>
            <a:r>
              <a:rPr lang="en-US" i="1" dirty="0">
                <a:sym typeface="Symbol" panose="05050102010706020507" charset="2"/>
              </a:rPr>
              <a:t>Q</a:t>
            </a:r>
            <a:endParaRPr lang="en-US" i="1" dirty="0">
              <a:sym typeface="Symbol" panose="05050102010706020507" charset="2"/>
            </a:endParaRPr>
          </a:p>
          <a:p>
            <a:pPr eaLnBrk="1" hangingPunct="1"/>
            <a:endParaRPr lang="en-US" i="1" dirty="0">
              <a:sym typeface="Symbol" panose="05050102010706020507" charset="2"/>
            </a:endParaRPr>
          </a:p>
          <a:p>
            <a:pPr eaLnBrk="1" hangingPunct="1"/>
            <a:r>
              <a:rPr lang="en-US" dirty="0"/>
              <a:t>Dividing both sides by </a:t>
            </a:r>
            <a:r>
              <a:rPr lang="en-US" dirty="0">
                <a:ea typeface="Arial" panose="020B0604020202020204" pitchFamily="34" charset="0"/>
                <a:cs typeface="Arial" panose="020B0604020202020204" pitchFamily="34" charset="0"/>
                <a:sym typeface="Symbol" panose="05050102010706020507" charset="2"/>
              </a:rPr>
              <a:t>–</a:t>
            </a:r>
            <a:r>
              <a:rPr lang="en-US" i="1" dirty="0" err="1"/>
              <a:t>nF</a:t>
            </a:r>
            <a:r>
              <a:rPr lang="en-US" dirty="0"/>
              <a:t>, we get the </a:t>
            </a:r>
            <a:r>
              <a:rPr lang="en-US" b="1" dirty="0"/>
              <a:t>Nernst equation</a:t>
            </a:r>
            <a:r>
              <a:rPr lang="en-US" dirty="0"/>
              <a:t>:</a:t>
            </a:r>
            <a:endParaRPr lang="en-US" dirty="0"/>
          </a:p>
          <a:p>
            <a:pPr eaLnBrk="1" hangingPunct="1">
              <a:buFontTx/>
              <a:buNone/>
            </a:pPr>
            <a:r>
              <a:rPr lang="en-US" dirty="0"/>
              <a:t>	</a:t>
            </a:r>
            <a:r>
              <a:rPr lang="en-US" i="1" dirty="0"/>
              <a:t>E</a:t>
            </a:r>
            <a:r>
              <a:rPr lang="en-US" dirty="0"/>
              <a:t> = </a:t>
            </a:r>
            <a:r>
              <a:rPr lang="en-US" i="1" dirty="0"/>
              <a:t>E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°</a:t>
            </a:r>
            <a:r>
              <a:rPr lang="en-US" dirty="0">
                <a:ea typeface="Arial" panose="020B0604020202020204" pitchFamily="34" charset="0"/>
                <a:cs typeface="Arial" panose="020B0604020202020204" pitchFamily="34" charset="0"/>
              </a:rPr>
              <a:t> – (</a:t>
            </a:r>
            <a:r>
              <a:rPr lang="en-US" i="1" dirty="0">
                <a:ea typeface="Arial" panose="020B0604020202020204" pitchFamily="34" charset="0"/>
                <a:cs typeface="Arial" panose="020B0604020202020204" pitchFamily="34" charset="0"/>
              </a:rPr>
              <a:t>RT</a:t>
            </a:r>
            <a:r>
              <a:rPr lang="en-US" dirty="0">
                <a:ea typeface="Arial" panose="020B0604020202020204" pitchFamily="34" charset="0"/>
                <a:cs typeface="Arial" panose="020B0604020202020204" pitchFamily="34" charset="0"/>
              </a:rPr>
              <a:t>/</a:t>
            </a:r>
            <a:r>
              <a:rPr lang="en-US" i="1" dirty="0" err="1">
                <a:ea typeface="Arial" panose="020B0604020202020204" pitchFamily="34" charset="0"/>
                <a:cs typeface="Arial" panose="020B0604020202020204" pitchFamily="34" charset="0"/>
              </a:rPr>
              <a:t>nF</a:t>
            </a:r>
            <a:r>
              <a:rPr lang="en-US" dirty="0">
                <a:ea typeface="Arial" panose="020B0604020202020204" pitchFamily="34" charset="0"/>
                <a:cs typeface="Arial" panose="020B0604020202020204" pitchFamily="34" charset="0"/>
              </a:rPr>
              <a:t>) ln </a:t>
            </a:r>
            <a:r>
              <a:rPr lang="en-US" i="1" dirty="0">
                <a:ea typeface="Arial" panose="020B0604020202020204" pitchFamily="34" charset="0"/>
                <a:cs typeface="Arial" panose="020B0604020202020204" pitchFamily="34" charset="0"/>
              </a:rPr>
              <a:t>Q</a:t>
            </a:r>
            <a:endParaRPr lang="en-US" i="1" dirty="0">
              <a:ea typeface="Arial" panose="020B0604020202020204" pitchFamily="34" charset="0"/>
              <a:cs typeface="Arial" panose="020B0604020202020204" pitchFamily="34" charset="0"/>
            </a:endParaRPr>
          </a:p>
          <a:p>
            <a:pPr eaLnBrk="1" hangingPunct="1"/>
            <a:r>
              <a:rPr lang="en-US" dirty="0"/>
              <a:t>OR </a:t>
            </a:r>
            <a:r>
              <a:rPr lang="en-US" i="1" dirty="0"/>
              <a:t>E</a:t>
            </a:r>
            <a:r>
              <a:rPr lang="en-US" dirty="0"/>
              <a:t> = </a:t>
            </a:r>
            <a:r>
              <a:rPr lang="en-US" i="1" dirty="0"/>
              <a:t>E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°</a:t>
            </a:r>
            <a:r>
              <a:rPr lang="en-US" dirty="0">
                <a:ea typeface="Arial" panose="020B0604020202020204" pitchFamily="34" charset="0"/>
                <a:cs typeface="Arial" panose="020B0604020202020204" pitchFamily="34" charset="0"/>
              </a:rPr>
              <a:t> – (2.303 </a:t>
            </a:r>
            <a:r>
              <a:rPr lang="en-US" i="1" dirty="0">
                <a:ea typeface="Arial" panose="020B0604020202020204" pitchFamily="34" charset="0"/>
                <a:cs typeface="Arial" panose="020B0604020202020204" pitchFamily="34" charset="0"/>
              </a:rPr>
              <a:t>RT</a:t>
            </a:r>
            <a:r>
              <a:rPr lang="en-US" dirty="0">
                <a:ea typeface="Arial" panose="020B0604020202020204" pitchFamily="34" charset="0"/>
                <a:cs typeface="Arial" panose="020B0604020202020204" pitchFamily="34" charset="0"/>
              </a:rPr>
              <a:t>/</a:t>
            </a:r>
            <a:r>
              <a:rPr lang="en-US" i="1" dirty="0" err="1">
                <a:ea typeface="Arial" panose="020B0604020202020204" pitchFamily="34" charset="0"/>
                <a:cs typeface="Arial" panose="020B0604020202020204" pitchFamily="34" charset="0"/>
              </a:rPr>
              <a:t>nF</a:t>
            </a:r>
            <a:r>
              <a:rPr lang="en-US" dirty="0">
                <a:ea typeface="Arial" panose="020B0604020202020204" pitchFamily="34" charset="0"/>
                <a:cs typeface="Arial" panose="020B0604020202020204" pitchFamily="34" charset="0"/>
              </a:rPr>
              <a:t>) log </a:t>
            </a:r>
            <a:r>
              <a:rPr lang="en-US" i="1" dirty="0">
                <a:ea typeface="Arial" panose="020B0604020202020204" pitchFamily="34" charset="0"/>
                <a:cs typeface="Arial" panose="020B0604020202020204" pitchFamily="34" charset="0"/>
              </a:rPr>
              <a:t>Q</a:t>
            </a:r>
            <a:endParaRPr lang="en-US" i="1" dirty="0">
              <a:ea typeface="Arial" panose="020B0604020202020204" pitchFamily="34" charset="0"/>
              <a:cs typeface="Arial" panose="020B0604020202020204" pitchFamily="34" charset="0"/>
            </a:endParaRPr>
          </a:p>
          <a:p>
            <a:pPr eaLnBrk="1" hangingPunct="1"/>
            <a:r>
              <a:rPr lang="en-US" dirty="0">
                <a:ea typeface="Arial" panose="020B0604020202020204" pitchFamily="34" charset="0"/>
                <a:cs typeface="Arial" panose="020B0604020202020204" pitchFamily="34" charset="0"/>
              </a:rPr>
              <a:t>Using standard thermodynamic temperature and the constants </a:t>
            </a:r>
            <a:r>
              <a:rPr lang="en-US" i="1" dirty="0">
                <a:ea typeface="Arial" panose="020B0604020202020204" pitchFamily="34" charset="0"/>
                <a:cs typeface="Arial" panose="020B0604020202020204" pitchFamily="34" charset="0"/>
              </a:rPr>
              <a:t>R</a:t>
            </a:r>
            <a:r>
              <a:rPr lang="en-US" dirty="0">
                <a:ea typeface="Arial" panose="020B0604020202020204" pitchFamily="34" charset="0"/>
                <a:cs typeface="Arial" panose="020B0604020202020204" pitchFamily="34" charset="0"/>
              </a:rPr>
              <a:t> and </a:t>
            </a:r>
            <a:r>
              <a:rPr lang="en-US" i="1" dirty="0">
                <a:ea typeface="Arial" panose="020B0604020202020204" pitchFamily="34" charset="0"/>
                <a:cs typeface="Arial" panose="020B0604020202020204" pitchFamily="34" charset="0"/>
              </a:rPr>
              <a:t>F</a:t>
            </a:r>
            <a:r>
              <a:rPr lang="en-US" dirty="0">
                <a:ea typeface="Arial" panose="020B0604020202020204" pitchFamily="34" charset="0"/>
                <a:cs typeface="Arial" panose="020B0604020202020204" pitchFamily="34" charset="0"/>
              </a:rPr>
              <a:t>,</a:t>
            </a:r>
            <a:endParaRPr lang="en-US" dirty="0">
              <a:ea typeface="Arial" panose="020B0604020202020204" pitchFamily="34" charset="0"/>
              <a:cs typeface="Arial" panose="020B0604020202020204" pitchFamily="34" charset="0"/>
            </a:endParaRPr>
          </a:p>
          <a:p>
            <a:pPr eaLnBrk="1" hangingPunct="1">
              <a:buFontTx/>
              <a:buNone/>
            </a:pPr>
            <a:r>
              <a:rPr lang="en-US" dirty="0">
                <a:ea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lang="en-US" i="1" dirty="0"/>
              <a:t>E</a:t>
            </a:r>
            <a:r>
              <a:rPr lang="en-US" dirty="0"/>
              <a:t> = </a:t>
            </a:r>
            <a:r>
              <a:rPr lang="en-US" i="1" dirty="0"/>
              <a:t>E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°</a:t>
            </a:r>
            <a:r>
              <a:rPr lang="en-US" dirty="0">
                <a:ea typeface="Arial" panose="020B0604020202020204" pitchFamily="34" charset="0"/>
                <a:cs typeface="Arial" panose="020B0604020202020204" pitchFamily="34" charset="0"/>
              </a:rPr>
              <a:t> – (0.0592/n) log </a:t>
            </a:r>
            <a:r>
              <a:rPr lang="en-US" i="1" dirty="0">
                <a:ea typeface="Arial" panose="020B0604020202020204" pitchFamily="34" charset="0"/>
                <a:cs typeface="Arial" panose="020B0604020202020204" pitchFamily="34" charset="0"/>
              </a:rPr>
              <a:t>Q</a:t>
            </a:r>
            <a:endParaRPr lang="en-US" i="1" dirty="0">
              <a:ea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3953866" y="2057400"/>
            <a:ext cx="3518497" cy="3683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zh-CN" altLang="en-US" kern="0" dirty="0">
                <a:solidFill>
                  <a:srgbClr val="FF0000"/>
                </a:solidFill>
                <a:latin typeface="Arial" panose="020B0604020202020204"/>
                <a:ea typeface="MS PGothic" panose="020B0600070205080204" pitchFamily="48" charset="-128"/>
                <a:cs typeface="+mn-cs"/>
              </a:rPr>
              <a:t>注意</a:t>
            </a:r>
            <a:r>
              <a:rPr lang="en-US" altLang="zh-CN" kern="0" dirty="0">
                <a:solidFill>
                  <a:srgbClr val="FF0000"/>
                </a:solidFill>
                <a:latin typeface="Arial" panose="020B0604020202020204"/>
                <a:ea typeface="MS PGothic" panose="020B0600070205080204" pitchFamily="48" charset="-128"/>
                <a:cs typeface="+mn-cs"/>
              </a:rPr>
              <a:t>:</a:t>
            </a:r>
            <a:r>
              <a:rPr lang="zh-CN" altLang="en-US" kern="0" dirty="0">
                <a:solidFill>
                  <a:srgbClr val="FF0000"/>
                </a:solidFill>
                <a:latin typeface="Arial" panose="020B0604020202020204"/>
                <a:ea typeface="MS PGothic" panose="020B0600070205080204" pitchFamily="48" charset="-128"/>
                <a:cs typeface="+mn-cs"/>
              </a:rPr>
              <a:t>原</a:t>
            </a:r>
            <a:r>
              <a:rPr lang="en-US" altLang="zh-CN" kern="0" dirty="0">
                <a:solidFill>
                  <a:srgbClr val="FF0000"/>
                </a:solidFill>
                <a:latin typeface="Arial" panose="020B0604020202020204"/>
                <a:ea typeface="MS PGothic" panose="020B0600070205080204" pitchFamily="48" charset="-128"/>
                <a:cs typeface="+mn-cs"/>
              </a:rPr>
              <a:t>PPT</a:t>
            </a:r>
            <a:r>
              <a:rPr lang="zh-CN" altLang="en-US" kern="0" dirty="0">
                <a:solidFill>
                  <a:srgbClr val="FF0000"/>
                </a:solidFill>
                <a:latin typeface="Arial" panose="020B0604020202020204"/>
                <a:ea typeface="MS PGothic" panose="020B0600070205080204" pitchFamily="48" charset="-128"/>
                <a:cs typeface="+mn-cs"/>
              </a:rPr>
              <a:t>丢了此负号！</a:t>
            </a:r>
            <a:endParaRPr lang="zh-CN" altLang="en-US" kern="0" dirty="0">
              <a:solidFill>
                <a:srgbClr val="FF0000"/>
              </a:solidFill>
              <a:latin typeface="Arial" panose="020B0604020202020204"/>
              <a:ea typeface="MS PGothic" panose="020B0600070205080204" pitchFamily="48" charset="-128"/>
              <a:cs typeface="+mn-cs"/>
            </a:endParaRPr>
          </a:p>
        </p:txBody>
      </p:sp>
    </p:spTree>
  </p:cSld>
  <p:clrMapOvr>
    <a:masterClrMapping/>
  </p:clrMapOvr>
  <p:transition spd="slow"/>
</p:sld>
</file>

<file path=ppt/slides/slide1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/>
          <p:cNvSpPr>
            <a:spLocks noGrp="1" noChangeArrowheads="1"/>
          </p:cNvSpPr>
          <p:nvPr>
            <p:ph type="title"/>
          </p:nvPr>
        </p:nvSpPr>
        <p:spPr>
          <a:xfrm>
            <a:off x="1524000" y="76200"/>
            <a:ext cx="9144000" cy="1143000"/>
          </a:xfrm>
        </p:spPr>
        <p:txBody>
          <a:bodyPr/>
          <a:lstStyle/>
          <a:p>
            <a:pPr eaLnBrk="1" hangingPunct="1"/>
            <a:r>
              <a:rPr lang="en-US"/>
              <a:t>Preventing Corrosion</a:t>
            </a:r>
            <a:endParaRPr lang="en-US"/>
          </a:p>
        </p:txBody>
      </p:sp>
      <p:sp>
        <p:nvSpPr>
          <p:cNvPr id="41987" name="Content Placeholder 1"/>
          <p:cNvSpPr>
            <a:spLocks noGrp="1"/>
          </p:cNvSpPr>
          <p:nvPr>
            <p:ph sz="half" idx="2"/>
          </p:nvPr>
        </p:nvSpPr>
        <p:spPr>
          <a:xfrm>
            <a:off x="2133600" y="3962400"/>
            <a:ext cx="7848600" cy="2286000"/>
          </a:xfrm>
        </p:spPr>
        <p:txBody>
          <a:bodyPr/>
          <a:lstStyle/>
          <a:p>
            <a:r>
              <a:rPr lang="en-US"/>
              <a:t>Corrosion is prevented by coating iron with a metal that is more readily oxidized.</a:t>
            </a:r>
            <a:endParaRPr lang="en-US"/>
          </a:p>
          <a:p>
            <a:r>
              <a:rPr lang="en-US" b="1"/>
              <a:t>Cathodic protection</a:t>
            </a:r>
            <a:r>
              <a:rPr lang="en-US"/>
              <a:t> occurs when zinc is more easily oxidized, so that metal is sacrificed to keep the iron from rusting.</a:t>
            </a:r>
            <a:endParaRPr lang="en-US" b="1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443"/>
          <a:stretch>
            <a:fillRect/>
          </a:stretch>
        </p:blipFill>
        <p:spPr>
          <a:xfrm>
            <a:off x="3818022" y="1271820"/>
            <a:ext cx="4555956" cy="2661466"/>
          </a:xfrm>
          <a:prstGeom prst="rect">
            <a:avLst/>
          </a:prstGeom>
        </p:spPr>
      </p:pic>
    </p:spTree>
  </p:cSld>
  <p:clrMapOvr>
    <a:masterClrMapping/>
  </p:clrMapOvr>
  <p:transition spd="slow"/>
</p:sld>
</file>

<file path=ppt/slides/slide1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/>
          <p:cNvSpPr>
            <a:spLocks noGrp="1" noChangeArrowheads="1"/>
          </p:cNvSpPr>
          <p:nvPr>
            <p:ph type="title"/>
          </p:nvPr>
        </p:nvSpPr>
        <p:spPr>
          <a:xfrm>
            <a:off x="1524000" y="76200"/>
            <a:ext cx="9144000" cy="1143000"/>
          </a:xfrm>
        </p:spPr>
        <p:txBody>
          <a:bodyPr/>
          <a:lstStyle/>
          <a:p>
            <a:pPr eaLnBrk="1" hangingPunct="1"/>
            <a:r>
              <a:rPr lang="en-US"/>
              <a:t>Preventing Corrosion</a:t>
            </a:r>
            <a:endParaRPr lang="en-US"/>
          </a:p>
        </p:txBody>
      </p:sp>
      <p:sp>
        <p:nvSpPr>
          <p:cNvPr id="43011" name="Content Placeholder 1"/>
          <p:cNvSpPr>
            <a:spLocks noGrp="1"/>
          </p:cNvSpPr>
          <p:nvPr>
            <p:ph sz="half" idx="2"/>
          </p:nvPr>
        </p:nvSpPr>
        <p:spPr>
          <a:xfrm>
            <a:off x="2133600" y="4182175"/>
            <a:ext cx="7848600" cy="2133600"/>
          </a:xfrm>
        </p:spPr>
        <p:txBody>
          <a:bodyPr/>
          <a:lstStyle/>
          <a:p>
            <a:r>
              <a:rPr lang="en-US"/>
              <a:t>Another method to prevent corrosion is used for underground pipes.</a:t>
            </a:r>
            <a:endParaRPr lang="en-US"/>
          </a:p>
          <a:p>
            <a:r>
              <a:rPr lang="en-US"/>
              <a:t>A </a:t>
            </a:r>
            <a:r>
              <a:rPr lang="en-US" b="1"/>
              <a:t>sacrificial anode</a:t>
            </a:r>
            <a:r>
              <a:rPr lang="en-US"/>
              <a:t> is attached to the pipe. The anode is oxidized before the pipe.</a:t>
            </a:r>
            <a:endParaRPr lang="en-US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522"/>
          <a:stretch>
            <a:fillRect/>
          </a:stretch>
        </p:blipFill>
        <p:spPr>
          <a:xfrm>
            <a:off x="4382697" y="1069724"/>
            <a:ext cx="3375901" cy="3139597"/>
          </a:xfrm>
          <a:prstGeom prst="rect">
            <a:avLst/>
          </a:prstGeom>
        </p:spPr>
      </p:pic>
    </p:spTree>
  </p:cSld>
  <p:clrMapOvr>
    <a:masterClrMapping/>
  </p:clrMapOvr>
  <p:transition spd="slow"/>
</p:sld>
</file>

<file path=ppt/slides/slide1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Electrolysis and “Stoichiometry”</a:t>
            </a:r>
            <a:endParaRPr lang="en-US"/>
          </a:p>
        </p:txBody>
      </p:sp>
      <p:sp>
        <p:nvSpPr>
          <p:cNvPr id="30723" name="Rectangle 3"/>
          <p:cNvSpPr>
            <a:spLocks noGrp="1" noChangeArrowheads="1"/>
          </p:cNvSpPr>
          <p:nvPr>
            <p:ph sz="half" idx="1"/>
          </p:nvPr>
        </p:nvSpPr>
        <p:spPr>
          <a:xfrm>
            <a:off x="1828800" y="1295400"/>
            <a:ext cx="6589713" cy="4648200"/>
          </a:xfrm>
        </p:spPr>
        <p:txBody>
          <a:bodyPr/>
          <a:lstStyle/>
          <a:p>
            <a:pPr eaLnBrk="1" hangingPunct="1"/>
            <a:r>
              <a:rPr lang="en-US"/>
              <a:t>1 coulomb = 1 ampere </a:t>
            </a:r>
            <a:r>
              <a:rPr lang="en-US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×</a:t>
            </a:r>
            <a:r>
              <a:rPr lang="en-US"/>
              <a:t> 1 second</a:t>
            </a:r>
            <a:endParaRPr lang="en-US"/>
          </a:p>
          <a:p>
            <a:pPr eaLnBrk="1" hangingPunct="1"/>
            <a:r>
              <a:rPr lang="en-US" i="1"/>
              <a:t>Q</a:t>
            </a:r>
            <a:r>
              <a:rPr lang="en-US"/>
              <a:t> = </a:t>
            </a:r>
            <a:r>
              <a:rPr lang="en-US" i="1"/>
              <a:t>It</a:t>
            </a:r>
            <a:r>
              <a:rPr lang="en-US"/>
              <a:t> = </a:t>
            </a:r>
            <a:r>
              <a:rPr lang="en-US" i="1"/>
              <a:t>nF</a:t>
            </a:r>
            <a:endParaRPr lang="en-US" i="1"/>
          </a:p>
          <a:p>
            <a:pPr eaLnBrk="1" hangingPunct="1"/>
            <a:r>
              <a:rPr lang="en-US" i="1"/>
              <a:t>Q</a:t>
            </a:r>
            <a:r>
              <a:rPr lang="en-US"/>
              <a:t> = charge (C)</a:t>
            </a:r>
            <a:endParaRPr lang="en-US"/>
          </a:p>
          <a:p>
            <a:pPr eaLnBrk="1" hangingPunct="1"/>
            <a:r>
              <a:rPr lang="en-US" i="1"/>
              <a:t>I</a:t>
            </a:r>
            <a:r>
              <a:rPr lang="en-US"/>
              <a:t> = current (A)</a:t>
            </a:r>
            <a:endParaRPr lang="en-US"/>
          </a:p>
          <a:p>
            <a:pPr eaLnBrk="1" hangingPunct="1"/>
            <a:r>
              <a:rPr lang="en-US" i="1"/>
              <a:t>t</a:t>
            </a:r>
            <a:r>
              <a:rPr lang="en-US"/>
              <a:t> = time (s)</a:t>
            </a:r>
            <a:endParaRPr lang="en-US"/>
          </a:p>
          <a:p>
            <a:pPr eaLnBrk="1" hangingPunct="1"/>
            <a:r>
              <a:rPr lang="en-US" i="1"/>
              <a:t>n</a:t>
            </a:r>
            <a:r>
              <a:rPr lang="en-US"/>
              <a:t> = moles of electrons that</a:t>
            </a:r>
            <a:br>
              <a:rPr lang="en-US"/>
            </a:br>
            <a:r>
              <a:rPr lang="en-US"/>
              <a:t>travel through the wire in</a:t>
            </a:r>
            <a:br>
              <a:rPr lang="en-US"/>
            </a:br>
            <a:r>
              <a:rPr lang="en-US"/>
              <a:t>the given time</a:t>
            </a:r>
            <a:endParaRPr lang="en-US"/>
          </a:p>
          <a:p>
            <a:pPr eaLnBrk="1" hangingPunct="1"/>
            <a:r>
              <a:rPr lang="en-US" i="1"/>
              <a:t>F</a:t>
            </a:r>
            <a:r>
              <a:rPr lang="en-US"/>
              <a:t> = Faraday’s constant</a:t>
            </a:r>
            <a:endParaRPr lang="en-US"/>
          </a:p>
          <a:p>
            <a:pPr marL="0" indent="0" eaLnBrk="1" hangingPunct="1">
              <a:buFontTx/>
              <a:buNone/>
            </a:pPr>
            <a:r>
              <a:rPr lang="en-US"/>
              <a:t>NOTE: </a:t>
            </a:r>
            <a:r>
              <a:rPr lang="en-US" i="1"/>
              <a:t>n</a:t>
            </a:r>
            <a:r>
              <a:rPr lang="en-US"/>
              <a:t> is different than that</a:t>
            </a:r>
            <a:br>
              <a:rPr lang="en-US"/>
            </a:br>
            <a:r>
              <a:rPr lang="en-US"/>
              <a:t>for the Nernst equation!</a:t>
            </a:r>
            <a:endParaRPr lang="en-US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960"/>
          <a:stretch>
            <a:fillRect/>
          </a:stretch>
        </p:blipFill>
        <p:spPr>
          <a:xfrm>
            <a:off x="7799672" y="1329487"/>
            <a:ext cx="1901310" cy="4655661"/>
          </a:xfrm>
          <a:prstGeom prst="rect">
            <a:avLst/>
          </a:prstGeom>
        </p:spPr>
      </p:pic>
    </p:spTree>
  </p:cSld>
  <p:clrMapOvr>
    <a:masterClrMapping/>
  </p:clrMapOvr>
  <p:transition spd="slow"/>
</p:sld>
</file>

<file path=ppt/slides/slide1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itle 1"/>
          <p:cNvSpPr/>
          <p:nvPr/>
        </p:nvSpPr>
        <p:spPr bwMode="auto">
          <a:xfrm>
            <a:off x="6019800" y="1676400"/>
            <a:ext cx="4572000" cy="3505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anchor="t" anchorCtr="0"/>
          <a:lstStyle/>
          <a:p>
            <a:pPr algn="ctr" eaLnBrk="1" hangingPunct="1"/>
            <a:r>
              <a:rPr lang="en-US" sz="3400" b="1"/>
              <a:t>Chapter 23</a:t>
            </a:r>
            <a:br>
              <a:rPr lang="en-US" sz="3400" b="1"/>
            </a:br>
            <a:br>
              <a:rPr lang="en-US" sz="3400" b="1"/>
            </a:br>
            <a:r>
              <a:rPr lang="en-US" sz="3400" b="1"/>
              <a:t>Transition Metals and Coordination Chemistry</a:t>
            </a:r>
            <a:endParaRPr lang="en-US" sz="3400" b="1"/>
          </a:p>
        </p:txBody>
      </p:sp>
      <p:sp>
        <p:nvSpPr>
          <p:cNvPr id="3075" name="Subtitle 2"/>
          <p:cNvSpPr/>
          <p:nvPr/>
        </p:nvSpPr>
        <p:spPr bwMode="auto">
          <a:xfrm>
            <a:off x="6019800" y="5791200"/>
            <a:ext cx="4572000" cy="9906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pPr algn="ctr" eaLnBrk="1" hangingPunct="1"/>
            <a:r>
              <a:rPr lang="en-US" sz="1800">
                <a:solidFill>
                  <a:srgbClr val="0D0D0D"/>
                </a:solidFill>
              </a:rPr>
              <a:t>James F. Kirby</a:t>
            </a:r>
            <a:endParaRPr lang="en-US" sz="1800">
              <a:solidFill>
                <a:srgbClr val="0D0D0D"/>
              </a:solidFill>
            </a:endParaRPr>
          </a:p>
          <a:p>
            <a:pPr algn="ctr" eaLnBrk="1" hangingPunct="1"/>
            <a:r>
              <a:rPr lang="en-US" sz="1800">
                <a:solidFill>
                  <a:srgbClr val="0D0D0D"/>
                </a:solidFill>
              </a:rPr>
              <a:t>Quinnipiac University</a:t>
            </a:r>
            <a:endParaRPr lang="en-US" sz="1800">
              <a:solidFill>
                <a:srgbClr val="0D0D0D"/>
              </a:solidFill>
            </a:endParaRPr>
          </a:p>
          <a:p>
            <a:pPr algn="ctr" eaLnBrk="1" hangingPunct="1"/>
            <a:r>
              <a:rPr lang="en-US" sz="1800">
                <a:solidFill>
                  <a:srgbClr val="0D0D0D"/>
                </a:solidFill>
              </a:rPr>
              <a:t>Hamden, CT</a:t>
            </a:r>
            <a:endParaRPr lang="en-US" sz="1800">
              <a:solidFill>
                <a:srgbClr val="0D0D0D"/>
              </a:solidFill>
            </a:endParaRPr>
          </a:p>
        </p:txBody>
      </p:sp>
      <p:sp>
        <p:nvSpPr>
          <p:cNvPr id="3076" name="Rectangle 10"/>
          <p:cNvSpPr>
            <a:spLocks noChangeArrowheads="1"/>
          </p:cNvSpPr>
          <p:nvPr/>
        </p:nvSpPr>
        <p:spPr bwMode="auto">
          <a:xfrm>
            <a:off x="6019800" y="700088"/>
            <a:ext cx="4648200" cy="52197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algn="ctr" eaLnBrk="1" hangingPunct="1"/>
            <a:r>
              <a:rPr lang="en-US" sz="2800">
                <a:solidFill>
                  <a:srgbClr val="000000"/>
                </a:solidFill>
                <a:ea typeface="Arial" panose="020B0604020202020204" pitchFamily="34" charset="0"/>
                <a:cs typeface="Arial" panose="020B0604020202020204" pitchFamily="34" charset="0"/>
              </a:rPr>
              <a:t>Lecture Presentation</a:t>
            </a:r>
            <a:endParaRPr lang="en-US" sz="2800">
              <a:solidFill>
                <a:srgbClr val="000000"/>
              </a:solidFill>
              <a:ea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" name="Picture 1" descr="BROW0417_13_ecat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 bwMode="auto">
          <a:xfrm>
            <a:off x="1752600" y="736303"/>
            <a:ext cx="4227513" cy="5309193"/>
          </a:xfrm>
          <a:prstGeom prst="rect">
            <a:avLst/>
          </a:prstGeom>
          <a:noFill/>
          <a:ln w="3175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 spd="slow"/>
</p:sld>
</file>

<file path=ppt/slides/slide1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itle 1"/>
          <p:cNvSpPr>
            <a:spLocks noGrp="1"/>
          </p:cNvSpPr>
          <p:nvPr>
            <p:ph type="title"/>
          </p:nvPr>
        </p:nvSpPr>
        <p:spPr>
          <a:xfrm>
            <a:off x="1524000" y="28575"/>
            <a:ext cx="9144000" cy="885825"/>
          </a:xfrm>
        </p:spPr>
        <p:txBody>
          <a:bodyPr/>
          <a:lstStyle/>
          <a:p>
            <a:r>
              <a:rPr lang="en-US"/>
              <a:t>Magnetism</a:t>
            </a:r>
            <a:endParaRPr lang="en-US"/>
          </a:p>
        </p:txBody>
      </p:sp>
      <p:sp>
        <p:nvSpPr>
          <p:cNvPr id="11267" name="Rectangle 3"/>
          <p:cNvSpPr>
            <a:spLocks noGrp="1" noChangeArrowheads="1"/>
          </p:cNvSpPr>
          <p:nvPr>
            <p:ph idx="1"/>
          </p:nvPr>
        </p:nvSpPr>
        <p:spPr>
          <a:xfrm>
            <a:off x="1600200" y="762000"/>
            <a:ext cx="7340600" cy="5486400"/>
          </a:xfrm>
        </p:spPr>
        <p:txBody>
          <a:bodyPr/>
          <a:lstStyle/>
          <a:p>
            <a:pPr eaLnBrk="1" hangingPunct="1"/>
            <a:r>
              <a:rPr lang="en-US" sz="2800"/>
              <a:t>Electrons possess spin, causing a magnetic moment.</a:t>
            </a:r>
            <a:endParaRPr lang="en-US" sz="2800"/>
          </a:p>
          <a:p>
            <a:pPr eaLnBrk="1" hangingPunct="1"/>
            <a:r>
              <a:rPr lang="en-US" sz="2800"/>
              <a:t>When all electrons are spin-paired, the moments cancel each other out: this is a </a:t>
            </a:r>
            <a:r>
              <a:rPr lang="en-US" sz="2800" i="1"/>
              <a:t>diamagnetic</a:t>
            </a:r>
            <a:r>
              <a:rPr lang="en-US" sz="2800"/>
              <a:t> solid.</a:t>
            </a:r>
            <a:endParaRPr lang="en-US" sz="2800"/>
          </a:p>
          <a:p>
            <a:pPr eaLnBrk="1" hangingPunct="1"/>
            <a:r>
              <a:rPr lang="en-US" sz="2800"/>
              <a:t>With unpaired electron(s), the substance is called </a:t>
            </a:r>
            <a:r>
              <a:rPr lang="en-US" sz="2800" i="1"/>
              <a:t>paramagnetic</a:t>
            </a:r>
            <a:r>
              <a:rPr lang="en-US" sz="2800"/>
              <a:t>. In these substances, the adjacent atoms don’t affect each other.</a:t>
            </a:r>
            <a:endParaRPr lang="en-US" sz="2800"/>
          </a:p>
          <a:p>
            <a:pPr eaLnBrk="1" hangingPunct="1"/>
            <a:r>
              <a:rPr lang="en-US" sz="2800"/>
              <a:t>In three other types of magnetism, the atoms affect each other: ferromagnetic, antiferromagnetic, and ferrimagnetic. (These become paramagnetic at higher temperatures.)</a:t>
            </a:r>
            <a:endParaRPr lang="en-US" sz="2800"/>
          </a:p>
        </p:txBody>
      </p:sp>
      <p:grpSp>
        <p:nvGrpSpPr>
          <p:cNvPr id="11269" name="Group 7"/>
          <p:cNvGrpSpPr/>
          <p:nvPr/>
        </p:nvGrpSpPr>
        <p:grpSpPr bwMode="auto">
          <a:xfrm>
            <a:off x="9296400" y="5486400"/>
            <a:ext cx="1371600" cy="1371600"/>
            <a:chOff x="4896" y="3456"/>
            <a:chExt cx="864" cy="864"/>
          </a:xfrm>
        </p:grpSpPr>
        <p:pic>
          <p:nvPicPr>
            <p:cNvPr id="11271" name="Picture 8" descr="Triangle--Gray"/>
            <p:cNvPicPr>
              <a:picLocks noChangeArrowheads="1"/>
            </p:cNvPicPr>
            <p:nvPr/>
          </p:nvPicPr>
          <p:blipFill>
            <a:blip r:embed="rId1"/>
            <a:srcRect/>
            <a:stretch>
              <a:fillRect/>
            </a:stretch>
          </p:blipFill>
          <p:spPr bwMode="auto">
            <a:xfrm>
              <a:off x="4896" y="3456"/>
              <a:ext cx="864" cy="86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1272" name="Rectangle 9"/>
            <p:cNvSpPr>
              <a:spLocks noChangeArrowheads="1"/>
            </p:cNvSpPr>
            <p:nvPr/>
          </p:nvSpPr>
          <p:spPr bwMode="auto">
            <a:xfrm>
              <a:off x="5066" y="3735"/>
              <a:ext cx="572" cy="329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sz="1400">
                  <a:latin typeface="Times New Roman" panose="02020603050405020304" pitchFamily="18" charset="0"/>
                </a:rPr>
                <a:t>Transition</a:t>
              </a:r>
              <a:endParaRPr lang="en-US" sz="1400">
                <a:latin typeface="Times New Roman" panose="02020603050405020304" pitchFamily="18" charset="0"/>
              </a:endParaRPr>
            </a:p>
            <a:p>
              <a:pPr algn="ctr"/>
              <a:r>
                <a:rPr lang="en-US" sz="1400">
                  <a:latin typeface="Times New Roman" panose="02020603050405020304" pitchFamily="18" charset="0"/>
                </a:rPr>
                <a:t>Metals</a:t>
              </a:r>
              <a:endParaRPr lang="en-US" sz="1400">
                <a:latin typeface="Times New Roman" panose="02020603050405020304" pitchFamily="18" charset="0"/>
              </a:endParaRPr>
            </a:p>
          </p:txBody>
        </p:sp>
      </p:grpSp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61"/>
          <a:stretch>
            <a:fillRect/>
          </a:stretch>
        </p:blipFill>
        <p:spPr>
          <a:xfrm>
            <a:off x="8763967" y="762000"/>
            <a:ext cx="1598265" cy="2526792"/>
          </a:xfrm>
          <a:prstGeom prst="rect">
            <a:avLst/>
          </a:prstGeom>
        </p:spPr>
      </p:pic>
    </p:spTree>
  </p:cSld>
  <p:clrMapOvr>
    <a:masterClrMapping/>
  </p:clrMapOvr>
  <p:transition spd="slow"/>
</p:sld>
</file>

<file path=ppt/slides/slide1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>
          <a:xfrm>
            <a:off x="1528763" y="166688"/>
            <a:ext cx="9144000" cy="1143000"/>
          </a:xfrm>
        </p:spPr>
        <p:txBody>
          <a:bodyPr/>
          <a:lstStyle/>
          <a:p>
            <a:pPr eaLnBrk="1" hangingPunct="1"/>
            <a:r>
              <a:rPr lang="en-US"/>
              <a:t>Ferromagnetism</a:t>
            </a:r>
            <a:endParaRPr lang="en-US"/>
          </a:p>
        </p:txBody>
      </p:sp>
      <p:sp>
        <p:nvSpPr>
          <p:cNvPr id="12291" name="Rectangle 4"/>
          <p:cNvSpPr>
            <a:spLocks noGrp="1" noChangeArrowheads="1"/>
          </p:cNvSpPr>
          <p:nvPr>
            <p:ph type="body" sz="half" idx="2"/>
          </p:nvPr>
        </p:nvSpPr>
        <p:spPr>
          <a:xfrm>
            <a:off x="1752600" y="1524000"/>
            <a:ext cx="6248400" cy="4432300"/>
          </a:xfrm>
        </p:spPr>
        <p:txBody>
          <a:bodyPr/>
          <a:lstStyle/>
          <a:p>
            <a:pPr eaLnBrk="1" hangingPunct="1"/>
            <a:r>
              <a:rPr lang="en-US" sz="2800"/>
              <a:t>In ferromagnetic substances, the unpaired spins influence each other to align in the same direction, thereby exhibiting strong attractions to an external magnetic field.</a:t>
            </a:r>
            <a:endParaRPr lang="en-US" sz="2800"/>
          </a:p>
          <a:p>
            <a:pPr eaLnBrk="1" hangingPunct="1"/>
            <a:r>
              <a:rPr lang="en-US" sz="2800"/>
              <a:t>Such species are permanent magnets.</a:t>
            </a:r>
            <a:endParaRPr lang="en-US" sz="2800"/>
          </a:p>
          <a:p>
            <a:pPr eaLnBrk="1" hangingPunct="1"/>
            <a:r>
              <a:rPr lang="en-US" sz="2800"/>
              <a:t>Elements: Fe, Co, Ni; also </a:t>
            </a:r>
            <a:br>
              <a:rPr lang="en-US" sz="2800"/>
            </a:br>
            <a:r>
              <a:rPr lang="en-US" sz="2800"/>
              <a:t>many alloys</a:t>
            </a:r>
            <a:endParaRPr lang="en-US" sz="2800"/>
          </a:p>
        </p:txBody>
      </p:sp>
      <p:grpSp>
        <p:nvGrpSpPr>
          <p:cNvPr id="12293" name="Group 7"/>
          <p:cNvGrpSpPr/>
          <p:nvPr/>
        </p:nvGrpSpPr>
        <p:grpSpPr bwMode="auto">
          <a:xfrm>
            <a:off x="9296400" y="5486400"/>
            <a:ext cx="1371600" cy="1371600"/>
            <a:chOff x="4896" y="3456"/>
            <a:chExt cx="864" cy="864"/>
          </a:xfrm>
        </p:grpSpPr>
        <p:pic>
          <p:nvPicPr>
            <p:cNvPr id="12295" name="Picture 8" descr="Triangle--Gray"/>
            <p:cNvPicPr>
              <a:picLocks noChangeArrowheads="1"/>
            </p:cNvPicPr>
            <p:nvPr/>
          </p:nvPicPr>
          <p:blipFill>
            <a:blip r:embed="rId1"/>
            <a:srcRect/>
            <a:stretch>
              <a:fillRect/>
            </a:stretch>
          </p:blipFill>
          <p:spPr bwMode="auto">
            <a:xfrm>
              <a:off x="4896" y="3456"/>
              <a:ext cx="864" cy="86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2296" name="Rectangle 9"/>
            <p:cNvSpPr>
              <a:spLocks noChangeArrowheads="1"/>
            </p:cNvSpPr>
            <p:nvPr/>
          </p:nvSpPr>
          <p:spPr bwMode="auto">
            <a:xfrm>
              <a:off x="5066" y="3735"/>
              <a:ext cx="572" cy="329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sz="1400">
                  <a:latin typeface="Times New Roman" panose="02020603050405020304" pitchFamily="18" charset="0"/>
                </a:rPr>
                <a:t>Transition</a:t>
              </a:r>
              <a:endParaRPr lang="en-US" sz="1400">
                <a:latin typeface="Times New Roman" panose="02020603050405020304" pitchFamily="18" charset="0"/>
              </a:endParaRPr>
            </a:p>
            <a:p>
              <a:pPr algn="ctr"/>
              <a:r>
                <a:rPr lang="en-US" sz="1400">
                  <a:latin typeface="Times New Roman" panose="02020603050405020304" pitchFamily="18" charset="0"/>
                </a:rPr>
                <a:t>Metals</a:t>
              </a:r>
              <a:endParaRPr lang="en-US" sz="1400">
                <a:latin typeface="Times New Roman" panose="02020603050405020304" pitchFamily="18" charset="0"/>
              </a:endParaRPr>
            </a:p>
          </p:txBody>
        </p:sp>
      </p:grpSp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61"/>
          <a:stretch>
            <a:fillRect/>
          </a:stretch>
        </p:blipFill>
        <p:spPr>
          <a:xfrm>
            <a:off x="8201709" y="1371600"/>
            <a:ext cx="2189381" cy="3440689"/>
          </a:xfrm>
          <a:prstGeom prst="rect">
            <a:avLst/>
          </a:prstGeom>
        </p:spPr>
      </p:pic>
    </p:spTree>
  </p:cSld>
  <p:clrMapOvr>
    <a:masterClrMapping/>
  </p:clrMapOvr>
  <p:transition spd="slow"/>
</p:sld>
</file>

<file path=ppt/slides/slide1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Antiferromagnetism</a:t>
            </a:r>
            <a:endParaRPr lang="en-US"/>
          </a:p>
        </p:txBody>
      </p:sp>
      <p:sp>
        <p:nvSpPr>
          <p:cNvPr id="13315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1905000" y="1827213"/>
            <a:ext cx="6172200" cy="4114800"/>
          </a:xfrm>
        </p:spPr>
        <p:txBody>
          <a:bodyPr/>
          <a:lstStyle/>
          <a:p>
            <a:pPr eaLnBrk="1" hangingPunct="1"/>
            <a:r>
              <a:rPr lang="en-US" sz="2800"/>
              <a:t>Antiferromagnetic substances have unpaired spins on adjacent atoms that align in opposing directions.</a:t>
            </a:r>
            <a:endParaRPr lang="en-US" sz="2800"/>
          </a:p>
          <a:p>
            <a:pPr eaLnBrk="1" hangingPunct="1"/>
            <a:r>
              <a:rPr lang="en-US" sz="2800"/>
              <a:t>These magnetic fields tend to cancel each other.</a:t>
            </a:r>
            <a:endParaRPr lang="en-US" sz="2800"/>
          </a:p>
          <a:p>
            <a:pPr eaLnBrk="1" hangingPunct="1"/>
            <a:r>
              <a:rPr lang="en-US" sz="2800"/>
              <a:t>Examples—element: Cr; alloys: FeMn; transition metal oxides: Fe</a:t>
            </a:r>
            <a:r>
              <a:rPr lang="en-US" sz="2800" baseline="-25000"/>
              <a:t>2</a:t>
            </a:r>
            <a:r>
              <a:rPr lang="en-US" sz="2800"/>
              <a:t>O</a:t>
            </a:r>
            <a:r>
              <a:rPr lang="en-US" sz="2800" baseline="-25000"/>
              <a:t>3</a:t>
            </a:r>
            <a:r>
              <a:rPr lang="en-US" sz="2800"/>
              <a:t>, LaFeO</a:t>
            </a:r>
            <a:r>
              <a:rPr lang="en-US" sz="2800" baseline="-25000"/>
              <a:t>3</a:t>
            </a:r>
            <a:r>
              <a:rPr lang="en-US" sz="2800"/>
              <a:t>, MnO</a:t>
            </a:r>
            <a:endParaRPr lang="en-US" sz="2800"/>
          </a:p>
        </p:txBody>
      </p:sp>
      <p:grpSp>
        <p:nvGrpSpPr>
          <p:cNvPr id="13317" name="Group 7"/>
          <p:cNvGrpSpPr/>
          <p:nvPr/>
        </p:nvGrpSpPr>
        <p:grpSpPr bwMode="auto">
          <a:xfrm>
            <a:off x="9296400" y="5486400"/>
            <a:ext cx="1371600" cy="1371600"/>
            <a:chOff x="4896" y="3456"/>
            <a:chExt cx="864" cy="864"/>
          </a:xfrm>
        </p:grpSpPr>
        <p:pic>
          <p:nvPicPr>
            <p:cNvPr id="13319" name="Picture 8" descr="Triangle--Gray"/>
            <p:cNvPicPr>
              <a:picLocks noChangeArrowheads="1"/>
            </p:cNvPicPr>
            <p:nvPr/>
          </p:nvPicPr>
          <p:blipFill>
            <a:blip r:embed="rId1"/>
            <a:srcRect/>
            <a:stretch>
              <a:fillRect/>
            </a:stretch>
          </p:blipFill>
          <p:spPr bwMode="auto">
            <a:xfrm>
              <a:off x="4896" y="3456"/>
              <a:ext cx="864" cy="86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3320" name="Rectangle 9"/>
            <p:cNvSpPr>
              <a:spLocks noChangeArrowheads="1"/>
            </p:cNvSpPr>
            <p:nvPr/>
          </p:nvSpPr>
          <p:spPr bwMode="auto">
            <a:xfrm>
              <a:off x="5066" y="3735"/>
              <a:ext cx="572" cy="329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sz="1400">
                  <a:latin typeface="Times New Roman" panose="02020603050405020304" pitchFamily="18" charset="0"/>
                </a:rPr>
                <a:t>Transition</a:t>
              </a:r>
              <a:endParaRPr lang="en-US" sz="1400">
                <a:latin typeface="Times New Roman" panose="02020603050405020304" pitchFamily="18" charset="0"/>
              </a:endParaRPr>
            </a:p>
            <a:p>
              <a:pPr algn="ctr"/>
              <a:r>
                <a:rPr lang="en-US" sz="1400">
                  <a:latin typeface="Times New Roman" panose="02020603050405020304" pitchFamily="18" charset="0"/>
                </a:rPr>
                <a:t>Metals</a:t>
              </a:r>
              <a:endParaRPr lang="en-US" sz="1400">
                <a:latin typeface="Times New Roman" panose="02020603050405020304" pitchFamily="18" charset="0"/>
              </a:endParaRPr>
            </a:p>
          </p:txBody>
        </p:sp>
      </p:grpSp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084"/>
          <a:stretch>
            <a:fillRect/>
          </a:stretch>
        </p:blipFill>
        <p:spPr>
          <a:xfrm>
            <a:off x="8341566" y="1851660"/>
            <a:ext cx="2135934" cy="3154680"/>
          </a:xfrm>
          <a:prstGeom prst="rect">
            <a:avLst/>
          </a:prstGeom>
        </p:spPr>
      </p:pic>
    </p:spTree>
  </p:cSld>
  <p:clrMapOvr>
    <a:masterClrMapping/>
  </p:clrMapOvr>
  <p:transition spd="slow"/>
</p:sld>
</file>

<file path=ppt/slides/slide1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1524000" y="57150"/>
            <a:ext cx="9144000" cy="1143000"/>
          </a:xfrm>
        </p:spPr>
        <p:txBody>
          <a:bodyPr/>
          <a:lstStyle/>
          <a:p>
            <a:pPr eaLnBrk="1" hangingPunct="1"/>
            <a:r>
              <a:rPr lang="en-US"/>
              <a:t>Ferrimagnetism</a:t>
            </a:r>
            <a:endParaRPr lang="en-US"/>
          </a:p>
        </p:txBody>
      </p:sp>
      <p:sp>
        <p:nvSpPr>
          <p:cNvPr id="14339" name="Rectangle 4"/>
          <p:cNvSpPr>
            <a:spLocks noGrp="1" noChangeArrowheads="1"/>
          </p:cNvSpPr>
          <p:nvPr>
            <p:ph type="body" sz="half" idx="2"/>
          </p:nvPr>
        </p:nvSpPr>
        <p:spPr>
          <a:xfrm>
            <a:off x="1524000" y="1066800"/>
            <a:ext cx="6934200" cy="4875213"/>
          </a:xfrm>
        </p:spPr>
        <p:txBody>
          <a:bodyPr/>
          <a:lstStyle/>
          <a:p>
            <a:pPr eaLnBrk="1" hangingPunct="1"/>
            <a:r>
              <a:rPr lang="en-US" sz="2600"/>
              <a:t>Ferrimagnetic substances have spins that align opposite each other, but the spins are not equal, so there is a net magnetic field.</a:t>
            </a:r>
            <a:endParaRPr lang="en-US" sz="2600"/>
          </a:p>
          <a:p>
            <a:pPr eaLnBrk="1" hangingPunct="1"/>
            <a:r>
              <a:rPr lang="en-US" sz="2600"/>
              <a:t>This can occur because</a:t>
            </a:r>
            <a:endParaRPr lang="en-US" sz="2600"/>
          </a:p>
          <a:p>
            <a:pPr eaLnBrk="1" hangingPunct="1">
              <a:buFont typeface="Wingdings" panose="05000000000000000000" pitchFamily="2" charset="2"/>
              <a:buChar char="Ø"/>
            </a:pPr>
            <a:r>
              <a:rPr lang="en-US" sz="2600"/>
              <a:t>magnetic centers have different </a:t>
            </a:r>
            <a:br>
              <a:rPr lang="en-US" sz="2600"/>
            </a:br>
            <a:r>
              <a:rPr lang="en-US" sz="2600"/>
              <a:t>numbers of unpaired electrons;</a:t>
            </a:r>
            <a:endParaRPr lang="en-US" sz="2600"/>
          </a:p>
          <a:p>
            <a:pPr eaLnBrk="1" hangingPunct="1">
              <a:buFont typeface="Wingdings" panose="05000000000000000000" pitchFamily="2" charset="2"/>
              <a:buChar char="Ø"/>
            </a:pPr>
            <a:r>
              <a:rPr lang="en-US" sz="2600"/>
              <a:t>more sites align in one direction than </a:t>
            </a:r>
            <a:br>
              <a:rPr lang="en-US" sz="2600"/>
            </a:br>
            <a:r>
              <a:rPr lang="en-US" sz="2600"/>
              <a:t>the other;</a:t>
            </a:r>
            <a:endParaRPr lang="en-US" sz="2600"/>
          </a:p>
          <a:p>
            <a:pPr eaLnBrk="1" hangingPunct="1">
              <a:buFont typeface="Wingdings" panose="05000000000000000000" pitchFamily="2" charset="2"/>
              <a:buChar char="Ø"/>
            </a:pPr>
            <a:r>
              <a:rPr lang="en-US" sz="2600"/>
              <a:t>both of these conditions apply.</a:t>
            </a:r>
            <a:endParaRPr lang="en-US" sz="2600"/>
          </a:p>
          <a:p>
            <a:pPr eaLnBrk="1" hangingPunct="1"/>
            <a:r>
              <a:rPr lang="en-US" sz="2600"/>
              <a:t>Examples are NiMnO</a:t>
            </a:r>
            <a:r>
              <a:rPr lang="en-US" sz="2600" baseline="-25000"/>
              <a:t>3</a:t>
            </a:r>
            <a:r>
              <a:rPr lang="en-US" sz="2600"/>
              <a:t>, Y</a:t>
            </a:r>
            <a:r>
              <a:rPr lang="en-US" sz="2600" baseline="-25000"/>
              <a:t>3</a:t>
            </a:r>
            <a:r>
              <a:rPr lang="en-US" sz="2600"/>
              <a:t>Fe</a:t>
            </a:r>
            <a:r>
              <a:rPr lang="en-US" sz="2600" baseline="-25000"/>
              <a:t>5</a:t>
            </a:r>
            <a:r>
              <a:rPr lang="en-US" sz="2600"/>
              <a:t>O</a:t>
            </a:r>
            <a:r>
              <a:rPr lang="en-US" sz="2600" baseline="-25000"/>
              <a:t>12</a:t>
            </a:r>
            <a:r>
              <a:rPr lang="en-US" sz="2600"/>
              <a:t>, </a:t>
            </a:r>
            <a:br>
              <a:rPr lang="en-US" sz="2600"/>
            </a:br>
            <a:r>
              <a:rPr lang="en-US" sz="2600"/>
              <a:t>and  Fe</a:t>
            </a:r>
            <a:r>
              <a:rPr lang="en-US" sz="2600" baseline="-25000"/>
              <a:t>3</a:t>
            </a:r>
            <a:r>
              <a:rPr lang="en-US" sz="2600"/>
              <a:t>O</a:t>
            </a:r>
            <a:r>
              <a:rPr lang="en-US" sz="2600" baseline="-25000"/>
              <a:t>4</a:t>
            </a:r>
            <a:r>
              <a:rPr lang="en-US" sz="2600"/>
              <a:t>.</a:t>
            </a:r>
            <a:endParaRPr lang="en-US" sz="2600"/>
          </a:p>
        </p:txBody>
      </p:sp>
      <p:grpSp>
        <p:nvGrpSpPr>
          <p:cNvPr id="14341" name="Group 7"/>
          <p:cNvGrpSpPr/>
          <p:nvPr/>
        </p:nvGrpSpPr>
        <p:grpSpPr bwMode="auto">
          <a:xfrm>
            <a:off x="9296400" y="5486400"/>
            <a:ext cx="1371600" cy="1371600"/>
            <a:chOff x="4896" y="3456"/>
            <a:chExt cx="864" cy="864"/>
          </a:xfrm>
        </p:grpSpPr>
        <p:pic>
          <p:nvPicPr>
            <p:cNvPr id="14343" name="Picture 8" descr="Triangle--Gray"/>
            <p:cNvPicPr>
              <a:picLocks noChangeArrowheads="1"/>
            </p:cNvPicPr>
            <p:nvPr/>
          </p:nvPicPr>
          <p:blipFill>
            <a:blip r:embed="rId1"/>
            <a:srcRect/>
            <a:stretch>
              <a:fillRect/>
            </a:stretch>
          </p:blipFill>
          <p:spPr bwMode="auto">
            <a:xfrm>
              <a:off x="4896" y="3456"/>
              <a:ext cx="864" cy="86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4344" name="Rectangle 9"/>
            <p:cNvSpPr>
              <a:spLocks noChangeArrowheads="1"/>
            </p:cNvSpPr>
            <p:nvPr/>
          </p:nvSpPr>
          <p:spPr bwMode="auto">
            <a:xfrm>
              <a:off x="5066" y="3735"/>
              <a:ext cx="572" cy="329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sz="1400">
                  <a:latin typeface="Times New Roman" panose="02020603050405020304" pitchFamily="18" charset="0"/>
                </a:rPr>
                <a:t>Transition</a:t>
              </a:r>
              <a:endParaRPr lang="en-US" sz="1400">
                <a:latin typeface="Times New Roman" panose="02020603050405020304" pitchFamily="18" charset="0"/>
              </a:endParaRPr>
            </a:p>
            <a:p>
              <a:pPr algn="ctr"/>
              <a:r>
                <a:rPr lang="en-US" sz="1400">
                  <a:latin typeface="Times New Roman" panose="02020603050405020304" pitchFamily="18" charset="0"/>
                </a:rPr>
                <a:t>Metals</a:t>
              </a:r>
              <a:endParaRPr lang="en-US" sz="1400">
                <a:latin typeface="Times New Roman" panose="02020603050405020304" pitchFamily="18" charset="0"/>
              </a:endParaRPr>
            </a:p>
          </p:txBody>
        </p:sp>
      </p:grpSp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195"/>
          <a:stretch>
            <a:fillRect/>
          </a:stretch>
        </p:blipFill>
        <p:spPr>
          <a:xfrm>
            <a:off x="8071793" y="2503054"/>
            <a:ext cx="2424180" cy="2994891"/>
          </a:xfrm>
          <a:prstGeom prst="rect">
            <a:avLst/>
          </a:prstGeom>
        </p:spPr>
      </p:pic>
    </p:spTree>
  </p:cSld>
  <p:clrMapOvr>
    <a:masterClrMapping/>
  </p:clrMapOvr>
  <p:transition spd="slow"/>
</p:sld>
</file>

<file path=ppt/slides/slide1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itle 1"/>
          <p:cNvSpPr>
            <a:spLocks noGrp="1"/>
          </p:cNvSpPr>
          <p:nvPr>
            <p:ph type="title"/>
          </p:nvPr>
        </p:nvSpPr>
        <p:spPr>
          <a:xfrm>
            <a:off x="1267253" y="2009066"/>
            <a:ext cx="1141776" cy="885825"/>
          </a:xfrm>
        </p:spPr>
        <p:txBody>
          <a:bodyPr/>
          <a:lstStyle/>
          <a:p>
            <a:r>
              <a:rPr lang="zh-CN" altLang="en-US" sz="2000" dirty="0">
                <a:solidFill>
                  <a:srgbClr val="7030A0"/>
                </a:solidFill>
              </a:rPr>
              <a:t>磁性</a:t>
            </a:r>
            <a:endParaRPr lang="en-US" sz="2000" dirty="0">
              <a:solidFill>
                <a:srgbClr val="7030A0"/>
              </a:solidFill>
            </a:endParaRPr>
          </a:p>
        </p:txBody>
      </p:sp>
      <p:sp>
        <p:nvSpPr>
          <p:cNvPr id="6" name="Title 1"/>
          <p:cNvSpPr txBox="1"/>
          <p:nvPr/>
        </p:nvSpPr>
        <p:spPr bwMode="auto">
          <a:xfrm>
            <a:off x="2329022" y="848031"/>
            <a:ext cx="3476930" cy="88582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48" charset="-128"/>
                <a:cs typeface="MS PGothic" panose="020B0600070205080204" pitchFamily="48" charset="-128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48" charset="-128"/>
                <a:cs typeface="MS PGothic" panose="020B0600070205080204" pitchFamily="48" charset="-128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48" charset="-128"/>
                <a:cs typeface="MS PGothic" panose="020B0600070205080204" pitchFamily="48" charset="-128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48" charset="-128"/>
                <a:cs typeface="MS PGothic" panose="020B0600070205080204" pitchFamily="48" charset="-128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48" charset="-128"/>
                <a:cs typeface="MS PGothic" panose="020B0600070205080204" pitchFamily="48" charset="-128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48" charset="-128"/>
                <a:cs typeface="MS PGothic" panose="020B0600070205080204" pitchFamily="48" charset="-128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48" charset="-128"/>
                <a:cs typeface="MS PGothic" panose="020B0600070205080204" pitchFamily="48" charset="-128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48" charset="-128"/>
                <a:cs typeface="MS PGothic" panose="020B0600070205080204" pitchFamily="48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Arial" panose="020B0604020202020204"/>
                <a:ea typeface="MS PGothic" panose="020B0600070205080204" pitchFamily="48" charset="-128"/>
              </a:rPr>
              <a:t>无原子磁矩：反磁性（抗磁性）</a:t>
            </a: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srgbClr val="7030A0"/>
              </a:solidFill>
              <a:effectLst/>
              <a:uLnTx/>
              <a:uFillTx/>
              <a:latin typeface="Arial" panose="020B0604020202020204"/>
              <a:ea typeface="MS PGothic" panose="020B0600070205080204" pitchFamily="48" charset="-128"/>
            </a:endParaRPr>
          </a:p>
        </p:txBody>
      </p:sp>
      <p:sp>
        <p:nvSpPr>
          <p:cNvPr id="4" name="左大括号 3"/>
          <p:cNvSpPr/>
          <p:nvPr/>
        </p:nvSpPr>
        <p:spPr bwMode="auto">
          <a:xfrm>
            <a:off x="2116400" y="1170039"/>
            <a:ext cx="304800" cy="2591175"/>
          </a:xfrm>
          <a:prstGeom prst="leftBrace">
            <a:avLst>
              <a:gd name="adj1" fmla="val 66398"/>
              <a:gd name="adj2" fmla="val 50000"/>
            </a:avLst>
          </a:prstGeom>
          <a:noFill/>
          <a:ln w="28575" cap="flat" cmpd="sng" algn="ctr">
            <a:solidFill>
              <a:srgbClr val="00B05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48" charset="-128"/>
              <a:cs typeface="MS PGothic" panose="020B0600070205080204" pitchFamily="48" charset="-128"/>
            </a:endParaRPr>
          </a:p>
        </p:txBody>
      </p:sp>
      <p:sp>
        <p:nvSpPr>
          <p:cNvPr id="8" name="Title 1"/>
          <p:cNvSpPr txBox="1"/>
          <p:nvPr/>
        </p:nvSpPr>
        <p:spPr bwMode="auto">
          <a:xfrm>
            <a:off x="2344082" y="3209743"/>
            <a:ext cx="1828800" cy="88582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48" charset="-128"/>
                <a:cs typeface="MS PGothic" panose="020B0600070205080204" pitchFamily="48" charset="-128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48" charset="-128"/>
                <a:cs typeface="MS PGothic" panose="020B0600070205080204" pitchFamily="48" charset="-128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48" charset="-128"/>
                <a:cs typeface="MS PGothic" panose="020B0600070205080204" pitchFamily="48" charset="-128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48" charset="-128"/>
                <a:cs typeface="MS PGothic" panose="020B0600070205080204" pitchFamily="48" charset="-128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48" charset="-128"/>
                <a:cs typeface="MS PGothic" panose="020B0600070205080204" pitchFamily="48" charset="-128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48" charset="-128"/>
                <a:cs typeface="MS PGothic" panose="020B0600070205080204" pitchFamily="48" charset="-128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48" charset="-128"/>
                <a:cs typeface="MS PGothic" panose="020B0600070205080204" pitchFamily="48" charset="-128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48" charset="-128"/>
                <a:cs typeface="MS PGothic" panose="020B0600070205080204" pitchFamily="48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Arial" panose="020B0604020202020204"/>
                <a:ea typeface="MS PGothic" panose="020B0600070205080204" pitchFamily="48" charset="-128"/>
              </a:rPr>
              <a:t>有原子磁矩</a:t>
            </a: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srgbClr val="7030A0"/>
              </a:solidFill>
              <a:effectLst/>
              <a:uLnTx/>
              <a:uFillTx/>
              <a:latin typeface="Arial" panose="020B0604020202020204"/>
              <a:ea typeface="MS PGothic" panose="020B0600070205080204" pitchFamily="48" charset="-128"/>
            </a:endParaRPr>
          </a:p>
        </p:txBody>
      </p:sp>
      <p:sp>
        <p:nvSpPr>
          <p:cNvPr id="9" name="左大括号 8"/>
          <p:cNvSpPr/>
          <p:nvPr/>
        </p:nvSpPr>
        <p:spPr bwMode="auto">
          <a:xfrm>
            <a:off x="3817689" y="2207077"/>
            <a:ext cx="304800" cy="2917068"/>
          </a:xfrm>
          <a:prstGeom prst="leftBrace">
            <a:avLst>
              <a:gd name="adj1" fmla="val 66398"/>
              <a:gd name="adj2" fmla="val 50000"/>
            </a:avLst>
          </a:prstGeom>
          <a:noFill/>
          <a:ln w="28575" cap="flat" cmpd="sng" algn="ctr">
            <a:solidFill>
              <a:srgbClr val="00B05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48" charset="-128"/>
              <a:cs typeface="MS PGothic" panose="020B0600070205080204" pitchFamily="48" charset="-128"/>
            </a:endParaRPr>
          </a:p>
        </p:txBody>
      </p:sp>
      <p:sp>
        <p:nvSpPr>
          <p:cNvPr id="10" name="Title 1"/>
          <p:cNvSpPr txBox="1"/>
          <p:nvPr/>
        </p:nvSpPr>
        <p:spPr bwMode="auto">
          <a:xfrm>
            <a:off x="9525000" y="2128420"/>
            <a:ext cx="1105276" cy="88582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48" charset="-128"/>
                <a:cs typeface="MS PGothic" panose="020B0600070205080204" pitchFamily="48" charset="-128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48" charset="-128"/>
                <a:cs typeface="MS PGothic" panose="020B0600070205080204" pitchFamily="48" charset="-128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48" charset="-128"/>
                <a:cs typeface="MS PGothic" panose="020B0600070205080204" pitchFamily="48" charset="-128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48" charset="-128"/>
                <a:cs typeface="MS PGothic" panose="020B0600070205080204" pitchFamily="48" charset="-128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48" charset="-128"/>
                <a:cs typeface="MS PGothic" panose="020B0600070205080204" pitchFamily="48" charset="-128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48" charset="-128"/>
                <a:cs typeface="MS PGothic" panose="020B0600070205080204" pitchFamily="48" charset="-128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48" charset="-128"/>
                <a:cs typeface="MS PGothic" panose="020B0600070205080204" pitchFamily="48" charset="-128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48" charset="-128"/>
                <a:cs typeface="MS PGothic" panose="020B0600070205080204" pitchFamily="48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Arial" panose="020B0604020202020204"/>
                <a:ea typeface="MS PGothic" panose="020B0600070205080204" pitchFamily="48" charset="-128"/>
              </a:rPr>
              <a:t>弱磁性</a:t>
            </a: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srgbClr val="7030A0"/>
              </a:solidFill>
              <a:effectLst/>
              <a:uLnTx/>
              <a:uFillTx/>
              <a:latin typeface="Arial" panose="020B0604020202020204"/>
              <a:ea typeface="MS PGothic" panose="020B0600070205080204" pitchFamily="48" charset="-128"/>
            </a:endParaRPr>
          </a:p>
        </p:txBody>
      </p:sp>
      <p:sp>
        <p:nvSpPr>
          <p:cNvPr id="11" name="Title 1"/>
          <p:cNvSpPr txBox="1"/>
          <p:nvPr/>
        </p:nvSpPr>
        <p:spPr bwMode="auto">
          <a:xfrm>
            <a:off x="9534819" y="5120767"/>
            <a:ext cx="1219200" cy="88582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48" charset="-128"/>
                <a:cs typeface="MS PGothic" panose="020B0600070205080204" pitchFamily="48" charset="-128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48" charset="-128"/>
                <a:cs typeface="MS PGothic" panose="020B0600070205080204" pitchFamily="48" charset="-128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48" charset="-128"/>
                <a:cs typeface="MS PGothic" panose="020B0600070205080204" pitchFamily="48" charset="-128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48" charset="-128"/>
                <a:cs typeface="MS PGothic" panose="020B0600070205080204" pitchFamily="48" charset="-128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48" charset="-128"/>
                <a:cs typeface="MS PGothic" panose="020B0600070205080204" pitchFamily="48" charset="-128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48" charset="-128"/>
                <a:cs typeface="MS PGothic" panose="020B0600070205080204" pitchFamily="48" charset="-128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48" charset="-128"/>
                <a:cs typeface="MS PGothic" panose="020B0600070205080204" pitchFamily="48" charset="-128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48" charset="-128"/>
                <a:cs typeface="MS PGothic" panose="020B0600070205080204" pitchFamily="48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Arial" panose="020B0604020202020204"/>
                <a:ea typeface="MS PGothic" panose="020B0600070205080204" pitchFamily="48" charset="-128"/>
              </a:rPr>
              <a:t>强磁性</a:t>
            </a: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srgbClr val="7030A0"/>
              </a:solidFill>
              <a:effectLst/>
              <a:uLnTx/>
              <a:uFillTx/>
              <a:latin typeface="Arial" panose="020B0604020202020204"/>
              <a:ea typeface="MS PGothic" panose="020B0600070205080204" pitchFamily="48" charset="-128"/>
            </a:endParaRPr>
          </a:p>
        </p:txBody>
      </p:sp>
      <p:sp>
        <p:nvSpPr>
          <p:cNvPr id="14" name="Title 1"/>
          <p:cNvSpPr txBox="1"/>
          <p:nvPr/>
        </p:nvSpPr>
        <p:spPr bwMode="auto">
          <a:xfrm>
            <a:off x="5446692" y="2152365"/>
            <a:ext cx="1390417" cy="88582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48" charset="-128"/>
                <a:cs typeface="MS PGothic" panose="020B0600070205080204" pitchFamily="48" charset="-128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48" charset="-128"/>
                <a:cs typeface="MS PGothic" panose="020B0600070205080204" pitchFamily="48" charset="-128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48" charset="-128"/>
                <a:cs typeface="MS PGothic" panose="020B0600070205080204" pitchFamily="48" charset="-128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48" charset="-128"/>
                <a:cs typeface="MS PGothic" panose="020B0600070205080204" pitchFamily="48" charset="-128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48" charset="-128"/>
                <a:cs typeface="MS PGothic" panose="020B0600070205080204" pitchFamily="48" charset="-128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48" charset="-128"/>
                <a:cs typeface="MS PGothic" panose="020B0600070205080204" pitchFamily="48" charset="-128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48" charset="-128"/>
                <a:cs typeface="MS PGothic" panose="020B0600070205080204" pitchFamily="48" charset="-128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48" charset="-128"/>
                <a:cs typeface="MS PGothic" panose="020B0600070205080204" pitchFamily="48" charset="-128"/>
              </a:defRPr>
            </a:lvl9pPr>
          </a:lstStyle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Arial" panose="020B0604020202020204"/>
                <a:ea typeface="MS PGothic" panose="020B0600070205080204" pitchFamily="48" charset="-128"/>
              </a:rPr>
              <a:t>顺磁性</a:t>
            </a:r>
            <a:endParaRPr kumimoji="0" lang="en-US" altLang="zh-CN" sz="2400" b="0" i="0" u="none" strike="noStrike" kern="0" cap="none" spc="0" normalizeH="0" baseline="0" noProof="0" dirty="0">
              <a:ln>
                <a:noFill/>
              </a:ln>
              <a:solidFill>
                <a:srgbClr val="7030A0"/>
              </a:solidFill>
              <a:effectLst/>
              <a:uLnTx/>
              <a:uFillTx/>
              <a:latin typeface="Arial" panose="020B0604020202020204"/>
              <a:ea typeface="MS PGothic" panose="020B0600070205080204" pitchFamily="48" charset="-128"/>
            </a:endParaRPr>
          </a:p>
          <a:p>
            <a:r>
              <a:rPr lang="en-US" altLang="zh-CN" sz="1200" dirty="0" err="1">
                <a:solidFill>
                  <a:srgbClr val="FF0000"/>
                </a:solidFill>
                <a:latin typeface="Arial" panose="020B0604020202020204" pitchFamily="34" charset="0"/>
                <a:ea typeface="MS PGothic" panose="020B0600070205080204" pitchFamily="48" charset="-128"/>
              </a:rPr>
              <a:t>para</a:t>
            </a:r>
            <a:r>
              <a:rPr lang="en-US" altLang="zh-CN" sz="1200" dirty="0" err="1">
                <a:solidFill>
                  <a:srgbClr val="3333FF"/>
                </a:solidFill>
                <a:latin typeface="Arial" panose="020B0604020202020204" pitchFamily="34" charset="0"/>
                <a:ea typeface="MS PGothic" panose="020B0600070205080204" pitchFamily="48" charset="-128"/>
              </a:rPr>
              <a:t>magnetism</a:t>
            </a:r>
            <a:endParaRPr lang="zh-CN" altLang="en-US" sz="1200" dirty="0">
              <a:solidFill>
                <a:srgbClr val="3333FF"/>
              </a:solidFill>
              <a:latin typeface="Arial" panose="020B0604020202020204" pitchFamily="34" charset="0"/>
              <a:ea typeface="MS PGothic" panose="020B0600070205080204" pitchFamily="48" charset="-128"/>
            </a:endParaRP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srgbClr val="7030A0"/>
              </a:solidFill>
              <a:effectLst/>
              <a:uLnTx/>
              <a:uFillTx/>
              <a:latin typeface="Arial" panose="020B0604020202020204"/>
              <a:ea typeface="MS PGothic" panose="020B0600070205080204" pitchFamily="48" charset="-128"/>
            </a:endParaRPr>
          </a:p>
        </p:txBody>
      </p:sp>
      <p:sp>
        <p:nvSpPr>
          <p:cNvPr id="15" name="Title 1"/>
          <p:cNvSpPr txBox="1"/>
          <p:nvPr/>
        </p:nvSpPr>
        <p:spPr bwMode="auto">
          <a:xfrm>
            <a:off x="5391539" y="3527552"/>
            <a:ext cx="1499875" cy="567964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48" charset="-128"/>
                <a:cs typeface="MS PGothic" panose="020B0600070205080204" pitchFamily="48" charset="-128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48" charset="-128"/>
                <a:cs typeface="MS PGothic" panose="020B0600070205080204" pitchFamily="48" charset="-128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48" charset="-128"/>
                <a:cs typeface="MS PGothic" panose="020B0600070205080204" pitchFamily="48" charset="-128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48" charset="-128"/>
                <a:cs typeface="MS PGothic" panose="020B0600070205080204" pitchFamily="48" charset="-128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48" charset="-128"/>
                <a:cs typeface="MS PGothic" panose="020B0600070205080204" pitchFamily="48" charset="-128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48" charset="-128"/>
                <a:cs typeface="MS PGothic" panose="020B0600070205080204" pitchFamily="48" charset="-128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48" charset="-128"/>
                <a:cs typeface="MS PGothic" panose="020B0600070205080204" pitchFamily="48" charset="-128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48" charset="-128"/>
                <a:cs typeface="MS PGothic" panose="020B0600070205080204" pitchFamily="48" charset="-128"/>
              </a:defRPr>
            </a:lvl9pPr>
          </a:lstStyle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Arial" panose="020B0604020202020204"/>
                <a:ea typeface="MS PGothic" panose="020B0600070205080204" pitchFamily="48" charset="-128"/>
              </a:rPr>
              <a:t>反铁磁性</a:t>
            </a:r>
            <a:endParaRPr kumimoji="0" lang="en-US" altLang="zh-CN" sz="2400" b="0" i="0" u="none" strike="noStrike" kern="0" cap="none" spc="0" normalizeH="0" baseline="0" noProof="0" dirty="0">
              <a:ln>
                <a:noFill/>
              </a:ln>
              <a:solidFill>
                <a:srgbClr val="7030A0"/>
              </a:solidFill>
              <a:effectLst/>
              <a:uLnTx/>
              <a:uFillTx/>
              <a:latin typeface="Arial" panose="020B0604020202020204"/>
              <a:ea typeface="MS PGothic" panose="020B0600070205080204" pitchFamily="48" charset="-128"/>
            </a:endParaRPr>
          </a:p>
          <a:p>
            <a:r>
              <a:rPr lang="en-US" altLang="zh-CN" sz="1200" dirty="0" err="1">
                <a:solidFill>
                  <a:srgbClr val="FF0000"/>
                </a:solidFill>
                <a:latin typeface="Arial" panose="020B0604020202020204" pitchFamily="34" charset="0"/>
                <a:ea typeface="MS PGothic" panose="020B0600070205080204" pitchFamily="48" charset="-128"/>
              </a:rPr>
              <a:t>antiferro</a:t>
            </a:r>
            <a:r>
              <a:rPr lang="en-US" altLang="zh-CN" sz="1200" dirty="0" err="1">
                <a:solidFill>
                  <a:srgbClr val="3333FF"/>
                </a:solidFill>
                <a:latin typeface="Arial" panose="020B0604020202020204" pitchFamily="34" charset="0"/>
                <a:ea typeface="MS PGothic" panose="020B0600070205080204" pitchFamily="48" charset="-128"/>
              </a:rPr>
              <a:t>magnetism</a:t>
            </a:r>
            <a:endParaRPr lang="zh-CN" altLang="en-US" sz="1200" dirty="0">
              <a:solidFill>
                <a:srgbClr val="3333FF"/>
              </a:solidFill>
              <a:latin typeface="Arial" panose="020B0604020202020204" pitchFamily="34" charset="0"/>
              <a:ea typeface="MS PGothic" panose="020B0600070205080204" pitchFamily="48" charset="-128"/>
            </a:endParaRP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srgbClr val="7030A0"/>
              </a:solidFill>
              <a:effectLst/>
              <a:uLnTx/>
              <a:uFillTx/>
              <a:latin typeface="Arial" panose="020B0604020202020204"/>
              <a:ea typeface="MS PGothic" panose="020B0600070205080204" pitchFamily="48" charset="-128"/>
            </a:endParaRPr>
          </a:p>
        </p:txBody>
      </p:sp>
      <p:sp>
        <p:nvSpPr>
          <p:cNvPr id="16" name="Title 1"/>
          <p:cNvSpPr txBox="1"/>
          <p:nvPr/>
        </p:nvSpPr>
        <p:spPr bwMode="auto">
          <a:xfrm>
            <a:off x="5496513" y="4878656"/>
            <a:ext cx="1317048" cy="4211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48" charset="-128"/>
                <a:cs typeface="MS PGothic" panose="020B0600070205080204" pitchFamily="48" charset="-128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48" charset="-128"/>
                <a:cs typeface="MS PGothic" panose="020B0600070205080204" pitchFamily="48" charset="-128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48" charset="-128"/>
                <a:cs typeface="MS PGothic" panose="020B0600070205080204" pitchFamily="48" charset="-128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48" charset="-128"/>
                <a:cs typeface="MS PGothic" panose="020B0600070205080204" pitchFamily="48" charset="-128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48" charset="-128"/>
                <a:cs typeface="MS PGothic" panose="020B0600070205080204" pitchFamily="48" charset="-128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48" charset="-128"/>
                <a:cs typeface="MS PGothic" panose="020B0600070205080204" pitchFamily="48" charset="-128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48" charset="-128"/>
                <a:cs typeface="MS PGothic" panose="020B0600070205080204" pitchFamily="48" charset="-128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48" charset="-128"/>
                <a:cs typeface="MS PGothic" panose="020B0600070205080204" pitchFamily="48" charset="-128"/>
              </a:defRPr>
            </a:lvl9pPr>
          </a:lstStyle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Arial" panose="020B0604020202020204"/>
                <a:ea typeface="MS PGothic" panose="020B0600070205080204" pitchFamily="48" charset="-128"/>
              </a:rPr>
              <a:t>铁磁性</a:t>
            </a:r>
            <a:endParaRPr kumimoji="0" lang="en-US" altLang="zh-CN" sz="2400" b="0" i="0" u="none" strike="noStrike" kern="0" cap="none" spc="0" normalizeH="0" baseline="0" noProof="0" dirty="0">
              <a:ln>
                <a:noFill/>
              </a:ln>
              <a:solidFill>
                <a:srgbClr val="7030A0"/>
              </a:solidFill>
              <a:effectLst/>
              <a:uLnTx/>
              <a:uFillTx/>
              <a:latin typeface="Arial" panose="020B0604020202020204"/>
              <a:ea typeface="MS PGothic" panose="020B0600070205080204" pitchFamily="48" charset="-128"/>
            </a:endParaRPr>
          </a:p>
          <a:p>
            <a:r>
              <a:rPr lang="en-US" altLang="zh-CN" sz="1200" dirty="0">
                <a:solidFill>
                  <a:srgbClr val="FF0000"/>
                </a:solidFill>
                <a:latin typeface="Arial" panose="020B0604020202020204" pitchFamily="34" charset="0"/>
                <a:ea typeface="MS PGothic" panose="020B0600070205080204" pitchFamily="48" charset="-128"/>
              </a:rPr>
              <a:t>ferro</a:t>
            </a:r>
            <a:r>
              <a:rPr lang="en-US" altLang="zh-CN" sz="1200" dirty="0">
                <a:solidFill>
                  <a:srgbClr val="3333FF"/>
                </a:solidFill>
                <a:latin typeface="Arial" panose="020B0604020202020204" pitchFamily="34" charset="0"/>
                <a:ea typeface="MS PGothic" panose="020B0600070205080204" pitchFamily="48" charset="-128"/>
              </a:rPr>
              <a:t>magnetism</a:t>
            </a:r>
            <a:endParaRPr lang="zh-CN" altLang="en-US" sz="1200" dirty="0">
              <a:solidFill>
                <a:srgbClr val="3333FF"/>
              </a:solidFill>
              <a:latin typeface="Arial" panose="020B0604020202020204" pitchFamily="34" charset="0"/>
              <a:ea typeface="MS PGothic" panose="020B0600070205080204" pitchFamily="48" charset="-128"/>
            </a:endParaRP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srgbClr val="7030A0"/>
              </a:solidFill>
              <a:effectLst/>
              <a:uLnTx/>
              <a:uFillTx/>
              <a:latin typeface="Arial" panose="020B0604020202020204"/>
              <a:ea typeface="MS PGothic" panose="020B0600070205080204" pitchFamily="48" charset="-128"/>
            </a:endParaRPr>
          </a:p>
        </p:txBody>
      </p:sp>
      <p:sp>
        <p:nvSpPr>
          <p:cNvPr id="17" name="Title 1"/>
          <p:cNvSpPr txBox="1"/>
          <p:nvPr/>
        </p:nvSpPr>
        <p:spPr bwMode="auto">
          <a:xfrm>
            <a:off x="5371329" y="6082896"/>
            <a:ext cx="1600200" cy="4211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48" charset="-128"/>
                <a:cs typeface="MS PGothic" panose="020B0600070205080204" pitchFamily="48" charset="-128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48" charset="-128"/>
                <a:cs typeface="MS PGothic" panose="020B0600070205080204" pitchFamily="48" charset="-128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48" charset="-128"/>
                <a:cs typeface="MS PGothic" panose="020B0600070205080204" pitchFamily="48" charset="-128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48" charset="-128"/>
                <a:cs typeface="MS PGothic" panose="020B0600070205080204" pitchFamily="48" charset="-128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48" charset="-128"/>
                <a:cs typeface="MS PGothic" panose="020B0600070205080204" pitchFamily="48" charset="-128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48" charset="-128"/>
                <a:cs typeface="MS PGothic" panose="020B0600070205080204" pitchFamily="48" charset="-128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48" charset="-128"/>
                <a:cs typeface="MS PGothic" panose="020B0600070205080204" pitchFamily="48" charset="-128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48" charset="-128"/>
                <a:cs typeface="MS PGothic" panose="020B0600070205080204" pitchFamily="48" charset="-128"/>
              </a:defRPr>
            </a:lvl9pPr>
          </a:lstStyle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Arial" panose="020B0604020202020204"/>
                <a:ea typeface="MS PGothic" panose="020B0600070205080204" pitchFamily="48" charset="-128"/>
              </a:rPr>
              <a:t>亚铁磁性</a:t>
            </a:r>
            <a:endParaRPr kumimoji="0" lang="en-US" altLang="zh-CN" sz="2400" b="0" i="0" u="none" strike="noStrike" kern="0" cap="none" spc="0" normalizeH="0" baseline="0" noProof="0" dirty="0">
              <a:ln>
                <a:noFill/>
              </a:ln>
              <a:solidFill>
                <a:srgbClr val="7030A0"/>
              </a:solidFill>
              <a:effectLst/>
              <a:uLnTx/>
              <a:uFillTx/>
              <a:latin typeface="Arial" panose="020B0604020202020204"/>
              <a:ea typeface="MS PGothic" panose="020B0600070205080204" pitchFamily="48" charset="-128"/>
            </a:endParaRPr>
          </a:p>
          <a:p>
            <a:r>
              <a:rPr lang="en-US" altLang="zh-CN" sz="1200" dirty="0">
                <a:solidFill>
                  <a:srgbClr val="FF0000"/>
                </a:solidFill>
                <a:latin typeface="Arial" panose="020B0604020202020204" pitchFamily="34" charset="0"/>
                <a:ea typeface="MS PGothic" panose="020B0600070205080204" pitchFamily="48" charset="-128"/>
              </a:rPr>
              <a:t>ferri</a:t>
            </a:r>
            <a:r>
              <a:rPr lang="en-US" altLang="zh-CN" sz="1200" dirty="0">
                <a:solidFill>
                  <a:srgbClr val="3333FF"/>
                </a:solidFill>
                <a:latin typeface="Arial" panose="020B0604020202020204" pitchFamily="34" charset="0"/>
                <a:ea typeface="MS PGothic" panose="020B0600070205080204" pitchFamily="48" charset="-128"/>
              </a:rPr>
              <a:t>magnetism</a:t>
            </a:r>
            <a:endParaRPr lang="zh-CN" altLang="en-US" sz="1200" dirty="0">
              <a:solidFill>
                <a:srgbClr val="3333FF"/>
              </a:solidFill>
              <a:latin typeface="Arial" panose="020B0604020202020204" pitchFamily="34" charset="0"/>
              <a:ea typeface="MS PGothic" panose="020B0600070205080204" pitchFamily="48" charset="-128"/>
            </a:endParaRP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srgbClr val="7030A0"/>
              </a:solidFill>
              <a:effectLst/>
              <a:uLnTx/>
              <a:uFillTx/>
              <a:latin typeface="Arial" panose="020B0604020202020204"/>
              <a:ea typeface="MS PGothic" panose="020B0600070205080204" pitchFamily="48" charset="-128"/>
            </a:endParaRPr>
          </a:p>
        </p:txBody>
      </p:sp>
      <p:sp>
        <p:nvSpPr>
          <p:cNvPr id="5" name="矩形: 圆角 4"/>
          <p:cNvSpPr/>
          <p:nvPr/>
        </p:nvSpPr>
        <p:spPr bwMode="auto">
          <a:xfrm>
            <a:off x="5376791" y="3224666"/>
            <a:ext cx="1556493" cy="3257559"/>
          </a:xfrm>
          <a:prstGeom prst="roundRect">
            <a:avLst>
              <a:gd name="adj" fmla="val 5556"/>
            </a:avLst>
          </a:prstGeom>
          <a:noFill/>
          <a:ln w="28575" cap="flat" cmpd="sng" algn="ctr">
            <a:solidFill>
              <a:srgbClr val="00B050"/>
            </a:solidFill>
            <a:prstDash val="sysDot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48" charset="-128"/>
              <a:cs typeface="MS PGothic" panose="020B0600070205080204" pitchFamily="48" charset="-128"/>
            </a:endParaRPr>
          </a:p>
        </p:txBody>
      </p:sp>
      <p:sp>
        <p:nvSpPr>
          <p:cNvPr id="7" name="箭头: 右弧形 6"/>
          <p:cNvSpPr/>
          <p:nvPr/>
        </p:nvSpPr>
        <p:spPr bwMode="auto">
          <a:xfrm rot="21398193" flipV="1">
            <a:off x="8727593" y="1991039"/>
            <a:ext cx="444539" cy="2933784"/>
          </a:xfrm>
          <a:prstGeom prst="curvedLeftArrow">
            <a:avLst>
              <a:gd name="adj1" fmla="val 67418"/>
              <a:gd name="adj2" fmla="val 126683"/>
              <a:gd name="adj3" fmla="val 37003"/>
            </a:avLst>
          </a:prstGeom>
          <a:gradFill flip="none" rotWithShape="1">
            <a:gsLst>
              <a:gs pos="0">
                <a:srgbClr val="FF0000"/>
              </a:gs>
              <a:gs pos="100000">
                <a:srgbClr val="FFFF00"/>
              </a:gs>
            </a:gsLst>
            <a:lin ang="16200000" scaled="1"/>
            <a:tileRect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48" charset="-128"/>
              <a:cs typeface="MS PGothic" panose="020B0600070205080204" pitchFamily="48" charset="-128"/>
            </a:endParaRPr>
          </a:p>
        </p:txBody>
      </p:sp>
      <p:sp>
        <p:nvSpPr>
          <p:cNvPr id="21" name="Title 1"/>
          <p:cNvSpPr txBox="1"/>
          <p:nvPr/>
        </p:nvSpPr>
        <p:spPr bwMode="auto">
          <a:xfrm>
            <a:off x="3381067" y="0"/>
            <a:ext cx="5429865" cy="88582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48" charset="-128"/>
                <a:cs typeface="MS PGothic" panose="020B0600070205080204" pitchFamily="48" charset="-128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48" charset="-128"/>
                <a:cs typeface="MS PGothic" panose="020B0600070205080204" pitchFamily="48" charset="-128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48" charset="-128"/>
                <a:cs typeface="MS PGothic" panose="020B0600070205080204" pitchFamily="48" charset="-128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48" charset="-128"/>
                <a:cs typeface="MS PGothic" panose="020B0600070205080204" pitchFamily="48" charset="-128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48" charset="-128"/>
                <a:cs typeface="MS PGothic" panose="020B0600070205080204" pitchFamily="48" charset="-128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48" charset="-128"/>
                <a:cs typeface="MS PGothic" panose="020B0600070205080204" pitchFamily="48" charset="-128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48" charset="-128"/>
                <a:cs typeface="MS PGothic" panose="020B0600070205080204" pitchFamily="48" charset="-128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48" charset="-128"/>
                <a:cs typeface="MS PGothic" panose="020B0600070205080204" pitchFamily="48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物质磁性的分类（小结）</a:t>
            </a:r>
            <a:endParaRPr kumimoji="0" lang="en-US" sz="24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4035324" y="2120236"/>
            <a:ext cx="1409700" cy="5835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</a:rPr>
              <a:t>原子磁矩之间</a:t>
            </a:r>
            <a:endParaRPr kumimoji="0" lang="en-US" altLang="zh-CN" sz="1600" b="1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无</a:t>
            </a: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</a:rPr>
              <a:t>相互作用</a:t>
            </a: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</a:rPr>
              <a:t>:</a:t>
            </a:r>
            <a:endParaRPr kumimoji="0" lang="zh-CN" altLang="en-US" sz="16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48" charset="-128"/>
            </a:endParaRPr>
          </a:p>
        </p:txBody>
      </p:sp>
      <p:sp>
        <p:nvSpPr>
          <p:cNvPr id="22" name="矩形 21"/>
          <p:cNvSpPr/>
          <p:nvPr/>
        </p:nvSpPr>
        <p:spPr>
          <a:xfrm>
            <a:off x="3994729" y="4585088"/>
            <a:ext cx="1409700" cy="5835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</a:rPr>
              <a:t>原子磁矩之间</a:t>
            </a:r>
            <a:endParaRPr kumimoji="0" lang="en-US" altLang="zh-CN" sz="1600" b="1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有</a:t>
            </a: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</a:rPr>
              <a:t>相互作用</a:t>
            </a: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</a:rPr>
              <a:t>:</a:t>
            </a:r>
            <a:endParaRPr kumimoji="0" lang="zh-CN" altLang="en-US" sz="16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48" charset="-128"/>
            </a:endParaRPr>
          </a:p>
        </p:txBody>
      </p:sp>
      <p:sp>
        <p:nvSpPr>
          <p:cNvPr id="23" name="左大括号 22"/>
          <p:cNvSpPr/>
          <p:nvPr/>
        </p:nvSpPr>
        <p:spPr bwMode="auto">
          <a:xfrm flipH="1">
            <a:off x="9263590" y="1166201"/>
            <a:ext cx="304800" cy="2960742"/>
          </a:xfrm>
          <a:prstGeom prst="leftBrace">
            <a:avLst>
              <a:gd name="adj1" fmla="val 51882"/>
              <a:gd name="adj2" fmla="val 50000"/>
            </a:avLst>
          </a:prstGeom>
          <a:noFill/>
          <a:ln w="28575" cap="flat" cmpd="sng" algn="ctr">
            <a:solidFill>
              <a:srgbClr val="00B05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48" charset="-128"/>
              <a:cs typeface="MS PGothic" panose="020B0600070205080204" pitchFamily="48" charset="-128"/>
            </a:endParaRPr>
          </a:p>
        </p:txBody>
      </p:sp>
      <p:sp>
        <p:nvSpPr>
          <p:cNvPr id="24" name="左大括号 23"/>
          <p:cNvSpPr/>
          <p:nvPr/>
        </p:nvSpPr>
        <p:spPr bwMode="auto">
          <a:xfrm flipH="1">
            <a:off x="9263586" y="4343400"/>
            <a:ext cx="304800" cy="2438400"/>
          </a:xfrm>
          <a:prstGeom prst="leftBrace">
            <a:avLst>
              <a:gd name="adj1" fmla="val 29301"/>
              <a:gd name="adj2" fmla="val 50000"/>
            </a:avLst>
          </a:prstGeom>
          <a:noFill/>
          <a:ln w="28575" cap="flat" cmpd="sng" algn="ctr">
            <a:solidFill>
              <a:srgbClr val="00B05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48" charset="-128"/>
              <a:cs typeface="MS PGothic" panose="020B0600070205080204" pitchFamily="48" charset="-128"/>
            </a:endParaRPr>
          </a:p>
        </p:txBody>
      </p:sp>
      <p:sp>
        <p:nvSpPr>
          <p:cNvPr id="25" name="矩形 24"/>
          <p:cNvSpPr/>
          <p:nvPr/>
        </p:nvSpPr>
        <p:spPr>
          <a:xfrm>
            <a:off x="6910694" y="5171553"/>
            <a:ext cx="1407160" cy="27559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</a:rPr>
              <a:t>原子磁矩平行排列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FFC000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48" charset="-128"/>
            </a:endParaRPr>
          </a:p>
        </p:txBody>
      </p:sp>
      <p:sp>
        <p:nvSpPr>
          <p:cNvPr id="26" name="矩形 25"/>
          <p:cNvSpPr/>
          <p:nvPr/>
        </p:nvSpPr>
        <p:spPr>
          <a:xfrm>
            <a:off x="6906162" y="3951943"/>
            <a:ext cx="1560195" cy="27559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</a:rPr>
              <a:t>原子磁矩反平行排列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FFC000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48" charset="-128"/>
            </a:endParaRPr>
          </a:p>
        </p:txBody>
      </p:sp>
      <p:sp>
        <p:nvSpPr>
          <p:cNvPr id="27" name="矩形 26"/>
          <p:cNvSpPr/>
          <p:nvPr/>
        </p:nvSpPr>
        <p:spPr>
          <a:xfrm>
            <a:off x="6933284" y="6431382"/>
            <a:ext cx="1722492" cy="460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</a:rPr>
              <a:t>原子磁矩反平行排列，</a:t>
            </a:r>
            <a:endParaRPr kumimoji="0" lang="en-US" altLang="zh-CN" sz="1200" b="1" i="0" u="none" strike="noStrike" kern="1200" cap="none" spc="0" normalizeH="0" baseline="0" noProof="0" dirty="0">
              <a:ln>
                <a:noFill/>
              </a:ln>
              <a:solidFill>
                <a:srgbClr val="FFC000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</a:rPr>
              <a:t>但未完全抵消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FFC000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48" charset="-128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8526900" y="3484215"/>
            <a:ext cx="703276" cy="2755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1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T</a:t>
            </a:r>
            <a:r>
              <a:rPr kumimoji="0" lang="en-US" altLang="zh-CN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N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以上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48" charset="-128"/>
            </a:endParaRPr>
          </a:p>
        </p:txBody>
      </p:sp>
      <p:sp>
        <p:nvSpPr>
          <p:cNvPr id="29" name="矩形 28"/>
          <p:cNvSpPr/>
          <p:nvPr/>
        </p:nvSpPr>
        <p:spPr>
          <a:xfrm>
            <a:off x="9691977" y="2739424"/>
            <a:ext cx="904885" cy="8299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</a:rPr>
              <a:t>通常几乎感受不到磁铁的吸引或排斥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FFC000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48" charset="-128"/>
            </a:endParaRPr>
          </a:p>
        </p:txBody>
      </p:sp>
      <p:sp>
        <p:nvSpPr>
          <p:cNvPr id="30" name="矩形 29"/>
          <p:cNvSpPr/>
          <p:nvPr/>
        </p:nvSpPr>
        <p:spPr>
          <a:xfrm>
            <a:off x="9656889" y="5732846"/>
            <a:ext cx="841498" cy="8299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</a:rPr>
              <a:t>可明显感受到磁铁的吸引或排斥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FFC000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48" charset="-128"/>
            </a:endParaRPr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 rotWithShape="1">
          <a:blip r:embed="rId1"/>
          <a:srcRect l="-2237" t="-1170" r="-1525" b="34690"/>
          <a:stretch>
            <a:fillRect/>
          </a:stretch>
        </p:blipFill>
        <p:spPr>
          <a:xfrm>
            <a:off x="7027465" y="1942790"/>
            <a:ext cx="836759" cy="846171"/>
          </a:xfrm>
          <a:prstGeom prst="rect">
            <a:avLst/>
          </a:prstGeom>
        </p:spPr>
      </p:pic>
      <p:pic>
        <p:nvPicPr>
          <p:cNvPr id="31" name="Picture 1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8134"/>
          <a:stretch>
            <a:fillRect/>
          </a:stretch>
        </p:blipFill>
        <p:spPr>
          <a:xfrm>
            <a:off x="7021058" y="4283030"/>
            <a:ext cx="922531" cy="918614"/>
          </a:xfrm>
          <a:prstGeom prst="rect">
            <a:avLst/>
          </a:prstGeom>
        </p:spPr>
      </p:pic>
      <p:pic>
        <p:nvPicPr>
          <p:cNvPr id="32" name="Picture 1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6928"/>
          <a:stretch>
            <a:fillRect/>
          </a:stretch>
        </p:blipFill>
        <p:spPr>
          <a:xfrm>
            <a:off x="7012479" y="3103470"/>
            <a:ext cx="931111" cy="885825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/>
        </p:nvPicPr>
        <p:blipFill rotWithShape="1">
          <a:blip r:embed="rId4"/>
          <a:srcRect l="9752" r="6248" b="36274"/>
          <a:stretch>
            <a:fillRect/>
          </a:stretch>
        </p:blipFill>
        <p:spPr>
          <a:xfrm>
            <a:off x="7009895" y="5595198"/>
            <a:ext cx="933695" cy="876228"/>
          </a:xfrm>
          <a:prstGeom prst="rect">
            <a:avLst/>
          </a:prstGeom>
        </p:spPr>
      </p:pic>
      <p:sp>
        <p:nvSpPr>
          <p:cNvPr id="33" name="左大括号 32"/>
          <p:cNvSpPr/>
          <p:nvPr/>
        </p:nvSpPr>
        <p:spPr bwMode="auto">
          <a:xfrm flipH="1">
            <a:off x="8428476" y="3167378"/>
            <a:ext cx="304800" cy="3614422"/>
          </a:xfrm>
          <a:prstGeom prst="leftBrace">
            <a:avLst>
              <a:gd name="adj1" fmla="val 24463"/>
              <a:gd name="adj2" fmla="val 46111"/>
            </a:avLst>
          </a:prstGeom>
          <a:noFill/>
          <a:ln w="28575" cap="flat" cmpd="sng" algn="ctr">
            <a:solidFill>
              <a:srgbClr val="00B05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48" charset="-128"/>
              <a:cs typeface="MS PGothic" panose="020B0600070205080204" pitchFamily="48" charset="-128"/>
            </a:endParaRPr>
          </a:p>
        </p:txBody>
      </p:sp>
      <p:sp>
        <p:nvSpPr>
          <p:cNvPr id="28" name="矩形 27"/>
          <p:cNvSpPr/>
          <p:nvPr/>
        </p:nvSpPr>
        <p:spPr>
          <a:xfrm>
            <a:off x="8526863" y="4877475"/>
            <a:ext cx="638175" cy="27559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1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T</a:t>
            </a:r>
            <a:r>
              <a:rPr kumimoji="0" lang="en-US" altLang="zh-CN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以上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48" charset="-128"/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4069646" y="1397322"/>
            <a:ext cx="1129665" cy="27559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MS PGothic" panose="020B0600070205080204" pitchFamily="48" charset="-128"/>
              </a:rPr>
              <a:t>dia</a:t>
            </a:r>
            <a:r>
              <a:rPr kumimoji="0" lang="en-US" altLang="zh-CN" sz="1200" b="0" i="0" u="none" strike="noStrike" kern="0" cap="none" spc="0" normalizeH="0" baseline="0" noProof="0" dirty="0">
                <a:ln>
                  <a:noFill/>
                </a:ln>
                <a:solidFill>
                  <a:srgbClr val="3333FF"/>
                </a:solidFill>
                <a:effectLst/>
                <a:uLnTx/>
                <a:uFillTx/>
                <a:latin typeface="Arial" panose="020B0604020202020204"/>
                <a:ea typeface="MS PGothic" panose="020B0600070205080204" pitchFamily="48" charset="-128"/>
              </a:rPr>
              <a:t>magnetism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3333FF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48" charset="-128"/>
            </a:endParaRPr>
          </a:p>
        </p:txBody>
      </p:sp>
      <p:sp>
        <p:nvSpPr>
          <p:cNvPr id="37" name="矩形 36"/>
          <p:cNvSpPr/>
          <p:nvPr/>
        </p:nvSpPr>
        <p:spPr>
          <a:xfrm>
            <a:off x="8510241" y="5904626"/>
            <a:ext cx="638175" cy="27559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1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T</a:t>
            </a:r>
            <a:r>
              <a:rPr kumimoji="0" lang="en-US" altLang="zh-CN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以上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48" charset="-128"/>
            </a:endParaRPr>
          </a:p>
        </p:txBody>
      </p:sp>
    </p:spTree>
  </p:cSld>
  <p:clrMapOvr>
    <a:masterClrMapping/>
  </p:clrMapOvr>
  <p:transition spd="slow"/>
</p:sld>
</file>

<file path=ppt/slides/slide1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Coordination Numbers</a:t>
            </a:r>
            <a:endParaRPr lang="en-US"/>
          </a:p>
        </p:txBody>
      </p:sp>
      <p:sp>
        <p:nvSpPr>
          <p:cNvPr id="19459" name="Rectangle 4"/>
          <p:cNvSpPr>
            <a:spLocks noGrp="1" noChangeArrowheads="1"/>
          </p:cNvSpPr>
          <p:nvPr>
            <p:ph type="body" sz="half" idx="2"/>
          </p:nvPr>
        </p:nvSpPr>
        <p:spPr>
          <a:xfrm>
            <a:off x="1600200" y="1371600"/>
            <a:ext cx="5486400" cy="4876800"/>
          </a:xfrm>
        </p:spPr>
        <p:txBody>
          <a:bodyPr/>
          <a:lstStyle/>
          <a:p>
            <a:pPr eaLnBrk="1" hangingPunct="1"/>
            <a:r>
              <a:rPr lang="en-US" sz="2800"/>
              <a:t>The coordination number of a metal depends upon the size </a:t>
            </a:r>
            <a:br>
              <a:rPr lang="en-US" sz="2800"/>
            </a:br>
            <a:r>
              <a:rPr lang="en-US" sz="2800"/>
              <a:t>of the metal and the size of </a:t>
            </a:r>
            <a:br>
              <a:rPr lang="en-US" sz="2800"/>
            </a:br>
            <a:r>
              <a:rPr lang="en-US" sz="2800"/>
              <a:t>the ligands.</a:t>
            </a:r>
            <a:endParaRPr lang="en-US" sz="2800"/>
          </a:p>
          <a:p>
            <a:pPr eaLnBrk="1" hangingPunct="1">
              <a:spcBef>
                <a:spcPts val="300"/>
              </a:spcBef>
            </a:pPr>
            <a:r>
              <a:rPr lang="en-US" sz="2800"/>
              <a:t>Iron(III) can bind to 6 fluorides but only 4 chlorides (larger).</a:t>
            </a:r>
            <a:endParaRPr lang="en-US" sz="2800"/>
          </a:p>
          <a:p>
            <a:pPr eaLnBrk="1" hangingPunct="1">
              <a:spcBef>
                <a:spcPts val="300"/>
              </a:spcBef>
            </a:pPr>
            <a:r>
              <a:rPr lang="en-US" sz="2800"/>
              <a:t>The most common coordination numbers are </a:t>
            </a:r>
            <a:br>
              <a:rPr lang="en-US" sz="2800"/>
            </a:br>
            <a:r>
              <a:rPr lang="en-US" sz="2800"/>
              <a:t>4 and 6. They correspond to common geometries: tetrahedral or square planar; octahedral.</a:t>
            </a:r>
            <a:endParaRPr lang="en-US" sz="2800"/>
          </a:p>
        </p:txBody>
      </p:sp>
      <p:grpSp>
        <p:nvGrpSpPr>
          <p:cNvPr id="19461" name="Group 7"/>
          <p:cNvGrpSpPr/>
          <p:nvPr/>
        </p:nvGrpSpPr>
        <p:grpSpPr bwMode="auto">
          <a:xfrm>
            <a:off x="9296400" y="5486400"/>
            <a:ext cx="1371600" cy="1371600"/>
            <a:chOff x="4896" y="3456"/>
            <a:chExt cx="864" cy="864"/>
          </a:xfrm>
        </p:grpSpPr>
        <p:pic>
          <p:nvPicPr>
            <p:cNvPr id="19463" name="Picture 8" descr="Triangle--Gray"/>
            <p:cNvPicPr>
              <a:picLocks noChangeArrowheads="1"/>
            </p:cNvPicPr>
            <p:nvPr/>
          </p:nvPicPr>
          <p:blipFill>
            <a:blip r:embed="rId1"/>
            <a:srcRect/>
            <a:stretch>
              <a:fillRect/>
            </a:stretch>
          </p:blipFill>
          <p:spPr bwMode="auto">
            <a:xfrm>
              <a:off x="4896" y="3456"/>
              <a:ext cx="864" cy="86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9464" name="Rectangle 9"/>
            <p:cNvSpPr>
              <a:spLocks noChangeArrowheads="1"/>
            </p:cNvSpPr>
            <p:nvPr/>
          </p:nvSpPr>
          <p:spPr bwMode="auto">
            <a:xfrm>
              <a:off x="5066" y="3735"/>
              <a:ext cx="572" cy="329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sz="1400">
                  <a:latin typeface="Times New Roman" panose="02020603050405020304" pitchFamily="18" charset="0"/>
                </a:rPr>
                <a:t>Transition</a:t>
              </a:r>
              <a:endParaRPr lang="en-US" sz="1400">
                <a:latin typeface="Times New Roman" panose="02020603050405020304" pitchFamily="18" charset="0"/>
              </a:endParaRPr>
            </a:p>
            <a:p>
              <a:pPr algn="ctr"/>
              <a:r>
                <a:rPr lang="en-US" sz="1400">
                  <a:latin typeface="Times New Roman" panose="02020603050405020304" pitchFamily="18" charset="0"/>
                </a:rPr>
                <a:t>Metals</a:t>
              </a:r>
              <a:endParaRPr lang="en-US" sz="1400">
                <a:latin typeface="Times New Roman" panose="02020603050405020304" pitchFamily="18" charset="0"/>
              </a:endParaRPr>
            </a:p>
          </p:txBody>
        </p:sp>
      </p:grpSp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61"/>
          <a:stretch>
            <a:fillRect/>
          </a:stretch>
        </p:blipFill>
        <p:spPr>
          <a:xfrm>
            <a:off x="7131548" y="1289304"/>
            <a:ext cx="3122540" cy="4425696"/>
          </a:xfrm>
          <a:prstGeom prst="rect">
            <a:avLst/>
          </a:prstGeom>
        </p:spPr>
      </p:pic>
    </p:spTree>
  </p:cSld>
  <p:clrMapOvr>
    <a:masterClrMapping/>
  </p:clrMapOvr>
  <p:transition spd="slow"/>
</p:sld>
</file>

<file path=ppt/slides/slide1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>
          <a:xfrm>
            <a:off x="1524000" y="76200"/>
            <a:ext cx="9144000" cy="1143000"/>
          </a:xfrm>
        </p:spPr>
        <p:txBody>
          <a:bodyPr/>
          <a:lstStyle/>
          <a:p>
            <a:pPr eaLnBrk="1" hangingPunct="1"/>
            <a:r>
              <a:rPr lang="en-US"/>
              <a:t>Common Ligands</a:t>
            </a:r>
            <a:endParaRPr lang="en-US"/>
          </a:p>
        </p:txBody>
      </p:sp>
      <p:sp>
        <p:nvSpPr>
          <p:cNvPr id="20483" name="Rectangle 4"/>
          <p:cNvSpPr>
            <a:spLocks noGrp="1" noChangeArrowheads="1"/>
          </p:cNvSpPr>
          <p:nvPr>
            <p:ph type="body" sz="half" idx="2"/>
          </p:nvPr>
        </p:nvSpPr>
        <p:spPr>
          <a:xfrm>
            <a:off x="2176463" y="1066800"/>
            <a:ext cx="7772400" cy="2062163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en-US" sz="2800"/>
              <a:t>	The table shown contains some ligands commonly found in complexes. </a:t>
            </a:r>
            <a:r>
              <a:rPr lang="en-US" sz="2800" b="1"/>
              <a:t>Monodentate</a:t>
            </a:r>
            <a:r>
              <a:rPr lang="en-US" sz="2800"/>
              <a:t> ligands coordinate to one site on the metal, </a:t>
            </a:r>
            <a:r>
              <a:rPr lang="en-US" sz="2800" b="1"/>
              <a:t>bidentate</a:t>
            </a:r>
            <a:r>
              <a:rPr lang="en-US" sz="2800"/>
              <a:t> to two sites.</a:t>
            </a:r>
            <a:endParaRPr lang="en-US" sz="2800"/>
          </a:p>
        </p:txBody>
      </p:sp>
      <p:grpSp>
        <p:nvGrpSpPr>
          <p:cNvPr id="20485" name="Group 7"/>
          <p:cNvGrpSpPr/>
          <p:nvPr/>
        </p:nvGrpSpPr>
        <p:grpSpPr bwMode="auto">
          <a:xfrm>
            <a:off x="9296400" y="5486400"/>
            <a:ext cx="1371600" cy="1371600"/>
            <a:chOff x="4896" y="3456"/>
            <a:chExt cx="864" cy="864"/>
          </a:xfrm>
        </p:grpSpPr>
        <p:pic>
          <p:nvPicPr>
            <p:cNvPr id="20487" name="Picture 8" descr="Triangle--Gray"/>
            <p:cNvPicPr>
              <a:picLocks noChangeArrowheads="1"/>
            </p:cNvPicPr>
            <p:nvPr/>
          </p:nvPicPr>
          <p:blipFill>
            <a:blip r:embed="rId1"/>
            <a:srcRect/>
            <a:stretch>
              <a:fillRect/>
            </a:stretch>
          </p:blipFill>
          <p:spPr bwMode="auto">
            <a:xfrm>
              <a:off x="4896" y="3456"/>
              <a:ext cx="864" cy="86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20488" name="Rectangle 9"/>
            <p:cNvSpPr>
              <a:spLocks noChangeArrowheads="1"/>
            </p:cNvSpPr>
            <p:nvPr/>
          </p:nvSpPr>
          <p:spPr bwMode="auto">
            <a:xfrm>
              <a:off x="5066" y="3735"/>
              <a:ext cx="572" cy="329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sz="1400">
                  <a:latin typeface="Times New Roman" panose="02020603050405020304" pitchFamily="18" charset="0"/>
                </a:rPr>
                <a:t>Transition</a:t>
              </a:r>
              <a:endParaRPr lang="en-US" sz="1400">
                <a:latin typeface="Times New Roman" panose="02020603050405020304" pitchFamily="18" charset="0"/>
              </a:endParaRPr>
            </a:p>
            <a:p>
              <a:pPr algn="ctr"/>
              <a:r>
                <a:rPr lang="en-US" sz="1400">
                  <a:latin typeface="Times New Roman" panose="02020603050405020304" pitchFamily="18" charset="0"/>
                </a:rPr>
                <a:t>Metals</a:t>
              </a:r>
              <a:endParaRPr lang="en-US" sz="1400">
                <a:latin typeface="Times New Roman" panose="02020603050405020304" pitchFamily="18" charset="0"/>
              </a:endParaRPr>
            </a:p>
          </p:txBody>
        </p:sp>
      </p:grpSp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528"/>
          <a:stretch>
            <a:fillRect/>
          </a:stretch>
        </p:blipFill>
        <p:spPr>
          <a:xfrm>
            <a:off x="3585279" y="2895600"/>
            <a:ext cx="5021441" cy="3733800"/>
          </a:xfrm>
          <a:prstGeom prst="rect">
            <a:avLst/>
          </a:prstGeom>
        </p:spPr>
      </p:pic>
    </p:spTree>
  </p:cSld>
  <p:clrMapOvr>
    <a:masterClrMapping/>
  </p:clrMapOvr>
  <p:transition spd="slow"/>
</p:sld>
</file>

<file path=ppt/slides/slide1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Chelates</a:t>
            </a:r>
            <a:endParaRPr lang="en-US"/>
          </a:p>
        </p:txBody>
      </p:sp>
      <p:sp>
        <p:nvSpPr>
          <p:cNvPr id="21507" name="Rectangle 4"/>
          <p:cNvSpPr>
            <a:spLocks noGrp="1" noChangeArrowheads="1"/>
          </p:cNvSpPr>
          <p:nvPr>
            <p:ph type="body" sz="half" idx="2"/>
          </p:nvPr>
        </p:nvSpPr>
        <p:spPr>
          <a:xfrm>
            <a:off x="1524000" y="1400175"/>
            <a:ext cx="5534025" cy="4619625"/>
          </a:xfrm>
        </p:spPr>
        <p:txBody>
          <a:bodyPr/>
          <a:lstStyle/>
          <a:p>
            <a:pPr eaLnBrk="1" hangingPunct="1"/>
            <a:r>
              <a:rPr lang="en-US" sz="2800"/>
              <a:t>Bidentate and polydentate ligands are also called </a:t>
            </a:r>
            <a:r>
              <a:rPr lang="en-US" sz="2800" b="1"/>
              <a:t>chelating agents</a:t>
            </a:r>
            <a:r>
              <a:rPr lang="en-US" sz="2800"/>
              <a:t>.</a:t>
            </a:r>
            <a:endParaRPr lang="en-US" sz="2800"/>
          </a:p>
          <a:p>
            <a:pPr eaLnBrk="1" hangingPunct="1"/>
            <a:r>
              <a:rPr lang="en-US" sz="2800"/>
              <a:t>There are many transition metals that are vital to </a:t>
            </a:r>
            <a:br>
              <a:rPr lang="en-US" sz="2800"/>
            </a:br>
            <a:r>
              <a:rPr lang="en-US" sz="2800"/>
              <a:t>human life.</a:t>
            </a:r>
            <a:endParaRPr lang="en-US" sz="2800"/>
          </a:p>
          <a:p>
            <a:pPr eaLnBrk="1" hangingPunct="1"/>
            <a:r>
              <a:rPr lang="en-US" sz="2800"/>
              <a:t>Several of these are bound </a:t>
            </a:r>
            <a:br>
              <a:rPr lang="en-US" sz="2800"/>
            </a:br>
            <a:r>
              <a:rPr lang="en-US" sz="2800"/>
              <a:t>to chelating agents.</a:t>
            </a:r>
            <a:endParaRPr lang="en-US" sz="2800"/>
          </a:p>
          <a:p>
            <a:pPr eaLnBrk="1" hangingPunct="1">
              <a:buFontTx/>
              <a:buNone/>
            </a:pPr>
            <a:endParaRPr lang="en-US" sz="2800"/>
          </a:p>
        </p:txBody>
      </p:sp>
      <p:grpSp>
        <p:nvGrpSpPr>
          <p:cNvPr id="21509" name="Group 7"/>
          <p:cNvGrpSpPr/>
          <p:nvPr/>
        </p:nvGrpSpPr>
        <p:grpSpPr bwMode="auto">
          <a:xfrm>
            <a:off x="9296400" y="5486400"/>
            <a:ext cx="1371600" cy="1371600"/>
            <a:chOff x="4896" y="3456"/>
            <a:chExt cx="864" cy="864"/>
          </a:xfrm>
        </p:grpSpPr>
        <p:pic>
          <p:nvPicPr>
            <p:cNvPr id="21512" name="Picture 8" descr="Triangle--Gray"/>
            <p:cNvPicPr>
              <a:picLocks noChangeArrowheads="1"/>
            </p:cNvPicPr>
            <p:nvPr/>
          </p:nvPicPr>
          <p:blipFill>
            <a:blip r:embed="rId1"/>
            <a:srcRect/>
            <a:stretch>
              <a:fillRect/>
            </a:stretch>
          </p:blipFill>
          <p:spPr bwMode="auto">
            <a:xfrm>
              <a:off x="4896" y="3456"/>
              <a:ext cx="864" cy="86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21513" name="Rectangle 9"/>
            <p:cNvSpPr>
              <a:spLocks noChangeArrowheads="1"/>
            </p:cNvSpPr>
            <p:nvPr/>
          </p:nvSpPr>
          <p:spPr bwMode="auto">
            <a:xfrm>
              <a:off x="5066" y="3735"/>
              <a:ext cx="572" cy="329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sz="1400">
                  <a:latin typeface="Times New Roman" panose="02020603050405020304" pitchFamily="18" charset="0"/>
                </a:rPr>
                <a:t>Transition</a:t>
              </a:r>
              <a:endParaRPr lang="en-US" sz="1400">
                <a:latin typeface="Times New Roman" panose="02020603050405020304" pitchFamily="18" charset="0"/>
              </a:endParaRPr>
            </a:p>
            <a:p>
              <a:pPr algn="ctr"/>
              <a:r>
                <a:rPr lang="en-US" sz="1400">
                  <a:latin typeface="Times New Roman" panose="02020603050405020304" pitchFamily="18" charset="0"/>
                </a:rPr>
                <a:t>Metals</a:t>
              </a:r>
              <a:endParaRPr lang="en-US" sz="1400">
                <a:latin typeface="Times New Roman" panose="02020603050405020304" pitchFamily="18" charset="0"/>
              </a:endParaRPr>
            </a:p>
          </p:txBody>
        </p:sp>
      </p:grpSp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2989" b="4635"/>
          <a:stretch>
            <a:fillRect/>
          </a:stretch>
        </p:blipFill>
        <p:spPr>
          <a:xfrm>
            <a:off x="6371936" y="1371601"/>
            <a:ext cx="4114800" cy="190500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6"/>
          <a:stretch>
            <a:fillRect/>
          </a:stretch>
        </p:blipFill>
        <p:spPr>
          <a:xfrm>
            <a:off x="6381460" y="3369808"/>
            <a:ext cx="2914939" cy="3134148"/>
          </a:xfrm>
          <a:prstGeom prst="rect">
            <a:avLst/>
          </a:prstGeom>
        </p:spPr>
      </p:pic>
    </p:spTree>
  </p:cSld>
  <p:clrMapOvr>
    <a:masterClrMapping/>
  </p:clrMapOvr>
  <p:transition spd="slow"/>
</p:sld>
</file>

<file path=ppt/slides/slide1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Nomenclature Rules for Coordination Chemistry</a:t>
            </a:r>
            <a:endParaRPr lang="en-US"/>
          </a:p>
        </p:txBody>
      </p:sp>
      <p:sp>
        <p:nvSpPr>
          <p:cNvPr id="23555" name="Rectangle 4"/>
          <p:cNvSpPr>
            <a:spLocks noGrp="1" noChangeArrowheads="1"/>
          </p:cNvSpPr>
          <p:nvPr>
            <p:ph idx="1"/>
          </p:nvPr>
        </p:nvSpPr>
        <p:spPr>
          <a:xfrm>
            <a:off x="1752600" y="1676400"/>
            <a:ext cx="8724900" cy="4419600"/>
          </a:xfrm>
        </p:spPr>
        <p:txBody>
          <a:bodyPr/>
          <a:lstStyle/>
          <a:p>
            <a:pPr marL="533400" indent="-533400" eaLnBrk="1" hangingPunct="1">
              <a:buFontTx/>
              <a:buAutoNum type="arabicPeriod"/>
            </a:pPr>
            <a:r>
              <a:rPr lang="en-US" sz="2800"/>
              <a:t>In naming complexes that are salts, the name of the cation is given before the name of the anion.</a:t>
            </a:r>
            <a:endParaRPr lang="en-US" sz="2800"/>
          </a:p>
          <a:p>
            <a:pPr marL="533400" indent="-533400" eaLnBrk="1" hangingPunct="1">
              <a:buFontTx/>
              <a:buAutoNum type="arabicPeriod"/>
            </a:pPr>
            <a:r>
              <a:rPr lang="en-US" sz="2800"/>
              <a:t>In naming complex ions or molecules, the ligands are named before the metal. Ligands are listed in alphabetical order, regardless of their charges. </a:t>
            </a:r>
            <a:endParaRPr lang="en-US" sz="2800"/>
          </a:p>
          <a:p>
            <a:pPr marL="533400" indent="-533400" eaLnBrk="1" hangingPunct="1">
              <a:buFontTx/>
              <a:buAutoNum type="arabicPeriod"/>
            </a:pPr>
            <a:endParaRPr lang="en-US" sz="2800"/>
          </a:p>
        </p:txBody>
      </p:sp>
      <p:grpSp>
        <p:nvGrpSpPr>
          <p:cNvPr id="23557" name="Group 6"/>
          <p:cNvGrpSpPr/>
          <p:nvPr/>
        </p:nvGrpSpPr>
        <p:grpSpPr bwMode="auto">
          <a:xfrm>
            <a:off x="9296400" y="5486400"/>
            <a:ext cx="1371600" cy="1371600"/>
            <a:chOff x="4896" y="3456"/>
            <a:chExt cx="864" cy="864"/>
          </a:xfrm>
        </p:grpSpPr>
        <p:pic>
          <p:nvPicPr>
            <p:cNvPr id="23559" name="Picture 7" descr="Triangle--Gray"/>
            <p:cNvPicPr>
              <a:picLocks noChangeArrowheads="1"/>
            </p:cNvPicPr>
            <p:nvPr/>
          </p:nvPicPr>
          <p:blipFill>
            <a:blip r:embed="rId1"/>
            <a:srcRect/>
            <a:stretch>
              <a:fillRect/>
            </a:stretch>
          </p:blipFill>
          <p:spPr bwMode="auto">
            <a:xfrm>
              <a:off x="4896" y="3456"/>
              <a:ext cx="864" cy="86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23560" name="Rectangle 8"/>
            <p:cNvSpPr>
              <a:spLocks noChangeArrowheads="1"/>
            </p:cNvSpPr>
            <p:nvPr/>
          </p:nvSpPr>
          <p:spPr bwMode="auto">
            <a:xfrm>
              <a:off x="5066" y="3735"/>
              <a:ext cx="572" cy="329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sz="1400">
                  <a:latin typeface="Times New Roman" panose="02020603050405020304" pitchFamily="18" charset="0"/>
                </a:rPr>
                <a:t>Transition</a:t>
              </a:r>
              <a:endParaRPr lang="en-US" sz="1400">
                <a:latin typeface="Times New Roman" panose="02020603050405020304" pitchFamily="18" charset="0"/>
              </a:endParaRPr>
            </a:p>
            <a:p>
              <a:pPr algn="ctr"/>
              <a:r>
                <a:rPr lang="en-US" sz="1400">
                  <a:latin typeface="Times New Roman" panose="02020603050405020304" pitchFamily="18" charset="0"/>
                </a:rPr>
                <a:t>Metals</a:t>
              </a:r>
              <a:endParaRPr lang="en-US" sz="1400">
                <a:latin typeface="Times New Roman" panose="02020603050405020304" pitchFamily="18" charset="0"/>
              </a:endParaRPr>
            </a:p>
          </p:txBody>
        </p:sp>
      </p:grpSp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147"/>
          <a:stretch>
            <a:fillRect/>
          </a:stretch>
        </p:blipFill>
        <p:spPr>
          <a:xfrm>
            <a:off x="1905000" y="4282508"/>
            <a:ext cx="4114800" cy="1184842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7170"/>
          <a:stretch>
            <a:fillRect/>
          </a:stretch>
        </p:blipFill>
        <p:spPr>
          <a:xfrm>
            <a:off x="6238875" y="4249171"/>
            <a:ext cx="4267200" cy="1114807"/>
          </a:xfrm>
          <a:prstGeom prst="rect">
            <a:avLst/>
          </a:prstGeom>
        </p:spPr>
      </p:pic>
    </p:spTree>
  </p:cSld>
  <p:clrMapOvr>
    <a:masterClrMapping/>
  </p:clrMapOvr>
  <p:transition spd="slow"/>
</p:sld>
</file>

<file path=ppt/slides/slide1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Nomenclature Rules</a:t>
            </a:r>
            <a:endParaRPr lang="en-US"/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2057400" y="1371600"/>
            <a:ext cx="7772400" cy="1981200"/>
          </a:xfrm>
        </p:spPr>
        <p:txBody>
          <a:bodyPr/>
          <a:lstStyle/>
          <a:p>
            <a:pPr marL="533400" indent="-533400" eaLnBrk="1" hangingPunct="1">
              <a:buFontTx/>
              <a:buAutoNum type="arabicPeriod" startAt="3"/>
            </a:pPr>
            <a:r>
              <a:rPr lang="en-US" sz="2800"/>
              <a:t>The names of anionic ligands end in the letter </a:t>
            </a:r>
            <a:r>
              <a:rPr lang="en-US" sz="2800" i="1"/>
              <a:t>o</a:t>
            </a:r>
            <a:r>
              <a:rPr lang="en-US" sz="2800"/>
              <a:t>, but electrically neutral ligands ordinarily bear the name of the molecules (exceptions: ammonia, water, CO).</a:t>
            </a:r>
            <a:endParaRPr lang="en-US" sz="2800"/>
          </a:p>
        </p:txBody>
      </p:sp>
      <p:grpSp>
        <p:nvGrpSpPr>
          <p:cNvPr id="24581" name="Group 7"/>
          <p:cNvGrpSpPr/>
          <p:nvPr/>
        </p:nvGrpSpPr>
        <p:grpSpPr bwMode="auto">
          <a:xfrm>
            <a:off x="9296400" y="5486400"/>
            <a:ext cx="1371600" cy="1371600"/>
            <a:chOff x="4896" y="3456"/>
            <a:chExt cx="864" cy="864"/>
          </a:xfrm>
        </p:grpSpPr>
        <p:pic>
          <p:nvPicPr>
            <p:cNvPr id="24583" name="Picture 8" descr="Triangle--Gray"/>
            <p:cNvPicPr>
              <a:picLocks noChangeArrowheads="1"/>
            </p:cNvPicPr>
            <p:nvPr/>
          </p:nvPicPr>
          <p:blipFill>
            <a:blip r:embed="rId1"/>
            <a:srcRect/>
            <a:stretch>
              <a:fillRect/>
            </a:stretch>
          </p:blipFill>
          <p:spPr bwMode="auto">
            <a:xfrm>
              <a:off x="4896" y="3456"/>
              <a:ext cx="864" cy="86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24584" name="Rectangle 9"/>
            <p:cNvSpPr>
              <a:spLocks noChangeArrowheads="1"/>
            </p:cNvSpPr>
            <p:nvPr/>
          </p:nvSpPr>
          <p:spPr bwMode="auto">
            <a:xfrm>
              <a:off x="5066" y="3735"/>
              <a:ext cx="572" cy="329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sz="1400">
                  <a:latin typeface="Times New Roman" panose="02020603050405020304" pitchFamily="18" charset="0"/>
                </a:rPr>
                <a:t>Transition</a:t>
              </a:r>
              <a:endParaRPr lang="en-US" sz="1400">
                <a:latin typeface="Times New Roman" panose="02020603050405020304" pitchFamily="18" charset="0"/>
              </a:endParaRPr>
            </a:p>
            <a:p>
              <a:pPr algn="ctr"/>
              <a:r>
                <a:rPr lang="en-US" sz="1400">
                  <a:latin typeface="Times New Roman" panose="02020603050405020304" pitchFamily="18" charset="0"/>
                </a:rPr>
                <a:t>Metals</a:t>
              </a:r>
              <a:endParaRPr lang="en-US" sz="1400">
                <a:latin typeface="Times New Roman" panose="02020603050405020304" pitchFamily="18" charset="0"/>
              </a:endParaRPr>
            </a:p>
          </p:txBody>
        </p:sp>
      </p:grpSp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613"/>
          <a:stretch>
            <a:fillRect/>
          </a:stretch>
        </p:blipFill>
        <p:spPr>
          <a:xfrm>
            <a:off x="3190147" y="3296576"/>
            <a:ext cx="5811706" cy="2494623"/>
          </a:xfrm>
          <a:prstGeom prst="rect">
            <a:avLst/>
          </a:prstGeom>
        </p:spPr>
      </p:pic>
    </p:spTree>
  </p:cSld>
  <p:clrMapOvr>
    <a:masterClrMapping/>
  </p:clrMapOvr>
  <p:transition spd="slow"/>
</p:sld>
</file>

<file path=ppt/slides/slide1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title"/>
          </p:nvPr>
        </p:nvSpPr>
        <p:spPr>
          <a:xfrm>
            <a:off x="1524000" y="14288"/>
            <a:ext cx="9144000" cy="1143000"/>
          </a:xfrm>
        </p:spPr>
        <p:txBody>
          <a:bodyPr/>
          <a:lstStyle/>
          <a:p>
            <a:pPr eaLnBrk="1" hangingPunct="1"/>
            <a:r>
              <a:rPr lang="en-US"/>
              <a:t>Nomenclature Rules</a:t>
            </a:r>
            <a:endParaRPr lang="en-US"/>
          </a:p>
        </p:txBody>
      </p:sp>
      <p:sp>
        <p:nvSpPr>
          <p:cNvPr id="2560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524000" y="1066800"/>
            <a:ext cx="9144000" cy="4648200"/>
          </a:xfrm>
        </p:spPr>
        <p:txBody>
          <a:bodyPr/>
          <a:lstStyle/>
          <a:p>
            <a:pPr marL="609600" indent="-609600" eaLnBrk="1" hangingPunct="1">
              <a:buFontTx/>
              <a:buAutoNum type="arabicPeriod" startAt="4"/>
            </a:pPr>
            <a:r>
              <a:rPr lang="en-US" sz="2800"/>
              <a:t>Greek prefixes (</a:t>
            </a:r>
            <a:r>
              <a:rPr lang="en-US" sz="2800" i="1"/>
              <a:t>di-</a:t>
            </a:r>
            <a:r>
              <a:rPr lang="en-US" sz="2800"/>
              <a:t>, </a:t>
            </a:r>
            <a:r>
              <a:rPr lang="en-US" sz="2800" i="1"/>
              <a:t>tri-</a:t>
            </a:r>
            <a:r>
              <a:rPr lang="en-US" sz="2800"/>
              <a:t>, </a:t>
            </a:r>
            <a:r>
              <a:rPr lang="en-US" sz="2800" i="1"/>
              <a:t>tetra-</a:t>
            </a:r>
            <a:r>
              <a:rPr lang="en-US" sz="2800"/>
              <a:t>, etc.) are used to indicate the number of each kind of ligand when more than one is present. If the ligand contains a Greek prefix or is polydentate, the prefixes </a:t>
            </a:r>
            <a:r>
              <a:rPr lang="en-US" sz="2800" i="1"/>
              <a:t>bis-</a:t>
            </a:r>
            <a:r>
              <a:rPr lang="en-US" sz="2800"/>
              <a:t>, </a:t>
            </a:r>
            <a:r>
              <a:rPr lang="en-US" sz="2800" i="1"/>
              <a:t>tris-</a:t>
            </a:r>
            <a:r>
              <a:rPr lang="en-US" sz="2800"/>
              <a:t>, </a:t>
            </a:r>
            <a:r>
              <a:rPr lang="en-US" sz="2800" i="1"/>
              <a:t>tetrakis-</a:t>
            </a:r>
            <a:r>
              <a:rPr lang="en-US" sz="2800"/>
              <a:t>, etc. are used and the ligand name is placed in parentheses.</a:t>
            </a:r>
            <a:endParaRPr lang="en-US" sz="2800"/>
          </a:p>
          <a:p>
            <a:pPr marL="609600" indent="-609600" eaLnBrk="1" hangingPunct="1">
              <a:buFontTx/>
              <a:buAutoNum type="arabicPeriod" startAt="5"/>
            </a:pPr>
            <a:r>
              <a:rPr lang="en-US" sz="2800"/>
              <a:t>If the complex is an anion, its name ends in </a:t>
            </a:r>
            <a:r>
              <a:rPr lang="en-US" sz="2800" i="1"/>
              <a:t>-ate</a:t>
            </a:r>
            <a:r>
              <a:rPr lang="en-US" sz="2800"/>
              <a:t>.</a:t>
            </a:r>
            <a:endParaRPr lang="en-US" sz="2800"/>
          </a:p>
          <a:p>
            <a:pPr marL="609600" indent="-609600" eaLnBrk="1" hangingPunct="1">
              <a:buFontTx/>
              <a:buAutoNum type="arabicPeriod" startAt="5"/>
            </a:pPr>
            <a:r>
              <a:rPr lang="en-US" sz="2800"/>
              <a:t>The oxidation number of the metal is given in parentheses in Roman numerals following the name of the metal.</a:t>
            </a:r>
            <a:endParaRPr lang="en-US" sz="2800"/>
          </a:p>
        </p:txBody>
      </p:sp>
      <p:grpSp>
        <p:nvGrpSpPr>
          <p:cNvPr id="25605" name="Group 5"/>
          <p:cNvGrpSpPr/>
          <p:nvPr/>
        </p:nvGrpSpPr>
        <p:grpSpPr bwMode="auto">
          <a:xfrm>
            <a:off x="9296400" y="5486400"/>
            <a:ext cx="1371600" cy="1371600"/>
            <a:chOff x="4896" y="3456"/>
            <a:chExt cx="864" cy="864"/>
          </a:xfrm>
        </p:grpSpPr>
        <p:pic>
          <p:nvPicPr>
            <p:cNvPr id="25606" name="Picture 6" descr="Triangle--Gray"/>
            <p:cNvPicPr>
              <a:picLocks noChangeArrowheads="1"/>
            </p:cNvPicPr>
            <p:nvPr/>
          </p:nvPicPr>
          <p:blipFill>
            <a:blip r:embed="rId1"/>
            <a:srcRect/>
            <a:stretch>
              <a:fillRect/>
            </a:stretch>
          </p:blipFill>
          <p:spPr bwMode="auto">
            <a:xfrm>
              <a:off x="4896" y="3456"/>
              <a:ext cx="864" cy="86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25607" name="Rectangle 7"/>
            <p:cNvSpPr>
              <a:spLocks noChangeArrowheads="1"/>
            </p:cNvSpPr>
            <p:nvPr/>
          </p:nvSpPr>
          <p:spPr bwMode="auto">
            <a:xfrm>
              <a:off x="5066" y="3735"/>
              <a:ext cx="572" cy="329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sz="1400">
                  <a:latin typeface="Times New Roman" panose="02020603050405020304" pitchFamily="18" charset="0"/>
                </a:rPr>
                <a:t>Transition</a:t>
              </a:r>
              <a:endParaRPr lang="en-US" sz="1400">
                <a:latin typeface="Times New Roman" panose="02020603050405020304" pitchFamily="18" charset="0"/>
              </a:endParaRPr>
            </a:p>
            <a:p>
              <a:pPr algn="ctr"/>
              <a:r>
                <a:rPr lang="en-US" sz="1400">
                  <a:latin typeface="Times New Roman" panose="02020603050405020304" pitchFamily="18" charset="0"/>
                </a:rPr>
                <a:t>Metals</a:t>
              </a:r>
              <a:endParaRPr lang="en-US" sz="1400">
                <a:latin typeface="Times New Roman" panose="02020603050405020304" pitchFamily="18" charset="0"/>
              </a:endParaRPr>
            </a:p>
          </p:txBody>
        </p:sp>
      </p:grpSp>
    </p:spTree>
  </p:cSld>
  <p:clrMapOvr>
    <a:masterClrMapping/>
  </p:clrMapOvr>
  <p:transition spd="slow"/>
</p:sld>
</file>

<file path=ppt/slides/slide1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Nomenclature Examples</a:t>
            </a:r>
            <a:endParaRPr lang="en-US"/>
          </a:p>
        </p:txBody>
      </p:sp>
      <p:sp>
        <p:nvSpPr>
          <p:cNvPr id="266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676400" y="1827213"/>
            <a:ext cx="8801100" cy="2668587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Char char="Ø"/>
            </a:pPr>
            <a:r>
              <a:rPr lang="en-US" sz="2800"/>
              <a:t>[Ni(NH</a:t>
            </a:r>
            <a:r>
              <a:rPr lang="en-US" sz="2800" baseline="-25000"/>
              <a:t>3</a:t>
            </a:r>
            <a:r>
              <a:rPr lang="en-US" sz="2800"/>
              <a:t>)</a:t>
            </a:r>
            <a:r>
              <a:rPr lang="en-US" sz="2800" baseline="-25000"/>
              <a:t>6</a:t>
            </a:r>
            <a:r>
              <a:rPr lang="en-US" sz="2800"/>
              <a:t>]Br</a:t>
            </a:r>
            <a:r>
              <a:rPr lang="en-US" sz="2800" baseline="-25000"/>
              <a:t>2</a:t>
            </a:r>
            <a:r>
              <a:rPr lang="en-US" sz="2800"/>
              <a:t> = hexaamminenickel(II) bromide</a:t>
            </a:r>
            <a:endParaRPr lang="en-US" sz="2800"/>
          </a:p>
          <a:p>
            <a:pPr eaLnBrk="1" hangingPunct="1">
              <a:buFont typeface="Wingdings" panose="05000000000000000000" pitchFamily="2" charset="2"/>
              <a:buChar char="Ø"/>
            </a:pPr>
            <a:r>
              <a:rPr lang="en-US" sz="2800"/>
              <a:t>Na</a:t>
            </a:r>
            <a:r>
              <a:rPr lang="en-US" sz="2800" baseline="-25000"/>
              <a:t>2</a:t>
            </a:r>
            <a:r>
              <a:rPr lang="en-US" sz="2800"/>
              <a:t>[MoOCl</a:t>
            </a:r>
            <a:r>
              <a:rPr lang="en-US" sz="2800" baseline="-25000"/>
              <a:t>4</a:t>
            </a:r>
            <a:r>
              <a:rPr lang="en-US" sz="2800"/>
              <a:t>] = sodium tetrachlorooxomolybdate(IV)</a:t>
            </a:r>
            <a:endParaRPr lang="en-US" sz="2800"/>
          </a:p>
          <a:p>
            <a:pPr eaLnBrk="1" hangingPunct="1">
              <a:buFont typeface="Wingdings" panose="05000000000000000000" pitchFamily="2" charset="2"/>
              <a:buChar char="Ø"/>
            </a:pPr>
            <a:r>
              <a:rPr lang="en-US" sz="2800"/>
              <a:t>[Co(en)</a:t>
            </a:r>
            <a:r>
              <a:rPr lang="en-US" sz="2800" baseline="-25000"/>
              <a:t>2</a:t>
            </a:r>
            <a:r>
              <a:rPr lang="en-US" sz="2800"/>
              <a:t>(H</a:t>
            </a:r>
            <a:r>
              <a:rPr lang="en-US" sz="2800" baseline="-25000"/>
              <a:t>2</a:t>
            </a:r>
            <a:r>
              <a:rPr lang="en-US" sz="2800"/>
              <a:t>O)(CN)]Cl</a:t>
            </a:r>
            <a:r>
              <a:rPr lang="en-US" sz="2800" baseline="-25000"/>
              <a:t>2</a:t>
            </a:r>
            <a:r>
              <a:rPr lang="en-US" sz="2800"/>
              <a:t> = aquacyanobis(ethylenediamine)cobalt(III) chloride</a:t>
            </a:r>
            <a:endParaRPr lang="en-US" sz="2800"/>
          </a:p>
        </p:txBody>
      </p:sp>
      <p:grpSp>
        <p:nvGrpSpPr>
          <p:cNvPr id="26629" name="Group 5"/>
          <p:cNvGrpSpPr/>
          <p:nvPr/>
        </p:nvGrpSpPr>
        <p:grpSpPr bwMode="auto">
          <a:xfrm>
            <a:off x="9296400" y="5486400"/>
            <a:ext cx="1371600" cy="1371600"/>
            <a:chOff x="4896" y="3456"/>
            <a:chExt cx="864" cy="864"/>
          </a:xfrm>
        </p:grpSpPr>
        <p:pic>
          <p:nvPicPr>
            <p:cNvPr id="26630" name="Picture 6" descr="Triangle--Gray"/>
            <p:cNvPicPr>
              <a:picLocks noChangeArrowheads="1"/>
            </p:cNvPicPr>
            <p:nvPr/>
          </p:nvPicPr>
          <p:blipFill>
            <a:blip r:embed="rId1"/>
            <a:srcRect/>
            <a:stretch>
              <a:fillRect/>
            </a:stretch>
          </p:blipFill>
          <p:spPr bwMode="auto">
            <a:xfrm>
              <a:off x="4896" y="3456"/>
              <a:ext cx="864" cy="86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26631" name="Rectangle 7"/>
            <p:cNvSpPr>
              <a:spLocks noChangeArrowheads="1"/>
            </p:cNvSpPr>
            <p:nvPr/>
          </p:nvSpPr>
          <p:spPr bwMode="auto">
            <a:xfrm>
              <a:off x="5066" y="3735"/>
              <a:ext cx="572" cy="329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sz="1400">
                  <a:latin typeface="Times New Roman" panose="02020603050405020304" pitchFamily="18" charset="0"/>
                </a:rPr>
                <a:t>Transition</a:t>
              </a:r>
              <a:endParaRPr lang="en-US" sz="1400">
                <a:latin typeface="Times New Roman" panose="02020603050405020304" pitchFamily="18" charset="0"/>
              </a:endParaRPr>
            </a:p>
            <a:p>
              <a:pPr algn="ctr"/>
              <a:r>
                <a:rPr lang="en-US" sz="1400">
                  <a:latin typeface="Times New Roman" panose="02020603050405020304" pitchFamily="18" charset="0"/>
                </a:rPr>
                <a:t>Metals</a:t>
              </a:r>
              <a:endParaRPr lang="en-US" sz="1400">
                <a:latin typeface="Times New Roman" panose="02020603050405020304" pitchFamily="18" charset="0"/>
              </a:endParaRPr>
            </a:p>
          </p:txBody>
        </p:sp>
      </p:grpSp>
    </p:spTree>
  </p:cSld>
  <p:clrMapOvr>
    <a:masterClrMapping/>
  </p:clrMapOvr>
  <p:transition spd="slow"/>
</p:sld>
</file>

<file path=ppt/slides/slide1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ChangeArrowheads="1"/>
          </p:cNvSpPr>
          <p:nvPr>
            <p:ph type="title"/>
          </p:nvPr>
        </p:nvSpPr>
        <p:spPr>
          <a:xfrm>
            <a:off x="1550988" y="0"/>
            <a:ext cx="9144000" cy="1143000"/>
          </a:xfrm>
        </p:spPr>
        <p:txBody>
          <a:bodyPr/>
          <a:lstStyle/>
          <a:p>
            <a:pPr eaLnBrk="1" hangingPunct="1"/>
            <a:r>
              <a:rPr lang="en-US"/>
              <a:t>Isomers</a:t>
            </a:r>
            <a:endParaRPr lang="en-US"/>
          </a:p>
        </p:txBody>
      </p:sp>
      <p:sp>
        <p:nvSpPr>
          <p:cNvPr id="27651" name="Rectangle 4"/>
          <p:cNvSpPr>
            <a:spLocks noGrp="1" noChangeArrowheads="1"/>
          </p:cNvSpPr>
          <p:nvPr>
            <p:ph type="body" sz="half" idx="2"/>
          </p:nvPr>
        </p:nvSpPr>
        <p:spPr>
          <a:xfrm>
            <a:off x="1524000" y="914400"/>
            <a:ext cx="9144000" cy="2700338"/>
          </a:xfrm>
        </p:spPr>
        <p:txBody>
          <a:bodyPr/>
          <a:lstStyle/>
          <a:p>
            <a:pPr eaLnBrk="1" hangingPunct="1"/>
            <a:r>
              <a:rPr lang="en-US" sz="2800" b="1"/>
              <a:t>Isomers</a:t>
            </a:r>
            <a:r>
              <a:rPr lang="en-US" sz="2800"/>
              <a:t> have the same molecular formula but a different arrangement of atoms.</a:t>
            </a:r>
            <a:endParaRPr lang="en-US" sz="2800"/>
          </a:p>
          <a:p>
            <a:pPr eaLnBrk="1" hangingPunct="1"/>
            <a:r>
              <a:rPr lang="en-US" sz="2800"/>
              <a:t>There are two main subgroupings: </a:t>
            </a:r>
            <a:r>
              <a:rPr lang="en-US" sz="2800" b="1"/>
              <a:t>structural isomers</a:t>
            </a:r>
            <a:r>
              <a:rPr lang="en-US" sz="2800"/>
              <a:t> (same molecular formula but different connections of atoms) and </a:t>
            </a:r>
            <a:r>
              <a:rPr lang="en-US" sz="2800" b="1"/>
              <a:t>stereoisomers</a:t>
            </a:r>
            <a:r>
              <a:rPr lang="en-US" sz="2800"/>
              <a:t> (same connections of atoms, but different three-dimensional orientations). </a:t>
            </a:r>
            <a:endParaRPr lang="en-US" sz="2800"/>
          </a:p>
        </p:txBody>
      </p:sp>
      <p:grpSp>
        <p:nvGrpSpPr>
          <p:cNvPr id="27653" name="Group 7"/>
          <p:cNvGrpSpPr/>
          <p:nvPr/>
        </p:nvGrpSpPr>
        <p:grpSpPr bwMode="auto">
          <a:xfrm>
            <a:off x="9296400" y="5486400"/>
            <a:ext cx="1371600" cy="1371600"/>
            <a:chOff x="4896" y="3456"/>
            <a:chExt cx="864" cy="864"/>
          </a:xfrm>
        </p:grpSpPr>
        <p:pic>
          <p:nvPicPr>
            <p:cNvPr id="27655" name="Picture 8" descr="Triangle--Gray"/>
            <p:cNvPicPr>
              <a:picLocks noChangeArrowheads="1"/>
            </p:cNvPicPr>
            <p:nvPr/>
          </p:nvPicPr>
          <p:blipFill>
            <a:blip r:embed="rId1"/>
            <a:srcRect/>
            <a:stretch>
              <a:fillRect/>
            </a:stretch>
          </p:blipFill>
          <p:spPr bwMode="auto">
            <a:xfrm>
              <a:off x="4896" y="3456"/>
              <a:ext cx="864" cy="86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27656" name="Rectangle 9"/>
            <p:cNvSpPr>
              <a:spLocks noChangeArrowheads="1"/>
            </p:cNvSpPr>
            <p:nvPr/>
          </p:nvSpPr>
          <p:spPr bwMode="auto">
            <a:xfrm>
              <a:off x="5066" y="3735"/>
              <a:ext cx="572" cy="329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sz="1400">
                  <a:latin typeface="Times New Roman" panose="02020603050405020304" pitchFamily="18" charset="0"/>
                </a:rPr>
                <a:t>Transition</a:t>
              </a:r>
              <a:endParaRPr lang="en-US" sz="1400">
                <a:latin typeface="Times New Roman" panose="02020603050405020304" pitchFamily="18" charset="0"/>
              </a:endParaRPr>
            </a:p>
            <a:p>
              <a:pPr algn="ctr"/>
              <a:r>
                <a:rPr lang="en-US" sz="1400">
                  <a:latin typeface="Times New Roman" panose="02020603050405020304" pitchFamily="18" charset="0"/>
                </a:rPr>
                <a:t>Metals</a:t>
              </a:r>
              <a:endParaRPr lang="en-US" sz="1400">
                <a:latin typeface="Times New Roman" panose="02020603050405020304" pitchFamily="18" charset="0"/>
              </a:endParaRPr>
            </a:p>
          </p:txBody>
        </p:sp>
      </p:grpSp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905"/>
          <a:stretch>
            <a:fillRect/>
          </a:stretch>
        </p:blipFill>
        <p:spPr>
          <a:xfrm>
            <a:off x="3131754" y="3686175"/>
            <a:ext cx="5928491" cy="2581275"/>
          </a:xfrm>
          <a:prstGeom prst="rect">
            <a:avLst/>
          </a:prstGeom>
        </p:spPr>
      </p:pic>
    </p:spTree>
  </p:cSld>
  <p:clrMapOvr>
    <a:masterClrMapping/>
  </p:clrMapOvr>
  <p:transition spd="slow"/>
</p:sld>
</file>

<file path=ppt/slides/slide1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Crystal-Field Theory</a:t>
            </a:r>
            <a:endParaRPr lang="en-US"/>
          </a:p>
        </p:txBody>
      </p:sp>
      <p:sp>
        <p:nvSpPr>
          <p:cNvPr id="36867" name="Rectangle 4"/>
          <p:cNvSpPr>
            <a:spLocks noGrp="1" noChangeArrowheads="1"/>
          </p:cNvSpPr>
          <p:nvPr>
            <p:ph type="body" sz="half" idx="2"/>
          </p:nvPr>
        </p:nvSpPr>
        <p:spPr>
          <a:xfrm>
            <a:off x="1600200" y="1219200"/>
            <a:ext cx="8991600" cy="3060700"/>
          </a:xfrm>
        </p:spPr>
        <p:txBody>
          <a:bodyPr/>
          <a:lstStyle/>
          <a:p>
            <a:pPr eaLnBrk="1" hangingPunct="1"/>
            <a:r>
              <a:rPr lang="en-US" sz="2800"/>
              <a:t>As was mentioned earlier, ligands are Lewis bases that are attracted to a Lewis acid (the metal).</a:t>
            </a:r>
            <a:endParaRPr lang="en-US" sz="2800"/>
          </a:p>
          <a:p>
            <a:pPr eaLnBrk="1" hangingPunct="1"/>
            <a:r>
              <a:rPr lang="en-US" sz="2800"/>
              <a:t>But </a:t>
            </a:r>
            <a:r>
              <a:rPr lang="en-US" sz="2800" i="1"/>
              <a:t>d</a:t>
            </a:r>
            <a:r>
              <a:rPr lang="en-US" sz="2800"/>
              <a:t> electrons on the metal would repel the ligand.</a:t>
            </a:r>
            <a:endParaRPr lang="en-US" sz="2800"/>
          </a:p>
          <a:p>
            <a:pPr eaLnBrk="1" hangingPunct="1"/>
            <a:r>
              <a:rPr lang="en-US" sz="2800"/>
              <a:t>In crystal-field theory, the approaching ligand is considered to be a point charge repelled by the electrons in a metal’s </a:t>
            </a:r>
            <a:r>
              <a:rPr lang="en-US" sz="2800" i="1"/>
              <a:t>d</a:t>
            </a:r>
            <a:r>
              <a:rPr lang="en-US" sz="2800"/>
              <a:t>-orbitals.</a:t>
            </a:r>
            <a:endParaRPr lang="en-US" sz="2800"/>
          </a:p>
        </p:txBody>
      </p:sp>
      <p:grpSp>
        <p:nvGrpSpPr>
          <p:cNvPr id="36869" name="Group 7"/>
          <p:cNvGrpSpPr/>
          <p:nvPr/>
        </p:nvGrpSpPr>
        <p:grpSpPr bwMode="auto">
          <a:xfrm>
            <a:off x="9296400" y="5486400"/>
            <a:ext cx="1371600" cy="1371600"/>
            <a:chOff x="4896" y="3456"/>
            <a:chExt cx="864" cy="864"/>
          </a:xfrm>
        </p:grpSpPr>
        <p:pic>
          <p:nvPicPr>
            <p:cNvPr id="36871" name="Picture 8" descr="Triangle--Gray"/>
            <p:cNvPicPr>
              <a:picLocks noChangeArrowheads="1"/>
            </p:cNvPicPr>
            <p:nvPr/>
          </p:nvPicPr>
          <p:blipFill>
            <a:blip r:embed="rId1"/>
            <a:srcRect/>
            <a:stretch>
              <a:fillRect/>
            </a:stretch>
          </p:blipFill>
          <p:spPr bwMode="auto">
            <a:xfrm>
              <a:off x="4896" y="3456"/>
              <a:ext cx="864" cy="86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36872" name="Rectangle 9"/>
            <p:cNvSpPr>
              <a:spLocks noChangeArrowheads="1"/>
            </p:cNvSpPr>
            <p:nvPr/>
          </p:nvSpPr>
          <p:spPr bwMode="auto">
            <a:xfrm>
              <a:off x="5066" y="3735"/>
              <a:ext cx="572" cy="329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sz="1400">
                  <a:latin typeface="Times New Roman" panose="02020603050405020304" pitchFamily="18" charset="0"/>
                </a:rPr>
                <a:t>Transition</a:t>
              </a:r>
              <a:endParaRPr lang="en-US" sz="1400">
                <a:latin typeface="Times New Roman" panose="02020603050405020304" pitchFamily="18" charset="0"/>
              </a:endParaRPr>
            </a:p>
            <a:p>
              <a:pPr algn="ctr"/>
              <a:r>
                <a:rPr lang="en-US" sz="1400">
                  <a:latin typeface="Times New Roman" panose="02020603050405020304" pitchFamily="18" charset="0"/>
                </a:rPr>
                <a:t>Metals</a:t>
              </a:r>
              <a:endParaRPr lang="en-US" sz="1400">
                <a:latin typeface="Times New Roman" panose="02020603050405020304" pitchFamily="18" charset="0"/>
              </a:endParaRPr>
            </a:p>
          </p:txBody>
        </p:sp>
      </p:grpSp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239"/>
          <a:stretch>
            <a:fillRect/>
          </a:stretch>
        </p:blipFill>
        <p:spPr>
          <a:xfrm>
            <a:off x="1981200" y="4093401"/>
            <a:ext cx="6629400" cy="2353437"/>
          </a:xfrm>
          <a:prstGeom prst="rect">
            <a:avLst/>
          </a:prstGeom>
        </p:spPr>
      </p:pic>
    </p:spTree>
  </p:cSld>
  <p:clrMapOvr>
    <a:masterClrMapping/>
  </p:clrMapOvr>
  <p:transition spd="slow"/>
</p:sld>
</file>

<file path=ppt/slides/slide1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Crystal-Field Theory</a:t>
            </a:r>
            <a:endParaRPr lang="en-US"/>
          </a:p>
        </p:txBody>
      </p:sp>
      <p:sp>
        <p:nvSpPr>
          <p:cNvPr id="37891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2209800" y="1447800"/>
            <a:ext cx="7772400" cy="1981200"/>
          </a:xfrm>
        </p:spPr>
        <p:txBody>
          <a:bodyPr/>
          <a:lstStyle/>
          <a:p>
            <a:pPr eaLnBrk="1" hangingPunct="1"/>
            <a:r>
              <a:rPr lang="en-US" sz="2800"/>
              <a:t>Therefore, the </a:t>
            </a:r>
            <a:r>
              <a:rPr lang="en-US" sz="2800" i="1"/>
              <a:t>d</a:t>
            </a:r>
            <a:r>
              <a:rPr lang="en-US" sz="2800"/>
              <a:t> orbitals on a metal in a complex would not be degenerate.</a:t>
            </a:r>
            <a:endParaRPr lang="en-US" sz="2800"/>
          </a:p>
          <a:p>
            <a:pPr eaLnBrk="1" hangingPunct="1"/>
            <a:r>
              <a:rPr lang="en-US" sz="2800"/>
              <a:t>Those that point toward ligands would be higher in energy than those that do not.</a:t>
            </a:r>
            <a:endParaRPr lang="en-US" sz="2800"/>
          </a:p>
        </p:txBody>
      </p:sp>
      <p:grpSp>
        <p:nvGrpSpPr>
          <p:cNvPr id="37893" name="Group 7"/>
          <p:cNvGrpSpPr/>
          <p:nvPr/>
        </p:nvGrpSpPr>
        <p:grpSpPr bwMode="auto">
          <a:xfrm>
            <a:off x="9296400" y="5486400"/>
            <a:ext cx="1371600" cy="1371600"/>
            <a:chOff x="4896" y="3456"/>
            <a:chExt cx="864" cy="864"/>
          </a:xfrm>
        </p:grpSpPr>
        <p:pic>
          <p:nvPicPr>
            <p:cNvPr id="37895" name="Picture 8" descr="Triangle--Gray"/>
            <p:cNvPicPr>
              <a:picLocks noChangeArrowheads="1"/>
            </p:cNvPicPr>
            <p:nvPr/>
          </p:nvPicPr>
          <p:blipFill>
            <a:blip r:embed="rId1"/>
            <a:srcRect/>
            <a:stretch>
              <a:fillRect/>
            </a:stretch>
          </p:blipFill>
          <p:spPr bwMode="auto">
            <a:xfrm>
              <a:off x="4896" y="3456"/>
              <a:ext cx="864" cy="86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37896" name="Rectangle 9"/>
            <p:cNvSpPr>
              <a:spLocks noChangeArrowheads="1"/>
            </p:cNvSpPr>
            <p:nvPr/>
          </p:nvSpPr>
          <p:spPr bwMode="auto">
            <a:xfrm>
              <a:off x="5066" y="3735"/>
              <a:ext cx="572" cy="329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sz="1400">
                  <a:latin typeface="Times New Roman" panose="02020603050405020304" pitchFamily="18" charset="0"/>
                </a:rPr>
                <a:t>Transition</a:t>
              </a:r>
              <a:endParaRPr lang="en-US" sz="1400">
                <a:latin typeface="Times New Roman" panose="02020603050405020304" pitchFamily="18" charset="0"/>
              </a:endParaRPr>
            </a:p>
            <a:p>
              <a:pPr algn="ctr"/>
              <a:r>
                <a:rPr lang="en-US" sz="1400">
                  <a:latin typeface="Times New Roman" panose="02020603050405020304" pitchFamily="18" charset="0"/>
                </a:rPr>
                <a:t>Metals</a:t>
              </a:r>
              <a:endParaRPr lang="en-US" sz="1400">
                <a:latin typeface="Times New Roman" panose="02020603050405020304" pitchFamily="18" charset="0"/>
              </a:endParaRPr>
            </a:p>
          </p:txBody>
        </p:sp>
      </p:grpSp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233"/>
          <a:stretch>
            <a:fillRect/>
          </a:stretch>
        </p:blipFill>
        <p:spPr>
          <a:xfrm>
            <a:off x="2552700" y="3529424"/>
            <a:ext cx="7086600" cy="2595151"/>
          </a:xfrm>
          <a:prstGeom prst="rect">
            <a:avLst/>
          </a:prstGeom>
        </p:spPr>
      </p:pic>
    </p:spTree>
  </p:cSld>
  <p:clrMapOvr>
    <a:masterClrMapping/>
  </p:clrMapOvr>
  <p:transition spd="slow"/>
</p:sld>
</file>

<file path=ppt/slides/slide1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Crystal-Field Theory</a:t>
            </a:r>
            <a:endParaRPr lang="en-US"/>
          </a:p>
        </p:txBody>
      </p:sp>
      <p:sp>
        <p:nvSpPr>
          <p:cNvPr id="37891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2209800" y="1447800"/>
            <a:ext cx="7772400" cy="1981200"/>
          </a:xfrm>
        </p:spPr>
        <p:txBody>
          <a:bodyPr/>
          <a:lstStyle/>
          <a:p>
            <a:pPr eaLnBrk="1" hangingPunct="1"/>
            <a:r>
              <a:rPr lang="en-US" sz="2800"/>
              <a:t>Therefore, the </a:t>
            </a:r>
            <a:r>
              <a:rPr lang="en-US" sz="2800" i="1"/>
              <a:t>d</a:t>
            </a:r>
            <a:r>
              <a:rPr lang="en-US" sz="2800"/>
              <a:t> orbitals on a metal in a complex would not be degenerate.</a:t>
            </a:r>
            <a:endParaRPr lang="en-US" sz="2800"/>
          </a:p>
          <a:p>
            <a:pPr eaLnBrk="1" hangingPunct="1"/>
            <a:r>
              <a:rPr lang="en-US" sz="2800"/>
              <a:t>Those that point toward ligands would be higher in energy than those that do not.</a:t>
            </a:r>
            <a:endParaRPr lang="en-US" sz="2800"/>
          </a:p>
        </p:txBody>
      </p:sp>
      <p:grpSp>
        <p:nvGrpSpPr>
          <p:cNvPr id="37893" name="Group 7"/>
          <p:cNvGrpSpPr/>
          <p:nvPr/>
        </p:nvGrpSpPr>
        <p:grpSpPr bwMode="auto">
          <a:xfrm>
            <a:off x="9296400" y="5486400"/>
            <a:ext cx="1371600" cy="1371600"/>
            <a:chOff x="4896" y="3456"/>
            <a:chExt cx="864" cy="864"/>
          </a:xfrm>
        </p:grpSpPr>
        <p:pic>
          <p:nvPicPr>
            <p:cNvPr id="37895" name="Picture 8" descr="Triangle--Gray"/>
            <p:cNvPicPr>
              <a:picLocks noChangeArrowheads="1"/>
            </p:cNvPicPr>
            <p:nvPr/>
          </p:nvPicPr>
          <p:blipFill>
            <a:blip r:embed="rId1"/>
            <a:srcRect/>
            <a:stretch>
              <a:fillRect/>
            </a:stretch>
          </p:blipFill>
          <p:spPr bwMode="auto">
            <a:xfrm>
              <a:off x="4896" y="3456"/>
              <a:ext cx="864" cy="86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37896" name="Rectangle 9"/>
            <p:cNvSpPr>
              <a:spLocks noChangeArrowheads="1"/>
            </p:cNvSpPr>
            <p:nvPr/>
          </p:nvSpPr>
          <p:spPr bwMode="auto">
            <a:xfrm>
              <a:off x="5066" y="3735"/>
              <a:ext cx="572" cy="329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sz="1400">
                  <a:latin typeface="Times New Roman" panose="02020603050405020304" pitchFamily="18" charset="0"/>
                </a:rPr>
                <a:t>Transition</a:t>
              </a:r>
              <a:endParaRPr lang="en-US" sz="1400">
                <a:latin typeface="Times New Roman" panose="02020603050405020304" pitchFamily="18" charset="0"/>
              </a:endParaRPr>
            </a:p>
            <a:p>
              <a:pPr algn="ctr"/>
              <a:r>
                <a:rPr lang="en-US" sz="1400">
                  <a:latin typeface="Times New Roman" panose="02020603050405020304" pitchFamily="18" charset="0"/>
                </a:rPr>
                <a:t>Metals</a:t>
              </a:r>
              <a:endParaRPr lang="en-US" sz="1400">
                <a:latin typeface="Times New Roman" panose="02020603050405020304" pitchFamily="18" charset="0"/>
              </a:endParaRPr>
            </a:p>
          </p:txBody>
        </p:sp>
      </p:grpSp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233"/>
          <a:stretch>
            <a:fillRect/>
          </a:stretch>
        </p:blipFill>
        <p:spPr>
          <a:xfrm>
            <a:off x="2552700" y="3529424"/>
            <a:ext cx="7086600" cy="2595151"/>
          </a:xfrm>
          <a:prstGeom prst="rect">
            <a:avLst/>
          </a:prstGeom>
        </p:spPr>
      </p:pic>
    </p:spTree>
  </p:cSld>
  <p:clrMapOvr>
    <a:masterClrMapping/>
  </p:clrMapOvr>
  <p:transition spd="slow"/>
</p:sld>
</file>

<file path=ppt/slides/slide1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Crystal-Field Theory</a:t>
            </a:r>
            <a:endParaRPr lang="en-US"/>
          </a:p>
        </p:txBody>
      </p:sp>
      <p:sp>
        <p:nvSpPr>
          <p:cNvPr id="38915" name="Rectangle 4"/>
          <p:cNvSpPr>
            <a:spLocks noGrp="1" noChangeArrowheads="1"/>
          </p:cNvSpPr>
          <p:nvPr>
            <p:ph type="body" sz="half" idx="2"/>
          </p:nvPr>
        </p:nvSpPr>
        <p:spPr>
          <a:xfrm>
            <a:off x="1676400" y="1219200"/>
            <a:ext cx="8343900" cy="2133600"/>
          </a:xfrm>
        </p:spPr>
        <p:txBody>
          <a:bodyPr/>
          <a:lstStyle/>
          <a:p>
            <a:pPr eaLnBrk="1" hangingPunct="1"/>
            <a:r>
              <a:rPr lang="en-US" sz="2800"/>
              <a:t>The energy difference between the orbitals is called the crystal-field splitting energy.</a:t>
            </a:r>
            <a:endParaRPr lang="en-US" sz="2800"/>
          </a:p>
          <a:p>
            <a:pPr eaLnBrk="1" hangingPunct="1"/>
            <a:r>
              <a:rPr lang="en-US" sz="2800"/>
              <a:t>This energy gap between </a:t>
            </a:r>
            <a:r>
              <a:rPr lang="en-US" sz="2800" i="1"/>
              <a:t>d</a:t>
            </a:r>
            <a:r>
              <a:rPr lang="en-US" sz="2800"/>
              <a:t> orbitals corresponds to the energy emitted or absorbed as a photon.</a:t>
            </a:r>
            <a:endParaRPr lang="en-US" sz="2800"/>
          </a:p>
        </p:txBody>
      </p:sp>
      <p:grpSp>
        <p:nvGrpSpPr>
          <p:cNvPr id="38917" name="Group 7"/>
          <p:cNvGrpSpPr/>
          <p:nvPr/>
        </p:nvGrpSpPr>
        <p:grpSpPr bwMode="auto">
          <a:xfrm>
            <a:off x="9296400" y="5486400"/>
            <a:ext cx="1371600" cy="1371600"/>
            <a:chOff x="4896" y="3456"/>
            <a:chExt cx="864" cy="864"/>
          </a:xfrm>
        </p:grpSpPr>
        <p:pic>
          <p:nvPicPr>
            <p:cNvPr id="38919" name="Picture 8" descr="Triangle--Gray"/>
            <p:cNvPicPr>
              <a:picLocks noChangeArrowheads="1"/>
            </p:cNvPicPr>
            <p:nvPr/>
          </p:nvPicPr>
          <p:blipFill>
            <a:blip r:embed="rId1"/>
            <a:srcRect/>
            <a:stretch>
              <a:fillRect/>
            </a:stretch>
          </p:blipFill>
          <p:spPr bwMode="auto">
            <a:xfrm>
              <a:off x="4896" y="3456"/>
              <a:ext cx="864" cy="86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38920" name="Rectangle 9"/>
            <p:cNvSpPr>
              <a:spLocks noChangeArrowheads="1"/>
            </p:cNvSpPr>
            <p:nvPr/>
          </p:nvSpPr>
          <p:spPr bwMode="auto">
            <a:xfrm>
              <a:off x="5066" y="3735"/>
              <a:ext cx="572" cy="329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sz="1400">
                  <a:latin typeface="Times New Roman" panose="02020603050405020304" pitchFamily="18" charset="0"/>
                </a:rPr>
                <a:t>Transition</a:t>
              </a:r>
              <a:endParaRPr lang="en-US" sz="1400">
                <a:latin typeface="Times New Roman" panose="02020603050405020304" pitchFamily="18" charset="0"/>
              </a:endParaRPr>
            </a:p>
            <a:p>
              <a:pPr algn="ctr"/>
              <a:r>
                <a:rPr lang="en-US" sz="1400">
                  <a:latin typeface="Times New Roman" panose="02020603050405020304" pitchFamily="18" charset="0"/>
                </a:rPr>
                <a:t>Metals</a:t>
              </a:r>
              <a:endParaRPr lang="en-US" sz="1400">
                <a:latin typeface="Times New Roman" panose="02020603050405020304" pitchFamily="18" charset="0"/>
              </a:endParaRPr>
            </a:p>
          </p:txBody>
        </p:sp>
      </p:grpSp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614"/>
          <a:stretch>
            <a:fillRect/>
          </a:stretch>
        </p:blipFill>
        <p:spPr>
          <a:xfrm>
            <a:off x="2712019" y="3398838"/>
            <a:ext cx="6767961" cy="3048000"/>
          </a:xfrm>
          <a:prstGeom prst="rect">
            <a:avLst/>
          </a:prstGeom>
        </p:spPr>
      </p:pic>
    </p:spTree>
  </p:cSld>
  <p:clrMapOvr>
    <a:masterClrMapping/>
  </p:clrMapOvr>
  <p:transition spd="slow"/>
</p:sld>
</file>

<file path=ppt/slides/slide1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/>
          <p:cNvSpPr>
            <a:spLocks noGrp="1" noChangeArrowheads="1"/>
          </p:cNvSpPr>
          <p:nvPr>
            <p:ph type="title"/>
          </p:nvPr>
        </p:nvSpPr>
        <p:spPr>
          <a:xfrm>
            <a:off x="1524000" y="0"/>
            <a:ext cx="9144000" cy="1143000"/>
          </a:xfrm>
        </p:spPr>
        <p:txBody>
          <a:bodyPr/>
          <a:lstStyle/>
          <a:p>
            <a:pPr eaLnBrk="1" hangingPunct="1"/>
            <a:r>
              <a:rPr lang="en-US"/>
              <a:t>Crystal-Field Theory</a:t>
            </a:r>
            <a:endParaRPr lang="en-US"/>
          </a:p>
        </p:txBody>
      </p:sp>
      <p:sp>
        <p:nvSpPr>
          <p:cNvPr id="39939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1524000" y="1143000"/>
            <a:ext cx="8953500" cy="1828800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en-US" sz="2800"/>
              <a:t>	The </a:t>
            </a:r>
            <a:r>
              <a:rPr lang="en-US" sz="2800" b="1"/>
              <a:t>spectrochemical series</a:t>
            </a:r>
            <a:r>
              <a:rPr lang="en-US" sz="2800"/>
              <a:t> ranks ligands in order of their ability to increase the energy gap between </a:t>
            </a:r>
            <a:br>
              <a:rPr lang="en-US" sz="2800"/>
            </a:br>
            <a:r>
              <a:rPr lang="en-US" sz="2800" i="1"/>
              <a:t>d</a:t>
            </a:r>
            <a:r>
              <a:rPr lang="en-US" sz="2800"/>
              <a:t> orbitals. (This is a variation known as ligand-field theory.)</a:t>
            </a:r>
            <a:endParaRPr lang="en-US" sz="2800"/>
          </a:p>
        </p:txBody>
      </p:sp>
      <p:grpSp>
        <p:nvGrpSpPr>
          <p:cNvPr id="39941" name="Group 8"/>
          <p:cNvGrpSpPr/>
          <p:nvPr/>
        </p:nvGrpSpPr>
        <p:grpSpPr bwMode="auto">
          <a:xfrm>
            <a:off x="9296400" y="5486400"/>
            <a:ext cx="1371600" cy="1371600"/>
            <a:chOff x="4896" y="3456"/>
            <a:chExt cx="864" cy="864"/>
          </a:xfrm>
        </p:grpSpPr>
        <p:pic>
          <p:nvPicPr>
            <p:cNvPr id="39944" name="Picture 9" descr="Triangle--Gray"/>
            <p:cNvPicPr>
              <a:picLocks noChangeArrowheads="1"/>
            </p:cNvPicPr>
            <p:nvPr/>
          </p:nvPicPr>
          <p:blipFill>
            <a:blip r:embed="rId1"/>
            <a:srcRect/>
            <a:stretch>
              <a:fillRect/>
            </a:stretch>
          </p:blipFill>
          <p:spPr bwMode="auto">
            <a:xfrm>
              <a:off x="4896" y="3456"/>
              <a:ext cx="864" cy="86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39945" name="Rectangle 10"/>
            <p:cNvSpPr>
              <a:spLocks noChangeArrowheads="1"/>
            </p:cNvSpPr>
            <p:nvPr/>
          </p:nvSpPr>
          <p:spPr bwMode="auto">
            <a:xfrm>
              <a:off x="5066" y="3735"/>
              <a:ext cx="572" cy="329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sz="1400">
                  <a:latin typeface="Times New Roman" panose="02020603050405020304" pitchFamily="18" charset="0"/>
                </a:rPr>
                <a:t>Transition</a:t>
              </a:r>
              <a:endParaRPr lang="en-US" sz="1400">
                <a:latin typeface="Times New Roman" panose="02020603050405020304" pitchFamily="18" charset="0"/>
              </a:endParaRPr>
            </a:p>
            <a:p>
              <a:pPr algn="ctr"/>
              <a:r>
                <a:rPr lang="en-US" sz="1400">
                  <a:latin typeface="Times New Roman" panose="02020603050405020304" pitchFamily="18" charset="0"/>
                </a:rPr>
                <a:t>Metals</a:t>
              </a:r>
              <a:endParaRPr lang="en-US" sz="1400">
                <a:latin typeface="Times New Roman" panose="02020603050405020304" pitchFamily="18" charset="0"/>
              </a:endParaRPr>
            </a:p>
          </p:txBody>
        </p:sp>
      </p:grp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90900" y="2941320"/>
            <a:ext cx="5410200" cy="48768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691"/>
          <a:stretch>
            <a:fillRect/>
          </a:stretch>
        </p:blipFill>
        <p:spPr>
          <a:xfrm>
            <a:off x="4308576" y="3570288"/>
            <a:ext cx="3708411" cy="3059112"/>
          </a:xfrm>
          <a:prstGeom prst="rect">
            <a:avLst/>
          </a:prstGeom>
        </p:spPr>
      </p:pic>
    </p:spTree>
  </p:cSld>
  <p:clrMapOvr>
    <a:masterClrMapping/>
  </p:clrMapOvr>
  <p:transition spd="slow"/>
</p:sld>
</file>

<file path=ppt/slides/slide1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/>
          <p:cNvSpPr>
            <a:spLocks noGrp="1" noChangeArrowheads="1"/>
          </p:cNvSpPr>
          <p:nvPr>
            <p:ph type="title"/>
          </p:nvPr>
        </p:nvSpPr>
        <p:spPr>
          <a:xfrm>
            <a:off x="1524000" y="0"/>
            <a:ext cx="9144000" cy="1143000"/>
          </a:xfrm>
        </p:spPr>
        <p:txBody>
          <a:bodyPr/>
          <a:lstStyle/>
          <a:p>
            <a:pPr eaLnBrk="1" hangingPunct="1"/>
            <a:r>
              <a:rPr lang="en-US"/>
              <a:t>Crystal-Field Theory</a:t>
            </a:r>
            <a:endParaRPr lang="en-US"/>
          </a:p>
        </p:txBody>
      </p:sp>
      <p:sp>
        <p:nvSpPr>
          <p:cNvPr id="40963" name="Rectangle 4"/>
          <p:cNvSpPr>
            <a:spLocks noGrp="1" noChangeArrowheads="1"/>
          </p:cNvSpPr>
          <p:nvPr>
            <p:ph type="body" sz="half" idx="2"/>
          </p:nvPr>
        </p:nvSpPr>
        <p:spPr>
          <a:xfrm>
            <a:off x="1676400" y="990600"/>
            <a:ext cx="8991600" cy="2819400"/>
          </a:xfrm>
        </p:spPr>
        <p:txBody>
          <a:bodyPr/>
          <a:lstStyle/>
          <a:p>
            <a:pPr eaLnBrk="1" hangingPunct="1"/>
            <a:r>
              <a:rPr lang="en-US" sz="2800"/>
              <a:t>Numbers of unpaired electrons can differ depending upon the order in which orbitals are filled.</a:t>
            </a:r>
            <a:endParaRPr lang="en-US" sz="2800"/>
          </a:p>
          <a:p>
            <a:pPr eaLnBrk="1" hangingPunct="1"/>
            <a:r>
              <a:rPr lang="en-US" sz="2800"/>
              <a:t>Stronger ligand fields result in greater splitting of orbitals; this is a “high-field” but “low-spin” case.</a:t>
            </a:r>
            <a:endParaRPr lang="en-US" sz="2800"/>
          </a:p>
          <a:p>
            <a:pPr eaLnBrk="1" hangingPunct="1"/>
            <a:r>
              <a:rPr lang="en-US" sz="2800"/>
              <a:t>Weaker ligand fields result in lower splitting of orbitals; this is a “low-field” but “high-spin” case.</a:t>
            </a:r>
            <a:endParaRPr lang="en-US" sz="2800"/>
          </a:p>
        </p:txBody>
      </p:sp>
      <p:grpSp>
        <p:nvGrpSpPr>
          <p:cNvPr id="40965" name="Group 7"/>
          <p:cNvGrpSpPr/>
          <p:nvPr/>
        </p:nvGrpSpPr>
        <p:grpSpPr bwMode="auto">
          <a:xfrm>
            <a:off x="9296400" y="5486400"/>
            <a:ext cx="1371600" cy="1371600"/>
            <a:chOff x="4896" y="3456"/>
            <a:chExt cx="864" cy="864"/>
          </a:xfrm>
        </p:grpSpPr>
        <p:pic>
          <p:nvPicPr>
            <p:cNvPr id="40968" name="Picture 8" descr="Triangle--Gray"/>
            <p:cNvPicPr>
              <a:picLocks noChangeArrowheads="1"/>
            </p:cNvPicPr>
            <p:nvPr/>
          </p:nvPicPr>
          <p:blipFill>
            <a:blip r:embed="rId1"/>
            <a:srcRect/>
            <a:stretch>
              <a:fillRect/>
            </a:stretch>
          </p:blipFill>
          <p:spPr bwMode="auto">
            <a:xfrm>
              <a:off x="4896" y="3456"/>
              <a:ext cx="864" cy="86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40969" name="Rectangle 9"/>
            <p:cNvSpPr>
              <a:spLocks noChangeArrowheads="1"/>
            </p:cNvSpPr>
            <p:nvPr/>
          </p:nvSpPr>
          <p:spPr bwMode="auto">
            <a:xfrm>
              <a:off x="5066" y="3735"/>
              <a:ext cx="572" cy="329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sz="1400">
                  <a:latin typeface="Times New Roman" panose="02020603050405020304" pitchFamily="18" charset="0"/>
                </a:rPr>
                <a:t>Transition</a:t>
              </a:r>
              <a:endParaRPr lang="en-US" sz="1400">
                <a:latin typeface="Times New Roman" panose="02020603050405020304" pitchFamily="18" charset="0"/>
              </a:endParaRPr>
            </a:p>
            <a:p>
              <a:pPr algn="ctr"/>
              <a:r>
                <a:rPr lang="en-US" sz="1400">
                  <a:latin typeface="Times New Roman" panose="02020603050405020304" pitchFamily="18" charset="0"/>
                </a:rPr>
                <a:t>Metals</a:t>
              </a:r>
              <a:endParaRPr lang="en-US" sz="1400">
                <a:latin typeface="Times New Roman" panose="02020603050405020304" pitchFamily="18" charset="0"/>
              </a:endParaRPr>
            </a:p>
          </p:txBody>
        </p:sp>
      </p:grpSp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229"/>
          <a:stretch>
            <a:fillRect/>
          </a:stretch>
        </p:blipFill>
        <p:spPr>
          <a:xfrm>
            <a:off x="1981199" y="3810000"/>
            <a:ext cx="3910939" cy="243840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968"/>
          <a:stretch>
            <a:fillRect/>
          </a:stretch>
        </p:blipFill>
        <p:spPr>
          <a:xfrm>
            <a:off x="6248400" y="3810000"/>
            <a:ext cx="1943100" cy="2901632"/>
          </a:xfrm>
          <a:prstGeom prst="rect">
            <a:avLst/>
          </a:prstGeom>
        </p:spPr>
      </p:pic>
    </p:spTree>
  </p:cSld>
  <p:clrMapOvr>
    <a:masterClrMapping/>
  </p:clrMapOvr>
  <p:transition spd="slow"/>
</p:sld>
</file>

<file path=ppt/slides/slide1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/>
          <p:cNvSpPr>
            <a:spLocks noGrp="1" noChangeArrowheads="1"/>
          </p:cNvSpPr>
          <p:nvPr>
            <p:ph type="title"/>
          </p:nvPr>
        </p:nvSpPr>
        <p:spPr>
          <a:xfrm>
            <a:off x="1524000" y="0"/>
            <a:ext cx="9144000" cy="1143000"/>
          </a:xfrm>
        </p:spPr>
        <p:txBody>
          <a:bodyPr/>
          <a:lstStyle/>
          <a:p>
            <a:pPr eaLnBrk="1" hangingPunct="1"/>
            <a:r>
              <a:rPr lang="en-US"/>
              <a:t>Crystal-Field Theory</a:t>
            </a:r>
            <a:endParaRPr lang="en-US"/>
          </a:p>
        </p:txBody>
      </p:sp>
      <p:sp>
        <p:nvSpPr>
          <p:cNvPr id="41987" name="Rectangle 4"/>
          <p:cNvSpPr>
            <a:spLocks noGrp="1" noChangeArrowheads="1"/>
          </p:cNvSpPr>
          <p:nvPr>
            <p:ph type="body" sz="half" idx="2"/>
          </p:nvPr>
        </p:nvSpPr>
        <p:spPr>
          <a:xfrm>
            <a:off x="1676400" y="990600"/>
            <a:ext cx="8991600" cy="1828800"/>
          </a:xfrm>
        </p:spPr>
        <p:txBody>
          <a:bodyPr/>
          <a:lstStyle/>
          <a:p>
            <a:pPr eaLnBrk="1" hangingPunct="1"/>
            <a:r>
              <a:rPr lang="en-US" sz="2800"/>
              <a:t>Octahedral complexes differ from tetrahedral and square planar complexes because the ligands approach directly on the </a:t>
            </a:r>
            <a:r>
              <a:rPr lang="en-US" sz="2800" i="1"/>
              <a:t>x-</a:t>
            </a:r>
            <a:r>
              <a:rPr lang="en-US" sz="2800"/>
              <a:t>, </a:t>
            </a:r>
            <a:r>
              <a:rPr lang="en-US" sz="2800" i="1"/>
              <a:t>y-</a:t>
            </a:r>
            <a:r>
              <a:rPr lang="en-US" sz="2800"/>
              <a:t>, and </a:t>
            </a:r>
            <a:r>
              <a:rPr lang="en-US" sz="2800" i="1"/>
              <a:t>z-</a:t>
            </a:r>
            <a:r>
              <a:rPr lang="en-US" sz="2800"/>
              <a:t>axes only for octahedral complexes. (Last slide was octahedral.)</a:t>
            </a:r>
            <a:endParaRPr lang="en-US" sz="2800"/>
          </a:p>
        </p:txBody>
      </p:sp>
      <p:grpSp>
        <p:nvGrpSpPr>
          <p:cNvPr id="41989" name="Group 7"/>
          <p:cNvGrpSpPr/>
          <p:nvPr/>
        </p:nvGrpSpPr>
        <p:grpSpPr bwMode="auto">
          <a:xfrm>
            <a:off x="9296400" y="5486400"/>
            <a:ext cx="1371600" cy="1371600"/>
            <a:chOff x="4896" y="3456"/>
            <a:chExt cx="864" cy="864"/>
          </a:xfrm>
        </p:grpSpPr>
        <p:pic>
          <p:nvPicPr>
            <p:cNvPr id="41992" name="Picture 8" descr="Triangle--Gray"/>
            <p:cNvPicPr>
              <a:picLocks noChangeArrowheads="1"/>
            </p:cNvPicPr>
            <p:nvPr/>
          </p:nvPicPr>
          <p:blipFill>
            <a:blip r:embed="rId1"/>
            <a:srcRect/>
            <a:stretch>
              <a:fillRect/>
            </a:stretch>
          </p:blipFill>
          <p:spPr bwMode="auto">
            <a:xfrm>
              <a:off x="4896" y="3456"/>
              <a:ext cx="864" cy="86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41993" name="Rectangle 9"/>
            <p:cNvSpPr>
              <a:spLocks noChangeArrowheads="1"/>
            </p:cNvSpPr>
            <p:nvPr/>
          </p:nvSpPr>
          <p:spPr bwMode="auto">
            <a:xfrm>
              <a:off x="5066" y="3735"/>
              <a:ext cx="572" cy="329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sz="1400">
                  <a:latin typeface="Times New Roman" panose="02020603050405020304" pitchFamily="18" charset="0"/>
                </a:rPr>
                <a:t>Transition</a:t>
              </a:r>
              <a:endParaRPr lang="en-US" sz="1400">
                <a:latin typeface="Times New Roman" panose="02020603050405020304" pitchFamily="18" charset="0"/>
              </a:endParaRPr>
            </a:p>
            <a:p>
              <a:pPr algn="ctr"/>
              <a:r>
                <a:rPr lang="en-US" sz="1400">
                  <a:latin typeface="Times New Roman" panose="02020603050405020304" pitchFamily="18" charset="0"/>
                </a:rPr>
                <a:t>Metals</a:t>
              </a:r>
              <a:endParaRPr lang="en-US" sz="1400">
                <a:latin typeface="Times New Roman" panose="02020603050405020304" pitchFamily="18" charset="0"/>
              </a:endParaRPr>
            </a:p>
          </p:txBody>
        </p:sp>
      </p:grpSp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878"/>
          <a:stretch>
            <a:fillRect/>
          </a:stretch>
        </p:blipFill>
        <p:spPr>
          <a:xfrm>
            <a:off x="1677507" y="3048000"/>
            <a:ext cx="5552033" cy="228600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546"/>
          <a:stretch>
            <a:fillRect/>
          </a:stretch>
        </p:blipFill>
        <p:spPr>
          <a:xfrm>
            <a:off x="7291707" y="2895600"/>
            <a:ext cx="2004693" cy="3857294"/>
          </a:xfrm>
          <a:prstGeom prst="rect">
            <a:avLst/>
          </a:prstGeom>
        </p:spPr>
      </p:pic>
    </p:spTree>
  </p:cSld>
  <p:clrMapOvr>
    <a:masterClrMapping/>
  </p:clrMapOvr>
  <p:transition spd="slow"/>
</p:sld>
</file>

<file path=ppt/slides/slide1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14400" y="2486025"/>
            <a:ext cx="10363200" cy="1143000"/>
          </a:xfrm>
        </p:spPr>
        <p:txBody>
          <a:bodyPr/>
          <a:p>
            <a:r>
              <a:rPr lang="zh-CN" altLang="en-US">
                <a:latin typeface="方正粗黑宋简体" panose="02000000000000000000" charset="-122"/>
                <a:ea typeface="方正粗黑宋简体" panose="02000000000000000000" charset="-122"/>
                <a:cs typeface="方正粗黑宋简体" panose="02000000000000000000" charset="-122"/>
              </a:rPr>
              <a:t>这就是我觉得比较关键的内容辽</a:t>
            </a:r>
            <a:br>
              <a:rPr lang="zh-CN" altLang="en-US">
                <a:latin typeface="方正粗黑宋简体" panose="02000000000000000000" charset="-122"/>
                <a:ea typeface="方正粗黑宋简体" panose="02000000000000000000" charset="-122"/>
                <a:cs typeface="方正粗黑宋简体" panose="02000000000000000000" charset="-122"/>
              </a:rPr>
            </a:br>
            <a:r>
              <a:rPr lang="zh-CN" altLang="en-US">
                <a:latin typeface="方正粗黑宋简体" panose="02000000000000000000" charset="-122"/>
                <a:ea typeface="方正粗黑宋简体" panose="02000000000000000000" charset="-122"/>
                <a:cs typeface="方正粗黑宋简体" panose="02000000000000000000" charset="-122"/>
              </a:rPr>
              <a:t>下面开始讨论问题</a:t>
            </a:r>
            <a:br>
              <a:rPr lang="zh-CN" altLang="en-US">
                <a:latin typeface="方正粗黑宋简体" panose="02000000000000000000" charset="-122"/>
                <a:ea typeface="方正粗黑宋简体" panose="02000000000000000000" charset="-122"/>
                <a:cs typeface="方正粗黑宋简体" panose="02000000000000000000" charset="-122"/>
              </a:rPr>
            </a:br>
            <a:r>
              <a:rPr lang="zh-CN" altLang="en-US">
                <a:latin typeface="方正粗黑宋简体" panose="02000000000000000000" charset="-122"/>
                <a:ea typeface="方正粗黑宋简体" panose="02000000000000000000" charset="-122"/>
                <a:cs typeface="方正粗黑宋简体" panose="02000000000000000000" charset="-122"/>
              </a:rPr>
              <a:t>作业</a:t>
            </a:r>
            <a:r>
              <a:rPr lang="en-US" altLang="zh-CN">
                <a:latin typeface="方正粗黑宋简体" panose="02000000000000000000" charset="-122"/>
                <a:ea typeface="方正粗黑宋简体" panose="02000000000000000000" charset="-122"/>
                <a:cs typeface="方正粗黑宋简体" panose="02000000000000000000" charset="-122"/>
              </a:rPr>
              <a:t>/</a:t>
            </a:r>
            <a:r>
              <a:rPr lang="zh-CN" altLang="en-US">
                <a:latin typeface="方正粗黑宋简体" panose="02000000000000000000" charset="-122"/>
                <a:ea typeface="方正粗黑宋简体" panose="02000000000000000000" charset="-122"/>
                <a:cs typeface="方正粗黑宋简体" panose="02000000000000000000" charset="-122"/>
              </a:rPr>
              <a:t>课后习题</a:t>
            </a:r>
            <a:r>
              <a:rPr lang="en-US" altLang="zh-CN">
                <a:latin typeface="方正粗黑宋简体" panose="02000000000000000000" charset="-122"/>
                <a:ea typeface="方正粗黑宋简体" panose="02000000000000000000" charset="-122"/>
                <a:cs typeface="方正粗黑宋简体" panose="02000000000000000000" charset="-122"/>
              </a:rPr>
              <a:t>/</a:t>
            </a:r>
            <a:r>
              <a:rPr lang="zh-CN" altLang="en-US">
                <a:latin typeface="方正粗黑宋简体" panose="02000000000000000000" charset="-122"/>
                <a:ea typeface="方正粗黑宋简体" panose="02000000000000000000" charset="-122"/>
                <a:cs typeface="方正粗黑宋简体" panose="02000000000000000000" charset="-122"/>
              </a:rPr>
              <a:t>看的书上的问题都可以</a:t>
            </a:r>
            <a:endParaRPr lang="zh-CN" altLang="en-US">
              <a:latin typeface="方正粗黑宋简体" panose="02000000000000000000" charset="-122"/>
              <a:ea typeface="方正粗黑宋简体" panose="02000000000000000000" charset="-122"/>
              <a:cs typeface="方正粗黑宋简体" panose="02000000000000000000" charset="-122"/>
            </a:endParaRPr>
          </a:p>
        </p:txBody>
      </p:sp>
    </p:spTree>
  </p:cSld>
  <p:clrMapOvr>
    <a:masterClrMapping/>
  </p:clrMapOvr>
  <p:transition spd="slow"/>
</p:sld>
</file>

<file path=ppt/tags/tag1.xml><?xml version="1.0" encoding="utf-8"?>
<p:tagLst xmlns:p="http://schemas.openxmlformats.org/presentationml/2006/main">
  <p:tag name="TIMING" val="|47.4"/>
</p:tagLst>
</file>

<file path=ppt/tags/tag2.xml><?xml version="1.0" encoding="utf-8"?>
<p:tagLst xmlns:p="http://schemas.openxmlformats.org/presentationml/2006/main">
  <p:tag name="TIMING" val="|41.1|9.8"/>
</p:tagLst>
</file>

<file path=ppt/tags/tag3.xml><?xml version="1.0" encoding="utf-8"?>
<p:tagLst xmlns:p="http://schemas.openxmlformats.org/presentationml/2006/main">
  <p:tag name="TIMING" val="|31.8|13.3"/>
</p:tagLst>
</file>

<file path=ppt/tags/tag4.xml><?xml version="1.0" encoding="utf-8"?>
<p:tagLst xmlns:p="http://schemas.openxmlformats.org/presentationml/2006/main">
  <p:tag name="TIMING" val="|25.9|27.7"/>
</p:tagLst>
</file>

<file path=ppt/tags/tag5.xml><?xml version="1.0" encoding="utf-8"?>
<p:tagLst xmlns:p="http://schemas.openxmlformats.org/presentationml/2006/main">
  <p:tag name="TIMING" val="|65.8|16.6"/>
</p:tagLst>
</file>

<file path=ppt/tags/tag6.xml><?xml version="1.0" encoding="utf-8"?>
<p:tagLst xmlns:p="http://schemas.openxmlformats.org/presentationml/2006/main">
  <p:tag name="TIMING" val="|15.9"/>
</p:tagLst>
</file>

<file path=ppt/tags/tag7.xml><?xml version="1.0" encoding="utf-8"?>
<p:tagLst xmlns:p="http://schemas.openxmlformats.org/presentationml/2006/main">
  <p:tag name="TIMING" val="|20.2|14"/>
</p:tagLst>
</file>

<file path=ppt/tags/tag8.xml><?xml version="1.0" encoding="utf-8"?>
<p:tagLst xmlns:p="http://schemas.openxmlformats.org/presentationml/2006/main">
  <p:tag name="TIMING" val="|35.1"/>
</p:tagLst>
</file>

<file path=ppt/tags/tag9.xml><?xml version="1.0" encoding="utf-8"?>
<p:tagLst xmlns:p="http://schemas.openxmlformats.org/presentationml/2006/main">
  <p:tag name="TIMING" val="|25.6|22.7|7.6|6.2|14.4"/>
</p:tagLst>
</file>

<file path=ppt/tags/tag10.xml><?xml version="1.0" encoding="utf-8"?>
<p:tagLst xmlns:p="http://schemas.openxmlformats.org/presentationml/2006/main">
  <p:tag name="TIMING" val="|46.8"/>
</p:tagLst>
</file>

<file path=ppt/tags/tag11.xml><?xml version="1.0" encoding="utf-8"?>
<p:tagLst xmlns:p="http://schemas.openxmlformats.org/presentationml/2006/main">
  <p:tag name="VERSION" val="4.10"/>
  <p:tag name="QUESTIONNAME" val="Equilibrium cons"/>
  <p:tag name="QUESTIONTYPE" val=" 0"/>
  <p:tag name="QUESTIONCHOICES" val=" 2"/>
  <p:tag name="QUESTIONANSWER" val="D"/>
  <p:tag name="QUESTIONDIFFICULTY" val=" 0"/>
  <p:tag name="QUESTIONPOINTS" val=" 1"/>
  <p:tag name="QUESTIONCHANCES" val=" 3"/>
  <p:tag name="QUESTIONTIMER" val="00:30"/>
  <p:tag name="QUESTIONCHOICESTYPE" val=" 1"/>
  <p:tag name="QUESTIONCHARTTYPE" val="0"/>
  <p:tag name="MANUALQUESTIONSTART" val="No"/>
</p:tagLst>
</file>

<file path=ppt/tags/tag12.xml><?xml version="1.0" encoding="utf-8"?>
<p:tagLst xmlns:p="http://schemas.openxmlformats.org/presentationml/2006/main">
  <p:tag name="COMMONDATA" val="eyJoZGlkIjoiNmZiMDQzMzg5NTkwNmJjZjU2YWYzMmQ4YWY5M2VmNmIifQ==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43107</Words>
  <Application>WPS 演示</Application>
  <PresentationFormat>宽屏</PresentationFormat>
  <Paragraphs>1498</Paragraphs>
  <Slides>187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26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187</vt:i4>
      </vt:variant>
    </vt:vector>
  </HeadingPairs>
  <TitlesOfParts>
    <vt:vector size="215" baseType="lpstr">
      <vt:lpstr>Arial</vt:lpstr>
      <vt:lpstr>宋体</vt:lpstr>
      <vt:lpstr>Wingdings</vt:lpstr>
      <vt:lpstr>Gadugi</vt:lpstr>
      <vt:lpstr>MS PGothic</vt:lpstr>
      <vt:lpstr>&amp;quot</vt:lpstr>
      <vt:lpstr>Segoe Print</vt:lpstr>
      <vt:lpstr>Calibri</vt:lpstr>
      <vt:lpstr>Symbol</vt:lpstr>
      <vt:lpstr>PMingLiU</vt:lpstr>
      <vt:lpstr>微软雅黑</vt:lpstr>
      <vt:lpstr>Arial Unicode MS</vt:lpstr>
      <vt:lpstr>MingLiU-ExtB</vt:lpstr>
      <vt:lpstr>Times New Roman</vt:lpstr>
      <vt:lpstr>Arial</vt:lpstr>
      <vt:lpstr>黑体</vt:lpstr>
      <vt:lpstr>Calibri</vt:lpstr>
      <vt:lpstr>Symbol</vt:lpstr>
      <vt:lpstr>方正粗黑宋简体</vt:lpstr>
      <vt:lpstr>Lucida Grande</vt:lpstr>
      <vt:lpstr>Symbol</vt:lpstr>
      <vt:lpstr>Lucida Grande</vt:lpstr>
      <vt:lpstr>Wingdings</vt:lpstr>
      <vt:lpstr>楷体</vt:lpstr>
      <vt:lpstr>Times New Roman</vt:lpstr>
      <vt:lpstr>Courier New</vt:lpstr>
      <vt:lpstr>Office 主题</vt:lpstr>
      <vt:lpstr>1_Office 主题</vt:lpstr>
      <vt:lpstr>Writing Lewis Structures</vt:lpstr>
      <vt:lpstr>Writing Lewis Structures</vt:lpstr>
      <vt:lpstr>Determine Formal Charge</vt:lpstr>
      <vt:lpstr>Dominant Lewis Structures</vt:lpstr>
      <vt:lpstr>PowerPoint 演示文稿</vt:lpstr>
      <vt:lpstr>Resonance</vt:lpstr>
      <vt:lpstr>Resonance</vt:lpstr>
      <vt:lpstr>Exceptions to the Octet Rule</vt:lpstr>
      <vt:lpstr>Odd Number of Electrons</vt:lpstr>
      <vt:lpstr>Fewer Than Eight Electrons</vt:lpstr>
      <vt:lpstr>Fewer Than Eight Electrons</vt:lpstr>
      <vt:lpstr>More Than Eight Electrons</vt:lpstr>
      <vt:lpstr>Covalent Bond Strength</vt:lpstr>
      <vt:lpstr>Average Bond Enthalpies</vt:lpstr>
      <vt:lpstr>Using Bond Enthalpies to Estimate Hrxn</vt:lpstr>
      <vt:lpstr>Chapter 9: Molecular Geometry and Bonding Theories 化学键的方向——分子构成</vt:lpstr>
      <vt:lpstr>第一部分：VSEPR Model</vt:lpstr>
      <vt:lpstr>Molecular Shapes</vt:lpstr>
      <vt:lpstr>What Determines the  Shape of a Molecule?</vt:lpstr>
      <vt:lpstr>Valence-Shell Electron-Pair Repulsion  (VSEPR) Model</vt:lpstr>
      <vt:lpstr>Electron-Domain Geometries</vt:lpstr>
      <vt:lpstr>Molecular Geometries</vt:lpstr>
      <vt:lpstr>Linear Electron Domain</vt:lpstr>
      <vt:lpstr>Trigonal Planar Electron Domain</vt:lpstr>
      <vt:lpstr>Tetrahedral Electron Domain</vt:lpstr>
      <vt:lpstr>Nonbonding Pairs and Bond Angle</vt:lpstr>
      <vt:lpstr>Multiple Bonds and Bond Angles</vt:lpstr>
      <vt:lpstr>Expanding beyond the Octet Rule</vt:lpstr>
      <vt:lpstr>Trigonal Bipyramidal Electron Domain</vt:lpstr>
      <vt:lpstr>Trigonal Bipyramidal  Electron Domain</vt:lpstr>
      <vt:lpstr>Octahedral Electron Domain</vt:lpstr>
      <vt:lpstr>Polar Covalent Bonds</vt:lpstr>
      <vt:lpstr>PowerPoint 演示文稿</vt:lpstr>
      <vt:lpstr>PowerPoint 演示文稿</vt:lpstr>
      <vt:lpstr>PowerPoint 演示文稿</vt:lpstr>
      <vt:lpstr>Valence-Bond Theory</vt:lpstr>
      <vt:lpstr>第二部分：Hybrid Orbitals</vt:lpstr>
      <vt:lpstr>Hybrid Orbitals</vt:lpstr>
      <vt:lpstr>sp Orbitals</vt:lpstr>
      <vt:lpstr>Position of sp Orbitals</vt:lpstr>
      <vt:lpstr>Three Electron Domains Gives sp2 Hybridization</vt:lpstr>
      <vt:lpstr>Carbon: sp3 Hybridization</vt:lpstr>
      <vt:lpstr>Hybrid Orbital Summary</vt:lpstr>
      <vt:lpstr>Sigma () and Pi () Bonds</vt:lpstr>
      <vt:lpstr>Localized or Delocalized Electrons</vt:lpstr>
      <vt:lpstr>第三部分：MO</vt:lpstr>
      <vt:lpstr>PowerPoint 演示文稿</vt:lpstr>
      <vt:lpstr>Molecular Orbitals</vt:lpstr>
      <vt:lpstr>Molecular Orbitals</vt:lpstr>
      <vt:lpstr>Forming Molecular Orbitals</vt:lpstr>
      <vt:lpstr>Linear Combinations of Atomic Orbitals  (LCAO’s)</vt:lpstr>
      <vt:lpstr>PowerPoint 演示文稿</vt:lpstr>
      <vt:lpstr>Rules for Combining Atomic Orbitals</vt:lpstr>
      <vt:lpstr>Molecular Orbital Diagram</vt:lpstr>
      <vt:lpstr>PowerPoint 演示文稿</vt:lpstr>
      <vt:lpstr>Bond Order</vt:lpstr>
      <vt:lpstr>PowerPoint 演示文稿</vt:lpstr>
      <vt:lpstr>PowerPoint 演示文稿</vt:lpstr>
      <vt:lpstr>PowerPoint 演示文稿</vt:lpstr>
      <vt:lpstr>Chapter 11: Liquids and Intermolecular Forces</vt:lpstr>
      <vt:lpstr>PowerPoint 演示文稿</vt:lpstr>
      <vt:lpstr>Intermolecular Forces VS Intramolecular Forces</vt:lpstr>
      <vt:lpstr>Liquid Properties Affected by Intermolecular Forces</vt:lpstr>
      <vt:lpstr>Colligative Properties</vt:lpstr>
      <vt:lpstr>Chapter 5: Thermochemistry 热化学</vt:lpstr>
      <vt:lpstr>energy changes in chemical reactions</vt:lpstr>
      <vt:lpstr>Definitions:  System and Surroundings</vt:lpstr>
      <vt:lpstr>First Law of Thermodynamics</vt:lpstr>
      <vt:lpstr>Exchange of Heat between  System and Surroundings</vt:lpstr>
      <vt:lpstr>State Functions</vt:lpstr>
      <vt:lpstr>Enthalpy</vt:lpstr>
      <vt:lpstr>Enthalpy</vt:lpstr>
      <vt:lpstr>Endothermicity  Exothermicity</vt:lpstr>
      <vt:lpstr>Enthalpy of Reaction</vt:lpstr>
      <vt:lpstr>The Truth about Enthalpy</vt:lpstr>
      <vt:lpstr>Calorimetry (method) – calorimeter (device) </vt:lpstr>
      <vt:lpstr>Heat Capacity and Specific Heat</vt:lpstr>
      <vt:lpstr> Constant Pressure Calorimetry</vt:lpstr>
      <vt:lpstr>Bomb Calorimetry (fixed volume but not pressure)</vt:lpstr>
      <vt:lpstr>Bomb Calorimetry</vt:lpstr>
      <vt:lpstr>Enthalpies of Formation (Hf)</vt:lpstr>
      <vt:lpstr>Standard Enthalpies of Formation</vt:lpstr>
      <vt:lpstr>Hess’s Law</vt:lpstr>
      <vt:lpstr>Hess’s Law</vt:lpstr>
      <vt:lpstr>Calculation of H from Enthalpies of Formation</vt:lpstr>
      <vt:lpstr>Bond Enthalpies</vt:lpstr>
      <vt:lpstr>PowerPoint 演示文稿</vt:lpstr>
      <vt:lpstr>Factors that Affect Reaction Rates</vt:lpstr>
      <vt:lpstr>Reaction Rate</vt:lpstr>
      <vt:lpstr>Plotting Rate Data</vt:lpstr>
      <vt:lpstr>An Example of How Concentration Affects Rate</vt:lpstr>
      <vt:lpstr>Molecularity</vt:lpstr>
      <vt:lpstr>More about Rate Law</vt:lpstr>
      <vt:lpstr>First Order Reactions</vt:lpstr>
      <vt:lpstr>Relating k to [A] in a First Order Reaction</vt:lpstr>
      <vt:lpstr>Half-life</vt:lpstr>
      <vt:lpstr>PowerPoint 演示文稿</vt:lpstr>
      <vt:lpstr>Second Order Reactions</vt:lpstr>
      <vt:lpstr>Solving the Second Order Reaction for A  →  Products</vt:lpstr>
      <vt:lpstr>An Example of a Second Order Reaction:  Decomposition of NO2</vt:lpstr>
      <vt:lpstr>Half-Life and Second Order Reactions</vt:lpstr>
      <vt:lpstr>PowerPoint 演示文稿</vt:lpstr>
      <vt:lpstr>Zero Order Reactions</vt:lpstr>
      <vt:lpstr>The Collision Model</vt:lpstr>
      <vt:lpstr>Transition State (Activated Complex)</vt:lpstr>
      <vt:lpstr>What is Required of a Plausible Mechanism?</vt:lpstr>
      <vt:lpstr>A Mechanism With a Slow Initial Step</vt:lpstr>
      <vt:lpstr>A Mechanism With a Slow Initial Step (continued)</vt:lpstr>
      <vt:lpstr>A Mechanism With a Fast Initial Step</vt:lpstr>
      <vt:lpstr>A Mechanism With a Slow Initial Step (completed)</vt:lpstr>
      <vt:lpstr>What is the Rate Law?</vt:lpstr>
      <vt:lpstr>[NOBr2] (An Intermediate)?</vt:lpstr>
      <vt:lpstr>The Rate Law (Finally!)</vt:lpstr>
      <vt:lpstr>Lock-and-Key Model of enzyme</vt:lpstr>
      <vt:lpstr>PowerPoint 演示文稿</vt:lpstr>
      <vt:lpstr>The Concept of Equilibrium</vt:lpstr>
      <vt:lpstr>The Meaning of Equilibrium</vt:lpstr>
      <vt:lpstr>The Equilibrium Constant</vt:lpstr>
      <vt:lpstr>The Equilibrium Constant</vt:lpstr>
      <vt:lpstr>Homogeneous vs. Heterogeneous</vt:lpstr>
      <vt:lpstr>PowerPoint 演示文稿</vt:lpstr>
      <vt:lpstr>Comparing Q and K</vt:lpstr>
      <vt:lpstr>LeChâtelier’s Principle</vt:lpstr>
      <vt:lpstr>An Exothermic Equilibrium</vt:lpstr>
      <vt:lpstr>Equilibrium constants typically have units of</vt:lpstr>
      <vt:lpstr>PowerPoint 演示文稿</vt:lpstr>
      <vt:lpstr>Comparison of Three Acid/Base Definitions</vt:lpstr>
      <vt:lpstr>What Is Different about Water?</vt:lpstr>
      <vt:lpstr>Autoionization of Water</vt:lpstr>
      <vt:lpstr>Calculating Ka from the pH</vt:lpstr>
      <vt:lpstr>Steps to Follow to Calculate pH Using Ka</vt:lpstr>
      <vt:lpstr>Carboxylic Acids</vt:lpstr>
      <vt:lpstr>PowerPoint 演示文稿</vt:lpstr>
      <vt:lpstr>The Common-Ion Effect</vt:lpstr>
      <vt:lpstr>Calculating the pH of a Buffer</vt:lpstr>
      <vt:lpstr>Titration of a Strong Acid with a Strong Base</vt:lpstr>
      <vt:lpstr>Titration of a Strong Base with a Strong Acid</vt:lpstr>
      <vt:lpstr>Titration of a Weak Acid with a Strong Base</vt:lpstr>
      <vt:lpstr>Ways That a Weak Acid Titration Differs from a Strong Acid Titration</vt:lpstr>
      <vt:lpstr>Indicator Choice Can Be Critical!</vt:lpstr>
      <vt:lpstr>Solubility Product</vt:lpstr>
      <vt:lpstr>Selective Precipitation of Ions</vt:lpstr>
      <vt:lpstr>PowerPoint 演示文稿</vt:lpstr>
      <vt:lpstr>Enthalpy/Entropy</vt:lpstr>
      <vt:lpstr>Spontaneous Processes</vt:lpstr>
      <vt:lpstr>Entropy</vt:lpstr>
      <vt:lpstr>Second Law of Thermodynamics</vt:lpstr>
      <vt:lpstr>Boltzmann’s Use of Microstates</vt:lpstr>
      <vt:lpstr>Entropy Change</vt:lpstr>
      <vt:lpstr>Entropy Changes</vt:lpstr>
      <vt:lpstr>Total Entropy and Spontaneity</vt:lpstr>
      <vt:lpstr>Free Energy and Equilibrium</vt:lpstr>
      <vt:lpstr>Free Energy and Equilibrium</vt:lpstr>
      <vt:lpstr>PowerPoint 演示文稿</vt:lpstr>
      <vt:lpstr>Oxidation and Reduction</vt:lpstr>
      <vt:lpstr>PowerPoint 演示文稿</vt:lpstr>
      <vt:lpstr>PowerPoint 演示文稿</vt:lpstr>
      <vt:lpstr>Voltaic Cells</vt:lpstr>
      <vt:lpstr>Standard Cell Potentials</vt:lpstr>
      <vt:lpstr>Free Energy and Redox</vt:lpstr>
      <vt:lpstr>Free Energy, Redox, and K</vt:lpstr>
      <vt:lpstr>Nernst Equation</vt:lpstr>
      <vt:lpstr>Preventing Corrosion</vt:lpstr>
      <vt:lpstr>Preventing Corrosion</vt:lpstr>
      <vt:lpstr>Electrolysis and “Stoichiometry”</vt:lpstr>
      <vt:lpstr>PowerPoint 演示文稿</vt:lpstr>
      <vt:lpstr>Magnetism</vt:lpstr>
      <vt:lpstr>Ferromagnetism</vt:lpstr>
      <vt:lpstr>Antiferromagnetism</vt:lpstr>
      <vt:lpstr>Ferrimagnetism</vt:lpstr>
      <vt:lpstr>磁性</vt:lpstr>
      <vt:lpstr>Coordination Numbers</vt:lpstr>
      <vt:lpstr>Common Ligands</vt:lpstr>
      <vt:lpstr>Chelates</vt:lpstr>
      <vt:lpstr>Nomenclature Rules for Coordination Chemistry</vt:lpstr>
      <vt:lpstr>Nomenclature Rules</vt:lpstr>
      <vt:lpstr>Nomenclature Rules</vt:lpstr>
      <vt:lpstr>Nomenclature Examples</vt:lpstr>
      <vt:lpstr>Isomers</vt:lpstr>
      <vt:lpstr>Crystal-Field Theory</vt:lpstr>
      <vt:lpstr>Crystal-Field Theory</vt:lpstr>
      <vt:lpstr>Crystal-Field Theory</vt:lpstr>
      <vt:lpstr>Crystal-Field Theory</vt:lpstr>
      <vt:lpstr>Crystal-Field Theory</vt:lpstr>
      <vt:lpstr>Crystal-Field Theory</vt:lpstr>
      <vt:lpstr>Crystal-Field Theory</vt:lpstr>
      <vt:lpstr>这就是我觉得比较关键的内容辽 下面开始讨论问题 作业/课后习题/看的书上的问题都可以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乐高Acorn</cp:lastModifiedBy>
  <cp:revision>5</cp:revision>
  <dcterms:created xsi:type="dcterms:W3CDTF">2022-06-13T19:16:00Z</dcterms:created>
  <dcterms:modified xsi:type="dcterms:W3CDTF">2022-06-15T07:05:55Z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3600C1DC96B24E26A49606E60C6A03C7</vt:lpwstr>
  </property>
  <property fmtid="{D5CDD505-2E9C-101B-9397-08002B2CF9AE}" pid="3" name="KSOProductBuildVer">
    <vt:lpwstr>2052-11.1.0.11744</vt:lpwstr>
  </property>
</Properties>
</file>