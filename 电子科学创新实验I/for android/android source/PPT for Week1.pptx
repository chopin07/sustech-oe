
<file path=[Content_Types].xml><?xml version="1.0" encoding="utf-8"?>
<Types xmlns="http://schemas.openxmlformats.org/package/2006/content-types">
  <Default Extension="emf" ContentType="image/x-emf"/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256" r:id="rId3"/>
    <p:sldId id="289" r:id="rId4"/>
    <p:sldId id="306" r:id="rId5"/>
    <p:sldId id="257" r:id="rId6"/>
    <p:sldId id="267" r:id="rId7"/>
    <p:sldId id="258" r:id="rId8"/>
    <p:sldId id="261" r:id="rId9"/>
    <p:sldId id="260" r:id="rId10"/>
    <p:sldId id="271" r:id="rId11"/>
    <p:sldId id="275" r:id="rId12"/>
    <p:sldId id="274" r:id="rId13"/>
    <p:sldId id="276" r:id="rId14"/>
    <p:sldId id="277" r:id="rId15"/>
    <p:sldId id="278" r:id="rId16"/>
    <p:sldId id="268" r:id="rId17"/>
    <p:sldId id="272" r:id="rId18"/>
    <p:sldId id="286" r:id="rId19"/>
    <p:sldId id="281" r:id="rId20"/>
    <p:sldId id="273" r:id="rId21"/>
  </p:sldIdLst>
  <p:sldSz cx="12192000" cy="6858000"/>
  <p:notesSz cx="6858000" cy="9144000"/>
  <p:custDataLst>
    <p:tags r:id="rId2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45" userDrawn="1">
          <p15:clr>
            <a:srgbClr val="A4A3A4"/>
          </p15:clr>
        </p15:guide>
        <p15:guide id="2" pos="3815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yc" initials="y" lastIdx="2" clrIdx="0"/>
  <p:cmAuthor id="2" name="XIA" initials="X" lastIdx="3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41D5"/>
    <a:srgbClr val="0B004C"/>
    <a:srgbClr val="0070C0"/>
    <a:srgbClr val="FFF2CC"/>
    <a:srgbClr val="595959"/>
    <a:srgbClr val="67CDCB"/>
    <a:srgbClr val="01ABA8"/>
    <a:srgbClr val="EA8540"/>
    <a:srgbClr val="404040"/>
    <a:srgbClr val="ED7D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328" autoAdjust="0"/>
    <p:restoredTop sz="94256" autoAdjust="0"/>
  </p:normalViewPr>
  <p:slideViewPr>
    <p:cSldViewPr snapToGrid="0" showGuides="1">
      <p:cViewPr varScale="1">
        <p:scale>
          <a:sx n="72" d="100"/>
          <a:sy n="72" d="100"/>
        </p:scale>
        <p:origin x="198" y="72"/>
      </p:cViewPr>
      <p:guideLst>
        <p:guide orient="horz" pos="2045"/>
        <p:guide pos="3815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8" d="100"/>
          <a:sy n="88" d="100"/>
        </p:scale>
        <p:origin x="3822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8" Type="http://schemas.openxmlformats.org/officeDocument/2006/relationships/tags" Target="tags/tag11.xml"/><Relationship Id="rId27" Type="http://schemas.openxmlformats.org/officeDocument/2006/relationships/commentAuthors" Target="commentAuthors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handoutMaster" Target="handoutMasters/handoutMaster1.xml"/><Relationship Id="rId22" Type="http://schemas.openxmlformats.org/officeDocument/2006/relationships/notesMaster" Target="notesMasters/notesMaster1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1F7419-B139-4427-A8AF-48A8D33B2C96}" type="datetimeFigureOut">
              <a:rPr lang="en-US" smtClean="0"/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5F4A84-F90C-4381-9912-31B4B2D75951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DF845-9C43-41EA-848A-085CEC62B12B}" type="datetime1">
              <a:rPr lang="en-US" altLang="zh-CN" smtClean="0"/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5</a:t>
            </a:r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5FE1F-C64B-4068-A7D3-65251CAD3D18}" type="slidenum">
              <a:rPr lang="en-US" smtClean="0"/>
            </a:fld>
            <a:endParaRPr lang="en-US"/>
          </a:p>
        </p:txBody>
      </p:sp>
      <p:sp>
        <p:nvSpPr>
          <p:cNvPr id="7" name="矩形 6"/>
          <p:cNvSpPr/>
          <p:nvPr userDrawn="1"/>
        </p:nvSpPr>
        <p:spPr>
          <a:xfrm>
            <a:off x="0" y="4140000"/>
            <a:ext cx="12192000" cy="1699200"/>
          </a:xfrm>
          <a:prstGeom prst="rect">
            <a:avLst/>
          </a:prstGeom>
          <a:solidFill>
            <a:srgbClr val="01AB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373192" y="241288"/>
            <a:ext cx="3151216" cy="825000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6197751"/>
            <a:ext cx="12192000" cy="669600"/>
          </a:xfrm>
          <a:prstGeom prst="rect">
            <a:avLst/>
          </a:prstGeom>
          <a:solidFill>
            <a:srgbClr val="01AB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041" y="6195877"/>
            <a:ext cx="5414401" cy="67147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69413"/>
            <a:ext cx="2743200" cy="365125"/>
          </a:xfrm>
        </p:spPr>
        <p:txBody>
          <a:bodyPr/>
          <a:lstStyle/>
          <a:p>
            <a:fld id="{DEB1C5B7-BC1F-4065-A5D7-DA8F8214EA2F}" type="datetime1">
              <a:rPr lang="en-US" altLang="zh-CN" smtClean="0"/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69413"/>
            <a:ext cx="4114800" cy="365125"/>
          </a:xfrm>
        </p:spPr>
        <p:txBody>
          <a:bodyPr/>
          <a:lstStyle/>
          <a:p>
            <a:r>
              <a:rPr lang="en-US"/>
              <a:t>5</a:t>
            </a:r>
            <a:endParaRPr lang="en-US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158400" y="6349051"/>
            <a:ext cx="2743200" cy="365125"/>
          </a:xfrm>
        </p:spPr>
        <p:txBody>
          <a:bodyPr/>
          <a:lstStyle>
            <a:lvl1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245FE1F-C64B-4068-A7D3-65251CAD3D18}" type="slidenum">
              <a:rPr lang="en-US" smtClean="0"/>
            </a:fld>
            <a:endParaRPr lang="en-US"/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2650"/>
          <a:stretch>
            <a:fillRect/>
          </a:stretch>
        </p:blipFill>
        <p:spPr>
          <a:xfrm>
            <a:off x="9828246" y="0"/>
            <a:ext cx="2190500" cy="666750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77481-A774-4724-849E-6E81EDC652A7}" type="datetime1">
              <a:rPr lang="en-US" altLang="zh-CN" smtClean="0"/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5</a:t>
            </a:r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5FE1F-C64B-4068-A7D3-65251CAD3D18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AEFBF-3E4C-4146-9A61-54A52684E1B3}" type="datetime1">
              <a:rPr lang="en-US" altLang="zh-CN" smtClean="0"/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5</a:t>
            </a:r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5FE1F-C64B-4068-A7D3-65251CAD3D18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DC7FF-0BFB-4AA2-92D2-2B1FF18669C0}" type="datetime1">
              <a:rPr lang="en-US" altLang="zh-CN" smtClean="0"/>
            </a:fld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5</a:t>
            </a:r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5FE1F-C64B-4068-A7D3-65251CAD3D18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C4083-3F2C-4AB5-B4CA-2B8A80500855}" type="datetime1">
              <a:rPr lang="en-US" altLang="zh-CN" smtClean="0"/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5</a:t>
            </a:r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5FE1F-C64B-4068-A7D3-65251CAD3D18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AF993-1184-4565-9BBD-6CDFBE40BA1C}" type="datetime1">
              <a:rPr lang="en-US" altLang="zh-CN" smtClean="0"/>
            </a:fld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5</a:t>
            </a:r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5FE1F-C64B-4068-A7D3-65251CAD3D18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FCBBC-AF3B-49C7-8B59-C2D5C89BA0A8}" type="datetime1">
              <a:rPr lang="en-US" altLang="zh-CN" smtClean="0"/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5</a:t>
            </a:r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5FE1F-C64B-4068-A7D3-65251CAD3D18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E9E42-252D-4A44-AF96-4E2E517B733F}" type="datetime1">
              <a:rPr lang="en-US" altLang="zh-CN" smtClean="0"/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5</a:t>
            </a:r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5FE1F-C64B-4068-A7D3-65251CAD3D18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3A0BA-84A2-4F21-B82C-4495AF932D28}" type="datetime1">
              <a:rPr lang="en-US" altLang="zh-CN" smtClean="0"/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5</a:t>
            </a:r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5FE1F-C64B-4068-A7D3-65251CAD3D18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D67B1-5420-4364-99DA-4879E83A61E0}" type="datetime1">
              <a:rPr lang="en-US" altLang="zh-CN" smtClean="0"/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5</a:t>
            </a:r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5FE1F-C64B-4068-A7D3-65251CAD3D18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>
              <a:defRPr/>
            </a:pPr>
            <a:fld id="{9504A3BC-8BDC-4808-9BA4-E05E0555E2CA}" type="datetimeFigureOut">
              <a:rPr lang="zh-CN" altLang="en-US">
                <a:solidFill>
                  <a:prstClr val="black">
                    <a:tint val="75000"/>
                  </a:prstClr>
                </a:solidFill>
                <a:cs typeface="+mn-cs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>
              <a:defRPr/>
            </a:pPr>
            <a:fld id="{5861710D-C170-4F52-9ABA-DCE21D7BB8DF}" type="slidenum">
              <a:rPr lang="zh-CN" altLang="en-US">
                <a:solidFill>
                  <a:prstClr val="black">
                    <a:tint val="75000"/>
                  </a:prstClr>
                </a:solidFill>
                <a:cs typeface="+mn-cs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7BD13E-4157-4F7F-8CB4-F724A15D7107}" type="datetime1">
              <a:rPr lang="en-US" altLang="zh-CN" smtClean="0"/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5</a:t>
            </a:r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45FE1F-C64B-4068-A7D3-65251CAD3D1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/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7.jpeg"/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tags" Target="../tags/tag4.xml"/><Relationship Id="rId6" Type="http://schemas.openxmlformats.org/officeDocument/2006/relationships/tags" Target="../tags/tag3.xml"/><Relationship Id="rId5" Type="http://schemas.openxmlformats.org/officeDocument/2006/relationships/image" Target="../media/image10.png"/><Relationship Id="rId4" Type="http://schemas.openxmlformats.org/officeDocument/2006/relationships/tags" Target="../tags/tag2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8.xml"/><Relationship Id="rId4" Type="http://schemas.openxmlformats.org/officeDocument/2006/relationships/tags" Target="../tags/tag7.xml"/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1" Type="http://schemas.openxmlformats.org/officeDocument/2006/relationships/tags" Target="../tags/tag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98830" y="1379220"/>
            <a:ext cx="10218420" cy="1445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4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Introduction to mobile </a:t>
            </a:r>
            <a:r>
              <a:rPr lang="en-US" sz="4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APP</a:t>
            </a:r>
            <a:r>
              <a:rPr sz="4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development</a:t>
            </a:r>
            <a:endParaRPr lang="en-US" altLang="zh-CN" sz="4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102485" y="2968625"/>
            <a:ext cx="730631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>
                <a:latin typeface="微软雅黑" panose="020B0503020204020204" pitchFamily="34" charset="-122"/>
                <a:ea typeface="微软雅黑" panose="020B0503020204020204" pitchFamily="34" charset="-122"/>
              </a:rPr>
              <a:t>Teacher: Dr. XU Linlin</a:t>
            </a:r>
            <a:endParaRPr lang="zh-CN" altLang="en-US" sz="2400" b="1" kern="0" noProof="0" dirty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00" name="直接连接符 5"/>
          <p:cNvSpPr/>
          <p:nvPr/>
        </p:nvSpPr>
        <p:spPr>
          <a:xfrm>
            <a:off x="755650" y="771525"/>
            <a:ext cx="7705725" cy="0"/>
          </a:xfrm>
          <a:prstGeom prst="line">
            <a:avLst/>
          </a:prstGeom>
          <a:ln w="9525" cap="flat" cmpd="sng">
            <a:solidFill>
              <a:srgbClr val="A5A5A5"/>
            </a:solidFill>
            <a:prstDash val="solid"/>
            <a:bevel/>
            <a:headEnd type="none" w="med" len="med"/>
            <a:tailEnd type="none" w="med" len="med"/>
          </a:ln>
        </p:spPr>
      </p:sp>
      <p:sp>
        <p:nvSpPr>
          <p:cNvPr id="4102" name="TextBox 10"/>
          <p:cNvSpPr/>
          <p:nvPr/>
        </p:nvSpPr>
        <p:spPr>
          <a:xfrm>
            <a:off x="208915" y="248285"/>
            <a:ext cx="4808220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342900" indent="-342900" algn="ctr">
              <a:buFont typeface="Wingdings" panose="05000000000000000000" charset="0"/>
              <a:buChar char="l"/>
            </a:pP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Teacher Introduction</a:t>
            </a:r>
            <a:endParaRPr lang="zh-CN" altLang="en-US" sz="28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08915" y="1472565"/>
            <a:ext cx="9320530" cy="22580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marR="0" lvl="0" indent="-342900" algn="just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lang="zh-CN" altLang="en-US" sz="2400" b="1" kern="0" noProof="0" dirty="0">
                <a:ln>
                  <a:noFill/>
                </a:ln>
                <a:solidFill>
                  <a:srgbClr val="1F2DA8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徐琳琳</a:t>
            </a:r>
            <a:r>
              <a:rPr lang="en-US" altLang="zh-CN" sz="2400" b="1" kern="0" noProof="0" dirty="0" smtClean="0">
                <a:ln>
                  <a:noFill/>
                </a:ln>
                <a:solidFill>
                  <a:srgbClr val="1F2DA8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(Xu </a:t>
            </a:r>
            <a:r>
              <a:rPr lang="en-US" altLang="zh-CN" sz="2400" b="1" kern="0" noProof="0" dirty="0" err="1" smtClean="0">
                <a:ln>
                  <a:noFill/>
                </a:ln>
                <a:solidFill>
                  <a:srgbClr val="1F2DA8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Linlin</a:t>
            </a:r>
            <a:r>
              <a:rPr lang="en-US" altLang="zh-CN" sz="2400" b="1" kern="0" noProof="0" dirty="0" smtClean="0">
                <a:ln>
                  <a:noFill/>
                </a:ln>
                <a:solidFill>
                  <a:srgbClr val="1F2DA8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)</a:t>
            </a:r>
            <a:r>
              <a:rPr lang="zh-CN" altLang="en-US" sz="2400" b="1" kern="0" noProof="0" dirty="0" smtClean="0">
                <a:ln>
                  <a:noFill/>
                </a:ln>
                <a:solidFill>
                  <a:srgbClr val="1F2DA8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</a:t>
            </a:r>
            <a:r>
              <a:rPr lang="zh-CN" altLang="en-US" sz="2400" b="1" kern="0" noProof="0" dirty="0" smtClean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</a:t>
            </a:r>
            <a:r>
              <a:rPr lang="zh-CN" altLang="en-US" b="1" kern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Senior laboratory technician</a:t>
            </a:r>
            <a:endParaRPr lang="en-US" altLang="zh-CN" sz="2400" b="1" kern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800100" marR="0" lvl="1" indent="-342900" algn="just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defRPr/>
            </a:pPr>
            <a:r>
              <a:rPr lang="en-US" altLang="zh-CN" sz="2000" b="1" kern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Office: Hui Yuan Room 411 in Building 2</a:t>
            </a:r>
            <a:r>
              <a:rPr lang="en-US" altLang="zh-CN" sz="2000" b="1" kern="0" baseline="3000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# </a:t>
            </a:r>
            <a:endParaRPr lang="en-US" altLang="zh-CN" sz="2000" b="1" kern="0" noProof="0" dirty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800100" marR="0" lvl="1" indent="-342900" algn="just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defRPr/>
            </a:pPr>
            <a:r>
              <a:rPr lang="en-US" altLang="zh-CN" sz="2000" b="1" kern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TEL:13534062905       </a:t>
            </a:r>
            <a:endParaRPr lang="en-US" altLang="zh-CN" sz="2000" b="1" kern="0" noProof="0" dirty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800100" marR="0" lvl="1" indent="-342900" algn="just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defRPr/>
            </a:pPr>
            <a:r>
              <a:rPr lang="en-US" altLang="zh-CN" sz="2000" b="1" kern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Email</a:t>
            </a:r>
            <a:r>
              <a:rPr lang="zh-CN" altLang="en-US" sz="2000" b="1" kern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</a:t>
            </a:r>
            <a:r>
              <a:rPr lang="en-US" altLang="zh-CN" sz="2000" b="1" kern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xull@sustech.edu.cn</a:t>
            </a:r>
            <a:endParaRPr lang="en-US" altLang="zh-CN" sz="2000" b="1" kern="0" noProof="0" dirty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800100" marR="0" lvl="1" indent="-342900" algn="just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defRPr/>
            </a:pPr>
            <a:r>
              <a:rPr lang="en-US" altLang="zh-CN" sz="2000" b="1" kern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Open office hour</a:t>
            </a:r>
            <a:r>
              <a:rPr lang="zh-CN" altLang="en-US" sz="2000" b="1" kern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：周二</a:t>
            </a:r>
            <a:r>
              <a:rPr lang="en-US" altLang="zh-CN" sz="2000" b="1" kern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14:00~16:00</a:t>
            </a:r>
            <a:endParaRPr lang="zh-CN" altLang="en-US" sz="2000" b="1" kern="0" noProof="0" dirty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245FE1F-C64B-4068-A7D3-65251CAD3D18}" type="slidenum">
              <a:rPr lang="en-US" smtClean="0"/>
            </a:fld>
            <a:endParaRPr 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75600" y="789940"/>
            <a:ext cx="3809365" cy="257302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4650" y="3405505"/>
            <a:ext cx="3797300" cy="2584450"/>
          </a:xfrm>
          <a:prstGeom prst="rect">
            <a:avLst/>
          </a:prstGeom>
        </p:spPr>
      </p:pic>
      <p:pic>
        <p:nvPicPr>
          <p:cNvPr id="7" name="图片 6" descr="鸿蒙认证-高级证书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4650" y="788035"/>
            <a:ext cx="3690620" cy="5220970"/>
          </a:xfrm>
          <a:prstGeom prst="rect">
            <a:avLst/>
          </a:prstGeom>
        </p:spPr>
      </p:pic>
      <p:pic>
        <p:nvPicPr>
          <p:cNvPr id="8" name="图片 7" descr="鸿蒙认证-初级证书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180" y="789940"/>
            <a:ext cx="3689350" cy="521906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64610" y="132770"/>
            <a:ext cx="348869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Content</a:t>
            </a:r>
            <a:endParaRPr sz="4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282215" y="1857676"/>
            <a:ext cx="34458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226694" y="1057965"/>
            <a:ext cx="11583035" cy="39693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 algn="l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Introduction to A</a:t>
            </a:r>
            <a:r>
              <a:rPr lang="en-US" altLang="zh-CN" sz="2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n</a:t>
            </a:r>
            <a:r>
              <a:rPr lang="zh-CN" altLang="en-US" sz="2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driod based mobile </a:t>
            </a:r>
            <a:r>
              <a:rPr lang="en-US" altLang="zh-CN" sz="2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APP</a:t>
            </a:r>
            <a:r>
              <a:rPr lang="zh-CN" altLang="en-US" sz="2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development</a:t>
            </a:r>
            <a:r>
              <a:rPr lang="en-US" altLang="zh-CN" sz="2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.</a:t>
            </a:r>
            <a:endParaRPr lang="zh-CN" altLang="en-US" sz="28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514350" indent="-514350" algn="l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Mobile</a:t>
            </a:r>
            <a:r>
              <a:rPr lang="en-US" altLang="zh-CN" sz="2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APP</a:t>
            </a:r>
            <a:r>
              <a:rPr lang="zh-CN" altLang="en-US" sz="2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development process</a:t>
            </a:r>
            <a:r>
              <a:rPr lang="en-US" altLang="zh-CN" sz="2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.</a:t>
            </a:r>
            <a:endParaRPr lang="zh-CN" altLang="en-US" sz="28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514350" indent="-514350" algn="l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Introduction to</a:t>
            </a:r>
            <a:r>
              <a:rPr lang="en-US" altLang="zh-CN" sz="2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sz="2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</a:t>
            </a:r>
            <a:r>
              <a:rPr lang="en-US" altLang="zh-CN" sz="2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n</a:t>
            </a:r>
            <a:r>
              <a:rPr lang="zh-CN" altLang="en-US" sz="2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driod</a:t>
            </a:r>
            <a:r>
              <a:rPr lang="en-US" altLang="zh-CN" sz="2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Studio .</a:t>
            </a:r>
            <a:endParaRPr lang="zh-CN" altLang="en-US" sz="28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514350" indent="-514350" algn="l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Introduction to Android </a:t>
            </a:r>
            <a:r>
              <a:rPr lang="en-US" altLang="zh-CN" sz="2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</a:t>
            </a:r>
            <a:r>
              <a:rPr lang="zh-CN" altLang="en-US" sz="2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tudio layout and </a:t>
            </a:r>
            <a:r>
              <a:rPr lang="en-US" altLang="zh-CN" sz="2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components.</a:t>
            </a:r>
            <a:endParaRPr lang="en-US" altLang="zh-CN" sz="28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514350" indent="-514350" algn="l">
              <a:lnSpc>
                <a:spcPct val="150000"/>
              </a:lnSpc>
              <a:buFont typeface="+mj-lt"/>
              <a:buAutoNum type="arabicPeriod"/>
            </a:pPr>
            <a:r>
              <a:rPr lang="en-US" altLang="zh-CN" sz="2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Course projects .</a:t>
            </a:r>
            <a:endParaRPr lang="zh-CN" altLang="en-US" sz="28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514350" indent="-514350" algn="l">
              <a:lnSpc>
                <a:spcPct val="150000"/>
              </a:lnSpc>
              <a:buFont typeface="+mj-lt"/>
              <a:buAutoNum type="arabicPeriod"/>
            </a:pPr>
            <a:r>
              <a:rPr lang="en-US" altLang="zh-CN" sz="2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Task.</a:t>
            </a:r>
            <a:endParaRPr lang="en-US" altLang="zh-CN" sz="28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-53340" y="955675"/>
            <a:ext cx="12172950" cy="15665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57200" indent="-457200" algn="just">
              <a:buFont typeface="Wingdings" panose="05000000000000000000" charset="0"/>
              <a:buChar char="l"/>
            </a:pPr>
            <a:r>
              <a:rPr lang="en-US" altLang="zh-CN" sz="2000" b="1" dirty="0">
                <a:solidFill>
                  <a:srgbClr val="1D41D5"/>
                </a:solidFill>
                <a:highlight>
                  <a:srgbClr val="FFFF00"/>
                </a:highlight>
              </a:rPr>
              <a:t>2024</a:t>
            </a:r>
            <a:r>
              <a:rPr lang="zh-CN" altLang="en-US" sz="2000" b="1" dirty="0">
                <a:solidFill>
                  <a:srgbClr val="1D41D5"/>
                </a:solidFill>
                <a:highlight>
                  <a:srgbClr val="FFFF00"/>
                </a:highlight>
              </a:rPr>
              <a:t>年第三季度</a:t>
            </a:r>
            <a:r>
              <a:rPr lang="zh-CN" altLang="en-US" sz="2000" b="1" dirty="0">
                <a:solidFill>
                  <a:srgbClr val="1D41D5"/>
                </a:solidFill>
              </a:rPr>
              <a:t>，</a:t>
            </a:r>
            <a:r>
              <a:rPr lang="zh-CN" altLang="en-US" sz="2000" b="1" dirty="0">
                <a:solidFill>
                  <a:srgbClr val="1D41D5"/>
                </a:solidFill>
                <a:sym typeface="+mn-ea"/>
              </a:rPr>
              <a:t>国内市场中，</a:t>
            </a:r>
            <a:r>
              <a:rPr lang="zh-CN" altLang="en-US" sz="2000" b="1" dirty="0">
                <a:solidFill>
                  <a:srgbClr val="1D41D5"/>
                </a:solidFill>
              </a:rPr>
              <a:t>华为</a:t>
            </a:r>
            <a:r>
              <a:rPr lang="en-US" altLang="zh-CN" sz="2000" b="1" dirty="0">
                <a:solidFill>
                  <a:srgbClr val="FF0000"/>
                </a:solidFill>
              </a:rPr>
              <a:t>HarmonyOS</a:t>
            </a:r>
            <a:r>
              <a:rPr lang="zh-CN" altLang="en-US" sz="2000" b="1" dirty="0">
                <a:solidFill>
                  <a:srgbClr val="1D41D5"/>
                </a:solidFill>
              </a:rPr>
              <a:t>的份额从</a:t>
            </a:r>
            <a:r>
              <a:rPr lang="en-US" altLang="zh-CN" sz="2000" b="1" dirty="0">
                <a:solidFill>
                  <a:srgbClr val="FF0000"/>
                </a:solidFill>
              </a:rPr>
              <a:t>13%</a:t>
            </a:r>
            <a:r>
              <a:rPr lang="zh-CN" altLang="en-US" sz="2000" b="1" dirty="0">
                <a:solidFill>
                  <a:srgbClr val="1D41D5"/>
                </a:solidFill>
              </a:rPr>
              <a:t>增至</a:t>
            </a:r>
            <a:r>
              <a:rPr lang="en-US" altLang="zh-CN" sz="2000" b="1" dirty="0">
                <a:solidFill>
                  <a:srgbClr val="FF0000"/>
                </a:solidFill>
              </a:rPr>
              <a:t>15%</a:t>
            </a:r>
            <a:r>
              <a:rPr lang="zh-CN" altLang="en-US" sz="2000" b="1" dirty="0">
                <a:solidFill>
                  <a:srgbClr val="1D41D5"/>
                </a:solidFill>
              </a:rPr>
              <a:t>，安卓系统则从</a:t>
            </a:r>
            <a:r>
              <a:rPr lang="en-US" altLang="zh-CN" sz="2000" b="1" dirty="0">
                <a:solidFill>
                  <a:srgbClr val="FF0000"/>
                </a:solidFill>
              </a:rPr>
              <a:t>72%</a:t>
            </a:r>
            <a:r>
              <a:rPr lang="zh-CN" altLang="en-US" sz="2000" b="1" dirty="0">
                <a:solidFill>
                  <a:srgbClr val="1D41D5"/>
                </a:solidFill>
              </a:rPr>
              <a:t>下降至</a:t>
            </a:r>
            <a:r>
              <a:rPr lang="en-US" altLang="zh-CN" sz="2000" b="1" dirty="0">
                <a:solidFill>
                  <a:srgbClr val="FF0000"/>
                </a:solidFill>
              </a:rPr>
              <a:t>70%</a:t>
            </a:r>
            <a:r>
              <a:rPr lang="zh-CN" altLang="en-US" sz="2000" b="1" dirty="0">
                <a:solidFill>
                  <a:srgbClr val="1D41D5"/>
                </a:solidFill>
              </a:rPr>
              <a:t>，苹果</a:t>
            </a:r>
            <a:r>
              <a:rPr lang="en-US" altLang="zh-CN" sz="2000" b="1" dirty="0">
                <a:solidFill>
                  <a:srgbClr val="1D41D5"/>
                </a:solidFill>
              </a:rPr>
              <a:t>iOS</a:t>
            </a:r>
            <a:r>
              <a:rPr lang="zh-CN" altLang="en-US" sz="2000" b="1" dirty="0">
                <a:solidFill>
                  <a:srgbClr val="1D41D5"/>
                </a:solidFill>
              </a:rPr>
              <a:t>保持在</a:t>
            </a:r>
            <a:r>
              <a:rPr lang="en-US" altLang="zh-CN" sz="2000" b="1" dirty="0">
                <a:solidFill>
                  <a:srgbClr val="FF0000"/>
                </a:solidFill>
              </a:rPr>
              <a:t>15%</a:t>
            </a:r>
            <a:r>
              <a:rPr lang="zh-CN" altLang="en-US" sz="2000" b="1" dirty="0">
                <a:solidFill>
                  <a:srgbClr val="1D41D5"/>
                </a:solidFill>
              </a:rPr>
              <a:t>。</a:t>
            </a:r>
            <a:endParaRPr lang="zh-CN" altLang="en-US" sz="2000" b="1" dirty="0">
              <a:solidFill>
                <a:srgbClr val="1D41D5"/>
              </a:solidFill>
            </a:endParaRPr>
          </a:p>
          <a:p>
            <a:pPr marL="457200" indent="-457200" algn="just">
              <a:buFont typeface="Wingdings" panose="05000000000000000000" charset="0"/>
              <a:buChar char="l"/>
            </a:pPr>
            <a:r>
              <a:rPr lang="zh-CN" altLang="en-US" sz="2000" b="1" dirty="0">
                <a:solidFill>
                  <a:srgbClr val="1D41D5"/>
                </a:solidFill>
                <a:highlight>
                  <a:srgbClr val="FFFF00"/>
                </a:highlight>
              </a:rPr>
              <a:t>截至</a:t>
            </a:r>
            <a:r>
              <a:rPr lang="en-US" altLang="zh-CN" sz="2000" b="1" dirty="0">
                <a:solidFill>
                  <a:srgbClr val="1D41D5"/>
                </a:solidFill>
                <a:highlight>
                  <a:srgbClr val="FFFF00"/>
                </a:highlight>
              </a:rPr>
              <a:t>2025</a:t>
            </a:r>
            <a:r>
              <a:rPr lang="zh-CN" altLang="en-US" sz="2000" b="1" dirty="0">
                <a:solidFill>
                  <a:srgbClr val="1D41D5"/>
                </a:solidFill>
                <a:highlight>
                  <a:srgbClr val="FFFF00"/>
                </a:highlight>
              </a:rPr>
              <a:t>年</a:t>
            </a:r>
            <a:r>
              <a:rPr lang="en-US" altLang="zh-CN" sz="2000" b="1" dirty="0">
                <a:solidFill>
                  <a:srgbClr val="1D41D5"/>
                </a:solidFill>
                <a:highlight>
                  <a:srgbClr val="FFFF00"/>
                </a:highlight>
              </a:rPr>
              <a:t>1</a:t>
            </a:r>
            <a:r>
              <a:rPr lang="zh-CN" altLang="en-US" sz="2000" b="1" dirty="0">
                <a:solidFill>
                  <a:srgbClr val="1D41D5"/>
                </a:solidFill>
                <a:highlight>
                  <a:srgbClr val="FFFF00"/>
                </a:highlight>
              </a:rPr>
              <a:t>月</a:t>
            </a:r>
            <a:r>
              <a:rPr lang="zh-CN" altLang="en-US" sz="2000" b="1" dirty="0">
                <a:solidFill>
                  <a:srgbClr val="1D41D5"/>
                </a:solidFill>
              </a:rPr>
              <a:t>，已有超过</a:t>
            </a:r>
            <a:r>
              <a:rPr lang="en-US" altLang="zh-CN" sz="2000" b="1" dirty="0">
                <a:solidFill>
                  <a:srgbClr val="FF0000"/>
                </a:solidFill>
              </a:rPr>
              <a:t>3</a:t>
            </a:r>
            <a:r>
              <a:rPr lang="zh-CN" altLang="en-US" sz="2000" b="1" dirty="0">
                <a:solidFill>
                  <a:srgbClr val="1D41D5"/>
                </a:solidFill>
              </a:rPr>
              <a:t>亿台设备接入了鸿蒙生态，包括智能手机、平板电脑、智能穿戴设备等。</a:t>
            </a:r>
            <a:endParaRPr lang="zh-CN" altLang="en-US" sz="2000" b="1" dirty="0">
              <a:solidFill>
                <a:srgbClr val="1D41D5"/>
              </a:solidFill>
            </a:endParaRPr>
          </a:p>
          <a:p>
            <a:pPr marL="457200" indent="-457200" algn="just">
              <a:buFont typeface="Wingdings" panose="05000000000000000000" charset="0"/>
              <a:buChar char="l"/>
            </a:pPr>
            <a:r>
              <a:rPr lang="zh-CN" altLang="en-US" sz="2000" b="1" dirty="0">
                <a:solidFill>
                  <a:srgbClr val="1D41D5"/>
                </a:solidFill>
              </a:rPr>
              <a:t>从全球市场来看，鸿蒙系统的份额已从</a:t>
            </a:r>
            <a:r>
              <a:rPr lang="en-US" altLang="zh-CN" sz="2000" b="1" dirty="0">
                <a:solidFill>
                  <a:srgbClr val="FF0000"/>
                </a:solidFill>
              </a:rPr>
              <a:t>2%</a:t>
            </a:r>
            <a:r>
              <a:rPr lang="zh-CN" altLang="en-US" sz="2000" b="1" dirty="0">
                <a:solidFill>
                  <a:srgbClr val="1D41D5"/>
                </a:solidFill>
              </a:rPr>
              <a:t>增长到</a:t>
            </a:r>
            <a:r>
              <a:rPr lang="en-US" altLang="zh-CN" sz="2000" b="1" dirty="0">
                <a:solidFill>
                  <a:srgbClr val="FF0000"/>
                </a:solidFill>
              </a:rPr>
              <a:t>4%</a:t>
            </a:r>
            <a:r>
              <a:rPr lang="zh-CN" altLang="en-US" sz="2000" b="1" dirty="0">
                <a:solidFill>
                  <a:srgbClr val="1D41D5"/>
                </a:solidFill>
              </a:rPr>
              <a:t>。</a:t>
            </a:r>
            <a:endParaRPr lang="zh-CN" altLang="en-US" sz="2000" b="1" dirty="0">
              <a:solidFill>
                <a:srgbClr val="1D41D5"/>
              </a:solidFill>
            </a:endParaRPr>
          </a:p>
          <a:p>
            <a:pPr indent="0" algn="ctr">
              <a:buFont typeface="Wingdings" panose="05000000000000000000" charset="0"/>
              <a:buNone/>
            </a:pPr>
            <a:r>
              <a:rPr lang="zh-CN" altLang="en-US" sz="1600" b="1" dirty="0">
                <a:solidFill>
                  <a:schemeClr val="tx1"/>
                </a:solidFill>
                <a:sym typeface="+mn-ea"/>
              </a:rPr>
              <a:t>（数据来源：</a:t>
            </a:r>
            <a:r>
              <a:rPr lang="en-US" altLang="zh-CN" sz="1600" b="1" dirty="0">
                <a:solidFill>
                  <a:schemeClr val="tx1"/>
                </a:solidFill>
                <a:sym typeface="+mn-ea"/>
              </a:rPr>
              <a:t>TechInsight</a:t>
            </a:r>
            <a:r>
              <a:rPr lang="zh-CN" altLang="en-US" sz="1600" b="1" dirty="0">
                <a:solidFill>
                  <a:schemeClr val="tx1"/>
                </a:solidFill>
                <a:sym typeface="+mn-ea"/>
              </a:rPr>
              <a:t>、</a:t>
            </a:r>
            <a:r>
              <a:rPr lang="en-US" altLang="zh-CN" sz="1600" b="1" dirty="0">
                <a:solidFill>
                  <a:schemeClr val="tx1"/>
                </a:solidFill>
                <a:sym typeface="+mn-ea"/>
              </a:rPr>
              <a:t>Counterpoint</a:t>
            </a:r>
            <a:r>
              <a:rPr lang="zh-CN" altLang="en-US" sz="1600" b="1" dirty="0">
                <a:solidFill>
                  <a:schemeClr val="tx1"/>
                </a:solidFill>
                <a:sym typeface="+mn-ea"/>
              </a:rPr>
              <a:t>等）</a:t>
            </a:r>
            <a:endParaRPr lang="zh-CN" altLang="en-US" sz="1600" b="1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294" y="-750"/>
            <a:ext cx="10720627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0" algn="l">
              <a:lnSpc>
                <a:spcPct val="200000"/>
              </a:lnSpc>
              <a:buFont typeface="+mj-lt"/>
              <a:buNone/>
            </a:pPr>
            <a:r>
              <a:rPr 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1.</a:t>
            </a:r>
            <a:r>
              <a:rPr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Introduction to </a:t>
            </a:r>
            <a:r>
              <a:rPr lang="en-US" sz="2800" b="1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Andriod</a:t>
            </a:r>
            <a:r>
              <a:rPr 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based </a:t>
            </a:r>
            <a:r>
              <a:rPr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mobile </a:t>
            </a:r>
            <a:r>
              <a:rPr 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APP</a:t>
            </a:r>
            <a:r>
              <a:rPr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development</a:t>
            </a:r>
            <a:endParaRPr lang="zh-CN" altLang="en-US" sz="28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r="28173" b="8606"/>
          <a:stretch>
            <a:fillRect/>
          </a:stretch>
        </p:blipFill>
        <p:spPr>
          <a:xfrm>
            <a:off x="5327015" y="2768600"/>
            <a:ext cx="2713355" cy="2589530"/>
          </a:xfrm>
          <a:prstGeom prst="rect">
            <a:avLst/>
          </a:prstGeom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3026"/>
          <a:stretch>
            <a:fillRect/>
          </a:stretch>
        </p:blipFill>
        <p:spPr bwMode="auto">
          <a:xfrm>
            <a:off x="756285" y="2768600"/>
            <a:ext cx="4387850" cy="25895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图片 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rcRect r="35301"/>
          <a:stretch>
            <a:fillRect/>
          </a:stretch>
        </p:blipFill>
        <p:spPr>
          <a:xfrm>
            <a:off x="8149590" y="2730500"/>
            <a:ext cx="2965450" cy="265557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014095" y="5386070"/>
            <a:ext cx="401193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Android </a:t>
            </a:r>
            <a:r>
              <a:rPr lang="en-US" altLang="zh-CN" sz="1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</a:t>
            </a:r>
            <a:r>
              <a:rPr lang="zh-CN" altLang="en-US" sz="1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tudio</a:t>
            </a:r>
            <a:r>
              <a:rPr lang="zh-CN" altLang="en-US" sz="1400" b="1" dirty="0">
                <a:solidFill>
                  <a:srgbClr val="002060"/>
                </a:solidFill>
                <a:latin typeface="楷体" panose="02010609060101010101" charset="-122"/>
                <a:ea typeface="楷体" panose="02010609060101010101" charset="-122"/>
                <a:cs typeface="微软雅黑" panose="020B0503020204020204" pitchFamily="34" charset="-122"/>
                <a:sym typeface="+mn-ea"/>
              </a:rPr>
              <a:t>（安卓集成开发环境）</a:t>
            </a:r>
            <a:endParaRPr lang="zh-CN" altLang="en-US" sz="1400" b="1" dirty="0">
              <a:solidFill>
                <a:srgbClr val="002060"/>
              </a:solidFill>
              <a:latin typeface="楷体" panose="02010609060101010101" charset="-122"/>
              <a:ea typeface="楷体" panose="02010609060101010101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8" name="文本框 7"/>
          <p:cNvSpPr txBox="1"/>
          <p:nvPr>
            <p:custDataLst>
              <p:tags r:id="rId6"/>
            </p:custDataLst>
          </p:nvPr>
        </p:nvSpPr>
        <p:spPr>
          <a:xfrm>
            <a:off x="5461000" y="5358130"/>
            <a:ext cx="294513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1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Xcode</a:t>
            </a:r>
            <a:r>
              <a:rPr lang="zh-CN" altLang="en-US" sz="1400" b="1" dirty="0">
                <a:solidFill>
                  <a:srgbClr val="002060"/>
                </a:solidFill>
                <a:latin typeface="楷体" panose="02010609060101010101" charset="-122"/>
                <a:ea typeface="楷体" panose="02010609060101010101" charset="-122"/>
                <a:cs typeface="微软雅黑" panose="020B0503020204020204" pitchFamily="34" charset="-122"/>
                <a:sym typeface="+mn-ea"/>
              </a:rPr>
              <a:t>（苹果集成开发环境）</a:t>
            </a:r>
            <a:endParaRPr lang="en-US" altLang="zh-CN" sz="1400" b="1" dirty="0">
              <a:solidFill>
                <a:srgbClr val="002060"/>
              </a:solidFill>
              <a:latin typeface="楷体" panose="02010609060101010101" charset="-122"/>
              <a:ea typeface="楷体" panose="02010609060101010101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9" name="文本框 8"/>
          <p:cNvSpPr txBox="1"/>
          <p:nvPr>
            <p:custDataLst>
              <p:tags r:id="rId7"/>
            </p:custDataLst>
          </p:nvPr>
        </p:nvSpPr>
        <p:spPr>
          <a:xfrm>
            <a:off x="8199120" y="5317490"/>
            <a:ext cx="3096895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sz="1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DevEco</a:t>
            </a:r>
            <a:r>
              <a:rPr lang="zh-CN" altLang="en-US" sz="1600" b="1" dirty="0">
                <a:solidFill>
                  <a:srgbClr val="002060"/>
                </a:solidFill>
                <a:latin typeface="楷体" panose="02010609060101010101" charset="-122"/>
                <a:ea typeface="楷体" panose="02010609060101010101" charset="-122"/>
                <a:cs typeface="微软雅黑" panose="020B0503020204020204" pitchFamily="34" charset="-122"/>
                <a:sym typeface="+mn-ea"/>
              </a:rPr>
              <a:t>（</a:t>
            </a:r>
            <a:r>
              <a:rPr lang="zh-CN" altLang="en-US" sz="1400" b="1" dirty="0">
                <a:solidFill>
                  <a:srgbClr val="002060"/>
                </a:solidFill>
                <a:latin typeface="楷体" panose="02010609060101010101" charset="-122"/>
                <a:ea typeface="楷体" panose="02010609060101010101" charset="-122"/>
                <a:cs typeface="微软雅黑" panose="020B0503020204020204" pitchFamily="34" charset="-122"/>
                <a:sym typeface="+mn-ea"/>
              </a:rPr>
              <a:t>鸿蒙集成开发环境）</a:t>
            </a:r>
            <a:endParaRPr lang="en-US" sz="16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13030" y="5751195"/>
            <a:ext cx="1188593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>
                <a:solidFill>
                  <a:srgbClr val="1D41D5"/>
                </a:solidFill>
                <a:highlight>
                  <a:srgbClr val="00FFFF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据华为官方数据</a:t>
            </a:r>
            <a:r>
              <a:rPr lang="zh-CN" altLang="en-US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，鸿蒙系统的响应速度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比安卓快</a:t>
            </a:r>
            <a:r>
              <a:rPr lang="en-US" altLang="zh-CN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60%</a:t>
            </a:r>
            <a:r>
              <a:rPr lang="zh-CN" altLang="en-US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，流畅度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比</a:t>
            </a:r>
            <a:r>
              <a:rPr lang="en-US" altLang="zh-CN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iOS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高出</a:t>
            </a:r>
            <a:r>
              <a:rPr lang="en-US" altLang="zh-CN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20%</a:t>
            </a:r>
            <a:r>
              <a:rPr lang="zh-CN" altLang="en-US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，为用户带来了极致流畅的操作体验。</a:t>
            </a:r>
            <a:endParaRPr lang="zh-CN" altLang="en-US" b="1">
              <a:solidFill>
                <a:srgbClr val="1D41D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12689" y="225945"/>
            <a:ext cx="10714215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0" algn="l">
              <a:lnSpc>
                <a:spcPct val="200000"/>
              </a:lnSpc>
              <a:buFont typeface="+mj-lt"/>
              <a:buNone/>
            </a:pPr>
            <a:r>
              <a:rPr 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1.</a:t>
            </a:r>
            <a:r>
              <a:rPr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Introduction to </a:t>
            </a:r>
            <a:r>
              <a:rPr lang="en-US" sz="2800" b="1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Andriod</a:t>
            </a:r>
            <a:r>
              <a:rPr 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based </a:t>
            </a:r>
            <a:r>
              <a:rPr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mobile </a:t>
            </a:r>
            <a:r>
              <a:rPr 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APP</a:t>
            </a:r>
            <a:r>
              <a:rPr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development</a:t>
            </a:r>
            <a:endParaRPr lang="zh-CN" altLang="en-US" sz="28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87325" y="1509395"/>
            <a:ext cx="11666220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+mj-ea"/>
              <a:buAutoNum type="circleNumDbPlain"/>
            </a:pPr>
            <a:r>
              <a:rPr lang="en-US" altLang="zh-CN" sz="2400" b="1" dirty="0">
                <a:solidFill>
                  <a:srgbClr val="1D41D5"/>
                </a:solidFill>
              </a:rPr>
              <a:t>Android</a:t>
            </a:r>
            <a:r>
              <a:rPr lang="en-US" altLang="zh-CN" sz="2400" b="1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en-US" altLang="zh-CN" sz="2400" dirty="0">
                <a:solidFill>
                  <a:schemeClr val="accent5">
                    <a:lumMod val="50000"/>
                  </a:schemeClr>
                </a:solidFill>
              </a:rPr>
              <a:t>is an operating system developed by </a:t>
            </a:r>
            <a:r>
              <a:rPr lang="en-US" altLang="zh-CN" sz="2400" b="1" dirty="0">
                <a:solidFill>
                  <a:srgbClr val="FF0000"/>
                </a:solidFill>
              </a:rPr>
              <a:t>Google</a:t>
            </a:r>
            <a:r>
              <a:rPr lang="en-US" altLang="zh-CN" sz="2400" dirty="0">
                <a:solidFill>
                  <a:schemeClr val="accent5">
                    <a:lumMod val="50000"/>
                  </a:schemeClr>
                </a:solidFill>
              </a:rPr>
              <a:t>, based on </a:t>
            </a:r>
            <a:r>
              <a:rPr lang="en-US" altLang="zh-CN" sz="2400" b="1" dirty="0">
                <a:solidFill>
                  <a:srgbClr val="1D41D5"/>
                </a:solidFill>
              </a:rPr>
              <a:t>Linux</a:t>
            </a:r>
            <a:r>
              <a:rPr lang="en-US" altLang="zh-CN" sz="2400" dirty="0">
                <a:solidFill>
                  <a:schemeClr val="accent5">
                    <a:lumMod val="50000"/>
                  </a:schemeClr>
                </a:solidFill>
              </a:rPr>
              <a:t> platform and mainly aimed at </a:t>
            </a:r>
            <a:r>
              <a:rPr lang="en-US" altLang="zh-CN" sz="2400" b="1" dirty="0">
                <a:solidFill>
                  <a:srgbClr val="1D41D5"/>
                </a:solidFill>
              </a:rPr>
              <a:t>mobile terminals</a:t>
            </a:r>
            <a:r>
              <a:rPr lang="en-US" altLang="zh-CN" sz="2400" dirty="0">
                <a:solidFill>
                  <a:schemeClr val="accent5">
                    <a:lumMod val="50000"/>
                  </a:schemeClr>
                </a:solidFill>
              </a:rPr>
              <a:t>;</a:t>
            </a:r>
            <a:endParaRPr lang="en-US" altLang="zh-CN" sz="2400" dirty="0">
              <a:solidFill>
                <a:schemeClr val="accent5">
                  <a:lumMod val="50000"/>
                </a:schemeClr>
              </a:solidFill>
            </a:endParaRPr>
          </a:p>
          <a:p>
            <a:pPr marL="342900" indent="-342900" algn="just">
              <a:lnSpc>
                <a:spcPct val="150000"/>
              </a:lnSpc>
              <a:buFont typeface="+mj-ea"/>
              <a:buAutoNum type="circleNumDbPlain"/>
            </a:pPr>
            <a:r>
              <a:rPr lang="en-US" altLang="zh-CN" sz="2400" dirty="0">
                <a:solidFill>
                  <a:schemeClr val="accent5">
                    <a:lumMod val="50000"/>
                  </a:schemeClr>
                </a:solidFill>
              </a:rPr>
              <a:t>Now, the development tool of Android is </a:t>
            </a:r>
            <a:r>
              <a:rPr lang="en-US" altLang="zh-CN" sz="2400" b="1" dirty="0">
                <a:solidFill>
                  <a:srgbClr val="1D41D5"/>
                </a:solidFill>
              </a:rPr>
              <a:t>Android studio </a:t>
            </a:r>
            <a:r>
              <a:rPr lang="zh-CN" altLang="en-US" sz="2400" b="1" dirty="0">
                <a:solidFill>
                  <a:srgbClr val="1D41D5"/>
                </a:solidFill>
              </a:rPr>
              <a:t>（</a:t>
            </a:r>
            <a:r>
              <a:rPr lang="en-US" altLang="zh-CN" sz="2400" b="1" dirty="0">
                <a:solidFill>
                  <a:srgbClr val="1D41D5"/>
                </a:solidFill>
              </a:rPr>
              <a:t>which is launched at 2013</a:t>
            </a:r>
            <a:r>
              <a:rPr lang="zh-CN" altLang="en-US" sz="2400" b="1" dirty="0">
                <a:solidFill>
                  <a:srgbClr val="1D41D5"/>
                </a:solidFill>
              </a:rPr>
              <a:t>）</a:t>
            </a:r>
            <a:r>
              <a:rPr lang="en-US" altLang="zh-CN" sz="2400" b="1" dirty="0">
                <a:solidFill>
                  <a:schemeClr val="accent5">
                    <a:lumMod val="50000"/>
                  </a:schemeClr>
                </a:solidFill>
              </a:rPr>
              <a:t>,</a:t>
            </a:r>
            <a:r>
              <a:rPr lang="en-US" altLang="zh-CN" sz="2400" dirty="0">
                <a:solidFill>
                  <a:schemeClr val="accent5">
                    <a:lumMod val="50000"/>
                  </a:schemeClr>
                </a:solidFill>
              </a:rPr>
              <a:t> and the main development language is</a:t>
            </a:r>
            <a:r>
              <a:rPr lang="en-US" altLang="zh-CN" sz="2400" b="1" dirty="0">
                <a:solidFill>
                  <a:srgbClr val="1D41D5"/>
                </a:solidFill>
              </a:rPr>
              <a:t> Java</a:t>
            </a:r>
            <a:r>
              <a:rPr lang="en-US" altLang="zh-CN" sz="2400" dirty="0">
                <a:solidFill>
                  <a:schemeClr val="accent5">
                    <a:lumMod val="50000"/>
                  </a:schemeClr>
                </a:solidFill>
              </a:rPr>
              <a:t>;</a:t>
            </a:r>
            <a:endParaRPr lang="en-US" altLang="zh-CN" sz="2400" dirty="0">
              <a:solidFill>
                <a:schemeClr val="accent5">
                  <a:lumMod val="50000"/>
                </a:schemeClr>
              </a:solidFill>
            </a:endParaRPr>
          </a:p>
          <a:p>
            <a:pPr marL="342900" indent="-342900" algn="just">
              <a:lnSpc>
                <a:spcPct val="150000"/>
              </a:lnSpc>
              <a:buFont typeface="+mj-ea"/>
              <a:buAutoNum type="circleNumDbPlain"/>
            </a:pPr>
            <a:r>
              <a:rPr lang="en-US" altLang="zh-CN" sz="2400" dirty="0">
                <a:solidFill>
                  <a:schemeClr val="accent5">
                    <a:lumMod val="50000"/>
                  </a:schemeClr>
                </a:solidFill>
              </a:rPr>
              <a:t>The APP development based on Android studio is the </a:t>
            </a:r>
            <a:r>
              <a:rPr lang="en-US" altLang="zh-CN" sz="2400" b="1" dirty="0">
                <a:solidFill>
                  <a:srgbClr val="1D41D5"/>
                </a:solidFill>
              </a:rPr>
              <a:t>native </a:t>
            </a:r>
            <a:r>
              <a:rPr lang="en-US" altLang="zh-CN" sz="2400" dirty="0">
                <a:solidFill>
                  <a:schemeClr val="accent5">
                    <a:lumMod val="50000"/>
                  </a:schemeClr>
                </a:solidFill>
              </a:rPr>
              <a:t>Android mobile application development;</a:t>
            </a:r>
            <a:endParaRPr lang="en-US" altLang="zh-CN" sz="2400" dirty="0">
              <a:solidFill>
                <a:schemeClr val="accent5">
                  <a:lumMod val="50000"/>
                </a:schemeClr>
              </a:solidFill>
            </a:endParaRP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图片 100"/>
          <p:cNvPicPr/>
          <p:nvPr/>
        </p:nvPicPr>
        <p:blipFill>
          <a:blip r:embed="rId1"/>
          <a:stretch>
            <a:fillRect/>
          </a:stretch>
        </p:blipFill>
        <p:spPr>
          <a:xfrm>
            <a:off x="1525905" y="1101090"/>
            <a:ext cx="8742045" cy="48958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矩形 2"/>
          <p:cNvSpPr/>
          <p:nvPr/>
        </p:nvSpPr>
        <p:spPr>
          <a:xfrm>
            <a:off x="251460" y="0"/>
            <a:ext cx="7889875" cy="9531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l">
              <a:lnSpc>
                <a:spcPct val="200000"/>
              </a:lnSpc>
              <a:buClrTx/>
              <a:buSzTx/>
              <a:buFont typeface="+mj-lt"/>
            </a:pPr>
            <a:r>
              <a:rPr lang="en-US" altLang="zh-CN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2. </a:t>
            </a: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Mobile</a:t>
            </a:r>
            <a:r>
              <a:rPr lang="en-US" altLang="zh-CN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APP</a:t>
            </a: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development process</a:t>
            </a:r>
            <a:endParaRPr lang="zh-CN" altLang="en-US" sz="28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05510" y="1294130"/>
            <a:ext cx="5633720" cy="41242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 fontAlgn="auto">
              <a:lnSpc>
                <a:spcPct val="100000"/>
              </a:lnSpc>
              <a:spcBef>
                <a:spcPts val="1200"/>
              </a:spcBef>
              <a:buFont typeface="+mj-ea"/>
              <a:buAutoNum type="circleNumDbPlain"/>
            </a:pPr>
            <a:r>
              <a:rPr lang="zh-CN" altLang="en-US" sz="24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Demand analysis</a:t>
            </a:r>
            <a:endParaRPr lang="zh-CN" altLang="en-US" sz="2400" b="1" dirty="0">
              <a:solidFill>
                <a:srgbClr val="1D41D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457200" indent="-457200" algn="just" fontAlgn="auto">
              <a:lnSpc>
                <a:spcPct val="100000"/>
              </a:lnSpc>
              <a:spcBef>
                <a:spcPts val="1200"/>
              </a:spcBef>
              <a:buFont typeface="+mj-ea"/>
              <a:buAutoNum type="circleNumDbPlain"/>
            </a:pPr>
            <a:r>
              <a:rPr lang="zh-CN" altLang="en-US" sz="24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Prototype design</a:t>
            </a:r>
            <a:endParaRPr lang="en-US" altLang="zh-CN" sz="4800" b="1" baseline="-19000" dirty="0">
              <a:solidFill>
                <a:srgbClr val="FF0000"/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457200" indent="-457200" algn="just" fontAlgn="auto">
              <a:lnSpc>
                <a:spcPct val="100000"/>
              </a:lnSpc>
              <a:spcBef>
                <a:spcPts val="1200"/>
              </a:spcBef>
              <a:buFont typeface="+mj-ea"/>
              <a:buAutoNum type="circleNumDbPlain"/>
            </a:pPr>
            <a:r>
              <a:rPr lang="zh-CN" altLang="en-US" sz="24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UI Design</a:t>
            </a:r>
            <a:endParaRPr lang="zh-CN" altLang="en-US" sz="2400" b="1" dirty="0">
              <a:solidFill>
                <a:srgbClr val="1D41D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457200" indent="-457200" algn="just" fontAlgn="auto">
              <a:lnSpc>
                <a:spcPct val="100000"/>
              </a:lnSpc>
              <a:spcBef>
                <a:spcPts val="1200"/>
              </a:spcBef>
              <a:buFont typeface="+mj-ea"/>
              <a:buAutoNum type="circleNumDbPlain"/>
            </a:pPr>
            <a:r>
              <a:rPr lang="zh-CN" altLang="en-US" sz="24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App development</a:t>
            </a:r>
            <a:endParaRPr lang="en-US" altLang="zh-CN" sz="4800" b="1" baseline="-19000" dirty="0">
              <a:solidFill>
                <a:srgbClr val="FF0000"/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457200" indent="-457200" algn="just" fontAlgn="auto">
              <a:lnSpc>
                <a:spcPct val="100000"/>
              </a:lnSpc>
              <a:spcBef>
                <a:spcPts val="1200"/>
              </a:spcBef>
              <a:buFont typeface="+mj-ea"/>
              <a:buAutoNum type="circleNumDbPlain"/>
            </a:pPr>
            <a:r>
              <a:rPr lang="zh-CN" altLang="en-US" sz="24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Project testing </a:t>
            </a:r>
            <a:endParaRPr lang="en-US" altLang="zh-CN" sz="2400" b="1" dirty="0">
              <a:solidFill>
                <a:srgbClr val="1D41D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457200" indent="-457200" algn="just" fontAlgn="auto">
              <a:lnSpc>
                <a:spcPct val="100000"/>
              </a:lnSpc>
              <a:spcBef>
                <a:spcPts val="1200"/>
              </a:spcBef>
              <a:buFont typeface="+mj-ea"/>
              <a:buAutoNum type="circleNumDbPlain"/>
            </a:pPr>
            <a:r>
              <a:rPr lang="zh-CN" altLang="en-US" sz="24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Release</a:t>
            </a:r>
            <a:endParaRPr lang="zh-CN" altLang="en-US" sz="2400" b="1" dirty="0">
              <a:solidFill>
                <a:srgbClr val="1D41D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457200" indent="-457200" algn="just" fontAlgn="auto">
              <a:lnSpc>
                <a:spcPct val="100000"/>
              </a:lnSpc>
              <a:spcBef>
                <a:spcPts val="1200"/>
              </a:spcBef>
              <a:buFont typeface="+mj-ea"/>
              <a:buAutoNum type="circleNumDbPlain"/>
            </a:pPr>
            <a:r>
              <a:rPr lang="zh-CN" altLang="en-US" sz="24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Operation iteration</a:t>
            </a:r>
            <a:endParaRPr lang="zh-CN" altLang="en-US" sz="2400" b="1" dirty="0">
              <a:solidFill>
                <a:srgbClr val="1D41D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457200" indent="-457200" algn="just" fontAlgn="auto">
              <a:lnSpc>
                <a:spcPct val="100000"/>
              </a:lnSpc>
              <a:spcBef>
                <a:spcPts val="1200"/>
              </a:spcBef>
              <a:buFont typeface="+mj-ea"/>
              <a:buAutoNum type="circleNumDbPlain"/>
            </a:pPr>
            <a:r>
              <a:rPr lang="zh-CN" altLang="en-US" sz="24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Routine maintenance</a:t>
            </a:r>
            <a:endParaRPr lang="zh-CN" altLang="en-US" sz="2400" b="1" dirty="0">
              <a:solidFill>
                <a:srgbClr val="1D41D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54330" y="102870"/>
            <a:ext cx="7889875" cy="9531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l">
              <a:lnSpc>
                <a:spcPct val="200000"/>
              </a:lnSpc>
              <a:buClrTx/>
              <a:buSzTx/>
              <a:buFont typeface="+mj-lt"/>
            </a:pPr>
            <a:r>
              <a:rPr lang="en-US" altLang="zh-CN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2. </a:t>
            </a: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Mobile</a:t>
            </a:r>
            <a:r>
              <a:rPr lang="en-US" altLang="zh-CN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APP</a:t>
            </a: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development process</a:t>
            </a:r>
            <a:endParaRPr lang="zh-CN" altLang="en-US" sz="28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98425" y="156845"/>
            <a:ext cx="10516235" cy="953135"/>
          </a:xfrm>
          <a:prstGeom prst="rect">
            <a:avLst/>
          </a:prstGeom>
        </p:spPr>
        <p:txBody>
          <a:bodyPr wrap="square" rtlCol="0" anchor="t">
            <a:spAutoFit/>
          </a:bodyPr>
          <a:lstStyle/>
          <a:p>
            <a:pPr lvl="0" algn="l">
              <a:lnSpc>
                <a:spcPct val="200000"/>
              </a:lnSpc>
              <a:buClrTx/>
              <a:buSzTx/>
              <a:buFont typeface="+mj-lt"/>
            </a:pPr>
            <a:r>
              <a:rPr lang="en-US" altLang="zh-CN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3. Introduction to </a:t>
            </a:r>
            <a:r>
              <a:rPr lang="en-US" altLang="zh-CN" sz="2800" b="1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Andriod</a:t>
            </a:r>
            <a:r>
              <a:rPr lang="en-US" altLang="zh-CN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Studio software   </a:t>
            </a:r>
            <a:endParaRPr lang="en-US" altLang="zh-CN" sz="28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4183" y="1466708"/>
            <a:ext cx="6629147" cy="52170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356135" y="1097376"/>
            <a:ext cx="113578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1) You will get the following window after you click the </a:t>
            </a:r>
            <a:r>
              <a:rPr lang="en-US" altLang="zh-CN" b="1" dirty="0"/>
              <a:t>Android Studio icon </a:t>
            </a:r>
            <a:r>
              <a:rPr lang="en-US" altLang="zh-CN" dirty="0"/>
              <a:t>on the desktop of your PC for the first time.  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5324698" y="3775714"/>
            <a:ext cx="847023" cy="86627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4631679" y="5142501"/>
            <a:ext cx="19924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Click </a:t>
            </a:r>
            <a:r>
              <a:rPr lang="en-US" altLang="zh-CN" b="1" dirty="0">
                <a:solidFill>
                  <a:srgbClr val="FF0000"/>
                </a:solidFill>
              </a:rPr>
              <a:t>New Project</a:t>
            </a:r>
            <a:endParaRPr lang="en-US" altLang="zh-CN" b="1" dirty="0">
              <a:solidFill>
                <a:srgbClr val="FF0000"/>
              </a:solidFill>
            </a:endParaRPr>
          </a:p>
        </p:txBody>
      </p:sp>
      <p:cxnSp>
        <p:nvCxnSpPr>
          <p:cNvPr id="8" name="直接箭头连接符 7"/>
          <p:cNvCxnSpPr/>
          <p:nvPr/>
        </p:nvCxnSpPr>
        <p:spPr>
          <a:xfrm flipV="1">
            <a:off x="5748208" y="4680487"/>
            <a:ext cx="0" cy="500513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1562" y="1096823"/>
            <a:ext cx="8664719" cy="5522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356135" y="596863"/>
            <a:ext cx="7748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2) Please select </a:t>
            </a:r>
            <a:r>
              <a:rPr lang="en-US" altLang="zh-CN" b="1" dirty="0"/>
              <a:t>Phone and Tablet </a:t>
            </a:r>
            <a:r>
              <a:rPr lang="en-US" altLang="zh-CN" dirty="0"/>
              <a:t>and </a:t>
            </a:r>
            <a:r>
              <a:rPr lang="en-US" altLang="zh-CN" b="1" dirty="0"/>
              <a:t>Empty Activity</a:t>
            </a:r>
            <a:r>
              <a:rPr lang="en-US" altLang="zh-CN" dirty="0"/>
              <a:t>.  </a:t>
            </a:r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6123921" y="3364551"/>
            <a:ext cx="2254773" cy="225105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1791562" y="1876926"/>
            <a:ext cx="1876053" cy="37538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731" y="543512"/>
            <a:ext cx="9748559" cy="62220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146308" y="174179"/>
            <a:ext cx="113578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3) You will get the following window after you click </a:t>
            </a:r>
            <a:r>
              <a:rPr lang="en-US" altLang="zh-CN" b="1" dirty="0"/>
              <a:t>Phone and Tablet </a:t>
            </a:r>
            <a:r>
              <a:rPr lang="en-US" altLang="zh-CN" dirty="0"/>
              <a:t>and </a:t>
            </a:r>
            <a:r>
              <a:rPr lang="en-US" altLang="zh-CN" b="1" dirty="0"/>
              <a:t>Empty Activity</a:t>
            </a:r>
            <a:r>
              <a:rPr lang="en-US" altLang="zh-CN" dirty="0"/>
              <a:t>.  </a:t>
            </a:r>
            <a:endParaRPr lang="zh-CN" alt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4212507" y="1868649"/>
            <a:ext cx="74608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</a:rPr>
              <a:t>Enter a project name you like and easy to recognize the APP </a:t>
            </a:r>
            <a:endParaRPr lang="zh-CN" altLang="en-US" sz="2000" b="1" dirty="0">
              <a:solidFill>
                <a:srgbClr val="FF0000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615163" y="2400200"/>
            <a:ext cx="74608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</a:rPr>
              <a:t>Enter a package name that is unique.</a:t>
            </a:r>
            <a:endParaRPr lang="zh-CN" altLang="en-US" sz="2000" b="1" dirty="0">
              <a:solidFill>
                <a:srgbClr val="FF0000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135193" y="2855824"/>
            <a:ext cx="55554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</a:rPr>
              <a:t>You select (at least 10G space left in chosen disk).</a:t>
            </a:r>
            <a:endParaRPr lang="zh-CN" altLang="en-US" sz="2000" b="1" dirty="0">
              <a:solidFill>
                <a:srgbClr val="FF0000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601303" y="3324074"/>
            <a:ext cx="17932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</a:rPr>
              <a:t>Select Java.</a:t>
            </a:r>
            <a:endParaRPr lang="zh-CN" altLang="en-US" sz="2000" b="1" dirty="0">
              <a:solidFill>
                <a:srgbClr val="FF0000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009723" y="3840565"/>
            <a:ext cx="21563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</a:rPr>
              <a:t>Select default.</a:t>
            </a:r>
            <a:endParaRPr lang="zh-CN" altLang="en-US" sz="2000" b="1" dirty="0">
              <a:solidFill>
                <a:srgbClr val="FF0000"/>
              </a:solidFill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9856089" y="6301434"/>
            <a:ext cx="1024201" cy="37378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TextBox 27"/>
          <p:cNvSpPr txBox="1"/>
          <p:nvPr/>
        </p:nvSpPr>
        <p:spPr>
          <a:xfrm>
            <a:off x="9426057" y="5643126"/>
            <a:ext cx="23323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</a:rPr>
              <a:t>At last, click </a:t>
            </a:r>
            <a:r>
              <a:rPr lang="en-US" altLang="zh-CN" sz="2400" b="1" dirty="0">
                <a:solidFill>
                  <a:srgbClr val="FF0000"/>
                </a:solidFill>
              </a:rPr>
              <a:t>Finish</a:t>
            </a:r>
            <a:r>
              <a:rPr lang="en-US" altLang="zh-CN" sz="2000" b="1" dirty="0">
                <a:solidFill>
                  <a:srgbClr val="FF0000"/>
                </a:solidFill>
              </a:rPr>
              <a:t>.</a:t>
            </a:r>
            <a:endParaRPr lang="zh-CN" altLang="en-US" sz="20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356135" y="398083"/>
            <a:ext cx="113578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4) . After finish 3),you will get the following Android Studio interface window.</a:t>
            </a:r>
            <a:endParaRPr lang="zh-CN" alt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27" y="807196"/>
            <a:ext cx="12014200" cy="5810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2" name="直接箭头连接符 11"/>
          <p:cNvCxnSpPr/>
          <p:nvPr/>
        </p:nvCxnSpPr>
        <p:spPr>
          <a:xfrm flipV="1">
            <a:off x="6306740" y="1632332"/>
            <a:ext cx="0" cy="500513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5773666" y="2132845"/>
            <a:ext cx="2598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Code window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807334" y="1763513"/>
            <a:ext cx="19663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Layout window</a:t>
            </a:r>
            <a:endParaRPr lang="zh-CN" altLang="en-US" dirty="0">
              <a:solidFill>
                <a:srgbClr val="FF0000"/>
              </a:solidFill>
            </a:endParaRPr>
          </a:p>
        </p:txBody>
      </p:sp>
      <p:cxnSp>
        <p:nvCxnSpPr>
          <p:cNvPr id="16" name="直接箭头连接符 15"/>
          <p:cNvCxnSpPr/>
          <p:nvPr/>
        </p:nvCxnSpPr>
        <p:spPr>
          <a:xfrm flipV="1">
            <a:off x="4762296" y="1558588"/>
            <a:ext cx="0" cy="324000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356135" y="1258575"/>
            <a:ext cx="1144674" cy="373782"/>
          </a:xfrm>
          <a:prstGeom prst="rect">
            <a:avLst/>
          </a:prstGeom>
          <a:noFill/>
          <a:ln w="190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356135" y="398083"/>
            <a:ext cx="113578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5) . Change to </a:t>
            </a:r>
            <a:r>
              <a:rPr lang="en-US" altLang="zh-CN" b="1" dirty="0"/>
              <a:t>Project</a:t>
            </a:r>
            <a:r>
              <a:rPr lang="en-US" altLang="zh-CN" dirty="0"/>
              <a:t> view </a:t>
            </a:r>
            <a:endParaRPr lang="zh-CN" alt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00" y="825634"/>
            <a:ext cx="12014200" cy="5822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矩形 8"/>
          <p:cNvSpPr/>
          <p:nvPr/>
        </p:nvSpPr>
        <p:spPr>
          <a:xfrm>
            <a:off x="236865" y="1348027"/>
            <a:ext cx="1144674" cy="373782"/>
          </a:xfrm>
          <a:prstGeom prst="rect">
            <a:avLst/>
          </a:prstGeom>
          <a:noFill/>
          <a:ln w="190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767415"/>
            <a:ext cx="11880850" cy="5397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248820" y="266638"/>
            <a:ext cx="113578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6) . Introduction to some important files </a:t>
            </a:r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1647385" y="3246973"/>
            <a:ext cx="1144674" cy="272052"/>
          </a:xfrm>
          <a:prstGeom prst="rect">
            <a:avLst/>
          </a:prstGeom>
          <a:noFill/>
          <a:ln w="190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438664" y="4200938"/>
            <a:ext cx="1591934" cy="272052"/>
          </a:xfrm>
          <a:prstGeom prst="rect">
            <a:avLst/>
          </a:prstGeom>
          <a:noFill/>
          <a:ln w="190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961390" y="5969635"/>
            <a:ext cx="2068830" cy="166370"/>
          </a:xfrm>
          <a:prstGeom prst="rect">
            <a:avLst/>
          </a:prstGeom>
          <a:noFill/>
          <a:ln w="190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6610323" y="1023921"/>
            <a:ext cx="1718667" cy="35761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" name="直接箭头连接符 2"/>
          <p:cNvCxnSpPr/>
          <p:nvPr/>
        </p:nvCxnSpPr>
        <p:spPr>
          <a:xfrm flipV="1">
            <a:off x="2792059" y="1639957"/>
            <a:ext cx="3303941" cy="1743043"/>
          </a:xfrm>
          <a:prstGeom prst="straightConnector1">
            <a:avLst/>
          </a:prstGeom>
          <a:ln>
            <a:solidFill>
              <a:srgbClr val="FFFF00"/>
            </a:solidFill>
            <a:headEnd type="arrow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/>
        </p:nvCxnSpPr>
        <p:spPr>
          <a:xfrm flipV="1">
            <a:off x="3030598" y="1639957"/>
            <a:ext cx="1799819" cy="2750590"/>
          </a:xfrm>
          <a:prstGeom prst="straightConnector1">
            <a:avLst/>
          </a:prstGeom>
          <a:ln>
            <a:solidFill>
              <a:srgbClr val="FFFF00"/>
            </a:solidFill>
            <a:headEnd type="arrow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矩形 3"/>
          <p:cNvSpPr/>
          <p:nvPr>
            <p:custDataLst>
              <p:tags r:id="rId2"/>
            </p:custDataLst>
          </p:nvPr>
        </p:nvSpPr>
        <p:spPr>
          <a:xfrm>
            <a:off x="248920" y="1238250"/>
            <a:ext cx="4138930" cy="5132070"/>
          </a:xfrm>
          <a:prstGeom prst="rect">
            <a:avLst/>
          </a:prstGeom>
          <a:noFill/>
          <a:ln w="19050"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265555" y="903605"/>
            <a:ext cx="21056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rgbClr val="FFFF00"/>
                </a:solidFill>
              </a:rPr>
              <a:t>工程目录结构</a:t>
            </a:r>
            <a:endParaRPr lang="zh-CN" altLang="en-US" b="1">
              <a:solidFill>
                <a:srgbClr val="FFFF00"/>
              </a:solidFill>
            </a:endParaRPr>
          </a:p>
        </p:txBody>
      </p:sp>
      <p:sp>
        <p:nvSpPr>
          <p:cNvPr id="12" name="文本框 11"/>
          <p:cNvSpPr txBox="1"/>
          <p:nvPr>
            <p:custDataLst>
              <p:tags r:id="rId3"/>
            </p:custDataLst>
          </p:nvPr>
        </p:nvSpPr>
        <p:spPr>
          <a:xfrm>
            <a:off x="3101975" y="5786755"/>
            <a:ext cx="1183640" cy="3575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olidFill>
                  <a:srgbClr val="FFFF00"/>
                </a:solidFill>
              </a:rPr>
              <a:t>清单文件</a:t>
            </a:r>
            <a:endParaRPr lang="zh-CN" altLang="en-US">
              <a:solidFill>
                <a:srgbClr val="FFFF00"/>
              </a:solidFill>
            </a:endParaRPr>
          </a:p>
        </p:txBody>
      </p:sp>
      <p:sp>
        <p:nvSpPr>
          <p:cNvPr id="13" name="文本框 12"/>
          <p:cNvSpPr txBox="1"/>
          <p:nvPr>
            <p:custDataLst>
              <p:tags r:id="rId4"/>
            </p:custDataLst>
          </p:nvPr>
        </p:nvSpPr>
        <p:spPr>
          <a:xfrm>
            <a:off x="4285615" y="1737360"/>
            <a:ext cx="113792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 b="1">
                <a:solidFill>
                  <a:srgbClr val="FFFF00"/>
                </a:solidFill>
              </a:rPr>
              <a:t>视图编辑区</a:t>
            </a:r>
            <a:endParaRPr lang="zh-CN" altLang="en-US" sz="1200" b="1">
              <a:solidFill>
                <a:srgbClr val="FFFF00"/>
              </a:solidFill>
            </a:endParaRPr>
          </a:p>
        </p:txBody>
      </p:sp>
      <p:sp>
        <p:nvSpPr>
          <p:cNvPr id="15" name="文本框 14"/>
          <p:cNvSpPr txBox="1"/>
          <p:nvPr>
            <p:custDataLst>
              <p:tags r:id="rId5"/>
            </p:custDataLst>
          </p:nvPr>
        </p:nvSpPr>
        <p:spPr>
          <a:xfrm>
            <a:off x="5208270" y="1703705"/>
            <a:ext cx="264096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 b="1">
                <a:solidFill>
                  <a:srgbClr val="FFFF00"/>
                </a:solidFill>
              </a:rPr>
              <a:t>主界面逻辑代码编辑区</a:t>
            </a:r>
            <a:endParaRPr lang="zh-CN" altLang="en-US" sz="1200" b="1">
              <a:solidFill>
                <a:srgbClr val="FFFF00"/>
              </a:solidFill>
            </a:endParaRPr>
          </a:p>
        </p:txBody>
      </p:sp>
      <p:sp>
        <p:nvSpPr>
          <p:cNvPr id="2" name="左大括号 1"/>
          <p:cNvSpPr/>
          <p:nvPr/>
        </p:nvSpPr>
        <p:spPr>
          <a:xfrm>
            <a:off x="793750" y="3519170"/>
            <a:ext cx="266700" cy="2374265"/>
          </a:xfrm>
          <a:prstGeom prst="leftBrace">
            <a:avLst>
              <a:gd name="adj1" fmla="val 90718"/>
              <a:gd name="adj2" fmla="val 50000"/>
            </a:avLst>
          </a:prstGeom>
          <a:ln>
            <a:solidFill>
              <a:srgbClr val="FFFF00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/>
          <a:p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74650" y="4377690"/>
            <a:ext cx="428625" cy="90487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p>
            <a:r>
              <a:rPr lang="zh-CN" altLang="en-US" sz="1600" b="1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资源区</a:t>
            </a:r>
            <a:endParaRPr lang="zh-CN" altLang="en-US" sz="1600" b="1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57200" y="1506220"/>
            <a:ext cx="892302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 algn="l">
              <a:buFont typeface="Wingdings" panose="05000000000000000000" charset="0"/>
              <a:buChar char="l"/>
            </a:pP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Introduction to Android Studio Layout</a:t>
            </a:r>
            <a:endParaRPr lang="en-US" altLang="zh-CN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957580" y="1998345"/>
            <a:ext cx="776414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24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Linear</a:t>
            </a:r>
            <a:r>
              <a:rPr lang="en-US" altLang="zh-CN" sz="24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L</a:t>
            </a:r>
            <a:r>
              <a:rPr lang="zh-CN" altLang="en-US" sz="24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ayout (</a:t>
            </a:r>
            <a:r>
              <a:rPr lang="en-US" altLang="zh-CN" sz="2000" i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commonly  used </a:t>
            </a:r>
            <a:r>
              <a:rPr lang="zh-CN" altLang="en-US" sz="24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)</a:t>
            </a:r>
            <a:endParaRPr lang="zh-CN" altLang="en-US" sz="2400" b="1" dirty="0">
              <a:solidFill>
                <a:srgbClr val="1D41D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marL="457200" indent="-457200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24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Relative</a:t>
            </a:r>
            <a:r>
              <a:rPr lang="en-US" altLang="zh-CN" sz="24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L</a:t>
            </a:r>
            <a:r>
              <a:rPr lang="zh-CN" altLang="en-US" sz="24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ayout (</a:t>
            </a:r>
            <a:r>
              <a:rPr lang="zh-CN" altLang="en-US" sz="2000" i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common</a:t>
            </a:r>
            <a:r>
              <a:rPr lang="en-US" altLang="zh-CN" sz="2000" i="1" dirty="0" err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ly</a:t>
            </a:r>
            <a:r>
              <a:rPr lang="en-US" altLang="zh-CN" sz="2000" i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  used </a:t>
            </a:r>
            <a:r>
              <a:rPr lang="zh-CN" altLang="en-US" sz="24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)</a:t>
            </a:r>
            <a:endParaRPr lang="zh-CN" altLang="en-US" sz="2400" b="1" dirty="0">
              <a:solidFill>
                <a:srgbClr val="1D41D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marL="457200" indent="-457200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24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Grid</a:t>
            </a:r>
            <a:r>
              <a:rPr lang="en-US" altLang="zh-CN" sz="24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L</a:t>
            </a:r>
            <a:r>
              <a:rPr lang="zh-CN" altLang="en-US" sz="24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ayout</a:t>
            </a:r>
            <a:r>
              <a:rPr lang="en-US" altLang="zh-CN" sz="24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 </a:t>
            </a:r>
            <a:r>
              <a:rPr lang="zh-CN" altLang="en-US" sz="24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(</a:t>
            </a:r>
            <a:r>
              <a:rPr lang="en-US" altLang="zh-CN" sz="2000" i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sometime used </a:t>
            </a:r>
            <a:r>
              <a:rPr lang="zh-CN" altLang="en-US" sz="24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)</a:t>
            </a:r>
            <a:endParaRPr lang="zh-CN" altLang="en-US" sz="2400" b="1" dirty="0">
              <a:solidFill>
                <a:srgbClr val="1D41D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marL="457200" indent="-457200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24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Frame</a:t>
            </a:r>
            <a:r>
              <a:rPr lang="en-US" altLang="zh-CN" sz="24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L</a:t>
            </a:r>
            <a:r>
              <a:rPr lang="zh-CN" altLang="en-US" sz="24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ayout</a:t>
            </a:r>
            <a:endParaRPr lang="zh-CN" altLang="en-US" sz="2400" b="1" dirty="0">
              <a:solidFill>
                <a:srgbClr val="1D41D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marL="457200" indent="-457200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24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Constrained layout</a:t>
            </a:r>
            <a:endParaRPr lang="en-US" altLang="zh-CN" sz="2400" b="1" dirty="0">
              <a:solidFill>
                <a:srgbClr val="1D41D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marL="457200" indent="-457200">
              <a:lnSpc>
                <a:spcPct val="150000"/>
              </a:lnSpc>
              <a:buFont typeface="+mj-ea"/>
              <a:buAutoNum type="circleNumDbPlain"/>
            </a:pPr>
            <a:r>
              <a:rPr lang="en-US" altLang="zh-CN" sz="24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... …</a:t>
            </a:r>
            <a:endParaRPr lang="zh-CN" altLang="en-US" sz="2400" b="1" dirty="0">
              <a:solidFill>
                <a:srgbClr val="1D41D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44780" y="386080"/>
            <a:ext cx="11697335" cy="953135"/>
          </a:xfrm>
          <a:prstGeom prst="rect">
            <a:avLst/>
          </a:prstGeom>
        </p:spPr>
        <p:txBody>
          <a:bodyPr wrap="square" rtlCol="0" anchor="t">
            <a:spAutoFit/>
          </a:bodyPr>
          <a:lstStyle/>
          <a:p>
            <a:pPr lvl="0" algn="l">
              <a:lnSpc>
                <a:spcPct val="200000"/>
              </a:lnSpc>
              <a:buClrTx/>
              <a:buSzTx/>
              <a:buFont typeface="+mj-lt"/>
            </a:pPr>
            <a:r>
              <a:rPr lang="en-US" altLang="zh-CN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4. Introduction to Android Studio layout and common controls</a:t>
            </a:r>
            <a:endParaRPr lang="en-US" altLang="zh-CN" sz="28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93700" y="1058741"/>
            <a:ext cx="892302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 algn="l">
              <a:buFont typeface="Wingdings" panose="05000000000000000000" charset="0"/>
              <a:buChar char="l"/>
            </a:pP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Introduction to commenly used Android Studio Views</a:t>
            </a:r>
            <a:endParaRPr lang="en-US" altLang="zh-CN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03885" y="1518758"/>
            <a:ext cx="7764145" cy="47078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ea"/>
              <a:buAutoNum type="circleNumDbPlain"/>
            </a:pPr>
            <a:r>
              <a:rPr lang="en-US" sz="2000" b="1" dirty="0" err="1">
                <a:solidFill>
                  <a:srgbClr val="1D41D5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TextView</a:t>
            </a:r>
            <a:endParaRPr lang="zh-CN" altLang="en-US" sz="2000" b="1" dirty="0">
              <a:solidFill>
                <a:srgbClr val="1D41D5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marL="457200" indent="-457200">
              <a:lnSpc>
                <a:spcPct val="150000"/>
              </a:lnSpc>
              <a:buFont typeface="+mj-ea"/>
              <a:buAutoNum type="circleNumDbPlain"/>
            </a:pPr>
            <a:r>
              <a:rPr lang="en-US" sz="20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Button</a:t>
            </a:r>
            <a:endParaRPr lang="en-US" sz="2000" b="1" dirty="0">
              <a:solidFill>
                <a:srgbClr val="1D41D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  <a:sym typeface="+mn-ea"/>
            </a:endParaRPr>
          </a:p>
          <a:p>
            <a:pPr marL="457200" indent="-457200">
              <a:lnSpc>
                <a:spcPct val="150000"/>
              </a:lnSpc>
              <a:buFont typeface="+mj-ea"/>
              <a:buAutoNum type="circleNumDbPlain"/>
            </a:pPr>
            <a:r>
              <a:rPr lang="en-US" sz="20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EditText</a:t>
            </a:r>
            <a:endParaRPr lang="zh-CN" altLang="en-US" sz="2000" b="1" dirty="0">
              <a:solidFill>
                <a:srgbClr val="1D41D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marL="457200" indent="-457200">
              <a:lnSpc>
                <a:spcPct val="150000"/>
              </a:lnSpc>
              <a:buFont typeface="+mj-ea"/>
              <a:buAutoNum type="circleNumDbPlain"/>
            </a:pPr>
            <a:r>
              <a:rPr lang="en-US" altLang="zh-CN" sz="2000" b="1" dirty="0" err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ImageView</a:t>
            </a:r>
            <a:endParaRPr lang="en-US" altLang="zh-CN" sz="2000" b="1" dirty="0">
              <a:solidFill>
                <a:srgbClr val="1D41D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marL="457200" indent="-457200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20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ScrollView</a:t>
            </a:r>
            <a:r>
              <a:rPr lang="en-US" altLang="zh-CN" sz="20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/HorizontalScrollView</a:t>
            </a:r>
            <a:endParaRPr lang="en-US" altLang="zh-CN" sz="2000" b="1" dirty="0">
              <a:solidFill>
                <a:srgbClr val="1D41D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  <a:sym typeface="+mn-ea"/>
            </a:endParaRPr>
          </a:p>
          <a:p>
            <a:pPr marL="457200" indent="-457200">
              <a:lnSpc>
                <a:spcPct val="150000"/>
              </a:lnSpc>
              <a:buFont typeface="+mj-ea"/>
              <a:buAutoNum type="circleNumDbPlain"/>
            </a:pPr>
            <a:r>
              <a:rPr lang="en-US" altLang="zh-CN" sz="2000" b="1" dirty="0" err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ImageButton</a:t>
            </a:r>
            <a:endParaRPr lang="en-US" altLang="zh-CN" sz="2000" b="1" dirty="0">
              <a:solidFill>
                <a:srgbClr val="1D41D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  <a:sym typeface="+mn-ea"/>
            </a:endParaRPr>
          </a:p>
          <a:p>
            <a:pPr marL="457200" indent="-457200">
              <a:lnSpc>
                <a:spcPct val="150000"/>
              </a:lnSpc>
              <a:buFont typeface="+mj-ea"/>
              <a:buAutoNum type="circleNumDbPlain"/>
            </a:pPr>
            <a:r>
              <a:rPr lang="en-US" altLang="zh-CN" sz="2000" b="1" dirty="0" err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RadioButton</a:t>
            </a:r>
            <a:endParaRPr lang="en-US" altLang="zh-CN" sz="2000" b="1" dirty="0">
              <a:solidFill>
                <a:srgbClr val="1D41D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  <a:sym typeface="+mn-ea"/>
            </a:endParaRPr>
          </a:p>
          <a:p>
            <a:pPr marL="457200" indent="-457200">
              <a:lnSpc>
                <a:spcPct val="150000"/>
              </a:lnSpc>
              <a:buFont typeface="+mj-ea"/>
              <a:buAutoNum type="circleNumDbPlain"/>
            </a:pPr>
            <a:r>
              <a:rPr lang="en-US" altLang="zh-CN" sz="2000" b="1" dirty="0" err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Check</a:t>
            </a:r>
            <a:r>
              <a:rPr lang="en-US" sz="2000" b="1" dirty="0" err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EditView</a:t>
            </a:r>
            <a:endParaRPr lang="en-US" sz="2000" b="1" dirty="0" err="1">
              <a:solidFill>
                <a:srgbClr val="1D41D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marL="457200" indent="-457200">
              <a:lnSpc>
                <a:spcPct val="150000"/>
              </a:lnSpc>
              <a:buFont typeface="+mj-ea"/>
              <a:buAutoNum type="circleNumDbPlain"/>
            </a:pPr>
            <a:r>
              <a:rPr lang="en-US" altLang="zh-CN" sz="20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CheckBox</a:t>
            </a:r>
            <a:endParaRPr lang="en-US" altLang="zh-CN" sz="2000" b="1" dirty="0">
              <a:solidFill>
                <a:srgbClr val="1D41D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  <a:sym typeface="+mn-ea"/>
            </a:endParaRPr>
          </a:p>
          <a:p>
            <a:pPr marL="457200" indent="-457200">
              <a:lnSpc>
                <a:spcPct val="150000"/>
              </a:lnSpc>
              <a:buFont typeface="+mj-ea"/>
              <a:buAutoNum type="circleNumDbPlain"/>
            </a:pPr>
            <a:r>
              <a:rPr lang="en-US" altLang="zh-CN" sz="20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… …</a:t>
            </a:r>
            <a:endParaRPr lang="en-US" altLang="zh-CN" sz="2000" b="1" dirty="0">
              <a:solidFill>
                <a:srgbClr val="1D41D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44780" y="192405"/>
            <a:ext cx="11697335" cy="953135"/>
          </a:xfrm>
          <a:prstGeom prst="rect">
            <a:avLst/>
          </a:prstGeom>
        </p:spPr>
        <p:txBody>
          <a:bodyPr wrap="square" rtlCol="0" anchor="t">
            <a:spAutoFit/>
          </a:bodyPr>
          <a:lstStyle/>
          <a:p>
            <a:pPr lvl="0" algn="l">
              <a:lnSpc>
                <a:spcPct val="200000"/>
              </a:lnSpc>
              <a:buClrTx/>
              <a:buSzTx/>
              <a:buFont typeface="+mj-lt"/>
            </a:pPr>
            <a:r>
              <a:rPr lang="en-US" altLang="zh-CN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4. Introduction to Android Studio layout and common controls</a:t>
            </a:r>
            <a:endParaRPr lang="en-US" altLang="zh-CN" sz="28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-4549" t="2926" r="4572"/>
          <a:stretch>
            <a:fillRect/>
          </a:stretch>
        </p:blipFill>
        <p:spPr>
          <a:xfrm>
            <a:off x="9419590" y="1518920"/>
            <a:ext cx="2265680" cy="465264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3813175" y="4772025"/>
            <a:ext cx="47244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n w="12700">
                  <a:solidFill>
                    <a:schemeClr val="tx1"/>
                  </a:solidFill>
                </a:ln>
              </a:rPr>
              <a:t>TextView</a:t>
            </a:r>
            <a:r>
              <a:rPr lang="zh-CN" altLang="en-US">
                <a:ln w="12700">
                  <a:solidFill>
                    <a:schemeClr val="tx1"/>
                  </a:solidFill>
                </a:ln>
              </a:rPr>
              <a:t>的子类：</a:t>
            </a:r>
            <a:r>
              <a:rPr lang="en-US" altLang="zh-CN">
                <a:ln w="12700">
                  <a:solidFill>
                    <a:schemeClr val="tx1"/>
                  </a:solidFill>
                </a:ln>
              </a:rPr>
              <a:t>EditText、Button、CheckBox、RadioButton</a:t>
            </a:r>
            <a:r>
              <a:rPr lang="zh-CN" altLang="en-US">
                <a:ln w="12700">
                  <a:solidFill>
                    <a:schemeClr val="tx1"/>
                  </a:solidFill>
                </a:ln>
              </a:rPr>
              <a:t>等。</a:t>
            </a:r>
            <a:endParaRPr lang="zh-CN" altLang="en-US">
              <a:ln w="12700">
                <a:solidFill>
                  <a:schemeClr val="tx1"/>
                </a:solidFill>
              </a:ln>
            </a:endParaRP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103505" y="0"/>
            <a:ext cx="776414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457200" indent="-457200">
              <a:lnSpc>
                <a:spcPct val="150000"/>
              </a:lnSpc>
              <a:buFont typeface="+mj-ea"/>
              <a:buAutoNum type="circleNumDbPlain"/>
            </a:pPr>
            <a:r>
              <a:rPr lang="en-US" sz="28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Properties of TextView</a:t>
            </a:r>
            <a:r>
              <a:rPr lang="zh-CN" altLang="en-US" sz="28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（举例）</a:t>
            </a:r>
            <a:endParaRPr lang="zh-CN" altLang="en-US" sz="2800" b="1">
              <a:solidFill>
                <a:srgbClr val="1D41D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36905" y="672465"/>
            <a:ext cx="10478135" cy="61798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p"/>
            </a:pPr>
            <a:r>
              <a:rPr lang="zh-CN" altLang="en-US" b="1">
                <a:solidFill>
                  <a:srgbClr val="002060"/>
                </a:solidFill>
                <a:highlight>
                  <a:srgbClr val="FFFF00"/>
                </a:highlight>
                <a:sym typeface="+mn-ea"/>
              </a:rPr>
              <a:t>TextView是文本</a:t>
            </a:r>
            <a:r>
              <a:rPr lang="zh-CN" altLang="en-US" b="1">
                <a:solidFill>
                  <a:srgbClr val="002060"/>
                </a:solidFill>
                <a:highlight>
                  <a:srgbClr val="FFFF00"/>
                </a:highlight>
                <a:sym typeface="+mn-ea"/>
              </a:rPr>
              <a:t>视图，显示的是文本。有如下属性：</a:t>
            </a:r>
            <a:endParaRPr lang="zh-CN" altLang="en-US" b="1">
              <a:solidFill>
                <a:srgbClr val="002060"/>
              </a:solidFill>
              <a:highlight>
                <a:srgbClr val="FFFF00"/>
              </a:highlight>
            </a:endParaRPr>
          </a:p>
          <a:p>
            <a:pPr marL="742950" lvl="1" indent="-28575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b="1">
                <a:solidFill>
                  <a:srgbClr val="002060"/>
                </a:solidFill>
              </a:rPr>
              <a:t>layout_ width： 组件的宽度</a:t>
            </a:r>
            <a:endParaRPr lang="zh-CN" altLang="en-US" b="1">
              <a:solidFill>
                <a:srgbClr val="002060"/>
              </a:solidFill>
            </a:endParaRPr>
          </a:p>
          <a:p>
            <a:pPr marL="742950" lvl="1" indent="-28575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b="1">
                <a:solidFill>
                  <a:srgbClr val="002060"/>
                </a:solidFill>
              </a:rPr>
              <a:t>layout. _height: 组件的高度</a:t>
            </a:r>
            <a:endParaRPr lang="zh-CN" altLang="en-US" b="1">
              <a:solidFill>
                <a:srgbClr val="002060"/>
              </a:solidFill>
            </a:endParaRPr>
          </a:p>
          <a:p>
            <a:pPr marL="742950" lvl="1" indent="-28575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b="1">
                <a:solidFill>
                  <a:srgbClr val="002060"/>
                </a:solidFill>
              </a:rPr>
              <a:t>id: 为TextView设置- -个组件id</a:t>
            </a:r>
            <a:endParaRPr lang="zh-CN" altLang="en-US" b="1">
              <a:solidFill>
                <a:srgbClr val="002060"/>
              </a:solidFill>
            </a:endParaRPr>
          </a:p>
          <a:p>
            <a:pPr marL="742950" lvl="1" indent="-28575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b="1">
                <a:solidFill>
                  <a:srgbClr val="002060"/>
                </a:solidFill>
              </a:rPr>
              <a:t>text</a:t>
            </a:r>
            <a:r>
              <a:rPr lang="en-US" altLang="zh-CN" b="1">
                <a:solidFill>
                  <a:srgbClr val="002060"/>
                </a:solidFill>
              </a:rPr>
              <a:t>:</a:t>
            </a:r>
            <a:r>
              <a:rPr lang="zh-CN" altLang="en-US" b="1">
                <a:solidFill>
                  <a:srgbClr val="002060"/>
                </a:solidFill>
              </a:rPr>
              <a:t> 设置显示的文本内容</a:t>
            </a:r>
            <a:endParaRPr lang="zh-CN" altLang="en-US" b="1">
              <a:solidFill>
                <a:srgbClr val="002060"/>
              </a:solidFill>
            </a:endParaRPr>
          </a:p>
          <a:p>
            <a:pPr marL="742950" lvl="1" indent="-28575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b="1">
                <a:solidFill>
                  <a:srgbClr val="002060"/>
                </a:solidFill>
              </a:rPr>
              <a:t>textColor: 设置字体颜色</a:t>
            </a:r>
            <a:endParaRPr lang="zh-CN" altLang="en-US" b="1">
              <a:solidFill>
                <a:srgbClr val="002060"/>
              </a:solidFill>
            </a:endParaRPr>
          </a:p>
          <a:p>
            <a:pPr marL="742950" lvl="1" indent="-28575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b="1">
                <a:solidFill>
                  <a:srgbClr val="002060"/>
                </a:solidFill>
              </a:rPr>
              <a:t>textStyle: 设置字体风格，三个可选值: normal(无效果)，bold(加粗)， italic(斜体)</a:t>
            </a:r>
            <a:endParaRPr lang="zh-CN" altLang="en-US" b="1">
              <a:solidFill>
                <a:srgbClr val="002060"/>
              </a:solidFill>
            </a:endParaRPr>
          </a:p>
          <a:p>
            <a:pPr marL="742950" lvl="1" indent="-28575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b="1">
                <a:solidFill>
                  <a:srgbClr val="002060"/>
                </a:solidFill>
              </a:rPr>
              <a:t>textSize: 字体大小，单位一般是用sp</a:t>
            </a:r>
            <a:endParaRPr lang="zh-CN" altLang="en-US" b="1">
              <a:solidFill>
                <a:srgbClr val="002060"/>
              </a:solidFill>
            </a:endParaRPr>
          </a:p>
          <a:p>
            <a:pPr marL="742950" lvl="1" indent="-28575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b="1">
                <a:solidFill>
                  <a:srgbClr val="002060"/>
                </a:solidFill>
              </a:rPr>
              <a:t>background: 控件的背景颜色，可以理解为填充整个控件的颜色，可以是图片</a:t>
            </a:r>
            <a:endParaRPr lang="zh-CN" altLang="en-US" b="1">
              <a:solidFill>
                <a:srgbClr val="002060"/>
              </a:solidFill>
            </a:endParaRPr>
          </a:p>
          <a:p>
            <a:pPr marL="742950" lvl="1" indent="-28575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b="1">
                <a:solidFill>
                  <a:srgbClr val="002060"/>
                </a:solidFill>
              </a:rPr>
              <a:t>gravity: 设置控件中内容的对齐方向</a:t>
            </a:r>
            <a:endParaRPr lang="zh-CN" altLang="en-US" b="1">
              <a:solidFill>
                <a:srgbClr val="002060"/>
              </a:solidFill>
            </a:endParaRPr>
          </a:p>
          <a:p>
            <a:pPr marL="742950" lvl="1" indent="-28575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b="1">
                <a:solidFill>
                  <a:srgbClr val="002060"/>
                </a:solidFill>
              </a:rPr>
              <a:t>layout_gravity</a:t>
            </a:r>
            <a:r>
              <a:rPr lang="zh-CN" altLang="en-US" b="1">
                <a:solidFill>
                  <a:srgbClr val="002060"/>
                </a:solidFill>
              </a:rPr>
              <a:t>：设置组件本身的位置</a:t>
            </a:r>
            <a:endParaRPr lang="en-US" altLang="zh-CN" b="1">
              <a:solidFill>
                <a:srgbClr val="002060"/>
              </a:solidFill>
            </a:endParaRPr>
          </a:p>
          <a:p>
            <a:pPr marL="742950" lvl="1" indent="-28575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b="1">
                <a:solidFill>
                  <a:srgbClr val="002060"/>
                </a:solidFill>
              </a:rPr>
              <a:t>margin：视图外部周围留白</a:t>
            </a:r>
            <a:endParaRPr lang="zh-CN" altLang="en-US" b="1">
              <a:solidFill>
                <a:srgbClr val="002060"/>
              </a:solidFill>
            </a:endParaRPr>
          </a:p>
          <a:p>
            <a:pPr marL="742950" lvl="1" indent="-28575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b="1">
                <a:solidFill>
                  <a:srgbClr val="002060"/>
                </a:solidFill>
              </a:rPr>
              <a:t>padding：视图内部周围留白</a:t>
            </a:r>
            <a:endParaRPr lang="zh-CN" altLang="en-US" b="1">
              <a:solidFill>
                <a:srgbClr val="002060"/>
              </a:solidFill>
            </a:endParaRPr>
          </a:p>
          <a:p>
            <a:pPr marL="742950" lvl="1" indent="-28575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b="1">
                <a:solidFill>
                  <a:srgbClr val="002060"/>
                </a:solidFill>
                <a:sym typeface="+mn-ea"/>
              </a:rPr>
              <a:t>drawableleft/right:</a:t>
            </a:r>
            <a:r>
              <a:rPr lang="zh-CN" altLang="en-US" b="1">
                <a:solidFill>
                  <a:srgbClr val="002060"/>
                </a:solidFill>
                <a:sym typeface="+mn-ea"/>
              </a:rPr>
              <a:t>给</a:t>
            </a:r>
            <a:r>
              <a:rPr lang="en-US" altLang="zh-CN" b="1">
                <a:solidFill>
                  <a:srgbClr val="002060"/>
                </a:solidFill>
                <a:sym typeface="+mn-ea"/>
              </a:rPr>
              <a:t>TextView</a:t>
            </a:r>
            <a:r>
              <a:rPr lang="zh-CN" altLang="en-US" b="1">
                <a:solidFill>
                  <a:srgbClr val="002060"/>
                </a:solidFill>
                <a:sym typeface="+mn-ea"/>
              </a:rPr>
              <a:t>的框内的左</a:t>
            </a:r>
            <a:r>
              <a:rPr lang="en-US" altLang="zh-CN" b="1">
                <a:solidFill>
                  <a:srgbClr val="00206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2060"/>
                </a:solidFill>
                <a:sym typeface="+mn-ea"/>
              </a:rPr>
              <a:t>右添加图片</a:t>
            </a:r>
            <a:endParaRPr lang="zh-CN" altLang="en-US" b="1">
              <a:solidFill>
                <a:srgbClr val="002060"/>
              </a:solidFill>
              <a:sym typeface="+mn-ea"/>
            </a:endParaRPr>
          </a:p>
          <a:p>
            <a:pPr marL="742950" lvl="1" indent="-28575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b="1">
                <a:solidFill>
                  <a:srgbClr val="002060"/>
                </a:solidFill>
                <a:sym typeface="+mn-ea"/>
              </a:rPr>
              <a:t>onclick</a:t>
            </a:r>
            <a:r>
              <a:rPr lang="zh-CN" altLang="en-US" b="1">
                <a:solidFill>
                  <a:srgbClr val="002060"/>
                </a:solidFill>
                <a:sym typeface="+mn-ea"/>
              </a:rPr>
              <a:t>：点击属性</a:t>
            </a:r>
            <a:endParaRPr lang="zh-CN" altLang="en-US" b="1">
              <a:solidFill>
                <a:srgbClr val="002060"/>
              </a:solidFill>
            </a:endParaRPr>
          </a:p>
          <a:p>
            <a:pPr marL="742950" lvl="1" indent="-28575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b="1">
                <a:solidFill>
                  <a:srgbClr val="002060"/>
                </a:solidFill>
              </a:rPr>
              <a:t>.....</a:t>
            </a:r>
            <a:endParaRPr lang="zh-CN" altLang="en-US" b="1">
              <a:solidFill>
                <a:srgbClr val="002060"/>
              </a:solidFill>
            </a:endParaRPr>
          </a:p>
          <a:p>
            <a:endParaRPr lang="en-US" altLang="zh-CN" b="1">
              <a:solidFill>
                <a:srgbClr val="002060"/>
              </a:solidFill>
            </a:endParaRPr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541655" y="1431763"/>
            <a:ext cx="776414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ea"/>
              <a:buAutoNum type="circleNumDbPlain"/>
            </a:pPr>
            <a:r>
              <a:rPr lang="en-US" sz="24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Calculator App UI design</a:t>
            </a:r>
            <a:endParaRPr lang="en-US" sz="2400" b="1" dirty="0">
              <a:solidFill>
                <a:srgbClr val="1D41D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marL="457200" indent="-457200">
              <a:lnSpc>
                <a:spcPct val="150000"/>
              </a:lnSpc>
              <a:buFont typeface="+mj-ea"/>
              <a:buAutoNum type="circleNumDbPlain"/>
            </a:pPr>
            <a:r>
              <a:rPr lang="en-US" altLang="zh-CN" sz="24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Menu</a:t>
            </a:r>
            <a:r>
              <a:rPr lang="en-US" sz="24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 UI design</a:t>
            </a:r>
            <a:endParaRPr lang="en-US" sz="2400" b="1" dirty="0">
              <a:solidFill>
                <a:srgbClr val="1D41D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44780" y="386080"/>
            <a:ext cx="11697335" cy="824136"/>
          </a:xfrm>
          <a:prstGeom prst="rect">
            <a:avLst/>
          </a:prstGeom>
        </p:spPr>
        <p:txBody>
          <a:bodyPr wrap="square" rtlCol="0" anchor="t">
            <a:spAutoFit/>
          </a:bodyPr>
          <a:lstStyle/>
          <a:p>
            <a:pPr lvl="0">
              <a:lnSpc>
                <a:spcPct val="200000"/>
              </a:lnSpc>
              <a:buFont typeface="+mj-lt"/>
            </a:pPr>
            <a:r>
              <a:rPr lang="en-US" altLang="zh-CN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5. Course projects </a:t>
            </a:r>
            <a:endParaRPr lang="en-US" altLang="zh-CN" sz="28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28380" y="0"/>
            <a:ext cx="1405962" cy="95410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indent="0" algn="l">
              <a:lnSpc>
                <a:spcPct val="200000"/>
              </a:lnSpc>
              <a:buFont typeface="+mj-lt"/>
              <a:buNone/>
            </a:pPr>
            <a:r>
              <a:rPr lang="en-US" altLang="zh-CN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6. Task</a:t>
            </a:r>
            <a:endParaRPr lang="en-US" altLang="zh-CN" sz="28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01600" y="752475"/>
            <a:ext cx="12090400" cy="2676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000" b="1" dirty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1) Install the Android Studio by yourself.</a:t>
            </a:r>
            <a:endParaRPr lang="en-US" altLang="zh-CN" sz="2000" b="1" dirty="0">
              <a:solidFill>
                <a:schemeClr val="accent5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1600" b="1" dirty="0">
                <a:solidFill>
                  <a:schemeClr val="accent5">
                    <a:lumMod val="50000"/>
                  </a:schemeClr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注意</a:t>
            </a:r>
            <a:r>
              <a:rPr lang="zh-CN" altLang="en-US" sz="1600" b="1" dirty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r>
              <a:rPr lang="en-US" altLang="zh-CN" sz="1600" b="1" dirty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1. </a:t>
            </a:r>
            <a:r>
              <a:rPr lang="zh-CN" altLang="en-US" sz="1600" b="1" dirty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安装盘至少有</a:t>
            </a:r>
            <a:r>
              <a:rPr lang="en-US" altLang="zh-CN" sz="1600" b="1" dirty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30G</a:t>
            </a:r>
            <a:r>
              <a:rPr lang="zh-CN" altLang="en-US" sz="1600" b="1" dirty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的空间，并保证网速流畅</a:t>
            </a:r>
            <a:endParaRPr lang="en-US" altLang="zh-CN" sz="1600" b="1" dirty="0">
              <a:solidFill>
                <a:schemeClr val="accent5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1600" b="1" dirty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2. </a:t>
            </a:r>
            <a:r>
              <a:rPr lang="zh-CN" altLang="en-US" sz="1600" b="1" dirty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先装</a:t>
            </a:r>
            <a:r>
              <a:rPr lang="en-US" altLang="zh-CN" sz="1600" b="1" dirty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JDK</a:t>
            </a:r>
            <a:r>
              <a:rPr lang="zh-CN" altLang="en-US" sz="1600" b="1" dirty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再装</a:t>
            </a:r>
            <a:r>
              <a:rPr lang="en-US" altLang="zh-CN" sz="1600" b="1" dirty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Android Studio</a:t>
            </a:r>
            <a:endParaRPr lang="en-US" altLang="zh-CN" sz="1600" b="1" dirty="0">
              <a:solidFill>
                <a:schemeClr val="accent5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000" b="1" dirty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2) (Selective) Connect you own phone with the Android Studio,try to instal the APP you designed in the following courses on your phone .</a:t>
            </a:r>
            <a:endParaRPr lang="en-US" altLang="zh-CN" sz="2000" b="1" dirty="0">
              <a:solidFill>
                <a:schemeClr val="accent5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000" b="1" dirty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3) </a:t>
            </a:r>
            <a:r>
              <a:rPr lang="zh-CN" altLang="en-US" sz="2000" b="1" dirty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</a:t>
            </a:r>
            <a:r>
              <a:rPr lang="en-US" altLang="zh-CN" sz="2000" b="1" dirty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Selective</a:t>
            </a:r>
            <a:r>
              <a:rPr lang="zh-CN" altLang="en-US" sz="2000" b="1" dirty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）Complete Huawei application developer certification</a:t>
            </a:r>
            <a:r>
              <a:rPr lang="en-US" altLang="zh-CN" sz="2000" b="1" dirty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sz="2000" b="1" dirty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</a:t>
            </a:r>
            <a:r>
              <a:rPr lang="en-US" altLang="zh-CN" sz="2000" b="1" dirty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</a:t>
            </a:r>
            <a:r>
              <a:rPr lang="en-US" altLang="zh-CN" sz="2000" b="1" dirty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ny time is OK ).</a:t>
            </a:r>
            <a:endParaRPr lang="zh-CN" altLang="en-US" sz="2000" b="1" dirty="0">
              <a:solidFill>
                <a:schemeClr val="accent5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82880" y="3782695"/>
            <a:ext cx="118154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rgbClr val="1D41D5"/>
                </a:solidFill>
                <a:highlight>
                  <a:srgbClr val="FFFF00"/>
                </a:highlight>
              </a:rPr>
              <a:t>自行安排：</a:t>
            </a:r>
            <a:endParaRPr lang="zh-CN" altLang="en-US" b="1">
              <a:solidFill>
                <a:srgbClr val="1D41D5"/>
              </a:solidFill>
              <a:highlight>
                <a:srgbClr val="FFFF00"/>
              </a:highlight>
            </a:endParaRPr>
          </a:p>
          <a:p>
            <a:r>
              <a:rPr lang="zh-CN" altLang="en-US" b="1">
                <a:solidFill>
                  <a:srgbClr val="1D41D5"/>
                </a:solidFill>
                <a:highlight>
                  <a:srgbClr val="FFFF00"/>
                </a:highlight>
              </a:rPr>
              <a:t>鸿蒙开发者认证官网：</a:t>
            </a:r>
            <a:endParaRPr lang="zh-CN" altLang="en-US" b="1">
              <a:solidFill>
                <a:srgbClr val="1D41D5"/>
              </a:solidFill>
              <a:highlight>
                <a:srgbClr val="FFFF00"/>
              </a:highlight>
            </a:endParaRPr>
          </a:p>
          <a:p>
            <a:r>
              <a:rPr lang="zh-CN" altLang="en-US" u="sng">
                <a:solidFill>
                  <a:srgbClr val="1D41D5"/>
                </a:solidFill>
              </a:rPr>
              <a:t>https://developer.huawei.com/consumer/cn/training/dev-certification/a617e0d3bc144624864a04edb951f6c4</a:t>
            </a:r>
            <a:endParaRPr lang="zh-CN" altLang="en-US" u="sng">
              <a:solidFill>
                <a:srgbClr val="1D41D5"/>
              </a:solidFill>
            </a:endParaRPr>
          </a:p>
        </p:txBody>
      </p: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KSO_WM_DIAGRAM_VIRTUALLY_FRAME" val="{&quot;height&quot;:291.65,&quot;left&quot;:409.85,&quot;top&quot;:215,&quot;width&quot;:488.05}"/>
</p:tagLst>
</file>

<file path=ppt/tags/tag2.xml><?xml version="1.0" encoding="utf-8"?>
<p:tagLst xmlns:p="http://schemas.openxmlformats.org/presentationml/2006/main">
  <p:tag name="KSO_WM_DIAGRAM_VIRTUALLY_FRAME" val="{&quot;height&quot;:291.65,&quot;left&quot;:409.85,&quot;top&quot;:215,&quot;width&quot;:488.05}"/>
</p:tagLst>
</file>

<file path=ppt/tags/tag3.xml><?xml version="1.0" encoding="utf-8"?>
<p:tagLst xmlns:p="http://schemas.openxmlformats.org/presentationml/2006/main">
  <p:tag name="KSO_WM_DIAGRAM_VIRTUALLY_FRAME" val="{&quot;height&quot;:291.65,&quot;left&quot;:409.85,&quot;top&quot;:215,&quot;width&quot;:488.05}"/>
</p:tagLst>
</file>

<file path=ppt/tags/tag4.xml><?xml version="1.0" encoding="utf-8"?>
<p:tagLst xmlns:p="http://schemas.openxmlformats.org/presentationml/2006/main">
  <p:tag name="KSO_WM_DIAGRAM_VIRTUALLY_FRAME" val="{&quot;height&quot;:291.65,&quot;left&quot;:409.85,&quot;top&quot;:215,&quot;width&quot;:488.05}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  <p:tag name="KSO_WM_UNIT_PLACING_PICTURE_USER_VIEWPORT" val="{&quot;height&quot;:12045,&quot;width&quot;:5955}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DOC_GUID" val="{c49fec33-5181-4194-ae76-3299644534d4}"/>
  <p:tag name="KSO_WPP_MARK_KEY" val="0c04c815-1d37-4454-90c4-f2f266cbdf19"/>
  <p:tag name="COMMONDATA" val="eyJoZGlkIjoiZWIyNzc2MjMzNzRkNWUyZGE3ZDc5M2U5NWFlODgxYWQ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headEnd type="none" w="med" len="med"/>
          <a:tailEnd type="none" w="med" len="med"/>
        </a:ln>
      </a:spPr>
      <a:bodyPr/>
      <a:lstStyle/>
      <a:style>
        <a:lnRef idx="2">
          <a:schemeClr val="dk1"/>
        </a:lnRef>
        <a:fillRef idx="0">
          <a:schemeClr val="dk1"/>
        </a:fillRef>
        <a:effectRef idx="1">
          <a:schemeClr val="dk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3475</Words>
  <Application>WPS 演示</Application>
  <PresentationFormat>宽屏</PresentationFormat>
  <Paragraphs>164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2" baseType="lpstr">
      <vt:lpstr>Arial</vt:lpstr>
      <vt:lpstr>宋体</vt:lpstr>
      <vt:lpstr>Wingdings</vt:lpstr>
      <vt:lpstr>微软雅黑</vt:lpstr>
      <vt:lpstr>Wingdings</vt:lpstr>
      <vt:lpstr>楷体</vt:lpstr>
      <vt:lpstr>Times New Roman</vt:lpstr>
      <vt:lpstr>Calibri</vt:lpstr>
      <vt:lpstr>Arial Unicode MS</vt:lpstr>
      <vt:lpstr>等线 Light</vt:lpstr>
      <vt:lpstr>Calibri Light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南方科技大学创新创业学院  专业学位硕士培养方案设计</dc:title>
  <dc:creator>JY ZHONG</dc:creator>
  <cp:lastModifiedBy>徐琳琳</cp:lastModifiedBy>
  <cp:revision>1451</cp:revision>
  <cp:lastPrinted>2016-10-12T12:24:00Z</cp:lastPrinted>
  <dcterms:created xsi:type="dcterms:W3CDTF">2016-10-12T00:59:00Z</dcterms:created>
  <dcterms:modified xsi:type="dcterms:W3CDTF">2025-02-17T04:53:55Z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2052-12.1.0.19770</vt:lpwstr>
  </property>
  <property fmtid="{D5CDD505-2E9C-101B-9397-08002B2CF9AE}" pid="3" name="KSORubyTemplateID">
    <vt:lpwstr>2</vt:lpwstr>
  </property>
  <property fmtid="{D5CDD505-2E9C-101B-9397-08002B2CF9AE}" pid="4" name="ICV">
    <vt:lpwstr>05637E98682F4F318D6A72E9898FA781</vt:lpwstr>
  </property>
</Properties>
</file>