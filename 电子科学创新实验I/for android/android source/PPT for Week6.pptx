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3"/>
    <p:sldId id="257" r:id="rId4"/>
    <p:sldId id="285" r:id="rId5"/>
    <p:sldId id="284" r:id="rId6"/>
    <p:sldId id="282" r:id="rId7"/>
    <p:sldId id="288" r:id="rId8"/>
    <p:sldId id="289" r:id="rId9"/>
    <p:sldId id="283" r:id="rId10"/>
    <p:sldId id="287" r:id="rId11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9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c" initials="y" lastIdx="2" clrIdx="0"/>
  <p:cmAuthor id="2" name="XIA" initials="X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1D5"/>
    <a:srgbClr val="0B004C"/>
    <a:srgbClr val="0070C0"/>
    <a:srgbClr val="FFF2CC"/>
    <a:srgbClr val="595959"/>
    <a:srgbClr val="67CDCB"/>
    <a:srgbClr val="01ABA8"/>
    <a:srgbClr val="EA8540"/>
    <a:srgbClr val="404040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28" autoAdjust="0"/>
    <p:restoredTop sz="94256" autoAdjust="0"/>
  </p:normalViewPr>
  <p:slideViewPr>
    <p:cSldViewPr snapToGrid="0" showGuides="1">
      <p:cViewPr>
        <p:scale>
          <a:sx n="66" d="100"/>
          <a:sy n="66" d="100"/>
        </p:scale>
        <p:origin x="-428" y="-48"/>
      </p:cViewPr>
      <p:guideLst>
        <p:guide orient="horz" pos="2066"/>
        <p:guide pos="389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F7419-B139-4427-A8AF-48A8D33B2C96}" type="datetimeFigureOut">
              <a:rPr 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F4A84-F90C-4381-9912-31B4B2D7595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F845-9C43-41EA-848A-085CEC62B12B}" type="datetime1">
              <a:rPr lang="en-US" altLang="zh-CN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4140000"/>
            <a:ext cx="12192000" cy="1699200"/>
          </a:xfrm>
          <a:prstGeom prst="rect">
            <a:avLst/>
          </a:prstGeom>
          <a:solidFill>
            <a:srgbClr val="01A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73192" y="241288"/>
            <a:ext cx="3151216" cy="825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197751"/>
            <a:ext cx="12192000" cy="669600"/>
          </a:xfrm>
          <a:prstGeom prst="rect">
            <a:avLst/>
          </a:prstGeom>
          <a:solidFill>
            <a:srgbClr val="01A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41" y="6195877"/>
            <a:ext cx="5414401" cy="6714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69413"/>
            <a:ext cx="2743200" cy="365125"/>
          </a:xfrm>
        </p:spPr>
        <p:txBody>
          <a:bodyPr/>
          <a:lstStyle/>
          <a:p>
            <a:fld id="{DEB1C5B7-BC1F-4065-A5D7-DA8F8214EA2F}" type="datetime1">
              <a:rPr lang="en-US" altLang="zh-CN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69413"/>
            <a:ext cx="4114800" cy="365125"/>
          </a:xfrm>
        </p:spPr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58400" y="6349051"/>
            <a:ext cx="2743200" cy="365125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45FE1F-C64B-4068-A7D3-65251CAD3D18}" type="slidenum">
              <a:rPr lang="en-US" smtClean="0"/>
            </a:fld>
            <a:endParaRPr 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650"/>
          <a:stretch>
            <a:fillRect/>
          </a:stretch>
        </p:blipFill>
        <p:spPr>
          <a:xfrm>
            <a:off x="9828246" y="0"/>
            <a:ext cx="2190500" cy="66675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77481-A774-4724-849E-6E81EDC652A7}" type="datetime1">
              <a:rPr lang="en-US" altLang="zh-CN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EFBF-3E4C-4146-9A61-54A52684E1B3}" type="datetime1">
              <a:rPr lang="en-US" altLang="zh-CN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DC7FF-0BFB-4AA2-92D2-2B1FF18669C0}" type="datetime1">
              <a:rPr lang="en-US" altLang="zh-CN" smtClean="0"/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4083-3F2C-4AB5-B4CA-2B8A80500855}" type="datetime1">
              <a:rPr lang="en-US" altLang="zh-CN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AF993-1184-4565-9BBD-6CDFBE40BA1C}" type="datetime1">
              <a:rPr lang="en-US" altLang="zh-CN" smtClean="0"/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FCBBC-AF3B-49C7-8B59-C2D5C89BA0A8}" type="datetime1">
              <a:rPr lang="en-US" altLang="zh-CN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E9E42-252D-4A44-AF96-4E2E517B733F}" type="datetime1">
              <a:rPr lang="en-US" altLang="zh-CN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3A0BA-84A2-4F21-B82C-4495AF932D28}" type="datetime1">
              <a:rPr lang="en-US" altLang="zh-CN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D67B1-5420-4364-99DA-4879E83A61E0}" type="datetime1">
              <a:rPr lang="en-US" altLang="zh-CN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>
              <a:defRPr/>
            </a:pPr>
            <a:fld id="{9504A3BC-8BDC-4808-9BA4-E05E0555E2CA}" type="datetimeFigureOut">
              <a:rPr lang="zh-CN" altLang="en-US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>
              <a:defRPr/>
            </a:pPr>
            <a:fld id="{5861710D-C170-4F52-9ABA-DCE21D7BB8DF}" type="slidenum">
              <a:rPr lang="zh-CN" altLang="en-US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7BD13E-4157-4F7F-8CB4-F724A15D7107}" type="datetime1">
              <a:rPr lang="en-US" altLang="zh-CN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5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98830" y="1379220"/>
            <a:ext cx="1021842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Introduction to mobile </a:t>
            </a:r>
            <a:r>
              <a:rPr lang="en-US" sz="4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sz="4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development</a:t>
            </a:r>
            <a:endParaRPr lang="en-US" altLang="zh-CN" sz="4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314825" y="3279140"/>
            <a:ext cx="3186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/>
              <a:t>Teacher: Dr. XU Linlin</a:t>
            </a:r>
            <a:endParaRPr lang="en-US" altLang="zh-CN" sz="2400" b="1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7480" y="701730"/>
            <a:ext cx="348869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</a:t>
            </a:r>
            <a:endParaRPr sz="4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82215" y="1857676"/>
            <a:ext cx="3445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04164" y="1618670"/>
            <a:ext cx="11583035" cy="4399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altLang="zh-CN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Introduction to RecyclerView</a:t>
            </a:r>
            <a:endParaRPr lang="en-US" altLang="zh-CN" sz="2800" b="1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14350" indent="-514350" algn="l">
              <a:lnSpc>
                <a:spcPct val="200000"/>
              </a:lnSpc>
              <a:buFont typeface="+mj-lt"/>
              <a:buAutoNum type="arabicPeriod"/>
            </a:pPr>
            <a:r>
              <a:rPr lang="en-US" altLang="zh-CN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Intoduction </a:t>
            </a:r>
            <a:r>
              <a:rPr lang="en-US" altLang="zh-CN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 Fragment</a:t>
            </a:r>
            <a:endParaRPr lang="en-US" altLang="zh-CN" sz="2800" b="1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14350" indent="-514350" algn="l">
              <a:lnSpc>
                <a:spcPct val="200000"/>
              </a:lnSpc>
              <a:buFont typeface="+mj-lt"/>
              <a:buAutoNum type="arabicPeriod"/>
            </a:pPr>
            <a:r>
              <a:rPr lang="en-US" altLang="zh-CN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Practices</a:t>
            </a:r>
            <a:r>
              <a:rPr lang="zh-CN" altLang="en-US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（自我练习）</a:t>
            </a:r>
            <a:endParaRPr lang="zh-CN" altLang="en-US" sz="2800" b="1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14350" indent="-514350" algn="l">
              <a:lnSpc>
                <a:spcPct val="200000"/>
              </a:lnSpc>
              <a:buFont typeface="+mj-lt"/>
              <a:buAutoNum type="arabicPeriod"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Experiment </a:t>
            </a: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2: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Shopping 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A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PP design</a:t>
            </a:r>
            <a:endParaRPr lang="zh-CN" altLang="en-US" sz="2800" b="1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14350" indent="-514350" algn="l">
              <a:lnSpc>
                <a:spcPct val="200000"/>
              </a:lnSpc>
              <a:buFont typeface="+mj-lt"/>
              <a:buAutoNum type="arabicPeriod"/>
            </a:pPr>
            <a:endParaRPr lang="zh-CN" altLang="en-US" sz="2800" b="1" dirty="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6250" y="183242"/>
            <a:ext cx="11697335" cy="928652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altLang="zh-CN" sz="3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Intoduction </a:t>
            </a:r>
            <a:r>
              <a:rPr lang="en-US" altLang="zh-CN" sz="3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 RecyclerView</a:t>
            </a:r>
            <a:endParaRPr lang="en-US" altLang="zh-CN" sz="32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0046" y="1225279"/>
            <a:ext cx="5383731" cy="4184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800" b="1" smtClean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RecyclerView</a:t>
            </a:r>
            <a:r>
              <a:rPr lang="zh-CN" altLang="en-US" sz="2800" b="1" smtClean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en-US" altLang="zh-CN" sz="2800" b="1" smtClean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在安卓</a:t>
            </a:r>
            <a:r>
              <a:rPr lang="en-US" altLang="zh-CN" sz="20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5.0</a:t>
            </a:r>
            <a:r>
              <a:rPr lang="zh-CN" altLang="en-US" sz="20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以后开始使用，用于在</a:t>
            </a:r>
            <a:r>
              <a:rPr lang="zh-CN" altLang="en-US" sz="2000" b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有限</a:t>
            </a:r>
            <a:r>
              <a:rPr lang="zh-CN" altLang="en-US" sz="20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窗口显示</a:t>
            </a:r>
            <a:r>
              <a:rPr lang="zh-CN" altLang="en-US" sz="2000" b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大量</a:t>
            </a:r>
            <a:r>
              <a:rPr lang="zh-CN" altLang="en-US" sz="20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数据的</a:t>
            </a:r>
            <a:r>
              <a:rPr lang="zh-CN" altLang="en-US" sz="2000" b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控件；</a:t>
            </a:r>
            <a:endParaRPr lang="en-US" altLang="zh-CN" sz="2000" b="1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能够实现</a:t>
            </a:r>
            <a:r>
              <a:rPr lang="zh-CN" altLang="en-US" sz="2000" b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列表</a:t>
            </a:r>
            <a:r>
              <a:rPr lang="zh-CN" altLang="en-US" sz="20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网格</a:t>
            </a:r>
            <a:r>
              <a:rPr lang="zh-CN" altLang="en-US" sz="20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瀑布流</a:t>
            </a:r>
            <a:r>
              <a:rPr lang="zh-CN" altLang="en-US" sz="20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的显示效果；</a:t>
            </a:r>
            <a:endParaRPr lang="en-US" altLang="zh-CN" sz="20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RecyclerView的接口（</a:t>
            </a:r>
            <a:r>
              <a:rPr lang="en-US" altLang="zh-CN" sz="20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Adaper</a:t>
            </a:r>
            <a:r>
              <a:rPr lang="zh-CN" altLang="en-US" sz="20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zh-CN" altLang="en-US" sz="2000" b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强制</a:t>
            </a:r>
            <a:r>
              <a:rPr lang="zh-CN" altLang="en-US" sz="20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20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ViewHolder</a:t>
            </a:r>
            <a:r>
              <a:rPr lang="zh-CN" altLang="en-US" sz="20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类；</a:t>
            </a:r>
            <a:endParaRPr lang="zh-CN" altLang="en-US" sz="2000" b="1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自定义</a:t>
            </a:r>
            <a:r>
              <a:rPr lang="en-US" altLang="zh-CN" sz="20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模板；</a:t>
            </a:r>
            <a:endParaRPr lang="en-US" altLang="zh-CN" sz="2000" b="1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9284" y="1225543"/>
            <a:ext cx="2420289" cy="4880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4917" y="1225541"/>
            <a:ext cx="2420521" cy="4880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6250" y="-175533"/>
            <a:ext cx="11697335" cy="928652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altLang="zh-CN" sz="3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Intoduction </a:t>
            </a:r>
            <a:r>
              <a:rPr lang="en-US" altLang="zh-CN" sz="3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 RecyclerView</a:t>
            </a:r>
            <a:endParaRPr lang="en-US" altLang="zh-CN" sz="32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715" y="834390"/>
            <a:ext cx="12357735" cy="59188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2800" b="1" smtClean="0">
                <a:solidFill>
                  <a:srgbClr val="1D41D5"/>
                </a:solidFill>
              </a:rPr>
              <a:t>setLayoutManager()</a:t>
            </a:r>
            <a:endParaRPr lang="en-US" altLang="zh-CN" sz="2800" b="1" smtClean="0">
              <a:solidFill>
                <a:srgbClr val="1D41D5"/>
              </a:solidFill>
            </a:endParaRPr>
          </a:p>
          <a:p>
            <a:pPr marL="342900" indent="360045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/>
              <a:t>线性布局管理器：</a:t>
            </a:r>
            <a:r>
              <a:rPr lang="en-US" altLang="zh-CN" sz="2000"/>
              <a:t>LinearLayoutManager()</a:t>
            </a:r>
            <a:endParaRPr lang="en-US" altLang="zh-CN" sz="2000"/>
          </a:p>
          <a:p>
            <a:pPr marL="685800" indent="72009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/>
              <a:t>使用举例：</a:t>
            </a:r>
            <a:r>
              <a:rPr lang="en-US" altLang="zh-CN" sz="2000"/>
              <a:t>rv_animal.setLayoutManager(new LinearLayoutManager(getApplicationContext(),LinearLayoutManager.VERTICAL,false));</a:t>
            </a:r>
            <a:endParaRPr lang="en-US" altLang="zh-CN" sz="2000"/>
          </a:p>
          <a:p>
            <a:pPr marL="342900" indent="360045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>
                <a:sym typeface="+mn-ea"/>
              </a:rPr>
              <a:t>瀑布流布局管理器：</a:t>
            </a:r>
            <a:r>
              <a:rPr lang="en-US" altLang="zh-CN" sz="2000"/>
              <a:t>StaggeredGridLayoutManager</a:t>
            </a:r>
            <a:r>
              <a:rPr lang="en-US" altLang="zh-CN" sz="2000" smtClean="0"/>
              <a:t>();</a:t>
            </a:r>
            <a:endParaRPr lang="en-US" altLang="zh-CN" sz="2000" smtClean="0"/>
          </a:p>
          <a:p>
            <a:pPr marL="685800" indent="72009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>
                <a:sym typeface="+mn-ea"/>
              </a:rPr>
              <a:t>使用举例</a:t>
            </a:r>
            <a:r>
              <a:rPr lang="zh-CN" altLang="en-US" sz="2000">
                <a:sym typeface="+mn-ea"/>
              </a:rPr>
              <a:t>：</a:t>
            </a:r>
            <a:r>
              <a:rPr lang="en-US" altLang="zh-CN" sz="2000">
                <a:sym typeface="+mn-ea"/>
              </a:rPr>
              <a:t>rv_animal.setLayoutManager(new StaggeredGridLayoutManager(2,StaggeredGridLayoutManager.VERTICAL));</a:t>
            </a:r>
            <a:endParaRPr lang="en-US" altLang="zh-CN" sz="200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2800" b="1" smtClean="0">
                <a:solidFill>
                  <a:srgbClr val="1D41D5"/>
                </a:solidFill>
              </a:rPr>
              <a:t>setAdapter();</a:t>
            </a:r>
            <a:endParaRPr lang="en-US" altLang="zh-CN" sz="2800" b="1" smtClean="0">
              <a:solidFill>
                <a:srgbClr val="1D41D5"/>
              </a:solidFill>
            </a:endParaRPr>
          </a:p>
          <a:p>
            <a:pPr marL="889000" lvl="1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RecyclerView. Adapter</a:t>
            </a:r>
            <a:endParaRPr lang="en-US" altLang="zh-CN" sz="20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800100" lvl="1" indent="360045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/>
              <a:t>onCreateViewHolder();</a:t>
            </a:r>
            <a:endParaRPr lang="en-US" altLang="zh-CN" sz="2000"/>
          </a:p>
          <a:p>
            <a:pPr marL="800100" lvl="1" indent="360045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/>
              <a:t>onBindViewHolder();</a:t>
            </a:r>
            <a:endParaRPr lang="en-US" altLang="zh-CN" sz="2000"/>
          </a:p>
          <a:p>
            <a:pPr marL="800100" lvl="1" indent="360045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/>
              <a:t>getItemCount</a:t>
            </a:r>
            <a:r>
              <a:rPr lang="en-US" altLang="zh-CN" sz="2000" smtClean="0"/>
              <a:t>();</a:t>
            </a:r>
            <a:endParaRPr lang="zh-CN" altLang="en-US" sz="2800" b="1">
              <a:solidFill>
                <a:srgbClr val="1D41D5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98565" y="5315585"/>
            <a:ext cx="4319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参考代码见群文件：</a:t>
            </a:r>
            <a:r>
              <a:rPr lang="en-US" altLang="zh-CN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Recylerview</a:t>
            </a:r>
            <a:r>
              <a:rPr lang="zh-CN" altLang="en-US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的使用</a:t>
            </a:r>
            <a:endParaRPr lang="zh-CN" altLang="en-US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6250" y="-273"/>
            <a:ext cx="11697335" cy="107632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indent="0">
              <a:lnSpc>
                <a:spcPct val="200000"/>
              </a:lnSpc>
              <a:buFont typeface="+mj-lt"/>
              <a:buNone/>
            </a:pPr>
            <a:r>
              <a:rPr lang="en-US" altLang="zh-CN" sz="3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Intoduction to Fragment</a:t>
            </a:r>
            <a:endParaRPr lang="en-US" altLang="zh-CN" sz="32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2"/>
          <p:cNvSpPr txBox="1"/>
          <p:nvPr/>
        </p:nvSpPr>
        <p:spPr>
          <a:xfrm>
            <a:off x="202131" y="1171562"/>
            <a:ext cx="77002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Fragment</a:t>
            </a:r>
            <a:r>
              <a:rPr lang="zh-CN" altLang="en-US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有自己的生命周期；</a:t>
            </a:r>
            <a:endParaRPr lang="en-US" altLang="zh-CN" sz="2400" b="1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Fragment</a:t>
            </a:r>
            <a:r>
              <a:rPr lang="zh-CN" altLang="en-US" sz="2400" b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依赖</a:t>
            </a:r>
            <a:r>
              <a:rPr lang="en-US" altLang="zh-CN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Activity</a:t>
            </a:r>
            <a:r>
              <a:rPr lang="zh-CN" altLang="en-US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en-US" altLang="zh-CN" sz="2400" b="1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Fragment</a:t>
            </a:r>
            <a:r>
              <a:rPr lang="zh-CN" altLang="en-US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Activity</a:t>
            </a:r>
            <a:r>
              <a:rPr lang="zh-CN" altLang="en-US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</a:t>
            </a:r>
            <a:r>
              <a:rPr lang="zh-CN" altLang="en-US" sz="2400" b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多对多</a:t>
            </a:r>
            <a:r>
              <a:rPr lang="zh-CN" altLang="en-US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的关系；</a:t>
            </a:r>
            <a:endParaRPr lang="en-US" altLang="zh-CN" sz="2400" b="1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Fragment</a:t>
            </a:r>
            <a:r>
              <a:rPr lang="zh-CN" altLang="en-US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的强大之处是在程序运行的时候</a:t>
            </a:r>
            <a:r>
              <a:rPr lang="zh-CN" altLang="en-US" sz="2400" b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随时动态添加</a:t>
            </a:r>
            <a:r>
              <a:rPr lang="en-US" altLang="zh-CN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Fragment</a:t>
            </a:r>
            <a:r>
              <a:rPr lang="zh-CN" altLang="en-US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在界面中；</a:t>
            </a:r>
            <a:endParaRPr lang="en-US" altLang="zh-CN" sz="24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4030" y="647568"/>
            <a:ext cx="2724150" cy="543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548005" y="4848225"/>
            <a:ext cx="4319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参考代码见群文件：</a:t>
            </a:r>
            <a:r>
              <a:rPr lang="en-US" altLang="zh-CN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Fragment</a:t>
            </a:r>
            <a:r>
              <a:rPr lang="zh-CN" altLang="en-US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的使用</a:t>
            </a:r>
            <a:endParaRPr lang="zh-CN" altLang="en-US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96250" y="-273"/>
            <a:ext cx="11697335" cy="107632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indent="0">
              <a:lnSpc>
                <a:spcPct val="200000"/>
              </a:lnSpc>
              <a:buFont typeface="+mj-lt"/>
              <a:buNone/>
            </a:pPr>
            <a:r>
              <a:rPr lang="en-US" altLang="zh-CN" sz="3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Fragment</a:t>
            </a:r>
            <a:r>
              <a:rPr lang="zh-CN" altLang="en-US" sz="3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的使用</a:t>
            </a:r>
            <a:endParaRPr lang="zh-CN" altLang="en-US" sz="32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705" y="1136650"/>
            <a:ext cx="7569200" cy="412623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369820" y="5323205"/>
            <a:ext cx="318897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6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新建一个</a:t>
            </a:r>
            <a:r>
              <a:rPr lang="en-US" altLang="zh-CN" sz="16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Fragment</a:t>
            </a:r>
            <a:r>
              <a:rPr lang="zh-CN" altLang="en-US" sz="16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对象</a:t>
            </a:r>
            <a:endParaRPr lang="zh-CN" altLang="en-US" sz="1600" b="1" dirty="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110" y="1395095"/>
            <a:ext cx="4210050" cy="3449955"/>
          </a:xfrm>
          <a:prstGeom prst="rect">
            <a:avLst/>
          </a:prstGeom>
        </p:spPr>
      </p:pic>
      <p:sp>
        <p:nvSpPr>
          <p:cNvPr id="10" name="右箭头 9"/>
          <p:cNvSpPr/>
          <p:nvPr/>
        </p:nvSpPr>
        <p:spPr>
          <a:xfrm>
            <a:off x="7587615" y="2837180"/>
            <a:ext cx="474980" cy="348615"/>
          </a:xfrm>
          <a:prstGeom prst="rightArrow">
            <a:avLst/>
          </a:prstGeom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08915" y="1321435"/>
            <a:ext cx="955484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/</a:t>
            </a:r>
            <a:r>
              <a:rPr lang="en-US" altLang="zh-CN">
                <a:highlight>
                  <a:srgbClr val="FFFF00"/>
                </a:highlight>
              </a:rPr>
              <a:t>/</a:t>
            </a:r>
            <a:r>
              <a:rPr lang="zh-CN" altLang="en-US">
                <a:highlight>
                  <a:srgbClr val="FFFF00"/>
                </a:highlight>
              </a:rPr>
              <a:t>在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onCreateView()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方法中把布局转成视图，同时设置视图的内容，比如放一个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R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ecyclerview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。</a:t>
            </a:r>
            <a:endParaRPr lang="en-US" altLang="zh-CN"/>
          </a:p>
          <a:p>
            <a:r>
              <a:rPr lang="en-US" altLang="zh-CN"/>
              <a:t>@Override</a:t>
            </a:r>
            <a:endParaRPr lang="en-US" altLang="zh-CN"/>
          </a:p>
          <a:p>
            <a:r>
              <a:rPr lang="en-US" altLang="zh-CN"/>
              <a:t>    public View onCreateView(LayoutInflater inflater, ViewGroup container,</a:t>
            </a:r>
            <a:endParaRPr lang="en-US" altLang="zh-CN"/>
          </a:p>
          <a:p>
            <a:r>
              <a:rPr lang="en-US" altLang="zh-CN"/>
              <a:t>                             Bundle savedInstanceState) {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    View view = inflater.inflate(R.layout.fragment_zhu_shi, container, false);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    return view;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}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6250" y="-273"/>
            <a:ext cx="11697335" cy="1076325"/>
          </a:xfrm>
          <a:prstGeom prst="rect">
            <a:avLst/>
          </a:prstGeom>
        </p:spPr>
        <p:txBody>
          <a:bodyPr wrap="square" rtlCol="0" anchor="t">
            <a:spAutoFit/>
          </a:bodyPr>
          <a:p>
            <a:pPr indent="0">
              <a:lnSpc>
                <a:spcPct val="200000"/>
              </a:lnSpc>
              <a:buFont typeface="+mj-lt"/>
              <a:buNone/>
            </a:pPr>
            <a:r>
              <a:rPr lang="en-US" altLang="zh-CN" sz="3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Fragment</a:t>
            </a:r>
            <a:r>
              <a:rPr lang="zh-CN" altLang="en-US" sz="3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的使用</a:t>
            </a:r>
            <a:endParaRPr lang="zh-CN" altLang="en-US" sz="32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6250" y="183242"/>
            <a:ext cx="11697335" cy="107632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200" b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</a:t>
            </a:r>
            <a:r>
              <a:rPr lang="zh-CN" altLang="en-US" sz="3200" b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自我练习</a:t>
            </a:r>
            <a:endParaRPr lang="en-US" altLang="zh-CN" sz="32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2"/>
          <p:cNvSpPr txBox="1"/>
          <p:nvPr/>
        </p:nvSpPr>
        <p:spPr>
          <a:xfrm>
            <a:off x="281305" y="1259840"/>
            <a:ext cx="10807700" cy="4836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smtClean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要求：</a:t>
            </a:r>
            <a:endParaRPr lang="en-US" altLang="zh-CN" sz="2800" b="1" smtClean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zh-CN" altLang="en-US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练习</a:t>
            </a:r>
            <a:r>
              <a:rPr lang="en-US" altLang="zh-CN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RecyclerView</a:t>
            </a:r>
            <a:r>
              <a:rPr lang="zh-CN" altLang="en-US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的使用；</a:t>
            </a:r>
            <a:endParaRPr lang="en-US" altLang="zh-CN" sz="2400" b="1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zh-CN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练习</a:t>
            </a:r>
            <a:r>
              <a:rPr lang="en-US" altLang="zh-CN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Fragment</a:t>
            </a:r>
            <a:r>
              <a:rPr lang="zh-CN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的使用和如何自定义</a:t>
            </a:r>
            <a:r>
              <a:rPr lang="en-US" altLang="zh-CN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Fra</a:t>
            </a:r>
            <a:r>
              <a:rPr lang="en-US" altLang="zh-CN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gment</a:t>
            </a:r>
            <a:r>
              <a:rPr lang="zh-CN" altLang="en-US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zh-CN" altLang="en-US" sz="2400" b="1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lang="zh-CN" altLang="en-US" sz="20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插入构造方法的快捷键：</a:t>
            </a:r>
            <a:r>
              <a:rPr lang="en-US" altLang="zh-CN" sz="20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Alt+Insert</a:t>
            </a:r>
            <a:endParaRPr lang="zh-CN" altLang="en-US" sz="20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3）</a:t>
            </a:r>
            <a:r>
              <a:rPr lang="zh-CN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练习如何自定义Activity。</a:t>
            </a:r>
            <a:endParaRPr lang="zh-CN" sz="2400" b="1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20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0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）建一个</a:t>
            </a:r>
            <a:r>
              <a:rPr lang="en-US" altLang="zh-CN" sz="20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class</a:t>
            </a:r>
            <a:r>
              <a:rPr lang="zh-CN" altLang="en-US" sz="20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类的对象，使其继承自AppCompatActivity；</a:t>
            </a:r>
            <a:endParaRPr lang="zh-CN" altLang="en-US" sz="2000" dirty="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20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20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）建一个</a:t>
            </a:r>
            <a:r>
              <a:rPr lang="en-US" altLang="zh-CN" sz="20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</a:t>
            </a:r>
            <a:r>
              <a:rPr lang="zh-CN" altLang="en-US" sz="20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对象，将其和上一步新建的</a:t>
            </a:r>
            <a:r>
              <a:rPr lang="en-US" altLang="zh-CN" sz="20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class</a:t>
            </a:r>
            <a:r>
              <a:rPr lang="zh-CN" altLang="en-US" sz="20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对象关联起来；</a:t>
            </a:r>
            <a:endParaRPr lang="zh-CN" altLang="en-US" sz="2000" dirty="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20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20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）在清单文件</a:t>
            </a:r>
            <a:r>
              <a:rPr lang="en-US" altLang="zh-CN" sz="20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AndroidManifest</a:t>
            </a:r>
            <a:r>
              <a:rPr lang="zh-CN" altLang="en-US" sz="20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中注册</a:t>
            </a:r>
            <a:r>
              <a:rPr lang="en-US" altLang="zh-CN" sz="20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Activity</a:t>
            </a:r>
            <a:r>
              <a:rPr lang="zh-CN" altLang="en-US" sz="20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000" b="1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000" dirty="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01295" y="1406525"/>
            <a:ext cx="839597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4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要求：</a:t>
            </a:r>
            <a:endParaRPr lang="zh-CN" altLang="en-US" sz="24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b="1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制作如右图所示界面，要求左边的</a:t>
            </a:r>
            <a:r>
              <a:rPr lang="en-US" altLang="zh-CN" b="1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Fragment</a:t>
            </a:r>
            <a:r>
              <a:rPr lang="zh-CN" altLang="en-US" b="1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里面使用RecyclerView。</a:t>
            </a:r>
            <a:endParaRPr lang="zh-CN" altLang="en-US" b="1" smtClean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b="1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主食、炒菜、麻辣烫和清真菜的左边的子菜单里面需要有</a:t>
            </a:r>
            <a:r>
              <a:rPr lang="en-US" altLang="zh-CN" b="1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10</a:t>
            </a:r>
            <a:r>
              <a:rPr lang="zh-CN" altLang="en-US" b="1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条信息，即</a:t>
            </a:r>
            <a:r>
              <a:rPr lang="zh-CN" altLang="en-US" b="1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RecyclerView里面需要有</a:t>
            </a:r>
            <a:r>
              <a:rPr lang="en-US" altLang="zh-CN" b="1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10</a:t>
            </a:r>
            <a:r>
              <a:rPr lang="zh-CN" altLang="en-US" b="1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条</a:t>
            </a:r>
            <a:r>
              <a:rPr lang="en-US" altLang="zh-CN" b="1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item</a:t>
            </a:r>
            <a:r>
              <a:rPr lang="zh-CN" altLang="en-US" b="1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（不能多也不能少）</a:t>
            </a:r>
            <a:r>
              <a:rPr lang="zh-CN" altLang="en-US" b="1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。</a:t>
            </a:r>
            <a:endParaRPr lang="zh-CN" altLang="en-US" b="1" smtClean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b="1" dirty="0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要求</a:t>
            </a:r>
            <a:r>
              <a:rPr lang="en-US" altLang="zh-CN" b="1" dirty="0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APP</a:t>
            </a:r>
            <a:r>
              <a:rPr lang="zh-CN" altLang="en-US" b="1" dirty="0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启动后，主食视图的背景为白色，而不是橙色，如右图所示。</a:t>
            </a:r>
            <a:endParaRPr lang="zh-CN" altLang="en-US" b="1" dirty="0" smtClean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b="1" dirty="0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报告要求：</a:t>
            </a:r>
            <a:r>
              <a:rPr lang="en-US" altLang="zh-CN" b="1" dirty="0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Word</a:t>
            </a:r>
            <a:r>
              <a:rPr lang="zh-CN" altLang="en-US" b="1" dirty="0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报告，附上所有的代码，直接粘贴在报告里面，同时给出如右图所示的所有主菜单（</a:t>
            </a:r>
            <a:r>
              <a:rPr lang="zh-CN" b="1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主食、炒菜、麻辣烫和清真菜</a:t>
            </a:r>
            <a:r>
              <a:rPr lang="zh-CN" altLang="en-US" b="1" dirty="0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）及其子菜单的截图。</a:t>
            </a:r>
            <a:endParaRPr lang="zh-CN" altLang="en-US" b="1" dirty="0" smtClean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7750" y="251326"/>
            <a:ext cx="11697335" cy="107632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lvl="0">
              <a:lnSpc>
                <a:spcPct val="200000"/>
              </a:lnSpc>
              <a:buFont typeface="+mj-lt"/>
            </a:pP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 Experiment </a:t>
            </a:r>
            <a:r>
              <a:rPr lang="en-US" altLang="zh-CN" sz="32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2: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Shopping 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A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PP design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endParaRPr lang="en-US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5" descr="Screenshot_17427878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6815" y="695960"/>
            <a:ext cx="3074670" cy="5466080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OC_GUID" val="{c49fec33-5181-4194-ae76-3299644534d4}"/>
  <p:tag name="commondata" val="eyJoZGlkIjoiZWIyNzc2MjMzNzRkNWUyZGE3ZDc5M2U5NWFlODgxYW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headEnd type="none" w="med" len="med"/>
          <a:tailEnd type="none" w="med" len="med"/>
        </a:ln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1703</Words>
  <Application>WPS 演示</Application>
  <PresentationFormat>自定义</PresentationFormat>
  <Paragraphs>81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Wingdings</vt:lpstr>
      <vt:lpstr>Times New Roman</vt:lpstr>
      <vt:lpstr>Calibri</vt:lpstr>
      <vt:lpstr>Arial Unicode MS</vt:lpstr>
      <vt:lpstr>等线 Light</vt:lpstr>
      <vt:lpstr>Calibri Light</vt:lpstr>
      <vt:lpstr>等线</vt:lpstr>
      <vt:lpstr>JetBrains Mono</vt:lpstr>
      <vt:lpstr>ksdb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南方科技大学创新创业学院  专业学位硕士培养方案设计</dc:title>
  <dc:creator>JY ZHONG</dc:creator>
  <cp:lastModifiedBy>徐琳琳</cp:lastModifiedBy>
  <cp:revision>1498</cp:revision>
  <cp:lastPrinted>2016-10-12T12:24:00Z</cp:lastPrinted>
  <dcterms:created xsi:type="dcterms:W3CDTF">2016-10-12T00:59:00Z</dcterms:created>
  <dcterms:modified xsi:type="dcterms:W3CDTF">2025-03-24T03:45:11Z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KSORubyTemplateID">
    <vt:lpwstr>2</vt:lpwstr>
  </property>
  <property fmtid="{D5CDD505-2E9C-101B-9397-08002B2CF9AE}" pid="4" name="ICV">
    <vt:lpwstr>05637E98682F4F318D6A72E9898FA781</vt:lpwstr>
  </property>
</Properties>
</file>