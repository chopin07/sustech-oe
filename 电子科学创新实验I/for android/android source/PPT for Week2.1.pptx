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handoutMasterIdLst>
    <p:handoutMasterId r:id="rId28"/>
  </p:handoutMasterIdLst>
  <p:sldIdLst>
    <p:sldId id="256" r:id="rId3"/>
    <p:sldId id="257" r:id="rId4"/>
    <p:sldId id="268" r:id="rId5"/>
    <p:sldId id="295" r:id="rId6"/>
    <p:sldId id="297" r:id="rId7"/>
    <p:sldId id="298" r:id="rId8"/>
    <p:sldId id="299" r:id="rId9"/>
    <p:sldId id="296" r:id="rId10"/>
    <p:sldId id="272" r:id="rId11"/>
    <p:sldId id="312" r:id="rId12"/>
    <p:sldId id="323" r:id="rId13"/>
    <p:sldId id="283" r:id="rId14"/>
    <p:sldId id="285" r:id="rId15"/>
    <p:sldId id="286" r:id="rId16"/>
    <p:sldId id="335" r:id="rId17"/>
    <p:sldId id="336" r:id="rId19"/>
    <p:sldId id="284" r:id="rId20"/>
    <p:sldId id="333" r:id="rId21"/>
    <p:sldId id="291" r:id="rId22"/>
    <p:sldId id="334" r:id="rId23"/>
    <p:sldId id="292" r:id="rId24"/>
    <p:sldId id="289" r:id="rId25"/>
    <p:sldId id="290" r:id="rId26"/>
    <p:sldId id="293" r:id="rId27"/>
  </p:sldIdLst>
  <p:sldSz cx="12192000" cy="6858000"/>
  <p:notesSz cx="6858000" cy="9144000"/>
  <p:custDataLst>
    <p:tags r:id="rId3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402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c" initials="y" lastIdx="2" clrIdx="0"/>
  <p:cmAuthor id="2" name="XIA" initials="X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1D5"/>
    <a:srgbClr val="F4452E"/>
    <a:srgbClr val="F6FC14"/>
    <a:srgbClr val="0B004C"/>
    <a:srgbClr val="0070C0"/>
    <a:srgbClr val="FFF2CC"/>
    <a:srgbClr val="595959"/>
    <a:srgbClr val="67CDCB"/>
    <a:srgbClr val="01ABA8"/>
    <a:srgbClr val="EA85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28" autoAdjust="0"/>
    <p:restoredTop sz="94256" autoAdjust="0"/>
  </p:normalViewPr>
  <p:slideViewPr>
    <p:cSldViewPr snapToGrid="0" showGuides="1">
      <p:cViewPr varScale="1">
        <p:scale>
          <a:sx n="72" d="100"/>
          <a:sy n="72" d="100"/>
        </p:scale>
        <p:origin x="198" y="72"/>
      </p:cViewPr>
      <p:guideLst>
        <p:guide orient="horz" pos="2136"/>
        <p:guide pos="402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2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gs" Target="tags/tag2.xml"/><Relationship Id="rId32" Type="http://schemas.openxmlformats.org/officeDocument/2006/relationships/commentAuthors" Target="commentAuthors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1F7419-B139-4427-A8AF-48A8D33B2C96}" type="datetimeFigureOut">
              <a:rPr lang="en-US" smtClean="0"/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5F4A84-F90C-4381-9912-31B4B2D7595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F845-9C43-41EA-848A-085CEC62B12B}" type="datetime1">
              <a:rPr lang="en-US" altLang="zh-CN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E1F-C64B-4068-A7D3-65251CAD3D18}" type="slidenum">
              <a:rPr lang="en-US" smtClean="0"/>
            </a:fld>
            <a:endParaRPr 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4140000"/>
            <a:ext cx="12192000" cy="1699200"/>
          </a:xfrm>
          <a:prstGeom prst="rect">
            <a:avLst/>
          </a:prstGeom>
          <a:solidFill>
            <a:srgbClr val="01AB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73192" y="241288"/>
            <a:ext cx="3151216" cy="82500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6197751"/>
            <a:ext cx="12192000" cy="669600"/>
          </a:xfrm>
          <a:prstGeom prst="rect">
            <a:avLst/>
          </a:prstGeom>
          <a:solidFill>
            <a:srgbClr val="01AB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41" y="6195877"/>
            <a:ext cx="5414401" cy="67147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69413"/>
            <a:ext cx="2743200" cy="365125"/>
          </a:xfrm>
        </p:spPr>
        <p:txBody>
          <a:bodyPr/>
          <a:lstStyle/>
          <a:p>
            <a:fld id="{DEB1C5B7-BC1F-4065-A5D7-DA8F8214EA2F}" type="datetime1">
              <a:rPr lang="en-US" altLang="zh-CN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69413"/>
            <a:ext cx="4114800" cy="365125"/>
          </a:xfrm>
        </p:spPr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158400" y="6349051"/>
            <a:ext cx="2743200" cy="365125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245FE1F-C64B-4068-A7D3-65251CAD3D18}" type="slidenum">
              <a:rPr lang="en-US" smtClean="0"/>
            </a:fld>
            <a:endParaRPr 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650"/>
          <a:stretch>
            <a:fillRect/>
          </a:stretch>
        </p:blipFill>
        <p:spPr>
          <a:xfrm>
            <a:off x="9828246" y="0"/>
            <a:ext cx="2190500" cy="66675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77481-A774-4724-849E-6E81EDC652A7}" type="datetime1">
              <a:rPr lang="en-US" altLang="zh-CN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E1F-C64B-4068-A7D3-65251CAD3D1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EFBF-3E4C-4146-9A61-54A52684E1B3}" type="datetime1">
              <a:rPr lang="en-US" altLang="zh-CN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E1F-C64B-4068-A7D3-65251CAD3D1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DC7FF-0BFB-4AA2-92D2-2B1FF18669C0}" type="datetime1">
              <a:rPr lang="en-US" altLang="zh-CN" smtClean="0"/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E1F-C64B-4068-A7D3-65251CAD3D1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4083-3F2C-4AB5-B4CA-2B8A80500855}" type="datetime1">
              <a:rPr lang="en-US" altLang="zh-CN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E1F-C64B-4068-A7D3-65251CAD3D1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AF993-1184-4565-9BBD-6CDFBE40BA1C}" type="datetime1">
              <a:rPr lang="en-US" altLang="zh-CN" smtClean="0"/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E1F-C64B-4068-A7D3-65251CAD3D1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FCBBC-AF3B-49C7-8B59-C2D5C89BA0A8}" type="datetime1">
              <a:rPr lang="en-US" altLang="zh-CN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E1F-C64B-4068-A7D3-65251CAD3D1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E9E42-252D-4A44-AF96-4E2E517B733F}" type="datetime1">
              <a:rPr lang="en-US" altLang="zh-CN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E1F-C64B-4068-A7D3-65251CAD3D1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3A0BA-84A2-4F21-B82C-4495AF932D28}" type="datetime1">
              <a:rPr lang="en-US" altLang="zh-CN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E1F-C64B-4068-A7D3-65251CAD3D1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D67B1-5420-4364-99DA-4879E83A61E0}" type="datetime1">
              <a:rPr lang="en-US" altLang="zh-CN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E1F-C64B-4068-A7D3-65251CAD3D1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>
              <a:defRPr/>
            </a:pPr>
            <a:fld id="{9504A3BC-8BDC-4808-9BA4-E05E0555E2CA}" type="datetimeFigureOut">
              <a:rPr lang="zh-CN" altLang="en-US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>
              <a:defRPr/>
            </a:pPr>
            <a:fld id="{5861710D-C170-4F52-9ABA-DCE21D7BB8DF}" type="slidenum">
              <a:rPr lang="zh-CN" altLang="en-US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7BD13E-4157-4F7F-8CB4-F724A15D7107}" type="datetime1">
              <a:rPr lang="en-US" altLang="zh-CN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5</a:t>
            </a:r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45FE1F-C64B-4068-A7D3-65251CAD3D1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tags" Target="../tags/tag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98830" y="1379220"/>
            <a:ext cx="1021842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4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Introduction to mobile </a:t>
            </a:r>
            <a:r>
              <a:rPr lang="en-US" sz="4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sz="4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development</a:t>
            </a:r>
            <a:endParaRPr lang="en-US" altLang="zh-CN" sz="4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314825" y="3279140"/>
            <a:ext cx="31864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/>
              <a:t>Teacher: Dr. XU Linlin</a:t>
            </a:r>
            <a:endParaRPr lang="en-US" altLang="zh-CN" sz="2400" b="1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7480" y="107370"/>
            <a:ext cx="348869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</a:t>
            </a:r>
            <a:endParaRPr sz="4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82215" y="1857676"/>
            <a:ext cx="3445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04164" y="788090"/>
            <a:ext cx="11583035" cy="3538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l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Introduction to Android </a:t>
            </a:r>
            <a:r>
              <a:rPr lang="en-US" altLang="zh-CN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</a:t>
            </a: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tudio layout and components.</a:t>
            </a:r>
            <a:endParaRPr lang="zh-CN" altLang="en-US" sz="2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514350" indent="-514350" algn="l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Customize resources</a:t>
            </a:r>
            <a:endParaRPr lang="zh-CN" altLang="en-US" sz="2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514350" indent="-514350" algn="l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Customize </a:t>
            </a:r>
            <a:r>
              <a:rPr lang="en-US" altLang="zh-CN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view</a:t>
            </a:r>
            <a:endParaRPr lang="en-US" altLang="zh-CN" sz="2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514350" indent="-514350" algn="l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8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作业</a:t>
            </a:r>
            <a:r>
              <a:rPr lang="en-US" altLang="zh-CN" sz="28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28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：计算器</a:t>
            </a:r>
            <a:r>
              <a:rPr lang="en-US" altLang="zh-CN" sz="28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APP</a:t>
            </a:r>
            <a:r>
              <a:rPr lang="zh-CN" altLang="en-US" sz="28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界面设计</a:t>
            </a:r>
            <a:endParaRPr lang="en-US" altLang="zh-CN" sz="2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70205" y="885190"/>
            <a:ext cx="89230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l">
              <a:buFont typeface="Wingdings" panose="05000000000000000000" charset="0"/>
              <a:buChar char="l"/>
            </a:pP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Introduction to Android Studio Layout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6090" y="1345565"/>
            <a:ext cx="11997055" cy="438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50000"/>
              </a:lnSpc>
              <a:buFont typeface="+mj-ea"/>
              <a:buNone/>
            </a:pP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1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）Linear</a:t>
            </a: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L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ayout (</a:t>
            </a:r>
            <a:r>
              <a:rPr lang="en-US" altLang="zh-CN" i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commonly  used 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)</a:t>
            </a:r>
            <a:endParaRPr lang="zh-CN" altLang="en-US" sz="20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properties: </a:t>
            </a:r>
            <a:r>
              <a:rPr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layout_width</a:t>
            </a:r>
            <a:r>
              <a:rPr lang="en-US" altLang="zh-CN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l</a:t>
            </a:r>
            <a:r>
              <a:rPr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ayout_height</a:t>
            </a:r>
            <a:r>
              <a:rPr 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</a:t>
            </a:r>
            <a:r>
              <a:rPr 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orientation</a:t>
            </a:r>
            <a:r>
              <a:rPr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background</a:t>
            </a:r>
            <a:r>
              <a:rPr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id, </a:t>
            </a:r>
            <a:r>
              <a:rPr 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...</a:t>
            </a:r>
            <a:endParaRPr lang="en-US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>
              <a:lnSpc>
                <a:spcPct val="150000"/>
              </a:lnSpc>
              <a:buFont typeface="+mj-ea"/>
              <a:buNone/>
            </a:pP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）Relative</a:t>
            </a: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L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ayout (</a:t>
            </a:r>
            <a:r>
              <a:rPr lang="zh-CN" altLang="en-US" i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common</a:t>
            </a:r>
            <a:r>
              <a:rPr lang="en-US" altLang="zh-CN" i="1" dirty="0" err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ly</a:t>
            </a:r>
            <a:r>
              <a:rPr lang="en-US" altLang="zh-CN" i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 used 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)</a:t>
            </a:r>
            <a:endParaRPr lang="zh-CN" altLang="en-US" sz="20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properties: </a:t>
            </a:r>
            <a:r>
              <a:rPr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layout_width</a:t>
            </a:r>
            <a:r>
              <a:rPr lang="en-US" altLang="zh-CN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l</a:t>
            </a:r>
            <a:r>
              <a:rPr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ayout_height</a:t>
            </a:r>
            <a:r>
              <a:rPr 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,orientation</a:t>
            </a:r>
            <a:r>
              <a:rPr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background</a:t>
            </a:r>
            <a:r>
              <a:rPr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id, </a:t>
            </a:r>
            <a:r>
              <a:rPr 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...</a:t>
            </a:r>
            <a:endParaRPr lang="en-US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properties I: </a:t>
            </a:r>
            <a:r>
              <a:rPr lang="en-US" altLang="zh-CN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layout_centerHrizontal, layout_centerInparent, layout_alignParentBottom ... </a:t>
            </a:r>
            <a:endParaRPr lang="en-US" altLang="zh-CN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properties II: </a:t>
            </a:r>
            <a:r>
              <a:rPr lang="en-US" altLang="zh-CN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layout_below, layout_above, layout_toLeftOf, layout_alignTop...</a:t>
            </a:r>
            <a:endParaRPr lang="en-US" altLang="zh-CN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properties III: </a:t>
            </a:r>
            <a:r>
              <a:rPr lang="en-US" altLang="zh-CN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layout_marginBottom, layout_marginLeft...</a:t>
            </a:r>
            <a:endParaRPr lang="en-US" altLang="zh-CN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buFont typeface="+mj-ea"/>
              <a:buNone/>
            </a:pP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）Grid</a:t>
            </a: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L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ayout</a:t>
            </a: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(</a:t>
            </a:r>
            <a:r>
              <a:rPr lang="en-US" altLang="zh-CN" i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sometime used 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)</a:t>
            </a:r>
            <a:endParaRPr lang="zh-CN" altLang="en-US" sz="20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properties: </a:t>
            </a:r>
            <a:r>
              <a:rPr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layout_width</a:t>
            </a:r>
            <a:r>
              <a:rPr lang="en-US" altLang="zh-CN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l</a:t>
            </a:r>
            <a:r>
              <a:rPr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ayout_height</a:t>
            </a:r>
            <a:r>
              <a:rPr 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,orientation</a:t>
            </a:r>
            <a:r>
              <a:rPr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orientation</a:t>
            </a:r>
            <a:r>
              <a:rPr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background</a:t>
            </a:r>
            <a:r>
              <a:rPr lang="zh-CN" altLang="en-US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id,</a:t>
            </a: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rowCount,columnCount,</a:t>
            </a:r>
            <a:r>
              <a:rPr lang="en-US" altLang="zh-CN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...</a:t>
            </a: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endParaRPr lang="en-US" altLang="zh-CN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1697335" cy="82994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lvl="0" algn="l">
              <a:lnSpc>
                <a:spcPct val="200000"/>
              </a:lnSpc>
              <a:buClrTx/>
              <a:buSzTx/>
              <a:buFont typeface="+mj-lt"/>
            </a:pP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 Introduction to Android Studio layout and 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components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245FE1F-C64B-4068-A7D3-65251CAD3D18}" type="slidenum">
              <a:rPr lang="en-US" smtClean="0"/>
            </a:fld>
            <a:endParaRPr lang="en-US"/>
          </a:p>
        </p:txBody>
      </p:sp>
      <p:sp>
        <p:nvSpPr>
          <p:cNvPr id="5" name="文本框 4"/>
          <p:cNvSpPr txBox="1"/>
          <p:nvPr/>
        </p:nvSpPr>
        <p:spPr>
          <a:xfrm>
            <a:off x="72390" y="36830"/>
            <a:ext cx="26035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150000"/>
              </a:lnSpc>
              <a:buFont typeface="+mj-ea"/>
              <a:buNone/>
            </a:pP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1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）Linear</a:t>
            </a: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L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ayout </a:t>
            </a:r>
            <a:endParaRPr lang="zh-CN" altLang="en-US" sz="20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39090" y="741045"/>
            <a:ext cx="751840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226820" y="741045"/>
            <a:ext cx="751840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2114550" y="741045"/>
            <a:ext cx="751840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309880" y="2798445"/>
            <a:ext cx="26828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视图自左往右水平排列（默认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的）</a:t>
            </a:r>
            <a:endParaRPr lang="zh-CN" altLang="en-US" sz="1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261620" y="645795"/>
            <a:ext cx="2693670" cy="2138045"/>
          </a:xfrm>
          <a:prstGeom prst="rect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24225" y="589915"/>
            <a:ext cx="2659540" cy="4680000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3184525" y="5376545"/>
            <a:ext cx="29222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TextView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水平排列的运行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endParaRPr lang="zh-CN" altLang="en-US" sz="1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6536690" y="589915"/>
            <a:ext cx="5314950" cy="5446395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txBody>
          <a:bodyPr wrap="square" rtlCol="0" anchor="t">
            <a:spAutoFit/>
          </a:bodyPr>
          <a:p>
            <a:r>
              <a:rPr lang="en-US" altLang="zh-CN" sz="1200"/>
              <a:t>&lt;?xml version="1.0" encoding="utf-8"?&gt;</a:t>
            </a:r>
            <a:endParaRPr lang="en-US" altLang="zh-CN" sz="1200"/>
          </a:p>
          <a:p>
            <a:r>
              <a:rPr lang="en-US" altLang="zh-CN" sz="1200"/>
              <a:t>&lt;LinearLayout xmlns:android="http://schemas.android.com/apk/res/android"</a:t>
            </a:r>
            <a:endParaRPr lang="en-US" altLang="zh-CN" sz="1200"/>
          </a:p>
          <a:p>
            <a:r>
              <a:rPr lang="en-US" altLang="zh-CN" sz="1200"/>
              <a:t>    xmlns:app="http://schemas.android.com/apk/res-auto"</a:t>
            </a:r>
            <a:endParaRPr lang="en-US" altLang="zh-CN" sz="1200"/>
          </a:p>
          <a:p>
            <a:r>
              <a:rPr lang="en-US" altLang="zh-CN" sz="1200"/>
              <a:t>    xmlns:tools="http://schemas.android.com/tools"</a:t>
            </a:r>
            <a:endParaRPr lang="en-US" altLang="zh-CN" sz="1200"/>
          </a:p>
          <a:p>
            <a:r>
              <a:rPr lang="en-US" altLang="zh-CN" sz="1200"/>
              <a:t>    android:layout_width="match_parent"</a:t>
            </a:r>
            <a:endParaRPr lang="en-US" altLang="zh-CN" sz="1200"/>
          </a:p>
          <a:p>
            <a:r>
              <a:rPr lang="en-US" altLang="zh-CN" sz="1200"/>
              <a:t>    android:layout_height="match_parent"</a:t>
            </a:r>
            <a:endParaRPr lang="en-US" altLang="zh-CN" sz="1200"/>
          </a:p>
          <a:p>
            <a:r>
              <a:rPr lang="en-US" altLang="zh-CN" sz="1200"/>
              <a:t>    tools:context=".MainActivity"</a:t>
            </a:r>
            <a:endParaRPr lang="en-US" altLang="zh-CN" sz="1200"/>
          </a:p>
          <a:p>
            <a:r>
              <a:rPr lang="en-US" altLang="zh-CN" sz="1200"/>
              <a:t>    android:background="#ffa"</a:t>
            </a:r>
            <a:endParaRPr lang="en-US" altLang="zh-CN" sz="1200"/>
          </a:p>
          <a:p>
            <a:r>
              <a:rPr lang="en-US" altLang="zh-CN" sz="1200"/>
              <a:t>    &gt;</a:t>
            </a:r>
            <a:endParaRPr lang="en-US" altLang="zh-CN" sz="1200"/>
          </a:p>
          <a:p>
            <a:endParaRPr lang="en-US" altLang="zh-CN" sz="1200"/>
          </a:p>
          <a:p>
            <a:r>
              <a:rPr lang="en-US" altLang="zh-CN" sz="1200"/>
              <a:t>    &lt;TextView</a:t>
            </a:r>
            <a:endParaRPr lang="en-US" altLang="zh-CN" sz="1200"/>
          </a:p>
          <a:p>
            <a:r>
              <a:rPr lang="en-US" altLang="zh-CN" sz="1200"/>
              <a:t>        android:layout_width="wrap_content"</a:t>
            </a:r>
            <a:endParaRPr lang="en-US" altLang="zh-CN" sz="1200"/>
          </a:p>
          <a:p>
            <a:r>
              <a:rPr lang="en-US" altLang="zh-CN" sz="1200"/>
              <a:t>        android:layout_height="wrap_content"</a:t>
            </a:r>
            <a:endParaRPr lang="en-US" altLang="zh-CN" sz="1200"/>
          </a:p>
          <a:p>
            <a:r>
              <a:rPr lang="en-US" altLang="zh-CN" sz="1200"/>
              <a:t>        android:text="</a:t>
            </a:r>
            <a:r>
              <a:rPr lang="zh-CN" altLang="en-US" sz="1200"/>
              <a:t>课程</a:t>
            </a:r>
            <a:r>
              <a:rPr lang="en-US" altLang="zh-CN" sz="1200"/>
              <a:t>1"</a:t>
            </a:r>
            <a:endParaRPr lang="en-US" altLang="zh-CN" sz="1200"/>
          </a:p>
          <a:p>
            <a:r>
              <a:rPr lang="en-US" altLang="zh-CN" sz="1200"/>
              <a:t>        android:textColor="#E1107C"</a:t>
            </a:r>
            <a:endParaRPr lang="en-US" altLang="zh-CN" sz="1200"/>
          </a:p>
          <a:p>
            <a:r>
              <a:rPr lang="en-US" altLang="zh-CN" sz="1200"/>
              <a:t>        android:textSize="30sp"</a:t>
            </a:r>
            <a:endParaRPr lang="en-US" altLang="zh-CN" sz="1200"/>
          </a:p>
          <a:p>
            <a:r>
              <a:rPr lang="en-US" altLang="zh-CN" sz="1200"/>
              <a:t>        android:background="#67EA2C"</a:t>
            </a:r>
            <a:endParaRPr lang="en-US" altLang="zh-CN" sz="1200"/>
          </a:p>
          <a:p>
            <a:r>
              <a:rPr lang="en-US" altLang="zh-CN" sz="1200"/>
              <a:t>        /&gt;</a:t>
            </a:r>
            <a:endParaRPr lang="en-US" altLang="zh-CN" sz="1200"/>
          </a:p>
          <a:p>
            <a:r>
              <a:rPr lang="en-US" altLang="zh-CN" sz="1200"/>
              <a:t>    &lt;TextView</a:t>
            </a:r>
            <a:endParaRPr lang="en-US" altLang="zh-CN" sz="1200"/>
          </a:p>
          <a:p>
            <a:r>
              <a:rPr lang="en-US" altLang="zh-CN" sz="1200"/>
              <a:t>        android:layout_width="wrap_content"</a:t>
            </a:r>
            <a:endParaRPr lang="en-US" altLang="zh-CN" sz="1200"/>
          </a:p>
          <a:p>
            <a:r>
              <a:rPr lang="en-US" altLang="zh-CN" sz="1200"/>
              <a:t>        android:layout_height="wrap_content"</a:t>
            </a:r>
            <a:endParaRPr lang="en-US" altLang="zh-CN" sz="1200"/>
          </a:p>
          <a:p>
            <a:r>
              <a:rPr lang="en-US" altLang="zh-CN" sz="1200"/>
              <a:t>        android:text="</a:t>
            </a:r>
            <a:r>
              <a:rPr lang="zh-CN" altLang="en-US" sz="1200"/>
              <a:t>课程</a:t>
            </a:r>
            <a:r>
              <a:rPr lang="en-US" altLang="zh-CN" sz="1200"/>
              <a:t>2"</a:t>
            </a:r>
            <a:endParaRPr lang="en-US" altLang="zh-CN" sz="1200"/>
          </a:p>
          <a:p>
            <a:r>
              <a:rPr lang="en-US" altLang="zh-CN" sz="1200"/>
              <a:t>        android:textColor="#E1107C"</a:t>
            </a:r>
            <a:endParaRPr lang="en-US" altLang="zh-CN" sz="1200"/>
          </a:p>
          <a:p>
            <a:r>
              <a:rPr lang="en-US" altLang="zh-CN" sz="1200"/>
              <a:t>        android:textSize="30sp"</a:t>
            </a:r>
            <a:endParaRPr lang="en-US" altLang="zh-CN" sz="1200"/>
          </a:p>
          <a:p>
            <a:r>
              <a:rPr lang="en-US" altLang="zh-CN" sz="1200"/>
              <a:t>        android:background="#67EA2C"</a:t>
            </a:r>
            <a:endParaRPr lang="en-US" altLang="zh-CN" sz="1200"/>
          </a:p>
          <a:p>
            <a:r>
              <a:rPr lang="en-US" altLang="zh-CN" sz="1200"/>
              <a:t>        android:layout_marginLeft="10dp"</a:t>
            </a:r>
            <a:endParaRPr lang="en-US" altLang="zh-CN" sz="1200"/>
          </a:p>
          <a:p>
            <a:r>
              <a:rPr lang="en-US" altLang="zh-CN" sz="1200"/>
              <a:t>        /&gt;</a:t>
            </a:r>
            <a:endParaRPr lang="en-US" altLang="zh-CN" sz="1200"/>
          </a:p>
          <a:p>
            <a:r>
              <a:rPr lang="en-US" altLang="zh-CN" sz="1200"/>
              <a:t>         ...</a:t>
            </a:r>
            <a:endParaRPr lang="en-US" altLang="zh-CN" sz="1200"/>
          </a:p>
          <a:p>
            <a:r>
              <a:rPr lang="en-US" altLang="zh-CN" sz="1200"/>
              <a:t>&lt;/LinearLayout&gt;</a:t>
            </a:r>
            <a:endParaRPr lang="en-US" altLang="zh-CN" sz="120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245FE1F-C64B-4068-A7D3-65251CAD3D18}" type="slidenum">
              <a:rPr lang="en-US" smtClean="0"/>
            </a:fld>
            <a:endParaRPr lang="en-US"/>
          </a:p>
        </p:txBody>
      </p:sp>
      <p:sp>
        <p:nvSpPr>
          <p:cNvPr id="5" name="文本框 4"/>
          <p:cNvSpPr txBox="1"/>
          <p:nvPr/>
        </p:nvSpPr>
        <p:spPr>
          <a:xfrm>
            <a:off x="72390" y="36830"/>
            <a:ext cx="26035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150000"/>
              </a:lnSpc>
              <a:buFont typeface="+mj-ea"/>
              <a:buNone/>
            </a:pP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1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）Linear</a:t>
            </a: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L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ayout </a:t>
            </a:r>
            <a:endParaRPr lang="zh-CN" altLang="en-US" sz="20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13740" y="838200"/>
            <a:ext cx="18700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13740" y="1315085"/>
            <a:ext cx="18700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13740" y="1791970"/>
            <a:ext cx="18700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713740" y="2268855"/>
            <a:ext cx="18700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417830" y="2827020"/>
            <a:ext cx="21494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视图自上往下垂直排列</a:t>
            </a:r>
            <a:endParaRPr lang="zh-CN" altLang="en-US" sz="1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311785" y="645795"/>
            <a:ext cx="2693670" cy="2099945"/>
          </a:xfrm>
          <a:prstGeom prst="rect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2630" y="433070"/>
            <a:ext cx="2626628" cy="4680000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3114675" y="5113020"/>
            <a:ext cx="29222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TextView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垂直排列的运行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endParaRPr lang="zh-CN" altLang="en-US" sz="1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146165" y="259080"/>
            <a:ext cx="5939790" cy="6339205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 anchor="t">
            <a:spAutoFit/>
          </a:bodyPr>
          <a:p>
            <a:r>
              <a:rPr lang="en-US" altLang="zh-CN" sz="1400"/>
              <a:t>&lt;?xml version="1.0" encoding="utf-8"?&gt;</a:t>
            </a:r>
            <a:endParaRPr lang="en-US" altLang="zh-CN" sz="1400"/>
          </a:p>
          <a:p>
            <a:r>
              <a:rPr lang="en-US" altLang="zh-CN" sz="1400"/>
              <a:t>&lt;LinearLayout xmlns:android="http://schemas.android.com/apk/res/android"</a:t>
            </a:r>
            <a:endParaRPr lang="en-US" altLang="zh-CN" sz="1400"/>
          </a:p>
          <a:p>
            <a:r>
              <a:rPr lang="en-US" altLang="zh-CN" sz="1400"/>
              <a:t>    xmlns:app="http://schemas.android.com/apk/res-auto"</a:t>
            </a:r>
            <a:endParaRPr lang="en-US" altLang="zh-CN" sz="1400"/>
          </a:p>
          <a:p>
            <a:r>
              <a:rPr lang="en-US" altLang="zh-CN" sz="1400"/>
              <a:t>    xmlns:tools="http://schemas.android.com/tools"</a:t>
            </a:r>
            <a:endParaRPr lang="en-US" altLang="zh-CN" sz="1400"/>
          </a:p>
          <a:p>
            <a:r>
              <a:rPr lang="en-US" altLang="zh-CN" sz="1400"/>
              <a:t>    android:layout_width="match_parent"</a:t>
            </a:r>
            <a:endParaRPr lang="en-US" altLang="zh-CN" sz="1400"/>
          </a:p>
          <a:p>
            <a:r>
              <a:rPr lang="en-US" altLang="zh-CN" sz="1400"/>
              <a:t>    android:layout_height="match_parent"</a:t>
            </a:r>
            <a:endParaRPr lang="en-US" altLang="zh-CN" sz="1400"/>
          </a:p>
          <a:p>
            <a:r>
              <a:rPr lang="en-US" altLang="zh-CN" sz="1400"/>
              <a:t>    tools:context=".MainActivity"</a:t>
            </a:r>
            <a:endParaRPr lang="en-US" altLang="zh-CN" sz="1400"/>
          </a:p>
          <a:p>
            <a:r>
              <a:rPr lang="en-US" altLang="zh-CN" sz="1400"/>
              <a:t>    android:background="#ffa"</a:t>
            </a:r>
            <a:endParaRPr lang="en-US" altLang="zh-CN" sz="1400"/>
          </a:p>
          <a:p>
            <a:r>
              <a:rPr lang="en-US" altLang="zh-CN" sz="1400"/>
              <a:t>    android:orientation="vertical"</a:t>
            </a:r>
            <a:endParaRPr lang="en-US" altLang="zh-CN" sz="1400"/>
          </a:p>
          <a:p>
            <a:r>
              <a:rPr lang="en-US" altLang="zh-CN" sz="1400"/>
              <a:t>    &gt;</a:t>
            </a:r>
            <a:endParaRPr lang="en-US" altLang="zh-CN" sz="1400"/>
          </a:p>
          <a:p>
            <a:r>
              <a:rPr lang="en-US" altLang="zh-CN" sz="1400"/>
              <a:t>    &lt;TextView</a:t>
            </a:r>
            <a:endParaRPr lang="en-US" altLang="zh-CN" sz="1400"/>
          </a:p>
          <a:p>
            <a:r>
              <a:rPr lang="en-US" altLang="zh-CN" sz="1400"/>
              <a:t>        android:layout_width="wrap_content"</a:t>
            </a:r>
            <a:endParaRPr lang="en-US" altLang="zh-CN" sz="1400"/>
          </a:p>
          <a:p>
            <a:r>
              <a:rPr lang="en-US" altLang="zh-CN" sz="1400"/>
              <a:t>        android:layout_height="wrap_content"</a:t>
            </a:r>
            <a:endParaRPr lang="en-US" altLang="zh-CN" sz="1400"/>
          </a:p>
          <a:p>
            <a:r>
              <a:rPr lang="en-US" altLang="zh-CN" sz="1400"/>
              <a:t>        android:text="</a:t>
            </a:r>
            <a:r>
              <a:rPr lang="zh-CN" altLang="en-US" sz="1400"/>
              <a:t>课程</a:t>
            </a:r>
            <a:r>
              <a:rPr lang="en-US" altLang="zh-CN" sz="1400"/>
              <a:t>1"</a:t>
            </a:r>
            <a:endParaRPr lang="en-US" altLang="zh-CN" sz="1400"/>
          </a:p>
          <a:p>
            <a:r>
              <a:rPr lang="en-US" altLang="zh-CN" sz="1400"/>
              <a:t>        android:textColor="#E1107C"</a:t>
            </a:r>
            <a:endParaRPr lang="en-US" altLang="zh-CN" sz="1400"/>
          </a:p>
          <a:p>
            <a:r>
              <a:rPr lang="en-US" altLang="zh-CN" sz="1400"/>
              <a:t>        android:textSize="30sp"</a:t>
            </a:r>
            <a:endParaRPr lang="en-US" altLang="zh-CN" sz="1400"/>
          </a:p>
          <a:p>
            <a:r>
              <a:rPr lang="en-US" altLang="zh-CN" sz="1400"/>
              <a:t>        android:background="#67EA2C"</a:t>
            </a:r>
            <a:endParaRPr lang="en-US" altLang="zh-CN" sz="1400"/>
          </a:p>
          <a:p>
            <a:r>
              <a:rPr lang="en-US" altLang="zh-CN" sz="1400"/>
              <a:t>        /&gt;</a:t>
            </a:r>
            <a:endParaRPr lang="en-US" altLang="zh-CN" sz="1400"/>
          </a:p>
          <a:p>
            <a:r>
              <a:rPr lang="en-US" altLang="zh-CN" sz="1400"/>
              <a:t>    &lt;TextView</a:t>
            </a:r>
            <a:endParaRPr lang="en-US" altLang="zh-CN" sz="1400"/>
          </a:p>
          <a:p>
            <a:r>
              <a:rPr lang="en-US" altLang="zh-CN" sz="1400"/>
              <a:t>        android:layout_width="wrap_content"</a:t>
            </a:r>
            <a:endParaRPr lang="en-US" altLang="zh-CN" sz="1400"/>
          </a:p>
          <a:p>
            <a:r>
              <a:rPr lang="en-US" altLang="zh-CN" sz="1400"/>
              <a:t>        android:layout_height="wrap_content"</a:t>
            </a:r>
            <a:endParaRPr lang="en-US" altLang="zh-CN" sz="1400"/>
          </a:p>
          <a:p>
            <a:r>
              <a:rPr lang="en-US" altLang="zh-CN" sz="1400"/>
              <a:t>        android:text="</a:t>
            </a:r>
            <a:r>
              <a:rPr lang="zh-CN" altLang="en-US" sz="1400"/>
              <a:t>课程</a:t>
            </a:r>
            <a:r>
              <a:rPr lang="en-US" altLang="zh-CN" sz="1400"/>
              <a:t>2"</a:t>
            </a:r>
            <a:endParaRPr lang="en-US" altLang="zh-CN" sz="1400"/>
          </a:p>
          <a:p>
            <a:r>
              <a:rPr lang="en-US" altLang="zh-CN" sz="1400"/>
              <a:t>        android:textColor="#E1107C"</a:t>
            </a:r>
            <a:endParaRPr lang="en-US" altLang="zh-CN" sz="1400"/>
          </a:p>
          <a:p>
            <a:r>
              <a:rPr lang="en-US" altLang="zh-CN" sz="1400"/>
              <a:t>        android:textSize="30sp"</a:t>
            </a:r>
            <a:endParaRPr lang="en-US" altLang="zh-CN" sz="1400"/>
          </a:p>
          <a:p>
            <a:r>
              <a:rPr lang="en-US" altLang="zh-CN" sz="1400"/>
              <a:t>        android:background="#67EA2C"</a:t>
            </a:r>
            <a:endParaRPr lang="en-US" altLang="zh-CN" sz="1400"/>
          </a:p>
          <a:p>
            <a:r>
              <a:rPr lang="en-US" altLang="zh-CN" sz="1400"/>
              <a:t>        android:layout_marginTop="10dp"</a:t>
            </a:r>
            <a:endParaRPr lang="en-US" altLang="zh-CN" sz="1400"/>
          </a:p>
          <a:p>
            <a:r>
              <a:rPr lang="en-US" altLang="zh-CN" sz="1400"/>
              <a:t>        /&gt;  </a:t>
            </a:r>
            <a:endParaRPr lang="en-US" altLang="zh-CN" sz="1400"/>
          </a:p>
          <a:p>
            <a:pPr indent="457200"/>
            <a:r>
              <a:rPr lang="en-US" altLang="zh-CN" sz="1400"/>
              <a:t>...</a:t>
            </a:r>
            <a:endParaRPr lang="en-US" altLang="zh-CN" sz="1400"/>
          </a:p>
          <a:p>
            <a:r>
              <a:rPr lang="en-US" altLang="zh-CN" sz="1400"/>
              <a:t>&lt;/LinearLayout&gt;</a:t>
            </a:r>
            <a:endParaRPr lang="en-US" altLang="zh-CN" sz="1400"/>
          </a:p>
        </p:txBody>
      </p:sp>
      <p:sp>
        <p:nvSpPr>
          <p:cNvPr id="15" name="矩形 14"/>
          <p:cNvSpPr/>
          <p:nvPr/>
        </p:nvSpPr>
        <p:spPr>
          <a:xfrm>
            <a:off x="6327140" y="2017395"/>
            <a:ext cx="2425700" cy="228600"/>
          </a:xfrm>
          <a:prstGeom prst="rect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8783320" y="1971675"/>
            <a:ext cx="32550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需要指定根布局的方向属性为垂直的值</a:t>
            </a:r>
            <a:endParaRPr lang="zh-CN" altLang="en-US" sz="14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245FE1F-C64B-4068-A7D3-65251CAD3D18}" type="slidenum">
              <a:rPr lang="en-US" smtClean="0"/>
            </a:fld>
            <a:endParaRPr lang="en-US"/>
          </a:p>
        </p:txBody>
      </p:sp>
      <p:sp>
        <p:nvSpPr>
          <p:cNvPr id="20" name="文本框 19"/>
          <p:cNvSpPr txBox="1"/>
          <p:nvPr/>
        </p:nvSpPr>
        <p:spPr>
          <a:xfrm>
            <a:off x="34290" y="0"/>
            <a:ext cx="26035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150000"/>
              </a:lnSpc>
              <a:buFont typeface="+mj-ea"/>
              <a:buNone/>
            </a:pP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2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）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Relative</a:t>
            </a: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L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ayout</a:t>
            </a:r>
            <a:endParaRPr lang="zh-CN" altLang="en-US" sz="20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635125" y="1138555"/>
            <a:ext cx="751840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中心</a:t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83285" y="824865"/>
            <a:ext cx="751840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C00000"/>
                </a:solidFill>
              </a:rPr>
              <a:t>左上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386965" y="824865"/>
            <a:ext cx="751840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C00000"/>
                </a:solidFill>
              </a:rPr>
              <a:t>右上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83285" y="1417955"/>
            <a:ext cx="751840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C00000"/>
                </a:solidFill>
              </a:rPr>
              <a:t>左下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386965" y="1453515"/>
            <a:ext cx="751840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C00000"/>
                </a:solidFill>
              </a:rPr>
              <a:t>右下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052830" y="1941195"/>
            <a:ext cx="18700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方位排列（示例）</a:t>
            </a:r>
            <a:endParaRPr lang="zh-CN" altLang="en-US" sz="1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274320" y="640080"/>
            <a:ext cx="3543935" cy="1273175"/>
          </a:xfrm>
          <a:prstGeom prst="rect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39878" r="3370" b="37001"/>
          <a:stretch>
            <a:fillRect/>
          </a:stretch>
        </p:blipFill>
        <p:spPr>
          <a:xfrm>
            <a:off x="5351145" y="685800"/>
            <a:ext cx="2548890" cy="1082040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5198745" y="1913255"/>
            <a:ext cx="29222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TextView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相对排列的运行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endParaRPr lang="zh-CN" altLang="en-US" sz="1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4290" y="2456815"/>
            <a:ext cx="4286885" cy="359981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&lt;?xml version="1.0" encoding="utf-8"?&gt;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&lt;RelativeLayout </a:t>
            </a:r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xmlns:android="http://schemas.android.com/apk/res/android"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xmlns:app="http://schemas.android.com/apk/res-auto"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xmlns:tools="http://schemas.android.com/tools"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android:layout_width="match_parent"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android:layout_height="match_parent"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tools:context=".MainActivity"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android:background="#ffa"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</a:t>
            </a:r>
            <a:r>
              <a:rPr lang="en-US" altLang="zh-CN" sz="1200" b="1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</a:t>
            </a:r>
            <a:r>
              <a:rPr lang="en-US" altLang="zh-CN" sz="1200" b="1">
                <a:solidFill>
                  <a:srgbClr val="FF0000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android:gravity="center"</a:t>
            </a:r>
            <a:r>
              <a:rPr lang="en-US" altLang="zh-CN" sz="1200" b="1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</a:t>
            </a:r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&gt;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&lt;TextView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    android:id="@+id/tv1"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    android:layout_width="wrap_content"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    android:layout_height="wrap_content"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    android:background="#67EA2C"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    android:text="</a:t>
            </a:r>
            <a:r>
              <a:rPr lang="zh-CN" altLang="en-US" sz="1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课程</a:t>
            </a:r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1"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    android:textColor="#E1107C"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    android:textSize="30sp"  /&gt;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448175" y="2365375"/>
            <a:ext cx="3515360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&lt;TextView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android:id="@+id/tv2"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android:layout_width="wrap_content"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android:layout_height="wrap_content"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 b="1">
                <a:solidFill>
                  <a:srgbClr val="FF0000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android:layout_below="@id/tv1"</a:t>
            </a:r>
            <a:endParaRPr lang="en-US" altLang="zh-CN" sz="1200" b="1">
              <a:solidFill>
                <a:srgbClr val="FF0000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 b="1">
                <a:solidFill>
                  <a:srgbClr val="FF0000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android:layout_toRightOf="@id/tv1"</a:t>
            </a:r>
            <a:endParaRPr lang="en-US" altLang="zh-CN" sz="1200" b="1">
              <a:solidFill>
                <a:srgbClr val="FF0000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android:background="#67EA2C"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android:text="</a:t>
            </a:r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课程</a:t>
            </a:r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2"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android:textColor="#E1107C"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android:textSize="30sp" /&gt;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&lt;TextView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android:id="@+id/tv3"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android:layout_width="wrap_content"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android:layout_height="wrap_content"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</a:t>
            </a:r>
            <a:r>
              <a:rPr lang="en-US" altLang="zh-CN" sz="1200" b="1">
                <a:solidFill>
                  <a:srgbClr val="FF0000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android:layout_toRightOf="@id/tv2"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android:background="#67EA2C"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android:text="</a:t>
            </a:r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课程</a:t>
            </a:r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3"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android:textColor="#E1107C"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android:textSize="30sp" /&gt;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747635" y="2277745"/>
            <a:ext cx="4444365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&lt;TextView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android:id="@+id/tv4"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android:layout_width="wrap_content"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android:layout_height="wrap_content"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</a:t>
            </a:r>
            <a:r>
              <a:rPr lang="en-US" altLang="zh-CN" sz="1200" b="1">
                <a:solidFill>
                  <a:srgbClr val="FF0000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android:layout_below="@id/tv2"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android:background="#67EA2C"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android:text="</a:t>
            </a:r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课程</a:t>
            </a:r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4"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android:textColor="#E1107C"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android:textSize="30sp" /&gt;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&lt;TextView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android:id="@+id/tv5"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android:layout_width="wrap_content"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android:layout_height="wrap_content"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android:background="#67EA2C"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android:text="</a:t>
            </a:r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课程</a:t>
            </a:r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5"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android:textColor="#E1107C"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android:textSize="30sp"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</a:t>
            </a:r>
            <a:r>
              <a:rPr lang="en-US" altLang="zh-CN" sz="1200" b="1">
                <a:solidFill>
                  <a:srgbClr val="FF0000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android:layout_below="@id/tv2"</a:t>
            </a:r>
            <a:endParaRPr lang="en-US" altLang="zh-CN" sz="1200" b="1">
              <a:solidFill>
                <a:srgbClr val="FF0000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 b="1">
                <a:solidFill>
                  <a:srgbClr val="FF0000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android:layout_toRightOf="@id/tv2"</a:t>
            </a:r>
            <a:r>
              <a:rPr lang="en-US" altLang="zh-CN" sz="12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/&gt;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200">
                <a:highlight>
                  <a:srgbClr val="FFFF00"/>
                </a:highlight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&lt;/RelativeLayout&gt;</a:t>
            </a:r>
            <a:endParaRPr lang="en-US" altLang="zh-CN" sz="1200">
              <a:highlight>
                <a:srgbClr val="FFFF00"/>
              </a:highlight>
              <a:latin typeface="Times New Roman" panose="02020603050405020304" charset="0"/>
              <a:ea typeface="JetBrains Mono"/>
              <a:cs typeface="Times New Roman" panose="0202060305040502030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4320" y="5954395"/>
            <a:ext cx="6898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600" b="1">
                <a:solidFill>
                  <a:srgbClr val="0020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备注：完整参考代码见群文件：相对布局（</a:t>
            </a:r>
            <a:r>
              <a:rPr lang="zh-CN" altLang="en-US" sz="1600" b="1" dirty="0">
                <a:solidFill>
                  <a:srgbClr val="1D41D5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Relative</a:t>
            </a:r>
            <a:r>
              <a:rPr lang="en-US" altLang="zh-CN" sz="1600" b="1" dirty="0">
                <a:solidFill>
                  <a:srgbClr val="1D41D5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L</a:t>
            </a:r>
            <a:r>
              <a:rPr lang="zh-CN" altLang="en-US" sz="1600" b="1" dirty="0">
                <a:solidFill>
                  <a:srgbClr val="1D41D5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ayout</a:t>
            </a:r>
            <a:r>
              <a:rPr lang="zh-CN" altLang="en-US" sz="1600" b="1">
                <a:solidFill>
                  <a:srgbClr val="0020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）的使用</a:t>
            </a:r>
            <a:endParaRPr lang="zh-CN" altLang="en-US" sz="1600" b="1">
              <a:solidFill>
                <a:srgbClr val="0020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245FE1F-C64B-4068-A7D3-65251CAD3D18}" type="slidenum">
              <a:rPr lang="en-US" smtClean="0"/>
            </a:fld>
            <a:endParaRPr lang="en-US"/>
          </a:p>
        </p:txBody>
      </p:sp>
      <p:sp>
        <p:nvSpPr>
          <p:cNvPr id="28" name="文本框 27"/>
          <p:cNvSpPr txBox="1"/>
          <p:nvPr/>
        </p:nvSpPr>
        <p:spPr>
          <a:xfrm>
            <a:off x="76200" y="29845"/>
            <a:ext cx="26035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150000"/>
              </a:lnSpc>
              <a:buFont typeface="+mj-ea"/>
              <a:buNone/>
            </a:pP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3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）</a:t>
            </a: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GridL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ayout</a:t>
            </a:r>
            <a:endParaRPr lang="zh-CN" altLang="en-US" sz="20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235450" y="969010"/>
            <a:ext cx="4857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5010150" y="969010"/>
            <a:ext cx="4857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5784850" y="969010"/>
            <a:ext cx="4857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5784850" y="1964690"/>
            <a:ext cx="4857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5784850" y="2890520"/>
            <a:ext cx="4857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4235450" y="1445895"/>
            <a:ext cx="485775" cy="7969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5010150" y="1445895"/>
            <a:ext cx="12604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4235450" y="2405380"/>
            <a:ext cx="1260475" cy="7969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5010150" y="1925955"/>
            <a:ext cx="4857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5784850" y="2405380"/>
            <a:ext cx="4857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3727450" y="3350260"/>
            <a:ext cx="30822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视图跨行和跨列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</a:t>
            </a:r>
            <a:endParaRPr lang="zh-CN" altLang="en-US" sz="1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4015740" y="808990"/>
            <a:ext cx="2505710" cy="2497455"/>
          </a:xfrm>
          <a:prstGeom prst="rect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7291070" y="3007360"/>
            <a:ext cx="35052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TextView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网格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布局排列的运行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endParaRPr lang="zh-CN" altLang="en-US" sz="1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2870" y="808990"/>
            <a:ext cx="2686050" cy="220345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77165" y="5617210"/>
            <a:ext cx="58286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600" b="1">
                <a:solidFill>
                  <a:srgbClr val="0020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备注：参考代码见群文件：网格布局（</a:t>
            </a:r>
            <a:r>
              <a:rPr lang="en-US" altLang="zh-CN" sz="1600" b="1" dirty="0">
                <a:solidFill>
                  <a:srgbClr val="1D41D5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GridL</a:t>
            </a:r>
            <a:r>
              <a:rPr lang="zh-CN" altLang="en-US" sz="1600" b="1" dirty="0">
                <a:solidFill>
                  <a:srgbClr val="1D41D5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ayout</a:t>
            </a:r>
            <a:r>
              <a:rPr lang="zh-CN" altLang="en-US" sz="1600" b="1">
                <a:solidFill>
                  <a:srgbClr val="0020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）的使用</a:t>
            </a:r>
            <a:endParaRPr lang="zh-CN" altLang="en-US" sz="1600" b="1">
              <a:solidFill>
                <a:srgbClr val="0020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77165" y="3700145"/>
            <a:ext cx="8905240" cy="18427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p"/>
            </a:pP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GridL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ayout的典型属性：</a:t>
            </a: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en-US" altLang="zh-CN" sz="160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android:layout_row</a:t>
            </a:r>
            <a:r>
              <a:rPr lang="zh-CN" altLang="en-US" sz="160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：指定子组件（视图）位于第几行</a:t>
            </a:r>
            <a:endParaRPr lang="zh-CN" altLang="en-US" sz="1600">
              <a:solidFill>
                <a:srgbClr val="00206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742950" lvl="1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en-US" altLang="zh-CN" sz="160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android:layout_column</a:t>
            </a:r>
            <a:r>
              <a:rPr lang="zh-CN" altLang="en-US" sz="160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：</a:t>
            </a:r>
            <a:r>
              <a:rPr lang="zh-CN" altLang="en-US" sz="160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指定子组件（视图）位于第几列</a:t>
            </a:r>
            <a:endParaRPr lang="zh-CN" altLang="en-US" sz="1600">
              <a:solidFill>
                <a:srgbClr val="00206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en-US" altLang="zh-CN" sz="160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android:layout_rowSpan</a:t>
            </a:r>
            <a:r>
              <a:rPr lang="zh-CN" altLang="en-US" sz="160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：指定子组件（视图）跨几行</a:t>
            </a:r>
            <a:endParaRPr lang="en-US" altLang="zh-CN" sz="1600">
              <a:solidFill>
                <a:srgbClr val="00206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en-US" altLang="zh-CN" sz="160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android:layout_columnSpan</a:t>
            </a:r>
            <a:r>
              <a:rPr lang="zh-CN" altLang="en-US" sz="160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：指定子组件（视图）跨几列</a:t>
            </a:r>
            <a:endParaRPr lang="zh-CN" altLang="en-US" sz="1600">
              <a:solidFill>
                <a:srgbClr val="00206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en-US" altLang="zh-CN" sz="160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android:layout_gravity</a:t>
            </a:r>
            <a:r>
              <a:rPr lang="zh-CN" altLang="en-US" sz="160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：指定组件利用什么方式占据网格的空间</a:t>
            </a:r>
            <a:endParaRPr lang="zh-CN" altLang="en-US" sz="1600">
              <a:solidFill>
                <a:srgbClr val="00206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48030" y="946785"/>
            <a:ext cx="4857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522730" y="946785"/>
            <a:ext cx="4857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297430" y="946785"/>
            <a:ext cx="4857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48030" y="1423670"/>
            <a:ext cx="4857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522730" y="1423670"/>
            <a:ext cx="4857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297430" y="1423670"/>
            <a:ext cx="4857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48030" y="1900555"/>
            <a:ext cx="4857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522730" y="1900555"/>
            <a:ext cx="4857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2297430" y="1900555"/>
            <a:ext cx="4857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48030" y="2377440"/>
            <a:ext cx="4857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522730" y="2377440"/>
            <a:ext cx="4857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2297430" y="2377440"/>
            <a:ext cx="4857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748030" y="2854325"/>
            <a:ext cx="4857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1522730" y="2854325"/>
            <a:ext cx="4857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2297430" y="2854325"/>
            <a:ext cx="485775" cy="314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512445" y="825500"/>
            <a:ext cx="2505710" cy="2497455"/>
          </a:xfrm>
          <a:prstGeom prst="rect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255270" y="3357880"/>
            <a:ext cx="30822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视图无跨行和跨列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</a:t>
            </a:r>
            <a:endParaRPr lang="zh-CN" altLang="en-US" sz="1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0" y="0"/>
            <a:ext cx="26035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150000"/>
              </a:lnSpc>
              <a:buFont typeface="+mj-ea"/>
              <a:buNone/>
            </a:pP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1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）布局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嵌套 </a:t>
            </a:r>
            <a:endParaRPr lang="zh-CN" altLang="en-US" sz="20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6270" y="635000"/>
            <a:ext cx="3629025" cy="5334000"/>
          </a:xfrm>
          <a:prstGeom prst="rect">
            <a:avLst/>
          </a:prstGeom>
        </p:spPr>
      </p:pic>
      <p:sp>
        <p:nvSpPr>
          <p:cNvPr id="8" name="左箭头 7"/>
          <p:cNvSpPr/>
          <p:nvPr/>
        </p:nvSpPr>
        <p:spPr>
          <a:xfrm>
            <a:off x="5473700" y="635000"/>
            <a:ext cx="876300" cy="368300"/>
          </a:xfrm>
          <a:prstGeom prst="leftArrow">
            <a:avLst/>
          </a:prstGeom>
          <a:solidFill>
            <a:srgbClr val="F6FC1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426200" y="609600"/>
            <a:ext cx="1778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TextView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左箭头 9"/>
          <p:cNvSpPr/>
          <p:nvPr/>
        </p:nvSpPr>
        <p:spPr>
          <a:xfrm>
            <a:off x="5054600" y="1930400"/>
            <a:ext cx="1372235" cy="368300"/>
          </a:xfrm>
          <a:prstGeom prst="leftArrow">
            <a:avLst/>
          </a:prstGeom>
          <a:solidFill>
            <a:srgbClr val="F6FC1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426200" y="1790700"/>
            <a:ext cx="17399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150000"/>
              </a:lnSpc>
              <a:buFont typeface="+mj-ea"/>
              <a:buNone/>
            </a:pP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GridL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ayout</a:t>
            </a:r>
            <a:endParaRPr lang="zh-CN" altLang="en-US" sz="20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2" name="左箭头 11"/>
          <p:cNvSpPr/>
          <p:nvPr/>
        </p:nvSpPr>
        <p:spPr>
          <a:xfrm>
            <a:off x="4978400" y="4025900"/>
            <a:ext cx="1447800" cy="368300"/>
          </a:xfrm>
          <a:prstGeom prst="leftArrow">
            <a:avLst/>
          </a:prstGeom>
          <a:solidFill>
            <a:srgbClr val="F6FC1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426200" y="3886200"/>
            <a:ext cx="415163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150000"/>
              </a:lnSpc>
              <a:buFont typeface="+mj-ea"/>
              <a:buNone/>
            </a:pP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Linear</a:t>
            </a: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L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ayout（根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布局）</a:t>
            </a:r>
            <a:endParaRPr lang="zh-CN" altLang="en-US" sz="20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9860" y="616585"/>
            <a:ext cx="10236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l">
              <a:buFont typeface="Wingdings" panose="05000000000000000000" charset="0"/>
              <a:buChar char="l"/>
            </a:pP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Introduction to commenly used Android Studio </a:t>
            </a:r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components</a:t>
            </a:r>
            <a:endParaRPr lang="en-US" altLang="zh-CN" sz="20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2730" y="1051560"/>
            <a:ext cx="11939270" cy="4888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+mj-ea"/>
              <a:buNone/>
            </a:pPr>
            <a:r>
              <a:rPr lang="en-US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1</a:t>
            </a:r>
            <a:r>
              <a:rPr lang="zh-CN" altLang="en-US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）</a:t>
            </a:r>
            <a:r>
              <a:rPr lang="en-US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TextView</a:t>
            </a:r>
            <a:endParaRPr lang="en-US" b="1" dirty="0" err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742950" lvl="1" indent="-28575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6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properties: 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id</a:t>
            </a:r>
            <a:r>
              <a:rPr lang="en-US" altLang="zh-CN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layout_width</a:t>
            </a:r>
            <a:r>
              <a:rPr 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layout_height</a:t>
            </a:r>
            <a:r>
              <a:rPr 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text</a:t>
            </a:r>
            <a:r>
              <a:rPr 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background</a:t>
            </a:r>
            <a:r>
              <a:rPr 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textColor</a:t>
            </a:r>
            <a:r>
              <a:rPr 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textSize</a:t>
            </a:r>
            <a:r>
              <a:rPr 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,textStyle, 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gravity</a:t>
            </a:r>
            <a:r>
              <a:rPr 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layout_marginTop</a:t>
            </a:r>
            <a:r>
              <a:rPr lang="en-US" altLang="zh-CN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....</a:t>
            </a:r>
            <a:endParaRPr lang="zh-CN" altLang="en-US" sz="1600" b="1" dirty="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+mj-ea"/>
              <a:buNone/>
            </a:pPr>
            <a:r>
              <a:rPr lang="en-US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zh-CN" altLang="en-US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）</a:t>
            </a:r>
            <a:r>
              <a:rPr lang="en-US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EditView</a:t>
            </a:r>
            <a:endParaRPr lang="en-US" b="1" dirty="0" err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742950" lvl="1" indent="-28575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6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properties: </a:t>
            </a:r>
            <a:r>
              <a:rPr lang="en-US" altLang="zh-CN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hint, textColorHint, inputType, drawableLeft, drawablePadding...</a:t>
            </a:r>
            <a:endParaRPr lang="en-US" altLang="zh-CN" sz="160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+mj-ea"/>
              <a:buNone/>
            </a:pPr>
            <a:r>
              <a:rPr 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）</a:t>
            </a:r>
            <a:r>
              <a:rPr 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Button</a:t>
            </a:r>
            <a:endParaRPr 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742950" lvl="1" indent="-28575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6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properties:</a:t>
            </a:r>
            <a:r>
              <a:rPr lang="en-US" altLang="zh-CN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16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id</a:t>
            </a:r>
            <a:r>
              <a:rPr lang="en-US" altLang="zh-CN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layout_width</a:t>
            </a:r>
            <a:r>
              <a:rPr 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layout_height</a:t>
            </a:r>
            <a:r>
              <a:rPr 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text</a:t>
            </a:r>
            <a:r>
              <a:rPr 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</a:t>
            </a:r>
            <a:r>
              <a:rPr lang="en-US" altLang="zh-CN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background...</a:t>
            </a:r>
            <a:endParaRPr lang="en-US" altLang="zh-CN" sz="160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+mj-ea"/>
              <a:buNone/>
            </a:pPr>
            <a:r>
              <a:rPr lang="en-US" altLang="zh-CN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4</a:t>
            </a:r>
            <a:r>
              <a:rPr lang="zh-CN" altLang="en-US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）</a:t>
            </a:r>
            <a:r>
              <a:rPr lang="en-US" altLang="zh-CN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ImageView</a:t>
            </a:r>
            <a:endParaRPr lang="en-US" altLang="zh-CN" b="1" dirty="0" err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742950" lvl="1" indent="-28575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6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properties:</a:t>
            </a:r>
            <a:r>
              <a:rPr lang="en-US" altLang="zh-CN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16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id</a:t>
            </a:r>
            <a:r>
              <a:rPr lang="en-US" altLang="zh-CN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layout_width</a:t>
            </a:r>
            <a:r>
              <a:rPr 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layout_height</a:t>
            </a:r>
            <a:r>
              <a:rPr 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</a:t>
            </a:r>
            <a:r>
              <a:rPr lang="en-US" altLang="zh-CN"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src,adjustViewBounds</a:t>
            </a:r>
            <a:r>
              <a:rPr lang="en-US"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</a:t>
            </a:r>
            <a:r>
              <a:rPr lang="zh-CN" altLang="en-US"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scaleType</a:t>
            </a:r>
            <a:r>
              <a:rPr lang="en-US" altLang="zh-CN"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,maxWidth,maxHeight...</a:t>
            </a:r>
            <a:endParaRPr lang="en-US" altLang="zh-CN" sz="16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+mj-ea"/>
              <a:buNone/>
            </a:pP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5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）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CheckBox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800100" lvl="1" indent="-3429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6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properties: </a:t>
            </a:r>
            <a:r>
              <a:rPr lang="en-US" altLang="zh-CN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id, layout_width, layout_height,button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drawableLeft</a:t>
            </a:r>
            <a:r>
              <a:rPr lang="en-US" altLang="zh-CN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...</a:t>
            </a:r>
            <a:endParaRPr lang="en-US" altLang="zh-CN" sz="160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+mj-ea"/>
              <a:buNone/>
            </a:pP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6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）ScrollView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  and Horizontal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ScrollView</a:t>
            </a: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742950" lvl="1" indent="-28575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6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properties: </a:t>
            </a:r>
            <a:r>
              <a:rPr lang="en-US" altLang="zh-CN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id, layout_width, layout_height,</a:t>
            </a:r>
            <a:r>
              <a:rPr lang="zh-CN" altLang="en-US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background</a:t>
            </a:r>
            <a:r>
              <a:rPr lang="en-US" altLang="zh-CN" sz="16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...</a:t>
            </a:r>
            <a:endParaRPr lang="en-US" altLang="zh-CN" sz="160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742950" lvl="1" indent="-28575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o</a:t>
            </a:r>
            <a:r>
              <a:rPr lang="zh-CN" altLang="en-US"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nly have one components</a:t>
            </a:r>
            <a:endParaRPr lang="zh-CN" altLang="en-US" sz="16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-213360"/>
            <a:ext cx="11697335" cy="82994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lvl="0" algn="l">
              <a:lnSpc>
                <a:spcPct val="200000"/>
              </a:lnSpc>
              <a:buClrTx/>
              <a:buSzTx/>
              <a:buFont typeface="+mj-lt"/>
            </a:pP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 Introduction to Android Studio layout and 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components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69215" y="-40640"/>
            <a:ext cx="6096000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p"/>
            </a:pPr>
            <a:r>
              <a:rPr lang="en-US" sz="2000" b="1" dirty="0" err="1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TextView</a:t>
            </a:r>
            <a:r>
              <a:rPr lang="zh-CN" altLang="en-US" sz="20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视图使用</a:t>
            </a:r>
            <a:r>
              <a:rPr lang="zh-CN" altLang="en-US" sz="20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举例</a:t>
            </a:r>
            <a:endParaRPr lang="zh-CN" altLang="en-US" sz="2000" b="1" dirty="0" err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-14605" y="493395"/>
            <a:ext cx="19589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布局文件代码</a:t>
            </a:r>
            <a:endParaRPr lang="zh-CN" altLang="en-US" sz="16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764405" y="488315"/>
            <a:ext cx="19589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后台逻辑代码</a:t>
            </a:r>
            <a:endParaRPr lang="zh-CN" altLang="en-US" sz="16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943975" y="514350"/>
            <a:ext cx="19589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运行</a:t>
            </a:r>
            <a:r>
              <a:rPr lang="zh-CN" altLang="en-US" sz="16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效果</a:t>
            </a:r>
            <a:endParaRPr lang="zh-CN" altLang="en-US" sz="16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0" y="792480"/>
            <a:ext cx="3049905" cy="483997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9215" y="792480"/>
            <a:ext cx="4629785" cy="526224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p>
            <a:r>
              <a:rPr lang="en-US" altLang="zh-CN" sz="14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&lt;?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xml version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="1.0" 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encoding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="utf-8"</a:t>
            </a:r>
            <a:r>
              <a:rPr lang="en-US" altLang="zh-CN" sz="14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?&gt;</a:t>
            </a:r>
            <a:endParaRPr lang="en-US" altLang="zh-CN" sz="14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&lt;LinearLayout 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xmlns: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="http://schemas.android.com/apk/res/android"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xmlns: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app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="http://schemas.android.com/apk/res-auto"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xmlns: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tools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="http://schemas.android.com/tools"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:layout_width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="match_parent"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:layout_height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="match_parent"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tools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:context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=".MainActivity"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:background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="#3F51B5"</a:t>
            </a:r>
            <a:r>
              <a:rPr lang="en-US" altLang="zh-CN" sz="14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&gt;</a:t>
            </a:r>
            <a:endParaRPr lang="en-US" altLang="zh-CN" sz="14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&lt;TextView</a:t>
            </a:r>
            <a:endParaRPr lang="en-US" altLang="zh-CN" sz="14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    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:id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="@+id/tv_c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g"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    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:layout_width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="wrap_content"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    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:layout_height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="wrap_content"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    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:text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</a:t>
            </a:r>
            <a:r>
              <a:rPr lang="zh-CN" altLang="en-US" sz="900">
                <a:solidFill>
                  <a:srgbClr val="6A8759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欢迎大家选修电子科学创新实验，希望大家都取得好成绩</a:t>
            </a:r>
            <a:r>
              <a:rPr lang="en-US" altLang="zh-CN" sz="9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!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"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    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:textSize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="35sp"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    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:textColor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="@color/white"        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    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:background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="#F44336"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    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:layout_margin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="10dp"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    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:padding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="5dp"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    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android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:singleLine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="true"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android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:ellipsize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="marquee"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android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:focusable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="true"</a:t>
            </a:r>
            <a:endParaRPr lang="en-US" altLang="zh-CN" sz="14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</a:t>
            </a:r>
            <a:r>
              <a:rPr lang="en-US" altLang="zh-CN" sz="14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android</a:t>
            </a:r>
            <a:r>
              <a:rPr lang="en-US" altLang="zh-CN" sz="14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:focusableInTouchMode</a:t>
            </a:r>
            <a:r>
              <a:rPr lang="en-US" altLang="zh-CN" sz="14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="true"</a:t>
            </a:r>
            <a:r>
              <a:rPr lang="en-US" altLang="zh-CN" sz="14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/&gt;</a:t>
            </a:r>
            <a:endParaRPr lang="en-US" altLang="zh-CN" sz="14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&lt;/LinearLayout&gt;</a:t>
            </a:r>
            <a:endParaRPr lang="en-US" altLang="zh-CN" sz="14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>
            <a:lum contrast="48000"/>
          </a:blip>
          <a:stretch>
            <a:fillRect/>
          </a:stretch>
        </p:blipFill>
        <p:spPr>
          <a:xfrm>
            <a:off x="4848225" y="792480"/>
            <a:ext cx="4171950" cy="2952750"/>
          </a:xfrm>
          <a:prstGeom prst="rect">
            <a:avLst/>
          </a:prstGeom>
        </p:spPr>
      </p:pic>
      <p:cxnSp>
        <p:nvCxnSpPr>
          <p:cNvPr id="2" name="直接箭头连接符 1"/>
          <p:cNvCxnSpPr/>
          <p:nvPr/>
        </p:nvCxnSpPr>
        <p:spPr>
          <a:xfrm flipH="1">
            <a:off x="2736850" y="5226050"/>
            <a:ext cx="2727325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5464175" y="5041900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省略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zh-CN" altLang="en-US" sz="16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 flipH="1">
            <a:off x="2369185" y="5442585"/>
            <a:ext cx="3105150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7137400" y="2933065"/>
            <a:ext cx="8318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solidFill>
                  <a:schemeClr val="bg2">
                    <a:lumMod val="75000"/>
                  </a:schemeClr>
                </a:solidFill>
                <a:sym typeface="+mn-ea"/>
              </a:rPr>
              <a:t>//</a:t>
            </a:r>
            <a:r>
              <a:rPr lang="zh-CN" altLang="en-US" sz="1000">
                <a:solidFill>
                  <a:schemeClr val="bg2">
                    <a:lumMod val="75000"/>
                  </a:schemeClr>
                </a:solidFill>
                <a:sym typeface="+mn-ea"/>
              </a:rPr>
              <a:t>获取焦点</a:t>
            </a:r>
            <a:endParaRPr lang="zh-CN" altLang="en-US" sz="1000" b="1">
              <a:solidFill>
                <a:schemeClr val="bg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H="1">
            <a:off x="3554730" y="5640070"/>
            <a:ext cx="1919605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5464810" y="5490210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焦点可触发模式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zh-CN" altLang="en-US" sz="16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322185" y="3141345"/>
            <a:ext cx="97282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solidFill>
                  <a:schemeClr val="bg2">
                    <a:lumMod val="75000"/>
                  </a:schemeClr>
                </a:solidFill>
              </a:rPr>
              <a:t>//</a:t>
            </a:r>
            <a:r>
              <a:rPr lang="zh-CN" altLang="en-US" sz="1000">
                <a:solidFill>
                  <a:schemeClr val="bg2">
                    <a:lumMod val="75000"/>
                  </a:schemeClr>
                </a:solidFill>
              </a:rPr>
              <a:t>选定焦点</a:t>
            </a:r>
            <a:endParaRPr lang="zh-CN" altLang="en-US" sz="10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034530" y="1738630"/>
            <a:ext cx="18415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solidFill>
                  <a:schemeClr val="bg2">
                    <a:lumMod val="75000"/>
                  </a:schemeClr>
                </a:solidFill>
                <a:sym typeface="+mn-ea"/>
              </a:rPr>
              <a:t>//</a:t>
            </a:r>
            <a:r>
              <a:rPr lang="zh-CN" altLang="en-US" sz="1000">
                <a:solidFill>
                  <a:schemeClr val="bg2">
                    <a:lumMod val="75000"/>
                  </a:schemeClr>
                </a:solidFill>
                <a:sym typeface="+mn-ea"/>
              </a:rPr>
              <a:t>声明控件或</a:t>
            </a:r>
            <a:r>
              <a:rPr lang="zh-CN" altLang="en-US" sz="1000">
                <a:solidFill>
                  <a:schemeClr val="bg2">
                    <a:lumMod val="75000"/>
                  </a:schemeClr>
                </a:solidFill>
                <a:sym typeface="+mn-ea"/>
              </a:rPr>
              <a:t>视图对象</a:t>
            </a:r>
            <a:endParaRPr lang="zh-CN" altLang="en-US" sz="1000" b="1">
              <a:solidFill>
                <a:schemeClr val="bg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044180" y="2744470"/>
            <a:ext cx="8521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solidFill>
                  <a:schemeClr val="bg2">
                    <a:lumMod val="75000"/>
                  </a:schemeClr>
                </a:solidFill>
                <a:sym typeface="+mn-ea"/>
              </a:rPr>
              <a:t>//</a:t>
            </a:r>
            <a:r>
              <a:rPr lang="zh-CN" altLang="en-US" sz="1000">
                <a:solidFill>
                  <a:schemeClr val="bg2">
                    <a:lumMod val="75000"/>
                  </a:schemeClr>
                </a:solidFill>
                <a:sym typeface="+mn-ea"/>
              </a:rPr>
              <a:t>找到</a:t>
            </a:r>
            <a:r>
              <a:rPr lang="zh-CN" altLang="en-US" sz="1000">
                <a:solidFill>
                  <a:schemeClr val="bg2">
                    <a:lumMod val="75000"/>
                  </a:schemeClr>
                </a:solidFill>
                <a:sym typeface="+mn-ea"/>
              </a:rPr>
              <a:t>对象</a:t>
            </a:r>
            <a:endParaRPr lang="zh-CN" altLang="en-US" sz="1000" b="1">
              <a:solidFill>
                <a:schemeClr val="bg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474335" y="527367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焦点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zh-CN" altLang="en-US" sz="16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769485" y="3750310"/>
            <a:ext cx="4324350" cy="95313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r>
              <a:rPr lang="en-US" altLang="zh-CN" sz="14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onCreate(</a:t>
            </a:r>
            <a:r>
              <a:rPr lang="zh-CN" altLang="en-US" sz="14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）方法是</a:t>
            </a:r>
            <a:r>
              <a:rPr lang="en-US" altLang="zh-CN" sz="14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Activity</a:t>
            </a:r>
            <a:r>
              <a:rPr lang="zh-CN" altLang="en-US" sz="14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声明周期的入口。其主要作用是：在</a:t>
            </a:r>
            <a:r>
              <a:rPr lang="en-US" altLang="zh-CN" sz="14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Activity</a:t>
            </a:r>
            <a:r>
              <a:rPr lang="zh-CN" altLang="en-US" sz="14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启动时进行一些必要的初始化工作。比如调用</a:t>
            </a:r>
            <a:r>
              <a:rPr lang="en-US" altLang="zh-CN" sz="14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setContentView()</a:t>
            </a:r>
            <a:r>
              <a:rPr lang="zh-CN" altLang="en-US" sz="14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函数填充屏幕的</a:t>
            </a:r>
            <a:r>
              <a:rPr lang="en-US" altLang="zh-CN" sz="14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UI</a:t>
            </a:r>
            <a:r>
              <a:rPr lang="zh-CN" altLang="en-US" sz="14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4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TextBox 2"/>
          <p:cNvSpPr txBox="1"/>
          <p:nvPr/>
        </p:nvSpPr>
        <p:spPr>
          <a:xfrm>
            <a:off x="80010" y="63500"/>
            <a:ext cx="1178433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以实现</a:t>
            </a:r>
            <a:r>
              <a:rPr lang="en-US" altLang="zh-CN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QQ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登陆界面为例，来学习常用布局和控件的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使用。</a:t>
            </a:r>
            <a:endParaRPr lang="zh-CN" altLang="en-US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-4549" t="2926" r="4572"/>
          <a:stretch>
            <a:fillRect/>
          </a:stretch>
        </p:blipFill>
        <p:spPr>
          <a:xfrm>
            <a:off x="3105785" y="570230"/>
            <a:ext cx="2807970" cy="5766435"/>
          </a:xfrm>
          <a:prstGeom prst="rect">
            <a:avLst/>
          </a:prstGeom>
        </p:spPr>
      </p:pic>
      <p:sp>
        <p:nvSpPr>
          <p:cNvPr id="8" name="左箭头 7"/>
          <p:cNvSpPr/>
          <p:nvPr/>
        </p:nvSpPr>
        <p:spPr>
          <a:xfrm>
            <a:off x="5614670" y="640080"/>
            <a:ext cx="876300" cy="368300"/>
          </a:xfrm>
          <a:prstGeom prst="leftArrow">
            <a:avLst/>
          </a:prstGeom>
          <a:solidFill>
            <a:srgbClr val="F6FC1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567170" y="614680"/>
            <a:ext cx="1778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Image</a:t>
            </a:r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View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35070" y="5099685"/>
            <a:ext cx="1778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TextView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左箭头 3"/>
          <p:cNvSpPr/>
          <p:nvPr/>
        </p:nvSpPr>
        <p:spPr>
          <a:xfrm>
            <a:off x="6351270" y="1757680"/>
            <a:ext cx="876300" cy="368300"/>
          </a:xfrm>
          <a:prstGeom prst="leftArrow">
            <a:avLst/>
          </a:prstGeom>
          <a:solidFill>
            <a:srgbClr val="F6FC1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41870" y="1744980"/>
            <a:ext cx="1778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EditText</a:t>
            </a:r>
            <a:endParaRPr lang="en-US" altLang="zh-CN" sz="2000" b="1" dirty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7" name="右大括号 6"/>
          <p:cNvSpPr/>
          <p:nvPr/>
        </p:nvSpPr>
        <p:spPr>
          <a:xfrm>
            <a:off x="5888355" y="1490980"/>
            <a:ext cx="250190" cy="902335"/>
          </a:xfrm>
          <a:prstGeom prst="rightBrace">
            <a:avLst>
              <a:gd name="adj1" fmla="val 46428"/>
              <a:gd name="adj2" fmla="val 48795"/>
            </a:avLst>
          </a:prstGeom>
          <a:ln w="28575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870835" y="2832100"/>
            <a:ext cx="1778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CheckBox</a:t>
            </a:r>
            <a:endParaRPr 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左箭头 11"/>
          <p:cNvSpPr/>
          <p:nvPr/>
        </p:nvSpPr>
        <p:spPr>
          <a:xfrm>
            <a:off x="5055870" y="3484880"/>
            <a:ext cx="876300" cy="368300"/>
          </a:xfrm>
          <a:prstGeom prst="leftArrow">
            <a:avLst/>
          </a:prstGeom>
          <a:solidFill>
            <a:srgbClr val="F6FC1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008370" y="3459480"/>
            <a:ext cx="1778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Button</a:t>
            </a:r>
            <a:endParaRPr 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右大括号 13"/>
          <p:cNvSpPr/>
          <p:nvPr/>
        </p:nvSpPr>
        <p:spPr>
          <a:xfrm rot="16200000">
            <a:off x="4473575" y="4720590"/>
            <a:ext cx="300355" cy="2134235"/>
          </a:xfrm>
          <a:prstGeom prst="rightBrace">
            <a:avLst>
              <a:gd name="adj1" fmla="val 46428"/>
              <a:gd name="adj2" fmla="val 48795"/>
            </a:avLst>
          </a:prstGeom>
          <a:ln w="28575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2" name="左箭头 1"/>
          <p:cNvSpPr/>
          <p:nvPr/>
        </p:nvSpPr>
        <p:spPr>
          <a:xfrm rot="16200000">
            <a:off x="-466090" y="3145790"/>
            <a:ext cx="4371340" cy="334010"/>
          </a:xfrm>
          <a:prstGeom prst="leftArrow">
            <a:avLst>
              <a:gd name="adj1" fmla="val 50000"/>
              <a:gd name="adj2" fmla="val 276806"/>
            </a:avLst>
          </a:prstGeom>
          <a:gradFill>
            <a:gsLst>
              <a:gs pos="50000">
                <a:srgbClr val="FFC000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rgbClr val="F4452E"/>
              </a:gs>
            </a:gsLst>
            <a:path path="shape">
              <a:fillToRect l="50000" t="50000" r="50000" b="50000"/>
            </a:path>
            <a:tileRect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3556635" y="2660015"/>
            <a:ext cx="812800" cy="210185"/>
          </a:xfrm>
          <a:prstGeom prst="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右大括号 15"/>
          <p:cNvSpPr/>
          <p:nvPr/>
        </p:nvSpPr>
        <p:spPr>
          <a:xfrm rot="16200000" flipH="1">
            <a:off x="4915535" y="2374900"/>
            <a:ext cx="109855" cy="1085215"/>
          </a:xfrm>
          <a:prstGeom prst="rightBrace">
            <a:avLst>
              <a:gd name="adj1" fmla="val 228016"/>
              <a:gd name="adj2" fmla="val 47066"/>
            </a:avLst>
          </a:prstGeom>
          <a:ln w="28575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166870" y="3003550"/>
            <a:ext cx="1778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 dirty="0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TextView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48125"/>
            <a:ext cx="11697335" cy="95313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charset="0"/>
              <a:buChar char="p"/>
            </a:pPr>
            <a:r>
              <a:rPr lang="en-US" altLang="zh-CN"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Customize resources</a:t>
            </a:r>
            <a:endParaRPr lang="en-US" altLang="zh-CN" sz="28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3830" y="904875"/>
            <a:ext cx="11784330" cy="4615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1) Strings</a:t>
            </a:r>
            <a:endParaRPr lang="en-US" altLang="zh-CN" sz="28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0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自定义字符串：&lt;string name="</a:t>
            </a:r>
            <a:r>
              <a:rPr lang="en-US" altLang="zh-CN" sz="20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welcome</a:t>
            </a:r>
            <a:r>
              <a:rPr lang="zh-CN" altLang="en-US" sz="20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"&gt;欢迎大家选修电子科学创新实验，希望大家期末都取得好成绩！&lt;/string&gt; </a:t>
            </a:r>
            <a:endParaRPr lang="zh-CN" altLang="en-US" sz="2000" b="1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0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调用字符串（举例）：</a:t>
            </a:r>
            <a:r>
              <a:rPr lang="zh-CN" altLang="en-US" sz="20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android:text="@string/</a:t>
            </a:r>
            <a:r>
              <a:rPr lang="en-US" altLang="zh-CN" sz="20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welcome</a:t>
            </a:r>
            <a:r>
              <a:rPr lang="zh-CN" altLang="en-US" sz="20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</a:t>
            </a:r>
            <a:endParaRPr lang="zh-CN" altLang="en-US" sz="2000" b="1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2) Colors</a:t>
            </a:r>
            <a:endParaRPr lang="en-US" altLang="zh-CN" sz="28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0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自定义颜色：&lt;color name="red"&gt;#EC1010&lt;/color&gt;</a:t>
            </a:r>
            <a:endParaRPr lang="zh-CN" altLang="en-US" sz="2000" b="1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0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调用颜色（举例）： </a:t>
            </a:r>
            <a:endParaRPr lang="zh-CN" altLang="en-US" sz="2000" b="1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indent="45720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0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0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）android:textColor="@color/red"</a:t>
            </a:r>
            <a:endParaRPr lang="zh-CN" altLang="en-US" sz="200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indent="45720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0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00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）android:background="@color/red"</a:t>
            </a:r>
            <a:endParaRPr lang="zh-CN" altLang="en-US" sz="200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6632575" y="4532630"/>
            <a:ext cx="5368290" cy="900430"/>
            <a:chOff x="10295" y="7138"/>
            <a:chExt cx="8454" cy="1418"/>
          </a:xfrm>
        </p:grpSpPr>
        <p:sp>
          <p:nvSpPr>
            <p:cNvPr id="2" name="文本框 1"/>
            <p:cNvSpPr txBox="1"/>
            <p:nvPr/>
          </p:nvSpPr>
          <p:spPr>
            <a:xfrm>
              <a:off x="10419" y="7198"/>
              <a:ext cx="6884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 b="1">
                  <a:solidFill>
                    <a:srgbClr val="002060"/>
                  </a:solidFill>
                  <a:latin typeface="楷体" panose="02010609060101010101" charset="-122"/>
                  <a:ea typeface="楷体" panose="02010609060101010101" charset="-122"/>
                </a:rPr>
                <a:t>十六进制</a:t>
              </a:r>
              <a:r>
                <a:rPr lang="zh-CN" altLang="en-US" sz="1600" b="1">
                  <a:solidFill>
                    <a:srgbClr val="002060"/>
                  </a:solidFill>
                  <a:latin typeface="楷体" panose="02010609060101010101" charset="-122"/>
                  <a:ea typeface="楷体" panose="02010609060101010101" charset="-122"/>
                </a:rPr>
                <a:t>法设置字体颜色举例：</a:t>
              </a:r>
              <a:endParaRPr lang="zh-CN" altLang="en-US" sz="1600" b="1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</a:endParaRPr>
            </a:p>
            <a:p>
              <a:endParaRPr lang="zh-CN" altLang="en-US" sz="1600" b="1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538" y="7807"/>
              <a:ext cx="7898" cy="485"/>
            </a:xfrm>
            <a:prstGeom prst="rect">
              <a:avLst/>
            </a:prstGeom>
          </p:spPr>
        </p:pic>
        <p:sp>
          <p:nvSpPr>
            <p:cNvPr id="6" name="圆角矩形 5"/>
            <p:cNvSpPr/>
            <p:nvPr/>
          </p:nvSpPr>
          <p:spPr>
            <a:xfrm>
              <a:off x="10295" y="7138"/>
              <a:ext cx="8455" cy="1419"/>
            </a:xfrm>
            <a:prstGeom prst="round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203065"/>
            <a:ext cx="11697335" cy="82994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indent="0">
              <a:lnSpc>
                <a:spcPct val="200000"/>
              </a:lnSpc>
              <a:buFont typeface="Wingdings" panose="05000000000000000000" charset="0"/>
              <a:buNone/>
            </a:pPr>
            <a:r>
              <a:rPr lang="en-US" altLang="zh-CN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 Customize resources</a:t>
            </a:r>
            <a:endParaRPr lang="en-US" altLang="zh-CN" sz="24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5250" y="1011555"/>
            <a:ext cx="51384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(1)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自定义</a:t>
            </a:r>
            <a:r>
              <a:rPr lang="en-US" altLang="zh-CN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Text View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Button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等的背景</a:t>
            </a:r>
            <a:endParaRPr lang="zh-CN" altLang="en-US" sz="16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5405" y="1463040"/>
            <a:ext cx="12068810" cy="1650365"/>
          </a:xfrm>
          <a:prstGeom prst="rect">
            <a:avLst/>
          </a:prstGeom>
          <a:ln w="28575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" name="图片 -21474826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500" y="1503045"/>
            <a:ext cx="3052445" cy="125857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-21474826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1970" y="1502410"/>
            <a:ext cx="3143885" cy="125920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6294755" y="2806700"/>
            <a:ext cx="5499100" cy="30670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注意：只定义形状，就选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shape</a:t>
            </a: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，定义按压效果选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selector</a:t>
            </a:r>
            <a:endParaRPr lang="en-US" altLang="zh-CN" sz="14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39065" y="3531235"/>
            <a:ext cx="6155690" cy="206121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Calibri" panose="020F0502020204030204"/>
              </a:rPr>
              <a:t>&lt;?xml version="1.0" encoding="utf-8"?&gt;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Calibri" panose="020F0502020204030204"/>
              </a:rPr>
              <a:t>&lt;shape xmlns:android="http://schemas.android.com/apk/res/android"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android:shape="</a:t>
            </a:r>
            <a:r>
              <a:rPr lang="en-US" altLang="zh-CN" sz="1600">
                <a:highlight>
                  <a:srgbClr val="FF0000"/>
                </a:highlight>
                <a:latin typeface="Calibri" panose="020F0502020204030204"/>
                <a:ea typeface="Calibri" panose="020F0502020204030204"/>
              </a:rPr>
              <a:t>rectangle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"&gt;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&lt;solid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android:color="#E6E61F"/&gt;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&lt;corners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    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android:radius="10dp"/&gt;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Calibri" panose="020F0502020204030204"/>
              </a:rPr>
              <a:t>&lt;/shape&gt;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446520" y="1851025"/>
            <a:ext cx="63373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>
                <a:solidFill>
                  <a:schemeClr val="bg2">
                    <a:lumMod val="75000"/>
                  </a:schemeClr>
                </a:solidFill>
              </a:rPr>
              <a:t>bg1</a:t>
            </a:r>
            <a:endParaRPr lang="en-US" altLang="zh-CN" sz="9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802495" y="1863725"/>
            <a:ext cx="83756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>
                <a:solidFill>
                  <a:schemeClr val="bg2">
                    <a:lumMod val="75000"/>
                  </a:schemeClr>
                </a:solidFill>
              </a:rPr>
              <a:t>bg2</a:t>
            </a:r>
            <a:endParaRPr lang="en-US" altLang="zh-CN" sz="9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51765" y="3223260"/>
            <a:ext cx="43167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矩形圆角背景资源定义（文件名为</a:t>
            </a:r>
            <a:r>
              <a:rPr lang="en-US" altLang="zh-CN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bg2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）：</a:t>
            </a:r>
            <a:endParaRPr lang="zh-CN" altLang="en-US" sz="16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262370" y="3211195"/>
            <a:ext cx="53333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圆形背景资源定义（文件名为</a:t>
            </a:r>
            <a:r>
              <a:rPr lang="en-US" altLang="zh-CN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bg3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lang="zh-CN" altLang="en-US" sz="16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179185" y="3474085"/>
            <a:ext cx="6058535" cy="156845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&lt;?xml version="1.0" encoding="utf-8"?&gt;</a:t>
            </a:r>
            <a:endParaRPr lang="en-US" altLang="zh-CN" sz="16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&lt;shape xmlns:android="http://schemas.android.com/apk/res/android"</a:t>
            </a:r>
            <a:endParaRPr lang="en-US" altLang="zh-CN" sz="16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android:shape="</a:t>
            </a:r>
            <a:r>
              <a:rPr lang="en-US" altLang="zh-CN" sz="1600">
                <a:highlight>
                  <a:srgbClr val="FF0000"/>
                </a:highlight>
                <a:latin typeface="Calibri" panose="020F0502020204030204"/>
                <a:ea typeface="宋体" panose="02010600030101010101" pitchFamily="2" charset="-122"/>
              </a:rPr>
              <a:t>oval</a:t>
            </a: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"&gt;</a:t>
            </a:r>
            <a:endParaRPr lang="en-US" altLang="zh-CN" sz="16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&lt;solid</a:t>
            </a:r>
            <a:endParaRPr lang="en-US" altLang="zh-CN" sz="16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    android:color="#E6E61F"/&gt;</a:t>
            </a:r>
            <a:endParaRPr lang="en-US" altLang="zh-CN" sz="16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&lt;/shape&gt;</a:t>
            </a:r>
            <a:endParaRPr lang="en-US" altLang="zh-CN" sz="1600"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5405" y="3225800"/>
            <a:ext cx="6030595" cy="2781935"/>
          </a:xfrm>
          <a:prstGeom prst="rect">
            <a:avLst/>
          </a:prstGeom>
          <a:ln w="28575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6195695" y="3211195"/>
            <a:ext cx="5969000" cy="2796540"/>
          </a:xfrm>
          <a:prstGeom prst="rect">
            <a:avLst/>
          </a:prstGeom>
          <a:ln w="28575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61290" y="5624830"/>
            <a:ext cx="43167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方法：</a:t>
            </a:r>
            <a:endParaRPr lang="zh-CN" altLang="en-US" sz="16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311910" y="5621337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>
                <a:highlight>
                  <a:srgbClr val="00FFFF"/>
                </a:highlight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android:background=</a:t>
            </a:r>
            <a:r>
              <a:rPr lang="en-US" altLang="zh-CN" sz="1600">
                <a:solidFill>
                  <a:schemeClr val="tx1"/>
                </a:solidFill>
                <a:highlight>
                  <a:srgbClr val="00FFFF"/>
                </a:highlight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="@drawable/bg1"</a:t>
            </a:r>
            <a:endParaRPr lang="en-US" altLang="zh-CN" sz="1600">
              <a:solidFill>
                <a:schemeClr val="tx1"/>
              </a:solidFill>
              <a:highlight>
                <a:srgbClr val="00FFFF"/>
              </a:highlight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259830" y="5557520"/>
            <a:ext cx="43167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方法：</a:t>
            </a:r>
            <a:endParaRPr lang="zh-CN" altLang="en-US" sz="16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410450" y="5554027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>
                <a:highlight>
                  <a:srgbClr val="00FFFF"/>
                </a:highlight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android:background=</a:t>
            </a:r>
            <a:r>
              <a:rPr lang="en-US" altLang="zh-CN" sz="1600">
                <a:solidFill>
                  <a:schemeClr val="tx1"/>
                </a:solidFill>
                <a:highlight>
                  <a:srgbClr val="00FFFF"/>
                </a:highlight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="@drawable/bg2"</a:t>
            </a:r>
            <a:endParaRPr lang="en-US" altLang="zh-CN" sz="1600">
              <a:solidFill>
                <a:schemeClr val="tx1"/>
              </a:solidFill>
              <a:highlight>
                <a:srgbClr val="00FFFF"/>
              </a:highlight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</p:txBody>
      </p:sp>
      <p:pic>
        <p:nvPicPr>
          <p:cNvPr id="29" name="图片 -2147482622"/>
          <p:cNvPicPr>
            <a:picLocks noChangeAspect="1"/>
          </p:cNvPicPr>
          <p:nvPr/>
        </p:nvPicPr>
        <p:blipFill>
          <a:blip r:embed="rId3"/>
          <a:srcRect l="5744" t="36503" r="58167" b="52911"/>
          <a:stretch>
            <a:fillRect/>
          </a:stretch>
        </p:blipFill>
        <p:spPr>
          <a:xfrm>
            <a:off x="180975" y="1819275"/>
            <a:ext cx="5332095" cy="977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" name="文本框 29"/>
          <p:cNvSpPr txBox="1"/>
          <p:nvPr/>
        </p:nvSpPr>
        <p:spPr>
          <a:xfrm>
            <a:off x="140970" y="1462405"/>
            <a:ext cx="537527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先新建一个</a:t>
            </a:r>
            <a:r>
              <a:rPr lang="en-US" altLang="zh-CN" sz="14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Drawable Resource File</a:t>
            </a:r>
            <a:r>
              <a:rPr lang="zh-CN" altLang="en-US" sz="14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endParaRPr lang="zh-CN" altLang="en-US" sz="14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1" name="TextBox 2"/>
          <p:cNvSpPr txBox="1"/>
          <p:nvPr/>
        </p:nvSpPr>
        <p:spPr>
          <a:xfrm>
            <a:off x="79375" y="463550"/>
            <a:ext cx="1178433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1) 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自定义</a:t>
            </a:r>
            <a:r>
              <a:rPr lang="en-US" altLang="zh-CN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xml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资源文件</a:t>
            </a:r>
            <a:endParaRPr lang="zh-CN" altLang="en-US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9062720" y="4268470"/>
            <a:ext cx="2943225" cy="9124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>
                <a:solidFill>
                  <a:srgbClr val="FF0000"/>
                </a:solidFill>
                <a:highlight>
                  <a:srgbClr val="C0C0C0"/>
                </a:highlight>
                <a:latin typeface="楷体" panose="02010609060101010101" charset="-122"/>
                <a:ea typeface="楷体" panose="02010609060101010101" charset="-122"/>
              </a:rPr>
              <a:t>注意：要想使得布局文件中的按钮为圆形，还需将按钮的长宽设置成一样的尺寸。</a:t>
            </a:r>
            <a:endParaRPr lang="zh-CN" altLang="en-US" sz="1600">
              <a:solidFill>
                <a:srgbClr val="FF0000"/>
              </a:solidFill>
              <a:highlight>
                <a:srgbClr val="C0C0C0"/>
              </a:highlight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2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203065"/>
            <a:ext cx="11697335" cy="82994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charset="0"/>
              <a:buChar char="p"/>
            </a:pPr>
            <a:r>
              <a:rPr lang="en-US" altLang="zh-CN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Customize resources</a:t>
            </a:r>
            <a:endParaRPr lang="en-US" altLang="zh-CN" sz="24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4930" y="676910"/>
            <a:ext cx="43167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有按压效果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的背景资源定义（文件名为</a:t>
            </a:r>
            <a:r>
              <a:rPr lang="en-US" altLang="zh-CN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bg3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）：</a:t>
            </a:r>
            <a:endParaRPr lang="zh-CN" altLang="en-US" sz="16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74930" y="612775"/>
            <a:ext cx="6534785" cy="5001895"/>
          </a:xfrm>
          <a:prstGeom prst="rect">
            <a:avLst/>
          </a:prstGeom>
          <a:ln w="28575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94615" y="5060315"/>
            <a:ext cx="12261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方法：</a:t>
            </a:r>
            <a:endParaRPr lang="zh-CN" altLang="en-US" sz="16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130935" y="5056505"/>
            <a:ext cx="373316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android:background=</a:t>
            </a:r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="@drawable/bg3"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0815" y="949325"/>
            <a:ext cx="6786245" cy="37846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Calibri" panose="020F0502020204030204"/>
              </a:rPr>
              <a:t>&lt;?xml version="1.0" encoding="utf-8"?&gt;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Calibri" panose="020F0502020204030204"/>
              </a:rPr>
              <a:t>&lt;selector xmlns:android="http://schemas.android.com/apk/res/android"&gt;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Calibri" panose="020F0502020204030204"/>
              </a:rPr>
              <a:t>&lt;item android:state_pressed="true"&gt;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Calibri" panose="020F0502020204030204"/>
              </a:rPr>
              <a:t>&lt;shape android:shape="oval"&gt;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&lt;solid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    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android:color="#DCDC3C"/&gt;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&lt;/shape&gt;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Calibri" panose="020F0502020204030204"/>
              </a:rPr>
              <a:t>&lt;/item&gt;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&lt;item android:state_pressed="false"&gt;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    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&lt;shape android:shape="oval"&gt;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        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&lt;solid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            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android:color="#F3F3AC"/&gt;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                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&lt;/shape&gt;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   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&lt;/item&gt;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Calibri" panose="020F0502020204030204"/>
              </a:rPr>
              <a:t>&lt;/selector&gt;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842760" y="1975168"/>
            <a:ext cx="5080000" cy="2306955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p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&lt;</a:t>
            </a:r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Button</a:t>
            </a:r>
            <a:endParaRPr lang="en-US" altLang="zh-CN" sz="16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:layout_width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="match_parent"</a:t>
            </a:r>
            <a:endParaRPr lang="en-US" altLang="zh-CN" sz="16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:layout_height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="wrap_content"</a:t>
            </a:r>
            <a:endParaRPr lang="en-US" altLang="zh-CN" sz="16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:text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</a:t>
            </a:r>
            <a:r>
              <a:rPr lang="zh-CN" altLang="en-US" sz="1600">
                <a:solidFill>
                  <a:srgbClr val="6A8759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登陆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"</a:t>
            </a:r>
            <a:endParaRPr lang="en-US" altLang="zh-CN" sz="16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:textSize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="30sp"</a:t>
            </a:r>
            <a:endParaRPr lang="en-US" altLang="zh-CN" sz="16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:textColor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="#BD13EC"</a:t>
            </a:r>
            <a:endParaRPr lang="en-US" altLang="zh-CN" sz="16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:gravity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="center"</a:t>
            </a:r>
            <a:endParaRPr lang="en-US" altLang="zh-CN" sz="16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:layout_marginTop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="10dp"</a:t>
            </a:r>
            <a:endParaRPr lang="en-US" altLang="zh-CN" sz="16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:background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="@drawable/bg3"</a:t>
            </a:r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/&gt;</a:t>
            </a:r>
            <a:endParaRPr lang="en-US" altLang="zh-CN" sz="16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784340" y="1579245"/>
            <a:ext cx="43167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Button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控件使用按压效果背景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举例：</a:t>
            </a:r>
            <a:endParaRPr lang="zh-CN" altLang="en-US" sz="16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784340" y="1579245"/>
            <a:ext cx="5207000" cy="2771775"/>
          </a:xfrm>
          <a:prstGeom prst="rect">
            <a:avLst/>
          </a:prstGeom>
          <a:ln w="28575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4" name="图片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7625" y="3957320"/>
            <a:ext cx="2979420" cy="284861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81610" y="204605"/>
            <a:ext cx="11697335" cy="829945"/>
          </a:xfrm>
          <a:prstGeom prst="rect">
            <a:avLst/>
          </a:prstGeom>
        </p:spPr>
        <p:txBody>
          <a:bodyPr wrap="square" rtlCol="0" anchor="t">
            <a:spAutoFit/>
          </a:bodyPr>
          <a:p>
            <a:pPr marL="457200" indent="-457200">
              <a:lnSpc>
                <a:spcPct val="200000"/>
              </a:lnSpc>
              <a:buFont typeface="Wingdings" panose="05000000000000000000" charset="0"/>
              <a:buChar char="p"/>
            </a:pPr>
            <a:r>
              <a:rPr lang="en-US" altLang="zh-CN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Insert </a:t>
            </a:r>
            <a:r>
              <a:rPr lang="en-US" altLang="zh-CN" sz="2400" b="1" u="sng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Vector Assert</a:t>
            </a:r>
            <a:endParaRPr lang="en-US" altLang="zh-CN" sz="2400" b="1" u="sng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" y="1161415"/>
            <a:ext cx="4760595" cy="24403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rcRect l="694"/>
          <a:stretch>
            <a:fillRect/>
          </a:stretch>
        </p:blipFill>
        <p:spPr>
          <a:xfrm>
            <a:off x="4969510" y="937895"/>
            <a:ext cx="4096385" cy="288734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8130" y="1078865"/>
            <a:ext cx="2856230" cy="269811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150" y="4122420"/>
            <a:ext cx="3120390" cy="218376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880" y="3668395"/>
            <a:ext cx="3861435" cy="2715260"/>
          </a:xfrm>
          <a:prstGeom prst="rect">
            <a:avLst/>
          </a:prstGeom>
        </p:spPr>
      </p:pic>
      <p:sp>
        <p:nvSpPr>
          <p:cNvPr id="48" name="矩形 47"/>
          <p:cNvSpPr/>
          <p:nvPr/>
        </p:nvSpPr>
        <p:spPr>
          <a:xfrm>
            <a:off x="104775" y="3339465"/>
            <a:ext cx="1412875" cy="237490"/>
          </a:xfrm>
          <a:prstGeom prst="rect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348740" y="1120140"/>
            <a:ext cx="2048510" cy="242570"/>
          </a:xfrm>
          <a:prstGeom prst="rect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245485" y="2438400"/>
            <a:ext cx="1638300" cy="242570"/>
          </a:xfrm>
          <a:prstGeom prst="rect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5219700" y="1962785"/>
            <a:ext cx="878205" cy="242570"/>
          </a:xfrm>
          <a:prstGeom prst="rect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8985885" y="4198620"/>
            <a:ext cx="1480820" cy="242570"/>
          </a:xfrm>
          <a:prstGeom prst="rect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8907780" y="4457700"/>
            <a:ext cx="694690" cy="504825"/>
          </a:xfrm>
          <a:prstGeom prst="rect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6862445" y="6098540"/>
            <a:ext cx="616585" cy="207645"/>
          </a:xfrm>
          <a:prstGeom prst="rect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3600450" y="6099175"/>
            <a:ext cx="642620" cy="267970"/>
          </a:xfrm>
          <a:prstGeom prst="rect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04775" y="3261360"/>
            <a:ext cx="438785" cy="506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FF00"/>
                </a:solidFill>
              </a:rPr>
              <a:t>1</a:t>
            </a:r>
            <a:endParaRPr lang="en-US" altLang="zh-CN" b="1">
              <a:solidFill>
                <a:srgbClr val="FFFF0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021205" y="1062355"/>
            <a:ext cx="438785" cy="506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FF00"/>
                </a:solidFill>
              </a:rPr>
              <a:t>2</a:t>
            </a:r>
            <a:endParaRPr lang="en-US" altLang="zh-CN" b="1">
              <a:solidFill>
                <a:srgbClr val="FFFF00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057650" y="2372995"/>
            <a:ext cx="438785" cy="506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FF00"/>
                </a:solidFill>
              </a:rPr>
              <a:t>3</a:t>
            </a:r>
            <a:endParaRPr lang="en-US" altLang="zh-CN" b="1">
              <a:solidFill>
                <a:srgbClr val="FFFF00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836285" y="1888490"/>
            <a:ext cx="438785" cy="506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FF00"/>
                </a:solidFill>
              </a:rPr>
              <a:t>4</a:t>
            </a:r>
            <a:endParaRPr lang="en-US" altLang="zh-CN" b="1">
              <a:solidFill>
                <a:srgbClr val="FFFF00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9601200" y="4144010"/>
            <a:ext cx="438785" cy="506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FF00"/>
                </a:solidFill>
              </a:rPr>
              <a:t>5</a:t>
            </a:r>
            <a:endParaRPr lang="en-US" altLang="zh-CN" b="1">
              <a:solidFill>
                <a:srgbClr val="FFFF00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9325610" y="4475480"/>
            <a:ext cx="438785" cy="506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FF00"/>
                </a:solidFill>
              </a:rPr>
              <a:t>6</a:t>
            </a:r>
            <a:endParaRPr lang="en-US" altLang="zh-CN" b="1">
              <a:solidFill>
                <a:srgbClr val="FFFF00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809105" y="5998845"/>
            <a:ext cx="438785" cy="506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 b="1">
                <a:solidFill>
                  <a:srgbClr val="FFFF00"/>
                </a:solidFill>
              </a:rPr>
              <a:t>7</a:t>
            </a:r>
            <a:endParaRPr lang="en-US" altLang="zh-CN" sz="2000" b="1">
              <a:solidFill>
                <a:srgbClr val="FFFF00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539490" y="6023610"/>
            <a:ext cx="438785" cy="506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 b="1">
                <a:solidFill>
                  <a:srgbClr val="FFFF00"/>
                </a:solidFill>
              </a:rPr>
              <a:t>8</a:t>
            </a:r>
            <a:endParaRPr lang="en-US" altLang="zh-CN" sz="2000" b="1">
              <a:solidFill>
                <a:srgbClr val="FFFF00"/>
              </a:solidFill>
            </a:endParaRPr>
          </a:p>
        </p:txBody>
      </p:sp>
      <p:sp>
        <p:nvSpPr>
          <p:cNvPr id="28" name="右箭头 27"/>
          <p:cNvSpPr/>
          <p:nvPr/>
        </p:nvSpPr>
        <p:spPr>
          <a:xfrm>
            <a:off x="4723130" y="3166745"/>
            <a:ext cx="497840" cy="367030"/>
          </a:xfrm>
          <a:prstGeom prst="rightArrow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9" name="右箭头 28"/>
          <p:cNvSpPr/>
          <p:nvPr/>
        </p:nvSpPr>
        <p:spPr>
          <a:xfrm>
            <a:off x="8860155" y="3209925"/>
            <a:ext cx="497840" cy="367030"/>
          </a:xfrm>
          <a:prstGeom prst="rightArrow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0" name="右箭头 29"/>
          <p:cNvSpPr/>
          <p:nvPr/>
        </p:nvSpPr>
        <p:spPr>
          <a:xfrm flipH="1">
            <a:off x="8013065" y="5553075"/>
            <a:ext cx="1344930" cy="367030"/>
          </a:xfrm>
          <a:prstGeom prst="rightArrow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1" name="右箭头 30"/>
          <p:cNvSpPr/>
          <p:nvPr/>
        </p:nvSpPr>
        <p:spPr>
          <a:xfrm flipH="1">
            <a:off x="3745865" y="5400675"/>
            <a:ext cx="1344930" cy="367030"/>
          </a:xfrm>
          <a:prstGeom prst="rightArrow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2" name="右箭头 31"/>
          <p:cNvSpPr/>
          <p:nvPr/>
        </p:nvSpPr>
        <p:spPr>
          <a:xfrm rot="5400000">
            <a:off x="9959975" y="3773170"/>
            <a:ext cx="574040" cy="367030"/>
          </a:xfrm>
          <a:prstGeom prst="rightArrow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0" y="-296410"/>
            <a:ext cx="11697335" cy="829945"/>
          </a:xfrm>
          <a:prstGeom prst="rect">
            <a:avLst/>
          </a:prstGeom>
        </p:spPr>
        <p:txBody>
          <a:bodyPr wrap="square" rtlCol="0" anchor="t">
            <a:spAutoFit/>
          </a:bodyPr>
          <a:p>
            <a:pPr indent="0">
              <a:lnSpc>
                <a:spcPct val="200000"/>
              </a:lnSpc>
              <a:buFont typeface="Wingdings" panose="05000000000000000000" charset="0"/>
              <a:buNone/>
            </a:pPr>
            <a:r>
              <a:rPr lang="en-US" altLang="zh-CN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 Customize resources</a:t>
            </a:r>
            <a:endParaRPr lang="en-US" altLang="zh-CN" sz="24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121285" y="103640"/>
            <a:ext cx="11697335" cy="829945"/>
          </a:xfrm>
          <a:prstGeom prst="rect">
            <a:avLst/>
          </a:prstGeom>
        </p:spPr>
        <p:txBody>
          <a:bodyPr wrap="square" rtlCol="0" anchor="t">
            <a:spAutoFit/>
          </a:bodyPr>
          <a:p>
            <a:pPr marL="457200" indent="-457200">
              <a:lnSpc>
                <a:spcPct val="200000"/>
              </a:lnSpc>
              <a:buFont typeface="Wingdings" panose="05000000000000000000" charset="0"/>
              <a:buChar char="p"/>
            </a:pPr>
            <a:r>
              <a:rPr lang="en-US" altLang="zh-CN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ImageButton</a:t>
            </a:r>
            <a:r>
              <a:rPr lang="zh-CN" altLang="en-US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的使用</a:t>
            </a:r>
            <a:endParaRPr lang="zh-CN" altLang="en-US" sz="2400" b="1" u="sng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2890" y="1584325"/>
            <a:ext cx="4686300" cy="224536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p>
            <a:r>
              <a:rPr lang="en-US" altLang="zh-CN" sz="20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&lt;ImageButton</a:t>
            </a:r>
            <a:endParaRPr lang="en-US" altLang="zh-CN" sz="20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20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20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20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:id</a:t>
            </a:r>
            <a:r>
              <a:rPr lang="en-US" altLang="zh-CN" sz="20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="@+id/btn_login"</a:t>
            </a:r>
            <a:endParaRPr lang="en-US" altLang="zh-CN" sz="20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20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20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20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:layout_width</a:t>
            </a:r>
            <a:r>
              <a:rPr lang="en-US" altLang="zh-CN" sz="20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="60dp"</a:t>
            </a:r>
            <a:endParaRPr lang="en-US" altLang="zh-CN" sz="20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20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20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20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:layout_height</a:t>
            </a:r>
            <a:r>
              <a:rPr lang="en-US" altLang="zh-CN" sz="20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="60dp"</a:t>
            </a:r>
            <a:endParaRPr lang="en-US" altLang="zh-CN" sz="20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20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20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20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:src</a:t>
            </a:r>
            <a:r>
              <a:rPr lang="en-US" altLang="zh-CN" sz="20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="@mipmap/forward"</a:t>
            </a:r>
            <a:endParaRPr lang="en-US" altLang="zh-CN" sz="20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20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20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20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:background</a:t>
            </a:r>
            <a:r>
              <a:rPr lang="en-US" altLang="zh-CN" sz="20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="@drawable/bg3"</a:t>
            </a:r>
            <a:endParaRPr lang="en-US" altLang="zh-CN" sz="20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20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</a:t>
            </a:r>
            <a:r>
              <a:rPr lang="en-US" altLang="zh-CN" sz="20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/&gt;</a:t>
            </a:r>
            <a:endParaRPr lang="en-US" altLang="zh-CN" sz="20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839460" y="810895"/>
            <a:ext cx="5202555" cy="706755"/>
          </a:xfrm>
          <a:prstGeom prst="rect">
            <a:avLst/>
          </a:prstGeom>
        </p:spPr>
        <p:txBody>
          <a:bodyPr wrap="square" rtlCol="0" anchor="t">
            <a:spAutoFit/>
          </a:bodyPr>
          <a:p>
            <a:pPr marL="342900" indent="-342900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zh-CN" altLang="en-US" sz="2000" b="1" u="sng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注意：</a:t>
            </a:r>
            <a:r>
              <a:rPr lang="en-US" altLang="zh-CN" sz="2000" b="1" u="sng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mipmap</a:t>
            </a:r>
            <a:r>
              <a:rPr lang="zh-CN" altLang="en-US" sz="2000" b="1" u="sng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图片资源文件夹的使用</a:t>
            </a:r>
            <a:endParaRPr lang="zh-CN" altLang="en-US" sz="2000" b="1" u="sng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4185" y="1584325"/>
            <a:ext cx="2905125" cy="3000375"/>
          </a:xfrm>
          <a:prstGeom prst="rect">
            <a:avLst/>
          </a:prstGeom>
        </p:spPr>
      </p:pic>
      <p:sp>
        <p:nvSpPr>
          <p:cNvPr id="9" name="下箭头 8"/>
          <p:cNvSpPr/>
          <p:nvPr/>
        </p:nvSpPr>
        <p:spPr>
          <a:xfrm>
            <a:off x="9413240" y="2832100"/>
            <a:ext cx="495300" cy="939165"/>
          </a:xfrm>
          <a:prstGeom prst="downArrow">
            <a:avLst/>
          </a:prstGeom>
        </p:spPr>
        <p:style>
          <a:lnRef idx="0">
            <a:srgbClr val="FFFFFF"/>
          </a:lnRef>
          <a:fillRef idx="2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908800" y="2609850"/>
            <a:ext cx="2363470" cy="16668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723755" y="3050540"/>
            <a:ext cx="20167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分辨率依次增大</a:t>
            </a:r>
            <a:endParaRPr lang="zh-CN" altLang="en-US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62890" y="105981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en-US" altLang="zh-CN" sz="20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ImageButton</a:t>
            </a:r>
            <a:r>
              <a:rPr lang="zh-CN" altLang="en-US" sz="20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视图的使用代码：</a:t>
            </a:r>
            <a:endParaRPr lang="zh-CN" altLang="en-US" sz="20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839460" y="4864100"/>
            <a:ext cx="5202555" cy="706755"/>
          </a:xfrm>
          <a:prstGeom prst="rect">
            <a:avLst/>
          </a:prstGeom>
        </p:spPr>
        <p:txBody>
          <a:bodyPr wrap="square" rtlCol="0" anchor="t">
            <a:spAutoFit/>
          </a:bodyPr>
          <a:p>
            <a:pPr marL="342900" indent="-342900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zh-CN" sz="20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其中，</a:t>
            </a:r>
            <a:r>
              <a:rPr lang="en-US" altLang="zh-CN" sz="20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forward</a:t>
            </a:r>
            <a:r>
              <a:rPr lang="zh-CN" sz="20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为自定义的图片</a:t>
            </a:r>
            <a:endParaRPr lang="zh-CN" sz="20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550" y="4584700"/>
            <a:ext cx="1189355" cy="109156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262890" y="3955415"/>
            <a:ext cx="400558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en-US" altLang="zh-CN" sz="20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ImageButton</a:t>
            </a:r>
            <a:r>
              <a:rPr lang="zh-CN" altLang="en-US" sz="20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视图的效果：</a:t>
            </a:r>
            <a:endParaRPr lang="zh-CN" altLang="en-US" sz="20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2545" y="-271645"/>
            <a:ext cx="11697335" cy="82994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indent="0">
              <a:lnSpc>
                <a:spcPct val="200000"/>
              </a:lnSpc>
              <a:buFont typeface="Wingdings" panose="05000000000000000000" charset="0"/>
              <a:buNone/>
            </a:pPr>
            <a:r>
              <a:rPr lang="en-US" altLang="zh-CN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 Customize resources</a:t>
            </a:r>
            <a:endParaRPr lang="en-US" altLang="zh-CN" sz="24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81635" y="3744595"/>
            <a:ext cx="6747510" cy="230695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p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&lt;?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xml version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="1.0" 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encoding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="utf-8"</a:t>
            </a:r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?&gt;</a:t>
            </a:r>
            <a:endParaRPr lang="en-US" altLang="zh-CN" sz="16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&lt;selector 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xmlns:</a:t>
            </a:r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="http://schemas.android.com/apk/res/android"</a:t>
            </a:r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&gt;</a:t>
            </a:r>
            <a:endParaRPr lang="en-US" altLang="zh-CN" sz="16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&lt;item </a:t>
            </a:r>
            <a:endParaRPr lang="en-US" altLang="zh-CN" sz="16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pPr indent="457200"/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:drawable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="@drawable/ic_baseline_radio_button_unchecked_24" </a:t>
            </a:r>
            <a:endParaRPr lang="en-US" altLang="zh-CN" sz="16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pPr indent="457200"/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:state_checked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="false"</a:t>
            </a:r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/&gt;</a:t>
            </a:r>
            <a:endParaRPr lang="en-US" altLang="zh-CN" sz="16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&lt;item </a:t>
            </a:r>
            <a:endParaRPr lang="en-US" altLang="zh-CN" sz="16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pPr indent="457200"/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:drawable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="@drawable/ic_baseline_radio_button_checked_24" </a:t>
            </a:r>
            <a:endParaRPr lang="en-US" altLang="zh-CN" sz="1600">
              <a:solidFill>
                <a:srgbClr val="6A8759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pPr indent="457200"/>
            <a:r>
              <a:rPr lang="en-US" altLang="zh-CN" sz="1600">
                <a:solidFill>
                  <a:srgbClr val="9876A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android</a:t>
            </a:r>
            <a:r>
              <a:rPr lang="en-US" altLang="zh-CN" sz="1600">
                <a:solidFill>
                  <a:srgbClr val="BABAB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:state_checked</a:t>
            </a:r>
            <a:r>
              <a:rPr lang="en-US" altLang="zh-CN" sz="1600">
                <a:solidFill>
                  <a:srgbClr val="6A8759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="true"</a:t>
            </a:r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/&gt;</a:t>
            </a:r>
            <a:endParaRPr lang="en-US" altLang="zh-CN" sz="16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E8BF6A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&lt;/selector&gt;</a:t>
            </a:r>
            <a:endParaRPr lang="en-US" altLang="zh-CN" sz="1600">
              <a:solidFill>
                <a:srgbClr val="E8BF6A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83845" y="3341370"/>
            <a:ext cx="53333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接着，自定义</a:t>
            </a:r>
            <a:r>
              <a:rPr lang="en-US" altLang="zh-CN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CheckBox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的图标形状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资源定义：</a:t>
            </a:r>
            <a:endParaRPr lang="zh-CN" altLang="en-US" sz="16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079740" y="1929765"/>
            <a:ext cx="4110990" cy="2061210"/>
          </a:xfrm>
          <a:prstGeom prst="rect">
            <a:avLst/>
          </a:prstGeom>
          <a:solidFill>
            <a:schemeClr val="bg1"/>
          </a:solidFill>
          <a:ln w="31750">
            <a:noFill/>
            <a:prstDash val="sysDot"/>
          </a:ln>
        </p:spPr>
        <p:txBody>
          <a:bodyPr wrap="square">
            <a:spAutoFit/>
          </a:bodyPr>
          <a:p>
            <a:r>
              <a:rPr lang="en-US" altLang="zh-CN" sz="1600">
                <a:solidFill>
                  <a:srgbClr val="1D41D5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&lt;CheckBox</a:t>
            </a:r>
            <a:endParaRPr lang="en-US" altLang="zh-CN" sz="1600">
              <a:solidFill>
                <a:srgbClr val="1D41D5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1D41D5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android:id="@+id/checkbox"</a:t>
            </a:r>
            <a:endParaRPr lang="en-US" altLang="zh-CN" sz="1600">
              <a:solidFill>
                <a:srgbClr val="1D41D5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1D41D5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android:layout_width="match_parent"</a:t>
            </a:r>
            <a:endParaRPr lang="en-US" altLang="zh-CN" sz="1600">
              <a:solidFill>
                <a:srgbClr val="1D41D5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1D41D5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android:layout_height="wrap_content"</a:t>
            </a:r>
            <a:endParaRPr lang="en-US" altLang="zh-CN" sz="1600">
              <a:solidFill>
                <a:srgbClr val="1D41D5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1D41D5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android:button="@null"</a:t>
            </a:r>
            <a:endParaRPr lang="en-US" altLang="zh-CN" sz="1600">
              <a:solidFill>
                <a:srgbClr val="1D41D5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1D41D5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android:drawableLeft="@drawable/bg4"</a:t>
            </a:r>
            <a:endParaRPr lang="en-US" altLang="zh-CN" sz="1600">
              <a:solidFill>
                <a:srgbClr val="1D41D5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1D41D5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android:background="@color/white"</a:t>
            </a:r>
            <a:endParaRPr lang="en-US" altLang="zh-CN" sz="1600">
              <a:solidFill>
                <a:srgbClr val="1D41D5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  <a:p>
            <a:r>
              <a:rPr lang="en-US" altLang="zh-CN" sz="1600">
                <a:solidFill>
                  <a:srgbClr val="1D41D5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    android:text="</a:t>
            </a:r>
            <a:r>
              <a:rPr lang="zh-CN" altLang="en-US" sz="1600">
                <a:solidFill>
                  <a:srgbClr val="1D41D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请勾选协议</a:t>
            </a:r>
            <a:r>
              <a:rPr lang="en-US" altLang="zh-CN" sz="1600">
                <a:solidFill>
                  <a:srgbClr val="1D41D5"/>
                </a:solidFill>
                <a:latin typeface="Times New Roman" panose="02020603050405020304" charset="0"/>
                <a:ea typeface="JetBrains Mono"/>
                <a:cs typeface="Times New Roman" panose="02020603050405020304" charset="0"/>
              </a:rPr>
              <a:t>" /&gt;</a:t>
            </a:r>
            <a:endParaRPr lang="en-US" altLang="zh-CN" sz="1600">
              <a:solidFill>
                <a:srgbClr val="1D41D5"/>
              </a:solidFill>
              <a:latin typeface="Times New Roman" panose="02020603050405020304" charset="0"/>
              <a:ea typeface="JetBrains Mono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984490" y="1544955"/>
            <a:ext cx="40411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CheckBox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控件的使用举例：</a:t>
            </a:r>
            <a:endParaRPr lang="zh-CN" altLang="en-US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82575" y="3340735"/>
            <a:ext cx="6967855" cy="2780030"/>
          </a:xfrm>
          <a:prstGeom prst="rect">
            <a:avLst/>
          </a:prstGeom>
          <a:ln w="28575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924165" y="1463675"/>
            <a:ext cx="3944620" cy="2527935"/>
          </a:xfrm>
          <a:prstGeom prst="rect">
            <a:avLst/>
          </a:prstGeom>
          <a:ln w="28575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8562340" y="4124325"/>
            <a:ext cx="2533015" cy="1295400"/>
            <a:chOff x="258" y="7247"/>
            <a:chExt cx="3989" cy="2040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239" y="8565"/>
              <a:ext cx="2009" cy="722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39" y="8008"/>
              <a:ext cx="1745" cy="549"/>
            </a:xfrm>
            <a:prstGeom prst="rect">
              <a:avLst/>
            </a:prstGeom>
          </p:spPr>
        </p:pic>
        <p:sp>
          <p:nvSpPr>
            <p:cNvPr id="14" name="文本框 13"/>
            <p:cNvSpPr txBox="1"/>
            <p:nvPr/>
          </p:nvSpPr>
          <p:spPr>
            <a:xfrm>
              <a:off x="372" y="7314"/>
              <a:ext cx="3130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marL="285750" indent="-285750">
                <a:buFont typeface="Wingdings" panose="05000000000000000000" charset="0"/>
                <a:buChar char="p"/>
              </a:pPr>
              <a:r>
                <a:rPr lang="zh-CN" altLang="en-US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charset="0"/>
                  <a:sym typeface="+mn-ea"/>
                </a:rPr>
                <a:t>运行效果</a:t>
              </a:r>
              <a:endPara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726" y="7970"/>
              <a:ext cx="1711" cy="5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sz="1600" b="1">
                  <a:solidFill>
                    <a:srgbClr val="1D41D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charset="0"/>
                  <a:sym typeface="+mn-ea"/>
                </a:rPr>
                <a:t>未勾选：</a:t>
              </a:r>
              <a:endPara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726" y="8626"/>
              <a:ext cx="1513" cy="5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sz="1600" b="1">
                  <a:solidFill>
                    <a:srgbClr val="1D41D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charset="0"/>
                  <a:sym typeface="+mn-ea"/>
                </a:rPr>
                <a:t>已勾选：</a:t>
              </a:r>
              <a:endPara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258" y="7247"/>
              <a:ext cx="3989" cy="1980"/>
            </a:xfrm>
            <a:prstGeom prst="rect">
              <a:avLst/>
            </a:prstGeom>
            <a:ln w="28575">
              <a:solidFill>
                <a:srgbClr val="ED7D3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226695" y="1017905"/>
            <a:ext cx="653859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先新建一个</a:t>
            </a:r>
            <a:r>
              <a:rPr lang="en-US" altLang="zh-CN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Drawable Resource File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，选择</a:t>
            </a:r>
            <a:r>
              <a:rPr lang="en-US" altLang="zh-CN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selector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，取名为</a:t>
            </a:r>
            <a:r>
              <a:rPr lang="en-US" altLang="zh-CN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bg4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endParaRPr lang="zh-CN" altLang="en-US" sz="16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82575" y="1016635"/>
            <a:ext cx="6967855" cy="2189480"/>
          </a:xfrm>
          <a:prstGeom prst="rect">
            <a:avLst/>
          </a:prstGeom>
          <a:ln w="28575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8303895" y="3206750"/>
            <a:ext cx="3469640" cy="222885"/>
          </a:xfrm>
          <a:prstGeom prst="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226695" y="564515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(2)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自定义</a:t>
            </a:r>
            <a:r>
              <a:rPr lang="en-US" altLang="zh-CN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CheckBox</a:t>
            </a:r>
            <a:r>
              <a:rPr lang="zh-CN" altLang="en-US" sz="16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的图标形状</a:t>
            </a:r>
            <a:endParaRPr lang="zh-CN" altLang="en-US" sz="16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30" name="图片 -21474826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485" y="1492250"/>
            <a:ext cx="3052445" cy="12585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" name="文本框 30"/>
          <p:cNvSpPr txBox="1"/>
          <p:nvPr/>
        </p:nvSpPr>
        <p:spPr>
          <a:xfrm>
            <a:off x="3078480" y="1852930"/>
            <a:ext cx="83756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>
                <a:solidFill>
                  <a:schemeClr val="bg2">
                    <a:lumMod val="75000"/>
                  </a:schemeClr>
                </a:solidFill>
              </a:rPr>
              <a:t>bg4</a:t>
            </a:r>
            <a:endParaRPr lang="en-US" altLang="zh-CN" sz="900">
              <a:solidFill>
                <a:schemeClr val="bg2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305" y="1313815"/>
            <a:ext cx="8383270" cy="485330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27000" y="-133350"/>
            <a:ext cx="60960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algn="l">
              <a:lnSpc>
                <a:spcPct val="200000"/>
              </a:lnSpc>
              <a:buFont typeface="Wingdings" panose="05000000000000000000" charset="0"/>
              <a:buChar char="n"/>
            </a:pP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Flip between Activities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15900" y="626110"/>
            <a:ext cx="11661775" cy="94297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）创建一个新的项目生成一个默认的</a:t>
            </a: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Activity</a:t>
            </a:r>
            <a:r>
              <a:rPr lang="zh-CN" altLang="en-US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，即</a:t>
            </a: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MainActivity</a:t>
            </a:r>
            <a:r>
              <a:rPr lang="zh-CN" altLang="en-US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其在清单文件（</a:t>
            </a:r>
            <a:r>
              <a:rPr lang="en-US" altLang="zh-CN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AndroidMenifest.xml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）中</a:t>
            </a:r>
            <a:r>
              <a:rPr lang="zh-CN" altLang="en-US" b="1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自动注册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166360" y="4044315"/>
            <a:ext cx="4650105" cy="1580515"/>
          </a:xfrm>
          <a:prstGeom prst="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527935" y="4044315"/>
            <a:ext cx="1638935" cy="185420"/>
          </a:xfrm>
          <a:prstGeom prst="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7000" y="-133350"/>
            <a:ext cx="60960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algn="l">
              <a:lnSpc>
                <a:spcPct val="200000"/>
              </a:lnSpc>
              <a:buFont typeface="Wingdings" panose="05000000000000000000" charset="0"/>
              <a:buChar char="n"/>
            </a:pP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Flip between Activities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15900" y="626110"/>
            <a:ext cx="9994265" cy="526478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solidFill>
                  <a:srgbClr val="0020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b="1">
                <a:solidFill>
                  <a:srgbClr val="0020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）新建一个Activity</a:t>
            </a: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370" y="1191260"/>
            <a:ext cx="9394190" cy="3309620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293370" y="2923540"/>
            <a:ext cx="11462385" cy="3934460"/>
            <a:chOff x="462" y="4604"/>
            <a:chExt cx="18051" cy="6196"/>
          </a:xfrm>
        </p:grpSpPr>
        <p:sp>
          <p:nvSpPr>
            <p:cNvPr id="6" name="文本框 5"/>
            <p:cNvSpPr txBox="1"/>
            <p:nvPr/>
          </p:nvSpPr>
          <p:spPr>
            <a:xfrm>
              <a:off x="462" y="7684"/>
              <a:ext cx="9596" cy="72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marL="0" indent="0" algn="just" defTabSz="26670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注意查看其在清单文件（</a:t>
              </a:r>
              <a:r>
                <a:rPr lang="en-US" altLang="zh-CN" sz="1600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AndroidMenifest.xml</a:t>
              </a:r>
              <a:r>
                <a:rPr lang="zh-CN" altLang="en-US" sz="1600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）中的注册情况：</a:t>
              </a:r>
              <a:endParaRPr lang="zh-CN" altLang="en-US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95" y="4604"/>
              <a:ext cx="8318" cy="6196"/>
            </a:xfrm>
            <a:prstGeom prst="rect">
              <a:avLst/>
            </a:prstGeom>
          </p:spPr>
        </p:pic>
        <p:sp>
          <p:nvSpPr>
            <p:cNvPr id="11" name="矩形 10"/>
            <p:cNvSpPr/>
            <p:nvPr/>
          </p:nvSpPr>
          <p:spPr>
            <a:xfrm>
              <a:off x="10895" y="7434"/>
              <a:ext cx="4015" cy="841"/>
            </a:xfrm>
            <a:prstGeom prst="rect">
              <a:avLst/>
            </a:prstGeom>
            <a:ln w="190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" name="文本框 28"/>
          <p:cNvSpPr txBox="1"/>
          <p:nvPr/>
        </p:nvSpPr>
        <p:spPr>
          <a:xfrm>
            <a:off x="226695" y="310515"/>
            <a:ext cx="648906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u"/>
            </a:pPr>
            <a:r>
              <a:rPr lang="zh-CN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匹配用户名和密码的登录实现代码</a:t>
            </a:r>
            <a:endParaRPr lang="zh-CN" sz="24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435860" y="5702935"/>
            <a:ext cx="70732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注意：新增了一个</a:t>
            </a:r>
            <a:r>
              <a:rPr lang="en-US" altLang="zh-CN" sz="2000" b="1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 Toast</a:t>
            </a:r>
            <a:r>
              <a:rPr lang="zh-CN" altLang="en-US" sz="2000" b="1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对象</a:t>
            </a:r>
            <a:r>
              <a:rPr lang="zh-CN" altLang="en-US" sz="2000" b="1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（即消息提示框对象）</a:t>
            </a:r>
            <a:r>
              <a:rPr lang="zh-CN" altLang="en-US" sz="2000" b="1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的使用。</a:t>
            </a:r>
            <a:endParaRPr lang="zh-CN" altLang="en-US" sz="2000" b="1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26695" y="890270"/>
            <a:ext cx="11492230" cy="5077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mbtn_login.setOnClickListener(new View.OnClickListener() {</a:t>
            </a:r>
            <a:endParaRPr lang="en-US" altLang="zh-CN"/>
          </a:p>
          <a:p>
            <a:r>
              <a:rPr lang="en-US" altLang="zh-CN"/>
              <a:t>            @Override</a:t>
            </a:r>
            <a:endParaRPr lang="en-US" altLang="zh-CN"/>
          </a:p>
          <a:p>
            <a:r>
              <a:rPr lang="en-US" altLang="zh-CN"/>
              <a:t>            public void onClick(View view) {</a:t>
            </a:r>
            <a:endParaRPr lang="en-US" altLang="zh-CN"/>
          </a:p>
          <a:p>
            <a:pPr marL="457200" lvl="1" indent="457200"/>
            <a:r>
              <a:rPr lang="en-US" altLang="zh-CN"/>
              <a:t>//</a:t>
            </a:r>
            <a:r>
              <a:rPr lang="zh-CN" altLang="en-US"/>
              <a:t>如果用户名为</a:t>
            </a:r>
            <a:r>
              <a:rPr lang="en-US" altLang="zh-CN">
                <a:sym typeface="+mn-ea"/>
              </a:rPr>
              <a:t>xulinlin</a:t>
            </a:r>
            <a:r>
              <a:rPr lang="zh-CN" altLang="en-US">
                <a:sym typeface="+mn-ea"/>
              </a:rPr>
              <a:t>，密码是</a:t>
            </a:r>
            <a:r>
              <a:rPr lang="en-US" altLang="zh-CN">
                <a:sym typeface="+mn-ea"/>
              </a:rPr>
              <a:t>123456</a:t>
            </a:r>
            <a:r>
              <a:rPr lang="zh-CN" altLang="en-US">
                <a:sym typeface="+mn-ea"/>
              </a:rPr>
              <a:t>，则成功登录，跳转至下一页。</a:t>
            </a:r>
            <a:endParaRPr lang="en-US" altLang="zh-CN"/>
          </a:p>
          <a:p>
            <a:r>
              <a:rPr lang="en-US" altLang="zh-CN"/>
              <a:t>                if(met_name.getText().toString().equals("xulinlin") &amp;&amp; met_pw.getText().toString().equals("123456")){</a:t>
            </a:r>
            <a:endParaRPr lang="en-US" altLang="zh-CN"/>
          </a:p>
          <a:p>
            <a:r>
              <a:rPr lang="en-US" altLang="zh-CN"/>
              <a:t>                    Intent intent = new Intent(MainActivity.this,ContentActivity.class);</a:t>
            </a:r>
            <a:endParaRPr lang="en-US" altLang="zh-CN"/>
          </a:p>
          <a:p>
            <a:r>
              <a:rPr lang="en-US" altLang="zh-CN"/>
              <a:t>                    startActivity(intent);</a:t>
            </a:r>
            <a:endParaRPr lang="en-US" altLang="zh-CN"/>
          </a:p>
          <a:p>
            <a:r>
              <a:rPr lang="en-US" altLang="zh-CN"/>
              <a:t>                }</a:t>
            </a:r>
            <a:endParaRPr lang="en-US" altLang="zh-CN"/>
          </a:p>
          <a:p>
            <a:pPr marL="457200" lvl="1" indent="457200"/>
            <a:r>
              <a:rPr lang="en-US" altLang="zh-CN">
                <a:sym typeface="+mn-ea"/>
              </a:rPr>
              <a:t>//</a:t>
            </a:r>
            <a:r>
              <a:rPr lang="zh-CN" altLang="en-US">
                <a:sym typeface="+mn-ea"/>
              </a:rPr>
              <a:t>如果没有输入用户名</a:t>
            </a:r>
            <a:r>
              <a:rPr lang="zh-CN">
                <a:sym typeface="+mn-ea"/>
              </a:rPr>
              <a:t>和</a:t>
            </a:r>
            <a:r>
              <a:rPr lang="zh-CN" altLang="en-US">
                <a:sym typeface="+mn-ea"/>
              </a:rPr>
              <a:t>密码</a:t>
            </a:r>
            <a:r>
              <a:rPr lang="zh-CN">
                <a:sym typeface="+mn-ea"/>
              </a:rPr>
              <a:t>，则弹出提示框显示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请输入用户名和密码</a:t>
            </a:r>
            <a:r>
              <a:rPr lang="en-US" altLang="zh-CN">
                <a:sym typeface="+mn-ea"/>
              </a:rPr>
              <a:t>”</a:t>
            </a:r>
            <a:endParaRPr lang="en-US" altLang="zh-CN"/>
          </a:p>
          <a:p>
            <a:r>
              <a:rPr lang="en-US" altLang="zh-CN"/>
              <a:t>                else if(met_name.getText().toString().equals("") &amp;&amp; met_pw.getText().toString().equals("")){</a:t>
            </a:r>
            <a:endParaRPr lang="en-US" altLang="zh-CN"/>
          </a:p>
          <a:p>
            <a:r>
              <a:rPr lang="en-US" altLang="zh-CN"/>
              <a:t>                    Toast.makeText(MainActivity.this,"</a:t>
            </a:r>
            <a:r>
              <a:rPr lang="zh-CN" altLang="en-US"/>
              <a:t>请输入用户名和密码！</a:t>
            </a:r>
            <a:r>
              <a:rPr lang="en-US" altLang="zh-CN"/>
              <a:t>",Toast.LENGTH_SHORT).show();</a:t>
            </a:r>
            <a:endParaRPr lang="en-US" altLang="zh-CN"/>
          </a:p>
          <a:p>
            <a:r>
              <a:rPr lang="en-US" altLang="zh-CN"/>
              <a:t>                }</a:t>
            </a:r>
            <a:endParaRPr lang="en-US" altLang="zh-CN"/>
          </a:p>
          <a:p>
            <a:pPr marL="457200" lvl="1" indent="457200"/>
            <a:r>
              <a:rPr lang="en-US" altLang="zh-CN">
                <a:sym typeface="+mn-ea"/>
              </a:rPr>
              <a:t>//</a:t>
            </a:r>
            <a:r>
              <a:rPr lang="zh-CN" altLang="en-US">
                <a:sym typeface="+mn-ea"/>
              </a:rPr>
              <a:t>如果用户名</a:t>
            </a:r>
            <a:r>
              <a:rPr lang="zh-CN">
                <a:sym typeface="+mn-ea"/>
              </a:rPr>
              <a:t>和</a:t>
            </a:r>
            <a:r>
              <a:rPr lang="zh-CN" altLang="en-US">
                <a:sym typeface="+mn-ea"/>
              </a:rPr>
              <a:t>密码输入错误</a:t>
            </a:r>
            <a:r>
              <a:rPr lang="zh-CN">
                <a:sym typeface="+mn-ea"/>
              </a:rPr>
              <a:t>，则弹出提示框显示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用户名或密码错误，请重新输入！</a:t>
            </a:r>
            <a:r>
              <a:rPr lang="en-US" altLang="zh-CN">
                <a:sym typeface="+mn-ea"/>
              </a:rPr>
              <a:t>”</a:t>
            </a:r>
            <a:endParaRPr lang="en-US" altLang="zh-CN"/>
          </a:p>
          <a:p>
            <a:r>
              <a:rPr lang="en-US" altLang="zh-CN"/>
              <a:t>                else {</a:t>
            </a:r>
            <a:endParaRPr lang="en-US" altLang="zh-CN"/>
          </a:p>
          <a:p>
            <a:r>
              <a:rPr lang="en-US" altLang="zh-CN"/>
              <a:t>                    Toast.makeText(MainActivity.this,"</a:t>
            </a:r>
            <a:r>
              <a:rPr lang="zh-CN" altLang="en-US"/>
              <a:t>用户名或密码错误，请重新输入！</a:t>
            </a:r>
            <a:r>
              <a:rPr lang="en-US" altLang="zh-CN"/>
              <a:t>",Toast.LENGTH_SHORT).show();</a:t>
            </a:r>
            <a:endParaRPr lang="en-US" altLang="zh-CN"/>
          </a:p>
          <a:p>
            <a:r>
              <a:rPr lang="en-US" altLang="zh-CN"/>
              <a:t>                }</a:t>
            </a:r>
            <a:endParaRPr lang="en-US" altLang="zh-CN"/>
          </a:p>
          <a:p>
            <a:r>
              <a:rPr lang="en-US" altLang="zh-CN"/>
              <a:t>            }</a:t>
            </a:r>
            <a:endParaRPr lang="en-US" altLang="zh-CN"/>
          </a:p>
          <a:p>
            <a:r>
              <a:rPr lang="en-US" altLang="zh-CN"/>
              <a:t>        });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0" y="0"/>
            <a:ext cx="11762740" cy="64623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）设置监听器；</a:t>
            </a: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42950" lvl="1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setOnClickListener(</a:t>
            </a:r>
            <a:r>
              <a:rPr lang="zh-CN" altLang="en-US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1200150" lvl="2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匿名类的</a:t>
            </a:r>
            <a:r>
              <a:rPr lang="zh-CN" altLang="en-US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使用：</a:t>
            </a: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14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mbtn_login.setOnClickListener(new View.OnClickListener() {</a:t>
            </a:r>
            <a:br>
              <a:rPr lang="zh-CN" altLang="zh-CN" sz="14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</a:br>
            <a:r>
              <a:rPr lang="zh-CN" altLang="zh-CN" sz="14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    @Override</a:t>
            </a:r>
            <a:br>
              <a:rPr lang="zh-CN" altLang="zh-CN" sz="14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</a:br>
            <a:r>
              <a:rPr lang="zh-CN" altLang="zh-CN" sz="14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    public void onClick(View view) {</a:t>
            </a:r>
            <a:br>
              <a:rPr lang="zh-CN" altLang="zh-CN" sz="14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</a:br>
            <a:r>
              <a:rPr lang="zh-CN" altLang="zh-CN" sz="14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       </a:t>
            </a:r>
            <a:r>
              <a:rPr lang="en-US" altLang="zh-CN" sz="14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Intent intent = new Intent(MainActivity.this,SecondActivity.class);</a:t>
            </a:r>
            <a:r>
              <a:rPr lang="en-US" altLang="zh-CN" sz="140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//</a:t>
            </a:r>
            <a:r>
              <a:rPr lang="zh-CN" altLang="en-US" sz="140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设置意图，即从哪个页面到哪个页面</a:t>
            </a:r>
            <a:endParaRPr lang="en-US" altLang="zh-CN" sz="140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JetBrains Mono"/>
              <a:cs typeface="Times New Roman" panose="02020603050405020304" charset="0"/>
              <a:sym typeface="+mn-ea"/>
            </a:endParaRP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4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            startActivity(intent);</a:t>
            </a:r>
            <a:r>
              <a:rPr lang="zh-CN" altLang="zh-CN" sz="14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</a:t>
            </a:r>
            <a:r>
              <a:rPr lang="en-US" altLang="zh-CN" sz="140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//</a:t>
            </a:r>
            <a:r>
              <a:rPr lang="zh-CN" altLang="en-US" sz="140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实现页面的跳转</a:t>
            </a:r>
            <a:r>
              <a:rPr lang="zh-CN" altLang="zh-CN" sz="140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</a:t>
            </a:r>
            <a:r>
              <a:rPr lang="zh-CN" altLang="zh-CN" sz="14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</a:t>
            </a:r>
            <a:endParaRPr lang="zh-CN" altLang="zh-CN" sz="140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JetBrains Mono"/>
              <a:cs typeface="Times New Roman" panose="02020603050405020304" charset="0"/>
              <a:sym typeface="+mn-ea"/>
            </a:endParaRP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14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}</a:t>
            </a:r>
            <a:br>
              <a:rPr lang="zh-CN" altLang="zh-CN" sz="14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</a:br>
            <a:r>
              <a:rPr lang="zh-CN" altLang="zh-CN" sz="14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});</a:t>
            </a:r>
            <a:endParaRPr lang="zh-CN" altLang="en-US" sz="1400" b="1">
              <a:solidFill>
                <a:schemeClr val="tx1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1200150" lvl="2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自定义类的</a:t>
            </a:r>
            <a:r>
              <a:rPr lang="zh-CN" altLang="en-US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657350" lvl="3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zh-CN" altLang="en-US" sz="1600" b="1" smtClean="0">
                <a:ln>
                  <a:noFill/>
                </a:ln>
                <a:solidFill>
                  <a:srgbClr val="1D41D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自定义类（监听器对象）</a:t>
            </a:r>
            <a:endParaRPr lang="en-US" altLang="zh-CN" sz="1600" b="1" smtClean="0">
              <a:ln>
                <a:noFill/>
              </a:ln>
              <a:solidFill>
                <a:srgbClr val="1D41D5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  <a:p>
            <a:pPr lvl="4" indent="0" algn="just" defTabSz="2667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lang="en-US" altLang="zh-CN" sz="140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class click implements View.OnClickListener{</a:t>
            </a:r>
            <a:endParaRPr lang="en-US" altLang="zh-CN" sz="140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JetBrains Mono"/>
              <a:cs typeface="Times New Roman" panose="02020603050405020304" charset="0"/>
              <a:sym typeface="+mn-ea"/>
            </a:endParaRPr>
          </a:p>
          <a:p>
            <a:pPr lvl="4" indent="0" algn="just" defTabSz="2667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lang="en-US" altLang="zh-CN" sz="140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@Override</a:t>
            </a:r>
            <a:endParaRPr lang="en-US" altLang="zh-CN" sz="140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JetBrains Mono"/>
              <a:cs typeface="Times New Roman" panose="02020603050405020304" charset="0"/>
              <a:sym typeface="+mn-ea"/>
            </a:endParaRPr>
          </a:p>
          <a:p>
            <a:pPr lvl="4" indent="0" algn="just" defTabSz="2667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lang="en-US" altLang="zh-CN" sz="140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public void onClick(View view) {</a:t>
            </a:r>
            <a:endParaRPr lang="en-US" altLang="zh-CN" sz="140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JetBrains Mono"/>
              <a:cs typeface="Times New Roman" panose="02020603050405020304" charset="0"/>
              <a:sym typeface="+mn-ea"/>
            </a:endParaRPr>
          </a:p>
          <a:p>
            <a:pPr lvl="4" indent="0" algn="just" defTabSz="2667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lang="en-US" altLang="zh-CN" sz="140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   //Toast.makeText(MainActivity.this,"</a:t>
            </a:r>
            <a:r>
              <a:rPr lang="zh-CN" altLang="en-US" sz="140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用户名或密码错误，请重新输入</a:t>
            </a:r>
            <a:r>
              <a:rPr lang="en-US" altLang="zh-CN" sz="140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",Toast.LENGTH_SHORT).show();</a:t>
            </a:r>
            <a:endParaRPr lang="en-US" altLang="zh-CN" sz="140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JetBrains Mono"/>
              <a:cs typeface="Times New Roman" panose="02020603050405020304" charset="0"/>
              <a:sym typeface="+mn-ea"/>
            </a:endParaRPr>
          </a:p>
          <a:p>
            <a:pPr lvl="4" indent="457200" algn="just" defTabSz="2667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lang="en-US" altLang="zh-CN" sz="140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Intent intent = new Intent(MainActivity.this,</a:t>
            </a:r>
            <a:r>
              <a:rPr lang="en-US" altLang="zh-CN" sz="1400" dirty="0" smtClean="0">
                <a:ln>
                  <a:noFill/>
                </a:ln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Second</a:t>
            </a:r>
            <a:r>
              <a:rPr lang="en-US" altLang="zh-CN" sz="140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Activity.class);</a:t>
            </a:r>
            <a:endParaRPr lang="en-US" altLang="zh-CN" sz="140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JetBrains Mono"/>
              <a:cs typeface="Times New Roman" panose="02020603050405020304" charset="0"/>
              <a:sym typeface="+mn-ea"/>
            </a:endParaRPr>
          </a:p>
          <a:p>
            <a:pPr lvl="4" indent="0" algn="just" defTabSz="2667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lang="en-US" altLang="zh-CN" sz="140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            startActivity(intent);</a:t>
            </a:r>
            <a:endParaRPr lang="en-US" altLang="zh-CN" sz="140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JetBrains Mono"/>
              <a:cs typeface="Times New Roman" panose="02020603050405020304" charset="0"/>
              <a:sym typeface="+mn-ea"/>
            </a:endParaRPr>
          </a:p>
          <a:p>
            <a:pPr lvl="4" indent="0" algn="just" defTabSz="2667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lang="en-US" altLang="zh-CN" sz="140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    }</a:t>
            </a:r>
            <a:endParaRPr lang="en-US" altLang="zh-CN" sz="140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JetBrains Mono"/>
              <a:cs typeface="Times New Roman" panose="02020603050405020304" charset="0"/>
              <a:sym typeface="+mn-ea"/>
            </a:endParaRPr>
          </a:p>
          <a:p>
            <a:pPr lvl="4" indent="0" algn="just" defTabSz="2667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lang="en-US" altLang="zh-CN" sz="140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    }</a:t>
            </a:r>
            <a:endParaRPr lang="en-US" altLang="zh-CN" sz="140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JetBrains Mono"/>
              <a:cs typeface="Times New Roman" panose="02020603050405020304" charset="0"/>
              <a:sym typeface="+mn-ea"/>
            </a:endParaRPr>
          </a:p>
          <a:p>
            <a:pPr marL="1657350" lvl="3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zh-CN" altLang="en-US" sz="1600" b="1" smtClean="0">
                <a:ln>
                  <a:noFill/>
                </a:ln>
                <a:solidFill>
                  <a:srgbClr val="1D41D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在onCreat()</a:t>
            </a:r>
            <a:r>
              <a:rPr lang="zh-CN" altLang="en-US" sz="1600" b="1" smtClean="0">
                <a:ln>
                  <a:noFill/>
                </a:ln>
                <a:solidFill>
                  <a:srgbClr val="1D41D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方法中调用自定义的</a:t>
            </a:r>
            <a:r>
              <a:rPr lang="zh-CN" altLang="en-US" sz="1600" b="1" smtClean="0">
                <a:ln>
                  <a:noFill/>
                </a:ln>
                <a:solidFill>
                  <a:srgbClr val="1D41D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click对象：</a:t>
            </a:r>
            <a:endParaRPr lang="zh-CN" altLang="zh-CN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JetBrains Mono"/>
              <a:cs typeface="Times New Roman" panose="02020603050405020304" charset="0"/>
              <a:sym typeface="+mn-ea"/>
            </a:endParaRPr>
          </a:p>
          <a:p>
            <a:pPr marL="1371600" lvl="3" indent="4572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lang="zh-CN" altLang="zh-CN" sz="140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JetBrains Mono"/>
                <a:cs typeface="Times New Roman" panose="02020603050405020304" charset="0"/>
                <a:sym typeface="+mn-ea"/>
              </a:rPr>
              <a:t>btn1.setOnClickListener(new Click());</a:t>
            </a:r>
            <a:endParaRPr lang="zh-CN" altLang="en-US" sz="1400" b="1">
              <a:solidFill>
                <a:schemeClr val="tx1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lvl="1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endParaRPr lang="en-US" altLang="zh-CN" b="1">
              <a:solidFill>
                <a:srgbClr val="00206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/>
        </p:nvSpPr>
        <p:spPr>
          <a:xfrm>
            <a:off x="42545" y="-220845"/>
            <a:ext cx="11697335" cy="829945"/>
          </a:xfrm>
          <a:prstGeom prst="rect">
            <a:avLst/>
          </a:prstGeom>
        </p:spPr>
        <p:txBody>
          <a:bodyPr wrap="square" rtlCol="0" anchor="t">
            <a:spAutoFit/>
          </a:bodyPr>
          <a:p>
            <a:pPr indent="0">
              <a:lnSpc>
                <a:spcPct val="200000"/>
              </a:lnSpc>
              <a:buFont typeface="Wingdings" panose="05000000000000000000" charset="0"/>
              <a:buNone/>
            </a:pPr>
            <a:r>
              <a:rPr lang="en-US" altLang="zh-CN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 Customize view</a:t>
            </a:r>
            <a:endParaRPr lang="en-US" altLang="zh-CN" sz="24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226695" y="58991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自定义随鼠标或者触摸移动的小兔子图像</a:t>
            </a:r>
            <a:r>
              <a:rPr lang="zh-CN" altLang="en-US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视图</a:t>
            </a:r>
            <a:endParaRPr lang="zh-CN" altLang="en-US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 descr="Screenshot_17400177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085" y="1044575"/>
            <a:ext cx="3055620" cy="5433060"/>
          </a:xfrm>
          <a:prstGeom prst="rect">
            <a:avLst/>
          </a:prstGeom>
        </p:spPr>
      </p:pic>
      <p:pic>
        <p:nvPicPr>
          <p:cNvPr id="3" name="图片 2" descr="Screenshot_17400177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8145" y="1044575"/>
            <a:ext cx="3055620" cy="5433060"/>
          </a:xfrm>
          <a:prstGeom prst="rect">
            <a:avLst/>
          </a:prstGeom>
        </p:spPr>
      </p:pic>
      <p:pic>
        <p:nvPicPr>
          <p:cNvPr id="4" name="图片 3" descr="Screenshot_17400177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2205" y="1044575"/>
            <a:ext cx="3055620" cy="543306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15900" y="626110"/>
            <a:ext cx="9994265" cy="504190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20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步骤：</a:t>
            </a:r>
            <a:endParaRPr lang="zh-CN" altLang="en-US" b="1">
              <a:solidFill>
                <a:srgbClr val="0020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）创建小兔子视图</a:t>
            </a: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class</a:t>
            </a:r>
            <a:r>
              <a:rPr lang="zh-CN" altLang="en-US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对象；</a:t>
            </a: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42950" lvl="1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onDraw()</a:t>
            </a: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200150" lvl="2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BitmapFactory.decodeResource</a:t>
            </a:r>
            <a:r>
              <a:rPr lang="en-US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</a:t>
            </a:r>
            <a:endParaRPr 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2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（</a:t>
            </a:r>
            <a:r>
              <a:rPr lang="zh-CN" altLang="en-US" b="1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将</a:t>
            </a:r>
            <a:r>
              <a:rPr lang="en-US" altLang="zh-CN" b="1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JPG/PNG</a:t>
            </a:r>
            <a:r>
              <a:rPr lang="zh-CN" altLang="en-US" b="1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等格式的图片转成</a:t>
            </a:r>
            <a:r>
              <a:rPr lang="en-US" altLang="zh-CN" b="1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Bitmap</a:t>
            </a:r>
            <a:r>
              <a:rPr lang="zh-CN" altLang="en-US" b="1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位图</a:t>
            </a:r>
            <a:r>
              <a:rPr lang="zh-CN" altLang="en-US" b="1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）</a:t>
            </a:r>
            <a:endParaRPr lang="zh-CN" altLang="en-US" b="1">
              <a:solidFill>
                <a:srgbClr val="00206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marL="1200150" lvl="2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canvas.drawBitmap()</a:t>
            </a:r>
            <a:endParaRPr lang="en-US" altLang="zh-CN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2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（将小兔子的</a:t>
            </a:r>
            <a:r>
              <a:rPr lang="en-US" altLang="zh-CN" b="1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Bitmap</a:t>
            </a:r>
            <a:r>
              <a:rPr lang="zh-CN" altLang="en-US" b="1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位图</a:t>
            </a:r>
            <a:r>
              <a:rPr lang="zh-CN" altLang="en-US" b="1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画在</a:t>
            </a:r>
            <a:r>
              <a:rPr lang="zh-CN" altLang="en-US" b="1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小兔子视图对象中）</a:t>
            </a:r>
            <a:endParaRPr lang="en-US" altLang="zh-CN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）将创建的小兔子视图对象添加在界面的布局中，并设置跟随鼠标或手指</a:t>
            </a:r>
            <a:r>
              <a:rPr lang="zh-CN" altLang="en-US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移动；</a:t>
            </a: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42950" lvl="1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setOnTouchListener(</a:t>
            </a:r>
            <a:r>
              <a:rPr lang="zh-CN" altLang="en-US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lang="zh-CN" altLang="en-US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lang="en-US" altLang="zh-CN" b="1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（设置触摸监听器）</a:t>
            </a:r>
            <a:endParaRPr lang="en-US" altLang="zh-CN" b="1">
              <a:solidFill>
                <a:srgbClr val="00206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742950" lvl="1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lang="en-US" altLang="zh-CN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addView();</a:t>
            </a:r>
            <a:endParaRPr lang="en-US" altLang="zh-CN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algn="just" defTabSz="266700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en-US" altLang="zh-CN" b="1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（将自定义的小兔子视图添加在界面的布局中）</a:t>
            </a:r>
            <a:endParaRPr lang="en-US" altLang="zh-CN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0" y="22733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2000" b="1">
                <a:solidFill>
                  <a:srgbClr val="1D41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自定义随鼠标或者触摸移动的小兔子图像视图</a:t>
            </a:r>
            <a:endParaRPr lang="zh-CN" altLang="en-US" sz="2000" b="1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81965" y="5738495"/>
            <a:ext cx="58286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600" b="1">
                <a:solidFill>
                  <a:srgbClr val="0020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备注：参考代码见群文件：跟随手指移动的小兔子</a:t>
            </a:r>
            <a:endParaRPr lang="zh-CN" altLang="en-US" sz="1600" b="1">
              <a:solidFill>
                <a:srgbClr val="00206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-48125"/>
            <a:ext cx="11697335" cy="1814830"/>
          </a:xfrm>
          <a:prstGeom prst="rect">
            <a:avLst/>
          </a:prstGeom>
        </p:spPr>
        <p:txBody>
          <a:bodyPr wrap="square" rtlCol="0" anchor="t">
            <a:spAutoFit/>
          </a:bodyPr>
          <a:p>
            <a:pPr>
              <a:lnSpc>
                <a:spcPct val="200000"/>
              </a:lnSpc>
            </a:pPr>
            <a:r>
              <a:rPr lang="en-US" altLang="zh-CN" sz="28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4.</a:t>
            </a:r>
            <a:r>
              <a:rPr lang="zh-CN" altLang="en-US" sz="28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作业</a:t>
            </a:r>
            <a:r>
              <a:rPr lang="en-US" altLang="zh-CN" sz="28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28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：计算器</a:t>
            </a:r>
            <a:r>
              <a:rPr lang="en-US" altLang="zh-CN" sz="28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APP</a:t>
            </a:r>
            <a:r>
              <a:rPr lang="zh-CN" altLang="en-US" sz="28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界面设计</a:t>
            </a:r>
            <a:endParaRPr lang="zh-CN" altLang="en-US" sz="2800" b="1" smtClean="0">
              <a:solidFill>
                <a:srgbClr val="1D41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en-US" altLang="zh-CN" sz="28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16535" y="1167765"/>
            <a:ext cx="631507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 b="1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要求：</a:t>
            </a:r>
            <a:endParaRPr lang="zh-CN" altLang="en-US" sz="2000" b="1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）制作如左图所示计算器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APP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界面；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）要求使用圆形按钮，并且按钮需具有按压效果。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rcRect t="4279" b="4616"/>
          <a:stretch>
            <a:fillRect/>
          </a:stretch>
        </p:blipFill>
        <p:spPr>
          <a:xfrm>
            <a:off x="6788150" y="282575"/>
            <a:ext cx="2879725" cy="5664200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  <p:tag name="KSO_WM_UNIT_PLACING_PICTURE_USER_VIEWPORT" val="{&quot;height&quot;:12045,&quot;width&quot;:5955}"/>
</p:tagLst>
</file>

<file path=ppt/tags/tag2.xml><?xml version="1.0" encoding="utf-8"?>
<p:tagLst xmlns:p="http://schemas.openxmlformats.org/presentationml/2006/main">
  <p:tag name="KSO_WM_DOC_GUID" val="{c49fec33-5181-4194-ae76-3299644534d4}"/>
  <p:tag name="COMMONDATA" val="eyJoZGlkIjoiZWIyNzc2MjMzNzRkNWUyZGE3ZDc5M2U5NWFlODgxYWQ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headEnd type="none" w="med" len="med"/>
          <a:tailEnd type="none" w="med" len="med"/>
        </a:ln>
      </a:spPr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11954</Words>
  <Application>WPS 演示</Application>
  <PresentationFormat>宽屏</PresentationFormat>
  <Paragraphs>554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40" baseType="lpstr">
      <vt:lpstr>Arial</vt:lpstr>
      <vt:lpstr>宋体</vt:lpstr>
      <vt:lpstr>Wingdings</vt:lpstr>
      <vt:lpstr>微软雅黑</vt:lpstr>
      <vt:lpstr>Wingdings</vt:lpstr>
      <vt:lpstr>Times New Roman</vt:lpstr>
      <vt:lpstr>JetBrains Mono</vt:lpstr>
      <vt:lpstr>ksdb</vt:lpstr>
      <vt:lpstr>Calibri</vt:lpstr>
      <vt:lpstr>Arial Unicode MS</vt:lpstr>
      <vt:lpstr>等线 Light</vt:lpstr>
      <vt:lpstr>Calibri Light</vt:lpstr>
      <vt:lpstr>等线</vt:lpstr>
      <vt:lpstr>楷体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南方科技大学创新创业学院  专业学位硕士培养方案设计</dc:title>
  <dc:creator>JY ZHONG</dc:creator>
  <cp:lastModifiedBy>徐琳琳</cp:lastModifiedBy>
  <cp:revision>1580</cp:revision>
  <cp:lastPrinted>2016-10-12T12:24:00Z</cp:lastPrinted>
  <dcterms:created xsi:type="dcterms:W3CDTF">2016-10-12T00:59:00Z</dcterms:created>
  <dcterms:modified xsi:type="dcterms:W3CDTF">2025-03-10T05:13:54Z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KSORubyTemplateID">
    <vt:lpwstr>2</vt:lpwstr>
  </property>
  <property fmtid="{D5CDD505-2E9C-101B-9397-08002B2CF9AE}" pid="4" name="ICV">
    <vt:lpwstr>05637E98682F4F318D6A72E9898FA781</vt:lpwstr>
  </property>
</Properties>
</file>