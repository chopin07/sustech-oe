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68" r:id="rId5"/>
    <p:sldId id="295" r:id="rId6"/>
    <p:sldId id="297" r:id="rId7"/>
    <p:sldId id="298" r:id="rId8"/>
    <p:sldId id="299" r:id="rId9"/>
    <p:sldId id="296" r:id="rId10"/>
    <p:sldId id="272" r:id="rId11"/>
    <p:sldId id="312" r:id="rId12"/>
    <p:sldId id="323" r:id="rId13"/>
    <p:sldId id="283" r:id="rId14"/>
    <p:sldId id="285" r:id="rId15"/>
    <p:sldId id="286" r:id="rId16"/>
    <p:sldId id="284" r:id="rId17"/>
    <p:sldId id="291" r:id="rId18"/>
    <p:sldId id="292" r:id="rId19"/>
    <p:sldId id="289" r:id="rId20"/>
    <p:sldId id="290" r:id="rId21"/>
    <p:sldId id="293" r:id="rId22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40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c" initials="y" lastIdx="2" clrIdx="0"/>
  <p:cmAuthor id="2" name="XIA" initials="X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452E"/>
    <a:srgbClr val="1D41D5"/>
    <a:srgbClr val="F6FC14"/>
    <a:srgbClr val="0B004C"/>
    <a:srgbClr val="0070C0"/>
    <a:srgbClr val="FFF2CC"/>
    <a:srgbClr val="595959"/>
    <a:srgbClr val="67CDCB"/>
    <a:srgbClr val="01ABA8"/>
    <a:srgbClr val="EA8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8" autoAdjust="0"/>
    <p:restoredTop sz="94256" autoAdjust="0"/>
  </p:normalViewPr>
  <p:slideViewPr>
    <p:cSldViewPr snapToGrid="0" showGuides="1">
      <p:cViewPr varScale="1">
        <p:scale>
          <a:sx n="72" d="100"/>
          <a:sy n="72" d="100"/>
        </p:scale>
        <p:origin x="198" y="72"/>
      </p:cViewPr>
      <p:guideLst>
        <p:guide orient="horz" pos="2157"/>
        <p:guide pos="40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F7419-B139-4427-A8AF-48A8D33B2C96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F4A84-F90C-4381-9912-31B4B2D759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F845-9C43-41EA-848A-085CEC62B12B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140000"/>
            <a:ext cx="12192000" cy="16992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3192" y="241288"/>
            <a:ext cx="3151216" cy="82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197751"/>
            <a:ext cx="12192000" cy="6696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1" y="6195877"/>
            <a:ext cx="5414401" cy="671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69413"/>
            <a:ext cx="2743200" cy="365125"/>
          </a:xfrm>
        </p:spPr>
        <p:txBody>
          <a:bodyPr/>
          <a:lstStyle/>
          <a:p>
            <a:fld id="{DEB1C5B7-BC1F-4065-A5D7-DA8F8214EA2F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69413"/>
            <a:ext cx="4114800" cy="365125"/>
          </a:xfrm>
        </p:spPr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58400" y="6349051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50"/>
          <a:stretch>
            <a:fillRect/>
          </a:stretch>
        </p:blipFill>
        <p:spPr>
          <a:xfrm>
            <a:off x="9828246" y="0"/>
            <a:ext cx="2190500" cy="66675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7481-A774-4724-849E-6E81EDC652A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BF-3E4C-4146-9A61-54A52684E1B3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C7FF-0BFB-4AA2-92D2-2B1FF18669C0}" type="datetime1">
              <a:rPr lang="en-US" altLang="zh-CN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4083-3F2C-4AB5-B4CA-2B8A80500855}" type="datetime1">
              <a:rPr lang="en-US" altLang="zh-CN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F993-1184-4565-9BBD-6CDFBE40BA1C}" type="datetime1">
              <a:rPr lang="en-US" altLang="zh-CN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CBBC-AF3B-49C7-8B59-C2D5C89BA0A8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9E42-252D-4A44-AF96-4E2E517B733F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A0BA-84A2-4F21-B82C-4495AF932D28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67B1-5420-4364-99DA-4879E83A61E0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9504A3BC-8BDC-4808-9BA4-E05E0555E2CA}" type="datetimeFigureOut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defRPr/>
            </a:pPr>
            <a:fld id="{5861710D-C170-4F52-9ABA-DCE21D7BB8DF}" type="slidenum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BD13E-4157-4F7F-8CB4-F724A15D710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8830" y="1379220"/>
            <a:ext cx="102184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mobile </a:t>
            </a:r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development</a:t>
            </a:r>
            <a:endParaRPr lang="en-US" altLang="zh-CN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4825" y="3279140"/>
            <a:ext cx="318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/>
              <a:t>Teacher: Dr. XU Linlin</a:t>
            </a:r>
            <a:endParaRPr lang="en-US" altLang="zh-CN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7480" y="107370"/>
            <a:ext cx="34886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2215" y="1857676"/>
            <a:ext cx="344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4164" y="788090"/>
            <a:ext cx="11583035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Introduction to Android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tudio layout and components.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Customize resources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Customize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view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：计算器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界面设计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0205" y="885190"/>
            <a:ext cx="89230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Android Studio Layout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6090" y="1345565"/>
            <a:ext cx="11997055" cy="438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commonly 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）Relative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zh-CN" altLang="en-US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</a:t>
            </a:r>
            <a:r>
              <a:rPr lang="en-US" altLang="zh-CN" i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ly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layout_centerHrizontal, layout_centerInparent, layout_alignParentBottom ... 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layout_below, layout_above, layout_toLeftOf, layout_alignTop...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III: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layout_marginBottom, layout_marginLeft...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）Grid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sometime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rowCount,columnCount,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Introduction to Android Studio layout and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72390" y="3683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909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2682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1455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61290" y="2798445"/>
            <a:ext cx="2682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视图自左往右水平排列（默认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的）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61620" y="645795"/>
            <a:ext cx="2693670" cy="21380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4225" y="589915"/>
            <a:ext cx="2659540" cy="46800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84525" y="5376545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536690" y="589915"/>
            <a:ext cx="5314950" cy="544639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200"/>
              <a:t>&lt;?xml version="1.0" encoding="utf-8"?&gt;</a:t>
            </a:r>
            <a:endParaRPr lang="en-US" altLang="zh-CN" sz="1200"/>
          </a:p>
          <a:p>
            <a:r>
              <a:rPr lang="en-US" altLang="zh-CN" sz="1200"/>
              <a:t>&lt;LinearLayout xmlns:android="http://schemas.android.com/apk/res/android"</a:t>
            </a:r>
            <a:endParaRPr lang="en-US" altLang="zh-CN" sz="1200"/>
          </a:p>
          <a:p>
            <a:r>
              <a:rPr lang="en-US" altLang="zh-CN" sz="1200"/>
              <a:t>    xmlns:app="http://schemas.android.com/apk/res-auto"</a:t>
            </a:r>
            <a:endParaRPr lang="en-US" altLang="zh-CN" sz="1200"/>
          </a:p>
          <a:p>
            <a:r>
              <a:rPr lang="en-US" altLang="zh-CN" sz="1200"/>
              <a:t>    xmlns:tools="http://schemas.android.com/tools"</a:t>
            </a:r>
            <a:endParaRPr lang="en-US" altLang="zh-CN" sz="1200"/>
          </a:p>
          <a:p>
            <a:r>
              <a:rPr lang="en-US" altLang="zh-CN" sz="1200"/>
              <a:t>    android:layout_width="match_parent"</a:t>
            </a:r>
            <a:endParaRPr lang="en-US" altLang="zh-CN" sz="1200"/>
          </a:p>
          <a:p>
            <a:r>
              <a:rPr lang="en-US" altLang="zh-CN" sz="1200"/>
              <a:t>    android:layout_height="match_parent"</a:t>
            </a:r>
            <a:endParaRPr lang="en-US" altLang="zh-CN" sz="1200"/>
          </a:p>
          <a:p>
            <a:r>
              <a:rPr lang="en-US" altLang="zh-CN" sz="1200"/>
              <a:t>    tools:context=".MainActivity"</a:t>
            </a:r>
            <a:endParaRPr lang="en-US" altLang="zh-CN" sz="1200"/>
          </a:p>
          <a:p>
            <a:r>
              <a:rPr lang="en-US" altLang="zh-CN" sz="1200"/>
              <a:t>    android:background="#ffa"</a:t>
            </a:r>
            <a:endParaRPr lang="en-US" altLang="zh-CN" sz="1200"/>
          </a:p>
          <a:p>
            <a:r>
              <a:rPr lang="en-US" altLang="zh-CN" sz="1200"/>
              <a:t>    &gt;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&lt;TextView</a:t>
            </a:r>
            <a:endParaRPr lang="en-US" altLang="zh-CN" sz="1200"/>
          </a:p>
          <a:p>
            <a:r>
              <a:rPr lang="en-US" altLang="zh-CN" sz="1200"/>
              <a:t>        android:layout_width="wrap_content"</a:t>
            </a:r>
            <a:endParaRPr lang="en-US" altLang="zh-CN" sz="1200"/>
          </a:p>
          <a:p>
            <a:r>
              <a:rPr lang="en-US" altLang="zh-CN" sz="1200"/>
              <a:t>        android:layout_height="wrap_content"</a:t>
            </a:r>
            <a:endParaRPr lang="en-US" altLang="zh-CN" sz="1200"/>
          </a:p>
          <a:p>
            <a:r>
              <a:rPr lang="en-US" altLang="zh-CN" sz="1200"/>
              <a:t>        android:text="</a:t>
            </a:r>
            <a:r>
              <a:rPr lang="zh-CN" altLang="en-US" sz="1200"/>
              <a:t>课程</a:t>
            </a:r>
            <a:r>
              <a:rPr lang="en-US" altLang="zh-CN" sz="1200"/>
              <a:t>1"</a:t>
            </a:r>
            <a:endParaRPr lang="en-US" altLang="zh-CN" sz="1200"/>
          </a:p>
          <a:p>
            <a:r>
              <a:rPr lang="en-US" altLang="zh-CN" sz="1200"/>
              <a:t>        android:textColor="#E1107C"</a:t>
            </a:r>
            <a:endParaRPr lang="en-US" altLang="zh-CN" sz="1200"/>
          </a:p>
          <a:p>
            <a:r>
              <a:rPr lang="en-US" altLang="zh-CN" sz="1200"/>
              <a:t>        android:textSize="30sp"</a:t>
            </a:r>
            <a:endParaRPr lang="en-US" altLang="zh-CN" sz="1200"/>
          </a:p>
          <a:p>
            <a:r>
              <a:rPr lang="en-US" altLang="zh-CN" sz="1200"/>
              <a:t>        android:background="#67EA2C"</a:t>
            </a:r>
            <a:endParaRPr lang="en-US" altLang="zh-CN" sz="1200"/>
          </a:p>
          <a:p>
            <a:r>
              <a:rPr lang="en-US" altLang="zh-CN" sz="1200"/>
              <a:t>        /&gt;</a:t>
            </a:r>
            <a:endParaRPr lang="en-US" altLang="zh-CN" sz="1200"/>
          </a:p>
          <a:p>
            <a:r>
              <a:rPr lang="en-US" altLang="zh-CN" sz="1200"/>
              <a:t>    &lt;TextView</a:t>
            </a:r>
            <a:endParaRPr lang="en-US" altLang="zh-CN" sz="1200"/>
          </a:p>
          <a:p>
            <a:r>
              <a:rPr lang="en-US" altLang="zh-CN" sz="1200"/>
              <a:t>        android:layout_width="wrap_content"</a:t>
            </a:r>
            <a:endParaRPr lang="en-US" altLang="zh-CN" sz="1200"/>
          </a:p>
          <a:p>
            <a:r>
              <a:rPr lang="en-US" altLang="zh-CN" sz="1200"/>
              <a:t>        android:layout_height="wrap_content"</a:t>
            </a:r>
            <a:endParaRPr lang="en-US" altLang="zh-CN" sz="1200"/>
          </a:p>
          <a:p>
            <a:r>
              <a:rPr lang="en-US" altLang="zh-CN" sz="1200"/>
              <a:t>        android:text="</a:t>
            </a:r>
            <a:r>
              <a:rPr lang="zh-CN" altLang="en-US" sz="1200"/>
              <a:t>课程</a:t>
            </a:r>
            <a:r>
              <a:rPr lang="en-US" altLang="zh-CN" sz="1200"/>
              <a:t>2"</a:t>
            </a:r>
            <a:endParaRPr lang="en-US" altLang="zh-CN" sz="1200"/>
          </a:p>
          <a:p>
            <a:r>
              <a:rPr lang="en-US" altLang="zh-CN" sz="1200"/>
              <a:t>        android:textColor="#E1107C"</a:t>
            </a:r>
            <a:endParaRPr lang="en-US" altLang="zh-CN" sz="1200"/>
          </a:p>
          <a:p>
            <a:r>
              <a:rPr lang="en-US" altLang="zh-CN" sz="1200"/>
              <a:t>        android:textSize="30sp"</a:t>
            </a:r>
            <a:endParaRPr lang="en-US" altLang="zh-CN" sz="1200"/>
          </a:p>
          <a:p>
            <a:r>
              <a:rPr lang="en-US" altLang="zh-CN" sz="1200"/>
              <a:t>        android:background="#67EA2C"</a:t>
            </a:r>
            <a:endParaRPr lang="en-US" altLang="zh-CN" sz="1200"/>
          </a:p>
          <a:p>
            <a:r>
              <a:rPr lang="en-US" altLang="zh-CN" sz="1200"/>
              <a:t>        android:layout_marginLeft="10dp"</a:t>
            </a:r>
            <a:endParaRPr lang="en-US" altLang="zh-CN" sz="1200"/>
          </a:p>
          <a:p>
            <a:r>
              <a:rPr lang="en-US" altLang="zh-CN" sz="1200"/>
              <a:t>        /&gt;</a:t>
            </a:r>
            <a:endParaRPr lang="en-US" altLang="zh-CN" sz="1200"/>
          </a:p>
          <a:p>
            <a:r>
              <a:rPr lang="en-US" altLang="zh-CN" sz="1200"/>
              <a:t>         ...</a:t>
            </a:r>
            <a:endParaRPr lang="en-US" altLang="zh-CN" sz="1200"/>
          </a:p>
          <a:p>
            <a:r>
              <a:rPr lang="en-US" altLang="zh-CN" sz="1200"/>
              <a:t>&lt;/LinearLayout&gt;</a:t>
            </a:r>
            <a:endParaRPr lang="en-US" altLang="zh-CN" sz="12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72390" y="3683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3740" y="838200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3740" y="1315085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3740" y="1791970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3740" y="2268855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17830" y="2827020"/>
            <a:ext cx="2149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视图自上往下垂直排列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785" y="645795"/>
            <a:ext cx="2693670" cy="20999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2630" y="433070"/>
            <a:ext cx="2626628" cy="46800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14675" y="5113020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165" y="259080"/>
            <a:ext cx="5939790" cy="633920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400"/>
              <a:t>&lt;?xml version="1.0" encoding="utf-8"?&gt;</a:t>
            </a:r>
            <a:endParaRPr lang="en-US" altLang="zh-CN" sz="1400"/>
          </a:p>
          <a:p>
            <a:r>
              <a:rPr lang="en-US" altLang="zh-CN" sz="1400"/>
              <a:t>&lt;LinearLayout xmlns:android="http://schemas.android.com/apk/res/android"</a:t>
            </a:r>
            <a:endParaRPr lang="en-US" altLang="zh-CN" sz="1400"/>
          </a:p>
          <a:p>
            <a:r>
              <a:rPr lang="en-US" altLang="zh-CN" sz="1400"/>
              <a:t>    xmlns:app="http://schemas.android.com/apk/res-auto"</a:t>
            </a:r>
            <a:endParaRPr lang="en-US" altLang="zh-CN" sz="1400"/>
          </a:p>
          <a:p>
            <a:r>
              <a:rPr lang="en-US" altLang="zh-CN" sz="1400"/>
              <a:t>    xmlns:tools="http://schemas.android.com/tools"</a:t>
            </a:r>
            <a:endParaRPr lang="en-US" altLang="zh-CN" sz="1400"/>
          </a:p>
          <a:p>
            <a:r>
              <a:rPr lang="en-US" altLang="zh-CN" sz="1400"/>
              <a:t>    android:layout_width="match_parent"</a:t>
            </a:r>
            <a:endParaRPr lang="en-US" altLang="zh-CN" sz="1400"/>
          </a:p>
          <a:p>
            <a:r>
              <a:rPr lang="en-US" altLang="zh-CN" sz="1400"/>
              <a:t>    android:layout_height="match_parent"</a:t>
            </a:r>
            <a:endParaRPr lang="en-US" altLang="zh-CN" sz="1400"/>
          </a:p>
          <a:p>
            <a:r>
              <a:rPr lang="en-US" altLang="zh-CN" sz="1400"/>
              <a:t>    tools:context=".MainActivity"</a:t>
            </a:r>
            <a:endParaRPr lang="en-US" altLang="zh-CN" sz="1400"/>
          </a:p>
          <a:p>
            <a:r>
              <a:rPr lang="en-US" altLang="zh-CN" sz="1400"/>
              <a:t>    android:background="#ffa"</a:t>
            </a:r>
            <a:endParaRPr lang="en-US" altLang="zh-CN" sz="1400"/>
          </a:p>
          <a:p>
            <a:r>
              <a:rPr lang="en-US" altLang="zh-CN" sz="1400"/>
              <a:t>    android:orientation="vertical"</a:t>
            </a:r>
            <a:endParaRPr lang="en-US" altLang="zh-CN" sz="1400"/>
          </a:p>
          <a:p>
            <a:r>
              <a:rPr lang="en-US" altLang="zh-CN" sz="1400"/>
              <a:t>    &gt;</a:t>
            </a:r>
            <a:endParaRPr lang="en-US" altLang="zh-CN" sz="1400"/>
          </a:p>
          <a:p>
            <a:r>
              <a:rPr lang="en-US" altLang="zh-CN" sz="1400"/>
              <a:t>    &lt;TextView</a:t>
            </a:r>
            <a:endParaRPr lang="en-US" altLang="zh-CN" sz="1400"/>
          </a:p>
          <a:p>
            <a:r>
              <a:rPr lang="en-US" altLang="zh-CN" sz="1400"/>
              <a:t>        android:layout_width="wrap_content"</a:t>
            </a:r>
            <a:endParaRPr lang="en-US" altLang="zh-CN" sz="1400"/>
          </a:p>
          <a:p>
            <a:r>
              <a:rPr lang="en-US" altLang="zh-CN" sz="1400"/>
              <a:t>        android:layout_height="wrap_content"</a:t>
            </a:r>
            <a:endParaRPr lang="en-US" altLang="zh-CN" sz="1400"/>
          </a:p>
          <a:p>
            <a:r>
              <a:rPr lang="en-US" altLang="zh-CN" sz="1400"/>
              <a:t>        android:text="</a:t>
            </a:r>
            <a:r>
              <a:rPr lang="zh-CN" altLang="en-US" sz="1400"/>
              <a:t>课程</a:t>
            </a:r>
            <a:r>
              <a:rPr lang="en-US" altLang="zh-CN" sz="1400"/>
              <a:t>1"</a:t>
            </a:r>
            <a:endParaRPr lang="en-US" altLang="zh-CN" sz="1400"/>
          </a:p>
          <a:p>
            <a:r>
              <a:rPr lang="en-US" altLang="zh-CN" sz="1400"/>
              <a:t>        android:textColor="#E1107C"</a:t>
            </a:r>
            <a:endParaRPr lang="en-US" altLang="zh-CN" sz="1400"/>
          </a:p>
          <a:p>
            <a:r>
              <a:rPr lang="en-US" altLang="zh-CN" sz="1400"/>
              <a:t>        android:textSize="30sp"</a:t>
            </a:r>
            <a:endParaRPr lang="en-US" altLang="zh-CN" sz="1400"/>
          </a:p>
          <a:p>
            <a:r>
              <a:rPr lang="en-US" altLang="zh-CN" sz="1400"/>
              <a:t>        android:background="#67EA2C"</a:t>
            </a:r>
            <a:endParaRPr lang="en-US" altLang="zh-CN" sz="1400"/>
          </a:p>
          <a:p>
            <a:r>
              <a:rPr lang="en-US" altLang="zh-CN" sz="1400"/>
              <a:t>        /&gt;</a:t>
            </a:r>
            <a:endParaRPr lang="en-US" altLang="zh-CN" sz="1400"/>
          </a:p>
          <a:p>
            <a:r>
              <a:rPr lang="en-US" altLang="zh-CN" sz="1400"/>
              <a:t>    &lt;TextView</a:t>
            </a:r>
            <a:endParaRPr lang="en-US" altLang="zh-CN" sz="1400"/>
          </a:p>
          <a:p>
            <a:r>
              <a:rPr lang="en-US" altLang="zh-CN" sz="1400"/>
              <a:t>        android:layout_width="wrap_content"</a:t>
            </a:r>
            <a:endParaRPr lang="en-US" altLang="zh-CN" sz="1400"/>
          </a:p>
          <a:p>
            <a:r>
              <a:rPr lang="en-US" altLang="zh-CN" sz="1400"/>
              <a:t>        android:layout_height="wrap_content"</a:t>
            </a:r>
            <a:endParaRPr lang="en-US" altLang="zh-CN" sz="1400"/>
          </a:p>
          <a:p>
            <a:r>
              <a:rPr lang="en-US" altLang="zh-CN" sz="1400"/>
              <a:t>        android:text="</a:t>
            </a:r>
            <a:r>
              <a:rPr lang="zh-CN" altLang="en-US" sz="1400"/>
              <a:t>课程</a:t>
            </a:r>
            <a:r>
              <a:rPr lang="en-US" altLang="zh-CN" sz="1400"/>
              <a:t>2"</a:t>
            </a:r>
            <a:endParaRPr lang="en-US" altLang="zh-CN" sz="1400"/>
          </a:p>
          <a:p>
            <a:r>
              <a:rPr lang="en-US" altLang="zh-CN" sz="1400"/>
              <a:t>        android:textColor="#E1107C"</a:t>
            </a:r>
            <a:endParaRPr lang="en-US" altLang="zh-CN" sz="1400"/>
          </a:p>
          <a:p>
            <a:r>
              <a:rPr lang="en-US" altLang="zh-CN" sz="1400"/>
              <a:t>        android:textSize="30sp"</a:t>
            </a:r>
            <a:endParaRPr lang="en-US" altLang="zh-CN" sz="1400"/>
          </a:p>
          <a:p>
            <a:r>
              <a:rPr lang="en-US" altLang="zh-CN" sz="1400"/>
              <a:t>        android:background="#67EA2C"</a:t>
            </a:r>
            <a:endParaRPr lang="en-US" altLang="zh-CN" sz="1400"/>
          </a:p>
          <a:p>
            <a:r>
              <a:rPr lang="en-US" altLang="zh-CN" sz="1400"/>
              <a:t>        android:layout_marginTop="10dp"</a:t>
            </a:r>
            <a:endParaRPr lang="en-US" altLang="zh-CN" sz="1400"/>
          </a:p>
          <a:p>
            <a:r>
              <a:rPr lang="en-US" altLang="zh-CN" sz="1400"/>
              <a:t>        /&gt;  </a:t>
            </a:r>
            <a:endParaRPr lang="en-US" altLang="zh-CN" sz="1400"/>
          </a:p>
          <a:p>
            <a:pPr indent="457200"/>
            <a:r>
              <a:rPr lang="en-US" altLang="zh-CN" sz="1400"/>
              <a:t>...</a:t>
            </a:r>
            <a:endParaRPr lang="en-US" altLang="zh-CN" sz="1400"/>
          </a:p>
          <a:p>
            <a:r>
              <a:rPr lang="en-US" altLang="zh-CN" sz="1400"/>
              <a:t>&lt;/LinearLayout&gt;</a:t>
            </a:r>
            <a:endParaRPr lang="en-US" altLang="zh-CN" sz="1400"/>
          </a:p>
        </p:txBody>
      </p:sp>
      <p:sp>
        <p:nvSpPr>
          <p:cNvPr id="15" name="矩形 14"/>
          <p:cNvSpPr/>
          <p:nvPr/>
        </p:nvSpPr>
        <p:spPr>
          <a:xfrm>
            <a:off x="6327140" y="2017395"/>
            <a:ext cx="2425700" cy="228600"/>
          </a:xfrm>
          <a:prstGeom prst="rect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83320" y="1971675"/>
            <a:ext cx="32550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需要指定根布局的方向属性为垂直的值</a:t>
            </a:r>
            <a:endParaRPr lang="zh-CN" altLang="en-US" sz="1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290" y="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Relative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35125" y="113855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中心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3285" y="82486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左上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386965" y="82486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右上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3285" y="141795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左下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386965" y="145351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右下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52830" y="1941195"/>
            <a:ext cx="1870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方位排列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74320" y="640080"/>
            <a:ext cx="3543935" cy="127317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9878" r="3370" b="37001"/>
          <a:stretch>
            <a:fillRect/>
          </a:stretch>
        </p:blipFill>
        <p:spPr>
          <a:xfrm>
            <a:off x="5351145" y="685800"/>
            <a:ext cx="2548890" cy="108204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5198745" y="1913255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0" y="2456815"/>
            <a:ext cx="4286885" cy="35998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&lt;?xml version="1.0" encoding="utf-8"?&gt;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&lt;RelativeLayout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xmlns:android="http://schemas.android.com/apk/res/android"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xmlns:app="http://schemas.android.com/apk/res-auto"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xmlns:tools="http://schemas.android.com/tools"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android:layout_width="match_parent"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android:layout_height="match_parent"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tools:context=".MainActivity"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android:background="#ffa"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android:gravity="center"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android:id="@+id/tv1"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android:text="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课程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1"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android:textSize="30sp" 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48175" y="2365375"/>
            <a:ext cx="351536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android:layout_below="@id/tv1"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android:layout_toRightOf="@id/tv1"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android:id="@+id/tv3"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android:layout_toRightOf="@id/tv2"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3"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47635" y="2277745"/>
            <a:ext cx="444436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android:id="@+id/tv4"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android:layout_below="@id/tv2"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4"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android:id="@+id/tv5"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5"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android:layout_below="@id/tv2"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android:layout_toRightOf="@id/tv2"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highlight>
                  <a:srgbClr val="FFFF00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&lt;/RelativeLayout&gt;</a:t>
            </a:r>
            <a:endParaRPr lang="en-US" altLang="zh-CN" sz="1200">
              <a:highlight>
                <a:srgbClr val="FFFF00"/>
              </a:highlight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320" y="5954395"/>
            <a:ext cx="689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备注：完整参考代码见群文件：相对布局（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Relative</a:t>
            </a:r>
            <a:r>
              <a:rPr lang="en-US" altLang="zh-CN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）的使用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28" name="文本框 27"/>
          <p:cNvSpPr txBox="1"/>
          <p:nvPr/>
        </p:nvSpPr>
        <p:spPr>
          <a:xfrm>
            <a:off x="76200" y="29845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46125" y="9169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520825" y="9169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295525" y="9169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2295525" y="191262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295525" y="283845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46125" y="1393825"/>
            <a:ext cx="485775" cy="7969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520825" y="1393825"/>
            <a:ext cx="12604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46125" y="2353310"/>
            <a:ext cx="1260475" cy="7969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520825" y="18738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295525" y="23533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38125" y="3270885"/>
            <a:ext cx="3082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视图跨行和跨列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26415" y="756920"/>
            <a:ext cx="2505710" cy="249745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629150" y="2781300"/>
            <a:ext cx="3505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950" y="582930"/>
            <a:ext cx="2686050" cy="22034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7165" y="5617210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备注：参考代码见群文件：网格布局（</a:t>
            </a:r>
            <a:r>
              <a:rPr lang="en-US" altLang="zh-CN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）的使用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7165" y="3700145"/>
            <a:ext cx="8905240" cy="1842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ayout的典型属性：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android:layout_row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：指定子组件（视图）位于第几行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android:layout_column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指定子组件（视图）位于第几列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android:layout_rowSpan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：指定子组件（视图）跨几行</a:t>
            </a:r>
            <a:endParaRPr lang="en-US" altLang="zh-CN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android:layout_columnSpan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：指定子组件（视图）跨几列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android:layout_gravity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：指定组件利用什么方式占据网格的空间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0" y="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）布局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嵌套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70" y="635000"/>
            <a:ext cx="3629025" cy="5334000"/>
          </a:xfrm>
          <a:prstGeom prst="rect">
            <a:avLst/>
          </a:prstGeom>
        </p:spPr>
      </p:pic>
      <p:sp>
        <p:nvSpPr>
          <p:cNvPr id="8" name="左箭头 7"/>
          <p:cNvSpPr/>
          <p:nvPr/>
        </p:nvSpPr>
        <p:spPr>
          <a:xfrm>
            <a:off x="5473700" y="63500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26200" y="60960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左箭头 9"/>
          <p:cNvSpPr/>
          <p:nvPr/>
        </p:nvSpPr>
        <p:spPr>
          <a:xfrm>
            <a:off x="5054600" y="1930400"/>
            <a:ext cx="1372235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26200" y="1790700"/>
            <a:ext cx="17399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4978400" y="4025900"/>
            <a:ext cx="14478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26200" y="3886200"/>
            <a:ext cx="41516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ayout（根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布局）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860" y="616585"/>
            <a:ext cx="10236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commenly used Android Studio 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730" y="1051560"/>
            <a:ext cx="11939270" cy="488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 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显示文本</a:t>
            </a:r>
            <a:endParaRPr lang="en-US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textColor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textSize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,textStyle,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gravity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layout_marginTop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EditView </a:t>
            </a:r>
            <a:endParaRPr lang="en-US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hint, textColorHint, inputType, drawableLeft, drawablePadding...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Button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按钮</a:t>
            </a:r>
            <a:endParaRPr 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</a:t>
            </a: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ImageView </a:t>
            </a:r>
            <a:endParaRPr lang="en-US" altLang="zh-CN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</a:t>
            </a: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src,adjustViewBounds</a:t>
            </a:r>
            <a:r>
              <a:rPr 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scaleType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,maxWidth,maxHeight...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CheckBox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layout_width, layout_height,button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drawableLeft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）ScrollView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and Horizontal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ScrollView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layout_width, layout_height,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nly have one components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1336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Introduction to Android Studio layout and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9215" y="-40640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sz="2000" b="1" dirty="0" err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TextView</a:t>
            </a:r>
            <a:r>
              <a:rPr lang="zh-CN" altLang="en-US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视图使用</a:t>
            </a:r>
            <a:r>
              <a:rPr lang="zh-CN" altLang="en-US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举例</a:t>
            </a:r>
            <a:endParaRPr lang="zh-CN" altLang="en-US" sz="2000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4605" y="493395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布局文件代码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00905" y="488315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后台逻辑代码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43975" y="514350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运行</a:t>
            </a: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效果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2400" y="792480"/>
            <a:ext cx="3049905" cy="48399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215" y="792480"/>
            <a:ext cx="4629785" cy="52622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&lt;LinearLayout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app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="http://schemas.android.com/apk/res-auto"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tools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="http://schemas.android.com/tools"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tools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:context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=".MainActivity"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="#3F51B5"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&lt;TextView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:id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="@+id/tv_c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g"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</a:t>
            </a:r>
            <a:r>
              <a:rPr lang="zh-CN" altLang="en-US" sz="900">
                <a:solidFill>
                  <a:srgbClr val="6A875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欢迎大家选修电子科学创新实验，希望大家都取得好成绩</a:t>
            </a:r>
            <a:r>
              <a:rPr lang="en-US" altLang="zh-CN" sz="9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!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:textSize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="35sp"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:textColor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="@color/white"        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="#F44336"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="10dp"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:padding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="5dp"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:singleLine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:ellipsize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="marquee"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:focusable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:focusableInTouchMode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&lt;/LinearLayout&gt;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lum contrast="48000"/>
          </a:blip>
          <a:stretch>
            <a:fillRect/>
          </a:stretch>
        </p:blipFill>
        <p:spPr>
          <a:xfrm>
            <a:off x="4784725" y="792480"/>
            <a:ext cx="4171950" cy="2952750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 flipH="1">
            <a:off x="2736850" y="5226050"/>
            <a:ext cx="272732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464175" y="50419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369185" y="5442585"/>
            <a:ext cx="310515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073900" y="2933065"/>
            <a:ext cx="8318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获取焦点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554730" y="5640070"/>
            <a:ext cx="191960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464810" y="549021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焦点触发模式属性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58685" y="3141345"/>
            <a:ext cx="9728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</a:rPr>
              <a:t>选定焦点</a:t>
            </a:r>
            <a:endParaRPr lang="zh-CN" altLang="en-US" sz="1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71030" y="1738630"/>
            <a:ext cx="18415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声明控件或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视图对象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980680" y="2744470"/>
            <a:ext cx="852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找到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对象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74335" y="527367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extBox 2"/>
          <p:cNvSpPr txBox="1"/>
          <p:nvPr/>
        </p:nvSpPr>
        <p:spPr>
          <a:xfrm>
            <a:off x="80010" y="63500"/>
            <a:ext cx="11784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以实现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登陆界面为例，来学习常用布局和控件的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使用。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-4549" t="2926" r="4572"/>
          <a:stretch>
            <a:fillRect/>
          </a:stretch>
        </p:blipFill>
        <p:spPr>
          <a:xfrm>
            <a:off x="3105785" y="570230"/>
            <a:ext cx="2807970" cy="5766435"/>
          </a:xfrm>
          <a:prstGeom prst="rect">
            <a:avLst/>
          </a:prstGeom>
        </p:spPr>
      </p:pic>
      <p:sp>
        <p:nvSpPr>
          <p:cNvPr id="8" name="左箭头 7"/>
          <p:cNvSpPr/>
          <p:nvPr/>
        </p:nvSpPr>
        <p:spPr>
          <a:xfrm>
            <a:off x="5614670" y="6400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67170" y="6146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Image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35070" y="5099685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左箭头 3"/>
          <p:cNvSpPr/>
          <p:nvPr/>
        </p:nvSpPr>
        <p:spPr>
          <a:xfrm>
            <a:off x="6351270" y="17576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41870" y="17449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EditText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888355" y="1490980"/>
            <a:ext cx="250190" cy="902335"/>
          </a:xfrm>
          <a:prstGeom prst="rightBrace">
            <a:avLst>
              <a:gd name="adj1" fmla="val 46428"/>
              <a:gd name="adj2" fmla="val 48795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0" name="左箭头 9"/>
          <p:cNvSpPr/>
          <p:nvPr/>
        </p:nvSpPr>
        <p:spPr>
          <a:xfrm>
            <a:off x="5741670" y="26085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694170" y="25831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CheckBox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5055870" y="34848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08370" y="34594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Button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右大括号 13"/>
          <p:cNvSpPr/>
          <p:nvPr/>
        </p:nvSpPr>
        <p:spPr>
          <a:xfrm rot="16200000">
            <a:off x="4473575" y="4720590"/>
            <a:ext cx="300355" cy="2134235"/>
          </a:xfrm>
          <a:prstGeom prst="rightBrace">
            <a:avLst>
              <a:gd name="adj1" fmla="val 46428"/>
              <a:gd name="adj2" fmla="val 48795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2" name="左箭头 1"/>
          <p:cNvSpPr/>
          <p:nvPr/>
        </p:nvSpPr>
        <p:spPr>
          <a:xfrm rot="16200000">
            <a:off x="-466090" y="3145790"/>
            <a:ext cx="4371340" cy="334010"/>
          </a:xfrm>
          <a:prstGeom prst="leftArrow">
            <a:avLst>
              <a:gd name="adj1" fmla="val 50000"/>
              <a:gd name="adj2" fmla="val 276806"/>
            </a:avLst>
          </a:prstGeom>
          <a:gradFill>
            <a:gsLst>
              <a:gs pos="50000">
                <a:srgbClr val="FFC000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rgbClr val="F4452E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8125"/>
            <a:ext cx="11697335" cy="95313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Customize resources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830" y="904875"/>
            <a:ext cx="1178433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Strings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自定义字符串：&lt;string name="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welcome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"&gt;欢迎大家选修电子科学创新实验，希望大家期末都取得好成绩！&lt;/string&gt;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调用字符串（举例）：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android:text="@string/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welcome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Colors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自定义颜色：&lt;color name="red"&gt;#EC1010&lt;/color&gt;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调用颜色（举例）：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）android:textColor="@color/red"</a:t>
            </a:r>
            <a:endParaRPr lang="zh-CN" altLang="en-US" sz="20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）android:background="@color/red"</a:t>
            </a:r>
            <a:endParaRPr lang="zh-CN" altLang="en-US" sz="20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32575" y="4532630"/>
            <a:ext cx="5368290" cy="900430"/>
            <a:chOff x="10295" y="7138"/>
            <a:chExt cx="8454" cy="1418"/>
          </a:xfrm>
        </p:grpSpPr>
        <p:sp>
          <p:nvSpPr>
            <p:cNvPr id="2" name="文本框 1"/>
            <p:cNvSpPr txBox="1"/>
            <p:nvPr/>
          </p:nvSpPr>
          <p:spPr>
            <a:xfrm>
              <a:off x="10419" y="7198"/>
              <a:ext cx="688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rgbClr val="002060"/>
                  </a:solidFill>
                  <a:latin typeface="楷体" panose="02010609060101010101" charset="-122"/>
                  <a:ea typeface="楷体" panose="02010609060101010101" charset="-122"/>
                </a:rPr>
                <a:t>十六进制</a:t>
              </a:r>
              <a:r>
                <a:rPr lang="zh-CN" altLang="en-US" sz="1600" b="1">
                  <a:solidFill>
                    <a:srgbClr val="002060"/>
                  </a:solidFill>
                  <a:latin typeface="楷体" panose="02010609060101010101" charset="-122"/>
                  <a:ea typeface="楷体" panose="02010609060101010101" charset="-122"/>
                </a:rPr>
                <a:t>法设置字体颜色举例：</a:t>
              </a:r>
              <a:endParaRPr lang="zh-CN" altLang="en-US" sz="1600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endParaRPr>
            </a:p>
            <a:p>
              <a:endParaRPr lang="zh-CN" altLang="en-US" sz="1600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38" y="7807"/>
              <a:ext cx="7898" cy="485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10295" y="7138"/>
              <a:ext cx="8455" cy="1419"/>
            </a:xfrm>
            <a:prstGeom prst="round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0306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250" y="1011555"/>
            <a:ext cx="5138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Text View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Button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等的背景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405" y="1463040"/>
            <a:ext cx="12068810" cy="165036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-2147482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0" y="1503045"/>
            <a:ext cx="3052445" cy="12585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970" y="1502410"/>
            <a:ext cx="3143885" cy="12592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294755" y="2806700"/>
            <a:ext cx="5499100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注意：只定义形状，就选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，定义按压效果选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selector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9065" y="3531235"/>
            <a:ext cx="6155690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xmlns:android="http://schemas.android.com/apk/res/android"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android:shape="</a:t>
            </a:r>
            <a:r>
              <a:rPr lang="en-US" altLang="zh-CN" sz="1600">
                <a:highlight>
                  <a:srgbClr val="FF0000"/>
                </a:highlight>
                <a:latin typeface="Calibri" panose="020F0502020204030204"/>
                <a:ea typeface="Calibri" panose="020F0502020204030204"/>
              </a:rPr>
              <a:t>rectangle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android:color="#E6E61F"/&gt;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&lt;corners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android:radius="10dp"/&gt;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46520" y="1851025"/>
            <a:ext cx="633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bg1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02495" y="1863725"/>
            <a:ext cx="837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bg2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1765" y="322326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矩形圆角背景资源定义（文件名为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bg2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62370" y="3211195"/>
            <a:ext cx="533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圆形背景资源定义（文件名为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bg3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79185" y="3474085"/>
            <a:ext cx="6058535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&lt;shape xmlns:android="http://schemas.android.com/apk/res/android"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android:shape="</a:t>
            </a:r>
            <a:r>
              <a:rPr lang="en-US" altLang="zh-CN" sz="1600">
                <a:highlight>
                  <a:srgbClr val="FF0000"/>
                </a:highlight>
                <a:latin typeface="Calibri" panose="020F0502020204030204"/>
                <a:ea typeface="宋体" panose="02010600030101010101" pitchFamily="2" charset="-122"/>
              </a:rPr>
              <a:t>oval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"&gt;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&lt;solid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android:color="#E6E61F"/&gt;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&lt;corners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android:radius="0dp"/&gt;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&lt;/shape&gt;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405" y="3225800"/>
            <a:ext cx="6030595" cy="278193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95695" y="3211195"/>
            <a:ext cx="5969000" cy="279654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61290" y="562483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11910" y="562133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="@drawable/bg1"</a:t>
            </a:r>
            <a:endParaRPr lang="en-US" altLang="zh-CN" sz="16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59830" y="555752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10450" y="555402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="@drawable/bg2"</a:t>
            </a:r>
            <a:endParaRPr lang="en-US" altLang="zh-CN" sz="16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pic>
        <p:nvPicPr>
          <p:cNvPr id="29" name="图片 -2147482622"/>
          <p:cNvPicPr>
            <a:picLocks noChangeAspect="1"/>
          </p:cNvPicPr>
          <p:nvPr/>
        </p:nvPicPr>
        <p:blipFill>
          <a:blip r:embed="rId3"/>
          <a:srcRect l="5744" t="36503" r="58167" b="52911"/>
          <a:stretch>
            <a:fillRect/>
          </a:stretch>
        </p:blipFill>
        <p:spPr>
          <a:xfrm>
            <a:off x="180975" y="1819275"/>
            <a:ext cx="5332095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文本框 29"/>
          <p:cNvSpPr txBox="1"/>
          <p:nvPr/>
        </p:nvSpPr>
        <p:spPr>
          <a:xfrm>
            <a:off x="140970" y="1462405"/>
            <a:ext cx="53752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先新建一个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 Resource File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" name="TextBox 2"/>
          <p:cNvSpPr txBox="1"/>
          <p:nvPr/>
        </p:nvSpPr>
        <p:spPr>
          <a:xfrm>
            <a:off x="79375" y="463550"/>
            <a:ext cx="11784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xml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资源文件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686925" y="4458970"/>
            <a:ext cx="2319020" cy="467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>
                <a:solidFill>
                  <a:srgbClr val="FF0000"/>
                </a:solidFill>
                <a:highlight>
                  <a:srgbClr val="C0C0C0"/>
                </a:highlight>
                <a:latin typeface="楷体" panose="02010609060101010101" charset="-122"/>
                <a:ea typeface="楷体" panose="02010609060101010101" charset="-122"/>
              </a:rPr>
              <a:t>注意：要想使得布局文件中的按钮为圆形，还需将按钮的长宽设置成一样的尺寸。</a:t>
            </a:r>
            <a:endParaRPr lang="zh-CN" altLang="en-US" sz="1400">
              <a:solidFill>
                <a:srgbClr val="FF0000"/>
              </a:solidFill>
              <a:highlight>
                <a:srgbClr val="C0C0C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0306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930" y="67691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有按压效果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bg3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4930" y="612775"/>
            <a:ext cx="6534785" cy="540766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70815" y="5672455"/>
            <a:ext cx="12261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207135" y="5668645"/>
            <a:ext cx="37331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815" y="949325"/>
            <a:ext cx="6786245" cy="47694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&lt;selector xmlns:android="http://schemas.android.com/apk/res/android"&gt;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&lt;item android:state_pressed="true"&gt;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android:shape="oval"&gt;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android:color="#DCDC3C"/&gt;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&lt;corners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android:radius="10dp"/&gt;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&lt;/item&gt;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&lt;item android:state_pressed="false"&gt;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android:shape="oval"&gt;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android:color="#F3F3AC"/&gt;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&lt;corners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android:radius="10dp"/&gt;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&lt;/item&gt;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&lt;/selector&gt;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2760" y="1975168"/>
            <a:ext cx="5080000" cy="230695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Button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</a:t>
            </a:r>
            <a:r>
              <a:rPr lang="zh-CN" altLang="en-US" sz="1600">
                <a:solidFill>
                  <a:srgbClr val="6A875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登陆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:textSize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="30sp"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:textColor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="#BD13EC"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:gravity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="center"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:layout_marginTop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84340" y="1579245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Button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控件使用按压效果背景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4340" y="1579245"/>
            <a:ext cx="5207000" cy="277177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545" y="-27164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635" y="3744595"/>
            <a:ext cx="6747510" cy="23069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&lt;selector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&lt;item 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:drawable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="@drawable/ic_baseline_radio_button_unchecked_24" 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:state_checked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="false"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&lt;item 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:drawable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="@drawable/ic_baseline_radio_button_checked_24" 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:state_checked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="true"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&lt;/selector&gt;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845" y="3341370"/>
            <a:ext cx="533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接着，自定义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CheckBox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的图标形状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资源定义：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9740" y="1929765"/>
            <a:ext cx="4110990" cy="2061210"/>
          </a:xfrm>
          <a:prstGeom prst="rect">
            <a:avLst/>
          </a:prstGeom>
          <a:solidFill>
            <a:schemeClr val="bg1"/>
          </a:solidFill>
          <a:ln w="31750">
            <a:noFill/>
            <a:prstDash val="sysDot"/>
          </a:ln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&lt;CheckBox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android:id="@+id/checkbox"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android:layout_width="match_parent"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android:layout_height="wrap_content"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android:button="@null"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android:drawableLeft="@drawable/bg4"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android:background="@color/white"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android:text="</a:t>
            </a:r>
            <a:r>
              <a:rPr lang="zh-CN" altLang="en-US" sz="1600">
                <a:solidFill>
                  <a:srgbClr val="1D41D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请勾选协议</a:t>
            </a:r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 /&gt;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84490" y="1544955"/>
            <a:ext cx="40411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CheckBox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控件的使用举例：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2575" y="3340735"/>
            <a:ext cx="6967855" cy="278003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24165" y="1463675"/>
            <a:ext cx="3944620" cy="252793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8562340" y="4124325"/>
            <a:ext cx="2533015" cy="1295400"/>
            <a:chOff x="258" y="7247"/>
            <a:chExt cx="3989" cy="204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9" y="8565"/>
              <a:ext cx="2009" cy="722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9" y="8008"/>
              <a:ext cx="1745" cy="54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372" y="7314"/>
              <a:ext cx="313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>
                <a:buFont typeface="Wingdings" panose="05000000000000000000" charset="0"/>
                <a:buChar char="p"/>
              </a:pPr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运行效果</a:t>
              </a:r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26" y="7970"/>
              <a:ext cx="171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 b="1">
                  <a:solidFill>
                    <a:srgbClr val="1D41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未勾选：</a:t>
              </a:r>
              <a:endPara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26" y="8626"/>
              <a:ext cx="1513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 b="1">
                  <a:solidFill>
                    <a:srgbClr val="1D41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已勾选：</a:t>
              </a:r>
              <a:endPara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58" y="7247"/>
              <a:ext cx="3989" cy="1980"/>
            </a:xfrm>
            <a:prstGeom prst="rect">
              <a:avLst/>
            </a:prstGeom>
            <a:ln w="28575">
              <a:solidFill>
                <a:srgbClr val="ED7D3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26695" y="1017905"/>
            <a:ext cx="65385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先新建一个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 Resource File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，选择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selector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，取名为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bg4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575" y="1016635"/>
            <a:ext cx="6967855" cy="218948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303895" y="3206750"/>
            <a:ext cx="3469640" cy="22288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26695" y="5645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CheckBox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的图标形状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0" name="图片 -21474826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85" y="1492250"/>
            <a:ext cx="3052445" cy="1258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文本框 30"/>
          <p:cNvSpPr txBox="1"/>
          <p:nvPr/>
        </p:nvSpPr>
        <p:spPr>
          <a:xfrm>
            <a:off x="3078480" y="1852930"/>
            <a:ext cx="837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bg4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000" y="-1333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Flip between Activities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626110"/>
            <a:ext cx="9994265" cy="52647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步骤：</a:t>
            </a:r>
            <a:endParaRPr lang="zh-CN" altLang="en-US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）创建一个新的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Activity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584325"/>
            <a:ext cx="5441950" cy="2854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31510" y="752475"/>
            <a:ext cx="6093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注意查看其在清单文件（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AndroidMenifest.xml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）中的注册情况：</a:t>
            </a:r>
            <a:endParaRPr lang="zh-CN" altLang="en-US"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80" y="1269365"/>
            <a:ext cx="6162040" cy="43186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223000" y="3180715"/>
            <a:ext cx="2820035" cy="495300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1176274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）设置监听器；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setOnClickListener(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匿名类的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使用：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mbtn_login.setOnClickListener(new View.OnClickListener() {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@Override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public void onClick(View view) {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</a:t>
            </a:r>
            <a:r>
              <a:rPr lang="en-US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Intent intent = new Intent(MainActivity.this,SecondActivity.class);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//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设置意图，即从哪个页面到哪个页面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     startActivity(intent);</a:t>
            </a: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//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实现页面的跳转</a:t>
            </a:r>
            <a:r>
              <a:rPr lang="zh-CN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</a:t>
            </a: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endParaRPr lang="zh-CN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}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});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自定义类的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57350" lvl="3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自定义类（监听器）</a:t>
            </a:r>
            <a:endParaRPr lang="en-US" altLang="zh-CN" sz="1600" b="1" smtClean="0">
              <a:ln>
                <a:noFill/>
              </a:ln>
              <a:solidFill>
                <a:srgbClr val="1D41D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class click implements View.OnClickListener{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@Override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public void onClick(View view) {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//Toast.makeText(MainActivity.this,"</a:t>
            </a:r>
            <a:r>
              <a:rPr lang="zh-CN" altLang="en-US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用户名或密码错误，请重新输入</a:t>
            </a: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",Toast.LENGTH_SHORT).show();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45720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Intent intent = new Intent(MainActivity.this,</a:t>
            </a:r>
            <a:r>
              <a:rPr lang="en-US" altLang="zh-CN" sz="1400" dirty="0" smtClean="0">
                <a:ln>
                  <a:noFill/>
                </a:ln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Second</a:t>
            </a: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Activity.class);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     startActivity(intent);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}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}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657350" lvl="3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在onCreat()</a:t>
            </a: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方法中调用自定义的</a:t>
            </a: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click对象：</a:t>
            </a:r>
            <a:endParaRPr lang="zh-CN" altLang="zh-CN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lvl="3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btn1.setOnClickListener(new Click());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1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zh-CN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42545" y="-22084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Customize view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6695" y="5899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自定义随鼠标或者触摸移动的小兔子图像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</a:t>
            </a:r>
            <a:endParaRPr lang="zh-CN" altLang="en-US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Screenshot_17400177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044575"/>
            <a:ext cx="3055620" cy="5433060"/>
          </a:xfrm>
          <a:prstGeom prst="rect">
            <a:avLst/>
          </a:prstGeom>
        </p:spPr>
      </p:pic>
      <p:pic>
        <p:nvPicPr>
          <p:cNvPr id="3" name="图片 2" descr="Screenshot_1740017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145" y="1044575"/>
            <a:ext cx="3055620" cy="5433060"/>
          </a:xfrm>
          <a:prstGeom prst="rect">
            <a:avLst/>
          </a:prstGeom>
        </p:spPr>
      </p:pic>
      <p:pic>
        <p:nvPicPr>
          <p:cNvPr id="4" name="图片 3" descr="Screenshot_17400177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205" y="1044575"/>
            <a:ext cx="3055620" cy="54330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5900" y="626110"/>
            <a:ext cx="9994265" cy="52647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步骤：</a:t>
            </a:r>
            <a:endParaRPr lang="zh-CN" altLang="en-US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）创建小兔子视图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onDraw()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BitmapFactory.decodeResource</a:t>
            </a:r>
            <a:r>
              <a:rPr 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endParaRPr 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将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JPG/PNG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等格式的图片转成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Bitmap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位图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endParaRPr lang="zh-CN" altLang="en-US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canvas.drawBitmap()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（将小兔子的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Bitmap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位图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画在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小兔子视图对象中）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）将创建的小兔子视图对象添加在界面的布局中，并设置跟随鼠标或手指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setOnTouchListener(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（设置触摸监听器）</a:t>
            </a:r>
            <a:endParaRPr lang="en-US" altLang="zh-CN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addView();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（将自定义的小兔子视图添加在界面的布局中）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0" y="22733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自定义随鼠标或者触摸移动的小兔子图像视图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1965" y="5738495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备注：参考代码见群文件：跟随手指移动的小兔子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48125"/>
            <a:ext cx="11697335" cy="1814830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作业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：计算器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界面设计</a:t>
            </a:r>
            <a:endParaRPr lang="zh-CN" altLang="en-US" sz="2800" b="1" smtClean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28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535" y="1167765"/>
            <a:ext cx="63150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</a:t>
            </a:r>
            <a:endParaRPr lang="zh-CN" altLang="en-US" sz="2000" b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）制作如左图所示计算器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界面；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）要求使用圆形按钮，并且按钮需具有按压效果。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4279" b="4616"/>
          <a:stretch>
            <a:fillRect/>
          </a:stretch>
        </p:blipFill>
        <p:spPr>
          <a:xfrm>
            <a:off x="6788150" y="282575"/>
            <a:ext cx="2879725" cy="5664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2045,&quot;width&quot;:5955}"/>
</p:tagLst>
</file>

<file path=ppt/tags/tag2.xml><?xml version="1.0" encoding="utf-8"?>
<p:tagLst xmlns:p="http://schemas.openxmlformats.org/presentationml/2006/main">
  <p:tag name="KSO_WM_DOC_GUID" val="{c49fec33-5181-4194-ae76-3299644534d4}"/>
  <p:tag name="COMMONDATA" val="eyJoZGlkIjoiZWIyNzc2MjMzNzRkNWUyZGE3ZDc5M2U5NWFlODgxY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10624</Words>
  <Application>WPS 演示</Application>
  <PresentationFormat>宽屏</PresentationFormat>
  <Paragraphs>485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Times New Roman</vt:lpstr>
      <vt:lpstr>JetBrains Mono</vt:lpstr>
      <vt:lpstr>AMGDT</vt:lpstr>
      <vt:lpstr>Calibri</vt:lpstr>
      <vt:lpstr>Arial Unicode MS</vt:lpstr>
      <vt:lpstr>等线 Light</vt:lpstr>
      <vt:lpstr>Calibri Light</vt:lpstr>
      <vt:lpstr>等线</vt:lpstr>
      <vt:lpstr>楷体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南方科技大学创新创业学院  专业学位硕士培养方案设计</dc:title>
  <dc:creator>JY ZHONG</dc:creator>
  <cp:lastModifiedBy>Chopin</cp:lastModifiedBy>
  <cp:revision>1542</cp:revision>
  <cp:lastPrinted>2016-10-12T12:24:00Z</cp:lastPrinted>
  <dcterms:created xsi:type="dcterms:W3CDTF">2016-10-12T00:59:00Z</dcterms:created>
  <dcterms:modified xsi:type="dcterms:W3CDTF">2025-03-07T11:47:11Z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2</vt:lpwstr>
  </property>
  <property fmtid="{D5CDD505-2E9C-101B-9397-08002B2CF9AE}" pid="4" name="ICV">
    <vt:lpwstr>05637E98682F4F318D6A72E9898FA781</vt:lpwstr>
  </property>
</Properties>
</file>