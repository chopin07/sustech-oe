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56" r:id="rId2"/>
    <p:sldId id="1644" r:id="rId3"/>
    <p:sldId id="1645" r:id="rId4"/>
    <p:sldId id="1646" r:id="rId5"/>
    <p:sldId id="1648" r:id="rId6"/>
    <p:sldId id="1649" r:id="rId7"/>
    <p:sldId id="1650" r:id="rId8"/>
    <p:sldId id="1651" r:id="rId9"/>
    <p:sldId id="1652" r:id="rId10"/>
    <p:sldId id="1653" r:id="rId11"/>
    <p:sldId id="1654" r:id="rId12"/>
    <p:sldId id="1655" r:id="rId13"/>
    <p:sldId id="1656" r:id="rId14"/>
    <p:sldId id="1657" r:id="rId15"/>
    <p:sldId id="1658" r:id="rId16"/>
    <p:sldId id="1659" r:id="rId17"/>
    <p:sldId id="1660" r:id="rId18"/>
    <p:sldId id="1661" r:id="rId19"/>
    <p:sldId id="1662" r:id="rId20"/>
    <p:sldId id="1663" r:id="rId21"/>
    <p:sldId id="1665" r:id="rId22"/>
    <p:sldId id="1664" r:id="rId23"/>
    <p:sldId id="1666" r:id="rId24"/>
    <p:sldId id="1667" r:id="rId25"/>
    <p:sldId id="1668" r:id="rId26"/>
    <p:sldId id="1669" r:id="rId27"/>
    <p:sldId id="1647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28F"/>
    <a:srgbClr val="9F9FFF"/>
    <a:srgbClr val="0000FF"/>
    <a:srgbClr val="FFFFFF"/>
    <a:srgbClr val="0000CC"/>
    <a:srgbClr val="274FC1"/>
    <a:srgbClr val="284FC1"/>
    <a:srgbClr val="284DBB"/>
    <a:srgbClr val="2248AA"/>
    <a:srgbClr val="2144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37" autoAdjust="0"/>
    <p:restoredTop sz="96323" autoAdjust="0"/>
  </p:normalViewPr>
  <p:slideViewPr>
    <p:cSldViewPr snapToGrid="0">
      <p:cViewPr varScale="1">
        <p:scale>
          <a:sx n="113" d="100"/>
          <a:sy n="113" d="100"/>
        </p:scale>
        <p:origin x="1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5993DF91-3F78-2BB3-C542-73E00DCF6F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A80BE8C-3D7B-D488-5C58-5475B08A17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76DE6D-EC9D-7146-A077-474B175F206A}" type="datetimeFigureOut">
              <a:rPr kumimoji="1" lang="zh-CN" altLang="en-US" smtClean="0"/>
              <a:t>2024/12/22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2558369-360A-90AE-81CE-C778C5A2F9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B49B73D-02A8-BE8F-C837-A045DF4F7B7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CDC82-7701-7D4C-9BD4-1442AA29A1FE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92917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23D19-7AF0-964D-ADA0-9CD03DADA77E}" type="datetimeFigureOut">
              <a:t>2024/12/22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78F40-EC7C-5B41-921E-A3E9B17DF818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7618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89932-C7A1-7502-B3DC-F147F08AB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7DA28A5-C26E-F1EB-B38E-A42E872FA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39B493F-382D-8EB6-6133-732DEA52C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DFA410A2-289A-ED83-0905-32B4E39644D3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9ACF45-A8FB-B463-AA39-601CF49C13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552784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E8FAB-5CE5-B8C4-B113-E8B05F807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05B97D5-EB24-88B1-F0C6-4C69F30AF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B92D0A-12EF-7A4A-E206-116BEDAC5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E7EB6BE8-911B-D733-EE5B-304320EECFF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093402-33EF-6223-3988-CCD45AD81E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519258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12AB1-EAA4-6435-C6A6-2FB59C510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3169BF9-5FF3-287A-D55D-74865C803C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917307-6903-CE18-556F-C12A42EA1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551CE24D-2233-E23C-D2FE-A8C75AD7F34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85EE3-6F64-139E-AFC3-F4F9DC1C4B9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573952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6D228-6194-E021-2333-8A0EC74A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EFC6448-A004-FF92-096E-58FFFC79E5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FFF5A73-C746-37D9-8258-4E4A1379E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04D4B703-C8E8-60F0-7506-970D0ED51F51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DFFA52-608A-D91B-E373-6F1E994D6E6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952456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35FC1-9FE0-DC54-EA78-4929F0192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65D3A6-C70B-52CA-99DF-F994B4C4D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68CD21C-3F6F-D8FA-53BE-DDEC5BB43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A8C00133-8C07-7C9E-7A74-67B40144EB1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D49A8E-F8E2-2CCA-DFEA-907A29434D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3967465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45C0D-1650-3081-6566-230F402E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F503791-C843-A429-3DE1-9255CC798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BE34B1-F1E5-408E-BDE6-A0B407B99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6E3E3C80-BBA4-34C4-17F0-0E7D38E3E7B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0E48F7-348A-1067-3506-5CBE09F0483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42375321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A9774-E937-180E-4BB9-7632A267A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99D79C-E2A5-82FB-2235-45B621E9A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32EED90-D722-1773-0787-EAA2848B5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E86CA55F-C789-44D4-7D50-A9130260929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44D97D1-4640-C9BD-1612-D0B0E9E16A1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9792764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2022E-CE93-0826-9F22-EC6830F25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D94B8F-EB83-3244-2412-05CA68795D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200A86-3DC9-DAC4-4837-FF17B7A35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F039C61A-0365-9DBA-60FC-47CC71248C9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C58694-49F7-A3E3-3DB6-AEEC18A4353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7229651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4331-5C7E-94DC-E508-F3086046D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963D4A-764B-A711-23F5-5D1DADE20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77BBE0-8D31-8913-8C2F-3F78E0899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A1BFB0F3-3A90-1E27-0222-5BB3F0848D9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F54AC0-90B8-791A-DA3E-7545A6BFE2A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596713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D6281-AD62-E832-18D4-FD0BC64EB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B1EDD83-DC78-6379-4527-0D2D38D799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376346-7649-F8C6-1143-0317893738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23B7613B-48C7-0755-D964-5B2A3DC4CD0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F47B02-999C-5E79-8B32-B3317A979E1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23464109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1424A-739A-44F2-7B79-0A0675E9A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4C3701-04D4-E37B-26B6-B7EA629EE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5BBD161-E189-1EAF-4F13-B68F5D0FAD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08157198-56BB-A886-1820-A6A96959313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1A82194-5268-75EC-8B99-8034FC40A28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31532877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7C5B1-F9B5-1441-CB8B-62ED2917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BF31321-B8BC-55EF-A012-2C1554DBDA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6F917B7-03C4-1903-1E5F-E46C71B6F1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E85329BA-681E-88EC-C959-5AD99ED26CF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2028E1-A6B8-783E-BDF2-AF2D337494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0591321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A27E3-78A5-05EB-4421-FCB53FE04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860E522-37FC-1D85-3A51-0F7F3DF35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26FA88-9AD5-A1F6-F609-BCE0B41D6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179122EA-48F5-25B2-1862-599276B5844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BAD2A9-FC26-8E55-CAA2-29FFA0F734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8767543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604BD-D289-9EB0-A7FC-5AEDDFA5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DBF845-DE1F-E985-65F2-B1241DCBB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438BE0-4CA9-7518-5BC2-68679622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A7EDD8D4-8D91-2807-EDFB-D12F181B8AEA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01519A0-220E-541C-FDAF-72DE2A4DBCF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25828111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F79D-7C95-8870-84E1-2D7D716C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AE9BCF-2C0F-AAD9-25DF-198A7CF131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8C924F7-0586-7F0B-7F1B-D40C987CFE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6DA172AA-3811-3F42-1535-B2D36BE03E1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4ACF122-3018-7307-EAF3-C5844B8C4A6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8135333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86876-63DB-5CD6-8D81-23A51B197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3AA6A15-99CB-40B1-C96A-5485185E8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F49F391-3A3E-3B98-934F-2F68E297F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7F5CE62B-C698-E332-DC05-BE8E0421C5E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9828F48-D42E-3C7B-8AC4-73A695099B0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948038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D4A83-4A74-0A0B-46A1-FB98369A4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A7C58AE-2A30-76F5-4915-6C2AD734FA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86E7D9-7C1C-E4CA-2139-B219C343B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7B3D7A61-2EF0-2797-4BD7-D9FACD2BF3A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5690B8-B59A-4775-D1B3-430DCEBD77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6125637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6724-5FD4-636D-07C9-62DF59E8D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16F0965-5E54-EACA-BBC1-6685D86B7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9C610F-DBAD-A55F-FD74-33836C1E3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60E1868F-3B11-1958-CC3D-FF0C884A9A4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92C96B-0DA5-8573-4DAC-349582A5BC2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16784224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0997D-8F69-882F-C01C-3E38B4109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C0BD296-EC28-C4E8-852E-9FFA1DBE4D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8EB2E3-1D51-2486-15CE-7071197DF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BCB329EB-1C86-30EE-3064-CDA0E84DB06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B3F4DF8-AFEE-86FB-F2F9-CBF9660AE0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9389094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C22BB-A51B-CB36-85E9-8802EF0C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037B0FD-2EAD-BE88-1C6B-F89B3B4A5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9B3CD6-D96E-9DF9-8DFA-EC020062B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9F873504-58DE-DF48-1F4C-00C420404A8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DD654E-DE7D-CB20-C33C-1DEDADF7B80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6690449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17076-5970-8430-3AC1-52294460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CAD3448-6C1E-BDF0-A43F-20C5E938A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0C533-C757-71E4-A8D5-D52D893B1F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54D63D02-8919-09B1-6B55-634D37A5E54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925B582-53E2-399A-6BE9-A3C886AB4E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21934821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D7E78-1B15-40D6-CE7F-90F73063E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1C641AF-726E-216A-BAEF-D27C47654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847F8AA-D1C8-0A42-B73D-70FE0997F4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E7E69B53-9B54-7170-F412-D453F76E29E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4E0780-9948-1263-51B2-13429ED375C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37423516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79CDD-32DD-9FE6-70C9-CF900F38F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94F004-0128-2BBB-AAE1-3695A0DBC6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CF2CBE-5514-384C-A803-EAA022FB7D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42A02D27-247D-E3A6-C518-75938219738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7E868F-2529-73EA-365D-69F2301C264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7364211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0BC2-4967-1DB4-9D68-38A68B35D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1B1A8C-D2D9-E400-15C9-9F3A0A1855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4F88FEC-DF2A-0FCB-CEB1-7B4E4F432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31C4A89A-6F6C-D315-A292-04B6E791AA5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C2F902-6D72-D971-2C45-844ED57D08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9766672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A204C1-8131-B885-2D7F-BE9BAF976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51176E-8A45-5A3B-C045-A264CCC1C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82AC45-C75A-ADA2-FF71-CF8E61D72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775E7999-40B2-2D72-F905-6A3090D32B6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D29E4E-5FF0-9C13-0743-503F45B6D51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28267722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AD894-B39D-82C4-672A-67775CA0D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EB1EE3-5D7C-F83F-674A-33F077BA6B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A3CB31-3AD9-E22A-4896-799BEF43C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页眉占位符 3">
            <a:extLst>
              <a:ext uri="{FF2B5EF4-FFF2-40B4-BE49-F238E27FC236}">
                <a16:creationId xmlns:a16="http://schemas.microsoft.com/office/drawing/2014/main" id="{8D69BCD1-FACA-CB3A-04D2-7B3A72C2877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 dirty="0"/>
              <a:t>History</a:t>
            </a: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BC0BE6-9AA2-0BC6-B03B-F27717C997B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 dirty="0"/>
              <a:t>ICICS, 2015</a:t>
            </a:r>
          </a:p>
        </p:txBody>
      </p:sp>
    </p:spTree>
    <p:extLst>
      <p:ext uri="{BB962C8B-B14F-4D97-AF65-F5344CB8AC3E}">
        <p14:creationId xmlns:p14="http://schemas.microsoft.com/office/powerpoint/2010/main" val="3396732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70E9A6-C706-62D1-437E-DDC0864C9B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6FF601-D96D-2F77-3C24-DDC4E2744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8A08ADD-2565-893E-B27C-A4D6E4E62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B07972-A55A-2E14-E212-18001923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A630B0-30FA-C146-5C1A-78E09AD64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6288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F2B50B-5988-2185-AA97-332C0B54A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270" y="52378"/>
            <a:ext cx="8782494" cy="820405"/>
          </a:xfrm>
        </p:spPr>
        <p:txBody>
          <a:bodyPr>
            <a:normAutofit/>
          </a:bodyPr>
          <a:lstStyle>
            <a:lvl1pPr>
              <a:defRPr sz="4000" b="1">
                <a:solidFill>
                  <a:srgbClr val="284DBB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E0A793-2218-02C6-11F8-917380B6F4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3863" y="1097288"/>
            <a:ext cx="11987867" cy="5405672"/>
          </a:xfrm>
        </p:spPr>
        <p:txBody>
          <a:bodyPr/>
          <a:lstStyle>
            <a:lvl1pPr marL="228600" indent="-228600">
              <a:lnSpc>
                <a:spcPct val="100000"/>
              </a:lnSpc>
              <a:buFont typeface="Wingdings" pitchFamily="2" charset="2"/>
              <a:buChar char="p"/>
              <a:defRPr sz="240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800100" indent="-342900">
              <a:lnSpc>
                <a:spcPct val="100000"/>
              </a:lnSpc>
              <a:buFont typeface="Wingdings" pitchFamily="2" charset="2"/>
              <a:buChar char="l"/>
              <a:defRPr sz="200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143000" indent="-228600">
              <a:lnSpc>
                <a:spcPct val="100000"/>
              </a:lnSpc>
              <a:buFont typeface="Wingdings" pitchFamily="2" charset="2"/>
              <a:buChar char="Ø"/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lnSpc>
                <a:spcPct val="10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lnSpc>
                <a:spcPct val="100000"/>
              </a:lnSpc>
              <a:defRPr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kumimoji="1" lang="zh-CN" altLang="en-US" dirty="0"/>
              <a:t> 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 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59894D9D-F748-BA2D-65DF-A27E6B560F9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94" t="35111" r="70188" b="34727"/>
          <a:stretch>
            <a:fillRect/>
          </a:stretch>
        </p:blipFill>
        <p:spPr bwMode="auto">
          <a:xfrm>
            <a:off x="11197053" y="63795"/>
            <a:ext cx="894677" cy="953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直接连接符 2">
            <a:extLst>
              <a:ext uri="{FF2B5EF4-FFF2-40B4-BE49-F238E27FC236}">
                <a16:creationId xmlns:a16="http://schemas.microsoft.com/office/drawing/2014/main" id="{C45C5F63-9D3B-A948-2670-A6D8AC23F223}"/>
              </a:ext>
            </a:extLst>
          </p:cNvPr>
          <p:cNvCxnSpPr>
            <a:cxnSpLocks/>
          </p:cNvCxnSpPr>
          <p:nvPr userDrawn="1">
            <p:custDataLst>
              <p:tags r:id="rId1"/>
            </p:custDataLst>
          </p:nvPr>
        </p:nvCxnSpPr>
        <p:spPr>
          <a:xfrm>
            <a:off x="0" y="915815"/>
            <a:ext cx="11290852" cy="0"/>
          </a:xfrm>
          <a:prstGeom prst="line">
            <a:avLst/>
          </a:prstGeom>
          <a:ln w="38100">
            <a:solidFill>
              <a:srgbClr val="2448AC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D02F0ABD-8071-D2D1-5BA2-360AC84DC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6836" y="6485861"/>
            <a:ext cx="722059" cy="308344"/>
          </a:xfrm>
        </p:spPr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881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6E7899-1032-50A8-6E29-E51A6CAAA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EF24E6-DBF4-E28B-DA6C-45CCBA537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5A0E07-1549-9D6D-3D37-0C7BC91E7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CE4258-7B07-7A06-0E9A-B532441BD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C939D1-D45F-9C03-6425-7996FB412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67219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B91E1-770D-D694-EBCD-C9B52509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52CCDD-AFB5-1D79-EA39-1D20059CF0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16FA1A-7A9E-B158-3F7E-200849CB6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6B267D-5E05-9ECA-9066-68894C1D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E1FFA1-6694-8930-3DAE-5C5BF225E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671960-6BC4-0432-1652-5BFE7496E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0056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FFBCA-6A99-54B7-23BF-544D197D9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A0FA33-1D00-1131-81B0-100A472F8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38F6D03-CA01-C9C7-D665-B1F38885A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12C97B1-F5D6-BED9-7EC9-82E67E6D86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EE8F5C-27B4-06B1-9928-43253C811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4F2108F-1B82-1ECE-9E6E-E6ACFBAF8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6673C5F-0F65-E422-F192-9BC12730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73EEE3-8678-A4A4-8FDE-E2781066D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1791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DCB13E-1324-36C2-FA40-64FB98EDB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D8C4F71-3DA6-770F-6B9F-2BA0FA60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5B2A4D5-2470-F492-B19D-0688306F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B3AFB36-142C-58D1-391A-E96883C5F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521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2977B4-1E35-44DC-545B-DD8D811CF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4431FBE-AA1D-72E8-E5D3-D38468048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EB0F8F-62D5-70C1-00A9-193D73E63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6007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BE5E03-1642-C5FF-EE1F-577FE0D63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193A0-6E91-9768-2C36-5664669D0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AE5FB6B-9E89-1FC4-DD61-9CF768160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D14DEC-66B0-416C-209D-130A351B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F951CE-0DE5-72BF-41B7-28AA0510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A6F56A-5ED1-9F8A-E601-4AD9B84B3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73059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A4F58E-F3D7-BBB2-646A-518DA381F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8BFF698-0791-BD67-D4CF-9724FE19BB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0F632F-1E2B-5839-437C-E9403CA03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5520356-5B62-EAAC-3195-0081CDB29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E87FD7-D4CE-088E-82A4-15188DB31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2E7D6BA-F6FB-BBC9-DC52-26981CE2A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9960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5CFAAF-4026-9129-99E9-932E8D16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B466122-1A9B-1C83-A043-A818CA72EB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9C3B56-5457-9DDE-05CC-AF701745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892577-C214-FE52-6BA5-CB175FBCF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E955A91-D557-AE94-0173-F368E62A9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8959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6C71D08-7BBD-7DE4-66F2-6E3492DFA7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9312CDE-3847-C8C2-D459-FC4830441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EE6E9D-41A9-CDC6-1772-04F260D96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EE617E-29BB-90AE-427F-4FC7B771B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B59367-8378-74BB-F1E7-39C1B922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2783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5954" y="1903557"/>
            <a:ext cx="12180093" cy="703915"/>
          </a:xfrm>
          <a:prstGeom prst="rect">
            <a:avLst/>
          </a:prstGeom>
        </p:spPr>
        <p:txBody>
          <a:bodyPr lIns="38100" tIns="38100" rIns="38100" bIns="38100" anchor="b"/>
          <a:lstStyle>
            <a:lvl1pPr defTabSz="910751">
              <a:lnSpc>
                <a:spcPct val="100000"/>
              </a:lnSpc>
              <a:defRPr sz="2812" spc="88">
                <a:solidFill>
                  <a:srgbClr val="316AB5"/>
                </a:solidFill>
                <a:uFill>
                  <a:solidFill>
                    <a:srgbClr val="5C0700"/>
                  </a:solidFill>
                </a:u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t>标题文本</a:t>
            </a:r>
          </a:p>
        </p:txBody>
      </p:sp>
      <p:sp>
        <p:nvSpPr>
          <p:cNvPr id="163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256474" y="6503196"/>
            <a:ext cx="325935" cy="210965"/>
          </a:xfrm>
          <a:prstGeom prst="rect">
            <a:avLst/>
          </a:prstGeom>
        </p:spPr>
        <p:txBody>
          <a:bodyPr anchor="t"/>
          <a:lstStyle>
            <a:lvl1pPr algn="r" defTabSz="910751">
              <a:defRPr sz="1125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굴림"/>
                <a:ea typeface="굴림"/>
                <a:cs typeface="굴림"/>
                <a:sym typeface="굴림"/>
              </a:defRPr>
            </a:lvl1pPr>
          </a:lstStyle>
          <a:p>
            <a:fld id="{86CB4B4D-7CA3-9044-876B-883B54F8677D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1506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F3D8992-5B71-4CA2-C09E-849910AE7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E105AD-27BE-69B6-BD69-35EABA9C9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63B081-06FD-D0B3-7371-22132FC41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6544B9-33C1-739E-37A9-15E9381DA3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0D8A3B-D1A4-18DA-9E28-61BB20717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E4C33-E463-4F41-92C4-CD0F700A564E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0872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zhanghd2021@mail.sustech.edu.cn" TargetMode="External"/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5" Type="http://schemas.openxmlformats.org/officeDocument/2006/relationships/image" Target="../media/image1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Relationship Id="rId1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png"/><Relationship Id="rId3" Type="http://schemas.openxmlformats.org/officeDocument/2006/relationships/image" Target="../media/image81.png"/><Relationship Id="rId7" Type="http://schemas.openxmlformats.org/officeDocument/2006/relationships/image" Target="../media/image8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9" Type="http://schemas.openxmlformats.org/officeDocument/2006/relationships/image" Target="../media/image8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13" Type="http://schemas.openxmlformats.org/officeDocument/2006/relationships/image" Target="../media/image119.png"/><Relationship Id="rId18" Type="http://schemas.openxmlformats.org/officeDocument/2006/relationships/image" Target="../media/image124.png"/><Relationship Id="rId3" Type="http://schemas.openxmlformats.org/officeDocument/2006/relationships/image" Target="../media/image109.png"/><Relationship Id="rId7" Type="http://schemas.openxmlformats.org/officeDocument/2006/relationships/image" Target="../media/image113.png"/><Relationship Id="rId12" Type="http://schemas.openxmlformats.org/officeDocument/2006/relationships/image" Target="../media/image118.png"/><Relationship Id="rId17" Type="http://schemas.openxmlformats.org/officeDocument/2006/relationships/image" Target="../media/image12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11" Type="http://schemas.openxmlformats.org/officeDocument/2006/relationships/image" Target="../media/image117.png"/><Relationship Id="rId5" Type="http://schemas.openxmlformats.org/officeDocument/2006/relationships/image" Target="../media/image111.png"/><Relationship Id="rId15" Type="http://schemas.openxmlformats.org/officeDocument/2006/relationships/image" Target="../media/image121.png"/><Relationship Id="rId10" Type="http://schemas.openxmlformats.org/officeDocument/2006/relationships/image" Target="../media/image116.png"/><Relationship Id="rId4" Type="http://schemas.openxmlformats.org/officeDocument/2006/relationships/image" Target="../media/image110.png"/><Relationship Id="rId9" Type="http://schemas.openxmlformats.org/officeDocument/2006/relationships/image" Target="../media/image115.png"/><Relationship Id="rId14" Type="http://schemas.openxmlformats.org/officeDocument/2006/relationships/image" Target="../media/image12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3" Type="http://schemas.openxmlformats.org/officeDocument/2006/relationships/image" Target="../media/image125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10" Type="http://schemas.openxmlformats.org/officeDocument/2006/relationships/image" Target="../media/image132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13" Type="http://schemas.openxmlformats.org/officeDocument/2006/relationships/image" Target="../media/image150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12" Type="http://schemas.openxmlformats.org/officeDocument/2006/relationships/image" Target="../media/image14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3.png"/><Relationship Id="rId11" Type="http://schemas.openxmlformats.org/officeDocument/2006/relationships/image" Target="../media/image148.png"/><Relationship Id="rId5" Type="http://schemas.openxmlformats.org/officeDocument/2006/relationships/image" Target="../media/image142.png"/><Relationship Id="rId15" Type="http://schemas.openxmlformats.org/officeDocument/2006/relationships/image" Target="../media/image152.png"/><Relationship Id="rId10" Type="http://schemas.openxmlformats.org/officeDocument/2006/relationships/image" Target="../media/image147.png"/><Relationship Id="rId4" Type="http://schemas.openxmlformats.org/officeDocument/2006/relationships/image" Target="../media/image141.png"/><Relationship Id="rId9" Type="http://schemas.openxmlformats.org/officeDocument/2006/relationships/image" Target="../media/image146.png"/><Relationship Id="rId14" Type="http://schemas.openxmlformats.org/officeDocument/2006/relationships/image" Target="../media/image1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2.png"/><Relationship Id="rId3" Type="http://schemas.openxmlformats.org/officeDocument/2006/relationships/image" Target="../media/image167.png"/><Relationship Id="rId7" Type="http://schemas.openxmlformats.org/officeDocument/2006/relationships/image" Target="../media/image17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9.png"/><Relationship Id="rId4" Type="http://schemas.openxmlformats.org/officeDocument/2006/relationships/image" Target="../media/image168.png"/><Relationship Id="rId9" Type="http://schemas.openxmlformats.org/officeDocument/2006/relationships/image" Target="../media/image17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png"/><Relationship Id="rId3" Type="http://schemas.openxmlformats.org/officeDocument/2006/relationships/image" Target="../media/image176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10" Type="http://schemas.openxmlformats.org/officeDocument/2006/relationships/image" Target="../media/image183.png"/><Relationship Id="rId4" Type="http://schemas.openxmlformats.org/officeDocument/2006/relationships/image" Target="../media/image177.png"/><Relationship Id="rId9" Type="http://schemas.openxmlformats.org/officeDocument/2006/relationships/image" Target="../media/image18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9.png"/><Relationship Id="rId3" Type="http://schemas.openxmlformats.org/officeDocument/2006/relationships/image" Target="../media/image184.png"/><Relationship Id="rId7" Type="http://schemas.openxmlformats.org/officeDocument/2006/relationships/image" Target="../media/image18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7.png"/><Relationship Id="rId5" Type="http://schemas.openxmlformats.org/officeDocument/2006/relationships/image" Target="../media/image186.png"/><Relationship Id="rId10" Type="http://schemas.openxmlformats.org/officeDocument/2006/relationships/image" Target="../media/image191.png"/><Relationship Id="rId4" Type="http://schemas.openxmlformats.org/officeDocument/2006/relationships/image" Target="../media/image185.png"/><Relationship Id="rId9" Type="http://schemas.openxmlformats.org/officeDocument/2006/relationships/image" Target="../media/image1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2313803-B6B4-E34A-8BEA-3A2D849E808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1</a:t>
            </a:fld>
            <a:endParaRPr lang="en-US" altLang="zh-CN" dirty="0"/>
          </a:p>
        </p:txBody>
      </p:sp>
      <p:pic>
        <p:nvPicPr>
          <p:cNvPr id="174" name="图像" descr="图像"/>
          <p:cNvPicPr>
            <a:picLocks noChangeAspect="1"/>
          </p:cNvPicPr>
          <p:nvPr/>
        </p:nvPicPr>
        <p:blipFill rotWithShape="1">
          <a:blip r:embed="rId2"/>
          <a:srcRect l="19478" r="22323" b="12476"/>
          <a:stretch/>
        </p:blipFill>
        <p:spPr>
          <a:xfrm>
            <a:off x="9510168" y="4264080"/>
            <a:ext cx="1909273" cy="2064824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345B8A9-25A5-9310-EAB9-97FA1DC96844}"/>
              </a:ext>
            </a:extLst>
          </p:cNvPr>
          <p:cNvSpPr/>
          <p:nvPr/>
        </p:nvSpPr>
        <p:spPr>
          <a:xfrm>
            <a:off x="1" y="1486453"/>
            <a:ext cx="12192001" cy="1942548"/>
          </a:xfrm>
          <a:prstGeom prst="rect">
            <a:avLst/>
          </a:prstGeom>
          <a:solidFill>
            <a:srgbClr val="254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4400" b="1" dirty="0">
                <a:solidFill>
                  <a:schemeClr val="bg1"/>
                </a:solidFill>
                <a:sym typeface="Arial" panose="020B0604020202090204"/>
              </a:rPr>
              <a:t>工程数学</a:t>
            </a:r>
            <a:r>
              <a:rPr lang="en-US" altLang="zh-CN" sz="4400" b="1" dirty="0">
                <a:solidFill>
                  <a:schemeClr val="bg1"/>
                </a:solidFill>
                <a:sym typeface="Arial" panose="020B0604020202090204"/>
              </a:rPr>
              <a:t>-</a:t>
            </a:r>
            <a:r>
              <a:rPr lang="zh-CN" altLang="en-US" sz="4400" b="1" dirty="0">
                <a:solidFill>
                  <a:schemeClr val="bg1"/>
                </a:solidFill>
                <a:sym typeface="Arial" panose="020B0604020202090204"/>
              </a:rPr>
              <a:t>数理方程</a:t>
            </a:r>
            <a:endParaRPr lang="en-US" altLang="zh-CN" sz="4400" b="1" dirty="0">
              <a:solidFill>
                <a:schemeClr val="bg1"/>
              </a:solidFill>
              <a:sym typeface="Arial" panose="020B0604020202090204"/>
            </a:endParaRPr>
          </a:p>
          <a:p>
            <a:pPr lvl="0" algn="ctr"/>
            <a:r>
              <a:rPr lang="zh-CN" altLang="en-US" sz="4400" b="1" dirty="0">
                <a:solidFill>
                  <a:schemeClr val="bg1"/>
                </a:solidFill>
                <a:sym typeface="Arial" panose="020B0604020202090204"/>
              </a:rPr>
              <a:t>互助课堂</a:t>
            </a:r>
            <a:endParaRPr lang="en-US" altLang="zh-CN" sz="4400" b="1" dirty="0">
              <a:solidFill>
                <a:schemeClr val="bg1"/>
              </a:solidFill>
              <a:sym typeface="Arial" panose="020B0604020202090204"/>
            </a:endParaRP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E6D9565A-B456-B39E-7EEC-DF86EA889412}"/>
              </a:ext>
            </a:extLst>
          </p:cNvPr>
          <p:cNvSpPr txBox="1"/>
          <p:nvPr/>
        </p:nvSpPr>
        <p:spPr>
          <a:xfrm>
            <a:off x="3483780" y="4731241"/>
            <a:ext cx="522444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By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张皓东</a:t>
            </a:r>
            <a:endParaRPr lang="pt-PT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南方科技大学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电子与电气工程系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通信工程</a:t>
            </a:r>
            <a:endParaRPr lang="en-US" altLang="zh-CN" sz="2000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  <a:hlinkClick r:id="rId3"/>
              </a:rPr>
              <a:t>zhanghd2021@mail.sustech.edu.cn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cs typeface="Times New Roman" panose="02020603050405020304" pitchFamily="18" charset="0"/>
              </a:rPr>
              <a:t>2024.12.22</a:t>
            </a:r>
            <a:endParaRPr lang="pt-PT" altLang="zh-CN" dirty="0">
              <a:latin typeface="Microsoft YaHei" panose="020B0503020204020204" pitchFamily="34" charset="-122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35818-9F27-E921-CA75-219A93ABC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B607F3EF-7442-42F2-53F3-EC92120D6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b="1" dirty="0"/>
              <a:t>ODE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149E67-C185-8F33-E670-DAA53132D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37CF894-0A00-70FF-631A-8BBEE62AF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92" y="2019300"/>
            <a:ext cx="8574248" cy="36737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5E3ACA5-B6F5-EF8D-DD8E-85A8A0307F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17" y="1282063"/>
            <a:ext cx="8882858" cy="742093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BD66E5E-77F5-14D6-BF66-1DABBEAF83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667" y="2459975"/>
            <a:ext cx="9349583" cy="8354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0861D4F-692C-AB1F-99C2-FD339A30FAD8}"/>
              </a:ext>
            </a:extLst>
          </p:cNvPr>
          <p:cNvSpPr txBox="1"/>
          <p:nvPr/>
        </p:nvSpPr>
        <p:spPr>
          <a:xfrm>
            <a:off x="213516" y="3295394"/>
            <a:ext cx="1154985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分类：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可分离变量的微分方程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Separable Equations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齐次方程（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Homogeneous Equations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一阶线性微分方程 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Linear First Order Equations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）：齐次、非齐次、伯努利方程，全微分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二阶线性微分方程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(Second-order Linear Equations)</a:t>
            </a:r>
          </a:p>
          <a:p>
            <a:pPr lvl="1">
              <a:lnSpc>
                <a:spcPct val="150000"/>
              </a:lnSpc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    —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可降阶的、齐次、非齐次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6928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DBEDD-02CE-50DA-2BB3-CF7DDB710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F03D90EF-83DF-1295-5CEB-0912A3BE3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ODE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512AC42-AF35-F4E8-6A05-0F8C41C11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3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6D90C03-2F8C-6369-6BA9-2718C08BF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295" y="2934810"/>
            <a:ext cx="5843435" cy="110940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BF41493-42EE-CAD9-DCCF-5301B8103F87}"/>
              </a:ext>
            </a:extLst>
          </p:cNvPr>
          <p:cNvSpPr txBox="1"/>
          <p:nvPr/>
        </p:nvSpPr>
        <p:spPr>
          <a:xfrm>
            <a:off x="0" y="1263134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可分离变量的微分方程 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Separable Equations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59CD3C-522E-6271-065E-06B2BF30B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552" y="1667758"/>
            <a:ext cx="1976780" cy="58014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DA49ED7-6CEC-5631-9869-BCCE56971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83629" y="1682369"/>
            <a:ext cx="1790950" cy="54300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C92E08E-CAEA-F3DC-A179-3F57D11EEE63}"/>
              </a:ext>
            </a:extLst>
          </p:cNvPr>
          <p:cNvSpPr txBox="1"/>
          <p:nvPr/>
        </p:nvSpPr>
        <p:spPr>
          <a:xfrm>
            <a:off x="2581275" y="1776375"/>
            <a:ext cx="533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e.g.</a:t>
            </a:r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7A30C6-8ABD-9C79-A99F-77211D0117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4579" y="1642283"/>
            <a:ext cx="1514686" cy="58308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9D12421-0CA0-E784-30D5-685AB88F5321}"/>
              </a:ext>
            </a:extLst>
          </p:cNvPr>
          <p:cNvSpPr txBox="1"/>
          <p:nvPr/>
        </p:nvSpPr>
        <p:spPr>
          <a:xfrm>
            <a:off x="57025" y="2319376"/>
            <a:ext cx="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Note: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C15BC9E-1842-D87A-BC69-6DAB77D971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56" y="2298128"/>
            <a:ext cx="3238952" cy="39058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20775659-6EF8-3038-3C21-798DA04507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51843" y="2235150"/>
            <a:ext cx="1514686" cy="409632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EC76E76-10F5-D91E-477D-B9AC47A83BDA}"/>
              </a:ext>
            </a:extLst>
          </p:cNvPr>
          <p:cNvCxnSpPr>
            <a:cxnSpLocks/>
          </p:cNvCxnSpPr>
          <p:nvPr/>
        </p:nvCxnSpPr>
        <p:spPr>
          <a:xfrm>
            <a:off x="5943600" y="2439966"/>
            <a:ext cx="5562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76846842-7D6B-C71F-69F0-65877A01E8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2090" y="2098076"/>
            <a:ext cx="4980307" cy="717648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AC57DA4-2C46-296A-8227-FEECDA13A5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84676" y="2774702"/>
            <a:ext cx="3953189" cy="187609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5D909EC-ABF9-9D64-531D-570BA3C274AB}"/>
              </a:ext>
            </a:extLst>
          </p:cNvPr>
          <p:cNvSpPr/>
          <p:nvPr/>
        </p:nvSpPr>
        <p:spPr>
          <a:xfrm>
            <a:off x="7706942" y="2662862"/>
            <a:ext cx="4104058" cy="2061538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0865922-AE1A-F110-5F56-C2961340C3D6}"/>
              </a:ext>
            </a:extLst>
          </p:cNvPr>
          <p:cNvSpPr/>
          <p:nvPr/>
        </p:nvSpPr>
        <p:spPr>
          <a:xfrm>
            <a:off x="372302" y="2859997"/>
            <a:ext cx="5723697" cy="1353213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2353D25-ABB2-BAF7-EE01-D847B54E0B8C}"/>
              </a:ext>
            </a:extLst>
          </p:cNvPr>
          <p:cNvSpPr txBox="1"/>
          <p:nvPr/>
        </p:nvSpPr>
        <p:spPr>
          <a:xfrm>
            <a:off x="0" y="4468229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齐次方程（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Homogeneous Equations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97F42CA1-1A46-AFA0-2A91-4CF721934D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2302" y="4880272"/>
            <a:ext cx="3428173" cy="757090"/>
          </a:xfrm>
          <a:prstGeom prst="rect">
            <a:avLst/>
          </a:prstGeom>
        </p:spPr>
      </p:pic>
      <p:pic>
        <p:nvPicPr>
          <p:cNvPr id="29" name="图片 28">
            <a:extLst>
              <a:ext uri="{FF2B5EF4-FFF2-40B4-BE49-F238E27FC236}">
                <a16:creationId xmlns:a16="http://schemas.microsoft.com/office/drawing/2014/main" id="{48D6C204-E0ED-AC82-F3C8-77F59A1E4A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59289" y="4968032"/>
            <a:ext cx="924054" cy="495369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658F516-92CD-AD4B-CD88-7A2C3623494D}"/>
              </a:ext>
            </a:extLst>
          </p:cNvPr>
          <p:cNvCxnSpPr>
            <a:cxnSpLocks/>
          </p:cNvCxnSpPr>
          <p:nvPr/>
        </p:nvCxnSpPr>
        <p:spPr>
          <a:xfrm>
            <a:off x="3800475" y="5258817"/>
            <a:ext cx="5562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8D526A5B-C55E-55FA-EC79-CE15499E44F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502" y="5823737"/>
            <a:ext cx="2538085" cy="616506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8FD69741-AB41-F1E3-195D-FBA6E6A99B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71750" y="5799296"/>
            <a:ext cx="5011313" cy="616506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AFEF218C-3F80-C5BA-ABD0-98F2AED60780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787226" y="5499703"/>
            <a:ext cx="2143424" cy="1133633"/>
          </a:xfrm>
          <a:prstGeom prst="rect">
            <a:avLst/>
          </a:prstGeom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5A88A0FE-8836-D1AF-AC05-EBE79A3F9E05}"/>
              </a:ext>
            </a:extLst>
          </p:cNvPr>
          <p:cNvSpPr txBox="1"/>
          <p:nvPr/>
        </p:nvSpPr>
        <p:spPr>
          <a:xfrm>
            <a:off x="242887" y="5928274"/>
            <a:ext cx="5332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e.g.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16475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F6A43-735A-259F-1834-8A9400FC7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04C0C97C-8AC1-EC3A-182E-E2EC75DFE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ODE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DE40E60-6207-A909-7675-4233C653D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4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EC6772-9437-6866-55F9-401BE0630AE7}"/>
              </a:ext>
            </a:extLst>
          </p:cNvPr>
          <p:cNvSpPr txBox="1"/>
          <p:nvPr/>
        </p:nvSpPr>
        <p:spPr>
          <a:xfrm>
            <a:off x="137043" y="11135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一阶线性微分方程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0D9742-9BB4-F575-8E48-305B8C045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62" y="1572479"/>
            <a:ext cx="1834666" cy="60184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4237042-962A-CCBD-683B-5B3F5907F929}"/>
              </a:ext>
            </a:extLst>
          </p:cNvPr>
          <p:cNvSpPr txBox="1"/>
          <p:nvPr/>
        </p:nvSpPr>
        <p:spPr>
          <a:xfrm>
            <a:off x="395162" y="2225384"/>
            <a:ext cx="570083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齐次（</a:t>
            </a:r>
            <a:r>
              <a:rPr lang="en-US" altLang="zh-CN" dirty="0"/>
              <a:t>Homogeneous</a:t>
            </a:r>
            <a:r>
              <a:rPr lang="zh-CN" altLang="en-US" dirty="0"/>
              <a:t>）：</a:t>
            </a:r>
            <a:r>
              <a:rPr lang="en-US" altLang="zh-CN" dirty="0"/>
              <a:t>Q = 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非齐次：</a:t>
            </a:r>
            <a:r>
              <a:rPr lang="en-US" altLang="zh-CN" dirty="0"/>
              <a:t> Q </a:t>
            </a:r>
            <a:r>
              <a:rPr lang="zh-CN" altLang="en-US" dirty="0"/>
              <a:t>≠</a:t>
            </a:r>
            <a:r>
              <a:rPr lang="en-US" altLang="zh-CN" dirty="0"/>
              <a:t> 0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伯努利方程（</a:t>
            </a:r>
            <a:r>
              <a:rPr lang="en-US" altLang="zh-CN" dirty="0"/>
              <a:t>The Bernoulli Equation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/>
          </a:p>
          <a:p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/>
              <a:t>全微分方程（</a:t>
            </a:r>
            <a:r>
              <a:rPr lang="en-US" altLang="zh-CN" dirty="0"/>
              <a:t>Exact Equations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FE4C78D-E050-33AE-34E5-F377635297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231" y="1320475"/>
            <a:ext cx="4496270" cy="219081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5441348-9257-ECC0-9A0B-240DD5B710F2}"/>
              </a:ext>
            </a:extLst>
          </p:cNvPr>
          <p:cNvSpPr/>
          <p:nvPr/>
        </p:nvSpPr>
        <p:spPr>
          <a:xfrm>
            <a:off x="5820991" y="1177534"/>
            <a:ext cx="4656509" cy="2333757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196B427-19B2-5CF8-B89F-2A24ECDED0D3}"/>
              </a:ext>
            </a:extLst>
          </p:cNvPr>
          <p:cNvCxnSpPr>
            <a:cxnSpLocks/>
          </p:cNvCxnSpPr>
          <p:nvPr/>
        </p:nvCxnSpPr>
        <p:spPr>
          <a:xfrm>
            <a:off x="4457700" y="2392341"/>
            <a:ext cx="116586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ED1DC4D6-357B-7F79-A053-7D14DCC728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261" y="2864236"/>
            <a:ext cx="4583003" cy="63505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46A48EA3-2C5B-473B-4134-248425A481BF}"/>
              </a:ext>
            </a:extLst>
          </p:cNvPr>
          <p:cNvSpPr txBox="1"/>
          <p:nvPr/>
        </p:nvSpPr>
        <p:spPr>
          <a:xfrm>
            <a:off x="708609" y="3429000"/>
            <a:ext cx="31386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b="0" i="0" dirty="0">
                <a:solidFill>
                  <a:srgbClr val="00B050"/>
                </a:solidFill>
                <a:effectLst/>
                <a:latin typeface="TimesNewRomanPSMT"/>
              </a:rPr>
              <a:t>(</a:t>
            </a:r>
            <a:r>
              <a:rPr lang="zh-CN" altLang="en-US" sz="2000" b="0" i="0" dirty="0">
                <a:solidFill>
                  <a:srgbClr val="00B050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常数变异法</a:t>
            </a:r>
            <a:r>
              <a:rPr lang="en-US" altLang="zh-CN" sz="2000" b="0" i="0" dirty="0">
                <a:solidFill>
                  <a:srgbClr val="00B050"/>
                </a:solidFill>
                <a:effectLst/>
                <a:latin typeface="TimesNewRomanPSM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B050"/>
                </a:solidFill>
                <a:latin typeface="TimesNewRomanPSMT"/>
              </a:rPr>
              <a:t>y=v(x) u(x)</a:t>
            </a:r>
            <a:r>
              <a:rPr lang="zh-CN" altLang="en-US" sz="2000" dirty="0"/>
              <a:t> 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BF32004-7779-2B97-CBC8-B42DE38616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4568" y="3663020"/>
            <a:ext cx="6868084" cy="43856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01D8539-DB01-38F0-1596-0028B16DA8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75" y="4861764"/>
            <a:ext cx="1943372" cy="48584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D3C7A5E-E9DE-8BE9-BE76-AE6199777B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22155" y="4774923"/>
            <a:ext cx="3112450" cy="947671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66CB3DC-154C-05B7-DB4A-F687DD8AA66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4700908"/>
            <a:ext cx="1149241" cy="411811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DEAFAB1-544B-2B28-3B25-3ABED055F0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2912" y="4687834"/>
            <a:ext cx="1952898" cy="46679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2FD2128-E7D8-5B3D-A8C6-B4DBECC7AF2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1008" y="5112719"/>
            <a:ext cx="4174381" cy="804807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4E21D4DF-4264-DF0F-F95C-C821D35762C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45581" y="6195702"/>
            <a:ext cx="1081179" cy="583994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37AE0B2-8FA0-E4CD-C4DC-AE0A9D6C25A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775" y="6263058"/>
            <a:ext cx="1819529" cy="438211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8FC169F-C18B-6E48-3965-8541B285671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07772" y="6264163"/>
            <a:ext cx="2543530" cy="457264"/>
          </a:xfrm>
          <a:prstGeom prst="rect">
            <a:avLst/>
          </a:prstGeom>
        </p:spPr>
      </p:pic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6791E7C-4DE2-806F-A691-698114DEDC44}"/>
              </a:ext>
            </a:extLst>
          </p:cNvPr>
          <p:cNvCxnSpPr>
            <a:cxnSpLocks/>
          </p:cNvCxnSpPr>
          <p:nvPr/>
        </p:nvCxnSpPr>
        <p:spPr>
          <a:xfrm>
            <a:off x="4393902" y="6492795"/>
            <a:ext cx="71387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E3EA8DF5-F4A6-5D69-F00F-91BFCD585F00}"/>
              </a:ext>
            </a:extLst>
          </p:cNvPr>
          <p:cNvSpPr txBox="1"/>
          <p:nvPr/>
        </p:nvSpPr>
        <p:spPr>
          <a:xfrm>
            <a:off x="2892580" y="6272583"/>
            <a:ext cx="381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If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040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32897-E1BF-A87D-3506-ACF39A924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C0368800-5846-908E-49F1-2D049A28E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ODE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FF98D13-D261-4E8B-0B05-8B906A71C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6836" y="6498561"/>
            <a:ext cx="722059" cy="308344"/>
          </a:xfrm>
        </p:spPr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5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2E62191-A747-8678-0AC5-0A36A4B5B482}"/>
              </a:ext>
            </a:extLst>
          </p:cNvPr>
          <p:cNvSpPr txBox="1"/>
          <p:nvPr/>
        </p:nvSpPr>
        <p:spPr>
          <a:xfrm>
            <a:off x="137043" y="11135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二阶线性微分方程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(Second-order Linear Equations)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E245AFA-8789-F5AC-3EE8-E0EE1FB1D147}"/>
              </a:ext>
            </a:extLst>
          </p:cNvPr>
          <p:cNvSpPr txBox="1"/>
          <p:nvPr/>
        </p:nvSpPr>
        <p:spPr>
          <a:xfrm>
            <a:off x="551255" y="1613819"/>
            <a:ext cx="5700838" cy="212090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/>
              <a:t>可降阶的微分方程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Variable x missing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Variable y missing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齐次</a:t>
            </a:r>
            <a:r>
              <a:rPr lang="zh-CN" altLang="en-US" dirty="0"/>
              <a:t>（</a:t>
            </a:r>
            <a:r>
              <a:rPr lang="en-US" altLang="zh-CN" dirty="0"/>
              <a:t>Homogeneous</a:t>
            </a:r>
            <a:r>
              <a:rPr lang="zh-CN" altLang="en-US" dirty="0"/>
              <a:t>）：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743EC4E-FFF1-D5C3-0224-C6BF9B531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716" y="2082798"/>
            <a:ext cx="1473335" cy="45890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F4E3318-2339-65B8-DB21-7DD614E9F9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6860" y="2046641"/>
            <a:ext cx="2847656" cy="53393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91AC3A7-0C13-6707-5482-E880F0D7AD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1006" y="2056166"/>
            <a:ext cx="1517007" cy="51736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EB2DC3A-1B2C-549C-2CD4-E465B10F0E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2716" y="2496383"/>
            <a:ext cx="1529692" cy="45890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5095BA-FF2C-3952-8DF8-EDF1214897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0211" y="2904328"/>
            <a:ext cx="1836389" cy="42964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08318B2-984B-DC8B-05A6-53C280F42B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2892" y="3144134"/>
            <a:ext cx="2772162" cy="73352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424E31B-437A-8952-4630-35D5D357178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3486" y="3803968"/>
            <a:ext cx="4582164" cy="41915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EBC44CD-7510-904B-0123-6792D573C05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6758" y="3600283"/>
            <a:ext cx="5945242" cy="50355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1A6163F-314D-22A6-D733-2046300673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3261" y="4274622"/>
            <a:ext cx="7451255" cy="80805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DF933B7-2B89-8291-1B0D-0B29C49EC53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80471" y="5229279"/>
            <a:ext cx="7603873" cy="457264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C2FF972-58E7-A7CE-2C00-315034DF72CC}"/>
              </a:ext>
            </a:extLst>
          </p:cNvPr>
          <p:cNvCxnSpPr>
            <a:cxnSpLocks/>
          </p:cNvCxnSpPr>
          <p:nvPr/>
        </p:nvCxnSpPr>
        <p:spPr>
          <a:xfrm flipV="1">
            <a:off x="6527502" y="4032250"/>
            <a:ext cx="359073" cy="387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5C186C2E-3FD0-9AF2-974A-440AB9650D7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89653" y="5711256"/>
            <a:ext cx="1789973" cy="330457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A8427567-3940-A94D-4676-58A9E0D75341}"/>
              </a:ext>
            </a:extLst>
          </p:cNvPr>
          <p:cNvSpPr txBox="1"/>
          <p:nvPr/>
        </p:nvSpPr>
        <p:spPr>
          <a:xfrm>
            <a:off x="551255" y="5222852"/>
            <a:ext cx="4934395" cy="1295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Equal roots: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Complex conjugate roots: </a:t>
            </a:r>
            <a:endParaRPr lang="zh-CN" altLang="en-US" dirty="0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D0926BB-2FF4-2802-9621-44264AD0EF1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1843" y="6041713"/>
            <a:ext cx="4699391" cy="46332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068A128-5746-FF01-37D0-74A5BC8A40D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88049" y="5564105"/>
            <a:ext cx="2803951" cy="381202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F9C7503-EE72-F41D-BC18-9B1C7FD3B5A0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8951234" y="5754706"/>
            <a:ext cx="436815" cy="48064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15A4CAB8-D4AC-6535-11EC-E78D254C6A37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3600" t="-2604"/>
          <a:stretch/>
        </p:blipFill>
        <p:spPr>
          <a:xfrm>
            <a:off x="9591261" y="6082772"/>
            <a:ext cx="2222390" cy="381202"/>
          </a:xfrm>
          <a:prstGeom prst="rect">
            <a:avLst/>
          </a:prstGeom>
        </p:spPr>
      </p:pic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DBCB407-B553-75B3-8E3E-26402171FBED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8951234" y="6232314"/>
            <a:ext cx="554716" cy="4105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310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8F9C2-0BD3-26BE-870E-18F339D9F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A0698164-9ED0-CE6C-AAFB-900D0C304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b="1" dirty="0"/>
              <a:t>ODE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DE3E61-569E-C6A7-C6EE-B396AC751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6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88E2DA-6A42-4E56-39B2-FC5ED85F176E}"/>
              </a:ext>
            </a:extLst>
          </p:cNvPr>
          <p:cNvSpPr txBox="1"/>
          <p:nvPr/>
        </p:nvSpPr>
        <p:spPr>
          <a:xfrm>
            <a:off x="137043" y="11135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振动模型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A5C266D-6327-AB97-BE09-774549DD4D39}"/>
              </a:ext>
            </a:extLst>
          </p:cNvPr>
          <p:cNvSpPr txBox="1"/>
          <p:nvPr/>
        </p:nvSpPr>
        <p:spPr>
          <a:xfrm>
            <a:off x="509576" y="1715419"/>
            <a:ext cx="785706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Simple Harmonic Motion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（简谐振动，无阻尼自由振动）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有阻尼振动模型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4B7A880-1E59-8D9B-E357-BC693619A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177" y="2181487"/>
            <a:ext cx="1524673" cy="6464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BF7D7653-08B1-77D1-962A-EBC8528B20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228" y="2081072"/>
            <a:ext cx="2581735" cy="107447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BCA5E46-FAF0-E0A6-B058-EA41B0BB6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1228" y="3298491"/>
            <a:ext cx="3185197" cy="56850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A0CAFF-3DDF-E784-B5B0-E740D9EEB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6425" y="3200099"/>
            <a:ext cx="2541868" cy="71144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A8BC114-5013-B722-4466-38C23D1AD5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77" y="3965390"/>
            <a:ext cx="3938022" cy="6712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0BAADF1-C7CF-6A0A-EEA8-526E92190B0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576" y="4833582"/>
            <a:ext cx="4491049" cy="109630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D53C021-491D-86CC-1DC2-72E03BB1E8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7662" y="4121834"/>
            <a:ext cx="3050631" cy="137278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3957230-0C70-0298-04E9-16FE4A15E7BC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-1" r="2695"/>
          <a:stretch/>
        </p:blipFill>
        <p:spPr>
          <a:xfrm>
            <a:off x="8683295" y="4023743"/>
            <a:ext cx="3203077" cy="148348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5E461D2-093D-19F1-128B-7C939797910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791" y="4212034"/>
            <a:ext cx="852418" cy="31965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3EAB24E5-93C5-3C66-AE72-57C2678E8D6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25403" y="4539582"/>
            <a:ext cx="1689866" cy="36846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83610AA-EE49-CDCF-2A90-280775360BA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7001" y="4581249"/>
            <a:ext cx="1733962" cy="368467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CAD3C62F-BACB-2D83-3E23-6CA3B2B4BF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77001" y="4163224"/>
            <a:ext cx="1008754" cy="368467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885311B1-46DA-9E8D-9D7B-6497C1C3566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22844" y="5498545"/>
            <a:ext cx="3101796" cy="130762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CC661C4B-F13F-C99F-BF95-7DD72BBDF72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269157" y="5944072"/>
            <a:ext cx="1713950" cy="312642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FB52B34-E8BF-CFE2-6F4D-14714E78A72C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05326" y="5724224"/>
            <a:ext cx="2753024" cy="34050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7CABC563-57A6-B300-D593-B1F89557F834}"/>
              </a:ext>
            </a:extLst>
          </p:cNvPr>
          <p:cNvSpPr/>
          <p:nvPr/>
        </p:nvSpPr>
        <p:spPr>
          <a:xfrm>
            <a:off x="5139348" y="3911546"/>
            <a:ext cx="6747024" cy="2894619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777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213BF-4C46-0EC8-DE07-3FF78122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D761FECA-1851-C57F-E281-51B593FF6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ODE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30834E-3B99-BD82-C842-BE47F5783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7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052321F-6CA9-CA32-A94E-CFE13ADA9B4F}"/>
              </a:ext>
            </a:extLst>
          </p:cNvPr>
          <p:cNvSpPr txBox="1"/>
          <p:nvPr/>
        </p:nvSpPr>
        <p:spPr>
          <a:xfrm>
            <a:off x="137043" y="9611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二阶线性微分方程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(Second-order Linear Equations)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93B3BE-982E-EF75-55CD-CDDCD521D8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0262" y="1460216"/>
            <a:ext cx="2489509" cy="5150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E511059-86AD-740C-F9DE-680A199EAB95}"/>
              </a:ext>
            </a:extLst>
          </p:cNvPr>
          <p:cNvSpPr txBox="1"/>
          <p:nvPr/>
        </p:nvSpPr>
        <p:spPr>
          <a:xfrm>
            <a:off x="543865" y="1467221"/>
            <a:ext cx="1398926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非齐次</a:t>
            </a:r>
            <a:r>
              <a:rPr lang="zh-CN" altLang="en-US" dirty="0"/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C724321-2F30-B120-E143-201664733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930" y="1485666"/>
            <a:ext cx="1352739" cy="42868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0134E3E-C27B-B472-0ABA-F367F10F82A3}"/>
              </a:ext>
            </a:extLst>
          </p:cNvPr>
          <p:cNvSpPr txBox="1"/>
          <p:nvPr/>
        </p:nvSpPr>
        <p:spPr>
          <a:xfrm>
            <a:off x="1090870" y="2050015"/>
            <a:ext cx="726174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Successive Integration of Two First-Order Equations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常数变易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Exponential Right-Hand Side 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EEA4592-3EB8-4ADF-9C82-65C352FBF7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1696" y="2413908"/>
            <a:ext cx="4644304" cy="257237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3AEA9FE-DCB3-D273-3B39-F562A4A0DF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9771" y="5122601"/>
            <a:ext cx="3312855" cy="455517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CF656B10-C78A-FAC4-E276-33C1A7209A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1529" y="4169347"/>
            <a:ext cx="4176336" cy="1023341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54C7376C-F738-A846-2E76-D72474CC7C21}"/>
              </a:ext>
            </a:extLst>
          </p:cNvPr>
          <p:cNvCxnSpPr>
            <a:cxnSpLocks/>
          </p:cNvCxnSpPr>
          <p:nvPr/>
        </p:nvCxnSpPr>
        <p:spPr>
          <a:xfrm flipV="1">
            <a:off x="7102326" y="4867441"/>
            <a:ext cx="359073" cy="3872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id="{E62C8EAE-8F77-9DAF-085A-F1DC4AC9F726}"/>
              </a:ext>
            </a:extLst>
          </p:cNvPr>
          <p:cNvSpPr/>
          <p:nvPr/>
        </p:nvSpPr>
        <p:spPr>
          <a:xfrm>
            <a:off x="1446709" y="2339110"/>
            <a:ext cx="5439866" cy="2647172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F9AE7C59-2267-BA10-0EE2-757E1B9697D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7169" y="2200922"/>
            <a:ext cx="3917287" cy="1413711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78382131-2A27-58BA-82E9-A15430E87347}"/>
              </a:ext>
            </a:extLst>
          </p:cNvPr>
          <p:cNvSpPr/>
          <p:nvPr/>
        </p:nvSpPr>
        <p:spPr>
          <a:xfrm rot="16200000">
            <a:off x="9300572" y="3704073"/>
            <a:ext cx="490482" cy="35442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C13AC2B-F6A9-FE8A-32A0-3ED7D14FF1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0272" y="5593131"/>
            <a:ext cx="5511554" cy="127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698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1AC98-58E7-2D41-3CA6-F1DFFD5F7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2482D572-6C35-7509-1D87-04DA0484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ODE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EF3F42A-C0B1-8228-DCEC-E90B786D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8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C6EA1B-08DE-B04B-6A4A-A41569B8B57E}"/>
              </a:ext>
            </a:extLst>
          </p:cNvPr>
          <p:cNvSpPr txBox="1"/>
          <p:nvPr/>
        </p:nvSpPr>
        <p:spPr>
          <a:xfrm>
            <a:off x="100339" y="1472892"/>
            <a:ext cx="4193235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defRPr>
            </a:lvl1pPr>
          </a:lstStyle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其他二阶微分方程</a:t>
            </a:r>
            <a:r>
              <a:rPr lang="zh-CN" altLang="en-US" dirty="0"/>
              <a:t>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94D0E3F-F86C-CB13-C2E0-AE915369D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298" y="2107841"/>
            <a:ext cx="7313274" cy="35179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BA15A8F-C76E-814C-CDF2-30463F190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6957" y="5625778"/>
            <a:ext cx="2622694" cy="8863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6021DB9-9F96-2C00-7542-AE5A722C76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9998" y="2006976"/>
            <a:ext cx="4791925" cy="188215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9215A66-0BF0-0520-8A00-33BBE0770A5A}"/>
              </a:ext>
            </a:extLst>
          </p:cNvPr>
          <p:cNvSpPr txBox="1"/>
          <p:nvPr/>
        </p:nvSpPr>
        <p:spPr>
          <a:xfrm>
            <a:off x="-19050" y="992047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二阶线性微分方程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(Second-order Linear Equations)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BF982C6-B8FE-9000-F38B-312131DCE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4737" y="4863930"/>
            <a:ext cx="4788965" cy="30834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D11309C-FE28-FF16-297C-E65835255B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2373" y="5266410"/>
            <a:ext cx="4944075" cy="70004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F431C0F1-0851-A9D0-B6C5-8CC25B27D184}"/>
              </a:ext>
            </a:extLst>
          </p:cNvPr>
          <p:cNvSpPr txBox="1"/>
          <p:nvPr/>
        </p:nvSpPr>
        <p:spPr>
          <a:xfrm>
            <a:off x="7196609" y="4413808"/>
            <a:ext cx="17449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High-order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68AA00-8CA4-6B90-D923-3B2BD82B65BF}"/>
              </a:ext>
            </a:extLst>
          </p:cNvPr>
          <p:cNvSpPr/>
          <p:nvPr/>
        </p:nvSpPr>
        <p:spPr>
          <a:xfrm>
            <a:off x="7221354" y="1912749"/>
            <a:ext cx="4906116" cy="2045791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0E1BB16-7C3A-FF40-C66E-2D8E54FE2092}"/>
              </a:ext>
            </a:extLst>
          </p:cNvPr>
          <p:cNvSpPr/>
          <p:nvPr/>
        </p:nvSpPr>
        <p:spPr>
          <a:xfrm>
            <a:off x="7196609" y="4322574"/>
            <a:ext cx="4979839" cy="1822609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CAC223D-84DB-A404-EA39-4A63EE813732}"/>
              </a:ext>
            </a:extLst>
          </p:cNvPr>
          <p:cNvSpPr/>
          <p:nvPr/>
        </p:nvSpPr>
        <p:spPr>
          <a:xfrm>
            <a:off x="100339" y="2046114"/>
            <a:ext cx="7054481" cy="4466004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0612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B1AC-19DE-12BF-2826-B08120593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CD32E8E0-17FC-A430-8ECE-D4603F53B1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Transform and differentiation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ABDBB9-56B3-9929-B7B9-A4EC307EF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9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6B49259-42E0-DA28-B014-0590098B06C1}"/>
              </a:ext>
            </a:extLst>
          </p:cNvPr>
          <p:cNvSpPr txBox="1"/>
          <p:nvPr/>
        </p:nvSpPr>
        <p:spPr>
          <a:xfrm>
            <a:off x="137043" y="1113571"/>
            <a:ext cx="6115050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Laplace transform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070BCCD-38DD-4535-596B-49433E9BC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568" y="1644477"/>
            <a:ext cx="4129828" cy="87018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E890795-573E-82CF-0A9C-34B2A4705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1468" y="1720677"/>
            <a:ext cx="5172797" cy="171473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0086F48-1663-1AC1-7767-5C6A6E8B7710}"/>
              </a:ext>
            </a:extLst>
          </p:cNvPr>
          <p:cNvSpPr txBox="1"/>
          <p:nvPr/>
        </p:nvSpPr>
        <p:spPr>
          <a:xfrm>
            <a:off x="4902111" y="1180311"/>
            <a:ext cx="2129907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Convolution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7F9CD1E-FA13-FDC6-F831-76D7DEDA68B0}"/>
              </a:ext>
            </a:extLst>
          </p:cNvPr>
          <p:cNvSpPr txBox="1"/>
          <p:nvPr/>
        </p:nvSpPr>
        <p:spPr>
          <a:xfrm>
            <a:off x="137043" y="2782669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Partial differentiation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524E723-0DA0-70B4-892B-702D3D325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43" y="3561707"/>
            <a:ext cx="1634607" cy="74300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BB03B214-EA14-579A-1B14-37FBDD510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6361" y="3560173"/>
            <a:ext cx="2850963" cy="65546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7E597CD-C3D0-480A-A099-ACE0FED0C450}"/>
              </a:ext>
            </a:extLst>
          </p:cNvPr>
          <p:cNvSpPr txBox="1"/>
          <p:nvPr/>
        </p:nvSpPr>
        <p:spPr>
          <a:xfrm>
            <a:off x="527568" y="3105834"/>
            <a:ext cx="295858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About notation: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E9192917-4142-F4DB-1A62-6E4FCA9E31C0}"/>
              </a:ext>
            </a:extLst>
          </p:cNvPr>
          <p:cNvSpPr txBox="1"/>
          <p:nvPr/>
        </p:nvSpPr>
        <p:spPr>
          <a:xfrm>
            <a:off x="137043" y="4367247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Total differentials</a:t>
            </a:r>
            <a:endParaRPr lang="zh-CN" altLang="en-US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AABEC35-AD74-396F-4DE0-2864100FA0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942" y="4776403"/>
            <a:ext cx="2991208" cy="66162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CDFE960-E931-2400-34F8-DB780B8F49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89740" y="4746998"/>
            <a:ext cx="7534604" cy="800945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2F91AAB3-4A58-2586-CC6D-444D430AB474}"/>
              </a:ext>
            </a:extLst>
          </p:cNvPr>
          <p:cNvSpPr txBox="1"/>
          <p:nvPr/>
        </p:nvSpPr>
        <p:spPr>
          <a:xfrm>
            <a:off x="137043" y="5587767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p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Fourier Series and Transforms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C57D3E57-4C77-AC37-A07F-D4AF481E0C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7568" y="5996923"/>
            <a:ext cx="2841616" cy="710404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C7DBD1F-9ABD-75F3-7DE1-FBC18B1BE4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95452" y="5996923"/>
            <a:ext cx="2590883" cy="71040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D00FE4A-7764-C4D1-4F01-A2FE53A9768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2603" y="5991861"/>
            <a:ext cx="2741431" cy="71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24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00CEDE-F8D5-EB82-5D36-E22C1468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A4361D85-941F-9DED-E1D5-0DE7A05B3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D85C53F-D025-7511-BD78-9B29DAA4B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10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839C300-6977-B09F-7C52-85AEAC5752E2}"/>
              </a:ext>
            </a:extLst>
          </p:cNvPr>
          <p:cNvSpPr txBox="1"/>
          <p:nvPr/>
        </p:nvSpPr>
        <p:spPr>
          <a:xfrm>
            <a:off x="93105" y="2668485"/>
            <a:ext cx="5177907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齐次（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Homogeneous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w.r.t.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the operator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294F6A9-1A88-8778-B606-C49E01CC3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3" y="1209423"/>
            <a:ext cx="5177907" cy="116859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7AE5E2C-600A-2666-42A4-55F0D3076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9602" y="1220585"/>
            <a:ext cx="6619293" cy="28916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8D96DA4-1EBC-C39A-0BA6-4C0AA47C6F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696" y="3255842"/>
            <a:ext cx="3918205" cy="5991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C5EDCD3-536D-0B87-DBB7-C6AB0D3878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696" y="4007417"/>
            <a:ext cx="5177907" cy="332947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8BB1F92-2C60-1724-9AE2-3C575DAEA8A8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2609850" y="3657600"/>
            <a:ext cx="213800" cy="34981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3C6805DE-BCD6-17F2-CCB8-4954B30485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697" y="4872053"/>
            <a:ext cx="4908804" cy="45375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598A4D6-44FC-939F-5274-E2982C991573}"/>
              </a:ext>
            </a:extLst>
          </p:cNvPr>
          <p:cNvSpPr txBox="1"/>
          <p:nvPr/>
        </p:nvSpPr>
        <p:spPr>
          <a:xfrm>
            <a:off x="137043" y="4597102"/>
            <a:ext cx="6115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The auxiliary equation: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48FF2B0-45E2-26BF-8E5F-DD567700485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26878" y="4933314"/>
            <a:ext cx="6124739" cy="369331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0D682B4C-53DB-312B-F5C5-A00BE3BDAFE3}"/>
              </a:ext>
            </a:extLst>
          </p:cNvPr>
          <p:cNvCxnSpPr>
            <a:cxnSpLocks/>
          </p:cNvCxnSpPr>
          <p:nvPr/>
        </p:nvCxnSpPr>
        <p:spPr>
          <a:xfrm>
            <a:off x="5164112" y="5108686"/>
            <a:ext cx="42678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图片 19">
            <a:extLst>
              <a:ext uri="{FF2B5EF4-FFF2-40B4-BE49-F238E27FC236}">
                <a16:creationId xmlns:a16="http://schemas.microsoft.com/office/drawing/2014/main" id="{6E2E65F9-9A5B-1DE3-41E8-4E4C280C25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696" y="5503270"/>
            <a:ext cx="7432097" cy="1027251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40E8305A-CE75-0EA1-83DA-BBA2AD1DC200}"/>
              </a:ext>
            </a:extLst>
          </p:cNvPr>
          <p:cNvSpPr/>
          <p:nvPr/>
        </p:nvSpPr>
        <p:spPr>
          <a:xfrm>
            <a:off x="5412602" y="1134554"/>
            <a:ext cx="6753291" cy="3067965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3991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E5A07-A881-A5BC-C50E-18D617060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76FC6EA7-2E2A-FC67-EA8F-81EC0694D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F6A309-93D5-66E9-670B-0DBD78C93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11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5CB3B7-55B9-D064-CF90-C21325EC38EF}"/>
              </a:ext>
            </a:extLst>
          </p:cNvPr>
          <p:cNvSpPr txBox="1"/>
          <p:nvPr/>
        </p:nvSpPr>
        <p:spPr>
          <a:xfrm>
            <a:off x="137043" y="1077810"/>
            <a:ext cx="726388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非齐次（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Inhomogeneous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w.r.t.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the operator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9F1277A-A16C-9A24-BC80-47330D904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59" y="1536718"/>
            <a:ext cx="2727541" cy="7028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C4FA366-6DC1-BE3A-E59A-E21B97DE7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7877" y="1662946"/>
            <a:ext cx="2833962" cy="3182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2D91950-A9FE-6807-59D5-70FCB58D74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571" y="2346792"/>
            <a:ext cx="8031436" cy="1691807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87B4DA7-8094-479D-D360-22DC8689C983}"/>
              </a:ext>
            </a:extLst>
          </p:cNvPr>
          <p:cNvCxnSpPr>
            <a:cxnSpLocks/>
          </p:cNvCxnSpPr>
          <p:nvPr/>
        </p:nvCxnSpPr>
        <p:spPr>
          <a:xfrm>
            <a:off x="5174712" y="1981199"/>
            <a:ext cx="0" cy="36559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5548C315-602E-DAA2-DDA0-7E1125E8D1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59" y="4121306"/>
            <a:ext cx="8109248" cy="99416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80C2A67-3A15-D2E2-3E12-AB1A1497C610}"/>
              </a:ext>
            </a:extLst>
          </p:cNvPr>
          <p:cNvSpPr txBox="1"/>
          <p:nvPr/>
        </p:nvSpPr>
        <p:spPr>
          <a:xfrm>
            <a:off x="70368" y="5349660"/>
            <a:ext cx="726388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非齐次（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Inhomogeneous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）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w.r.t.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the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R.H.S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of the PDE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105E657-BBEF-FE18-FD02-616F0EF941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518" y="6014744"/>
            <a:ext cx="2719007" cy="579578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B847235-F6FF-9103-3E16-128E7E5D5BCB}"/>
              </a:ext>
            </a:extLst>
          </p:cNvPr>
          <p:cNvSpPr txBox="1"/>
          <p:nvPr/>
        </p:nvSpPr>
        <p:spPr>
          <a:xfrm>
            <a:off x="3514725" y="6159734"/>
            <a:ext cx="7067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To find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one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special solution (one is enough):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5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 scenarios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3090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66603-97BE-A025-4B05-D066FE10B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88EA67FD-1E78-6DBC-96FB-B945066F9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D7CEB83-84E1-A220-2882-09A15CB34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12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3B1FAB6-AF22-2AC7-63C0-A68B153965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3" y="970633"/>
            <a:ext cx="6930507" cy="128151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45AE754-8BDE-258C-26B4-D10D83DE0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2252145"/>
            <a:ext cx="8096993" cy="174835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6648FDA9-ABFD-0DBB-B759-72F973F870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7519" y="1955763"/>
            <a:ext cx="4391376" cy="105625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0466903-C755-47CB-D76F-1FF70956D1C9}"/>
              </a:ext>
            </a:extLst>
          </p:cNvPr>
          <p:cNvCxnSpPr>
            <a:cxnSpLocks/>
          </p:cNvCxnSpPr>
          <p:nvPr/>
        </p:nvCxnSpPr>
        <p:spPr>
          <a:xfrm flipV="1">
            <a:off x="8153400" y="3012022"/>
            <a:ext cx="723900" cy="68367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29D5205C-BB32-85CD-F5CD-A244817410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43" y="4179676"/>
            <a:ext cx="7121007" cy="261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9583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7576-C145-80B3-2FB5-BF27536DF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53E8958C-A93E-E1B8-42F7-CF32153B4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6FC9C1-A22E-4862-B7A5-80BCE850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13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CACDDD0-436A-B1F1-AB28-C1961E5BD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4826"/>
            <a:ext cx="8636292" cy="327751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AB05AC8-F0D1-A9B1-2F91-56A033AB80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19"/>
          <a:stretch/>
        </p:blipFill>
        <p:spPr>
          <a:xfrm>
            <a:off x="-2139" y="5094178"/>
            <a:ext cx="6763042" cy="9140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89895D9-175D-EFBF-1FCD-0E534FDF1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0903" y="4209461"/>
            <a:ext cx="5416032" cy="2430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0658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DF484-6D5B-5599-B8B7-12D271FCA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BC65566F-EE85-E02D-3B6D-1EF4C504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E921B2-6511-D586-7EE0-3CF3DF96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14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C34F875-9B78-0905-600C-301170DCA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" y="993466"/>
            <a:ext cx="6229353" cy="2160610"/>
          </a:xfrm>
          <a:prstGeom prst="rect">
            <a:avLst/>
          </a:prstGeom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81FB3E90-35BA-2627-7A69-1B3D435AA8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650" y="3092135"/>
            <a:ext cx="3695700" cy="34073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D7F95E0-22F7-1F61-F85D-D1764E17B4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404226"/>
            <a:ext cx="6867525" cy="34423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8CDD4DB-D802-CF16-D273-EB41409ACE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667" y="2358355"/>
            <a:ext cx="5159333" cy="335799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17B9FB8-72A6-E3BD-8057-66F97EBC5074}"/>
              </a:ext>
            </a:extLst>
          </p:cNvPr>
          <p:cNvSpPr/>
          <p:nvPr/>
        </p:nvSpPr>
        <p:spPr>
          <a:xfrm>
            <a:off x="6960307" y="2073770"/>
            <a:ext cx="5231693" cy="3755529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6589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41B5B-4B87-05D2-BEAD-0FB899EAC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9063B067-7E8F-DF42-6393-791F3E107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18DA789-7BA3-0FFC-5742-9D88A5EA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15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E04263-04AF-E057-04E9-5C459A08D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70631"/>
            <a:ext cx="5562600" cy="292674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F3442C24-AF64-A04E-D926-24843B958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6155" y="1202921"/>
            <a:ext cx="6682740" cy="915807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8B7139BC-D9EA-25A7-F91C-C2D16E34FB2F}"/>
              </a:ext>
            </a:extLst>
          </p:cNvPr>
          <p:cNvCxnSpPr/>
          <p:nvPr/>
        </p:nvCxnSpPr>
        <p:spPr>
          <a:xfrm>
            <a:off x="8248650" y="1790700"/>
            <a:ext cx="17430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7D34703-07BA-AE96-E77F-EEEA00AA5B1D}"/>
              </a:ext>
            </a:extLst>
          </p:cNvPr>
          <p:cNvCxnSpPr/>
          <p:nvPr/>
        </p:nvCxnSpPr>
        <p:spPr>
          <a:xfrm>
            <a:off x="10506075" y="1790700"/>
            <a:ext cx="12317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ED5490C-A633-767F-B23A-07D1415B731F}"/>
              </a:ext>
            </a:extLst>
          </p:cNvPr>
          <p:cNvCxnSpPr/>
          <p:nvPr/>
        </p:nvCxnSpPr>
        <p:spPr>
          <a:xfrm>
            <a:off x="5416155" y="2147303"/>
            <a:ext cx="8989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5EBF83B9-3876-D06D-20BB-31C1E2AA53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6155" y="2296469"/>
            <a:ext cx="6204347" cy="897014"/>
          </a:xfrm>
          <a:prstGeom prst="rect">
            <a:avLst/>
          </a:prstGeom>
        </p:spPr>
      </p:pic>
      <p:sp>
        <p:nvSpPr>
          <p:cNvPr id="15" name="星形: 五角 14">
            <a:extLst>
              <a:ext uri="{FF2B5EF4-FFF2-40B4-BE49-F238E27FC236}">
                <a16:creationId xmlns:a16="http://schemas.microsoft.com/office/drawing/2014/main" id="{621DFF53-8FEB-ECF0-9E50-8FDEBD635D46}"/>
              </a:ext>
            </a:extLst>
          </p:cNvPr>
          <p:cNvSpPr/>
          <p:nvPr/>
        </p:nvSpPr>
        <p:spPr>
          <a:xfrm>
            <a:off x="276225" y="4077432"/>
            <a:ext cx="295275" cy="265968"/>
          </a:xfrm>
          <a:prstGeom prst="star5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EDE8B45-355C-D1DF-7980-46BD3E8D1361}"/>
              </a:ext>
            </a:extLst>
          </p:cNvPr>
          <p:cNvSpPr txBox="1"/>
          <p:nvPr/>
        </p:nvSpPr>
        <p:spPr>
          <a:xfrm>
            <a:off x="699018" y="3978333"/>
            <a:ext cx="6115050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分离变量法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4EDDF2FE-E92B-9026-78EF-56E944E738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862" y="4523454"/>
            <a:ext cx="2210893" cy="464166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EAE3F94-3235-10AB-AA6E-30139B1C344F}"/>
              </a:ext>
            </a:extLst>
          </p:cNvPr>
          <p:cNvSpPr txBox="1"/>
          <p:nvPr/>
        </p:nvSpPr>
        <p:spPr>
          <a:xfrm>
            <a:off x="3419474" y="3978333"/>
            <a:ext cx="62043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i="1" dirty="0">
                <a:solidFill>
                  <a:srgbClr val="000000"/>
                </a:solidFill>
                <a:effectLst/>
                <a:latin typeface="HiddenHorzOCR-Identity-H"/>
              </a:rPr>
              <a:t>把求解多元函数的问题转变为求解一元函数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HiddenHorzOCR-Identity-H"/>
              </a:rPr>
              <a:t>X(x) </a:t>
            </a:r>
            <a:r>
              <a:rPr lang="zh-CN" altLang="en-US" sz="1800" b="0" i="1" dirty="0">
                <a:solidFill>
                  <a:srgbClr val="000000"/>
                </a:solidFill>
                <a:effectLst/>
                <a:latin typeface="HiddenHorzOCR-Identity-H"/>
              </a:rPr>
              <a:t>和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HiddenHorzOCR-Identity-H"/>
              </a:rPr>
              <a:t>T(t) </a:t>
            </a:r>
            <a:r>
              <a:rPr lang="zh-CN" altLang="en-US" sz="1800" b="0" i="1" dirty="0">
                <a:solidFill>
                  <a:srgbClr val="000000"/>
                </a:solidFill>
                <a:effectLst/>
                <a:latin typeface="HiddenHorzOCR-Identity-H"/>
              </a:rPr>
              <a:t>的问题，把求解偏微分方程定解问题转变为求解常微分方程问题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HiddenHorzOCR-Identity-H"/>
              </a:rPr>
              <a:t>.</a:t>
            </a:r>
            <a:r>
              <a:rPr lang="zh-CN" altLang="en-US" i="1" dirty="0"/>
              <a:t> 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E685F1-1724-03DD-AB14-B8DD34AD8899}"/>
              </a:ext>
            </a:extLst>
          </p:cNvPr>
          <p:cNvSpPr/>
          <p:nvPr/>
        </p:nvSpPr>
        <p:spPr>
          <a:xfrm>
            <a:off x="3461103" y="3842257"/>
            <a:ext cx="6162718" cy="897015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98CB501E-5A23-4840-CEC4-5C487C942A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9938" y="5018930"/>
            <a:ext cx="5277587" cy="152421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5C523ABE-A34D-EE6E-D1E9-BB82915DE264}"/>
              </a:ext>
            </a:extLst>
          </p:cNvPr>
          <p:cNvSpPr txBox="1"/>
          <p:nvPr/>
        </p:nvSpPr>
        <p:spPr>
          <a:xfrm>
            <a:off x="1098514" y="5341204"/>
            <a:ext cx="2210893" cy="87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Type 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：两端固定弦的自由振动：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8BADBE4-9352-A1F3-4E90-AEB800F53CEF}"/>
              </a:ext>
            </a:extLst>
          </p:cNvPr>
          <p:cNvSpPr/>
          <p:nvPr/>
        </p:nvSpPr>
        <p:spPr>
          <a:xfrm>
            <a:off x="3419474" y="4917850"/>
            <a:ext cx="5277587" cy="1728483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938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DC33-D2C3-3D69-86F0-7BBFD43A0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142E030E-EBBA-41BE-1C29-157A3DB2F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7E765D4-902D-F089-57D3-B3C712A3F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16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36D5908-B2FF-0BED-3E76-84121C744941}"/>
              </a:ext>
            </a:extLst>
          </p:cNvPr>
          <p:cNvSpPr txBox="1"/>
          <p:nvPr/>
        </p:nvSpPr>
        <p:spPr>
          <a:xfrm>
            <a:off x="137043" y="11135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求解过程分为四步：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308A57-DAE8-220B-4690-5F8A591AE67F}"/>
              </a:ext>
            </a:extLst>
          </p:cNvPr>
          <p:cNvSpPr txBox="1"/>
          <p:nvPr/>
        </p:nvSpPr>
        <p:spPr>
          <a:xfrm>
            <a:off x="441843" y="1572479"/>
            <a:ext cx="2253732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Step1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分离变量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2BC4A1-53C6-A7E6-11F0-F5BD7100B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313" y="2119278"/>
            <a:ext cx="1914792" cy="48584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03D5B0C-8194-CBA7-742A-45AA48C78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730" y="2176441"/>
            <a:ext cx="2543530" cy="38105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ACBAF54-6470-6ADB-06B6-2A26406781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9211" y="2010495"/>
            <a:ext cx="1967861" cy="703406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011FF790-1684-21EF-1962-FD0CE70FCD7A}"/>
              </a:ext>
            </a:extLst>
          </p:cNvPr>
          <p:cNvCxnSpPr>
            <a:cxnSpLocks/>
          </p:cNvCxnSpPr>
          <p:nvPr/>
        </p:nvCxnSpPr>
        <p:spPr>
          <a:xfrm flipV="1">
            <a:off x="2601413" y="236219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4A115C3-7FC1-7C76-BCF7-F3B31646AFDB}"/>
              </a:ext>
            </a:extLst>
          </p:cNvPr>
          <p:cNvCxnSpPr>
            <a:cxnSpLocks/>
          </p:cNvCxnSpPr>
          <p:nvPr/>
        </p:nvCxnSpPr>
        <p:spPr>
          <a:xfrm flipV="1">
            <a:off x="5884158" y="2373225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400497AE-F20D-9E7A-051B-62C2AFCCD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0734" y="1959971"/>
            <a:ext cx="2120429" cy="753930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6155712-FA24-DE68-AC85-EA85FB928908}"/>
              </a:ext>
            </a:extLst>
          </p:cNvPr>
          <p:cNvCxnSpPr>
            <a:cxnSpLocks/>
          </p:cNvCxnSpPr>
          <p:nvPr/>
        </p:nvCxnSpPr>
        <p:spPr>
          <a:xfrm flipV="1">
            <a:off x="8606995" y="236219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15E56E87-3F96-6567-3FF7-229F68DFA48C}"/>
              </a:ext>
            </a:extLst>
          </p:cNvPr>
          <p:cNvSpPr txBox="1"/>
          <p:nvPr/>
        </p:nvSpPr>
        <p:spPr>
          <a:xfrm>
            <a:off x="628650" y="2698697"/>
            <a:ext cx="22537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根据齐次边界条件：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675E91C-D5DC-9E84-85D9-BB3D2ACA7E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0316" y="2723574"/>
            <a:ext cx="3174710" cy="35274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E0C00113-94FC-E9D4-EF49-941BCFBB4A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12439" y="2713901"/>
            <a:ext cx="2362572" cy="352745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35D3797-6598-E7D7-0683-9E2201A58369}"/>
              </a:ext>
            </a:extLst>
          </p:cNvPr>
          <p:cNvCxnSpPr>
            <a:cxnSpLocks/>
          </p:cNvCxnSpPr>
          <p:nvPr/>
        </p:nvCxnSpPr>
        <p:spPr>
          <a:xfrm flipV="1">
            <a:off x="6017155" y="2888919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4EEFD99A-D203-79A6-7958-B52A4E95FAF2}"/>
              </a:ext>
            </a:extLst>
          </p:cNvPr>
          <p:cNvSpPr txBox="1"/>
          <p:nvPr/>
        </p:nvSpPr>
        <p:spPr>
          <a:xfrm>
            <a:off x="3039523" y="3232726"/>
            <a:ext cx="5955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u="sng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变量分离成功！关键是偏微分方程和边界条件都是齐次的</a:t>
            </a:r>
            <a:endParaRPr lang="zh-CN" altLang="en-US" i="1" u="sng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7684309-19F9-5CD6-2162-0D97AEBC5D3E}"/>
              </a:ext>
            </a:extLst>
          </p:cNvPr>
          <p:cNvSpPr txBox="1"/>
          <p:nvPr/>
        </p:nvSpPr>
        <p:spPr>
          <a:xfrm>
            <a:off x="441843" y="3557889"/>
            <a:ext cx="364438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Step2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求解本征值问题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D21C65-C3A3-3A94-C6D1-5BE36F1F1CAF}"/>
              </a:ext>
            </a:extLst>
          </p:cNvPr>
          <p:cNvSpPr txBox="1"/>
          <p:nvPr/>
        </p:nvSpPr>
        <p:spPr>
          <a:xfrm>
            <a:off x="796658" y="4126365"/>
            <a:ext cx="13559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求解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X(l)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</a:t>
            </a:r>
            <a:endParaRPr lang="zh-CN" altLang="en-US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3D043EB6-B2F3-7F5F-42FE-F0C21B80DF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00153" y="4163373"/>
            <a:ext cx="695422" cy="295316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D42EA2C-8B85-E628-BF5A-33D0080893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2643" y="4002299"/>
            <a:ext cx="2010056" cy="552527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50ADB366-9063-5312-9510-4879E32741DF}"/>
              </a:ext>
            </a:extLst>
          </p:cNvPr>
          <p:cNvCxnSpPr>
            <a:cxnSpLocks/>
          </p:cNvCxnSpPr>
          <p:nvPr/>
        </p:nvCxnSpPr>
        <p:spPr>
          <a:xfrm flipV="1">
            <a:off x="2762990" y="429958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7B93164D-6CD2-2305-7ADF-794407D0F13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9114" y="4083957"/>
            <a:ext cx="3860270" cy="404493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E5A9B4DB-F4B8-215B-19A0-9061E7195AE1}"/>
              </a:ext>
            </a:extLst>
          </p:cNvPr>
          <p:cNvCxnSpPr>
            <a:cxnSpLocks/>
          </p:cNvCxnSpPr>
          <p:nvPr/>
        </p:nvCxnSpPr>
        <p:spPr>
          <a:xfrm flipV="1">
            <a:off x="5412893" y="429958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D4F048ED-86C3-BF0F-ADA4-4E38AF20ED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00153" y="4532705"/>
            <a:ext cx="719224" cy="369332"/>
          </a:xfrm>
          <a:prstGeom prst="rect">
            <a:avLst/>
          </a:prstGeom>
        </p:spPr>
      </p:pic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E0FEC81-20AF-A04F-135C-E2007BC44CF4}"/>
              </a:ext>
            </a:extLst>
          </p:cNvPr>
          <p:cNvCxnSpPr>
            <a:cxnSpLocks/>
          </p:cNvCxnSpPr>
          <p:nvPr/>
        </p:nvCxnSpPr>
        <p:spPr>
          <a:xfrm flipV="1">
            <a:off x="2762990" y="4717371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9B43D0D0-E6EA-9F7B-D813-E4FCD3CA1C3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3517" y="4488450"/>
            <a:ext cx="3495052" cy="466617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D0D18665-A072-0FE5-BB95-7F1FC40C32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50337" y="4483976"/>
            <a:ext cx="3000794" cy="466790"/>
          </a:xfrm>
          <a:prstGeom prst="rect">
            <a:avLst/>
          </a:prstGeom>
        </p:spPr>
      </p:pic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0F4BA5E-8536-2109-56F2-3FBFB3CD0C18}"/>
              </a:ext>
            </a:extLst>
          </p:cNvPr>
          <p:cNvCxnSpPr>
            <a:cxnSpLocks/>
          </p:cNvCxnSpPr>
          <p:nvPr/>
        </p:nvCxnSpPr>
        <p:spPr>
          <a:xfrm flipV="1">
            <a:off x="7015136" y="472839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2">
            <a:extLst>
              <a:ext uri="{FF2B5EF4-FFF2-40B4-BE49-F238E27FC236}">
                <a16:creationId xmlns:a16="http://schemas.microsoft.com/office/drawing/2014/main" id="{A0CE8AF6-A366-9D96-64FD-92BDD45C29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53686" y="4972088"/>
            <a:ext cx="3384233" cy="552528"/>
          </a:xfrm>
          <a:prstGeom prst="rect">
            <a:avLst/>
          </a:prstGeom>
        </p:spPr>
      </p:pic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9C229AC9-9AE7-BF26-DFC2-94AE4A6249FC}"/>
              </a:ext>
            </a:extLst>
          </p:cNvPr>
          <p:cNvCxnSpPr>
            <a:cxnSpLocks/>
          </p:cNvCxnSpPr>
          <p:nvPr/>
        </p:nvCxnSpPr>
        <p:spPr>
          <a:xfrm flipV="1">
            <a:off x="2102420" y="5264356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3D116956-3AA7-DE01-44C2-8BD62B06A482}"/>
              </a:ext>
            </a:extLst>
          </p:cNvPr>
          <p:cNvSpPr txBox="1"/>
          <p:nvPr/>
        </p:nvSpPr>
        <p:spPr>
          <a:xfrm>
            <a:off x="6198617" y="4942678"/>
            <a:ext cx="881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本征值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BA3F63E8-7848-A537-E84F-522CEE1D8D2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2307" y="4977475"/>
            <a:ext cx="1881077" cy="595816"/>
          </a:xfrm>
          <a:prstGeom prst="rect">
            <a:avLst/>
          </a:prstGeom>
        </p:spPr>
      </p:pic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59392B4C-7E09-3FDC-A3ED-6AA9633458F8}"/>
              </a:ext>
            </a:extLst>
          </p:cNvPr>
          <p:cNvCxnSpPr>
            <a:cxnSpLocks/>
          </p:cNvCxnSpPr>
          <p:nvPr/>
        </p:nvCxnSpPr>
        <p:spPr>
          <a:xfrm flipV="1">
            <a:off x="6639152" y="5318197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502998FF-729E-DA9F-9E71-AEC45F97B1D0}"/>
              </a:ext>
            </a:extLst>
          </p:cNvPr>
          <p:cNvSpPr txBox="1"/>
          <p:nvPr/>
        </p:nvSpPr>
        <p:spPr>
          <a:xfrm>
            <a:off x="9023246" y="4906051"/>
            <a:ext cx="12302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本征函数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F90A06F7-BC34-9987-E83A-48621A3342D5}"/>
              </a:ext>
            </a:extLst>
          </p:cNvPr>
          <p:cNvSpPr txBox="1"/>
          <p:nvPr/>
        </p:nvSpPr>
        <p:spPr>
          <a:xfrm>
            <a:off x="441843" y="5514975"/>
            <a:ext cx="514933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Step3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求特解，叠加得出一般解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51" name="图片 50">
            <a:extLst>
              <a:ext uri="{FF2B5EF4-FFF2-40B4-BE49-F238E27FC236}">
                <a16:creationId xmlns:a16="http://schemas.microsoft.com/office/drawing/2014/main" id="{8B64654C-D702-B40C-152A-2BB3E2EAB69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5059" y="6024321"/>
            <a:ext cx="3628635" cy="519573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21C62DEC-E624-412A-07C1-DEB1D3ADBEC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61043" y="5917782"/>
            <a:ext cx="6621179" cy="562800"/>
          </a:xfrm>
          <a:prstGeom prst="rect">
            <a:avLst/>
          </a:prstGeom>
        </p:spPr>
      </p:pic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6928F0BC-3E0D-EDC9-850B-DB44E86DCB0A}"/>
              </a:ext>
            </a:extLst>
          </p:cNvPr>
          <p:cNvCxnSpPr>
            <a:cxnSpLocks/>
          </p:cNvCxnSpPr>
          <p:nvPr/>
        </p:nvCxnSpPr>
        <p:spPr>
          <a:xfrm flipV="1">
            <a:off x="4533694" y="622672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68775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768ED-533B-E9F3-98C0-8511F4402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5A3BE669-3CC6-EAEC-E44F-F9885B9D4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2B077A-D27B-CE60-6C22-C8A13A99D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17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ED0E189-75BC-D34E-3B2B-44DDCB5808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974" y="1095311"/>
            <a:ext cx="4901026" cy="757647"/>
          </a:xfrm>
          <a:prstGeom prst="rect">
            <a:avLst/>
          </a:prstGeom>
        </p:spPr>
      </p:pic>
      <p:cxnSp>
        <p:nvCxnSpPr>
          <p:cNvPr id="4" name="直接箭头连接符 3">
            <a:extLst>
              <a:ext uri="{FF2B5EF4-FFF2-40B4-BE49-F238E27FC236}">
                <a16:creationId xmlns:a16="http://schemas.microsoft.com/office/drawing/2014/main" id="{2A63CC77-B751-833D-2451-9A6443E6B5E4}"/>
              </a:ext>
            </a:extLst>
          </p:cNvPr>
          <p:cNvCxnSpPr>
            <a:cxnSpLocks/>
          </p:cNvCxnSpPr>
          <p:nvPr/>
        </p:nvCxnSpPr>
        <p:spPr>
          <a:xfrm flipV="1">
            <a:off x="387920" y="1474134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>
            <a:extLst>
              <a:ext uri="{FF2B5EF4-FFF2-40B4-BE49-F238E27FC236}">
                <a16:creationId xmlns:a16="http://schemas.microsoft.com/office/drawing/2014/main" id="{D8142A55-1F23-324F-F904-6007BB0CB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5305" y="970631"/>
            <a:ext cx="2647001" cy="1372519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0A37E79-058D-0093-9CB1-CCE9439250C8}"/>
              </a:ext>
            </a:extLst>
          </p:cNvPr>
          <p:cNvCxnSpPr>
            <a:cxnSpLocks/>
          </p:cNvCxnSpPr>
          <p:nvPr/>
        </p:nvCxnSpPr>
        <p:spPr>
          <a:xfrm flipV="1">
            <a:off x="6180865" y="1474134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7EE8E9BC-98E0-E99C-549A-377C7B031F50}"/>
              </a:ext>
            </a:extLst>
          </p:cNvPr>
          <p:cNvSpPr txBox="1"/>
          <p:nvPr/>
        </p:nvSpPr>
        <p:spPr>
          <a:xfrm>
            <a:off x="387920" y="1988664"/>
            <a:ext cx="5149332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Step4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: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利用本征函数正交性求叠加系数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63A5BF-606B-E048-E728-E5FC1E359608}"/>
              </a:ext>
            </a:extLst>
          </p:cNvPr>
          <p:cNvSpPr txBox="1"/>
          <p:nvPr/>
        </p:nvSpPr>
        <p:spPr>
          <a:xfrm>
            <a:off x="754439" y="2581743"/>
            <a:ext cx="881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i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正交性：</a:t>
            </a:r>
            <a:endParaRPr lang="zh-CN" altLang="en-US" i="1" dirty="0">
              <a:solidFill>
                <a:srgbClr val="FF0000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A15D14E-6074-321F-9D4B-85571D3F7D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5509" y="2447572"/>
            <a:ext cx="3384166" cy="57991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3E68F14-CA1C-51AB-8C09-87AFE431E071}"/>
              </a:ext>
            </a:extLst>
          </p:cNvPr>
          <p:cNvSpPr txBox="1"/>
          <p:nvPr/>
        </p:nvSpPr>
        <p:spPr>
          <a:xfrm>
            <a:off x="729331" y="3113180"/>
            <a:ext cx="881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i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proof</a:t>
            </a:r>
            <a:r>
              <a:rPr lang="zh-CN" altLang="en-US" i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</a:t>
            </a:r>
            <a:endParaRPr lang="zh-CN" altLang="en-US" i="1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FC5FF1A-7AE2-0430-8F7E-8A54929735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0401" y="3076167"/>
            <a:ext cx="2422304" cy="69312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2143062-E506-C3B8-9DC8-4C9901F1B3E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32705" y="3109244"/>
            <a:ext cx="2425135" cy="6600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91C6109C-CBDE-42FB-C4D6-6A57683791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1142" y="2911606"/>
            <a:ext cx="5142327" cy="438301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2FBB48B-C82B-BDB6-37C5-E119FEBEEAA4}"/>
              </a:ext>
            </a:extLst>
          </p:cNvPr>
          <p:cNvCxnSpPr>
            <a:cxnSpLocks/>
          </p:cNvCxnSpPr>
          <p:nvPr/>
        </p:nvCxnSpPr>
        <p:spPr>
          <a:xfrm flipV="1">
            <a:off x="6342150" y="3405730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3E1234CE-81CB-3BBD-3A1F-DD0F14AB2E2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03478" y="3344020"/>
            <a:ext cx="1810264" cy="47198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420DEA45-E57A-E9E1-C813-15E771E6D1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331" y="3888855"/>
            <a:ext cx="6432348" cy="1250534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98B27384-2144-D8A9-F11E-2A90A5C321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09304" y="4062858"/>
            <a:ext cx="1487067" cy="47198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B597CAB-6D9C-9425-1A5E-2A4F55488FA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34694" y="3961994"/>
            <a:ext cx="2342142" cy="572846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BA8B4B8-095E-E5FA-2DD7-8847EC006968}"/>
              </a:ext>
            </a:extLst>
          </p:cNvPr>
          <p:cNvCxnSpPr>
            <a:cxnSpLocks/>
          </p:cNvCxnSpPr>
          <p:nvPr/>
        </p:nvCxnSpPr>
        <p:spPr>
          <a:xfrm>
            <a:off x="7266709" y="4664532"/>
            <a:ext cx="13343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146379D3-674F-5024-F6A1-21B6635B69A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69565" y="4582265"/>
            <a:ext cx="2577807" cy="572846"/>
          </a:xfrm>
          <a:prstGeom prst="rect">
            <a:avLst/>
          </a:prstGeom>
        </p:spPr>
      </p:pic>
      <p:sp>
        <p:nvSpPr>
          <p:cNvPr id="24" name="矩形 23">
            <a:extLst>
              <a:ext uri="{FF2B5EF4-FFF2-40B4-BE49-F238E27FC236}">
                <a16:creationId xmlns:a16="http://schemas.microsoft.com/office/drawing/2014/main" id="{BB850023-10A4-4EB9-490D-D55E08E002AC}"/>
              </a:ext>
            </a:extLst>
          </p:cNvPr>
          <p:cNvSpPr/>
          <p:nvPr/>
        </p:nvSpPr>
        <p:spPr>
          <a:xfrm>
            <a:off x="8877601" y="3918363"/>
            <a:ext cx="2669771" cy="1348962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41B76002-1079-12B8-4C38-AD58D39072D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7393" y="5393379"/>
            <a:ext cx="2648320" cy="828791"/>
          </a:xfrm>
          <a:prstGeom prst="rect">
            <a:avLst/>
          </a:prstGeom>
        </p:spPr>
      </p:pic>
      <p:pic>
        <p:nvPicPr>
          <p:cNvPr id="26" name="Picture 6" descr="问号素材-问号图片-问号素材图片下载-觅知网">
            <a:extLst>
              <a:ext uri="{FF2B5EF4-FFF2-40B4-BE49-F238E27FC236}">
                <a16:creationId xmlns:a16="http://schemas.microsoft.com/office/drawing/2014/main" id="{7A6B841B-D2BF-0DEF-998E-4C9E72248D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53" t="27371" r="32000" b="26372"/>
          <a:stretch/>
        </p:blipFill>
        <p:spPr bwMode="auto">
          <a:xfrm>
            <a:off x="4349220" y="5315001"/>
            <a:ext cx="715063" cy="991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86C5D2FB-EBE1-E6A0-865B-DAEADBBCEE2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61267" y="5097418"/>
            <a:ext cx="2195076" cy="577651"/>
          </a:xfrm>
          <a:prstGeom prst="rect">
            <a:avLst/>
          </a:prstGeom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17268509-38BD-AEF9-B473-7201A97EC721}"/>
              </a:ext>
            </a:extLst>
          </p:cNvPr>
          <p:cNvCxnSpPr>
            <a:cxnSpLocks/>
          </p:cNvCxnSpPr>
          <p:nvPr/>
        </p:nvCxnSpPr>
        <p:spPr>
          <a:xfrm>
            <a:off x="8025544" y="4514122"/>
            <a:ext cx="0" cy="73366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A4886A33-9269-1862-A6BE-5D242CCC0438}"/>
              </a:ext>
            </a:extLst>
          </p:cNvPr>
          <p:cNvCxnSpPr>
            <a:cxnSpLocks/>
          </p:cNvCxnSpPr>
          <p:nvPr/>
        </p:nvCxnSpPr>
        <p:spPr>
          <a:xfrm flipH="1">
            <a:off x="8073170" y="3782321"/>
            <a:ext cx="610160" cy="14654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CC5B006F-F1B9-9F1A-1D0E-9EB6CFE4084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t="51942"/>
          <a:stretch/>
        </p:blipFill>
        <p:spPr>
          <a:xfrm>
            <a:off x="5121404" y="5587996"/>
            <a:ext cx="6616461" cy="127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75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956A2-0F65-1A35-5EBE-F82FECE77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3E59B5CD-3D0D-6775-19B8-05AB5FF6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b="1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463DA90-18B7-7D95-36EB-44D987236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18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268E8C5-22F0-1D61-605A-641D943260A9}"/>
              </a:ext>
            </a:extLst>
          </p:cNvPr>
          <p:cNvSpPr txBox="1"/>
          <p:nvPr/>
        </p:nvSpPr>
        <p:spPr>
          <a:xfrm>
            <a:off x="137043" y="11135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Type II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：矩形区域内的稳定问题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6A51EC-46DD-4AE4-6D69-36F770A24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849" y="1715419"/>
            <a:ext cx="5042952" cy="154179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6D6EE00-263B-A5FF-6BD8-D949D9C7B1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523" y="1326851"/>
            <a:ext cx="1922608" cy="36436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D07E083-53A2-DA27-8C8F-B81B60749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643" y="1181537"/>
            <a:ext cx="1741335" cy="602770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97BF15D-7A76-90A4-EAF7-88FF5AED71DF}"/>
              </a:ext>
            </a:extLst>
          </p:cNvPr>
          <p:cNvCxnSpPr>
            <a:cxnSpLocks/>
          </p:cNvCxnSpPr>
          <p:nvPr/>
        </p:nvCxnSpPr>
        <p:spPr>
          <a:xfrm flipV="1">
            <a:off x="7673750" y="1498006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3A8F6E1D-373B-AFB6-A146-02EC379B5B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51722" y="1918017"/>
            <a:ext cx="1858209" cy="709878"/>
          </a:xfrm>
          <a:prstGeom prst="rect">
            <a:avLst/>
          </a:prstGeom>
        </p:spPr>
      </p:pic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5A680DD5-1475-F6D7-4935-F3D8753B1F54}"/>
              </a:ext>
            </a:extLst>
          </p:cNvPr>
          <p:cNvCxnSpPr>
            <a:cxnSpLocks/>
          </p:cNvCxnSpPr>
          <p:nvPr/>
        </p:nvCxnSpPr>
        <p:spPr>
          <a:xfrm flipV="1">
            <a:off x="10396973" y="147740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AD77769A-8748-35BB-3C50-830F1385AF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9852" y="2048656"/>
            <a:ext cx="2305099" cy="42260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F4533D2-CABD-B962-7B56-318ED3B8657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2605" y="2619839"/>
            <a:ext cx="4154628" cy="845503"/>
          </a:xfrm>
          <a:prstGeom prst="rect">
            <a:avLst/>
          </a:prstGeom>
        </p:spPr>
      </p:pic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832A6264-BCFB-75AD-36F3-3BC28CFCB710}"/>
              </a:ext>
            </a:extLst>
          </p:cNvPr>
          <p:cNvCxnSpPr>
            <a:cxnSpLocks/>
          </p:cNvCxnSpPr>
          <p:nvPr/>
        </p:nvCxnSpPr>
        <p:spPr>
          <a:xfrm flipV="1">
            <a:off x="5597612" y="305175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644E559E-DC9B-24C6-9060-C2D667A6C69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5556" y="3608699"/>
            <a:ext cx="3269288" cy="34973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0A05F24-A026-322C-4D2A-68379622E82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13827" y="3429000"/>
            <a:ext cx="4192207" cy="912672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137E1C5-4E72-F0B6-792D-F250B5E6776F}"/>
              </a:ext>
            </a:extLst>
          </p:cNvPr>
          <p:cNvCxnSpPr>
            <a:cxnSpLocks/>
          </p:cNvCxnSpPr>
          <p:nvPr/>
        </p:nvCxnSpPr>
        <p:spPr>
          <a:xfrm flipV="1">
            <a:off x="4587758" y="378356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78C72FD5-DB1E-55CC-D091-DAA5E59D77E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54472" y="4416970"/>
            <a:ext cx="3958708" cy="427968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F03355F-C4B7-BA6D-B417-305A8A4B6F54}"/>
              </a:ext>
            </a:extLst>
          </p:cNvPr>
          <p:cNvCxnSpPr>
            <a:cxnSpLocks/>
          </p:cNvCxnSpPr>
          <p:nvPr/>
        </p:nvCxnSpPr>
        <p:spPr>
          <a:xfrm flipV="1">
            <a:off x="416582" y="3751480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C4FF73A-1121-4880-6F73-7AD9B0CB7535}"/>
              </a:ext>
            </a:extLst>
          </p:cNvPr>
          <p:cNvCxnSpPr>
            <a:cxnSpLocks/>
          </p:cNvCxnSpPr>
          <p:nvPr/>
        </p:nvCxnSpPr>
        <p:spPr>
          <a:xfrm flipV="1">
            <a:off x="348849" y="4622714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>
            <a:extLst>
              <a:ext uri="{FF2B5EF4-FFF2-40B4-BE49-F238E27FC236}">
                <a16:creationId xmlns:a16="http://schemas.microsoft.com/office/drawing/2014/main" id="{DA5A56C0-CACE-5DCC-CC4B-3A5080F8590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96000" y="4356299"/>
            <a:ext cx="5541178" cy="588322"/>
          </a:xfrm>
          <a:prstGeom prst="rect">
            <a:avLst/>
          </a:prstGeom>
        </p:spPr>
      </p:pic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E00797AF-A2DB-5838-EEB6-5D3DA5C74CB5}"/>
              </a:ext>
            </a:extLst>
          </p:cNvPr>
          <p:cNvCxnSpPr>
            <a:cxnSpLocks/>
          </p:cNvCxnSpPr>
          <p:nvPr/>
        </p:nvCxnSpPr>
        <p:spPr>
          <a:xfrm flipV="1">
            <a:off x="5353252" y="4605367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图片 24">
            <a:extLst>
              <a:ext uri="{FF2B5EF4-FFF2-40B4-BE49-F238E27FC236}">
                <a16:creationId xmlns:a16="http://schemas.microsoft.com/office/drawing/2014/main" id="{D7AE9649-3114-3236-9C9C-A9F93F22A4D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5426" y="4954352"/>
            <a:ext cx="6629524" cy="1193719"/>
          </a:xfrm>
          <a:prstGeom prst="rect">
            <a:avLst/>
          </a:prstGeom>
        </p:spPr>
      </p:pic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AC667073-AED3-6403-9699-A5CD1E6C00D6}"/>
              </a:ext>
            </a:extLst>
          </p:cNvPr>
          <p:cNvCxnSpPr>
            <a:cxnSpLocks/>
          </p:cNvCxnSpPr>
          <p:nvPr/>
        </p:nvCxnSpPr>
        <p:spPr>
          <a:xfrm flipV="1">
            <a:off x="172271" y="5542796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1DD1A630-BE5F-530D-2901-6F88C734382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72772" y="5171409"/>
            <a:ext cx="2723223" cy="592005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137300FC-139E-58A9-CA4C-35D2A6A56F89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3620" y="5837548"/>
            <a:ext cx="2303353" cy="495658"/>
          </a:xfrm>
          <a:prstGeom prst="rect">
            <a:avLst/>
          </a:prstGeom>
        </p:spPr>
      </p:pic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D46C5A9C-A7C8-0CB0-5D23-94854E5263BB}"/>
              </a:ext>
            </a:extLst>
          </p:cNvPr>
          <p:cNvCxnSpPr>
            <a:cxnSpLocks/>
          </p:cNvCxnSpPr>
          <p:nvPr/>
        </p:nvCxnSpPr>
        <p:spPr>
          <a:xfrm flipV="1">
            <a:off x="7394950" y="5804684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>
            <a:extLst>
              <a:ext uri="{FF2B5EF4-FFF2-40B4-BE49-F238E27FC236}">
                <a16:creationId xmlns:a16="http://schemas.microsoft.com/office/drawing/2014/main" id="{61742703-9056-AC7D-FBC4-09F22E754FBF}"/>
              </a:ext>
            </a:extLst>
          </p:cNvPr>
          <p:cNvSpPr/>
          <p:nvPr/>
        </p:nvSpPr>
        <p:spPr>
          <a:xfrm>
            <a:off x="468848" y="1620231"/>
            <a:ext cx="4966926" cy="1666271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452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E5810-9770-7226-74D0-713676AC5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E166E38A-3947-4D99-FED1-C9FA2BDA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432276-2665-5604-CB83-30C3E7542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19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729DF63-2FBD-4F4E-D162-FAE545298139}"/>
              </a:ext>
            </a:extLst>
          </p:cNvPr>
          <p:cNvSpPr txBox="1"/>
          <p:nvPr/>
        </p:nvSpPr>
        <p:spPr>
          <a:xfrm>
            <a:off x="137043" y="11135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Type III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：多于两个自变量的定解问题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54C23A9-EB18-6C71-A46E-743FD625C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742" y="1654665"/>
            <a:ext cx="5429257" cy="20067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66EA752-41EF-32AD-4F9F-05B03C792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9694" y="1289114"/>
            <a:ext cx="2356640" cy="3655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07796EE-AFAE-6F1A-9639-3EEAAF3BDC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879" y="1178015"/>
            <a:ext cx="2747653" cy="565693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28C38EB6-1454-59B2-B8A6-9CA016DE69C1}"/>
              </a:ext>
            </a:extLst>
          </p:cNvPr>
          <p:cNvCxnSpPr>
            <a:cxnSpLocks/>
          </p:cNvCxnSpPr>
          <p:nvPr/>
        </p:nvCxnSpPr>
        <p:spPr>
          <a:xfrm flipV="1">
            <a:off x="8394029" y="1460862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C7E5D676-3763-AF8B-A866-F67A82702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7848" y="1737325"/>
            <a:ext cx="1881277" cy="1130315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446138B-3FEF-AECD-2E33-14180577B76D}"/>
              </a:ext>
            </a:extLst>
          </p:cNvPr>
          <p:cNvCxnSpPr>
            <a:cxnSpLocks/>
          </p:cNvCxnSpPr>
          <p:nvPr/>
        </p:nvCxnSpPr>
        <p:spPr>
          <a:xfrm flipV="1">
            <a:off x="6029086" y="2291456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5E5DC5EC-39F5-F57D-DD67-E324D9C38D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83026" y="2124489"/>
            <a:ext cx="1163993" cy="33393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DC5ADA2D-8475-2FC2-449F-5C202C89A24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7848" y="2917829"/>
            <a:ext cx="2149517" cy="716505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BE175AC-B027-DCD2-6FE4-9FA16648B3BC}"/>
              </a:ext>
            </a:extLst>
          </p:cNvPr>
          <p:cNvCxnSpPr>
            <a:cxnSpLocks/>
          </p:cNvCxnSpPr>
          <p:nvPr/>
        </p:nvCxnSpPr>
        <p:spPr>
          <a:xfrm flipV="1">
            <a:off x="6053425" y="3263371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9D876FD6-B51C-B047-5F49-C8D307EF92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138" y="3743614"/>
            <a:ext cx="3883436" cy="764456"/>
          </a:xfrm>
          <a:prstGeom prst="rect">
            <a:avLst/>
          </a:prstGeom>
        </p:spPr>
      </p:pic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73249A0D-9C51-473F-2912-DCB6CBF445DF}"/>
              </a:ext>
            </a:extLst>
          </p:cNvPr>
          <p:cNvCxnSpPr>
            <a:cxnSpLocks/>
          </p:cNvCxnSpPr>
          <p:nvPr/>
        </p:nvCxnSpPr>
        <p:spPr>
          <a:xfrm flipV="1">
            <a:off x="296337" y="4114815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图片 18">
            <a:extLst>
              <a:ext uri="{FF2B5EF4-FFF2-40B4-BE49-F238E27FC236}">
                <a16:creationId xmlns:a16="http://schemas.microsoft.com/office/drawing/2014/main" id="{20F89173-8A51-D57B-C595-F67884C4F9E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79234" y="3732356"/>
            <a:ext cx="4008388" cy="70988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3DD727F-045A-EB33-B240-2778A39BC49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1074" y="4552334"/>
            <a:ext cx="5591446" cy="442308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8B1D79E1-1F0B-8A72-39F5-A408520E5EC2}"/>
              </a:ext>
            </a:extLst>
          </p:cNvPr>
          <p:cNvCxnSpPr>
            <a:cxnSpLocks/>
          </p:cNvCxnSpPr>
          <p:nvPr/>
        </p:nvCxnSpPr>
        <p:spPr>
          <a:xfrm flipV="1">
            <a:off x="252504" y="4776570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5038A3CF-55F3-953E-3200-E17A53ED937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7935" y="4512915"/>
            <a:ext cx="3212187" cy="47669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C7A4E395-9E3F-DA8D-6BB7-F441E7B8FE5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1074" y="5027518"/>
            <a:ext cx="5978192" cy="609329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0AD8A411-0DF7-1AF9-CE1D-579E60B8CF14}"/>
              </a:ext>
            </a:extLst>
          </p:cNvPr>
          <p:cNvCxnSpPr>
            <a:cxnSpLocks/>
          </p:cNvCxnSpPr>
          <p:nvPr/>
        </p:nvCxnSpPr>
        <p:spPr>
          <a:xfrm flipV="1">
            <a:off x="286617" y="5326668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17914408-179A-D7D7-FEFB-2D29D1032B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29241" y="5010976"/>
            <a:ext cx="4426005" cy="609329"/>
          </a:xfrm>
          <a:prstGeom prst="rect">
            <a:avLst/>
          </a:prstGeom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771A1AD0-AF2E-2C7D-78A4-0E2F0BE6692A}"/>
              </a:ext>
            </a:extLst>
          </p:cNvPr>
          <p:cNvCxnSpPr>
            <a:cxnSpLocks/>
          </p:cNvCxnSpPr>
          <p:nvPr/>
        </p:nvCxnSpPr>
        <p:spPr>
          <a:xfrm flipV="1">
            <a:off x="7067676" y="5315641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45C00DF6-C426-DA2E-143B-398AD571002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8313" y="5620305"/>
            <a:ext cx="2979506" cy="953938"/>
          </a:xfrm>
          <a:prstGeom prst="rect">
            <a:avLst/>
          </a:prstGeom>
        </p:spPr>
      </p:pic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6EFC54A4-3F27-6890-F911-F4310B67B7F4}"/>
              </a:ext>
            </a:extLst>
          </p:cNvPr>
          <p:cNvCxnSpPr>
            <a:cxnSpLocks/>
          </p:cNvCxnSpPr>
          <p:nvPr/>
        </p:nvCxnSpPr>
        <p:spPr>
          <a:xfrm flipV="1">
            <a:off x="296337" y="6657151"/>
            <a:ext cx="3395130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1BF5D59A-0BD8-DC58-DDB6-E8124790722F}"/>
              </a:ext>
            </a:extLst>
          </p:cNvPr>
          <p:cNvSpPr/>
          <p:nvPr/>
        </p:nvSpPr>
        <p:spPr>
          <a:xfrm>
            <a:off x="461897" y="1628000"/>
            <a:ext cx="5091435" cy="2060091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E00EF1A-6457-5A5F-1B3D-729DBAAC0C69}"/>
              </a:ext>
            </a:extLst>
          </p:cNvPr>
          <p:cNvSpPr/>
          <p:nvPr/>
        </p:nvSpPr>
        <p:spPr>
          <a:xfrm>
            <a:off x="488313" y="5620305"/>
            <a:ext cx="2979506" cy="953938"/>
          </a:xfrm>
          <a:prstGeom prst="rect">
            <a:avLst/>
          </a:prstGeom>
          <a:noFill/>
          <a:ln w="19050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ED69B74A-BB38-A9A3-80C6-39A85FDD4F90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51843" y="5950297"/>
            <a:ext cx="5916082" cy="595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2775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7021C-52C2-69CF-1E4F-44E60A3F3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CDDB6C5A-B460-B118-F388-F0AB4FFA4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D84B3BA-6761-0A5D-E851-A530383D1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20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F555C9-FC52-0F41-6C2C-B1B8C3B043E9}"/>
              </a:ext>
            </a:extLst>
          </p:cNvPr>
          <p:cNvSpPr txBox="1"/>
          <p:nvPr/>
        </p:nvSpPr>
        <p:spPr>
          <a:xfrm>
            <a:off x="137043" y="11135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Type IV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：方程非齐次问题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F61028-DD0D-E2DD-CA2E-D67F28CBA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769" y="1715419"/>
            <a:ext cx="4942698" cy="1685946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AADBEC98-1DB3-13D0-9C14-57866B2326FE}"/>
              </a:ext>
            </a:extLst>
          </p:cNvPr>
          <p:cNvSpPr/>
          <p:nvPr/>
        </p:nvSpPr>
        <p:spPr>
          <a:xfrm>
            <a:off x="461897" y="1715417"/>
            <a:ext cx="5007570" cy="1685947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679A01-7905-C3BF-3BFF-C83A55251F7E}"/>
              </a:ext>
            </a:extLst>
          </p:cNvPr>
          <p:cNvSpPr txBox="1"/>
          <p:nvPr/>
        </p:nvSpPr>
        <p:spPr>
          <a:xfrm>
            <a:off x="526769" y="3566385"/>
            <a:ext cx="5332164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方法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：边界条件保持齐次，而将方程齐次化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DF2FC27-9270-E429-BD56-E7A8AC594C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198" y="4025293"/>
            <a:ext cx="2896004" cy="46679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8CE85AF-13D5-1094-2869-7C33B75C9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3659" y="3477670"/>
            <a:ext cx="3429000" cy="1056327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B137742-18B0-EB78-362F-84FEE21CEA82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4072569" y="4005834"/>
            <a:ext cx="2751090" cy="76707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AEF8DED6-DA84-91E8-3364-0B007C5AF8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092" y="4484201"/>
            <a:ext cx="5066382" cy="1509286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D0055EFE-FB60-8277-CA73-93C82BC4C57A}"/>
              </a:ext>
            </a:extLst>
          </p:cNvPr>
          <p:cNvCxnSpPr>
            <a:cxnSpLocks/>
          </p:cNvCxnSpPr>
          <p:nvPr/>
        </p:nvCxnSpPr>
        <p:spPr>
          <a:xfrm flipV="1">
            <a:off x="656824" y="5157570"/>
            <a:ext cx="593155" cy="11027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46F37023-875C-4033-53E8-CA911F6CEC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3659" y="4820672"/>
            <a:ext cx="4977619" cy="62564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00E9C9C-9047-71BB-5AAB-BDB83166FF3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5544350"/>
            <a:ext cx="2742268" cy="109568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D4F513E-9388-30FF-0CE1-77EF52364C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40765" y="5655932"/>
            <a:ext cx="3158130" cy="984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070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99CC-77D1-5AA5-EB1D-E0B8B4126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17910A01-0DD3-5B3E-56C8-FF4E83967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Examples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E31B983-4C09-76CF-0ECC-17537EC37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21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42FE253-8E6F-C6D2-4784-65ACA31AF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3" y="1832233"/>
            <a:ext cx="6409557" cy="464820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9A61E4BF-966E-0077-6848-6358A713F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5525" y="970631"/>
            <a:ext cx="4638532" cy="588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0335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5245C-A174-1130-3F80-33A2581C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3E09D370-064E-476C-32D5-A2FF00BF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b="1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282E949-86ED-C0C1-1776-45F3A289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22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BB408D-E5D3-5DF2-910A-4BF8BFD70FEE}"/>
              </a:ext>
            </a:extLst>
          </p:cNvPr>
          <p:cNvSpPr txBox="1"/>
          <p:nvPr/>
        </p:nvSpPr>
        <p:spPr>
          <a:xfrm>
            <a:off x="137043" y="1111052"/>
            <a:ext cx="5332164" cy="46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方法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：按相应齐次问题本征函数展开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D22FE71-5617-BD88-1AAA-972EE243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335" y="1715639"/>
            <a:ext cx="2550799" cy="134625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431678F-B562-A483-0E07-DA6504649F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721" y="1971717"/>
            <a:ext cx="3625679" cy="67266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4440085-8B88-C43C-0EBD-2CFB823638D0}"/>
              </a:ext>
            </a:extLst>
          </p:cNvPr>
          <p:cNvSpPr txBox="1"/>
          <p:nvPr/>
        </p:nvSpPr>
        <p:spPr>
          <a:xfrm>
            <a:off x="4851401" y="1410413"/>
            <a:ext cx="452353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i="1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最佳选取为相应齐次定解问题的本征函数</a:t>
            </a:r>
            <a:endParaRPr lang="zh-CN" altLang="en-US" sz="1600" i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61D9908-1185-E24A-9F74-38B0D1BF00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564" y="1942519"/>
            <a:ext cx="2550799" cy="773926"/>
          </a:xfrm>
          <a:prstGeom prst="rect">
            <a:avLst/>
          </a:prstGeom>
        </p:spPr>
      </p:pic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1397C66-AB87-2127-2B1F-0932427A2BA3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7472491" y="1860341"/>
            <a:ext cx="751073" cy="46914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图片 17">
            <a:extLst>
              <a:ext uri="{FF2B5EF4-FFF2-40B4-BE49-F238E27FC236}">
                <a16:creationId xmlns:a16="http://schemas.microsoft.com/office/drawing/2014/main" id="{B258BD3B-E8BF-FC11-1E18-C61E056E9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6867" y="3112067"/>
            <a:ext cx="5107733" cy="669611"/>
          </a:xfrm>
          <a:prstGeom prst="rect">
            <a:avLst/>
          </a:prstGeom>
        </p:spPr>
      </p:pic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A73E6F9-A659-A767-E217-A5B052CE59BE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395601" y="3446873"/>
            <a:ext cx="821266" cy="721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8C1D6444-A78D-3434-915F-AF8EE57A84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8083" y="3126498"/>
            <a:ext cx="5103917" cy="669610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5E660A99-779A-7494-48F9-3B2F1278E182}"/>
              </a:ext>
            </a:extLst>
          </p:cNvPr>
          <p:cNvCxnSpPr>
            <a:cxnSpLocks/>
          </p:cNvCxnSpPr>
          <p:nvPr/>
        </p:nvCxnSpPr>
        <p:spPr>
          <a:xfrm>
            <a:off x="6324600" y="3454087"/>
            <a:ext cx="8212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图片 23">
            <a:extLst>
              <a:ext uri="{FF2B5EF4-FFF2-40B4-BE49-F238E27FC236}">
                <a16:creationId xmlns:a16="http://schemas.microsoft.com/office/drawing/2014/main" id="{5805E27B-5792-3266-A5F0-CBFEE9FF24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84283" y="3942442"/>
            <a:ext cx="3067560" cy="477584"/>
          </a:xfrm>
          <a:prstGeom prst="rect">
            <a:avLst/>
          </a:prstGeom>
        </p:spPr>
      </p:pic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747844B-1AA2-5D28-CD23-A99B9460203A}"/>
              </a:ext>
            </a:extLst>
          </p:cNvPr>
          <p:cNvCxnSpPr>
            <a:cxnSpLocks/>
          </p:cNvCxnSpPr>
          <p:nvPr/>
        </p:nvCxnSpPr>
        <p:spPr>
          <a:xfrm>
            <a:off x="395601" y="4181234"/>
            <a:ext cx="8212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>
            <a:extLst>
              <a:ext uri="{FF2B5EF4-FFF2-40B4-BE49-F238E27FC236}">
                <a16:creationId xmlns:a16="http://schemas.microsoft.com/office/drawing/2014/main" id="{4D12AA74-B3B3-0223-1BC1-24FD636240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6935" y="4566350"/>
            <a:ext cx="4218732" cy="719532"/>
          </a:xfrm>
          <a:prstGeom prst="rect">
            <a:avLst/>
          </a:prstGeom>
        </p:spPr>
      </p:pic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EA6E4915-8AED-5532-1DC8-B69B5EB77831}"/>
              </a:ext>
            </a:extLst>
          </p:cNvPr>
          <p:cNvCxnSpPr>
            <a:cxnSpLocks/>
          </p:cNvCxnSpPr>
          <p:nvPr/>
        </p:nvCxnSpPr>
        <p:spPr>
          <a:xfrm>
            <a:off x="463335" y="4917834"/>
            <a:ext cx="8212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F1A6D309-476A-2694-2EBB-39C46D056F97}"/>
              </a:ext>
            </a:extLst>
          </p:cNvPr>
          <p:cNvCxnSpPr>
            <a:cxnSpLocks/>
          </p:cNvCxnSpPr>
          <p:nvPr/>
        </p:nvCxnSpPr>
        <p:spPr>
          <a:xfrm>
            <a:off x="5619535" y="4917834"/>
            <a:ext cx="8212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图片 29">
            <a:extLst>
              <a:ext uri="{FF2B5EF4-FFF2-40B4-BE49-F238E27FC236}">
                <a16:creationId xmlns:a16="http://schemas.microsoft.com/office/drawing/2014/main" id="{43C1F633-724B-F95E-A375-6B5B01493D7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6335" y="4687013"/>
            <a:ext cx="2660737" cy="461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878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FAFE3-6EF1-2632-F220-F09AD4911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920FE9ED-3B2E-5C8B-0610-583733529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PDE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04BD116-E9AA-0CB5-3E27-F6359A482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23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AB9599B-60C7-C011-B3C7-D6CE50DF809D}"/>
              </a:ext>
            </a:extLst>
          </p:cNvPr>
          <p:cNvSpPr txBox="1"/>
          <p:nvPr/>
        </p:nvSpPr>
        <p:spPr>
          <a:xfrm>
            <a:off x="137043" y="1113571"/>
            <a:ext cx="611505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Type 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Calibri" panose="020F0502020204030204" pitchFamily="34" charset="0"/>
              </a:rPr>
              <a:t>：边界条件非齐次问题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5FB3222-E901-9763-FB07-683F8843DF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63" y="1715419"/>
            <a:ext cx="5024338" cy="1555523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81BD8C3-8750-0E1B-94AD-54FC86CDBDCA}"/>
              </a:ext>
            </a:extLst>
          </p:cNvPr>
          <p:cNvSpPr/>
          <p:nvPr/>
        </p:nvSpPr>
        <p:spPr>
          <a:xfrm>
            <a:off x="377231" y="1650207"/>
            <a:ext cx="5007570" cy="1620736"/>
          </a:xfrm>
          <a:prstGeom prst="rect">
            <a:avLst/>
          </a:prstGeom>
          <a:noFill/>
          <a:ln w="1905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042E200-D101-256A-4EF7-85A4B018A5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02470"/>
            <a:ext cx="2953162" cy="44773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522F028-0ECD-13C5-5E89-E453AF0CD1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1444" y="1650207"/>
            <a:ext cx="4410398" cy="56380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06390A3-A16D-7C83-AC14-B06E13ABA9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749" y="2291738"/>
            <a:ext cx="3942093" cy="1284947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7435A07-D210-8433-430A-DC040AD2D03D}"/>
              </a:ext>
            </a:extLst>
          </p:cNvPr>
          <p:cNvCxnSpPr>
            <a:cxnSpLocks/>
          </p:cNvCxnSpPr>
          <p:nvPr/>
        </p:nvCxnSpPr>
        <p:spPr>
          <a:xfrm>
            <a:off x="5602644" y="2776754"/>
            <a:ext cx="8212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7C5F7D49-BE88-3C1C-F681-2B0DF64FB7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463" y="3490889"/>
            <a:ext cx="771633" cy="33342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72D6E9F-6181-34F2-964E-13C77FFA23F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52107" y="3467073"/>
            <a:ext cx="2476846" cy="381053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E0F53DD3-9FDA-A089-6F64-0BFBE8B637FC}"/>
              </a:ext>
            </a:extLst>
          </p:cNvPr>
          <p:cNvCxnSpPr>
            <a:cxnSpLocks/>
          </p:cNvCxnSpPr>
          <p:nvPr/>
        </p:nvCxnSpPr>
        <p:spPr>
          <a:xfrm>
            <a:off x="1132096" y="3681624"/>
            <a:ext cx="8212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图片 13">
            <a:extLst>
              <a:ext uri="{FF2B5EF4-FFF2-40B4-BE49-F238E27FC236}">
                <a16:creationId xmlns:a16="http://schemas.microsoft.com/office/drawing/2014/main" id="{BE27BD4A-5664-874F-2F44-FA48BEEF86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830" y="4015046"/>
            <a:ext cx="2727239" cy="149265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CE96FEA-C81D-D9C2-07CD-4054907BD6F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0561" y="3883607"/>
            <a:ext cx="3820905" cy="490909"/>
          </a:xfrm>
          <a:prstGeom prst="rect">
            <a:avLst/>
          </a:prstGeom>
        </p:spPr>
      </p:pic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09E312AF-8497-F515-5B51-BF1B0E84B0FF}"/>
              </a:ext>
            </a:extLst>
          </p:cNvPr>
          <p:cNvCxnSpPr>
            <a:cxnSpLocks/>
          </p:cNvCxnSpPr>
          <p:nvPr/>
        </p:nvCxnSpPr>
        <p:spPr>
          <a:xfrm>
            <a:off x="4027844" y="4145682"/>
            <a:ext cx="821266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17632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570D4-0186-296A-FB6F-8E04EE299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4BCC30E8-8157-CB5C-4F67-FD820A0F6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Examples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BAF0F11-AE54-77CC-3729-B060968D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24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91AB7A-B108-E74E-3143-924EEC737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043" y="1202911"/>
            <a:ext cx="6284385" cy="322515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A52414E-1533-C143-1DD1-1282B16A0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4882" y="3770194"/>
            <a:ext cx="6647118" cy="302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139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6705D-F470-7363-1A1A-B73727D5A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142B620D-8F45-B67F-2BE7-CDF70ED64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Examples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0BC0FCE-CFB1-6697-2C48-DB65D3369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25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9F5C11B-3B55-08EF-118E-169C492E0D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882490"/>
            <a:ext cx="5898861" cy="426431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F69692-EC56-289B-DECF-65640C1CF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157" y="1800352"/>
            <a:ext cx="6307738" cy="434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22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AD16D-5364-30F4-B48D-76532134B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AE8464D7-D831-874B-3A43-1908ABF1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dirty="0"/>
              <a:t>Examples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84CCBB-68B5-C80E-C80D-5FEABCFB4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26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8E2E71D-755C-7D3F-3168-20235F9C85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5637" y="1408327"/>
            <a:ext cx="7173326" cy="507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78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7AE28-E55A-4CB1-8E7D-E80BB87AA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">
            <a:extLst>
              <a:ext uri="{FF2B5EF4-FFF2-40B4-BE49-F238E27FC236}">
                <a16:creationId xmlns:a16="http://schemas.microsoft.com/office/drawing/2014/main" id="{D60BB063-0E40-9C50-5FD2-6311A02EC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43" y="2"/>
            <a:ext cx="8229600" cy="970629"/>
          </a:xfrm>
        </p:spPr>
        <p:txBody>
          <a:bodyPr>
            <a:normAutofit/>
          </a:bodyPr>
          <a:lstStyle/>
          <a:p>
            <a:r>
              <a:rPr kumimoji="1" lang="en-US" altLang="zh-CN" sz="3400" b="1" dirty="0"/>
              <a:t>Good Luck</a:t>
            </a:r>
            <a:r>
              <a:rPr kumimoji="1" lang="zh-CN" altLang="en-US" sz="3400" b="1" dirty="0"/>
              <a:t>！</a:t>
            </a:r>
            <a:r>
              <a:rPr kumimoji="1" lang="en-US" altLang="zh-CN" sz="3400" b="1" dirty="0"/>
              <a:t>Bye~</a:t>
            </a:r>
            <a:endParaRPr kumimoji="1" lang="zh-CN" altLang="en-US" sz="3400" b="1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108AC8-8A0D-A958-269D-6298D1D8A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4055D5-7BF2-429B-8F45-63FF0AFCD239}" type="slidenum">
              <a:rPr lang="en-US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pPr/>
              <a:t>27</a:t>
            </a:fld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D153575-0796-8A87-F9D5-1D81168E5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07" y="1758194"/>
            <a:ext cx="2691843" cy="421031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B0B3279-F1AF-0131-C255-1A2E38170A77}"/>
              </a:ext>
            </a:extLst>
          </p:cNvPr>
          <p:cNvSpPr txBox="1"/>
          <p:nvPr/>
        </p:nvSpPr>
        <p:spPr>
          <a:xfrm>
            <a:off x="4034868" y="2148959"/>
            <a:ext cx="755332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6000" b="1" dirty="0">
                <a:solidFill>
                  <a:srgbClr val="284DB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  <a:sym typeface="+mn-ea"/>
              </a:rPr>
              <a:t>祝大家期末顺利！！！</a:t>
            </a:r>
            <a:endParaRPr kumimoji="1" lang="en-US" altLang="zh-CN" sz="4400" b="1" dirty="0">
              <a:solidFill>
                <a:srgbClr val="284DBB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+mj-cs"/>
              <a:sym typeface="+mn-ea"/>
            </a:endParaRPr>
          </a:p>
        </p:txBody>
      </p:sp>
      <p:pic>
        <p:nvPicPr>
          <p:cNvPr id="8" name="Picture 2" descr="The Importance of Sending a Thank-You After a Job Interview - Astrix">
            <a:extLst>
              <a:ext uri="{FF2B5EF4-FFF2-40B4-BE49-F238E27FC236}">
                <a16:creationId xmlns:a16="http://schemas.microsoft.com/office/drawing/2014/main" id="{69222C09-AB3F-4068-F74C-853D41259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6520" y="3429000"/>
            <a:ext cx="5760720" cy="2880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54976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UNIT_LINE_FORE_SCHEMECOLOR_INDEX_BRIGHTNESS" val="0"/>
  <p:tag name="KSO_WM_UNIT_LINE_FORE_SCHEMECOLOR_INDEX" val="5"/>
  <p:tag name="KSO_WM_UNIT_LINE_FILL_TYPE" val="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10720</TotalTime>
  <Words>655</Words>
  <Application>Microsoft Office PowerPoint</Application>
  <PresentationFormat>宽屏</PresentationFormat>
  <Paragraphs>212</Paragraphs>
  <Slides>27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9" baseType="lpstr">
      <vt:lpstr>굴림</vt:lpstr>
      <vt:lpstr>Helvetica Light</vt:lpstr>
      <vt:lpstr>HiddenHorzOCR-Identity-H</vt:lpstr>
      <vt:lpstr>TimesNewRomanPSMT</vt:lpstr>
      <vt:lpstr>等线</vt:lpstr>
      <vt:lpstr>等线 Light</vt:lpstr>
      <vt:lpstr>SimSun</vt:lpstr>
      <vt:lpstr>Microsoft YaHei</vt:lpstr>
      <vt:lpstr>Microsoft YaHei</vt:lpstr>
      <vt:lpstr>Arial</vt:lpstr>
      <vt:lpstr>Wingdings</vt:lpstr>
      <vt:lpstr>Office 主题​​</vt:lpstr>
      <vt:lpstr>PowerPoint 演示文稿</vt:lpstr>
      <vt:lpstr>ODE</vt:lpstr>
      <vt:lpstr>ODE</vt:lpstr>
      <vt:lpstr>ODE</vt:lpstr>
      <vt:lpstr>ODE</vt:lpstr>
      <vt:lpstr>ODE</vt:lpstr>
      <vt:lpstr>ODE</vt:lpstr>
      <vt:lpstr>ODE</vt:lpstr>
      <vt:lpstr>Transform and differentiation</vt:lpstr>
      <vt:lpstr>PDE</vt:lpstr>
      <vt:lpstr>PDE</vt:lpstr>
      <vt:lpstr>PDE</vt:lpstr>
      <vt:lpstr>PDE</vt:lpstr>
      <vt:lpstr>PDE</vt:lpstr>
      <vt:lpstr>PDE</vt:lpstr>
      <vt:lpstr>PDE</vt:lpstr>
      <vt:lpstr>PDE</vt:lpstr>
      <vt:lpstr>PDE</vt:lpstr>
      <vt:lpstr>PDE</vt:lpstr>
      <vt:lpstr>PDE</vt:lpstr>
      <vt:lpstr>Examples</vt:lpstr>
      <vt:lpstr>PDE</vt:lpstr>
      <vt:lpstr>PDE</vt:lpstr>
      <vt:lpstr>Examples</vt:lpstr>
      <vt:lpstr>Examples</vt:lpstr>
      <vt:lpstr>Examples</vt:lpstr>
      <vt:lpstr>Good Luck！Bye~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3230</dc:creator>
  <cp:lastModifiedBy>Haodong zhang</cp:lastModifiedBy>
  <cp:revision>587</cp:revision>
  <dcterms:created xsi:type="dcterms:W3CDTF">2024-05-05T13:10:03Z</dcterms:created>
  <dcterms:modified xsi:type="dcterms:W3CDTF">2024-12-22T02:43:13Z</dcterms:modified>
</cp:coreProperties>
</file>