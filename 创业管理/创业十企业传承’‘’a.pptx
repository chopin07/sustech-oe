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123"/>
  </p:notesMasterIdLst>
  <p:sldIdLst>
    <p:sldId id="537" r:id="rId2"/>
    <p:sldId id="1481" r:id="rId3"/>
    <p:sldId id="1923" r:id="rId4"/>
    <p:sldId id="1507" r:id="rId5"/>
    <p:sldId id="1484" r:id="rId6"/>
    <p:sldId id="1485" r:id="rId7"/>
    <p:sldId id="1486" r:id="rId8"/>
    <p:sldId id="1487" r:id="rId9"/>
    <p:sldId id="1488" r:id="rId10"/>
    <p:sldId id="1489" r:id="rId11"/>
    <p:sldId id="1490" r:id="rId12"/>
    <p:sldId id="1491" r:id="rId13"/>
    <p:sldId id="1492" r:id="rId14"/>
    <p:sldId id="1493" r:id="rId15"/>
    <p:sldId id="1494" r:id="rId16"/>
    <p:sldId id="1495" r:id="rId17"/>
    <p:sldId id="1497" r:id="rId18"/>
    <p:sldId id="1498" r:id="rId19"/>
    <p:sldId id="1505" r:id="rId20"/>
    <p:sldId id="1499" r:id="rId21"/>
    <p:sldId id="1508" r:id="rId22"/>
    <p:sldId id="1500" r:id="rId23"/>
    <p:sldId id="1502" r:id="rId24"/>
    <p:sldId id="1504" r:id="rId25"/>
    <p:sldId id="1376" r:id="rId26"/>
    <p:sldId id="1377" r:id="rId27"/>
    <p:sldId id="1378" r:id="rId28"/>
    <p:sldId id="1379" r:id="rId29"/>
    <p:sldId id="1380" r:id="rId30"/>
    <p:sldId id="1381" r:id="rId31"/>
    <p:sldId id="1382" r:id="rId32"/>
    <p:sldId id="1383" r:id="rId33"/>
    <p:sldId id="1384" r:id="rId34"/>
    <p:sldId id="1385" r:id="rId35"/>
    <p:sldId id="1386" r:id="rId36"/>
    <p:sldId id="1387" r:id="rId37"/>
    <p:sldId id="1388" r:id="rId38"/>
    <p:sldId id="1389" r:id="rId39"/>
    <p:sldId id="1390" r:id="rId40"/>
    <p:sldId id="1401" r:id="rId41"/>
    <p:sldId id="1402" r:id="rId42"/>
    <p:sldId id="1403" r:id="rId43"/>
    <p:sldId id="1404" r:id="rId44"/>
    <p:sldId id="1405" r:id="rId45"/>
    <p:sldId id="1406" r:id="rId46"/>
    <p:sldId id="1407" r:id="rId47"/>
    <p:sldId id="1408" r:id="rId48"/>
    <p:sldId id="1409" r:id="rId49"/>
    <p:sldId id="1410" r:id="rId50"/>
    <p:sldId id="1411" r:id="rId51"/>
    <p:sldId id="1412" r:id="rId52"/>
    <p:sldId id="1413" r:id="rId53"/>
    <p:sldId id="1414" r:id="rId54"/>
    <p:sldId id="1415" r:id="rId55"/>
    <p:sldId id="1416" r:id="rId56"/>
    <p:sldId id="1417" r:id="rId57"/>
    <p:sldId id="1418" r:id="rId58"/>
    <p:sldId id="1419" r:id="rId59"/>
    <p:sldId id="1420" r:id="rId60"/>
    <p:sldId id="1421" r:id="rId61"/>
    <p:sldId id="1422" r:id="rId62"/>
    <p:sldId id="1423" r:id="rId63"/>
    <p:sldId id="1424" r:id="rId64"/>
    <p:sldId id="1425" r:id="rId65"/>
    <p:sldId id="1426" r:id="rId66"/>
    <p:sldId id="1427" r:id="rId67"/>
    <p:sldId id="1429" r:id="rId68"/>
    <p:sldId id="1430" r:id="rId69"/>
    <p:sldId id="1867" r:id="rId70"/>
    <p:sldId id="1431" r:id="rId71"/>
    <p:sldId id="1432" r:id="rId72"/>
    <p:sldId id="1433" r:id="rId73"/>
    <p:sldId id="1434" r:id="rId74"/>
    <p:sldId id="1436" r:id="rId75"/>
    <p:sldId id="1437" r:id="rId76"/>
    <p:sldId id="1438" r:id="rId77"/>
    <p:sldId id="1868" r:id="rId78"/>
    <p:sldId id="1441" r:id="rId79"/>
    <p:sldId id="1442" r:id="rId80"/>
    <p:sldId id="1443" r:id="rId81"/>
    <p:sldId id="1444" r:id="rId82"/>
    <p:sldId id="1446" r:id="rId83"/>
    <p:sldId id="1871" r:id="rId84"/>
    <p:sldId id="1448" r:id="rId85"/>
    <p:sldId id="1449" r:id="rId86"/>
    <p:sldId id="1450" r:id="rId87"/>
    <p:sldId id="1451" r:id="rId88"/>
    <p:sldId id="1452" r:id="rId89"/>
    <p:sldId id="1453" r:id="rId90"/>
    <p:sldId id="1454" r:id="rId91"/>
    <p:sldId id="1459" r:id="rId92"/>
    <p:sldId id="1460" r:id="rId93"/>
    <p:sldId id="1461" r:id="rId94"/>
    <p:sldId id="1462" r:id="rId95"/>
    <p:sldId id="2179" r:id="rId96"/>
    <p:sldId id="1463" r:id="rId97"/>
    <p:sldId id="1464" r:id="rId98"/>
    <p:sldId id="1465" r:id="rId99"/>
    <p:sldId id="1466" r:id="rId100"/>
    <p:sldId id="1467" r:id="rId101"/>
    <p:sldId id="1468" r:id="rId102"/>
    <p:sldId id="1469" r:id="rId103"/>
    <p:sldId id="1470" r:id="rId104"/>
    <p:sldId id="1471" r:id="rId105"/>
    <p:sldId id="2210" r:id="rId106"/>
    <p:sldId id="2205" r:id="rId107"/>
    <p:sldId id="2206" r:id="rId108"/>
    <p:sldId id="2207" r:id="rId109"/>
    <p:sldId id="2212" r:id="rId110"/>
    <p:sldId id="2213" r:id="rId111"/>
    <p:sldId id="2211" r:id="rId112"/>
    <p:sldId id="1472" r:id="rId113"/>
    <p:sldId id="2156" r:id="rId114"/>
    <p:sldId id="1473" r:id="rId115"/>
    <p:sldId id="1474" r:id="rId116"/>
    <p:sldId id="1475" r:id="rId117"/>
    <p:sldId id="1476" r:id="rId118"/>
    <p:sldId id="2177" r:id="rId119"/>
    <p:sldId id="1477" r:id="rId120"/>
    <p:sldId id="2216" r:id="rId121"/>
    <p:sldId id="2220" r:id="rId1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4" autoAdjust="0"/>
    <p:restoredTop sz="86430" autoAdjust="0"/>
  </p:normalViewPr>
  <p:slideViewPr>
    <p:cSldViewPr snapToGrid="0">
      <p:cViewPr varScale="1">
        <p:scale>
          <a:sx n="95" d="100"/>
          <a:sy n="95" d="100"/>
        </p:scale>
        <p:origin x="69" y="318"/>
      </p:cViewPr>
      <p:guideLst/>
    </p:cSldViewPr>
  </p:slideViewPr>
  <p:outlineViewPr>
    <p:cViewPr>
      <p:scale>
        <a:sx n="33" d="100"/>
        <a:sy n="33" d="100"/>
      </p:scale>
      <p:origin x="0" y="-3261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2" d="100"/>
        <a:sy n="192" d="100"/>
      </p:scale>
      <p:origin x="0" y="-309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commentAuthors" Target="commentAuthor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12-09T13:44:52.705" idx="1">
    <p:pos x="5955" y="519"/>
    <p:text/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991EF2-69AF-450F-923A-0CEC08806624}" type="doc">
      <dgm:prSet loTypeId="urn:microsoft.com/office/officeart/2005/8/layout/cycle2" loCatId="cycle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zh-CN" altLang="en-US"/>
        </a:p>
      </dgm:t>
    </dgm:pt>
    <dgm:pt modelId="{50C48E5C-0AAE-46D3-9865-68BCD6304D12}">
      <dgm:prSet phldrT="[文本]"/>
      <dgm:spPr>
        <a:solidFill>
          <a:srgbClr val="00B0F0"/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gm:spPr>
      <dgm:t>
        <a:bodyPr/>
        <a:lstStyle/>
        <a:p>
          <a:r>
            <a:rPr lang="zh-CN" altLang="en-US" b="1" dirty="0">
              <a:latin typeface="宋体" panose="02010600030101010101" pitchFamily="2" charset="-122"/>
              <a:ea typeface="宋体" panose="02010600030101010101" pitchFamily="2" charset="-122"/>
            </a:rPr>
            <a:t>自然灾害</a:t>
          </a:r>
        </a:p>
      </dgm:t>
    </dgm:pt>
    <dgm:pt modelId="{3F406AB4-22E3-4381-BEA6-508605DE9204}" type="parTrans" cxnId="{1AA8F37C-9CF6-4317-9AF3-C0FACC7E4C49}">
      <dgm:prSet/>
      <dgm:spPr/>
      <dgm:t>
        <a:bodyPr/>
        <a:lstStyle/>
        <a:p>
          <a:endParaRPr lang="zh-CN" altLang="en-US"/>
        </a:p>
      </dgm:t>
    </dgm:pt>
    <dgm:pt modelId="{B15160D3-7A7F-4A18-A3EA-FAE3F3C1F5AD}" type="sibTrans" cxnId="{1AA8F37C-9CF6-4317-9AF3-C0FACC7E4C49}">
      <dgm:prSet/>
      <dgm:spPr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endParaRPr lang="zh-CN" altLang="en-US"/>
        </a:p>
      </dgm:t>
    </dgm:pt>
    <dgm:pt modelId="{6AEC6FE1-B5E0-4D1C-8F5E-59B4A9278A6F}">
      <dgm:prSet phldrT="[文本]"/>
      <dgm:spPr>
        <a:solidFill>
          <a:srgbClr val="00B0F0"/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gm:spPr>
      <dgm:t>
        <a:bodyPr/>
        <a:lstStyle/>
        <a:p>
          <a:r>
            <a:rPr lang="zh-CN" altLang="en-US" b="1" dirty="0">
              <a:latin typeface="宋体" panose="02010600030101010101" pitchFamily="2" charset="-122"/>
              <a:ea typeface="宋体" panose="02010600030101010101" pitchFamily="2" charset="-122"/>
            </a:rPr>
            <a:t>投资风险</a:t>
          </a:r>
        </a:p>
      </dgm:t>
    </dgm:pt>
    <dgm:pt modelId="{7C895625-D5A8-496C-8742-200C22667297}" type="parTrans" cxnId="{A7BC3F24-4C19-46C3-878C-8528458C61BB}">
      <dgm:prSet/>
      <dgm:spPr/>
      <dgm:t>
        <a:bodyPr/>
        <a:lstStyle/>
        <a:p>
          <a:endParaRPr lang="zh-CN" altLang="en-US"/>
        </a:p>
      </dgm:t>
    </dgm:pt>
    <dgm:pt modelId="{69BCAF0D-6511-49A0-B9EE-FE04B4543F77}" type="sibTrans" cxnId="{A7BC3F24-4C19-46C3-878C-8528458C61BB}">
      <dgm:prSet/>
      <dgm:spPr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endParaRPr lang="zh-CN" altLang="en-US"/>
        </a:p>
      </dgm:t>
    </dgm:pt>
    <dgm:pt modelId="{7C6BB7E1-91C1-4148-9C85-6E88C1F2C656}">
      <dgm:prSet phldrT="[文本]"/>
      <dgm:spPr>
        <a:solidFill>
          <a:srgbClr val="00B0F0"/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gm:spPr>
      <dgm:t>
        <a:bodyPr/>
        <a:lstStyle/>
        <a:p>
          <a:r>
            <a:rPr lang="zh-CN" altLang="en-US" b="1" dirty="0">
              <a:latin typeface="宋体" panose="02010600030101010101" pitchFamily="2" charset="-122"/>
              <a:ea typeface="宋体" panose="02010600030101010101" pitchFamily="2" charset="-122"/>
            </a:rPr>
            <a:t>经营风险</a:t>
          </a:r>
        </a:p>
      </dgm:t>
    </dgm:pt>
    <dgm:pt modelId="{EB2143E8-9D1B-43BA-96F5-6726CB611DAE}" type="parTrans" cxnId="{829059F2-109C-4B28-BA4B-49E14B5BDCB2}">
      <dgm:prSet/>
      <dgm:spPr/>
      <dgm:t>
        <a:bodyPr/>
        <a:lstStyle/>
        <a:p>
          <a:endParaRPr lang="zh-CN" altLang="en-US"/>
        </a:p>
      </dgm:t>
    </dgm:pt>
    <dgm:pt modelId="{132F5449-A003-4E1C-84A1-368BF5783D93}" type="sibTrans" cxnId="{829059F2-109C-4B28-BA4B-49E14B5BDCB2}">
      <dgm:prSet/>
      <dgm:spPr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endParaRPr lang="zh-CN" altLang="en-US"/>
        </a:p>
      </dgm:t>
    </dgm:pt>
    <dgm:pt modelId="{63BC41FC-D11C-473D-8616-B6C3F6FE6416}">
      <dgm:prSet phldrT="[文本]"/>
      <dgm:spPr>
        <a:solidFill>
          <a:srgbClr val="00B0F0"/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gm:spPr>
      <dgm:t>
        <a:bodyPr/>
        <a:lstStyle/>
        <a:p>
          <a:r>
            <a:rPr lang="zh-CN" altLang="en-US" b="1" dirty="0">
              <a:latin typeface="宋体" panose="02010600030101010101" pitchFamily="2" charset="-122"/>
              <a:ea typeface="宋体" panose="02010600030101010101" pitchFamily="2" charset="-122"/>
            </a:rPr>
            <a:t>缴纳重税</a:t>
          </a:r>
        </a:p>
      </dgm:t>
    </dgm:pt>
    <dgm:pt modelId="{D2B59767-D5C3-4C93-96CA-B55C39231C90}" type="parTrans" cxnId="{4E69F6FB-57CB-4429-9C15-EC13D78B8505}">
      <dgm:prSet/>
      <dgm:spPr/>
      <dgm:t>
        <a:bodyPr/>
        <a:lstStyle/>
        <a:p>
          <a:endParaRPr lang="zh-CN" altLang="en-US"/>
        </a:p>
      </dgm:t>
    </dgm:pt>
    <dgm:pt modelId="{8CC49A80-B9CC-424F-B354-E3C6D26C1C82}" type="sibTrans" cxnId="{4E69F6FB-57CB-4429-9C15-EC13D78B8505}">
      <dgm:prSet/>
      <dgm:spPr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endParaRPr lang="zh-CN" altLang="en-US"/>
        </a:p>
      </dgm:t>
    </dgm:pt>
    <dgm:pt modelId="{6E6B4531-7312-4B29-B000-860BCFC13C49}">
      <dgm:prSet phldrT="[文本]"/>
      <dgm:spPr>
        <a:solidFill>
          <a:srgbClr val="00B0F0"/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gm:spPr>
      <dgm:t>
        <a:bodyPr/>
        <a:lstStyle/>
        <a:p>
          <a:r>
            <a:rPr lang="zh-CN" altLang="en-US" b="1" dirty="0">
              <a:latin typeface="宋体" panose="02010600030101010101" pitchFamily="2" charset="-122"/>
              <a:ea typeface="宋体" panose="02010600030101010101" pitchFamily="2" charset="-122"/>
            </a:rPr>
            <a:t>子女传承</a:t>
          </a:r>
        </a:p>
      </dgm:t>
    </dgm:pt>
    <dgm:pt modelId="{2E4BCF9E-9153-4BFA-B9A8-1CE677702386}" type="parTrans" cxnId="{04D0AF3E-D43B-4C16-B6F9-A48839063694}">
      <dgm:prSet/>
      <dgm:spPr/>
      <dgm:t>
        <a:bodyPr/>
        <a:lstStyle/>
        <a:p>
          <a:endParaRPr lang="zh-CN" altLang="en-US"/>
        </a:p>
      </dgm:t>
    </dgm:pt>
    <dgm:pt modelId="{765950DB-5CE6-4FC9-B873-488075545261}" type="sibTrans" cxnId="{04D0AF3E-D43B-4C16-B6F9-A48839063694}">
      <dgm:prSet/>
      <dgm:spPr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endParaRPr lang="zh-CN" altLang="en-US"/>
        </a:p>
      </dgm:t>
    </dgm:pt>
    <dgm:pt modelId="{938E1591-3E7E-484A-800F-F2F131D66CCB}">
      <dgm:prSet/>
      <dgm:spPr>
        <a:solidFill>
          <a:srgbClr val="00B0F0"/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gm:spPr>
      <dgm:t>
        <a:bodyPr/>
        <a:lstStyle/>
        <a:p>
          <a:r>
            <a:rPr lang="zh-CN" altLang="en-US" b="1" u="none" dirty="0">
              <a:latin typeface="宋体" panose="02010600030101010101" pitchFamily="2" charset="-122"/>
              <a:ea typeface="宋体" panose="02010600030101010101" pitchFamily="2" charset="-122"/>
            </a:rPr>
            <a:t>婚</a:t>
          </a:r>
          <a:r>
            <a:rPr lang="zh-CN" altLang="en-US" b="1" dirty="0">
              <a:latin typeface="宋体" panose="02010600030101010101" pitchFamily="2" charset="-122"/>
              <a:ea typeface="宋体" panose="02010600030101010101" pitchFamily="2" charset="-122"/>
            </a:rPr>
            <a:t>姻变化</a:t>
          </a:r>
        </a:p>
      </dgm:t>
    </dgm:pt>
    <dgm:pt modelId="{28A0F055-8969-437D-94BA-BF09FF6F5317}" type="parTrans" cxnId="{FB29EDBD-E705-4544-B3B3-606CCA293D78}">
      <dgm:prSet/>
      <dgm:spPr/>
      <dgm:t>
        <a:bodyPr/>
        <a:lstStyle/>
        <a:p>
          <a:endParaRPr lang="zh-CN" altLang="en-US"/>
        </a:p>
      </dgm:t>
    </dgm:pt>
    <dgm:pt modelId="{FB39CE6C-EF6A-4670-93AB-9CF24B0E4E89}" type="sibTrans" cxnId="{FB29EDBD-E705-4544-B3B3-606CCA293D78}">
      <dgm:prSet/>
      <dgm:spPr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gm:spPr>
      <dgm:t>
        <a:bodyPr/>
        <a:lstStyle/>
        <a:p>
          <a:endParaRPr lang="zh-CN" altLang="en-US"/>
        </a:p>
      </dgm:t>
    </dgm:pt>
    <dgm:pt modelId="{D342A280-6CF9-4762-80E4-CA17D42A5418}" type="pres">
      <dgm:prSet presAssocID="{95991EF2-69AF-450F-923A-0CEC08806624}" presName="cycle" presStyleCnt="0">
        <dgm:presLayoutVars>
          <dgm:dir/>
          <dgm:resizeHandles val="exact"/>
        </dgm:presLayoutVars>
      </dgm:prSet>
      <dgm:spPr/>
    </dgm:pt>
    <dgm:pt modelId="{E88E248D-06FB-4453-A70A-F5F24857D7E9}" type="pres">
      <dgm:prSet presAssocID="{50C48E5C-0AAE-46D3-9865-68BCD6304D12}" presName="node" presStyleLbl="node1" presStyleIdx="0" presStyleCnt="6">
        <dgm:presLayoutVars>
          <dgm:bulletEnabled val="1"/>
        </dgm:presLayoutVars>
      </dgm:prSet>
      <dgm:spPr/>
    </dgm:pt>
    <dgm:pt modelId="{90890D77-55A6-4A0E-801F-55D5FF35FA5B}" type="pres">
      <dgm:prSet presAssocID="{B15160D3-7A7F-4A18-A3EA-FAE3F3C1F5AD}" presName="sibTrans" presStyleLbl="sibTrans2D1" presStyleIdx="0" presStyleCnt="6"/>
      <dgm:spPr/>
    </dgm:pt>
    <dgm:pt modelId="{D54DF846-F6F2-4CC6-84E3-6000366F4755}" type="pres">
      <dgm:prSet presAssocID="{B15160D3-7A7F-4A18-A3EA-FAE3F3C1F5AD}" presName="connectorText" presStyleLbl="sibTrans2D1" presStyleIdx="0" presStyleCnt="6"/>
      <dgm:spPr/>
    </dgm:pt>
    <dgm:pt modelId="{974CB86F-F93D-4E1B-9376-FD8409ADE202}" type="pres">
      <dgm:prSet presAssocID="{6AEC6FE1-B5E0-4D1C-8F5E-59B4A9278A6F}" presName="node" presStyleLbl="node1" presStyleIdx="1" presStyleCnt="6">
        <dgm:presLayoutVars>
          <dgm:bulletEnabled val="1"/>
        </dgm:presLayoutVars>
      </dgm:prSet>
      <dgm:spPr/>
    </dgm:pt>
    <dgm:pt modelId="{F92C8D20-4EA0-4422-A049-B6F187EB6344}" type="pres">
      <dgm:prSet presAssocID="{69BCAF0D-6511-49A0-B9EE-FE04B4543F77}" presName="sibTrans" presStyleLbl="sibTrans2D1" presStyleIdx="1" presStyleCnt="6"/>
      <dgm:spPr/>
    </dgm:pt>
    <dgm:pt modelId="{EE5F153B-BDB0-428D-9086-D0784A6A39A8}" type="pres">
      <dgm:prSet presAssocID="{69BCAF0D-6511-49A0-B9EE-FE04B4543F77}" presName="connectorText" presStyleLbl="sibTrans2D1" presStyleIdx="1" presStyleCnt="6"/>
      <dgm:spPr/>
    </dgm:pt>
    <dgm:pt modelId="{AF9A8C27-330A-45E5-BC5C-98EC623943A1}" type="pres">
      <dgm:prSet presAssocID="{7C6BB7E1-91C1-4148-9C85-6E88C1F2C656}" presName="node" presStyleLbl="node1" presStyleIdx="2" presStyleCnt="6">
        <dgm:presLayoutVars>
          <dgm:bulletEnabled val="1"/>
        </dgm:presLayoutVars>
      </dgm:prSet>
      <dgm:spPr/>
    </dgm:pt>
    <dgm:pt modelId="{81CAA4E5-FFAA-4CA6-B744-F06273005C0F}" type="pres">
      <dgm:prSet presAssocID="{132F5449-A003-4E1C-84A1-368BF5783D93}" presName="sibTrans" presStyleLbl="sibTrans2D1" presStyleIdx="2" presStyleCnt="6"/>
      <dgm:spPr/>
    </dgm:pt>
    <dgm:pt modelId="{7F9AA093-5201-4E1F-ADDD-DE0265A2617F}" type="pres">
      <dgm:prSet presAssocID="{132F5449-A003-4E1C-84A1-368BF5783D93}" presName="connectorText" presStyleLbl="sibTrans2D1" presStyleIdx="2" presStyleCnt="6"/>
      <dgm:spPr/>
    </dgm:pt>
    <dgm:pt modelId="{A3693785-43E8-4B49-AC0E-045BE95B262B}" type="pres">
      <dgm:prSet presAssocID="{63BC41FC-D11C-473D-8616-B6C3F6FE6416}" presName="node" presStyleLbl="node1" presStyleIdx="3" presStyleCnt="6">
        <dgm:presLayoutVars>
          <dgm:bulletEnabled val="1"/>
        </dgm:presLayoutVars>
      </dgm:prSet>
      <dgm:spPr/>
    </dgm:pt>
    <dgm:pt modelId="{084E5E72-CC92-4BB1-BFAD-F596EFDC1929}" type="pres">
      <dgm:prSet presAssocID="{8CC49A80-B9CC-424F-B354-E3C6D26C1C82}" presName="sibTrans" presStyleLbl="sibTrans2D1" presStyleIdx="3" presStyleCnt="6"/>
      <dgm:spPr/>
    </dgm:pt>
    <dgm:pt modelId="{460DAE25-823B-4CE5-9933-27DDF7392310}" type="pres">
      <dgm:prSet presAssocID="{8CC49A80-B9CC-424F-B354-E3C6D26C1C82}" presName="connectorText" presStyleLbl="sibTrans2D1" presStyleIdx="3" presStyleCnt="6"/>
      <dgm:spPr/>
    </dgm:pt>
    <dgm:pt modelId="{F07AA712-A9C9-4425-9057-E82431E65205}" type="pres">
      <dgm:prSet presAssocID="{938E1591-3E7E-484A-800F-F2F131D66CCB}" presName="node" presStyleLbl="node1" presStyleIdx="4" presStyleCnt="6" custRadScaleRad="100394" custRadScaleInc="880">
        <dgm:presLayoutVars>
          <dgm:bulletEnabled val="1"/>
        </dgm:presLayoutVars>
      </dgm:prSet>
      <dgm:spPr/>
    </dgm:pt>
    <dgm:pt modelId="{61CD27C4-942C-4D37-92AF-43F2D8EF4146}" type="pres">
      <dgm:prSet presAssocID="{FB39CE6C-EF6A-4670-93AB-9CF24B0E4E89}" presName="sibTrans" presStyleLbl="sibTrans2D1" presStyleIdx="4" presStyleCnt="6"/>
      <dgm:spPr/>
    </dgm:pt>
    <dgm:pt modelId="{E81859C1-60B2-4456-B931-015807A94BBA}" type="pres">
      <dgm:prSet presAssocID="{FB39CE6C-EF6A-4670-93AB-9CF24B0E4E89}" presName="connectorText" presStyleLbl="sibTrans2D1" presStyleIdx="4" presStyleCnt="6"/>
      <dgm:spPr/>
    </dgm:pt>
    <dgm:pt modelId="{E765DF39-A0F0-453A-AE86-77C91ED7754A}" type="pres">
      <dgm:prSet presAssocID="{6E6B4531-7312-4B29-B000-860BCFC13C49}" presName="node" presStyleLbl="node1" presStyleIdx="5" presStyleCnt="6">
        <dgm:presLayoutVars>
          <dgm:bulletEnabled val="1"/>
        </dgm:presLayoutVars>
      </dgm:prSet>
      <dgm:spPr/>
    </dgm:pt>
    <dgm:pt modelId="{D7D363BF-E266-4361-9CEB-6B6143283360}" type="pres">
      <dgm:prSet presAssocID="{765950DB-5CE6-4FC9-B873-488075545261}" presName="sibTrans" presStyleLbl="sibTrans2D1" presStyleIdx="5" presStyleCnt="6"/>
      <dgm:spPr/>
    </dgm:pt>
    <dgm:pt modelId="{7CDD99C4-1926-4E72-95B2-C9F20AEED1A8}" type="pres">
      <dgm:prSet presAssocID="{765950DB-5CE6-4FC9-B873-488075545261}" presName="connectorText" presStyleLbl="sibTrans2D1" presStyleIdx="5" presStyleCnt="6"/>
      <dgm:spPr/>
    </dgm:pt>
  </dgm:ptLst>
  <dgm:cxnLst>
    <dgm:cxn modelId="{22785702-D5B8-47AA-AB5A-A4FD2EEFDCC0}" type="presOf" srcId="{FB39CE6C-EF6A-4670-93AB-9CF24B0E4E89}" destId="{E81859C1-60B2-4456-B931-015807A94BBA}" srcOrd="1" destOrd="0" presId="urn:microsoft.com/office/officeart/2005/8/layout/cycle2"/>
    <dgm:cxn modelId="{A7BC3F24-4C19-46C3-878C-8528458C61BB}" srcId="{95991EF2-69AF-450F-923A-0CEC08806624}" destId="{6AEC6FE1-B5E0-4D1C-8F5E-59B4A9278A6F}" srcOrd="1" destOrd="0" parTransId="{7C895625-D5A8-496C-8742-200C22667297}" sibTransId="{69BCAF0D-6511-49A0-B9EE-FE04B4543F77}"/>
    <dgm:cxn modelId="{E01F8829-CBEF-4F35-80E5-145C05AB244B}" type="presOf" srcId="{50C48E5C-0AAE-46D3-9865-68BCD6304D12}" destId="{E88E248D-06FB-4453-A70A-F5F24857D7E9}" srcOrd="0" destOrd="0" presId="urn:microsoft.com/office/officeart/2005/8/layout/cycle2"/>
    <dgm:cxn modelId="{3737A12D-409D-4291-A12A-732574DD5EE6}" type="presOf" srcId="{FB39CE6C-EF6A-4670-93AB-9CF24B0E4E89}" destId="{61CD27C4-942C-4D37-92AF-43F2D8EF4146}" srcOrd="0" destOrd="0" presId="urn:microsoft.com/office/officeart/2005/8/layout/cycle2"/>
    <dgm:cxn modelId="{04D0AF3E-D43B-4C16-B6F9-A48839063694}" srcId="{95991EF2-69AF-450F-923A-0CEC08806624}" destId="{6E6B4531-7312-4B29-B000-860BCFC13C49}" srcOrd="5" destOrd="0" parTransId="{2E4BCF9E-9153-4BFA-B9A8-1CE677702386}" sibTransId="{765950DB-5CE6-4FC9-B873-488075545261}"/>
    <dgm:cxn modelId="{3B4C5A49-DD37-4EF1-B7B4-DD44DA35DFED}" type="presOf" srcId="{132F5449-A003-4E1C-84A1-368BF5783D93}" destId="{81CAA4E5-FFAA-4CA6-B744-F06273005C0F}" srcOrd="0" destOrd="0" presId="urn:microsoft.com/office/officeart/2005/8/layout/cycle2"/>
    <dgm:cxn modelId="{D7C7834D-64A5-4F73-821C-954AA636E011}" type="presOf" srcId="{938E1591-3E7E-484A-800F-F2F131D66CCB}" destId="{F07AA712-A9C9-4425-9057-E82431E65205}" srcOrd="0" destOrd="0" presId="urn:microsoft.com/office/officeart/2005/8/layout/cycle2"/>
    <dgm:cxn modelId="{C9F5BF4F-7343-4B5E-800C-E212BEA28185}" type="presOf" srcId="{8CC49A80-B9CC-424F-B354-E3C6D26C1C82}" destId="{084E5E72-CC92-4BB1-BFAD-F596EFDC1929}" srcOrd="0" destOrd="0" presId="urn:microsoft.com/office/officeart/2005/8/layout/cycle2"/>
    <dgm:cxn modelId="{6943C651-D337-433E-AB02-7BB35156D9E5}" type="presOf" srcId="{132F5449-A003-4E1C-84A1-368BF5783D93}" destId="{7F9AA093-5201-4E1F-ADDD-DE0265A2617F}" srcOrd="1" destOrd="0" presId="urn:microsoft.com/office/officeart/2005/8/layout/cycle2"/>
    <dgm:cxn modelId="{EF4F5453-C0C0-42C0-8DD4-A8E4549A98B5}" type="presOf" srcId="{B15160D3-7A7F-4A18-A3EA-FAE3F3C1F5AD}" destId="{D54DF846-F6F2-4CC6-84E3-6000366F4755}" srcOrd="1" destOrd="0" presId="urn:microsoft.com/office/officeart/2005/8/layout/cycle2"/>
    <dgm:cxn modelId="{AD6DF759-9635-40B9-8472-13ADE25A1580}" type="presOf" srcId="{95991EF2-69AF-450F-923A-0CEC08806624}" destId="{D342A280-6CF9-4762-80E4-CA17D42A5418}" srcOrd="0" destOrd="0" presId="urn:microsoft.com/office/officeart/2005/8/layout/cycle2"/>
    <dgm:cxn modelId="{1AA8F37C-9CF6-4317-9AF3-C0FACC7E4C49}" srcId="{95991EF2-69AF-450F-923A-0CEC08806624}" destId="{50C48E5C-0AAE-46D3-9865-68BCD6304D12}" srcOrd="0" destOrd="0" parTransId="{3F406AB4-22E3-4381-BEA6-508605DE9204}" sibTransId="{B15160D3-7A7F-4A18-A3EA-FAE3F3C1F5AD}"/>
    <dgm:cxn modelId="{00080F89-2E63-4EF9-BFEF-F2FA3DFD133C}" type="presOf" srcId="{63BC41FC-D11C-473D-8616-B6C3F6FE6416}" destId="{A3693785-43E8-4B49-AC0E-045BE95B262B}" srcOrd="0" destOrd="0" presId="urn:microsoft.com/office/officeart/2005/8/layout/cycle2"/>
    <dgm:cxn modelId="{AA756A8B-9043-43FD-8E6D-8DDF1DB8DF8C}" type="presOf" srcId="{B15160D3-7A7F-4A18-A3EA-FAE3F3C1F5AD}" destId="{90890D77-55A6-4A0E-801F-55D5FF35FA5B}" srcOrd="0" destOrd="0" presId="urn:microsoft.com/office/officeart/2005/8/layout/cycle2"/>
    <dgm:cxn modelId="{CEC14099-C8F6-4E51-901A-18AE71DB1133}" type="presOf" srcId="{765950DB-5CE6-4FC9-B873-488075545261}" destId="{D7D363BF-E266-4361-9CEB-6B6143283360}" srcOrd="0" destOrd="0" presId="urn:microsoft.com/office/officeart/2005/8/layout/cycle2"/>
    <dgm:cxn modelId="{969A79A8-C489-4040-9116-D48973677FEF}" type="presOf" srcId="{765950DB-5CE6-4FC9-B873-488075545261}" destId="{7CDD99C4-1926-4E72-95B2-C9F20AEED1A8}" srcOrd="1" destOrd="0" presId="urn:microsoft.com/office/officeart/2005/8/layout/cycle2"/>
    <dgm:cxn modelId="{A87485B2-7EE1-4A54-ABAD-C3FC8B1545F1}" type="presOf" srcId="{8CC49A80-B9CC-424F-B354-E3C6D26C1C82}" destId="{460DAE25-823B-4CE5-9933-27DDF7392310}" srcOrd="1" destOrd="0" presId="urn:microsoft.com/office/officeart/2005/8/layout/cycle2"/>
    <dgm:cxn modelId="{FB29EDBD-E705-4544-B3B3-606CCA293D78}" srcId="{95991EF2-69AF-450F-923A-0CEC08806624}" destId="{938E1591-3E7E-484A-800F-F2F131D66CCB}" srcOrd="4" destOrd="0" parTransId="{28A0F055-8969-437D-94BA-BF09FF6F5317}" sibTransId="{FB39CE6C-EF6A-4670-93AB-9CF24B0E4E89}"/>
    <dgm:cxn modelId="{AAC1F1C4-2AF9-4D6B-BE47-79642C98491B}" type="presOf" srcId="{69BCAF0D-6511-49A0-B9EE-FE04B4543F77}" destId="{EE5F153B-BDB0-428D-9086-D0784A6A39A8}" srcOrd="1" destOrd="0" presId="urn:microsoft.com/office/officeart/2005/8/layout/cycle2"/>
    <dgm:cxn modelId="{0189F3C5-8779-470C-B349-8099B1992570}" type="presOf" srcId="{7C6BB7E1-91C1-4148-9C85-6E88C1F2C656}" destId="{AF9A8C27-330A-45E5-BC5C-98EC623943A1}" srcOrd="0" destOrd="0" presId="urn:microsoft.com/office/officeart/2005/8/layout/cycle2"/>
    <dgm:cxn modelId="{23F1F5CE-5D5F-48C6-A13E-9D7EC2FE43EE}" type="presOf" srcId="{6E6B4531-7312-4B29-B000-860BCFC13C49}" destId="{E765DF39-A0F0-453A-AE86-77C91ED7754A}" srcOrd="0" destOrd="0" presId="urn:microsoft.com/office/officeart/2005/8/layout/cycle2"/>
    <dgm:cxn modelId="{043CCDCF-C945-461E-88BA-61D3AA1A242D}" type="presOf" srcId="{6AEC6FE1-B5E0-4D1C-8F5E-59B4A9278A6F}" destId="{974CB86F-F93D-4E1B-9376-FD8409ADE202}" srcOrd="0" destOrd="0" presId="urn:microsoft.com/office/officeart/2005/8/layout/cycle2"/>
    <dgm:cxn modelId="{829059F2-109C-4B28-BA4B-49E14B5BDCB2}" srcId="{95991EF2-69AF-450F-923A-0CEC08806624}" destId="{7C6BB7E1-91C1-4148-9C85-6E88C1F2C656}" srcOrd="2" destOrd="0" parTransId="{EB2143E8-9D1B-43BA-96F5-6726CB611DAE}" sibTransId="{132F5449-A003-4E1C-84A1-368BF5783D93}"/>
    <dgm:cxn modelId="{4D265BF7-9AC3-42F7-8E75-021C217202BC}" type="presOf" srcId="{69BCAF0D-6511-49A0-B9EE-FE04B4543F77}" destId="{F92C8D20-4EA0-4422-A049-B6F187EB6344}" srcOrd="0" destOrd="0" presId="urn:microsoft.com/office/officeart/2005/8/layout/cycle2"/>
    <dgm:cxn modelId="{4E69F6FB-57CB-4429-9C15-EC13D78B8505}" srcId="{95991EF2-69AF-450F-923A-0CEC08806624}" destId="{63BC41FC-D11C-473D-8616-B6C3F6FE6416}" srcOrd="3" destOrd="0" parTransId="{D2B59767-D5C3-4C93-96CA-B55C39231C90}" sibTransId="{8CC49A80-B9CC-424F-B354-E3C6D26C1C82}"/>
    <dgm:cxn modelId="{DBF2204E-FCA8-4D04-8AB1-166E79029F53}" type="presParOf" srcId="{D342A280-6CF9-4762-80E4-CA17D42A5418}" destId="{E88E248D-06FB-4453-A70A-F5F24857D7E9}" srcOrd="0" destOrd="0" presId="urn:microsoft.com/office/officeart/2005/8/layout/cycle2"/>
    <dgm:cxn modelId="{5B0C5242-9A7F-456C-8975-7FBEC1E78976}" type="presParOf" srcId="{D342A280-6CF9-4762-80E4-CA17D42A5418}" destId="{90890D77-55A6-4A0E-801F-55D5FF35FA5B}" srcOrd="1" destOrd="0" presId="urn:microsoft.com/office/officeart/2005/8/layout/cycle2"/>
    <dgm:cxn modelId="{D4EC47FF-0B67-409A-A0C0-2FD46434298B}" type="presParOf" srcId="{90890D77-55A6-4A0E-801F-55D5FF35FA5B}" destId="{D54DF846-F6F2-4CC6-84E3-6000366F4755}" srcOrd="0" destOrd="0" presId="urn:microsoft.com/office/officeart/2005/8/layout/cycle2"/>
    <dgm:cxn modelId="{1D53AA38-D3EE-43A2-9D48-6588E539E963}" type="presParOf" srcId="{D342A280-6CF9-4762-80E4-CA17D42A5418}" destId="{974CB86F-F93D-4E1B-9376-FD8409ADE202}" srcOrd="2" destOrd="0" presId="urn:microsoft.com/office/officeart/2005/8/layout/cycle2"/>
    <dgm:cxn modelId="{6F588DCE-85D2-4EF8-915F-2AB9710D1297}" type="presParOf" srcId="{D342A280-6CF9-4762-80E4-CA17D42A5418}" destId="{F92C8D20-4EA0-4422-A049-B6F187EB6344}" srcOrd="3" destOrd="0" presId="urn:microsoft.com/office/officeart/2005/8/layout/cycle2"/>
    <dgm:cxn modelId="{4125DE4A-DA38-4C5B-BA03-2151618BE5ED}" type="presParOf" srcId="{F92C8D20-4EA0-4422-A049-B6F187EB6344}" destId="{EE5F153B-BDB0-428D-9086-D0784A6A39A8}" srcOrd="0" destOrd="0" presId="urn:microsoft.com/office/officeart/2005/8/layout/cycle2"/>
    <dgm:cxn modelId="{025C6F63-D6E3-4477-B14F-AC642A1598F4}" type="presParOf" srcId="{D342A280-6CF9-4762-80E4-CA17D42A5418}" destId="{AF9A8C27-330A-45E5-BC5C-98EC623943A1}" srcOrd="4" destOrd="0" presId="urn:microsoft.com/office/officeart/2005/8/layout/cycle2"/>
    <dgm:cxn modelId="{CF6D30F5-64F2-437C-AAF6-755571372CD8}" type="presParOf" srcId="{D342A280-6CF9-4762-80E4-CA17D42A5418}" destId="{81CAA4E5-FFAA-4CA6-B744-F06273005C0F}" srcOrd="5" destOrd="0" presId="urn:microsoft.com/office/officeart/2005/8/layout/cycle2"/>
    <dgm:cxn modelId="{2BD10847-7629-4C44-B51D-E938A36AE798}" type="presParOf" srcId="{81CAA4E5-FFAA-4CA6-B744-F06273005C0F}" destId="{7F9AA093-5201-4E1F-ADDD-DE0265A2617F}" srcOrd="0" destOrd="0" presId="urn:microsoft.com/office/officeart/2005/8/layout/cycle2"/>
    <dgm:cxn modelId="{C4C3F0CE-B416-438C-8A48-003E34D9A73F}" type="presParOf" srcId="{D342A280-6CF9-4762-80E4-CA17D42A5418}" destId="{A3693785-43E8-4B49-AC0E-045BE95B262B}" srcOrd="6" destOrd="0" presId="urn:microsoft.com/office/officeart/2005/8/layout/cycle2"/>
    <dgm:cxn modelId="{4B5A1A90-448F-4BF0-AA41-983CBD853C8A}" type="presParOf" srcId="{D342A280-6CF9-4762-80E4-CA17D42A5418}" destId="{084E5E72-CC92-4BB1-BFAD-F596EFDC1929}" srcOrd="7" destOrd="0" presId="urn:microsoft.com/office/officeart/2005/8/layout/cycle2"/>
    <dgm:cxn modelId="{29B7CECB-AB41-4069-85C0-68F94D874C9E}" type="presParOf" srcId="{084E5E72-CC92-4BB1-BFAD-F596EFDC1929}" destId="{460DAE25-823B-4CE5-9933-27DDF7392310}" srcOrd="0" destOrd="0" presId="urn:microsoft.com/office/officeart/2005/8/layout/cycle2"/>
    <dgm:cxn modelId="{14B500D6-BE51-4933-99B0-F881BE751F57}" type="presParOf" srcId="{D342A280-6CF9-4762-80E4-CA17D42A5418}" destId="{F07AA712-A9C9-4425-9057-E82431E65205}" srcOrd="8" destOrd="0" presId="urn:microsoft.com/office/officeart/2005/8/layout/cycle2"/>
    <dgm:cxn modelId="{F6D02876-E05B-452E-B8B7-48BEC2770698}" type="presParOf" srcId="{D342A280-6CF9-4762-80E4-CA17D42A5418}" destId="{61CD27C4-942C-4D37-92AF-43F2D8EF4146}" srcOrd="9" destOrd="0" presId="urn:microsoft.com/office/officeart/2005/8/layout/cycle2"/>
    <dgm:cxn modelId="{89711BBC-24D4-4817-B156-FEAF3FDC9775}" type="presParOf" srcId="{61CD27C4-942C-4D37-92AF-43F2D8EF4146}" destId="{E81859C1-60B2-4456-B931-015807A94BBA}" srcOrd="0" destOrd="0" presId="urn:microsoft.com/office/officeart/2005/8/layout/cycle2"/>
    <dgm:cxn modelId="{8B2131F0-9A60-45C1-8BB9-340A08DAD180}" type="presParOf" srcId="{D342A280-6CF9-4762-80E4-CA17D42A5418}" destId="{E765DF39-A0F0-453A-AE86-77C91ED7754A}" srcOrd="10" destOrd="0" presId="urn:microsoft.com/office/officeart/2005/8/layout/cycle2"/>
    <dgm:cxn modelId="{73282609-208F-4E8B-9BC5-1B4E0A5DC5BA}" type="presParOf" srcId="{D342A280-6CF9-4762-80E4-CA17D42A5418}" destId="{D7D363BF-E266-4361-9CEB-6B6143283360}" srcOrd="11" destOrd="0" presId="urn:microsoft.com/office/officeart/2005/8/layout/cycle2"/>
    <dgm:cxn modelId="{F320EC1C-EAA6-4F09-9932-D1A07C0E3578}" type="presParOf" srcId="{D7D363BF-E266-4361-9CEB-6B6143283360}" destId="{7CDD99C4-1926-4E72-95B2-C9F20AEED1A8}" srcOrd="0" destOrd="0" presId="urn:microsoft.com/office/officeart/2005/8/layout/cycle2"/>
  </dgm:cxnLst>
  <dgm:bg>
    <a:effectLst>
      <a:innerShdw blurRad="63500" dist="50800" dir="2700000">
        <a:prstClr val="black">
          <a:alpha val="50000"/>
        </a:prstClr>
      </a:innerShdw>
    </a:effectLst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E248D-06FB-4453-A70A-F5F24857D7E9}">
      <dsp:nvSpPr>
        <dsp:cNvPr id="0" name=""/>
        <dsp:cNvSpPr/>
      </dsp:nvSpPr>
      <dsp:spPr>
        <a:xfrm>
          <a:off x="2673929" y="693"/>
          <a:ext cx="1132860" cy="1132860"/>
        </a:xfrm>
        <a:prstGeom prst="ellipse">
          <a:avLst/>
        </a:prstGeom>
        <a:solidFill>
          <a:srgbClr val="00B0F0"/>
        </a:solidFill>
        <a:ln w="12700" cap="flat" cmpd="sng" algn="ctr">
          <a:noFill/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latin typeface="宋体" panose="02010600030101010101" pitchFamily="2" charset="-122"/>
              <a:ea typeface="宋体" panose="02010600030101010101" pitchFamily="2" charset="-122"/>
            </a:rPr>
            <a:t>自然灾害</a:t>
          </a:r>
        </a:p>
      </dsp:txBody>
      <dsp:txXfrm>
        <a:off x="2839833" y="166597"/>
        <a:ext cx="801052" cy="801052"/>
      </dsp:txXfrm>
    </dsp:sp>
    <dsp:sp modelId="{90890D77-55A6-4A0E-801F-55D5FF35FA5B}">
      <dsp:nvSpPr>
        <dsp:cNvPr id="0" name=""/>
        <dsp:cNvSpPr/>
      </dsp:nvSpPr>
      <dsp:spPr>
        <a:xfrm rot="1800000">
          <a:off x="3818997" y="796973"/>
          <a:ext cx="301181" cy="3823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3825050" y="850853"/>
        <a:ext cx="210827" cy="229404"/>
      </dsp:txXfrm>
    </dsp:sp>
    <dsp:sp modelId="{974CB86F-F93D-4E1B-9376-FD8409ADE202}">
      <dsp:nvSpPr>
        <dsp:cNvPr id="0" name=""/>
        <dsp:cNvSpPr/>
      </dsp:nvSpPr>
      <dsp:spPr>
        <a:xfrm>
          <a:off x="4147150" y="851257"/>
          <a:ext cx="1132860" cy="1132860"/>
        </a:xfrm>
        <a:prstGeom prst="ellipse">
          <a:avLst/>
        </a:prstGeom>
        <a:solidFill>
          <a:srgbClr val="00B0F0"/>
        </a:solidFill>
        <a:ln w="12700" cap="flat" cmpd="sng" algn="ctr">
          <a:noFill/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latin typeface="宋体" panose="02010600030101010101" pitchFamily="2" charset="-122"/>
              <a:ea typeface="宋体" panose="02010600030101010101" pitchFamily="2" charset="-122"/>
            </a:rPr>
            <a:t>投资风险</a:t>
          </a:r>
        </a:p>
      </dsp:txBody>
      <dsp:txXfrm>
        <a:off x="4313054" y="1017161"/>
        <a:ext cx="801052" cy="801052"/>
      </dsp:txXfrm>
    </dsp:sp>
    <dsp:sp modelId="{F92C8D20-4EA0-4422-A049-B6F187EB6344}">
      <dsp:nvSpPr>
        <dsp:cNvPr id="0" name=""/>
        <dsp:cNvSpPr/>
      </dsp:nvSpPr>
      <dsp:spPr>
        <a:xfrm rot="5400000">
          <a:off x="4562989" y="2068557"/>
          <a:ext cx="301181" cy="3823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4608166" y="2099848"/>
        <a:ext cx="210827" cy="229404"/>
      </dsp:txXfrm>
    </dsp:sp>
    <dsp:sp modelId="{AF9A8C27-330A-45E5-BC5C-98EC623943A1}">
      <dsp:nvSpPr>
        <dsp:cNvPr id="0" name=""/>
        <dsp:cNvSpPr/>
      </dsp:nvSpPr>
      <dsp:spPr>
        <a:xfrm>
          <a:off x="4147150" y="2552385"/>
          <a:ext cx="1132860" cy="1132860"/>
        </a:xfrm>
        <a:prstGeom prst="ellipse">
          <a:avLst/>
        </a:prstGeom>
        <a:solidFill>
          <a:srgbClr val="00B0F0"/>
        </a:solidFill>
        <a:ln w="12700" cap="flat" cmpd="sng" algn="ctr">
          <a:noFill/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latin typeface="宋体" panose="02010600030101010101" pitchFamily="2" charset="-122"/>
              <a:ea typeface="宋体" panose="02010600030101010101" pitchFamily="2" charset="-122"/>
            </a:rPr>
            <a:t>经营风险</a:t>
          </a:r>
        </a:p>
      </dsp:txBody>
      <dsp:txXfrm>
        <a:off x="4313054" y="2718289"/>
        <a:ext cx="801052" cy="801052"/>
      </dsp:txXfrm>
    </dsp:sp>
    <dsp:sp modelId="{81CAA4E5-FFAA-4CA6-B744-F06273005C0F}">
      <dsp:nvSpPr>
        <dsp:cNvPr id="0" name=""/>
        <dsp:cNvSpPr/>
      </dsp:nvSpPr>
      <dsp:spPr>
        <a:xfrm rot="9000000">
          <a:off x="3833761" y="3348665"/>
          <a:ext cx="301181" cy="3823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10800000">
        <a:off x="3918062" y="3402545"/>
        <a:ext cx="210827" cy="229404"/>
      </dsp:txXfrm>
    </dsp:sp>
    <dsp:sp modelId="{A3693785-43E8-4B49-AC0E-045BE95B262B}">
      <dsp:nvSpPr>
        <dsp:cNvPr id="0" name=""/>
        <dsp:cNvSpPr/>
      </dsp:nvSpPr>
      <dsp:spPr>
        <a:xfrm>
          <a:off x="2673929" y="3402949"/>
          <a:ext cx="1132860" cy="1132860"/>
        </a:xfrm>
        <a:prstGeom prst="ellipse">
          <a:avLst/>
        </a:prstGeom>
        <a:solidFill>
          <a:srgbClr val="00B0F0"/>
        </a:solidFill>
        <a:ln w="12700" cap="flat" cmpd="sng" algn="ctr">
          <a:noFill/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latin typeface="宋体" panose="02010600030101010101" pitchFamily="2" charset="-122"/>
              <a:ea typeface="宋体" panose="02010600030101010101" pitchFamily="2" charset="-122"/>
            </a:rPr>
            <a:t>缴纳重税</a:t>
          </a:r>
        </a:p>
      </dsp:txBody>
      <dsp:txXfrm>
        <a:off x="2839833" y="3568853"/>
        <a:ext cx="801052" cy="801052"/>
      </dsp:txXfrm>
    </dsp:sp>
    <dsp:sp modelId="{084E5E72-CC92-4BB1-BFAD-F596EFDC1929}">
      <dsp:nvSpPr>
        <dsp:cNvPr id="0" name=""/>
        <dsp:cNvSpPr/>
      </dsp:nvSpPr>
      <dsp:spPr>
        <a:xfrm rot="12596275">
          <a:off x="2353124" y="3355521"/>
          <a:ext cx="306565" cy="3823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10800000">
        <a:off x="2438957" y="3454938"/>
        <a:ext cx="214596" cy="229404"/>
      </dsp:txXfrm>
    </dsp:sp>
    <dsp:sp modelId="{F07AA712-A9C9-4425-9057-E82431E65205}">
      <dsp:nvSpPr>
        <dsp:cNvPr id="0" name=""/>
        <dsp:cNvSpPr/>
      </dsp:nvSpPr>
      <dsp:spPr>
        <a:xfrm>
          <a:off x="1190986" y="2548913"/>
          <a:ext cx="1132860" cy="1132860"/>
        </a:xfrm>
        <a:prstGeom prst="ellipse">
          <a:avLst/>
        </a:prstGeom>
        <a:solidFill>
          <a:srgbClr val="00B0F0"/>
        </a:solidFill>
        <a:ln w="12700" cap="flat" cmpd="sng" algn="ctr">
          <a:noFill/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u="none" kern="1200" dirty="0">
              <a:latin typeface="宋体" panose="02010600030101010101" pitchFamily="2" charset="-122"/>
              <a:ea typeface="宋体" panose="02010600030101010101" pitchFamily="2" charset="-122"/>
            </a:rPr>
            <a:t>婚</a:t>
          </a:r>
          <a:r>
            <a:rPr lang="zh-CN" altLang="en-US" sz="2400" b="1" kern="1200" dirty="0">
              <a:latin typeface="宋体" panose="02010600030101010101" pitchFamily="2" charset="-122"/>
              <a:ea typeface="宋体" panose="02010600030101010101" pitchFamily="2" charset="-122"/>
            </a:rPr>
            <a:t>姻变化</a:t>
          </a:r>
        </a:p>
      </dsp:txBody>
      <dsp:txXfrm>
        <a:off x="1356890" y="2714817"/>
        <a:ext cx="801052" cy="801052"/>
      </dsp:txXfrm>
    </dsp:sp>
    <dsp:sp modelId="{61CD27C4-942C-4D37-92AF-43F2D8EF4146}">
      <dsp:nvSpPr>
        <dsp:cNvPr id="0" name=""/>
        <dsp:cNvSpPr/>
      </dsp:nvSpPr>
      <dsp:spPr>
        <a:xfrm rot="16219690">
          <a:off x="1612551" y="2083817"/>
          <a:ext cx="299356" cy="3823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1657197" y="2205188"/>
        <a:ext cx="209549" cy="229404"/>
      </dsp:txXfrm>
    </dsp:sp>
    <dsp:sp modelId="{E765DF39-A0F0-453A-AE86-77C91ED7754A}">
      <dsp:nvSpPr>
        <dsp:cNvPr id="0" name=""/>
        <dsp:cNvSpPr/>
      </dsp:nvSpPr>
      <dsp:spPr>
        <a:xfrm>
          <a:off x="1200709" y="851257"/>
          <a:ext cx="1132860" cy="1132860"/>
        </a:xfrm>
        <a:prstGeom prst="ellipse">
          <a:avLst/>
        </a:prstGeom>
        <a:solidFill>
          <a:srgbClr val="00B0F0"/>
        </a:solidFill>
        <a:ln w="12700" cap="flat" cmpd="sng" algn="ctr">
          <a:noFill/>
          <a:prstDash val="solid"/>
          <a:miter lim="800000"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latin typeface="宋体" panose="02010600030101010101" pitchFamily="2" charset="-122"/>
              <a:ea typeface="宋体" panose="02010600030101010101" pitchFamily="2" charset="-122"/>
            </a:rPr>
            <a:t>子女传承</a:t>
          </a:r>
        </a:p>
      </dsp:txBody>
      <dsp:txXfrm>
        <a:off x="1366613" y="1017161"/>
        <a:ext cx="801052" cy="801052"/>
      </dsp:txXfrm>
    </dsp:sp>
    <dsp:sp modelId="{D7D363BF-E266-4361-9CEB-6B6143283360}">
      <dsp:nvSpPr>
        <dsp:cNvPr id="0" name=""/>
        <dsp:cNvSpPr/>
      </dsp:nvSpPr>
      <dsp:spPr>
        <a:xfrm rot="19800000">
          <a:off x="2345776" y="805497"/>
          <a:ext cx="301181" cy="3823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76200" dir="18900000" sy="23000" kx="-1200000" algn="bl" rotWithShape="0">
            <a:prstClr val="black">
              <a:alpha val="2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2351829" y="904554"/>
        <a:ext cx="210827" cy="229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1C578-5345-4D15-A029-6A3504A30F49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E9707-135F-443C-9498-A0EB4D1BE0D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229378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2AC72-ED6C-46D9-A606-C9E5B09E438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75CB3-EB0F-46B9-85CB-E0C16262F1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标题 1"/>
          <p:cNvSpPr>
            <a:spLocks noGrp="1" noRot="1" noChangeArrowheads="1"/>
          </p:cNvSpPr>
          <p:nvPr>
            <p:ph type="title"/>
          </p:nvPr>
        </p:nvSpPr>
        <p:spPr>
          <a:xfrm>
            <a:off x="4635873" y="1489449"/>
            <a:ext cx="5144621" cy="11430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企业传承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749"/>
    </mc:Choice>
    <mc:Fallback xmlns="">
      <p:transition spd="slow" advTm="8574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81EC284-4F23-72EE-C317-F37DA8AB2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9702" y="365125"/>
            <a:ext cx="8105858" cy="5929286"/>
          </a:xfrm>
        </p:spPr>
      </p:pic>
      <p:sp>
        <p:nvSpPr>
          <p:cNvPr id="4" name="文本框 3"/>
          <p:cNvSpPr txBox="1"/>
          <p:nvPr/>
        </p:nvSpPr>
        <p:spPr>
          <a:xfrm>
            <a:off x="3696335" y="2970530"/>
            <a:ext cx="1542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民营企业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>
            <a:spLocks noRot="1" noChangeArrowheads="1"/>
          </p:cNvSpPr>
          <p:nvPr/>
        </p:nvSpPr>
        <p:spPr>
          <a:xfrm>
            <a:off x="1610761" y="587188"/>
            <a:ext cx="8540750" cy="449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家族财富缩水的隐性杀手</a:t>
            </a: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3017456950"/>
              </p:ext>
            </p:extLst>
          </p:nvPr>
        </p:nvGraphicFramePr>
        <p:xfrm>
          <a:off x="2730423" y="1404392"/>
          <a:ext cx="6480720" cy="453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extLst>
              <p:ext uri="{D42A27DB-BD31-4B8C-83A1-F6EECF244321}">
                <p14:modId xmlns:p14="http://schemas.microsoft.com/office/powerpoint/2010/main" val="3556424710"/>
              </p:ext>
            </p:extLst>
          </p:nvPr>
        </p:nvGraphicFramePr>
        <p:xfrm>
          <a:off x="3379470" y="707390"/>
          <a:ext cx="5433060" cy="4840605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5433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0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zh-CN" sz="4000" dirty="0"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zh-CN" sz="4000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企业传承的内容</a:t>
                      </a:r>
                    </a:p>
                    <a:p>
                      <a:pPr algn="ctr">
                        <a:buNone/>
                      </a:pPr>
                      <a:endParaRPr lang="zh-CN" altLang="zh-CN" sz="4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3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3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  </a:t>
                      </a:r>
                      <a:r>
                        <a:rPr lang="zh-CN" altLang="zh-CN" sz="3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技术的传承</a:t>
                      </a:r>
                      <a:endParaRPr lang="zh-CN" altLang="zh-CN" sz="36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3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  </a:t>
                      </a:r>
                      <a:r>
                        <a:rPr lang="zh-CN" altLang="zh-CN" sz="3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管理的传承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3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  </a:t>
                      </a:r>
                      <a:r>
                        <a:rPr lang="zh-CN" altLang="zh-CN" sz="3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企业文化的传承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07"/>
    </mc:Choice>
    <mc:Fallback xmlns="">
      <p:transition spd="slow" advTm="3230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2" name="表格 1"/>
          <p:cNvGraphicFramePr/>
          <p:nvPr>
            <p:extLst>
              <p:ext uri="{D42A27DB-BD31-4B8C-83A1-F6EECF244321}">
                <p14:modId xmlns:p14="http://schemas.microsoft.com/office/powerpoint/2010/main" val="1017287619"/>
              </p:ext>
            </p:extLst>
          </p:nvPr>
        </p:nvGraphicFramePr>
        <p:xfrm>
          <a:off x="3439795" y="1189355"/>
          <a:ext cx="5677535" cy="420624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5677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0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2800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管理传承</a:t>
                      </a:r>
                      <a:endParaRPr lang="en-US" altLang="zh-CN" sz="28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endParaRPr lang="zh-CN" altLang="en-US" sz="28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   1</a:t>
                      </a:r>
                      <a:r>
                        <a:rPr lang="zh-CN" altLang="en-US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）</a:t>
                      </a:r>
                      <a:r>
                        <a:rPr lang="zh-CN" altLang="zh-CN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管理模式的传承</a:t>
                      </a:r>
                      <a:endParaRPr lang="zh-CN" altLang="zh-CN" sz="28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>
                        <a:buNone/>
                      </a:pPr>
                      <a:endParaRPr lang="zh-CN" altLang="zh-CN" sz="28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   2</a:t>
                      </a:r>
                      <a:r>
                        <a:rPr lang="zh-CN" altLang="en-US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）</a:t>
                      </a:r>
                      <a:r>
                        <a:rPr lang="zh-CN" altLang="zh-CN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管理思路的传承</a:t>
                      </a:r>
                      <a:endParaRPr lang="zh-CN" altLang="zh-CN" sz="28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zh-CN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   3</a:t>
                      </a:r>
                      <a:r>
                        <a:rPr lang="zh-CN" altLang="en-US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）</a:t>
                      </a:r>
                      <a:r>
                        <a:rPr lang="zh-CN" altLang="zh-CN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管理体系的传承</a:t>
                      </a:r>
                      <a:endParaRPr lang="zh-CN" altLang="zh-CN" sz="28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zh-CN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595"/>
    </mc:Choice>
    <mc:Fallback xmlns="">
      <p:transition spd="slow" advTm="5159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7762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7763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63" y="228601"/>
            <a:ext cx="9174163" cy="516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03"/>
    </mc:Choice>
    <mc:Fallback xmlns="">
      <p:transition spd="slow" advTm="375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8786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3"/>
          <p:cNvPicPr>
            <a:picLocks noRot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3362" y="384175"/>
            <a:ext cx="9185276" cy="60912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59"/>
    </mc:Choice>
    <mc:Fallback xmlns="">
      <p:transition spd="slow" advTm="7355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2882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3972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9565" y="-24141"/>
            <a:ext cx="6761480" cy="5621021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4" name="TextBox 4"/>
          <p:cNvSpPr txBox="1">
            <a:spLocks noChangeArrowheads="1"/>
          </p:cNvSpPr>
          <p:nvPr/>
        </p:nvSpPr>
        <p:spPr bwMode="auto">
          <a:xfrm>
            <a:off x="3854450" y="5829300"/>
            <a:ext cx="4693914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龟甲万国内业务和海外业务</a:t>
            </a: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62"/>
    </mc:Choice>
    <mc:Fallback xmlns="">
      <p:transition spd="slow" advTm="1836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6" descr="u=4098960627,3884289423&amp;fm=26&amp;gp=0 (1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156" y="681037"/>
            <a:ext cx="91836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277"/>
    </mc:Choice>
    <mc:Fallback xmlns="">
      <p:transition spd="slow" advTm="9127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3906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3907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0"/>
            <a:ext cx="74374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962"/>
    </mc:Choice>
    <mc:Fallback xmlns="">
      <p:transition spd="slow" advTm="6896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930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2927351" y="1341438"/>
            <a:ext cx="496887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zh-CN" b="1" kern="0" dirty="0">
                <a:latin typeface="宋体" panose="02010600030101010101" pitchFamily="2" charset="-122"/>
                <a:ea typeface="宋体" panose="02010600030101010101" pitchFamily="2" charset="-122"/>
              </a:rPr>
              <a:t>企业传承的内容</a:t>
            </a:r>
            <a:endParaRPr lang="en-US" altLang="zh-CN" b="1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kern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b="1" kern="0" dirty="0">
                <a:latin typeface="宋体" panose="02010600030101010101" pitchFamily="2" charset="-122"/>
                <a:ea typeface="宋体" panose="02010600030101010101" pitchFamily="2" charset="-122"/>
              </a:rPr>
              <a:t>技术的传承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b="1" kern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b="1" kern="0" dirty="0">
                <a:latin typeface="宋体" panose="02010600030101010101" pitchFamily="2" charset="-122"/>
                <a:ea typeface="宋体" panose="02010600030101010101" pitchFamily="2" charset="-122"/>
              </a:rPr>
              <a:t>管理的传承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b="1" kern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zh-CN" b="1" kern="0" dirty="0">
                <a:latin typeface="宋体" panose="02010600030101010101" pitchFamily="2" charset="-122"/>
                <a:ea typeface="宋体" panose="02010600030101010101" pitchFamily="2" charset="-122"/>
              </a:rPr>
              <a:t>企业文化的传承</a:t>
            </a:r>
            <a:endParaRPr lang="zh-CN" altLang="zh-CN" b="1" u="sng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endParaRPr lang="zh-CN" altLang="zh-CN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699"/>
    </mc:Choice>
    <mc:Fallback xmlns="">
      <p:transition spd="slow" advTm="6069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5954" name="内容占位符 5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662" y="531814"/>
            <a:ext cx="10823576" cy="5208587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474"/>
    </mc:Choice>
    <mc:Fallback xmlns="">
      <p:transition spd="slow" advTm="3047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6978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9113" y="620714"/>
            <a:ext cx="10787063" cy="5191125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113"/>
    </mc:Choice>
    <mc:Fallback xmlns="">
      <p:transition spd="slow" advTm="14011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8002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8003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2" y="-30163"/>
            <a:ext cx="9236076" cy="692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824"/>
    </mc:Choice>
    <mc:Fallback xmlns="">
      <p:transition spd="slow" advTm="8582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 descr="图片包含 建筑, 寺庙, 户外, 钟表&#10;&#10;描述已自动生成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05" y="633730"/>
            <a:ext cx="9392285" cy="5283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90"/>
    </mc:Choice>
    <mc:Fallback xmlns="">
      <p:transition spd="slow" advTm="809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49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2" y="0"/>
            <a:ext cx="9166226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0" name="TextBox 2"/>
          <p:cNvSpPr txBox="1">
            <a:spLocks noChangeArrowheads="1"/>
          </p:cNvSpPr>
          <p:nvPr/>
        </p:nvSpPr>
        <p:spPr bwMode="auto">
          <a:xfrm>
            <a:off x="10701338" y="5462681"/>
            <a:ext cx="1416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法隆寺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47"/>
    </mc:Choice>
    <mc:Fallback xmlns="">
      <p:transition spd="slow" advTm="1144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3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506" y="0"/>
            <a:ext cx="9169401" cy="685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4" name="TextBox 4"/>
          <p:cNvSpPr txBox="1">
            <a:spLocks noChangeArrowheads="1"/>
          </p:cNvSpPr>
          <p:nvPr/>
        </p:nvSpPr>
        <p:spPr bwMode="auto">
          <a:xfrm>
            <a:off x="1942352" y="5784150"/>
            <a:ext cx="1420813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法隆寺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36"/>
    </mc:Choice>
    <mc:Fallback xmlns="">
      <p:transition spd="slow" advTm="2103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 descr="图片包含 人, 男人, 看着, 站&#10;&#10;描述已自动生成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960" y="273050"/>
            <a:ext cx="8302625" cy="58127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4146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4147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775" y="160338"/>
            <a:ext cx="9170988" cy="600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935"/>
    </mc:Choice>
    <mc:Fallback xmlns="">
      <p:transition spd="slow" advTm="29935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0" y="-7938"/>
            <a:ext cx="7672388" cy="575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12658" y="5746434"/>
            <a:ext cx="804799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金刚组的木匠师傅（大工）用手工刨木，可以薄到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只有卫生纸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分之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的厚度。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6194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11400" y="-23813"/>
            <a:ext cx="7569200" cy="6905626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83"/>
    </mc:Choice>
    <mc:Fallback xmlns="">
      <p:transition spd="slow" advTm="6468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7218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7219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414" y="-9525"/>
            <a:ext cx="7083425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740"/>
    </mc:Choice>
    <mc:Fallback xmlns="">
      <p:transition spd="slow" advTm="19974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 descr="男子的脸部特写与配字&#10;&#10;描述已自动生成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075" y="365125"/>
            <a:ext cx="8486775" cy="57969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extBox 3"/>
          <p:cNvSpPr txBox="1">
            <a:spLocks noChangeArrowheads="1"/>
          </p:cNvSpPr>
          <p:nvPr/>
        </p:nvSpPr>
        <p:spPr bwMode="auto">
          <a:xfrm>
            <a:off x="1913591" y="1484594"/>
            <a:ext cx="9042860" cy="2192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你对家族企业的自然传承有什么看法？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独生子女家庭是自然传给唯一的后代？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多子女的家庭怎么传承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才能保证企业基业长青？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30"/>
    </mc:Choice>
    <mc:Fallback xmlns="">
      <p:transition spd="slow" advTm="2563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3362" name="内容占位符 3" descr="u=2119888992,2723148605&amp;fm=26&amp;gp=0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0825" y="-3175"/>
            <a:ext cx="9150350" cy="6862763"/>
          </a:xfrm>
        </p:spPr>
      </p:pic>
      <p:sp>
        <p:nvSpPr>
          <p:cNvPr id="143363" name="文本框 5"/>
          <p:cNvSpPr txBox="1">
            <a:spLocks noChangeArrowheads="1"/>
          </p:cNvSpPr>
          <p:nvPr/>
        </p:nvSpPr>
        <p:spPr bwMode="auto">
          <a:xfrm>
            <a:off x="2428875" y="6337300"/>
            <a:ext cx="73342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台湾最成功的富二代，复兴航空董事长林明升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94"/>
    </mc:Choice>
    <mc:Fallback xmlns="">
      <p:transition spd="slow" advTm="16494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4386" name="内容占位符 3" descr="20161125002926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2175" y="-36513"/>
            <a:ext cx="7867650" cy="5900738"/>
          </a:xfrm>
        </p:spPr>
      </p:pic>
      <p:sp>
        <p:nvSpPr>
          <p:cNvPr id="144387" name="文本框 6"/>
          <p:cNvSpPr txBox="1">
            <a:spLocks noChangeArrowheads="1"/>
          </p:cNvSpPr>
          <p:nvPr/>
        </p:nvSpPr>
        <p:spPr bwMode="auto">
          <a:xfrm>
            <a:off x="3324226" y="5864225"/>
            <a:ext cx="59404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公司地下车库里停着他的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辆保时捷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37"/>
    </mc:Choice>
    <mc:Fallback xmlns="">
      <p:transition spd="slow" advTm="22337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5410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5411" name="内容占位符 1"/>
          <p:cNvPicPr>
            <a:picLocks noGrp="1" noRot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340" y="0"/>
            <a:ext cx="8848090" cy="589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2" name="TextBox 2"/>
          <p:cNvSpPr txBox="1">
            <a:spLocks noChangeArrowheads="1"/>
          </p:cNvSpPr>
          <p:nvPr/>
        </p:nvSpPr>
        <p:spPr bwMode="auto">
          <a:xfrm>
            <a:off x="2481263" y="5821364"/>
            <a:ext cx="76009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虽然规模有限，做了几十年的台湾老三，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但盈利水平却一直不输于人。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914"/>
    </mc:Choice>
    <mc:Fallback xmlns="">
      <p:transition spd="slow" advTm="6291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6434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8130" y="194945"/>
            <a:ext cx="9095740" cy="606171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34"/>
    </mc:Choice>
    <mc:Fallback xmlns="">
      <p:transition spd="slow" advTm="33034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7458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4400" y="-20638"/>
            <a:ext cx="7994650" cy="5329238"/>
          </a:xfrm>
        </p:spPr>
      </p:pic>
      <p:sp>
        <p:nvSpPr>
          <p:cNvPr id="147459" name="TextBox 4"/>
          <p:cNvSpPr txBox="1">
            <a:spLocks noChangeArrowheads="1"/>
          </p:cNvSpPr>
          <p:nvPr/>
        </p:nvSpPr>
        <p:spPr bwMode="auto">
          <a:xfrm>
            <a:off x="1504315" y="5308600"/>
            <a:ext cx="918337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这架飞机在飞行中走错了方向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降落时两名驾驶员都没有看见跑道，造成了事故发生。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49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人因此罹难。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10"/>
    </mc:Choice>
    <mc:Fallback xmlns="">
      <p:transition spd="slow" advTm="2061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8482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3201" y="-14288"/>
            <a:ext cx="9185275" cy="6126163"/>
          </a:xfrm>
        </p:spPr>
      </p:pic>
      <p:sp>
        <p:nvSpPr>
          <p:cNvPr id="148483" name="TextBox 4"/>
          <p:cNvSpPr txBox="1">
            <a:spLocks noChangeArrowheads="1"/>
          </p:cNvSpPr>
          <p:nvPr/>
        </p:nvSpPr>
        <p:spPr bwMode="auto">
          <a:xfrm>
            <a:off x="1473200" y="6119814"/>
            <a:ext cx="92471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林明升紧急飞往事故现场，向罹难家属下跪致歉。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956"/>
    </mc:Choice>
    <mc:Fallback xmlns="">
      <p:transition spd="slow" advTm="4695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9506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9507" name="内容占位符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0" y="-28575"/>
            <a:ext cx="914558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TextBox 4"/>
          <p:cNvSpPr txBox="1">
            <a:spLocks noChangeArrowheads="1"/>
          </p:cNvSpPr>
          <p:nvPr/>
        </p:nvSpPr>
        <p:spPr bwMode="auto">
          <a:xfrm>
            <a:off x="1928814" y="6175375"/>
            <a:ext cx="8836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危急时刻，老爸林孝信站出来帮助林明升善后。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54"/>
    </mc:Choice>
    <mc:Fallback xmlns="">
      <p:transition spd="slow" advTm="16154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0530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2726" y="-4763"/>
            <a:ext cx="9205913" cy="6138863"/>
          </a:xfrm>
        </p:spPr>
      </p:pic>
      <p:sp>
        <p:nvSpPr>
          <p:cNvPr id="150531" name="TextBox 4"/>
          <p:cNvSpPr txBox="1">
            <a:spLocks noChangeArrowheads="1"/>
          </p:cNvSpPr>
          <p:nvPr/>
        </p:nvSpPr>
        <p:spPr bwMode="auto">
          <a:xfrm>
            <a:off x="2362201" y="6197600"/>
            <a:ext cx="7599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但旧难未解，轰的一声，灾难又发生了。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81"/>
    </mc:Choice>
    <mc:Fallback xmlns="">
      <p:transition spd="slow" advTm="2128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1554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2413" y="-25400"/>
            <a:ext cx="9163051" cy="6110288"/>
          </a:xfrm>
        </p:spPr>
      </p:pic>
      <p:sp>
        <p:nvSpPr>
          <p:cNvPr id="151555" name="TextBox 4"/>
          <p:cNvSpPr txBox="1">
            <a:spLocks noChangeArrowheads="1"/>
          </p:cNvSpPr>
          <p:nvPr/>
        </p:nvSpPr>
        <p:spPr bwMode="auto">
          <a:xfrm>
            <a:off x="2484439" y="6173788"/>
            <a:ext cx="7572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只要飞机一起飞，公司就要再赔更多钱。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258"/>
    </mc:Choice>
    <mc:Fallback xmlns="">
      <p:transition spd="slow" advTm="42258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2578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2579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0" y="384175"/>
            <a:ext cx="9132888" cy="608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37"/>
    </mc:Choice>
    <mc:Fallback xmlns="">
      <p:transition spd="slow" advTm="34737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3602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3603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228601"/>
            <a:ext cx="9150350" cy="609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24"/>
    </mc:Choice>
    <mc:Fallback xmlns="">
      <p:transition spd="slow" advTm="9724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4626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4627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7" y="273051"/>
            <a:ext cx="9229726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628" name="TextBox 5"/>
          <p:cNvSpPr txBox="1">
            <a:spLocks noChangeArrowheads="1"/>
          </p:cNvSpPr>
          <p:nvPr/>
        </p:nvSpPr>
        <p:spPr bwMode="auto">
          <a:xfrm>
            <a:off x="2182814" y="5407026"/>
            <a:ext cx="76422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激进扩张，几年间开出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多条国际航线，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人才和管理却一直没有跟上来。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356"/>
    </mc:Choice>
    <mc:Fallback xmlns="">
      <p:transition spd="slow" advTm="56356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5650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5651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276" y="3176"/>
            <a:ext cx="7908925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2" name="TextBox 4"/>
          <p:cNvSpPr txBox="1">
            <a:spLocks noChangeArrowheads="1"/>
          </p:cNvSpPr>
          <p:nvPr/>
        </p:nvSpPr>
        <p:spPr bwMode="auto">
          <a:xfrm>
            <a:off x="1943101" y="5275263"/>
            <a:ext cx="842327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不到一年两次大难，问题的根源在操之过急。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新飞机不断进，新航线不断开，内部管理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却没有跟上来。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6"/>
    </mc:Choice>
    <mc:Fallback xmlns="">
      <p:transition spd="slow" advTm="3686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6674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6675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2700"/>
            <a:ext cx="8096250" cy="539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6" name="TextBox 4"/>
          <p:cNvSpPr txBox="1">
            <a:spLocks noChangeArrowheads="1"/>
          </p:cNvSpPr>
          <p:nvPr/>
        </p:nvSpPr>
        <p:spPr bwMode="auto">
          <a:xfrm>
            <a:off x="3495676" y="5410201"/>
            <a:ext cx="519906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1700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多员工，很多都是买了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复兴航空股票的中小股东。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098"/>
    </mc:Choice>
    <mc:Fallback xmlns="">
      <p:transition spd="slow" advTm="53098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7938" name="内容占位符 2"/>
          <p:cNvSpPr>
            <a:spLocks noGrp="1" noRot="1" noChangeArrowheads="1"/>
          </p:cNvSpPr>
          <p:nvPr>
            <p:ph idx="1"/>
          </p:nvPr>
        </p:nvSpPr>
        <p:spPr>
          <a:xfrm>
            <a:off x="2371165" y="1879413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buSzTx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你对家族企业的自然传承有什么看法？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SzTx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独生子女家庭是自然传给唯一的后代？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SzTx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多子女的家庭怎么传承？</a:t>
            </a: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740"/>
    </mc:Choice>
    <mc:Fallback xmlns="">
      <p:transition spd="slow" advTm="17574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68962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2" y="454026"/>
            <a:ext cx="9191626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8963" name="内容占位符 1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082"/>
    </mc:Choice>
    <mc:Fallback xmlns="">
      <p:transition spd="slow" advTm="74082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标题 1"/>
          <p:cNvSpPr>
            <a:spLocks noGrp="1" noRot="1" noChangeArrowheads="1"/>
          </p:cNvSpPr>
          <p:nvPr>
            <p:ph type="title"/>
          </p:nvPr>
        </p:nvSpPr>
        <p:spPr>
          <a:xfrm>
            <a:off x="2783541" y="395287"/>
            <a:ext cx="6333565" cy="1325563"/>
          </a:xfrm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企业传承</a:t>
            </a:r>
          </a:p>
        </p:txBody>
      </p:sp>
      <p:sp>
        <p:nvSpPr>
          <p:cNvPr id="169986" name="内容占位符 2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保时捷与大众：两大家族八十多年的恩恩怨怨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9987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711" y="2349500"/>
            <a:ext cx="5903913" cy="393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08"/>
    </mc:Choice>
    <mc:Fallback xmlns="">
      <p:transition spd="slow" advTm="9708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TextBox 4"/>
          <p:cNvSpPr txBox="1">
            <a:spLocks noChangeArrowheads="1"/>
          </p:cNvSpPr>
          <p:nvPr/>
        </p:nvSpPr>
        <p:spPr bwMode="auto">
          <a:xfrm>
            <a:off x="4667251" y="5284788"/>
            <a:ext cx="348044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费迪南德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保时捷</a:t>
            </a:r>
          </a:p>
        </p:txBody>
      </p:sp>
      <p:pic>
        <p:nvPicPr>
          <p:cNvPr id="171010" name="内容占位符 5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9875" y="55564"/>
            <a:ext cx="4103688" cy="5229225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58"/>
    </mc:Choice>
    <mc:Fallback xmlns="">
      <p:transition spd="slow" advTm="9358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3" name="内容占位符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8"/>
          <a:stretch>
            <a:fillRect/>
          </a:stretch>
        </p:blipFill>
        <p:spPr bwMode="auto">
          <a:xfrm>
            <a:off x="1508125" y="250827"/>
            <a:ext cx="9175750" cy="5928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42"/>
    </mc:Choice>
    <mc:Fallback xmlns="">
      <p:transition spd="slow" advTm="39042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57" name="图片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05"/>
          <a:stretch>
            <a:fillRect/>
          </a:stretch>
        </p:blipFill>
        <p:spPr bwMode="auto">
          <a:xfrm>
            <a:off x="1543050" y="273050"/>
            <a:ext cx="9132888" cy="5565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49"/>
    </mc:Choice>
    <mc:Fallback xmlns="">
      <p:transition spd="slow" advTm="20649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/>
          <p:cNvCxnSpPr/>
          <p:nvPr/>
        </p:nvCxnSpPr>
        <p:spPr>
          <a:xfrm>
            <a:off x="1908176" y="1125538"/>
            <a:ext cx="576263" cy="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082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505" y="4360723"/>
            <a:ext cx="3816350" cy="225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083" name="TextBox 15"/>
          <p:cNvSpPr txBox="1">
            <a:spLocks noChangeArrowheads="1"/>
          </p:cNvSpPr>
          <p:nvPr/>
        </p:nvSpPr>
        <p:spPr bwMode="auto">
          <a:xfrm>
            <a:off x="1633161" y="1146175"/>
            <a:ext cx="892552" cy="2692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/>
          <a:p>
            <a:r>
              <a:rPr lang="zh-CN" altLang="en-US" sz="2800" b="1"/>
              <a:t>费迪南德</a:t>
            </a:r>
            <a:r>
              <a:rPr lang="en-US" altLang="zh-CN" sz="2800" b="1"/>
              <a:t>·</a:t>
            </a:r>
            <a:r>
              <a:rPr lang="zh-CN" altLang="en-US" sz="2800" b="1"/>
              <a:t>保时捷</a:t>
            </a:r>
          </a:p>
          <a:p>
            <a:endParaRPr lang="zh-CN" altLang="en-US"/>
          </a:p>
        </p:txBody>
      </p:sp>
      <p:pic>
        <p:nvPicPr>
          <p:cNvPr id="174084" name="图片 1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57"/>
          <a:stretch>
            <a:fillRect/>
          </a:stretch>
        </p:blipFill>
        <p:spPr bwMode="auto">
          <a:xfrm>
            <a:off x="2533650" y="0"/>
            <a:ext cx="5976938" cy="4305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58"/>
    </mc:Choice>
    <mc:Fallback xmlns="">
      <p:transition spd="slow" advTm="7858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05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4"/>
          <a:stretch>
            <a:fillRect/>
          </a:stretch>
        </p:blipFill>
        <p:spPr>
          <a:xfrm>
            <a:off x="1476376" y="146050"/>
            <a:ext cx="9186863" cy="5882961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70"/>
    </mc:Choice>
    <mc:Fallback xmlns="">
      <p:transition spd="slow" advTm="1567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29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838" y="-1588"/>
            <a:ext cx="9201151" cy="693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35"/>
    </mc:Choice>
    <mc:Fallback xmlns="">
      <p:transition spd="slow" advTm="4635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153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438" y="331789"/>
            <a:ext cx="9188451" cy="514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39"/>
    </mc:Choice>
    <mc:Fallback xmlns="">
      <p:transition spd="slow" advTm="4339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177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338" y="3175"/>
            <a:ext cx="5167312" cy="683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95"/>
    </mc:Choice>
    <mc:Fallback xmlns="">
      <p:transition spd="slow" advTm="8795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201" name="内容占位符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9"/>
          <a:stretch>
            <a:fillRect/>
          </a:stretch>
        </p:blipFill>
        <p:spPr bwMode="auto">
          <a:xfrm>
            <a:off x="1535113" y="7940"/>
            <a:ext cx="9123362" cy="6578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06"/>
    </mc:Choice>
    <mc:Fallback xmlns="">
      <p:transition spd="slow" advTm="39506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225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539" y="-33338"/>
            <a:ext cx="6675437" cy="5340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226" name="TextBox 11"/>
          <p:cNvSpPr txBox="1">
            <a:spLocks noChangeArrowheads="1"/>
          </p:cNvSpPr>
          <p:nvPr/>
        </p:nvSpPr>
        <p:spPr bwMode="auto">
          <a:xfrm>
            <a:off x="2640013" y="5373688"/>
            <a:ext cx="76001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儿子费里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保时捷和女儿路易斯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皮耶希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541"/>
    </mc:Choice>
    <mc:Fallback xmlns="">
      <p:transition spd="slow" advTm="3854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49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5" y="310087"/>
            <a:ext cx="9175750" cy="625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箭头连接符 2"/>
          <p:cNvCxnSpPr/>
          <p:nvPr/>
        </p:nvCxnSpPr>
        <p:spPr>
          <a:xfrm flipV="1">
            <a:off x="3478306" y="4849905"/>
            <a:ext cx="0" cy="2868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10103224" y="4849905"/>
            <a:ext cx="0" cy="2868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030"/>
    </mc:Choice>
    <mc:Fallback xmlns="">
      <p:transition spd="slow" advTm="6503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TextBox 4"/>
          <p:cNvSpPr txBox="1">
            <a:spLocks noChangeArrowheads="1"/>
          </p:cNvSpPr>
          <p:nvPr/>
        </p:nvSpPr>
        <p:spPr bwMode="auto">
          <a:xfrm>
            <a:off x="2279650" y="4648201"/>
            <a:ext cx="36118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外孙费迪南德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皮耶希</a:t>
            </a:r>
          </a:p>
        </p:txBody>
      </p:sp>
      <p:sp>
        <p:nvSpPr>
          <p:cNvPr id="183298" name="TextBox 5"/>
          <p:cNvSpPr txBox="1">
            <a:spLocks noChangeArrowheads="1"/>
          </p:cNvSpPr>
          <p:nvPr/>
        </p:nvSpPr>
        <p:spPr bwMode="auto">
          <a:xfrm>
            <a:off x="7032626" y="4648201"/>
            <a:ext cx="36118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孙子沃尔夫冈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保时捷</a:t>
            </a:r>
          </a:p>
        </p:txBody>
      </p:sp>
      <p:sp>
        <p:nvSpPr>
          <p:cNvPr id="183299" name="TextBox 6"/>
          <p:cNvSpPr txBox="1">
            <a:spLocks noChangeArrowheads="1"/>
          </p:cNvSpPr>
          <p:nvPr/>
        </p:nvSpPr>
        <p:spPr bwMode="auto">
          <a:xfrm>
            <a:off x="2431304" y="5559333"/>
            <a:ext cx="81200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保时捷争强好胜的后代，都认为只有干掉对方才能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让自己的公司成为德国第一。</a:t>
            </a:r>
          </a:p>
        </p:txBody>
      </p:sp>
      <p:pic>
        <p:nvPicPr>
          <p:cNvPr id="183300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12700"/>
            <a:ext cx="6180138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22"/>
    </mc:Choice>
    <mc:Fallback xmlns="">
      <p:transition spd="slow" advTm="21422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1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5" y="908050"/>
            <a:ext cx="57912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22" name="TextBox 1"/>
          <p:cNvSpPr txBox="1">
            <a:spLocks noChangeArrowheads="1"/>
          </p:cNvSpPr>
          <p:nvPr/>
        </p:nvSpPr>
        <p:spPr bwMode="auto">
          <a:xfrm>
            <a:off x="1703389" y="5448301"/>
            <a:ext cx="920155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老爷子和孙子沃尔夫冈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保时捷、外孙费迪南德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皮耶希</a:t>
            </a:r>
          </a:p>
        </p:txBody>
      </p:sp>
      <p:sp>
        <p:nvSpPr>
          <p:cNvPr id="184323" name="TextBox 6"/>
          <p:cNvSpPr txBox="1">
            <a:spLocks noChangeArrowheads="1"/>
          </p:cNvSpPr>
          <p:nvPr/>
        </p:nvSpPr>
        <p:spPr bwMode="auto">
          <a:xfrm>
            <a:off x="8925335" y="2628900"/>
            <a:ext cx="1979612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外孙皮耶希</a:t>
            </a: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324" name="TextBox 7"/>
          <p:cNvSpPr txBox="1">
            <a:spLocks noChangeArrowheads="1"/>
          </p:cNvSpPr>
          <p:nvPr/>
        </p:nvSpPr>
        <p:spPr bwMode="auto">
          <a:xfrm>
            <a:off x="959318" y="2817812"/>
            <a:ext cx="2338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孙子沃尔夫冈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87"/>
    </mc:Choice>
    <mc:Fallback xmlns="">
      <p:transition spd="slow" advTm="13887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45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3837" y="290514"/>
            <a:ext cx="9204326" cy="6276975"/>
          </a:xfrm>
        </p:spPr>
      </p:pic>
      <p:cxnSp>
        <p:nvCxnSpPr>
          <p:cNvPr id="6" name="直接箭头连接符 5"/>
          <p:cNvCxnSpPr/>
          <p:nvPr/>
        </p:nvCxnSpPr>
        <p:spPr>
          <a:xfrm flipV="1">
            <a:off x="3497263" y="4943476"/>
            <a:ext cx="0" cy="36036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7558088" y="4945064"/>
            <a:ext cx="0" cy="358775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690"/>
    </mc:Choice>
    <mc:Fallback xmlns="">
      <p:transition spd="slow" advTm="28869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69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6" y="0"/>
            <a:ext cx="9166225" cy="687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32"/>
    </mc:Choice>
    <mc:Fallback xmlns="">
      <p:transition spd="slow" advTm="54632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393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4950" y="-9525"/>
            <a:ext cx="9201150" cy="6900863"/>
          </a:xfrm>
        </p:spPr>
      </p:pic>
      <p:sp>
        <p:nvSpPr>
          <p:cNvPr id="187394" name="TextBox 4"/>
          <p:cNvSpPr txBox="1">
            <a:spLocks noChangeArrowheads="1"/>
          </p:cNvSpPr>
          <p:nvPr/>
        </p:nvSpPr>
        <p:spPr bwMode="auto">
          <a:xfrm>
            <a:off x="4762501" y="6100763"/>
            <a:ext cx="30396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保时捷的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oxster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40"/>
    </mc:Choice>
    <mc:Fallback xmlns="">
      <p:transition spd="slow" advTm="1824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417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1589"/>
            <a:ext cx="9151938" cy="610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18" name="TextBox 6"/>
          <p:cNvSpPr txBox="1">
            <a:spLocks noChangeArrowheads="1"/>
          </p:cNvSpPr>
          <p:nvPr/>
        </p:nvSpPr>
        <p:spPr bwMode="auto">
          <a:xfrm>
            <a:off x="4567239" y="6103938"/>
            <a:ext cx="32988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保时捷的</a:t>
            </a: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911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系列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97"/>
    </mc:Choice>
    <mc:Fallback xmlns="">
      <p:transition spd="slow" advTm="23697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441" name="Picture 32" descr="http://spider.nosdn.127.net/7f776c1ffdc857b2d850c6d27c80e0e2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063" y="6350"/>
            <a:ext cx="9136063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2" name="TextBox 5"/>
          <p:cNvSpPr txBox="1">
            <a:spLocks noChangeArrowheads="1"/>
          </p:cNvSpPr>
          <p:nvPr/>
        </p:nvSpPr>
        <p:spPr bwMode="auto">
          <a:xfrm>
            <a:off x="2103438" y="5805488"/>
            <a:ext cx="8547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汽车圈的打工皇帝：魏德金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Wendelin Wiedeking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47"/>
    </mc:Choice>
    <mc:Fallback xmlns="">
      <p:transition spd="slow" advTm="31747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5" name="内容占位符 4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0726" y="1268414"/>
            <a:ext cx="9947275" cy="3024187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196"/>
    </mc:Choice>
    <mc:Fallback xmlns="">
      <p:transition spd="slow" advTm="127196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489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88" y="409575"/>
            <a:ext cx="9117012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645"/>
    </mc:Choice>
    <mc:Fallback xmlns="">
      <p:transition spd="slow" advTm="29645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7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76513" y="-6350"/>
            <a:ext cx="6889750" cy="688975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83"/>
    </mc:Choice>
    <mc:Fallback xmlns="">
      <p:transition spd="slow" advTm="45983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内容占位符 2"/>
          <p:cNvSpPr>
            <a:spLocks noGrp="1" noRot="1" noChangeArrowheads="1"/>
          </p:cNvSpPr>
          <p:nvPr>
            <p:ph idx="1"/>
          </p:nvPr>
        </p:nvSpPr>
        <p:spPr>
          <a:xfrm>
            <a:off x="1825626" y="2492375"/>
            <a:ext cx="8302625" cy="360680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94562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0" y="1"/>
            <a:ext cx="5689600" cy="688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箭头连接符 5"/>
          <p:cNvCxnSpPr/>
          <p:nvPr/>
        </p:nvCxnSpPr>
        <p:spPr>
          <a:xfrm flipH="1">
            <a:off x="9048750" y="5805488"/>
            <a:ext cx="647700" cy="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74"/>
    </mc:Choice>
    <mc:Fallback xmlns="">
      <p:transition spd="slow" advTm="11974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585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775" y="795339"/>
            <a:ext cx="9188450" cy="423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877"/>
    </mc:Choice>
    <mc:Fallback xmlns="">
      <p:transition spd="slow" advTm="21877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96610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8600" y="53975"/>
            <a:ext cx="9169400" cy="5251450"/>
          </a:xfrm>
        </p:spPr>
      </p:pic>
      <p:sp>
        <p:nvSpPr>
          <p:cNvPr id="196611" name="TextBox 4"/>
          <p:cNvSpPr txBox="1">
            <a:spLocks noChangeArrowheads="1"/>
          </p:cNvSpPr>
          <p:nvPr/>
        </p:nvSpPr>
        <p:spPr bwMode="auto">
          <a:xfrm>
            <a:off x="1586504" y="5435600"/>
            <a:ext cx="920155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一个商界奇才沃尔夫冈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保时捷，一个打工皇帝魏德金，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联手忽悠大表哥。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7483"/>
    </mc:Choice>
    <mc:Fallback xmlns="">
      <p:transition spd="slow" advTm="637483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657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525" y="0"/>
            <a:ext cx="1037294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472"/>
    </mc:Choice>
    <mc:Fallback xmlns="">
      <p:transition spd="slow" advTm="145472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3478306" y="4993341"/>
            <a:ext cx="0" cy="286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街道上的行人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515" y="0"/>
            <a:ext cx="1027897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413"/>
    </mc:Choice>
    <mc:Fallback xmlns="">
      <p:transition spd="slow" advTm="203413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97633" name="内容占位符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355" y="225425"/>
            <a:ext cx="8542655" cy="640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穿着西装笔挺的男子正在演讲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121" y="-13156"/>
            <a:ext cx="3867591" cy="688431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75149" y="6396335"/>
            <a:ext cx="3225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保时捷的</a:t>
            </a:r>
            <a:r>
              <a:rPr lang="en-US" altLang="zh-CN" sz="2400" dirty="0"/>
              <a:t>CEO</a:t>
            </a:r>
            <a:r>
              <a:rPr lang="zh-CN" altLang="en-US" sz="2400" dirty="0"/>
              <a:t>：魏德金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1982"/>
    </mc:Choice>
    <mc:Fallback xmlns="">
      <p:transition spd="slow" advTm="401982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穿西装的男人的修图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320" y="853061"/>
            <a:ext cx="6223000" cy="4140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01661" y="5019532"/>
            <a:ext cx="4560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保时捷的孙子：沃尔夫冈</a:t>
            </a:r>
            <a:r>
              <a:rPr lang="en-US" altLang="zh-CN" sz="2400" dirty="0"/>
              <a:t>.</a:t>
            </a:r>
            <a:r>
              <a:rPr lang="zh-CN" altLang="en-US" sz="2400" dirty="0"/>
              <a:t>保时捷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44"/>
    </mc:Choice>
    <mc:Fallback xmlns="">
      <p:transition spd="slow" advTm="207444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05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688" y="0"/>
            <a:ext cx="5624512" cy="421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06" name="TextBox 4"/>
          <p:cNvSpPr txBox="1">
            <a:spLocks noChangeArrowheads="1"/>
          </p:cNvSpPr>
          <p:nvPr/>
        </p:nvSpPr>
        <p:spPr bwMode="auto">
          <a:xfrm>
            <a:off x="331596" y="4311860"/>
            <a:ext cx="11816862" cy="222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股价上涨有多惊人呢？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2008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27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-10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29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日，从周一到周三，大众股价从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240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欧疯长至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1005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欧。各种风险评估和事前预案都仓皇无力、为时已晚。各方在这次金融动荡的影响下承受了近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200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亿美元的损失。也难怪当时号称德国第五富豪的阿道夫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•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默克勒因为做空大众汽车资不抵债，于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74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岁的高龄选择卧轨自杀。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878"/>
    </mc:Choice>
    <mc:Fallback xmlns="">
      <p:transition spd="slow" advTm="96878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矩形 3"/>
          <p:cNvSpPr>
            <a:spLocks noChangeArrowheads="1"/>
          </p:cNvSpPr>
          <p:nvPr/>
        </p:nvSpPr>
        <p:spPr bwMode="auto">
          <a:xfrm>
            <a:off x="3789364" y="5229225"/>
            <a:ext cx="48734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德国亿万富翁阿道夫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默克勒</a:t>
            </a:r>
          </a:p>
        </p:txBody>
      </p:sp>
      <p:pic>
        <p:nvPicPr>
          <p:cNvPr id="20173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0" y="25401"/>
            <a:ext cx="4229100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635"/>
    </mc:Choice>
    <mc:Fallback xmlns="">
      <p:transition spd="slow" advTm="42635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TextBox 5"/>
          <p:cNvSpPr txBox="1">
            <a:spLocks noChangeArrowheads="1"/>
          </p:cNvSpPr>
          <p:nvPr/>
        </p:nvSpPr>
        <p:spPr bwMode="auto">
          <a:xfrm>
            <a:off x="2640014" y="5110164"/>
            <a:ext cx="301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97096" y="134383"/>
            <a:ext cx="3559175" cy="5345113"/>
          </a:xfrm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4540658" y="5479496"/>
            <a:ext cx="32720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保时捷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CEO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魏德金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618"/>
    </mc:Choice>
    <mc:Fallback xmlns="">
      <p:transition spd="slow" advTm="56618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901" y="0"/>
            <a:ext cx="9869881" cy="7404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357"/>
    </mc:Choice>
    <mc:Fallback xmlns="">
      <p:transition spd="slow" advTm="86357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01" name="Picture 2" descr="http://img.emao.net/news/nd/yu/rn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7" y="223839"/>
            <a:ext cx="9166226" cy="611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869"/>
    </mc:Choice>
    <mc:Fallback xmlns="">
      <p:transition spd="slow" advTm="44869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664" y="342901"/>
            <a:ext cx="6575425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2640014" y="4895850"/>
            <a:ext cx="76001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沃尔夫冈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保时捷（左）与魏德金（右）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2640014" y="5110164"/>
            <a:ext cx="301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73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764" y="1589"/>
            <a:ext cx="4783137" cy="560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874" name="TextBox 4"/>
          <p:cNvSpPr txBox="1">
            <a:spLocks noChangeArrowheads="1"/>
          </p:cNvSpPr>
          <p:nvPr/>
        </p:nvSpPr>
        <p:spPr bwMode="auto">
          <a:xfrm>
            <a:off x="1590988" y="5965448"/>
            <a:ext cx="11630968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至此保时捷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AG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彻底成为了大众汽车公司旗下品牌，事件终于尘埃落定。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259"/>
    </mc:Choice>
    <mc:Fallback xmlns="">
      <p:transition spd="slow" advTm="109259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97" name="内容占位符 1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12887" y="11114"/>
            <a:ext cx="9166226" cy="6116637"/>
          </a:xfrm>
        </p:spPr>
      </p:pic>
      <p:sp>
        <p:nvSpPr>
          <p:cNvPr id="208898" name="TextBox 4"/>
          <p:cNvSpPr txBox="1">
            <a:spLocks noChangeArrowheads="1"/>
          </p:cNvSpPr>
          <p:nvPr/>
        </p:nvSpPr>
        <p:spPr bwMode="auto">
          <a:xfrm>
            <a:off x="2641600" y="6127751"/>
            <a:ext cx="7378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大众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CEO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马丁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文德恩（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Martin Winterkorn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719"/>
    </mc:Choice>
    <mc:Fallback xmlns="">
      <p:transition spd="slow" advTm="27719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921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9713" y="182564"/>
            <a:ext cx="9174163" cy="5589587"/>
          </a:xfrm>
        </p:spPr>
      </p:pic>
      <p:sp>
        <p:nvSpPr>
          <p:cNvPr id="209922" name="TextBox 4"/>
          <p:cNvSpPr txBox="1">
            <a:spLocks noChangeArrowheads="1"/>
          </p:cNvSpPr>
          <p:nvPr/>
        </p:nvSpPr>
        <p:spPr bwMode="auto">
          <a:xfrm>
            <a:off x="3778251" y="5661025"/>
            <a:ext cx="14192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文德恩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9923" name="TextBox 5"/>
          <p:cNvSpPr txBox="1">
            <a:spLocks noChangeArrowheads="1"/>
          </p:cNvSpPr>
          <p:nvPr/>
        </p:nvSpPr>
        <p:spPr bwMode="auto">
          <a:xfrm>
            <a:off x="7231063" y="5659439"/>
            <a:ext cx="14160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皮耶希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5935663" y="5953125"/>
            <a:ext cx="792162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925" name="TextBox 8"/>
          <p:cNvSpPr txBox="1">
            <a:spLocks noChangeArrowheads="1"/>
          </p:cNvSpPr>
          <p:nvPr/>
        </p:nvSpPr>
        <p:spPr bwMode="auto">
          <a:xfrm>
            <a:off x="5880100" y="6183314"/>
            <a:ext cx="903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踢走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87"/>
    </mc:Choice>
    <mc:Fallback xmlns="">
      <p:transition spd="slow" advTm="46887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45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9551" y="11113"/>
            <a:ext cx="9178925" cy="5086350"/>
          </a:xfrm>
        </p:spPr>
      </p:pic>
      <p:sp>
        <p:nvSpPr>
          <p:cNvPr id="210946" name="TextBox 4"/>
          <p:cNvSpPr txBox="1">
            <a:spLocks noChangeArrowheads="1"/>
          </p:cNvSpPr>
          <p:nvPr/>
        </p:nvSpPr>
        <p:spPr bwMode="auto">
          <a:xfrm>
            <a:off x="2561983" y="5106801"/>
            <a:ext cx="24545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马丁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文德恩</a:t>
            </a:r>
          </a:p>
        </p:txBody>
      </p:sp>
      <p:sp>
        <p:nvSpPr>
          <p:cNvPr id="210947" name="TextBox 5"/>
          <p:cNvSpPr txBox="1">
            <a:spLocks noChangeArrowheads="1"/>
          </p:cNvSpPr>
          <p:nvPr/>
        </p:nvSpPr>
        <p:spPr bwMode="auto">
          <a:xfrm>
            <a:off x="6992937" y="5106801"/>
            <a:ext cx="32752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沃尔夫冈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保时捷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5519739" y="5387975"/>
            <a:ext cx="936625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949" name="TextBox 12"/>
          <p:cNvSpPr txBox="1">
            <a:spLocks noChangeArrowheads="1"/>
          </p:cNvSpPr>
          <p:nvPr/>
        </p:nvSpPr>
        <p:spPr bwMode="auto">
          <a:xfrm>
            <a:off x="5553075" y="5461000"/>
            <a:ext cx="9032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支持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941"/>
    </mc:Choice>
    <mc:Fallback xmlns="">
      <p:transition spd="slow" advTm="3694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93" name="Picture 2" descr="http://img.emao.net/news/nd/yu/oew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2" y="-69850"/>
            <a:ext cx="9170988" cy="611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2994" name="TextBox 5"/>
          <p:cNvSpPr txBox="1">
            <a:spLocks noChangeArrowheads="1"/>
          </p:cNvSpPr>
          <p:nvPr/>
        </p:nvSpPr>
        <p:spPr bwMode="auto">
          <a:xfrm>
            <a:off x="3130551" y="6176963"/>
            <a:ext cx="59293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皮耶希失去大众监事会主席职位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77"/>
    </mc:Choice>
    <mc:Fallback xmlns="">
      <p:transition spd="slow" advTm="24977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14019" name="Picture 2" descr="http://img.emao.net/news/nd/yu/lkz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6" y="-52388"/>
            <a:ext cx="9229725" cy="615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020" name="TextBox 3"/>
          <p:cNvSpPr txBox="1">
            <a:spLocks noChangeArrowheads="1"/>
          </p:cNvSpPr>
          <p:nvPr/>
        </p:nvSpPr>
        <p:spPr bwMode="auto">
          <a:xfrm>
            <a:off x="4452939" y="6099175"/>
            <a:ext cx="348204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沃尔夫冈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保时捷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41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5351" y="-9525"/>
            <a:ext cx="8094663" cy="5394325"/>
          </a:xfrm>
        </p:spPr>
      </p:pic>
      <p:sp>
        <p:nvSpPr>
          <p:cNvPr id="215042" name="TextBox 4"/>
          <p:cNvSpPr txBox="1">
            <a:spLocks noChangeArrowheads="1"/>
          </p:cNvSpPr>
          <p:nvPr/>
        </p:nvSpPr>
        <p:spPr bwMode="auto">
          <a:xfrm>
            <a:off x="4079875" y="5424488"/>
            <a:ext cx="4597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大众</a:t>
            </a: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CEO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：马丁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文德恩</a:t>
            </a:r>
          </a:p>
        </p:txBody>
      </p:sp>
      <p:sp>
        <p:nvSpPr>
          <p:cNvPr id="215043" name="TextBox 5"/>
          <p:cNvSpPr txBox="1">
            <a:spLocks noChangeArrowheads="1"/>
          </p:cNvSpPr>
          <p:nvPr/>
        </p:nvSpPr>
        <p:spPr bwMode="auto">
          <a:xfrm>
            <a:off x="4233864" y="6008689"/>
            <a:ext cx="42894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大众尾气门事件后辞职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970"/>
    </mc:Choice>
    <mc:Fallback xmlns="">
      <p:transition spd="slow" advTm="9097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089" name="内容占位符 5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12887" y="-26988"/>
            <a:ext cx="9158288" cy="5159376"/>
          </a:xfrm>
        </p:spPr>
      </p:pic>
      <p:sp>
        <p:nvSpPr>
          <p:cNvPr id="217090" name="TextBox 6"/>
          <p:cNvSpPr txBox="1">
            <a:spLocks noChangeArrowheads="1"/>
          </p:cNvSpPr>
          <p:nvPr/>
        </p:nvSpPr>
        <p:spPr bwMode="auto">
          <a:xfrm>
            <a:off x="818941" y="5218374"/>
            <a:ext cx="10832123" cy="11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我早就提醒过大众集团的董事会，还有保时捷家族的掌门人，关于大众美国柴油车问题。但是，他们不听我的，现在还不承认我曾经对他们的提醒。”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557"/>
    </mc:Choice>
    <mc:Fallback xmlns="">
      <p:transition spd="slow" advTm="44557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113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7013" y="-22225"/>
            <a:ext cx="9163051" cy="5165725"/>
          </a:xfrm>
        </p:spPr>
      </p:pic>
      <p:sp>
        <p:nvSpPr>
          <p:cNvPr id="218114" name="TextBox 5"/>
          <p:cNvSpPr txBox="1">
            <a:spLocks noChangeArrowheads="1"/>
          </p:cNvSpPr>
          <p:nvPr/>
        </p:nvSpPr>
        <p:spPr bwMode="auto">
          <a:xfrm>
            <a:off x="1238564" y="5423896"/>
            <a:ext cx="10638587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W.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保时捷：“亲戚是没有办法选择的，我不愿意跟皮耶希同处一个空间。”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69"/>
    </mc:Choice>
    <mc:Fallback xmlns="">
      <p:transition spd="slow" advTm="28769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37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19237" y="4764"/>
            <a:ext cx="9153526" cy="5310187"/>
          </a:xfrm>
        </p:spPr>
      </p:pic>
      <p:sp>
        <p:nvSpPr>
          <p:cNvPr id="219138" name="TextBox 4"/>
          <p:cNvSpPr txBox="1">
            <a:spLocks noChangeArrowheads="1"/>
          </p:cNvSpPr>
          <p:nvPr/>
        </p:nvSpPr>
        <p:spPr bwMode="auto">
          <a:xfrm>
            <a:off x="1482133" y="5718314"/>
            <a:ext cx="11445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F.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皮耶希听到表弟的这个回应后也生气，扬言要卖掉手里的大众股份。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30"/>
    </mc:Choice>
    <mc:Fallback xmlns="">
      <p:transition spd="slow" advTm="1333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1" name="TextBox 3"/>
          <p:cNvSpPr txBox="1">
            <a:spLocks noChangeArrowheads="1"/>
          </p:cNvSpPr>
          <p:nvPr/>
        </p:nvSpPr>
        <p:spPr bwMode="auto">
          <a:xfrm>
            <a:off x="1919289" y="1700214"/>
            <a:ext cx="8840882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2017-03-15  </a:t>
            </a:r>
          </a:p>
          <a:p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保时捷和皮耶希两大家族商谈，希望费迪南德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皮耶希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和他的侄子汉斯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彼得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皮耶希能退位让贤，给家族中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的年轻人让位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80"/>
    </mc:Choice>
    <mc:Fallback xmlns="">
      <p:transition spd="slow" advTm="4678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Rot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1525" y="0"/>
            <a:ext cx="8108950" cy="6081713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066164" y="6176963"/>
            <a:ext cx="60596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保时捷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CEO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马蒂亚斯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穆勒接任大众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CEO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职位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227"/>
    </mc:Choice>
    <mc:Fallback xmlns="">
      <p:transition spd="slow" advTm="48227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5" name="内容占位符 2"/>
          <p:cNvSpPr>
            <a:spLocks noGrp="1" noRot="1" noChangeArrowheads="1"/>
          </p:cNvSpPr>
          <p:nvPr>
            <p:ph idx="1"/>
          </p:nvPr>
        </p:nvSpPr>
        <p:spPr>
          <a:xfrm>
            <a:off x="2351089" y="981076"/>
            <a:ext cx="8015287" cy="449897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家族企业传承：</a:t>
            </a:r>
            <a:endParaRPr lang="en-US" altLang="zh-CN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管理权传承（标志是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CEO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的传承）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治理权传承（标志是董事长的传承）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股权传承（标志是控股股权的传承）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财富传承（标志是家族金融资产的传承）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2639"/>
    </mc:Choice>
    <mc:Fallback xmlns="">
      <p:transition spd="slow" advTm="152639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5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26306" name="内容占位符 6" descr="timg (13)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17650" y="606425"/>
            <a:ext cx="9156700" cy="5494338"/>
          </a:xfr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486A9F8-9FA1-008D-5D40-342238404CE8}"/>
              </a:ext>
            </a:extLst>
          </p:cNvPr>
          <p:cNvSpPr txBox="1"/>
          <p:nvPr/>
        </p:nvSpPr>
        <p:spPr>
          <a:xfrm>
            <a:off x="3516924" y="6111230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香港和澳门大家族内斗的例子比比皆是。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843"/>
    </mc:Choice>
    <mc:Fallback xmlns="">
      <p:transition spd="slow" advTm="104843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71814" y="908050"/>
            <a:ext cx="5565775" cy="442118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李锦记家族传承的三个秘籍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确立家族核心价值观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设立家族委员会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制定家族宪法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132"/>
    </mc:Choice>
    <mc:Fallback xmlns="">
      <p:transition spd="slow" advTm="46132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353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2" y="201614"/>
            <a:ext cx="9177338" cy="579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309"/>
    </mc:Choice>
    <mc:Fallback xmlns="">
      <p:transition spd="slow" advTm="195309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3071814" y="908050"/>
            <a:ext cx="5565775" cy="4421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李锦记家族传承的三个秘籍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确立家族核心价值观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设立家族委员会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制定家族宪法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137"/>
    </mc:Choice>
    <mc:Fallback xmlns="">
      <p:transition spd="slow" advTm="220137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F6D0E-C7AE-662D-021A-F8A720DF6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460C6B-23F7-B975-D293-3598938D2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498980-70AB-B47A-BB96-77B6EE356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865" y="458822"/>
            <a:ext cx="8045585" cy="466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55A753B-3AFB-237D-8F8E-0FF89BEDC5D8}"/>
              </a:ext>
            </a:extLst>
          </p:cNvPr>
          <p:cNvSpPr txBox="1"/>
          <p:nvPr/>
        </p:nvSpPr>
        <p:spPr>
          <a:xfrm>
            <a:off x="3424475" y="5240811"/>
            <a:ext cx="5594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李锦记第三代掌门人：李文达先生</a:t>
            </a:r>
          </a:p>
        </p:txBody>
      </p:sp>
    </p:spTree>
    <p:extLst>
      <p:ext uri="{BB962C8B-B14F-4D97-AF65-F5344CB8AC3E}">
        <p14:creationId xmlns:p14="http://schemas.microsoft.com/office/powerpoint/2010/main" val="68918074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401" name="内容占位符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4" y="-9525"/>
            <a:ext cx="8510587" cy="687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20"/>
    </mc:Choice>
    <mc:Fallback xmlns="">
      <p:transition spd="slow" advTm="1612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5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31426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6" y="571500"/>
            <a:ext cx="9248775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1427" name="内容占位符 6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371"/>
    </mc:Choice>
    <mc:Fallback xmlns="">
      <p:transition spd="slow" advTm="6537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3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33474" name="内容占位符 3" descr="timg (15)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1775" y="301626"/>
            <a:ext cx="9188450" cy="6126163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460"/>
    </mc:Choice>
    <mc:Fallback xmlns="">
      <p:transition spd="slow" advTm="12646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9" name="内容占位符 2"/>
          <p:cNvSpPr>
            <a:spLocks noGrp="1" noRot="1" noChangeArrowheads="1"/>
          </p:cNvSpPr>
          <p:nvPr/>
        </p:nvSpPr>
        <p:spPr bwMode="auto">
          <a:xfrm>
            <a:off x="2279651" y="115888"/>
            <a:ext cx="7993063" cy="674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家族财富传承的工具：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  <a:buClr>
                <a:schemeClr val="folHlink"/>
              </a:buClr>
              <a:buSzPct val="85000"/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       赠与、遗赠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  <a:buClr>
                <a:schemeClr val="folHlink"/>
              </a:buClr>
              <a:buSzPct val="85000"/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       法定继承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  <a:buClr>
                <a:schemeClr val="folHlink"/>
              </a:buClr>
              <a:buSzPct val="85000"/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       家族信托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  <a:buClr>
                <a:schemeClr val="folHlink"/>
              </a:buClr>
              <a:buSzPct val="85000"/>
            </a:pP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基金会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  <a:buClr>
                <a:schemeClr val="folHlink"/>
              </a:buClr>
              <a:buSzPct val="85000"/>
            </a:pP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家族办公室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  <a:buClr>
                <a:schemeClr val="folHlink"/>
              </a:buClr>
              <a:buSzPct val="85000"/>
            </a:pP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家族保险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  <a:buClr>
                <a:schemeClr val="folHlink"/>
              </a:buClr>
              <a:buSzPct val="85000"/>
            </a:pP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协议等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865"/>
    </mc:Choice>
    <mc:Fallback xmlns="">
      <p:transition spd="slow" advTm="67865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21" name="内容占位符 1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58975" y="3175"/>
            <a:ext cx="8274050" cy="685165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49"/>
    </mc:Choice>
    <mc:Fallback xmlns="">
      <p:transition spd="slow" advTm="112149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545" name="内容占位符 1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30488" y="386282"/>
            <a:ext cx="9161463" cy="5846763"/>
          </a:xfrm>
        </p:spPr>
      </p:pic>
      <p:sp>
        <p:nvSpPr>
          <p:cNvPr id="13" name="文本框 12"/>
          <p:cNvSpPr txBox="1"/>
          <p:nvPr/>
        </p:nvSpPr>
        <p:spPr>
          <a:xfrm>
            <a:off x="9567943" y="511884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1915 – 2017</a:t>
            </a:r>
            <a:r>
              <a:rPr lang="en-US" altLang="zh-CN" dirty="0"/>
              <a:t>	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111"/>
    </mc:Choice>
    <mc:Fallback xmlns="">
      <p:transition spd="slow" advTm="11211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6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37570" name="内容占位符 3" descr="timg (17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17650" y="228601"/>
            <a:ext cx="9182100" cy="5262563"/>
          </a:xfrm>
        </p:spPr>
      </p:pic>
      <p:sp>
        <p:nvSpPr>
          <p:cNvPr id="237571" name="文本框 4"/>
          <p:cNvSpPr txBox="1">
            <a:spLocks noChangeArrowheads="1"/>
          </p:cNvSpPr>
          <p:nvPr/>
        </p:nvSpPr>
        <p:spPr bwMode="auto">
          <a:xfrm>
            <a:off x="4932364" y="5491164"/>
            <a:ext cx="23272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洛克菲勒家族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70"/>
    </mc:Choice>
    <mc:Fallback xmlns="">
      <p:transition spd="slow" advTm="4067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38594" name="内容占位符 3" descr="timg (24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51139" y="361951"/>
            <a:ext cx="6689725" cy="4498975"/>
          </a:xfrm>
        </p:spPr>
      </p:pic>
      <p:sp>
        <p:nvSpPr>
          <p:cNvPr id="238595" name="文本框 4"/>
          <p:cNvSpPr txBox="1">
            <a:spLocks noChangeArrowheads="1"/>
          </p:cNvSpPr>
          <p:nvPr/>
        </p:nvSpPr>
        <p:spPr bwMode="auto">
          <a:xfrm>
            <a:off x="3630614" y="4976814"/>
            <a:ext cx="50545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第一代创始人：约翰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洛克菲勒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300"/>
    </mc:Choice>
    <mc:Fallback xmlns="">
      <p:transition spd="slow" advTm="4330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39618" name="内容占位符 6" descr="timg (29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6113" y="-15875"/>
            <a:ext cx="8520112" cy="6038850"/>
          </a:xfrm>
        </p:spPr>
      </p:pic>
      <p:sp>
        <p:nvSpPr>
          <p:cNvPr id="239619" name="文本框 7"/>
          <p:cNvSpPr txBox="1">
            <a:spLocks noChangeArrowheads="1"/>
          </p:cNvSpPr>
          <p:nvPr/>
        </p:nvSpPr>
        <p:spPr bwMode="auto">
          <a:xfrm>
            <a:off x="3544889" y="6178550"/>
            <a:ext cx="59554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第二代：小约翰·戴维森·洛克菲勒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6959600" y="5734050"/>
            <a:ext cx="0" cy="44450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8662"/>
    </mc:Choice>
    <mc:Fallback xmlns="">
      <p:transition spd="slow" advTm="328662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377DD-4E31-C808-1670-F11BB9BA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B9D738-E909-A42E-35F7-B56FC50E0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D107F34-9CCF-80C4-7A54-40037B476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591" y="-27540"/>
            <a:ext cx="8968694" cy="688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12047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AE121-A935-2EE2-0F03-A9AF2EDAC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D59F75-4299-A388-B090-5F2AD4C8F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0765DE-50AA-91F9-E3FC-017E6B21D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442" y="14491"/>
            <a:ext cx="9141116" cy="685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84211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2C95F-4A79-60AB-AAC5-5E25C783E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0BAB0D-2716-5C6F-C608-2DA634587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0C4AED8-12B3-07CD-4A6E-F83FAEBDC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86" y="578980"/>
            <a:ext cx="7938581" cy="526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CC84B09-5540-3499-C3F6-6C6211C6854F}"/>
              </a:ext>
            </a:extLst>
          </p:cNvPr>
          <p:cNvSpPr txBox="1"/>
          <p:nvPr/>
        </p:nvSpPr>
        <p:spPr>
          <a:xfrm>
            <a:off x="3536004" y="5979842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洛克菲勒家族捐赠创立的林肯艺术中心</a:t>
            </a:r>
          </a:p>
        </p:txBody>
      </p:sp>
    </p:spTree>
    <p:extLst>
      <p:ext uri="{BB962C8B-B14F-4D97-AF65-F5344CB8AC3E}">
        <p14:creationId xmlns:p14="http://schemas.microsoft.com/office/powerpoint/2010/main" val="206167770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2CB9F-F2DA-A5D3-678C-A2513B65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E46201-9322-0517-AB0A-8C08B3F7C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87AEB2D-BAA6-1D31-9EEA-C5A19E6A8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189" y="443824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7525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99965-2D85-318E-73C6-A7419571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20BD65-1E1E-3D43-D956-FBE3BDDBE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BDDF1E1-3BB8-EAEF-BBEC-787E840E0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003" y="512506"/>
            <a:ext cx="7885889" cy="526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00677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31ADFF-2843-F9A1-B77B-FAB121FC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F4A442-5310-0746-D140-D1B0117E3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096F707-6F9F-0F09-B7EC-7E00E76B10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21"/>
          <a:stretch>
            <a:fillRect/>
          </a:stretch>
        </p:blipFill>
        <p:spPr bwMode="auto">
          <a:xfrm>
            <a:off x="2654435" y="728473"/>
            <a:ext cx="6504156" cy="453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072683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F8047-7218-6F85-E282-245E520F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A965CC-9BC1-C06B-3088-BBCCF79BA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AF5EC6E-B3B9-11AF-57E6-85FDE1CFB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820" y="978273"/>
            <a:ext cx="5828489" cy="407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90166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1" name="标题 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40642" name="内容占位符 3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8600" y="666750"/>
            <a:ext cx="9194800" cy="5526088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724"/>
    </mc:Choice>
    <mc:Fallback xmlns="">
      <p:transition spd="slow" advTm="79724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家族信托的主要功能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9350" y="1691005"/>
            <a:ext cx="4669155" cy="435165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传承规划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债务隔离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秘密性保障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税务及债务筹划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慈善公益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7" name="内容占位符 2"/>
          <p:cNvSpPr>
            <a:spLocks noGrp="1" noRot="1" noChangeArrowheads="1"/>
          </p:cNvSpPr>
          <p:nvPr>
            <p:ph idx="1"/>
          </p:nvPr>
        </p:nvSpPr>
        <p:spPr>
          <a:xfrm>
            <a:off x="2906901" y="972111"/>
            <a:ext cx="6918417" cy="449897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家族企业传承：</a:t>
            </a:r>
            <a:endParaRPr lang="en-US" altLang="zh-CN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管理权传承（标志是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CEO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的传承）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治理权传承（标志是董事长的传承）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股权传承（标志是控股股权的传承）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财富传承（标志是家族金融资产的传承）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557"/>
    </mc:Choice>
    <mc:Fallback xmlns="">
      <p:transition spd="slow" advTm="232557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881" name="内容占位符 2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40013" y="620713"/>
            <a:ext cx="7200900" cy="4000500"/>
          </a:xfrm>
        </p:spPr>
      </p:pic>
      <p:sp>
        <p:nvSpPr>
          <p:cNvPr id="250882" name="TextBox 1"/>
          <p:cNvSpPr txBox="1">
            <a:spLocks noChangeArrowheads="1"/>
          </p:cNvSpPr>
          <p:nvPr/>
        </p:nvSpPr>
        <p:spPr bwMode="auto">
          <a:xfrm>
            <a:off x="553096" y="4997100"/>
            <a:ext cx="11475218" cy="11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Jim Collins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，著名的管理学家及畅销书作家，曾获斯坦福大学商学院杰出教学奖，先后任职于麦肯锡公司和惠普公司。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39"/>
    </mc:Choice>
    <mc:Fallback xmlns="">
      <p:transition spd="slow" advTm="40939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905" name="内容占位符 1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1014" y="-6350"/>
            <a:ext cx="8688387" cy="68707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389"/>
    </mc:Choice>
    <mc:Fallback xmlns="">
      <p:transition spd="slow" advTm="150389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929" name="内容占位符 1"/>
          <p:cNvPicPr>
            <a:picLocks noGrp="1" noRot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95475" y="3175"/>
            <a:ext cx="8401050" cy="6851650"/>
          </a:xfrm>
        </p:spPr>
      </p:pic>
      <p:pic>
        <p:nvPicPr>
          <p:cNvPr id="2" name="内容占位符 1"/>
          <p:cNvPicPr>
            <a:picLocks noGrp="1" noRot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95475" y="6350"/>
            <a:ext cx="8401050" cy="6851650"/>
          </a:xfrm>
          <a:prstGeom prst="rect">
            <a:avLst/>
          </a:prstGeom>
        </p:spPr>
      </p:pic>
      <p:pic>
        <p:nvPicPr>
          <p:cNvPr id="3" name="内容占位符 1"/>
          <p:cNvPicPr>
            <a:picLocks noGrp="1" noRot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95475" y="6350"/>
            <a:ext cx="8401050" cy="6851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80"/>
    </mc:Choice>
    <mc:Fallback xmlns="">
      <p:transition spd="slow" advTm="147080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95450" y="1981200"/>
            <a:ext cx="82296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第四级经理人喜欢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一个天才加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个助手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的模式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2"/>
          <p:cNvSpPr txBox="1">
            <a:spLocks noRot="1" noChangeArrowheads="1"/>
          </p:cNvSpPr>
          <p:nvPr/>
        </p:nvSpPr>
        <p:spPr>
          <a:xfrm>
            <a:off x="1992314" y="1989139"/>
            <a:ext cx="9383898" cy="2160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大股东 </a:t>
            </a: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强势董事会 </a:t>
            </a: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职业经理人团队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080"/>
    </mc:Choice>
    <mc:Fallback xmlns="">
      <p:transition spd="slow" advTm="46080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634EC-9458-02F6-621A-9636A5554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5C1B5A-DB21-3738-7E40-5E2FE248A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00292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AB21D-6E3E-4A5B-C8D2-301C2C84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912078-5BDF-AB6C-D288-E44E38D45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611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3288</TotalTime>
  <Words>1103</Words>
  <Application>Microsoft Office PowerPoint</Application>
  <PresentationFormat>宽屏</PresentationFormat>
  <Paragraphs>141</Paragraphs>
  <Slides>121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121</vt:i4>
      </vt:variant>
    </vt:vector>
  </HeadingPairs>
  <TitlesOfParts>
    <vt:vector size="126" baseType="lpstr">
      <vt:lpstr>等线</vt:lpstr>
      <vt:lpstr>等线 Light</vt:lpstr>
      <vt:lpstr>宋体</vt:lpstr>
      <vt:lpstr>Arial</vt:lpstr>
      <vt:lpstr>Office 主题​​</vt:lpstr>
      <vt:lpstr>PowerPoint 演示文稿</vt:lpstr>
      <vt:lpstr>企业传承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企业传承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家族信托的主要功能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什么是营销?</dc:title>
  <dc:creator>Chen Xiaofei</dc:creator>
  <cp:lastModifiedBy>Xiaofei Chen</cp:lastModifiedBy>
  <cp:revision>121</cp:revision>
  <dcterms:created xsi:type="dcterms:W3CDTF">2020-02-15T12:13:00Z</dcterms:created>
  <dcterms:modified xsi:type="dcterms:W3CDTF">2025-12-21T02:26:44Z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EE1670433ED648D3B30C7EF6F7DED18A</vt:lpwstr>
  </property>
</Properties>
</file>