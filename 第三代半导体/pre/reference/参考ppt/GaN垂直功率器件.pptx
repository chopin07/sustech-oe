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66" r:id="rId2"/>
    <p:sldId id="386" r:id="rId3"/>
    <p:sldId id="416" r:id="rId4"/>
    <p:sldId id="346" r:id="rId5"/>
    <p:sldId id="417" r:id="rId6"/>
    <p:sldId id="418" r:id="rId7"/>
    <p:sldId id="419" r:id="rId8"/>
    <p:sldId id="420" r:id="rId9"/>
    <p:sldId id="421" r:id="rId10"/>
    <p:sldId id="422" r:id="rId11"/>
  </p:sldIdLst>
  <p:sldSz cx="9144000" cy="6858000" type="screen4x3"/>
  <p:notesSz cx="6807200" cy="9939338"/>
  <p:custDataLst>
    <p:tags r:id="rId1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000066"/>
    <a:srgbClr val="8585FF"/>
    <a:srgbClr val="15433E"/>
    <a:srgbClr val="FF9999"/>
    <a:srgbClr val="258086"/>
    <a:srgbClr val="2F9487"/>
    <a:srgbClr val="298378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5"/>
    <p:restoredTop sz="89440"/>
  </p:normalViewPr>
  <p:slideViewPr>
    <p:cSldViewPr showGuides="1">
      <p:cViewPr varScale="1">
        <p:scale>
          <a:sx n="81" d="100"/>
          <a:sy n="81" d="100"/>
        </p:scale>
        <p:origin x="1401" y="30"/>
      </p:cViewPr>
      <p:guideLst>
        <p:guide orient="horz" pos="2240"/>
        <p:guide pos="29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r" defTabSz="952500">
              <a:defRPr sz="1300">
                <a:ea typeface="+mn-ea"/>
              </a:defRPr>
            </a:lvl1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/>
          <a:p>
            <a:pPr lvl="0" algn="r" defTabSz="951230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r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r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53DCBC-2FFE-446C-97C8-6D7BACF5DB19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2025/4/6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0" y="746125"/>
            <a:ext cx="4967288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/>
          <a:p>
            <a:pPr lvl="0" algn="r" defTabSz="955675" fontAlgn="base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545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861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960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3597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7045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588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67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1500" strike="noStrike" noProof="0" dirty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‹#›</a:t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2025/4/6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en-US" altLang="zh-CN" dirty="0"/>
              <a:t>Click to edit Master text styles</a:t>
            </a:r>
          </a:p>
          <a:p>
            <a:pPr lvl="1" indent="-285750"/>
            <a:r>
              <a:rPr lang="en-US" altLang="zh-CN" dirty="0"/>
              <a:t>Second level</a:t>
            </a:r>
          </a:p>
          <a:p>
            <a:pPr lvl="2" indent="-228600"/>
            <a:r>
              <a:rPr lang="en-US" altLang="zh-CN" dirty="0"/>
              <a:t>Third level</a:t>
            </a:r>
          </a:p>
          <a:p>
            <a:pPr lvl="3" indent="-228600"/>
            <a:r>
              <a:rPr lang="en-US" altLang="zh-CN" dirty="0"/>
              <a:t>Fourth level</a:t>
            </a:r>
          </a:p>
          <a:p>
            <a:pPr lvl="4" indent="-228600"/>
            <a:r>
              <a:rPr lang="en-US" altLang="zh-CN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58"/>
          <p:cNvSpPr/>
          <p:nvPr/>
        </p:nvSpPr>
        <p:spPr>
          <a:xfrm>
            <a:off x="0" y="5949950"/>
            <a:ext cx="9144000" cy="14287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5400">
            <a:noFill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0" name="直接连接符 5"/>
          <p:cNvSpPr/>
          <p:nvPr/>
        </p:nvSpPr>
        <p:spPr>
          <a:xfrm>
            <a:off x="755650" y="1628775"/>
            <a:ext cx="7705725" cy="0"/>
          </a:xfrm>
          <a:prstGeom prst="line">
            <a:avLst/>
          </a:prstGeom>
          <a:ln w="9525" cap="flat" cmpd="sng">
            <a:solidFill>
              <a:srgbClr val="A5A5A5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1" name="直接连接符 7"/>
          <p:cNvSpPr/>
          <p:nvPr/>
        </p:nvSpPr>
        <p:spPr>
          <a:xfrm flipV="1">
            <a:off x="1219288" y="1201372"/>
            <a:ext cx="0" cy="288925"/>
          </a:xfrm>
          <a:prstGeom prst="line">
            <a:avLst/>
          </a:prstGeom>
          <a:ln w="19050" cap="flat" cmpd="sng">
            <a:solidFill>
              <a:srgbClr val="595959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3" name="TextBox 11"/>
          <p:cNvSpPr/>
          <p:nvPr/>
        </p:nvSpPr>
        <p:spPr>
          <a:xfrm>
            <a:off x="1295486" y="1115646"/>
            <a:ext cx="2880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垂直功率器件</a:t>
            </a:r>
          </a:p>
        </p:txBody>
      </p:sp>
      <p:sp>
        <p:nvSpPr>
          <p:cNvPr id="4107" name="TextBox 15"/>
          <p:cNvSpPr/>
          <p:nvPr/>
        </p:nvSpPr>
        <p:spPr>
          <a:xfrm>
            <a:off x="755650" y="2294370"/>
            <a:ext cx="6524625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）功率器件的迭代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垂直功率器件的研究成果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垂直功率器件的未来发展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(4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b="1" dirty="0" err="1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GaN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垂直功率器件的论文思路</a:t>
            </a:r>
          </a:p>
          <a:p>
            <a:pPr algn="l"/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BCACFFB7-8331-C9FD-4A4B-2AA0D2A31B4A}"/>
              </a:ext>
            </a:extLst>
          </p:cNvPr>
          <p:cNvSpPr/>
          <p:nvPr/>
        </p:nvSpPr>
        <p:spPr>
          <a:xfrm>
            <a:off x="685902" y="1864805"/>
            <a:ext cx="198114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ppt</a:t>
            </a:r>
            <a:r>
              <a:rPr lang="zh-CN" altLang="en-US" sz="20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大纲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7977" y="538662"/>
            <a:ext cx="8968045" cy="604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电子功率器件的特点：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the application of electronic switching devices for </a:t>
            </a:r>
            <a:r>
              <a:rPr lang="en-US" altLang="zh-CN" sz="1600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efficient conversion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and </a:t>
            </a:r>
            <a:r>
              <a:rPr lang="en-US" altLang="zh-CN" sz="1600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the control of electrical power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（在不同的工作环境下，均要具有该特性）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衡量功率器件性能的参数：</a:t>
            </a:r>
            <a:endParaRPr lang="en-US" altLang="zh-CN" sz="1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）导通状态下：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正向导通电压：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en-US" altLang="zh-CN" sz="1400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on-state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阈值电压：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en-US" altLang="zh-CN" sz="1400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th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最大导通电流：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en-US" altLang="zh-CN" sz="1400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on-max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正向导通电阻：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1400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on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Peak Accumulation Electron Mobility: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在积累区，随着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V_GS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增加，</a:t>
            </a:r>
            <a:r>
              <a:rPr lang="zh-CN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电子迁移率达到最大值时的数值。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反映了沟道在最佳条件下（电子密度和电场平衡）的导电能力。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）截止状态下：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击穿电压：</a:t>
            </a:r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en-US" altLang="zh-CN" sz="1400" baseline="-25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breakdown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漏电流：</a:t>
            </a:r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en-US" altLang="zh-CN" sz="1400" baseline="-25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leakage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en-US" altLang="zh-CN" sz="1400" baseline="-25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off</a:t>
            </a:r>
            <a:endParaRPr lang="en-US" altLang="zh-CN" sz="1400" baseline="-25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）器件的综合性能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Subthreshold Swing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（亚阈值摆幅）：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衡量场效应晶体管（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FET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）在亚阈值区开关性能的指标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亚阈值摆幅越小，说明器件从关断到导通的切换越陡峭，开关性能越好，能耗越低。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理论值是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60mv/dc)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Switching Figure of Merit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（开关优值）：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对导通电阻（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Ron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）和开关损耗（如电容充电）的综合考量，值越低越好，开关速度更快，损耗更低。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Baliga’s Figure of Merit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（巴加利优值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衡量导通电阻和击穿电压的综合影响，值越高，说明材料或器件能在低导通电阻下承受高电压，性能越优越。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电子迁移率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决定击穿电压和导通电阻。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-35559" y="-116840"/>
            <a:ext cx="3997976" cy="145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）功率器件的迭代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F068F5-6339-B5F7-B94D-6823B67D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E0104F2-6305-265D-45F4-509C8B2D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36" y="6530565"/>
            <a:ext cx="1866215" cy="22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75954" y="721999"/>
            <a:ext cx="8968045" cy="5727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en-US" altLang="zh-CN" sz="1800" b="1" dirty="0" err="1">
                <a:latin typeface="微软雅黑" panose="020B0503020204020204" charset="-122"/>
                <a:ea typeface="微软雅黑" panose="020B0503020204020204" charset="-122"/>
              </a:rPr>
              <a:t>GaN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垂直功率器件的原因：</a:t>
            </a:r>
            <a:endParaRPr lang="en-US" altLang="zh-CN" sz="1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(1):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硅基功率器件：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工艺成熟，但已经接近理论值，无法适应更高的电压和开关频率。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→需要新的材料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宽禁带半导体，</a:t>
            </a:r>
            <a:r>
              <a:rPr lang="en-US" altLang="zh-CN" sz="12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SiC,GaN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是合适的材料选择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(2):</a:t>
            </a:r>
            <a:r>
              <a:rPr lang="en-US" altLang="zh-CN" sz="16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GaN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水平功率器件：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优点：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可以承受更高的电压，且有更快的开关速度和更低的导通电阻。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在异质结处可以形成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2DEG)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缺点：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难以实现常关状态，需要设计更复杂的栅极，增加电容和工艺制备成本。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异质结本身就更倾向于常开状态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难以同时优化导通电阻和击穿电压。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两者均与漏源之间的距离有关，且超过某一长度之后，击穿电压与缓冲层的质量和厚度相关，无疑会增加外延生长的难度的成本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在高电场的工作条件下，容易发生电流崩塌、器件击穿、等其他器件稳定性问题。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器件表面的界面处的缺陷易形成陷阱捕获电子，且器件表面电场容易集中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外延生长成本高。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难以在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Si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衬底上长出高质量的器件）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(3):</a:t>
            </a:r>
            <a:r>
              <a:rPr lang="en-US" altLang="zh-CN" sz="1600" b="1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GaN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垂直功率器件：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优点：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可以克服水平结构的缺点，并实现相近或者更优的性能。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(1.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电场峰值远离表面，击穿电压更高，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电场与电流分布均匀，易于热管理，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击穿电压与器件面积无关，且可与导通电阻同时提升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更易实现常关操作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无需复杂的场板结构。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缺点：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p-</a:t>
            </a:r>
            <a:r>
              <a:rPr lang="en-US" altLang="zh-CN" sz="12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GaN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的生长质量低，影响器件的整体性能。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外延生长的成本仍然很高。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-35559" y="-116840"/>
            <a:ext cx="3997976" cy="145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）功率器件的迭代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F068F5-6339-B5F7-B94D-6823B67D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E0104F2-6305-265D-45F4-509C8B2D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36" y="6530565"/>
            <a:ext cx="1866215" cy="22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8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垂直功率器件的研究成果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052" y="847255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常见结构类型：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0A73DD-CE6B-E023-E458-BF8BBEDDF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49" y="1420870"/>
            <a:ext cx="2456180" cy="2450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141991-F694-BDFC-B2AB-BCB69F394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36" y="1752644"/>
            <a:ext cx="2099310" cy="20472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A55737-348F-9C63-A0A7-587AB1DBA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8739" y="2057436"/>
            <a:ext cx="2890520" cy="16459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FFD7FE-6632-2DD0-8EB8-EA38D062A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42" y="4318070"/>
            <a:ext cx="3013710" cy="15938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5CB0BA-D175-D1A9-0A3E-671251DC8D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04" y="4458261"/>
            <a:ext cx="2406650" cy="142938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56901F-1E80-E182-244C-A3A1EE9CBD54}"/>
              </a:ext>
            </a:extLst>
          </p:cNvPr>
          <p:cNvSpPr txBox="1"/>
          <p:nvPr/>
        </p:nvSpPr>
        <p:spPr>
          <a:xfrm>
            <a:off x="1524080" y="1414089"/>
            <a:ext cx="990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CAVET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F246FB-FD6F-1F77-7C30-1A2E0B874E69}"/>
              </a:ext>
            </a:extLst>
          </p:cNvPr>
          <p:cNvSpPr txBox="1"/>
          <p:nvPr/>
        </p:nvSpPr>
        <p:spPr>
          <a:xfrm>
            <a:off x="4250091" y="1398819"/>
            <a:ext cx="931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MOSFET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3C8E2A-06C9-1A49-E855-5FEE3FDAC128}"/>
              </a:ext>
            </a:extLst>
          </p:cNvPr>
          <p:cNvSpPr txBox="1"/>
          <p:nvPr/>
        </p:nvSpPr>
        <p:spPr>
          <a:xfrm>
            <a:off x="6675831" y="1414088"/>
            <a:ext cx="639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JFET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2C56FF-372E-C8B0-B556-E93F9413290A}"/>
              </a:ext>
            </a:extLst>
          </p:cNvPr>
          <p:cNvSpPr txBox="1"/>
          <p:nvPr/>
        </p:nvSpPr>
        <p:spPr>
          <a:xfrm>
            <a:off x="4372334" y="3983486"/>
            <a:ext cx="639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SIT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6C7E34-58CC-49CE-1BC2-2B57950EE1EB}"/>
              </a:ext>
            </a:extLst>
          </p:cNvPr>
          <p:cNvSpPr txBox="1"/>
          <p:nvPr/>
        </p:nvSpPr>
        <p:spPr>
          <a:xfrm>
            <a:off x="1524080" y="3969789"/>
            <a:ext cx="898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Diodes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F380B0-490C-018E-FA5E-C6AE20F389EE}"/>
              </a:ext>
            </a:extLst>
          </p:cNvPr>
          <p:cNvSpPr txBox="1"/>
          <p:nvPr/>
        </p:nvSpPr>
        <p:spPr>
          <a:xfrm>
            <a:off x="5867366" y="4318070"/>
            <a:ext cx="2349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SIT</a:t>
            </a:r>
            <a:r>
              <a:rPr lang="zh-CN" altLang="en-US" sz="1100" dirty="0"/>
              <a:t>是一种短通道的场效应晶体管</a:t>
            </a:r>
            <a:r>
              <a:rPr lang="en-US" altLang="zh-CN" sz="1400" dirty="0"/>
              <a:t>,</a:t>
            </a:r>
            <a:r>
              <a:rPr lang="zh-CN" altLang="en-US" sz="1100" dirty="0"/>
              <a:t>通过栅极电压产生的静电场控制源极和漏极之间的电流，类似于其他</a:t>
            </a:r>
            <a:r>
              <a:rPr lang="en-US" altLang="zh-CN" sz="1100" dirty="0"/>
              <a:t>FET</a:t>
            </a:r>
          </a:p>
          <a:p>
            <a:endParaRPr lang="zh-CN" altLang="en-US" sz="1100" dirty="0"/>
          </a:p>
          <a:p>
            <a:endParaRPr lang="zh-CN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垂直功率器件的研究成果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052" y="685800"/>
            <a:ext cx="8839200" cy="564777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2.GaN</a:t>
            </a:r>
            <a:r>
              <a:rPr lang="zh-CN" altLang="en-US" dirty="0"/>
              <a:t>功率器件结构的优化</a:t>
            </a:r>
            <a:r>
              <a:rPr lang="en-US" altLang="zh-CN" dirty="0"/>
              <a:t>(</a:t>
            </a:r>
            <a:r>
              <a:rPr lang="zh-CN" altLang="en-US" dirty="0"/>
              <a:t>列举部分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912F15-1657-1823-9099-8F4FC543B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3" y="1559887"/>
            <a:ext cx="2291799" cy="21171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A466903-D0A8-C86B-F966-1F341A6AA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8931" y="3792215"/>
            <a:ext cx="2537686" cy="198983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12DE152-2388-99A4-1192-407E1CD44798}"/>
              </a:ext>
            </a:extLst>
          </p:cNvPr>
          <p:cNvSpPr txBox="1"/>
          <p:nvPr/>
        </p:nvSpPr>
        <p:spPr>
          <a:xfrm>
            <a:off x="457308" y="1251779"/>
            <a:ext cx="1572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VC and LC VJFET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366002-1E1D-5C0C-FB14-96E26FE2933B}"/>
              </a:ext>
            </a:extLst>
          </p:cNvPr>
          <p:cNvSpPr txBox="1"/>
          <p:nvPr/>
        </p:nvSpPr>
        <p:spPr>
          <a:xfrm>
            <a:off x="2324402" y="1155369"/>
            <a:ext cx="64256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设计</a:t>
            </a:r>
            <a:r>
              <a:rPr lang="en-US" altLang="zh-CN" sz="1800" b="1" dirty="0"/>
              <a:t>JFET</a:t>
            </a:r>
            <a:r>
              <a:rPr lang="zh-CN" altLang="en-US" sz="1800" b="1" dirty="0"/>
              <a:t>结构的原因：</a:t>
            </a:r>
            <a:endParaRPr lang="en-US" altLang="zh-CN" sz="1800" b="1" dirty="0"/>
          </a:p>
          <a:p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1):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该结构在</a:t>
            </a:r>
            <a:r>
              <a:rPr lang="en-US" altLang="zh-CN" sz="1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SiC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和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中已经得到了大量的证实，且性能优于多栅结构的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MOSFET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(2):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相较于水平结构和部分垂直结构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如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CAVET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等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实现常关状态更容易，且稳定。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VC</a:t>
            </a:r>
            <a:r>
              <a:rPr lang="zh-CN" altLang="en-US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与</a:t>
            </a:r>
            <a:r>
              <a:rPr lang="en-US" altLang="zh-CN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LC</a:t>
            </a:r>
            <a:r>
              <a:rPr lang="zh-CN" altLang="en-US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的区别：</a:t>
            </a:r>
            <a:endParaRPr lang="en-US" altLang="zh-CN" sz="18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(1)VC:  V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&gt;0 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1µm  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⬇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⬆</a:t>
            </a:r>
            <a:endParaRPr lang="en-US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(2)LC: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V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&gt;0 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4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1µm  →</a:t>
            </a:r>
            <a:r>
              <a:rPr lang="en-US" altLang="zh-CN" sz="14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Lap⬇Ron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的变化并不同步。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亮点：</a:t>
            </a:r>
            <a:endParaRPr lang="en-US" altLang="zh-CN" sz="18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(1)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电子迁移率达到了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1100 cm</a:t>
            </a:r>
            <a:r>
              <a:rPr lang="en-US" altLang="zh-CN" sz="1400" baseline="30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/Vs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/I</a:t>
            </a:r>
            <a:r>
              <a:rPr lang="en-US" altLang="zh-CN" sz="14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OFF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over 10</a:t>
            </a:r>
            <a:r>
              <a:rPr lang="en-US" altLang="zh-CN" sz="1400" baseline="30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endParaRPr lang="en-US" altLang="zh-CN" sz="1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breakdown</a:t>
            </a:r>
            <a:r>
              <a:rPr lang="zh-CN" alt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CN" sz="14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zh-CN" alt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见图。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(2)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对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p-</a:t>
            </a:r>
            <a:r>
              <a:rPr lang="en-US" altLang="zh-CN" sz="1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GaN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层进行了创新优化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将其裸露在外层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zh-CN" altLang="en-US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改进</a:t>
            </a:r>
            <a:r>
              <a:rPr lang="zh-CN" altLang="en-US" sz="1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可以采用植入式源极接触进一步降低</a:t>
            </a:r>
            <a:r>
              <a:rPr lang="en-US" altLang="zh-CN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zh-CN" sz="1400" kern="1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zh-CN" altLang="en-US" sz="1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0FD909C-8043-59BC-274D-2D180FB0F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983" y="1874481"/>
            <a:ext cx="2255567" cy="180260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A0FE70D-21EF-9766-B2BF-2CA5A2F5FE3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7245"/>
          <a:stretch/>
        </p:blipFill>
        <p:spPr>
          <a:xfrm>
            <a:off x="2971842" y="4267178"/>
            <a:ext cx="3093643" cy="180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1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垂直功率器件的研究成果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19" y="609674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2.GaN</a:t>
            </a:r>
            <a:r>
              <a:rPr lang="zh-CN" altLang="en-US" dirty="0"/>
              <a:t>垂直器件结构的优化：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FE8F479-C789-4CDA-5A64-25D92472D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19274"/>
            <a:ext cx="3357245" cy="21348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0D57AF0-FF79-5481-9AFC-22C32DE87464}"/>
              </a:ext>
            </a:extLst>
          </p:cNvPr>
          <p:cNvSpPr txBox="1"/>
          <p:nvPr/>
        </p:nvSpPr>
        <p:spPr>
          <a:xfrm>
            <a:off x="381110" y="990664"/>
            <a:ext cx="663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FinFET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BBC14B-9B30-4CCA-5262-5FD72F1B668B}"/>
              </a:ext>
            </a:extLst>
          </p:cNvPr>
          <p:cNvSpPr txBox="1"/>
          <p:nvPr/>
        </p:nvSpPr>
        <p:spPr>
          <a:xfrm>
            <a:off x="142038" y="3339028"/>
            <a:ext cx="5558151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亮点：</a:t>
            </a:r>
            <a:endParaRPr lang="en-US" altLang="zh-CN" sz="1400" b="1" dirty="0"/>
          </a:p>
          <a:p>
            <a:r>
              <a:rPr lang="en-US" altLang="zh-CN" sz="1200" dirty="0"/>
              <a:t>(1):</a:t>
            </a:r>
            <a:r>
              <a:rPr lang="zh-CN" altLang="en-US" sz="1200" dirty="0"/>
              <a:t>只需要</a:t>
            </a:r>
            <a:r>
              <a:rPr lang="en-US" altLang="zh-CN" sz="1200" dirty="0"/>
              <a:t>n-</a:t>
            </a:r>
            <a:r>
              <a:rPr lang="en-US" altLang="zh-CN" sz="1200" dirty="0" err="1"/>
              <a:t>GaN</a:t>
            </a:r>
            <a:r>
              <a:rPr lang="zh-CN" altLang="en-US" sz="1200" dirty="0"/>
              <a:t>层即可，极大降低了外延生长的难度和成本。</a:t>
            </a:r>
            <a:endParaRPr lang="en-US" altLang="zh-CN" sz="1200" dirty="0"/>
          </a:p>
          <a:p>
            <a:r>
              <a:rPr lang="en-US" altLang="zh-CN" sz="1200" dirty="0"/>
              <a:t>(2):V</a:t>
            </a:r>
            <a:r>
              <a:rPr lang="en-US" altLang="zh-CN" sz="1200" baseline="-25000" dirty="0"/>
              <a:t>th</a:t>
            </a:r>
            <a:r>
              <a:rPr lang="en-US" altLang="zh-CN" sz="1200" dirty="0"/>
              <a:t>=1v,R</a:t>
            </a:r>
            <a:r>
              <a:rPr lang="zh-CN" altLang="en-US" sz="1200" baseline="-25000" dirty="0"/>
              <a:t>比导通</a:t>
            </a:r>
            <a:r>
              <a:rPr lang="en-US" altLang="zh-CN" sz="1200" dirty="0"/>
              <a:t>=0.36m</a:t>
            </a:r>
            <a:r>
              <a:rPr lang="el-GR" altLang="zh-CN" sz="1200" dirty="0"/>
              <a:t>Ω</a:t>
            </a:r>
            <a:r>
              <a:rPr lang="en-US" altLang="zh-CN" sz="1200" dirty="0"/>
              <a:t>cm2,V</a:t>
            </a:r>
            <a:r>
              <a:rPr lang="en-US" altLang="zh-CN" sz="1200" baseline="-25000" dirty="0"/>
              <a:t>blocking</a:t>
            </a:r>
            <a:r>
              <a:rPr lang="en-US" altLang="zh-CN" sz="1200" dirty="0"/>
              <a:t>=800v(</a:t>
            </a:r>
            <a:r>
              <a:rPr lang="zh-CN" altLang="en-US" sz="1200" dirty="0"/>
              <a:t>栅极偏压为</a:t>
            </a:r>
            <a:r>
              <a:rPr lang="en-US" altLang="zh-CN" sz="1200" dirty="0"/>
              <a:t>0</a:t>
            </a:r>
            <a:r>
              <a:rPr lang="zh-CN" altLang="en-US" sz="1200" dirty="0"/>
              <a:t>时</a:t>
            </a:r>
            <a:r>
              <a:rPr lang="en-US" altLang="zh-CN" sz="1200" dirty="0"/>
              <a:t>)</a:t>
            </a:r>
            <a:r>
              <a:rPr lang="zh-CN" altLang="en-US" sz="1200" dirty="0"/>
              <a:t>，电子迁移率峰值</a:t>
            </a:r>
            <a:r>
              <a:rPr lang="en-US" altLang="zh-CN" sz="1200" dirty="0"/>
              <a:t>∼150 cm</a:t>
            </a:r>
            <a:r>
              <a:rPr lang="en-US" altLang="zh-CN" sz="1200" baseline="30000" dirty="0"/>
              <a:t>2</a:t>
            </a:r>
            <a:r>
              <a:rPr lang="en-US" altLang="zh-CN" sz="1200" dirty="0"/>
              <a:t>V</a:t>
            </a:r>
            <a:r>
              <a:rPr lang="en-US" altLang="zh-CN" sz="1200" baseline="30000" dirty="0"/>
              <a:t>−1</a:t>
            </a:r>
            <a:r>
              <a:rPr lang="en-US" altLang="zh-CN" sz="1200" dirty="0"/>
              <a:t>s</a:t>
            </a:r>
            <a:r>
              <a:rPr lang="en-US" altLang="zh-CN" sz="1200" baseline="30000" dirty="0"/>
              <a:t>−1</a:t>
            </a:r>
            <a:r>
              <a:rPr lang="en-US" altLang="zh-CN" sz="1200" dirty="0"/>
              <a:t>.(</a:t>
            </a:r>
            <a:r>
              <a:rPr lang="zh-CN" altLang="en-US" sz="1200" dirty="0"/>
              <a:t>可实现</a:t>
            </a:r>
            <a:r>
              <a:rPr lang="en-US" altLang="zh-CN" sz="1200" dirty="0"/>
              <a:t>normally-off)</a:t>
            </a:r>
          </a:p>
          <a:p>
            <a:r>
              <a:rPr lang="en-US" altLang="zh-CN" sz="1200" dirty="0"/>
              <a:t>(4):</a:t>
            </a:r>
            <a:r>
              <a:rPr lang="zh-CN" altLang="en-US" sz="1200" dirty="0"/>
              <a:t>通过湿法刻蚀形成的侧壁质量很好</a:t>
            </a:r>
            <a:r>
              <a:rPr lang="en-US" altLang="zh-CN" sz="1200" dirty="0"/>
              <a:t>: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The subthreshold swing is 75 mV/dec and the hysteresis is very small</a:t>
            </a:r>
          </a:p>
          <a:p>
            <a:r>
              <a:rPr lang="zh-CN" altLang="en-US" sz="1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改进：</a:t>
            </a:r>
            <a:endParaRPr lang="en-US" altLang="zh-CN" sz="1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(1):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提高栅极介电层的沉积质量以降低漏电流，提高击穿电压。</a:t>
            </a:r>
            <a:endParaRPr lang="en-US" altLang="zh-CN" sz="1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(2):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减小</a:t>
            </a:r>
            <a:r>
              <a:rPr lang="zh-CN" altLang="en-US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沟道的掺杂浓度或者宽度，可以提高阈值电压。</a:t>
            </a:r>
            <a:endParaRPr lang="en-US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(3):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提高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n-</a:t>
            </a:r>
            <a:r>
              <a:rPr lang="en-US" altLang="zh-CN" sz="12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GaN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的掺杂浓度以优化欧姆接触。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退火温度达不到指定温度使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Ti/Al </a:t>
            </a:r>
            <a:r>
              <a:rPr lang="en-US" altLang="zh-CN" sz="12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GaN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欧姆接触形成低电阻界面，提升又会增加漏电流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(4):increasing the fin aspect ratio</a:t>
            </a:r>
            <a:r>
              <a:rPr lang="zh-CN" altLang="en-US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，降低栅板的比导通电阻。</a:t>
            </a:r>
            <a:endParaRPr lang="en-US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(5):</a:t>
            </a:r>
            <a:r>
              <a:rPr lang="zh-CN" altLang="en-US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电场集中分布在衬底处，导致击穿电压上不去。后续论文将该栅极与沟道之间的接触面变得更加平滑，极大改善了电场的分布。</a:t>
            </a:r>
          </a:p>
          <a:p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E4AA3A-E49E-D125-817A-B742294307CA}"/>
              </a:ext>
            </a:extLst>
          </p:cNvPr>
          <p:cNvSpPr txBox="1"/>
          <p:nvPr/>
        </p:nvSpPr>
        <p:spPr>
          <a:xfrm>
            <a:off x="3425698" y="914466"/>
            <a:ext cx="57085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设计原因</a:t>
            </a:r>
            <a:r>
              <a:rPr lang="en-US" altLang="zh-CN" sz="1400" dirty="0"/>
              <a:t>(</a:t>
            </a:r>
            <a:r>
              <a:rPr lang="zh-CN" altLang="en-US" sz="1400" dirty="0"/>
              <a:t>解决过去的主流垂直结构存在缺点</a:t>
            </a:r>
            <a:r>
              <a:rPr lang="en-US" altLang="zh-CN" sz="1400" dirty="0"/>
              <a:t>)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(1):</a:t>
            </a:r>
            <a:r>
              <a:rPr lang="en-US" altLang="zh-CN" sz="1400" b="1" dirty="0"/>
              <a:t>CAVET</a:t>
            </a:r>
          </a:p>
          <a:p>
            <a:r>
              <a:rPr lang="en-US" altLang="zh-CN" sz="1400" dirty="0"/>
              <a:t>---</a:t>
            </a:r>
            <a:r>
              <a:rPr lang="en-US" altLang="zh-CN" sz="1400" b="1" dirty="0"/>
              <a:t>relatively complex epitaxial </a:t>
            </a:r>
            <a:r>
              <a:rPr lang="en-US" altLang="zh-CN" sz="1400" b="1" dirty="0" err="1"/>
              <a:t>structure</a:t>
            </a:r>
            <a:r>
              <a:rPr lang="en-US" altLang="zh-CN" sz="1400" dirty="0" err="1"/>
              <a:t>:its</a:t>
            </a:r>
            <a:r>
              <a:rPr lang="en-US" altLang="zh-CN" sz="1400" dirty="0"/>
              <a:t> current blocking layer, critical for high blocking voltages, is very challenging to grow.</a:t>
            </a:r>
          </a:p>
          <a:p>
            <a:r>
              <a:rPr lang="en-US" altLang="zh-CN" sz="1400" dirty="0"/>
              <a:t>---hard to achieve </a:t>
            </a:r>
            <a:r>
              <a:rPr lang="en-US" altLang="zh-CN" sz="1400" dirty="0" err="1"/>
              <a:t>e-mode:because</a:t>
            </a:r>
            <a:r>
              <a:rPr lang="en-US" altLang="zh-CN" sz="1400" dirty="0"/>
              <a:t> of the polarization in </a:t>
            </a:r>
            <a:r>
              <a:rPr lang="en-US" altLang="zh-CN" sz="1400" dirty="0" err="1"/>
              <a:t>AlGaN</a:t>
            </a:r>
            <a:r>
              <a:rPr lang="en-US" altLang="zh-CN" sz="1400" dirty="0"/>
              <a:t>/</a:t>
            </a:r>
            <a:r>
              <a:rPr lang="en-US" altLang="zh-CN" sz="1400" dirty="0" err="1"/>
              <a:t>GaN</a:t>
            </a:r>
            <a:r>
              <a:rPr lang="en-US" altLang="zh-CN" sz="1400" dirty="0"/>
              <a:t> hetero-structures.</a:t>
            </a:r>
          </a:p>
          <a:p>
            <a:r>
              <a:rPr lang="en-US" altLang="zh-CN" sz="1400" dirty="0"/>
              <a:t>(2):</a:t>
            </a:r>
            <a:r>
              <a:rPr lang="en-US" altLang="zh-CN" sz="1400" b="1" dirty="0"/>
              <a:t>Trench MOSFET</a:t>
            </a:r>
          </a:p>
          <a:p>
            <a:r>
              <a:rPr lang="en-US" altLang="zh-CN" sz="1400" dirty="0"/>
              <a:t>---</a:t>
            </a:r>
            <a:r>
              <a:rPr lang="en-US" altLang="zh-CN" sz="1400" b="1" dirty="0"/>
              <a:t>high on </a:t>
            </a:r>
            <a:r>
              <a:rPr lang="en-US" altLang="zh-CN" sz="1400" b="1" dirty="0" err="1"/>
              <a:t>resistance</a:t>
            </a:r>
            <a:r>
              <a:rPr lang="en-US" altLang="zh-CN" sz="1400" dirty="0" err="1"/>
              <a:t>:the</a:t>
            </a:r>
            <a:r>
              <a:rPr lang="en-US" altLang="zh-CN" sz="1400" dirty="0"/>
              <a:t> mobility of the electrons in the inverted p-</a:t>
            </a:r>
            <a:r>
              <a:rPr lang="en-US" altLang="zh-CN" sz="1400" dirty="0" err="1"/>
              <a:t>GaN</a:t>
            </a:r>
            <a:r>
              <a:rPr lang="en-US" altLang="zh-CN" sz="1400" dirty="0"/>
              <a:t> channel is very low.</a:t>
            </a:r>
          </a:p>
          <a:p>
            <a:r>
              <a:rPr lang="en-US" altLang="zh-CN" sz="1400" dirty="0"/>
              <a:t>---</a:t>
            </a:r>
            <a:r>
              <a:rPr lang="en-US" altLang="zh-CN" sz="1400" b="1" dirty="0"/>
              <a:t>threshold voltage at higher drain bias shifts negatively</a:t>
            </a:r>
            <a:r>
              <a:rPr lang="en-US" altLang="zh-CN" sz="1400" dirty="0"/>
              <a:t>: difficult for the source electrodes to form good ohmic contacts with the buried p-</a:t>
            </a:r>
            <a:r>
              <a:rPr lang="en-US" altLang="zh-CN" sz="1400" dirty="0" err="1"/>
              <a:t>GaN</a:t>
            </a:r>
            <a:r>
              <a:rPr lang="en-US" altLang="zh-CN" sz="1400" dirty="0"/>
              <a:t> channel </a:t>
            </a:r>
            <a:r>
              <a:rPr lang="en-US" altLang="zh-CN" sz="1400" dirty="0" err="1"/>
              <a:t>layer.Regrowth</a:t>
            </a:r>
            <a:r>
              <a:rPr lang="en-US" altLang="zh-CN" sz="1400" dirty="0"/>
              <a:t> can solve </a:t>
            </a:r>
            <a:r>
              <a:rPr lang="en-US" altLang="zh-CN" sz="1400" dirty="0" err="1"/>
              <a:t>this,but</a:t>
            </a:r>
            <a:r>
              <a:rPr lang="en-US" altLang="zh-CN" sz="1400" dirty="0"/>
              <a:t> not easy and good.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E1C88C-D27B-5F6F-0F67-B04F7750C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64" y="3727846"/>
            <a:ext cx="2962275" cy="254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0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垂直功率器件的研究成果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7278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2.GaN</a:t>
            </a:r>
            <a:r>
              <a:rPr lang="zh-CN" altLang="en-US" dirty="0"/>
              <a:t>垂直器件生长工艺的改进：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(1):</a:t>
            </a:r>
            <a:r>
              <a:rPr lang="zh-CN" altLang="en-US" dirty="0"/>
              <a:t>改善外延生长过程中的某一个步骤，优化器件性能。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b="0" dirty="0"/>
              <a:t>---</a:t>
            </a:r>
            <a:r>
              <a:rPr lang="zh-CN" altLang="en-US" sz="1400" b="0" dirty="0"/>
              <a:t>上一张</a:t>
            </a:r>
            <a:r>
              <a:rPr lang="en-US" altLang="zh-CN" sz="1400" b="0" dirty="0"/>
              <a:t>ppt</a:t>
            </a:r>
            <a:r>
              <a:rPr lang="zh-CN" altLang="en-US" sz="1400" b="0" dirty="0"/>
              <a:t>里面的器件，对</a:t>
            </a:r>
            <a:r>
              <a:rPr lang="en-US" altLang="zh-CN" sz="1400" b="0" dirty="0"/>
              <a:t>fin</a:t>
            </a:r>
            <a:r>
              <a:rPr lang="zh-CN" altLang="en-US" sz="1400" b="0" dirty="0"/>
              <a:t>结构采用湿法刻蚀，得到了很高质量的侧壁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400" b="0" dirty="0"/>
              <a:t>：</a:t>
            </a:r>
            <a:r>
              <a:rPr lang="en-US" altLang="zh-CN" sz="1400" b="0" dirty="0"/>
              <a:t>The subthreshold swing is 75 mV/dec and the hysteresis is very small.</a:t>
            </a:r>
            <a:r>
              <a:rPr lang="zh-CN" altLang="en-US" sz="1400" b="0" dirty="0"/>
              <a:t>（如图</a:t>
            </a:r>
            <a:r>
              <a:rPr lang="en-US" altLang="zh-CN" sz="1400" b="0" dirty="0"/>
              <a:t>)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dirty="0"/>
              <a:t>(2):</a:t>
            </a:r>
            <a:r>
              <a:rPr lang="zh-CN" altLang="en-US" dirty="0"/>
              <a:t>在硅基衬底上生长</a:t>
            </a:r>
            <a:r>
              <a:rPr lang="en-US" altLang="zh-CN" dirty="0" err="1"/>
              <a:t>GaN</a:t>
            </a:r>
            <a:r>
              <a:rPr lang="zh-CN" altLang="en-US" dirty="0"/>
              <a:t>垂直器件，实现商用大规模生产：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1600" dirty="0"/>
              <a:t>使用</a:t>
            </a:r>
            <a:r>
              <a:rPr lang="en-US" altLang="zh-CN" sz="1600" dirty="0" err="1"/>
              <a:t>GaN</a:t>
            </a:r>
            <a:r>
              <a:rPr lang="zh-CN" altLang="en-US" sz="1600" dirty="0"/>
              <a:t>衬底：</a:t>
            </a:r>
            <a:r>
              <a:rPr lang="zh-CN" altLang="en-US" sz="1400" b="0" dirty="0"/>
              <a:t>与</a:t>
            </a:r>
            <a:r>
              <a:rPr lang="en-US" altLang="zh-CN" sz="1400" b="0" dirty="0" err="1"/>
              <a:t>GaN</a:t>
            </a:r>
            <a:r>
              <a:rPr lang="zh-CN" altLang="en-US" sz="1400" b="0" dirty="0"/>
              <a:t>原子之间晶格适配，易于长出厚的高质量的</a:t>
            </a:r>
            <a:r>
              <a:rPr lang="en-US" altLang="zh-CN" sz="1400" b="0" dirty="0" err="1"/>
              <a:t>GaN</a:t>
            </a:r>
            <a:r>
              <a:rPr lang="zh-CN" altLang="en-US" sz="1400" b="0" dirty="0"/>
              <a:t>层，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400" b="0" dirty="0"/>
              <a:t>使器件性能更接近理论值。但该衬底成本高，且尺寸大小有限，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400" b="0" dirty="0"/>
              <a:t>限制其大规模生产。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600" dirty="0"/>
              <a:t>使用</a:t>
            </a:r>
            <a:r>
              <a:rPr lang="en-US" altLang="zh-CN" sz="1600" dirty="0"/>
              <a:t>Si</a:t>
            </a:r>
            <a:r>
              <a:rPr lang="zh-CN" altLang="en-US" sz="1600" dirty="0"/>
              <a:t>基衬底：</a:t>
            </a:r>
            <a:r>
              <a:rPr lang="en-US" altLang="zh-CN" sz="1400" b="0" dirty="0" err="1"/>
              <a:t>GaN</a:t>
            </a:r>
            <a:r>
              <a:rPr lang="zh-CN" altLang="en-US" sz="1400" b="0" dirty="0"/>
              <a:t>在该衬底上生长难度高，良品率低。但是其成本低，尺寸大，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400" b="0" dirty="0"/>
              <a:t>技术成熟</a:t>
            </a:r>
            <a:r>
              <a:rPr lang="en-US" altLang="zh-CN" sz="1400" b="0" dirty="0"/>
              <a:t>(</a:t>
            </a:r>
            <a:r>
              <a:rPr lang="zh-CN" altLang="en-US" sz="1400" b="0" dirty="0"/>
              <a:t>去除衬底</a:t>
            </a:r>
            <a:r>
              <a:rPr lang="en-US" altLang="zh-CN" sz="1400" b="0" dirty="0"/>
              <a:t>)</a:t>
            </a:r>
            <a:r>
              <a:rPr lang="zh-CN" altLang="en-US" sz="1400" b="0" dirty="0"/>
              <a:t>，可以大规模生产。</a:t>
            </a:r>
            <a:endParaRPr lang="en-US" altLang="zh-CN" sz="1400" b="0" dirty="0"/>
          </a:p>
          <a:p>
            <a:pPr marL="0" indent="0">
              <a:buNone/>
            </a:pPr>
            <a:r>
              <a:rPr lang="en-US" altLang="zh-CN" sz="1400" b="0" dirty="0"/>
              <a:t>---</a:t>
            </a:r>
            <a:r>
              <a:rPr lang="zh-CN" altLang="en-US" sz="1400" b="0" dirty="0"/>
              <a:t>上一张</a:t>
            </a:r>
            <a:r>
              <a:rPr lang="en-US" altLang="zh-CN" sz="1400" b="0" dirty="0"/>
              <a:t>ppt</a:t>
            </a:r>
            <a:r>
              <a:rPr lang="zh-CN" altLang="en-US" sz="1400" b="0" dirty="0"/>
              <a:t>里面的器件，在后面的研究中实现了在</a:t>
            </a:r>
            <a:r>
              <a:rPr lang="en-US" altLang="zh-CN" sz="1400" b="0" dirty="0"/>
              <a:t>Si</a:t>
            </a:r>
            <a:r>
              <a:rPr lang="zh-CN" altLang="en-US" sz="1400" b="0" dirty="0"/>
              <a:t>基衬底上的大规模生长，</a:t>
            </a:r>
            <a:endParaRPr lang="en-US" altLang="zh-CN" sz="1400" b="0" dirty="0"/>
          </a:p>
          <a:p>
            <a:pPr marL="0" indent="0">
              <a:buNone/>
            </a:pPr>
            <a:r>
              <a:rPr lang="zh-CN" altLang="en-US" sz="1400" b="0" dirty="0"/>
              <a:t>且对其性能进行了测量和分析。</a:t>
            </a:r>
            <a:r>
              <a:rPr lang="en-US" altLang="zh-CN" sz="1400" b="0" dirty="0"/>
              <a:t>(</a:t>
            </a:r>
            <a:r>
              <a:rPr lang="zh-CN" altLang="en-US" sz="1400" b="0" dirty="0"/>
              <a:t>主要步骤和性能如图</a:t>
            </a:r>
            <a:r>
              <a:rPr lang="en-US" altLang="zh-CN" sz="1400" b="0" dirty="0"/>
              <a:t>)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D5D942-9A47-941A-61B0-56A8612365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5755" r="1892"/>
          <a:stretch/>
        </p:blipFill>
        <p:spPr>
          <a:xfrm>
            <a:off x="6045855" y="50665"/>
            <a:ext cx="2949081" cy="15250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C655B8-F925-583E-CE5B-1FA0BD48F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034" y="1575686"/>
            <a:ext cx="1371610" cy="29146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E68EC1-814C-2B7C-1930-467BE6269F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684684"/>
            <a:ext cx="3606851" cy="21733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08200FF-C33C-E9CA-5AEB-4329F4EFBA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9295" y="4288880"/>
            <a:ext cx="3581306" cy="24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8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垂直功率器件的研究成果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74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2.GaN</a:t>
            </a:r>
            <a:r>
              <a:rPr lang="zh-CN" altLang="en-US" dirty="0"/>
              <a:t>垂直器件生长工艺的改进：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47FB85F-3749-7B41-6018-73494215D9B3}"/>
              </a:ext>
            </a:extLst>
          </p:cNvPr>
          <p:cNvSpPr txBox="1"/>
          <p:nvPr/>
        </p:nvSpPr>
        <p:spPr>
          <a:xfrm>
            <a:off x="170074" y="954549"/>
            <a:ext cx="5606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首次实现</a:t>
            </a:r>
            <a:r>
              <a:rPr lang="en-US" altLang="zh-CN" sz="2000" b="1" dirty="0" err="1"/>
              <a:t>GaN</a:t>
            </a:r>
            <a:r>
              <a:rPr lang="zh-CN" altLang="en-US" sz="2000" b="1" dirty="0"/>
              <a:t>垂直</a:t>
            </a:r>
            <a:r>
              <a:rPr lang="en-US" altLang="zh-CN" sz="2000" b="1" dirty="0"/>
              <a:t>MOSFET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Si</a:t>
            </a:r>
            <a:r>
              <a:rPr lang="zh-CN" altLang="en-US" sz="2000" b="1" dirty="0"/>
              <a:t>基衬底上的生长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C76B62-8432-25FF-B9A1-DCF015E82DC0}"/>
              </a:ext>
            </a:extLst>
          </p:cNvPr>
          <p:cNvSpPr txBox="1"/>
          <p:nvPr/>
        </p:nvSpPr>
        <p:spPr>
          <a:xfrm>
            <a:off x="798066" y="1339752"/>
            <a:ext cx="164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准垂直结构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A1CA75-77BD-BABC-B4C7-5505327FD0D1}"/>
              </a:ext>
            </a:extLst>
          </p:cNvPr>
          <p:cNvSpPr txBox="1"/>
          <p:nvPr/>
        </p:nvSpPr>
        <p:spPr>
          <a:xfrm>
            <a:off x="3508589" y="13738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垂直结构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CB5E82D-D71A-B065-7928-8D2FF89E83C0}"/>
              </a:ext>
            </a:extLst>
          </p:cNvPr>
          <p:cNvSpPr/>
          <p:nvPr/>
        </p:nvSpPr>
        <p:spPr bwMode="auto">
          <a:xfrm>
            <a:off x="2697374" y="1493293"/>
            <a:ext cx="782284" cy="10600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2F1618-6D58-30AC-4280-DC6A7DEE9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1683256"/>
            <a:ext cx="2770505" cy="1733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9BFDC4D-5435-0A02-152B-2168DCD4D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" y="3481755"/>
            <a:ext cx="3268723" cy="262258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649699-1861-9053-C304-B7A7BF2150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9659" y="1758711"/>
            <a:ext cx="2522150" cy="26225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F1C4E4A-39A1-FFCC-FDE2-98E89AA49FA3}"/>
              </a:ext>
            </a:extLst>
          </p:cNvPr>
          <p:cNvSpPr txBox="1"/>
          <p:nvPr/>
        </p:nvSpPr>
        <p:spPr>
          <a:xfrm>
            <a:off x="3479658" y="4419574"/>
            <a:ext cx="2006718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---The devices were fabricated on a 6.6 </a:t>
            </a:r>
            <a:r>
              <a:rPr lang="en-US" altLang="zh-CN" sz="1050" dirty="0" err="1"/>
              <a:t>μm</a:t>
            </a:r>
            <a:r>
              <a:rPr lang="en-US" altLang="zh-CN" sz="1050" dirty="0"/>
              <a:t>-thick n-p-</a:t>
            </a:r>
            <a:r>
              <a:rPr lang="en-US" altLang="zh-CN" sz="1050" dirty="0" err="1"/>
              <a:t>i</a:t>
            </a:r>
            <a:r>
              <a:rPr lang="en-US" altLang="zh-CN" sz="1050" dirty="0"/>
              <a:t>-n </a:t>
            </a:r>
            <a:r>
              <a:rPr lang="en-US" altLang="zh-CN" sz="1050" dirty="0" err="1"/>
              <a:t>GaN</a:t>
            </a:r>
            <a:r>
              <a:rPr lang="en-US" altLang="zh-CN" sz="1050" dirty="0"/>
              <a:t> epitaxial structure grown on 6-inch Si substrate. </a:t>
            </a:r>
          </a:p>
          <a:p>
            <a:r>
              <a:rPr lang="en-US" altLang="zh-CN" sz="1050" dirty="0"/>
              <a:t>---The </a:t>
            </a:r>
            <a:r>
              <a:rPr lang="en-US" altLang="zh-CN" sz="1050" b="1" dirty="0"/>
              <a:t>fabrication process </a:t>
            </a:r>
            <a:r>
              <a:rPr lang="en-US" altLang="zh-CN" sz="1050" dirty="0"/>
              <a:t>of the gate trenches, including alignment, etching mask and surface treatment was optimized to increase the channel field effect mobility and device output current.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A5FFE5-CCEB-246B-873C-DED1A8158CFF}"/>
              </a:ext>
            </a:extLst>
          </p:cNvPr>
          <p:cNvSpPr txBox="1"/>
          <p:nvPr/>
        </p:nvSpPr>
        <p:spPr>
          <a:xfrm>
            <a:off x="5840728" y="191197"/>
            <a:ext cx="28600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更深层次的研究了晶向和刻蚀掩模对器件电学特性的影响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1600" dirty="0"/>
              <a:t>最后采用</a:t>
            </a:r>
            <a:r>
              <a:rPr lang="en-US" altLang="zh-CN" sz="1600" dirty="0"/>
              <a:t>m-plane metal mask</a:t>
            </a:r>
            <a:r>
              <a:rPr lang="zh-CN" altLang="en-US" sz="1600" dirty="0"/>
              <a:t>测量其电学特性。</a:t>
            </a:r>
            <a:endParaRPr lang="en-US" altLang="zh-CN" sz="1600" dirty="0"/>
          </a:p>
          <a:p>
            <a:endParaRPr lang="zh-CN" altLang="en-US" sz="20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56BE61B-D7B7-B40C-0212-98A5282EF7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0728" y="1447091"/>
            <a:ext cx="3390900" cy="23717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AA3998-50CE-3DB6-4FD3-73AB008CC8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0680" y="3857551"/>
            <a:ext cx="33337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6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垂直功率器件的未来发展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74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结构设计：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(1):</a:t>
            </a:r>
            <a:r>
              <a:rPr lang="zh-CN" altLang="en-US" dirty="0"/>
              <a:t>设计新的栅极结构和电子沟道，引入场板，使用不同的接触方式。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(2):</a:t>
            </a:r>
            <a:r>
              <a:rPr lang="zh-CN" altLang="en-US" dirty="0"/>
              <a:t>设计新的器件架构，以优化整个器件的性能。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外延生长：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(1):</a:t>
            </a:r>
            <a:r>
              <a:rPr lang="zh-CN" altLang="en-US" dirty="0"/>
              <a:t>提升材料的生长质量以优化器件性能</a:t>
            </a:r>
            <a:r>
              <a:rPr lang="en-US" altLang="zh-CN" dirty="0"/>
              <a:t>(</a:t>
            </a:r>
            <a:r>
              <a:rPr lang="zh-CN" altLang="en-US" dirty="0"/>
              <a:t>缓解电流崩塌，和器件的热管理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---</a:t>
            </a:r>
            <a:r>
              <a:rPr lang="zh-CN" altLang="en-US" dirty="0"/>
              <a:t>优化</a:t>
            </a:r>
            <a:r>
              <a:rPr lang="en-US" altLang="zh-CN" dirty="0"/>
              <a:t>MOVCD,HVPE</a:t>
            </a:r>
            <a:r>
              <a:rPr lang="zh-CN" altLang="en-US" dirty="0"/>
              <a:t>等技术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---</a:t>
            </a:r>
            <a:r>
              <a:rPr lang="zh-CN" altLang="en-US" dirty="0"/>
              <a:t>提升</a:t>
            </a:r>
            <a:r>
              <a:rPr lang="en-US" altLang="zh-CN" dirty="0"/>
              <a:t>n</a:t>
            </a:r>
            <a:r>
              <a:rPr lang="zh-CN" altLang="en-US" dirty="0"/>
              <a:t>型掺杂和</a:t>
            </a:r>
            <a:r>
              <a:rPr lang="en-US" altLang="zh-CN" dirty="0"/>
              <a:t>p</a:t>
            </a:r>
            <a:r>
              <a:rPr lang="zh-CN" altLang="en-US" dirty="0"/>
              <a:t>型掺杂的质量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(2):</a:t>
            </a:r>
            <a:r>
              <a:rPr lang="zh-CN" altLang="en-US" dirty="0"/>
              <a:t>实现在</a:t>
            </a:r>
            <a:r>
              <a:rPr lang="en-US" altLang="zh-CN" dirty="0"/>
              <a:t>Si</a:t>
            </a:r>
            <a:r>
              <a:rPr lang="zh-CN" altLang="en-US" dirty="0"/>
              <a:t>衬底上的生长以降低工艺成本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---</a:t>
            </a:r>
            <a:r>
              <a:rPr lang="zh-CN" altLang="en-US" dirty="0"/>
              <a:t>优化缓冲层，尽量减少</a:t>
            </a:r>
            <a:r>
              <a:rPr lang="en-US" altLang="zh-CN" dirty="0" err="1"/>
              <a:t>GaN</a:t>
            </a:r>
            <a:r>
              <a:rPr lang="zh-CN" altLang="en-US" dirty="0"/>
              <a:t>与</a:t>
            </a:r>
            <a:r>
              <a:rPr lang="en-US" altLang="zh-CN" dirty="0"/>
              <a:t>Si</a:t>
            </a:r>
            <a:r>
              <a:rPr lang="zh-CN" altLang="en-US" dirty="0"/>
              <a:t>之间的晶格失配。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---</a:t>
            </a:r>
            <a:r>
              <a:rPr lang="zh-CN" altLang="en-US" dirty="0"/>
              <a:t>将外延工艺扩展到更大的尺寸晶圆。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51695B89-D5ED-85E1-BD89-60AE0C513B63}"/>
              </a:ext>
            </a:extLst>
          </p:cNvPr>
          <p:cNvSpPr/>
          <p:nvPr/>
        </p:nvSpPr>
        <p:spPr bwMode="auto">
          <a:xfrm>
            <a:off x="33542" y="5009702"/>
            <a:ext cx="683995" cy="15239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384E13-D275-8401-B09A-6DF24468771B}"/>
              </a:ext>
            </a:extLst>
          </p:cNvPr>
          <p:cNvSpPr txBox="1"/>
          <p:nvPr/>
        </p:nvSpPr>
        <p:spPr>
          <a:xfrm>
            <a:off x="780009" y="4901234"/>
            <a:ext cx="868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目的均是实现功率器件在不同场景下的应用，直到达到</a:t>
            </a:r>
            <a:r>
              <a:rPr lang="en-US" altLang="zh-CN" sz="1800" dirty="0" err="1"/>
              <a:t>GaN</a:t>
            </a:r>
            <a:r>
              <a:rPr lang="zh-CN" altLang="en-US" sz="1800" dirty="0"/>
              <a:t>垂直器件的理论极限值</a:t>
            </a:r>
          </a:p>
        </p:txBody>
      </p:sp>
    </p:spTree>
    <p:extLst>
      <p:ext uri="{BB962C8B-B14F-4D97-AF65-F5344CB8AC3E}">
        <p14:creationId xmlns:p14="http://schemas.microsoft.com/office/powerpoint/2010/main" val="200890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垂直功率器件的论文思路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08A6A1-7866-4D0A-782E-5BA2CF48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4" y="6533515"/>
            <a:ext cx="1866215" cy="229160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6F6D4-598A-5D3C-2DE2-935D38EE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74"/>
            <a:ext cx="8839200" cy="54863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说明研究某种</a:t>
            </a:r>
            <a:r>
              <a:rPr lang="en-US" altLang="zh-CN" sz="1800" dirty="0" err="1"/>
              <a:t>GaN</a:t>
            </a:r>
            <a:r>
              <a:rPr lang="zh-CN" altLang="en-US" sz="1800" dirty="0"/>
              <a:t>垂直功率器件的原因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600" b="0" dirty="0"/>
              <a:t>(1):</a:t>
            </a:r>
            <a:r>
              <a:rPr lang="zh-CN" altLang="en-US" sz="1600" b="0" dirty="0"/>
              <a:t>硅基器件已达到理论值，水平结构又具有的缺点。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(2):</a:t>
            </a:r>
            <a:r>
              <a:rPr lang="zh-CN" altLang="en-US" sz="1600" b="0" dirty="0"/>
              <a:t>已有垂直结构器件存在的问题，以及实现的性能。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(3):</a:t>
            </a:r>
            <a:r>
              <a:rPr lang="zh-CN" altLang="en-US" sz="1600" b="0" dirty="0"/>
              <a:t>新设计的器件可以解决该问题，或者实现性能的突破，具有意义。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该器件的制作过程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600" b="0" dirty="0"/>
              <a:t>(1):</a:t>
            </a:r>
            <a:r>
              <a:rPr lang="zh-CN" altLang="en-US" sz="1600" b="0" dirty="0"/>
              <a:t>说明该器件结构的特点以及和其他器件的不同之处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(2):</a:t>
            </a:r>
            <a:r>
              <a:rPr lang="zh-CN" altLang="en-US" sz="1600" b="0" dirty="0"/>
              <a:t>可以采用仿真软件模拟，得到一个理论值，与后续的实验值进行比较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(3):</a:t>
            </a:r>
            <a:r>
              <a:rPr lang="zh-CN" altLang="en-US" sz="1600" b="0" dirty="0"/>
              <a:t>描述该器件的生产工艺，适当解释流程中某些步骤的作用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(4):</a:t>
            </a:r>
            <a:r>
              <a:rPr lang="zh-CN" altLang="en-US" sz="1600" b="0" dirty="0"/>
              <a:t>说明器件结构有哪些可以优化，或者流程中哪些步骤可以改善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800" dirty="0"/>
              <a:t>3.</a:t>
            </a:r>
            <a:r>
              <a:rPr lang="zh-CN" altLang="en-US" sz="1800" dirty="0"/>
              <a:t>测试该器件的性能，分析结果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600" b="0" dirty="0"/>
              <a:t>(1):</a:t>
            </a:r>
            <a:r>
              <a:rPr lang="zh-CN" altLang="en-US" sz="1600" b="0" dirty="0"/>
              <a:t>若有理论值与理论值进行比较，分析其是否具有良好的符合预期的电学特性。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(2):</a:t>
            </a:r>
            <a:r>
              <a:rPr lang="zh-CN" altLang="en-US" sz="1600" b="0" dirty="0"/>
              <a:t>与已有的功率器件的各项性能参数进行比较。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(3):</a:t>
            </a:r>
            <a:r>
              <a:rPr lang="zh-CN" altLang="en-US" sz="1600" b="0" dirty="0"/>
              <a:t>指出仍存在的不足之处，列出还可改善的地方。</a:t>
            </a:r>
            <a:endParaRPr lang="en-US" altLang="zh-CN" sz="1600" b="0" dirty="0"/>
          </a:p>
          <a:p>
            <a:pPr marL="0" indent="0">
              <a:buNone/>
            </a:pPr>
            <a:r>
              <a:rPr lang="en-US" altLang="zh-CN" sz="1800" dirty="0"/>
              <a:t>4.</a:t>
            </a:r>
            <a:r>
              <a:rPr lang="zh-CN" altLang="en-US" sz="1800" dirty="0"/>
              <a:t>总结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600" b="0" dirty="0"/>
              <a:t>重新列出该器件的性能与亮点，重申其意义，</a:t>
            </a:r>
            <a:endParaRPr lang="en-US" altLang="zh-CN" sz="1600" b="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0A39C9-6CB5-CF98-B4F0-84693AC5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32" y="6514274"/>
            <a:ext cx="1866215" cy="22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02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edb54e7-9501-42bb-94b9-3970fe5bbfb4"/>
  <p:tag name="COMMONDATA" val="eyJoZGlkIjoiOWY0MjcyYTk3ZTNmZDEyODJkNzk2M2Q2MDU5YWY4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2020</Words>
  <Application>Microsoft Office PowerPoint</Application>
  <PresentationFormat>全屏显示(4:3)</PresentationFormat>
  <Paragraphs>127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Times New Roman</vt:lpstr>
      <vt:lpstr>Wingdings</vt:lpstr>
      <vt:lpstr>mass-group</vt:lpstr>
      <vt:lpstr>PowerPoint 演示文稿</vt:lpstr>
      <vt:lpstr>PowerPoint 演示文稿</vt:lpstr>
      <vt:lpstr>PowerPoint 演示文稿</vt:lpstr>
      <vt:lpstr>（2）GaN垂直功率器件的研究成果</vt:lpstr>
      <vt:lpstr>（2）GaN垂直功率器件的研究成果</vt:lpstr>
      <vt:lpstr>（2）GaN垂直功率器件的研究成果</vt:lpstr>
      <vt:lpstr>（2）GaN垂直功率器件的研究成果</vt:lpstr>
      <vt:lpstr>（2）GaN垂直功率器件的研究成果</vt:lpstr>
      <vt:lpstr>（3）GaN垂直功率器件的未来发展</vt:lpstr>
      <vt:lpstr>（4）GaN垂直功率器件的论文思路</vt:lpstr>
    </vt:vector>
  </TitlesOfParts>
  <Company>SUSTC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Charles Ronaldo</cp:lastModifiedBy>
  <cp:revision>1447</cp:revision>
  <dcterms:created xsi:type="dcterms:W3CDTF">2003-06-08T17:32:00Z</dcterms:created>
  <dcterms:modified xsi:type="dcterms:W3CDTF">2025-04-06T16:38:15Z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56E49B8274144FAD9629C99955A59472</vt:lpwstr>
  </property>
</Properties>
</file>