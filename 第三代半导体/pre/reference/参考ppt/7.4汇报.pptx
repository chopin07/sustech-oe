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13"/>
  </p:notesMasterIdLst>
  <p:handoutMasterIdLst>
    <p:handoutMasterId r:id="rId14"/>
  </p:handoutMasterIdLst>
  <p:sldIdLst>
    <p:sldId id="366" r:id="rId3"/>
    <p:sldId id="389" r:id="rId4"/>
    <p:sldId id="390" r:id="rId5"/>
    <p:sldId id="388" r:id="rId6"/>
    <p:sldId id="392" r:id="rId7"/>
    <p:sldId id="394" r:id="rId8"/>
    <p:sldId id="395" r:id="rId9"/>
    <p:sldId id="399" r:id="rId10"/>
    <p:sldId id="400" r:id="rId11"/>
    <p:sldId id="401" r:id="rId12"/>
  </p:sldIdLst>
  <p:sldSz cx="9144000" cy="6858000" type="screen4x3"/>
  <p:notesSz cx="6807200" cy="9939338"/>
  <p:custDataLst>
    <p:tags r:id="rId15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0" userDrawn="1">
          <p15:clr>
            <a:srgbClr val="A4A3A4"/>
          </p15:clr>
        </p15:guide>
        <p15:guide id="2" pos="29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1D5"/>
    <a:srgbClr val="000066"/>
    <a:srgbClr val="8585FF"/>
    <a:srgbClr val="15433E"/>
    <a:srgbClr val="FF9999"/>
    <a:srgbClr val="258086"/>
    <a:srgbClr val="2F9487"/>
    <a:srgbClr val="298378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5"/>
    <p:restoredTop sz="89440"/>
  </p:normalViewPr>
  <p:slideViewPr>
    <p:cSldViewPr showGuides="1">
      <p:cViewPr varScale="1">
        <p:scale>
          <a:sx n="97" d="100"/>
          <a:sy n="97" d="100"/>
        </p:scale>
        <p:origin x="2190" y="114"/>
      </p:cViewPr>
      <p:guideLst>
        <p:guide orient="horz" pos="2240"/>
        <p:guide pos="29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t" anchorCtr="0" compatLnSpc="1"/>
          <a:lstStyle>
            <a:lvl1pPr algn="l" defTabSz="952500">
              <a:defRPr sz="1300">
                <a:ea typeface="+mn-ea"/>
              </a:defRPr>
            </a:lvl1pPr>
          </a:lstStyle>
          <a:p>
            <a:pPr marL="0" marR="0" lvl="0" indent="0" algn="l" defTabSz="952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450" y="0"/>
            <a:ext cx="2951163" cy="496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t" anchorCtr="0" compatLnSpc="1"/>
          <a:lstStyle>
            <a:lvl1pPr algn="r" defTabSz="952500">
              <a:defRPr sz="1300">
                <a:ea typeface="+mn-ea"/>
              </a:defRPr>
            </a:lvl1pPr>
          </a:lstStyle>
          <a:p>
            <a:pPr marL="0" marR="0" lvl="0" indent="0" algn="r" defTabSz="952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9275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b" anchorCtr="0" compatLnSpc="1"/>
          <a:lstStyle>
            <a:lvl1pPr algn="l" defTabSz="952500">
              <a:defRPr sz="1300">
                <a:ea typeface="+mn-ea"/>
              </a:defRPr>
            </a:lvl1pPr>
          </a:lstStyle>
          <a:p>
            <a:pPr marL="0" marR="0" lvl="0" indent="0" algn="l" defTabSz="952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450" y="9439275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b" anchorCtr="0" compatLnSpc="1"/>
          <a:lstStyle/>
          <a:p>
            <a:pPr lvl="0" algn="r" defTabSz="951230" eaLnBrk="1" fontAlgn="base" hangingPunct="1">
              <a:buNone/>
            </a:pPr>
            <a:fld id="{9A0DB2DC-4C9A-4742-B13C-FB6460FD3503}" type="slidenum">
              <a:rPr lang="zh-CN" altLang="en-US" sz="13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300" strike="noStrike" noProof="1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t" anchorCtr="0" compatLnSpc="1"/>
          <a:lstStyle>
            <a:lvl1pPr algn="l" defTabSz="956945" eaLnBrk="0" hangingPunct="0">
              <a:defRPr sz="1300">
                <a:ea typeface="+mn-ea"/>
              </a:defRPr>
            </a:lvl1pPr>
          </a:lstStyle>
          <a:p>
            <a:pPr marL="0" marR="0" lvl="0" indent="0" algn="l" defTabSz="9569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t" anchorCtr="0" compatLnSpc="1"/>
          <a:lstStyle>
            <a:lvl1pPr algn="r" defTabSz="956945" eaLnBrk="0" hangingPunct="0">
              <a:defRPr sz="1300">
                <a:ea typeface="+mn-ea"/>
              </a:defRPr>
            </a:lvl1pPr>
          </a:lstStyle>
          <a:p>
            <a:pPr marL="0" marR="0" lvl="0" indent="0" algn="r" defTabSz="9569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53DCBC-2FFE-446C-97C8-6D7BACF5DB19}" type="datetimeFigureOut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2025/10/6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244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0" y="746125"/>
            <a:ext cx="4967288" cy="37274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5125" cy="4471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b" anchorCtr="0" compatLnSpc="1"/>
          <a:lstStyle>
            <a:lvl1pPr algn="l" defTabSz="956945" eaLnBrk="0" hangingPunct="0">
              <a:defRPr sz="1300">
                <a:ea typeface="+mn-ea"/>
              </a:defRPr>
            </a:lvl1pPr>
          </a:lstStyle>
          <a:p>
            <a:pPr marL="0" marR="0" lvl="0" indent="0" algn="l" defTabSz="9569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245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b" anchorCtr="0" compatLnSpc="1"/>
          <a:lstStyle/>
          <a:p>
            <a:pPr lvl="0" algn="r" defTabSz="955675" fontAlgn="base">
              <a:buNone/>
            </a:pPr>
            <a:fld id="{9A0DB2DC-4C9A-4742-B13C-FB6460FD3503}" type="slidenum">
              <a:rPr lang="zh-CN" altLang="en-US" sz="13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3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/>
          </p:cNvPicPr>
          <p:nvPr userDrawn="1"/>
        </p:nvPicPr>
        <p:blipFill>
          <a:blip r:embed="rId2"/>
          <a:srcRect t="14993"/>
          <a:stretch>
            <a:fillRect/>
          </a:stretch>
        </p:blipFill>
        <p:spPr>
          <a:xfrm>
            <a:off x="0" y="0"/>
            <a:ext cx="9144000" cy="403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5" name="Picture 1"/>
          <p:cNvPicPr>
            <a:picLocks noChangeAspect="1"/>
          </p:cNvPicPr>
          <p:nvPr userDrawn="1"/>
        </p:nvPicPr>
        <p:blipFill>
          <a:blip r:embed="rId3"/>
          <a:srcRect b="25183"/>
          <a:stretch>
            <a:fillRect/>
          </a:stretch>
        </p:blipFill>
        <p:spPr>
          <a:xfrm>
            <a:off x="0" y="5373688"/>
            <a:ext cx="9144000" cy="1484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1470025"/>
          </a:xfrm>
        </p:spPr>
        <p:txBody>
          <a:bodyPr/>
          <a:lstStyle>
            <a:lvl1pPr>
              <a:defRPr sz="440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7977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 txBox="1">
            <a:spLocks noChangeArrowheads="1"/>
          </p:cNvSpPr>
          <p:nvPr/>
        </p:nvSpPr>
        <p:spPr bwMode="auto">
          <a:xfrm>
            <a:off x="3517900" y="6457950"/>
            <a:ext cx="4711700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eaLnBrk="0" hangingPunct="0">
              <a:defRPr sz="1400">
                <a:solidFill>
                  <a:schemeClr val="accent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2F94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 </a:t>
            </a:r>
            <a:r>
              <a:rPr lang="zh-CN" altLang="en-US" sz="1500" strike="noStrike" noProof="0" dirty="0">
                <a:ln>
                  <a:noFill/>
                </a:ln>
                <a:solidFill>
                  <a:srgbClr val="2F94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模拟电路实验讲义</a:t>
            </a: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srgbClr val="2F94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Rectangle 18"/>
          <p:cNvSpPr txBox="1"/>
          <p:nvPr/>
        </p:nvSpPr>
        <p:spPr>
          <a:xfrm>
            <a:off x="8120063" y="6516688"/>
            <a:ext cx="8382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0" algn="r" eaLnBrk="0" hangingPunct="0"/>
            <a:fld id="{9A0DB2DC-4C9A-4742-B13C-FB6460FD3503}" type="slidenum">
              <a:rPr lang="zh-CN" altLang="en-US" sz="1200" dirty="0">
                <a:solidFill>
                  <a:srgbClr val="2F948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‹#›</a:t>
            </a:fld>
            <a:endParaRPr lang="zh-CN" altLang="en-US" sz="1200" dirty="0">
              <a:solidFill>
                <a:srgbClr val="2F94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" name="Rectangle 15"/>
          <p:cNvSpPr>
            <a:spLocks noChangeArrowheads="1"/>
          </p:cNvSpPr>
          <p:nvPr/>
        </p:nvSpPr>
        <p:spPr bwMode="auto">
          <a:xfrm flipV="1">
            <a:off x="3171825" y="6372225"/>
            <a:ext cx="5943600" cy="46038"/>
          </a:xfrm>
          <a:prstGeom prst="rect">
            <a:avLst/>
          </a:prstGeom>
          <a:gradFill rotWithShape="0">
            <a:gsLst>
              <a:gs pos="0">
                <a:srgbClr val="2F9487"/>
              </a:gs>
              <a:gs pos="100000">
                <a:srgbClr val="15433E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Picture 4" descr="C:\Users\SUSTC_RUI\Desktop\课题组人员面试流程及评议表格\SUSTech LOGO\1.png"/>
          <p:cNvPicPr>
            <a:picLocks noChangeAspect="1"/>
          </p:cNvPicPr>
          <p:nvPr userDrawn="1"/>
        </p:nvPicPr>
        <p:blipFill>
          <a:blip r:embed="rId2"/>
          <a:srcRect l="24544" t="40517" r="24025" b="40440"/>
          <a:stretch>
            <a:fillRect/>
          </a:stretch>
        </p:blipFill>
        <p:spPr>
          <a:xfrm>
            <a:off x="128588" y="6107113"/>
            <a:ext cx="2667000" cy="696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609600"/>
          </a:xfrm>
        </p:spPr>
        <p:txBody>
          <a:bodyPr/>
          <a:lstStyle>
            <a:lvl1pPr>
              <a:defRPr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181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fontAlgn="base"/>
            <a:fld id="{82F288E0-7875-42C4-84C8-98DBBD3BF4D2}" type="datetimeFigureOut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2025/10/6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fontAlgn="base"/>
            <a:fld id="{7D9BB5D0-35E4-459D-AEF3-FE4D7C45CC19}" type="slidenum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0754-422B-470D-B326-F586FE3D9555}" type="datetimeFigureOut">
              <a:rPr lang="zh-CN" altLang="en-US" smtClean="0"/>
              <a:t>2025/10/6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83F-A8B1-43FE-A298-81A0581EC3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0754-422B-470D-B326-F586FE3D9555}" type="datetimeFigureOut">
              <a:rPr lang="zh-CN" altLang="en-US" smtClean="0"/>
              <a:t>2025/10/6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83F-A8B1-43FE-A298-81A0581EC3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0754-422B-470D-B326-F586FE3D9555}" type="datetimeFigureOut">
              <a:rPr lang="zh-CN" altLang="en-US" smtClean="0"/>
              <a:t>2025/10/6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83F-A8B1-43FE-A298-81A0581EC3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0754-422B-470D-B326-F586FE3D9555}" type="datetimeFigureOut">
              <a:rPr lang="zh-CN" altLang="en-US" smtClean="0"/>
              <a:t>2025/10/6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83F-A8B1-43FE-A298-81A0581EC3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0754-422B-470D-B326-F586FE3D9555}" type="datetimeFigureOut">
              <a:rPr lang="zh-CN" altLang="en-US" smtClean="0"/>
              <a:t>2025/10/6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83F-A8B1-43FE-A298-81A0581EC3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0754-422B-470D-B326-F586FE3D9555}" type="datetimeFigureOut">
              <a:rPr lang="zh-CN" altLang="en-US" smtClean="0"/>
              <a:t>2025/10/6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83F-A8B1-43FE-A298-81A0581EC3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0754-422B-470D-B326-F586FE3D9555}" type="datetimeFigureOut">
              <a:rPr lang="zh-CN" altLang="en-US" smtClean="0"/>
              <a:t>2025/10/6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83F-A8B1-43FE-A298-81A0581EC3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0754-422B-470D-B326-F586FE3D9555}" type="datetimeFigureOut">
              <a:rPr lang="zh-CN" altLang="en-US" smtClean="0"/>
              <a:t>2025/10/6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83F-A8B1-43FE-A298-81A0581EC3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0754-422B-470D-B326-F586FE3D9555}" type="datetimeFigureOut">
              <a:rPr lang="zh-CN" altLang="en-US" smtClean="0"/>
              <a:t>2025/10/6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83F-A8B1-43FE-A298-81A0581EC3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0754-422B-470D-B326-F586FE3D9555}" type="datetimeFigureOut">
              <a:rPr lang="zh-CN" altLang="en-US" smtClean="0"/>
              <a:t>2025/10/6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83F-A8B1-43FE-A298-81A0581EC3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0754-422B-470D-B326-F586FE3D9555}" type="datetimeFigureOut">
              <a:rPr lang="zh-CN" altLang="en-US" smtClean="0"/>
              <a:t>2025/10/6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83F-A8B1-43FE-A298-81A0581EC3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85788" y="400050"/>
            <a:ext cx="77724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en-US" altLang="zh-CN" dirty="0"/>
              <a:t>Click to edit Master text styles</a:t>
            </a:r>
          </a:p>
          <a:p>
            <a:pPr lvl="1" indent="-285750"/>
            <a:r>
              <a:rPr lang="en-US" altLang="zh-CN" dirty="0"/>
              <a:t>Second level</a:t>
            </a:r>
          </a:p>
          <a:p>
            <a:pPr lvl="2" indent="-228600"/>
            <a:r>
              <a:rPr lang="en-US" altLang="zh-CN" dirty="0"/>
              <a:t>Third level</a:t>
            </a:r>
          </a:p>
          <a:p>
            <a:pPr lvl="3" indent="-228600"/>
            <a:r>
              <a:rPr lang="en-US" altLang="zh-CN" dirty="0"/>
              <a:t>Fourth level</a:t>
            </a:r>
          </a:p>
          <a:p>
            <a:pPr lvl="4" indent="-228600"/>
            <a:r>
              <a:rPr lang="en-US" altLang="zh-CN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sz="20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30754-422B-470D-B326-F586FE3D9555}" type="datetimeFigureOut">
              <a:rPr lang="zh-CN" altLang="en-US" smtClean="0"/>
              <a:t>2025/10/6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7F83F-A8B1-43FE-A298-81A0581EC3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矩形 58"/>
          <p:cNvSpPr/>
          <p:nvPr/>
        </p:nvSpPr>
        <p:spPr>
          <a:xfrm>
            <a:off x="0" y="5949950"/>
            <a:ext cx="9144000" cy="14287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5400">
            <a:noFill/>
          </a:ln>
        </p:spPr>
        <p:txBody>
          <a:bodyPr anchor="ctr"/>
          <a:lstStyle/>
          <a:p>
            <a:pPr algn="ctr"/>
            <a:endParaRPr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0" name="直接连接符 5"/>
          <p:cNvSpPr/>
          <p:nvPr/>
        </p:nvSpPr>
        <p:spPr>
          <a:xfrm>
            <a:off x="755650" y="1628775"/>
            <a:ext cx="7705725" cy="0"/>
          </a:xfrm>
          <a:prstGeom prst="line">
            <a:avLst/>
          </a:prstGeom>
          <a:ln w="9525" cap="flat" cmpd="sng">
            <a:solidFill>
              <a:srgbClr val="A5A5A5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4101" name="直接连接符 7"/>
          <p:cNvSpPr/>
          <p:nvPr/>
        </p:nvSpPr>
        <p:spPr>
          <a:xfrm flipV="1">
            <a:off x="1219288" y="1201372"/>
            <a:ext cx="0" cy="288925"/>
          </a:xfrm>
          <a:prstGeom prst="line">
            <a:avLst/>
          </a:prstGeom>
          <a:ln w="19050" cap="flat" cmpd="sng">
            <a:solidFill>
              <a:srgbClr val="595959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4103" name="TextBox 11"/>
          <p:cNvSpPr/>
          <p:nvPr/>
        </p:nvSpPr>
        <p:spPr>
          <a:xfrm>
            <a:off x="1295485" y="1115646"/>
            <a:ext cx="548625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Si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结构器件的工作原理与</a:t>
            </a: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GaN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的特性</a:t>
            </a:r>
          </a:p>
        </p:txBody>
      </p:sp>
      <p:sp>
        <p:nvSpPr>
          <p:cNvPr id="4107" name="TextBox 15"/>
          <p:cNvSpPr/>
          <p:nvPr/>
        </p:nvSpPr>
        <p:spPr>
          <a:xfrm>
            <a:off x="381110" y="1674065"/>
            <a:ext cx="7772196" cy="390504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Si Power Diode</a:t>
            </a: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Si MOSFET(lateral and vertical)</a:t>
            </a: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Si </a:t>
            </a:r>
            <a:r>
              <a:rPr lang="en-US" altLang="zh-CN" b="1" dirty="0" err="1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Superjunction</a:t>
            </a:r>
            <a:endParaRPr lang="en-US" altLang="zh-CN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4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Si IGBT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5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altLang="zh-CN" b="1" dirty="0" err="1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GaN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的晶体结构</a:t>
            </a:r>
            <a:endParaRPr lang="en-US" altLang="zh-CN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(6)  </a:t>
            </a:r>
            <a:r>
              <a:rPr lang="en-US" altLang="zh-CN" b="1" dirty="0" err="1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GaN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2DEG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的形成</a:t>
            </a:r>
            <a:endParaRPr lang="en-US" altLang="zh-CN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(7)  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论文收集</a:t>
            </a:r>
            <a:endParaRPr lang="en-US" altLang="zh-CN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3"/>
          <p:cNvSpPr txBox="1"/>
          <p:nvPr/>
        </p:nvSpPr>
        <p:spPr>
          <a:xfrm>
            <a:off x="-109785" y="740705"/>
            <a:ext cx="4710836" cy="405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68580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 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功率二极管的演变（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二极管）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052" y="5757386"/>
            <a:ext cx="1399661" cy="17187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53" y="5755174"/>
            <a:ext cx="1399661" cy="1718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1951" y="1364396"/>
            <a:ext cx="92685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PN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结结构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47" y="1133516"/>
            <a:ext cx="2755042" cy="7960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859272" y="1202859"/>
            <a:ext cx="4282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多子的浓度差会引起扩散运动</a:t>
            </a:r>
            <a:endParaRPr lang="en-US" altLang="zh-CN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空间电荷区的内建电场会导致漂移运动（反向漏电流）</a:t>
            </a:r>
            <a:endParaRPr lang="en-US" altLang="zh-CN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</a:t>
            </a:r>
            <a:r>
              <a:rPr lang="en-US" altLang="zh-CN" sz="1200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pn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结正向偏置时，扩散运动为主，反偏时以漂移运动为主</a:t>
            </a:r>
            <a:endParaRPr lang="en-US" altLang="zh-CN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正向导通的二极管突加反向电压时，二极管不会立刻关断，而是会经过反向电流的恢复过程。</a:t>
            </a:r>
            <a:endParaRPr lang="en-US" altLang="zh-CN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缺点：可承受的反向电压小，不适合作功率器件使用。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384" y="3327700"/>
            <a:ext cx="2636674" cy="52117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86647" y="3473863"/>
            <a:ext cx="356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P+</a:t>
            </a:r>
            <a:endParaRPr lang="zh-CN" altLang="en-US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98324" y="3476776"/>
            <a:ext cx="356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N-</a:t>
            </a:r>
            <a:endParaRPr lang="zh-CN" altLang="en-US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23691" y="3473863"/>
            <a:ext cx="356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N+</a:t>
            </a:r>
            <a:endParaRPr lang="zh-CN" altLang="en-US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5810" y="3416912"/>
            <a:ext cx="97013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PIN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二极管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859272" y="2520416"/>
            <a:ext cx="42828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在重参杂的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N,P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区之间加入一层较厚的低掺杂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N-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型高阻区作为耐压层。（可当作本征区）</a:t>
            </a:r>
            <a:endParaRPr lang="en-US" altLang="zh-CN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由于</a:t>
            </a:r>
            <a:r>
              <a:rPr lang="zh-CN" altLang="en-US" sz="1200" b="1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电导调制机制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，使其在正向导通大电流时能够获得较小的导通电阻和压降，在反向关断时，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N-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区宽，且电阻大，可以承受更高电压。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载流子寿命越长，电导调制效应越强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)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缺点：导通时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N-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区载流子浓度较高，不易从较厚的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n-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区抽取恢复，导致反向恢复时间长。</a:t>
            </a:r>
            <a:endParaRPr lang="en-US" altLang="zh-CN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-17837" y="1800971"/>
            <a:ext cx="14173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0.7V</a:t>
            </a:r>
            <a:r>
              <a:rPr lang="zh-CN" altLang="en-US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左右，</a:t>
            </a:r>
            <a:r>
              <a:rPr lang="en-US" altLang="zh-CN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0.5Ω</a:t>
            </a:r>
            <a:r>
              <a:rPr lang="zh-CN" altLang="en-US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到</a:t>
            </a:r>
            <a:r>
              <a:rPr lang="en-US" altLang="zh-CN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1Ω</a:t>
            </a:r>
            <a:endParaRPr lang="zh-CN" altLang="en-US" sz="105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6962" y="3785123"/>
            <a:ext cx="31128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大于</a:t>
            </a:r>
            <a:r>
              <a:rPr lang="en-US" altLang="zh-CN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1.2V</a:t>
            </a:r>
            <a:r>
              <a:rPr lang="zh-CN" altLang="en-US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，小电流</a:t>
            </a:r>
            <a:r>
              <a:rPr lang="en-US" altLang="zh-CN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10Ω</a:t>
            </a:r>
            <a:r>
              <a:rPr lang="zh-CN" altLang="en-US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，大电流</a:t>
            </a:r>
            <a:r>
              <a:rPr lang="en-US" altLang="zh-CN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0.1</a:t>
            </a:r>
            <a:r>
              <a:rPr lang="zh-CN" altLang="en-US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欧姆，甚至更低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49" y="2230801"/>
            <a:ext cx="1320334" cy="206302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81950" y="4348983"/>
            <a:ext cx="12234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快恢复二极管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139" y="4166561"/>
            <a:ext cx="2679734" cy="171503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3044273" y="4348984"/>
            <a:ext cx="3282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82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P+</a:t>
            </a:r>
            <a:endParaRPr lang="zh-CN" altLang="en-US" sz="825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477605" y="4352629"/>
            <a:ext cx="3282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82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P+</a:t>
            </a:r>
            <a:endParaRPr lang="zh-CN" altLang="en-US" sz="825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38930" y="4187548"/>
            <a:ext cx="517962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弱阳极结构：通过降低</a:t>
            </a:r>
            <a:r>
              <a:rPr lang="en-US" altLang="zh-CN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区掺杂浓度来降低阳极注入效率。</a:t>
            </a:r>
            <a:endParaRPr lang="en-US" altLang="zh-CN" sz="135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---speed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结构：小电流时由</a:t>
            </a:r>
            <a:r>
              <a:rPr lang="en-US" altLang="zh-CN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区注入空穴，大电流时由</a:t>
            </a:r>
            <a:r>
              <a:rPr lang="en-US" altLang="zh-CN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P+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区注入。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904" y="1908444"/>
            <a:ext cx="1889028" cy="13619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3"/>
          <p:cNvSpPr txBox="1"/>
          <p:nvPr/>
        </p:nvSpPr>
        <p:spPr>
          <a:xfrm>
            <a:off x="-109785" y="740705"/>
            <a:ext cx="5410115" cy="405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68580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 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功率二极管的演变（肖特基二极管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SBD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56272" y="1248355"/>
            <a:ext cx="4272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普通功率肖特基二极管</a:t>
            </a:r>
            <a:r>
              <a:rPr lang="en-US" altLang="zh-CN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zh-CN" altLang="en-US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将</a:t>
            </a:r>
            <a:r>
              <a:rPr lang="en-US" altLang="zh-CN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pin</a:t>
            </a:r>
            <a:r>
              <a:rPr lang="zh-CN" altLang="en-US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二极管的</a:t>
            </a:r>
            <a:r>
              <a:rPr lang="en-US" altLang="zh-CN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p+</a:t>
            </a:r>
            <a:r>
              <a:rPr lang="zh-CN" altLang="en-US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区换为金属作为阳极形成）</a:t>
            </a:r>
            <a:endParaRPr lang="zh-CN" altLang="en-US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2270"/>
            <a:ext cx="1940583" cy="140469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-56272" y="2962855"/>
            <a:ext cx="4490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结势垒控制的肖特基二极管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US" altLang="zh-CN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JBS</a:t>
            </a:r>
            <a:r>
              <a:rPr lang="zh-CN" altLang="en-US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二极管</a:t>
            </a:r>
            <a:r>
              <a:rPr lang="en-US" altLang="zh-CN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junction barrier Schottky diode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)</a:t>
            </a:r>
            <a:endParaRPr lang="zh-CN" altLang="en-US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31" y="3338055"/>
            <a:ext cx="1859021" cy="135094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975053" y="1784432"/>
            <a:ext cx="70070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肖特基结的势垒高度比</a:t>
            </a:r>
            <a:r>
              <a:rPr lang="en-US" altLang="zh-CN" sz="1000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pn</a:t>
            </a:r>
            <a:r>
              <a:rPr lang="zh-CN" altLang="en-US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结更低，正向开启电压只有</a:t>
            </a:r>
            <a:r>
              <a:rPr lang="en-US" altLang="zh-CN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0.3v</a:t>
            </a:r>
            <a:r>
              <a:rPr lang="zh-CN" altLang="en-US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左右。反向击穿电压低，漏电流大。</a:t>
            </a:r>
            <a:endParaRPr lang="en-US" altLang="zh-CN" sz="10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单极性器件，不存在电导调制效应，在导通电流较大时，由于温度升高、载流子速度饱和，电阻变大，正向压降会变大。</a:t>
            </a:r>
            <a:endParaRPr lang="en-US" altLang="zh-CN" sz="10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75053" y="3505198"/>
            <a:ext cx="7128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正向导通时，肖特基结势垒低，导通压降小。</a:t>
            </a:r>
            <a:r>
              <a:rPr lang="en-US" altLang="zh-CN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(P</a:t>
            </a:r>
            <a:r>
              <a:rPr lang="zh-CN" altLang="en-US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区为重掺杂）</a:t>
            </a:r>
            <a:endParaRPr lang="en-US" altLang="zh-CN" sz="10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反向阻断时，</a:t>
            </a:r>
            <a:r>
              <a:rPr lang="en-US" altLang="zh-CN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</a:t>
            </a:r>
            <a:r>
              <a:rPr lang="zh-CN" altLang="en-US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与</a:t>
            </a:r>
            <a:r>
              <a:rPr lang="en-US" altLang="zh-CN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N-</a:t>
            </a:r>
            <a:r>
              <a:rPr lang="zh-CN" altLang="en-US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之间的空间电荷区展宽，将肖特基结屏蔽，此时机制变为</a:t>
            </a:r>
            <a:r>
              <a:rPr lang="en-US" altLang="zh-CN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pin</a:t>
            </a:r>
            <a:r>
              <a:rPr lang="zh-CN" altLang="en-US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管，即其反向电压击穿电压更高，漏电流小</a:t>
            </a:r>
            <a:endParaRPr lang="en-US" altLang="zh-CN" sz="10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8009" y="4315012"/>
            <a:ext cx="999171" cy="144667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140441" y="4594654"/>
            <a:ext cx="312906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82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P+</a:t>
            </a:r>
            <a:endParaRPr lang="zh-CN" altLang="en-US" sz="825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22811" y="4609848"/>
            <a:ext cx="312906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82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P+</a:t>
            </a:r>
            <a:endParaRPr lang="zh-CN" altLang="en-US" sz="825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584" y="4334227"/>
            <a:ext cx="983437" cy="144667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722" y="4307420"/>
            <a:ext cx="1033445" cy="15002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696118" y="4584984"/>
            <a:ext cx="312906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82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P+</a:t>
            </a:r>
            <a:endParaRPr lang="zh-CN" altLang="en-US" sz="825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111170" y="4584983"/>
            <a:ext cx="312906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82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P+</a:t>
            </a:r>
            <a:endParaRPr lang="zh-CN" altLang="en-US" sz="825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75053" y="2178715"/>
            <a:ext cx="3408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反向恢复时间短，但反向击穿电压低，漏电流大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033245" y="3027988"/>
            <a:ext cx="3459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将普通二极管和</a:t>
            </a:r>
            <a:r>
              <a:rPr lang="en-US" altLang="zh-CN" sz="1200" b="1" dirty="0"/>
              <a:t>pin</a:t>
            </a:r>
            <a:r>
              <a:rPr lang="zh-CN" altLang="en-US" sz="1200" b="1" dirty="0"/>
              <a:t>二极管并联可以兼具两者优点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708325" y="5761689"/>
            <a:ext cx="16289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更侧重提升其</a:t>
            </a:r>
            <a:r>
              <a:rPr lang="en-US" altLang="zh-CN" sz="1200" b="1" dirty="0"/>
              <a:t>pin</a:t>
            </a:r>
            <a:r>
              <a:rPr lang="zh-CN" altLang="en-US" sz="1200" b="1" dirty="0"/>
              <a:t>结构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3"/>
          <p:cNvSpPr txBox="1"/>
          <p:nvPr/>
        </p:nvSpPr>
        <p:spPr>
          <a:xfrm>
            <a:off x="0" y="0"/>
            <a:ext cx="6122496" cy="405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68580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 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功率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MOSFET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metal-oxide-semiconductor field-effect transistor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7544" y="508796"/>
            <a:ext cx="24579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基本结构：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n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沟道横向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MOSFET</a:t>
            </a:r>
            <a:endParaRPr lang="zh-CN" altLang="en-US" sz="11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44" y="873257"/>
            <a:ext cx="2222273" cy="1673974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792985" y="85879"/>
            <a:ext cx="23487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n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沟道横向双扩散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MOSFET (LDMOS)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(laterally double diffused-MOSFET)</a:t>
            </a:r>
            <a:endParaRPr lang="zh-CN" altLang="en-US" sz="11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973" y="516766"/>
            <a:ext cx="2752744" cy="17131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-7544" y="2650082"/>
            <a:ext cx="404615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用作功率器件时存在的</a:t>
            </a:r>
            <a:r>
              <a:rPr lang="zh-CN" altLang="en-US" sz="1100" b="1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矛盾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：</a:t>
            </a:r>
            <a:endParaRPr lang="en-US" altLang="zh-CN" sz="11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栅极下方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区长度不够时，</a:t>
            </a:r>
            <a:r>
              <a:rPr lang="en-US" altLang="zh-CN" sz="1100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mosfet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无法承受较高的反向电压。</a:t>
            </a:r>
            <a:endParaRPr lang="en-US" altLang="zh-CN" sz="11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但是增大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区长度，又会增大导通时的导通电阻。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83650" y="938144"/>
            <a:ext cx="24579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导通依赖于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区形成的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n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沟道</a:t>
            </a:r>
            <a:endParaRPr lang="en-US" altLang="zh-CN" sz="11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关断主要依赖于</a:t>
            </a:r>
            <a:r>
              <a:rPr lang="en-US" altLang="zh-CN" sz="1100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pn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结反向偏置的展宽</a:t>
            </a: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2895644" y="1898471"/>
            <a:ext cx="1676356" cy="235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097842" y="2140061"/>
            <a:ext cx="404615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改进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：</a:t>
            </a:r>
            <a:endParaRPr lang="en-US" altLang="zh-CN" sz="11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在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区和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n+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区之间增加一个低掺杂的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n-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区作为漂移区</a:t>
            </a:r>
            <a:endParaRPr lang="en-US" altLang="zh-CN" sz="11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加反向电压时，耗尽区主要在低掺杂的漂移区，因此此时的阻断电压主要由漂移区的长度和掺杂浓度决定</a:t>
            </a:r>
            <a:endParaRPr lang="en-US" altLang="zh-CN" sz="11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导通时，电流流经漂移区，此时漂移区的电阻比之前的沟道电阻要小。</a:t>
            </a:r>
            <a:endParaRPr lang="en-US" altLang="zh-CN" sz="11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因此增加漂移区的长度，以及其占比，可以在降低导通电阻的同时，提高击穿电压。</a:t>
            </a:r>
            <a:endParaRPr lang="en-US" altLang="zh-CN" sz="11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缺点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：</a:t>
            </a:r>
            <a:endParaRPr lang="en-US" altLang="zh-CN" sz="11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仍然是横向流动，占用芯片面积大。</a:t>
            </a:r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4192031" y="3156743"/>
            <a:ext cx="807085" cy="187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-19155" y="4683176"/>
            <a:ext cx="2297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垂直双扩散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MOSFET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（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VDMOS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）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19" y="4965971"/>
            <a:ext cx="2093545" cy="190777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909382" y="4437134"/>
            <a:ext cx="24953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将漏极移到芯片背面，与源极栅极相对</a:t>
            </a:r>
            <a:endParaRPr lang="zh-CN" altLang="en-US" sz="11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0364" y="4720405"/>
            <a:ext cx="1825645" cy="2182691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56819" y="3751763"/>
            <a:ext cx="40461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Rch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: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沟道电阻  </a:t>
            </a:r>
            <a:endParaRPr lang="en-US" altLang="zh-CN" sz="11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Rjeft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: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相邻元胞的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p-body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区域之间，狭窄</a:t>
            </a:r>
            <a:r>
              <a:rPr lang="en-US" altLang="zh-CN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N</a:t>
            </a:r>
            <a:r>
              <a:rPr lang="zh-CN" altLang="en-US" sz="11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型区的电阻。</a:t>
            </a:r>
            <a:endParaRPr lang="en-US" altLang="zh-CN" sz="11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en-US" altLang="zh-CN" sz="11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但</a:t>
            </a:r>
            <a:r>
              <a:rPr lang="en-US" altLang="zh-CN" sz="1100" b="1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Rch</a:t>
            </a:r>
            <a:r>
              <a:rPr lang="zh-CN" altLang="en-US" sz="1100" b="1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与</a:t>
            </a:r>
            <a:r>
              <a:rPr lang="en-US" altLang="zh-CN" sz="1100" b="1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Rjeft</a:t>
            </a:r>
            <a:r>
              <a:rPr lang="zh-CN" altLang="en-US" sz="1100" b="1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无法同时减小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371684" y="6179366"/>
            <a:ext cx="2696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+</a:t>
            </a:r>
            <a:endParaRPr lang="zh-CN" altLang="en-US" sz="10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842" y="3895194"/>
            <a:ext cx="2844662" cy="14658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509" y="5397875"/>
            <a:ext cx="2681876" cy="13615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3"/>
          <p:cNvSpPr txBox="1"/>
          <p:nvPr/>
        </p:nvSpPr>
        <p:spPr>
          <a:xfrm>
            <a:off x="-152276" y="-111710"/>
            <a:ext cx="6122496" cy="405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68580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 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功率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MOSFET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metal-oxide-semiconductor field-effect transistor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0" y="381080"/>
            <a:ext cx="247738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沟槽栅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MOSFET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（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trench MOSFET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）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5667"/>
            <a:ext cx="4005817" cy="2039117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257782" y="381080"/>
            <a:ext cx="322432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屏蔽栅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MOSFET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（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SGT-shielded gate trench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）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782" y="899077"/>
            <a:ext cx="2477387" cy="17122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6318" y="2829289"/>
            <a:ext cx="2895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避免了</a:t>
            </a:r>
            <a:r>
              <a:rPr lang="en-US" altLang="zh-CN" sz="1200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pnp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结构的产生，减少了</a:t>
            </a:r>
            <a:r>
              <a:rPr lang="en-US" altLang="zh-CN" sz="1200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Rjeft</a:t>
            </a: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部分</a:t>
            </a:r>
            <a:endParaRPr lang="zh-CN" altLang="en-US" sz="135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318" y="3290500"/>
            <a:ext cx="426708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单个元胞的栅极与漂移区的接触面积变大，栅漏电容</a:t>
            </a:r>
            <a:r>
              <a:rPr lang="en-US" altLang="zh-CN" sz="1350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Cgd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变大→栅电荷变大→驱动损耗增加，开关速度变慢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73309" y="1478225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屏蔽栅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926835" y="2812745"/>
            <a:ext cx="3886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将屏蔽栅与源极短接，与栅极之间仍然通过绝缘层相连</a:t>
            </a:r>
            <a:endParaRPr lang="zh-CN" altLang="en-US" sz="135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56905" y="3290500"/>
            <a:ext cx="4267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屏蔽栅</a:t>
            </a:r>
            <a:r>
              <a:rPr lang="en-US" altLang="zh-CN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/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绝缘层</a:t>
            </a:r>
            <a:r>
              <a:rPr lang="en-US" altLang="zh-CN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/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半导体三者形成场板结构，调节漂移区的电场分布，使得漂移区的掺杂浓度可以提升，得到更低的导通电阻。</a:t>
            </a:r>
            <a:endParaRPr lang="en-US" altLang="zh-CN" sz="135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---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减小了栅漏的正对面积，</a:t>
            </a:r>
            <a:r>
              <a:rPr lang="en-US" altLang="zh-CN" sz="1350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Cgd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→</a:t>
            </a:r>
            <a:r>
              <a:rPr lang="en-US" altLang="zh-CN" sz="1350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Cgs+Csd,Cgd</a:t>
            </a:r>
            <a:r>
              <a:rPr lang="zh-CN" altLang="en-US" sz="135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降低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3"/>
          <p:cNvSpPr txBox="1"/>
          <p:nvPr/>
        </p:nvSpPr>
        <p:spPr>
          <a:xfrm>
            <a:off x="-152276" y="-76108"/>
            <a:ext cx="6122496" cy="405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68580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 </a:t>
            </a:r>
            <a:r>
              <a:rPr lang="en-US" altLang="zh-CN" sz="1200"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Superjunction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2516" y="329837"/>
            <a:ext cx="467307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dirty="0"/>
              <a:t>在</a:t>
            </a:r>
            <a:r>
              <a:rPr lang="en-US" altLang="zh-CN" sz="1800" b="1" dirty="0"/>
              <a:t>Si </a:t>
            </a:r>
            <a:r>
              <a:rPr lang="en-US" altLang="zh-CN" sz="1800" b="1" dirty="0" err="1"/>
              <a:t>Mosfet</a:t>
            </a:r>
            <a:r>
              <a:rPr lang="zh-CN" altLang="en-US" sz="1800" b="1" dirty="0"/>
              <a:t>领域存在的瓶颈：</a:t>
            </a:r>
            <a:endParaRPr lang="en-US" altLang="zh-CN" sz="1800" b="1" dirty="0"/>
          </a:p>
          <a:p>
            <a:r>
              <a:rPr lang="zh-CN" altLang="en-US" sz="1400" dirty="0"/>
              <a:t>想要提升漏源反向击穿电压→使漂移区掺杂浓度低且较厚</a:t>
            </a:r>
            <a:endParaRPr lang="en-US" altLang="zh-CN" sz="1400" dirty="0"/>
          </a:p>
          <a:p>
            <a:r>
              <a:rPr lang="zh-CN" altLang="en-US" sz="1400" dirty="0"/>
              <a:t>想要降低正向比导通电阻→使漂移区掺杂浓度高且较薄</a:t>
            </a:r>
            <a:endParaRPr lang="en-US" altLang="zh-CN" sz="1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32" y="336095"/>
            <a:ext cx="1016052" cy="26671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7" y="1142916"/>
            <a:ext cx="2464166" cy="182875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16" y="3042475"/>
            <a:ext cx="2162510" cy="151850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792" y="436587"/>
            <a:ext cx="2466722" cy="1862514"/>
          </a:xfrm>
          <a:prstGeom prst="rect">
            <a:avLst/>
          </a:prstGeom>
        </p:spPr>
      </p:pic>
      <p:cxnSp>
        <p:nvCxnSpPr>
          <p:cNvPr id="13" name="直接箭头连接符 12"/>
          <p:cNvCxnSpPr/>
          <p:nvPr/>
        </p:nvCxnSpPr>
        <p:spPr>
          <a:xfrm>
            <a:off x="2489053" y="1828842"/>
            <a:ext cx="23877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87" y="4800564"/>
            <a:ext cx="2624470" cy="1518506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649358" y="5247183"/>
            <a:ext cx="3845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---p+</a:t>
            </a:r>
            <a:r>
              <a:rPr lang="zh-CN" altLang="en-US" sz="1200" dirty="0"/>
              <a:t>区掺杂浓度大，因此</a:t>
            </a:r>
            <a:r>
              <a:rPr lang="en-US" altLang="zh-CN" sz="1200" dirty="0"/>
              <a:t>Wp</a:t>
            </a:r>
            <a:r>
              <a:rPr lang="zh-CN" altLang="en-US" sz="1200" dirty="0"/>
              <a:t>可以忽略不计</a:t>
            </a:r>
            <a:endParaRPr lang="en-US" altLang="zh-CN" sz="1200" dirty="0"/>
          </a:p>
          <a:p>
            <a:r>
              <a:rPr lang="en-US" altLang="zh-CN" sz="1200" dirty="0"/>
              <a:t>---Area under the electric field curve represents the applied forward voltage.</a:t>
            </a:r>
          </a:p>
          <a:p>
            <a:r>
              <a:rPr lang="en-US" altLang="zh-CN" sz="1200" dirty="0"/>
              <a:t>---The breakdown voltage can be increased if the electric field can be made constantly in the drift region.</a:t>
            </a:r>
            <a:endParaRPr lang="zh-CN" altLang="en-US" sz="12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5383" y="437649"/>
            <a:ext cx="1912376" cy="199678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4138" y="2505993"/>
            <a:ext cx="1600158" cy="1881643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2875965" y="2633310"/>
            <a:ext cx="38452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---</a:t>
            </a:r>
            <a:r>
              <a:rPr lang="zh-CN" altLang="en-US" sz="1200" dirty="0"/>
              <a:t>当栅极电压为</a:t>
            </a:r>
            <a:r>
              <a:rPr lang="en-US" altLang="zh-CN" sz="1200" dirty="0"/>
              <a:t>0</a:t>
            </a:r>
            <a:r>
              <a:rPr lang="zh-CN" altLang="en-US" sz="1200" dirty="0"/>
              <a:t>时，此时关断，漏极上加电压，使得中间的</a:t>
            </a:r>
            <a:r>
              <a:rPr lang="en-US" altLang="zh-CN" sz="1200" dirty="0"/>
              <a:t>N drift layer</a:t>
            </a:r>
            <a:r>
              <a:rPr lang="zh-CN" altLang="en-US" sz="1200" dirty="0"/>
              <a:t>恰好耗尽，左右两边应满足电荷守恒。</a:t>
            </a:r>
            <a:endParaRPr lang="en-US" altLang="zh-CN" sz="1200" dirty="0"/>
          </a:p>
          <a:p>
            <a:r>
              <a:rPr lang="en-US" altLang="zh-CN" sz="1200" dirty="0"/>
              <a:t>---</a:t>
            </a:r>
            <a:r>
              <a:rPr lang="zh-CN" altLang="en-US" sz="1200" dirty="0"/>
              <a:t>当水平方向上的</a:t>
            </a:r>
            <a:r>
              <a:rPr lang="en-US" altLang="zh-CN" sz="1200" dirty="0"/>
              <a:t>N,P</a:t>
            </a:r>
            <a:r>
              <a:rPr lang="zh-CN" altLang="en-US" sz="1200" dirty="0"/>
              <a:t>柱完全耗尽后，多的电压将会加在垂直方向上，当电压越来越大时，我们会发现垂直方向上的电场分布更均匀，即电压变化更均匀。因此我们可以提高中间</a:t>
            </a:r>
            <a:r>
              <a:rPr lang="en-US" altLang="zh-CN" sz="1200" dirty="0"/>
              <a:t>N</a:t>
            </a:r>
            <a:r>
              <a:rPr lang="zh-CN" altLang="en-US" sz="1200" dirty="0"/>
              <a:t>柱的掺杂浓度，使得其在导通时的比导通电阻更低。</a:t>
            </a:r>
            <a:endParaRPr lang="en-US" altLang="zh-CN" sz="1200" dirty="0"/>
          </a:p>
          <a:p>
            <a:r>
              <a:rPr lang="zh-CN" altLang="en-US" sz="1200" dirty="0"/>
              <a:t>但这也会导致一个缺点，当其击穿后，其雪崩电流会非常大。</a:t>
            </a:r>
            <a:endParaRPr lang="en-US" altLang="zh-CN" sz="1200" dirty="0"/>
          </a:p>
          <a:p>
            <a:r>
              <a:rPr lang="zh-CN" altLang="en-US" sz="1200" dirty="0"/>
              <a:t>→在传统 </a:t>
            </a:r>
            <a:r>
              <a:rPr lang="en-US" altLang="zh-CN" sz="1200" dirty="0"/>
              <a:t>p–n </a:t>
            </a:r>
            <a:r>
              <a:rPr lang="zh-CN" altLang="en-US" sz="1200" dirty="0"/>
              <a:t>结构中，电场集中在 </a:t>
            </a:r>
            <a:r>
              <a:rPr lang="en-US" altLang="zh-CN" sz="1200" dirty="0"/>
              <a:t>p–n </a:t>
            </a:r>
            <a:r>
              <a:rPr lang="zh-CN" altLang="en-US" sz="1200" dirty="0"/>
              <a:t>结附近，但在超结中，电场几乎在整个漂移区均匀分布，当达到击穿条件时，几乎整个漂移层都参与雪崩电离。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4138" y="4478199"/>
            <a:ext cx="1842883" cy="2172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3"/>
          <p:cNvSpPr txBox="1"/>
          <p:nvPr/>
        </p:nvSpPr>
        <p:spPr>
          <a:xfrm>
            <a:off x="-152276" y="-152306"/>
            <a:ext cx="6122496" cy="405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68580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  IGBT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Insulated Gate Bipolar Transistor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29030" y="247396"/>
            <a:ext cx="45031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MOSFET</a:t>
            </a:r>
            <a:r>
              <a:rPr lang="zh-CN" altLang="en-US" sz="1100" dirty="0"/>
              <a:t>是单极型器件，耐压通流能力差</a:t>
            </a:r>
            <a:r>
              <a:rPr lang="en-US" altLang="zh-CN" sz="1100" dirty="0"/>
              <a:t>(</a:t>
            </a:r>
            <a:r>
              <a:rPr lang="zh-CN" altLang="en-US" sz="1100" dirty="0"/>
              <a:t>持续地通过最大电流的能力</a:t>
            </a:r>
            <a:r>
              <a:rPr lang="en-US" altLang="zh-CN" sz="1100" dirty="0"/>
              <a:t>)</a:t>
            </a:r>
          </a:p>
          <a:p>
            <a:r>
              <a:rPr lang="en-US" altLang="zh-CN" sz="1100" dirty="0"/>
              <a:t>BJT</a:t>
            </a:r>
            <a:r>
              <a:rPr lang="zh-CN" altLang="en-US" sz="1100" dirty="0"/>
              <a:t>驱动功率大，电路复杂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381557" y="757117"/>
            <a:ext cx="57539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---</a:t>
            </a:r>
            <a:r>
              <a:rPr lang="zh-CN" altLang="en-US" sz="1100" dirty="0"/>
              <a:t>刚开始栅极不加电压，集电极与发射极之间施加正电压，不导通。</a:t>
            </a:r>
            <a:endParaRPr lang="en-US" altLang="zh-CN" sz="1100" dirty="0"/>
          </a:p>
          <a:p>
            <a:r>
              <a:rPr lang="en-US" altLang="zh-CN" sz="1100" dirty="0"/>
              <a:t>---</a:t>
            </a:r>
            <a:r>
              <a:rPr lang="zh-CN" altLang="en-US" sz="1100" dirty="0"/>
              <a:t>然后给栅极加电压，形成</a:t>
            </a:r>
            <a:r>
              <a:rPr lang="en-US" altLang="zh-CN" sz="1100" dirty="0"/>
              <a:t>n</a:t>
            </a:r>
            <a:r>
              <a:rPr lang="zh-CN" altLang="en-US" sz="1100" dirty="0"/>
              <a:t>沟道，电子流向集电极。此时空穴从集电极</a:t>
            </a:r>
            <a:r>
              <a:rPr lang="en-US" altLang="zh-CN" sz="1100" dirty="0"/>
              <a:t>p</a:t>
            </a:r>
            <a:r>
              <a:rPr lang="zh-CN" altLang="en-US" sz="1100" dirty="0"/>
              <a:t>层注入到低掺杂的中间层，使中间层载流子浓度增加，电阻降低，引起了电导调制效应。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444010" y="253639"/>
            <a:ext cx="603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IGBT</a:t>
            </a:r>
            <a:endParaRPr lang="zh-CN" altLang="en-US" sz="1400" dirty="0"/>
          </a:p>
        </p:txBody>
      </p:sp>
      <p:cxnSp>
        <p:nvCxnSpPr>
          <p:cNvPr id="17" name="直接箭头连接符 16"/>
          <p:cNvCxnSpPr>
            <a:stCxn id="2" idx="3"/>
            <a:endCxn id="15" idx="1"/>
          </p:cNvCxnSpPr>
          <p:nvPr/>
        </p:nvCxnSpPr>
        <p:spPr>
          <a:xfrm flipV="1">
            <a:off x="7932186" y="407528"/>
            <a:ext cx="511824" cy="55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8" y="3066474"/>
            <a:ext cx="2184373" cy="194300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19" y="435184"/>
            <a:ext cx="2895524" cy="190962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62" y="3133058"/>
            <a:ext cx="2493594" cy="1909624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3429030" y="1763961"/>
            <a:ext cx="575399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---Rs</a:t>
            </a:r>
            <a:r>
              <a:rPr lang="zh-CN" altLang="en-US" sz="1100" dirty="0"/>
              <a:t>是漂移区与发射极相连段的电阻，其阻值小，可以将</a:t>
            </a:r>
            <a:r>
              <a:rPr lang="en-US" altLang="zh-CN" sz="1100" dirty="0" err="1"/>
              <a:t>npn</a:t>
            </a:r>
            <a:r>
              <a:rPr lang="zh-CN" altLang="en-US" sz="1100" dirty="0"/>
              <a:t>晶体管短路，简化为图（</a:t>
            </a:r>
            <a:r>
              <a:rPr lang="en-US" altLang="zh-CN" sz="1100" dirty="0"/>
              <a:t>c</a:t>
            </a:r>
            <a:r>
              <a:rPr lang="zh-CN" altLang="en-US" sz="1100" dirty="0"/>
              <a:t>）</a:t>
            </a:r>
            <a:endParaRPr lang="en-US" altLang="zh-CN" sz="1100" dirty="0"/>
          </a:p>
          <a:p>
            <a:endParaRPr lang="en-US" altLang="zh-CN" sz="1100" dirty="0"/>
          </a:p>
          <a:p>
            <a:r>
              <a:rPr lang="en-US" altLang="zh-CN" sz="1100" dirty="0"/>
              <a:t>---</a:t>
            </a:r>
            <a:r>
              <a:rPr lang="zh-CN" altLang="en-US" sz="1100" dirty="0"/>
              <a:t>虽然</a:t>
            </a:r>
            <a:r>
              <a:rPr lang="en-US" altLang="zh-CN" sz="1100" dirty="0" err="1"/>
              <a:t>npn</a:t>
            </a:r>
            <a:r>
              <a:rPr lang="zh-CN" altLang="en-US" sz="1100" dirty="0"/>
              <a:t>晶体管因为</a:t>
            </a:r>
            <a:r>
              <a:rPr lang="en-US" altLang="zh-CN" sz="1100" dirty="0"/>
              <a:t>Rs</a:t>
            </a:r>
            <a:r>
              <a:rPr lang="zh-CN" altLang="en-US" sz="1100" dirty="0"/>
              <a:t>的存在，其在小电流时的电流增益被消除，，但是在大电流时，</a:t>
            </a:r>
            <a:r>
              <a:rPr lang="en-US" altLang="zh-CN" sz="1100" dirty="0" err="1"/>
              <a:t>npn</a:t>
            </a:r>
            <a:r>
              <a:rPr lang="zh-CN" altLang="en-US" sz="1100" dirty="0"/>
              <a:t>晶体管被激活。此时通过子晶体管</a:t>
            </a:r>
            <a:r>
              <a:rPr lang="en-US" altLang="zh-CN" sz="1100" dirty="0" err="1"/>
              <a:t>pnp</a:t>
            </a:r>
            <a:r>
              <a:rPr lang="zh-CN" altLang="en-US" sz="1100" dirty="0"/>
              <a:t>，寄生晶闸管可被触发进入具有内部反馈回路的通态模式，器件不再受</a:t>
            </a:r>
            <a:r>
              <a:rPr lang="en-US" altLang="zh-CN" sz="1100" dirty="0"/>
              <a:t>MOS</a:t>
            </a:r>
            <a:r>
              <a:rPr lang="zh-CN" altLang="en-US" sz="1100" dirty="0"/>
              <a:t>栅极控制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5168899" y="3676058"/>
            <a:ext cx="3809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Rs</a:t>
            </a:r>
            <a:endParaRPr lang="zh-CN" alt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3"/>
          <p:cNvSpPr txBox="1"/>
          <p:nvPr/>
        </p:nvSpPr>
        <p:spPr>
          <a:xfrm>
            <a:off x="-152276" y="0"/>
            <a:ext cx="6122496" cy="405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68580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1200"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GaN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材料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---</a:t>
            </a:r>
            <a:r>
              <a:rPr lang="en-US" altLang="zh-CN" sz="1200"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GaN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基半导体的晶体结构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16" y="533476"/>
            <a:ext cx="5207268" cy="196860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48040" y="69601"/>
            <a:ext cx="182875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---(a)</a:t>
            </a:r>
            <a:r>
              <a:rPr lang="zh-CN" altLang="en-US" sz="1100" dirty="0"/>
              <a:t>热力学上的稳定相</a:t>
            </a:r>
            <a:endParaRPr lang="en-US" altLang="zh-CN" sz="1100" dirty="0"/>
          </a:p>
          <a:p>
            <a:r>
              <a:rPr lang="en-US" altLang="zh-CN" sz="1100" dirty="0"/>
              <a:t>---(b)</a:t>
            </a:r>
            <a:r>
              <a:rPr lang="zh-CN" altLang="en-US" sz="1100" dirty="0"/>
              <a:t>热力学上的亚稳像</a:t>
            </a:r>
            <a:endParaRPr lang="en-US" altLang="zh-CN" sz="1100" dirty="0"/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581525" y="2667000"/>
            <a:ext cx="432244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/>
              <a:t>GaN</a:t>
            </a:r>
            <a:r>
              <a:rPr lang="zh-CN" altLang="en-US" sz="1100" dirty="0"/>
              <a:t>的基本物理参数：</a:t>
            </a:r>
            <a:endParaRPr lang="en-US" altLang="zh-CN" sz="1100" dirty="0"/>
          </a:p>
          <a:p>
            <a:r>
              <a:rPr lang="zh-CN" altLang="en-US" sz="1100" dirty="0"/>
              <a:t>电子迁移率：</a:t>
            </a:r>
            <a:r>
              <a:rPr lang="en-US" altLang="zh-CN" sz="1100" dirty="0"/>
              <a:t>1000</a:t>
            </a:r>
            <a:r>
              <a:rPr lang="zh-CN" altLang="en-US" sz="1100" dirty="0"/>
              <a:t>（体材料）</a:t>
            </a:r>
            <a:r>
              <a:rPr lang="en-US" altLang="zh-CN" sz="1100" dirty="0"/>
              <a:t>2000</a:t>
            </a:r>
            <a:r>
              <a:rPr lang="zh-CN" altLang="en-US" sz="1100" dirty="0"/>
              <a:t>（</a:t>
            </a:r>
            <a:r>
              <a:rPr lang="en-US" altLang="zh-CN" sz="1100" dirty="0"/>
              <a:t>2DEG</a:t>
            </a:r>
            <a:r>
              <a:rPr lang="zh-CN" altLang="en-US" sz="1100" dirty="0"/>
              <a:t>）</a:t>
            </a:r>
            <a:r>
              <a:rPr lang="en-US" altLang="zh-CN" sz="1100" dirty="0"/>
              <a:t>cm2/(VS)</a:t>
            </a:r>
          </a:p>
          <a:p>
            <a:r>
              <a:rPr lang="zh-CN" altLang="en-US" sz="1100" dirty="0"/>
              <a:t>空穴迁移率：</a:t>
            </a:r>
            <a:r>
              <a:rPr lang="en-US" altLang="zh-CN" sz="1100" dirty="0"/>
              <a:t>30</a:t>
            </a:r>
          </a:p>
          <a:p>
            <a:r>
              <a:rPr lang="zh-CN" altLang="en-US" sz="1100" dirty="0"/>
              <a:t>禁带宽度：</a:t>
            </a:r>
            <a:r>
              <a:rPr lang="en-US" altLang="zh-CN" sz="1100" dirty="0"/>
              <a:t>3.39ev</a:t>
            </a:r>
          </a:p>
          <a:p>
            <a:r>
              <a:rPr lang="zh-CN" altLang="en-US" sz="1100" dirty="0"/>
              <a:t>临界击穿场强：</a:t>
            </a:r>
            <a:r>
              <a:rPr lang="en-US" altLang="zh-CN" sz="1100" dirty="0"/>
              <a:t>&gt;5</a:t>
            </a:r>
            <a:r>
              <a:rPr lang="zh-CN" altLang="en-US" sz="1100" dirty="0"/>
              <a:t>✖</a:t>
            </a:r>
            <a:r>
              <a:rPr lang="en-US" altLang="zh-CN" sz="1100" dirty="0"/>
              <a:t>10^6kv/s</a:t>
            </a:r>
          </a:p>
          <a:p>
            <a:r>
              <a:rPr lang="zh-CN" altLang="en-US" sz="1100" dirty="0"/>
              <a:t>主要结构：纤锌矿结构（属于六方晶系非中心对称点群）</a:t>
            </a:r>
          </a:p>
          <a:p>
            <a:r>
              <a:rPr lang="zh-CN" altLang="en-US" sz="1100" dirty="0"/>
              <a:t>该结构处于</a:t>
            </a:r>
            <a:r>
              <a:rPr lang="en-US" altLang="zh-CN" sz="1100" dirty="0"/>
              <a:t>[0001]</a:t>
            </a:r>
            <a:r>
              <a:rPr lang="zh-CN" altLang="en-US" sz="1100" dirty="0"/>
              <a:t>方向上的化学键更长，而</a:t>
            </a:r>
            <a:r>
              <a:rPr lang="en-US" altLang="zh-CN" sz="1100" dirty="0"/>
              <a:t>(b)</a:t>
            </a:r>
            <a:r>
              <a:rPr lang="zh-CN" altLang="en-US" sz="1100" dirty="0"/>
              <a:t>则都相同</a:t>
            </a:r>
          </a:p>
          <a:p>
            <a:endParaRPr lang="zh-CN" altLang="en-US" sz="1100" dirty="0"/>
          </a:p>
          <a:p>
            <a:r>
              <a:rPr lang="zh-CN" altLang="en-US" sz="1200" dirty="0"/>
              <a:t>氮化物半导体材料具有很强的自发极化和压电极化效应：</a:t>
            </a:r>
            <a:r>
              <a:rPr lang="en-US" altLang="zh-CN" sz="1200" dirty="0"/>
              <a:t>[0001]</a:t>
            </a:r>
            <a:r>
              <a:rPr lang="zh-CN" altLang="en-US" sz="1200" dirty="0"/>
              <a:t>方向的</a:t>
            </a:r>
            <a:r>
              <a:rPr lang="en-US" altLang="zh-CN" sz="1200" dirty="0"/>
              <a:t>Ga</a:t>
            </a:r>
            <a:r>
              <a:rPr lang="zh-CN" altLang="en-US" sz="1200" dirty="0"/>
              <a:t>面极化与相反方向的</a:t>
            </a:r>
            <a:r>
              <a:rPr lang="en-US" altLang="zh-CN" sz="1200" dirty="0"/>
              <a:t>N</a:t>
            </a:r>
            <a:r>
              <a:rPr lang="zh-CN" altLang="en-US" sz="1200" dirty="0"/>
              <a:t>面极化。</a:t>
            </a:r>
          </a:p>
          <a:p>
            <a:r>
              <a:rPr lang="en-US" altLang="zh-CN" sz="1200" dirty="0"/>
              <a:t>---</a:t>
            </a:r>
            <a:r>
              <a:rPr lang="zh-CN" altLang="en-US" sz="1200" dirty="0"/>
              <a:t>自发极化：</a:t>
            </a:r>
            <a:r>
              <a:rPr lang="en-US" altLang="zh-CN" sz="1200" dirty="0"/>
              <a:t>Ga</a:t>
            </a:r>
            <a:r>
              <a:rPr lang="zh-CN" altLang="en-US" sz="1200" dirty="0"/>
              <a:t>原子与其相邻的四个</a:t>
            </a:r>
            <a:r>
              <a:rPr lang="en-US" altLang="zh-CN" sz="1200" dirty="0"/>
              <a:t>N</a:t>
            </a:r>
            <a:r>
              <a:rPr lang="zh-CN" altLang="en-US" sz="1200" dirty="0"/>
              <a:t>原子形成的正负电荷中心不重合。正负电荷形成内建电场。</a:t>
            </a:r>
            <a:r>
              <a:rPr lang="en-US" altLang="zh-CN" sz="1200" dirty="0"/>
              <a:t>(Psp)</a:t>
            </a:r>
            <a:endParaRPr lang="zh-CN" altLang="en-US" sz="1200" dirty="0"/>
          </a:p>
          <a:p>
            <a:r>
              <a:rPr lang="en-US" altLang="zh-CN" sz="1200" dirty="0"/>
              <a:t>---</a:t>
            </a:r>
            <a:r>
              <a:rPr lang="zh-CN" altLang="en-US" sz="1200" dirty="0"/>
              <a:t>压电极化：由两种材料之间的晶格失配引起的拉伸应力和压缩应力。</a:t>
            </a:r>
            <a:r>
              <a:rPr lang="en-US" altLang="zh-CN" sz="1200" dirty="0"/>
              <a:t>→</a:t>
            </a:r>
            <a:r>
              <a:rPr lang="zh-CN" altLang="en-US" sz="1200" dirty="0"/>
              <a:t>由于外力使电荷中心偏移更大或更小。</a:t>
            </a:r>
            <a:r>
              <a:rPr lang="en-US" altLang="zh-CN" sz="1200" dirty="0"/>
              <a:t>(Pep)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381000"/>
            <a:ext cx="3133725" cy="20148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5561965"/>
            <a:ext cx="4302760" cy="8674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667000"/>
            <a:ext cx="3767455" cy="38620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1371600"/>
            <a:ext cx="6908800" cy="2813685"/>
          </a:xfrm>
          <a:prstGeom prst="rect">
            <a:avLst/>
          </a:prstGeom>
        </p:spPr>
      </p:pic>
      <p:sp>
        <p:nvSpPr>
          <p:cNvPr id="12" name="文本框 3"/>
          <p:cNvSpPr txBox="1"/>
          <p:nvPr/>
        </p:nvSpPr>
        <p:spPr>
          <a:xfrm>
            <a:off x="-152276" y="0"/>
            <a:ext cx="6122496" cy="405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68580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1200"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GaN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材料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---</a:t>
            </a:r>
            <a:r>
              <a:rPr lang="en-US" altLang="zh-CN" sz="1200"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GaN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2DEG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的形成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635" y="381000"/>
            <a:ext cx="6985635" cy="810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/>
              <a:t>所处位置：半导体异质结处，这里以</a:t>
            </a:r>
            <a:r>
              <a:rPr lang="en-US" altLang="zh-CN" sz="1400"/>
              <a:t>AlGaN/GaN</a:t>
            </a:r>
            <a:r>
              <a:rPr lang="zh-CN" altLang="en-US" sz="1400"/>
              <a:t>为例</a:t>
            </a:r>
          </a:p>
          <a:p>
            <a:r>
              <a:rPr lang="zh-CN" altLang="en-US" sz="1400"/>
              <a:t>（被束缚在一个平面，只能在</a:t>
            </a:r>
            <a:r>
              <a:rPr lang="en-US" altLang="zh-CN" sz="1400"/>
              <a:t>X</a:t>
            </a:r>
            <a:r>
              <a:rPr lang="zh-CN" altLang="en-US" sz="1400"/>
              <a:t>和</a:t>
            </a:r>
            <a:r>
              <a:rPr lang="en-US" altLang="zh-CN" sz="1400"/>
              <a:t>Y</a:t>
            </a:r>
            <a:r>
              <a:rPr lang="zh-CN" altLang="en-US" sz="1400"/>
              <a:t>的方向移动）</a:t>
            </a:r>
          </a:p>
          <a:p>
            <a:r>
              <a:rPr lang="zh-CN" altLang="en-US" sz="1400"/>
              <a:t>优点：被基底和掺杂元素所散射的概率会大大减小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365" y="152400"/>
            <a:ext cx="3942080" cy="10668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-635" y="1066800"/>
            <a:ext cx="53930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n-doped    AlGaN/GaN   2DEG</a:t>
            </a:r>
            <a:r>
              <a:rPr lang="zh-CN" altLang="en-US" sz="1400"/>
              <a:t>的产生：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3020" y="3429000"/>
            <a:ext cx="53930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未掺杂</a:t>
            </a:r>
            <a:r>
              <a:rPr lang="en-US" sz="1400"/>
              <a:t>    AlGaN/GaN   2DEG</a:t>
            </a:r>
            <a:r>
              <a:rPr lang="zh-CN" altLang="en-US" sz="1400"/>
              <a:t>的产生：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3733800"/>
            <a:ext cx="6184900" cy="29203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66C91-9330-6CF7-6094-0A79BA49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3">
            <a:extLst>
              <a:ext uri="{FF2B5EF4-FFF2-40B4-BE49-F238E27FC236}">
                <a16:creationId xmlns:a16="http://schemas.microsoft.com/office/drawing/2014/main" id="{41292854-5922-7BD7-0D6B-44561FFF6C14}"/>
              </a:ext>
            </a:extLst>
          </p:cNvPr>
          <p:cNvSpPr txBox="1"/>
          <p:nvPr/>
        </p:nvSpPr>
        <p:spPr>
          <a:xfrm>
            <a:off x="-152276" y="-152306"/>
            <a:ext cx="6122496" cy="405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68580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）论文收集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EB7485-DB8C-8141-5F4A-F178A74AFDD3}"/>
              </a:ext>
            </a:extLst>
          </p:cNvPr>
          <p:cNvSpPr txBox="1"/>
          <p:nvPr/>
        </p:nvSpPr>
        <p:spPr>
          <a:xfrm>
            <a:off x="76258" y="141343"/>
            <a:ext cx="8991484" cy="35813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dirty="0"/>
              <a:t>AIP</a:t>
            </a:r>
            <a:r>
              <a:rPr lang="zh-CN" altLang="en-US" sz="1400" dirty="0"/>
              <a:t> </a:t>
            </a:r>
            <a:r>
              <a:rPr lang="en-US" altLang="zh-CN" sz="1400" dirty="0"/>
              <a:t>Publishing</a:t>
            </a:r>
            <a:r>
              <a:rPr lang="zh-CN" altLang="en-US" sz="1400" dirty="0"/>
              <a:t>（美国物理联合会）两个期刊：</a:t>
            </a:r>
            <a:endParaRPr lang="en-US" altLang="zh-CN" sz="1400" dirty="0"/>
          </a:p>
          <a:p>
            <a:r>
              <a:rPr lang="en-US" altLang="zh-CN" sz="1400" dirty="0"/>
              <a:t>APL(Applied Physics Letters):</a:t>
            </a:r>
            <a:r>
              <a:rPr lang="zh-CN" altLang="en-US" sz="1100" dirty="0"/>
              <a:t>快速发表应用物理领域的突破性新发现，强调新颖性和即时影响力。</a:t>
            </a:r>
            <a:endParaRPr lang="en-US" altLang="zh-CN" sz="1100" dirty="0"/>
          </a:p>
          <a:p>
            <a:r>
              <a:rPr lang="en-US" altLang="zh-CN" sz="1400" dirty="0"/>
              <a:t>JAP(Journal of Applied Physics):</a:t>
            </a:r>
            <a:r>
              <a:rPr lang="zh-CN" altLang="en-US" sz="1100" dirty="0"/>
              <a:t>发表应用物理领域的更基础、更深入的研究，包含详细的理论模型、实验方法和数据分析，注重对物理现象的全面理解和阐述。</a:t>
            </a:r>
            <a:endParaRPr lang="en-US" altLang="zh-CN" sz="11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/>
              <a:t>IEEE</a:t>
            </a:r>
            <a:r>
              <a:rPr lang="zh-CN" altLang="en-US" sz="1200" dirty="0"/>
              <a:t>（</a:t>
            </a:r>
            <a:r>
              <a:rPr lang="en-US" altLang="zh-CN" sz="1200" dirty="0"/>
              <a:t>Institute of Electrical and Electronics Engineers</a:t>
            </a:r>
            <a:r>
              <a:rPr lang="zh-CN" altLang="en-US" sz="1200" dirty="0"/>
              <a:t>）电气电子工程师学会：期刊和会议</a:t>
            </a:r>
            <a:endParaRPr lang="en-US" altLang="zh-CN" sz="1200" dirty="0"/>
          </a:p>
          <a:p>
            <a:r>
              <a:rPr lang="zh-CN" altLang="en-US" sz="1200" dirty="0"/>
              <a:t>期刊：</a:t>
            </a:r>
            <a:endParaRPr lang="en-US" altLang="zh-CN" sz="1200" dirty="0"/>
          </a:p>
          <a:p>
            <a:r>
              <a:rPr lang="en-US" altLang="zh-CN" sz="1200" dirty="0"/>
              <a:t>IEEE EDL(IEEE Electron Device Letters):</a:t>
            </a:r>
            <a:r>
              <a:rPr lang="zh-CN" altLang="en-US" sz="1200" dirty="0"/>
              <a:t> </a:t>
            </a:r>
            <a:r>
              <a:rPr lang="zh-CN" altLang="en-US" sz="1050" dirty="0"/>
              <a:t>专注于电子和离子集成电路器件的理论、建模、设计、性能和可靠性方面的原创性和重要贡献。快速发布重要成果。</a:t>
            </a:r>
            <a:endParaRPr lang="en-US" altLang="zh-CN" sz="1050" dirty="0"/>
          </a:p>
          <a:p>
            <a:r>
              <a:rPr lang="en-US" altLang="zh-CN" sz="1200" dirty="0"/>
              <a:t>IEEE TED</a:t>
            </a:r>
            <a:r>
              <a:rPr lang="fr-FR" altLang="zh-CN" sz="1200" dirty="0"/>
              <a:t>(IEEE Transactions on Electron Devices) :</a:t>
            </a:r>
            <a:r>
              <a:rPr lang="zh-CN" altLang="en-US" sz="1100" dirty="0"/>
              <a:t>这是</a:t>
            </a:r>
            <a:r>
              <a:rPr lang="en-US" altLang="zh-CN" sz="1100" dirty="0"/>
              <a:t>IEEE</a:t>
            </a:r>
            <a:r>
              <a:rPr lang="zh-CN" altLang="en-US" sz="1100" dirty="0"/>
              <a:t>电子器件学会的旗舰期刊，涵盖电子器件领域的全面研究，包括理论、建模、设计、性能和可靠性等。更深入理论研究。</a:t>
            </a:r>
            <a:endParaRPr lang="en-US" altLang="zh-CN" sz="1100" dirty="0"/>
          </a:p>
          <a:p>
            <a:r>
              <a:rPr lang="zh-CN" altLang="en-US" sz="1200" dirty="0"/>
              <a:t>会议：</a:t>
            </a:r>
            <a:endParaRPr lang="en-US" altLang="zh-CN" sz="1200" dirty="0"/>
          </a:p>
          <a:p>
            <a:r>
              <a:rPr lang="en-US" altLang="zh-CN" sz="1200" dirty="0"/>
              <a:t>IEEE ISPSD(IEEE International Symposium on Power Semiconductor Devices and ICs):</a:t>
            </a:r>
            <a:r>
              <a:rPr lang="zh-CN" altLang="en-US" sz="1050" dirty="0"/>
              <a:t>是全球功率半导体器件和功率集成电路领域最主要的国际会议。</a:t>
            </a:r>
            <a:endParaRPr lang="en-US" altLang="zh-CN" sz="1050" dirty="0"/>
          </a:p>
          <a:p>
            <a:r>
              <a:rPr lang="en-US" altLang="zh-CN" sz="1200" dirty="0"/>
              <a:t>IEDM(International Electron Devices Meeting)</a:t>
            </a:r>
            <a:r>
              <a:rPr lang="zh-CN" altLang="en-US" sz="1200" dirty="0"/>
              <a:t>：</a:t>
            </a:r>
            <a:r>
              <a:rPr lang="zh-CN" altLang="en-US" sz="1050" dirty="0"/>
              <a:t>是全球微纳电子器件技术领域最顶级的会议。</a:t>
            </a:r>
            <a:endParaRPr lang="en-US" altLang="zh-CN" sz="1050" dirty="0"/>
          </a:p>
          <a:p>
            <a:endParaRPr lang="en-US" altLang="zh-CN" sz="1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D3E9741-2A11-9380-E92B-E33435AFA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12" y="3213578"/>
            <a:ext cx="5943444" cy="352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4100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edb54e7-9501-42bb-94b9-3970fe5bbfb4"/>
  <p:tag name="COMMONDATA" val="eyJoZGlkIjoiOWY0MjcyYTk3ZTNmZDEyODJkNzk2M2Q2MDU5YWY4MzEifQ=="/>
</p:tagLst>
</file>

<file path=ppt/theme/theme1.xml><?xml version="1.0" encoding="utf-8"?>
<a:theme xmlns:a="http://schemas.openxmlformats.org/drawingml/2006/main" name="mass-group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ass-grou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mass-grou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s-grou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1776</Words>
  <Application>Microsoft Office PowerPoint</Application>
  <PresentationFormat>全屏显示(4:3)</PresentationFormat>
  <Paragraphs>129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等线 Light</vt:lpstr>
      <vt:lpstr>黑体</vt:lpstr>
      <vt:lpstr>华文楷体</vt:lpstr>
      <vt:lpstr>华文宋体</vt:lpstr>
      <vt:lpstr>宋体</vt:lpstr>
      <vt:lpstr>微软雅黑</vt:lpstr>
      <vt:lpstr>Arial</vt:lpstr>
      <vt:lpstr>Calibri</vt:lpstr>
      <vt:lpstr>Times New Roman</vt:lpstr>
      <vt:lpstr>mass-group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SUSTC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y x</cp:lastModifiedBy>
  <cp:revision>1461</cp:revision>
  <dcterms:created xsi:type="dcterms:W3CDTF">2003-06-08T17:32:00Z</dcterms:created>
  <dcterms:modified xsi:type="dcterms:W3CDTF">2025-10-06T01:57:12Z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56E49B8274144FAD9629C99955A59472</vt:lpwstr>
  </property>
</Properties>
</file>