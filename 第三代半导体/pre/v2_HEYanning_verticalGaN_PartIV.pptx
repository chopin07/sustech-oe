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78" r:id="rId4"/>
    <p:sldId id="277" r:id="rId5"/>
    <p:sldId id="276" r:id="rId6"/>
    <p:sldId id="281" r:id="rId7"/>
    <p:sldId id="283" r:id="rId8"/>
    <p:sldId id="287" r:id="rId9"/>
    <p:sldId id="263" r:id="rId10"/>
    <p:sldId id="264" r:id="rId11"/>
    <p:sldId id="265" r:id="rId12"/>
    <p:sldId id="286" r:id="rId13"/>
    <p:sldId id="268" r:id="rId14"/>
    <p:sldId id="284" r:id="rId15"/>
    <p:sldId id="280" r:id="rId16"/>
    <p:sldId id="259" r:id="rId17"/>
    <p:sldId id="258" r:id="rId18"/>
    <p:sldId id="282" r:id="rId19"/>
    <p:sldId id="267" r:id="rId20"/>
    <p:sldId id="269" r:id="rId21"/>
    <p:sldId id="292" r:id="rId22"/>
    <p:sldId id="288" r:id="rId23"/>
    <p:sldId id="285" r:id="rId24"/>
    <p:sldId id="289" r:id="rId25"/>
    <p:sldId id="291" r:id="rId26"/>
    <p:sldId id="294" r:id="rId27"/>
    <p:sldId id="295" r:id="rId28"/>
    <p:sldId id="279" r:id="rId29"/>
    <p:sldId id="293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A16B55-4EBE-42AF-B722-ADA2489C8676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48DBB-BD4A-45F7-AD73-970A7480A1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107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8DBB-BD4A-45F7-AD73-970A7480A16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930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6EB79D-2E39-7C4E-5528-3BE177DAD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1709CCC-6161-83FB-D3B0-E8A6B3B5D7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9F60F9-68C3-A399-F6A1-3CF317BCC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6ED23-4671-440B-89C7-DE691DCF51BD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22B875-3DA8-9943-C1A2-97FF04C27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8CD0B7-F564-AC4A-DC8D-E93DE6BE5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68E62-DEB1-4989-8C72-93E8F63E9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367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851909-9030-540D-E6F9-D2B601B7E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023C5C-4708-5C5A-8055-BA1EF203C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5B82EE-8455-A657-F00D-EAAC6B177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6ED23-4671-440B-89C7-DE691DCF51BD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A9CAEA-DC67-6D9F-1ED1-75E94943A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6A71C8-D5A3-9EFB-20A7-29C72A859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68E62-DEB1-4989-8C72-93E8F63E9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572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B18141-0C51-EC9B-5323-FC7534260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B1AA60-66AB-DB07-5540-16B6EDA5B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15B4CC-8F46-AA75-BA26-049AF4A8D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6ED23-4671-440B-89C7-DE691DCF51BD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BA842F-7A06-F7FE-B7FF-53A73116B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B993A9-8260-BA48-27AF-D18B625EE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68E62-DEB1-4989-8C72-93E8F63E9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952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F87048-1399-61C0-C5D3-462C74CE3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F4F947-F066-67C0-F292-283E9194B4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710547-A432-BA20-DFCE-9972C4D1E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D2D14F-103C-EFA0-78E5-7B0F43DA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6ED23-4671-440B-89C7-DE691DCF51BD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57C2D8-0639-CC40-7FB6-BB991B26C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B0D5B6-09FD-CF44-7A40-029DDC7AB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68E62-DEB1-4989-8C72-93E8F63E9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878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BE4976-C6E8-7B87-13C0-C84AAFB27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BE0C3D-F41C-1010-E874-69A8FF8E0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4005BE-23E1-0122-73C5-8402CBB243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DA04EBA-46AC-18B3-3793-17C557018F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81EB491-CD05-A6A2-E9DF-12160408EE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1FDB07D-E21E-3651-1F49-0F8CA0E0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6ED23-4671-440B-89C7-DE691DCF51BD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4B4139A-6AC8-BAAB-6518-A241C0747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960BC9-2A12-DE49-56C3-76B7B1BDA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68E62-DEB1-4989-8C72-93E8F63E9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55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4BDED7-F753-08D6-1CE2-930B7CEBF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C9CB94D-3711-3FF3-7212-7D2502C63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6ED23-4671-440B-89C7-DE691DCF51BD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72D395B-DFE1-FE25-BED6-4378AFC4A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EB9D6D2-455B-B073-543D-7831F93C7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68E62-DEB1-4989-8C72-93E8F63E9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762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8C96F9B-9796-FFE1-B28B-DEA56981F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6ED23-4671-440B-89C7-DE691DCF51BD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5E525B8-E619-AF28-95F5-2F499E3EF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59BA1B-8534-A5BC-64B2-EC39DE8EE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68E62-DEB1-4989-8C72-93E8F63E9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918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C70A95-9390-6F5B-64D6-7C6CAAFBE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41ECD0-0BD3-05E9-5957-2E2DED92A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131A81-F110-747F-5C01-3C5DB498D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387476-D5D0-FCF2-51F1-2D665C97F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6ED23-4671-440B-89C7-DE691DCF51BD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3C27C1-FE98-5820-250C-7E149351E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F418DB-5307-BC27-F3AC-AC61EDDEA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68E62-DEB1-4989-8C72-93E8F63E9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677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B91DF2-3B06-D254-DC49-4F0466D49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430F229-3B62-9990-D1E1-B32F3D7374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B45018-12CE-5AD2-0124-6DD61B2E7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D7ACF3-F52A-6E38-CC81-854604DF1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6ED23-4671-440B-89C7-DE691DCF51BD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A54B19-1DC4-AD5D-BF1E-D4083AF0C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69457F-1966-1649-6163-B626707C6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68E62-DEB1-4989-8C72-93E8F63E9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002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B15F3B-391A-E173-BF84-B7388E44F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95630F-73FF-3E31-D70B-AA9765435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BD7722-E972-4401-B278-0E3FC4EB4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6ED23-4671-440B-89C7-DE691DCF51BD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C1E2C0-3310-B45D-5916-ABEF8102F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81701B-01D5-BC45-C2B5-E14034107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68E62-DEB1-4989-8C72-93E8F63E9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071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73D1FEA-D94B-4AEE-27AB-379D69A0A2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7FC7DC-2DBC-ACE3-68D3-C4B90EC00A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1BC39E-DCCA-AC19-1696-F2EE852A1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6ED23-4671-440B-89C7-DE691DCF51BD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1BBB4A-47CB-F98B-F8C0-B016F56DD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CB7DB2-C987-ECAF-C7D4-129ABD15A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68E62-DEB1-4989-8C72-93E8F63E9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8417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2E72B15-2F06-4EE6-9D5E-259C0DD4B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812444-6802-E859-4244-5E02E73B4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40DA43-3103-D308-3F12-10722A7EBD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26ED23-4671-440B-89C7-DE691DCF51BD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7B1B5B-8DF5-91DB-310F-40E3304DAE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0CCDFB-D8C3-6811-C859-B339BD6EEA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068E62-DEB1-4989-8C72-93E8F63E9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724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mi14101937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led.2024.3520200" TargetMode="External"/><Relationship Id="rId2" Type="http://schemas.openxmlformats.org/officeDocument/2006/relationships/hyperlink" Target="https://doi.org/10.3390/mi14101937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s://doi.org/10.3390/mi14101937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doi.org/10.3390/mi14101937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led.2024.3520200" TargetMode="External"/><Relationship Id="rId2" Type="http://schemas.openxmlformats.org/officeDocument/2006/relationships/hyperlink" Target="https://doi.org/10.3390/mi14101937" TargetMode="Externa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01762E-B228-32E1-99EA-878F2F629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0410" y="3074889"/>
            <a:ext cx="11031180" cy="2387600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Recent Progress in Vertical </a:t>
            </a:r>
            <a:r>
              <a:rPr lang="en-US" altLang="zh-C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Power Devices (V-</a:t>
            </a:r>
            <a:r>
              <a:rPr lang="en-US" altLang="zh-C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b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advantages and applications  Compare with Lateral </a:t>
            </a:r>
            <a:r>
              <a:rPr lang="en-US" altLang="zh-C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br>
              <a:rPr lang="zh-CN" altLang="zh-CN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endParaRPr lang="zh-CN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25551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FFEFC-247C-D0B5-D0FB-887E76B60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C33D4657-E4FF-D8FD-EDCE-5D202634955C}"/>
              </a:ext>
            </a:extLst>
          </p:cNvPr>
          <p:cNvSpPr txBox="1"/>
          <p:nvPr/>
        </p:nvSpPr>
        <p:spPr>
          <a:xfrm>
            <a:off x="1571661" y="3136612"/>
            <a:ext cx="9048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 IV: Future Development of Vertical </a:t>
            </a:r>
            <a:r>
              <a:rPr lang="en-US" altLang="zh-CN" sz="3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Devices</a:t>
            </a:r>
            <a:endParaRPr lang="zh-CN" altLang="en-US" sz="3200" b="1" dirty="0"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598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D6B24-E103-108E-5AEA-94B564884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EDDE85F-C0F4-F3C7-5B9A-8AFD84FFEE74}"/>
              </a:ext>
            </a:extLst>
          </p:cNvPr>
          <p:cNvSpPr txBox="1"/>
          <p:nvPr/>
        </p:nvSpPr>
        <p:spPr>
          <a:xfrm>
            <a:off x="682581" y="115909"/>
            <a:ext cx="4637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INTRODUCTION: ICNS-15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0CD5B17-6835-BFAF-FA74-EFFBC98D3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547" y="901793"/>
            <a:ext cx="7744906" cy="280074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E91C656-1CF7-D249-7CC8-E17652247584}"/>
              </a:ext>
            </a:extLst>
          </p:cNvPr>
          <p:cNvSpPr txBox="1"/>
          <p:nvPr/>
        </p:nvSpPr>
        <p:spPr>
          <a:xfrm>
            <a:off x="1052945" y="3995678"/>
            <a:ext cx="103354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ICNS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fully known as the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International Conference on Nitride Semiconductors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is one of the most important academic conferences and exhibition events in the field of III-nitride semiconductors. </a:t>
            </a:r>
          </a:p>
          <a:p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Held biennially since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1995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the conference focuses on cutting-edge research in materials science, device development, and applications of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III-V nitride semiconductors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such as gallium nitride (</a:t>
            </a:r>
            <a:r>
              <a:rPr lang="en-US" altLang="zh-C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provides a global platform for researchers, scientists, and engineers to exchange ideas, covering the full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innovation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chain from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crystal growth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doping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heterostructures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optoelectronic devices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(e.g., LEDs and lasers) and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electronic devices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(e.g., HEMTs).</a:t>
            </a:r>
          </a:p>
          <a:p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921376A-0C8F-CA93-8CC4-F92337DABD57}"/>
              </a:ext>
            </a:extLst>
          </p:cNvPr>
          <p:cNvSpPr txBox="1"/>
          <p:nvPr/>
        </p:nvSpPr>
        <p:spPr>
          <a:xfrm>
            <a:off x="6220690" y="177464"/>
            <a:ext cx="57634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Five Research Achievements from the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Research Group at Shenzhen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Pinghu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Laboratory Showcased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9421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CB270-0BDE-1257-7925-B24D0EA74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B5FB2FF-5D9E-B9B7-4877-88B673D955AC}"/>
              </a:ext>
            </a:extLst>
          </p:cNvPr>
          <p:cNvSpPr txBox="1"/>
          <p:nvPr/>
        </p:nvSpPr>
        <p:spPr>
          <a:xfrm>
            <a:off x="682580" y="115909"/>
            <a:ext cx="4905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INTRODUCTION: 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vGaN</a:t>
            </a:r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HEMT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2BD9598-90A5-8767-140B-A8D65FC58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87" y="1376633"/>
            <a:ext cx="4489783" cy="202242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76CC082-9D84-73B2-24DF-A17407C1363D}"/>
              </a:ext>
            </a:extLst>
          </p:cNvPr>
          <p:cNvSpPr txBox="1"/>
          <p:nvPr/>
        </p:nvSpPr>
        <p:spPr>
          <a:xfrm>
            <a:off x="5320144" y="1053467"/>
            <a:ext cx="67517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July 10, 2025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Dr. Li Zilan, founder of Guangdong ZIENER, attended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15th International Conference on Nitride Semiconductors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(ICNS-15).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D4C394-510F-9D59-6E91-9ED2CF8C8F3B}"/>
              </a:ext>
            </a:extLst>
          </p:cNvPr>
          <p:cNvSpPr txBox="1"/>
          <p:nvPr/>
        </p:nvSpPr>
        <p:spPr>
          <a:xfrm>
            <a:off x="5320144" y="2078612"/>
            <a:ext cx="67517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presentation highlighted the team’s original breakthroughs in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silicon-based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vertical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power devices (vertical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HEMTs) and their promising application prospects.</a:t>
            </a:r>
          </a:p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6DEFEB2-997D-733A-A547-A4C3E5D4A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80" y="4136563"/>
            <a:ext cx="4489783" cy="18238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7BCB085-615E-6342-39EB-393BC8D88076}"/>
              </a:ext>
            </a:extLst>
          </p:cNvPr>
          <p:cNvSpPr txBox="1"/>
          <p:nvPr/>
        </p:nvSpPr>
        <p:spPr>
          <a:xfrm>
            <a:off x="766618" y="6123709"/>
            <a:ext cx="3676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x-SEM structure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F01627-BA8B-1527-5D1D-C0C9C4ED4653}"/>
              </a:ext>
            </a:extLst>
          </p:cNvPr>
          <p:cNvSpPr txBox="1"/>
          <p:nvPr/>
        </p:nvSpPr>
        <p:spPr>
          <a:xfrm>
            <a:off x="5320144" y="3446053"/>
            <a:ext cx="66686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Achieve a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world-first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directly epitaxially growing a vertical two-dimensional electron gas channel on a silicon substrate. </a:t>
            </a:r>
          </a:p>
          <a:p>
            <a:endParaRPr lang="en-US" altLang="zh-CN" dirty="0"/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terms of process integration, the team achieved a fully vertical electrode layout, which can significantly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 device heat dissipation efficiency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Supported by an advanced process platform, this innovative technology exhibits excellent manufacturability for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high-volume production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44602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D8379-61B5-C098-EB65-14AA4014D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2CACA7C-903B-EE88-D912-384FC48D1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" y="896786"/>
            <a:ext cx="12144630" cy="506442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1B3253C-56EE-37C7-0422-D574403E9699}"/>
              </a:ext>
            </a:extLst>
          </p:cNvPr>
          <p:cNvSpPr txBox="1"/>
          <p:nvPr/>
        </p:nvSpPr>
        <p:spPr>
          <a:xfrm>
            <a:off x="682580" y="115909"/>
            <a:ext cx="6678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INTRODUCTION: 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vGaN</a:t>
            </a:r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HEMT Technology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427C680-0F59-1F1F-5BAA-8E662297D6CE}"/>
              </a:ext>
            </a:extLst>
          </p:cNvPr>
          <p:cNvSpPr txBox="1"/>
          <p:nvPr/>
        </p:nvSpPr>
        <p:spPr>
          <a:xfrm>
            <a:off x="3860800" y="6105236"/>
            <a:ext cx="447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Vertical </a:t>
            </a:r>
            <a:r>
              <a:rPr lang="en-US" altLang="zh-CN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HEMT Power Device Technology</a:t>
            </a:r>
          </a:p>
        </p:txBody>
      </p:sp>
    </p:spTree>
    <p:extLst>
      <p:ext uri="{BB962C8B-B14F-4D97-AF65-F5344CB8AC3E}">
        <p14:creationId xmlns:p14="http://schemas.microsoft.com/office/powerpoint/2010/main" val="2620268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607D4-E6B9-D0C3-A7BD-15C8FF26B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3830676-91CA-5B4D-5080-2A4A2ED96A13}"/>
              </a:ext>
            </a:extLst>
          </p:cNvPr>
          <p:cNvSpPr txBox="1"/>
          <p:nvPr/>
        </p:nvSpPr>
        <p:spPr>
          <a:xfrm>
            <a:off x="682580" y="115909"/>
            <a:ext cx="4148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OVERVIEW: What is 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vGaN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A5A4E72-1241-1A25-F5CA-B752F8ED6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55" y="742575"/>
            <a:ext cx="11574490" cy="537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76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A75E5-03F1-2B34-B634-294506FBD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80C5A31-9989-9DCE-DA34-CBB6BF0DB1C8}"/>
              </a:ext>
            </a:extLst>
          </p:cNvPr>
          <p:cNvSpPr txBox="1"/>
          <p:nvPr/>
        </p:nvSpPr>
        <p:spPr>
          <a:xfrm>
            <a:off x="682581" y="115909"/>
            <a:ext cx="4877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OVERVIEW: Science of 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vGaN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1828A97-507F-E92E-1675-09D4626D9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39" y="639129"/>
            <a:ext cx="11984122" cy="57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809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CA5FC-B787-46DF-3693-539AD664E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B2C4448-4972-F69C-4561-1587E07290C9}"/>
              </a:ext>
            </a:extLst>
          </p:cNvPr>
          <p:cNvSpPr txBox="1"/>
          <p:nvPr/>
        </p:nvSpPr>
        <p:spPr>
          <a:xfrm>
            <a:off x="682580" y="115909"/>
            <a:ext cx="59121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OVERVIEW: Simple 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vGaN</a:t>
            </a:r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Structure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9AE018-CE7A-6A25-DB07-0B5A3D4E5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07" y="628259"/>
            <a:ext cx="11898385" cy="560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072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B2BD5-93D2-CC98-DF7F-D27A9A133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5FD14A7-5E0E-16F1-9A4F-A30834C5EE23}"/>
              </a:ext>
            </a:extLst>
          </p:cNvPr>
          <p:cNvSpPr txBox="1"/>
          <p:nvPr/>
        </p:nvSpPr>
        <p:spPr>
          <a:xfrm>
            <a:off x="682581" y="115909"/>
            <a:ext cx="4314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OVERVIEW: 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vGaN</a:t>
            </a:r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Property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E5D8835-A766-0515-E1FC-576CCA862286}"/>
              </a:ext>
            </a:extLst>
          </p:cNvPr>
          <p:cNvSpPr txBox="1"/>
          <p:nvPr/>
        </p:nvSpPr>
        <p:spPr>
          <a:xfrm>
            <a:off x="682581" y="851140"/>
            <a:ext cx="4018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Vertical </a:t>
            </a:r>
            <a:r>
              <a:rPr lang="en-US" altLang="zh-CN" sz="2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Properties</a:t>
            </a:r>
            <a:endParaRPr lang="zh-CN" altLang="en-US" sz="2800" b="1" dirty="0"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8714831-E6BB-7A95-0585-8B1759715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81" y="1703811"/>
            <a:ext cx="4414355" cy="368525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2C2FD43-DFB9-173D-BAB0-70841585ED7E}"/>
              </a:ext>
            </a:extLst>
          </p:cNvPr>
          <p:cNvSpPr txBox="1"/>
          <p:nvPr/>
        </p:nvSpPr>
        <p:spPr>
          <a:xfrm>
            <a:off x="5334000" y="1971685"/>
            <a:ext cx="6656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flows vertically from the bottom to the top surface</a:t>
            </a:r>
            <a:endParaRPr lang="zh-CN" altLang="en-US" b="1" dirty="0"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B79AAF-2939-E2CA-5BCD-CD877AAF965C}"/>
              </a:ext>
            </a:extLst>
          </p:cNvPr>
          <p:cNvSpPr txBox="1"/>
          <p:nvPr/>
        </p:nvSpPr>
        <p:spPr>
          <a:xfrm>
            <a:off x="5334000" y="2891582"/>
            <a:ext cx="6656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Don’t have a 2DEG drain drift region near the surface</a:t>
            </a:r>
            <a:endParaRPr lang="zh-CN" altLang="en-US" b="1" dirty="0"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A1E3F31-B01F-F625-CB7E-60267BA82DFD}"/>
              </a:ext>
            </a:extLst>
          </p:cNvPr>
          <p:cNvSpPr txBox="1"/>
          <p:nvPr/>
        </p:nvSpPr>
        <p:spPr>
          <a:xfrm>
            <a:off x="5334000" y="3811479"/>
            <a:ext cx="6656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Augment the thickness of the N-drift layer</a:t>
            </a:r>
            <a:endParaRPr lang="zh-CN" altLang="en-US" b="1" dirty="0"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3803F1-30B8-43D2-D9AC-BFD6317B8839}"/>
              </a:ext>
            </a:extLst>
          </p:cNvPr>
          <p:cNvSpPr txBox="1"/>
          <p:nvPr/>
        </p:nvSpPr>
        <p:spPr>
          <a:xfrm>
            <a:off x="5333999" y="4731376"/>
            <a:ext cx="6656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Ability to exhibit avalanche breakdown</a:t>
            </a:r>
            <a:endParaRPr lang="zh-CN" altLang="en-US" b="1" dirty="0"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38DB677-C14D-0142-585F-398CD5DF6DAB}"/>
              </a:ext>
            </a:extLst>
          </p:cNvPr>
          <p:cNvSpPr txBox="1"/>
          <p:nvPr/>
        </p:nvSpPr>
        <p:spPr>
          <a:xfrm>
            <a:off x="978257" y="6355726"/>
            <a:ext cx="102354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err="1"/>
              <a:t>Langpoklakpam</a:t>
            </a:r>
            <a:r>
              <a:rPr lang="en-US" altLang="zh-CN" sz="1100" dirty="0"/>
              <a:t> C, Liu A-C, Hsiao Y-K, Lin C-H, Kuo H-C. Vertical </a:t>
            </a:r>
            <a:r>
              <a:rPr lang="en-US" altLang="zh-CN" sz="1100" dirty="0" err="1"/>
              <a:t>GaN</a:t>
            </a:r>
            <a:r>
              <a:rPr lang="en-US" altLang="zh-CN" sz="1100" dirty="0"/>
              <a:t> MOSFET Power Devices. </a:t>
            </a:r>
            <a:r>
              <a:rPr lang="en-US" altLang="zh-CN" sz="1100" i="1" dirty="0"/>
              <a:t>Micromachines</a:t>
            </a:r>
            <a:r>
              <a:rPr lang="en-US" altLang="zh-CN" sz="1100" dirty="0"/>
              <a:t>. 2023; 14(10):1937. </a:t>
            </a:r>
            <a:r>
              <a:rPr lang="en-US" altLang="zh-CN" sz="1100" dirty="0">
                <a:hlinkClick r:id="rId3"/>
              </a:rPr>
              <a:t>https://doi.org/10.3390/mi14101937</a:t>
            </a:r>
            <a:endParaRPr lang="en-US" altLang="zh-CN" sz="1100" dirty="0"/>
          </a:p>
          <a:p>
            <a:endParaRPr lang="en-US" altLang="zh-CN" sz="1100" dirty="0"/>
          </a:p>
        </p:txBody>
      </p:sp>
    </p:spTree>
    <p:extLst>
      <p:ext uri="{BB962C8B-B14F-4D97-AF65-F5344CB8AC3E}">
        <p14:creationId xmlns:p14="http://schemas.microsoft.com/office/powerpoint/2010/main" val="1967916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674AE-4067-1C36-ECE1-A2AF5F36D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ADCE077-9CAE-19F4-7FEF-213E8D16CE42}"/>
              </a:ext>
            </a:extLst>
          </p:cNvPr>
          <p:cNvSpPr txBox="1"/>
          <p:nvPr/>
        </p:nvSpPr>
        <p:spPr>
          <a:xfrm>
            <a:off x="549512" y="6218871"/>
            <a:ext cx="11092973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err="1"/>
              <a:t>Langpoklakpam</a:t>
            </a:r>
            <a:r>
              <a:rPr lang="en-US" altLang="zh-CN" sz="1100" dirty="0"/>
              <a:t> C, Liu A-C, Hsiao Y-K, Lin C-H, Kuo H-C. Vertical </a:t>
            </a:r>
            <a:r>
              <a:rPr lang="en-US" altLang="zh-CN" sz="1100" dirty="0" err="1"/>
              <a:t>GaN</a:t>
            </a:r>
            <a:r>
              <a:rPr lang="en-US" altLang="zh-CN" sz="1100" dirty="0"/>
              <a:t> MOSFET Power Devices. </a:t>
            </a:r>
            <a:r>
              <a:rPr lang="en-US" altLang="zh-CN" sz="1100" i="1" dirty="0"/>
              <a:t>Micromachines</a:t>
            </a:r>
            <a:r>
              <a:rPr lang="en-US" altLang="zh-CN" sz="1100" dirty="0"/>
              <a:t>. 2023; 14(10):1937. </a:t>
            </a:r>
            <a:r>
              <a:rPr lang="en-US" altLang="zh-CN" sz="1100" dirty="0">
                <a:hlinkClick r:id="rId2"/>
              </a:rPr>
              <a:t>https://doi.org/10.3390/mi14101937</a:t>
            </a:r>
            <a:endParaRPr lang="en-US" altLang="zh-CN" sz="1100" dirty="0"/>
          </a:p>
          <a:p>
            <a:r>
              <a:rPr lang="en-US" altLang="zh-CN" sz="1100" dirty="0"/>
              <a:t>Li, J., Zhu, R., Ming Wong, K., &amp; May Lau, K. (2025). Fully-Vertical </a:t>
            </a:r>
            <a:r>
              <a:rPr lang="en-US" altLang="zh-CN" sz="1100" dirty="0" err="1"/>
              <a:t>GaN</a:t>
            </a:r>
            <a:r>
              <a:rPr lang="en-US" altLang="zh-CN" sz="1100" dirty="0"/>
              <a:t>-on-</a:t>
            </a:r>
            <a:r>
              <a:rPr lang="en-US" altLang="zh-CN" sz="1100" dirty="0" err="1"/>
              <a:t>SiC</a:t>
            </a:r>
            <a:r>
              <a:rPr lang="en-US" altLang="zh-CN" sz="1100" dirty="0"/>
              <a:t> Trench MOSFETs. </a:t>
            </a:r>
            <a:r>
              <a:rPr lang="en-US" altLang="zh-CN" sz="1100" i="1" dirty="0"/>
              <a:t>IEEE Electron Device Letters</a:t>
            </a:r>
            <a:r>
              <a:rPr lang="en-US" altLang="zh-CN" sz="1100" dirty="0"/>
              <a:t>, </a:t>
            </a:r>
            <a:r>
              <a:rPr lang="en-US" altLang="zh-CN" sz="1100" i="1" dirty="0"/>
              <a:t>46</a:t>
            </a:r>
            <a:r>
              <a:rPr lang="en-US" altLang="zh-CN" sz="1100" dirty="0"/>
              <a:t>(2), 282–285. </a:t>
            </a:r>
            <a:r>
              <a:rPr lang="en-US" altLang="zh-CN" sz="1100" dirty="0">
                <a:hlinkClick r:id="rId3"/>
              </a:rPr>
              <a:t>https://doi.org/10.1109/led.2024.3520200</a:t>
            </a:r>
            <a:endParaRPr lang="en-US" altLang="zh-CN" sz="1100" dirty="0"/>
          </a:p>
          <a:p>
            <a:endParaRPr lang="en-US" altLang="zh-CN" sz="1100" dirty="0"/>
          </a:p>
          <a:p>
            <a:r>
              <a:rPr lang="en-US" altLang="zh-CN" dirty="0"/>
              <a:t>‌</a:t>
            </a:r>
          </a:p>
          <a:p>
            <a:endParaRPr lang="en-US" altLang="zh-CN" sz="11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ABABA6E-A42F-A676-8DEC-A6492F4CF7D4}"/>
              </a:ext>
            </a:extLst>
          </p:cNvPr>
          <p:cNvSpPr txBox="1"/>
          <p:nvPr/>
        </p:nvSpPr>
        <p:spPr>
          <a:xfrm>
            <a:off x="682580" y="115909"/>
            <a:ext cx="49860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OVERVIEW: Vertical Current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2845C2-E9D0-DF69-00E7-615F8BF80655}"/>
              </a:ext>
            </a:extLst>
          </p:cNvPr>
          <p:cNvSpPr txBox="1"/>
          <p:nvPr/>
        </p:nvSpPr>
        <p:spPr>
          <a:xfrm>
            <a:off x="3754474" y="833887"/>
            <a:ext cx="4683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Vertical Current Flow Path</a:t>
            </a:r>
            <a:endParaRPr lang="zh-CN" altLang="en-US" sz="2800" b="1" dirty="0"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10" name="图片 9" descr="图表, 折线图&#10;&#10;AI 生成的内容可能不正确。">
            <a:extLst>
              <a:ext uri="{FF2B5EF4-FFF2-40B4-BE49-F238E27FC236}">
                <a16:creationId xmlns:a16="http://schemas.microsoft.com/office/drawing/2014/main" id="{55749625-3A94-D4FD-4DAC-D1164670DA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526" y="1416412"/>
            <a:ext cx="3195003" cy="244858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C4EAF276-2CA9-231E-6F66-4235C53EBF5B}"/>
              </a:ext>
            </a:extLst>
          </p:cNvPr>
          <p:cNvSpPr txBox="1"/>
          <p:nvPr/>
        </p:nvSpPr>
        <p:spPr>
          <a:xfrm>
            <a:off x="475546" y="1447981"/>
            <a:ext cx="49860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Current Density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Carry current through the full thickness of the drift region instead of a thin surface channel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BF410DC-4F7A-7FA1-E71B-0CF8D939B72D}"/>
              </a:ext>
            </a:extLst>
          </p:cNvPr>
          <p:cNvSpPr txBox="1"/>
          <p:nvPr/>
        </p:nvSpPr>
        <p:spPr>
          <a:xfrm>
            <a:off x="6095998" y="4118601"/>
            <a:ext cx="55899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Fully vs. Quasi (Inside vs. Surface)</a:t>
            </a: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Reduced current crowding effect allowing more effective scaling of current with the device area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4E28220-11AB-6762-E3C4-1555E2C0DB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3596" y="2462185"/>
            <a:ext cx="2509969" cy="2805614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FCFFF31E-246A-2189-F064-3B17A51299B0}"/>
              </a:ext>
            </a:extLst>
          </p:cNvPr>
          <p:cNvSpPr txBox="1"/>
          <p:nvPr/>
        </p:nvSpPr>
        <p:spPr>
          <a:xfrm>
            <a:off x="768446" y="5420169"/>
            <a:ext cx="10655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vertical path reduces series resistance, and enables higher current density,</a:t>
            </a:r>
            <a:r>
              <a:rPr lang="zh-CN" altLang="en-US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allowing the device to sustain higher breakdown voltage without increasing chip area.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7137EF2-FDC1-02E7-990B-DC0BB4D299A3}"/>
              </a:ext>
            </a:extLst>
          </p:cNvPr>
          <p:cNvSpPr txBox="1"/>
          <p:nvPr/>
        </p:nvSpPr>
        <p:spPr>
          <a:xfrm>
            <a:off x="6095998" y="5020001"/>
            <a:ext cx="3298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Short current conduction path</a:t>
            </a:r>
            <a:endParaRPr lang="zh-CN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432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B6879-5295-50BB-7EF5-6F9436C60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CC443CE-F4E0-9516-3936-0BF4AA4482CD}"/>
              </a:ext>
            </a:extLst>
          </p:cNvPr>
          <p:cNvSpPr txBox="1"/>
          <p:nvPr/>
        </p:nvSpPr>
        <p:spPr>
          <a:xfrm>
            <a:off x="978257" y="6355726"/>
            <a:ext cx="102354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err="1"/>
              <a:t>Langpoklakpam</a:t>
            </a:r>
            <a:r>
              <a:rPr lang="en-US" altLang="zh-CN" sz="1100" dirty="0"/>
              <a:t> C, Liu A-C, Hsiao Y-K, Lin C-H, Kuo H-C. Vertical </a:t>
            </a:r>
            <a:r>
              <a:rPr lang="en-US" altLang="zh-CN" sz="1100" dirty="0" err="1"/>
              <a:t>GaN</a:t>
            </a:r>
            <a:r>
              <a:rPr lang="en-US" altLang="zh-CN" sz="1100" dirty="0"/>
              <a:t> MOSFET Power Devices. </a:t>
            </a:r>
            <a:r>
              <a:rPr lang="en-US" altLang="zh-CN" sz="1100" i="1" dirty="0"/>
              <a:t>Micromachines</a:t>
            </a:r>
            <a:r>
              <a:rPr lang="en-US" altLang="zh-CN" sz="1100" dirty="0"/>
              <a:t>. 2023; 14(10):1937. </a:t>
            </a:r>
            <a:r>
              <a:rPr lang="en-US" altLang="zh-CN" sz="1100" dirty="0">
                <a:hlinkClick r:id="rId2"/>
              </a:rPr>
              <a:t>https://doi.org/10.3390/mi14101937</a:t>
            </a:r>
            <a:endParaRPr lang="en-US" altLang="zh-CN" sz="1100" dirty="0"/>
          </a:p>
          <a:p>
            <a:endParaRPr lang="en-US" altLang="zh-CN" sz="11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71DEB9C-302E-4647-9CBA-BB257F4A3C89}"/>
              </a:ext>
            </a:extLst>
          </p:cNvPr>
          <p:cNvSpPr txBox="1"/>
          <p:nvPr/>
        </p:nvSpPr>
        <p:spPr>
          <a:xfrm>
            <a:off x="682581" y="115909"/>
            <a:ext cx="39633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OVERVIEW: Reliability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3879104-D56F-3C2C-B042-94033AB8B088}"/>
              </a:ext>
            </a:extLst>
          </p:cNvPr>
          <p:cNvSpPr txBox="1"/>
          <p:nvPr/>
        </p:nvSpPr>
        <p:spPr>
          <a:xfrm>
            <a:off x="2774716" y="860254"/>
            <a:ext cx="6642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2DEG drain drift region near the surface </a:t>
            </a:r>
            <a:endParaRPr lang="zh-CN" altLang="en-US" sz="2800" b="1" dirty="0"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8321770-3087-9AAB-C7F6-66966F6D101B}"/>
              </a:ext>
            </a:extLst>
          </p:cNvPr>
          <p:cNvSpPr txBox="1"/>
          <p:nvPr/>
        </p:nvSpPr>
        <p:spPr>
          <a:xfrm>
            <a:off x="5569029" y="5034921"/>
            <a:ext cx="6184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reliability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Electric field and current do not concentrate near the surface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D8A80F1-173F-616B-6CA8-7AF3D663A78E}"/>
              </a:ext>
            </a:extLst>
          </p:cNvPr>
          <p:cNvSpPr txBox="1"/>
          <p:nvPr/>
        </p:nvSpPr>
        <p:spPr>
          <a:xfrm>
            <a:off x="682581" y="1474757"/>
            <a:ext cx="36115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2DEG sensitive</a:t>
            </a: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Traps, surface states, dynamic R_ON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BEA8295-ACBA-2427-48DF-EEF6AB2CC1F2}"/>
              </a:ext>
            </a:extLst>
          </p:cNvPr>
          <p:cNvSpPr txBox="1"/>
          <p:nvPr/>
        </p:nvSpPr>
        <p:spPr>
          <a:xfrm>
            <a:off x="682581" y="2201925"/>
            <a:ext cx="4083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Less degradation in dynamic R_ON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Due to trapped impurity charges or 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bulk traps resulting from lattice mismatch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0411D7A-EEE5-13E0-D5BE-3213B2779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018" y="3209401"/>
            <a:ext cx="3265565" cy="2809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600F6D2-D728-4E9F-00E1-D7CEA766DEE7}"/>
              </a:ext>
            </a:extLst>
          </p:cNvPr>
          <p:cNvSpPr txBox="1"/>
          <p:nvPr/>
        </p:nvSpPr>
        <p:spPr>
          <a:xfrm>
            <a:off x="5012336" y="5833823"/>
            <a:ext cx="6929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improves stability, reliability, and allows true avalanche behavior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8518625-89BF-E7A1-2891-77A3310D6AE1}"/>
              </a:ext>
            </a:extLst>
          </p:cNvPr>
          <p:cNvSpPr txBox="1"/>
          <p:nvPr/>
        </p:nvSpPr>
        <p:spPr>
          <a:xfrm>
            <a:off x="5569029" y="1465771"/>
            <a:ext cx="60040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Augment the thickness of the N-drift layer</a:t>
            </a:r>
            <a:endParaRPr lang="zh-CN" altLang="en-US" b="1" dirty="0"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low-doped or unintentionally doped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epitaxial layer. 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makes the breakdown voltage independent of the lateral size of device.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D9E163E-DD18-B895-D5EB-17C4BBB735F6}"/>
              </a:ext>
            </a:extLst>
          </p:cNvPr>
          <p:cNvSpPr txBox="1"/>
          <p:nvPr/>
        </p:nvSpPr>
        <p:spPr>
          <a:xfrm>
            <a:off x="5595633" y="3540161"/>
            <a:ext cx="56181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Ability to exhibit avalanche breakdown</a:t>
            </a:r>
            <a:endParaRPr lang="zh-CN" altLang="en-US" b="1" dirty="0"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distribution of the electric field within the device can mitigate the effects of current collapse by countering the influence of surface states, slowing down the collapse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BD1951C-C8AE-A452-0686-15BBA7D03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9573" y="1854255"/>
            <a:ext cx="1889401" cy="52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7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1310A-15AD-C311-9E8B-E0FEC1362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2FF6AA2-2CCD-9FF4-F456-6E49E9A8380F}"/>
              </a:ext>
            </a:extLst>
          </p:cNvPr>
          <p:cNvSpPr txBox="1"/>
          <p:nvPr/>
        </p:nvSpPr>
        <p:spPr>
          <a:xfrm>
            <a:off x="682580" y="115909"/>
            <a:ext cx="46006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OVERVIEW: Advantages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C8DA860-3074-39AE-2A61-FD7BB55A1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6" y="1161733"/>
            <a:ext cx="12022228" cy="45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697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88427-12A8-63AF-06FA-69AF72A73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5F78BA9-3094-D92B-BF8F-F7DB6E246A34}"/>
              </a:ext>
            </a:extLst>
          </p:cNvPr>
          <p:cNvSpPr txBox="1"/>
          <p:nvPr/>
        </p:nvSpPr>
        <p:spPr>
          <a:xfrm>
            <a:off x="978257" y="6355726"/>
            <a:ext cx="102354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err="1"/>
              <a:t>Langpoklakpam</a:t>
            </a:r>
            <a:r>
              <a:rPr lang="en-US" altLang="zh-CN" sz="1100" dirty="0"/>
              <a:t> C, Liu A-C, Hsiao Y-K, Lin C-H, Kuo H-C. Vertical </a:t>
            </a:r>
            <a:r>
              <a:rPr lang="en-US" altLang="zh-CN" sz="1100" dirty="0" err="1"/>
              <a:t>GaN</a:t>
            </a:r>
            <a:r>
              <a:rPr lang="en-US" altLang="zh-CN" sz="1100" dirty="0"/>
              <a:t> MOSFET Power Devices. </a:t>
            </a:r>
            <a:r>
              <a:rPr lang="en-US" altLang="zh-CN" sz="1100" i="1" dirty="0"/>
              <a:t>Micromachines</a:t>
            </a:r>
            <a:r>
              <a:rPr lang="en-US" altLang="zh-CN" sz="1100" dirty="0"/>
              <a:t>. 2023; 14(10):1937. </a:t>
            </a:r>
            <a:r>
              <a:rPr lang="en-US" altLang="zh-CN" sz="1100" dirty="0">
                <a:hlinkClick r:id="rId2"/>
              </a:rPr>
              <a:t>https://doi.org/10.3390/mi14101937</a:t>
            </a:r>
            <a:endParaRPr lang="en-US" altLang="zh-CN" sz="1100" dirty="0"/>
          </a:p>
          <a:p>
            <a:endParaRPr lang="en-US" altLang="zh-CN" sz="11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69AF820-7976-DD89-234E-4CF0BEFF4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881" y="943641"/>
            <a:ext cx="7109138" cy="523564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C291C42-B97A-45DD-572B-33ACEB54C70B}"/>
              </a:ext>
            </a:extLst>
          </p:cNvPr>
          <p:cNvSpPr txBox="1"/>
          <p:nvPr/>
        </p:nvSpPr>
        <p:spPr>
          <a:xfrm>
            <a:off x="682580" y="115909"/>
            <a:ext cx="5525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COMPARISON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E1BD9-4342-778B-2D0F-3AEF2AA85AFA}"/>
              </a:ext>
            </a:extLst>
          </p:cNvPr>
          <p:cNvSpPr txBox="1"/>
          <p:nvPr/>
        </p:nvSpPr>
        <p:spPr>
          <a:xfrm>
            <a:off x="7975664" y="1582340"/>
            <a:ext cx="367691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Lateral </a:t>
            </a:r>
            <a:r>
              <a:rPr lang="en-US" altLang="zh-C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(Si)</a:t>
            </a:r>
            <a:r>
              <a:rPr lang="zh-CN" altLang="en-US" b="1" dirty="0">
                <a:latin typeface="Calibri" panose="020F0502020204030204" pitchFamily="34" charset="0"/>
                <a:ea typeface="Microsoft JhengHei UI" panose="020B0604030504040204" pitchFamily="34" charset="-120"/>
                <a:cs typeface="Calibri" panose="020F0502020204030204" pitchFamily="34" charset="0"/>
              </a:rPr>
              <a:t>：</a:t>
            </a:r>
            <a:endParaRPr lang="en-US" altLang="zh-C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performance, with high RON at high voltage and low efficiency.</a:t>
            </a:r>
          </a:p>
          <a:p>
            <a:endParaRPr lang="en-US" altLang="zh-C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SiC</a:t>
            </a:r>
            <a:r>
              <a:rPr lang="zh-CN" altLang="en-US" b="1" dirty="0">
                <a:latin typeface="Calibri" panose="020F0502020204030204" pitchFamily="34" charset="0"/>
                <a:ea typeface="Microsoft JhengHei UI" panose="020B0604030504040204" pitchFamily="34" charset="-120"/>
                <a:cs typeface="Calibri" panose="020F0502020204030204" pitchFamily="34" charset="0"/>
              </a:rPr>
              <a:t>：</a:t>
            </a:r>
            <a:endParaRPr lang="en-US" altLang="zh-C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mature and reliable, close to the material limit, suitable for 1–3 kV high-voltage applications.</a:t>
            </a:r>
          </a:p>
          <a:p>
            <a:endParaRPr lang="en-US" altLang="zh-C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Vertical </a:t>
            </a:r>
            <a:r>
              <a:rPr lang="en-US" altLang="zh-C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zh-CN" altLang="en-US" b="1" dirty="0">
                <a:latin typeface="Calibri" panose="020F0502020204030204" pitchFamily="34" charset="0"/>
                <a:ea typeface="Microsoft JhengHei UI" panose="020B0604030504040204" pitchFamily="34" charset="-120"/>
                <a:cs typeface="Calibri" panose="020F0502020204030204" pitchFamily="34" charset="0"/>
              </a:rPr>
              <a:t>：</a:t>
            </a:r>
            <a:endParaRPr lang="en-US" altLang="zh-C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great potential, with RON close to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SiC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but still below the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theoretical limit.</a:t>
            </a:r>
            <a:endParaRPr lang="zh-CN" altLang="en-US" dirty="0"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442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0CD39-AF18-C9AE-14EC-E238F7B98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8C62D01-90AE-B924-5158-31D536C47C17}"/>
              </a:ext>
            </a:extLst>
          </p:cNvPr>
          <p:cNvSpPr txBox="1"/>
          <p:nvPr/>
        </p:nvSpPr>
        <p:spPr>
          <a:xfrm>
            <a:off x="682580" y="115909"/>
            <a:ext cx="5525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COMPARISON: Si/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SiC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FEC6E75-3C80-1908-E14A-EC27E753D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55" y="639129"/>
            <a:ext cx="11574490" cy="579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102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79386-655D-97B8-F01E-2F96A68F9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F74D9CF-3221-BCDD-D46B-516BF2C0AD9C}"/>
              </a:ext>
            </a:extLst>
          </p:cNvPr>
          <p:cNvSpPr txBox="1"/>
          <p:nvPr/>
        </p:nvSpPr>
        <p:spPr>
          <a:xfrm>
            <a:off x="682580" y="115909"/>
            <a:ext cx="5525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COMPARISON: Lateral 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DA62B4C-25C1-B541-A281-622B4FAB2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60" y="690180"/>
            <a:ext cx="11860280" cy="54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735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06597-46CA-97BB-7C5D-6DE6055C7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38EFEE8-3054-0B65-330C-B5A2102C762C}"/>
              </a:ext>
            </a:extLst>
          </p:cNvPr>
          <p:cNvSpPr txBox="1"/>
          <p:nvPr/>
        </p:nvSpPr>
        <p:spPr>
          <a:xfrm>
            <a:off x="682580" y="115909"/>
            <a:ext cx="5525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COMPARISON: KEY Difference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283722C-866F-30A5-BC87-15510AD00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74" y="923483"/>
            <a:ext cx="6835416" cy="338348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49947AD-117C-03E5-2280-988FCC58E30B}"/>
              </a:ext>
            </a:extLst>
          </p:cNvPr>
          <p:cNvSpPr txBox="1"/>
          <p:nvPr/>
        </p:nvSpPr>
        <p:spPr>
          <a:xfrm>
            <a:off x="7894750" y="923483"/>
            <a:ext cx="35481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Lateral </a:t>
            </a:r>
            <a:r>
              <a:rPr lang="en-US" altLang="zh-C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endParaRPr lang="en-US" altLang="zh-C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Because the electric field is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concentrated near the surface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it will face premature breakdown when voltage increases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6A2E94-17CA-FC5F-7DCF-54EBFE35E155}"/>
              </a:ext>
            </a:extLst>
          </p:cNvPr>
          <p:cNvSpPr txBox="1"/>
          <p:nvPr/>
        </p:nvSpPr>
        <p:spPr>
          <a:xfrm>
            <a:off x="7894750" y="2720635"/>
            <a:ext cx="32776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Vertical </a:t>
            </a:r>
            <a:r>
              <a:rPr lang="en-US" altLang="zh-C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endParaRPr lang="en-US" altLang="zh-C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Since it spread the electric field across a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thick </a:t>
            </a:r>
            <a:r>
              <a:rPr lang="en-US" altLang="zh-C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drift layer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allowing them to reach several kilovolts.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7BC6D9E-F3B3-27B9-490E-D0554D3269EC}"/>
              </a:ext>
            </a:extLst>
          </p:cNvPr>
          <p:cNvSpPr txBox="1"/>
          <p:nvPr/>
        </p:nvSpPr>
        <p:spPr>
          <a:xfrm>
            <a:off x="851078" y="6083837"/>
            <a:ext cx="1048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Therefore, vertical </a:t>
            </a:r>
            <a:r>
              <a:rPr lang="en-US" altLang="zh-CN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more suitable for high-voltage applications like power grids or industrial converters.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65D485F-67C1-3B51-996D-337B71006016}"/>
              </a:ext>
            </a:extLst>
          </p:cNvPr>
          <p:cNvSpPr txBox="1"/>
          <p:nvPr/>
        </p:nvSpPr>
        <p:spPr>
          <a:xfrm>
            <a:off x="250874" y="4826069"/>
            <a:ext cx="116685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key difference is the current direction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Lateral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conducts along the wafer surface (good for low-voltage);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Vertical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conducts through the substrate (suitable for high-voltage, high-current);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Vertical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offers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breakdown voltage, lower on-resistance, higher power density, and better heat dissipation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673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F2798-7A9B-0584-4F7A-483B7B2E7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B8BE135-4E02-2A7E-AB3F-29F63A13D5A2}"/>
              </a:ext>
            </a:extLst>
          </p:cNvPr>
          <p:cNvSpPr txBox="1"/>
          <p:nvPr/>
        </p:nvSpPr>
        <p:spPr>
          <a:xfrm>
            <a:off x="682580" y="115909"/>
            <a:ext cx="3737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22E26C-2141-ED6F-8C12-64F260F8AEEB}"/>
              </a:ext>
            </a:extLst>
          </p:cNvPr>
          <p:cNvSpPr txBox="1"/>
          <p:nvPr/>
        </p:nvSpPr>
        <p:spPr>
          <a:xfrm>
            <a:off x="682581" y="1674254"/>
            <a:ext cx="282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Vertical Current Flow Path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B9BF67-7F08-C5DB-210F-01B7B1E20B0A}"/>
              </a:ext>
            </a:extLst>
          </p:cNvPr>
          <p:cNvSpPr txBox="1"/>
          <p:nvPr/>
        </p:nvSpPr>
        <p:spPr>
          <a:xfrm>
            <a:off x="682581" y="2514118"/>
            <a:ext cx="3219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Wide-bandgap semiconductor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EC40B24-68DA-D66F-738B-DBFF8C10C4F8}"/>
              </a:ext>
            </a:extLst>
          </p:cNvPr>
          <p:cNvSpPr txBox="1"/>
          <p:nvPr/>
        </p:nvSpPr>
        <p:spPr>
          <a:xfrm>
            <a:off x="7006643" y="1674254"/>
            <a:ext cx="4229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 High Voltage and High Current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BE2C694-648A-3CE8-2717-C8B6BFD62FD4}"/>
              </a:ext>
            </a:extLst>
          </p:cNvPr>
          <p:cNvSpPr txBox="1"/>
          <p:nvPr/>
        </p:nvSpPr>
        <p:spPr>
          <a:xfrm>
            <a:off x="6288110" y="2514118"/>
            <a:ext cx="5666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electron mobility and excellent thermal properties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93186A9-14C7-E7F2-FE00-9D906D2E3382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3509493" y="1858920"/>
            <a:ext cx="34971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09C7BDE-CF40-47B8-F66D-D11F05D516B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3902299" y="2698784"/>
            <a:ext cx="23858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加号 16">
            <a:extLst>
              <a:ext uri="{FF2B5EF4-FFF2-40B4-BE49-F238E27FC236}">
                <a16:creationId xmlns:a16="http://schemas.microsoft.com/office/drawing/2014/main" id="{20BC6329-CAE1-AFCE-8DEA-1FE04EE11894}"/>
              </a:ext>
            </a:extLst>
          </p:cNvPr>
          <p:cNvSpPr/>
          <p:nvPr/>
        </p:nvSpPr>
        <p:spPr>
          <a:xfrm>
            <a:off x="8757633" y="2043586"/>
            <a:ext cx="547353" cy="570818"/>
          </a:xfrm>
          <a:prstGeom prst="mathPlus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C3C423CA-BB54-05B2-318C-7D065F84B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61" y="2931140"/>
            <a:ext cx="3737152" cy="3119905"/>
          </a:xfrm>
          <a:prstGeom prst="rect">
            <a:avLst/>
          </a:prstGeom>
        </p:spPr>
      </p:pic>
      <p:sp>
        <p:nvSpPr>
          <p:cNvPr id="20" name="箭头: 下 19">
            <a:extLst>
              <a:ext uri="{FF2B5EF4-FFF2-40B4-BE49-F238E27FC236}">
                <a16:creationId xmlns:a16="http://schemas.microsoft.com/office/drawing/2014/main" id="{C0A8EB6A-4724-64FE-A9AC-35CCBD1A8436}"/>
              </a:ext>
            </a:extLst>
          </p:cNvPr>
          <p:cNvSpPr/>
          <p:nvPr/>
        </p:nvSpPr>
        <p:spPr>
          <a:xfrm>
            <a:off x="8867103" y="3061952"/>
            <a:ext cx="328412" cy="367048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5214C23-9461-FB68-E03C-04D729336129}"/>
              </a:ext>
            </a:extLst>
          </p:cNvPr>
          <p:cNvSpPr txBox="1"/>
          <p:nvPr/>
        </p:nvSpPr>
        <p:spPr>
          <a:xfrm>
            <a:off x="5258067" y="3538647"/>
            <a:ext cx="6543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Suitable for High-Power and High-Frequency applications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1FB493E-855D-37A7-9B3D-C95A31749A73}"/>
              </a:ext>
            </a:extLst>
          </p:cNvPr>
          <p:cNvSpPr txBox="1"/>
          <p:nvPr/>
        </p:nvSpPr>
        <p:spPr>
          <a:xfrm>
            <a:off x="1600507" y="6167352"/>
            <a:ext cx="8990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Vertical </a:t>
            </a:r>
            <a:r>
              <a:rPr lang="en-US" altLang="zh-CN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Devices, the most promising technologies for next-generation power electronics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91D44B3A-E402-371B-8134-6D1102715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090" y="4172847"/>
            <a:ext cx="2006905" cy="1289232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C2E50ADD-E98E-6C48-4490-0FDD72F0861D}"/>
              </a:ext>
            </a:extLst>
          </p:cNvPr>
          <p:cNvSpPr txBox="1"/>
          <p:nvPr/>
        </p:nvSpPr>
        <p:spPr>
          <a:xfrm>
            <a:off x="4571758" y="5527764"/>
            <a:ext cx="1372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PV Inverters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AAF92FD-D60E-C1EB-D352-FE16979B80D0}"/>
              </a:ext>
            </a:extLst>
          </p:cNvPr>
          <p:cNvSpPr txBox="1"/>
          <p:nvPr/>
        </p:nvSpPr>
        <p:spPr>
          <a:xfrm>
            <a:off x="6332473" y="5527764"/>
            <a:ext cx="2897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Center Power Delivery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50667270-E40F-75CD-4512-4ECD0D2E5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436" y="4198442"/>
            <a:ext cx="2319667" cy="1238043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6C6305A-651E-71E4-396D-E21A6BE5FB3D}"/>
              </a:ext>
            </a:extLst>
          </p:cNvPr>
          <p:cNvSpPr txBox="1"/>
          <p:nvPr/>
        </p:nvSpPr>
        <p:spPr>
          <a:xfrm>
            <a:off x="9559408" y="5527764"/>
            <a:ext cx="2395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Industrial Motor Drives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8D1689E6-51B8-3F8D-17F0-A4B0DFB723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4714" y="4198442"/>
            <a:ext cx="2006906" cy="1258848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75DE7A63-32A8-FCF7-C909-30B55733D24F}"/>
              </a:ext>
            </a:extLst>
          </p:cNvPr>
          <p:cNvSpPr txBox="1"/>
          <p:nvPr/>
        </p:nvSpPr>
        <p:spPr>
          <a:xfrm>
            <a:off x="682581" y="916477"/>
            <a:ext cx="282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Uniform Bulk Electric Field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D7E6395-B252-B376-B8EC-4BB618415FB0}"/>
              </a:ext>
            </a:extLst>
          </p:cNvPr>
          <p:cNvSpPr txBox="1"/>
          <p:nvPr/>
        </p:nvSpPr>
        <p:spPr>
          <a:xfrm>
            <a:off x="7456866" y="912686"/>
            <a:ext cx="3148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Exhibit Avalanche Breakdown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564CF4A3-237D-9949-E86F-3DE2CACFA13F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 flipV="1">
            <a:off x="3509493" y="1097352"/>
            <a:ext cx="3947373" cy="3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" name="加号 37">
            <a:extLst>
              <a:ext uri="{FF2B5EF4-FFF2-40B4-BE49-F238E27FC236}">
                <a16:creationId xmlns:a16="http://schemas.microsoft.com/office/drawing/2014/main" id="{892D6327-87AD-B561-399B-608BD4173B6A}"/>
              </a:ext>
            </a:extLst>
          </p:cNvPr>
          <p:cNvSpPr/>
          <p:nvPr/>
        </p:nvSpPr>
        <p:spPr>
          <a:xfrm>
            <a:off x="8757631" y="1257420"/>
            <a:ext cx="547353" cy="570818"/>
          </a:xfrm>
          <a:prstGeom prst="mathPlus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287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B5588-FF05-3B95-E0DB-C137AC534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CAECBC5-145D-58C4-2358-7CF0D20F41B5}"/>
              </a:ext>
            </a:extLst>
          </p:cNvPr>
          <p:cNvSpPr txBox="1"/>
          <p:nvPr/>
        </p:nvSpPr>
        <p:spPr>
          <a:xfrm>
            <a:off x="682580" y="115909"/>
            <a:ext cx="2474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APPLICATIONS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445CFDF-A957-03AF-029A-4BA8F1674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60" y="639129"/>
            <a:ext cx="11317279" cy="581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406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DD3B9-F54D-05CF-15DE-03143CEA2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D56A9DA-450B-C304-1198-A8AF2512F6D4}"/>
              </a:ext>
            </a:extLst>
          </p:cNvPr>
          <p:cNvSpPr txBox="1"/>
          <p:nvPr/>
        </p:nvSpPr>
        <p:spPr>
          <a:xfrm>
            <a:off x="682580" y="115909"/>
            <a:ext cx="2474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APPLICATIONS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0366822-D3D4-488B-5042-6702B526E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91" y="580627"/>
            <a:ext cx="11765017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82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AC2D6-3E97-F483-0630-20351FCB5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C553364-ECFD-116F-F23C-EB4F0EC328F3}"/>
              </a:ext>
            </a:extLst>
          </p:cNvPr>
          <p:cNvSpPr txBox="1"/>
          <p:nvPr/>
        </p:nvSpPr>
        <p:spPr>
          <a:xfrm>
            <a:off x="682580" y="115909"/>
            <a:ext cx="2474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APPLICATIONS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  <a:ea typeface="Microsoft JhengHei U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72817E4-2365-400E-5694-624B17BEB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13" y="790206"/>
            <a:ext cx="10917174" cy="52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7269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A1229-0708-C6F2-183A-06CE9095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97C4260-C83C-9C1E-CC1B-90832FA8BB3E}"/>
              </a:ext>
            </a:extLst>
          </p:cNvPr>
          <p:cNvSpPr txBox="1"/>
          <p:nvPr/>
        </p:nvSpPr>
        <p:spPr>
          <a:xfrm>
            <a:off x="682579" y="115909"/>
            <a:ext cx="10959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DEVELOPMENT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4E9F535-56FB-736F-E9AC-CA2C306F1A12}"/>
              </a:ext>
            </a:extLst>
          </p:cNvPr>
          <p:cNvGrpSpPr/>
          <p:nvPr/>
        </p:nvGrpSpPr>
        <p:grpSpPr>
          <a:xfrm>
            <a:off x="682579" y="764933"/>
            <a:ext cx="10959922" cy="5495129"/>
            <a:chOff x="682578" y="1162096"/>
            <a:chExt cx="10959922" cy="5495129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C84938A5-E763-52DA-7FCF-0F94181BB027}"/>
                </a:ext>
              </a:extLst>
            </p:cNvPr>
            <p:cNvSpPr txBox="1"/>
            <p:nvPr/>
          </p:nvSpPr>
          <p:spPr>
            <a:xfrm>
              <a:off x="682579" y="1162096"/>
              <a:ext cx="1005931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GaN</a:t>
              </a:r>
              <a:r>
                <a:rPr lang="en-US" altLang="zh-CN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on </a:t>
              </a:r>
              <a:r>
                <a:rPr lang="en-US" altLang="zh-CN" b="1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GaN</a:t>
              </a:r>
              <a:r>
                <a:rPr lang="en-US" altLang="zh-CN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</a:t>
              </a:r>
            </a:p>
            <a:p>
              <a:r>
                <a: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Using a </a:t>
              </a:r>
              <a:r>
                <a:rPr lang="en-US" altLang="zh-CN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GaN</a:t>
              </a:r>
              <a:r>
                <a: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substrate to fabricate </a:t>
              </a:r>
              <a:r>
                <a:rPr lang="en-US" altLang="zh-CN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GaN</a:t>
              </a:r>
              <a:r>
                <a: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devices, offering better thermal performance and higher voltage tolerance, ideal for high-power and high-frequency applications</a:t>
              </a:r>
              <a:r>
                <a:rPr lang="zh-CN" altLang="en-US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</a:t>
              </a:r>
              <a:r>
                <a:rPr lang="zh-CN" alt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A8ECAA9-9815-A0BA-4566-A7C1A551C8B5}"/>
                </a:ext>
              </a:extLst>
            </p:cNvPr>
            <p:cNvSpPr txBox="1"/>
            <p:nvPr/>
          </p:nvSpPr>
          <p:spPr>
            <a:xfrm>
              <a:off x="682579" y="2593696"/>
              <a:ext cx="1057654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GaN</a:t>
              </a:r>
              <a:r>
                <a:rPr lang="en-US" altLang="zh-CN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on Si:</a:t>
              </a:r>
            </a:p>
            <a:p>
              <a:r>
                <a: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Integrating </a:t>
              </a:r>
              <a:r>
                <a:rPr lang="en-US" altLang="zh-CN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GaN</a:t>
              </a:r>
              <a:r>
                <a: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devices on a silicon (Si) substrate, combining </a:t>
              </a:r>
              <a:r>
                <a:rPr lang="en-US" altLang="zh-CN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GaN's</a:t>
              </a:r>
              <a:r>
                <a: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high efficiency with silicon's mature manufacturing process, reducing costs and enabling large-scale production</a:t>
              </a:r>
              <a:r>
                <a:rPr lang="zh-CN" altLang="en-US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zh-CN" alt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FBFA064A-7757-8DDD-AB8B-ADEF61B4FD9C}"/>
                </a:ext>
              </a:extLst>
            </p:cNvPr>
            <p:cNvSpPr txBox="1"/>
            <p:nvPr/>
          </p:nvSpPr>
          <p:spPr>
            <a:xfrm>
              <a:off x="682579" y="4025296"/>
              <a:ext cx="1095992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Optical Trigger:</a:t>
              </a:r>
            </a:p>
            <a:p>
              <a:r>
                <a: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The proposed device was benchmarked against other optical power switches, highlighting its potential in future low-cost, all optical, high-voltage power modules with reduced EMI susceptibility and circuit complexity.</a:t>
              </a:r>
              <a:endParaRPr lang="zh-CN" altLang="en-US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160E935-D871-F720-0043-A415D86368FE}"/>
                </a:ext>
              </a:extLst>
            </p:cNvPr>
            <p:cNvSpPr txBox="1"/>
            <p:nvPr/>
          </p:nvSpPr>
          <p:spPr>
            <a:xfrm>
              <a:off x="682578" y="5456896"/>
              <a:ext cx="1095992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Wrap-Around Gate:</a:t>
              </a:r>
            </a:p>
            <a:p>
              <a:r>
                <a: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The wrap-around-gate </a:t>
              </a:r>
              <a:r>
                <a:rPr lang="en-US" altLang="zh-CN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GaN</a:t>
              </a:r>
              <a:r>
                <a: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trench CAVETs achieve strong channel control, low leakage, and high breakdown voltage. By tuning groove spacing, both normally-on and normally-off devices are realized, reaching up to 984 V and low specific on-resistance with scalable multi-finger high-current operation.</a:t>
              </a:r>
              <a:endParaRPr lang="zh-CN" altLang="en-US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5413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E700B-33C9-6E5B-E937-BCA938BFD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229BB91-F1FE-51C3-2F8E-8C45B2E313CF}"/>
              </a:ext>
            </a:extLst>
          </p:cNvPr>
          <p:cNvSpPr txBox="1"/>
          <p:nvPr/>
        </p:nvSpPr>
        <p:spPr>
          <a:xfrm>
            <a:off x="682579" y="115909"/>
            <a:ext cx="10959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DEVELOPMENT: 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endParaRPr lang="en-US" altLang="zh-CN" sz="2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39C01BB-684A-DCA8-C9B2-DC49ABF91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79" y="2119129"/>
            <a:ext cx="3667637" cy="410584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AA33305-236A-CF4E-6BBE-264167A91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79" y="633022"/>
            <a:ext cx="6030167" cy="148610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3E1DD6C-23DF-D567-EC7D-CEC7E7193B4A}"/>
              </a:ext>
            </a:extLst>
          </p:cNvPr>
          <p:cNvSpPr txBox="1"/>
          <p:nvPr/>
        </p:nvSpPr>
        <p:spPr>
          <a:xfrm>
            <a:off x="5514109" y="1863729"/>
            <a:ext cx="57357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October 30,</a:t>
            </a:r>
            <a:r>
              <a:rPr lang="zh-CN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ONSEMI launched 700V/1200V power-semiconductor devices now sampling with early customers;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Targets AI data-centers and EVs, slashes passive-component (caps, inductors) volume, enables 48 V backplane ultra-dense power;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Mass production slated for 2026; market share expected to ramp rapidly;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F5AA033-EEEB-3B24-6032-703472E84A57}"/>
              </a:ext>
            </a:extLst>
          </p:cNvPr>
          <p:cNvSpPr txBox="1"/>
          <p:nvPr/>
        </p:nvSpPr>
        <p:spPr>
          <a:xfrm>
            <a:off x="5514108" y="4217923"/>
            <a:ext cx="56249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 wins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3× power-density boost; 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ideal for EV on-board chargers (OBC) and solar inverters;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15368AA-8156-5E73-EDAB-44154FDAD186}"/>
              </a:ext>
            </a:extLst>
          </p:cNvPr>
          <p:cNvSpPr txBox="1"/>
          <p:nvPr/>
        </p:nvSpPr>
        <p:spPr>
          <a:xfrm>
            <a:off x="5514108" y="5301647"/>
            <a:ext cx="58650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high-cost native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substrates; 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thermal conductivity still trails 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SiC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97B8AB2-5A7B-A56A-09B1-2516E63E55DF}"/>
              </a:ext>
            </a:extLst>
          </p:cNvPr>
          <p:cNvSpPr txBox="1"/>
          <p:nvPr/>
        </p:nvSpPr>
        <p:spPr>
          <a:xfrm>
            <a:off x="7481454" y="846729"/>
            <a:ext cx="4636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ONSEMI is a core enabler of global automotive and industrial power and sensing technologies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C0B0FA1-71ED-A520-26E0-BFE7B5C6E9CA}"/>
              </a:ext>
            </a:extLst>
          </p:cNvPr>
          <p:cNvSpPr txBox="1"/>
          <p:nvPr/>
        </p:nvSpPr>
        <p:spPr>
          <a:xfrm>
            <a:off x="5044099" y="846729"/>
            <a:ext cx="2437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Motorola</a:t>
            </a:r>
          </a:p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2016 acquire Fairchild</a:t>
            </a:r>
            <a:endParaRPr lang="zh-CN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BB3C61E-5C67-1A9D-D1F6-14FE97EE4701}"/>
              </a:ext>
            </a:extLst>
          </p:cNvPr>
          <p:cNvSpPr txBox="1"/>
          <p:nvPr/>
        </p:nvSpPr>
        <p:spPr>
          <a:xfrm>
            <a:off x="4238175" y="2322721"/>
            <a:ext cx="98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2025.10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9463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B395C-1FC1-662D-1178-3F049C7AE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DE0DE9F-5F40-3619-8DB1-30089D8E5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3" y="639129"/>
            <a:ext cx="11850754" cy="57348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413FA9C-1CEE-D8DE-8C7D-E86429EB461C}"/>
              </a:ext>
            </a:extLst>
          </p:cNvPr>
          <p:cNvSpPr txBox="1"/>
          <p:nvPr/>
        </p:nvSpPr>
        <p:spPr>
          <a:xfrm>
            <a:off x="682579" y="115909"/>
            <a:ext cx="10959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DEVELOPMENT: 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endParaRPr lang="en-US" altLang="zh-CN" sz="2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8716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ECB03-9A99-742D-3CD4-DCE953A49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6E480D9-4EAF-6561-C944-821A4AEF24AA}"/>
              </a:ext>
            </a:extLst>
          </p:cNvPr>
          <p:cNvSpPr txBox="1"/>
          <p:nvPr/>
        </p:nvSpPr>
        <p:spPr>
          <a:xfrm>
            <a:off x="682579" y="115909"/>
            <a:ext cx="10959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DEVELOPMENT: 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Si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A597C7D-EC48-07EC-9E15-137AE2701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79" y="639129"/>
            <a:ext cx="7287491" cy="20150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10A68E0-714B-D2D5-8AFB-1F36FB2FF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8021" y="1125757"/>
            <a:ext cx="3114479" cy="116029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B9F8AA8-8963-A203-2F7B-7C7F314806EC}"/>
              </a:ext>
            </a:extLst>
          </p:cNvPr>
          <p:cNvSpPr txBox="1"/>
          <p:nvPr/>
        </p:nvSpPr>
        <p:spPr>
          <a:xfrm>
            <a:off x="304800" y="2712884"/>
            <a:ext cx="117154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Huawei and Shandong University jointly reported FIT-MOS that employs a fluorine-ion-implanted termination (FIT) structure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EF3AA01-D2F6-7774-E513-87F330AFD62F}"/>
              </a:ext>
            </a:extLst>
          </p:cNvPr>
          <p:cNvGrpSpPr/>
          <p:nvPr/>
        </p:nvGrpSpPr>
        <p:grpSpPr>
          <a:xfrm>
            <a:off x="733833" y="3174549"/>
            <a:ext cx="10857411" cy="1477328"/>
            <a:chOff x="785089" y="3973853"/>
            <a:chExt cx="10857411" cy="1477328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C80E962-CA11-B429-189A-D5C38C7B682E}"/>
                </a:ext>
              </a:extLst>
            </p:cNvPr>
            <p:cNvSpPr txBox="1"/>
            <p:nvPr/>
          </p:nvSpPr>
          <p:spPr>
            <a:xfrm>
              <a:off x="785089" y="3973853"/>
              <a:ext cx="3990109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FIT(Fluorine-ion-implanted)</a:t>
              </a:r>
            </a:p>
            <a:p>
              <a:r>
                <a: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carries negative fixed charge,</a:t>
              </a:r>
            </a:p>
            <a:p>
              <a:r>
                <a: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forming a high-resistivity zone that naturally isolates the MOSFET devices</a:t>
              </a:r>
            </a:p>
            <a:p>
              <a:endParaRPr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EDD82ED-BC1D-8D84-4708-EEF4ADF7297A}"/>
                </a:ext>
              </a:extLst>
            </p:cNvPr>
            <p:cNvSpPr txBox="1"/>
            <p:nvPr/>
          </p:nvSpPr>
          <p:spPr>
            <a:xfrm>
              <a:off x="6955044" y="3973853"/>
              <a:ext cx="468745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MET(Mesa-etched termination)</a:t>
              </a:r>
            </a:p>
            <a:p>
              <a:r>
                <a:rPr lang="en-US" altLang="zh-C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electric-field crowding effect at the mesa edges</a:t>
              </a:r>
            </a:p>
            <a:p>
              <a:endParaRPr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6A080A4-A2E4-170F-20DB-E00E8361F8BE}"/>
                </a:ext>
              </a:extLst>
            </p:cNvPr>
            <p:cNvSpPr txBox="1"/>
            <p:nvPr/>
          </p:nvSpPr>
          <p:spPr>
            <a:xfrm>
              <a:off x="4775198" y="3973853"/>
              <a:ext cx="181032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REPLACE</a:t>
              </a:r>
              <a:endParaRPr lang="zh-CN" altLang="en-US" sz="32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E9BEC823-1A31-DD9B-16E6-3145525CA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833" y="4364424"/>
            <a:ext cx="4289833" cy="205451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F085C52-1ECC-3315-D6E6-8ED98CA1A2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6170" y="4189780"/>
            <a:ext cx="5229955" cy="2229161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C7CBC12B-ACC2-926E-3F03-66BD2DF46FC7}"/>
              </a:ext>
            </a:extLst>
          </p:cNvPr>
          <p:cNvSpPr txBox="1"/>
          <p:nvPr/>
        </p:nvSpPr>
        <p:spPr>
          <a:xfrm>
            <a:off x="791566" y="6380037"/>
            <a:ext cx="104092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+mn-ea"/>
                <a:cs typeface="Calibri" panose="020F0502020204030204" pitchFamily="34" charset="0"/>
              </a:rPr>
              <a:t>Y. Ma et al., "1200 V Fully-Vertical </a:t>
            </a:r>
            <a:r>
              <a:rPr lang="en-US" altLang="zh-CN" sz="1100" dirty="0" err="1">
                <a:latin typeface="+mn-ea"/>
                <a:cs typeface="Calibri" panose="020F0502020204030204" pitchFamily="34" charset="0"/>
              </a:rPr>
              <a:t>GaN</a:t>
            </a:r>
            <a:r>
              <a:rPr lang="en-US" altLang="zh-CN" sz="1100" dirty="0">
                <a:latin typeface="+mn-ea"/>
                <a:cs typeface="Calibri" panose="020F0502020204030204" pitchFamily="34" charset="0"/>
              </a:rPr>
              <a:t>-on-Si Power MOSFETs," in IEEE Electron Device Letters, vol. 46, no. 9, pp. 1513-1516, Sept. 2025, </a:t>
            </a:r>
            <a:r>
              <a:rPr lang="en-US" altLang="zh-CN" sz="1100" dirty="0" err="1">
                <a:latin typeface="+mn-ea"/>
                <a:cs typeface="Calibri" panose="020F0502020204030204" pitchFamily="34" charset="0"/>
              </a:rPr>
              <a:t>doi</a:t>
            </a:r>
            <a:r>
              <a:rPr lang="en-US" altLang="zh-CN" sz="1100" dirty="0">
                <a:latin typeface="+mn-ea"/>
                <a:cs typeface="Calibri" panose="020F0502020204030204" pitchFamily="34" charset="0"/>
              </a:rPr>
              <a:t>: 10.1109/LED.2025.3586947.</a:t>
            </a:r>
          </a:p>
          <a:p>
            <a:endParaRPr lang="zh-CN" altLang="en-US" sz="1100" dirty="0">
              <a:latin typeface="+mn-ea"/>
              <a:cs typeface="Calibri" panose="020F050202020403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4B1F712-AAC4-81C0-92DA-71B21EB56789}"/>
              </a:ext>
            </a:extLst>
          </p:cNvPr>
          <p:cNvSpPr txBox="1"/>
          <p:nvPr/>
        </p:nvSpPr>
        <p:spPr>
          <a:xfrm>
            <a:off x="3763360" y="4651877"/>
            <a:ext cx="1015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1277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D38E172-611F-490F-50A9-6DC1880D604C}"/>
              </a:ext>
            </a:extLst>
          </p:cNvPr>
          <p:cNvSpPr txBox="1"/>
          <p:nvPr/>
        </p:nvSpPr>
        <p:spPr>
          <a:xfrm>
            <a:off x="2309091" y="4543240"/>
            <a:ext cx="70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567</a:t>
            </a:r>
            <a:endParaRPr lang="zh-CN" altLang="en-US" b="1" dirty="0">
              <a:solidFill>
                <a:schemeClr val="tx2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832FA09-7235-1ABB-5A72-8D33D5CC7168}"/>
              </a:ext>
            </a:extLst>
          </p:cNvPr>
          <p:cNvSpPr txBox="1"/>
          <p:nvPr/>
        </p:nvSpPr>
        <p:spPr>
          <a:xfrm>
            <a:off x="682579" y="1407485"/>
            <a:ext cx="98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2025.09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6748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2626C-B09E-0BBC-3C9D-7631F9E44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DEDCE25-FD7F-9194-B164-30B7943DFB80}"/>
              </a:ext>
            </a:extLst>
          </p:cNvPr>
          <p:cNvSpPr txBox="1"/>
          <p:nvPr/>
        </p:nvSpPr>
        <p:spPr>
          <a:xfrm>
            <a:off x="682579" y="115909"/>
            <a:ext cx="10959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DEVELOPMENT: 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Si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B47E5C8-7100-4D14-7572-CF2C301AB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62" y="731230"/>
            <a:ext cx="5925377" cy="247684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B3A36E1-9140-5387-B972-4EB96F624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08076"/>
            <a:ext cx="6096000" cy="255638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6651885-61F2-3214-8881-37A961D62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539" y="3247846"/>
            <a:ext cx="5950865" cy="2476846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8DA14704-B1EE-13FB-448C-B4FF215475B4}"/>
              </a:ext>
            </a:extLst>
          </p:cNvPr>
          <p:cNvSpPr txBox="1"/>
          <p:nvPr/>
        </p:nvSpPr>
        <p:spPr>
          <a:xfrm>
            <a:off x="791566" y="6380037"/>
            <a:ext cx="104092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+mn-ea"/>
                <a:cs typeface="Calibri" panose="020F0502020204030204" pitchFamily="34" charset="0"/>
              </a:rPr>
              <a:t>Y. Ma et al., "1200 V Fully-Vertical </a:t>
            </a:r>
            <a:r>
              <a:rPr lang="en-US" altLang="zh-CN" sz="1100" dirty="0" err="1">
                <a:latin typeface="+mn-ea"/>
                <a:cs typeface="Calibri" panose="020F0502020204030204" pitchFamily="34" charset="0"/>
              </a:rPr>
              <a:t>GaN</a:t>
            </a:r>
            <a:r>
              <a:rPr lang="en-US" altLang="zh-CN" sz="1100" dirty="0">
                <a:latin typeface="+mn-ea"/>
                <a:cs typeface="Calibri" panose="020F0502020204030204" pitchFamily="34" charset="0"/>
              </a:rPr>
              <a:t>-on-Si Power MOSFETs," in IEEE Electron Device Letters, vol. 46, no. 9, pp. 1513-1516, Sept. 2025, </a:t>
            </a:r>
            <a:r>
              <a:rPr lang="en-US" altLang="zh-CN" sz="1100" dirty="0" err="1">
                <a:latin typeface="+mn-ea"/>
                <a:cs typeface="Calibri" panose="020F0502020204030204" pitchFamily="34" charset="0"/>
              </a:rPr>
              <a:t>doi</a:t>
            </a:r>
            <a:r>
              <a:rPr lang="en-US" altLang="zh-CN" sz="1100" dirty="0">
                <a:latin typeface="+mn-ea"/>
                <a:cs typeface="Calibri" panose="020F0502020204030204" pitchFamily="34" charset="0"/>
              </a:rPr>
              <a:t>: 10.1109/LED.2025.3586947.</a:t>
            </a:r>
          </a:p>
          <a:p>
            <a:endParaRPr lang="zh-CN" altLang="en-US" sz="1100" dirty="0">
              <a:latin typeface="+mn-ea"/>
              <a:cs typeface="Calibri" panose="020F050202020403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E85D7D7-BBA4-9F71-1490-F73076CE9C7D}"/>
              </a:ext>
            </a:extLst>
          </p:cNvPr>
          <p:cNvSpPr txBox="1"/>
          <p:nvPr/>
        </p:nvSpPr>
        <p:spPr>
          <a:xfrm>
            <a:off x="775855" y="5743165"/>
            <a:ext cx="106245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fluorine-ion-implanted termination (FIT) technology opens up broad prospects for the application of vertical </a:t>
            </a:r>
            <a:r>
              <a:rPr lang="en-US" altLang="zh-CN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GaN</a:t>
            </a:r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trench MOSFETs in kilovolt-class power systems.</a:t>
            </a:r>
          </a:p>
          <a:p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406E797-3D6C-3649-87D3-A41DA8A62A73}"/>
              </a:ext>
            </a:extLst>
          </p:cNvPr>
          <p:cNvSpPr txBox="1"/>
          <p:nvPr/>
        </p:nvSpPr>
        <p:spPr>
          <a:xfrm>
            <a:off x="6334734" y="705341"/>
            <a:ext cx="56064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breakdown voltage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(BV) has been increased from 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567 V in the MET-MOS to 1277 V in the FIT-MOS</a:t>
            </a:r>
          </a:p>
          <a:p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addition, the FIT-MOS exhibits</a:t>
            </a: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threshold voltage (Vth) of 3.3 V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；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ON/OFF ratio of 10⁷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；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specific on-resistance (</a:t>
            </a:r>
            <a:r>
              <a:rPr lang="en-US" altLang="zh-C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Ron,sp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of 5.6 mΩ·cm²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；</a:t>
            </a: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on-state current density of 8 kA/cm²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3813785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3EE37-9D78-7F8E-8E6E-AB0051D22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BBA6726-7352-9D2B-5BBD-AA41C8675227}"/>
              </a:ext>
            </a:extLst>
          </p:cNvPr>
          <p:cNvSpPr txBox="1"/>
          <p:nvPr/>
        </p:nvSpPr>
        <p:spPr>
          <a:xfrm>
            <a:off x="682579" y="115909"/>
            <a:ext cx="10959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DEVELOPMENT: </a:t>
            </a:r>
            <a:r>
              <a:rPr lang="en-US" altLang="zh-CN" sz="2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Optcial</a:t>
            </a:r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Trigger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7247874-1896-7BCD-CD86-31FA8D268F6A}"/>
              </a:ext>
            </a:extLst>
          </p:cNvPr>
          <p:cNvSpPr txBox="1"/>
          <p:nvPr/>
        </p:nvSpPr>
        <p:spPr>
          <a:xfrm>
            <a:off x="764919" y="6274279"/>
            <a:ext cx="104092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J. -H. Hsia, J. A. </a:t>
            </a:r>
            <a:r>
              <a:rPr lang="en-US" altLang="zh-CN" sz="1100" dirty="0" err="1"/>
              <a:t>Perozek</a:t>
            </a:r>
            <a:r>
              <a:rPr lang="en-US" altLang="zh-CN" sz="1100" dirty="0"/>
              <a:t> and T. Palacios, "First Demonstration of Optically-Controlled Vertical </a:t>
            </a:r>
            <a:r>
              <a:rPr lang="en-US" altLang="zh-CN" sz="1100" dirty="0" err="1"/>
              <a:t>GaN</a:t>
            </a:r>
            <a:r>
              <a:rPr lang="en-US" altLang="zh-CN" sz="1100" dirty="0"/>
              <a:t> </a:t>
            </a:r>
            <a:r>
              <a:rPr lang="en-US" altLang="zh-CN" sz="1100" dirty="0" err="1"/>
              <a:t>finFET</a:t>
            </a:r>
            <a:r>
              <a:rPr lang="en-US" altLang="zh-CN" sz="1100" dirty="0"/>
              <a:t> for Power Applications," in </a:t>
            </a:r>
            <a:r>
              <a:rPr lang="en-US" altLang="zh-CN" sz="1100" i="1" dirty="0"/>
              <a:t>IEEE Electron Device Letters</a:t>
            </a:r>
            <a:r>
              <a:rPr lang="en-US" altLang="zh-CN" sz="1100" dirty="0"/>
              <a:t>, vol. 45, no. 5, pp. 774-777, May 2024, </a:t>
            </a:r>
            <a:r>
              <a:rPr lang="en-US" altLang="zh-CN" sz="1100" dirty="0" err="1"/>
              <a:t>doi</a:t>
            </a:r>
            <a:r>
              <a:rPr lang="en-US" altLang="zh-CN" sz="1100" dirty="0"/>
              <a:t>: 10.1109/LED.2024.3375856.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59710C8-3006-44A6-0134-9B39942ED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4674" y="699970"/>
            <a:ext cx="3019453" cy="218480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1E388FC-9097-886F-4B46-8ECAFDB87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447" y="1278431"/>
            <a:ext cx="5767605" cy="190232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B17C843-7A4C-23A4-B62A-C073B5813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428" y="3301958"/>
            <a:ext cx="2982026" cy="218992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ADB779D-00E8-7210-3235-F6845605BB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300" y="3327215"/>
            <a:ext cx="2914094" cy="213941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94ED9DD-AA6A-CF17-C5E6-BB69606964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1588" y="3214274"/>
            <a:ext cx="3701620" cy="2365295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B49F755E-9CC8-5A84-A816-07F16135FD20}"/>
              </a:ext>
            </a:extLst>
          </p:cNvPr>
          <p:cNvSpPr txBox="1"/>
          <p:nvPr/>
        </p:nvSpPr>
        <p:spPr>
          <a:xfrm>
            <a:off x="4069026" y="5523389"/>
            <a:ext cx="3094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Against other power switches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CA6A481-49F4-4B0F-501C-1180C2410161}"/>
              </a:ext>
            </a:extLst>
          </p:cNvPr>
          <p:cNvSpPr txBox="1"/>
          <p:nvPr/>
        </p:nvSpPr>
        <p:spPr>
          <a:xfrm>
            <a:off x="7638461" y="454463"/>
            <a:ext cx="1032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5BA5E6F-2286-37AE-8495-C57F4C61E344}"/>
              </a:ext>
            </a:extLst>
          </p:cNvPr>
          <p:cNvSpPr txBox="1"/>
          <p:nvPr/>
        </p:nvSpPr>
        <p:spPr>
          <a:xfrm>
            <a:off x="9793709" y="2747960"/>
            <a:ext cx="167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Optical Trigger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3809226-C524-5F04-C92D-8B55810F7577}"/>
              </a:ext>
            </a:extLst>
          </p:cNvPr>
          <p:cNvSpPr txBox="1"/>
          <p:nvPr/>
        </p:nvSpPr>
        <p:spPr>
          <a:xfrm>
            <a:off x="9121302" y="5523433"/>
            <a:ext cx="108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EFBD37D-B116-35D8-269D-9820726F23AE}"/>
              </a:ext>
            </a:extLst>
          </p:cNvPr>
          <p:cNvSpPr txBox="1"/>
          <p:nvPr/>
        </p:nvSpPr>
        <p:spPr>
          <a:xfrm flipH="1">
            <a:off x="1337956" y="5523389"/>
            <a:ext cx="1293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breakdown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E47324D-ED2B-49DB-3952-72DB7E05DB66}"/>
              </a:ext>
            </a:extLst>
          </p:cNvPr>
          <p:cNvSpPr txBox="1"/>
          <p:nvPr/>
        </p:nvSpPr>
        <p:spPr>
          <a:xfrm>
            <a:off x="1337956" y="785588"/>
            <a:ext cx="98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2024.05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0247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FFEA1-0FBE-9630-2E30-F7FA5682D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ED30DA0-C833-3BC3-1497-A913033DCEFF}"/>
              </a:ext>
            </a:extLst>
          </p:cNvPr>
          <p:cNvSpPr txBox="1"/>
          <p:nvPr/>
        </p:nvSpPr>
        <p:spPr>
          <a:xfrm>
            <a:off x="682579" y="115909"/>
            <a:ext cx="10959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DEVELOPMENT: Wrap-Around Gate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43639D-0DE5-DC8B-3A54-B0AD31291D69}"/>
              </a:ext>
            </a:extLst>
          </p:cNvPr>
          <p:cNvSpPr txBox="1"/>
          <p:nvPr/>
        </p:nvSpPr>
        <p:spPr>
          <a:xfrm>
            <a:off x="764919" y="6274279"/>
            <a:ext cx="104092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X. Wen </a:t>
            </a:r>
            <a:r>
              <a:rPr lang="en-US" altLang="zh-CN" sz="1100" i="1" dirty="0"/>
              <a:t>et al</a:t>
            </a:r>
            <a:r>
              <a:rPr lang="en-US" altLang="zh-CN" sz="1100" dirty="0"/>
              <a:t>., "984V/ 3.0mΩ⋅cm2 Normally-off and 817V/ 2.7mΩ⋅cm2 Normally-on </a:t>
            </a:r>
            <a:r>
              <a:rPr lang="en-US" altLang="zh-CN" sz="1100" dirty="0" err="1"/>
              <a:t>GaN</a:t>
            </a:r>
            <a:r>
              <a:rPr lang="en-US" altLang="zh-CN" sz="1100" dirty="0"/>
              <a:t> Trench CAVETs With Wrap-Around Gate," in </a:t>
            </a:r>
            <a:r>
              <a:rPr lang="en-US" altLang="zh-CN" sz="1100" i="1" dirty="0"/>
              <a:t>IEEE Electron Device Letters</a:t>
            </a:r>
            <a:r>
              <a:rPr lang="en-US" altLang="zh-CN" sz="1100" dirty="0"/>
              <a:t>, </a:t>
            </a:r>
            <a:r>
              <a:rPr lang="en-US" altLang="zh-CN" sz="1100" dirty="0" err="1"/>
              <a:t>doi</a:t>
            </a:r>
            <a:r>
              <a:rPr lang="en-US" altLang="zh-CN" sz="1100" dirty="0"/>
              <a:t>: 10.1109/LED.2025.3631862.</a:t>
            </a:r>
            <a:endParaRPr lang="zh-CN" altLang="en-US" sz="1100" dirty="0">
              <a:latin typeface="+mn-ea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DD58F5D-2A5B-496D-FB7B-86907AE62DAB}"/>
              </a:ext>
            </a:extLst>
          </p:cNvPr>
          <p:cNvSpPr txBox="1"/>
          <p:nvPr/>
        </p:nvSpPr>
        <p:spPr>
          <a:xfrm>
            <a:off x="764919" y="785588"/>
            <a:ext cx="98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2025.07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CEBE761-5862-CE74-8A20-7F7D52907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19" y="1154920"/>
            <a:ext cx="5690512" cy="18727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3171C7E-69C2-4AF6-3205-9BCBB87FE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79" y="3295916"/>
            <a:ext cx="3271312" cy="249378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DBC3245-48CF-2284-961D-3D7E64D3A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3917" y="3396977"/>
            <a:ext cx="4263164" cy="269565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6F41081-CE12-99A9-4019-D647986AA2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0518" y="17588"/>
            <a:ext cx="3656563" cy="337938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791EFA5D-9233-D188-0DE2-10C80F5786C6}"/>
              </a:ext>
            </a:extLst>
          </p:cNvPr>
          <p:cNvSpPr txBox="1"/>
          <p:nvPr/>
        </p:nvSpPr>
        <p:spPr>
          <a:xfrm>
            <a:off x="6238780" y="2148975"/>
            <a:ext cx="1228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S=4μm,</a:t>
            </a:r>
            <a:r>
              <a:rPr lang="zh-CN" alt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S=2μm, off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81AA6F28-4F3F-B852-9573-7EB7C6331C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9363" y="3279885"/>
            <a:ext cx="2472904" cy="250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337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E9697-AD20-54E4-4D2B-1B40C48A7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0C77FC5-6182-907B-20D0-BD74BFED29E7}"/>
              </a:ext>
            </a:extLst>
          </p:cNvPr>
          <p:cNvSpPr txBox="1"/>
          <p:nvPr/>
        </p:nvSpPr>
        <p:spPr>
          <a:xfrm>
            <a:off x="682579" y="115909"/>
            <a:ext cx="10959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C4BD58-3DFD-2E4A-3675-AE23636D28AE}"/>
              </a:ext>
            </a:extLst>
          </p:cNvPr>
          <p:cNvSpPr txBox="1"/>
          <p:nvPr/>
        </p:nvSpPr>
        <p:spPr>
          <a:xfrm>
            <a:off x="775855" y="1089891"/>
            <a:ext cx="1064029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[1] </a:t>
            </a:r>
            <a:r>
              <a:rPr lang="en-US" altLang="zh-CN" dirty="0" err="1"/>
              <a:t>Langpoklakpam</a:t>
            </a:r>
            <a:r>
              <a:rPr lang="en-US" altLang="zh-CN" dirty="0"/>
              <a:t> C, Liu A-C, Hsiao Y-K, Lin C-H, Kuo H-C. Vertical </a:t>
            </a:r>
            <a:r>
              <a:rPr lang="en-US" altLang="zh-CN" dirty="0" err="1"/>
              <a:t>GaN</a:t>
            </a:r>
            <a:r>
              <a:rPr lang="en-US" altLang="zh-CN" dirty="0"/>
              <a:t> MOSFET Power Devices. </a:t>
            </a:r>
            <a:r>
              <a:rPr lang="en-US" altLang="zh-CN" i="1" dirty="0"/>
              <a:t>Micromachines</a:t>
            </a:r>
            <a:r>
              <a:rPr lang="en-US" altLang="zh-CN" dirty="0"/>
              <a:t>. 2023; 14(10):1937. </a:t>
            </a:r>
            <a:r>
              <a:rPr lang="en-US" altLang="zh-CN" dirty="0">
                <a:hlinkClick r:id="rId2"/>
              </a:rPr>
              <a:t>https://doi.org/10.3390/mi14101937</a:t>
            </a:r>
            <a:endParaRPr lang="en-US" altLang="zh-CN" dirty="0"/>
          </a:p>
          <a:p>
            <a:r>
              <a:rPr lang="en-US" altLang="zh-CN" dirty="0"/>
              <a:t>[2]</a:t>
            </a:r>
            <a:r>
              <a:rPr lang="zh-CN" altLang="en-US" dirty="0"/>
              <a:t> </a:t>
            </a:r>
            <a:r>
              <a:rPr lang="en-US" altLang="zh-CN" dirty="0"/>
              <a:t>Li, J., Zhu, R., Ming Wong, K., &amp; May Lau, K. (2025). Fully-Vertical </a:t>
            </a:r>
            <a:r>
              <a:rPr lang="en-US" altLang="zh-CN" dirty="0" err="1"/>
              <a:t>GaN</a:t>
            </a:r>
            <a:r>
              <a:rPr lang="en-US" altLang="zh-CN" dirty="0"/>
              <a:t>-on-</a:t>
            </a:r>
            <a:r>
              <a:rPr lang="en-US" altLang="zh-CN" dirty="0" err="1"/>
              <a:t>SiC</a:t>
            </a:r>
            <a:r>
              <a:rPr lang="en-US" altLang="zh-CN" dirty="0"/>
              <a:t> Trench MOSFETs. </a:t>
            </a:r>
            <a:r>
              <a:rPr lang="en-US" altLang="zh-CN" i="1" dirty="0"/>
              <a:t>IEEE Electron Device Letters</a:t>
            </a:r>
            <a:r>
              <a:rPr lang="en-US" altLang="zh-CN" dirty="0"/>
              <a:t>, </a:t>
            </a:r>
            <a:r>
              <a:rPr lang="en-US" altLang="zh-CN" i="1" dirty="0"/>
              <a:t>46</a:t>
            </a:r>
            <a:r>
              <a:rPr lang="en-US" altLang="zh-CN" dirty="0"/>
              <a:t>(2), 282–285. </a:t>
            </a:r>
            <a:r>
              <a:rPr lang="en-US" altLang="zh-CN" dirty="0">
                <a:hlinkClick r:id="rId3"/>
              </a:rPr>
              <a:t>https://doi.org/10.1109/led.2024.3520200</a:t>
            </a:r>
            <a:endParaRPr lang="en-US" altLang="zh-CN" dirty="0"/>
          </a:p>
          <a:p>
            <a:r>
              <a:rPr lang="en-US" altLang="zh-CN" dirty="0"/>
              <a:t>[3] </a:t>
            </a:r>
            <a:r>
              <a:rPr lang="en-US" altLang="zh-CN" dirty="0">
                <a:latin typeface="+mn-ea"/>
                <a:cs typeface="Calibri" panose="020F0502020204030204" pitchFamily="34" charset="0"/>
              </a:rPr>
              <a:t>Y. Ma et al., "1200 V Fully-Vertical </a:t>
            </a:r>
            <a:r>
              <a:rPr lang="en-US" altLang="zh-CN" dirty="0" err="1">
                <a:latin typeface="+mn-ea"/>
                <a:cs typeface="Calibri" panose="020F0502020204030204" pitchFamily="34" charset="0"/>
              </a:rPr>
              <a:t>GaN</a:t>
            </a:r>
            <a:r>
              <a:rPr lang="en-US" altLang="zh-CN" dirty="0">
                <a:latin typeface="+mn-ea"/>
                <a:cs typeface="Calibri" panose="020F0502020204030204" pitchFamily="34" charset="0"/>
              </a:rPr>
              <a:t>-on-Si Power MOSFETs," in IEEE Electron Device Letters, vol. 46, no. 9, pp. 1513-1516, Sept. 2025, </a:t>
            </a:r>
            <a:r>
              <a:rPr lang="en-US" altLang="zh-CN" dirty="0" err="1">
                <a:latin typeface="+mn-ea"/>
                <a:cs typeface="Calibri" panose="020F0502020204030204" pitchFamily="34" charset="0"/>
              </a:rPr>
              <a:t>doi</a:t>
            </a:r>
            <a:r>
              <a:rPr lang="en-US" altLang="zh-CN" dirty="0">
                <a:latin typeface="+mn-ea"/>
                <a:cs typeface="Calibri" panose="020F0502020204030204" pitchFamily="34" charset="0"/>
              </a:rPr>
              <a:t>: 10.1109/LED.2025.3586947.</a:t>
            </a:r>
          </a:p>
          <a:p>
            <a:r>
              <a:rPr lang="en-US" altLang="zh-CN" dirty="0">
                <a:latin typeface="+mn-ea"/>
                <a:cs typeface="Calibri" panose="020F0502020204030204" pitchFamily="34" charset="0"/>
              </a:rPr>
              <a:t>[4] </a:t>
            </a:r>
            <a:r>
              <a:rPr lang="en-US" altLang="zh-CN" dirty="0"/>
              <a:t>J. -H. Hsia, J. A. </a:t>
            </a:r>
            <a:r>
              <a:rPr lang="en-US" altLang="zh-CN" dirty="0" err="1"/>
              <a:t>Perozek</a:t>
            </a:r>
            <a:r>
              <a:rPr lang="en-US" altLang="zh-CN" dirty="0"/>
              <a:t> and T. Palacios, "First Demonstration of Optically-Controlled Vertical </a:t>
            </a:r>
            <a:r>
              <a:rPr lang="en-US" altLang="zh-CN" dirty="0" err="1"/>
              <a:t>GaN</a:t>
            </a:r>
            <a:r>
              <a:rPr lang="en-US" altLang="zh-CN" dirty="0"/>
              <a:t> </a:t>
            </a:r>
            <a:r>
              <a:rPr lang="en-US" altLang="zh-CN" dirty="0" err="1"/>
              <a:t>finFET</a:t>
            </a:r>
            <a:r>
              <a:rPr lang="en-US" altLang="zh-CN" dirty="0"/>
              <a:t> for Power Applications," in </a:t>
            </a:r>
            <a:r>
              <a:rPr lang="en-US" altLang="zh-CN" i="1" dirty="0"/>
              <a:t>IEEE Electron Device Letters</a:t>
            </a:r>
            <a:r>
              <a:rPr lang="en-US" altLang="zh-CN" dirty="0"/>
              <a:t>, vol. 45, no. 5, pp. 774-777, May 2024, </a:t>
            </a:r>
            <a:r>
              <a:rPr lang="en-US" altLang="zh-CN" dirty="0" err="1"/>
              <a:t>doi</a:t>
            </a:r>
            <a:r>
              <a:rPr lang="en-US" altLang="zh-CN" dirty="0"/>
              <a:t>: 10.1109/LED.2024.3375856.</a:t>
            </a:r>
          </a:p>
          <a:p>
            <a:r>
              <a:rPr lang="en-US" altLang="zh-CN" dirty="0">
                <a:latin typeface="+mn-ea"/>
                <a:cs typeface="Calibri" panose="020F0502020204030204" pitchFamily="34" charset="0"/>
              </a:rPr>
              <a:t>[5] </a:t>
            </a:r>
            <a:r>
              <a:rPr lang="en-US" altLang="zh-CN" dirty="0"/>
              <a:t>X. Wen </a:t>
            </a:r>
            <a:r>
              <a:rPr lang="en-US" altLang="zh-CN" i="1" dirty="0"/>
              <a:t>et al</a:t>
            </a:r>
            <a:r>
              <a:rPr lang="en-US" altLang="zh-CN" dirty="0"/>
              <a:t>., "984V/ 3.0mΩ⋅cm2 Normally-off and 817V/ 2.7mΩ⋅cm2 Normally-on </a:t>
            </a:r>
            <a:r>
              <a:rPr lang="en-US" altLang="zh-CN" dirty="0" err="1"/>
              <a:t>GaN</a:t>
            </a:r>
            <a:r>
              <a:rPr lang="en-US" altLang="zh-CN" dirty="0"/>
              <a:t> Trench CAVETs With Wrap-Around Gate," in </a:t>
            </a:r>
            <a:r>
              <a:rPr lang="en-US" altLang="zh-CN" i="1" dirty="0"/>
              <a:t>IEEE Electron Device Letters</a:t>
            </a:r>
            <a:r>
              <a:rPr lang="en-US" altLang="zh-CN" dirty="0"/>
              <a:t>, </a:t>
            </a:r>
            <a:r>
              <a:rPr lang="en-US" altLang="zh-CN" dirty="0" err="1"/>
              <a:t>doi</a:t>
            </a:r>
            <a:r>
              <a:rPr lang="en-US" altLang="zh-CN" dirty="0"/>
              <a:t>: 10.1109/LED.2025.3631862.</a:t>
            </a:r>
            <a:endParaRPr lang="zh-CN" altLang="en-US" dirty="0">
              <a:latin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0061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D54A6-91F8-CE8F-59B2-BB488915E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F12261F-0E9B-D4D1-6F4C-170BD30758AC}"/>
              </a:ext>
            </a:extLst>
          </p:cNvPr>
          <p:cNvSpPr txBox="1"/>
          <p:nvPr/>
        </p:nvSpPr>
        <p:spPr>
          <a:xfrm>
            <a:off x="3722254" y="2828835"/>
            <a:ext cx="47474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zh-CN" altLang="en-US" sz="72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93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1026</TotalTime>
  <Words>1872</Words>
  <Application>Microsoft Office PowerPoint</Application>
  <PresentationFormat>宽屏</PresentationFormat>
  <Paragraphs>167</Paragraphs>
  <Slides>29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5" baseType="lpstr">
      <vt:lpstr>Microsoft JhengHei UI</vt:lpstr>
      <vt:lpstr>等线</vt:lpstr>
      <vt:lpstr>等线 Light</vt:lpstr>
      <vt:lpstr>Arial</vt:lpstr>
      <vt:lpstr>Calibri</vt:lpstr>
      <vt:lpstr>Office 主题​​</vt:lpstr>
      <vt:lpstr>Recent Progress in Vertical GaN Power Devices (V-GaN) the advantages and applications  Compare with Lateral GaN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衍宁 何</dc:creator>
  <cp:lastModifiedBy>衍宁 何</cp:lastModifiedBy>
  <cp:revision>10</cp:revision>
  <dcterms:created xsi:type="dcterms:W3CDTF">2025-11-28T14:08:02Z</dcterms:created>
  <dcterms:modified xsi:type="dcterms:W3CDTF">2025-12-01T09:07:15Z</dcterms:modified>
</cp:coreProperties>
</file>