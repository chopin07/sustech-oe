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296" r:id="rId3"/>
    <p:sldId id="297" r:id="rId4"/>
    <p:sldId id="298" r:id="rId5"/>
    <p:sldId id="299" r:id="rId6"/>
    <p:sldId id="283" r:id="rId7"/>
    <p:sldId id="300" r:id="rId8"/>
    <p:sldId id="301" r:id="rId9"/>
    <p:sldId id="302" r:id="rId10"/>
    <p:sldId id="303" r:id="rId11"/>
    <p:sldId id="304" r:id="rId12"/>
    <p:sldId id="305" r:id="rId13"/>
    <p:sldId id="284" r:id="rId14"/>
    <p:sldId id="306" r:id="rId15"/>
    <p:sldId id="307" r:id="rId16"/>
    <p:sldId id="308" r:id="rId17"/>
    <p:sldId id="282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E34AE-51A6-6E5E-73E2-965E39377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6A7328-5D33-F22A-1B7D-18DF5065E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A0C650-C25A-0A53-FD3E-6035688C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4DBBBC-9E58-DE98-7E8C-41FD7A2D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B3512D-DB76-FE5B-6AF2-708D0A74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434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71AD6-C2DB-4DB8-79B1-C9C8023C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900596-378C-0B5F-1E19-654ACA04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57B028-2816-7931-0F6B-C890B3B6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D38831-5EA4-A6C4-8CA8-20ACC350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D11B3-31B7-41F3-C87E-0C55436E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0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3D32E-439D-975B-799A-4E748359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C1781A-8397-A69B-48BD-8BBEC5563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4B5D3-541B-3BF1-D019-153A736F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04376E-9CD7-A150-B62D-5D90FDF3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83D0F9-40AA-7412-189B-0E18E046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6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F209D-3153-8256-59B2-C7CBB4B5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D05C45-D09C-E750-2104-D1F86D092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6E150B-A3A6-1434-A56D-7D0FB9AF0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8CBF48-51CB-0F9E-C745-0456B5F5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0455A9-7C6D-008E-746C-78D9D0DC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20D28C-03E2-CF1D-41C4-1EF26E85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10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9F73A-0901-F1E8-0AEC-F09D3D02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CE5573-F2DE-8023-D344-087843559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E09E2E-D2E1-B050-AB59-D814ACC65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72E619-7E2A-AE8E-144C-1781BAC4D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421B84-DAC1-58AC-5CF8-5DB9AB720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5E565C-D142-3C33-BECE-E65C07F5F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FFA7E6-5D27-2147-0E9A-401FD496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A3AEB7-94D4-5D86-9DF1-8044A182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73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BBDD3-29D1-3275-E5E7-E1C42C16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C9A4B6-4009-796E-049F-D7732CB6D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5CC127-F491-092A-4B1F-D3B26307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58B27E-D1FE-E398-A2B4-258E6C6F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505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12F37A-4BA3-84A9-97C5-62EDA0D6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A109E4-0DD6-B3C1-89EB-71E863E3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561A67-8B3A-546F-76B6-0512D3E9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72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1914A-3A25-46AB-5FE1-0747BAD50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8773E-B572-217D-7044-759724E1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7CC34A-15AC-D664-C4C1-A75E6B7BD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EBF00A-4C84-DF8E-B3A3-A8C54091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E6E92D-76E2-5CDD-0458-7933BBC4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B9A313-6D71-9027-9140-BA105757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05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C644-784B-E15D-3C8C-151FAAEF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D47C6B-E60B-E8C3-8970-FBB7C9373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13A523-4E23-87A7-BE38-1A02A2B95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BC3CBE-2A07-F28E-070B-FB05B7B3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05F1FC-39F8-62B5-A055-855E4159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05A949-3D0C-E442-D557-BD0C4302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28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94414-00ED-C831-BD25-352E9201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E3AD5D-E94A-6DC1-84EB-A9F0F08F7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F5F92B-93A5-6623-B1B7-481B946D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4435AB-FE63-94AA-3216-521A601F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73AB3-1565-D10A-98FA-70645EB8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93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11F1B8-1D01-CA84-501C-7BBC6E563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FC1FE2-06CA-2CED-7EF6-F5F0219CD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F1DAD3-7787-87FF-A770-863DCE2F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5B36BE-0BB9-07CC-8763-8DB6E6F3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2F159-E9AB-10A7-3A51-49A18265D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14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E5D366-DB88-B30E-5E17-876D4DA7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4D9119-9310-7AD8-9ED8-3F98E3481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1F548-DD4B-0E14-B810-6B0902626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C3E8B-3AB5-4CEB-906D-C3947A30EA49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962145-7A80-D673-8CAF-96C57AFEA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A902A-89B9-4C43-319B-540ADEBAF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64FE4-A1F1-4215-94E6-FD5EB1D67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mi14101937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led.2024.3520200" TargetMode="External"/><Relationship Id="rId2" Type="http://schemas.openxmlformats.org/officeDocument/2006/relationships/hyperlink" Target="https://doi.org/10.3390/mi14101937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doi.org/10.3390/mi14101937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i.org/10.3390/mi14101937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led.2024.3520200" TargetMode="External"/><Relationship Id="rId2" Type="http://schemas.openxmlformats.org/officeDocument/2006/relationships/hyperlink" Target="https://doi.org/10.3390/mi14101937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B53D2E-FF71-4DAD-8D9F-6FB6E53582EA}"/>
              </a:ext>
            </a:extLst>
          </p:cNvPr>
          <p:cNvSpPr txBox="1"/>
          <p:nvPr/>
        </p:nvSpPr>
        <p:spPr>
          <a:xfrm>
            <a:off x="1234440" y="5066051"/>
            <a:ext cx="10062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 IV: Future Development of Vertical </a:t>
            </a:r>
            <a:r>
              <a:rPr lang="en-US" altLang="zh-CN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Devices</a:t>
            </a:r>
            <a:endParaRPr lang="zh-CN" altLang="en-US" sz="24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8D7230-21E5-4CFC-9692-DD88B238E5D1}"/>
              </a:ext>
            </a:extLst>
          </p:cNvPr>
          <p:cNvSpPr txBox="1"/>
          <p:nvPr/>
        </p:nvSpPr>
        <p:spPr>
          <a:xfrm>
            <a:off x="1234440" y="3675888"/>
            <a:ext cx="997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 Ⅲ: The way to improve the performance of </a:t>
            </a:r>
            <a:r>
              <a:rPr lang="en-US" altLang="zh-C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vertical power device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B941F1-B1A3-4954-967E-CA9CF4EC0245}"/>
              </a:ext>
            </a:extLst>
          </p:cNvPr>
          <p:cNvSpPr txBox="1"/>
          <p:nvPr/>
        </p:nvSpPr>
        <p:spPr>
          <a:xfrm>
            <a:off x="1234440" y="2285725"/>
            <a:ext cx="10062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 II Vertical </a:t>
            </a:r>
            <a:r>
              <a:rPr lang="en-US" altLang="zh-C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Process</a:t>
            </a:r>
            <a:endParaRPr lang="zh-CN" altLang="en-US" sz="24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CA6A9-A06A-42FA-8B92-F24DD7F31FB2}"/>
              </a:ext>
            </a:extLst>
          </p:cNvPr>
          <p:cNvSpPr txBox="1"/>
          <p:nvPr/>
        </p:nvSpPr>
        <p:spPr>
          <a:xfrm>
            <a:off x="1234440" y="895562"/>
            <a:ext cx="10062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 I  the merit of </a:t>
            </a:r>
            <a:r>
              <a:rPr lang="en-US" altLang="zh-C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vertical power device</a:t>
            </a:r>
            <a:endParaRPr lang="zh-CN" altLang="en-US" sz="24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544A72-F10E-4C46-8E54-8E0E1BDF35B5}"/>
              </a:ext>
            </a:extLst>
          </p:cNvPr>
          <p:cNvSpPr txBox="1"/>
          <p:nvPr/>
        </p:nvSpPr>
        <p:spPr>
          <a:xfrm>
            <a:off x="9427464" y="6086882"/>
            <a:ext cx="229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Presenter: He </a:t>
            </a:r>
            <a:r>
              <a:rPr lang="en-US" altLang="zh-CN" b="1" dirty="0" err="1"/>
              <a:t>Yanning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4941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D6B24-E103-108E-5AEA-94B56488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EDDE85F-C0F4-F3C7-5B9A-8AFD84FFEE74}"/>
              </a:ext>
            </a:extLst>
          </p:cNvPr>
          <p:cNvSpPr txBox="1"/>
          <p:nvPr/>
        </p:nvSpPr>
        <p:spPr>
          <a:xfrm>
            <a:off x="682581" y="115909"/>
            <a:ext cx="4637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 ICNS-15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CD5B17-6835-BFAF-FA74-EFFBC98D3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901793"/>
            <a:ext cx="7744906" cy="280074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E91C656-1CF7-D249-7CC8-E17652247584}"/>
              </a:ext>
            </a:extLst>
          </p:cNvPr>
          <p:cNvSpPr txBox="1"/>
          <p:nvPr/>
        </p:nvSpPr>
        <p:spPr>
          <a:xfrm>
            <a:off x="1052945" y="3995678"/>
            <a:ext cx="103354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ICNS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fully known as the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 Conference on Nitride Semiconductors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is one of the most important academic conferences and exhibition events in the field of III-nitride semiconductors. 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Held biennially since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1995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conference focuses on cutting-edge research in materials science, device development, and applications of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III-V nitride semiconductors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as gallium nitride (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provides a global platform for researchers, scientists, and engineers to exchange ideas, covering the full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chain from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crystal growth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doping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heterostructures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optoelectronic devices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LEDs and lasers) and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electronic devices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HEMTs).</a:t>
            </a: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21376A-0C8F-CA93-8CC4-F92337DABD57}"/>
              </a:ext>
            </a:extLst>
          </p:cNvPr>
          <p:cNvSpPr txBox="1"/>
          <p:nvPr/>
        </p:nvSpPr>
        <p:spPr>
          <a:xfrm>
            <a:off x="6220690" y="177464"/>
            <a:ext cx="5763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Five Research Achievements from the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Research Group at Shenzhen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Pinghu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Laboratory Showcased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942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B270-0BDE-1257-7925-B24D0EA7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5FB2FF-5D9E-B9B7-4877-88B673D955AC}"/>
              </a:ext>
            </a:extLst>
          </p:cNvPr>
          <p:cNvSpPr txBox="1"/>
          <p:nvPr/>
        </p:nvSpPr>
        <p:spPr>
          <a:xfrm>
            <a:off x="682580" y="115909"/>
            <a:ext cx="4905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HEMT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BD9598-90A5-8767-140B-A8D65FC58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87" y="1376633"/>
            <a:ext cx="4489783" cy="20224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6CC082-9D84-73B2-24DF-A17407C1363D}"/>
              </a:ext>
            </a:extLst>
          </p:cNvPr>
          <p:cNvSpPr txBox="1"/>
          <p:nvPr/>
        </p:nvSpPr>
        <p:spPr>
          <a:xfrm>
            <a:off x="5320144" y="1053467"/>
            <a:ext cx="6751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July 10, 2025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Dr. Li Zilan, founder of Guangdong ZIENER, attended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15th International Conference on Nitride Semiconductors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(ICNS-15).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D4C394-510F-9D59-6E91-9ED2CF8C8F3B}"/>
              </a:ext>
            </a:extLst>
          </p:cNvPr>
          <p:cNvSpPr txBox="1"/>
          <p:nvPr/>
        </p:nvSpPr>
        <p:spPr>
          <a:xfrm>
            <a:off x="5320144" y="2078612"/>
            <a:ext cx="6751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presentation highlighted the team’s original breakthroughs in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silicon-based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vertical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devices (vertical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HEMTs) and their promising application prospects.</a:t>
            </a: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DEFEB2-997D-733A-A547-A4C3E5D4A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80" y="4136563"/>
            <a:ext cx="4489783" cy="1823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7BCB085-615E-6342-39EB-393BC8D88076}"/>
              </a:ext>
            </a:extLst>
          </p:cNvPr>
          <p:cNvSpPr txBox="1"/>
          <p:nvPr/>
        </p:nvSpPr>
        <p:spPr>
          <a:xfrm>
            <a:off x="766618" y="6123709"/>
            <a:ext cx="367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x-SEM structure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F01627-BA8B-1527-5D1D-C0C9C4ED4653}"/>
              </a:ext>
            </a:extLst>
          </p:cNvPr>
          <p:cNvSpPr txBox="1"/>
          <p:nvPr/>
        </p:nvSpPr>
        <p:spPr>
          <a:xfrm>
            <a:off x="5320144" y="3446053"/>
            <a:ext cx="66686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 a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world-first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directly epitaxially growing a vertical two-dimensional electron gas channel on a silicon substrate. </a:t>
            </a:r>
          </a:p>
          <a:p>
            <a:endParaRPr lang="en-US" altLang="zh-CN" dirty="0"/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terms of process integration, the team achieved a fully vertical electrode layout, which can significantly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device heat dissipation efficiency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Supported by an advanced process platform, this innovative technology exhibits excellent manufacturability for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high-volume production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4460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D8379-61B5-C098-EB65-14AA4014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CACA7C-903B-EE88-D912-384FC48D1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" y="896786"/>
            <a:ext cx="12144630" cy="506442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1B3253C-56EE-37C7-0422-D574403E9699}"/>
              </a:ext>
            </a:extLst>
          </p:cNvPr>
          <p:cNvSpPr txBox="1"/>
          <p:nvPr/>
        </p:nvSpPr>
        <p:spPr>
          <a:xfrm>
            <a:off x="682580" y="115909"/>
            <a:ext cx="667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HEMT Technology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27C680-0F59-1F1F-5BAA-8E662297D6CE}"/>
              </a:ext>
            </a:extLst>
          </p:cNvPr>
          <p:cNvSpPr txBox="1"/>
          <p:nvPr/>
        </p:nvSpPr>
        <p:spPr>
          <a:xfrm>
            <a:off x="3860800" y="610523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HEMT Power Device Technology</a:t>
            </a:r>
          </a:p>
        </p:txBody>
      </p:sp>
    </p:spTree>
    <p:extLst>
      <p:ext uri="{BB962C8B-B14F-4D97-AF65-F5344CB8AC3E}">
        <p14:creationId xmlns:p14="http://schemas.microsoft.com/office/powerpoint/2010/main" val="262026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07D4-E6B9-D0C3-A7BD-15C8FF26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830676-91CA-5B4D-5080-2A4A2ED96A13}"/>
              </a:ext>
            </a:extLst>
          </p:cNvPr>
          <p:cNvSpPr txBox="1"/>
          <p:nvPr/>
        </p:nvSpPr>
        <p:spPr>
          <a:xfrm>
            <a:off x="682580" y="115909"/>
            <a:ext cx="414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What is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5A4E72-1241-1A25-F5CA-B752F8ED6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5" y="742575"/>
            <a:ext cx="11574490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6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A75E5-03F1-2B34-B634-294506FB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0C5A31-9989-9DCE-DA34-CBB6BF0DB1C8}"/>
              </a:ext>
            </a:extLst>
          </p:cNvPr>
          <p:cNvSpPr txBox="1"/>
          <p:nvPr/>
        </p:nvSpPr>
        <p:spPr>
          <a:xfrm>
            <a:off x="682581" y="115909"/>
            <a:ext cx="4877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Science of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828A97-507F-E92E-1675-09D4626D9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9" y="639129"/>
            <a:ext cx="11984122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0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A5FC-B787-46DF-3693-539AD664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2C4448-4972-F69C-4561-1587E07290C9}"/>
              </a:ext>
            </a:extLst>
          </p:cNvPr>
          <p:cNvSpPr txBox="1"/>
          <p:nvPr/>
        </p:nvSpPr>
        <p:spPr>
          <a:xfrm>
            <a:off x="682580" y="115909"/>
            <a:ext cx="5912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Simple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Structure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9AE018-CE7A-6A25-DB07-0B5A3D4E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7" y="628259"/>
            <a:ext cx="1189838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7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2BD5-93D2-CC98-DF7F-D27A9A13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5FD14A7-5E0E-16F1-9A4F-A30834C5EE23}"/>
              </a:ext>
            </a:extLst>
          </p:cNvPr>
          <p:cNvSpPr txBox="1"/>
          <p:nvPr/>
        </p:nvSpPr>
        <p:spPr>
          <a:xfrm>
            <a:off x="682581" y="115909"/>
            <a:ext cx="4314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Property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5D8835-A766-0515-E1FC-576CCA862286}"/>
              </a:ext>
            </a:extLst>
          </p:cNvPr>
          <p:cNvSpPr txBox="1"/>
          <p:nvPr/>
        </p:nvSpPr>
        <p:spPr>
          <a:xfrm>
            <a:off x="682581" y="851140"/>
            <a:ext cx="4018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Properties</a:t>
            </a:r>
            <a:endParaRPr lang="zh-CN" altLang="en-US" sz="28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714831-E6BB-7A95-0585-8B1759715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81" y="1703811"/>
            <a:ext cx="4414355" cy="368525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2C2FD43-DFB9-173D-BAB0-70841585ED7E}"/>
              </a:ext>
            </a:extLst>
          </p:cNvPr>
          <p:cNvSpPr txBox="1"/>
          <p:nvPr/>
        </p:nvSpPr>
        <p:spPr>
          <a:xfrm>
            <a:off x="5334000" y="1971685"/>
            <a:ext cx="665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flows vertically from the bottom to the top surface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B79AAF-2939-E2CA-5BCD-CD877AAF965C}"/>
              </a:ext>
            </a:extLst>
          </p:cNvPr>
          <p:cNvSpPr txBox="1"/>
          <p:nvPr/>
        </p:nvSpPr>
        <p:spPr>
          <a:xfrm>
            <a:off x="5334000" y="2891582"/>
            <a:ext cx="665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Don’t have a 2DEG drain drift region near the surface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1E3F31-B01F-F625-CB7E-60267BA82DFD}"/>
              </a:ext>
            </a:extLst>
          </p:cNvPr>
          <p:cNvSpPr txBox="1"/>
          <p:nvPr/>
        </p:nvSpPr>
        <p:spPr>
          <a:xfrm>
            <a:off x="5334000" y="3811479"/>
            <a:ext cx="665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 the thickness of the N-drift layer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803F1-30B8-43D2-D9AC-BFD6317B8839}"/>
              </a:ext>
            </a:extLst>
          </p:cNvPr>
          <p:cNvSpPr txBox="1"/>
          <p:nvPr/>
        </p:nvSpPr>
        <p:spPr>
          <a:xfrm>
            <a:off x="5333999" y="4731376"/>
            <a:ext cx="665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Ability to exhibit avalanche breakdown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8DB677-C14D-0142-585F-398CD5DF6DAB}"/>
              </a:ext>
            </a:extLst>
          </p:cNvPr>
          <p:cNvSpPr txBox="1"/>
          <p:nvPr/>
        </p:nvSpPr>
        <p:spPr>
          <a:xfrm>
            <a:off x="978257" y="6355726"/>
            <a:ext cx="10235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Langpoklakpam</a:t>
            </a:r>
            <a:r>
              <a:rPr lang="en-US" altLang="zh-CN" sz="1100" dirty="0"/>
              <a:t> C, Liu A-C, Hsiao Y-K, Lin C-H, Kuo H-C.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MOSFET Power Devices. </a:t>
            </a:r>
            <a:r>
              <a:rPr lang="en-US" altLang="zh-CN" sz="1100" i="1" dirty="0"/>
              <a:t>Micromachines</a:t>
            </a:r>
            <a:r>
              <a:rPr lang="en-US" altLang="zh-CN" sz="1100" dirty="0"/>
              <a:t>. 2023; 14(10):1937. </a:t>
            </a:r>
            <a:r>
              <a:rPr lang="en-US" altLang="zh-CN" sz="1100" dirty="0">
                <a:hlinkClick r:id="rId3"/>
              </a:rPr>
              <a:t>https://doi.org/10.3390/mi14101937</a:t>
            </a:r>
            <a:endParaRPr lang="en-US" altLang="zh-CN" sz="1100" dirty="0"/>
          </a:p>
          <a:p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1967916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674AE-4067-1C36-ECE1-A2AF5F36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ADCE077-9CAE-19F4-7FEF-213E8D16CE42}"/>
              </a:ext>
            </a:extLst>
          </p:cNvPr>
          <p:cNvSpPr txBox="1"/>
          <p:nvPr/>
        </p:nvSpPr>
        <p:spPr>
          <a:xfrm>
            <a:off x="549512" y="6218871"/>
            <a:ext cx="1109297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Langpoklakpam</a:t>
            </a:r>
            <a:r>
              <a:rPr lang="en-US" altLang="zh-CN" sz="1100" dirty="0"/>
              <a:t> C, Liu A-C, Hsiao Y-K, Lin C-H, Kuo H-C.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MOSFET Power Devices. </a:t>
            </a:r>
            <a:r>
              <a:rPr lang="en-US" altLang="zh-CN" sz="1100" i="1" dirty="0"/>
              <a:t>Micromachines</a:t>
            </a:r>
            <a:r>
              <a:rPr lang="en-US" altLang="zh-CN" sz="1100" dirty="0"/>
              <a:t>. 2023; 14(10):1937. </a:t>
            </a:r>
            <a:r>
              <a:rPr lang="en-US" altLang="zh-CN" sz="1100" dirty="0">
                <a:hlinkClick r:id="rId2"/>
              </a:rPr>
              <a:t>https://doi.org/10.3390/mi14101937</a:t>
            </a:r>
            <a:endParaRPr lang="en-US" altLang="zh-CN" sz="1100" dirty="0"/>
          </a:p>
          <a:p>
            <a:r>
              <a:rPr lang="en-US" altLang="zh-CN" sz="1100" dirty="0"/>
              <a:t>Li, J., Zhu, R., Ming Wong, K., &amp; May Lau, K. (2025). Fully-Vertical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-on-</a:t>
            </a:r>
            <a:r>
              <a:rPr lang="en-US" altLang="zh-CN" sz="1100" dirty="0" err="1"/>
              <a:t>SiC</a:t>
            </a:r>
            <a:r>
              <a:rPr lang="en-US" altLang="zh-CN" sz="1100" dirty="0"/>
              <a:t> Trench MOSFETs. </a:t>
            </a:r>
            <a:r>
              <a:rPr lang="en-US" altLang="zh-CN" sz="1100" i="1" dirty="0"/>
              <a:t>IEEE Electron Device Letters</a:t>
            </a:r>
            <a:r>
              <a:rPr lang="en-US" altLang="zh-CN" sz="1100" dirty="0"/>
              <a:t>, </a:t>
            </a:r>
            <a:r>
              <a:rPr lang="en-US" altLang="zh-CN" sz="1100" i="1" dirty="0"/>
              <a:t>46</a:t>
            </a:r>
            <a:r>
              <a:rPr lang="en-US" altLang="zh-CN" sz="1100" dirty="0"/>
              <a:t>(2), 282–285. </a:t>
            </a:r>
            <a:r>
              <a:rPr lang="en-US" altLang="zh-CN" sz="1100" dirty="0">
                <a:hlinkClick r:id="rId3"/>
              </a:rPr>
              <a:t>https://doi.org/10.1109/led.2024.3520200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en-US" altLang="zh-CN" dirty="0"/>
              <a:t>‌</a:t>
            </a:r>
          </a:p>
          <a:p>
            <a:endParaRPr lang="en-US" altLang="zh-CN" sz="11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BABA6E-A42F-A676-8DEC-A6492F4CF7D4}"/>
              </a:ext>
            </a:extLst>
          </p:cNvPr>
          <p:cNvSpPr txBox="1"/>
          <p:nvPr/>
        </p:nvSpPr>
        <p:spPr>
          <a:xfrm>
            <a:off x="682580" y="115909"/>
            <a:ext cx="4986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Vertical Current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2845C2-E9D0-DF69-00E7-615F8BF80655}"/>
              </a:ext>
            </a:extLst>
          </p:cNvPr>
          <p:cNvSpPr txBox="1"/>
          <p:nvPr/>
        </p:nvSpPr>
        <p:spPr>
          <a:xfrm>
            <a:off x="3754474" y="833887"/>
            <a:ext cx="468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Current Flow Path</a:t>
            </a:r>
            <a:endParaRPr lang="zh-CN" altLang="en-US" sz="28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55749625-3A94-D4FD-4DAC-D1164670DA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526" y="1416412"/>
            <a:ext cx="3195003" cy="244858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4EAF276-2CA9-231E-6F66-4235C53EBF5B}"/>
              </a:ext>
            </a:extLst>
          </p:cNvPr>
          <p:cNvSpPr txBox="1"/>
          <p:nvPr/>
        </p:nvSpPr>
        <p:spPr>
          <a:xfrm>
            <a:off x="475546" y="1447981"/>
            <a:ext cx="4986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Current Density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Carry current through the full thickness of the drift region instead of a thin surface channel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F410DC-4F7A-7FA1-E71B-0CF8D939B72D}"/>
              </a:ext>
            </a:extLst>
          </p:cNvPr>
          <p:cNvSpPr txBox="1"/>
          <p:nvPr/>
        </p:nvSpPr>
        <p:spPr>
          <a:xfrm>
            <a:off x="6095998" y="4118601"/>
            <a:ext cx="5589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Fully vs. Quasi (Inside vs. Surface)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Reduced current crowding effect allowing more effective scaling of current with the device area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4E28220-11AB-6762-E3C4-1555E2C0D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3596" y="2462185"/>
            <a:ext cx="2509969" cy="280561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CFFF31E-246A-2189-F064-3B17A51299B0}"/>
              </a:ext>
            </a:extLst>
          </p:cNvPr>
          <p:cNvSpPr txBox="1"/>
          <p:nvPr/>
        </p:nvSpPr>
        <p:spPr>
          <a:xfrm>
            <a:off x="768446" y="5420169"/>
            <a:ext cx="1065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vertical path reduces series resistance, and enables higher current density,</a:t>
            </a:r>
            <a:r>
              <a:rPr lang="zh-CN" alt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allowing the device to sustain higher breakdown voltage without increasing chip area.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7137EF2-FDC1-02E7-990B-DC0BB4D299A3}"/>
              </a:ext>
            </a:extLst>
          </p:cNvPr>
          <p:cNvSpPr txBox="1"/>
          <p:nvPr/>
        </p:nvSpPr>
        <p:spPr>
          <a:xfrm>
            <a:off x="6095998" y="5020001"/>
            <a:ext cx="329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 current conduction path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3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6879-5295-50BB-7EF5-6F9436C6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C443CE-F4E0-9516-3936-0BF4AA4482CD}"/>
              </a:ext>
            </a:extLst>
          </p:cNvPr>
          <p:cNvSpPr txBox="1"/>
          <p:nvPr/>
        </p:nvSpPr>
        <p:spPr>
          <a:xfrm>
            <a:off x="978257" y="6355726"/>
            <a:ext cx="10235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Langpoklakpam</a:t>
            </a:r>
            <a:r>
              <a:rPr lang="en-US" altLang="zh-CN" sz="1100" dirty="0"/>
              <a:t> C, Liu A-C, Hsiao Y-K, Lin C-H, Kuo H-C.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MOSFET Power Devices. </a:t>
            </a:r>
            <a:r>
              <a:rPr lang="en-US" altLang="zh-CN" sz="1100" i="1" dirty="0"/>
              <a:t>Micromachines</a:t>
            </a:r>
            <a:r>
              <a:rPr lang="en-US" altLang="zh-CN" sz="1100" dirty="0"/>
              <a:t>. 2023; 14(10):1937. </a:t>
            </a:r>
            <a:r>
              <a:rPr lang="en-US" altLang="zh-CN" sz="1100" dirty="0">
                <a:hlinkClick r:id="rId2"/>
              </a:rPr>
              <a:t>https://doi.org/10.3390/mi14101937</a:t>
            </a:r>
            <a:endParaRPr lang="en-US" altLang="zh-CN" sz="1100" dirty="0"/>
          </a:p>
          <a:p>
            <a:endParaRPr lang="en-US" altLang="zh-CN" sz="11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1DEB9C-302E-4647-9CBA-BB257F4A3C89}"/>
              </a:ext>
            </a:extLst>
          </p:cNvPr>
          <p:cNvSpPr txBox="1"/>
          <p:nvPr/>
        </p:nvSpPr>
        <p:spPr>
          <a:xfrm>
            <a:off x="682581" y="115909"/>
            <a:ext cx="3963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Reliability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879104-D56F-3C2C-B042-94033AB8B088}"/>
              </a:ext>
            </a:extLst>
          </p:cNvPr>
          <p:cNvSpPr txBox="1"/>
          <p:nvPr/>
        </p:nvSpPr>
        <p:spPr>
          <a:xfrm>
            <a:off x="2774716" y="860254"/>
            <a:ext cx="6642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2DEG drain drift region near the surface </a:t>
            </a:r>
            <a:endParaRPr lang="zh-CN" altLang="en-US" sz="28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321770-3087-9AAB-C7F6-66966F6D101B}"/>
              </a:ext>
            </a:extLst>
          </p:cNvPr>
          <p:cNvSpPr txBox="1"/>
          <p:nvPr/>
        </p:nvSpPr>
        <p:spPr>
          <a:xfrm>
            <a:off x="5569029" y="5034921"/>
            <a:ext cx="618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reliability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 field and current do not concentrate near the surface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8A80F1-173F-616B-6CA8-7AF3D663A78E}"/>
              </a:ext>
            </a:extLst>
          </p:cNvPr>
          <p:cNvSpPr txBox="1"/>
          <p:nvPr/>
        </p:nvSpPr>
        <p:spPr>
          <a:xfrm>
            <a:off x="682581" y="1474757"/>
            <a:ext cx="3611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2DEG sensitive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Traps, surface states, dynamic R_ON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EA8295-ACBA-2427-48DF-EEF6AB2CC1F2}"/>
              </a:ext>
            </a:extLst>
          </p:cNvPr>
          <p:cNvSpPr txBox="1"/>
          <p:nvPr/>
        </p:nvSpPr>
        <p:spPr>
          <a:xfrm>
            <a:off x="682581" y="2201925"/>
            <a:ext cx="4083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degradation in dynamic R_ON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trapped impurity charges or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bulk traps resulting from lattice mismatch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411D7A-EEE5-13E0-D5BE-3213B2779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018" y="3209401"/>
            <a:ext cx="3265565" cy="28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600F6D2-D728-4E9F-00E1-D7CEA766DEE7}"/>
              </a:ext>
            </a:extLst>
          </p:cNvPr>
          <p:cNvSpPr txBox="1"/>
          <p:nvPr/>
        </p:nvSpPr>
        <p:spPr>
          <a:xfrm>
            <a:off x="5012336" y="5833823"/>
            <a:ext cx="692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improves stability, reliability, and allows true avalanche behavior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518625-89BF-E7A1-2891-77A3310D6AE1}"/>
              </a:ext>
            </a:extLst>
          </p:cNvPr>
          <p:cNvSpPr txBox="1"/>
          <p:nvPr/>
        </p:nvSpPr>
        <p:spPr>
          <a:xfrm>
            <a:off x="5569029" y="1465771"/>
            <a:ext cx="60040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 the thickness of the N-drift layer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low-doped or unintentionally doped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epitaxial layer.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makes the breakdown voltage independent of the lateral size of device.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9E163E-DD18-B895-D5EB-17C4BBB735F6}"/>
              </a:ext>
            </a:extLst>
          </p:cNvPr>
          <p:cNvSpPr txBox="1"/>
          <p:nvPr/>
        </p:nvSpPr>
        <p:spPr>
          <a:xfrm>
            <a:off x="5595633" y="3540161"/>
            <a:ext cx="5618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Ability to exhibit avalanche breakdown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distribution of the electric field within the device can mitigate the effects of current collapse by countering the influence of surface states, slowing down the collapse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BD1951C-C8AE-A452-0686-15BBA7D03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573" y="1854255"/>
            <a:ext cx="1889401" cy="5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1310A-15AD-C311-9E8B-E0FEC136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2FF6AA2-2CCD-9FF4-F456-6E49E9A8380F}"/>
              </a:ext>
            </a:extLst>
          </p:cNvPr>
          <p:cNvSpPr txBox="1"/>
          <p:nvPr/>
        </p:nvSpPr>
        <p:spPr>
          <a:xfrm>
            <a:off x="682580" y="115909"/>
            <a:ext cx="460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Advantages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8DA860-3074-39AE-2A61-FD7BB55A1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" y="1161733"/>
            <a:ext cx="12022228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97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88427-12A8-63AF-06FA-69AF72A73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F78BA9-3094-D92B-BF8F-F7DB6E246A34}"/>
              </a:ext>
            </a:extLst>
          </p:cNvPr>
          <p:cNvSpPr txBox="1"/>
          <p:nvPr/>
        </p:nvSpPr>
        <p:spPr>
          <a:xfrm>
            <a:off x="978257" y="6355726"/>
            <a:ext cx="10235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Langpoklakpam</a:t>
            </a:r>
            <a:r>
              <a:rPr lang="en-US" altLang="zh-CN" sz="1100" dirty="0"/>
              <a:t> C, Liu A-C, Hsiao Y-K, Lin C-H, Kuo H-C.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MOSFET Power Devices. </a:t>
            </a:r>
            <a:r>
              <a:rPr lang="en-US" altLang="zh-CN" sz="1100" i="1" dirty="0"/>
              <a:t>Micromachines</a:t>
            </a:r>
            <a:r>
              <a:rPr lang="en-US" altLang="zh-CN" sz="1100" dirty="0"/>
              <a:t>. 2023; 14(10):1937. </a:t>
            </a:r>
            <a:r>
              <a:rPr lang="en-US" altLang="zh-CN" sz="1100" dirty="0">
                <a:hlinkClick r:id="rId2"/>
              </a:rPr>
              <a:t>https://doi.org/10.3390/mi14101937</a:t>
            </a:r>
            <a:endParaRPr lang="en-US" altLang="zh-CN" sz="1100" dirty="0"/>
          </a:p>
          <a:p>
            <a:endParaRPr lang="en-US" altLang="zh-CN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9AF820-7976-DD89-234E-4CF0BEFF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81" y="943641"/>
            <a:ext cx="7109138" cy="523564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C291C42-B97A-45DD-572B-33ACEB54C70B}"/>
              </a:ext>
            </a:extLst>
          </p:cNvPr>
          <p:cNvSpPr txBox="1"/>
          <p:nvPr/>
        </p:nvSpPr>
        <p:spPr>
          <a:xfrm>
            <a:off x="682580" y="115909"/>
            <a:ext cx="552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E1BD9-4342-778B-2D0F-3AEF2AA85AFA}"/>
              </a:ext>
            </a:extLst>
          </p:cNvPr>
          <p:cNvSpPr txBox="1"/>
          <p:nvPr/>
        </p:nvSpPr>
        <p:spPr>
          <a:xfrm>
            <a:off x="7975664" y="1582340"/>
            <a:ext cx="36769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Lateral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(Si)</a:t>
            </a:r>
            <a:r>
              <a:rPr lang="zh-CN" altLang="en-US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：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performance, with high RON at high voltage and low efficiency.</a:t>
            </a:r>
          </a:p>
          <a:p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</a:t>
            </a:r>
            <a:r>
              <a:rPr lang="zh-CN" altLang="en-US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：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mature and reliable, close to the material limit, suitable for 1–3 kV high-voltage applications.</a:t>
            </a:r>
          </a:p>
          <a:p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zh-CN" altLang="en-US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：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 potential, with RON close to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still below the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theoretical limit.</a:t>
            </a:r>
            <a:endParaRPr lang="zh-CN" altLang="en-US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442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0CD39-AF18-C9AE-14EC-E238F7B9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8C62D01-90AE-B924-5158-31D536C47C17}"/>
              </a:ext>
            </a:extLst>
          </p:cNvPr>
          <p:cNvSpPr txBox="1"/>
          <p:nvPr/>
        </p:nvSpPr>
        <p:spPr>
          <a:xfrm>
            <a:off x="682580" y="115909"/>
            <a:ext cx="552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COMPARISON: Si/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EC6E75-3C80-1908-E14A-EC27E753D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5" y="639129"/>
            <a:ext cx="11574490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0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9386-655D-97B8-F01E-2F96A68F9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F74D9CF-3221-BCDD-D46B-516BF2C0AD9C}"/>
              </a:ext>
            </a:extLst>
          </p:cNvPr>
          <p:cNvSpPr txBox="1"/>
          <p:nvPr/>
        </p:nvSpPr>
        <p:spPr>
          <a:xfrm>
            <a:off x="682580" y="115909"/>
            <a:ext cx="552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COMPARISON: Lateral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A62B4C-25C1-B541-A281-622B4FAB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0" y="690180"/>
            <a:ext cx="11860280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3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6597-46CA-97BB-7C5D-6DE6055C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38EFEE8-3054-0B65-330C-B5A2102C762C}"/>
              </a:ext>
            </a:extLst>
          </p:cNvPr>
          <p:cNvSpPr txBox="1"/>
          <p:nvPr/>
        </p:nvSpPr>
        <p:spPr>
          <a:xfrm>
            <a:off x="682580" y="115909"/>
            <a:ext cx="552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COMPARISON: KEY Difference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83722C-866F-30A5-BC87-15510AD00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74" y="923483"/>
            <a:ext cx="6835416" cy="33834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9947AD-117C-03E5-2280-988FCC58E30B}"/>
              </a:ext>
            </a:extLst>
          </p:cNvPr>
          <p:cNvSpPr txBox="1"/>
          <p:nvPr/>
        </p:nvSpPr>
        <p:spPr>
          <a:xfrm>
            <a:off x="7894750" y="923483"/>
            <a:ext cx="35481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Lateral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the electric field is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concentrated near the surface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 will face premature breakdown when voltage increases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6A2E94-17CA-FC5F-7DCF-54EBFE35E155}"/>
              </a:ext>
            </a:extLst>
          </p:cNvPr>
          <p:cNvSpPr txBox="1"/>
          <p:nvPr/>
        </p:nvSpPr>
        <p:spPr>
          <a:xfrm>
            <a:off x="7894750" y="2720635"/>
            <a:ext cx="32776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it spread the electric field across a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thick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drift layer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allowing them to reach several kilovolts.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BC6D9E-F3B3-27B9-490E-D0554D3269EC}"/>
              </a:ext>
            </a:extLst>
          </p:cNvPr>
          <p:cNvSpPr txBox="1"/>
          <p:nvPr/>
        </p:nvSpPr>
        <p:spPr>
          <a:xfrm>
            <a:off x="851078" y="6083837"/>
            <a:ext cx="1048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vertical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more suitable for high-voltage applications like power grids or industrial converters.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5D485F-67C1-3B51-996D-337B71006016}"/>
              </a:ext>
            </a:extLst>
          </p:cNvPr>
          <p:cNvSpPr txBox="1"/>
          <p:nvPr/>
        </p:nvSpPr>
        <p:spPr>
          <a:xfrm>
            <a:off x="250874" y="4826069"/>
            <a:ext cx="11668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difference is the current direction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Lateral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conducts along the wafer surface (good for low-voltage);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conducts through the substrate (suitable for high-voltage, high-current);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offers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breakdown voltage, lower on-resistance, higher power density, and better heat dissipation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73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2798-7A9B-0584-4F7A-483B7B2E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8BE135-4E02-2A7E-AB3F-29F63A13D5A2}"/>
              </a:ext>
            </a:extLst>
          </p:cNvPr>
          <p:cNvSpPr txBox="1"/>
          <p:nvPr/>
        </p:nvSpPr>
        <p:spPr>
          <a:xfrm>
            <a:off x="682580" y="115909"/>
            <a:ext cx="3737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22E26C-2141-ED6F-8C12-64F260F8AEEB}"/>
              </a:ext>
            </a:extLst>
          </p:cNvPr>
          <p:cNvSpPr txBox="1"/>
          <p:nvPr/>
        </p:nvSpPr>
        <p:spPr>
          <a:xfrm>
            <a:off x="682581" y="1674254"/>
            <a:ext cx="282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Current Flow Path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B9BF67-7F08-C5DB-210F-01B7B1E20B0A}"/>
              </a:ext>
            </a:extLst>
          </p:cNvPr>
          <p:cNvSpPr txBox="1"/>
          <p:nvPr/>
        </p:nvSpPr>
        <p:spPr>
          <a:xfrm>
            <a:off x="682581" y="2514118"/>
            <a:ext cx="321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Wide-bandgap semiconductor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C40B24-68DA-D66F-738B-DBFF8C10C4F8}"/>
              </a:ext>
            </a:extLst>
          </p:cNvPr>
          <p:cNvSpPr txBox="1"/>
          <p:nvPr/>
        </p:nvSpPr>
        <p:spPr>
          <a:xfrm>
            <a:off x="7006643" y="1674254"/>
            <a:ext cx="422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High Voltage and High Current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E2C694-648A-3CE8-2717-C8B6BFD62FD4}"/>
              </a:ext>
            </a:extLst>
          </p:cNvPr>
          <p:cNvSpPr txBox="1"/>
          <p:nvPr/>
        </p:nvSpPr>
        <p:spPr>
          <a:xfrm>
            <a:off x="6288110" y="2514118"/>
            <a:ext cx="5666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electron mobility and excellent thermal properties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93186A9-14C7-E7F2-FE00-9D906D2E3382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3509493" y="1858920"/>
            <a:ext cx="3497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09C7BDE-CF40-47B8-F66D-D11F05D516B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902299" y="2698784"/>
            <a:ext cx="23858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加号 16">
            <a:extLst>
              <a:ext uri="{FF2B5EF4-FFF2-40B4-BE49-F238E27FC236}">
                <a16:creationId xmlns:a16="http://schemas.microsoft.com/office/drawing/2014/main" id="{20BC6329-CAE1-AFCE-8DEA-1FE04EE11894}"/>
              </a:ext>
            </a:extLst>
          </p:cNvPr>
          <p:cNvSpPr/>
          <p:nvPr/>
        </p:nvSpPr>
        <p:spPr>
          <a:xfrm>
            <a:off x="8757633" y="2043586"/>
            <a:ext cx="547353" cy="570818"/>
          </a:xfrm>
          <a:prstGeom prst="mathPlu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3C423CA-BB54-05B2-318C-7D065F84B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61" y="2931140"/>
            <a:ext cx="3737152" cy="3119905"/>
          </a:xfrm>
          <a:prstGeom prst="rect">
            <a:avLst/>
          </a:prstGeom>
        </p:spPr>
      </p:pic>
      <p:sp>
        <p:nvSpPr>
          <p:cNvPr id="20" name="箭头: 下 19">
            <a:extLst>
              <a:ext uri="{FF2B5EF4-FFF2-40B4-BE49-F238E27FC236}">
                <a16:creationId xmlns:a16="http://schemas.microsoft.com/office/drawing/2014/main" id="{C0A8EB6A-4724-64FE-A9AC-35CCBD1A8436}"/>
              </a:ext>
            </a:extLst>
          </p:cNvPr>
          <p:cNvSpPr/>
          <p:nvPr/>
        </p:nvSpPr>
        <p:spPr>
          <a:xfrm>
            <a:off x="8867103" y="3061952"/>
            <a:ext cx="328412" cy="36704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214C23-9461-FB68-E03C-04D729336129}"/>
              </a:ext>
            </a:extLst>
          </p:cNvPr>
          <p:cNvSpPr txBox="1"/>
          <p:nvPr/>
        </p:nvSpPr>
        <p:spPr>
          <a:xfrm>
            <a:off x="5258067" y="3538647"/>
            <a:ext cx="6543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Suitable for High-Power and High-Frequency applications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FB493E-855D-37A7-9B3D-C95A31749A73}"/>
              </a:ext>
            </a:extLst>
          </p:cNvPr>
          <p:cNvSpPr txBox="1"/>
          <p:nvPr/>
        </p:nvSpPr>
        <p:spPr>
          <a:xfrm>
            <a:off x="1600507" y="6167352"/>
            <a:ext cx="899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Devices, the most promising technologies for next-generation power electronics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1D44B3A-E402-371B-8134-6D1102715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090" y="4172847"/>
            <a:ext cx="2006905" cy="128923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2E50ADD-E98E-6C48-4490-0FDD72F0861D}"/>
              </a:ext>
            </a:extLst>
          </p:cNvPr>
          <p:cNvSpPr txBox="1"/>
          <p:nvPr/>
        </p:nvSpPr>
        <p:spPr>
          <a:xfrm>
            <a:off x="4571758" y="5527764"/>
            <a:ext cx="13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PV Inverters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AAF92FD-D60E-C1EB-D352-FE16979B80D0}"/>
              </a:ext>
            </a:extLst>
          </p:cNvPr>
          <p:cNvSpPr txBox="1"/>
          <p:nvPr/>
        </p:nvSpPr>
        <p:spPr>
          <a:xfrm>
            <a:off x="6332473" y="5527764"/>
            <a:ext cx="289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Center Power Delivery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0667270-E40F-75CD-4512-4ECD0D2E5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436" y="4198442"/>
            <a:ext cx="2319667" cy="1238043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C6305A-651E-71E4-396D-E21A6BE5FB3D}"/>
              </a:ext>
            </a:extLst>
          </p:cNvPr>
          <p:cNvSpPr txBox="1"/>
          <p:nvPr/>
        </p:nvSpPr>
        <p:spPr>
          <a:xfrm>
            <a:off x="9559408" y="5527764"/>
            <a:ext cx="2395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Motor Drives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8D1689E6-51B8-3F8D-17F0-A4B0DFB72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714" y="4198442"/>
            <a:ext cx="2006906" cy="1258848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75DE7A63-32A8-FCF7-C909-30B55733D24F}"/>
              </a:ext>
            </a:extLst>
          </p:cNvPr>
          <p:cNvSpPr txBox="1"/>
          <p:nvPr/>
        </p:nvSpPr>
        <p:spPr>
          <a:xfrm>
            <a:off x="682581" y="916477"/>
            <a:ext cx="282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Uniform Bulk Electric Field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D7E6395-B252-B376-B8EC-4BB618415FB0}"/>
              </a:ext>
            </a:extLst>
          </p:cNvPr>
          <p:cNvSpPr txBox="1"/>
          <p:nvPr/>
        </p:nvSpPr>
        <p:spPr>
          <a:xfrm>
            <a:off x="7456866" y="912686"/>
            <a:ext cx="3148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Exhibit Avalanche Breakdown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64CF4A3-237D-9949-E86F-3DE2CACFA13F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 flipV="1">
            <a:off x="3509493" y="1097352"/>
            <a:ext cx="3947373" cy="3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加号 37">
            <a:extLst>
              <a:ext uri="{FF2B5EF4-FFF2-40B4-BE49-F238E27FC236}">
                <a16:creationId xmlns:a16="http://schemas.microsoft.com/office/drawing/2014/main" id="{892D6327-87AD-B561-399B-608BD4173B6A}"/>
              </a:ext>
            </a:extLst>
          </p:cNvPr>
          <p:cNvSpPr/>
          <p:nvPr/>
        </p:nvSpPr>
        <p:spPr>
          <a:xfrm>
            <a:off x="8757631" y="1257420"/>
            <a:ext cx="547353" cy="570818"/>
          </a:xfrm>
          <a:prstGeom prst="mathPlu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287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5588-FF05-3B95-E0DB-C137AC534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CAECBC5-145D-58C4-2358-7CF0D20F41B5}"/>
              </a:ext>
            </a:extLst>
          </p:cNvPr>
          <p:cNvSpPr txBox="1"/>
          <p:nvPr/>
        </p:nvSpPr>
        <p:spPr>
          <a:xfrm>
            <a:off x="682580" y="115909"/>
            <a:ext cx="247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45CFDF-A957-03AF-029A-4BA8F1674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639129"/>
            <a:ext cx="11317279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06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D3B9-F54D-05CF-15DE-03143CEA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D56A9DA-450B-C304-1198-A8AF2512F6D4}"/>
              </a:ext>
            </a:extLst>
          </p:cNvPr>
          <p:cNvSpPr txBox="1"/>
          <p:nvPr/>
        </p:nvSpPr>
        <p:spPr>
          <a:xfrm>
            <a:off x="682580" y="115909"/>
            <a:ext cx="247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366822-D3D4-488B-5042-6702B526E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580627"/>
            <a:ext cx="11765017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82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AC2D6-3E97-F483-0630-20351FCB5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553364-ECFD-116F-F23C-EB4F0EC328F3}"/>
              </a:ext>
            </a:extLst>
          </p:cNvPr>
          <p:cNvSpPr txBox="1"/>
          <p:nvPr/>
        </p:nvSpPr>
        <p:spPr>
          <a:xfrm>
            <a:off x="682580" y="115909"/>
            <a:ext cx="247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2817E4-2365-400E-5694-624B17BEB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790206"/>
            <a:ext cx="10917174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26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1229-0708-C6F2-183A-06CE9095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7C4260-C83C-9C1E-CC1B-90832FA8BB3E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4E9F535-56FB-736F-E9AC-CA2C306F1A12}"/>
              </a:ext>
            </a:extLst>
          </p:cNvPr>
          <p:cNvGrpSpPr/>
          <p:nvPr/>
        </p:nvGrpSpPr>
        <p:grpSpPr>
          <a:xfrm>
            <a:off x="682579" y="764933"/>
            <a:ext cx="10959922" cy="5495129"/>
            <a:chOff x="682578" y="1162096"/>
            <a:chExt cx="10959922" cy="549512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84938A5-E763-52DA-7FCF-0F94181BB027}"/>
                </a:ext>
              </a:extLst>
            </p:cNvPr>
            <p:cNvSpPr txBox="1"/>
            <p:nvPr/>
          </p:nvSpPr>
          <p:spPr>
            <a:xfrm>
              <a:off x="682579" y="1162096"/>
              <a:ext cx="1005931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on </a:t>
              </a:r>
              <a:r>
                <a:rPr lang="en-US" altLang="zh-CN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Using a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substrate to fabricate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devices, offering better thermal performance and higher voltage tolerance, ideal for high-power and high-frequency applications</a:t>
              </a:r>
              <a:r>
                <a:rPr lang="zh-CN" alt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A8ECAA9-9815-A0BA-4566-A7C1A551C8B5}"/>
                </a:ext>
              </a:extLst>
            </p:cNvPr>
            <p:cNvSpPr txBox="1"/>
            <p:nvPr/>
          </p:nvSpPr>
          <p:spPr>
            <a:xfrm>
              <a:off x="682579" y="2593696"/>
              <a:ext cx="105765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on Si: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Integrating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devices on a silicon (Si) substrate, combining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GaN's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high efficiency with silicon's mature manufacturing process, reducing costs and enabling large-scale production</a:t>
              </a:r>
              <a:r>
                <a:rPr lang="zh-CN" alt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BFA064A-7757-8DDD-AB8B-ADEF61B4FD9C}"/>
                </a:ext>
              </a:extLst>
            </p:cNvPr>
            <p:cNvSpPr txBox="1"/>
            <p:nvPr/>
          </p:nvSpPr>
          <p:spPr>
            <a:xfrm>
              <a:off x="682579" y="4025296"/>
              <a:ext cx="109599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Optical Trigger: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proposed device was benchmarked against other optical power switches, highlighting its potential in future low-cost, all optical, high-voltage power modules with reduced EMI susceptibility and circuit complexity.</a:t>
              </a:r>
              <a:endParaRPr lang="zh-CN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160E935-D871-F720-0043-A415D86368FE}"/>
                </a:ext>
              </a:extLst>
            </p:cNvPr>
            <p:cNvSpPr txBox="1"/>
            <p:nvPr/>
          </p:nvSpPr>
          <p:spPr>
            <a:xfrm>
              <a:off x="682578" y="5456896"/>
              <a:ext cx="1095992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Wrap-Around Gate: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wrap-around-gate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trench CAVETs achieve strong channel control, low leakage, and high breakdown voltage. By tuning groove spacing, both normally-on and normally-off devices are realized, reaching up to 984 V and low specific on-resistance with scalable multi-finger high-current operation.</a:t>
              </a:r>
              <a:endParaRPr lang="zh-CN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413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700B-33C9-6E5B-E937-BCA938BF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29BB91-F1FE-51C3-2F8E-8C45B2E313CF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US" altLang="zh-CN" sz="2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39C01BB-684A-DCA8-C9B2-DC49ABF91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9" y="2119129"/>
            <a:ext cx="3667637" cy="410584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A33305-236A-CF4E-6BBE-264167A91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79" y="633022"/>
            <a:ext cx="6030167" cy="148610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3E1DD6C-23DF-D567-EC7D-CEC7E7193B4A}"/>
              </a:ext>
            </a:extLst>
          </p:cNvPr>
          <p:cNvSpPr txBox="1"/>
          <p:nvPr/>
        </p:nvSpPr>
        <p:spPr>
          <a:xfrm>
            <a:off x="5514109" y="1863729"/>
            <a:ext cx="57357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 30,</a:t>
            </a:r>
            <a:r>
              <a:rPr lang="zh-C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ONSEMI launched 700V/1200V power-semiconductor devices now sampling with early customers;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Targets AI data-centers and EVs, slashes passive-component (caps, inductors) volume, enables 48 V backplane ultra-dense power;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 production slated for 2026; market share expected to ramp rapidly;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F5AA033-EEEB-3B24-6032-703472E84A57}"/>
              </a:ext>
            </a:extLst>
          </p:cNvPr>
          <p:cNvSpPr txBox="1"/>
          <p:nvPr/>
        </p:nvSpPr>
        <p:spPr>
          <a:xfrm>
            <a:off x="5514108" y="4217923"/>
            <a:ext cx="5624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wins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3× power-density boost;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EV on-board chargers (OBC) and solar inverters;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15368AA-8156-5E73-EDAB-44154FDAD186}"/>
              </a:ext>
            </a:extLst>
          </p:cNvPr>
          <p:cNvSpPr txBox="1"/>
          <p:nvPr/>
        </p:nvSpPr>
        <p:spPr>
          <a:xfrm>
            <a:off x="5514108" y="5301647"/>
            <a:ext cx="5865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high-cost native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substrates;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thermal conductivity still trails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7B8AB2-5A7B-A56A-09B1-2516E63E55DF}"/>
              </a:ext>
            </a:extLst>
          </p:cNvPr>
          <p:cNvSpPr txBox="1"/>
          <p:nvPr/>
        </p:nvSpPr>
        <p:spPr>
          <a:xfrm>
            <a:off x="7481454" y="846729"/>
            <a:ext cx="463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ONSEMI is a core enabler of global automotive and industrial power and sensing technologies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0B0FA1-71ED-A520-26E0-BFE7B5C6E9CA}"/>
              </a:ext>
            </a:extLst>
          </p:cNvPr>
          <p:cNvSpPr txBox="1"/>
          <p:nvPr/>
        </p:nvSpPr>
        <p:spPr>
          <a:xfrm>
            <a:off x="5044099" y="846729"/>
            <a:ext cx="243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Motorola</a:t>
            </a:r>
          </a:p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2016 acquire Fairchild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B3C61E-5C67-1A9D-D1F6-14FE97EE4701}"/>
              </a:ext>
            </a:extLst>
          </p:cNvPr>
          <p:cNvSpPr txBox="1"/>
          <p:nvPr/>
        </p:nvSpPr>
        <p:spPr>
          <a:xfrm>
            <a:off x="4238175" y="2322721"/>
            <a:ext cx="9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2025.10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46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395C-1FC1-662D-1178-3F049C7A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DE0DE9F-5F40-3619-8DB1-30089D8E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639129"/>
            <a:ext cx="11850754" cy="57348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13FA9C-1CEE-D8DE-8C7D-E86429EB461C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US" altLang="zh-CN" sz="2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71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CB03-9A99-742D-3CD4-DCE953A4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6E480D9-4EAF-6561-C944-821A4AEF24AA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Si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597C7D-EC48-07EC-9E15-137AE2701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9" y="639129"/>
            <a:ext cx="7287491" cy="20150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0A68E0-714B-D2D5-8AFB-1F36FB2FF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021" y="1125757"/>
            <a:ext cx="3114479" cy="116029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B9F8AA8-8963-A203-2F7B-7C7F314806EC}"/>
              </a:ext>
            </a:extLst>
          </p:cNvPr>
          <p:cNvSpPr txBox="1"/>
          <p:nvPr/>
        </p:nvSpPr>
        <p:spPr>
          <a:xfrm>
            <a:off x="304800" y="2712884"/>
            <a:ext cx="11715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Huawei and Shandong University jointly reported FIT-MOS that employs a fluorine-ion-implanted termination (FIT) structure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EF3AA01-D2F6-7774-E513-87F330AFD62F}"/>
              </a:ext>
            </a:extLst>
          </p:cNvPr>
          <p:cNvGrpSpPr/>
          <p:nvPr/>
        </p:nvGrpSpPr>
        <p:grpSpPr>
          <a:xfrm>
            <a:off x="733833" y="3174549"/>
            <a:ext cx="10857411" cy="1477328"/>
            <a:chOff x="785089" y="3973853"/>
            <a:chExt cx="10857411" cy="147732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C80E962-CA11-B429-189A-D5C38C7B682E}"/>
                </a:ext>
              </a:extLst>
            </p:cNvPr>
            <p:cNvSpPr txBox="1"/>
            <p:nvPr/>
          </p:nvSpPr>
          <p:spPr>
            <a:xfrm>
              <a:off x="785089" y="3973853"/>
              <a:ext cx="399010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FIT(Fluorine-ion-implanted)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carries negative fixed charge,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forming a high-resistivity zone that naturally isolates the MOSFET devices</a:t>
              </a:r>
            </a:p>
            <a:p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EDD82ED-BC1D-8D84-4708-EEF4ADF7297A}"/>
                </a:ext>
              </a:extLst>
            </p:cNvPr>
            <p:cNvSpPr txBox="1"/>
            <p:nvPr/>
          </p:nvSpPr>
          <p:spPr>
            <a:xfrm>
              <a:off x="6955044" y="3973853"/>
              <a:ext cx="468745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MET(Mesa-etched termination)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electric-field crowding effect at the mesa edges</a:t>
              </a:r>
            </a:p>
            <a:p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6A080A4-A2E4-170F-20DB-E00E8361F8BE}"/>
                </a:ext>
              </a:extLst>
            </p:cNvPr>
            <p:cNvSpPr txBox="1"/>
            <p:nvPr/>
          </p:nvSpPr>
          <p:spPr>
            <a:xfrm>
              <a:off x="4775198" y="3973853"/>
              <a:ext cx="18103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REPLACE</a:t>
              </a:r>
              <a:endParaRPr lang="zh-CN" altLang="en-US" sz="3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E9BEC823-1A31-DD9B-16E6-3145525CA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33" y="4364424"/>
            <a:ext cx="4289833" cy="20545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F085C52-1ECC-3315-D6E6-8ED98CA1A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6170" y="4189780"/>
            <a:ext cx="5229955" cy="222916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7CBC12B-ACC2-926E-3F03-66BD2DF46FC7}"/>
              </a:ext>
            </a:extLst>
          </p:cNvPr>
          <p:cNvSpPr txBox="1"/>
          <p:nvPr/>
        </p:nvSpPr>
        <p:spPr>
          <a:xfrm>
            <a:off x="791566" y="6380037"/>
            <a:ext cx="1040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Y. Ma et al., "1200 V Fully-Vertical </a:t>
            </a:r>
            <a:r>
              <a:rPr lang="en-US" altLang="zh-CN" sz="1100" dirty="0" err="1">
                <a:latin typeface="+mn-ea"/>
                <a:cs typeface="Calibri" panose="020F0502020204030204" pitchFamily="34" charset="0"/>
              </a:rPr>
              <a:t>GaN</a:t>
            </a:r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-on-Si Power MOSFETs," in IEEE Electron Device Letters, vol. 46, no. 9, pp. 1513-1516, Sept. 2025, </a:t>
            </a:r>
            <a:r>
              <a:rPr lang="en-US" altLang="zh-CN" sz="1100" dirty="0" err="1">
                <a:latin typeface="+mn-ea"/>
                <a:cs typeface="Calibri" panose="020F0502020204030204" pitchFamily="34" charset="0"/>
              </a:rPr>
              <a:t>doi</a:t>
            </a:r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: 10.1109/LED.2025.3586947.</a:t>
            </a:r>
          </a:p>
          <a:p>
            <a:endParaRPr lang="zh-CN" altLang="en-US" sz="1100" dirty="0">
              <a:latin typeface="+mn-ea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B1F712-AAC4-81C0-92DA-71B21EB56789}"/>
              </a:ext>
            </a:extLst>
          </p:cNvPr>
          <p:cNvSpPr txBox="1"/>
          <p:nvPr/>
        </p:nvSpPr>
        <p:spPr>
          <a:xfrm>
            <a:off x="3763360" y="4651877"/>
            <a:ext cx="1015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1277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38E172-611F-490F-50A9-6DC1880D604C}"/>
              </a:ext>
            </a:extLst>
          </p:cNvPr>
          <p:cNvSpPr txBox="1"/>
          <p:nvPr/>
        </p:nvSpPr>
        <p:spPr>
          <a:xfrm>
            <a:off x="2309091" y="4543240"/>
            <a:ext cx="70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567</a:t>
            </a:r>
            <a:endParaRPr lang="zh-CN" altLang="en-US" b="1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32FA09-7235-1ABB-5A72-8D33D5CC7168}"/>
              </a:ext>
            </a:extLst>
          </p:cNvPr>
          <p:cNvSpPr txBox="1"/>
          <p:nvPr/>
        </p:nvSpPr>
        <p:spPr>
          <a:xfrm>
            <a:off x="682579" y="1407485"/>
            <a:ext cx="9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2025.09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674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626C-B09E-0BBC-3C9D-7631F9E4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DEDCE25-FD7F-9194-B164-30B7943DFB80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Si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47E5C8-7100-4D14-7572-CF2C301A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62" y="731230"/>
            <a:ext cx="5925377" cy="24768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B3A36E1-9140-5387-B972-4EB96F624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8076"/>
            <a:ext cx="6096000" cy="255638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6651885-61F2-3214-8881-37A961D62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539" y="3247846"/>
            <a:ext cx="5950865" cy="247684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DA14704-B1EE-13FB-448C-B4FF215475B4}"/>
              </a:ext>
            </a:extLst>
          </p:cNvPr>
          <p:cNvSpPr txBox="1"/>
          <p:nvPr/>
        </p:nvSpPr>
        <p:spPr>
          <a:xfrm>
            <a:off x="791566" y="6380037"/>
            <a:ext cx="1040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Y. Ma et al., "1200 V Fully-Vertical </a:t>
            </a:r>
            <a:r>
              <a:rPr lang="en-US" altLang="zh-CN" sz="1100" dirty="0" err="1">
                <a:latin typeface="+mn-ea"/>
                <a:cs typeface="Calibri" panose="020F0502020204030204" pitchFamily="34" charset="0"/>
              </a:rPr>
              <a:t>GaN</a:t>
            </a:r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-on-Si Power MOSFETs," in IEEE Electron Device Letters, vol. 46, no. 9, pp. 1513-1516, Sept. 2025, </a:t>
            </a:r>
            <a:r>
              <a:rPr lang="en-US" altLang="zh-CN" sz="1100" dirty="0" err="1">
                <a:latin typeface="+mn-ea"/>
                <a:cs typeface="Calibri" panose="020F0502020204030204" pitchFamily="34" charset="0"/>
              </a:rPr>
              <a:t>doi</a:t>
            </a:r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: 10.1109/LED.2025.3586947.</a:t>
            </a:r>
          </a:p>
          <a:p>
            <a:endParaRPr lang="zh-CN" altLang="en-US" sz="1100" dirty="0">
              <a:latin typeface="+mn-ea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85D7D7-BBA4-9F71-1490-F73076CE9C7D}"/>
              </a:ext>
            </a:extLst>
          </p:cNvPr>
          <p:cNvSpPr txBox="1"/>
          <p:nvPr/>
        </p:nvSpPr>
        <p:spPr>
          <a:xfrm>
            <a:off x="775855" y="5743165"/>
            <a:ext cx="10624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fluorine-ion-implanted termination (FIT) technology opens up broad prospects for the application of vertical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trench MOSFETs in kilovolt-class power systems.</a:t>
            </a:r>
          </a:p>
          <a:p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06E797-3D6C-3649-87D3-A41DA8A62A73}"/>
              </a:ext>
            </a:extLst>
          </p:cNvPr>
          <p:cNvSpPr txBox="1"/>
          <p:nvPr/>
        </p:nvSpPr>
        <p:spPr>
          <a:xfrm>
            <a:off x="6334734" y="705341"/>
            <a:ext cx="56064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breakdown voltage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(BV) has been increased from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567 V in the MET-MOS to 1277 V in the FIT-MOS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addition, the FIT-MOS exhibits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threshold voltage (Vth) of 3.3 V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ON/OFF ratio of 10⁷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specific on-resistance (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Ron,sp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of 5.6 mΩ·cm²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on-state current density of 8 kA/cm²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813785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EE37-9D78-7F8E-8E6E-AB0051D2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BA6726-7352-9D2B-5BBD-AA41C8675227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Optcial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Trigger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247874-1896-7BCD-CD86-31FA8D268F6A}"/>
              </a:ext>
            </a:extLst>
          </p:cNvPr>
          <p:cNvSpPr txBox="1"/>
          <p:nvPr/>
        </p:nvSpPr>
        <p:spPr>
          <a:xfrm>
            <a:off x="764919" y="6274279"/>
            <a:ext cx="1040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J. -H. Hsia, J. A. </a:t>
            </a:r>
            <a:r>
              <a:rPr lang="en-US" altLang="zh-CN" sz="1100" dirty="0" err="1"/>
              <a:t>Perozek</a:t>
            </a:r>
            <a:r>
              <a:rPr lang="en-US" altLang="zh-CN" sz="1100" dirty="0"/>
              <a:t> and T. Palacios, "First Demonstration of Optically-Controlled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</a:t>
            </a:r>
            <a:r>
              <a:rPr lang="en-US" altLang="zh-CN" sz="1100" dirty="0" err="1"/>
              <a:t>finFET</a:t>
            </a:r>
            <a:r>
              <a:rPr lang="en-US" altLang="zh-CN" sz="1100" dirty="0"/>
              <a:t> for Power Applications," in </a:t>
            </a:r>
            <a:r>
              <a:rPr lang="en-US" altLang="zh-CN" sz="1100" i="1" dirty="0"/>
              <a:t>IEEE Electron Device Letters</a:t>
            </a:r>
            <a:r>
              <a:rPr lang="en-US" altLang="zh-CN" sz="1100" dirty="0"/>
              <a:t>, vol. 45, no. 5, pp. 774-777, May 2024, </a:t>
            </a:r>
            <a:r>
              <a:rPr lang="en-US" altLang="zh-CN" sz="1100" dirty="0" err="1"/>
              <a:t>doi</a:t>
            </a:r>
            <a:r>
              <a:rPr lang="en-US" altLang="zh-CN" sz="1100" dirty="0"/>
              <a:t>: 10.1109/LED.2024.3375856.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9710C8-3006-44A6-0134-9B39942E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674" y="699970"/>
            <a:ext cx="3019453" cy="21848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1E388FC-9097-886F-4B46-8ECAFDB87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47" y="1278431"/>
            <a:ext cx="5767605" cy="19023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17C843-7A4C-23A4-B62A-C073B5813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428" y="3301958"/>
            <a:ext cx="2982026" cy="218992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ADB779D-00E8-7210-3235-F6845605B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00" y="3327215"/>
            <a:ext cx="2914094" cy="213941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94ED9DD-AA6A-CF17-C5E6-BB69606964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588" y="3214274"/>
            <a:ext cx="3701620" cy="236529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49F755E-9CC8-5A84-A816-07F16135FD20}"/>
              </a:ext>
            </a:extLst>
          </p:cNvPr>
          <p:cNvSpPr txBox="1"/>
          <p:nvPr/>
        </p:nvSpPr>
        <p:spPr>
          <a:xfrm>
            <a:off x="4069026" y="5523389"/>
            <a:ext cx="309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Against other power switches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A6A481-49F4-4B0F-501C-1180C2410161}"/>
              </a:ext>
            </a:extLst>
          </p:cNvPr>
          <p:cNvSpPr txBox="1"/>
          <p:nvPr/>
        </p:nvSpPr>
        <p:spPr>
          <a:xfrm>
            <a:off x="7638461" y="454463"/>
            <a:ext cx="103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BA5E6F-2286-37AE-8495-C57F4C61E344}"/>
              </a:ext>
            </a:extLst>
          </p:cNvPr>
          <p:cNvSpPr txBox="1"/>
          <p:nvPr/>
        </p:nvSpPr>
        <p:spPr>
          <a:xfrm>
            <a:off x="9793709" y="2747960"/>
            <a:ext cx="167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Optical Trigger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809226-C524-5F04-C92D-8B55810F7577}"/>
              </a:ext>
            </a:extLst>
          </p:cNvPr>
          <p:cNvSpPr txBox="1"/>
          <p:nvPr/>
        </p:nvSpPr>
        <p:spPr>
          <a:xfrm>
            <a:off x="9121302" y="5523433"/>
            <a:ext cx="108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FBD37D-B116-35D8-269D-9820726F23AE}"/>
              </a:ext>
            </a:extLst>
          </p:cNvPr>
          <p:cNvSpPr txBox="1"/>
          <p:nvPr/>
        </p:nvSpPr>
        <p:spPr>
          <a:xfrm flipH="1">
            <a:off x="1337956" y="5523389"/>
            <a:ext cx="1293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breakdown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47324D-ED2B-49DB-3952-72DB7E05DB66}"/>
              </a:ext>
            </a:extLst>
          </p:cNvPr>
          <p:cNvSpPr txBox="1"/>
          <p:nvPr/>
        </p:nvSpPr>
        <p:spPr>
          <a:xfrm>
            <a:off x="1337956" y="785588"/>
            <a:ext cx="9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2024.05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024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FEA1-0FBE-9630-2E30-F7FA5682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D30DA0-C833-3BC3-1497-A913033DCEFF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Wrap-Around Gate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43639D-0DE5-DC8B-3A54-B0AD31291D69}"/>
              </a:ext>
            </a:extLst>
          </p:cNvPr>
          <p:cNvSpPr txBox="1"/>
          <p:nvPr/>
        </p:nvSpPr>
        <p:spPr>
          <a:xfrm>
            <a:off x="764919" y="6274279"/>
            <a:ext cx="1040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X. Wen </a:t>
            </a:r>
            <a:r>
              <a:rPr lang="en-US" altLang="zh-CN" sz="1100" i="1" dirty="0"/>
              <a:t>et al</a:t>
            </a:r>
            <a:r>
              <a:rPr lang="en-US" altLang="zh-CN" sz="1100" dirty="0"/>
              <a:t>., "984V/ 3.0mΩ⋅cm2 Normally-off and 817V/ 2.7mΩ⋅cm2 Normally-on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Trench CAVETs With Wrap-Around Gate," in </a:t>
            </a:r>
            <a:r>
              <a:rPr lang="en-US" altLang="zh-CN" sz="1100" i="1" dirty="0"/>
              <a:t>IEEE Electron Device Letters</a:t>
            </a:r>
            <a:r>
              <a:rPr lang="en-US" altLang="zh-CN" sz="1100" dirty="0"/>
              <a:t>, </a:t>
            </a:r>
            <a:r>
              <a:rPr lang="en-US" altLang="zh-CN" sz="1100" dirty="0" err="1"/>
              <a:t>doi</a:t>
            </a:r>
            <a:r>
              <a:rPr lang="en-US" altLang="zh-CN" sz="1100" dirty="0"/>
              <a:t>: 10.1109/LED.2025.3631862.</a:t>
            </a:r>
            <a:endParaRPr lang="zh-CN" altLang="en-US" sz="1100" dirty="0">
              <a:latin typeface="+mn-ea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D58F5D-2A5B-496D-FB7B-86907AE62DAB}"/>
              </a:ext>
            </a:extLst>
          </p:cNvPr>
          <p:cNvSpPr txBox="1"/>
          <p:nvPr/>
        </p:nvSpPr>
        <p:spPr>
          <a:xfrm>
            <a:off x="764919" y="785588"/>
            <a:ext cx="9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2025.07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EBE761-5862-CE74-8A20-7F7D52907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19" y="1154920"/>
            <a:ext cx="5690512" cy="18727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3171C7E-69C2-4AF6-3205-9BCBB87FE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79" y="3295916"/>
            <a:ext cx="3271312" cy="24937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DBC3245-48CF-2284-961D-3D7E64D3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917" y="3396977"/>
            <a:ext cx="4263164" cy="26956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6F41081-CE12-99A9-4019-D647986AA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518" y="17588"/>
            <a:ext cx="3656563" cy="337938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91EFA5D-9233-D188-0DE2-10C80F5786C6}"/>
              </a:ext>
            </a:extLst>
          </p:cNvPr>
          <p:cNvSpPr txBox="1"/>
          <p:nvPr/>
        </p:nvSpPr>
        <p:spPr>
          <a:xfrm>
            <a:off x="6238780" y="2148975"/>
            <a:ext cx="122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S=4μm,</a:t>
            </a:r>
            <a:r>
              <a:rPr lang="zh-CN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S=2μm, off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1AA6F28-4F3F-B852-9573-7EB7C6331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363" y="3279885"/>
            <a:ext cx="2472904" cy="250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3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9697-AD20-54E4-4D2B-1B40C48A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0C77FC5-6182-907B-20D0-BD74BFED29E7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C4BD58-3DFD-2E4A-3675-AE23636D28AE}"/>
              </a:ext>
            </a:extLst>
          </p:cNvPr>
          <p:cNvSpPr txBox="1"/>
          <p:nvPr/>
        </p:nvSpPr>
        <p:spPr>
          <a:xfrm>
            <a:off x="775855" y="1089891"/>
            <a:ext cx="106402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en-US" altLang="zh-CN" dirty="0" err="1"/>
              <a:t>Langpoklakpam</a:t>
            </a:r>
            <a:r>
              <a:rPr lang="en-US" altLang="zh-CN" dirty="0"/>
              <a:t> C, Liu A-C, Hsiao Y-K, Lin C-H, Kuo H-C. Vertical </a:t>
            </a:r>
            <a:r>
              <a:rPr lang="en-US" altLang="zh-CN" dirty="0" err="1"/>
              <a:t>GaN</a:t>
            </a:r>
            <a:r>
              <a:rPr lang="en-US" altLang="zh-CN" dirty="0"/>
              <a:t> MOSFET Power Devices. </a:t>
            </a:r>
            <a:r>
              <a:rPr lang="en-US" altLang="zh-CN" i="1" dirty="0"/>
              <a:t>Micromachines</a:t>
            </a:r>
            <a:r>
              <a:rPr lang="en-US" altLang="zh-CN" dirty="0"/>
              <a:t>. 2023; 14(10):1937. </a:t>
            </a:r>
            <a:r>
              <a:rPr lang="en-US" altLang="zh-CN" dirty="0">
                <a:hlinkClick r:id="rId2"/>
              </a:rPr>
              <a:t>https://doi.org/10.3390/mi14101937</a:t>
            </a:r>
            <a:endParaRPr lang="en-US" altLang="zh-CN" dirty="0"/>
          </a:p>
          <a:p>
            <a:r>
              <a:rPr lang="en-US" altLang="zh-CN" dirty="0"/>
              <a:t>[2]</a:t>
            </a:r>
            <a:r>
              <a:rPr lang="zh-CN" altLang="en-US" dirty="0"/>
              <a:t> </a:t>
            </a:r>
            <a:r>
              <a:rPr lang="en-US" altLang="zh-CN" dirty="0"/>
              <a:t>Li, J., Zhu, R., Ming Wong, K., &amp; May Lau, K. (2025). Fully-Vertical </a:t>
            </a:r>
            <a:r>
              <a:rPr lang="en-US" altLang="zh-CN" dirty="0" err="1"/>
              <a:t>GaN</a:t>
            </a:r>
            <a:r>
              <a:rPr lang="en-US" altLang="zh-CN" dirty="0"/>
              <a:t>-on-</a:t>
            </a:r>
            <a:r>
              <a:rPr lang="en-US" altLang="zh-CN" dirty="0" err="1"/>
              <a:t>SiC</a:t>
            </a:r>
            <a:r>
              <a:rPr lang="en-US" altLang="zh-CN" dirty="0"/>
              <a:t> Trench MOSFETs. </a:t>
            </a:r>
            <a:r>
              <a:rPr lang="en-US" altLang="zh-CN" i="1" dirty="0"/>
              <a:t>IEEE Electron Device Letters</a:t>
            </a:r>
            <a:r>
              <a:rPr lang="en-US" altLang="zh-CN" dirty="0"/>
              <a:t>, </a:t>
            </a:r>
            <a:r>
              <a:rPr lang="en-US" altLang="zh-CN" i="1" dirty="0"/>
              <a:t>46</a:t>
            </a:r>
            <a:r>
              <a:rPr lang="en-US" altLang="zh-CN" dirty="0"/>
              <a:t>(2), 282–285. </a:t>
            </a:r>
            <a:r>
              <a:rPr lang="en-US" altLang="zh-CN" dirty="0">
                <a:hlinkClick r:id="rId3"/>
              </a:rPr>
              <a:t>https://doi.org/10.1109/led.2024.3520200</a:t>
            </a:r>
            <a:endParaRPr lang="en-US" altLang="zh-CN" dirty="0"/>
          </a:p>
          <a:p>
            <a:r>
              <a:rPr lang="en-US" altLang="zh-CN" dirty="0"/>
              <a:t>[3] </a:t>
            </a:r>
            <a:r>
              <a:rPr lang="en-US" altLang="zh-CN" dirty="0">
                <a:latin typeface="+mn-ea"/>
                <a:cs typeface="Calibri" panose="020F0502020204030204" pitchFamily="34" charset="0"/>
              </a:rPr>
              <a:t>Y. Ma et al., "1200 V Fully-Vertical </a:t>
            </a:r>
            <a:r>
              <a:rPr lang="en-US" altLang="zh-CN" dirty="0" err="1">
                <a:latin typeface="+mn-ea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+mn-ea"/>
                <a:cs typeface="Calibri" panose="020F0502020204030204" pitchFamily="34" charset="0"/>
              </a:rPr>
              <a:t>-on-Si Power MOSFETs," in IEEE Electron Device Letters, vol. 46, no. 9, pp. 1513-1516, Sept. 2025, </a:t>
            </a:r>
            <a:r>
              <a:rPr lang="en-US" altLang="zh-CN" dirty="0" err="1">
                <a:latin typeface="+mn-ea"/>
                <a:cs typeface="Calibri" panose="020F0502020204030204" pitchFamily="34" charset="0"/>
              </a:rPr>
              <a:t>doi</a:t>
            </a:r>
            <a:r>
              <a:rPr lang="en-US" altLang="zh-CN" dirty="0">
                <a:latin typeface="+mn-ea"/>
                <a:cs typeface="Calibri" panose="020F0502020204030204" pitchFamily="34" charset="0"/>
              </a:rPr>
              <a:t>: 10.1109/LED.2025.3586947.</a:t>
            </a:r>
          </a:p>
          <a:p>
            <a:r>
              <a:rPr lang="en-US" altLang="zh-CN" dirty="0">
                <a:latin typeface="+mn-ea"/>
                <a:cs typeface="Calibri" panose="020F0502020204030204" pitchFamily="34" charset="0"/>
              </a:rPr>
              <a:t>[4] </a:t>
            </a:r>
            <a:r>
              <a:rPr lang="en-US" altLang="zh-CN" dirty="0"/>
              <a:t>J. -H. Hsia, J. A. </a:t>
            </a:r>
            <a:r>
              <a:rPr lang="en-US" altLang="zh-CN" dirty="0" err="1"/>
              <a:t>Perozek</a:t>
            </a:r>
            <a:r>
              <a:rPr lang="en-US" altLang="zh-CN" dirty="0"/>
              <a:t> and T. Palacios, "First Demonstration of Optically-Controlled Vertical </a:t>
            </a:r>
            <a:r>
              <a:rPr lang="en-US" altLang="zh-CN" dirty="0" err="1"/>
              <a:t>GaN</a:t>
            </a:r>
            <a:r>
              <a:rPr lang="en-US" altLang="zh-CN" dirty="0"/>
              <a:t> </a:t>
            </a:r>
            <a:r>
              <a:rPr lang="en-US" altLang="zh-CN" dirty="0" err="1"/>
              <a:t>finFET</a:t>
            </a:r>
            <a:r>
              <a:rPr lang="en-US" altLang="zh-CN" dirty="0"/>
              <a:t> for Power Applications," in </a:t>
            </a:r>
            <a:r>
              <a:rPr lang="en-US" altLang="zh-CN" i="1" dirty="0"/>
              <a:t>IEEE Electron Device Letters</a:t>
            </a:r>
            <a:r>
              <a:rPr lang="en-US" altLang="zh-CN" dirty="0"/>
              <a:t>, vol. 45, no. 5, pp. 774-777, May 2024, </a:t>
            </a:r>
            <a:r>
              <a:rPr lang="en-US" altLang="zh-CN" dirty="0" err="1"/>
              <a:t>doi</a:t>
            </a:r>
            <a:r>
              <a:rPr lang="en-US" altLang="zh-CN" dirty="0"/>
              <a:t>: 10.1109/LED.2024.3375856.</a:t>
            </a:r>
          </a:p>
          <a:p>
            <a:r>
              <a:rPr lang="en-US" altLang="zh-CN" dirty="0">
                <a:latin typeface="+mn-ea"/>
                <a:cs typeface="Calibri" panose="020F0502020204030204" pitchFamily="34" charset="0"/>
              </a:rPr>
              <a:t>[5] </a:t>
            </a:r>
            <a:r>
              <a:rPr lang="en-US" altLang="zh-CN" dirty="0"/>
              <a:t>X. Wen </a:t>
            </a:r>
            <a:r>
              <a:rPr lang="en-US" altLang="zh-CN" i="1" dirty="0"/>
              <a:t>et al</a:t>
            </a:r>
            <a:r>
              <a:rPr lang="en-US" altLang="zh-CN" dirty="0"/>
              <a:t>., "984V/ 3.0mΩ⋅cm2 Normally-off and 817V/ 2.7mΩ⋅cm2 Normally-on </a:t>
            </a:r>
            <a:r>
              <a:rPr lang="en-US" altLang="zh-CN" dirty="0" err="1"/>
              <a:t>GaN</a:t>
            </a:r>
            <a:r>
              <a:rPr lang="en-US" altLang="zh-CN" dirty="0"/>
              <a:t> Trench CAVETs With Wrap-Around Gate," in </a:t>
            </a:r>
            <a:r>
              <a:rPr lang="en-US" altLang="zh-CN" i="1" dirty="0"/>
              <a:t>IEEE Electron Device Letters</a:t>
            </a:r>
            <a:r>
              <a:rPr lang="en-US" altLang="zh-CN" dirty="0"/>
              <a:t>, </a:t>
            </a:r>
            <a:r>
              <a:rPr lang="en-US" altLang="zh-CN" dirty="0" err="1"/>
              <a:t>doi</a:t>
            </a:r>
            <a:r>
              <a:rPr lang="en-US" altLang="zh-CN" dirty="0"/>
              <a:t>: 10.1109/LED.2025.3631862.</a:t>
            </a:r>
            <a:endParaRPr lang="zh-CN" altLang="en-US" dirty="0">
              <a:latin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006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54A6-91F8-CE8F-59B2-BB488915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F12261F-0E9B-D4D1-6F4C-170BD30758AC}"/>
              </a:ext>
            </a:extLst>
          </p:cNvPr>
          <p:cNvSpPr txBox="1"/>
          <p:nvPr/>
        </p:nvSpPr>
        <p:spPr>
          <a:xfrm>
            <a:off x="3722254" y="2828835"/>
            <a:ext cx="4747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zh-CN" altLang="en-US" sz="7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93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1883</Words>
  <Application>Microsoft Office PowerPoint</Application>
  <PresentationFormat>宽屏</PresentationFormat>
  <Paragraphs>169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衍宁 何</dc:creator>
  <cp:lastModifiedBy>衍宁 何</cp:lastModifiedBy>
  <cp:revision>2</cp:revision>
  <dcterms:created xsi:type="dcterms:W3CDTF">2025-12-02T04:57:51Z</dcterms:created>
  <dcterms:modified xsi:type="dcterms:W3CDTF">2025-12-02T05:30:54Z</dcterms:modified>
</cp:coreProperties>
</file>