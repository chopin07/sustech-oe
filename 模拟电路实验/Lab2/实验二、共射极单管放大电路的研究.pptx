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25"/>
  </p:notesMasterIdLst>
  <p:handoutMasterIdLst>
    <p:handoutMasterId r:id="rId26"/>
  </p:handoutMasterIdLst>
  <p:sldIdLst>
    <p:sldId id="275" r:id="rId4"/>
    <p:sldId id="366" r:id="rId5"/>
    <p:sldId id="386" r:id="rId6"/>
    <p:sldId id="346" r:id="rId7"/>
    <p:sldId id="387" r:id="rId8"/>
    <p:sldId id="388" r:id="rId9"/>
    <p:sldId id="389" r:id="rId10"/>
    <p:sldId id="390" r:id="rId11"/>
    <p:sldId id="391" r:id="rId12"/>
    <p:sldId id="414" r:id="rId13"/>
    <p:sldId id="415" r:id="rId14"/>
    <p:sldId id="321" r:id="rId15"/>
    <p:sldId id="326" r:id="rId16"/>
    <p:sldId id="330" r:id="rId17"/>
    <p:sldId id="332" r:id="rId18"/>
    <p:sldId id="406" r:id="rId19"/>
    <p:sldId id="407" r:id="rId20"/>
    <p:sldId id="408" r:id="rId21"/>
    <p:sldId id="411" r:id="rId22"/>
    <p:sldId id="409" r:id="rId23"/>
    <p:sldId id="336" r:id="rId24"/>
  </p:sldIdLst>
  <p:sldSz cx="9144000" cy="6858000" type="screen4x3"/>
  <p:notesSz cx="6807200" cy="9939655"/>
  <p:custDataLst>
    <p:tags r:id="rId30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29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1D41D5"/>
    <a:srgbClr val="000066"/>
    <a:srgbClr val="8585FF"/>
    <a:srgbClr val="15433E"/>
    <a:srgbClr val="FF9999"/>
    <a:srgbClr val="258086"/>
    <a:srgbClr val="2F9487"/>
    <a:srgbClr val="298378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425"/>
    <p:restoredTop sz="89440"/>
  </p:normalViewPr>
  <p:slideViewPr>
    <p:cSldViewPr showGuides="1">
      <p:cViewPr>
        <p:scale>
          <a:sx n="90" d="100"/>
          <a:sy n="90" d="100"/>
        </p:scale>
        <p:origin x="-2448" y="-360"/>
      </p:cViewPr>
      <p:guideLst>
        <p:guide orient="horz" pos="2240"/>
        <p:guide pos="29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gs" Target="tags/tag189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t" anchorCtr="0" compatLnSpc="1"/>
          <a:lstStyle>
            <a:lvl1pPr algn="r" defTabSz="952500">
              <a:defRPr sz="1300">
                <a:ea typeface="+mn-ea"/>
              </a:defRPr>
            </a:lvl1pPr>
          </a:lstStyle>
          <a:p>
            <a:pPr marL="0" marR="0" lvl="0" indent="0" algn="r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lstStyle>
            <a:lvl1pPr algn="l" defTabSz="952500">
              <a:defRPr sz="1300">
                <a:ea typeface="+mn-ea"/>
              </a:defRPr>
            </a:lvl1pPr>
          </a:lstStyle>
          <a:p>
            <a:pPr marL="0" marR="0" lvl="0" indent="0" algn="l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45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273" tIns="47635" rIns="95273" bIns="47635" numCol="1" anchor="b" anchorCtr="0" compatLnSpc="1"/>
          <a:p>
            <a:pPr lvl="0" algn="r" defTabSz="951230" eaLnBrk="1" fontAlgn="base" hangingPunct="1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3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>
            <a:lvl1pPr algn="r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r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53DCBC-2FFE-446C-97C8-6D7BACF5DB19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0" y="746125"/>
            <a:ext cx="4967288" cy="3727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lstStyle>
            <a:lvl1pPr algn="l" defTabSz="956945" eaLnBrk="0" hangingPunct="0">
              <a:defRPr sz="1300">
                <a:ea typeface="+mn-ea"/>
              </a:defRPr>
            </a:lvl1pPr>
          </a:lstStyle>
          <a:p>
            <a:pPr marL="0" marR="0" lvl="0" indent="0" algn="l" defTabSz="95694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2450"/>
            <a:ext cx="295116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644" tIns="47822" rIns="95644" bIns="47822" numCol="1" anchor="b" anchorCtr="0" compatLnSpc="1"/>
          <a:p>
            <a:pPr lvl="0" algn="r" defTabSz="955675" fontAlgn="base">
              <a:buNone/>
            </a:pPr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3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/>
          </p:cNvPicPr>
          <p:nvPr userDrawn="1"/>
        </p:nvPicPr>
        <p:blipFill>
          <a:blip r:embed="rId2"/>
          <a:srcRect t="14993"/>
          <a:stretch>
            <a:fillRect/>
          </a:stretch>
        </p:blipFill>
        <p:spPr>
          <a:xfrm>
            <a:off x="0" y="0"/>
            <a:ext cx="9144000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1"/>
          <p:cNvPicPr>
            <a:picLocks noChangeAspect="1"/>
          </p:cNvPicPr>
          <p:nvPr userDrawn="1"/>
        </p:nvPicPr>
        <p:blipFill>
          <a:blip r:embed="rId3"/>
          <a:srcRect b="25183"/>
          <a:stretch>
            <a:fillRect/>
          </a:stretch>
        </p:blipFill>
        <p:spPr>
          <a:xfrm>
            <a:off x="0" y="5373688"/>
            <a:ext cx="9144000" cy="148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>
            <a:lvl1pPr>
              <a:defRPr sz="44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97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en-US" strike="noStrike" noProof="1" dirty="0" smtClean="0"/>
              <a:t>Click to edit Master subtitle style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 txBox="1">
            <a:spLocks noChangeArrowheads="1"/>
          </p:cNvSpPr>
          <p:nvPr/>
        </p:nvSpPr>
        <p:spPr bwMode="auto">
          <a:xfrm>
            <a:off x="3517900" y="6457950"/>
            <a:ext cx="47117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 sz="1400">
                <a:solidFill>
                  <a:schemeClr val="accent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zh-CN" altLang="en-US" sz="1500" strike="noStrike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模拟电路实验讲义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2F94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Rectangle 18"/>
          <p:cNvSpPr txBox="1"/>
          <p:nvPr/>
        </p:nvSpPr>
        <p:spPr>
          <a:xfrm>
            <a:off x="8120063" y="6516688"/>
            <a:ext cx="8382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0" algn="r" eaLnBrk="0" hangingPunct="0"/>
            <a:fld id="{9A0DB2DC-4C9A-4742-B13C-FB6460FD3503}" type="slidenum">
              <a:rPr lang="zh-CN" altLang="en-US" sz="1200" dirty="0">
                <a:solidFill>
                  <a:srgbClr val="2F948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</a:fld>
            <a:endParaRPr lang="zh-CN" altLang="en-US" sz="1200" dirty="0">
              <a:solidFill>
                <a:srgbClr val="2F94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 flipV="1">
            <a:off x="3171825" y="6372225"/>
            <a:ext cx="5943600" cy="46038"/>
          </a:xfrm>
          <a:prstGeom prst="rect">
            <a:avLst/>
          </a:prstGeom>
          <a:gradFill rotWithShape="0">
            <a:gsLst>
              <a:gs pos="0">
                <a:srgbClr val="2F9487"/>
              </a:gs>
              <a:gs pos="100000">
                <a:srgbClr val="15433E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" descr="C:\Users\SUSTC_RUI\Desktop\课题组人员面试流程及评议表格\SUSTech LOGO\1.png"/>
          <p:cNvPicPr>
            <a:picLocks noChangeAspect="1"/>
          </p:cNvPicPr>
          <p:nvPr userDrawn="1"/>
        </p:nvPicPr>
        <p:blipFill>
          <a:blip r:embed="rId2"/>
          <a:srcRect l="24544" t="40517" r="24025" b="40440"/>
          <a:stretch>
            <a:fillRect/>
          </a:stretch>
        </p:blipFill>
        <p:spPr>
          <a:xfrm>
            <a:off x="128588" y="6107113"/>
            <a:ext cx="2667000" cy="69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096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18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 fontAlgn="base"/>
            <a:r>
              <a:rPr lang="en-US" strike="noStrike" noProof="1" dirty="0" smtClean="0"/>
              <a:t>Click to edit Master text styles</a:t>
            </a:r>
            <a:endParaRPr lang="en-US" strike="noStrike" noProof="1" dirty="0" smtClean="0"/>
          </a:p>
          <a:p>
            <a:pPr lvl="1" fontAlgn="base"/>
            <a:r>
              <a:rPr lang="en-US" strike="noStrike" noProof="1" dirty="0" smtClean="0"/>
              <a:t>Second level</a:t>
            </a:r>
            <a:endParaRPr lang="en-US" strike="noStrike" noProof="1" dirty="0" smtClean="0"/>
          </a:p>
          <a:p>
            <a:pPr lvl="2" fontAlgn="base"/>
            <a:r>
              <a:rPr lang="en-US" strike="noStrike" noProof="1" dirty="0" smtClean="0"/>
              <a:t>Third level</a:t>
            </a:r>
            <a:endParaRPr lang="en-US" strike="noStrike" noProof="1" dirty="0" smtClean="0"/>
          </a:p>
          <a:p>
            <a:pPr lvl="3" fontAlgn="base"/>
            <a:r>
              <a:rPr lang="en-US" strike="noStrike" noProof="1" dirty="0" smtClean="0"/>
              <a:t>Fourth level</a:t>
            </a:r>
            <a:endParaRPr lang="en-US" strike="noStrike" noProof="1" dirty="0" smtClean="0"/>
          </a:p>
          <a:p>
            <a:pPr lvl="4" fontAlgn="base"/>
            <a:r>
              <a:rPr lang="en-US" strike="noStrike" noProof="1" dirty="0" smtClean="0"/>
              <a:t>Fifth level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fontAlgn="base"/>
            <a:fld id="{82F288E0-7875-42C4-84C8-98DBBD3BF4D2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base"/>
            <a:fld id="{7D9BB5D0-35E4-459D-AEF3-FE4D7C45CC19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 userDrawn="1"/>
        </p:nvPicPr>
        <p:blipFill>
          <a:blip r:embed="rId2"/>
          <a:srcRect t="14993"/>
          <a:stretch>
            <a:fillRect/>
          </a:stretch>
        </p:blipFill>
        <p:spPr>
          <a:xfrm>
            <a:off x="0" y="0"/>
            <a:ext cx="9144000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7" name="Picture 1"/>
          <p:cNvPicPr>
            <a:picLocks noChangeAspect="1"/>
          </p:cNvPicPr>
          <p:nvPr userDrawn="1"/>
        </p:nvPicPr>
        <p:blipFill>
          <a:blip r:embed="rId3"/>
          <a:srcRect b="25183"/>
          <a:stretch>
            <a:fillRect/>
          </a:stretch>
        </p:blipFill>
        <p:spPr>
          <a:xfrm>
            <a:off x="0" y="5373688"/>
            <a:ext cx="9144000" cy="148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>
            <a:lvl1pPr>
              <a:defRPr sz="44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97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en-US" strike="noStrike" noProof="1" dirty="0" smtClean="0"/>
              <a:t>Click to edit Master subtitle style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 txBox="1">
            <a:spLocks noChangeArrowheads="1"/>
          </p:cNvSpPr>
          <p:nvPr/>
        </p:nvSpPr>
        <p:spPr bwMode="auto">
          <a:xfrm>
            <a:off x="3517900" y="6457950"/>
            <a:ext cx="47117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 sz="1400">
                <a:solidFill>
                  <a:schemeClr val="accent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     </a:t>
            </a:r>
            <a:r>
              <a:rPr lang="zh-CN" altLang="en-US" sz="1500" strike="noStrike" noProof="0" dirty="0" smtClean="0">
                <a:ln>
                  <a:noFill/>
                </a:ln>
                <a:solidFill>
                  <a:srgbClr val="2F94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模拟电路实验讲义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2F94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1" name="Rectangle 18"/>
          <p:cNvSpPr txBox="1"/>
          <p:nvPr/>
        </p:nvSpPr>
        <p:spPr>
          <a:xfrm>
            <a:off x="8120063" y="6516688"/>
            <a:ext cx="8382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0" algn="r" eaLnBrk="0" hangingPunct="0"/>
            <a:fld id="{9A0DB2DC-4C9A-4742-B13C-FB6460FD3503}" type="slidenum">
              <a:rPr lang="zh-CN" altLang="en-US" sz="1200" dirty="0">
                <a:solidFill>
                  <a:srgbClr val="2F948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</a:fld>
            <a:endParaRPr lang="zh-CN" altLang="en-US" sz="1200" dirty="0">
              <a:solidFill>
                <a:srgbClr val="2F94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 flipV="1">
            <a:off x="3171825" y="6372225"/>
            <a:ext cx="5943600" cy="46038"/>
          </a:xfrm>
          <a:prstGeom prst="rect">
            <a:avLst/>
          </a:prstGeom>
          <a:gradFill rotWithShape="0">
            <a:gsLst>
              <a:gs pos="0">
                <a:srgbClr val="2F9487"/>
              </a:gs>
              <a:gs pos="100000">
                <a:srgbClr val="15433E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3" name="Picture 4" descr="C:\Users\SUSTC_RUI\Desktop\课题组人员面试流程及评议表格\SUSTech LOGO\1.png"/>
          <p:cNvPicPr>
            <a:picLocks noChangeAspect="1"/>
          </p:cNvPicPr>
          <p:nvPr userDrawn="1"/>
        </p:nvPicPr>
        <p:blipFill>
          <a:blip r:embed="rId2"/>
          <a:srcRect l="24544" t="40517" r="24025" b="40440"/>
          <a:stretch>
            <a:fillRect/>
          </a:stretch>
        </p:blipFill>
        <p:spPr>
          <a:xfrm>
            <a:off x="128588" y="6107113"/>
            <a:ext cx="2667000" cy="696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096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18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 fontAlgn="base"/>
            <a:r>
              <a:rPr lang="en-US" strike="noStrike" noProof="1" dirty="0" smtClean="0"/>
              <a:t>Click to edit Master text styles</a:t>
            </a:r>
            <a:endParaRPr lang="en-US" strike="noStrike" noProof="1" dirty="0" smtClean="0"/>
          </a:p>
          <a:p>
            <a:pPr lvl="1" fontAlgn="base"/>
            <a:r>
              <a:rPr lang="en-US" strike="noStrike" noProof="1" dirty="0" smtClean="0"/>
              <a:t>Second level</a:t>
            </a:r>
            <a:endParaRPr lang="en-US" strike="noStrike" noProof="1" dirty="0" smtClean="0"/>
          </a:p>
          <a:p>
            <a:pPr lvl="2" fontAlgn="base"/>
            <a:r>
              <a:rPr lang="en-US" strike="noStrike" noProof="1" dirty="0" smtClean="0"/>
              <a:t>Third level</a:t>
            </a:r>
            <a:endParaRPr lang="en-US" strike="noStrike" noProof="1" dirty="0" smtClean="0"/>
          </a:p>
          <a:p>
            <a:pPr lvl="3" fontAlgn="base"/>
            <a:r>
              <a:rPr lang="en-US" strike="noStrike" noProof="1" dirty="0" smtClean="0"/>
              <a:t>Fourth level</a:t>
            </a:r>
            <a:endParaRPr lang="en-US" strike="noStrike" noProof="1" dirty="0" smtClean="0"/>
          </a:p>
          <a:p>
            <a:pPr lvl="4" fontAlgn="base"/>
            <a:r>
              <a:rPr lang="en-US" strike="noStrike" noProof="1" dirty="0" smtClean="0"/>
              <a:t>Fifth level</a:t>
            </a:r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fontAlgn="base"/>
            <a:fld id="{82F288E0-7875-42C4-84C8-98DBBD3BF4D2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base"/>
            <a:fld id="{7D9BB5D0-35E4-459D-AEF3-FE4D7C45CC19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85788" y="4000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0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585788" y="40005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0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image" Target="../media/image9.png"/><Relationship Id="rId3" Type="http://schemas.openxmlformats.org/officeDocument/2006/relationships/tags" Target="../tags/tag7.xml"/><Relationship Id="rId2" Type="http://schemas.openxmlformats.org/officeDocument/2006/relationships/image" Target="../media/image10.png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3" Type="http://schemas.openxmlformats.org/officeDocument/2006/relationships/image" Target="../media/image9.png"/><Relationship Id="rId2" Type="http://schemas.openxmlformats.org/officeDocument/2006/relationships/tags" Target="../tags/tag9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99" Type="http://schemas.openxmlformats.org/officeDocument/2006/relationships/tags" Target="../tags/tag109.xml"/><Relationship Id="rId98" Type="http://schemas.openxmlformats.org/officeDocument/2006/relationships/tags" Target="../tags/tag108.xml"/><Relationship Id="rId97" Type="http://schemas.openxmlformats.org/officeDocument/2006/relationships/tags" Target="../tags/tag107.xml"/><Relationship Id="rId96" Type="http://schemas.openxmlformats.org/officeDocument/2006/relationships/tags" Target="../tags/tag106.xml"/><Relationship Id="rId95" Type="http://schemas.openxmlformats.org/officeDocument/2006/relationships/tags" Target="../tags/tag105.xml"/><Relationship Id="rId94" Type="http://schemas.openxmlformats.org/officeDocument/2006/relationships/tags" Target="../tags/tag104.xml"/><Relationship Id="rId93" Type="http://schemas.openxmlformats.org/officeDocument/2006/relationships/tags" Target="../tags/tag103.xml"/><Relationship Id="rId92" Type="http://schemas.openxmlformats.org/officeDocument/2006/relationships/tags" Target="../tags/tag102.xml"/><Relationship Id="rId91" Type="http://schemas.openxmlformats.org/officeDocument/2006/relationships/tags" Target="../tags/tag101.xml"/><Relationship Id="rId90" Type="http://schemas.openxmlformats.org/officeDocument/2006/relationships/tags" Target="../tags/tag100.xml"/><Relationship Id="rId9" Type="http://schemas.openxmlformats.org/officeDocument/2006/relationships/tags" Target="../tags/tag19.xml"/><Relationship Id="rId89" Type="http://schemas.openxmlformats.org/officeDocument/2006/relationships/tags" Target="../tags/tag99.xml"/><Relationship Id="rId88" Type="http://schemas.openxmlformats.org/officeDocument/2006/relationships/tags" Target="../tags/tag98.xml"/><Relationship Id="rId87" Type="http://schemas.openxmlformats.org/officeDocument/2006/relationships/tags" Target="../tags/tag97.xml"/><Relationship Id="rId86" Type="http://schemas.openxmlformats.org/officeDocument/2006/relationships/tags" Target="../tags/tag96.xml"/><Relationship Id="rId85" Type="http://schemas.openxmlformats.org/officeDocument/2006/relationships/tags" Target="../tags/tag95.xml"/><Relationship Id="rId84" Type="http://schemas.openxmlformats.org/officeDocument/2006/relationships/tags" Target="../tags/tag94.xml"/><Relationship Id="rId83" Type="http://schemas.openxmlformats.org/officeDocument/2006/relationships/tags" Target="../tags/tag93.xml"/><Relationship Id="rId82" Type="http://schemas.openxmlformats.org/officeDocument/2006/relationships/tags" Target="../tags/tag92.xml"/><Relationship Id="rId81" Type="http://schemas.openxmlformats.org/officeDocument/2006/relationships/tags" Target="../tags/tag91.xml"/><Relationship Id="rId80" Type="http://schemas.openxmlformats.org/officeDocument/2006/relationships/tags" Target="../tags/tag90.xml"/><Relationship Id="rId8" Type="http://schemas.openxmlformats.org/officeDocument/2006/relationships/tags" Target="../tags/tag18.xml"/><Relationship Id="rId79" Type="http://schemas.openxmlformats.org/officeDocument/2006/relationships/tags" Target="../tags/tag89.xml"/><Relationship Id="rId78" Type="http://schemas.openxmlformats.org/officeDocument/2006/relationships/tags" Target="../tags/tag88.xml"/><Relationship Id="rId77" Type="http://schemas.openxmlformats.org/officeDocument/2006/relationships/tags" Target="../tags/tag87.xml"/><Relationship Id="rId76" Type="http://schemas.openxmlformats.org/officeDocument/2006/relationships/tags" Target="../tags/tag86.xml"/><Relationship Id="rId75" Type="http://schemas.openxmlformats.org/officeDocument/2006/relationships/tags" Target="../tags/tag85.xml"/><Relationship Id="rId74" Type="http://schemas.openxmlformats.org/officeDocument/2006/relationships/tags" Target="../tags/tag84.xml"/><Relationship Id="rId73" Type="http://schemas.openxmlformats.org/officeDocument/2006/relationships/tags" Target="../tags/tag83.xml"/><Relationship Id="rId72" Type="http://schemas.openxmlformats.org/officeDocument/2006/relationships/tags" Target="../tags/tag82.xml"/><Relationship Id="rId71" Type="http://schemas.openxmlformats.org/officeDocument/2006/relationships/tags" Target="../tags/tag81.xml"/><Relationship Id="rId70" Type="http://schemas.openxmlformats.org/officeDocument/2006/relationships/tags" Target="../tags/tag80.xml"/><Relationship Id="rId7" Type="http://schemas.openxmlformats.org/officeDocument/2006/relationships/tags" Target="../tags/tag17.xml"/><Relationship Id="rId69" Type="http://schemas.openxmlformats.org/officeDocument/2006/relationships/tags" Target="../tags/tag79.xml"/><Relationship Id="rId68" Type="http://schemas.openxmlformats.org/officeDocument/2006/relationships/tags" Target="../tags/tag78.xml"/><Relationship Id="rId67" Type="http://schemas.openxmlformats.org/officeDocument/2006/relationships/tags" Target="../tags/tag77.xml"/><Relationship Id="rId66" Type="http://schemas.openxmlformats.org/officeDocument/2006/relationships/tags" Target="../tags/tag76.xml"/><Relationship Id="rId65" Type="http://schemas.openxmlformats.org/officeDocument/2006/relationships/tags" Target="../tags/tag75.xml"/><Relationship Id="rId64" Type="http://schemas.openxmlformats.org/officeDocument/2006/relationships/tags" Target="../tags/tag74.xml"/><Relationship Id="rId63" Type="http://schemas.openxmlformats.org/officeDocument/2006/relationships/tags" Target="../tags/tag73.xml"/><Relationship Id="rId62" Type="http://schemas.openxmlformats.org/officeDocument/2006/relationships/tags" Target="../tags/tag72.xml"/><Relationship Id="rId61" Type="http://schemas.openxmlformats.org/officeDocument/2006/relationships/tags" Target="../tags/tag71.xml"/><Relationship Id="rId60" Type="http://schemas.openxmlformats.org/officeDocument/2006/relationships/tags" Target="../tags/tag70.xml"/><Relationship Id="rId6" Type="http://schemas.openxmlformats.org/officeDocument/2006/relationships/tags" Target="../tags/tag16.xml"/><Relationship Id="rId59" Type="http://schemas.openxmlformats.org/officeDocument/2006/relationships/tags" Target="../tags/tag69.xml"/><Relationship Id="rId58" Type="http://schemas.openxmlformats.org/officeDocument/2006/relationships/tags" Target="../tags/tag68.xml"/><Relationship Id="rId57" Type="http://schemas.openxmlformats.org/officeDocument/2006/relationships/tags" Target="../tags/tag67.xml"/><Relationship Id="rId56" Type="http://schemas.openxmlformats.org/officeDocument/2006/relationships/tags" Target="../tags/tag66.xml"/><Relationship Id="rId55" Type="http://schemas.openxmlformats.org/officeDocument/2006/relationships/tags" Target="../tags/tag65.xml"/><Relationship Id="rId54" Type="http://schemas.openxmlformats.org/officeDocument/2006/relationships/tags" Target="../tags/tag64.xml"/><Relationship Id="rId53" Type="http://schemas.openxmlformats.org/officeDocument/2006/relationships/tags" Target="../tags/tag63.xml"/><Relationship Id="rId52" Type="http://schemas.openxmlformats.org/officeDocument/2006/relationships/tags" Target="../tags/tag62.xml"/><Relationship Id="rId51" Type="http://schemas.openxmlformats.org/officeDocument/2006/relationships/tags" Target="../tags/tag61.xml"/><Relationship Id="rId50" Type="http://schemas.openxmlformats.org/officeDocument/2006/relationships/tags" Target="../tags/tag60.xml"/><Relationship Id="rId5" Type="http://schemas.openxmlformats.org/officeDocument/2006/relationships/tags" Target="../tags/tag15.xml"/><Relationship Id="rId49" Type="http://schemas.openxmlformats.org/officeDocument/2006/relationships/tags" Target="../tags/tag59.xml"/><Relationship Id="rId48" Type="http://schemas.openxmlformats.org/officeDocument/2006/relationships/tags" Target="../tags/tag58.xml"/><Relationship Id="rId47" Type="http://schemas.openxmlformats.org/officeDocument/2006/relationships/tags" Target="../tags/tag57.xml"/><Relationship Id="rId46" Type="http://schemas.openxmlformats.org/officeDocument/2006/relationships/tags" Target="../tags/tag56.xml"/><Relationship Id="rId45" Type="http://schemas.openxmlformats.org/officeDocument/2006/relationships/tags" Target="../tags/tag55.xml"/><Relationship Id="rId44" Type="http://schemas.openxmlformats.org/officeDocument/2006/relationships/tags" Target="../tags/tag54.xml"/><Relationship Id="rId43" Type="http://schemas.openxmlformats.org/officeDocument/2006/relationships/tags" Target="../tags/tag53.xml"/><Relationship Id="rId42" Type="http://schemas.openxmlformats.org/officeDocument/2006/relationships/tags" Target="../tags/tag52.xml"/><Relationship Id="rId41" Type="http://schemas.openxmlformats.org/officeDocument/2006/relationships/tags" Target="../tags/tag51.xml"/><Relationship Id="rId40" Type="http://schemas.openxmlformats.org/officeDocument/2006/relationships/tags" Target="../tags/tag50.xml"/><Relationship Id="rId4" Type="http://schemas.openxmlformats.org/officeDocument/2006/relationships/tags" Target="../tags/tag14.xml"/><Relationship Id="rId39" Type="http://schemas.openxmlformats.org/officeDocument/2006/relationships/tags" Target="../tags/tag49.xml"/><Relationship Id="rId38" Type="http://schemas.openxmlformats.org/officeDocument/2006/relationships/tags" Target="../tags/tag48.xml"/><Relationship Id="rId37" Type="http://schemas.openxmlformats.org/officeDocument/2006/relationships/tags" Target="../tags/tag47.xml"/><Relationship Id="rId36" Type="http://schemas.openxmlformats.org/officeDocument/2006/relationships/tags" Target="../tags/tag46.xml"/><Relationship Id="rId35" Type="http://schemas.openxmlformats.org/officeDocument/2006/relationships/tags" Target="../tags/tag45.xml"/><Relationship Id="rId34" Type="http://schemas.openxmlformats.org/officeDocument/2006/relationships/tags" Target="../tags/tag44.xml"/><Relationship Id="rId33" Type="http://schemas.openxmlformats.org/officeDocument/2006/relationships/tags" Target="../tags/tag43.xml"/><Relationship Id="rId32" Type="http://schemas.openxmlformats.org/officeDocument/2006/relationships/tags" Target="../tags/tag42.xml"/><Relationship Id="rId31" Type="http://schemas.openxmlformats.org/officeDocument/2006/relationships/tags" Target="../tags/tag41.xml"/><Relationship Id="rId30" Type="http://schemas.openxmlformats.org/officeDocument/2006/relationships/tags" Target="../tags/tag40.xml"/><Relationship Id="rId3" Type="http://schemas.openxmlformats.org/officeDocument/2006/relationships/tags" Target="../tags/tag13.xml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5" Type="http://schemas.openxmlformats.org/officeDocument/2006/relationships/slideLayout" Target="../slideLayouts/slideLayout2.xml"/><Relationship Id="rId144" Type="http://schemas.openxmlformats.org/officeDocument/2006/relationships/tags" Target="../tags/tag154.xml"/><Relationship Id="rId143" Type="http://schemas.openxmlformats.org/officeDocument/2006/relationships/tags" Target="../tags/tag153.xml"/><Relationship Id="rId142" Type="http://schemas.openxmlformats.org/officeDocument/2006/relationships/tags" Target="../tags/tag152.xml"/><Relationship Id="rId141" Type="http://schemas.openxmlformats.org/officeDocument/2006/relationships/tags" Target="../tags/tag151.xml"/><Relationship Id="rId140" Type="http://schemas.openxmlformats.org/officeDocument/2006/relationships/tags" Target="../tags/tag150.xml"/><Relationship Id="rId14" Type="http://schemas.openxmlformats.org/officeDocument/2006/relationships/tags" Target="../tags/tag24.xml"/><Relationship Id="rId139" Type="http://schemas.openxmlformats.org/officeDocument/2006/relationships/tags" Target="../tags/tag149.xml"/><Relationship Id="rId138" Type="http://schemas.openxmlformats.org/officeDocument/2006/relationships/tags" Target="../tags/tag148.xml"/><Relationship Id="rId137" Type="http://schemas.openxmlformats.org/officeDocument/2006/relationships/tags" Target="../tags/tag147.xml"/><Relationship Id="rId136" Type="http://schemas.openxmlformats.org/officeDocument/2006/relationships/tags" Target="../tags/tag146.xml"/><Relationship Id="rId135" Type="http://schemas.openxmlformats.org/officeDocument/2006/relationships/tags" Target="../tags/tag145.xml"/><Relationship Id="rId134" Type="http://schemas.openxmlformats.org/officeDocument/2006/relationships/tags" Target="../tags/tag144.xml"/><Relationship Id="rId133" Type="http://schemas.openxmlformats.org/officeDocument/2006/relationships/tags" Target="../tags/tag143.xml"/><Relationship Id="rId132" Type="http://schemas.openxmlformats.org/officeDocument/2006/relationships/tags" Target="../tags/tag142.xml"/><Relationship Id="rId131" Type="http://schemas.openxmlformats.org/officeDocument/2006/relationships/tags" Target="../tags/tag141.xml"/><Relationship Id="rId130" Type="http://schemas.openxmlformats.org/officeDocument/2006/relationships/tags" Target="../tags/tag140.xml"/><Relationship Id="rId13" Type="http://schemas.openxmlformats.org/officeDocument/2006/relationships/tags" Target="../tags/tag23.xml"/><Relationship Id="rId129" Type="http://schemas.openxmlformats.org/officeDocument/2006/relationships/tags" Target="../tags/tag139.xml"/><Relationship Id="rId128" Type="http://schemas.openxmlformats.org/officeDocument/2006/relationships/tags" Target="../tags/tag138.xml"/><Relationship Id="rId127" Type="http://schemas.openxmlformats.org/officeDocument/2006/relationships/tags" Target="../tags/tag137.xml"/><Relationship Id="rId126" Type="http://schemas.openxmlformats.org/officeDocument/2006/relationships/tags" Target="../tags/tag136.xml"/><Relationship Id="rId125" Type="http://schemas.openxmlformats.org/officeDocument/2006/relationships/tags" Target="../tags/tag135.xml"/><Relationship Id="rId124" Type="http://schemas.openxmlformats.org/officeDocument/2006/relationships/tags" Target="../tags/tag134.xml"/><Relationship Id="rId123" Type="http://schemas.openxmlformats.org/officeDocument/2006/relationships/tags" Target="../tags/tag133.xml"/><Relationship Id="rId122" Type="http://schemas.openxmlformats.org/officeDocument/2006/relationships/tags" Target="../tags/tag132.xml"/><Relationship Id="rId121" Type="http://schemas.openxmlformats.org/officeDocument/2006/relationships/tags" Target="../tags/tag131.xml"/><Relationship Id="rId120" Type="http://schemas.openxmlformats.org/officeDocument/2006/relationships/tags" Target="../tags/tag130.xml"/><Relationship Id="rId12" Type="http://schemas.openxmlformats.org/officeDocument/2006/relationships/tags" Target="../tags/tag22.xml"/><Relationship Id="rId119" Type="http://schemas.openxmlformats.org/officeDocument/2006/relationships/tags" Target="../tags/tag129.xml"/><Relationship Id="rId118" Type="http://schemas.openxmlformats.org/officeDocument/2006/relationships/tags" Target="../tags/tag128.xml"/><Relationship Id="rId117" Type="http://schemas.openxmlformats.org/officeDocument/2006/relationships/tags" Target="../tags/tag127.xml"/><Relationship Id="rId116" Type="http://schemas.openxmlformats.org/officeDocument/2006/relationships/tags" Target="../tags/tag126.xml"/><Relationship Id="rId115" Type="http://schemas.openxmlformats.org/officeDocument/2006/relationships/tags" Target="../tags/tag125.xml"/><Relationship Id="rId114" Type="http://schemas.openxmlformats.org/officeDocument/2006/relationships/tags" Target="../tags/tag124.xml"/><Relationship Id="rId113" Type="http://schemas.openxmlformats.org/officeDocument/2006/relationships/tags" Target="../tags/tag123.xml"/><Relationship Id="rId112" Type="http://schemas.openxmlformats.org/officeDocument/2006/relationships/tags" Target="../tags/tag122.xml"/><Relationship Id="rId111" Type="http://schemas.openxmlformats.org/officeDocument/2006/relationships/tags" Target="../tags/tag121.xml"/><Relationship Id="rId110" Type="http://schemas.openxmlformats.org/officeDocument/2006/relationships/tags" Target="../tags/tag120.xml"/><Relationship Id="rId11" Type="http://schemas.openxmlformats.org/officeDocument/2006/relationships/tags" Target="../tags/tag21.xml"/><Relationship Id="rId109" Type="http://schemas.openxmlformats.org/officeDocument/2006/relationships/tags" Target="../tags/tag119.xml"/><Relationship Id="rId108" Type="http://schemas.openxmlformats.org/officeDocument/2006/relationships/tags" Target="../tags/tag118.xml"/><Relationship Id="rId107" Type="http://schemas.openxmlformats.org/officeDocument/2006/relationships/tags" Target="../tags/tag117.xml"/><Relationship Id="rId106" Type="http://schemas.openxmlformats.org/officeDocument/2006/relationships/tags" Target="../tags/tag116.xml"/><Relationship Id="rId105" Type="http://schemas.openxmlformats.org/officeDocument/2006/relationships/tags" Target="../tags/tag115.xml"/><Relationship Id="rId104" Type="http://schemas.openxmlformats.org/officeDocument/2006/relationships/tags" Target="../tags/tag114.xml"/><Relationship Id="rId103" Type="http://schemas.openxmlformats.org/officeDocument/2006/relationships/tags" Target="../tags/tag113.xml"/><Relationship Id="rId102" Type="http://schemas.openxmlformats.org/officeDocument/2006/relationships/tags" Target="../tags/tag112.xml"/><Relationship Id="rId101" Type="http://schemas.openxmlformats.org/officeDocument/2006/relationships/tags" Target="../tags/tag111.xml"/><Relationship Id="rId100" Type="http://schemas.openxmlformats.org/officeDocument/2006/relationships/tags" Target="../tags/tag110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image" Target="../media/image15.wmf"/><Relationship Id="rId6" Type="http://schemas.openxmlformats.org/officeDocument/2006/relationships/oleObject" Target="../embeddings/oleObject2.bin"/><Relationship Id="rId5" Type="http://schemas.openxmlformats.org/officeDocument/2006/relationships/tags" Target="../tags/tag15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2" Type="http://schemas.openxmlformats.org/officeDocument/2006/relationships/tags" Target="../tags/tag156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3.bin"/><Relationship Id="rId3" Type="http://schemas.openxmlformats.org/officeDocument/2006/relationships/tags" Target="../tags/tag161.xml"/><Relationship Id="rId2" Type="http://schemas.openxmlformats.org/officeDocument/2006/relationships/image" Target="../media/image12.emf"/><Relationship Id="rId1" Type="http://schemas.openxmlformats.org/officeDocument/2006/relationships/tags" Target="../tags/tag16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emf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emf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image" Target="../media/image18.wmf"/><Relationship Id="rId6" Type="http://schemas.openxmlformats.org/officeDocument/2006/relationships/oleObject" Target="../embeddings/oleObject5.bin"/><Relationship Id="rId5" Type="http://schemas.openxmlformats.org/officeDocument/2006/relationships/tags" Target="../tags/tag168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4.bin"/><Relationship Id="rId2" Type="http://schemas.openxmlformats.org/officeDocument/2006/relationships/tags" Target="../tags/tag167.xml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172.xml"/><Relationship Id="rId11" Type="http://schemas.openxmlformats.org/officeDocument/2006/relationships/image" Target="../media/image19.png"/><Relationship Id="rId10" Type="http://schemas.openxmlformats.org/officeDocument/2006/relationships/tags" Target="../tags/tag171.xml"/><Relationship Id="rId1" Type="http://schemas.openxmlformats.org/officeDocument/2006/relationships/tags" Target="../tags/tag16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image" Target="../media/image12.emf"/><Relationship Id="rId4" Type="http://schemas.openxmlformats.org/officeDocument/2006/relationships/tags" Target="../tags/tag178.xml"/><Relationship Id="rId3" Type="http://schemas.openxmlformats.org/officeDocument/2006/relationships/image" Target="../media/image21.png"/><Relationship Id="rId2" Type="http://schemas.openxmlformats.org/officeDocument/2006/relationships/tags" Target="../tags/tag177.xml"/><Relationship Id="rId19" Type="http://schemas.openxmlformats.org/officeDocument/2006/relationships/vmlDrawing" Target="../drawings/vmlDrawing4.vml"/><Relationship Id="rId18" Type="http://schemas.openxmlformats.org/officeDocument/2006/relationships/slideLayout" Target="../slideLayouts/slideLayout5.xml"/><Relationship Id="rId17" Type="http://schemas.openxmlformats.org/officeDocument/2006/relationships/tags" Target="../tags/tag187.xml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6.bin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image" Target="../media/image22.png"/><Relationship Id="rId1" Type="http://schemas.openxmlformats.org/officeDocument/2006/relationships/tags" Target="../tags/tag17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1" Type="http://schemas.openxmlformats.org/officeDocument/2006/relationships/tags" Target="../tags/tag1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ctrTitle"/>
          </p:nvPr>
        </p:nvSpPr>
        <p:spPr>
          <a:xfrm>
            <a:off x="-177800" y="1524000"/>
            <a:ext cx="9408160" cy="1470025"/>
          </a:xfrm>
        </p:spPr>
        <p:txBody>
          <a:bodyPr anchor="ctr" anchorCtr="0"/>
          <a:p>
            <a:pPr algn="ctr">
              <a:buClrTx/>
              <a:buSzTx/>
              <a:buFontTx/>
            </a:pPr>
            <a:r>
              <a:rPr lang="zh-CN" altLang="en-US" sz="40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实验二、共射极单管放大电路的研究</a:t>
            </a:r>
            <a:endParaRPr lang="zh-CN" altLang="en-US" sz="400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1266" name="副标题 2"/>
          <p:cNvSpPr>
            <a:spLocks noGrp="1"/>
          </p:cNvSpPr>
          <p:nvPr>
            <p:ph type="subTitle" idx="1"/>
          </p:nvPr>
        </p:nvSpPr>
        <p:spPr>
          <a:xfrm>
            <a:off x="1371600" y="3307080"/>
            <a:ext cx="6400800" cy="849630"/>
          </a:xfrm>
        </p:spPr>
        <p:txBody>
          <a:bodyPr anchor="t" anchorCtr="0"/>
          <a:p>
            <a:pPr>
              <a:buClrTx/>
              <a:buSzTx/>
              <a:buFontTx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授课教师：徐琳琳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矩形 58"/>
          <p:cNvSpPr/>
          <p:nvPr/>
        </p:nvSpPr>
        <p:spPr>
          <a:xfrm>
            <a:off x="0" y="5949950"/>
            <a:ext cx="9144000" cy="14287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5400">
            <a:noFill/>
          </a:ln>
        </p:spPr>
        <p:txBody>
          <a:bodyPr anchor="ctr"/>
          <a:lstStyle/>
          <a:p>
            <a:pPr algn="ctr"/>
            <a:endParaRPr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0" name="直接连接符 5"/>
          <p:cNvSpPr/>
          <p:nvPr/>
        </p:nvSpPr>
        <p:spPr>
          <a:xfrm>
            <a:off x="755650" y="1628775"/>
            <a:ext cx="7705725" cy="0"/>
          </a:xfrm>
          <a:prstGeom prst="line">
            <a:avLst/>
          </a:prstGeom>
          <a:ln w="9525" cap="flat" cmpd="sng">
            <a:solidFill>
              <a:srgbClr val="A5A5A5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1" name="直接连接符 7"/>
          <p:cNvSpPr/>
          <p:nvPr/>
        </p:nvSpPr>
        <p:spPr>
          <a:xfrm flipV="1">
            <a:off x="1646238" y="1196975"/>
            <a:ext cx="0" cy="288925"/>
          </a:xfrm>
          <a:prstGeom prst="line">
            <a:avLst/>
          </a:prstGeom>
          <a:ln w="19050" cap="flat" cmpd="sng">
            <a:solidFill>
              <a:srgbClr val="595959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4102" name="TextBox 10"/>
          <p:cNvSpPr/>
          <p:nvPr/>
        </p:nvSpPr>
        <p:spPr>
          <a:xfrm>
            <a:off x="909638" y="1139825"/>
            <a:ext cx="782637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目录</a:t>
            </a:r>
            <a:endParaRPr lang="zh-CN" altLang="en-US" sz="2000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03" name="TextBox 11"/>
          <p:cNvSpPr/>
          <p:nvPr/>
        </p:nvSpPr>
        <p:spPr>
          <a:xfrm>
            <a:off x="1692275" y="1111885"/>
            <a:ext cx="2880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Contents</a:t>
            </a:r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07" name="TextBox 15"/>
          <p:cNvSpPr/>
          <p:nvPr/>
        </p:nvSpPr>
        <p:spPr>
          <a:xfrm>
            <a:off x="1371600" y="2090420"/>
            <a:ext cx="6524625" cy="2122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）三极管介绍</a:t>
            </a:r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）实验目的</a:t>
            </a:r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b="1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）实验内容</a:t>
            </a:r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l"/>
            <a:endParaRPr lang="zh-CN" altLang="en-US" b="1" dirty="0">
              <a:solidFill>
                <a:srgbClr val="3F3F3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img.mp.itc.cn/upload/20170616/9e0d685d82ea479990346fdfed5e9acb_th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0" b="17175"/>
          <a:stretch>
            <a:fillRect/>
          </a:stretch>
        </p:blipFill>
        <p:spPr bwMode="auto">
          <a:xfrm>
            <a:off x="4282440" y="2167255"/>
            <a:ext cx="4603750" cy="2713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-11430" y="5257165"/>
            <a:ext cx="88220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美国贝尔实验室的</a:t>
            </a:r>
            <a:r>
              <a:rPr lang="zh-CN" altLang="en-US" sz="1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巴丁、肖克利、布莱顿</a:t>
            </a:r>
            <a:r>
              <a:rPr lang="zh-CN" altLang="en-US" sz="12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1947</a:t>
            </a:r>
            <a:r>
              <a:rPr lang="zh-CN" altLang="en-US" sz="12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年）</a:t>
            </a:r>
            <a:r>
              <a:rPr lang="zh-CN" altLang="en-US" sz="18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因发明晶体三极管</a:t>
            </a:r>
            <a:endParaRPr lang="en-US" altLang="zh-CN" sz="18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同获</a:t>
            </a:r>
            <a:r>
              <a:rPr lang="en-US" altLang="zh-CN" sz="18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1956</a:t>
            </a:r>
            <a:r>
              <a:rPr lang="zh-CN" altLang="en-US" sz="18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zh-CN" altLang="en-US" sz="1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诺贝尔物理学奖</a:t>
            </a:r>
            <a:r>
              <a:rPr lang="zh-CN" altLang="en-US" sz="18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8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7769" y="4880886"/>
            <a:ext cx="25186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第一个晶体三极管（锗材料）</a:t>
            </a:r>
            <a:endParaRPr lang="en-US" altLang="zh-CN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5955" y="721999"/>
            <a:ext cx="7848872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 smtClean="0">
                <a:latin typeface="微软雅黑" panose="020B0503020204020204" charset="-122"/>
                <a:ea typeface="微软雅黑" panose="020B0503020204020204" charset="-122"/>
              </a:rPr>
              <a:t>三极管</a:t>
            </a:r>
            <a:r>
              <a:rPr lang="zh-CN" altLang="en-US" sz="1800" dirty="0" smtClean="0">
                <a:latin typeface="微软雅黑" panose="020B0503020204020204" charset="-122"/>
                <a:ea typeface="微软雅黑" panose="020B0503020204020204" charset="-122"/>
              </a:rPr>
              <a:t>的出现，使得</a:t>
            </a:r>
            <a:r>
              <a:rPr lang="en-US" altLang="zh-CN" sz="1800" dirty="0" smtClean="0">
                <a:latin typeface="微软雅黑" panose="020B0503020204020204" charset="-122"/>
                <a:ea typeface="微软雅黑" panose="020B0503020204020204" charset="-122"/>
              </a:rPr>
              <a:t>PN</a:t>
            </a:r>
            <a:r>
              <a:rPr lang="zh-CN" altLang="en-US" sz="1800" dirty="0" smtClean="0">
                <a:latin typeface="微软雅黑" panose="020B0503020204020204" charset="-122"/>
                <a:ea typeface="微软雅黑" panose="020B0503020204020204" charset="-122"/>
              </a:rPr>
              <a:t>结的应用发生了</a:t>
            </a:r>
            <a:r>
              <a:rPr lang="zh-CN" altLang="en-US" sz="1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质的飞越</a:t>
            </a:r>
            <a:r>
              <a:rPr lang="zh-CN" altLang="en-US" sz="1800" dirty="0" smtClean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1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 smtClean="0">
                <a:latin typeface="微软雅黑" panose="020B0503020204020204" charset="-122"/>
                <a:ea typeface="微软雅黑" panose="020B0503020204020204" charset="-122"/>
              </a:rPr>
              <a:t>三极管</a:t>
            </a:r>
            <a:r>
              <a:rPr lang="zh-CN" altLang="en-US" sz="1800" dirty="0" smtClean="0">
                <a:latin typeface="微软雅黑" panose="020B0503020204020204" charset="-122"/>
                <a:ea typeface="微软雅黑" panose="020B0503020204020204" charset="-122"/>
              </a:rPr>
              <a:t>是电子电路中的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核心器件</a:t>
            </a:r>
            <a:r>
              <a:rPr lang="zh-CN" altLang="en-US" sz="1800" dirty="0" smtClean="0">
                <a:latin typeface="微软雅黑" panose="020B0503020204020204" charset="-122"/>
                <a:ea typeface="微软雅黑" panose="020B0503020204020204" charset="-122"/>
              </a:rPr>
              <a:t>之一，被称为电子线路的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灵魂</a:t>
            </a:r>
            <a:r>
              <a:rPr lang="zh-CN" altLang="en-US" sz="18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1800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三极管</a:t>
            </a:r>
            <a:r>
              <a:rPr lang="zh-CN" altLang="en-US" sz="18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的主要应用：</a:t>
            </a:r>
            <a:r>
              <a:rPr lang="zh-CN" altLang="en-US" sz="1800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信号放大、振荡、开关器件、各种集成电路</a:t>
            </a:r>
            <a:r>
              <a:rPr lang="zh-CN" altLang="en-US" sz="18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</a:t>
            </a:r>
            <a:r>
              <a:rPr lang="zh-CN" altLang="en-US" sz="1800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800" b="1" dirty="0" smtClean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Picture 4" descr="http://img.mp.itc.cn/upload/20170616/59cde82c71a2459ca47cd16c196228f6_th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6" t="16206" r="23149" b="51667"/>
          <a:stretch>
            <a:fillRect/>
          </a:stretch>
        </p:blipFill>
        <p:spPr bwMode="auto">
          <a:xfrm>
            <a:off x="5796136" y="324485"/>
            <a:ext cx="1587304" cy="62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img.mp.itc.cn/upload/20170616/59cde82c71a2459ca47cd16c196228f6_th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6" t="48663" r="23149" b="10149"/>
          <a:stretch>
            <a:fillRect/>
          </a:stretch>
        </p:blipFill>
        <p:spPr bwMode="auto">
          <a:xfrm>
            <a:off x="7312112" y="142655"/>
            <a:ext cx="1652376" cy="83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3"/>
          <p:cNvSpPr txBox="1"/>
          <p:nvPr/>
        </p:nvSpPr>
        <p:spPr>
          <a:xfrm>
            <a:off x="-35560" y="-11684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）三极管介绍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323850" y="2263140"/>
            <a:ext cx="3784600" cy="254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866680" y="4854932"/>
            <a:ext cx="3057248" cy="307777"/>
          </a:xfrm>
          <a:prstGeom prst="rect">
            <a:avLst/>
          </a:prstGeom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巴丁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14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肖克利、</a:t>
            </a:r>
            <a:r>
              <a:rPr lang="zh-CN" altLang="en-US" sz="1400" b="1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布莱顿（自左向右）</a:t>
            </a:r>
            <a:endParaRPr lang="zh-CN" altLang="en-US" sz="14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8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7400" y="838200"/>
            <a:ext cx="5444490" cy="4481830"/>
          </a:xfrm>
        </p:spPr>
      </p:pic>
      <p:sp>
        <p:nvSpPr>
          <p:cNvPr id="14339" name="文本框 4"/>
          <p:cNvSpPr txBox="1"/>
          <p:nvPr/>
        </p:nvSpPr>
        <p:spPr>
          <a:xfrm>
            <a:off x="2514283" y="5409565"/>
            <a:ext cx="4846637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真空管、晶体管、集成电路的对比图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3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8105" y="76200"/>
            <a:ext cx="8534400" cy="609600"/>
          </a:xfrm>
        </p:spPr>
        <p:txBody>
          <a:bodyPr anchor="ctr" anchorCtr="0"/>
          <a:p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）三极管介绍</a:t>
            </a:r>
            <a:endParaRPr lang="zh-CN" altLang="en-US"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28080" y="1891665"/>
            <a:ext cx="792480" cy="935990"/>
          </a:xfrm>
          <a:prstGeom prst="rect">
            <a:avLst/>
          </a:prstGeom>
          <a:solidFill>
            <a:srgbClr val="FF6C0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28080" y="2827655"/>
            <a:ext cx="792480" cy="384175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28080" y="3211830"/>
            <a:ext cx="792480" cy="935990"/>
          </a:xfrm>
          <a:prstGeom prst="rect">
            <a:avLst/>
          </a:prstGeom>
          <a:solidFill>
            <a:srgbClr val="F852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39545" y="1815465"/>
            <a:ext cx="792480" cy="935990"/>
          </a:xfrm>
          <a:prstGeom prst="rect">
            <a:avLst/>
          </a:prstGeom>
          <a:solidFill>
            <a:srgbClr val="00B0F0">
              <a:alpha val="59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39545" y="2751455"/>
            <a:ext cx="792480" cy="384175"/>
          </a:xfrm>
          <a:prstGeom prst="rect">
            <a:avLst/>
          </a:prstGeom>
          <a:solidFill>
            <a:srgbClr val="FF6C0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39545" y="3135630"/>
            <a:ext cx="792480" cy="935990"/>
          </a:xfrm>
          <a:prstGeom prst="rect">
            <a:avLst/>
          </a:prstGeom>
          <a:solidFill>
            <a:srgbClr val="00B0F0">
              <a:alpha val="62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9115" y="211137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发射区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2625" y="279590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基区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9115" y="345376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集电区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51710" y="262572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发射结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51710" y="2967990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集电结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1816735" y="1137920"/>
            <a:ext cx="0" cy="647700"/>
          </a:xfrm>
          <a:prstGeom prst="line">
            <a:avLst/>
          </a:prstGeom>
          <a:ln w="254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835785" y="4101465"/>
            <a:ext cx="0" cy="647700"/>
          </a:xfrm>
          <a:prstGeom prst="line">
            <a:avLst/>
          </a:prstGeom>
          <a:ln w="2540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267585" y="2977515"/>
            <a:ext cx="1370965" cy="0"/>
          </a:xfrm>
          <a:prstGeom prst="line">
            <a:avLst/>
          </a:prstGeom>
          <a:ln w="254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475105" y="834390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发射极</a:t>
            </a:r>
            <a:endParaRPr lang="zh-CN"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07765" y="282892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基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</a:t>
            </a:r>
            <a:endParaRPr lang="zh-CN"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75105" y="4794885"/>
            <a:ext cx="916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集电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</a:t>
            </a:r>
            <a:endParaRPr lang="zh-CN"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左大括号 25"/>
          <p:cNvSpPr/>
          <p:nvPr/>
        </p:nvSpPr>
        <p:spPr>
          <a:xfrm>
            <a:off x="1188085" y="1858645"/>
            <a:ext cx="125095" cy="819150"/>
          </a:xfrm>
          <a:prstGeom prst="leftBrace">
            <a:avLst>
              <a:gd name="adj1" fmla="val 504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/>
        </p:nvSpPr>
        <p:spPr>
          <a:xfrm>
            <a:off x="1188085" y="3202940"/>
            <a:ext cx="125095" cy="819150"/>
          </a:xfrm>
          <a:prstGeom prst="leftBrace">
            <a:avLst>
              <a:gd name="adj1" fmla="val 504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左大括号 27"/>
          <p:cNvSpPr/>
          <p:nvPr/>
        </p:nvSpPr>
        <p:spPr>
          <a:xfrm>
            <a:off x="1217295" y="2742565"/>
            <a:ext cx="88900" cy="417830"/>
          </a:xfrm>
          <a:prstGeom prst="leftBrace">
            <a:avLst>
              <a:gd name="adj1" fmla="val 504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01350" y="5171974"/>
            <a:ext cx="184531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NPN</a:t>
            </a:r>
            <a:r>
              <a:rPr lang="zh-CN" altLang="en-US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型双极型三极管</a:t>
            </a:r>
            <a:endParaRPr lang="zh-CN" altLang="en-US" sz="14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505100" y="4364889"/>
            <a:ext cx="181165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PNP</a:t>
            </a:r>
            <a:r>
              <a:rPr lang="zh-CN" altLang="en-US" sz="14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型双极型三极管</a:t>
            </a:r>
            <a:endParaRPr lang="zh-CN" altLang="en-US" sz="14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5"/>
          <p:cNvSpPr txBox="1"/>
          <p:nvPr/>
        </p:nvSpPr>
        <p:spPr>
          <a:xfrm>
            <a:off x="4217035" y="152400"/>
            <a:ext cx="4378325" cy="138366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三个区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发射区、基区和集电区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个电极（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发射极、基极和集电极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PN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发射结和集电结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两种载流子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（电子和空穴）参与导电（即</a:t>
            </a:r>
            <a:r>
              <a:rPr lang="zh-CN" altLang="en-US" sz="1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双极型</a:t>
            </a:r>
            <a:r>
              <a:rPr lang="zh-CN" altLang="en-US" sz="1400" b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 sz="1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831465" y="860425"/>
            <a:ext cx="1666875" cy="1760139"/>
            <a:chOff x="4685" y="1061"/>
            <a:chExt cx="2902" cy="3179"/>
          </a:xfrm>
        </p:grpSpPr>
        <p:grpSp>
          <p:nvGrpSpPr>
            <p:cNvPr id="41" name="组合 4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35" name="直接箭头连接符 34"/>
              <p:cNvCxnSpPr/>
              <p:nvPr/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747" y="2659"/>
                <a:ext cx="928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/>
          </p:nvSpPr>
          <p:spPr>
            <a:xfrm>
              <a:off x="5612" y="3372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685" y="2137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143" y="1353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57" name="椭圆 56"/>
          <p:cNvSpPr/>
          <p:nvPr/>
        </p:nvSpPr>
        <p:spPr>
          <a:xfrm>
            <a:off x="3615690" y="744220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3599815" y="2620645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2759075" y="1683385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7233285" y="1893570"/>
            <a:ext cx="1666875" cy="1760139"/>
            <a:chOff x="4685" y="1061"/>
            <a:chExt cx="2902" cy="3179"/>
          </a:xfrm>
        </p:grpSpPr>
        <p:grpSp>
          <p:nvGrpSpPr>
            <p:cNvPr id="61" name="组合 6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62" name="直接箭头连接符 61"/>
              <p:cNvCxnSpPr/>
              <p:nvPr/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/>
              <p:cNvCxnSpPr/>
              <p:nvPr/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4747" y="2659"/>
                <a:ext cx="928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5612" y="3372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4685" y="2137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6143" y="1353"/>
              <a:ext cx="1444" cy="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1" name="椭圆 70"/>
          <p:cNvSpPr/>
          <p:nvPr/>
        </p:nvSpPr>
        <p:spPr>
          <a:xfrm>
            <a:off x="8017510" y="1777365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8001635" y="3653790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7160895" y="2716530"/>
            <a:ext cx="108000" cy="108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630" y="3501390"/>
            <a:ext cx="1936750" cy="88392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2549810" y="4385209"/>
            <a:ext cx="213296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基于平面工艺的</a:t>
            </a:r>
            <a:r>
              <a:rPr lang="en-US" altLang="zh-CN" sz="10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NPN</a:t>
            </a:r>
            <a:r>
              <a:rPr lang="zh-CN" altLang="en-US" sz="10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三极管示意图</a:t>
            </a:r>
            <a:endParaRPr lang="zh-CN" altLang="en-US" sz="1000" b="1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05200" y="5028565"/>
            <a:ext cx="5318760" cy="110680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鍺管反向漏电流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大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（几百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μA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），承受的温度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低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~100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）；</a:t>
            </a:r>
            <a:endParaRPr lang="zh-CN" altLang="en-US" sz="1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硅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管反向漏电流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&lt;1μA 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），承受的温度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~200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）；</a:t>
            </a:r>
            <a:endParaRPr lang="zh-CN" altLang="en-US" sz="1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ctr"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结论：硅管比鍺管质量好，应用更广泛！</a:t>
            </a:r>
            <a:endParaRPr lang="zh-CN" altLang="en-US" sz="1600" b="1" dirty="0" smtClean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H="1">
            <a:off x="4644390" y="3543300"/>
            <a:ext cx="0" cy="82232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611572" y="3789040"/>
            <a:ext cx="976549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几百μm</a:t>
            </a:r>
            <a:endParaRPr lang="zh-CN" altLang="en-US" sz="1400"/>
          </a:p>
        </p:txBody>
      </p:sp>
      <p:cxnSp>
        <p:nvCxnSpPr>
          <p:cNvPr id="74" name="直接箭头连接符 73"/>
          <p:cNvCxnSpPr/>
          <p:nvPr/>
        </p:nvCxnSpPr>
        <p:spPr>
          <a:xfrm>
            <a:off x="3275856" y="3760396"/>
            <a:ext cx="0" cy="180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46"/>
          <p:cNvSpPr txBox="1"/>
          <p:nvPr/>
        </p:nvSpPr>
        <p:spPr>
          <a:xfrm>
            <a:off x="3380840" y="3697287"/>
            <a:ext cx="145592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</a:t>
            </a:r>
            <a:r>
              <a:rPr lang="en-US" altLang="zh-CN" sz="1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~ </a:t>
            </a:r>
            <a:r>
              <a:rPr lang="zh-CN" altLang="en-US" sz="1400" b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几十</a:t>
            </a:r>
            <a:r>
              <a:rPr lang="zh-CN" altLang="en-US" sz="1400" b="1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μ</a:t>
            </a:r>
            <a:r>
              <a:rPr lang="zh-CN" altLang="en-US" sz="14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endParaRPr lang="zh-CN" altLang="en-US" sz="1400">
              <a:solidFill>
                <a:srgbClr val="FFFF00"/>
              </a:solidFill>
            </a:endParaRPr>
          </a:p>
        </p:txBody>
      </p:sp>
      <p:sp>
        <p:nvSpPr>
          <p:cNvPr id="2" name="文本框 3"/>
          <p:cNvSpPr txBox="1"/>
          <p:nvPr>
            <p:custDataLst>
              <p:tags r:id="rId2"/>
            </p:custDataLst>
          </p:nvPr>
        </p:nvSpPr>
        <p:spPr>
          <a:xfrm>
            <a:off x="-35560" y="-15240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）三极管介绍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79512" y="587003"/>
            <a:ext cx="882015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三极管实现电流放大作用的</a:t>
            </a:r>
            <a:r>
              <a:rPr lang="zh-CN" altLang="en-US" sz="2000" b="1" dirty="0" smtClean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内部条件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b="1" dirty="0" smtClean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发射区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掺杂浓度最高（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约为基区的几十</a:t>
            </a:r>
            <a:r>
              <a:rPr lang="en-US" altLang="zh-CN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几百倍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），利于发射载流子；</a:t>
            </a:r>
            <a:endParaRPr lang="en-US" altLang="zh-CN" sz="16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）基区低掺杂、面积小、厚度薄（</a:t>
            </a:r>
            <a:r>
              <a:rPr lang="zh-CN" altLang="en-US" sz="1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3~30μm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），便于发射区扩散的载流子通过；</a:t>
            </a:r>
            <a:endParaRPr lang="en-US" altLang="zh-CN" sz="16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）集电区</a:t>
            </a:r>
            <a:r>
              <a:rPr lang="zh-CN" altLang="en-US" sz="160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掺杂</a:t>
            </a:r>
            <a:r>
              <a:rPr lang="zh-CN" altLang="en-US" sz="160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浓度最低，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且面积大，便于收集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发射区扩散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160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载流子，形成大的集电极电流。</a:t>
            </a:r>
            <a:endParaRPr lang="zh-CN" altLang="en-US" sz="1600" dirty="0" smtClean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三极管实现电流放大作用的</a:t>
            </a:r>
            <a:r>
              <a:rPr lang="zh-CN" altLang="en-US" sz="2000" b="1" dirty="0" smtClean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外部条件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b="1" dirty="0" smtClean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16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发射结正偏（利于扩散电子，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扩散电流</a:t>
            </a:r>
            <a:r>
              <a:rPr lang="zh-CN" altLang="en-US" sz="160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为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baseline="-2500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zh-CN" altLang="en-US" sz="16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1600" dirty="0" smtClea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）集电结反偏（便于收集发射区扩散而来的电子，形成</a:t>
            </a:r>
            <a:r>
              <a:rPr lang="zh-CN" altLang="en-US" sz="160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集电极</a:t>
            </a:r>
            <a:r>
              <a:rPr lang="zh-CN" altLang="en-US" sz="160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baseline="-2500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）。</a:t>
            </a:r>
            <a:endParaRPr lang="zh-CN" altLang="en-US" sz="16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676400" y="3528060"/>
            <a:ext cx="5611495" cy="2433320"/>
            <a:chOff x="2891" y="6030"/>
            <a:chExt cx="7580" cy="3793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1"/>
            <a:srcRect t="4169" b="10365"/>
            <a:stretch>
              <a:fillRect/>
            </a:stretch>
          </p:blipFill>
          <p:spPr>
            <a:xfrm>
              <a:off x="2891" y="6030"/>
              <a:ext cx="7580" cy="3793"/>
            </a:xfrm>
            <a:prstGeom prst="rect">
              <a:avLst/>
            </a:prstGeom>
          </p:spPr>
        </p:pic>
        <p:sp>
          <p:nvSpPr>
            <p:cNvPr id="29" name="矩形 28"/>
            <p:cNvSpPr/>
            <p:nvPr/>
          </p:nvSpPr>
          <p:spPr>
            <a:xfrm>
              <a:off x="6125" y="9596"/>
              <a:ext cx="1474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048124" y="6014928"/>
            <a:ext cx="324167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NPN</a:t>
            </a:r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三极管内部载流子运动示意图</a:t>
            </a:r>
            <a:endParaRPr lang="zh-CN" altLang="en-US" sz="1600" b="1" dirty="0" smtClea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3"/>
          <p:cNvSpPr txBox="1"/>
          <p:nvPr>
            <p:custDataLst>
              <p:tags r:id="rId2"/>
            </p:custDataLst>
          </p:nvPr>
        </p:nvSpPr>
        <p:spPr>
          <a:xfrm>
            <a:off x="-35560" y="-15240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）三极管介绍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1460" y="3188335"/>
            <a:ext cx="8716010" cy="30695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基区电流（主要是电子和空穴的复合产生的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复合电流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i="1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="1" smtClean="0">
                <a:solidFill>
                  <a:srgbClr val="FF0000"/>
                </a:solidFill>
                <a:sym typeface="+mn-ea"/>
              </a:rPr>
              <a:t> = 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b="1" smtClean="0">
                <a:solidFill>
                  <a:srgbClr val="FF0000"/>
                </a:solidFill>
                <a:sym typeface="+mn-ea"/>
              </a:rPr>
              <a:t>– </a:t>
            </a:r>
            <a:r>
              <a:rPr lang="en-US" altLang="zh-CN" b="1" i="1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 </a:t>
            </a:r>
            <a:r>
              <a:rPr lang="en-US" altLang="zh-CN" b="1" smtClean="0">
                <a:solidFill>
                  <a:srgbClr val="FF0000"/>
                </a:solidFill>
                <a:sym typeface="+mn-ea"/>
              </a:rPr>
              <a:t> ;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（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="1">
                <a:solidFill>
                  <a:srgbClr val="0070C0"/>
                </a:solidFill>
                <a:sym typeface="+mn-ea"/>
              </a:rPr>
              <a:t> 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≈ 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B1 </a:t>
            </a:r>
            <a:r>
              <a:rPr lang="zh-CN" altLang="en-US" b="1" baseline="-2500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 ≈ </a:t>
            </a:r>
            <a:r>
              <a:rPr lang="en-US" altLang="zh-CN" b="1" i="1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CN1 </a:t>
            </a:r>
            <a:r>
              <a:rPr lang="zh-CN" altLang="en-US" b="1" smtClean="0">
                <a:solidFill>
                  <a:srgbClr val="0070C0"/>
                </a:solidFill>
                <a:sym typeface="+mn-ea"/>
              </a:rPr>
              <a:t>）</a:t>
            </a:r>
            <a:endParaRPr lang="en-US" altLang="zh-CN" b="1" smtClean="0">
              <a:solidFill>
                <a:srgbClr val="0070C0"/>
              </a:solidFill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sz="1600" b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由于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基区很薄，且为低掺杂，而集电区面积很大，掺杂浓度相对较高，所以，三极管工作在放大条件下的时候有（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β</a:t>
            </a:r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为三极管的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放大倍数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）：</a:t>
            </a:r>
            <a:endParaRPr lang="zh-CN" sz="1600" b="1" dirty="0" smtClean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 = </a:t>
            </a:r>
            <a:r>
              <a:rPr lang="en-US" altLang="zh-CN" sz="2000" b="1" i="1" smtClean="0">
                <a:solidFill>
                  <a:srgbClr val="FF0000"/>
                </a:solidFill>
                <a:sym typeface="+mn-ea"/>
              </a:rPr>
              <a:t>β </a:t>
            </a:r>
            <a:r>
              <a:rPr lang="en-US" altLang="zh-CN" sz="2000" b="1" smtClean="0">
                <a:solidFill>
                  <a:srgbClr val="FF0000"/>
                </a:solidFill>
                <a:sym typeface="+mn-ea"/>
              </a:rPr>
              <a:t>* 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sz="2000" b="1" baseline="-25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微小的基极电流可控制较大的集电极电流，故双极型三极管属于</a:t>
            </a:r>
            <a:r>
              <a:rPr lang="zh-CN" sz="1600" b="1" dirty="0" smtClean="0">
                <a:solidFill>
                  <a:srgbClr val="0000FF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电流控制器件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sz="1600" b="1" dirty="0" smtClean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同时满足</a:t>
            </a:r>
            <a:r>
              <a:rPr lang="zh-CN" sz="1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内部条件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sz="1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外部条件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的三极管方具有</a:t>
            </a:r>
            <a:r>
              <a:rPr lang="zh-CN" sz="1600" b="1" dirty="0" smtClean="0">
                <a:solidFill>
                  <a:srgbClr val="0000FF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电流放大能力</a:t>
            </a:r>
            <a:r>
              <a:rPr lang="zh-CN" sz="16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sz="1600" b="1" dirty="0" smtClean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184100" y="1122680"/>
            <a:ext cx="1953787" cy="2009775"/>
            <a:chOff x="4747" y="1061"/>
            <a:chExt cx="2840" cy="3179"/>
          </a:xfrm>
        </p:grpSpPr>
        <p:grpSp>
          <p:nvGrpSpPr>
            <p:cNvPr id="41" name="组合 4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35" name="直接箭头连接符 34"/>
              <p:cNvCxnSpPr/>
              <p:nvPr/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747" y="2659"/>
                <a:ext cx="942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/>
          </p:nvSpPr>
          <p:spPr>
            <a:xfrm>
              <a:off x="5612" y="337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143" y="1353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 flipV="1">
            <a:off x="7140937" y="1122680"/>
            <a:ext cx="1529715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659222" y="112141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6185897" y="3126105"/>
            <a:ext cx="2484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661762" y="226060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181452" y="2124075"/>
            <a:ext cx="635" cy="468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6174467" y="2707640"/>
            <a:ext cx="635" cy="43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686402" y="1045210"/>
            <a:ext cx="431800" cy="144145"/>
          </a:xfrm>
          <a:prstGeom prst="rect">
            <a:avLst/>
          </a:prstGeom>
          <a:solidFill>
            <a:srgbClr val="1D41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291307" y="2061210"/>
            <a:ext cx="431800" cy="144145"/>
          </a:xfrm>
          <a:prstGeom prst="rect">
            <a:avLst/>
          </a:prstGeom>
          <a:solidFill>
            <a:srgbClr val="1D41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5940152" y="260413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040482" y="270446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445862" y="199580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18252" y="207899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443957" y="217741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516347" y="226060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275557" y="2492375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339057" y="249237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168117" y="1943735"/>
            <a:ext cx="396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195422" y="1463040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 flipH="1">
            <a:off x="7203802" y="1034415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275557" y="564515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34174" y="686366"/>
            <a:ext cx="5328399" cy="2406920"/>
            <a:chOff x="2891" y="6030"/>
            <a:chExt cx="7580" cy="3793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1"/>
            <a:srcRect t="4169" b="10365"/>
            <a:stretch>
              <a:fillRect/>
            </a:stretch>
          </p:blipFill>
          <p:spPr>
            <a:xfrm>
              <a:off x="2891" y="6030"/>
              <a:ext cx="7580" cy="3793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6125" y="9596"/>
              <a:ext cx="1474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3"/>
          <p:cNvSpPr txBox="1"/>
          <p:nvPr>
            <p:custDataLst>
              <p:tags r:id="rId2"/>
            </p:custDataLst>
          </p:nvPr>
        </p:nvSpPr>
        <p:spPr>
          <a:xfrm>
            <a:off x="-35560" y="-152400"/>
            <a:ext cx="46462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）三极管介绍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24765" y="-34290"/>
            <a:ext cx="89128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三极管的输入特性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即：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为不同的定值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时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BE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之间的关系。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1045" y="4261485"/>
            <a:ext cx="34340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双极型三极管的输入特性（</a:t>
            </a:r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小功率</a:t>
            </a:r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 b="1" dirty="0" smtClea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97450" y="1066800"/>
            <a:ext cx="3825240" cy="475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CE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&lt;1V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时，曲线右移：</a:t>
            </a:r>
            <a:endParaRPr lang="zh-CN" altLang="en-US" b="1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 algn="just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原因：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由于基区很薄，发射区注入基区的</a:t>
            </a:r>
            <a:r>
              <a:rPr lang="zh-CN" altLang="en-US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电子一部分会穿过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集电结，形成集电极电流，</a:t>
            </a:r>
            <a:r>
              <a:rPr lang="zh-CN" altLang="en-US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同时在基区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参与复合的载流子数量减少，导致相同</a:t>
            </a:r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16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en-US" altLang="zh-CN" sz="16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下</a:t>
            </a:r>
            <a:r>
              <a:rPr lang="zh-CN" altLang="en-US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，随着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baseline="-250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CE</a:t>
            </a:r>
            <a:r>
              <a:rPr lang="zh-CN" altLang="en-US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的增加，</a:t>
            </a:r>
            <a:r>
              <a:rPr lang="en-US" altLang="zh-CN" sz="1600" b="1" i="1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减小。</a:t>
            </a:r>
            <a:endParaRPr lang="zh-CN" altLang="en-US" sz="16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 algn="just" fontAlgn="auto">
              <a:lnSpc>
                <a:spcPct val="15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b="1" baseline="-250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≥1V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时，曲线不变：</a:t>
            </a:r>
            <a:endParaRPr lang="zh-CN" altLang="en-US" b="1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 algn="just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原因：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发射区注入基区的电子绝大部分会越过集电结到达集电区，形成的集电极</a:t>
            </a:r>
            <a:r>
              <a:rPr lang="zh-CN" altLang="en-US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</a:t>
            </a:r>
            <a:r>
              <a:rPr lang="en-US" altLang="zh-CN" sz="1600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不再变化，因而</a:t>
            </a:r>
            <a:r>
              <a:rPr lang="zh-CN" altLang="en-US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sz="1600" b="1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发射结</a:t>
            </a:r>
            <a:r>
              <a:rPr lang="zh-CN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的伏安特性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不再随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600" b="1" baseline="-250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的变化而变化</a:t>
            </a:r>
            <a:r>
              <a:rPr lang="zh-CN" altLang="en-US" sz="16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3390" y="952500"/>
            <a:ext cx="4362450" cy="323850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228600" y="4726940"/>
            <a:ext cx="4109720" cy="1593850"/>
            <a:chOff x="2891" y="6030"/>
            <a:chExt cx="7580" cy="3793"/>
          </a:xfrm>
        </p:grpSpPr>
        <p:pic>
          <p:nvPicPr>
            <p:cNvPr id="47" name="图片 4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 rotWithShape="1">
            <a:blip r:embed="rId4"/>
            <a:srcRect t="4169" b="10365"/>
            <a:stretch>
              <a:fillRect/>
            </a:stretch>
          </p:blipFill>
          <p:spPr>
            <a:xfrm>
              <a:off x="2891" y="6030"/>
              <a:ext cx="7580" cy="3793"/>
            </a:xfrm>
            <a:prstGeom prst="rect">
              <a:avLst/>
            </a:prstGeom>
          </p:spPr>
        </p:pic>
        <p:sp>
          <p:nvSpPr>
            <p:cNvPr id="48" name="矩形 47"/>
            <p:cNvSpPr/>
            <p:nvPr>
              <p:custDataLst>
                <p:tags r:id="rId5"/>
              </p:custDataLst>
            </p:nvPr>
          </p:nvSpPr>
          <p:spPr>
            <a:xfrm>
              <a:off x="6125" y="9596"/>
              <a:ext cx="1474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3"/>
          <p:cNvSpPr txBox="1"/>
          <p:nvPr/>
        </p:nvSpPr>
        <p:spPr>
          <a:xfrm>
            <a:off x="24765" y="-76200"/>
            <a:ext cx="812609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三极管的输出特性</a:t>
            </a:r>
            <a:endParaRPr lang="zh-CN" altLang="en-US" sz="2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即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000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为不同的定值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时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之间的关系。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1250950"/>
            <a:ext cx="4390390" cy="2649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3215" y="3699510"/>
            <a:ext cx="17170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zh-CN" altLang="en-US" sz="1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sat</a:t>
            </a:r>
            <a:r>
              <a:rPr lang="zh-CN" altLang="en-US" sz="1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~ 0.3V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860" y="4067810"/>
            <a:ext cx="34340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双极型三极管的输出特性（</a:t>
            </a:r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小功率</a:t>
            </a:r>
            <a:r>
              <a:rPr lang="zh-CN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 b="1" dirty="0" smtClea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07255" y="1042035"/>
            <a:ext cx="428053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截止区：</a:t>
            </a:r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条件：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发射结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未</a:t>
            </a: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正向导通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，集电结</a:t>
            </a: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反偏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特点</a:t>
            </a:r>
            <a:r>
              <a:rPr lang="zh-CN" altLang="en-US" sz="1800" b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b="1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800" b="1" baseline="-2500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 </a:t>
            </a:r>
            <a:r>
              <a:rPr lang="en-US" altLang="zh-CN" sz="1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1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, I</a:t>
            </a:r>
            <a:r>
              <a:rPr lang="en-US" altLang="zh-CN" sz="1800" b="1" baseline="-2500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1800" b="1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=0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饱和区：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en-US" altLang="zh-CN" sz="1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≤0.3V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条件：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发射结</a:t>
            </a: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正向导通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，集电结</a:t>
            </a: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正偏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特点</a:t>
            </a:r>
            <a:r>
              <a:rPr lang="zh-CN" altLang="en-US" sz="1800" b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800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180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18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800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同时相关。</a:t>
            </a:r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放大区：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600" b="1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CE</a:t>
            </a:r>
            <a:r>
              <a:rPr lang="en-US" altLang="zh-CN" sz="16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&gt;0.3V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条件：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发射结</a:t>
            </a:r>
            <a:r>
              <a:rPr lang="zh-CN" altLang="en-US" sz="1800" b="1">
                <a:solidFill>
                  <a:srgbClr val="C00000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正偏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，集电结</a:t>
            </a:r>
            <a:r>
              <a:rPr lang="zh-CN" altLang="en-US" sz="18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反偏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179705" fontAlgn="auto">
              <a:lnSpc>
                <a:spcPct val="150000"/>
              </a:lnSpc>
            </a:pPr>
            <a:r>
              <a: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特点</a:t>
            </a:r>
            <a:r>
              <a:rPr lang="zh-CN" altLang="en-US" sz="1800" b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b="1" i="1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800" b="1" baseline="-2500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1800" b="1" smtClean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1800" b="1">
                <a:solidFill>
                  <a:srgbClr val="C00000"/>
                </a:solidFill>
                <a:sym typeface="+mn-ea"/>
              </a:rPr>
              <a:t>=β* </a:t>
            </a:r>
            <a:r>
              <a:rPr lang="en-US" altLang="zh-CN" sz="1800" b="1" i="1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800" b="1" baseline="-2500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55650" y="4923155"/>
            <a:ext cx="7486015" cy="92202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anchor="t" anchorCtr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模拟电路中，三极管主要工作在</a:t>
            </a:r>
            <a:r>
              <a:rPr lang="zh-CN" sz="18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放大状态，</a:t>
            </a:r>
            <a:r>
              <a:rPr 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做</a:t>
            </a:r>
            <a:r>
              <a:rPr lang="zh-CN" sz="18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放大器</a:t>
            </a:r>
            <a:r>
              <a:rPr 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元件用；</a:t>
            </a:r>
            <a:endParaRPr lang="zh-CN" sz="1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数字电路中，三极管只用到</a:t>
            </a:r>
            <a:r>
              <a:rPr lang="zh-CN" sz="18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截止</a:t>
            </a:r>
            <a:r>
              <a:rPr 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sz="18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饱和</a:t>
            </a:r>
            <a:r>
              <a:rPr 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两种状态，做</a:t>
            </a:r>
            <a:r>
              <a:rPr lang="zh-CN" sz="1800" b="1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开关</a:t>
            </a:r>
            <a:r>
              <a:rPr 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元件用；</a:t>
            </a:r>
            <a:endParaRPr lang="zh-CN" sz="1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43600" y="121285"/>
            <a:ext cx="3185160" cy="1129665"/>
            <a:chOff x="2891" y="6030"/>
            <a:chExt cx="7580" cy="3793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3"/>
            <a:srcRect t="4169" b="10365"/>
            <a:stretch>
              <a:fillRect/>
            </a:stretch>
          </p:blipFill>
          <p:spPr>
            <a:xfrm>
              <a:off x="2891" y="6030"/>
              <a:ext cx="7580" cy="3793"/>
            </a:xfrm>
            <a:prstGeom prst="rect">
              <a:avLst/>
            </a:prstGeom>
          </p:spPr>
        </p:pic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6125" y="9596"/>
              <a:ext cx="1474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02" name="直接连接符 101"/>
          <p:cNvCxnSpPr/>
          <p:nvPr>
            <p:custDataLst>
              <p:tags r:id="rId1"/>
            </p:custDataLst>
          </p:nvPr>
        </p:nvCxnSpPr>
        <p:spPr>
          <a:xfrm>
            <a:off x="6195422" y="3759835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898360" y="493395"/>
            <a:ext cx="1618066" cy="2009775"/>
            <a:chOff x="4747" y="1061"/>
            <a:chExt cx="2352" cy="3179"/>
          </a:xfrm>
        </p:grpSpPr>
        <p:grpSp>
          <p:nvGrpSpPr>
            <p:cNvPr id="41" name="组合 40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35" name="直接箭头连接符 34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>
                <p:custDataLst>
                  <p:tags r:id="rId3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4747" y="2659"/>
                <a:ext cx="942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9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0"/>
              </p:custDataLst>
            </p:nvPr>
          </p:nvSpPr>
          <p:spPr>
            <a:xfrm>
              <a:off x="5655" y="1820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6" name="直接连接符 5"/>
          <p:cNvCxnSpPr/>
          <p:nvPr>
            <p:custDataLst>
              <p:tags r:id="rId11"/>
            </p:custDataLst>
          </p:nvPr>
        </p:nvCxnSpPr>
        <p:spPr>
          <a:xfrm flipV="1">
            <a:off x="1855197" y="493395"/>
            <a:ext cx="1529715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12"/>
            </p:custDataLst>
          </p:nvPr>
        </p:nvCxnSpPr>
        <p:spPr>
          <a:xfrm>
            <a:off x="3373482" y="49212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 flipV="1">
            <a:off x="900157" y="2496820"/>
            <a:ext cx="2484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14"/>
            </p:custDataLst>
          </p:nvPr>
        </p:nvCxnSpPr>
        <p:spPr>
          <a:xfrm>
            <a:off x="3376022" y="163131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5"/>
            </p:custDataLst>
          </p:nvPr>
        </p:nvCxnSpPr>
        <p:spPr>
          <a:xfrm>
            <a:off x="895712" y="1494790"/>
            <a:ext cx="635" cy="468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6"/>
            </p:custDataLst>
          </p:nvPr>
        </p:nvCxnSpPr>
        <p:spPr>
          <a:xfrm flipH="1">
            <a:off x="888727" y="2078355"/>
            <a:ext cx="635" cy="4320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7"/>
            </p:custDataLst>
          </p:nvPr>
        </p:nvSpPr>
        <p:spPr>
          <a:xfrm>
            <a:off x="2400662" y="415925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8"/>
            </p:custDataLst>
          </p:nvPr>
        </p:nvSpPr>
        <p:spPr>
          <a:xfrm>
            <a:off x="1005567" y="1431925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>
            <p:custDataLst>
              <p:tags r:id="rId19"/>
            </p:custDataLst>
          </p:nvPr>
        </p:nvCxnSpPr>
        <p:spPr>
          <a:xfrm>
            <a:off x="654412" y="197485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20"/>
            </p:custDataLst>
          </p:nvPr>
        </p:nvCxnSpPr>
        <p:spPr>
          <a:xfrm>
            <a:off x="754742" y="207518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21"/>
            </p:custDataLst>
          </p:nvPr>
        </p:nvCxnSpPr>
        <p:spPr>
          <a:xfrm>
            <a:off x="3160122" y="136652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22"/>
            </p:custDataLst>
          </p:nvPr>
        </p:nvCxnSpPr>
        <p:spPr>
          <a:xfrm>
            <a:off x="3232512" y="144970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23"/>
            </p:custDataLst>
          </p:nvPr>
        </p:nvCxnSpPr>
        <p:spPr>
          <a:xfrm>
            <a:off x="3158217" y="154813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24"/>
            </p:custDataLst>
          </p:nvPr>
        </p:nvCxnSpPr>
        <p:spPr>
          <a:xfrm>
            <a:off x="3230607" y="163131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25"/>
            </p:custDataLst>
          </p:nvPr>
        </p:nvCxnSpPr>
        <p:spPr>
          <a:xfrm>
            <a:off x="1989817" y="1863090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26"/>
            </p:custDataLst>
          </p:nvPr>
        </p:nvSpPr>
        <p:spPr>
          <a:xfrm>
            <a:off x="2053317" y="1863090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cxnSp>
        <p:nvCxnSpPr>
          <p:cNvPr id="26" name="直接箭头连接符 25"/>
          <p:cNvCxnSpPr/>
          <p:nvPr>
            <p:custDataLst>
              <p:tags r:id="rId27"/>
            </p:custDataLst>
          </p:nvPr>
        </p:nvCxnSpPr>
        <p:spPr>
          <a:xfrm>
            <a:off x="882377" y="1314450"/>
            <a:ext cx="396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909682" y="83375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28" name="直接箭头连接符 27"/>
          <p:cNvCxnSpPr/>
          <p:nvPr>
            <p:custDataLst>
              <p:tags r:id="rId29"/>
            </p:custDataLst>
          </p:nvPr>
        </p:nvCxnSpPr>
        <p:spPr>
          <a:xfrm flipH="1">
            <a:off x="1918062" y="405130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1869167" y="-43815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679275" y="558800"/>
            <a:ext cx="1588484" cy="2009775"/>
            <a:chOff x="4747" y="1061"/>
            <a:chExt cx="2309" cy="3179"/>
          </a:xfrm>
        </p:grpSpPr>
        <p:grpSp>
          <p:nvGrpSpPr>
            <p:cNvPr id="5" name="组合 4"/>
            <p:cNvGrpSpPr/>
            <p:nvPr/>
          </p:nvGrpSpPr>
          <p:grpSpPr>
            <a:xfrm>
              <a:off x="4747" y="1061"/>
              <a:ext cx="1396" cy="3179"/>
              <a:chOff x="4747" y="1061"/>
              <a:chExt cx="1396" cy="3179"/>
            </a:xfrm>
          </p:grpSpPr>
          <p:cxnSp>
            <p:nvCxnSpPr>
              <p:cNvPr id="8" name="直接箭头连接符 7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/>
              <p:nvPr>
                <p:custDataLst>
                  <p:tags r:id="rId32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>
                <p:custDataLst>
                  <p:tags r:id="rId33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>
                <p:custDataLst>
                  <p:tags r:id="rId34"/>
                </p:custDataLst>
              </p:nvPr>
            </p:nvCxnSpPr>
            <p:spPr>
              <a:xfrm>
                <a:off x="4747" y="2659"/>
                <a:ext cx="942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>
                <p:custDataLst>
                  <p:tags r:id="rId35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>
                <p:custDataLst>
                  <p:tags r:id="rId36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/>
            <p:cNvSpPr txBox="1"/>
            <p:nvPr>
              <p:custDataLst>
                <p:tags r:id="rId37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38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39"/>
              </p:custDataLst>
            </p:nvPr>
          </p:nvSpPr>
          <p:spPr>
            <a:xfrm>
              <a:off x="5612" y="1894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46" name="直接连接符 45"/>
          <p:cNvCxnSpPr/>
          <p:nvPr>
            <p:custDataLst>
              <p:tags r:id="rId40"/>
            </p:custDataLst>
          </p:nvPr>
        </p:nvCxnSpPr>
        <p:spPr>
          <a:xfrm flipV="1">
            <a:off x="6636112" y="558800"/>
            <a:ext cx="1529715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41"/>
            </p:custDataLst>
          </p:nvPr>
        </p:nvCxnSpPr>
        <p:spPr>
          <a:xfrm>
            <a:off x="8154397" y="55753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42"/>
            </p:custDataLst>
          </p:nvPr>
        </p:nvCxnSpPr>
        <p:spPr>
          <a:xfrm flipV="1">
            <a:off x="5681072" y="2562225"/>
            <a:ext cx="2484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43"/>
            </p:custDataLst>
          </p:nvPr>
        </p:nvCxnSpPr>
        <p:spPr>
          <a:xfrm>
            <a:off x="8156937" y="169672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>
            <p:custDataLst>
              <p:tags r:id="rId44"/>
            </p:custDataLst>
          </p:nvPr>
        </p:nvCxnSpPr>
        <p:spPr>
          <a:xfrm>
            <a:off x="5676627" y="1560195"/>
            <a:ext cx="635" cy="6330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45"/>
            </p:custDataLst>
          </p:nvPr>
        </p:nvCxnSpPr>
        <p:spPr>
          <a:xfrm>
            <a:off x="5669642" y="2269490"/>
            <a:ext cx="0" cy="30607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>
            <p:custDataLst>
              <p:tags r:id="rId46"/>
            </p:custDataLst>
          </p:nvPr>
        </p:nvSpPr>
        <p:spPr>
          <a:xfrm>
            <a:off x="7181577" y="481330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>
            <p:custDataLst>
              <p:tags r:id="rId47"/>
            </p:custDataLst>
          </p:nvPr>
        </p:nvSpPr>
        <p:spPr>
          <a:xfrm>
            <a:off x="5786482" y="1497330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连接符 53"/>
          <p:cNvCxnSpPr/>
          <p:nvPr>
            <p:custDataLst>
              <p:tags r:id="rId48"/>
            </p:custDataLst>
          </p:nvPr>
        </p:nvCxnSpPr>
        <p:spPr>
          <a:xfrm>
            <a:off x="5435327" y="219138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49"/>
            </p:custDataLst>
          </p:nvPr>
        </p:nvCxnSpPr>
        <p:spPr>
          <a:xfrm>
            <a:off x="5535657" y="229171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>
            <p:custDataLst>
              <p:tags r:id="rId50"/>
            </p:custDataLst>
          </p:nvPr>
        </p:nvCxnSpPr>
        <p:spPr>
          <a:xfrm>
            <a:off x="7941037" y="143192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>
            <p:custDataLst>
              <p:tags r:id="rId51"/>
            </p:custDataLst>
          </p:nvPr>
        </p:nvCxnSpPr>
        <p:spPr>
          <a:xfrm>
            <a:off x="8013427" y="151511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>
            <p:custDataLst>
              <p:tags r:id="rId52"/>
            </p:custDataLst>
          </p:nvPr>
        </p:nvCxnSpPr>
        <p:spPr>
          <a:xfrm>
            <a:off x="7939132" y="161353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53"/>
            </p:custDataLst>
          </p:nvPr>
        </p:nvCxnSpPr>
        <p:spPr>
          <a:xfrm>
            <a:off x="8011522" y="169672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>
            <p:custDataLst>
              <p:tags r:id="rId54"/>
            </p:custDataLst>
          </p:nvPr>
        </p:nvCxnSpPr>
        <p:spPr>
          <a:xfrm>
            <a:off x="6770732" y="1928495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>
            <p:custDataLst>
              <p:tags r:id="rId55"/>
            </p:custDataLst>
          </p:nvPr>
        </p:nvSpPr>
        <p:spPr>
          <a:xfrm>
            <a:off x="6834232" y="192849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cxnSp>
        <p:nvCxnSpPr>
          <p:cNvPr id="62" name="直接箭头连接符 61"/>
          <p:cNvCxnSpPr/>
          <p:nvPr>
            <p:custDataLst>
              <p:tags r:id="rId56"/>
            </p:custDataLst>
          </p:nvPr>
        </p:nvCxnSpPr>
        <p:spPr>
          <a:xfrm>
            <a:off x="5663292" y="1379855"/>
            <a:ext cx="396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>
            <p:custDataLst>
              <p:tags r:id="rId57"/>
            </p:custDataLst>
          </p:nvPr>
        </p:nvSpPr>
        <p:spPr>
          <a:xfrm>
            <a:off x="5690597" y="899160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64" name="直接箭头连接符 63"/>
          <p:cNvCxnSpPr/>
          <p:nvPr>
            <p:custDataLst>
              <p:tags r:id="rId58"/>
            </p:custDataLst>
          </p:nvPr>
        </p:nvCxnSpPr>
        <p:spPr>
          <a:xfrm flipH="1">
            <a:off x="6698977" y="470535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>
            <p:custDataLst>
              <p:tags r:id="rId59"/>
            </p:custDataLst>
          </p:nvPr>
        </p:nvSpPr>
        <p:spPr>
          <a:xfrm>
            <a:off x="6650082" y="21590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5518150" y="1736090"/>
            <a:ext cx="324000" cy="324000"/>
          </a:xfrm>
          <a:prstGeom prst="ellipse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7" name="文本框 66"/>
          <p:cNvSpPr txBox="1"/>
          <p:nvPr>
            <p:custDataLst>
              <p:tags r:id="rId60"/>
            </p:custDataLst>
          </p:nvPr>
        </p:nvSpPr>
        <p:spPr>
          <a:xfrm>
            <a:off x="5123913" y="1735908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5985606" y="3749675"/>
            <a:ext cx="1826273" cy="2009775"/>
            <a:chOff x="4438" y="1061"/>
            <a:chExt cx="2678" cy="3179"/>
          </a:xfrm>
        </p:grpSpPr>
        <p:grpSp>
          <p:nvGrpSpPr>
            <p:cNvPr id="69" name="组合 68"/>
            <p:cNvGrpSpPr/>
            <p:nvPr/>
          </p:nvGrpSpPr>
          <p:grpSpPr>
            <a:xfrm>
              <a:off x="4438" y="1061"/>
              <a:ext cx="1705" cy="3179"/>
              <a:chOff x="4438" y="1061"/>
              <a:chExt cx="1705" cy="3179"/>
            </a:xfrm>
          </p:grpSpPr>
          <p:cxnSp>
            <p:nvCxnSpPr>
              <p:cNvPr id="70" name="直接箭头连接符 69"/>
              <p:cNvCxnSpPr/>
              <p:nvPr>
                <p:custDataLst>
                  <p:tags r:id="rId61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/>
              <p:cNvCxnSpPr/>
              <p:nvPr>
                <p:custDataLst>
                  <p:tags r:id="rId62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>
                <p:custDataLst>
                  <p:tags r:id="rId63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>
                <p:custDataLst>
                  <p:tags r:id="rId64"/>
                </p:custDataLst>
              </p:nvPr>
            </p:nvCxnSpPr>
            <p:spPr>
              <a:xfrm>
                <a:off x="4438" y="2659"/>
                <a:ext cx="1251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>
                <p:custDataLst>
                  <p:tags r:id="rId65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>
                <p:custDataLst>
                  <p:tags r:id="rId66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文本框 75"/>
            <p:cNvSpPr txBox="1"/>
            <p:nvPr>
              <p:custDataLst>
                <p:tags r:id="rId67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68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69"/>
              </p:custDataLst>
            </p:nvPr>
          </p:nvSpPr>
          <p:spPr>
            <a:xfrm>
              <a:off x="5672" y="1840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79" name="直接连接符 78"/>
          <p:cNvCxnSpPr/>
          <p:nvPr>
            <p:custDataLst>
              <p:tags r:id="rId70"/>
            </p:custDataLst>
          </p:nvPr>
        </p:nvCxnSpPr>
        <p:spPr>
          <a:xfrm flipV="1">
            <a:off x="7132682" y="3749675"/>
            <a:ext cx="1532890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>
            <p:custDataLst>
              <p:tags r:id="rId71"/>
            </p:custDataLst>
          </p:nvPr>
        </p:nvCxnSpPr>
        <p:spPr>
          <a:xfrm>
            <a:off x="8654142" y="374840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>
            <p:custDataLst>
              <p:tags r:id="rId72"/>
            </p:custDataLst>
          </p:nvPr>
        </p:nvCxnSpPr>
        <p:spPr>
          <a:xfrm>
            <a:off x="5294992" y="5753100"/>
            <a:ext cx="336994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73"/>
            </p:custDataLst>
          </p:nvPr>
        </p:nvCxnSpPr>
        <p:spPr>
          <a:xfrm>
            <a:off x="8656682" y="4887595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>
            <p:custDataLst>
              <p:tags r:id="rId74"/>
            </p:custDataLst>
          </p:nvPr>
        </p:nvCxnSpPr>
        <p:spPr>
          <a:xfrm>
            <a:off x="6185897" y="4277995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>
            <p:custDataLst>
              <p:tags r:id="rId75"/>
            </p:custDataLst>
          </p:nvPr>
        </p:nvSpPr>
        <p:spPr>
          <a:xfrm>
            <a:off x="7681322" y="3672205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>
            <p:custDataLst>
              <p:tags r:id="rId76"/>
            </p:custDataLst>
          </p:nvPr>
        </p:nvCxnSpPr>
        <p:spPr>
          <a:xfrm>
            <a:off x="8440782" y="462280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>
            <p:custDataLst>
              <p:tags r:id="rId77"/>
            </p:custDataLst>
          </p:nvPr>
        </p:nvCxnSpPr>
        <p:spPr>
          <a:xfrm>
            <a:off x="8513172" y="470598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>
            <p:custDataLst>
              <p:tags r:id="rId78"/>
            </p:custDataLst>
          </p:nvPr>
        </p:nvCxnSpPr>
        <p:spPr>
          <a:xfrm>
            <a:off x="8438877" y="480441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79"/>
            </p:custDataLst>
          </p:nvPr>
        </p:nvCxnSpPr>
        <p:spPr>
          <a:xfrm>
            <a:off x="8511267" y="488759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>
            <p:custDataLst>
              <p:tags r:id="rId80"/>
            </p:custDataLst>
          </p:nvPr>
        </p:nvCxnSpPr>
        <p:spPr>
          <a:xfrm>
            <a:off x="7270477" y="5119370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>
            <p:custDataLst>
              <p:tags r:id="rId81"/>
            </p:custDataLst>
          </p:nvPr>
        </p:nvSpPr>
        <p:spPr>
          <a:xfrm>
            <a:off x="7333977" y="5119370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sp>
        <p:nvSpPr>
          <p:cNvPr id="96" name="文本框 95"/>
          <p:cNvSpPr txBox="1"/>
          <p:nvPr>
            <p:custDataLst>
              <p:tags r:id="rId82"/>
            </p:custDataLst>
          </p:nvPr>
        </p:nvSpPr>
        <p:spPr>
          <a:xfrm>
            <a:off x="6271895" y="4681855"/>
            <a:ext cx="450850" cy="51816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97" name="直接箭头连接符 96"/>
          <p:cNvCxnSpPr/>
          <p:nvPr>
            <p:custDataLst>
              <p:tags r:id="rId83"/>
            </p:custDataLst>
          </p:nvPr>
        </p:nvCxnSpPr>
        <p:spPr>
          <a:xfrm flipH="1">
            <a:off x="7198722" y="3661410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>
            <p:custDataLst>
              <p:tags r:id="rId84"/>
            </p:custDataLst>
          </p:nvPr>
        </p:nvSpPr>
        <p:spPr>
          <a:xfrm>
            <a:off x="7149827" y="3212465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01" name="矩形 100"/>
          <p:cNvSpPr/>
          <p:nvPr>
            <p:custDataLst>
              <p:tags r:id="rId85"/>
            </p:custDataLst>
          </p:nvPr>
        </p:nvSpPr>
        <p:spPr>
          <a:xfrm rot="5400000">
            <a:off x="5971902" y="4192905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4" name="直接连接符 103"/>
          <p:cNvCxnSpPr/>
          <p:nvPr>
            <p:custDataLst>
              <p:tags r:id="rId86"/>
            </p:custDataLst>
          </p:nvPr>
        </p:nvCxnSpPr>
        <p:spPr>
          <a:xfrm flipV="1">
            <a:off x="6636767" y="1048361"/>
            <a:ext cx="421640" cy="1905"/>
          </a:xfrm>
          <a:prstGeom prst="line">
            <a:avLst/>
          </a:prstGeom>
          <a:ln w="22225" cap="rnd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>
            <p:custDataLst>
              <p:tags r:id="rId87"/>
            </p:custDataLst>
          </p:nvPr>
        </p:nvSpPr>
        <p:spPr>
          <a:xfrm>
            <a:off x="7134958" y="881198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6" name="椭圆 105"/>
          <p:cNvSpPr/>
          <p:nvPr/>
        </p:nvSpPr>
        <p:spPr>
          <a:xfrm>
            <a:off x="7063105" y="1014095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7" name="文本框 106"/>
          <p:cNvSpPr txBox="1"/>
          <p:nvPr>
            <p:custDataLst>
              <p:tags r:id="rId88"/>
            </p:custDataLst>
          </p:nvPr>
        </p:nvSpPr>
        <p:spPr>
          <a:xfrm>
            <a:off x="4909283" y="5025843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椭圆 107"/>
          <p:cNvSpPr/>
          <p:nvPr>
            <p:custDataLst>
              <p:tags r:id="rId89"/>
            </p:custDataLst>
          </p:nvPr>
        </p:nvSpPr>
        <p:spPr>
          <a:xfrm>
            <a:off x="5196840" y="472313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9" name="椭圆 108"/>
          <p:cNvSpPr/>
          <p:nvPr>
            <p:custDataLst>
              <p:tags r:id="rId90"/>
            </p:custDataLst>
          </p:nvPr>
        </p:nvSpPr>
        <p:spPr>
          <a:xfrm>
            <a:off x="5208270" y="571246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10" name="矩形 109"/>
          <p:cNvSpPr/>
          <p:nvPr>
            <p:custDataLst>
              <p:tags r:id="rId91"/>
            </p:custDataLst>
          </p:nvPr>
        </p:nvSpPr>
        <p:spPr>
          <a:xfrm rot="5400000">
            <a:off x="7023735" y="5316855"/>
            <a:ext cx="229870" cy="76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1" name="直接连接符 110"/>
          <p:cNvCxnSpPr/>
          <p:nvPr>
            <p:custDataLst>
              <p:tags r:id="rId92"/>
            </p:custDataLst>
          </p:nvPr>
        </p:nvCxnSpPr>
        <p:spPr>
          <a:xfrm flipV="1">
            <a:off x="7163182" y="4138271"/>
            <a:ext cx="421640" cy="1905"/>
          </a:xfrm>
          <a:prstGeom prst="line">
            <a:avLst/>
          </a:prstGeom>
          <a:ln w="22225" cap="rnd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>
            <p:custDataLst>
              <p:tags r:id="rId93"/>
            </p:custDataLst>
          </p:nvPr>
        </p:nvSpPr>
        <p:spPr>
          <a:xfrm>
            <a:off x="7661373" y="3971108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3" name="椭圆 112"/>
          <p:cNvSpPr/>
          <p:nvPr>
            <p:custDataLst>
              <p:tags r:id="rId94"/>
            </p:custDataLst>
          </p:nvPr>
        </p:nvSpPr>
        <p:spPr>
          <a:xfrm>
            <a:off x="7589520" y="4104005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15" name="直接连接符 114"/>
          <p:cNvCxnSpPr/>
          <p:nvPr>
            <p:custDataLst>
              <p:tags r:id="rId95"/>
            </p:custDataLst>
          </p:nvPr>
        </p:nvCxnSpPr>
        <p:spPr>
          <a:xfrm>
            <a:off x="5965552" y="374840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>
            <p:custDataLst>
              <p:tags r:id="rId96"/>
            </p:custDataLst>
          </p:nvPr>
        </p:nvCxnSpPr>
        <p:spPr>
          <a:xfrm>
            <a:off x="6065882" y="362204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任意多边形 117"/>
          <p:cNvSpPr/>
          <p:nvPr/>
        </p:nvSpPr>
        <p:spPr>
          <a:xfrm>
            <a:off x="6339840" y="3970655"/>
            <a:ext cx="306070" cy="707390"/>
          </a:xfrm>
          <a:custGeom>
            <a:avLst/>
            <a:gdLst>
              <a:gd name="connisteX0" fmla="*/ 13958 w 306058"/>
              <a:gd name="connsiteY0" fmla="*/ 0 h 589753"/>
              <a:gd name="connisteX1" fmla="*/ 32373 w 306058"/>
              <a:gd name="connsiteY1" fmla="*/ 509270 h 589753"/>
              <a:gd name="connisteX2" fmla="*/ 306058 w 306058"/>
              <a:gd name="connsiteY2" fmla="*/ 584835 h 58975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06059" h="589753">
                <a:moveTo>
                  <a:pt x="13959" y="0"/>
                </a:moveTo>
                <a:cubicBezTo>
                  <a:pt x="12054" y="100330"/>
                  <a:pt x="-26046" y="392430"/>
                  <a:pt x="32374" y="509270"/>
                </a:cubicBezTo>
                <a:cubicBezTo>
                  <a:pt x="90794" y="626110"/>
                  <a:pt x="251449" y="579755"/>
                  <a:pt x="306059" y="58483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19" name="直接连接符 118"/>
          <p:cNvCxnSpPr/>
          <p:nvPr>
            <p:custDataLst>
              <p:tags r:id="rId97"/>
            </p:custDataLst>
          </p:nvPr>
        </p:nvCxnSpPr>
        <p:spPr>
          <a:xfrm>
            <a:off x="1486262" y="3517900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/>
          <p:cNvGrpSpPr/>
          <p:nvPr/>
        </p:nvGrpSpPr>
        <p:grpSpPr>
          <a:xfrm>
            <a:off x="1269626" y="3507740"/>
            <a:ext cx="1833093" cy="2009775"/>
            <a:chOff x="4428" y="1061"/>
            <a:chExt cx="2688" cy="3179"/>
          </a:xfrm>
        </p:grpSpPr>
        <p:grpSp>
          <p:nvGrpSpPr>
            <p:cNvPr id="121" name="组合 120"/>
            <p:cNvGrpSpPr/>
            <p:nvPr/>
          </p:nvGrpSpPr>
          <p:grpSpPr>
            <a:xfrm>
              <a:off x="4428" y="1061"/>
              <a:ext cx="1715" cy="3179"/>
              <a:chOff x="4428" y="1061"/>
              <a:chExt cx="1715" cy="3179"/>
            </a:xfrm>
          </p:grpSpPr>
          <p:cxnSp>
            <p:nvCxnSpPr>
              <p:cNvPr id="122" name="直接箭头连接符 121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5689" y="2729"/>
                <a:ext cx="454" cy="454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箭头连接符 122"/>
              <p:cNvCxnSpPr/>
              <p:nvPr>
                <p:custDataLst>
                  <p:tags r:id="rId99"/>
                </p:custDataLst>
              </p:nvPr>
            </p:nvCxnSpPr>
            <p:spPr>
              <a:xfrm flipV="1">
                <a:off x="5689" y="2110"/>
                <a:ext cx="454" cy="454"/>
              </a:xfrm>
              <a:prstGeom prst="straightConnector1">
                <a:avLst/>
              </a:prstGeom>
              <a:ln w="22225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>
                <p:custDataLst>
                  <p:tags r:id="rId100"/>
                </p:custDataLst>
              </p:nvPr>
            </p:nvCxnSpPr>
            <p:spPr>
              <a:xfrm>
                <a:off x="5689" y="2110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>
                <p:custDataLst>
                  <p:tags r:id="rId101"/>
                </p:custDataLst>
              </p:nvPr>
            </p:nvCxnSpPr>
            <p:spPr>
              <a:xfrm>
                <a:off x="4428" y="2659"/>
                <a:ext cx="1261" cy="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>
                <p:custDataLst>
                  <p:tags r:id="rId102"/>
                </p:custDataLst>
              </p:nvPr>
            </p:nvCxnSpPr>
            <p:spPr>
              <a:xfrm>
                <a:off x="6129" y="3172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>
                <p:custDataLst>
                  <p:tags r:id="rId103"/>
                </p:custDataLst>
              </p:nvPr>
            </p:nvCxnSpPr>
            <p:spPr>
              <a:xfrm>
                <a:off x="6143" y="1061"/>
                <a:ext cx="0" cy="10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/>
            <p:cNvSpPr txBox="1"/>
            <p:nvPr>
              <p:custDataLst>
                <p:tags r:id="rId104"/>
              </p:custDataLst>
            </p:nvPr>
          </p:nvSpPr>
          <p:spPr>
            <a:xfrm>
              <a:off x="5612" y="3012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9" name="文本框 128"/>
            <p:cNvSpPr txBox="1"/>
            <p:nvPr>
              <p:custDataLst>
                <p:tags r:id="rId105"/>
              </p:custDataLst>
            </p:nvPr>
          </p:nvSpPr>
          <p:spPr>
            <a:xfrm>
              <a:off x="5274" y="2069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106"/>
              </p:custDataLst>
            </p:nvPr>
          </p:nvSpPr>
          <p:spPr>
            <a:xfrm>
              <a:off x="5672" y="1840"/>
              <a:ext cx="1444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endPara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31" name="直接连接符 130"/>
          <p:cNvCxnSpPr/>
          <p:nvPr>
            <p:custDataLst>
              <p:tags r:id="rId107"/>
            </p:custDataLst>
          </p:nvPr>
        </p:nvCxnSpPr>
        <p:spPr>
          <a:xfrm flipV="1">
            <a:off x="2423522" y="3507740"/>
            <a:ext cx="1532890" cy="825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>
            <p:custDataLst>
              <p:tags r:id="rId108"/>
            </p:custDataLst>
          </p:nvPr>
        </p:nvCxnSpPr>
        <p:spPr>
          <a:xfrm>
            <a:off x="3944982" y="350647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>
            <p:custDataLst>
              <p:tags r:id="rId109"/>
            </p:custDataLst>
          </p:nvPr>
        </p:nvCxnSpPr>
        <p:spPr>
          <a:xfrm>
            <a:off x="585832" y="5511165"/>
            <a:ext cx="336994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>
            <p:custDataLst>
              <p:tags r:id="rId110"/>
            </p:custDataLst>
          </p:nvPr>
        </p:nvCxnSpPr>
        <p:spPr>
          <a:xfrm>
            <a:off x="3947522" y="4645660"/>
            <a:ext cx="2540" cy="87439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endCxn id="160" idx="1"/>
          </p:cNvCxnSpPr>
          <p:nvPr>
            <p:custDataLst>
              <p:tags r:id="rId111"/>
            </p:custDataLst>
          </p:nvPr>
        </p:nvCxnSpPr>
        <p:spPr>
          <a:xfrm flipH="1">
            <a:off x="1472292" y="4036060"/>
            <a:ext cx="4445" cy="72961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>
            <p:custDataLst>
              <p:tags r:id="rId112"/>
            </p:custDataLst>
          </p:nvPr>
        </p:nvSpPr>
        <p:spPr>
          <a:xfrm>
            <a:off x="2972162" y="3430270"/>
            <a:ext cx="431800" cy="1441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8" name="直接连接符 137"/>
          <p:cNvCxnSpPr/>
          <p:nvPr>
            <p:custDataLst>
              <p:tags r:id="rId113"/>
            </p:custDataLst>
          </p:nvPr>
        </p:nvCxnSpPr>
        <p:spPr>
          <a:xfrm>
            <a:off x="3731622" y="438086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>
            <p:custDataLst>
              <p:tags r:id="rId114"/>
            </p:custDataLst>
          </p:nvPr>
        </p:nvCxnSpPr>
        <p:spPr>
          <a:xfrm>
            <a:off x="3804012" y="446405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>
            <p:custDataLst>
              <p:tags r:id="rId115"/>
            </p:custDataLst>
          </p:nvPr>
        </p:nvCxnSpPr>
        <p:spPr>
          <a:xfrm>
            <a:off x="3729717" y="4562475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>
            <p:custDataLst>
              <p:tags r:id="rId116"/>
            </p:custDataLst>
          </p:nvPr>
        </p:nvCxnSpPr>
        <p:spPr>
          <a:xfrm>
            <a:off x="3802107" y="4645660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>
            <p:custDataLst>
              <p:tags r:id="rId117"/>
            </p:custDataLst>
          </p:nvPr>
        </p:nvCxnSpPr>
        <p:spPr>
          <a:xfrm>
            <a:off x="2561317" y="4877435"/>
            <a:ext cx="0" cy="3746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/>
          <p:cNvSpPr txBox="1"/>
          <p:nvPr>
            <p:custDataLst>
              <p:tags r:id="rId118"/>
            </p:custDataLst>
          </p:nvPr>
        </p:nvSpPr>
        <p:spPr>
          <a:xfrm>
            <a:off x="2624817" y="4877435"/>
            <a:ext cx="37702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</a:t>
            </a:r>
            <a:endParaRPr lang="zh-CN" altLang="en-US"/>
          </a:p>
        </p:txBody>
      </p:sp>
      <p:sp>
        <p:nvSpPr>
          <p:cNvPr id="144" name="文本框 143"/>
          <p:cNvSpPr txBox="1"/>
          <p:nvPr>
            <p:custDataLst>
              <p:tags r:id="rId119"/>
            </p:custDataLst>
          </p:nvPr>
        </p:nvSpPr>
        <p:spPr>
          <a:xfrm>
            <a:off x="1562735" y="4439920"/>
            <a:ext cx="450850" cy="51816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endParaRPr lang="zh-CN" altLang="en-US"/>
          </a:p>
        </p:txBody>
      </p:sp>
      <p:cxnSp>
        <p:nvCxnSpPr>
          <p:cNvPr id="145" name="直接箭头连接符 144"/>
          <p:cNvCxnSpPr/>
          <p:nvPr>
            <p:custDataLst>
              <p:tags r:id="rId120"/>
            </p:custDataLst>
          </p:nvPr>
        </p:nvCxnSpPr>
        <p:spPr>
          <a:xfrm flipH="1">
            <a:off x="2489562" y="3419475"/>
            <a:ext cx="4320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/>
          <p:cNvSpPr txBox="1"/>
          <p:nvPr>
            <p:custDataLst>
              <p:tags r:id="rId121"/>
            </p:custDataLst>
          </p:nvPr>
        </p:nvSpPr>
        <p:spPr>
          <a:xfrm>
            <a:off x="2440667" y="2970530"/>
            <a:ext cx="3850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i="1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smtClean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endParaRPr lang="zh-CN" altLang="en-US"/>
          </a:p>
        </p:txBody>
      </p:sp>
      <p:sp>
        <p:nvSpPr>
          <p:cNvPr id="147" name="矩形 146"/>
          <p:cNvSpPr/>
          <p:nvPr>
            <p:custDataLst>
              <p:tags r:id="rId122"/>
            </p:custDataLst>
          </p:nvPr>
        </p:nvSpPr>
        <p:spPr>
          <a:xfrm rot="5400000">
            <a:off x="1262742" y="3950970"/>
            <a:ext cx="431800" cy="1441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文本框 147"/>
          <p:cNvSpPr txBox="1"/>
          <p:nvPr>
            <p:custDataLst>
              <p:tags r:id="rId123"/>
            </p:custDataLst>
          </p:nvPr>
        </p:nvSpPr>
        <p:spPr>
          <a:xfrm>
            <a:off x="200123" y="4783908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椭圆 148"/>
          <p:cNvSpPr/>
          <p:nvPr>
            <p:custDataLst>
              <p:tags r:id="rId124"/>
            </p:custDataLst>
          </p:nvPr>
        </p:nvSpPr>
        <p:spPr>
          <a:xfrm>
            <a:off x="487680" y="4481195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0" name="椭圆 149"/>
          <p:cNvSpPr/>
          <p:nvPr>
            <p:custDataLst>
              <p:tags r:id="rId125"/>
            </p:custDataLst>
          </p:nvPr>
        </p:nvSpPr>
        <p:spPr>
          <a:xfrm>
            <a:off x="499110" y="5470525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1" name="矩形 150"/>
          <p:cNvSpPr/>
          <p:nvPr>
            <p:custDataLst>
              <p:tags r:id="rId126"/>
            </p:custDataLst>
          </p:nvPr>
        </p:nvSpPr>
        <p:spPr>
          <a:xfrm rot="5400000">
            <a:off x="2314575" y="5074920"/>
            <a:ext cx="229870" cy="76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2" name="直接连接符 151"/>
          <p:cNvCxnSpPr/>
          <p:nvPr>
            <p:custDataLst>
              <p:tags r:id="rId127"/>
            </p:custDataLst>
          </p:nvPr>
        </p:nvCxnSpPr>
        <p:spPr>
          <a:xfrm flipV="1">
            <a:off x="2454022" y="3896336"/>
            <a:ext cx="421640" cy="1905"/>
          </a:xfrm>
          <a:prstGeom prst="line">
            <a:avLst/>
          </a:prstGeom>
          <a:ln w="22225" cap="rnd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/>
          <p:cNvSpPr txBox="1"/>
          <p:nvPr>
            <p:custDataLst>
              <p:tags r:id="rId128"/>
            </p:custDataLst>
          </p:nvPr>
        </p:nvSpPr>
        <p:spPr>
          <a:xfrm>
            <a:off x="2952213" y="3729173"/>
            <a:ext cx="99340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endParaRPr lang="en-US" altLang="zh-CN" sz="1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4" name="椭圆 153"/>
          <p:cNvSpPr/>
          <p:nvPr>
            <p:custDataLst>
              <p:tags r:id="rId129"/>
            </p:custDataLst>
          </p:nvPr>
        </p:nvSpPr>
        <p:spPr>
          <a:xfrm>
            <a:off x="2880360" y="386207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55" name="直接连接符 154"/>
          <p:cNvCxnSpPr/>
          <p:nvPr>
            <p:custDataLst>
              <p:tags r:id="rId130"/>
            </p:custDataLst>
          </p:nvPr>
        </p:nvCxnSpPr>
        <p:spPr>
          <a:xfrm>
            <a:off x="1256392" y="3506470"/>
            <a:ext cx="4826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>
            <p:custDataLst>
              <p:tags r:id="rId131"/>
            </p:custDataLst>
          </p:nvPr>
        </p:nvCxnSpPr>
        <p:spPr>
          <a:xfrm>
            <a:off x="1356722" y="3380105"/>
            <a:ext cx="288000" cy="0"/>
          </a:xfrm>
          <a:prstGeom prst="line">
            <a:avLst/>
          </a:prstGeom>
          <a:ln w="31750">
            <a:solidFill>
              <a:srgbClr val="9716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任意多边形 156"/>
          <p:cNvSpPr/>
          <p:nvPr>
            <p:custDataLst>
              <p:tags r:id="rId132"/>
            </p:custDataLst>
          </p:nvPr>
        </p:nvSpPr>
        <p:spPr>
          <a:xfrm>
            <a:off x="1630680" y="3728720"/>
            <a:ext cx="306070" cy="707390"/>
          </a:xfrm>
          <a:custGeom>
            <a:avLst/>
            <a:gdLst>
              <a:gd name="connisteX0" fmla="*/ 13958 w 306058"/>
              <a:gd name="connsiteY0" fmla="*/ 0 h 589753"/>
              <a:gd name="connisteX1" fmla="*/ 32373 w 306058"/>
              <a:gd name="connsiteY1" fmla="*/ 509270 h 589753"/>
              <a:gd name="connisteX2" fmla="*/ 306058 w 306058"/>
              <a:gd name="connsiteY2" fmla="*/ 584835 h 58975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06059" h="589753">
                <a:moveTo>
                  <a:pt x="13959" y="0"/>
                </a:moveTo>
                <a:cubicBezTo>
                  <a:pt x="12054" y="100330"/>
                  <a:pt x="-26046" y="392430"/>
                  <a:pt x="32374" y="509270"/>
                </a:cubicBezTo>
                <a:cubicBezTo>
                  <a:pt x="90794" y="626110"/>
                  <a:pt x="251449" y="579755"/>
                  <a:pt x="306059" y="58483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59" name="直接连接符 158"/>
          <p:cNvCxnSpPr/>
          <p:nvPr>
            <p:custDataLst>
              <p:tags r:id="rId133"/>
            </p:custDataLst>
          </p:nvPr>
        </p:nvCxnSpPr>
        <p:spPr>
          <a:xfrm>
            <a:off x="1470387" y="5029835"/>
            <a:ext cx="635" cy="47244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/>
          <p:cNvSpPr/>
          <p:nvPr>
            <p:custDataLst>
              <p:tags r:id="rId134"/>
            </p:custDataLst>
          </p:nvPr>
        </p:nvSpPr>
        <p:spPr>
          <a:xfrm rot="5400000">
            <a:off x="1256392" y="4909185"/>
            <a:ext cx="431800" cy="14414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右箭头 160"/>
          <p:cNvSpPr/>
          <p:nvPr/>
        </p:nvSpPr>
        <p:spPr>
          <a:xfrm>
            <a:off x="3963670" y="1168400"/>
            <a:ext cx="1216660" cy="709295"/>
          </a:xfrm>
          <a:prstGeom prst="rightArrow">
            <a:avLst>
              <a:gd name="adj1" fmla="val 50000"/>
              <a:gd name="adj2" fmla="val 51388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2" name="右箭头 161"/>
          <p:cNvSpPr/>
          <p:nvPr>
            <p:custDataLst>
              <p:tags r:id="rId135"/>
            </p:custDataLst>
          </p:nvPr>
        </p:nvSpPr>
        <p:spPr>
          <a:xfrm rot="5400000">
            <a:off x="6628130" y="2456180"/>
            <a:ext cx="438150" cy="1301750"/>
          </a:xfrm>
          <a:prstGeom prst="rightArrow">
            <a:avLst>
              <a:gd name="adj1" fmla="val 50000"/>
              <a:gd name="adj2" fmla="val 51388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3" name="右箭头 162"/>
          <p:cNvSpPr/>
          <p:nvPr>
            <p:custDataLst>
              <p:tags r:id="rId136"/>
            </p:custDataLst>
          </p:nvPr>
        </p:nvSpPr>
        <p:spPr>
          <a:xfrm rot="10800000">
            <a:off x="4340860" y="3855720"/>
            <a:ext cx="599440" cy="1191895"/>
          </a:xfrm>
          <a:prstGeom prst="rightArrow">
            <a:avLst>
              <a:gd name="adj1" fmla="val 50000"/>
              <a:gd name="adj2" fmla="val 51388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840105" y="2511425"/>
            <a:ext cx="2621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（放大直流信号）</a:t>
            </a:r>
            <a:endParaRPr lang="zh-CN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5669915" y="2524125"/>
            <a:ext cx="26422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（有零漂）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8" name="文本框 167"/>
          <p:cNvSpPr txBox="1"/>
          <p:nvPr>
            <p:custDataLst>
              <p:tags r:id="rId137"/>
            </p:custDataLst>
          </p:nvPr>
        </p:nvSpPr>
        <p:spPr>
          <a:xfrm>
            <a:off x="5091430" y="5838825"/>
            <a:ext cx="37661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（可降低零漂，但影响基极电势）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9" name="文本框 168"/>
          <p:cNvSpPr txBox="1"/>
          <p:nvPr>
            <p:custDataLst>
              <p:tags r:id="rId138"/>
            </p:custDataLst>
          </p:nvPr>
        </p:nvSpPr>
        <p:spPr>
          <a:xfrm>
            <a:off x="755015" y="5561965"/>
            <a:ext cx="34969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（双电源电源供电，麻烦！</a:t>
            </a:r>
            <a:endParaRPr lang="zh-CN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输出有直流分量，不行！）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70" name="直接连接符 169"/>
          <p:cNvCxnSpPr/>
          <p:nvPr>
            <p:custDataLst>
              <p:tags r:id="rId139"/>
            </p:custDataLst>
          </p:nvPr>
        </p:nvCxnSpPr>
        <p:spPr>
          <a:xfrm flipH="1">
            <a:off x="5856332" y="4613275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>
            <p:custDataLst>
              <p:tags r:id="rId140"/>
            </p:custDataLst>
          </p:nvPr>
        </p:nvCxnSpPr>
        <p:spPr>
          <a:xfrm flipH="1">
            <a:off x="5983332" y="4618990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>
            <p:custDataLst>
              <p:tags r:id="rId141"/>
            </p:custDataLst>
          </p:nvPr>
        </p:nvCxnSpPr>
        <p:spPr>
          <a:xfrm>
            <a:off x="5277581" y="4765651"/>
            <a:ext cx="59499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>
            <p:custDataLst>
              <p:tags r:id="rId142"/>
            </p:custDataLst>
          </p:nvPr>
        </p:nvCxnSpPr>
        <p:spPr>
          <a:xfrm flipH="1">
            <a:off x="1138282" y="4365625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>
            <p:custDataLst>
              <p:tags r:id="rId143"/>
            </p:custDataLst>
          </p:nvPr>
        </p:nvCxnSpPr>
        <p:spPr>
          <a:xfrm flipH="1">
            <a:off x="1265282" y="4371340"/>
            <a:ext cx="0" cy="289560"/>
          </a:xfrm>
          <a:prstGeom prst="line">
            <a:avLst/>
          </a:prstGeom>
          <a:ln w="317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>
            <p:custDataLst>
              <p:tags r:id="rId144"/>
            </p:custDataLst>
          </p:nvPr>
        </p:nvCxnSpPr>
        <p:spPr>
          <a:xfrm>
            <a:off x="559531" y="4518001"/>
            <a:ext cx="59499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503545" y="1659255"/>
            <a:ext cx="582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~</a:t>
            </a:r>
            <a:endParaRPr lang="en-US" altLang="zh-CN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内容占位符 -214748248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3000" y="381000"/>
            <a:ext cx="6340475" cy="5204460"/>
          </a:xfrm>
        </p:spPr>
      </p:pic>
      <p:sp>
        <p:nvSpPr>
          <p:cNvPr id="2" name="文本框 1"/>
          <p:cNvSpPr txBox="1"/>
          <p:nvPr/>
        </p:nvSpPr>
        <p:spPr>
          <a:xfrm>
            <a:off x="1143000" y="5585460"/>
            <a:ext cx="7205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电阻分压式静态工作点稳定的共射极单管放大电路图</a:t>
            </a:r>
            <a:r>
              <a:rPr lang="en-US" alt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(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本实验电路</a:t>
            </a:r>
            <a:r>
              <a:rPr lang="en-US" alt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)</a:t>
            </a:r>
            <a:endParaRPr lang="en-US" altLang="zh-CN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99"/>
          <p:cNvSpPr txBox="1"/>
          <p:nvPr/>
        </p:nvSpPr>
        <p:spPr>
          <a:xfrm>
            <a:off x="381000" y="838200"/>
            <a:ext cx="8546465" cy="2399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分析共射极</a:t>
            </a:r>
            <a:r>
              <a:rPr lang="zh-CN" altLang="en-US" sz="20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放大电路</a:t>
            </a: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的性能，加深对共射极放大电路放大特性的理解；</a:t>
            </a:r>
            <a:endParaRPr lang="zh-CN" altLang="en-US" sz="20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学习共射极放大电路</a:t>
            </a:r>
            <a:r>
              <a:rPr lang="zh-CN" altLang="en-US" sz="20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静态工作点</a:t>
            </a: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的调试方法，分析静态工作点对放大器性能的影响；</a:t>
            </a:r>
            <a:endParaRPr lang="zh-CN" altLang="en-US" sz="20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掌握放大器电压</a:t>
            </a:r>
            <a:r>
              <a:rPr lang="zh-CN" altLang="en-US" sz="20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放大倍数</a:t>
            </a: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0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输入电阻</a:t>
            </a: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0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输出电阻、通频带</a:t>
            </a: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r>
              <a:rPr lang="zh-CN" altLang="en-US" sz="20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最大不失真输出电压</a:t>
            </a:r>
            <a:r>
              <a:rPr lang="zh-CN" altLang="en-US" sz="20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的测试方法。</a:t>
            </a:r>
            <a:endParaRPr lang="zh-CN" altLang="en-US" sz="2800" b="1" noProof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363" name="图片 3"/>
          <p:cNvPicPr>
            <a:picLocks noChangeAspect="1"/>
          </p:cNvPicPr>
          <p:nvPr/>
        </p:nvPicPr>
        <p:blipFill>
          <a:blip r:embed="rId1"/>
          <a:srcRect l="12730" t="9881" r="15134" b="11095"/>
          <a:stretch>
            <a:fillRect/>
          </a:stretch>
        </p:blipFill>
        <p:spPr>
          <a:xfrm>
            <a:off x="5105400" y="3124200"/>
            <a:ext cx="2952115" cy="2778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3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113665"/>
            <a:ext cx="8534400" cy="609600"/>
          </a:xfrm>
        </p:spPr>
        <p:txBody>
          <a:bodyPr anchor="ctr" anchorCtr="0"/>
          <a:p>
            <a:r>
              <a:rPr lang="zh-CN" altLang="en-US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）实验目的</a:t>
            </a:r>
            <a:endParaRPr lang="zh-CN" altLang="en-US" sz="28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4400" y="4267200"/>
            <a:ext cx="39706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+mj-lt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实验主角：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晶体三极管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xfrm>
            <a:off x="-73025" y="76200"/>
            <a:ext cx="8534400" cy="609600"/>
          </a:xfrm>
        </p:spPr>
        <p:txBody>
          <a:bodyPr anchor="ctr" anchorCtr="0"/>
          <a:p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）实验内容</a:t>
            </a:r>
            <a:endParaRPr lang="zh-CN" altLang="en-US"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530" name="内容占位符 -214748248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470" y="669290"/>
            <a:ext cx="5242560" cy="4303395"/>
          </a:xfrm>
        </p:spPr>
      </p:pic>
      <p:sp>
        <p:nvSpPr>
          <p:cNvPr id="2" name="文本框 1"/>
          <p:cNvSpPr txBox="1"/>
          <p:nvPr/>
        </p:nvSpPr>
        <p:spPr>
          <a:xfrm>
            <a:off x="309245" y="493776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电阻分压式工作点稳定的共射极单管放大电路图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86400" y="685800"/>
            <a:ext cx="3656965" cy="53079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组成分压电路构成三极管T的偏置电路，用来固定基极电位。</a:t>
            </a:r>
            <a:endParaRPr 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E1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E2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用于稳定放大器静态工作点；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B1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B2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E1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E2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构成放大器直流通路；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耦合电容，隔直流，通交流；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en-US" altLang="zh-CN" sz="2000" b="1" baseline="-25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旁路电容，起去耦作用，其存在与否直接影响电压放大倍数。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260" y="5182235"/>
            <a:ext cx="40347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放大的本质是</a:t>
            </a:r>
            <a:r>
              <a:rPr lang="zh-CN" altLang="en-US" sz="1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能量的控制与转换</a:t>
            </a: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base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en-US" sz="1800" b="1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思考：能量从哪里来？</a:t>
            </a:r>
            <a:r>
              <a:rPr lang="zh-CN" altLang="en-US" sz="18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直流电源！</a:t>
            </a:r>
            <a:endParaRPr lang="zh-CN" altLang="en-US" sz="1800" b="1" u="sng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marL="0" indent="0">
              <a:buFont typeface="Wingdings" panose="05000000000000000000" charset="0"/>
              <a:buNone/>
            </a:pPr>
            <a:r>
              <a:rPr 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静态工作点的测试</a:t>
            </a:r>
            <a:endParaRPr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554" name="内容占位符 -214748248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2775" y="913130"/>
            <a:ext cx="5433060" cy="4458970"/>
          </a:xfrm>
        </p:spPr>
      </p:pic>
      <p:sp>
        <p:nvSpPr>
          <p:cNvPr id="23555" name="矩形 5"/>
          <p:cNvSpPr/>
          <p:nvPr/>
        </p:nvSpPr>
        <p:spPr>
          <a:xfrm>
            <a:off x="8862695" y="455295"/>
            <a:ext cx="76200" cy="76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 anchorCtr="0"/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8365" y="315278"/>
            <a:ext cx="140843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 b="1" i="1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1800" b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1800" b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1800" b="1">
                <a:solidFill>
                  <a:srgbClr val="C00000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</a:rPr>
              <a:t>≈</a:t>
            </a:r>
            <a:r>
              <a:rPr lang="en-US" altLang="zh-CN" sz="1800" b="1">
                <a:solidFill>
                  <a:srgbClr val="C00000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</a:rPr>
              <a:t>0.7V</a:t>
            </a:r>
            <a:r>
              <a:rPr lang="zh-CN" altLang="en-US" sz="1800" b="1" baseline="-25000">
                <a:solidFill>
                  <a:srgbClr val="C00000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 sz="1800" b="1" baseline="-25000">
              <a:solidFill>
                <a:srgbClr val="C00000"/>
              </a:solidFill>
              <a:highlight>
                <a:srgbClr val="00FFFF"/>
              </a:highligh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52883" y="5637848"/>
            <a:ext cx="200533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altLang="en-US" sz="18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实验报告第一题</a:t>
            </a:r>
            <a:r>
              <a:rPr lang="en-US" altLang="zh-CN" sz="18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*</a:t>
            </a:r>
            <a:endParaRPr lang="en-US" altLang="zh-CN" sz="1800" b="1">
              <a:solidFill>
                <a:srgbClr val="C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2400" y="609600"/>
            <a:ext cx="2912745" cy="1337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方法：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不考虑输入输出；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电容断路；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59050" y="836295"/>
            <a:ext cx="1689735" cy="4571365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65725" y="727710"/>
            <a:ext cx="3749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Font typeface="Wingdings" panose="05000000000000000000" charset="0"/>
            </a:pPr>
            <a:r>
              <a:rPr lang="zh-CN" altLang="en-US" sz="1800" b="1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三极管T的静态工作点计算方法：</a:t>
            </a:r>
            <a:endParaRPr lang="zh-CN" altLang="en-US" sz="1800" b="1">
              <a:solidFill>
                <a:srgbClr val="1D41D5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对象 -2147482608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108700" y="1065530"/>
          <a:ext cx="2025015" cy="66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397000" imgH="457200" progId="Equation.DSMT4">
                  <p:embed/>
                </p:oleObj>
              </mc:Choice>
              <mc:Fallback>
                <p:oleObj name="" r:id="rId3" imgW="1397000" imgH="457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08700" y="1065530"/>
                        <a:ext cx="2025015" cy="662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607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6108700" y="1728470"/>
          <a:ext cx="2981325" cy="37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6" imgW="2017395" imgH="254000" progId="Equation.DSMT4">
                  <p:embed/>
                </p:oleObj>
              </mc:Choice>
              <mc:Fallback>
                <p:oleObj name="" r:id="rId6" imgW="2017395" imgH="2540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8700" y="1728470"/>
                        <a:ext cx="2981325" cy="3752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062980" y="2209800"/>
            <a:ext cx="33629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00" i="1"/>
              <a:t>V</a:t>
            </a:r>
            <a:r>
              <a:rPr lang="en-US" altLang="zh-CN" sz="1900" baseline="-25000"/>
              <a:t>CQ</a:t>
            </a:r>
            <a:r>
              <a:rPr lang="en-US" altLang="zh-CN" sz="1900"/>
              <a:t>=</a:t>
            </a:r>
            <a:r>
              <a:rPr lang="en-US" altLang="zh-CN" sz="1900" i="1"/>
              <a:t>V</a:t>
            </a:r>
            <a:r>
              <a:rPr lang="en-US" altLang="zh-CN" sz="1900" baseline="-25000"/>
              <a:t>CC</a:t>
            </a:r>
            <a:r>
              <a:rPr lang="zh-CN" altLang="en-US" sz="1900"/>
              <a:t>－</a:t>
            </a:r>
            <a:r>
              <a:rPr lang="en-US" altLang="zh-CN" sz="1900" i="1"/>
              <a:t>I</a:t>
            </a:r>
            <a:r>
              <a:rPr lang="en-US" altLang="zh-CN" sz="1900" baseline="-25000"/>
              <a:t>CQ</a:t>
            </a:r>
            <a:r>
              <a:rPr lang="en-US" altLang="zh-CN" sz="1900"/>
              <a:t>*</a:t>
            </a:r>
            <a:r>
              <a:rPr lang="en-US" altLang="zh-CN" sz="1900" i="1"/>
              <a:t>R</a:t>
            </a:r>
            <a:r>
              <a:rPr lang="en-US" altLang="zh-CN" sz="1900" baseline="-25000"/>
              <a:t>C</a:t>
            </a:r>
            <a:endParaRPr lang="en-US" altLang="zh-CN" sz="1900" baseline="-25000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6062980" y="2743200"/>
            <a:ext cx="33629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00" i="1"/>
              <a:t>V</a:t>
            </a:r>
            <a:r>
              <a:rPr lang="en-US" altLang="zh-CN" sz="1900" baseline="-25000"/>
              <a:t>BQ</a:t>
            </a:r>
            <a:r>
              <a:rPr lang="en-US" altLang="zh-CN" sz="1900"/>
              <a:t>≈</a:t>
            </a:r>
            <a:r>
              <a:rPr lang="en-US" altLang="zh-CN" sz="1900" i="1"/>
              <a:t>V</a:t>
            </a:r>
            <a:r>
              <a:rPr lang="en-US" altLang="zh-CN" sz="1900" baseline="-25000"/>
              <a:t>BEQ</a:t>
            </a:r>
            <a:r>
              <a:rPr lang="zh-CN" altLang="en-US" sz="1900"/>
              <a:t>＋</a:t>
            </a:r>
            <a:r>
              <a:rPr lang="en-US" altLang="zh-CN" sz="1900" i="1"/>
              <a:t>I</a:t>
            </a:r>
            <a:r>
              <a:rPr lang="en-US" altLang="zh-CN" sz="1900" baseline="-25000"/>
              <a:t>EQ</a:t>
            </a:r>
            <a:r>
              <a:rPr lang="en-US" altLang="zh-CN" sz="1900"/>
              <a:t>*</a:t>
            </a:r>
            <a:r>
              <a:rPr lang="zh-CN" altLang="en-US" sz="1900"/>
              <a:t>（</a:t>
            </a:r>
            <a:r>
              <a:rPr lang="en-US" altLang="zh-CN" sz="1900" i="1"/>
              <a:t>R</a:t>
            </a:r>
            <a:r>
              <a:rPr lang="en-US" altLang="zh-CN" sz="1900" baseline="-25000"/>
              <a:t>E1</a:t>
            </a:r>
            <a:r>
              <a:rPr lang="zh-CN" altLang="en-US" sz="1900">
                <a:sym typeface="+mn-ea"/>
              </a:rPr>
              <a:t>＋</a:t>
            </a:r>
            <a:r>
              <a:rPr lang="en-US" altLang="zh-CN" sz="1900" i="1">
                <a:sym typeface="+mn-ea"/>
              </a:rPr>
              <a:t>R</a:t>
            </a:r>
            <a:r>
              <a:rPr lang="en-US" altLang="zh-CN" sz="1900" baseline="-25000">
                <a:sym typeface="+mn-ea"/>
              </a:rPr>
              <a:t>E1</a:t>
            </a:r>
            <a:r>
              <a:rPr lang="zh-CN" altLang="en-US" sz="1900">
                <a:sym typeface="+mn-ea"/>
              </a:rPr>
              <a:t>）</a:t>
            </a:r>
            <a:endParaRPr lang="zh-CN" altLang="en-US" sz="1900"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062980" y="3253105"/>
            <a:ext cx="33629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00" i="1"/>
              <a:t>V</a:t>
            </a:r>
            <a:r>
              <a:rPr lang="en-US" altLang="zh-CN" sz="1900" baseline="-25000"/>
              <a:t>EQ</a:t>
            </a:r>
            <a:r>
              <a:rPr lang="en-US" altLang="zh-CN" sz="1900">
                <a:sym typeface="+mn-ea"/>
              </a:rPr>
              <a:t>≈</a:t>
            </a:r>
            <a:r>
              <a:rPr lang="en-US" altLang="zh-CN" sz="1900" i="1">
                <a:sym typeface="+mn-ea"/>
              </a:rPr>
              <a:t>I</a:t>
            </a:r>
            <a:r>
              <a:rPr lang="en-US" altLang="zh-CN" sz="1900" baseline="-25000">
                <a:sym typeface="+mn-ea"/>
              </a:rPr>
              <a:t>EQ</a:t>
            </a:r>
            <a:r>
              <a:rPr lang="en-US" altLang="zh-CN" sz="1900">
                <a:sym typeface="+mn-ea"/>
              </a:rPr>
              <a:t>*</a:t>
            </a:r>
            <a:r>
              <a:rPr lang="zh-CN" altLang="en-US" sz="1900">
                <a:sym typeface="+mn-ea"/>
              </a:rPr>
              <a:t>（</a:t>
            </a:r>
            <a:r>
              <a:rPr lang="en-US" altLang="zh-CN" sz="1900" i="1">
                <a:sym typeface="+mn-ea"/>
              </a:rPr>
              <a:t>R</a:t>
            </a:r>
            <a:r>
              <a:rPr lang="en-US" altLang="zh-CN" sz="1900" baseline="-25000">
                <a:sym typeface="+mn-ea"/>
              </a:rPr>
              <a:t>E1</a:t>
            </a:r>
            <a:r>
              <a:rPr lang="zh-CN" altLang="en-US" sz="1900">
                <a:sym typeface="+mn-ea"/>
              </a:rPr>
              <a:t>＋</a:t>
            </a:r>
            <a:r>
              <a:rPr lang="en-US" altLang="zh-CN" sz="1900" i="1">
                <a:sym typeface="+mn-ea"/>
              </a:rPr>
              <a:t>R</a:t>
            </a:r>
            <a:r>
              <a:rPr lang="en-US" altLang="zh-CN" sz="1900" baseline="-25000">
                <a:sym typeface="+mn-ea"/>
              </a:rPr>
              <a:t>E1</a:t>
            </a:r>
            <a:r>
              <a:rPr lang="zh-CN" altLang="en-US" sz="1900">
                <a:sym typeface="+mn-ea"/>
              </a:rPr>
              <a:t>）</a:t>
            </a:r>
            <a:endParaRPr lang="en-US" altLang="zh-CN" sz="1900" baseline="-25000"/>
          </a:p>
        </p:txBody>
      </p:sp>
      <p:sp>
        <p:nvSpPr>
          <p:cNvPr id="15" name="文本框 14"/>
          <p:cNvSpPr txBox="1"/>
          <p:nvPr/>
        </p:nvSpPr>
        <p:spPr>
          <a:xfrm>
            <a:off x="6400165" y="4080510"/>
            <a:ext cx="26327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注意：静态工作点是直流量，需用直流电压表和电流表测量！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19200" y="5485765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放大电路要有合适的静态工作点！</a:t>
            </a:r>
            <a:endParaRPr lang="zh-CN" altLang="en-US" sz="2000" b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sz="20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sz="16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动态由静态决定，直流是交流的前提！</a:t>
            </a:r>
            <a:r>
              <a:rPr lang="zh-CN" altLang="en-US" sz="20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b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76200" y="76200"/>
            <a:ext cx="8534400" cy="609600"/>
          </a:xfrm>
        </p:spPr>
        <p:txBody>
          <a:bodyPr anchor="ctr" anchorCtr="0"/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）测量电压放大倍数</a:t>
            </a:r>
            <a:r>
              <a:rPr lang="en-US" altLang="zh-CN" sz="2400" i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endParaRPr lang="en-US" altLang="zh-CN"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530" name="内容占位符 -2147482486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46555" y="1906270"/>
            <a:ext cx="5471795" cy="4491355"/>
          </a:xfrm>
        </p:spPr>
      </p:pic>
      <p:sp>
        <p:nvSpPr>
          <p:cNvPr id="13" name="文本框 12"/>
          <p:cNvSpPr txBox="1"/>
          <p:nvPr/>
        </p:nvSpPr>
        <p:spPr>
          <a:xfrm>
            <a:off x="4778375" y="306070"/>
            <a:ext cx="44577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负载会影响放大倍数？！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这怎么能行？！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怎么解决？？？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（实验五可以解决，敬请期待！）</a:t>
            </a:r>
            <a:endParaRPr lang="zh-CN" altLang="en-US" sz="20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Object 20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85800" y="915035"/>
          <a:ext cx="2731135" cy="780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4" imgW="1510665" imgH="431800" progId="Equation.DSMT4">
                  <p:embed/>
                </p:oleObj>
              </mc:Choice>
              <mc:Fallback>
                <p:oleObj name="" r:id="rId4" imgW="1510665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5800" y="915035"/>
                        <a:ext cx="2731135" cy="7804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09600" y="762635"/>
            <a:ext cx="2895600" cy="1066800"/>
          </a:xfrm>
          <a:prstGeom prst="rect">
            <a:avLst/>
          </a:prstGeom>
          <a:solidFill>
            <a:srgbClr val="FF0000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6200" y="76200"/>
            <a:ext cx="8534400" cy="609600"/>
          </a:xfrm>
        </p:spPr>
        <p:txBody>
          <a:bodyPr anchor="ctr" anchorCtr="0"/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观察静态工作点对输出波形失真的影响(带负载) </a:t>
            </a:r>
            <a:endParaRPr lang="zh-CN" altLang="en-US"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9380" y="685800"/>
            <a:ext cx="849122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调节</a:t>
            </a:r>
            <a:r>
              <a:rPr lang="en-US" altLang="zh-CN" sz="1800" b="1" i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，使三极管分别处于截止区和饱和区（使</a:t>
            </a:r>
            <a:r>
              <a:rPr lang="en-US" altLang="zh-CN" sz="1800" b="1" i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lang="en-US" sz="1800" b="1" baseline="-25000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CQ</a:t>
            </a:r>
            <a:r>
              <a:rPr 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分别为最大和最小，也即</a:t>
            </a:r>
            <a:r>
              <a:rPr lang="en-US" altLang="zh-CN" sz="1800" b="1" i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旋至最大和最小），输入端B点输入f=1kHz的正弦信号，从零逐渐加大输入信号幅度，用示波器观察和记录输出波形数据。</a:t>
            </a:r>
            <a:endParaRPr lang="zh-CN" altLang="en-US" sz="1800" b="1">
              <a:solidFill>
                <a:srgbClr val="1D41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530" name="内容占位符 -2147482486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76400" y="1752600"/>
            <a:ext cx="5242560" cy="4303395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" y="76200"/>
            <a:ext cx="8534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测量最大不失真输出电压(带负载)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04800" y="685800"/>
            <a:ext cx="72612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18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在输出波形刚好不失真的情况下，用示波器测量此时输出的峰-峰值。</a:t>
            </a:r>
            <a:endParaRPr lang="zh-CN" altLang="en-US" sz="1800" b="1">
              <a:solidFill>
                <a:srgbClr val="1D41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530" name="内容占位符 -2147482486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71600" y="1447800"/>
            <a:ext cx="5242560" cy="4303395"/>
          </a:xfrm>
        </p:spPr>
      </p:pic>
      <p:sp>
        <p:nvSpPr>
          <p:cNvPr id="2" name="文本框 1"/>
          <p:cNvSpPr txBox="1"/>
          <p:nvPr/>
        </p:nvSpPr>
        <p:spPr>
          <a:xfrm>
            <a:off x="5105400" y="1295400"/>
            <a:ext cx="38855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放大的前提是输出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不能失真！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altLang="en-US" sz="20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思考：如何保证不失真？</a:t>
            </a:r>
            <a:endParaRPr lang="zh-CN" altLang="en-US" sz="2000" b="1" u="sng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28600" y="381000"/>
            <a:ext cx="8534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测量输入电阻和输出电阻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对象 -2147482576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058670" y="992505"/>
          <a:ext cx="1935480" cy="85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977265" imgH="431800" progId="Equation.DSMT4">
                  <p:embed/>
                </p:oleObj>
              </mc:Choice>
              <mc:Fallback>
                <p:oleObj name="" r:id="rId3" imgW="977265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8670" y="992505"/>
                        <a:ext cx="1935480" cy="8547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567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058670" y="1931670"/>
          <a:ext cx="3631565" cy="92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6" imgW="1891665" imgH="482600" progId="Equation.DSMT4">
                  <p:embed/>
                </p:oleObj>
              </mc:Choice>
              <mc:Fallback>
                <p:oleObj name="" r:id="rId6" imgW="1891665" imgH="4826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8670" y="1931670"/>
                        <a:ext cx="3631565" cy="9264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306070" y="1219835"/>
            <a:ext cx="28619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sz="20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</a:rPr>
              <a:t>输入电阻：</a:t>
            </a:r>
            <a:endParaRPr lang="zh-CN" altLang="en-US" sz="2000" b="1">
              <a:solidFill>
                <a:srgbClr val="1D41D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306070" y="2151380"/>
            <a:ext cx="28619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sz="2000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</a:rPr>
              <a:t>输出电阻：</a:t>
            </a:r>
            <a:endParaRPr lang="zh-CN" altLang="en-US" sz="2000" b="1">
              <a:solidFill>
                <a:srgbClr val="1D41D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656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5393" t="5644" r="6157" b="17992"/>
          <a:stretch>
            <a:fillRect/>
          </a:stretch>
        </p:blipFill>
        <p:spPr>
          <a:xfrm>
            <a:off x="838200" y="3048000"/>
            <a:ext cx="7013575" cy="247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3048000" y="5561965"/>
            <a:ext cx="3507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输入输出电阻测量简化示意图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91200" y="5714365"/>
            <a:ext cx="3158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C00000"/>
                </a:solidFill>
                <a:latin typeface="华文琥珀" panose="02010800040101010101" charset="-122"/>
                <a:ea typeface="华文琥珀" panose="02010800040101010101" charset="-122"/>
              </a:rPr>
              <a:t>*</a:t>
            </a:r>
            <a:r>
              <a:rPr lang="zh-CN" altLang="en-US">
                <a:solidFill>
                  <a:srgbClr val="C00000"/>
                </a:solidFill>
                <a:latin typeface="华文琥珀" panose="02010800040101010101" charset="-122"/>
                <a:ea typeface="华文琥珀" panose="02010800040101010101" charset="-122"/>
              </a:rPr>
              <a:t>依据：戴维南定理</a:t>
            </a:r>
            <a:r>
              <a:rPr lang="en-US" altLang="zh-CN">
                <a:solidFill>
                  <a:srgbClr val="C00000"/>
                </a:solidFill>
                <a:latin typeface="华文琥珀" panose="02010800040101010101" charset="-122"/>
                <a:ea typeface="华文琥珀" panose="02010800040101010101" charset="-122"/>
              </a:rPr>
              <a:t>*</a:t>
            </a:r>
            <a:endParaRPr lang="en-US" altLang="zh-CN">
              <a:solidFill>
                <a:srgbClr val="C00000"/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3611563"/>
          </a:xfrm>
        </p:spPr>
        <p:txBody>
          <a:bodyPr anchor="t" anchorCtr="0"/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en-US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675" name="图片 3"/>
          <p:cNvPicPr>
            <a:picLocks noChangeAspect="1"/>
          </p:cNvPicPr>
          <p:nvPr/>
        </p:nvPicPr>
        <p:blipFill>
          <a:blip r:embed="rId1"/>
          <a:srcRect b="20379"/>
          <a:stretch>
            <a:fillRect/>
          </a:stretch>
        </p:blipFill>
        <p:spPr>
          <a:xfrm>
            <a:off x="762000" y="1066800"/>
            <a:ext cx="5384800" cy="2201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82" name="文本框 17"/>
          <p:cNvSpPr txBox="1"/>
          <p:nvPr/>
        </p:nvSpPr>
        <p:spPr>
          <a:xfrm>
            <a:off x="6171883" y="1904683"/>
            <a:ext cx="20497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半功率点！</a:t>
            </a:r>
            <a:endParaRPr lang="zh-CN" altLang="en-US" b="1">
              <a:solidFill>
                <a:srgbClr val="1D41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2209800" y="3276600"/>
            <a:ext cx="3507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放大电路的频率传输特性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6200" y="76200"/>
            <a:ext cx="8534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测量幅频特性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（通频带概念）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17"/>
          <p:cNvSpPr txBox="1"/>
          <p:nvPr>
            <p:custDataLst>
              <p:tags r:id="rId4"/>
            </p:custDataLst>
          </p:nvPr>
        </p:nvSpPr>
        <p:spPr>
          <a:xfrm>
            <a:off x="685483" y="3885883"/>
            <a:ext cx="6466840" cy="1753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通频带产生的原因：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）电容具有频率特性</a:t>
            </a:r>
            <a:endParaRPr lang="zh-CN" altLang="en-US" b="1">
              <a:solidFill>
                <a:srgbClr val="1D41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）二极管有电容效应（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扩散电容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势垒电容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b="1">
              <a:solidFill>
                <a:srgbClr val="1D41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" y="76200"/>
            <a:ext cx="8534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旁路电容</a:t>
            </a:r>
            <a:r>
              <a:rPr lang="en-US" altLang="zh-CN" sz="24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en-US" altLang="zh-CN" sz="2400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对放大电路放大倍数的影响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-214748246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82870" y="1677988"/>
            <a:ext cx="3676650" cy="19691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78" name="内容占位符 -2147482486"/>
          <p:cNvPicPr>
            <a:picLocks noGrp="1" noChangeAspect="1"/>
          </p:cNvPicPr>
          <p:nvPr>
            <p:ph idx="1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1800" y="837883"/>
            <a:ext cx="4654550" cy="3821112"/>
          </a:xfrm>
        </p:spPr>
      </p:pic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 flipV="1">
            <a:off x="3919538" y="3630295"/>
            <a:ext cx="19050" cy="508000"/>
          </a:xfrm>
          <a:prstGeom prst="line">
            <a:avLst/>
          </a:prstGeom>
          <a:ln w="412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 flipV="1">
            <a:off x="1701800" y="2623820"/>
            <a:ext cx="682625" cy="19050"/>
          </a:xfrm>
          <a:prstGeom prst="line">
            <a:avLst/>
          </a:prstGeom>
          <a:ln w="412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 flipV="1">
            <a:off x="3663950" y="2196783"/>
            <a:ext cx="682625" cy="17462"/>
          </a:xfrm>
          <a:prstGeom prst="line">
            <a:avLst/>
          </a:prstGeom>
          <a:ln w="412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组合 19"/>
          <p:cNvGrpSpPr/>
          <p:nvPr/>
        </p:nvGrpSpPr>
        <p:grpSpPr>
          <a:xfrm>
            <a:off x="2992438" y="987108"/>
            <a:ext cx="946150" cy="549275"/>
            <a:chOff x="6953" y="2192"/>
            <a:chExt cx="1490" cy="865"/>
          </a:xfrm>
        </p:grpSpPr>
        <p:pic>
          <p:nvPicPr>
            <p:cNvPr id="24584" name="图片 1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7579" y="2289"/>
              <a:ext cx="864" cy="76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5" name="文本框 18"/>
            <p:cNvSpPr txBox="1"/>
            <p:nvPr>
              <p:custDataLst>
                <p:tags r:id="rId11"/>
              </p:custDataLst>
            </p:nvPr>
          </p:nvSpPr>
          <p:spPr>
            <a:xfrm>
              <a:off x="6953" y="2192"/>
              <a:ext cx="83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>
                  <a:latin typeface="Times New Roman" panose="02020603050405020304" pitchFamily="18" charset="0"/>
                </a:rPr>
                <a:t>=&gt;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577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981200" y="4580890"/>
            <a:ext cx="2308225" cy="609600"/>
          </a:xfrm>
        </p:spPr>
        <p:txBody>
          <a:bodyPr anchor="ctr" anchorCtr="0"/>
          <a:p>
            <a:pPr algn="ctr"/>
            <a:r>
              <a:rPr lang="zh-CN" altLang="en-US" sz="18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交流通路</a:t>
            </a:r>
            <a:endParaRPr lang="zh-CN" altLang="en-US" sz="18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868670" y="3583305"/>
            <a:ext cx="2661285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交流小信号模型</a:t>
            </a:r>
            <a:endParaRPr lang="zh-CN" altLang="en-US" sz="18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4" name="Object 20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5715000" y="4724400"/>
          <a:ext cx="2731135" cy="780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5" imgW="1510665" imgH="431800" progId="Equation.DSMT4">
                  <p:embed/>
                </p:oleObj>
              </mc:Choice>
              <mc:Fallback>
                <p:oleObj name="" r:id="rId15" imgW="1510665" imgH="431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15000" y="4724400"/>
                        <a:ext cx="2731135" cy="7804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>
            <p:custDataLst>
              <p:tags r:id="rId17"/>
            </p:custDataLst>
          </p:nvPr>
        </p:nvSpPr>
        <p:spPr>
          <a:xfrm>
            <a:off x="5638800" y="4572000"/>
            <a:ext cx="2895600" cy="1066800"/>
          </a:xfrm>
          <a:prstGeom prst="rect">
            <a:avLst/>
          </a:prstGeom>
          <a:solidFill>
            <a:srgbClr val="FF0000">
              <a:alpha val="35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609600"/>
          </a:xfrm>
        </p:spPr>
        <p:txBody>
          <a:bodyPr anchor="ctr" anchorCtr="0"/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实验注意事项</a:t>
            </a:r>
            <a:endParaRPr lang="zh-CN" altLang="en-US"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电解电容分正负：长脚为正，短脚为负； 电容身上有一条白色带，写有</a:t>
            </a:r>
            <a:r>
              <a:rPr lang="en-US" altLang="zh-CN" sz="3600" strike="noStrike" noProof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18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base" latinLnBrk="0">
              <a:lnSpc>
                <a:spcPct val="150000"/>
              </a:lnSpc>
              <a:spcBef>
                <a:spcPts val="0"/>
              </a:spcBef>
            </a:pPr>
            <a:endParaRPr lang="zh-CN" altLang="en-US" sz="18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base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峰峰值？有效值？ 二者关系；</a:t>
            </a:r>
            <a:endParaRPr lang="zh-CN" altLang="en-US" sz="18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base" latinLnBrk="0">
              <a:lnSpc>
                <a:spcPct val="150000"/>
              </a:lnSpc>
              <a:spcBef>
                <a:spcPts val="0"/>
              </a:spcBef>
            </a:pPr>
            <a:endParaRPr lang="zh-CN" altLang="en-US" sz="18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base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电位器： 物理上的滑动变阻器</a:t>
            </a:r>
            <a:endParaRPr lang="zh-CN" altLang="en-US" sz="18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base" latinLnBrk="0">
              <a:lnSpc>
                <a:spcPct val="150000"/>
              </a:lnSpc>
              <a:spcBef>
                <a:spcPts val="0"/>
              </a:spcBef>
            </a:pPr>
            <a:endParaRPr lang="zh-CN" altLang="en-US" sz="18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base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三极管的引脚：</a:t>
            </a:r>
            <a:r>
              <a:rPr lang="en-US" altLang="zh-CN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zh-CN" altLang="en-US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8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altLang="zh-CN" sz="18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05400" y="2209800"/>
            <a:ext cx="2952750" cy="27813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UNIT_PLACING_PICTURE_USER_VIEWPORT" val="{&quot;height&quot;:5100,&quot;width&quot;:6870}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PP_MARK_KEY" val="fedb54e7-9501-42bb-94b9-3970fe5bbfb4"/>
  <p:tag name="COMMONDATA" val="eyJoZGlkIjoiOWY0MjcyYTk3ZTNmZDEyODJkNzk2M2Q2MDU5YWY4MzEifQ=="/>
</p:tagLst>
</file>

<file path=ppt/theme/theme1.xml><?xml version="1.0" encoding="utf-8"?>
<a:theme xmlns:a="http://schemas.openxmlformats.org/drawingml/2006/main" name="mass-group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ass-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ass-grou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s-grou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ass-group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ass-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ass-grou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s-grou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s-grou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2510</Words>
  <Application>WPS 演示</Application>
  <PresentationFormat>全屏显示(4:3)</PresentationFormat>
  <Paragraphs>341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黑体</vt:lpstr>
      <vt:lpstr>华文楷体</vt:lpstr>
      <vt:lpstr>华文宋体</vt:lpstr>
      <vt:lpstr>Calibri</vt:lpstr>
      <vt:lpstr>微软雅黑</vt:lpstr>
      <vt:lpstr>Wingdings</vt:lpstr>
      <vt:lpstr>Arial Unicode MS</vt:lpstr>
      <vt:lpstr>华文琥珀</vt:lpstr>
      <vt:lpstr>mass-group</vt:lpstr>
      <vt:lpstr>1_mass-group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实验二、共射极单管放大电路的研究</vt:lpstr>
      <vt:lpstr>PowerPoint 演示文稿</vt:lpstr>
      <vt:lpstr>PowerPoint 演示文稿</vt:lpstr>
      <vt:lpstr>（1）三极管介绍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（2）实验目的</vt:lpstr>
      <vt:lpstr>（3）实验内容</vt:lpstr>
      <vt:lpstr>1）静态工作点的测试</vt:lpstr>
      <vt:lpstr>2）测量电压放大倍数Av</vt:lpstr>
      <vt:lpstr>3）观察静态工作点对输出波形失真的影响(带负载) </vt:lpstr>
      <vt:lpstr>PowerPoint 演示文稿</vt:lpstr>
      <vt:lpstr>PowerPoint 演示文稿</vt:lpstr>
      <vt:lpstr>PowerPoint 演示文稿</vt:lpstr>
      <vt:lpstr>交流通路</vt:lpstr>
      <vt:lpstr>实验注意事项</vt:lpstr>
    </vt:vector>
  </TitlesOfParts>
  <Company>SUSTC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zhuwei</cp:lastModifiedBy>
  <cp:revision>1446</cp:revision>
  <dcterms:created xsi:type="dcterms:W3CDTF">2003-06-08T17:32:00Z</dcterms:created>
  <dcterms:modified xsi:type="dcterms:W3CDTF">2023-10-23T13:44:36Z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56E49B8274144FAD9629C99955A59472</vt:lpwstr>
  </property>
</Properties>
</file>