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300" r:id="rId6"/>
    <p:sldId id="293" r:id="rId7"/>
    <p:sldId id="294" r:id="rId8"/>
    <p:sldId id="295" r:id="rId9"/>
    <p:sldId id="296" r:id="rId10"/>
    <p:sldId id="297" r:id="rId11"/>
    <p:sldId id="299" r:id="rId12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0066"/>
    <a:srgbClr val="00FF00"/>
    <a:srgbClr val="8000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-1074" y="-96"/>
      </p:cViewPr>
      <p:guideLst>
        <p:guide orient="horz" pos="211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841C1-67CC-488F-9C0B-B138651E09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89EAB-F27E-4B8D-A076-7B1D7D7EAC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89EAB-F27E-4B8D-A076-7B1D7D7EAC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59832" y="620688"/>
            <a:ext cx="5832648" cy="2880320"/>
          </a:xfrm>
        </p:spPr>
        <p:txBody>
          <a:bodyPr/>
          <a:lstStyle/>
          <a:p>
            <a:pPr algn="l"/>
            <a:r>
              <a:rPr lang="zh-CN" altLang="en-US" dirty="0" err="1" smtClean="0"/>
              <a:t>成像光学设计</a:t>
            </a:r>
            <a:r>
              <a:rPr lang="en-US" altLang="zh-CN" dirty="0" err="1" smtClean="0"/>
              <a:t>-</a:t>
            </a:r>
            <a:r>
              <a:rPr lang="zh-CN" altLang="en-US" dirty="0" err="1" smtClean="0"/>
              <a:t>像差介绍</a:t>
            </a:r>
            <a:r>
              <a:rPr lang="en-US" altLang="zh-CN" cap="none" dirty="0" smtClean="0"/>
              <a:t> </a:t>
            </a:r>
            <a:endParaRPr lang="zh-CN" altLang="en-US" cap="none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1043620" y="188640"/>
            <a:ext cx="677108" cy="63367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0000CC"/>
                </a:solidFill>
              </a:rPr>
              <a:t>《Optical design experiment》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20059" y="4546823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FF00"/>
                </a:solidFill>
              </a:rPr>
              <a:t>Teacher: </a:t>
            </a:r>
            <a:r>
              <a:rPr lang="en-US" altLang="zh-CN" sz="2400" dirty="0" err="1" smtClean="0">
                <a:solidFill>
                  <a:srgbClr val="FFFF00"/>
                </a:solidFill>
              </a:rPr>
              <a:t>Xu</a:t>
            </a:r>
            <a:r>
              <a:rPr lang="en-US" altLang="zh-CN" sz="2400" dirty="0" smtClean="0">
                <a:solidFill>
                  <a:srgbClr val="FFFF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FF00"/>
                </a:solidFill>
              </a:rPr>
              <a:t>linlin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239000" cy="1143000"/>
          </a:xfrm>
        </p:spPr>
        <p:txBody>
          <a:bodyPr/>
          <a:lstStyle/>
          <a:p>
            <a:pPr algn="ctr"/>
            <a:r>
              <a:rPr lang="en-US" altLang="zh-CN" dirty="0" smtClean="0">
                <a:solidFill>
                  <a:schemeClr val="accent3">
                    <a:lumMod val="75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700808"/>
            <a:ext cx="7239000" cy="352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00CC"/>
                </a:solidFill>
              </a:rPr>
              <a:t>1. </a:t>
            </a:r>
            <a:r>
              <a:rPr lang="zh-CN" altLang="en-US" sz="2800" b="1" dirty="0" smtClean="0">
                <a:solidFill>
                  <a:srgbClr val="0000CC"/>
                </a:solidFill>
                <a:ea typeface="宋体" panose="02010600030101010101" pitchFamily="2" charset="-122"/>
              </a:rPr>
              <a:t>像差介绍</a:t>
            </a:r>
            <a:endParaRPr lang="zh-CN" altLang="en-US" sz="2800" b="1" dirty="0" smtClean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CC"/>
                </a:solidFill>
                <a:ea typeface="宋体" panose="02010600030101010101" pitchFamily="2" charset="-122"/>
              </a:rPr>
              <a:t>2. SeeOD </a:t>
            </a:r>
            <a:r>
              <a:rPr lang="zh-CN" altLang="en-US" sz="2800" b="1" dirty="0">
                <a:solidFill>
                  <a:srgbClr val="0000CC"/>
                </a:solidFill>
                <a:ea typeface="宋体" panose="02010600030101010101" pitchFamily="2" charset="-122"/>
              </a:rPr>
              <a:t>光学设计软件介绍</a:t>
            </a:r>
            <a:endParaRPr lang="zh-CN" altLang="en-US" sz="2800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7315" y="1917065"/>
                <a:ext cx="7178675" cy="2729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）初级球差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系数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ℎ𝑃</m:t>
                    </m:r>
                  </m:oMath>
                </a14:m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）初级彗差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系数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𝐽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𝑊</m:t>
                    </m:r>
                  </m:oMath>
                </a14:m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）初级像散系数：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𝐼𝐼𝐼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𝐽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𝑊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𝛴𝜑</m:t>
                    </m:r>
                  </m:oMath>
                </a14:m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4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）初级场曲系数：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𝐼𝑉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𝜑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5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）初级畸变系数：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𝑉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𝐽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𝑊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𝜑</m:t>
                    </m:r>
                  </m:oMath>
                </a14:m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6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）初级位置色差系数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 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𝜑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𝑣</m:t>
                        </m:r>
                      </m:den>
                    </m:f>
                  </m:oMath>
                </a14:m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None/>
                </a:pP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7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）初级倍率色差系数：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𝐼𝐼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ℎℎ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𝜑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𝑣</m:t>
                        </m:r>
                      </m:den>
                    </m:f>
                  </m:oMath>
                </a14:m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5" y="1917065"/>
                <a:ext cx="7178675" cy="27292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4925" y="692785"/>
            <a:ext cx="8625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像差的种类：</a:t>
            </a:r>
            <a:r>
              <a:rPr lang="zh-CN" altLang="en-US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球差、彗差、像散、场曲、畸变、</a:t>
            </a:r>
            <a:r>
              <a:rPr lang="en-US" altLang="zh-CN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色差</a:t>
            </a:r>
            <a:endParaRPr lang="zh-CN" altLang="en-US" sz="1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" y="-27305"/>
            <a:ext cx="4572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像差介绍</a:t>
            </a:r>
            <a:endParaRPr lang="zh-CN" altLang="en-US" sz="2800" b="1" dirty="0" smtClean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340485"/>
            <a:ext cx="456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薄透镜初级像差系数的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PW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79070" y="4869180"/>
                <a:ext cx="7660005" cy="7607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𝑛𝑖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𝑖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𝑖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𝑖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𝑊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=(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𝑖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)(</m:t>
                    </m:r>
                    <m:r>
                      <a:rPr lang="en-US" altLang="zh-CN" sz="1400" i="1">
                        <a:latin typeface="Cambria Math" panose="02040503050406030204" charset="0"/>
                        <a:ea typeface="楷体" panose="02010609060101010101" charset="-122"/>
                        <a:cs typeface="Cambria Math" panose="02040503050406030204" charset="0"/>
                      </a:rPr>
                      <m:t>𝑖</m:t>
                    </m:r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𝑖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；</a:t>
                </a:r>
                <a:r>
                  <a:rPr lang="en-US" altLang="zh-CN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J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为光学拉赫不变量；</a:t>
                </a:r>
                <a:r>
                  <a:rPr lang="en-US" altLang="zh-CN" sz="1400" i="1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h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为轴上点发出的边缘近轴光线在各薄透镜上的透射高；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charset="0"/>
                            <a:ea typeface="楷体" panose="02010609060101010101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为最大视场点发出的近轴主光线在各薄透镜上的透射高；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𝜑</m:t>
                    </m:r>
                  </m:oMath>
                </a14:m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为各薄透镜的光焦度</a:t>
                </a:r>
                <a:r>
                  <a:rPr lang="zh-CN" altLang="en-US" sz="12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（焦距的倒数）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；</a:t>
                </a:r>
                <a:r>
                  <a:rPr lang="en-US" altLang="zh-CN" sz="1400" i="1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n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和</a:t>
                </a:r>
                <a:r>
                  <a:rPr lang="en-US" altLang="zh-CN" sz="1400" i="1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v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分别为各薄透镜材料的折射率和阿贝数</a:t>
                </a:r>
                <a:r>
                  <a:rPr lang="zh-CN" altLang="en-US" sz="12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（影响色差）</a:t>
                </a:r>
                <a:r>
                  <a:rPr lang="zh-CN" altLang="en-US" sz="1400">
                    <a:latin typeface="Times New Roman" panose="02020603050405020304" charset="0"/>
                    <a:ea typeface="楷体" panose="02010609060101010101" charset="-122"/>
                    <a:cs typeface="Times New Roman" panose="02020603050405020304" charset="0"/>
                  </a:rPr>
                  <a:t>；</a:t>
                </a:r>
                <a:endParaRPr lang="zh-CN" altLang="en-US" sz="1400"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" y="4869180"/>
                <a:ext cx="7660005" cy="7607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539115" y="5733415"/>
            <a:ext cx="7012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0000C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一般光学系统</a:t>
            </a:r>
            <a:r>
              <a:rPr lang="zh-CN" altLang="en-US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初始结构</a:t>
            </a:r>
            <a:r>
              <a:rPr lang="zh-CN" altLang="en-US" b="1">
                <a:solidFill>
                  <a:srgbClr val="0000C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都是基于初级像差理论计算得到的！</a:t>
            </a:r>
            <a:endParaRPr lang="zh-CN" altLang="en-US" b="1">
              <a:solidFill>
                <a:srgbClr val="0000C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923665" y="1268730"/>
            <a:ext cx="4109085" cy="975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51460" y="26035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764540"/>
            <a:ext cx="7406005" cy="4542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）球差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</a:t>
            </a:r>
            <a:r>
              <a:rPr lang="zh-CN" altLang="en-US">
                <a:ea typeface="宋体" panose="02010600030101010101" pitchFamily="2" charset="-122"/>
              </a:rPr>
              <a:t>指轴上物点发出的光线以不同高度入射成像系统时，通过系统的光线不再汇聚于同一点，而是形成一个弥散斑。（也可以理解为不同入射高度的光线成像的位置不同）</a:t>
            </a:r>
            <a:endParaRPr lang="zh-CN" altLang="en-US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853055"/>
            <a:ext cx="4344035" cy="2682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190" y="2421255"/>
            <a:ext cx="2790825" cy="32861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5060" y="5487035"/>
            <a:ext cx="183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球差示意图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579745" y="5733415"/>
            <a:ext cx="183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球差效果图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51460" y="40513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070" y="836930"/>
            <a:ext cx="767207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）彗差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       </a:t>
            </a:r>
            <a:r>
              <a:rPr lang="zh-CN" altLang="en-US">
                <a:ea typeface="宋体" panose="02010600030101010101" pitchFamily="2" charset="-122"/>
              </a:rPr>
              <a:t>轴外物点以不同高度的光线入射系统，由于各</a:t>
            </a:r>
            <a:r>
              <a:rPr lang="zh-CN" altLang="en-US" u="sng">
                <a:ea typeface="宋体" panose="02010600030101010101" pitchFamily="2" charset="-122"/>
              </a:rPr>
              <a:t>高度的光线对系统的成像放大率</a:t>
            </a:r>
            <a:r>
              <a:rPr lang="zh-CN" altLang="en-US">
                <a:ea typeface="宋体" panose="02010600030101010101" pitchFamily="2" charset="-122"/>
              </a:rPr>
              <a:t>不同，所以产生了像差，这种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像</a:t>
            </a:r>
            <a:r>
              <a:rPr lang="zh-CN" altLang="en-US">
                <a:ea typeface="宋体" panose="02010600030101010101" pitchFamily="2" charset="-122"/>
              </a:rPr>
              <a:t>差成像的形状好像彗星，因此。称为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彗差。（宽光束像差）</a:t>
            </a:r>
            <a:endParaRPr lang="zh-CN" altLang="en-US">
              <a:ea typeface="宋体" panose="02010600030101010101" pitchFamily="2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395" y="2968625"/>
            <a:ext cx="3850640" cy="2482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59430" y="5445125"/>
            <a:ext cx="183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彗差示意图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51460" y="40513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836930"/>
            <a:ext cx="7753350" cy="4542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）像散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       </a:t>
            </a:r>
            <a:r>
              <a:rPr lang="zh-CN" altLang="en-US">
                <a:ea typeface="宋体" panose="02010600030101010101" pitchFamily="2" charset="-122"/>
              </a:rPr>
              <a:t>轴外物点发出的光束，由于入射光束的波面不具有旋转对称性，存在两条曲率分别为最大和最小的相互垂直的主截线，正好与子午方向和弧矢方向对应，故通过光学系统后，成两个互相垂直的</a:t>
            </a:r>
            <a:r>
              <a:rPr lang="zh-CN" altLang="en-US" b="1">
                <a:highlight>
                  <a:srgbClr val="FFFF00"/>
                </a:highlight>
                <a:ea typeface="宋体" panose="02010600030101010101" pitchFamily="2" charset="-122"/>
              </a:rPr>
              <a:t>线</a:t>
            </a:r>
            <a:r>
              <a:rPr lang="zh-CN" altLang="en-US">
                <a:ea typeface="宋体" panose="02010600030101010101" pitchFamily="2" charset="-122"/>
              </a:rPr>
              <a:t>像。（注意：轴外细光束成像也会产生像散）</a:t>
            </a:r>
            <a:endParaRPr lang="zh-CN" altLang="en-US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pic>
        <p:nvPicPr>
          <p:cNvPr id="2774" name="Picture 8" descr="4-31"/>
          <p:cNvPicPr>
            <a:picLocks noChangeAspect="1"/>
          </p:cNvPicPr>
          <p:nvPr/>
        </p:nvPicPr>
        <p:blipFill>
          <a:blip r:embed="rId1"/>
          <a:srcRect l="4987" t="7272" b="3636"/>
          <a:stretch>
            <a:fillRect/>
          </a:stretch>
        </p:blipFill>
        <p:spPr>
          <a:xfrm>
            <a:off x="1210945" y="3140393"/>
            <a:ext cx="5834063" cy="3000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419475" y="6021070"/>
            <a:ext cx="183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像散示意图</a:t>
            </a:r>
            <a:endParaRPr lang="zh-CN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179705" y="188595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692785"/>
            <a:ext cx="7406005" cy="1678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4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）场曲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      </a:t>
            </a:r>
            <a:r>
              <a:rPr lang="zh-CN" altLang="en-US">
                <a:ea typeface="宋体" panose="02010600030101010101" pitchFamily="2" charset="-122"/>
              </a:rPr>
              <a:t>垂直于光轴的平面物体只有在近轴区域才近似成像为一个平面，对较大物面，像面不是平面而是曲面，即场曲。（一般指细光束场曲）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biLevel thresh="50000"/>
          </a:blip>
          <a:srcRect l="19198" t="9046" r="23395" b="12204"/>
          <a:stretch>
            <a:fillRect/>
          </a:stretch>
        </p:blipFill>
        <p:spPr>
          <a:xfrm rot="16200000">
            <a:off x="2806065" y="1017905"/>
            <a:ext cx="2689225" cy="4918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59430" y="5445125"/>
            <a:ext cx="183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场曲示意图</a:t>
            </a:r>
            <a:endParaRPr lang="zh-CN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51460" y="40513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908685"/>
            <a:ext cx="7406005" cy="4542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5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）畸变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00"/>
                </a:solidFill>
                <a:ea typeface="华文宋体"/>
                <a:sym typeface="+mn-ea"/>
              </a:rPr>
              <a:t>轴外点发出的光束（主要指细光束）的主光线在像面上交点的高度同近轴 </a:t>
            </a:r>
            <a:r>
              <a:rPr lang="en-US" altLang="zh-CN">
                <a:solidFill>
                  <a:srgbClr val="000000"/>
                </a:solidFill>
                <a:ea typeface="华文宋体"/>
                <a:sym typeface="+mn-ea"/>
              </a:rPr>
              <a:t>(</a:t>
            </a:r>
            <a:r>
              <a:rPr lang="zh-CN" altLang="en-US">
                <a:solidFill>
                  <a:srgbClr val="000000"/>
                </a:solidFill>
                <a:ea typeface="华文宋体"/>
                <a:sym typeface="+mn-ea"/>
              </a:rPr>
              <a:t>理想</a:t>
            </a:r>
            <a:r>
              <a:rPr lang="en-US" altLang="zh-CN">
                <a:solidFill>
                  <a:srgbClr val="000000"/>
                </a:solidFill>
                <a:ea typeface="华文宋体"/>
                <a:sym typeface="+mn-ea"/>
              </a:rPr>
              <a:t>) </a:t>
            </a:r>
            <a:r>
              <a:rPr lang="zh-CN" altLang="en-US">
                <a:solidFill>
                  <a:srgbClr val="000000"/>
                </a:solidFill>
                <a:ea typeface="华文宋体"/>
                <a:sym typeface="+mn-ea"/>
              </a:rPr>
              <a:t>像高之差。</a:t>
            </a:r>
            <a:endParaRPr lang="zh-CN" altLang="en-US">
              <a:solidFill>
                <a:srgbClr val="000000"/>
              </a:solidFill>
              <a:ea typeface="华文宋体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ea typeface="宋体" panose="02010600030101010101" pitchFamily="2" charset="-122"/>
              </a:rPr>
              <a:t>（主光线：通过孔径光阑中心的光线）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103" name="Picture 1" descr="http://jpkc.zju.edu.cn/k/548/course/images82/image011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780348"/>
            <a:ext cx="4786313" cy="2470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4" name="Picture 2" descr="http://jpkc.zju.edu.cn/k/548/course/images82/image01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5" y="2861945"/>
            <a:ext cx="2286000" cy="230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763395" y="544512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C00000"/>
                </a:solidFill>
                <a:ea typeface="华文宋体"/>
                <a:sym typeface="+mn-ea"/>
              </a:rPr>
              <a:t>畸变仅是像的变形，不影响像的清晰度！</a:t>
            </a:r>
            <a:endParaRPr lang="en-US" altLang="zh-CN" b="1">
              <a:solidFill>
                <a:srgbClr val="C00000"/>
              </a:solidFill>
              <a:ea typeface="华文宋体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75105" y="5949315"/>
            <a:ext cx="43332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正畸变：随着视场的增大，放大倍率增大；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负畸变：随着视场的增大，放大倍率减小。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51460" y="40513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像差</a:t>
            </a:r>
            <a:endParaRPr lang="zh-CN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836930"/>
            <a:ext cx="7406005" cy="1967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）色差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</a:rPr>
              <a:t>）位置色差</a:t>
            </a:r>
            <a:endParaRPr lang="zh-CN" altLang="en-US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ea typeface="宋体" panose="02010600030101010101" pitchFamily="2" charset="-122"/>
              </a:rPr>
              <a:t>     </a:t>
            </a:r>
            <a:r>
              <a:rPr lang="zh-CN" altLang="en-US" sz="1600">
                <a:ea typeface="宋体" panose="02010600030101010101" pitchFamily="2" charset="-122"/>
              </a:rPr>
              <a:t>由于同种材料对不同波长具有不同的折射率，根据单个折射球面的物像位置关系公式  ，对同一物方截距将算出不同的像方截距，导致位置色差。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3213" name="Picture 2" descr="http://jpkc.zju.edu.cn/k/548/course/images83/image002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025" y="116840"/>
            <a:ext cx="1259840" cy="1351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1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68" y="2637155"/>
            <a:ext cx="4510087" cy="1111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23215" y="3861435"/>
            <a:ext cx="7867015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C00000"/>
                </a:solidFill>
              </a:rPr>
              <a:t>（</a:t>
            </a:r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en-US" b="1">
                <a:solidFill>
                  <a:srgbClr val="C00000"/>
                </a:solidFill>
              </a:rPr>
              <a:t>）倍率色差或垂轴色差</a:t>
            </a:r>
            <a:endParaRPr lang="zh-CN" altLang="en-US" b="1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波长变化引起材料的折射率变化，继而引起光学系统轴外点的成像放大倍率变化，像的大小随之变化。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270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30" y="5228908"/>
            <a:ext cx="3429000" cy="1228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765" y="332740"/>
            <a:ext cx="2584450" cy="131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2835,&quot;width&quot;:8370}"/>
</p:tagLst>
</file>

<file path=ppt/tags/tag2.xml><?xml version="1.0" encoding="utf-8"?>
<p:tagLst xmlns:p="http://schemas.openxmlformats.org/presentationml/2006/main">
  <p:tag name="KSO_WPP_MARK_KEY" val="d934f928-44d1-45eb-96d8-85f43343555f"/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1334</Words>
  <Application>WPS 演示</Application>
  <PresentationFormat>全屏显示(4:3)</PresentationFormat>
  <Paragraphs>86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Cambria Math</vt:lpstr>
      <vt:lpstr>MS Mincho</vt:lpstr>
      <vt:lpstr>XcGJSymbol</vt:lpstr>
      <vt:lpstr>Times New Roman</vt:lpstr>
      <vt:lpstr>楷体</vt:lpstr>
      <vt:lpstr>华文宋体</vt:lpstr>
      <vt:lpstr>Trebuchet MS</vt:lpstr>
      <vt:lpstr>黑体</vt:lpstr>
      <vt:lpstr>华文新魏</vt:lpstr>
      <vt:lpstr>Arial Unicode MS</vt:lpstr>
      <vt:lpstr>Calibri</vt:lpstr>
      <vt:lpstr>华丽</vt:lpstr>
      <vt:lpstr>成像光学设计-像差介绍 </vt:lpstr>
      <vt:lpstr>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dpcuser</dc:creator>
  <cp:lastModifiedBy>徐琳琳</cp:lastModifiedBy>
  <cp:revision>423</cp:revision>
  <dcterms:created xsi:type="dcterms:W3CDTF">2017-10-27T02:45:00Z</dcterms:created>
  <dcterms:modified xsi:type="dcterms:W3CDTF">2025-11-27T02:40:56Z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7CB18097D34D4F7A8752110FEC0BC8C8</vt:lpwstr>
  </property>
  <property fmtid="{D5CDD505-2E9C-101B-9397-08002B2CF9AE}" pid="3" name="KSOProductBuildVer">
    <vt:lpwstr>2052-12.1.0.23542</vt:lpwstr>
  </property>
</Properties>
</file>