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4">
  <p:sldMasterIdLst>
    <p:sldMasterId id="2147483648" r:id="rId1"/>
  </p:sldMasterIdLst>
  <p:notesMasterIdLst>
    <p:notesMasterId r:id="rId6"/>
  </p:notesMasterIdLst>
  <p:sldIdLst>
    <p:sldId id="256" r:id="rId3"/>
    <p:sldId id="275" r:id="rId4"/>
    <p:sldId id="276" r:id="rId5"/>
    <p:sldId id="273" r:id="rId7"/>
    <p:sldId id="277" r:id="rId8"/>
  </p:sldIdLst>
  <p:sldSz cx="9144000" cy="6858000" type="screen4x3"/>
  <p:notesSz cx="6858000" cy="9144000"/>
  <p:custDataLst>
    <p:tags r:id="rId1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  <a:srgbClr val="00FF00"/>
    <a:srgbClr val="800000"/>
    <a:srgbClr val="660066"/>
    <a:srgbClr val="FF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15620"/>
    <p:restoredTop sz="94660"/>
  </p:normalViewPr>
  <p:slideViewPr>
    <p:cSldViewPr showGuides="1">
      <p:cViewPr varScale="1">
        <p:scale>
          <a:sx n="108" d="100"/>
          <a:sy n="108" d="100"/>
        </p:scale>
        <p:origin x="1296" y="108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gs" Target="tags/tag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defRPr/>
            </a:pPr>
            <a:r>
              <a:rPr kumimoji="0" lang="zh-CN" altLang="en-US"/>
              <a:t>单击此处编辑母版文本样式</a:t>
            </a:r>
            <a:endParaRPr kumimoji="0"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  <a:endParaRPr lang="zh-CN" altLang="en-US"/>
          </a:p>
          <a:p>
            <a:pPr lvl="1" eaLnBrk="1" latinLnBrk="0" hangingPunct="1"/>
            <a:r>
              <a:rPr lang="zh-CN" altLang="en-US"/>
              <a:t>第二级</a:t>
            </a:r>
            <a:endParaRPr lang="zh-CN" altLang="en-US"/>
          </a:p>
          <a:p>
            <a:pPr lvl="2" eaLnBrk="1" latinLnBrk="0" hangingPunct="1"/>
            <a:r>
              <a:rPr lang="zh-CN" altLang="en-US"/>
              <a:t>第三级</a:t>
            </a:r>
            <a:endParaRPr lang="zh-CN" altLang="en-US"/>
          </a:p>
          <a:p>
            <a:pPr lvl="3" eaLnBrk="1" latinLnBrk="0" hangingPunct="1"/>
            <a:r>
              <a:rPr lang="zh-CN" altLang="en-US"/>
              <a:t>第四级</a:t>
            </a:r>
            <a:endParaRPr lang="zh-CN" altLang="en-US"/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2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  <a:endParaRPr kumimoji="0" lang="zh-CN" altLang="en-US"/>
          </a:p>
          <a:p>
            <a:pPr lvl="1" eaLnBrk="1" latinLnBrk="0" hangingPunct="1"/>
            <a:r>
              <a:rPr kumimoji="0" lang="zh-CN" altLang="en-US"/>
              <a:t>第二级</a:t>
            </a:r>
            <a:endParaRPr kumimoji="0" lang="zh-CN" altLang="en-US"/>
          </a:p>
          <a:p>
            <a:pPr lvl="2" eaLnBrk="1" latinLnBrk="0" hangingPunct="1"/>
            <a:r>
              <a:rPr kumimoji="0" lang="zh-CN" altLang="en-US"/>
              <a:t>第三级</a:t>
            </a:r>
            <a:endParaRPr kumimoji="0" lang="zh-CN" altLang="en-US"/>
          </a:p>
          <a:p>
            <a:pPr lvl="3" eaLnBrk="1" latinLnBrk="0" hangingPunct="1"/>
            <a:r>
              <a:rPr kumimoji="0" lang="zh-CN" altLang="en-US"/>
              <a:t>第四级</a:t>
            </a:r>
            <a:endParaRPr kumimoji="0" lang="zh-CN" altLang="en-US"/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335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825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 panose="05000000000000000000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 panose="05000000000000000000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1930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225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215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 panose="05000000000000000000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2843530" y="1844675"/>
            <a:ext cx="5832475" cy="1420495"/>
          </a:xfrm>
        </p:spPr>
        <p:txBody>
          <a:bodyPr/>
          <a:lstStyle/>
          <a:p>
            <a:pPr algn="l"/>
            <a:r>
              <a:rPr lang="zh-CN" altLang="en-US" cap="none" dirty="0" err="1"/>
              <a:t>实验三、</a:t>
            </a:r>
            <a:r>
              <a:rPr lang="zh-CN" cap="none" dirty="0"/>
              <a:t>显示背光均匀照明设计</a:t>
            </a:r>
            <a:endParaRPr lang="zh-CN" cap="none" dirty="0"/>
          </a:p>
        </p:txBody>
      </p:sp>
      <p:sp>
        <p:nvSpPr>
          <p:cNvPr id="4" name="TextBox 3"/>
          <p:cNvSpPr txBox="1"/>
          <p:nvPr/>
        </p:nvSpPr>
        <p:spPr>
          <a:xfrm>
            <a:off x="1043620" y="188640"/>
            <a:ext cx="677108" cy="6336704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r>
              <a:rPr lang="en-US" altLang="zh-CN" sz="3200" dirty="0">
                <a:solidFill>
                  <a:srgbClr val="0000CC"/>
                </a:solidFill>
              </a:rPr>
              <a:t>《Optical design experiment》</a:t>
            </a:r>
            <a:endParaRPr lang="zh-CN" altLang="en-US" sz="3200" dirty="0">
              <a:solidFill>
                <a:srgbClr val="0000CC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388352" y="4797658"/>
            <a:ext cx="273630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>
                <a:solidFill>
                  <a:srgbClr val="FFFF00"/>
                </a:solidFill>
              </a:rPr>
              <a:t>Teacher: </a:t>
            </a:r>
            <a:r>
              <a:rPr lang="en-US" altLang="zh-CN" sz="2400" dirty="0" err="1">
                <a:solidFill>
                  <a:srgbClr val="FFFF00"/>
                </a:solidFill>
              </a:rPr>
              <a:t>Xu</a:t>
            </a:r>
            <a:r>
              <a:rPr lang="en-US" altLang="zh-CN" sz="2400" dirty="0">
                <a:solidFill>
                  <a:srgbClr val="FFFF00"/>
                </a:solidFill>
              </a:rPr>
              <a:t> </a:t>
            </a:r>
            <a:r>
              <a:rPr lang="en-US" altLang="zh-CN" sz="2400" dirty="0" err="1">
                <a:solidFill>
                  <a:srgbClr val="FFFF00"/>
                </a:solidFill>
              </a:rPr>
              <a:t>linlin</a:t>
            </a:r>
            <a:endParaRPr lang="zh-CN" altLang="en-US" sz="2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文本框 99"/>
          <p:cNvSpPr txBox="1"/>
          <p:nvPr/>
        </p:nvSpPr>
        <p:spPr>
          <a:xfrm>
            <a:off x="1115695" y="620395"/>
            <a:ext cx="6026785" cy="58356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indent="0" algn="ctr">
              <a:buNone/>
            </a:pPr>
            <a:r>
              <a:rPr lang="zh-CN" sz="3200" b="1">
                <a:solidFill>
                  <a:srgbClr val="002060"/>
                </a:solidFill>
                <a:latin typeface="微软雅黑" panose="020B0503020204020204" charset="-122"/>
                <a:ea typeface="微软雅黑" panose="020B0503020204020204" charset="-122"/>
              </a:rPr>
              <a:t>主要内容</a:t>
            </a:r>
            <a:endParaRPr lang="zh-CN" altLang="en-US" sz="3200" b="1">
              <a:solidFill>
                <a:srgbClr val="00206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899160" y="1628775"/>
            <a:ext cx="6026785" cy="230695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显示背光设计背景介绍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实验目的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实验要求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实验步骤</a:t>
            </a:r>
            <a:endParaRPr lang="zh-CN" altLang="en-US" sz="24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07315" y="116840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1. </a:t>
            </a:r>
            <a:r>
              <a:rPr lang="zh-CN" altLang="en-US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显示背光设计背景介绍</a:t>
            </a:r>
            <a:endParaRPr lang="zh-CN" altLang="en-US" sz="2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07315" y="692150"/>
            <a:ext cx="7970520" cy="11404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lnSpc>
                <a:spcPct val="100000"/>
              </a:lnSpc>
              <a:spcBef>
                <a:spcPts val="500"/>
              </a:spcBef>
            </a:pP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1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）液晶显示器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(liquid crystal display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，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LCD)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是目前电视、手机、平板电脑、笔记本电脑以及各类仪器仪表产品最广泛使用的显示部件</a:t>
            </a:r>
            <a:r>
              <a:rPr 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；</a:t>
            </a:r>
            <a:endParaRPr lang="zh-CN" sz="16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  <a:p>
            <a:pPr indent="0" fontAlgn="auto">
              <a:lnSpc>
                <a:spcPct val="100000"/>
              </a:lnSpc>
              <a:spcBef>
                <a:spcPts val="500"/>
              </a:spcBef>
            </a:pP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（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2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）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  <a:sym typeface="+mn-ea"/>
              </a:rPr>
              <a:t>LCD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一般采用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LED 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或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Mini-LED 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作为背光源。</a:t>
            </a:r>
            <a:r>
              <a:rPr lang="en-US" altLang="zh-CN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</a:t>
            </a:r>
            <a:r>
              <a:rPr lang="zh-CN" altLang="en-US" sz="1600" b="1">
                <a:solidFill>
                  <a:srgbClr val="C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根据背光源的发光位置，背光方式分为直下式和侧入式两种。</a:t>
            </a:r>
            <a:endParaRPr lang="zh-CN" altLang="en-US" sz="1600" b="1">
              <a:solidFill>
                <a:srgbClr val="C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7020" y="1988185"/>
            <a:ext cx="4535170" cy="1598930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20" y="4043680"/>
            <a:ext cx="5058410" cy="1161415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0" y="3644583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直下式 </a:t>
            </a:r>
            <a:r>
              <a:rPr lang="en-US" altLang="zh-CN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 </a:t>
            </a:r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背光模组示意图</a:t>
            </a:r>
            <a:endParaRPr lang="zh-CN" altLang="en-US" sz="12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-635" y="5300663"/>
            <a:ext cx="5080000" cy="275590"/>
          </a:xfrm>
          <a:prstGeom prst="rect">
            <a:avLst/>
          </a:prstGeom>
        </p:spPr>
        <p:txBody>
          <a:bodyPr>
            <a:spAutoFit/>
          </a:bodyPr>
          <a:p>
            <a:pPr algn="ctr"/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侧入式 </a:t>
            </a:r>
            <a:r>
              <a:rPr lang="en-US" altLang="zh-CN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LED </a:t>
            </a:r>
            <a:r>
              <a:rPr lang="zh-CN" altLang="en-US" sz="1200" b="1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背光模组示意图</a:t>
            </a:r>
            <a:endParaRPr lang="zh-CN" altLang="en-US" sz="1200" b="1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932045" y="2131695"/>
            <a:ext cx="3110230" cy="129667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spcBef>
                <a:spcPts val="500"/>
              </a:spcBef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优点：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面板尺寸大小可扩展、可实现动态背光技术以提高显示的对比度等；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500"/>
              </a:spcBef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缺点：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混光距离导致背光模组较厚；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500"/>
              </a:spcBef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65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英寸以上大尺寸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LCD 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中得到广泛应用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147945" y="4149090"/>
            <a:ext cx="2948305" cy="1017270"/>
          </a:xfrm>
          <a:prstGeom prst="rect">
            <a:avLst/>
          </a:prstGeom>
        </p:spPr>
        <p:txBody>
          <a:bodyPr wrap="square">
            <a:spAutoFit/>
          </a:bodyPr>
          <a:p>
            <a:pPr indent="0" fontAlgn="auto">
              <a:spcBef>
                <a:spcPts val="500"/>
              </a:spcBef>
            </a:pPr>
            <a:r>
              <a:rPr lang="zh-CN" altLang="en-US" sz="1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优点：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背光模组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厚度小、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LED 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光源数量少、成本相对较低等；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spcBef>
                <a:spcPts val="500"/>
              </a:spcBef>
            </a:pP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65 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英寸以下的中小尺寸</a:t>
            </a:r>
            <a:r>
              <a:rPr lang="en-US" altLang="zh-CN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LCD </a:t>
            </a:r>
            <a:r>
              <a:rPr lang="zh-CN" altLang="en-US" sz="1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中得到广泛应用。</a:t>
            </a:r>
            <a:endParaRPr lang="zh-CN" altLang="en-US" sz="1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1120" y="5661025"/>
            <a:ext cx="8061325" cy="1076325"/>
          </a:xfrm>
          <a:prstGeom prst="rect">
            <a:avLst/>
          </a:prstGeom>
          <a:solidFill>
            <a:schemeClr val="accent1">
              <a:alpha val="23000"/>
            </a:schemeClr>
          </a:solidFill>
          <a:ln w="15875">
            <a:solidFill>
              <a:schemeClr val="accent1">
                <a:alpha val="98000"/>
              </a:schemeClr>
            </a:solidFill>
          </a:ln>
        </p:spPr>
        <p:txBody>
          <a:bodyPr wrap="square">
            <a:spAutoFit/>
          </a:bodyPr>
          <a:p>
            <a:pPr algn="just"/>
            <a:r>
              <a:rPr lang="en-US" altLang="zh-CN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 </a:t>
            </a:r>
            <a:r>
              <a:rPr lang="zh-CN" altLang="en-US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在侧入式 </a:t>
            </a:r>
            <a:r>
              <a:rPr lang="en-US" altLang="zh-CN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LED </a:t>
            </a:r>
            <a:r>
              <a:rPr lang="zh-CN" altLang="en-US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背光模组设计中，导光板是最重要的结构，导光板底部网点形状和分布是影响 </a:t>
            </a:r>
            <a:r>
              <a:rPr lang="en-US" altLang="zh-CN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LCD </a:t>
            </a:r>
            <a:r>
              <a:rPr lang="zh-CN" altLang="en-US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背光出射光均匀性和亮度的关键因素</a:t>
            </a:r>
            <a:r>
              <a:rPr lang="en-US" altLang="zh-CN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 </a:t>
            </a:r>
            <a:r>
              <a:rPr lang="zh-CN" altLang="en-US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本实验将通过仿真导光板底部网点的大小和间隔对</a:t>
            </a:r>
            <a:r>
              <a:rPr lang="en-US" altLang="zh-CN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LCD </a:t>
            </a:r>
            <a:r>
              <a:rPr lang="zh-CN" altLang="en-US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面板出光均匀度的影响，来了解和掌握导光板在背光模组中的重要作用</a:t>
            </a:r>
            <a:r>
              <a:rPr lang="en-US" altLang="zh-CN" sz="1600">
                <a:solidFill>
                  <a:srgbClr val="0000FF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</a:t>
            </a:r>
            <a:endParaRPr lang="en-US" altLang="zh-CN" sz="1600">
              <a:solidFill>
                <a:srgbClr val="0000FF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6"/>
          <p:cNvSpPr txBox="1"/>
          <p:nvPr/>
        </p:nvSpPr>
        <p:spPr>
          <a:xfrm>
            <a:off x="107315" y="40449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2. </a:t>
            </a:r>
            <a:r>
              <a:rPr lang="zh-CN" altLang="en-US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实验目的</a:t>
            </a:r>
            <a:endParaRPr lang="zh-CN" altLang="en-US" sz="2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7315" y="908685"/>
            <a:ext cx="7454265" cy="82994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掌握使用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TracePro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软件进行侧入式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LED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背光均匀照明设计的原理和方法； 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掌握评估和优化侧入式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LED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背光均匀照明的方法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107315" y="217614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3. </a:t>
            </a:r>
            <a:r>
              <a:rPr lang="zh-CN" altLang="en-US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实验要求</a:t>
            </a:r>
            <a:endParaRPr lang="zh-CN" altLang="en-US" sz="2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07315" y="2636520"/>
            <a:ext cx="7760335" cy="3415030"/>
          </a:xfrm>
          <a:prstGeom prst="rect">
            <a:avLst/>
          </a:prstGeom>
        </p:spPr>
        <p:txBody>
          <a:bodyPr wrap="square">
            <a:spAutoFit/>
          </a:bodyPr>
          <a:p>
            <a:pPr indent="-1800225" algn="just" fontAlgn="auto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1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使用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TracePro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软件进行单边侧入式背光源设计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</a:t>
            </a:r>
            <a:endParaRPr lang="en-US" altLang="zh-CN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indent="-1800225" algn="just" fontAlgn="auto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2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背光源导光板的出光面尺寸为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40mm×40mm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，厚度为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5mm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，材质为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PMMA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endParaRPr lang="en-US" altLang="zh-CN" sz="1600">
              <a:solidFill>
                <a:srgbClr val="000000"/>
              </a:solidFill>
              <a:latin typeface="Times New Roman" panose="02020603050405020304"/>
              <a:ea typeface="Times New Roman" panose="02020603050405020304"/>
            </a:endParaRPr>
          </a:p>
          <a:p>
            <a:pPr indent="-1800225" algn="just" fontAlgn="auto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3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采用朗伯型发光的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LED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（商用的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020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白光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LED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作为背光源，单个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LED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的光通量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辐度学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为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0.2W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LED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间的间隔为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13.5mm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。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 LED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与导光板的距离为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0.1mm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indent="-1800225" algn="just" fontAlgn="auto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4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在距离导光板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1mm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处设置观察面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；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indent="-1800225" algn="just" fontAlgn="auto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5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仿真分析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当鳞甲半径分别为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0.1mm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0.15mm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0.2mm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、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0.25mm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和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0.4mm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时观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           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察面上的辐照度均匀度，指出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观察面上的照度均匀度不小于 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</a:rPr>
              <a:t>0.8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</a:rPr>
              <a:t>时的鳞甲半径范围；</a:t>
            </a:r>
            <a:endParaRPr lang="zh-CN" altLang="en-US" sz="1600">
              <a:solidFill>
                <a:srgbClr val="000000"/>
              </a:solidFill>
              <a:latin typeface="Times New Roman" panose="02020603050405020304"/>
              <a:ea typeface="宋体" panose="02010600030101010101" pitchFamily="2" charset="-122"/>
            </a:endParaRPr>
          </a:p>
          <a:p>
            <a:pPr indent="-1800225" algn="just" fontAlgn="auto">
              <a:lnSpc>
                <a:spcPct val="150000"/>
              </a:lnSpc>
            </a:pP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6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) 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在第（</a:t>
            </a:r>
            <a:r>
              <a:rPr lang="en-US" altLang="zh-CN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）点要求中得到的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观察面上的照度均匀度不小于</a:t>
            </a:r>
            <a:r>
              <a:rPr lang="en-US" altLang="zh-CN" sz="1600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sym typeface="+mn-ea"/>
              </a:rPr>
              <a:t>0.8</a:t>
            </a:r>
            <a:r>
              <a:rPr lang="zh-CN" altLang="en-US" sz="1600">
                <a:solidFill>
                  <a:srgbClr val="000000"/>
                </a:solidFill>
                <a:latin typeface="Times New Roman" panose="02020603050405020304"/>
                <a:ea typeface="宋体" panose="02010600030101010101" pitchFamily="2" charset="-122"/>
                <a:sym typeface="+mn-ea"/>
              </a:rPr>
              <a:t>的模型中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，改变鳞甲间隔，分析鳞甲间隔对</a:t>
            </a:r>
            <a:r>
              <a:rPr lang="zh-CN" altLang="en-US" sz="160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观察面上的照度均匀度的影响。</a:t>
            </a:r>
            <a:endParaRPr lang="zh-CN" altLang="en-US" sz="1600">
              <a:solidFill>
                <a:srgbClr val="000000"/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251460" y="188595"/>
            <a:ext cx="4572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zh-CN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4. </a:t>
            </a:r>
            <a:r>
              <a:rPr lang="zh-CN" altLang="en-US" sz="2400" b="1">
                <a:solidFill>
                  <a:srgbClr val="0000CC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实验步骤</a:t>
            </a:r>
            <a:endParaRPr lang="zh-CN" altLang="en-US" sz="2400" b="1">
              <a:solidFill>
                <a:srgbClr val="0000CC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51460" y="797560"/>
            <a:ext cx="7317105" cy="12630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fontAlgn="auto">
              <a:spcBef>
                <a:spcPts val="500"/>
              </a:spcBef>
            </a:pPr>
            <a:r>
              <a:rPr lang="zh-CN" altLang="en-US"/>
              <a:t>第一步：</a:t>
            </a:r>
            <a:r>
              <a:rPr lang="en-US" altLang="zh-CN"/>
              <a:t> </a:t>
            </a:r>
            <a:r>
              <a:rPr lang="zh-CN" altLang="en-US">
                <a:ea typeface="宋体" panose="02010600030101010101" pitchFamily="2" charset="-122"/>
              </a:rPr>
              <a:t>根据</a:t>
            </a:r>
            <a:r>
              <a:rPr lang="en-US" altLang="zh-CN">
                <a:ea typeface="宋体" panose="02010600030101010101" pitchFamily="2" charset="-122"/>
              </a:rPr>
              <a:t>“</a:t>
            </a:r>
            <a:r>
              <a:rPr lang="zh-CN" altLang="en-US"/>
              <a:t>实验三设计参考文件</a:t>
            </a:r>
            <a:r>
              <a:rPr lang="en-US" altLang="zh-CN"/>
              <a:t>1</a:t>
            </a:r>
            <a:r>
              <a:rPr lang="zh-CN" altLang="en-US"/>
              <a:t>：</a:t>
            </a:r>
            <a:r>
              <a:rPr lang="en-US" altLang="zh-CN"/>
              <a:t>LED </a:t>
            </a:r>
            <a:r>
              <a:rPr lang="zh-CN" altLang="en-US"/>
              <a:t>发光模型仿真步骤</a:t>
            </a:r>
            <a:r>
              <a:rPr lang="en-US" altLang="zh-CN"/>
              <a:t>”</a:t>
            </a:r>
            <a:r>
              <a:rPr lang="zh-CN" altLang="en-US">
                <a:ea typeface="宋体" panose="02010600030101010101" pitchFamily="2" charset="-122"/>
              </a:rPr>
              <a:t>练习使用</a:t>
            </a:r>
            <a:r>
              <a:rPr lang="en-US" altLang="zh-CN">
                <a:ea typeface="宋体" panose="02010600030101010101" pitchFamily="2" charset="-122"/>
              </a:rPr>
              <a:t>TracePro </a:t>
            </a:r>
            <a:r>
              <a:rPr lang="zh-CN" altLang="en-US">
                <a:ea typeface="宋体" panose="02010600030101010101" pitchFamily="2" charset="-122"/>
              </a:rPr>
              <a:t>软件建模和仿真</a:t>
            </a:r>
            <a:r>
              <a:rPr lang="en-US" altLang="zh-CN">
                <a:ea typeface="宋体" panose="02010600030101010101" pitchFamily="2" charset="-122"/>
              </a:rPr>
              <a:t>LED</a:t>
            </a:r>
            <a:r>
              <a:rPr lang="zh-CN" altLang="en-US">
                <a:ea typeface="宋体" panose="02010600030101010101" pitchFamily="2" charset="-122"/>
              </a:rPr>
              <a:t>芯片的发光模型；</a:t>
            </a:r>
            <a:endParaRPr lang="zh-CN" altLang="en-US">
              <a:ea typeface="宋体" panose="02010600030101010101" pitchFamily="2" charset="-122"/>
            </a:endParaRPr>
          </a:p>
          <a:p>
            <a:pPr indent="0" fontAlgn="auto">
              <a:spcBef>
                <a:spcPts val="500"/>
              </a:spcBef>
            </a:pPr>
            <a:r>
              <a:rPr lang="zh-CN" altLang="en-US">
                <a:ea typeface="宋体" panose="02010600030101010101" pitchFamily="2" charset="-122"/>
              </a:rPr>
              <a:t>第二步：参考《光学设计仿真实验指导》教材中的案例</a:t>
            </a:r>
            <a:r>
              <a:rPr lang="en-US" altLang="zh-CN">
                <a:ea typeface="宋体" panose="02010600030101010101" pitchFamily="2" charset="-122"/>
              </a:rPr>
              <a:t>3</a:t>
            </a:r>
            <a:r>
              <a:rPr lang="zh-CN" altLang="en-US">
                <a:ea typeface="宋体" panose="02010600030101010101" pitchFamily="2" charset="-122"/>
              </a:rPr>
              <a:t>完成</a:t>
            </a:r>
            <a:r>
              <a:rPr lang="zh-CN" altLang="en-US">
                <a:ea typeface="宋体" panose="02010600030101010101" pitchFamily="2" charset="-122"/>
              </a:rPr>
              <a:t>侧入式显示背光均匀照明实验；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" y="5516880"/>
            <a:ext cx="8113395" cy="1076325"/>
          </a:xfrm>
          <a:prstGeom prst="rect">
            <a:avLst/>
          </a:prstGeom>
        </p:spPr>
        <p:txBody>
          <a:bodyPr wrap="square">
            <a:spAutoFit/>
          </a:bodyPr>
          <a:p>
            <a:pPr algn="just"/>
            <a:r>
              <a:rPr lang="zh-CN" altLang="en-US" sz="1600">
                <a:solidFill>
                  <a:srgbClr val="000000"/>
                </a:solidFill>
                <a:highlight>
                  <a:srgbClr val="FFFF00"/>
                </a:highlight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说明：</a:t>
            </a:r>
            <a:r>
              <a:rPr lang="en-US" altLang="zh-CN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 TracePro </a:t>
            </a:r>
            <a:r>
              <a:rPr lang="zh-CN" alt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光学设计软件是美国 </a:t>
            </a:r>
            <a:r>
              <a:rPr lang="en-US" altLang="zh-CN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Lambda Research </a:t>
            </a:r>
            <a:r>
              <a:rPr lang="zh-CN" alt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公司开发的一款用于照明系统、光学分析、辐射度分析及光度分析的光学仿真软件</a:t>
            </a:r>
            <a:r>
              <a:rPr lang="en-US" altLang="zh-CN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 </a:t>
            </a:r>
            <a:r>
              <a:rPr lang="zh-CN" alt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它是第一套以 </a:t>
            </a:r>
            <a:r>
              <a:rPr lang="en-US" altLang="zh-CN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ACIS Solid Modeling Kernel </a:t>
            </a:r>
            <a:r>
              <a:rPr lang="zh-CN" alt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为基本的光学软件，可结合实体模型来进行光学分析，适用于多种光学设计，如镜头杂散光分析、显示背光、</a:t>
            </a:r>
            <a:r>
              <a:rPr lang="en-US" altLang="zh-CN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LED </a:t>
            </a:r>
            <a:r>
              <a:rPr lang="zh-CN" altLang="en-US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照明、投影以及各种消费性电子产品的光学设计</a:t>
            </a:r>
            <a:r>
              <a:rPr lang="en-US" altLang="zh-CN" sz="1600">
                <a:solidFill>
                  <a:srgbClr val="000000"/>
                </a:solidFill>
                <a:latin typeface="楷体" panose="02010609060101010101" charset="-122"/>
                <a:ea typeface="楷体" panose="02010609060101010101" charset="-122"/>
                <a:cs typeface="楷体" panose="02010609060101010101" charset="-122"/>
              </a:rPr>
              <a:t>. </a:t>
            </a:r>
            <a:endParaRPr lang="zh-CN" altLang="en-US" sz="1600">
              <a:solidFill>
                <a:srgbClr val="000000"/>
              </a:solidFill>
              <a:latin typeface="楷体" panose="02010609060101010101" charset="-122"/>
              <a:ea typeface="楷体" panose="02010609060101010101" charset="-122"/>
              <a:cs typeface="楷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59840" y="5085080"/>
            <a:ext cx="5314950" cy="27559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1200">
                <a:ea typeface="宋体" panose="02010600030101010101" pitchFamily="2" charset="-122"/>
                <a:sym typeface="+mn-ea"/>
              </a:rPr>
              <a:t>侧入式显示背光均匀照明</a:t>
            </a:r>
            <a:r>
              <a:rPr lang="en-US" altLang="zh-CN" sz="1200">
                <a:ea typeface="宋体" panose="02010600030101010101" pitchFamily="2" charset="-122"/>
                <a:sym typeface="+mn-ea"/>
              </a:rPr>
              <a:t>TracePro </a:t>
            </a:r>
            <a:r>
              <a:rPr lang="zh-CN" altLang="en-US" sz="1200">
                <a:ea typeface="宋体" panose="02010600030101010101" pitchFamily="2" charset="-122"/>
                <a:sym typeface="+mn-ea"/>
              </a:rPr>
              <a:t>软件建模的模型</a:t>
            </a:r>
            <a:endParaRPr lang="zh-CN" altLang="en-US" sz="1200">
              <a:ea typeface="宋体" panose="02010600030101010101" pitchFamily="2" charset="-122"/>
              <a:sym typeface="+mn-ea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rcRect l="4430" t="16433"/>
          <a:stretch>
            <a:fillRect/>
          </a:stretch>
        </p:blipFill>
        <p:spPr>
          <a:xfrm>
            <a:off x="179705" y="2501900"/>
            <a:ext cx="7766685" cy="2573655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ZWIyNzc2MjMzNzRkNWUyZGE3ZDc5M2U5NWFlODgxYWQ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0</TotalTime>
  <Words>1293</Words>
  <Application>WPS 演示</Application>
  <PresentationFormat>全屏显示(4:3)</PresentationFormat>
  <Paragraphs>54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宋体</vt:lpstr>
      <vt:lpstr>Wingdings</vt:lpstr>
      <vt:lpstr>Wingdings 2</vt:lpstr>
      <vt:lpstr>Wingdings</vt:lpstr>
      <vt:lpstr>Wingdings</vt:lpstr>
      <vt:lpstr>微软雅黑</vt:lpstr>
      <vt:lpstr>楷体</vt:lpstr>
      <vt:lpstr>Times New Roman</vt:lpstr>
      <vt:lpstr>Trebuchet MS</vt:lpstr>
      <vt:lpstr>黑体</vt:lpstr>
      <vt:lpstr>华文新魏</vt:lpstr>
      <vt:lpstr>XcGJSymbol</vt:lpstr>
      <vt:lpstr>Arial Unicode MS</vt:lpstr>
      <vt:lpstr>Calibri</vt:lpstr>
      <vt:lpstr>华丽</vt:lpstr>
      <vt:lpstr>实验三、显示背光均匀照明设计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dpcuser</dc:creator>
  <cp:lastModifiedBy>徐琳琳</cp:lastModifiedBy>
  <cp:revision>216</cp:revision>
  <dcterms:created xsi:type="dcterms:W3CDTF">2017-10-27T02:45:00Z</dcterms:created>
  <dcterms:modified xsi:type="dcterms:W3CDTF">2025-10-09T07:21:01Z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2052-12.1.0.22529</vt:lpwstr>
  </property>
  <property fmtid="{D5CDD505-2E9C-101B-9397-08002B2CF9AE}" pid="3" name="ICV">
    <vt:lpwstr>05722E9104654373B0301828DA8720A8</vt:lpwstr>
  </property>
</Properties>
</file>