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60" r:id="rId6"/>
    <p:sldId id="258" r:id="rId7"/>
    <p:sldId id="261" r:id="rId8"/>
    <p:sldId id="259" r:id="rId9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63" autoAdjust="0"/>
    <p:restoredTop sz="94660"/>
  </p:normalViewPr>
  <p:slideViewPr>
    <p:cSldViewPr showGuides="1">
      <p:cViewPr varScale="1">
        <p:scale>
          <a:sx n="110" d="100"/>
          <a:sy n="110" d="100"/>
        </p:scale>
        <p:origin x="2064" y="108"/>
      </p:cViewPr>
      <p:guideLst>
        <p:guide orient="horz" pos="2159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825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836003"/>
            <a:ext cx="8001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年光学设计实验课程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第一课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Optical Design Experiments-----1st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3962400"/>
            <a:ext cx="7620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Teacher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000" dirty="0" err="1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Linlin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 XU</a:t>
            </a:r>
            <a:endParaRPr lang="en-US" altLang="zh-CN" sz="2000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Email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xulinalec@163.com</a:t>
            </a:r>
            <a:endParaRPr lang="en-US" altLang="zh-CN" sz="2000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Department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en-US" altLang="zh-CN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Department of Electrical and Electronic Engineering</a:t>
            </a:r>
            <a:endParaRPr lang="zh-CN" altLang="en-US" sz="2000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00400" y="914400"/>
            <a:ext cx="251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7265" y="1828800"/>
            <a:ext cx="46488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sz="2400" b="1" dirty="0">
                <a:solidFill>
                  <a:srgbClr val="002060"/>
                </a:solidFill>
              </a:rPr>
              <a:t>光学设计实验的重要性</a:t>
            </a:r>
            <a:r>
              <a:rPr lang="en-US" altLang="zh-CN" sz="2400" b="1" dirty="0">
                <a:solidFill>
                  <a:srgbClr val="002060"/>
                </a:solidFill>
              </a:rPr>
              <a:t> </a:t>
            </a:r>
            <a:endParaRPr lang="en-US" altLang="zh-CN" sz="2400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sz="2400" b="1" dirty="0">
                <a:solidFill>
                  <a:srgbClr val="002060"/>
                </a:solidFill>
              </a:rPr>
              <a:t>本学期课程项目 </a:t>
            </a:r>
            <a:endParaRPr lang="zh-CN" altLang="en-US" sz="2400" b="1" dirty="0">
              <a:solidFill>
                <a:srgbClr val="002060"/>
              </a:solidFill>
            </a:endParaRP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sz="2400" b="1" dirty="0">
                <a:solidFill>
                  <a:srgbClr val="002060"/>
                </a:solidFill>
              </a:rPr>
              <a:t>课程要求 </a:t>
            </a:r>
            <a:r>
              <a:rPr lang="en-US" altLang="zh-CN" sz="2400" b="1" dirty="0">
                <a:solidFill>
                  <a:srgbClr val="002060"/>
                </a:solidFill>
              </a:rPr>
              <a:t> </a:t>
            </a:r>
            <a:endParaRPr lang="en-US" altLang="zh-CN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8600" y="1066800"/>
            <a:ext cx="87052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1D41D5"/>
                </a:solidFill>
              </a:rPr>
              <a:t>光学系统</a:t>
            </a:r>
            <a:r>
              <a:rPr lang="zh-CN" altLang="en-US" dirty="0"/>
              <a:t>是光学仪器、器件或设备的关键组成部分。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sym typeface="+mn-ea"/>
              </a:rPr>
              <a:t>光学设计</a:t>
            </a:r>
            <a:r>
              <a:rPr lang="zh-CN" altLang="en-US" dirty="0">
                <a:sym typeface="+mn-ea"/>
              </a:rPr>
              <a:t>，其实就是对光学系统的设计。</a:t>
            </a:r>
            <a:endParaRPr lang="zh-CN" altLang="en-US" dirty="0"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通过</a:t>
            </a:r>
            <a:r>
              <a:rPr lang="zh-CN" altLang="en-US" b="1" dirty="0">
                <a:solidFill>
                  <a:srgbClr val="FF0000"/>
                </a:solidFill>
              </a:rPr>
              <a:t>光学设计实验</a:t>
            </a:r>
            <a:r>
              <a:rPr lang="zh-CN" altLang="en-US" dirty="0"/>
              <a:t>，</a:t>
            </a:r>
            <a:r>
              <a:rPr lang="zh-CN" altLang="en-US" b="1" dirty="0">
                <a:sym typeface="+mn-ea"/>
              </a:rPr>
              <a:t>加深</a:t>
            </a:r>
            <a:r>
              <a:rPr lang="zh-CN" altLang="en-US" dirty="0">
                <a:sym typeface="+mn-ea"/>
              </a:rPr>
              <a:t>对光学系统工作原理的理解，</a:t>
            </a:r>
            <a:r>
              <a:rPr lang="zh-CN" altLang="en-US" b="1" dirty="0"/>
              <a:t>掌握</a:t>
            </a:r>
            <a:r>
              <a:rPr lang="zh-CN" altLang="en-US" dirty="0"/>
              <a:t>光学系统设计的原理和方法。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228600" y="2819400"/>
            <a:ext cx="87052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 dirty="0"/>
              <a:t>非成像光学设计</a:t>
            </a:r>
            <a:endParaRPr lang="zh-CN" altLang="en-US" b="1" dirty="0"/>
          </a:p>
          <a:p>
            <a:pPr indent="-285750" fontAlgn="auto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道路照明、室内照明、显示器背光照明、太阳能集光、各种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LED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照明等光学系统设计。。。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 dirty="0"/>
              <a:t>成像光学设计</a:t>
            </a:r>
            <a:endParaRPr lang="zh-CN" altLang="en-US" b="1" dirty="0"/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显微镜、望远镜、照相机、摄影机、投影仪、扫描仪、摄谱仪、各种镜头、各种镜片等光学系统的设计。。。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b="1" dirty="0">
                <a:sym typeface="+mn-ea"/>
              </a:rPr>
              <a:t>光电精密测量系统</a:t>
            </a:r>
            <a:endParaRPr lang="zh-CN" altLang="en-US" b="1" dirty="0"/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显微测量系统。。。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200" y="533400"/>
            <a:ext cx="35864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42900" indent="-342900" algn="l">
              <a:spcBef>
                <a:spcPts val="600"/>
              </a:spcBef>
              <a:buFontTx/>
              <a:buAutoNum type="arabicPeriod"/>
            </a:pPr>
            <a:r>
              <a:rPr sz="2400" b="1" dirty="0">
                <a:solidFill>
                  <a:srgbClr val="C00000"/>
                </a:solidFill>
                <a:sym typeface="+mn-ea"/>
              </a:rPr>
              <a:t>光学设计</a:t>
            </a:r>
            <a:r>
              <a:rPr lang="zh-CN" sz="2400" b="1" dirty="0">
                <a:solidFill>
                  <a:srgbClr val="C00000"/>
                </a:solidFill>
                <a:sym typeface="+mn-ea"/>
              </a:rPr>
              <a:t>实验</a:t>
            </a:r>
            <a:r>
              <a:rPr sz="2400" b="1" dirty="0">
                <a:solidFill>
                  <a:srgbClr val="C00000"/>
                </a:solidFill>
                <a:sym typeface="+mn-ea"/>
              </a:rPr>
              <a:t>的</a:t>
            </a:r>
            <a:r>
              <a:rPr lang="zh-CN" sz="2400" b="1" dirty="0">
                <a:solidFill>
                  <a:srgbClr val="C00000"/>
                </a:solidFill>
                <a:sym typeface="+mn-ea"/>
              </a:rPr>
              <a:t>重要性</a:t>
            </a:r>
            <a:endParaRPr sz="2400" b="1" dirty="0">
              <a:solidFill>
                <a:srgbClr val="C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3400" y="860822"/>
            <a:ext cx="8458200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1</a:t>
            </a:r>
            <a:r>
              <a:rPr lang="zh-CN" altLang="en-US" sz="1600" dirty="0">
                <a:solidFill>
                  <a:srgbClr val="002060"/>
                </a:solidFill>
              </a:rPr>
              <a:t>）实验一、</a:t>
            </a:r>
            <a:r>
              <a:rPr lang="en-US" altLang="zh-CN" sz="1600" dirty="0">
                <a:solidFill>
                  <a:srgbClr val="002060"/>
                </a:solidFill>
              </a:rPr>
              <a:t>DIALUX</a:t>
            </a:r>
            <a:r>
              <a:rPr lang="zh-CN" altLang="en-US" sz="1600" dirty="0">
                <a:solidFill>
                  <a:srgbClr val="002060"/>
                </a:solidFill>
              </a:rPr>
              <a:t>道路照明设计</a:t>
            </a:r>
            <a:r>
              <a:rPr lang="en-US" altLang="zh-CN" sz="1400" dirty="0">
                <a:solidFill>
                  <a:srgbClr val="002060"/>
                </a:solidFill>
              </a:rPr>
              <a:t>----------------------------------------------------DIALUX</a:t>
            </a:r>
            <a:r>
              <a:rPr lang="zh-CN" altLang="en-US" sz="1400" dirty="0">
                <a:solidFill>
                  <a:srgbClr val="002060"/>
                </a:solidFill>
              </a:rPr>
              <a:t>软件</a:t>
            </a:r>
            <a:endParaRPr lang="en-US" altLang="zh-CN" sz="14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       </a:t>
            </a:r>
            <a:r>
              <a:rPr lang="en-US" altLang="zh-CN" sz="1600" dirty="0" err="1">
                <a:solidFill>
                  <a:srgbClr val="002060"/>
                </a:solidFill>
              </a:rPr>
              <a:t>Exp</a:t>
            </a:r>
            <a:r>
              <a:rPr lang="en-US" altLang="zh-CN" sz="1600" dirty="0">
                <a:solidFill>
                  <a:srgbClr val="002060"/>
                </a:solidFill>
              </a:rPr>
              <a:t> 1: Road lighting design based on DIALUX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2</a:t>
            </a:r>
            <a:r>
              <a:rPr lang="zh-CN" altLang="en-US" sz="1600" dirty="0">
                <a:solidFill>
                  <a:srgbClr val="002060"/>
                </a:solidFill>
              </a:rPr>
              <a:t>）实验二、</a:t>
            </a:r>
            <a:r>
              <a:rPr lang="en-US" altLang="zh-CN" sz="1600" dirty="0" err="1">
                <a:solidFill>
                  <a:srgbClr val="002060"/>
                </a:solidFill>
              </a:rPr>
              <a:t>Solidworks</a:t>
            </a:r>
            <a:r>
              <a:rPr lang="zh-CN" altLang="en-US" sz="1600" dirty="0">
                <a:solidFill>
                  <a:srgbClr val="002060"/>
                </a:solidFill>
              </a:rPr>
              <a:t>学习及相关案例设计</a:t>
            </a:r>
            <a:r>
              <a:rPr lang="en-US" altLang="zh-CN" sz="1400" dirty="0">
                <a:solidFill>
                  <a:srgbClr val="002060"/>
                </a:solidFill>
              </a:rPr>
              <a:t>----------------------------------------</a:t>
            </a:r>
            <a:r>
              <a:rPr lang="en-US" altLang="zh-CN" sz="1400" dirty="0" err="1">
                <a:solidFill>
                  <a:srgbClr val="002060"/>
                </a:solidFill>
              </a:rPr>
              <a:t>Solidworks</a:t>
            </a:r>
            <a:r>
              <a:rPr lang="zh-CN" altLang="en-US" sz="1400" dirty="0">
                <a:solidFill>
                  <a:srgbClr val="002060"/>
                </a:solidFill>
              </a:rPr>
              <a:t>软件</a:t>
            </a:r>
            <a:endParaRPr lang="en-US" altLang="zh-CN" sz="14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       </a:t>
            </a:r>
            <a:r>
              <a:rPr lang="en-US" altLang="zh-CN" sz="1600" dirty="0" err="1">
                <a:solidFill>
                  <a:srgbClr val="002060"/>
                </a:solidFill>
              </a:rPr>
              <a:t>Exp</a:t>
            </a:r>
            <a:r>
              <a:rPr lang="en-US" altLang="zh-CN" sz="1600" dirty="0">
                <a:solidFill>
                  <a:srgbClr val="002060"/>
                </a:solidFill>
              </a:rPr>
              <a:t> 2: </a:t>
            </a:r>
            <a:r>
              <a:rPr lang="en-US" altLang="zh-CN" sz="1600" dirty="0" err="1">
                <a:solidFill>
                  <a:srgbClr val="002060"/>
                </a:solidFill>
              </a:rPr>
              <a:t>Solidworks</a:t>
            </a:r>
            <a:r>
              <a:rPr lang="en-US" altLang="zh-CN" sz="1600" dirty="0">
                <a:solidFill>
                  <a:srgbClr val="002060"/>
                </a:solidFill>
              </a:rPr>
              <a:t> learning and related case design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3</a:t>
            </a:r>
            <a:r>
              <a:rPr lang="zh-CN" altLang="en-US" sz="1600" dirty="0">
                <a:solidFill>
                  <a:srgbClr val="002060"/>
                </a:solidFill>
              </a:rPr>
              <a:t>）实验三、侧入式</a:t>
            </a:r>
            <a:r>
              <a:rPr lang="en-US" altLang="zh-CN" sz="1600" dirty="0">
                <a:solidFill>
                  <a:srgbClr val="002060"/>
                </a:solidFill>
              </a:rPr>
              <a:t>LCD</a:t>
            </a:r>
            <a:r>
              <a:rPr lang="zh-CN" altLang="en-US" sz="1600" dirty="0">
                <a:solidFill>
                  <a:srgbClr val="002060"/>
                </a:solidFill>
              </a:rPr>
              <a:t>背光源设计</a:t>
            </a:r>
            <a:r>
              <a:rPr lang="en-US" altLang="zh-CN" sz="1400" dirty="0">
                <a:solidFill>
                  <a:srgbClr val="002060"/>
                </a:solidFill>
              </a:rPr>
              <a:t>----------------------------------------------------</a:t>
            </a:r>
            <a:r>
              <a:rPr lang="en-US" altLang="zh-CN" sz="1400" dirty="0" err="1">
                <a:solidFill>
                  <a:srgbClr val="002060"/>
                </a:solidFill>
              </a:rPr>
              <a:t>TracePro</a:t>
            </a:r>
            <a:r>
              <a:rPr lang="zh-CN" altLang="en-US" sz="1400" dirty="0">
                <a:solidFill>
                  <a:srgbClr val="002060"/>
                </a:solidFill>
              </a:rPr>
              <a:t>软件</a:t>
            </a:r>
            <a:endParaRPr lang="en-US" altLang="zh-CN" sz="14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       </a:t>
            </a:r>
            <a:r>
              <a:rPr lang="en-US" altLang="zh-CN" sz="1600" dirty="0" err="1">
                <a:solidFill>
                  <a:srgbClr val="002060"/>
                </a:solidFill>
              </a:rPr>
              <a:t>Exp</a:t>
            </a:r>
            <a:r>
              <a:rPr lang="en-US" altLang="zh-CN" sz="1600" dirty="0">
                <a:solidFill>
                  <a:srgbClr val="002060"/>
                </a:solidFill>
              </a:rPr>
              <a:t> 3: Design of side entry LCD backlight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4</a:t>
            </a:r>
            <a:r>
              <a:rPr lang="zh-CN" altLang="en-US" sz="1600" dirty="0">
                <a:solidFill>
                  <a:srgbClr val="002060"/>
                </a:solidFill>
              </a:rPr>
              <a:t>）实验四、单点光源圆光斑自由曲面透镜设计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       </a:t>
            </a:r>
            <a:r>
              <a:rPr lang="en-US" altLang="zh-CN" sz="1600" dirty="0" err="1">
                <a:solidFill>
                  <a:srgbClr val="002060"/>
                </a:solidFill>
              </a:rPr>
              <a:t>Exp</a:t>
            </a:r>
            <a:r>
              <a:rPr lang="en-US" altLang="zh-CN" sz="1600" dirty="0">
                <a:solidFill>
                  <a:srgbClr val="002060"/>
                </a:solidFill>
              </a:rPr>
              <a:t> 4: Design of  round light spot free lens of single point light source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5</a:t>
            </a:r>
            <a:r>
              <a:rPr lang="zh-CN" altLang="en-US" sz="1600" dirty="0">
                <a:solidFill>
                  <a:srgbClr val="002060"/>
                </a:solidFill>
              </a:rPr>
              <a:t>）实验五、阵列</a:t>
            </a:r>
            <a:r>
              <a:rPr lang="en-US" altLang="zh-CN" sz="1600" dirty="0">
                <a:solidFill>
                  <a:srgbClr val="002060"/>
                </a:solidFill>
              </a:rPr>
              <a:t>LED</a:t>
            </a:r>
            <a:r>
              <a:rPr lang="zh-CN" altLang="en-US" sz="1600" dirty="0">
                <a:solidFill>
                  <a:srgbClr val="002060"/>
                </a:solidFill>
              </a:rPr>
              <a:t>光斑自由曲面透镜设计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sz="1600" dirty="0">
                <a:solidFill>
                  <a:srgbClr val="002060"/>
                </a:solidFill>
              </a:rPr>
              <a:t>       </a:t>
            </a:r>
            <a:r>
              <a:rPr lang="en-US" altLang="zh-CN" sz="1600" dirty="0" err="1">
                <a:solidFill>
                  <a:srgbClr val="002060"/>
                </a:solidFill>
              </a:rPr>
              <a:t>Exp</a:t>
            </a:r>
            <a:r>
              <a:rPr lang="en-US" altLang="zh-CN" sz="1600" dirty="0">
                <a:solidFill>
                  <a:srgbClr val="002060"/>
                </a:solidFill>
              </a:rPr>
              <a:t> 5: Free lens design of array LEDs for uniform illumination</a:t>
            </a:r>
            <a:endParaRPr lang="en-US" altLang="zh-CN" sz="1600" dirty="0">
              <a:solidFill>
                <a:srgbClr val="002060"/>
              </a:solidFill>
            </a:endParaRPr>
          </a:p>
          <a:p>
            <a:pPr marL="360045" fontAlgn="auto">
              <a:spcBef>
                <a:spcPts val="1200"/>
              </a:spcBef>
            </a:pPr>
            <a:r>
              <a:rPr lang="en-US" altLang="zh-CN" sz="1600" dirty="0"/>
              <a:t>6</a:t>
            </a:r>
            <a:r>
              <a:rPr lang="zh-CN" altLang="en-US" sz="1600" dirty="0"/>
              <a:t>）实验六、</a:t>
            </a:r>
            <a:r>
              <a:rPr lang="zh-CN" sz="1600" dirty="0"/>
              <a:t>三片式摄影物镜设计</a:t>
            </a:r>
            <a:endParaRPr lang="zh-CN" sz="1600" dirty="0"/>
          </a:p>
          <a:p>
            <a:pPr marL="360045">
              <a:spcBef>
                <a:spcPts val="600"/>
              </a:spcBef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Exp</a:t>
            </a:r>
            <a:r>
              <a:rPr lang="en-US" altLang="zh-CN" sz="1600" dirty="0"/>
              <a:t> 6: Three-piece photographic objective design</a:t>
            </a:r>
            <a:endParaRPr lang="en-US" altLang="zh-CN" sz="1600" dirty="0"/>
          </a:p>
          <a:p>
            <a:pPr marL="360045">
              <a:spcBef>
                <a:spcPts val="600"/>
              </a:spcBef>
            </a:pPr>
            <a:r>
              <a:rPr lang="en-US" altLang="zh-CN" sz="1600" dirty="0"/>
              <a:t>7</a:t>
            </a:r>
            <a:r>
              <a:rPr lang="zh-CN" altLang="en-US" sz="1600" dirty="0"/>
              <a:t>）实验七、显微镜设计</a:t>
            </a:r>
            <a:endParaRPr lang="en-US" altLang="zh-CN" sz="1600" dirty="0"/>
          </a:p>
          <a:p>
            <a:pPr marL="360045">
              <a:spcBef>
                <a:spcPts val="600"/>
              </a:spcBef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Exp</a:t>
            </a:r>
            <a:r>
              <a:rPr lang="en-US" altLang="zh-CN" sz="1600" dirty="0"/>
              <a:t> 7: Microscope design</a:t>
            </a:r>
            <a:endParaRPr lang="en-US" altLang="zh-CN" sz="1600" dirty="0"/>
          </a:p>
          <a:p>
            <a:pPr marL="360045">
              <a:spcBef>
                <a:spcPts val="600"/>
              </a:spcBef>
            </a:pPr>
            <a:r>
              <a:rPr lang="en-US" altLang="zh-CN" sz="1600" dirty="0"/>
              <a:t>8</a:t>
            </a:r>
            <a:r>
              <a:rPr lang="zh-CN" altLang="en-US" sz="1600" dirty="0"/>
              <a:t>）实验八、变焦镜头设计</a:t>
            </a:r>
            <a:endParaRPr lang="en-US" altLang="zh-CN" sz="1600" dirty="0"/>
          </a:p>
          <a:p>
            <a:pPr marL="360045">
              <a:spcBef>
                <a:spcPts val="600"/>
              </a:spcBef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Exp</a:t>
            </a:r>
            <a:r>
              <a:rPr lang="en-US" altLang="zh-CN" sz="1600" dirty="0"/>
              <a:t> 8: Zoom lens design</a:t>
            </a:r>
            <a:endParaRPr lang="en-US" altLang="zh-CN" sz="1600" dirty="0"/>
          </a:p>
        </p:txBody>
      </p:sp>
      <p:sp>
        <p:nvSpPr>
          <p:cNvPr id="2" name="右大括号 1"/>
          <p:cNvSpPr/>
          <p:nvPr/>
        </p:nvSpPr>
        <p:spPr>
          <a:xfrm>
            <a:off x="7162800" y="2895600"/>
            <a:ext cx="190500" cy="1066800"/>
          </a:xfrm>
          <a:prstGeom prst="rightBrace">
            <a:avLst>
              <a:gd name="adj1" fmla="val 30555"/>
              <a:gd name="adj2" fmla="val 507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391400" y="3060263"/>
            <a:ext cx="993140" cy="737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>
                <a:solidFill>
                  <a:srgbClr val="002060"/>
                </a:solidFill>
              </a:rPr>
              <a:t>Matlab,</a:t>
            </a:r>
            <a:endParaRPr lang="en-US" altLang="zh-CN" sz="1400" dirty="0" err="1">
              <a:solidFill>
                <a:srgbClr val="002060"/>
              </a:solidFill>
            </a:endParaRPr>
          </a:p>
          <a:p>
            <a:r>
              <a:rPr lang="en-US" altLang="zh-CN" sz="1400" dirty="0" err="1">
                <a:solidFill>
                  <a:srgbClr val="002060"/>
                </a:solidFill>
              </a:rPr>
              <a:t>Solidworks</a:t>
            </a:r>
            <a:endParaRPr lang="en-US" altLang="zh-CN" sz="1400" dirty="0" err="1">
              <a:solidFill>
                <a:srgbClr val="002060"/>
              </a:solidFill>
            </a:endParaRPr>
          </a:p>
          <a:p>
            <a:r>
              <a:rPr lang="en-US" altLang="zh-CN" sz="1400" dirty="0" err="1">
                <a:solidFill>
                  <a:srgbClr val="002060"/>
                </a:solidFill>
              </a:rPr>
              <a:t>&amp;TracePro</a:t>
            </a:r>
            <a:endParaRPr lang="zh-CN" altLang="en-US" sz="1400" dirty="0">
              <a:solidFill>
                <a:srgbClr val="002060"/>
              </a:solidFill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7162800" y="4267200"/>
            <a:ext cx="190500" cy="1676400"/>
          </a:xfrm>
          <a:prstGeom prst="rightBrace">
            <a:avLst>
              <a:gd name="adj1" fmla="val 30555"/>
              <a:gd name="adj2" fmla="val 507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371043" y="4950023"/>
            <a:ext cx="104227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err="1">
                <a:solidFill>
                  <a:srgbClr val="002060"/>
                </a:solidFill>
              </a:rPr>
              <a:t>SeeOD</a:t>
            </a:r>
            <a:endParaRPr lang="en-US" altLang="zh-CN" sz="1400" dirty="0">
              <a:solidFill>
                <a:srgbClr val="002060"/>
              </a:solidFill>
            </a:endParaRPr>
          </a:p>
          <a:p>
            <a:pPr algn="ctr"/>
            <a:r>
              <a:rPr lang="en-US" altLang="zh-CN" sz="1400" dirty="0">
                <a:solidFill>
                  <a:srgbClr val="002060"/>
                </a:solidFill>
              </a:rPr>
              <a:t>&amp;</a:t>
            </a:r>
            <a:endParaRPr lang="en-US" altLang="zh-CN" sz="1400" dirty="0">
              <a:solidFill>
                <a:srgbClr val="002060"/>
              </a:solidFill>
            </a:endParaRPr>
          </a:p>
          <a:p>
            <a:pPr algn="ctr"/>
            <a:r>
              <a:rPr lang="en-US" altLang="zh-CN" sz="1400" dirty="0" err="1">
                <a:solidFill>
                  <a:srgbClr val="002060"/>
                </a:solidFill>
              </a:rPr>
              <a:t>Zemax</a:t>
            </a:r>
            <a:r>
              <a:rPr lang="zh-CN" altLang="en-US" sz="1400" dirty="0">
                <a:solidFill>
                  <a:srgbClr val="002060"/>
                </a:solidFill>
              </a:rPr>
              <a:t>软件</a:t>
            </a:r>
            <a:endParaRPr lang="zh-CN" altLang="en-US" sz="1400" dirty="0">
              <a:solidFill>
                <a:srgbClr val="00206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" y="439420"/>
            <a:ext cx="58959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indent="0">
              <a:spcBef>
                <a:spcPts val="600"/>
              </a:spcBef>
              <a:buFontTx/>
              <a:buNone/>
            </a:pPr>
            <a:r>
              <a:rPr lang="en-US" altLang="zh-CN" b="1" dirty="0">
                <a:solidFill>
                  <a:srgbClr val="002060"/>
                </a:solidFill>
                <a:sym typeface="+mn-ea"/>
              </a:rPr>
              <a:t>2. </a:t>
            </a:r>
            <a:r>
              <a:rPr lang="zh-CN" altLang="en-US" b="1" dirty="0">
                <a:solidFill>
                  <a:srgbClr val="002060"/>
                </a:solidFill>
                <a:sym typeface="+mn-ea"/>
              </a:rPr>
              <a:t>本学期课程项目 </a:t>
            </a:r>
            <a:r>
              <a:rPr lang="en-US" altLang="zh-CN" b="1" dirty="0">
                <a:solidFill>
                  <a:srgbClr val="002060"/>
                </a:solidFill>
                <a:sym typeface="+mn-ea"/>
              </a:rPr>
              <a:t>Course experimental projects this term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04800" y="807720"/>
            <a:ext cx="8486140" cy="3276600"/>
            <a:chOff x="840" y="1270"/>
            <a:chExt cx="13364" cy="5160"/>
          </a:xfrm>
        </p:grpSpPr>
        <p:sp>
          <p:nvSpPr>
            <p:cNvPr id="9" name="矩形 8"/>
            <p:cNvSpPr/>
            <p:nvPr/>
          </p:nvSpPr>
          <p:spPr>
            <a:xfrm>
              <a:off x="1680" y="1270"/>
              <a:ext cx="12525" cy="516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840" y="2040"/>
              <a:ext cx="840" cy="336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非成像光学设计</a:t>
              </a:r>
              <a:endParaRPr lang="zh-CN" altLang="en-US" b="1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04800" y="4119245"/>
            <a:ext cx="8486775" cy="1969135"/>
            <a:chOff x="840" y="6487"/>
            <a:chExt cx="13365" cy="3101"/>
          </a:xfrm>
        </p:grpSpPr>
        <p:sp>
          <p:nvSpPr>
            <p:cNvPr id="11" name="矩形 10"/>
            <p:cNvSpPr/>
            <p:nvPr/>
          </p:nvSpPr>
          <p:spPr>
            <a:xfrm>
              <a:off x="1680" y="6487"/>
              <a:ext cx="12525" cy="3101"/>
            </a:xfrm>
            <a:prstGeom prst="rect">
              <a:avLst/>
            </a:prstGeom>
            <a:solidFill>
              <a:srgbClr val="00B0F0">
                <a:alpha val="12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840" y="6671"/>
              <a:ext cx="840" cy="2767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/>
                <a:t>成像光学设计</a:t>
              </a:r>
              <a:endParaRPr lang="zh-CN" alt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7526" t="1411" r="11571" b="15334"/>
          <a:stretch>
            <a:fillRect/>
          </a:stretch>
        </p:blipFill>
        <p:spPr>
          <a:xfrm>
            <a:off x="2515235" y="457835"/>
            <a:ext cx="3942715" cy="5409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" y="533400"/>
            <a:ext cx="8610600" cy="4646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3. </a:t>
            </a:r>
            <a:r>
              <a:rPr lang="zh-CN" altLang="en-US" sz="2400" b="1" dirty="0">
                <a:solidFill>
                  <a:srgbClr val="C00000"/>
                </a:solidFill>
              </a:rPr>
              <a:t>课程要求 </a:t>
            </a:r>
            <a:r>
              <a:rPr lang="en-US" altLang="zh-CN" sz="2400" b="1" dirty="0">
                <a:solidFill>
                  <a:srgbClr val="C00000"/>
                </a:solidFill>
              </a:rPr>
              <a:t>Requirements for the course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360045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）不来上课必须请假，且请假要有正当理由；</a:t>
            </a:r>
            <a:endParaRPr lang="en-US" altLang="zh-CN" dirty="0"/>
          </a:p>
          <a:p>
            <a:pPr marL="720090">
              <a:spcBef>
                <a:spcPts val="600"/>
              </a:spcBef>
            </a:pPr>
            <a:r>
              <a:rPr lang="en-US" altLang="zh-CN" dirty="0"/>
              <a:t>If you don't come to class, you must ask for leave, and you should have a good reason to ask for leave.</a:t>
            </a:r>
            <a:endParaRPr lang="en-US" altLang="zh-CN" dirty="0"/>
          </a:p>
          <a:p>
            <a:pPr marL="360045">
              <a:spcBef>
                <a:spcPts val="600"/>
              </a:spcBef>
            </a:pPr>
            <a:r>
              <a:rPr lang="en-US" altLang="zh-CN" dirty="0"/>
              <a:t>2</a:t>
            </a:r>
            <a:r>
              <a:rPr lang="zh-CN" altLang="en-US" dirty="0"/>
              <a:t>）迟到者、旷课者不单独讲解实验内容；</a:t>
            </a:r>
            <a:endParaRPr lang="en-US" altLang="zh-CN" dirty="0"/>
          </a:p>
          <a:p>
            <a:pPr marL="720090">
              <a:spcBef>
                <a:spcPts val="600"/>
              </a:spcBef>
            </a:pPr>
            <a:r>
              <a:rPr lang="en-US" altLang="zh-CN" dirty="0"/>
              <a:t>I will not explain the experiment content for  latecomers and absentees separately.</a:t>
            </a:r>
            <a:endParaRPr lang="en-US" altLang="zh-CN" dirty="0"/>
          </a:p>
          <a:p>
            <a:pPr marL="360045">
              <a:spcBef>
                <a:spcPts val="600"/>
              </a:spcBef>
            </a:pPr>
            <a:r>
              <a:rPr lang="en-US" altLang="zh-CN" dirty="0"/>
              <a:t>3</a:t>
            </a:r>
            <a:r>
              <a:rPr lang="zh-CN" altLang="en-US" dirty="0"/>
              <a:t>）按时按要求提交每个实验报告；</a:t>
            </a:r>
            <a:endParaRPr lang="en-US" altLang="zh-CN" dirty="0"/>
          </a:p>
          <a:p>
            <a:pPr marL="720090">
              <a:spcBef>
                <a:spcPts val="600"/>
              </a:spcBef>
            </a:pPr>
            <a:r>
              <a:rPr lang="en-US" altLang="zh-CN" dirty="0"/>
              <a:t>Submit each experiment report on time as required.</a:t>
            </a:r>
            <a:endParaRPr lang="en-US" altLang="zh-CN" dirty="0"/>
          </a:p>
          <a:p>
            <a:pPr marL="360045">
              <a:spcBef>
                <a:spcPts val="600"/>
              </a:spcBef>
            </a:pPr>
            <a:r>
              <a:rPr lang="en-US" altLang="zh-CN" dirty="0"/>
              <a:t>4</a:t>
            </a:r>
            <a:r>
              <a:rPr lang="zh-CN" altLang="en-US" dirty="0"/>
              <a:t>）不能在教室吃东西；</a:t>
            </a:r>
            <a:endParaRPr lang="en-US" altLang="zh-CN" dirty="0"/>
          </a:p>
          <a:p>
            <a:pPr marL="720090">
              <a:spcBef>
                <a:spcPts val="600"/>
              </a:spcBef>
            </a:pPr>
            <a:r>
              <a:rPr lang="en-US" altLang="zh-CN" dirty="0"/>
              <a:t>Eating is forbidden in the classroom.</a:t>
            </a:r>
            <a:endParaRPr lang="en-US" altLang="zh-CN" dirty="0"/>
          </a:p>
          <a:p>
            <a:pPr marL="360045">
              <a:spcBef>
                <a:spcPts val="600"/>
              </a:spcBef>
            </a:pPr>
            <a:r>
              <a:rPr lang="en-US" altLang="zh-CN" dirty="0"/>
              <a:t>5</a:t>
            </a:r>
            <a:r>
              <a:rPr lang="zh-CN" altLang="en-US" dirty="0"/>
              <a:t>）注意用电安全；</a:t>
            </a:r>
            <a:endParaRPr lang="en-US" altLang="zh-CN" dirty="0"/>
          </a:p>
          <a:p>
            <a:pPr marL="720090">
              <a:spcBef>
                <a:spcPts val="600"/>
              </a:spcBef>
            </a:pPr>
            <a:r>
              <a:rPr lang="en-US" altLang="zh-CN" dirty="0"/>
              <a:t>Pay attention to electricity safety.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WY0MjcyYTk3ZTNmZDEyODJkNzk2M2Q2MDU5YWY4Mz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1654</Words>
  <Application>WPS 演示</Application>
  <PresentationFormat>全屏显示(4:3)</PresentationFormat>
  <Paragraphs>71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Wingdings 2</vt:lpstr>
      <vt:lpstr>Wingdings</vt:lpstr>
      <vt:lpstr>微软雅黑</vt:lpstr>
      <vt:lpstr>Times New Roman</vt:lpstr>
      <vt:lpstr>Perpetua</vt:lpstr>
      <vt:lpstr>Arial Unicode MS</vt:lpstr>
      <vt:lpstr>Franklin Gothic Book</vt:lpstr>
      <vt:lpstr>幼圆</vt:lpstr>
      <vt:lpstr>Calibri</vt:lpstr>
      <vt:lpstr>Impact</vt:lpstr>
      <vt:lpstr>平衡</vt:lpstr>
      <vt:lpstr>NewsPrint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徐琳琳</cp:lastModifiedBy>
  <cp:revision>75</cp:revision>
  <dcterms:created xsi:type="dcterms:W3CDTF">2006-08-16T00:00:00Z</dcterms:created>
  <dcterms:modified xsi:type="dcterms:W3CDTF">2025-09-11T07:24:53Z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D4D15660481E46519E7408AA2CD6AD91</vt:lpwstr>
  </property>
  <property fmtid="{D5CDD505-2E9C-101B-9397-08002B2CF9AE}" pid="3" name="KSOProductBuildVer">
    <vt:lpwstr>2052-12.1.0.22529</vt:lpwstr>
  </property>
</Properties>
</file>