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9" r:id="rId3"/>
    <p:sldId id="268" r:id="rId4"/>
    <p:sldId id="287" r:id="rId5"/>
    <p:sldId id="288" r:id="rId6"/>
    <p:sldId id="267" r:id="rId7"/>
    <p:sldId id="282" r:id="rId9"/>
    <p:sldId id="279" r:id="rId10"/>
    <p:sldId id="280" r:id="rId11"/>
    <p:sldId id="283" r:id="rId12"/>
    <p:sldId id="289" r:id="rId13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1614" y="78"/>
      </p:cViewPr>
      <p:guideLst>
        <p:guide orient="horz" pos="22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592E5-6E3E-4422-8CB8-AFA147B2F8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872E7F-3881-4BC5-AD06-B4F2BC89F3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 panose="05020102010507070707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 panose="05020102010507070707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 panose="05020102010507070707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 panose="05020102010507070707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 panose="05020102010507070707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15920" y="1194435"/>
            <a:ext cx="6047105" cy="1805940"/>
          </a:xfrm>
        </p:spPr>
        <p:txBody>
          <a:bodyPr/>
          <a:p>
            <a:pPr algn="l"/>
            <a:r>
              <a:rPr lang="zh-CN" altLang="en-US" cap="none" dirty="0" err="1"/>
              <a:t>实验六、三片式摄影物镜设计</a:t>
            </a:r>
            <a:endParaRPr lang="zh-CN" altLang="en-US" cap="none" dirty="0" err="1"/>
          </a:p>
        </p:txBody>
      </p:sp>
      <p:sp>
        <p:nvSpPr>
          <p:cNvPr id="4" name="TextBox 3"/>
          <p:cNvSpPr txBox="1"/>
          <p:nvPr/>
        </p:nvSpPr>
        <p:spPr>
          <a:xfrm>
            <a:off x="1043940" y="1341120"/>
            <a:ext cx="675005" cy="44297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3200" dirty="0">
                <a:solidFill>
                  <a:srgbClr val="0000CC"/>
                </a:solidFill>
              </a:rPr>
              <a:t>《</a:t>
            </a:r>
            <a:r>
              <a:rPr lang="zh-CN" altLang="en-US" sz="3200" dirty="0">
                <a:solidFill>
                  <a:srgbClr val="0000CC"/>
                </a:solidFill>
                <a:ea typeface="宋体" panose="02010600030101010101" pitchFamily="2" charset="-122"/>
              </a:rPr>
              <a:t>光学设计</a:t>
            </a:r>
            <a:r>
              <a:rPr lang="en-US" altLang="zh-CN" sz="3200" dirty="0">
                <a:solidFill>
                  <a:srgbClr val="0000CC"/>
                </a:solidFill>
              </a:rPr>
              <a:t>》</a:t>
            </a:r>
            <a:r>
              <a:rPr lang="zh-CN" altLang="en-US" sz="3200" dirty="0">
                <a:solidFill>
                  <a:srgbClr val="0000CC"/>
                </a:solidFill>
                <a:ea typeface="宋体" panose="02010600030101010101" pitchFamily="2" charset="-122"/>
                <a:sym typeface="+mn-ea"/>
              </a:rPr>
              <a:t>实验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67810" y="3717290"/>
            <a:ext cx="3560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rgbClr val="FFFF00"/>
                </a:solidFill>
                <a:ea typeface="宋体" panose="02010600030101010101" pitchFamily="2" charset="-122"/>
              </a:rPr>
              <a:t>主讲人</a:t>
            </a:r>
            <a:r>
              <a:rPr lang="en-US" altLang="zh-CN" sz="2400" dirty="0">
                <a:solidFill>
                  <a:srgbClr val="FFFF00"/>
                </a:solidFill>
              </a:rPr>
              <a:t>: </a:t>
            </a:r>
            <a:r>
              <a:rPr lang="zh-CN" altLang="en-US" sz="2400" dirty="0">
                <a:solidFill>
                  <a:srgbClr val="FFFF00"/>
                </a:solidFill>
                <a:ea typeface="宋体" panose="02010600030101010101" pitchFamily="2" charset="-122"/>
              </a:rPr>
              <a:t>徐琳琳</a:t>
            </a:r>
            <a:r>
              <a:rPr lang="en-US" altLang="zh-CN" sz="2000" dirty="0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FFFF00"/>
                </a:solidFill>
                <a:ea typeface="宋体" panose="02010600030101010101" pitchFamily="2" charset="-122"/>
              </a:rPr>
              <a:t>博士</a:t>
            </a:r>
            <a:endParaRPr lang="zh-CN" altLang="en-US" sz="2000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zh-CN" altLang="en-US" dirty="0" smtClean="0"/>
              <a:t>目录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84" y="1628949"/>
            <a:ext cx="7239000" cy="21715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实验目的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实验要求</a:t>
            </a:r>
            <a:endParaRPr lang="en-US" altLang="zh-CN" sz="28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三片式摄影物镜初始结构计算方法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3968" y="11967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8265" y="1052830"/>
            <a:ext cx="8026400" cy="23895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实验</a:t>
            </a:r>
            <a:r>
              <a:rPr lang="zh-CN" altLang="en-US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</a:t>
            </a:r>
            <a:endParaRPr lang="en-US" altLang="zh-CN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1. 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掌握用初级像差理论计算柯克三片式摄影物镜的初始结构的方法；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2. 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掌握使用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ZEMAX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光学设计软件对柯克三片式摄影物镜进行建模和优化的方法。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" y="836930"/>
            <a:ext cx="8088630" cy="28511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实验要求</a:t>
            </a:r>
            <a:endParaRPr lang="en-US" altLang="zh-CN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）柯克三片式摄影物镜的焦距、相对孔径和全视场分别为：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100mm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1/4.5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40°;</a:t>
            </a:r>
            <a:endParaRPr lang="en-US" altLang="zh-CN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6070" algn="just" defTabSz="26670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柯克三片式摄影物镜的最大视场像面光斑半径不大于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45μm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，最大相对畸变：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≤4%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07315" y="0"/>
            <a:ext cx="8241030" cy="1160780"/>
          </a:xfrm>
        </p:spPr>
        <p:txBody>
          <a:bodyPr anchor="ctr"/>
          <a:lstStyle/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3. </a:t>
            </a:r>
            <a:r>
              <a:rPr lang="en-US" altLang="zh-CN" sz="3200" cap="none" dirty="0">
                <a:solidFill>
                  <a:srgbClr val="0000CC"/>
                </a:solidFill>
              </a:rPr>
              <a:t>三片式摄影物镜初始</a:t>
            </a:r>
            <a:r>
              <a:rPr lang="zh-CN" altLang="en-US" sz="3200" cap="none" dirty="0">
                <a:solidFill>
                  <a:srgbClr val="0000CC"/>
                </a:solidFill>
                <a:sym typeface="+mn-ea"/>
              </a:rPr>
              <a:t>结构</a:t>
            </a:r>
            <a:r>
              <a:rPr lang="en-US" altLang="zh-CN" sz="3200" cap="none" dirty="0">
                <a:solidFill>
                  <a:srgbClr val="0000CC"/>
                </a:solidFill>
              </a:rPr>
              <a:t>计算方法</a:t>
            </a:r>
            <a:endParaRPr lang="en-US" altLang="zh-CN" sz="3200" cap="none" dirty="0">
              <a:solidFill>
                <a:srgbClr val="0000CC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1052830"/>
            <a:ext cx="52082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镜头初始结构的获取方法：</a:t>
            </a:r>
            <a:endParaRPr 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3975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基于初级像差理论的计算法；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3975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基于查资料法；</a:t>
            </a:r>
            <a:endParaRPr lang="zh-CN" altLang="en-US" sz="24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3975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基于经验法；</a:t>
            </a:r>
            <a:endParaRPr lang="zh-CN" altLang="en-US" sz="24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07315" y="0"/>
            <a:ext cx="8241030" cy="1160780"/>
          </a:xfrm>
        </p:spPr>
        <p:txBody>
          <a:bodyPr anchor="ctr"/>
          <a:lstStyle/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1. </a:t>
            </a:r>
            <a:r>
              <a:rPr lang="en-US" altLang="zh-CN" sz="3200" cap="none" dirty="0">
                <a:solidFill>
                  <a:srgbClr val="0000CC"/>
                </a:solidFill>
              </a:rPr>
              <a:t>三片式摄影物镜初始</a:t>
            </a:r>
            <a:r>
              <a:rPr lang="zh-CN" altLang="en-US" sz="3200" cap="none" dirty="0">
                <a:solidFill>
                  <a:srgbClr val="0000CC"/>
                </a:solidFill>
              </a:rPr>
              <a:t>结构</a:t>
            </a:r>
            <a:r>
              <a:rPr lang="en-US" altLang="zh-CN" sz="3200" cap="none" dirty="0">
                <a:solidFill>
                  <a:srgbClr val="0000CC"/>
                </a:solidFill>
              </a:rPr>
              <a:t>计算方法</a:t>
            </a:r>
            <a:endParaRPr lang="en-US" altLang="zh-CN" sz="3200" cap="none" dirty="0">
              <a:solidFill>
                <a:srgbClr val="0000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" y="908685"/>
            <a:ext cx="810196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：确定三片式摄影物镜的型式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采用常用的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“+-+”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型式，即两个正光焦度的单透镜中间夹一块负焦度的单透镜；该种类型的物镜能校正所有像差，且结构简单，是比较常用的一种物镜。</a:t>
            </a:r>
            <a:endParaRPr lang="zh-CN" altLang="en-US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9750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09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正负透镜组合可以降低球差；</a:t>
            </a:r>
            <a:endParaRPr lang="zh-CN" altLang="en-US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411730" y="5785485"/>
            <a:ext cx="2926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三片式摄影物镜结构示意图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7" name="图片 36"/>
          <p:cNvPicPr/>
          <p:nvPr/>
        </p:nvPicPr>
        <p:blipFill>
          <a:blip r:embed="rId1"/>
          <a:stretch>
            <a:fillRect/>
          </a:stretch>
        </p:blipFill>
        <p:spPr>
          <a:xfrm>
            <a:off x="198110" y="3256359"/>
            <a:ext cx="7776864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07315" y="-143510"/>
            <a:ext cx="8241030" cy="1160780"/>
          </a:xfrm>
        </p:spPr>
        <p:txBody>
          <a:bodyPr anchor="ctr"/>
          <a:lstStyle/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3. </a:t>
            </a:r>
            <a:r>
              <a:rPr lang="en-US" altLang="zh-CN" sz="3200" cap="none" dirty="0">
                <a:solidFill>
                  <a:srgbClr val="0000CC"/>
                </a:solidFill>
              </a:rPr>
              <a:t>三片式摄影物镜初始</a:t>
            </a:r>
            <a:r>
              <a:rPr lang="zh-CN" altLang="en-US" sz="3200" cap="none" dirty="0">
                <a:solidFill>
                  <a:srgbClr val="0000CC"/>
                </a:solidFill>
                <a:sym typeface="+mn-ea"/>
              </a:rPr>
              <a:t>结构</a:t>
            </a:r>
            <a:r>
              <a:rPr lang="en-US" altLang="zh-CN" sz="3200" cap="none" dirty="0">
                <a:solidFill>
                  <a:srgbClr val="0000CC"/>
                </a:solidFill>
              </a:rPr>
              <a:t>计算方法</a:t>
            </a:r>
            <a:endParaRPr lang="en-US" altLang="zh-CN" sz="3200" cap="none" dirty="0">
              <a:solidFill>
                <a:srgbClr val="0000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95" y="765810"/>
            <a:ext cx="810196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步骤2：基于薄透镜系统的初级像差理论，计算透镜的结构参数</a:t>
            </a:r>
            <a:endParaRPr lang="zh-CN" altLang="en-US" b="1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即计算</a:t>
            </a:r>
            <a:r>
              <a:rPr lang="en-US" altLang="zh-CN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个透镜的</a:t>
            </a:r>
            <a:r>
              <a:rPr lang="en-US" altLang="zh-CN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个球面的半径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透镜的高度参数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以及透镜间的间隔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1400" b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400" b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1400" b="1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215" y="1962150"/>
            <a:ext cx="76619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由初级像差理论可知，单透镜的初级场曲系数</a:t>
            </a:r>
            <a:r>
              <a:rPr lang="en-US" altLang="zh-CN" sz="14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14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IV</a:t>
            </a:r>
            <a:r>
              <a:rPr lang="zh-CN" altLang="en-US" sz="14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，初级位置色差系数</a:t>
            </a:r>
            <a:r>
              <a:rPr lang="en-US" altLang="zh-CN" sz="14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4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4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以及初级倍率色差系数</a:t>
            </a:r>
            <a:r>
              <a:rPr lang="en-US" altLang="zh-CN" sz="1400" i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400" baseline="-250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II</a:t>
            </a:r>
            <a:r>
              <a:rPr lang="zh-CN" altLang="en-US" sz="14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只与透镜的材料和光焦度有关，因此可基于下述三个像差方程计算镜头的初始结构</a:t>
            </a:r>
            <a:r>
              <a:rPr lang="zh-CN" sz="140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sz="140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460" y="5085715"/>
            <a:ext cx="7626985" cy="1599565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4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其中：</a:t>
            </a:r>
            <a:endParaRPr lang="en-US" altLang="zh-CN" sz="1400" b="1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φ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分别是三个透镜的光焦度（即透镜焦距的倒数）；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分别是三个透镜的折射率；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分别是三个透镜的阿贝常数；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分别是轴上点边缘近轴光线（</a:t>
            </a:r>
            <a:r>
              <a:rPr lang="zh-CN" altLang="en-US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第一辅助光线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）在三个透镜上的投射高度；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p1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p2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分别是最大视场主光线（</a:t>
            </a:r>
            <a:r>
              <a:rPr lang="zh-CN" altLang="en-US" sz="12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第二辅助光线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）在三个透镜上的投射高度；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Σ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IV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Σ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Σ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II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分别物镜的初级场曲系数和，初级位置色差系数和以及初级倍率色差系数和；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93545" y="2637155"/>
            <a:ext cx="3714115" cy="2410460"/>
            <a:chOff x="3557" y="4153"/>
            <a:chExt cx="5849" cy="379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r="2228"/>
            <a:stretch>
              <a:fillRect/>
            </a:stretch>
          </p:blipFill>
          <p:spPr>
            <a:xfrm>
              <a:off x="3557" y="4153"/>
              <a:ext cx="5009" cy="3796"/>
            </a:xfrm>
            <a:prstGeom prst="rect">
              <a:avLst/>
            </a:prstGeom>
            <a:ln w="15875"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7144" y="4593"/>
              <a:ext cx="8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= 0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654" y="5840"/>
              <a:ext cx="8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= 0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566" y="7045"/>
              <a:ext cx="8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</a:rPr>
                <a:t>= 0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  <p:sp>
        <p:nvSpPr>
          <p:cNvPr id="11" name="右大括号 10"/>
          <p:cNvSpPr/>
          <p:nvPr/>
        </p:nvSpPr>
        <p:spPr>
          <a:xfrm>
            <a:off x="5654040" y="3028950"/>
            <a:ext cx="144145" cy="1727835"/>
          </a:xfrm>
          <a:prstGeom prst="rightBrace">
            <a:avLst>
              <a:gd name="adj1" fmla="val 16916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939790" y="3709035"/>
            <a:ext cx="683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7950" y="981075"/>
                <a:ext cx="7661910" cy="53327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并结合焦距方程：</a:t>
                </a:r>
                <a:endPara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+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+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zh-CN" altLang="en-US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=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 </a:t>
                </a: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                                           </a:t>
                </a:r>
                <a:r>
                  <a:rPr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）</a:t>
                </a: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          </a:t>
                </a: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其中，</a:t>
                </a:r>
                <a:r>
                  <a:rPr lang="en-US" altLang="zh-CN" sz="1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φ</a:t>
                </a:r>
                <a:r>
                  <a:rPr lang="zh-CN" alt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为物镜的光焦度。</a:t>
                </a:r>
                <a:endParaRPr lang="zh-CN" altLang="en-US" sz="120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同时，假设第二块透镜的边框即为孔径光阑（</a:t>
                </a:r>
                <a:r>
                  <a:rPr lang="zh-CN" altLang="en-US" sz="140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该设置便于消色差、慧差以及畸变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）：</a:t>
                </a:r>
                <a:endPara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以及透镜间的间隔相等（</a:t>
                </a:r>
                <a:r>
                  <a:rPr lang="zh-CN" altLang="en-US" sz="140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像差优化时可释放该要求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），即d</a:t>
                </a:r>
                <a:r>
                  <a:rPr lang="zh-CN" altLang="en-US" sz="16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=d</a:t>
                </a:r>
                <a:r>
                  <a:rPr lang="zh-CN" altLang="en-US" sz="16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：</a:t>
                </a:r>
                <a:endPara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>
                    <a:solidFill>
                      <a:schemeClr val="tx1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  <a:t>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；（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其中，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zh-CN" i="1" baseline="-2500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1</m:t>
                    </m:r>
                    <m:r>
                      <a:rPr lang="en-US" altLang="zh-CN">
                        <a:solidFill>
                          <a:srgbClr val="0000FF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Times New Roman" panose="02020603050405020304" pitchFamily="18" charset="0"/>
                        <a:sym typeface="+mn-ea"/>
                      </a:rPr>
                      <m:t>= 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; 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𝑑</m:t>
                    </m:r>
                    <m:r>
                      <a:rPr lang="en-US" altLang="zh-CN" i="1" baseline="-2500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2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zh-CN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）</a:t>
                </a:r>
                <a:endPara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fontAlgn="auto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最后，结合镜头的光学特性参数要求（即焦距</a:t>
                </a:r>
                <a:r>
                  <a:rPr lang="en-US" altLang="zh-CN" sz="1600" i="1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’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和相对孔径</a:t>
                </a:r>
                <a:r>
                  <a:rPr lang="en-US" altLang="zh-CN" sz="1600" i="1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D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/ </a:t>
                </a:r>
                <a:r>
                  <a:rPr lang="en-US" altLang="zh-CN" sz="1600" i="1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f</a:t>
                </a:r>
                <a:r>
                  <a:rPr lang="en-US" altLang="zh-CN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’</a:t>
                </a: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），</a:t>
                </a:r>
                <a:endPara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先计算</a:t>
                </a:r>
                <a:r>
                  <a:rPr lang="en-US" altLang="zh-CN" sz="1600" i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1600" baseline="-250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sz="16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sz="1600" i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1600" baseline="-250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sz="16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zh-CN" altLang="en-US" sz="1600" i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φ</a:t>
                </a:r>
                <a:r>
                  <a:rPr lang="en-US" altLang="zh-CN" sz="1600" baseline="-250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zh-CN" altLang="en-US" sz="16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h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zh-CN" altLang="en-US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d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sz="16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d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en-US" altLang="zh-CN" sz="16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;</a:t>
                </a:r>
                <a:endParaRPr lang="en-US" altLang="zh-CN" sz="1600" baseline="-250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zh-CN" altLang="en-US" sz="160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再计算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4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5</a:t>
                </a:r>
                <a:r>
                  <a:rPr lang="zh-CN" altLang="en-US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1" i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r</a:t>
                </a:r>
                <a:r>
                  <a:rPr lang="en-US" altLang="zh-CN" b="1" baseline="-2500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6</a:t>
                </a:r>
                <a:r>
                  <a:rPr lang="en-US" altLang="zh-CN" sz="16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;</a:t>
                </a:r>
                <a:endParaRPr lang="en-US" altLang="zh-CN" sz="16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endParaRPr lang="zh-CN" altLang="en-US" sz="1600" b="1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  <a:p>
                <a:pPr indent="0" fontAlgn="auto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zh-CN" altLang="en-US" sz="1600" b="1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至此，三片式摄影物镜的初始结构已计算完毕。</a:t>
                </a:r>
                <a:endParaRPr lang="zh-CN" altLang="en-US" sz="1600" b="1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" y="981075"/>
                <a:ext cx="7661910" cy="53327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07315" y="0"/>
            <a:ext cx="8241030" cy="1160780"/>
          </a:xfrm>
        </p:spPr>
        <p:txBody>
          <a:bodyPr anchor="ctr"/>
          <a:lstStyle/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3. </a:t>
            </a:r>
            <a:r>
              <a:rPr lang="en-US" altLang="zh-CN" sz="3200" cap="none" dirty="0">
                <a:solidFill>
                  <a:srgbClr val="0000CC"/>
                </a:solidFill>
              </a:rPr>
              <a:t>三片式摄影物镜初始</a:t>
            </a:r>
            <a:r>
              <a:rPr lang="zh-CN" altLang="en-US" sz="3200" cap="none" dirty="0">
                <a:solidFill>
                  <a:srgbClr val="0000CC"/>
                </a:solidFill>
                <a:sym typeface="+mn-ea"/>
              </a:rPr>
              <a:t>结构</a:t>
            </a:r>
            <a:r>
              <a:rPr lang="en-US" altLang="zh-CN" sz="3200" cap="none" dirty="0">
                <a:solidFill>
                  <a:srgbClr val="0000CC"/>
                </a:solidFill>
              </a:rPr>
              <a:t>计算方法</a:t>
            </a:r>
            <a:endParaRPr lang="en-US" altLang="zh-CN" sz="3200" cap="none" dirty="0">
              <a:solidFill>
                <a:srgbClr val="0000CC"/>
              </a:solidFill>
            </a:endParaRPr>
          </a:p>
        </p:txBody>
      </p:sp>
      <p:sp>
        <p:nvSpPr>
          <p:cNvPr id="11" name="右大括号 10"/>
          <p:cNvSpPr/>
          <p:nvPr/>
        </p:nvSpPr>
        <p:spPr>
          <a:xfrm>
            <a:off x="4507865" y="2637155"/>
            <a:ext cx="128905" cy="656590"/>
          </a:xfrm>
          <a:prstGeom prst="rightBrace">
            <a:avLst>
              <a:gd name="adj1" fmla="val 16916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21155" y="2421255"/>
            <a:ext cx="2540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p2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= 0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zh-CN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p1</a:t>
            </a:r>
            <a:r>
              <a:rPr lang="en-US" altLang="zh-CN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 -</a:t>
            </a:r>
            <a:r>
              <a:rPr lang="en-US" altLang="zh-CN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p3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92315" y="2781300"/>
            <a:ext cx="741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99935" y="3912235"/>
            <a:ext cx="741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0" y="4725035"/>
            <a:ext cx="3992245" cy="1430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透镜的（</a:t>
            </a:r>
            <a:r>
              <a:rPr lang="zh-CN" altLang="en-US" sz="12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德国肖特玻璃</a:t>
            </a: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）材料（</a:t>
            </a:r>
            <a:r>
              <a:rPr lang="zh-CN" altLang="en-US" sz="12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常用组合</a:t>
            </a: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）：</a:t>
            </a:r>
            <a:endParaRPr lang="zh-CN" altLang="en-US" sz="1600" b="1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透镜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SK4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）：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1.61272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58.63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透镜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F7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：（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1.62536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35.56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4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透镜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SK4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）：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14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1400" b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1.61272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58.63</a:t>
            </a:r>
            <a:r>
              <a:rPr lang="zh-CN" altLang="en-US" sz="14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400" b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495" y="981075"/>
            <a:ext cx="8101965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：利用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ZEMAX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光学设计软件优化初始结构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</a:t>
            </a:r>
            <a:r>
              <a:rPr lang="en-US" altLang="zh-CN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个透镜半径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的参数值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以及透镜间的间隔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1600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1600" i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输入到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ZEMAX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软件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进行仿真优化，进一步的消</a:t>
            </a:r>
            <a:r>
              <a:rPr lang="zh-CN" altLang="en-US" sz="16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像差，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直至结构满足实验要求。</a:t>
            </a:r>
            <a:endParaRPr lang="zh-CN" altLang="en-US" sz="16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60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160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注意：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虽然在前面计算出了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透镜的高度参数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，但是实际的透镜口径由入瞳直径决定，故三个透镜的口径将由入瞳直径决定，即中间负透镜的口径，因此系统的入瞳直径的值与</a:t>
            </a:r>
            <a:r>
              <a:rPr lang="en-US" altLang="zh-CN" sz="16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1600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相等。</a:t>
            </a:r>
            <a:endParaRPr lang="zh-CN" altLang="en-US" sz="16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600" b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1600" b="1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思考：透镜的厚度如何确定？</a:t>
            </a:r>
            <a:endParaRPr lang="zh-CN" altLang="en-US" sz="1600" b="1">
              <a:solidFill>
                <a:srgbClr val="C00000"/>
              </a:solidFill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07315" y="0"/>
            <a:ext cx="8241030" cy="1160780"/>
          </a:xfrm>
          <a:prstGeom prst="rect">
            <a:avLst/>
          </a:prstGeom>
        </p:spPr>
        <p:txBody>
          <a:bodyPr vert="horz" lIns="45720" tIns="0" rIns="45720" bIns="0" anchor="ctr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3. </a:t>
            </a:r>
            <a:r>
              <a:rPr lang="en-US" altLang="zh-CN" sz="3200" cap="none" dirty="0">
                <a:solidFill>
                  <a:srgbClr val="0000CC"/>
                </a:solidFill>
              </a:rPr>
              <a:t>三片式摄影物镜初始</a:t>
            </a:r>
            <a:r>
              <a:rPr lang="zh-CN" altLang="en-US" sz="3200" cap="none" dirty="0">
                <a:solidFill>
                  <a:srgbClr val="0000CC"/>
                </a:solidFill>
                <a:sym typeface="+mn-ea"/>
              </a:rPr>
              <a:t>结构</a:t>
            </a:r>
            <a:r>
              <a:rPr lang="en-US" altLang="zh-CN" sz="3200" cap="none" dirty="0">
                <a:solidFill>
                  <a:srgbClr val="0000CC"/>
                </a:solidFill>
              </a:rPr>
              <a:t>计算方法</a:t>
            </a:r>
            <a:endParaRPr lang="en-US" altLang="zh-CN" sz="3200" cap="none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>
            <a:spLocks noGrp="1"/>
          </p:cNvSpPr>
          <p:nvPr/>
        </p:nvSpPr>
        <p:spPr>
          <a:xfrm>
            <a:off x="107315" y="0"/>
            <a:ext cx="8241030" cy="1160780"/>
          </a:xfrm>
          <a:prstGeom prst="rect">
            <a:avLst/>
          </a:prstGeom>
        </p:spPr>
        <p:txBody>
          <a:bodyPr vert="horz" lIns="45720" tIns="0" rIns="45720" bIns="0" anchor="ctr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cap="none" dirty="0" smtClean="0">
                <a:solidFill>
                  <a:srgbClr val="0000CC"/>
                </a:solidFill>
              </a:rPr>
              <a:t>4. </a:t>
            </a:r>
            <a:r>
              <a:rPr lang="zh-CN" sz="3200" cap="none" dirty="0">
                <a:solidFill>
                  <a:srgbClr val="0000CC"/>
                </a:solidFill>
              </a:rPr>
              <a:t>报告要求</a:t>
            </a:r>
            <a:endParaRPr lang="zh-CN" sz="3200" cap="none" dirty="0">
              <a:solidFill>
                <a:srgbClr val="0000CC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1160780"/>
            <a:ext cx="48336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）给出完整的计算过程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）给出完整的优化过程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）在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上提交实验报告</a:t>
            </a:r>
            <a:endParaRPr lang="zh-CN" altLang="en-US" sz="200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7473bee7-ea82-408a-b133-e46b584c2211"/>
  <p:tag name="COMMONDATA" val="eyJoZGlkIjoiNjBhNzgzN2YwNTRkOWE3NzhlYzM3YjU0YThlZWRjODkifQ=="/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1712</Words>
  <Application>WPS 演示</Application>
  <PresentationFormat>全屏显示(4:3)</PresentationFormat>
  <Paragraphs>100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Times New Roman</vt:lpstr>
      <vt:lpstr>Cambria Math</vt:lpstr>
      <vt:lpstr>MS Mincho</vt:lpstr>
      <vt:lpstr>Trebuchet MS</vt:lpstr>
      <vt:lpstr>黑体</vt:lpstr>
      <vt:lpstr>华文新魏</vt:lpstr>
      <vt:lpstr>Arial Unicode MS</vt:lpstr>
      <vt:lpstr>Calibri</vt:lpstr>
      <vt:lpstr>华丽</vt:lpstr>
      <vt:lpstr>实验五、三片式摄影物镜设计</vt:lpstr>
      <vt:lpstr>目录</vt:lpstr>
      <vt:lpstr>PowerPoint 演示文稿</vt:lpstr>
      <vt:lpstr>PowerPoint 演示文稿</vt:lpstr>
      <vt:lpstr>3. 三片式摄影物镜初始结构计算方法</vt:lpstr>
      <vt:lpstr>1. 三片式摄影物镜初始结构计算方法</vt:lpstr>
      <vt:lpstr>3. 三片式摄影物镜初始结构计算方法</vt:lpstr>
      <vt:lpstr>3. 三片式摄影物镜初始结构计算方法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实验七 显微镜设计</dc:title>
  <dc:creator>dpcuser</dc:creator>
  <cp:lastModifiedBy>徐琳琳</cp:lastModifiedBy>
  <cp:revision>412</cp:revision>
  <dcterms:created xsi:type="dcterms:W3CDTF">2017-11-27T01:22:00Z</dcterms:created>
  <dcterms:modified xsi:type="dcterms:W3CDTF">2025-12-11T03:08:33Z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0C2E0ACA662D474E88E6D3D80F291F8B</vt:lpwstr>
  </property>
  <property fmtid="{D5CDD505-2E9C-101B-9397-08002B2CF9AE}" pid="3" name="KSOProductBuildVer">
    <vt:lpwstr>2052-12.1.0.24034</vt:lpwstr>
  </property>
</Properties>
</file>