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4">
  <p:sldMasterIdLst>
    <p:sldMasterId id="2147483648" r:id="rId1"/>
  </p:sldMasterIdLst>
  <p:notesMasterIdLst>
    <p:notesMasterId r:id="rId7"/>
  </p:notesMasterIdLst>
  <p:sldIdLst>
    <p:sldId id="256" r:id="rId3"/>
    <p:sldId id="275" r:id="rId4"/>
    <p:sldId id="264" r:id="rId5"/>
    <p:sldId id="268" r:id="rId6"/>
    <p:sldId id="270" r:id="rId8"/>
    <p:sldId id="283" r:id="rId9"/>
    <p:sldId id="271" r:id="rId10"/>
    <p:sldId id="272" r:id="rId11"/>
    <p:sldId id="265" r:id="rId12"/>
    <p:sldId id="273" r:id="rId13"/>
  </p:sldIdLst>
  <p:sldSz cx="9144000" cy="6858000" type="screen4x3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2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FF00"/>
    <a:srgbClr val="0000CC"/>
    <a:srgbClr val="800000"/>
    <a:srgbClr val="660066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1296" y="108"/>
      </p:cViewPr>
      <p:guideLst>
        <p:guide orient="horz" pos="2159"/>
        <p:guide pos="286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标题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25" name="副标题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31" name="日期占位符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8" name="页脚占位符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defRPr/>
            </a:pPr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1" name="文本占位符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  <a:p>
            <a:pPr lvl="1" eaLnBrk="1" latinLnBrk="0" hangingPunct="1"/>
            <a:r>
              <a:rPr kumimoji="0" lang="zh-CN" altLang="en-US"/>
              <a:t>第二级</a:t>
            </a:r>
            <a:endParaRPr kumimoji="0" lang="zh-CN" altLang="en-US"/>
          </a:p>
          <a:p>
            <a:pPr lvl="2" eaLnBrk="1" latinLnBrk="0" hangingPunct="1"/>
            <a:r>
              <a:rPr kumimoji="0" lang="zh-CN" altLang="en-US"/>
              <a:t>第三级</a:t>
            </a:r>
            <a:endParaRPr kumimoji="0" lang="zh-CN" altLang="en-US"/>
          </a:p>
          <a:p>
            <a:pPr lvl="3" eaLnBrk="1" latinLnBrk="0" hangingPunct="1"/>
            <a:r>
              <a:rPr kumimoji="0" lang="zh-CN" altLang="en-US"/>
              <a:t>第四级</a:t>
            </a:r>
            <a:endParaRPr kumimoji="0" lang="zh-CN" altLang="en-US"/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27" name="日期占位符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335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825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 panose="05000000000000000000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 panose="05000000000000000000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1930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225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215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 panose="05000000000000000000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843808" y="1268760"/>
            <a:ext cx="5832648" cy="2304256"/>
          </a:xfrm>
        </p:spPr>
        <p:txBody>
          <a:bodyPr/>
          <a:lstStyle/>
          <a:p>
            <a:pPr algn="l"/>
            <a:br>
              <a:rPr lang="en-US" altLang="zh-CN" cap="none" dirty="0"/>
            </a:br>
            <a:r>
              <a:rPr lang="en-US" altLang="zh-CN" cap="none" dirty="0" err="1"/>
              <a:t>Exp</a:t>
            </a:r>
            <a:r>
              <a:rPr lang="en-US" altLang="zh-CN" cap="none" dirty="0"/>
              <a:t> 4</a:t>
            </a:r>
            <a:br>
              <a:rPr lang="en-US" altLang="zh-CN" cap="none" dirty="0"/>
            </a:br>
            <a:r>
              <a:rPr lang="en-US" altLang="zh-CN" cap="none" dirty="0"/>
              <a:t>Design Of </a:t>
            </a:r>
            <a:r>
              <a:rPr lang="en-US" altLang="zh-CN" cap="none"/>
              <a:t>Free Lens </a:t>
            </a:r>
            <a:r>
              <a:rPr lang="en-US" altLang="zh-CN" cap="none" dirty="0"/>
              <a:t>for Single LED</a:t>
            </a:r>
            <a:endParaRPr lang="zh-CN" altLang="en-US" cap="none" dirty="0"/>
          </a:p>
        </p:txBody>
      </p:sp>
      <p:sp>
        <p:nvSpPr>
          <p:cNvPr id="4" name="TextBox 3"/>
          <p:cNvSpPr txBox="1"/>
          <p:nvPr/>
        </p:nvSpPr>
        <p:spPr>
          <a:xfrm>
            <a:off x="1043620" y="188640"/>
            <a:ext cx="677108" cy="633670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3200" dirty="0">
                <a:solidFill>
                  <a:srgbClr val="0000CC"/>
                </a:solidFill>
              </a:rPr>
              <a:t>《Optical design experiment》</a:t>
            </a:r>
            <a:endParaRPr lang="zh-CN" altLang="en-US" sz="3200" dirty="0">
              <a:solidFill>
                <a:srgbClr val="0000CC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88352" y="4797658"/>
            <a:ext cx="2736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FF00"/>
                </a:solidFill>
              </a:rPr>
              <a:t>Teacher: </a:t>
            </a:r>
            <a:r>
              <a:rPr lang="en-US" altLang="zh-CN" sz="2400" dirty="0" err="1">
                <a:solidFill>
                  <a:srgbClr val="FFFF00"/>
                </a:solidFill>
              </a:rPr>
              <a:t>Xu</a:t>
            </a:r>
            <a:r>
              <a:rPr lang="en-US" altLang="zh-CN" sz="2400" dirty="0">
                <a:solidFill>
                  <a:srgbClr val="FFFF00"/>
                </a:solidFill>
              </a:rPr>
              <a:t> </a:t>
            </a:r>
            <a:r>
              <a:rPr lang="en-US" altLang="zh-CN" sz="2400" dirty="0" err="1">
                <a:solidFill>
                  <a:srgbClr val="FFFF00"/>
                </a:solidFill>
              </a:rPr>
              <a:t>linlin</a:t>
            </a:r>
            <a:endParaRPr lang="zh-CN" altLang="en-US" sz="2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 txBox="1"/>
          <p:nvPr/>
        </p:nvSpPr>
        <p:spPr>
          <a:xfrm>
            <a:off x="107315" y="116840"/>
            <a:ext cx="602678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charset="0"/>
              <a:buChar char="l"/>
            </a:pPr>
            <a:r>
              <a:rPr lang="zh-CN" sz="20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均匀光场单自由曲面透镜发展及应用背景介绍</a:t>
            </a:r>
            <a:endParaRPr lang="zh-CN" altLang="en-US" sz="20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9705" y="629285"/>
            <a:ext cx="7782560" cy="55391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en-US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LED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作为新一代的照明光源，具有</a:t>
            </a:r>
            <a:r>
              <a:rPr lang="zh-CN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光效高、功耗低、寿命长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zh-CN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绿色环保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的优点，这正在</a:t>
            </a:r>
            <a:r>
              <a:rPr lang="zh-CN" sz="1600" b="1"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改变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人们的照明理念以及整个照明产业</a:t>
            </a:r>
            <a:r>
              <a:rPr lang="en-US" alt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lang="zh-CN" sz="16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</a:t>
            </a:r>
            <a:r>
              <a:rPr lang="en-US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LED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的半导体照明产业是国家战略性新兴产业，被列入《</a:t>
            </a:r>
            <a:r>
              <a:rPr lang="zh-CN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中华人民共和国国民经济和社会发展第十四个五年规划和</a:t>
            </a:r>
            <a:r>
              <a:rPr lang="en-US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2035</a:t>
            </a:r>
            <a:r>
              <a:rPr lang="zh-CN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年远景目标纲要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》</a:t>
            </a:r>
            <a:r>
              <a:rPr lang="en-US" alt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lang="en-US" altLang="zh-CN" sz="16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en-US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LED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照明应用中，各种照明标准中都有关于</a:t>
            </a:r>
            <a:r>
              <a:rPr lang="zh-CN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照度均匀度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的要求。</a:t>
            </a:r>
            <a:endParaRPr lang="zh-CN" sz="16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60045"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lang="zh-CN" sz="1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照度均匀度高会给人们提供一个舒适、柔和的照明空间；反之，不均匀的照明会造成视觉疲劳，同时将可能引起不安定感。</a:t>
            </a:r>
            <a:endParaRPr lang="zh-CN" sz="16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最常见的白光</a:t>
            </a:r>
            <a:r>
              <a:rPr lang="en-US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LED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封装器件的光强空间分布是</a:t>
            </a:r>
            <a:r>
              <a:rPr lang="zh-CN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朗伯型（</a:t>
            </a:r>
            <a:r>
              <a:rPr lang="en-US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Lambertian</a:t>
            </a:r>
            <a:r>
              <a:rPr lang="zh-CN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）配光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不适合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进行直接照明应用。</a:t>
            </a:r>
            <a:endParaRPr lang="zh-CN" sz="16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自由曲面光学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是一个</a:t>
            </a:r>
            <a:r>
              <a:rPr lang="zh-CN" sz="1600" b="1"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新兴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en-US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LED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照明光学技术，其优势在于具有</a:t>
            </a:r>
            <a:r>
              <a:rPr 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较高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设计自由度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准确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光型控制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因此，自由曲面透镜设计在</a:t>
            </a:r>
            <a:r>
              <a:rPr 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LED</a:t>
            </a:r>
            <a:r>
              <a:rPr 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照明应用中得到了</a:t>
            </a:r>
            <a:r>
              <a:rPr lang="zh-CN" sz="1600" b="1"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广泛</a:t>
            </a:r>
            <a:r>
              <a:rPr 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的研究和应用。</a:t>
            </a:r>
            <a:endParaRPr lang="zh-CN" sz="16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目前，在</a:t>
            </a:r>
            <a:r>
              <a:rPr lang="en-US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LED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照明灯具中，</a:t>
            </a:r>
            <a:r>
              <a:rPr lang="zh-CN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圆形光斑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en-US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LED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照明灯具应用最为</a:t>
            </a:r>
            <a:r>
              <a:rPr lang="zh-CN" sz="1600" b="1"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广泛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，如</a:t>
            </a:r>
            <a:r>
              <a:rPr lang="en-US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LED MR16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射灯、</a:t>
            </a:r>
            <a:r>
              <a:rPr lang="en-US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LED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筒灯、</a:t>
            </a:r>
            <a:r>
              <a:rPr lang="en-US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LED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舞台灯、</a:t>
            </a:r>
            <a:r>
              <a:rPr lang="en-US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LED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球泡灯等；同时，在直下式</a:t>
            </a:r>
            <a:r>
              <a:rPr lang="en-US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LED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背光、室内照明、商业照明等应用中通常也是通过多个圆形光斑叠加而成。</a:t>
            </a:r>
            <a:endParaRPr lang="zh-CN" altLang="en-US" sz="16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880" y="1729715"/>
            <a:ext cx="2028825" cy="204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8360" y="1763052"/>
            <a:ext cx="196215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65" t="4198"/>
          <a:stretch>
            <a:fillRect/>
          </a:stretch>
        </p:blipFill>
        <p:spPr bwMode="auto">
          <a:xfrm>
            <a:off x="3464295" y="1124744"/>
            <a:ext cx="1132322" cy="1649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右箭头 4"/>
          <p:cNvSpPr/>
          <p:nvPr/>
        </p:nvSpPr>
        <p:spPr>
          <a:xfrm>
            <a:off x="3102136" y="2917156"/>
            <a:ext cx="1800200" cy="319683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13" name="内容占位符 2"/>
          <p:cNvSpPr txBox="1"/>
          <p:nvPr/>
        </p:nvSpPr>
        <p:spPr>
          <a:xfrm>
            <a:off x="437515" y="260985"/>
            <a:ext cx="6796405" cy="523875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73000"/>
              <a:buFont typeface="Wingdings 2"/>
              <a:buChar char=""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ims of the free lens design   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3528" y="3838817"/>
            <a:ext cx="3024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02060"/>
                </a:solidFill>
              </a:rPr>
              <a:t>Light spot of Lambert light source.(</a:t>
            </a:r>
            <a:r>
              <a:rPr lang="en-US" altLang="zh-CN" b="1" i="1" dirty="0">
                <a:solidFill>
                  <a:srgbClr val="002060"/>
                </a:solidFill>
              </a:rPr>
              <a:t>I</a:t>
            </a:r>
            <a:r>
              <a:rPr lang="en-US" altLang="zh-CN" b="1" dirty="0">
                <a:solidFill>
                  <a:srgbClr val="002060"/>
                </a:solidFill>
              </a:rPr>
              <a:t>=</a:t>
            </a:r>
            <a:r>
              <a:rPr lang="en-US" altLang="zh-CN" b="1" i="1" dirty="0">
                <a:solidFill>
                  <a:srgbClr val="002060"/>
                </a:solidFill>
              </a:rPr>
              <a:t>I</a:t>
            </a:r>
            <a:r>
              <a:rPr lang="en-US" altLang="zh-CN" b="1" baseline="-25000" dirty="0">
                <a:solidFill>
                  <a:srgbClr val="002060"/>
                </a:solidFill>
              </a:rPr>
              <a:t>0</a:t>
            </a:r>
            <a:r>
              <a:rPr lang="en-US" altLang="zh-CN" b="1" dirty="0">
                <a:solidFill>
                  <a:srgbClr val="002060"/>
                </a:solidFill>
              </a:rPr>
              <a:t>cos(</a:t>
            </a:r>
            <a:r>
              <a:rPr lang="el-GR" altLang="zh-CN" i="1" dirty="0">
                <a:solidFill>
                  <a:srgbClr val="FF0000"/>
                </a:solidFill>
              </a:rPr>
              <a:t>θ</a:t>
            </a:r>
            <a:r>
              <a:rPr lang="en-US" altLang="zh-CN" b="1" dirty="0">
                <a:solidFill>
                  <a:srgbClr val="002060"/>
                </a:solidFill>
              </a:rPr>
              <a:t>))</a:t>
            </a:r>
            <a:endParaRPr lang="zh-CN" altLang="en-US" b="1" dirty="0">
              <a:solidFill>
                <a:srgbClr val="00206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44008" y="3766809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02060"/>
                </a:solidFill>
              </a:rPr>
              <a:t>Even round light spot.</a:t>
            </a:r>
            <a:endParaRPr lang="zh-CN" altLang="en-US" b="1" dirty="0">
              <a:solidFill>
                <a:srgbClr val="00206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67125" y="518858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-54610" y="2565400"/>
            <a:ext cx="4472940" cy="2993390"/>
            <a:chOff x="-86" y="4040"/>
            <a:chExt cx="7044" cy="4714"/>
          </a:xfrm>
        </p:grpSpPr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86"/>
            <a:stretch>
              <a:fillRect/>
            </a:stretch>
          </p:blipFill>
          <p:spPr bwMode="auto">
            <a:xfrm>
              <a:off x="-86" y="4040"/>
              <a:ext cx="7045" cy="47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9" name="圆角矩形 18"/>
            <p:cNvSpPr/>
            <p:nvPr/>
          </p:nvSpPr>
          <p:spPr>
            <a:xfrm>
              <a:off x="5982" y="6095"/>
              <a:ext cx="119" cy="22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855" y="2997200"/>
            <a:ext cx="3577590" cy="2937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矩形 8"/>
          <p:cNvSpPr/>
          <p:nvPr/>
        </p:nvSpPr>
        <p:spPr>
          <a:xfrm>
            <a:off x="73660" y="5626735"/>
            <a:ext cx="47072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070C0"/>
                </a:solidFill>
              </a:rPr>
              <a:t>Diagram of energy correspondence between </a:t>
            </a:r>
            <a:r>
              <a:rPr lang="en-US" altLang="zh-CN" sz="1400" b="1" dirty="0">
                <a:solidFill>
                  <a:srgbClr val="0070C0"/>
                </a:solidFill>
              </a:rPr>
              <a:t>LED </a:t>
            </a:r>
            <a:r>
              <a:rPr lang="en-US" sz="1400" b="1" dirty="0">
                <a:solidFill>
                  <a:srgbClr val="0070C0"/>
                </a:solidFill>
              </a:rPr>
              <a:t>light source and target plane </a:t>
            </a:r>
            <a:endParaRPr lang="en-US" altLang="en-US" sz="1400" b="1" dirty="0">
              <a:solidFill>
                <a:srgbClr val="0070C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15695" y="790575"/>
            <a:ext cx="2096135" cy="398780"/>
          </a:xfrm>
          <a:prstGeom prst="rect">
            <a:avLst/>
          </a:prstGeom>
          <a:solidFill>
            <a:srgbClr val="00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FF0000"/>
                </a:solidFill>
              </a:rPr>
              <a:t>Find out </a:t>
            </a:r>
            <a:r>
              <a:rPr lang="el-GR" altLang="zh-CN" sz="2000" dirty="0">
                <a:solidFill>
                  <a:srgbClr val="FF0000"/>
                </a:solidFill>
              </a:rPr>
              <a:t>θ</a:t>
            </a:r>
            <a:r>
              <a:rPr lang="en-US" altLang="zh-CN" sz="2000" i="1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000" dirty="0">
                <a:solidFill>
                  <a:srgbClr val="FF0000"/>
                </a:solidFill>
              </a:rPr>
              <a:t>和</a:t>
            </a:r>
            <a:r>
              <a:rPr lang="en-US" altLang="zh-CN" sz="20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</a:t>
            </a:r>
            <a:r>
              <a:rPr lang="en-US" altLang="zh-CN" sz="2000" i="1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2000" dirty="0">
                <a:solidFill>
                  <a:srgbClr val="FF0000"/>
                </a:solidFill>
              </a:rPr>
              <a:t> !</a:t>
            </a:r>
            <a:endParaRPr lang="en-US" altLang="zh-CN" sz="2000" i="1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43170" y="3500623"/>
            <a:ext cx="36703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zh-CN" sz="2000" i="1" dirty="0">
                <a:solidFill>
                  <a:srgbClr val="FF0000"/>
                </a:solidFill>
              </a:rPr>
              <a:t>θ</a:t>
            </a:r>
            <a:r>
              <a:rPr lang="en-US" altLang="zh-CN" sz="2000" i="1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altLang="zh-CN" sz="2000" i="1" baseline="-25000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0998" y="1217990"/>
            <a:ext cx="8079394" cy="1322070"/>
          </a:xfrm>
          <a:prstGeom prst="rect">
            <a:avLst/>
          </a:prstGeom>
          <a:ln w="9525">
            <a:noFill/>
            <a:prstDash val="sysDash"/>
          </a:ln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2000" u="sng" dirty="0">
                <a:solidFill>
                  <a:srgbClr val="FF0000"/>
                </a:solidFill>
              </a:rPr>
              <a:t>Theoretical basis :</a:t>
            </a:r>
            <a:endParaRPr lang="en-US" altLang="zh-CN" sz="2000" u="sng" dirty="0">
              <a:solidFill>
                <a:srgbClr val="FF0000"/>
              </a:solidFill>
            </a:endParaRPr>
          </a:p>
          <a:p>
            <a:pPr marL="285750" indent="-28575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70C0"/>
                </a:solidFill>
              </a:rPr>
              <a:t>Marginal ray theory: </a:t>
            </a:r>
            <a:r>
              <a:rPr lang="en-US" sz="1600" dirty="0"/>
              <a:t>The light emitted from the </a:t>
            </a:r>
            <a:r>
              <a:rPr lang="en-US" sz="1600" b="1" dirty="0">
                <a:solidFill>
                  <a:srgbClr val="0000FF"/>
                </a:solidFill>
              </a:rPr>
              <a:t>edge</a:t>
            </a:r>
            <a:r>
              <a:rPr lang="en-US" sz="1600" dirty="0"/>
              <a:t> of the light source will reach the </a:t>
            </a:r>
            <a:r>
              <a:rPr lang="en-US" sz="1600" b="1" dirty="0">
                <a:solidFill>
                  <a:srgbClr val="0000FF"/>
                </a:solidFill>
              </a:rPr>
              <a:t>edge</a:t>
            </a:r>
            <a:r>
              <a:rPr lang="en-US" sz="1600" dirty="0"/>
              <a:t> of the target plane after </a:t>
            </a:r>
            <a:r>
              <a:rPr lang="en-US" sz="1600" b="1" dirty="0">
                <a:highlight>
                  <a:srgbClr val="00FFFF"/>
                </a:highlight>
              </a:rPr>
              <a:t>passing through the optical system</a:t>
            </a:r>
            <a:r>
              <a:rPr lang="en-US" sz="1600" dirty="0"/>
              <a:t>, and any light between the edges will hit the target plane.</a:t>
            </a:r>
            <a:endParaRPr lang="en-US" altLang="zh-CN" sz="1600" dirty="0">
              <a:solidFill>
                <a:srgbClr val="C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7315" y="790575"/>
            <a:ext cx="15354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00CC"/>
                </a:solidFill>
              </a:rPr>
              <a:t>Step 1:</a:t>
            </a:r>
            <a:endParaRPr lang="en-US" altLang="zh-CN" sz="2000" b="1" dirty="0">
              <a:solidFill>
                <a:srgbClr val="0000CC"/>
              </a:solidFill>
            </a:endParaRPr>
          </a:p>
        </p:txBody>
      </p:sp>
      <p:sp>
        <p:nvSpPr>
          <p:cNvPr id="16" name="内容占位符 2"/>
          <p:cNvSpPr txBox="1"/>
          <p:nvPr/>
        </p:nvSpPr>
        <p:spPr>
          <a:xfrm>
            <a:off x="179705" y="117014"/>
            <a:ext cx="7239000" cy="524022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457200" lvl="0" indent="-457200">
              <a:spcBef>
                <a:spcPts val="600"/>
              </a:spcBef>
              <a:buClr>
                <a:schemeClr val="tx2"/>
              </a:buClr>
              <a:buSzPct val="73000"/>
              <a:buFont typeface="Wingdings" panose="05000000000000000000" charset="0"/>
              <a:buChar char="l"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Design principle </a:t>
            </a:r>
            <a:r>
              <a:rPr lang="en-US" altLang="zh-CN" sz="2800" b="1" dirty="0">
                <a:solidFill>
                  <a:srgbClr val="C00000"/>
                </a:solidFill>
              </a:rPr>
              <a:t>of free lens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86316" y="5071789"/>
            <a:ext cx="1944215" cy="5847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 dirty="0"/>
              <a:t>Energy division of light source</a:t>
            </a:r>
            <a:endParaRPr lang="zh-CN" altLang="en-US" sz="1600" b="1" dirty="0"/>
          </a:p>
        </p:txBody>
      </p:sp>
      <p:sp>
        <p:nvSpPr>
          <p:cNvPr id="18" name="矩形 17"/>
          <p:cNvSpPr/>
          <p:nvPr/>
        </p:nvSpPr>
        <p:spPr>
          <a:xfrm>
            <a:off x="2602539" y="4999781"/>
            <a:ext cx="1944215" cy="5847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 dirty="0"/>
              <a:t>Area division of the target plane</a:t>
            </a:r>
            <a:endParaRPr lang="zh-CN" altLang="en-US" sz="1600" b="1" dirty="0"/>
          </a:p>
        </p:txBody>
      </p:sp>
      <p:sp>
        <p:nvSpPr>
          <p:cNvPr id="20" name="矩形 19"/>
          <p:cNvSpPr/>
          <p:nvPr/>
        </p:nvSpPr>
        <p:spPr>
          <a:xfrm>
            <a:off x="1558423" y="3086773"/>
            <a:ext cx="1584176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endParaRPr lang="zh-CN" altLang="en-US" sz="1600" b="1" dirty="0"/>
          </a:p>
        </p:txBody>
      </p:sp>
      <p:sp>
        <p:nvSpPr>
          <p:cNvPr id="23" name="矩形 22"/>
          <p:cNvSpPr/>
          <p:nvPr/>
        </p:nvSpPr>
        <p:spPr>
          <a:xfrm>
            <a:off x="6948235" y="4580715"/>
            <a:ext cx="963725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1400" b="1" dirty="0">
                <a:solidFill>
                  <a:srgbClr val="C00000"/>
                </a:solidFill>
              </a:rPr>
              <a:t>Free lens</a:t>
            </a:r>
            <a:endParaRPr lang="zh-CN" altLang="en-US" sz="1400" dirty="0"/>
          </a:p>
        </p:txBody>
      </p:sp>
      <p:sp>
        <p:nvSpPr>
          <p:cNvPr id="6" name="任意多边形 5"/>
          <p:cNvSpPr/>
          <p:nvPr/>
        </p:nvSpPr>
        <p:spPr>
          <a:xfrm rot="20820000">
            <a:off x="980440" y="3827780"/>
            <a:ext cx="398780" cy="262890"/>
          </a:xfrm>
          <a:custGeom>
            <a:avLst/>
            <a:gdLst>
              <a:gd name="connisteX0" fmla="*/ 0 w 219075"/>
              <a:gd name="connsiteY0" fmla="*/ 0 h 180975"/>
              <a:gd name="connisteX1" fmla="*/ 171450 w 219075"/>
              <a:gd name="connsiteY1" fmla="*/ 28575 h 180975"/>
              <a:gd name="connisteX2" fmla="*/ 219075 w 219075"/>
              <a:gd name="connsiteY2" fmla="*/ 180975 h 1809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219075" h="180975">
                <a:moveTo>
                  <a:pt x="0" y="0"/>
                </a:moveTo>
                <a:cubicBezTo>
                  <a:pt x="33020" y="2540"/>
                  <a:pt x="127635" y="-7620"/>
                  <a:pt x="171450" y="28575"/>
                </a:cubicBezTo>
                <a:cubicBezTo>
                  <a:pt x="215265" y="64770"/>
                  <a:pt x="212725" y="151130"/>
                  <a:pt x="219075" y="180975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526155" y="6134100"/>
            <a:ext cx="4824095" cy="614045"/>
          </a:xfrm>
          <a:prstGeom prst="rect">
            <a:avLst/>
          </a:prstGeom>
          <a:solidFill>
            <a:srgbClr val="00B0F0">
              <a:alpha val="50000"/>
            </a:srgbClr>
          </a:solidFill>
        </p:spPr>
        <p:txBody>
          <a:bodyPr wrap="square" rtlCol="0" anchor="t">
            <a:spAutoFit/>
          </a:bodyPr>
          <a:lstStyle/>
          <a:p>
            <a:r>
              <a:rPr lang="en-US" altLang="zh-CN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</a:t>
            </a:r>
            <a:r>
              <a:rPr lang="en-US" altLang="zh-CN" b="1" i="1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</a:t>
            </a:r>
            <a:r>
              <a:rPr lang="zh-CN" altLang="en-US" b="1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zh-CN" altLang="en-US" sz="1600" b="1"/>
              <a:t>Area </a:t>
            </a:r>
            <a:r>
              <a:rPr lang="en-US" altLang="zh-CN" sz="1600" b="1"/>
              <a:t>equal </a:t>
            </a:r>
            <a:r>
              <a:rPr lang="zh-CN" altLang="en-US" sz="1600" b="1"/>
              <a:t>subunit boundary radi</a:t>
            </a:r>
            <a:r>
              <a:rPr lang="en-US" altLang="zh-CN" sz="1600" b="1"/>
              <a:t>i</a:t>
            </a:r>
            <a:endParaRPr lang="zh-CN" altLang="en-US" sz="1600" b="1"/>
          </a:p>
          <a:p>
            <a:r>
              <a:rPr lang="el-GR" altLang="zh-CN" sz="1600" b="1" i="1" dirty="0">
                <a:solidFill>
                  <a:srgbClr val="FF0000"/>
                </a:solidFill>
                <a:sym typeface="+mn-ea"/>
              </a:rPr>
              <a:t>θ</a:t>
            </a:r>
            <a:r>
              <a:rPr lang="en-US" altLang="zh-CN" sz="1600" b="1" i="1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</a:t>
            </a:r>
            <a:r>
              <a:rPr lang="zh-CN" altLang="en-US" sz="1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zh-CN" altLang="en-US" sz="1600" b="1"/>
              <a:t>Optical flux </a:t>
            </a:r>
            <a:r>
              <a:rPr lang="en-US" altLang="zh-CN" sz="1600" b="1">
                <a:sym typeface="+mn-ea"/>
              </a:rPr>
              <a:t>equal </a:t>
            </a:r>
            <a:r>
              <a:rPr lang="zh-CN" altLang="en-US" sz="1600" b="1">
                <a:sym typeface="+mn-ea"/>
              </a:rPr>
              <a:t>sub</a:t>
            </a:r>
            <a:r>
              <a:rPr lang="en-US" altLang="zh-CN" sz="1600" b="1">
                <a:sym typeface="+mn-ea"/>
              </a:rPr>
              <a:t>unit</a:t>
            </a:r>
            <a:r>
              <a:rPr lang="zh-CN" altLang="en-US" sz="1600" b="1"/>
              <a:t> boundary angles</a:t>
            </a:r>
            <a:endParaRPr lang="zh-CN" altLang="en-US" sz="1600" b="1"/>
          </a:p>
        </p:txBody>
      </p:sp>
      <p:cxnSp>
        <p:nvCxnSpPr>
          <p:cNvPr id="8" name="直接箭头连接符 7"/>
          <p:cNvCxnSpPr/>
          <p:nvPr/>
        </p:nvCxnSpPr>
        <p:spPr>
          <a:xfrm flipH="1" flipV="1">
            <a:off x="2915285" y="3937635"/>
            <a:ext cx="648335" cy="13970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3043555" y="3592195"/>
            <a:ext cx="448945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24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</a:t>
            </a:r>
            <a:r>
              <a:rPr lang="en-US" altLang="zh-CN" sz="2400" i="1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2400" dirty="0">
                <a:solidFill>
                  <a:srgbClr val="FF0000"/>
                </a:solidFill>
                <a:sym typeface="+mn-ea"/>
              </a:rPr>
              <a:t> </a:t>
            </a:r>
            <a:endParaRPr lang="en-US" altLang="zh-CN" sz="2400" dirty="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7504" y="2204864"/>
            <a:ext cx="3992245" cy="12604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en-US" altLang="zh-CN" sz="2000" u="sng" dirty="0">
                <a:solidFill>
                  <a:srgbClr val="FF0000"/>
                </a:solidFill>
              </a:rPr>
              <a:t>Theoretical basis:</a:t>
            </a:r>
            <a:endParaRPr lang="en-US" altLang="zh-CN" sz="2000" u="sng" dirty="0">
              <a:solidFill>
                <a:srgbClr val="FF0000"/>
              </a:solidFill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70C0"/>
                </a:solidFill>
              </a:rPr>
              <a:t>Vector Snell refraction theorem</a:t>
            </a:r>
            <a:r>
              <a:rPr lang="zh-CN" altLang="zh-CN" dirty="0">
                <a:solidFill>
                  <a:srgbClr val="0070C0"/>
                </a:solidFill>
              </a:rPr>
              <a:t>：</a:t>
            </a:r>
            <a:endParaRPr lang="en-US" altLang="zh-CN" dirty="0">
              <a:solidFill>
                <a:srgbClr val="0070C0"/>
              </a:solidFill>
            </a:endParaRPr>
          </a:p>
          <a:p>
            <a:pPr marL="431800">
              <a:spcBef>
                <a:spcPts val="1200"/>
              </a:spcBef>
            </a:pPr>
            <a:r>
              <a:rPr lang="en-US" altLang="zh-CN" b="1" dirty="0">
                <a:solidFill>
                  <a:srgbClr val="C00000"/>
                </a:solidFill>
                <a:highlight>
                  <a:srgbClr val="00FFFF"/>
                </a:highlight>
              </a:rPr>
              <a:t>[1+ </a:t>
            </a:r>
            <a:r>
              <a:rPr lang="en-US" altLang="zh-CN" b="1" i="1" dirty="0">
                <a:solidFill>
                  <a:srgbClr val="C00000"/>
                </a:solidFill>
                <a:highlight>
                  <a:srgbClr val="00FFFF"/>
                </a:highlight>
              </a:rPr>
              <a:t>n</a:t>
            </a:r>
            <a:r>
              <a:rPr lang="en-US" altLang="zh-CN" b="1" baseline="30000" dirty="0">
                <a:solidFill>
                  <a:srgbClr val="C00000"/>
                </a:solidFill>
                <a:highlight>
                  <a:srgbClr val="00FFFF"/>
                </a:highlight>
              </a:rPr>
              <a:t>2</a:t>
            </a:r>
            <a:r>
              <a:rPr lang="en-US" altLang="zh-CN" b="1" dirty="0">
                <a:solidFill>
                  <a:srgbClr val="C00000"/>
                </a:solidFill>
                <a:highlight>
                  <a:srgbClr val="00FFFF"/>
                </a:highlight>
              </a:rPr>
              <a:t> − 2n(</a:t>
            </a:r>
            <a:r>
              <a:rPr lang="en-US" altLang="zh-CN" b="1" i="1" dirty="0">
                <a:solidFill>
                  <a:srgbClr val="C00000"/>
                </a:solidFill>
                <a:highlight>
                  <a:srgbClr val="00FFFF"/>
                </a:highlight>
              </a:rPr>
              <a:t>O</a:t>
            </a:r>
            <a:r>
              <a:rPr lang="en-US" altLang="zh-CN" b="1" dirty="0">
                <a:solidFill>
                  <a:srgbClr val="C00000"/>
                </a:solidFill>
                <a:highlight>
                  <a:srgbClr val="00FFFF"/>
                </a:highlight>
              </a:rPr>
              <a:t>⋅ </a:t>
            </a:r>
            <a:r>
              <a:rPr lang="en-US" altLang="zh-CN" b="1" i="1" dirty="0">
                <a:solidFill>
                  <a:srgbClr val="C00000"/>
                </a:solidFill>
                <a:highlight>
                  <a:srgbClr val="00FFFF"/>
                </a:highlight>
              </a:rPr>
              <a:t>I</a:t>
            </a:r>
            <a:r>
              <a:rPr lang="en-US" altLang="zh-CN" b="1" dirty="0">
                <a:solidFill>
                  <a:srgbClr val="C00000"/>
                </a:solidFill>
                <a:highlight>
                  <a:srgbClr val="00FFFF"/>
                </a:highlight>
              </a:rPr>
              <a:t> )]</a:t>
            </a:r>
            <a:r>
              <a:rPr lang="en-US" altLang="zh-CN" b="1" baseline="30000" dirty="0">
                <a:solidFill>
                  <a:srgbClr val="C00000"/>
                </a:solidFill>
                <a:highlight>
                  <a:srgbClr val="00FFFF"/>
                </a:highlight>
              </a:rPr>
              <a:t>1/2</a:t>
            </a:r>
            <a:r>
              <a:rPr lang="en-US" altLang="zh-CN" b="1" i="1" dirty="0">
                <a:solidFill>
                  <a:srgbClr val="C00000"/>
                </a:solidFill>
                <a:highlight>
                  <a:srgbClr val="00FFFF"/>
                </a:highlight>
              </a:rPr>
              <a:t>N</a:t>
            </a:r>
            <a:r>
              <a:rPr lang="en-US" altLang="zh-CN" b="1" dirty="0">
                <a:solidFill>
                  <a:srgbClr val="C00000"/>
                </a:solidFill>
                <a:highlight>
                  <a:srgbClr val="00FFFF"/>
                </a:highlight>
              </a:rPr>
              <a:t> = </a:t>
            </a:r>
            <a:r>
              <a:rPr lang="en-US" altLang="zh-CN" b="1" i="1" dirty="0">
                <a:solidFill>
                  <a:srgbClr val="C00000"/>
                </a:solidFill>
                <a:highlight>
                  <a:srgbClr val="00FFFF"/>
                </a:highlight>
              </a:rPr>
              <a:t>O</a:t>
            </a:r>
            <a:r>
              <a:rPr lang="en-US" altLang="zh-CN" b="1" dirty="0">
                <a:solidFill>
                  <a:srgbClr val="C00000"/>
                </a:solidFill>
                <a:highlight>
                  <a:srgbClr val="00FFFF"/>
                </a:highlight>
              </a:rPr>
              <a:t> – </a:t>
            </a:r>
            <a:r>
              <a:rPr lang="en-US" altLang="zh-CN" b="1" i="1" dirty="0" err="1">
                <a:solidFill>
                  <a:srgbClr val="C00000"/>
                </a:solidFill>
                <a:highlight>
                  <a:srgbClr val="00FFFF"/>
                </a:highlight>
              </a:rPr>
              <a:t>nI</a:t>
            </a:r>
            <a:endParaRPr lang="en-US" altLang="zh-CN" b="1" i="1" dirty="0" err="1">
              <a:solidFill>
                <a:srgbClr val="C00000"/>
              </a:solidFill>
              <a:highlight>
                <a:srgbClr val="00FFFF"/>
              </a:highlight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79512" y="3356992"/>
            <a:ext cx="3888432" cy="28460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just">
              <a:lnSpc>
                <a:spcPct val="140000"/>
              </a:lnSpc>
            </a:pPr>
            <a:r>
              <a:rPr lang="en-US" altLang="zh-CN" sz="160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where</a:t>
            </a:r>
            <a:r>
              <a:rPr lang="zh-CN" altLang="en-US" sz="160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sz="1600" i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40000"/>
              </a:lnSpc>
            </a:pPr>
            <a:r>
              <a:rPr lang="en-US" sz="1600" b="1" i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I: </a:t>
            </a:r>
            <a:r>
              <a:rPr lang="en-US" altLang="zh-CN" sz="1600" b="1" i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unite vector of the input rays</a:t>
            </a:r>
            <a:r>
              <a:rPr lang="zh-CN" sz="1600" b="1" i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；</a:t>
            </a:r>
            <a:endParaRPr lang="zh-CN" altLang="en-US" sz="1600" b="1" i="1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40000"/>
              </a:lnSpc>
            </a:pPr>
            <a:r>
              <a:rPr lang="en-US" sz="1600" b="1" i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O: </a:t>
            </a:r>
            <a:r>
              <a:rPr lang="en-US" altLang="zh-CN" sz="1600" b="1" i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unite vector of the refracted rays;</a:t>
            </a:r>
            <a:endParaRPr lang="zh-CN" sz="1600" b="1" i="1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indent="0" algn="just">
              <a:lnSpc>
                <a:spcPct val="140000"/>
              </a:lnSpc>
            </a:pPr>
            <a:r>
              <a:rPr lang="en-US" sz="1600" b="1" i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N: n</a:t>
            </a:r>
            <a:r>
              <a:rPr lang="en-US" sz="1600" b="1" i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ormal unit vector at the refraction point;</a:t>
            </a:r>
            <a:endParaRPr lang="zh-CN" sz="1600" b="1" i="1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40000"/>
              </a:lnSpc>
            </a:pPr>
            <a:r>
              <a:rPr lang="en-US" sz="1600" b="1" i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n: </a:t>
            </a:r>
            <a:r>
              <a:rPr lang="en-US" altLang="zh-CN" sz="1600" b="1" i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ratio between the refractive index of the input optical medium  and that of the output optical medium. </a:t>
            </a:r>
            <a:endParaRPr lang="en-US" altLang="zh-CN" sz="1600" b="1" i="1" dirty="0">
              <a:solidFill>
                <a:srgbClr val="0000FF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5496" y="1124744"/>
            <a:ext cx="31407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00CC"/>
                </a:solidFill>
              </a:rPr>
              <a:t>Step 2: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p:sp>
        <p:nvSpPr>
          <p:cNvPr id="58" name="内容占位符 2"/>
          <p:cNvSpPr txBox="1"/>
          <p:nvPr/>
        </p:nvSpPr>
        <p:spPr>
          <a:xfrm>
            <a:off x="0" y="260648"/>
            <a:ext cx="7239000" cy="524022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73000"/>
              <a:buFont typeface="Wingdings 2"/>
              <a:buChar char=""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Design principle of free lens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393562" y="1184096"/>
            <a:ext cx="6048672" cy="461665"/>
          </a:xfrm>
          <a:prstGeom prst="rect">
            <a:avLst/>
          </a:prstGeom>
          <a:solidFill>
            <a:srgbClr val="00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</a:rPr>
              <a:t>Find out lens surface curve coordinates P</a:t>
            </a:r>
            <a:r>
              <a:rPr lang="en-US" altLang="zh-CN" sz="2400" i="1" baseline="-25000" dirty="0">
                <a:solidFill>
                  <a:srgbClr val="FF0000"/>
                </a:solidFill>
              </a:rPr>
              <a:t>i</a:t>
            </a:r>
            <a:r>
              <a:rPr lang="en-US" altLang="zh-CN" sz="2400" dirty="0">
                <a:solidFill>
                  <a:srgbClr val="FF0000"/>
                </a:solidFill>
              </a:rPr>
              <a:t> ! </a:t>
            </a:r>
            <a:endParaRPr lang="zh-CN" altLang="en-US" sz="2400" i="1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6" name="直接连接符 65"/>
          <p:cNvCxnSpPr/>
          <p:nvPr/>
        </p:nvCxnSpPr>
        <p:spPr>
          <a:xfrm>
            <a:off x="4724000" y="5351688"/>
            <a:ext cx="27360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4214813" y="5457998"/>
            <a:ext cx="341987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altLang="zh-CN" b="1" dirty="0">
              <a:solidFill>
                <a:srgbClr val="002060"/>
              </a:solidFill>
            </a:endParaRPr>
          </a:p>
          <a:p>
            <a:pPr algn="ctr"/>
            <a:r>
              <a:rPr lang="en-US" altLang="zh-CN" b="1" dirty="0">
                <a:solidFill>
                  <a:srgbClr val="002060"/>
                </a:solidFill>
              </a:rPr>
              <a:t>Schematic diagram of the lens surface curve</a:t>
            </a:r>
            <a:endParaRPr lang="zh-CN" altLang="en-US" b="1" dirty="0">
              <a:solidFill>
                <a:srgbClr val="002060"/>
              </a:solidFill>
            </a:endParaRPr>
          </a:p>
        </p:txBody>
      </p:sp>
      <p:cxnSp>
        <p:nvCxnSpPr>
          <p:cNvPr id="68" name="直接连接符 67"/>
          <p:cNvCxnSpPr/>
          <p:nvPr/>
        </p:nvCxnSpPr>
        <p:spPr>
          <a:xfrm>
            <a:off x="4779640" y="2274788"/>
            <a:ext cx="0" cy="30600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4783598" y="3736970"/>
            <a:ext cx="0" cy="1584176"/>
          </a:xfrm>
          <a:prstGeom prst="line">
            <a:avLst/>
          </a:prstGeom>
          <a:ln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/>
          <p:nvPr/>
        </p:nvCxnSpPr>
        <p:spPr>
          <a:xfrm>
            <a:off x="4779640" y="3746023"/>
            <a:ext cx="36004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>
            <a:off x="5139680" y="3746023"/>
            <a:ext cx="288032" cy="12466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>
            <a:off x="5436096" y="3870685"/>
            <a:ext cx="288032" cy="18002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>
            <a:off x="5724128" y="4053888"/>
            <a:ext cx="288032" cy="311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 flipV="1">
            <a:off x="4783598" y="3746023"/>
            <a:ext cx="356082" cy="15648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/>
          <p:nvPr/>
        </p:nvCxnSpPr>
        <p:spPr>
          <a:xfrm flipV="1">
            <a:off x="4783598" y="3870685"/>
            <a:ext cx="644114" cy="14401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 flipV="1">
            <a:off x="4783598" y="4053888"/>
            <a:ext cx="940530" cy="126725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/>
          <p:cNvCxnSpPr/>
          <p:nvPr/>
        </p:nvCxnSpPr>
        <p:spPr>
          <a:xfrm flipV="1">
            <a:off x="5139680" y="2790565"/>
            <a:ext cx="728464" cy="94640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>
            <a:off x="4431245" y="2790565"/>
            <a:ext cx="367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/>
          <p:cNvCxnSpPr/>
          <p:nvPr/>
        </p:nvCxnSpPr>
        <p:spPr>
          <a:xfrm flipV="1">
            <a:off x="5436096" y="2790565"/>
            <a:ext cx="1359768" cy="1080120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/>
          <p:nvPr/>
        </p:nvCxnSpPr>
        <p:spPr>
          <a:xfrm flipV="1">
            <a:off x="5724128" y="2821342"/>
            <a:ext cx="1966307" cy="1232547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/>
          <p:cNvCxnSpPr/>
          <p:nvPr/>
        </p:nvCxnSpPr>
        <p:spPr>
          <a:xfrm flipV="1">
            <a:off x="5139680" y="3422226"/>
            <a:ext cx="114183" cy="314744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/>
          <p:cNvCxnSpPr/>
          <p:nvPr/>
        </p:nvCxnSpPr>
        <p:spPr>
          <a:xfrm flipV="1">
            <a:off x="5436096" y="3579598"/>
            <a:ext cx="207640" cy="291087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/>
          <p:cNvCxnSpPr/>
          <p:nvPr/>
        </p:nvCxnSpPr>
        <p:spPr>
          <a:xfrm flipV="1">
            <a:off x="5715075" y="3746023"/>
            <a:ext cx="277685" cy="307865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6199690" y="2236688"/>
            <a:ext cx="18756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Adobe Gothic Std B" pitchFamily="34" charset="-128"/>
                <a:ea typeface="Adobe Gothic Std B" pitchFamily="34" charset="-128"/>
              </a:rPr>
              <a:t>Target plane</a:t>
            </a:r>
            <a:endParaRPr lang="zh-CN" altLang="en-US" sz="1600" b="1" dirty="0">
              <a:latin typeface="Adobe Gothic Std B" pitchFamily="34" charset="-128"/>
              <a:ea typeface="华文宋体" pitchFamily="2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6597927" y="2433662"/>
            <a:ext cx="39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715744" y="2439339"/>
            <a:ext cx="605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492498" y="2444619"/>
            <a:ext cx="39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7740352" y="2486327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89" name="TextBox 88"/>
          <p:cNvSpPr txBox="1"/>
          <p:nvPr/>
        </p:nvSpPr>
        <p:spPr>
          <a:xfrm>
            <a:off x="5344688" y="4706520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90" name="矩形 89"/>
          <p:cNvSpPr/>
          <p:nvPr/>
        </p:nvSpPr>
        <p:spPr>
          <a:xfrm>
            <a:off x="4617339" y="4524631"/>
            <a:ext cx="3914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zh-CN" i="1" dirty="0">
                <a:solidFill>
                  <a:srgbClr val="FF0000"/>
                </a:solidFill>
              </a:rPr>
              <a:t>θ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/>
          </a:p>
        </p:txBody>
      </p:sp>
      <p:sp>
        <p:nvSpPr>
          <p:cNvPr id="91" name="任意多边形 90"/>
          <p:cNvSpPr/>
          <p:nvPr/>
        </p:nvSpPr>
        <p:spPr>
          <a:xfrm>
            <a:off x="4781378" y="4898089"/>
            <a:ext cx="99588" cy="18106"/>
          </a:xfrm>
          <a:custGeom>
            <a:avLst/>
            <a:gdLst>
              <a:gd name="connsiteX0" fmla="*/ 0 w 99588"/>
              <a:gd name="connsiteY0" fmla="*/ 18106 h 18106"/>
              <a:gd name="connsiteX1" fmla="*/ 45267 w 99588"/>
              <a:gd name="connsiteY1" fmla="*/ 0 h 18106"/>
              <a:gd name="connsiteX2" fmla="*/ 99588 w 99588"/>
              <a:gd name="connsiteY2" fmla="*/ 18106 h 18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9588" h="18106">
                <a:moveTo>
                  <a:pt x="0" y="18106"/>
                </a:moveTo>
                <a:cubicBezTo>
                  <a:pt x="15089" y="12071"/>
                  <a:pt x="29016" y="0"/>
                  <a:pt x="45267" y="0"/>
                </a:cubicBezTo>
                <a:cubicBezTo>
                  <a:pt x="64353" y="0"/>
                  <a:pt x="99588" y="18106"/>
                  <a:pt x="99588" y="18106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/>
          <p:cNvSpPr/>
          <p:nvPr/>
        </p:nvSpPr>
        <p:spPr>
          <a:xfrm>
            <a:off x="4744253" y="4184732"/>
            <a:ext cx="3914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zh-CN" i="1" dirty="0">
                <a:solidFill>
                  <a:srgbClr val="FF0000"/>
                </a:solidFill>
              </a:rPr>
              <a:t>θ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/>
          </a:p>
        </p:txBody>
      </p:sp>
      <p:sp>
        <p:nvSpPr>
          <p:cNvPr id="95" name="矩形 94"/>
          <p:cNvSpPr/>
          <p:nvPr/>
        </p:nvSpPr>
        <p:spPr>
          <a:xfrm>
            <a:off x="5182584" y="4095253"/>
            <a:ext cx="3914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zh-CN" i="1" dirty="0">
                <a:solidFill>
                  <a:srgbClr val="FF0000"/>
                </a:solidFill>
              </a:rPr>
              <a:t>θ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dirty="0"/>
          </a:p>
        </p:txBody>
      </p:sp>
      <p:sp>
        <p:nvSpPr>
          <p:cNvPr id="96" name="TextBox 95"/>
          <p:cNvSpPr txBox="1"/>
          <p:nvPr/>
        </p:nvSpPr>
        <p:spPr>
          <a:xfrm>
            <a:off x="4556302" y="5375048"/>
            <a:ext cx="961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LED</a:t>
            </a:r>
            <a:endParaRPr lang="zh-CN" altLang="en-US" dirty="0"/>
          </a:p>
        </p:txBody>
      </p:sp>
      <p:sp>
        <p:nvSpPr>
          <p:cNvPr id="97" name="TextBox 96"/>
          <p:cNvSpPr txBox="1"/>
          <p:nvPr/>
        </p:nvSpPr>
        <p:spPr>
          <a:xfrm>
            <a:off x="5585955" y="4449886"/>
            <a:ext cx="1800200" cy="307777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Lens surface curve</a:t>
            </a:r>
            <a:endParaRPr lang="zh-CN" altLang="en-US" sz="1400" b="1" dirty="0"/>
          </a:p>
        </p:txBody>
      </p:sp>
      <p:cxnSp>
        <p:nvCxnSpPr>
          <p:cNvPr id="98" name="直接连接符 97"/>
          <p:cNvCxnSpPr/>
          <p:nvPr/>
        </p:nvCxnSpPr>
        <p:spPr>
          <a:xfrm>
            <a:off x="6012160" y="4362188"/>
            <a:ext cx="144016" cy="38199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4432930" y="3532131"/>
            <a:ext cx="5249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P</a:t>
            </a:r>
            <a:r>
              <a:rPr lang="en-US" altLang="zh-CN" sz="1600" baseline="-25000" dirty="0"/>
              <a:t>0</a:t>
            </a:r>
            <a:endParaRPr lang="zh-CN" altLang="en-US" sz="1600" baseline="-25000" dirty="0"/>
          </a:p>
        </p:txBody>
      </p:sp>
      <p:sp>
        <p:nvSpPr>
          <p:cNvPr id="101" name="TextBox 100"/>
          <p:cNvSpPr txBox="1"/>
          <p:nvPr/>
        </p:nvSpPr>
        <p:spPr>
          <a:xfrm>
            <a:off x="4864566" y="3451694"/>
            <a:ext cx="5249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P</a:t>
            </a:r>
            <a:r>
              <a:rPr lang="en-US" altLang="zh-CN" sz="1600" baseline="-25000" dirty="0"/>
              <a:t>1</a:t>
            </a:r>
            <a:endParaRPr lang="zh-CN" altLang="en-US" sz="1600" baseline="-25000" dirty="0"/>
          </a:p>
        </p:txBody>
      </p:sp>
      <p:sp>
        <p:nvSpPr>
          <p:cNvPr id="102" name="TextBox 101"/>
          <p:cNvSpPr txBox="1"/>
          <p:nvPr/>
        </p:nvSpPr>
        <p:spPr>
          <a:xfrm>
            <a:off x="5190754" y="3555864"/>
            <a:ext cx="5249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P</a:t>
            </a:r>
            <a:r>
              <a:rPr lang="en-US" altLang="zh-CN" sz="1600" baseline="-25000" dirty="0"/>
              <a:t>2</a:t>
            </a:r>
            <a:endParaRPr lang="zh-CN" altLang="en-US" sz="1600" baseline="-25000" dirty="0"/>
          </a:p>
        </p:txBody>
      </p:sp>
      <p:sp>
        <p:nvSpPr>
          <p:cNvPr id="103" name="TextBox 102"/>
          <p:cNvSpPr txBox="1"/>
          <p:nvPr/>
        </p:nvSpPr>
        <p:spPr>
          <a:xfrm>
            <a:off x="5517410" y="3723518"/>
            <a:ext cx="5249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P</a:t>
            </a:r>
            <a:r>
              <a:rPr lang="en-US" altLang="zh-CN" sz="1600" baseline="-25000" dirty="0"/>
              <a:t>3</a:t>
            </a:r>
            <a:endParaRPr lang="zh-CN" altLang="en-US" sz="1600" baseline="-25000" dirty="0"/>
          </a:p>
        </p:txBody>
      </p:sp>
      <p:sp>
        <p:nvSpPr>
          <p:cNvPr id="104" name="TextBox 103"/>
          <p:cNvSpPr txBox="1"/>
          <p:nvPr/>
        </p:nvSpPr>
        <p:spPr>
          <a:xfrm>
            <a:off x="5859760" y="3942693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105" name="TextBox 104"/>
          <p:cNvSpPr txBox="1"/>
          <p:nvPr/>
        </p:nvSpPr>
        <p:spPr>
          <a:xfrm>
            <a:off x="5003187" y="3052894"/>
            <a:ext cx="605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5479423" y="3225420"/>
            <a:ext cx="605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5896703" y="3450801"/>
            <a:ext cx="605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4724000" y="5321146"/>
            <a:ext cx="144016" cy="5875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TextBox 108"/>
          <p:cNvSpPr txBox="1"/>
          <p:nvPr/>
        </p:nvSpPr>
        <p:spPr>
          <a:xfrm>
            <a:off x="4499353" y="5088161"/>
            <a:ext cx="8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/>
              <a:t>o</a:t>
            </a:r>
            <a:endParaRPr lang="zh-CN" altLang="en-US" i="1" dirty="0"/>
          </a:p>
        </p:txBody>
      </p:sp>
      <p:sp>
        <p:nvSpPr>
          <p:cNvPr id="110" name="TextBox 109"/>
          <p:cNvSpPr txBox="1"/>
          <p:nvPr/>
        </p:nvSpPr>
        <p:spPr>
          <a:xfrm>
            <a:off x="4466333" y="2134359"/>
            <a:ext cx="8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/>
              <a:t>x</a:t>
            </a:r>
            <a:endParaRPr lang="zh-CN" altLang="en-US" i="1" dirty="0"/>
          </a:p>
        </p:txBody>
      </p:sp>
      <p:sp>
        <p:nvSpPr>
          <p:cNvPr id="111" name="TextBox 110"/>
          <p:cNvSpPr txBox="1"/>
          <p:nvPr/>
        </p:nvSpPr>
        <p:spPr>
          <a:xfrm>
            <a:off x="7383626" y="5120669"/>
            <a:ext cx="8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/>
              <a:t>Y</a:t>
            </a:r>
            <a:endParaRPr lang="zh-CN" altLang="en-US" i="1" dirty="0"/>
          </a:p>
        </p:txBody>
      </p:sp>
      <p:sp>
        <p:nvSpPr>
          <p:cNvPr id="3" name="矩形 2"/>
          <p:cNvSpPr/>
          <p:nvPr/>
        </p:nvSpPr>
        <p:spPr>
          <a:xfrm>
            <a:off x="107504" y="2112891"/>
            <a:ext cx="3992245" cy="4104456"/>
          </a:xfrm>
          <a:prstGeom prst="rect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矩形 111"/>
          <p:cNvSpPr/>
          <p:nvPr/>
        </p:nvSpPr>
        <p:spPr>
          <a:xfrm>
            <a:off x="5657792" y="4891186"/>
            <a:ext cx="3577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zh-CN" i="1" dirty="0">
                <a:solidFill>
                  <a:srgbClr val="FF0000"/>
                </a:solidFill>
              </a:rPr>
              <a:t>θ</a:t>
            </a:r>
            <a:r>
              <a:rPr lang="en-US" altLang="zh-CN" i="1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CN" altLang="en-US" dirty="0"/>
          </a:p>
        </p:txBody>
      </p:sp>
      <p:sp>
        <p:nvSpPr>
          <p:cNvPr id="113" name="TextBox 112"/>
          <p:cNvSpPr txBox="1"/>
          <p:nvPr/>
        </p:nvSpPr>
        <p:spPr>
          <a:xfrm>
            <a:off x="4417898" y="2421233"/>
            <a:ext cx="605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弧形 1"/>
          <p:cNvSpPr/>
          <p:nvPr/>
        </p:nvSpPr>
        <p:spPr>
          <a:xfrm rot="19740000">
            <a:off x="4768215" y="4476750"/>
            <a:ext cx="334645" cy="575945"/>
          </a:xfrm>
          <a:prstGeom prst="arc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弧形 3"/>
          <p:cNvSpPr/>
          <p:nvPr/>
        </p:nvSpPr>
        <p:spPr>
          <a:xfrm rot="19740000">
            <a:off x="4773930" y="3896995"/>
            <a:ext cx="569595" cy="1378585"/>
          </a:xfrm>
          <a:prstGeom prst="arc">
            <a:avLst>
              <a:gd name="adj1" fmla="val 16643160"/>
              <a:gd name="adj2" fmla="val 1400897"/>
            </a:avLst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直接连接符 65"/>
          <p:cNvCxnSpPr/>
          <p:nvPr/>
        </p:nvCxnSpPr>
        <p:spPr>
          <a:xfrm>
            <a:off x="2823445" y="4538253"/>
            <a:ext cx="27360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2171383" y="5589443"/>
            <a:ext cx="341987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altLang="zh-CN" b="1" dirty="0">
              <a:solidFill>
                <a:srgbClr val="002060"/>
              </a:solidFill>
            </a:endParaRPr>
          </a:p>
          <a:p>
            <a:pPr algn="ctr"/>
            <a:r>
              <a:rPr lang="zh-CN" altLang="en-US" b="1" dirty="0">
                <a:sym typeface="+mn-ea"/>
              </a:rPr>
              <a:t>自由透镜表面曲线构造示意图</a:t>
            </a:r>
            <a:endParaRPr lang="zh-CN" altLang="en-US" b="1" dirty="0">
              <a:sym typeface="+mn-ea"/>
            </a:endParaRPr>
          </a:p>
        </p:txBody>
      </p:sp>
      <p:cxnSp>
        <p:nvCxnSpPr>
          <p:cNvPr id="68" name="直接连接符 67"/>
          <p:cNvCxnSpPr/>
          <p:nvPr/>
        </p:nvCxnSpPr>
        <p:spPr>
          <a:xfrm>
            <a:off x="2879085" y="1461353"/>
            <a:ext cx="0" cy="30600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2883043" y="2923535"/>
            <a:ext cx="0" cy="1584176"/>
          </a:xfrm>
          <a:prstGeom prst="line">
            <a:avLst/>
          </a:prstGeom>
          <a:ln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/>
          <p:nvPr/>
        </p:nvCxnSpPr>
        <p:spPr>
          <a:xfrm>
            <a:off x="2879085" y="2932588"/>
            <a:ext cx="36004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>
            <a:off x="3239125" y="2932588"/>
            <a:ext cx="288032" cy="12466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>
            <a:off x="3535541" y="3057250"/>
            <a:ext cx="288032" cy="18002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>
            <a:off x="3823573" y="3240453"/>
            <a:ext cx="288032" cy="311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 flipV="1">
            <a:off x="2883043" y="2932588"/>
            <a:ext cx="356082" cy="15648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/>
          <p:nvPr/>
        </p:nvCxnSpPr>
        <p:spPr>
          <a:xfrm flipV="1">
            <a:off x="2883043" y="3057250"/>
            <a:ext cx="644114" cy="14401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 flipV="1">
            <a:off x="2883043" y="3240453"/>
            <a:ext cx="940530" cy="126725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/>
          <p:cNvCxnSpPr/>
          <p:nvPr/>
        </p:nvCxnSpPr>
        <p:spPr>
          <a:xfrm flipV="1">
            <a:off x="3239125" y="1977130"/>
            <a:ext cx="728464" cy="946405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>
            <a:off x="2530690" y="1977130"/>
            <a:ext cx="367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/>
          <p:cNvCxnSpPr/>
          <p:nvPr/>
        </p:nvCxnSpPr>
        <p:spPr>
          <a:xfrm flipV="1">
            <a:off x="3535541" y="1977130"/>
            <a:ext cx="1359768" cy="1080120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/>
          <p:nvPr/>
        </p:nvCxnSpPr>
        <p:spPr>
          <a:xfrm flipV="1">
            <a:off x="3823573" y="2007907"/>
            <a:ext cx="1966307" cy="1232547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/>
          <p:cNvCxnSpPr/>
          <p:nvPr/>
        </p:nvCxnSpPr>
        <p:spPr>
          <a:xfrm flipV="1">
            <a:off x="3239125" y="2608791"/>
            <a:ext cx="114183" cy="314744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/>
          <p:cNvCxnSpPr/>
          <p:nvPr/>
        </p:nvCxnSpPr>
        <p:spPr>
          <a:xfrm flipV="1">
            <a:off x="3535541" y="2766163"/>
            <a:ext cx="207640" cy="291087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/>
          <p:cNvCxnSpPr/>
          <p:nvPr/>
        </p:nvCxnSpPr>
        <p:spPr>
          <a:xfrm flipV="1">
            <a:off x="3814520" y="2932588"/>
            <a:ext cx="277685" cy="307865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4572185" y="1413093"/>
            <a:ext cx="18756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Adobe Gothic Std B" pitchFamily="34" charset="-128"/>
                <a:ea typeface="华文宋体" pitchFamily="2" charset="-122"/>
              </a:rPr>
              <a:t>目标平面</a:t>
            </a:r>
            <a:endParaRPr lang="zh-CN" altLang="en-US" sz="1600" b="1" dirty="0">
              <a:latin typeface="Adobe Gothic Std B" pitchFamily="34" charset="-128"/>
              <a:ea typeface="华文宋体" pitchFamily="2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4697372" y="1620227"/>
            <a:ext cx="39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3815189" y="1625904"/>
            <a:ext cx="605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5591943" y="1631184"/>
            <a:ext cx="39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5839797" y="167289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89" name="TextBox 88"/>
          <p:cNvSpPr txBox="1"/>
          <p:nvPr/>
        </p:nvSpPr>
        <p:spPr>
          <a:xfrm>
            <a:off x="3444133" y="3893085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90" name="矩形 89"/>
          <p:cNvSpPr/>
          <p:nvPr/>
        </p:nvSpPr>
        <p:spPr>
          <a:xfrm>
            <a:off x="2716784" y="3711196"/>
            <a:ext cx="3914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zh-CN" i="1" dirty="0">
                <a:solidFill>
                  <a:srgbClr val="FF0000"/>
                </a:solidFill>
              </a:rPr>
              <a:t>θ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/>
          </a:p>
        </p:txBody>
      </p:sp>
      <p:sp>
        <p:nvSpPr>
          <p:cNvPr id="91" name="任意多边形 90"/>
          <p:cNvSpPr/>
          <p:nvPr/>
        </p:nvSpPr>
        <p:spPr>
          <a:xfrm>
            <a:off x="2880823" y="4084654"/>
            <a:ext cx="99588" cy="18106"/>
          </a:xfrm>
          <a:custGeom>
            <a:avLst/>
            <a:gdLst>
              <a:gd name="connsiteX0" fmla="*/ 0 w 99588"/>
              <a:gd name="connsiteY0" fmla="*/ 18106 h 18106"/>
              <a:gd name="connsiteX1" fmla="*/ 45267 w 99588"/>
              <a:gd name="connsiteY1" fmla="*/ 0 h 18106"/>
              <a:gd name="connsiteX2" fmla="*/ 99588 w 99588"/>
              <a:gd name="connsiteY2" fmla="*/ 18106 h 18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9588" h="18106">
                <a:moveTo>
                  <a:pt x="0" y="18106"/>
                </a:moveTo>
                <a:cubicBezTo>
                  <a:pt x="15089" y="12071"/>
                  <a:pt x="29016" y="0"/>
                  <a:pt x="45267" y="0"/>
                </a:cubicBezTo>
                <a:cubicBezTo>
                  <a:pt x="64353" y="0"/>
                  <a:pt x="99588" y="18106"/>
                  <a:pt x="99588" y="18106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/>
          <p:cNvSpPr/>
          <p:nvPr/>
        </p:nvSpPr>
        <p:spPr>
          <a:xfrm>
            <a:off x="2843698" y="3371297"/>
            <a:ext cx="3914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zh-CN" i="1" dirty="0">
                <a:solidFill>
                  <a:srgbClr val="FF0000"/>
                </a:solidFill>
              </a:rPr>
              <a:t>θ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/>
          </a:p>
        </p:txBody>
      </p:sp>
      <p:sp>
        <p:nvSpPr>
          <p:cNvPr id="95" name="矩形 94"/>
          <p:cNvSpPr/>
          <p:nvPr/>
        </p:nvSpPr>
        <p:spPr>
          <a:xfrm>
            <a:off x="3282029" y="3281818"/>
            <a:ext cx="3914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zh-CN" i="1" dirty="0">
                <a:solidFill>
                  <a:srgbClr val="FF0000"/>
                </a:solidFill>
              </a:rPr>
              <a:t>θ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dirty="0"/>
          </a:p>
        </p:txBody>
      </p:sp>
      <p:sp>
        <p:nvSpPr>
          <p:cNvPr id="96" name="TextBox 95"/>
          <p:cNvSpPr txBox="1"/>
          <p:nvPr/>
        </p:nvSpPr>
        <p:spPr>
          <a:xfrm>
            <a:off x="2655747" y="4561613"/>
            <a:ext cx="961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LED</a:t>
            </a:r>
            <a:endParaRPr lang="zh-CN" altLang="en-US" dirty="0"/>
          </a:p>
        </p:txBody>
      </p:sp>
      <p:sp>
        <p:nvSpPr>
          <p:cNvPr id="97" name="TextBox 96"/>
          <p:cNvSpPr txBox="1"/>
          <p:nvPr/>
        </p:nvSpPr>
        <p:spPr>
          <a:xfrm>
            <a:off x="3827640" y="3932996"/>
            <a:ext cx="1800200" cy="30670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自由透镜表面曲线</a:t>
            </a:r>
            <a:endParaRPr lang="zh-CN" altLang="en-US" sz="1400" b="1" dirty="0"/>
          </a:p>
        </p:txBody>
      </p:sp>
      <p:cxnSp>
        <p:nvCxnSpPr>
          <p:cNvPr id="98" name="直接连接符 97"/>
          <p:cNvCxnSpPr/>
          <p:nvPr/>
        </p:nvCxnSpPr>
        <p:spPr>
          <a:xfrm>
            <a:off x="4111605" y="3548753"/>
            <a:ext cx="144016" cy="38199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2532375" y="2718696"/>
            <a:ext cx="5249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P</a:t>
            </a:r>
            <a:r>
              <a:rPr lang="en-US" altLang="zh-CN" sz="1600" baseline="-25000" dirty="0"/>
              <a:t>0</a:t>
            </a:r>
            <a:endParaRPr lang="zh-CN" altLang="en-US" sz="1600" baseline="-25000" dirty="0"/>
          </a:p>
        </p:txBody>
      </p:sp>
      <p:sp>
        <p:nvSpPr>
          <p:cNvPr id="101" name="TextBox 100"/>
          <p:cNvSpPr txBox="1"/>
          <p:nvPr/>
        </p:nvSpPr>
        <p:spPr>
          <a:xfrm>
            <a:off x="2964011" y="2638259"/>
            <a:ext cx="5249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P</a:t>
            </a:r>
            <a:r>
              <a:rPr lang="en-US" altLang="zh-CN" sz="1600" baseline="-25000" dirty="0"/>
              <a:t>1</a:t>
            </a:r>
            <a:endParaRPr lang="zh-CN" altLang="en-US" sz="1600" baseline="-25000" dirty="0"/>
          </a:p>
        </p:txBody>
      </p:sp>
      <p:sp>
        <p:nvSpPr>
          <p:cNvPr id="102" name="TextBox 101"/>
          <p:cNvSpPr txBox="1"/>
          <p:nvPr/>
        </p:nvSpPr>
        <p:spPr>
          <a:xfrm>
            <a:off x="3290199" y="2742429"/>
            <a:ext cx="5249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P</a:t>
            </a:r>
            <a:r>
              <a:rPr lang="en-US" altLang="zh-CN" sz="1600" baseline="-25000" dirty="0"/>
              <a:t>2</a:t>
            </a:r>
            <a:endParaRPr lang="zh-CN" altLang="en-US" sz="1600" baseline="-25000" dirty="0"/>
          </a:p>
        </p:txBody>
      </p:sp>
      <p:sp>
        <p:nvSpPr>
          <p:cNvPr id="103" name="TextBox 102"/>
          <p:cNvSpPr txBox="1"/>
          <p:nvPr/>
        </p:nvSpPr>
        <p:spPr>
          <a:xfrm>
            <a:off x="3616855" y="2910083"/>
            <a:ext cx="5249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P</a:t>
            </a:r>
            <a:r>
              <a:rPr lang="en-US" altLang="zh-CN" sz="1600" baseline="-25000" dirty="0"/>
              <a:t>3</a:t>
            </a:r>
            <a:endParaRPr lang="zh-CN" altLang="en-US" sz="1600" baseline="-25000" dirty="0"/>
          </a:p>
        </p:txBody>
      </p:sp>
      <p:sp>
        <p:nvSpPr>
          <p:cNvPr id="104" name="TextBox 103"/>
          <p:cNvSpPr txBox="1"/>
          <p:nvPr/>
        </p:nvSpPr>
        <p:spPr>
          <a:xfrm>
            <a:off x="3959205" y="3129258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105" name="TextBox 104"/>
          <p:cNvSpPr txBox="1"/>
          <p:nvPr/>
        </p:nvSpPr>
        <p:spPr>
          <a:xfrm>
            <a:off x="3102632" y="2239459"/>
            <a:ext cx="605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3578868" y="2411985"/>
            <a:ext cx="605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3996148" y="2637366"/>
            <a:ext cx="605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2823445" y="4507711"/>
            <a:ext cx="144016" cy="5875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TextBox 108"/>
          <p:cNvSpPr txBox="1"/>
          <p:nvPr/>
        </p:nvSpPr>
        <p:spPr>
          <a:xfrm>
            <a:off x="2598798" y="4274726"/>
            <a:ext cx="8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/>
              <a:t>o</a:t>
            </a:r>
            <a:endParaRPr lang="zh-CN" altLang="en-US" i="1" dirty="0"/>
          </a:p>
        </p:txBody>
      </p:sp>
      <p:sp>
        <p:nvSpPr>
          <p:cNvPr id="110" name="TextBox 109"/>
          <p:cNvSpPr txBox="1"/>
          <p:nvPr/>
        </p:nvSpPr>
        <p:spPr>
          <a:xfrm>
            <a:off x="2565778" y="1320924"/>
            <a:ext cx="8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/>
              <a:t>x</a:t>
            </a:r>
            <a:endParaRPr lang="zh-CN" altLang="en-US" i="1" dirty="0"/>
          </a:p>
        </p:txBody>
      </p:sp>
      <p:sp>
        <p:nvSpPr>
          <p:cNvPr id="111" name="TextBox 110"/>
          <p:cNvSpPr txBox="1"/>
          <p:nvPr/>
        </p:nvSpPr>
        <p:spPr>
          <a:xfrm>
            <a:off x="5483071" y="4307234"/>
            <a:ext cx="8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/>
              <a:t>Y</a:t>
            </a:r>
            <a:endParaRPr lang="zh-CN" altLang="en-US" i="1" dirty="0"/>
          </a:p>
        </p:txBody>
      </p:sp>
      <p:sp>
        <p:nvSpPr>
          <p:cNvPr id="112" name="矩形 111"/>
          <p:cNvSpPr/>
          <p:nvPr/>
        </p:nvSpPr>
        <p:spPr>
          <a:xfrm>
            <a:off x="3757237" y="4077751"/>
            <a:ext cx="3577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zh-CN" i="1" dirty="0">
                <a:solidFill>
                  <a:srgbClr val="FF0000"/>
                </a:solidFill>
              </a:rPr>
              <a:t>θ</a:t>
            </a:r>
            <a:r>
              <a:rPr lang="en-US" altLang="zh-CN" i="1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CN" altLang="en-US" dirty="0"/>
          </a:p>
        </p:txBody>
      </p:sp>
      <p:sp>
        <p:nvSpPr>
          <p:cNvPr id="113" name="TextBox 112"/>
          <p:cNvSpPr txBox="1"/>
          <p:nvPr/>
        </p:nvSpPr>
        <p:spPr>
          <a:xfrm>
            <a:off x="2517343" y="1607798"/>
            <a:ext cx="605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弧形 3"/>
          <p:cNvSpPr/>
          <p:nvPr/>
        </p:nvSpPr>
        <p:spPr>
          <a:xfrm rot="19740000">
            <a:off x="2867660" y="3663315"/>
            <a:ext cx="334645" cy="575945"/>
          </a:xfrm>
          <a:prstGeom prst="arc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弧形 4"/>
          <p:cNvSpPr/>
          <p:nvPr/>
        </p:nvSpPr>
        <p:spPr>
          <a:xfrm rot="19740000">
            <a:off x="2873375" y="3083560"/>
            <a:ext cx="569595" cy="1378585"/>
          </a:xfrm>
          <a:prstGeom prst="arc">
            <a:avLst>
              <a:gd name="adj1" fmla="val 16643160"/>
              <a:gd name="adj2" fmla="val 1400897"/>
            </a:avLst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204864"/>
            <a:ext cx="7219950" cy="295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971600" y="5877272"/>
            <a:ext cx="7043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002060"/>
                </a:solidFill>
              </a:rPr>
              <a:t>Schematic diagram of the construction of the free surface lens.</a:t>
            </a:r>
            <a:endParaRPr lang="zh-CN" altLang="en-US" b="1" dirty="0">
              <a:solidFill>
                <a:srgbClr val="00206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496" y="1124744"/>
            <a:ext cx="31407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00CC"/>
                </a:solidFill>
              </a:rPr>
              <a:t>Step 3: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p:sp>
        <p:nvSpPr>
          <p:cNvPr id="10" name="内容占位符 2"/>
          <p:cNvSpPr txBox="1"/>
          <p:nvPr/>
        </p:nvSpPr>
        <p:spPr>
          <a:xfrm>
            <a:off x="0" y="260648"/>
            <a:ext cx="7239000" cy="524022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73000"/>
              <a:buFont typeface="Wingdings 2"/>
              <a:buChar char=""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Design principle of free lens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75656" y="1124744"/>
            <a:ext cx="2664296" cy="523220"/>
          </a:xfrm>
          <a:prstGeom prst="rect">
            <a:avLst/>
          </a:prstGeom>
          <a:solidFill>
            <a:srgbClr val="00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rgbClr val="FF0000"/>
                </a:solidFill>
              </a:rPr>
              <a:t>Construct lens! </a:t>
            </a:r>
            <a:endParaRPr lang="zh-CN" altLang="en-US" sz="2800" i="1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7544" y="3068960"/>
            <a:ext cx="864096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Vertex</a:t>
            </a:r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11560" y="4365104"/>
            <a:ext cx="151216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Lens curve</a:t>
            </a:r>
            <a:endParaRPr lang="zh-CN" altLang="en-US" sz="16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3563888" y="4602614"/>
            <a:ext cx="2736304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Tangent plane of the lens.</a:t>
            </a:r>
            <a:endParaRPr lang="zh-CN" altLang="en-US" sz="16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6740624" y="4437112"/>
            <a:ext cx="711696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Lens</a:t>
            </a:r>
            <a:endParaRPr lang="zh-CN" altLang="en-US" sz="1600" b="1" dirty="0"/>
          </a:p>
        </p:txBody>
      </p:sp>
      <p:sp>
        <p:nvSpPr>
          <p:cNvPr id="16" name="矩形 15"/>
          <p:cNvSpPr/>
          <p:nvPr/>
        </p:nvSpPr>
        <p:spPr>
          <a:xfrm>
            <a:off x="323528" y="2132856"/>
            <a:ext cx="3024336" cy="302433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971600" y="5127575"/>
            <a:ext cx="2376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By MATLAB</a:t>
            </a:r>
            <a:endParaRPr lang="zh-CN" altLang="en-US" sz="2400" b="1" dirty="0"/>
          </a:p>
        </p:txBody>
      </p:sp>
      <p:sp>
        <p:nvSpPr>
          <p:cNvPr id="18" name="矩形 17"/>
          <p:cNvSpPr/>
          <p:nvPr/>
        </p:nvSpPr>
        <p:spPr>
          <a:xfrm>
            <a:off x="3419872" y="2132856"/>
            <a:ext cx="4536504" cy="302433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4716016" y="5085184"/>
            <a:ext cx="2376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By </a:t>
            </a:r>
            <a:r>
              <a:rPr lang="en-US" altLang="zh-CN" sz="2400" b="1" dirty="0" err="1"/>
              <a:t>Solidwork</a:t>
            </a:r>
            <a:endParaRPr lang="zh-CN" altLang="en-US" sz="24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35496" y="1124744"/>
            <a:ext cx="31407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00CC"/>
                </a:solidFill>
              </a:rPr>
              <a:t>Step 4: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p:sp>
        <p:nvSpPr>
          <p:cNvPr id="10" name="内容占位符 2"/>
          <p:cNvSpPr txBox="1"/>
          <p:nvPr/>
        </p:nvSpPr>
        <p:spPr>
          <a:xfrm>
            <a:off x="0" y="260648"/>
            <a:ext cx="7239000" cy="524022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73000"/>
              <a:buFont typeface="Wingdings 2"/>
              <a:buChar char=""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Design principle of free lens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75740" y="1124585"/>
            <a:ext cx="5909310" cy="521970"/>
          </a:xfrm>
          <a:prstGeom prst="rect">
            <a:avLst/>
          </a:prstGeom>
          <a:solidFill>
            <a:srgbClr val="00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rgbClr val="FF0000"/>
                </a:solidFill>
              </a:rPr>
              <a:t>Simulation by </a:t>
            </a:r>
            <a:r>
              <a:rPr lang="en-US" altLang="zh-CN" sz="2800" dirty="0" err="1">
                <a:solidFill>
                  <a:srgbClr val="FF0000"/>
                </a:solidFill>
              </a:rPr>
              <a:t>TracePro and Zemax</a:t>
            </a:r>
            <a:r>
              <a:rPr lang="en-US" altLang="zh-CN" sz="2800" dirty="0">
                <a:solidFill>
                  <a:srgbClr val="FF0000"/>
                </a:solidFill>
              </a:rPr>
              <a:t>! </a:t>
            </a:r>
            <a:endParaRPr lang="zh-CN" altLang="en-US" sz="2800" i="1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51520" y="2060848"/>
            <a:ext cx="7597352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000" b="1" dirty="0">
                <a:solidFill>
                  <a:srgbClr val="FF0000"/>
                </a:solidFill>
              </a:rPr>
              <a:t>Method : </a:t>
            </a:r>
            <a:r>
              <a:rPr lang="en-US" altLang="zh-CN" sz="2000" b="1" dirty="0">
                <a:solidFill>
                  <a:srgbClr val="0070C0"/>
                </a:solidFill>
              </a:rPr>
              <a:t>Using the </a:t>
            </a:r>
            <a:r>
              <a:rPr lang="en-US" altLang="zh-CN" sz="2000" b="1" dirty="0" err="1">
                <a:solidFill>
                  <a:srgbClr val="0070C0"/>
                </a:solidFill>
              </a:rPr>
              <a:t>TracePro</a:t>
            </a:r>
            <a:r>
              <a:rPr lang="en-US" altLang="zh-CN" sz="2000" b="1" dirty="0">
                <a:solidFill>
                  <a:srgbClr val="0070C0"/>
                </a:solidFill>
              </a:rPr>
              <a:t> and Zemax to evaluate the lens by calculating the uniformity of  the </a:t>
            </a:r>
            <a:r>
              <a:rPr lang="en-US" altLang="zh-CN" sz="2000" b="1" dirty="0" err="1">
                <a:solidFill>
                  <a:srgbClr val="0070C0"/>
                </a:solidFill>
              </a:rPr>
              <a:t>illuminance</a:t>
            </a:r>
            <a:r>
              <a:rPr lang="en-US" altLang="zh-CN" sz="2000" b="1" dirty="0">
                <a:solidFill>
                  <a:srgbClr val="0070C0"/>
                </a:solidFill>
              </a:rPr>
              <a:t> on the target plane, and the uniformity of  the </a:t>
            </a:r>
            <a:r>
              <a:rPr lang="en-US" altLang="zh-CN" sz="2000" b="1" dirty="0" err="1">
                <a:solidFill>
                  <a:srgbClr val="0070C0"/>
                </a:solidFill>
              </a:rPr>
              <a:t>illuminance</a:t>
            </a:r>
            <a:r>
              <a:rPr lang="en-US" altLang="zh-CN" sz="2000" b="1" dirty="0">
                <a:solidFill>
                  <a:srgbClr val="0070C0"/>
                </a:solidFill>
              </a:rPr>
              <a:t> </a:t>
            </a:r>
            <a:r>
              <a:rPr lang="zh-CN" altLang="en-US" sz="2000" b="1" dirty="0">
                <a:solidFill>
                  <a:srgbClr val="0070C0"/>
                </a:solidFill>
              </a:rPr>
              <a:t> </a:t>
            </a:r>
            <a:r>
              <a:rPr lang="en-US" sz="2000" dirty="0">
                <a:solidFill>
                  <a:srgbClr val="0070C0"/>
                </a:solidFill>
              </a:rPr>
              <a:t>U</a:t>
            </a:r>
            <a:r>
              <a:rPr lang="en-US" sz="2000" baseline="-25000" dirty="0">
                <a:solidFill>
                  <a:srgbClr val="0070C0"/>
                </a:solidFill>
              </a:rPr>
              <a:t>E</a:t>
            </a:r>
            <a:r>
              <a:rPr lang="en-US" sz="2000" dirty="0">
                <a:solidFill>
                  <a:srgbClr val="0070C0"/>
                </a:solidFill>
              </a:rPr>
              <a:t> should be larger than 0.9.</a:t>
            </a:r>
            <a:endParaRPr lang="zh-CN" altLang="en-US" sz="20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51520" y="188640"/>
            <a:ext cx="7239000" cy="1143000"/>
          </a:xfrm>
        </p:spPr>
        <p:txBody>
          <a:bodyPr/>
          <a:lstStyle/>
          <a:p>
            <a:r>
              <a:rPr lang="en-US" altLang="zh-CN" cap="none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Notice:</a:t>
            </a:r>
            <a:endParaRPr lang="zh-CN" altLang="en-US" cap="none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23528" y="1405662"/>
            <a:ext cx="7704856" cy="469359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50419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Lens material: PMMA (refractive index: 1.49);</a:t>
            </a:r>
            <a:endParaRPr lang="en-US" altLang="zh-CN" sz="2400" dirty="0">
              <a:solidFill>
                <a:srgbClr val="00206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04190" lvl="0" indent="-457200" fontAlgn="base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Height of the lens: 7 mm;</a:t>
            </a:r>
            <a:endParaRPr lang="en-US" altLang="zh-CN" sz="2400" dirty="0">
              <a:solidFill>
                <a:srgbClr val="00206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0419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l"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Position of the target plane:</a:t>
            </a:r>
            <a:r>
              <a:rPr kumimoji="0" lang="en-US" altLang="zh-CN" sz="2400" b="0" i="0" u="none" strike="noStrike" cap="none" normalizeH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1m from the LED;</a:t>
            </a:r>
            <a:endParaRPr kumimoji="0" lang="en-US" altLang="zh-CN" sz="2400" b="0" i="0" u="none" strike="noStrike" cap="none" normalizeH="0" dirty="0">
              <a:ln>
                <a:noFill/>
              </a:ln>
              <a:solidFill>
                <a:srgbClr val="00206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0419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l"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Shape of</a:t>
            </a:r>
            <a:r>
              <a:rPr kumimoji="0" lang="en-US" altLang="zh-CN" sz="2400" b="0" i="0" u="none" strike="noStrike" cap="none" normalizeH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the light spot on the target plane: round;</a:t>
            </a:r>
            <a:endParaRPr kumimoji="0" lang="en-US" altLang="zh-CN" sz="2400" b="0" i="0" u="none" strike="noStrike" cap="none" normalizeH="0" dirty="0">
              <a:ln>
                <a:noFill/>
              </a:ln>
              <a:solidFill>
                <a:srgbClr val="00206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04190" lvl="0" indent="-457200"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Light distribution curve </a:t>
            </a:r>
            <a:r>
              <a:rPr lang="en-US" altLang="zh-CN" sz="2400" i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solidFill>
                  <a:srgbClr val="00206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θ</a:t>
            </a:r>
            <a:r>
              <a:rPr lang="en-US" altLang="zh-CN" sz="2400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of the LED: </a:t>
            </a:r>
            <a:r>
              <a:rPr lang="en-US" altLang="zh-CN" sz="2400" i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solidFill>
                  <a:srgbClr val="00206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θ</a:t>
            </a:r>
            <a:r>
              <a:rPr lang="en-US" altLang="zh-CN" sz="2400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)=</a:t>
            </a:r>
            <a:r>
              <a:rPr lang="en-US" altLang="zh-CN" sz="2400" i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400" baseline="-30000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400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cos(</a:t>
            </a:r>
            <a:r>
              <a:rPr lang="en-US" altLang="zh-CN" sz="2400" i="1" dirty="0">
                <a:solidFill>
                  <a:srgbClr val="00206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θ</a:t>
            </a:r>
            <a:r>
              <a:rPr lang="en-US" altLang="zh-CN" sz="2400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), for convenience, </a:t>
            </a:r>
            <a:r>
              <a:rPr lang="en-US" altLang="zh-CN" sz="2400" i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400" baseline="-30000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400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=1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0419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l"/>
            </a:pPr>
            <a:r>
              <a:rPr kumimoji="0" lang="en-US" altLang="zh-CN" sz="2400" b="0" i="0" u="none" strike="noStrike" cap="none" normalizeH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Size of </a:t>
            </a:r>
            <a:r>
              <a:rPr lang="en-US" altLang="zh-CN" sz="2400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LED:1mm*1mm*0.1mm;</a:t>
            </a:r>
            <a:endParaRPr lang="en-US" altLang="zh-CN" sz="2400" dirty="0">
              <a:solidFill>
                <a:srgbClr val="00206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04190" lvl="0" indent="-457200"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Luminous angle range: 120°</a:t>
            </a:r>
            <a:r>
              <a:rPr lang="zh-CN" alt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sz="2400" dirty="0">
              <a:solidFill>
                <a:srgbClr val="00206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0419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l"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Since the height of the lens</a:t>
            </a:r>
            <a:r>
              <a:rPr kumimoji="0" lang="en-US" altLang="zh-CN" sz="2400" b="0" i="0" u="none" strike="noStrike" cap="none" normalizeH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is much larger than the size of the LED, the LED source can be considered as a point source.</a:t>
            </a:r>
            <a:endParaRPr kumimoji="0" lang="zh-CN" altLang="en-US" sz="48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Requirments</a:t>
            </a:r>
            <a:r>
              <a:rPr lang="en-US" altLang="zh-CN" dirty="0"/>
              <a:t>: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altLang="zh-CN" dirty="0"/>
              <a:t>1. The report should include the description of the experimental process, the MATLAB code, picture of the lens, both TracePro and Zemax simulation results (</a:t>
            </a:r>
            <a:r>
              <a:rPr lang="en-US" altLang="zh-CN" b="1" dirty="0"/>
              <a:t>with</a:t>
            </a:r>
            <a:r>
              <a:rPr lang="en-US" altLang="zh-CN" dirty="0"/>
              <a:t> and</a:t>
            </a:r>
            <a:r>
              <a:rPr lang="en-US" altLang="zh-CN" b="1" dirty="0"/>
              <a:t> without </a:t>
            </a:r>
            <a:r>
              <a:rPr lang="en-US" altLang="zh-CN" dirty="0"/>
              <a:t>lens).</a:t>
            </a:r>
            <a:endParaRPr lang="en-US" altLang="zh-CN" dirty="0"/>
          </a:p>
          <a:p>
            <a:pPr algn="just"/>
            <a:r>
              <a:rPr lang="en-US" altLang="zh-CN" dirty="0">
                <a:sym typeface="+mn-ea"/>
              </a:rPr>
              <a:t>2. Simulation results for radii of bottom semisphere of 1.5,2,3,4mm </a:t>
            </a:r>
            <a:r>
              <a:rPr lang="en-US" altLang="zh-CN" dirty="0">
                <a:sym typeface="+mn-ea"/>
              </a:rPr>
              <a:t>and 5mm should all be given,including the corresponding illuminance uniformities.</a:t>
            </a:r>
            <a:endParaRPr lang="en-US" altLang="zh-CN" dirty="0"/>
          </a:p>
          <a:p>
            <a:pPr algn="just"/>
            <a:r>
              <a:rPr lang="en-US" altLang="zh-CN" dirty="0"/>
              <a:t>3. The report should be submitted through Blackboard.</a:t>
            </a:r>
            <a:endParaRPr lang="en-US" altLang="zh-CN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WIyNzc2MjMzNzRkNWUyZGE3ZDc5M2U5NWFlODgxYWQ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华丽">
  <a:themeElements>
    <a:clrScheme name="华丽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华丽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华丽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0</TotalTime>
  <Words>3042</Words>
  <Application>WPS 演示</Application>
  <PresentationFormat>全屏显示(4:3)</PresentationFormat>
  <Paragraphs>209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8" baseType="lpstr">
      <vt:lpstr>Arial</vt:lpstr>
      <vt:lpstr>宋体</vt:lpstr>
      <vt:lpstr>Wingdings</vt:lpstr>
      <vt:lpstr>Wingdings 2</vt:lpstr>
      <vt:lpstr>Wingdings</vt:lpstr>
      <vt:lpstr>Wingdings</vt:lpstr>
      <vt:lpstr>微软雅黑</vt:lpstr>
      <vt:lpstr>Times New Roman</vt:lpstr>
      <vt:lpstr>Adobe Gothic Std B</vt:lpstr>
      <vt:lpstr>华文宋体</vt:lpstr>
      <vt:lpstr>Yu Gothic</vt:lpstr>
      <vt:lpstr>Calibri</vt:lpstr>
      <vt:lpstr>Trebuchet MS</vt:lpstr>
      <vt:lpstr>华文新魏</vt:lpstr>
      <vt:lpstr>XcGJSymbol</vt:lpstr>
      <vt:lpstr>Arial Unicode MS</vt:lpstr>
      <vt:lpstr>黑体</vt:lpstr>
      <vt:lpstr>华丽</vt:lpstr>
      <vt:lpstr> Exp 4 Design Of Free Lens for Single LED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Notice:</vt:lpstr>
      <vt:lpstr>Requirments: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dpcuser</dc:creator>
  <cp:lastModifiedBy>徐琳琳</cp:lastModifiedBy>
  <cp:revision>197</cp:revision>
  <dcterms:created xsi:type="dcterms:W3CDTF">2017-10-27T02:45:00Z</dcterms:created>
  <dcterms:modified xsi:type="dcterms:W3CDTF">2025-10-28T09:04:46Z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05722E9104654373B0301828DA8720A8</vt:lpwstr>
  </property>
</Properties>
</file>