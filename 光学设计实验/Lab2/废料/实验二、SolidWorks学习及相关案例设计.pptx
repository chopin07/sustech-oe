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6"/>
  </p:notesMasterIdLst>
  <p:sldIdLst>
    <p:sldId id="256" r:id="rId3"/>
    <p:sldId id="275" r:id="rId4"/>
    <p:sldId id="273" r:id="rId5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00CC"/>
    <a:srgbClr val="800000"/>
    <a:srgbClr val="660066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296" y="108"/>
      </p:cViewPr>
      <p:guideLst>
        <p:guide orient="horz" pos="212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defRPr/>
            </a:pPr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335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825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 panose="05000000000000000000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 panose="05000000000000000000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1930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225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215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anose="05000000000000000000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43530" y="1844675"/>
            <a:ext cx="5832475" cy="1420495"/>
          </a:xfrm>
        </p:spPr>
        <p:txBody>
          <a:bodyPr/>
          <a:lstStyle/>
          <a:p>
            <a:pPr algn="l"/>
            <a:r>
              <a:rPr lang="zh-CN" altLang="en-US" cap="none" dirty="0" err="1"/>
              <a:t>实验二、</a:t>
            </a:r>
            <a:r>
              <a:rPr lang="en-US" altLang="zh-CN" cap="none" dirty="0"/>
              <a:t>Solid work</a:t>
            </a:r>
            <a:r>
              <a:rPr lang="zh-CN" altLang="en-US" cap="none" dirty="0"/>
              <a:t>学习及相关案例设计</a:t>
            </a:r>
            <a:endParaRPr lang="zh-CN" altLang="en-US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1043620" y="188640"/>
            <a:ext cx="677108" cy="63367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</a:rPr>
              <a:t>《Optical design experiment》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88352" y="479765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FF00"/>
                </a:solidFill>
              </a:rPr>
              <a:t>Teacher: </a:t>
            </a:r>
            <a:r>
              <a:rPr lang="en-US" altLang="zh-CN" sz="2400" dirty="0" err="1">
                <a:solidFill>
                  <a:srgbClr val="FFFF00"/>
                </a:solidFill>
              </a:rPr>
              <a:t>Xu</a:t>
            </a:r>
            <a:r>
              <a:rPr lang="en-US" altLang="zh-CN" sz="2400" dirty="0">
                <a:solidFill>
                  <a:srgbClr val="FFFF00"/>
                </a:solidFill>
              </a:rPr>
              <a:t> </a:t>
            </a:r>
            <a:r>
              <a:rPr lang="en-US" altLang="zh-CN" sz="2400" dirty="0" err="1">
                <a:solidFill>
                  <a:srgbClr val="FFFF00"/>
                </a:solidFill>
              </a:rPr>
              <a:t>linlin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07315" y="116840"/>
            <a:ext cx="60267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sz="20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实验目的</a:t>
            </a:r>
            <a:endParaRPr lang="zh-CN" altLang="en-US" sz="20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9705" y="476885"/>
            <a:ext cx="6837680" cy="737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p"/>
            </a:pPr>
            <a:r>
              <a:rPr lang="zh-CN" alt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练习用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Solid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ork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机械设计软件建模三维实体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（参考步骤见群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ord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文件：实验二、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SolidWorks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学习及相关案例设计）</a:t>
            </a:r>
            <a:endParaRPr lang="zh-CN" altLang="en-US" sz="12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99135" y="1351915"/>
            <a:ext cx="6823075" cy="274955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547495" y="6165850"/>
            <a:ext cx="5534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实验四及实验五的自由曲面透镜设计流程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135" y="1411605"/>
            <a:ext cx="3221355" cy="2573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5" y="1411605"/>
            <a:ext cx="3336925" cy="2611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6285" y="2851785"/>
            <a:ext cx="1346200" cy="567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 dirty="0">
                <a:solidFill>
                  <a:srgbClr val="C00000"/>
                </a:solidFill>
                <a:ea typeface="宋体" panose="02010600030101010101" pitchFamily="2" charset="-122"/>
              </a:rPr>
              <a:t>①</a:t>
            </a:r>
            <a:r>
              <a:rPr lang="en-US" altLang="zh-CN" sz="1400" b="1" dirty="0">
                <a:solidFill>
                  <a:srgbClr val="C00000"/>
                </a:solidFill>
                <a:ea typeface="宋体" panose="02010600030101010101" pitchFamily="2" charset="-122"/>
              </a:rPr>
              <a:t>  </a:t>
            </a:r>
            <a:endParaRPr lang="en-US" altLang="zh-CN" sz="1400" b="1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 algn="ctr"/>
            <a:r>
              <a:rPr lang="en-US" altLang="zh-CN" sz="1400" b="1" dirty="0">
                <a:solidFill>
                  <a:srgbClr val="C00000"/>
                </a:solidFill>
              </a:rPr>
              <a:t>By MATLAB</a:t>
            </a:r>
            <a:endParaRPr lang="en-US" altLang="zh-CN" sz="1400" b="1" dirty="0">
              <a:solidFill>
                <a:srgbClr val="C00000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396240" y="4148455"/>
            <a:ext cx="3426460" cy="1910080"/>
            <a:chOff x="5654" y="6306"/>
            <a:chExt cx="5396" cy="3008"/>
          </a:xfrm>
        </p:grpSpPr>
        <p:sp>
          <p:nvSpPr>
            <p:cNvPr id="18" name="矩形 17"/>
            <p:cNvSpPr/>
            <p:nvPr/>
          </p:nvSpPr>
          <p:spPr>
            <a:xfrm>
              <a:off x="6090" y="6306"/>
              <a:ext cx="4961" cy="300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4151" t="8180" r="6264" b="5610"/>
            <a:stretch>
              <a:fillRect/>
            </a:stretch>
          </p:blipFill>
          <p:spPr>
            <a:xfrm>
              <a:off x="6537" y="6874"/>
              <a:ext cx="4067" cy="1986"/>
            </a:xfrm>
            <a:prstGeom prst="rect">
              <a:avLst/>
            </a:prstGeom>
          </p:spPr>
        </p:pic>
        <p:sp>
          <p:nvSpPr>
            <p:cNvPr id="9" name="TextBox 16"/>
            <p:cNvSpPr txBox="1"/>
            <p:nvPr/>
          </p:nvSpPr>
          <p:spPr>
            <a:xfrm>
              <a:off x="5654" y="6311"/>
              <a:ext cx="2970" cy="8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ea typeface="宋体" panose="02010600030101010101" pitchFamily="2" charset="-122"/>
                </a:rPr>
                <a:t>②</a:t>
              </a:r>
              <a:r>
                <a:rPr lang="en-US" altLang="zh-CN" sz="1400" b="1" dirty="0">
                  <a:solidFill>
                    <a:srgbClr val="C00000"/>
                  </a:solidFill>
                  <a:ea typeface="宋体" panose="02010600030101010101" pitchFamily="2" charset="-122"/>
                </a:rPr>
                <a:t>  </a:t>
              </a:r>
              <a:endParaRPr lang="en-US" altLang="zh-CN" sz="1400" b="1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</a:rPr>
                <a:t>By SolidWorks</a:t>
              </a:r>
              <a:endParaRPr lang="en-US" altLang="zh-CN" sz="14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769995" y="4148455"/>
            <a:ext cx="3752215" cy="1910080"/>
            <a:chOff x="-283" y="6307"/>
            <a:chExt cx="5909" cy="3008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42" y="6420"/>
              <a:ext cx="3200" cy="278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306" y="6307"/>
              <a:ext cx="5320" cy="300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TextBox 16"/>
            <p:cNvSpPr txBox="1"/>
            <p:nvPr/>
          </p:nvSpPr>
          <p:spPr>
            <a:xfrm>
              <a:off x="-283" y="6311"/>
              <a:ext cx="2970" cy="8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ea typeface="宋体" panose="02010600030101010101" pitchFamily="2" charset="-122"/>
                </a:rPr>
                <a:t>③</a:t>
              </a:r>
              <a:r>
                <a:rPr lang="en-US" altLang="zh-CN" sz="1400" b="1" dirty="0">
                  <a:solidFill>
                    <a:srgbClr val="C00000"/>
                  </a:solidFill>
                  <a:ea typeface="宋体" panose="02010600030101010101" pitchFamily="2" charset="-122"/>
                </a:rPr>
                <a:t>  </a:t>
              </a:r>
              <a:endParaRPr lang="en-US" altLang="zh-CN" sz="1400" b="1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</a:rPr>
                <a:t>By TracePro</a:t>
              </a:r>
              <a:endParaRPr lang="en-US" altLang="zh-CN" sz="1400" b="1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548640"/>
            <a:ext cx="7239000" cy="38735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800" dirty="0" err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实验要求：</a:t>
            </a:r>
            <a:endParaRPr lang="zh-CN" altLang="en-US" sz="2800" dirty="0" err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1082040"/>
            <a:ext cx="7239000" cy="178308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给出曲线的数学表达式；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>
              <a:buNone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给出数据（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TXT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格式）；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>
              <a:buNone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给出最终构造的三维实体结构的正视图和仰视图；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just">
              <a:buNone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实验报告在本次实验课结束两周内在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BlackBoard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上提交。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1145" y="3011170"/>
            <a:ext cx="721931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注意（重要！）：</a:t>
            </a:r>
            <a:endParaRPr lang="zh-CN" altLang="en-US" sz="16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39750" indent="-26987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rabicPeriod"/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提交的所有资料打包在一个压缩包，命名方式为：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实验二、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SolidWorks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学习及相关案例设计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+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姓名。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  <a:p>
            <a:pPr marL="539750" indent="-269875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Times New Roman" panose="02020603050405020304"/>
              <a:buAutoNum type="arabicPeriod"/>
            </a:pP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在</a:t>
            </a:r>
            <a:r>
              <a:rPr lang="en-US" altLang="zh-CN" sz="1600">
                <a:latin typeface="Calibri" panose="020F0502020204030204"/>
                <a:ea typeface="Calibri" panose="020F0502020204030204"/>
              </a:rPr>
              <a:t>BlackBoard</a:t>
            </a:r>
            <a:r>
              <a:rPr lang="zh-CN" altLang="en-US" sz="1600">
                <a:latin typeface="Calibri" panose="020F0502020204030204"/>
                <a:ea typeface="宋体" panose="02010600030101010101" pitchFamily="2" charset="-122"/>
              </a:rPr>
              <a:t>上提交实验报告。</a:t>
            </a:r>
            <a:endParaRPr lang="zh-CN" altLang="en-US" sz="1600"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IyNzc2MjMzNzRkNWUyZGE3ZDc5M2U5NWFlODgxYW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365</Words>
  <Application>WPS 演示</Application>
  <PresentationFormat>全屏显示(4:3)</PresentationFormat>
  <Paragraphs>33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9" baseType="lpstr">
      <vt:lpstr>Arial</vt:lpstr>
      <vt:lpstr>宋体</vt:lpstr>
      <vt:lpstr>Wingdings</vt:lpstr>
      <vt:lpstr>Wingdings 2</vt:lpstr>
      <vt:lpstr>Wingdings</vt:lpstr>
      <vt:lpstr>Wingdings</vt:lpstr>
      <vt:lpstr>微软雅黑</vt:lpstr>
      <vt:lpstr>Trebuchet MS</vt:lpstr>
      <vt:lpstr>黑体</vt:lpstr>
      <vt:lpstr>华文新魏</vt:lpstr>
      <vt:lpstr>XcGJSymbol</vt:lpstr>
      <vt:lpstr>Arial Unicode MS</vt:lpstr>
      <vt:lpstr>Calibri</vt:lpstr>
      <vt:lpstr>Times New Roman</vt:lpstr>
      <vt:lpstr>Calibri</vt:lpstr>
      <vt:lpstr>华丽</vt:lpstr>
      <vt:lpstr>实验二、Solid work学习及相关案例设计</vt:lpstr>
      <vt:lpstr>PowerPoint 演示文稿</vt:lpstr>
      <vt:lpstr>实验要求：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dpcuser</dc:creator>
  <cp:lastModifiedBy>徐琳琳</cp:lastModifiedBy>
  <cp:revision>199</cp:revision>
  <dcterms:created xsi:type="dcterms:W3CDTF">2017-10-27T02:45:00Z</dcterms:created>
  <dcterms:modified xsi:type="dcterms:W3CDTF">2025-09-25T03:26:11Z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05722E9104654373B0301828DA8720A8</vt:lpwstr>
  </property>
</Properties>
</file>