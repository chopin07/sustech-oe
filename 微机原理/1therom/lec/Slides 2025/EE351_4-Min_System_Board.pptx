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9"/>
  </p:notesMasterIdLst>
  <p:handoutMasterIdLst>
    <p:handoutMasterId r:id="rId80"/>
  </p:handoutMasterIdLst>
  <p:sldIdLst>
    <p:sldId id="256" r:id="rId2"/>
    <p:sldId id="710" r:id="rId3"/>
    <p:sldId id="544" r:id="rId4"/>
    <p:sldId id="545" r:id="rId5"/>
    <p:sldId id="546" r:id="rId6"/>
    <p:sldId id="547" r:id="rId7"/>
    <p:sldId id="548" r:id="rId8"/>
    <p:sldId id="555" r:id="rId9"/>
    <p:sldId id="557" r:id="rId10"/>
    <p:sldId id="558" r:id="rId11"/>
    <p:sldId id="560" r:id="rId12"/>
    <p:sldId id="562" r:id="rId13"/>
    <p:sldId id="565" r:id="rId14"/>
    <p:sldId id="566" r:id="rId15"/>
    <p:sldId id="693" r:id="rId16"/>
    <p:sldId id="852" r:id="rId17"/>
    <p:sldId id="853" r:id="rId18"/>
    <p:sldId id="569" r:id="rId19"/>
    <p:sldId id="570" r:id="rId20"/>
    <p:sldId id="714" r:id="rId21"/>
    <p:sldId id="715" r:id="rId22"/>
    <p:sldId id="716" r:id="rId23"/>
    <p:sldId id="717" r:id="rId24"/>
    <p:sldId id="574" r:id="rId25"/>
    <p:sldId id="576" r:id="rId26"/>
    <p:sldId id="578" r:id="rId27"/>
    <p:sldId id="580" r:id="rId28"/>
    <p:sldId id="859" r:id="rId29"/>
    <p:sldId id="860" r:id="rId30"/>
    <p:sldId id="867" r:id="rId31"/>
    <p:sldId id="868" r:id="rId32"/>
    <p:sldId id="873" r:id="rId33"/>
    <p:sldId id="874" r:id="rId34"/>
    <p:sldId id="876" r:id="rId35"/>
    <p:sldId id="880" r:id="rId36"/>
    <p:sldId id="881" r:id="rId37"/>
    <p:sldId id="886" r:id="rId38"/>
    <p:sldId id="887" r:id="rId39"/>
    <p:sldId id="888" r:id="rId40"/>
    <p:sldId id="889" r:id="rId41"/>
    <p:sldId id="890" r:id="rId42"/>
    <p:sldId id="891" r:id="rId43"/>
    <p:sldId id="892" r:id="rId44"/>
    <p:sldId id="893" r:id="rId45"/>
    <p:sldId id="894" r:id="rId46"/>
    <p:sldId id="895" r:id="rId47"/>
    <p:sldId id="896" r:id="rId48"/>
    <p:sldId id="897" r:id="rId49"/>
    <p:sldId id="898" r:id="rId50"/>
    <p:sldId id="901" r:id="rId51"/>
    <p:sldId id="902" r:id="rId52"/>
    <p:sldId id="903" r:id="rId53"/>
    <p:sldId id="907" r:id="rId54"/>
    <p:sldId id="908" r:id="rId55"/>
    <p:sldId id="909" r:id="rId56"/>
    <p:sldId id="910" r:id="rId57"/>
    <p:sldId id="911" r:id="rId58"/>
    <p:sldId id="912" r:id="rId59"/>
    <p:sldId id="913" r:id="rId60"/>
    <p:sldId id="914" r:id="rId61"/>
    <p:sldId id="915" r:id="rId62"/>
    <p:sldId id="916" r:id="rId63"/>
    <p:sldId id="917" r:id="rId64"/>
    <p:sldId id="918" r:id="rId65"/>
    <p:sldId id="919" r:id="rId66"/>
    <p:sldId id="920" r:id="rId67"/>
    <p:sldId id="921" r:id="rId68"/>
    <p:sldId id="922" r:id="rId69"/>
    <p:sldId id="923" r:id="rId70"/>
    <p:sldId id="925" r:id="rId71"/>
    <p:sldId id="926" r:id="rId72"/>
    <p:sldId id="942" r:id="rId73"/>
    <p:sldId id="943" r:id="rId74"/>
    <p:sldId id="944" r:id="rId75"/>
    <p:sldId id="945" r:id="rId76"/>
    <p:sldId id="946" r:id="rId77"/>
    <p:sldId id="951" r:id="rId7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刘 智杰" initials="刘" lastIdx="2" clrIdx="0"/>
  <p:cmAuthor id="2" name="Junmin JIANG" initials="JJ" lastIdx="1" clrIdx="1"/>
  <p:cmAuthor id="3" name="沛栋 曾" initials="沛曾"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844" autoAdjust="0"/>
    <p:restoredTop sz="94660"/>
  </p:normalViewPr>
  <p:slideViewPr>
    <p:cSldViewPr snapToGrid="0">
      <p:cViewPr varScale="1">
        <p:scale>
          <a:sx n="88" d="100"/>
          <a:sy n="88" d="100"/>
        </p:scale>
        <p:origin x="90" y="14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handoutMaster" Target="handoutMasters/handoutMaster1.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2025/11/12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628296-B209-4162-AF4A-E323FDC1A48F}" type="datetimeFigureOut">
              <a:rPr lang="zh-CN" altLang="en-US" smtClean="0"/>
              <a:t>2025/11/12</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6006A0-4049-417E-9E0D-DFA905CF9D1E}"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ChangeArrowheads="1" noTextEdit="1"/>
          </p:cNvSpPr>
          <p:nvPr>
            <p:ph type="sldImg"/>
          </p:nvPr>
        </p:nvSpPr>
        <p:spPr/>
      </p:sp>
      <p:sp>
        <p:nvSpPr>
          <p:cNvPr id="24579" name="备注占位符 2"/>
          <p:cNvSpPr>
            <a:spLocks noGrp="1" noChangeArrowheads="1"/>
          </p:cNvSpPr>
          <p:nvPr>
            <p:ph type="body" idx="1"/>
          </p:nvPr>
        </p:nvSpPr>
        <p:spPr>
          <a:noFill/>
        </p:spPr>
        <p:txBody>
          <a:bodyPr/>
          <a:lstStyle/>
          <a:p>
            <a:pPr eaLnBrk="1" hangingPunct="1"/>
            <a:endParaRPr lang="zh-CN" altLang="en-US">
              <a:latin typeface="Arial" panose="020B0604020202020204" pitchFamily="34" charset="0"/>
            </a:endParaRPr>
          </a:p>
        </p:txBody>
      </p:sp>
      <p:sp>
        <p:nvSpPr>
          <p:cNvPr id="24580" name="灯片编号占位符 3"/>
          <p:cNvSpPr>
            <a:spLocks noGrp="1"/>
          </p:cNvSpPr>
          <p:nvPr>
            <p:ph type="sldNum" sz="quarter" idx="5"/>
          </p:nvPr>
        </p:nvSpPr>
        <p:spPr>
          <a:noFill/>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r"/>
            <a:fld id="{083E1DC8-30FD-4C95-9846-D6A113307A9D}" type="slidenum">
              <a:rPr lang="en-US" altLang="zh-CN">
                <a:latin typeface="Arial" panose="020B0604020202020204" pitchFamily="34" charset="0"/>
              </a:rPr>
              <a:t>5</a:t>
            </a:fld>
            <a:endParaRPr lang="en-US" altLang="zh-CN">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ChangeArrowheads="1" noTextEdit="1"/>
          </p:cNvSpPr>
          <p:nvPr>
            <p:ph type="sldImg"/>
          </p:nvPr>
        </p:nvSpPr>
        <p:spPr/>
      </p:sp>
      <p:sp>
        <p:nvSpPr>
          <p:cNvPr id="33795" name="备注占位符 2"/>
          <p:cNvSpPr>
            <a:spLocks noGrp="1" noChangeArrowheads="1"/>
          </p:cNvSpPr>
          <p:nvPr>
            <p:ph type="body" idx="1"/>
          </p:nvPr>
        </p:nvSpPr>
        <p:spPr>
          <a:noFill/>
        </p:spPr>
        <p:txBody>
          <a:bodyPr/>
          <a:lstStyle/>
          <a:p>
            <a:pPr eaLnBrk="1" hangingPunct="1"/>
            <a:endParaRPr lang="zh-CN" altLang="en-US">
              <a:latin typeface="Arial" panose="020B0604020202020204" pitchFamily="34" charset="0"/>
            </a:endParaRPr>
          </a:p>
        </p:txBody>
      </p:sp>
      <p:sp>
        <p:nvSpPr>
          <p:cNvPr id="33796" name="灯片编号占位符 3"/>
          <p:cNvSpPr>
            <a:spLocks noGrp="1"/>
          </p:cNvSpPr>
          <p:nvPr>
            <p:ph type="sldNum" sz="quarter" idx="5"/>
          </p:nvPr>
        </p:nvSpPr>
        <p:spPr>
          <a:noFill/>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r"/>
            <a:fld id="{0950B53B-457D-493B-8912-FA63EC65D1FC}" type="slidenum">
              <a:rPr lang="en-US" altLang="zh-CN">
                <a:latin typeface="Arial" panose="020B0604020202020204" pitchFamily="34" charset="0"/>
              </a:rPr>
              <a:t>13</a:t>
            </a:fld>
            <a:endParaRPr lang="en-US" altLang="zh-CN">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ChangeArrowheads="1" noTextEdit="1"/>
          </p:cNvSpPr>
          <p:nvPr>
            <p:ph type="sldImg"/>
          </p:nvPr>
        </p:nvSpPr>
        <p:spPr/>
      </p:sp>
      <p:sp>
        <p:nvSpPr>
          <p:cNvPr id="76803" name="备注占位符 2"/>
          <p:cNvSpPr>
            <a:spLocks noGrp="1" noChangeArrowheads="1"/>
          </p:cNvSpPr>
          <p:nvPr>
            <p:ph type="body" idx="1"/>
          </p:nvPr>
        </p:nvSpPr>
        <p:spPr>
          <a:noFill/>
        </p:spPr>
        <p:txBody>
          <a:bodyPr/>
          <a:lstStyle/>
          <a:p>
            <a:pPr eaLnBrk="1" hangingPunct="1"/>
            <a:endParaRPr lang="zh-CN" altLang="en-US">
              <a:latin typeface="Arial" panose="020B0604020202020204" pitchFamily="34" charset="0"/>
            </a:endParaRPr>
          </a:p>
        </p:txBody>
      </p:sp>
      <p:sp>
        <p:nvSpPr>
          <p:cNvPr id="76804" name="灯片编号占位符 3"/>
          <p:cNvSpPr>
            <a:spLocks noGrp="1"/>
          </p:cNvSpPr>
          <p:nvPr>
            <p:ph type="sldNum" sz="quarter" idx="5"/>
          </p:nvPr>
        </p:nvSpPr>
        <p:spPr>
          <a:noFill/>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r"/>
            <a:fld id="{178EAB0A-B13A-41D1-95F1-5865BA4AEAC6}" type="slidenum">
              <a:rPr lang="en-US" altLang="zh-CN">
                <a:latin typeface="Arial" panose="020B0604020202020204" pitchFamily="34" charset="0"/>
              </a:rPr>
              <a:t>39</a:t>
            </a:fld>
            <a:endParaRPr lang="en-US" altLang="zh-C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FD77952-CADB-400A-9928-F9827483D8DA}" type="datetime1">
              <a:rPr lang="zh-CN" altLang="en-US" smtClean="0"/>
              <a:t>2025/11/12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5ABDAF6-56B4-4794-8CF8-DD66C9AB8E69}" type="datetime1">
              <a:rPr lang="zh-CN" altLang="en-US" smtClean="0"/>
              <a:t>2025/11/12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13FFEB9-1CFA-4E60-8FF7-9FD2173A9390}" type="datetime1">
              <a:rPr lang="zh-CN" altLang="en-US" smtClean="0"/>
              <a:t>2025/11/12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840145"/>
          </a:xfrm>
        </p:spPr>
        <p:txBody>
          <a:bodyPr/>
          <a:lstStyle/>
          <a:p>
            <a:r>
              <a:rPr lang="zh-CN" altLang="en-US" dirty="0"/>
              <a:t>单击此处编辑母版标题样式</a:t>
            </a:r>
            <a:endParaRPr lang="en-US" dirty="0"/>
          </a:p>
        </p:txBody>
      </p:sp>
      <p:sp>
        <p:nvSpPr>
          <p:cNvPr id="3" name="Content Placeholder 2"/>
          <p:cNvSpPr>
            <a:spLocks noGrp="1"/>
          </p:cNvSpPr>
          <p:nvPr>
            <p:ph sz="half" idx="1"/>
          </p:nvPr>
        </p:nvSpPr>
        <p:spPr>
          <a:xfrm>
            <a:off x="822960" y="1347765"/>
            <a:ext cx="3703320" cy="4521329"/>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Content Placeholder 3"/>
          <p:cNvSpPr>
            <a:spLocks noGrp="1"/>
          </p:cNvSpPr>
          <p:nvPr>
            <p:ph sz="half" idx="2"/>
          </p:nvPr>
        </p:nvSpPr>
        <p:spPr>
          <a:xfrm>
            <a:off x="4663440" y="1347766"/>
            <a:ext cx="3703320" cy="4521330"/>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5" name="Date Placeholder 4"/>
          <p:cNvSpPr>
            <a:spLocks noGrp="1"/>
          </p:cNvSpPr>
          <p:nvPr>
            <p:ph type="dt" sz="half" idx="10"/>
          </p:nvPr>
        </p:nvSpPr>
        <p:spPr/>
        <p:txBody>
          <a:bodyPr/>
          <a:lstStyle/>
          <a:p>
            <a:fld id="{0F2F439F-7751-44F1-A8CE-7E4EA6BB2625}" type="datetime1">
              <a:rPr lang="zh-CN" altLang="en-US" smtClean="0"/>
              <a:t>2025/11/12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2E77DEE-32E4-4009-988B-F2758F7B8AC2}" type="slidenum">
              <a:rPr lang="zh-CN" altLang="en-US" smtClean="0"/>
              <a:t>‹#›</a:t>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22960" y="2582334"/>
            <a:ext cx="3703320" cy="32867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63440" y="2582334"/>
            <a:ext cx="3703320" cy="32867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069529C0-BCF4-44DB-A99B-13F848A50487}" type="datetime1">
              <a:rPr lang="zh-CN" altLang="en-US" smtClean="0"/>
              <a:t>2025/11/12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2E77DEE-32E4-4009-988B-F2758F7B8AC2}" type="slidenum">
              <a:rPr lang="zh-CN" altLang="en-US" smtClean="0"/>
              <a:t>‹#›</a:t>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AD13A05-0D10-4638-B86A-3FD0E1B9760A}" type="datetime1">
              <a:rPr lang="zh-CN" altLang="en-US" smtClean="0"/>
              <a:t>2025/11/12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2E77DEE-32E4-4009-988B-F2758F7B8AC2}" type="slidenum">
              <a:rPr lang="zh-CN" altLang="en-US" smtClean="0"/>
              <a:t>‹#›</a:t>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ECDC55C-47C7-41E6-B492-10E96568D379}" type="datetime1">
              <a:rPr lang="zh-CN" altLang="en-US" smtClean="0"/>
              <a:t>2025/11/12</a:t>
            </a:fld>
            <a:endParaRPr lang="zh-CN"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zh-CN" altLang="en-US"/>
          </a:p>
        </p:txBody>
      </p:sp>
      <p:sp>
        <p:nvSpPr>
          <p:cNvPr id="9" name="Slide Number Placeholder 8"/>
          <p:cNvSpPr>
            <a:spLocks noGrp="1"/>
          </p:cNvSpPr>
          <p:nvPr>
            <p:ph type="sldNum" sz="quarter" idx="12"/>
          </p:nvPr>
        </p:nvSpPr>
        <p:spPr/>
        <p:txBody>
          <a:bodyPr/>
          <a:lstStyle/>
          <a:p>
            <a:fld id="{22E77DEE-32E4-4009-988B-F2758F7B8AC2}" type="slidenum">
              <a:rPr lang="zh-CN" altLang="en-US" smtClean="0"/>
              <a:t>‹#›</a:t>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F9370E98-F0DF-49FD-85C0-B8F7F055A0C5}" type="datetime1">
              <a:rPr lang="zh-CN" altLang="en-US" smtClean="0"/>
              <a:t>2025/11/12</a:t>
            </a:fld>
            <a:endParaRPr lang="zh-CN" alt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zh-CN"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2E77DEE-32E4-4009-988B-F2758F7B8AC2}" type="slidenum">
              <a:rPr lang="zh-CN" altLang="en-US" smtClean="0"/>
              <a:t>‹#›</a:t>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B4FD6D2-15D5-484C-BEC2-C6A95BB17B87}" type="datetime1">
              <a:rPr lang="zh-CN" altLang="en-US" smtClean="0"/>
              <a:t>2025/11/12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2E77DEE-32E4-4009-988B-F2758F7B8AC2}" type="slidenum">
              <a:rPr lang="zh-CN" altLang="en-US" smtClean="0"/>
              <a:t>‹#›</a:t>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37FCED4-9B9A-4BA6-B24F-B6535FA2EC88}" type="datetime1">
              <a:rPr lang="zh-CN" altLang="en-US" smtClean="0"/>
              <a:t>2025/11/12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087F0CB0-9538-4E24-8B07-455D95F14660}" type="datetime1">
              <a:rPr lang="zh-CN" altLang="en-US" smtClean="0"/>
              <a:t>2025/11/12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Title Placeholder 1"/>
          <p:cNvSpPr>
            <a:spLocks noGrp="1"/>
          </p:cNvSpPr>
          <p:nvPr>
            <p:ph type="title"/>
          </p:nvPr>
        </p:nvSpPr>
        <p:spPr>
          <a:xfrm>
            <a:off x="822960" y="286605"/>
            <a:ext cx="7543800" cy="831478"/>
          </a:xfrm>
          <a:prstGeom prst="rect">
            <a:avLst/>
          </a:prstGeom>
        </p:spPr>
        <p:txBody>
          <a:bodyPr vert="horz" lIns="91440" tIns="45720" rIns="91440" bIns="45720" rtlCol="0" anchor="b">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22959" y="1230759"/>
            <a:ext cx="7543801" cy="4638335"/>
          </a:xfrm>
          <a:prstGeom prst="rect">
            <a:avLst/>
          </a:prstGeom>
        </p:spPr>
        <p:txBody>
          <a:bodyPr vert="horz" lIns="0" tIns="45720" rIns="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C7A62038-9DF7-4F97-B33D-D4E05CFD4025}" type="datetime1">
              <a:rPr lang="zh-CN" altLang="en-US" smtClean="0"/>
              <a:t>2025/11/12</a:t>
            </a:fld>
            <a:endParaRPr lang="zh-CN" alt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22E77DEE-32E4-4009-988B-F2758F7B8AC2}" type="slidenum">
              <a:rPr lang="zh-CN" altLang="en-US" smtClean="0"/>
              <a:t>‹#›</a:t>
            </a:fld>
            <a:endParaRPr lang="zh-CN" altLang="en-US"/>
          </a:p>
        </p:txBody>
      </p:sp>
      <p:cxnSp>
        <p:nvCxnSpPr>
          <p:cNvPr id="10" name="Straight Connector 9"/>
          <p:cNvCxnSpPr/>
          <p:nvPr/>
        </p:nvCxnSpPr>
        <p:spPr>
          <a:xfrm>
            <a:off x="834478" y="1126802"/>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slide" Target="slide3.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slide" Target="slide4.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 Target="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 Target="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emf"/><Relationship Id="rId5" Type="http://schemas.openxmlformats.org/officeDocument/2006/relationships/oleObject" Target="../embeddings/oleObject2.bin"/><Relationship Id="rId4" Type="http://schemas.openxmlformats.org/officeDocument/2006/relationships/slide" Target="slide4.xml"/></Relationships>
</file>

<file path=ppt/slides/_rels/slide1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slide" Target="slide4.xml"/><Relationship Id="rId4" Type="http://schemas.openxmlformats.org/officeDocument/2006/relationships/slide" Target="slide13.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9.emf"/></Relationships>
</file>

<file path=ppt/slides/_rels/slide1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5.bin"/><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 Target="slide4.xml"/><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 Target="slide2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9.bin"/><Relationship Id="rId1" Type="http://schemas.openxmlformats.org/officeDocument/2006/relationships/slideLayout" Target="../slideLayouts/slideLayout2.xml"/><Relationship Id="rId6" Type="http://schemas.openxmlformats.org/officeDocument/2006/relationships/slide" Target="slide29.xml"/><Relationship Id="rId5" Type="http://schemas.openxmlformats.org/officeDocument/2006/relationships/image" Target="../media/image4.png"/><Relationship Id="rId4" Type="http://schemas.openxmlformats.org/officeDocument/2006/relationships/image" Target="../media/image3.jpeg"/></Relationships>
</file>

<file path=ppt/slides/_rels/slide4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2.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oleObject" Target="../embeddings/oleObject10.bin"/><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4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11.bin"/><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4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12.bin"/><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wmf"/></Relationships>
</file>

<file path=ppt/slides/_rels/slide51.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14.bin"/><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4.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31.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4.png"/></Relationships>
</file>

<file path=ppt/slides/_rels/slide5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28.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4.png"/><Relationship Id="rId4" Type="http://schemas.openxmlformats.org/officeDocument/2006/relationships/image" Target="../media/image3.jpeg"/></Relationships>
</file>

<file path=ppt/slides/_rels/slide6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4.png"/></Relationships>
</file>

<file path=ppt/slides/_rels/slide61.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oleObject" Target="../embeddings/oleObject16.bin"/><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6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9.png"/></Relationships>
</file>

<file path=ppt/slides/_rels/slide67.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oleObject" Target="../embeddings/oleObject17.bin"/><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41.png"/></Relationships>
</file>

<file path=ppt/slides/_rels/slide6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43.png"/><Relationship Id="rId7" Type="http://schemas.openxmlformats.org/officeDocument/2006/relationships/image" Target="../media/image3.jpeg"/><Relationship Id="rId2"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 Id="rId9" Type="http://schemas.openxmlformats.org/officeDocument/2006/relationships/slide" Target="slide1.xml"/></Relationships>
</file>

<file path=ppt/slides/_rels/slide6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 Id="rId5" Type="http://schemas.openxmlformats.org/officeDocument/2006/relationships/image" Target="../media/image50.png"/><Relationship Id="rId4" Type="http://schemas.openxmlformats.org/officeDocument/2006/relationships/image" Target="../media/image49.png"/></Relationships>
</file>

<file path=ppt/slides/_rels/slide7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7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7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oleObject" Target="../embeddings/oleObject18.bin"/><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2E77DEE-32E4-4009-988B-F2758F7B8AC2}" type="slidenum">
              <a:rPr lang="zh-CN" altLang="en-US" smtClean="0"/>
              <a:t>1</a:t>
            </a:fld>
            <a:endParaRPr lang="zh-CN" altLang="en-US"/>
          </a:p>
        </p:txBody>
      </p:sp>
      <p:sp>
        <p:nvSpPr>
          <p:cNvPr id="11" name="标题 10"/>
          <p:cNvSpPr>
            <a:spLocks noGrp="1"/>
          </p:cNvSpPr>
          <p:nvPr>
            <p:ph type="ctrTitle"/>
          </p:nvPr>
        </p:nvSpPr>
        <p:spPr>
          <a:xfrm>
            <a:off x="800100" y="1194736"/>
            <a:ext cx="7543800" cy="2569464"/>
          </a:xfrm>
        </p:spPr>
        <p:txBody>
          <a:bodyPr>
            <a:normAutofit fontScale="90000"/>
          </a:bodyPr>
          <a:lstStyle/>
          <a:p>
            <a:pPr algn="ctr"/>
            <a:br>
              <a:rPr lang="en-US" altLang="zh-CN" sz="6000" dirty="0"/>
            </a:br>
            <a:r>
              <a:rPr lang="en-US" altLang="zh-CN" sz="6000" dirty="0"/>
              <a:t>EE351</a:t>
            </a:r>
            <a:br>
              <a:rPr lang="en-US" altLang="zh-CN" sz="6000" dirty="0"/>
            </a:br>
            <a:r>
              <a:rPr lang="en-US" altLang="zh-CN" sz="6000" dirty="0"/>
              <a:t>Microcomputer and Microsystems</a:t>
            </a:r>
            <a:endParaRPr lang="zh-CN" altLang="en-US" sz="6000" dirty="0"/>
          </a:p>
        </p:txBody>
      </p:sp>
      <p:sp>
        <p:nvSpPr>
          <p:cNvPr id="12" name="副标题 11"/>
          <p:cNvSpPr>
            <a:spLocks noGrp="1"/>
          </p:cNvSpPr>
          <p:nvPr>
            <p:ph type="subTitle" idx="1"/>
          </p:nvPr>
        </p:nvSpPr>
        <p:spPr>
          <a:xfrm>
            <a:off x="915035" y="5257372"/>
            <a:ext cx="7543800" cy="1143000"/>
          </a:xfrm>
        </p:spPr>
        <p:txBody>
          <a:bodyPr>
            <a:normAutofit fontScale="92500" lnSpcReduction="10000"/>
          </a:bodyPr>
          <a:lstStyle/>
          <a:p>
            <a:pPr algn="ctr"/>
            <a:r>
              <a:rPr lang="en-US" altLang="zh-CN" dirty="0" err="1"/>
              <a:t>Junmin</a:t>
            </a:r>
            <a:r>
              <a:rPr lang="en-US" altLang="zh-CN" dirty="0"/>
              <a:t> Jiang</a:t>
            </a:r>
          </a:p>
          <a:p>
            <a:pPr algn="ctr"/>
            <a:r>
              <a:rPr lang="en-US" altLang="zh-CN" dirty="0"/>
              <a:t>Department</a:t>
            </a:r>
            <a:r>
              <a:rPr lang="zh-CN" altLang="en-US" dirty="0"/>
              <a:t> </a:t>
            </a:r>
            <a:r>
              <a:rPr lang="en-US" altLang="zh-CN" dirty="0"/>
              <a:t>of</a:t>
            </a:r>
            <a:r>
              <a:rPr lang="zh-CN" altLang="en-US" dirty="0"/>
              <a:t> </a:t>
            </a:r>
            <a:r>
              <a:rPr lang="en-US" altLang="zh-CN" dirty="0"/>
              <a:t>electronic</a:t>
            </a:r>
            <a:r>
              <a:rPr lang="zh-CN" altLang="en-US" dirty="0"/>
              <a:t> </a:t>
            </a:r>
            <a:r>
              <a:rPr lang="en-US" altLang="zh-CN" dirty="0"/>
              <a:t>and</a:t>
            </a:r>
            <a:r>
              <a:rPr lang="zh-CN" altLang="en-US" dirty="0"/>
              <a:t> </a:t>
            </a:r>
            <a:r>
              <a:rPr lang="en-US" altLang="zh-CN" dirty="0"/>
              <a:t>electrical</a:t>
            </a:r>
            <a:r>
              <a:rPr lang="zh-CN" altLang="en-US" dirty="0"/>
              <a:t> </a:t>
            </a:r>
            <a:r>
              <a:rPr lang="en-US" altLang="zh-CN" dirty="0"/>
              <a:t>engineering</a:t>
            </a:r>
            <a:endParaRPr lang="zh-CN" altLang="en-US" dirty="0"/>
          </a:p>
        </p:txBody>
      </p:sp>
      <p:sp>
        <p:nvSpPr>
          <p:cNvPr id="13" name="标题 1"/>
          <p:cNvSpPr>
            <a:spLocks noGrp="1"/>
          </p:cNvSpPr>
          <p:nvPr/>
        </p:nvSpPr>
        <p:spPr>
          <a:xfrm>
            <a:off x="743585" y="457628"/>
            <a:ext cx="7886700" cy="624911"/>
          </a:xfrm>
          <a:prstGeom prst="rect">
            <a:avLst/>
          </a:prstGeom>
        </p:spPr>
        <p:txBody>
          <a:bodyPr vert="horz" lIns="91440" tIns="45720" rIns="91440" bIns="45720" rtlCol="0" anchor="b">
            <a:normAutofit fontScale="95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altLang="zh-CN" sz="4000" dirty="0">
                <a:solidFill>
                  <a:schemeClr val="tx1">
                    <a:lumMod val="75000"/>
                    <a:lumOff val="25000"/>
                  </a:schemeClr>
                </a:solidFill>
                <a:latin typeface="+mj-ea"/>
                <a:cs typeface="+mj-cs"/>
              </a:rPr>
              <a:t>2025</a:t>
            </a:r>
            <a:r>
              <a:rPr lang="zh-CN" altLang="en-US" sz="4000" dirty="0">
                <a:solidFill>
                  <a:schemeClr val="tx1">
                    <a:lumMod val="75000"/>
                    <a:lumOff val="25000"/>
                  </a:schemeClr>
                </a:solidFill>
                <a:latin typeface="+mj-ea"/>
                <a:cs typeface="+mj-cs"/>
              </a:rPr>
              <a:t>秋 </a:t>
            </a:r>
            <a:r>
              <a:rPr lang="en-US" altLang="zh-CN" sz="4000" dirty="0">
                <a:solidFill>
                  <a:schemeClr val="tx1">
                    <a:lumMod val="75000"/>
                    <a:lumOff val="25000"/>
                  </a:schemeClr>
                </a:solidFill>
                <a:latin typeface="+mj-ea"/>
                <a:cs typeface="+mj-cs"/>
              </a:rPr>
              <a:t>EE351《</a:t>
            </a:r>
            <a:r>
              <a:rPr lang="zh-CN" altLang="en-US" sz="4000" dirty="0">
                <a:solidFill>
                  <a:schemeClr val="tx1">
                    <a:lumMod val="75000"/>
                    <a:lumOff val="25000"/>
                  </a:schemeClr>
                </a:solidFill>
                <a:latin typeface="+mj-ea"/>
                <a:cs typeface="+mj-cs"/>
              </a:rPr>
              <a:t>微机原理与微系统</a:t>
            </a:r>
            <a:r>
              <a:rPr lang="en-US" altLang="zh-CN" sz="4000" dirty="0">
                <a:solidFill>
                  <a:schemeClr val="tx1">
                    <a:lumMod val="75000"/>
                    <a:lumOff val="25000"/>
                  </a:schemeClr>
                </a:solidFill>
                <a:latin typeface="+mj-ea"/>
                <a:cs typeface="+mj-cs"/>
              </a:rPr>
              <a:t>》</a:t>
            </a:r>
          </a:p>
        </p:txBody>
      </p:sp>
      <p:sp>
        <p:nvSpPr>
          <p:cNvPr id="14" name="副标题 2"/>
          <p:cNvSpPr>
            <a:spLocks noGrp="1"/>
          </p:cNvSpPr>
          <p:nvPr/>
        </p:nvSpPr>
        <p:spPr>
          <a:xfrm>
            <a:off x="857885" y="4378532"/>
            <a:ext cx="7543800" cy="11430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anose="020F0502020204030204"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anose="020F0502020204030204"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anose="020F0502020204030204"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anose="020F0502020204030204"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anose="020F0502020204030204"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anose="020F0502020204030204"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anose="020F0502020204030204"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anose="020F0502020204030204" pitchFamily="34" charset="0"/>
              <a:buNone/>
              <a:defRPr sz="2000" kern="1200">
                <a:solidFill>
                  <a:schemeClr val="tx1">
                    <a:lumMod val="75000"/>
                    <a:lumOff val="25000"/>
                  </a:schemeClr>
                </a:solidFill>
                <a:latin typeface="+mn-lt"/>
                <a:ea typeface="+mn-ea"/>
                <a:cs typeface="+mn-cs"/>
              </a:defRPr>
            </a:lvl9pPr>
          </a:lstStyle>
          <a:p>
            <a:pPr algn="ctr"/>
            <a:r>
              <a:rPr lang="zh-CN" altLang="en-US" dirty="0"/>
              <a:t>姜俊敏</a:t>
            </a:r>
            <a:endParaRPr lang="en-US" altLang="zh-CN" dirty="0"/>
          </a:p>
          <a:p>
            <a:pPr algn="ctr"/>
            <a:r>
              <a:rPr lang="zh-CN" altLang="en-US" dirty="0"/>
              <a:t>电子与电子工程系</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2"/>
          <p:cNvSpPr>
            <a:spLocks noGrp="1" noChangeArrowheads="1"/>
          </p:cNvSpPr>
          <p:nvPr>
            <p:ph type="title"/>
          </p:nvPr>
        </p:nvSpPr>
        <p:spPr>
          <a:xfrm>
            <a:off x="625250" y="500064"/>
            <a:ext cx="7784114" cy="504825"/>
          </a:xfrm>
        </p:spPr>
        <p:txBody>
          <a:bodyPr vert="horz" lIns="91440" tIns="45720" rIns="91440" bIns="45720" rtlCol="0" anchor="b">
            <a:noAutofit/>
          </a:bodyPr>
          <a:lstStyle/>
          <a:p>
            <a:r>
              <a:rPr lang="en-US" altLang="zh-CN" sz="2800" dirty="0">
                <a:latin typeface="Arial" panose="020B0604020202020204" pitchFamily="34" charset="0"/>
                <a:cs typeface="Arial" panose="020B0604020202020204" pitchFamily="34" charset="0"/>
              </a:rPr>
              <a:t>Chapter 4: Hardware Structure of Microcontrollers</a:t>
            </a:r>
            <a:endParaRPr lang="zh-CN" altLang="en-US" sz="2800" dirty="0">
              <a:latin typeface="Arial" panose="020B0604020202020204" pitchFamily="34" charset="0"/>
              <a:cs typeface="Arial" panose="020B0604020202020204" pitchFamily="34" charset="0"/>
            </a:endParaRPr>
          </a:p>
        </p:txBody>
      </p:sp>
      <p:sp>
        <p:nvSpPr>
          <p:cNvPr id="175107" name="Rectangle 3"/>
          <p:cNvSpPr>
            <a:spLocks noGrp="1" noChangeArrowheads="1"/>
          </p:cNvSpPr>
          <p:nvPr>
            <p:ph idx="1"/>
          </p:nvPr>
        </p:nvSpPr>
        <p:spPr>
          <a:xfrm>
            <a:off x="121219" y="1192301"/>
            <a:ext cx="8933881" cy="4730750"/>
          </a:xfrm>
        </p:spPr>
        <p:txBody>
          <a:bodyPr>
            <a:normAutofit/>
          </a:bodyPr>
          <a:lstStyle/>
          <a:p>
            <a:pPr algn="ctr">
              <a:lnSpc>
                <a:spcPct val="124000"/>
              </a:lnSpc>
              <a:spcAft>
                <a:spcPts val="1800"/>
              </a:spcAft>
              <a:buNone/>
            </a:pPr>
            <a:r>
              <a:rPr lang="en-US" altLang="zh-CN" sz="2600" dirty="0">
                <a:latin typeface="Arial" panose="020B0604020202020204" pitchFamily="34" charset="0"/>
                <a:cs typeface="Arial" panose="020B0604020202020204" pitchFamily="34" charset="0"/>
              </a:rPr>
              <a:t>Learning Objectives for This Chapter</a:t>
            </a:r>
          </a:p>
          <a:p>
            <a:pPr>
              <a:lnSpc>
                <a:spcPct val="124000"/>
              </a:lnSpc>
            </a:pPr>
            <a:r>
              <a:rPr lang="en-US" altLang="zh-CN" sz="2200" dirty="0">
                <a:latin typeface="Arial" panose="020B0604020202020204" pitchFamily="34" charset="0"/>
                <a:cs typeface="Arial" panose="020B0604020202020204" pitchFamily="34" charset="0"/>
              </a:rPr>
              <a:t>4.1 Understand </a:t>
            </a:r>
            <a:r>
              <a:rPr lang="en-US" altLang="zh-CN" sz="2200" dirty="0">
                <a:latin typeface="Arial" panose="020B0604020202020204" pitchFamily="34" charset="0"/>
                <a:cs typeface="Arial" panose="020B0604020202020204" pitchFamily="34" charset="0"/>
                <a:hlinkClick r:id="rId2" action="ppaction://hlinksldjump"/>
              </a:rPr>
              <a:t>Structure and Operating Process of the Model Machine</a:t>
            </a:r>
            <a:r>
              <a:rPr lang="zh-CN" altLang="en-US" sz="2200" dirty="0">
                <a:latin typeface="Arial" panose="020B0604020202020204" pitchFamily="34" charset="0"/>
                <a:cs typeface="Arial" panose="020B0604020202020204" pitchFamily="34" charset="0"/>
                <a:hlinkClick r:id="rId2" action="ppaction://hlinksldjump"/>
              </a:rPr>
              <a:t> </a:t>
            </a:r>
            <a:endParaRPr lang="zh-CN" altLang="en-US" sz="2200" dirty="0">
              <a:latin typeface="Arial" panose="020B0604020202020204" pitchFamily="34" charset="0"/>
              <a:cs typeface="Arial" panose="020B0604020202020204" pitchFamily="34" charset="0"/>
            </a:endParaRPr>
          </a:p>
          <a:p>
            <a:pPr>
              <a:lnSpc>
                <a:spcPct val="124000"/>
              </a:lnSpc>
              <a:spcAft>
                <a:spcPct val="0"/>
              </a:spcAft>
            </a:pPr>
            <a:r>
              <a:rPr lang="en-US" altLang="zh-CN" sz="2200" dirty="0">
                <a:latin typeface="Arial" panose="020B0604020202020204" pitchFamily="34" charset="0"/>
                <a:cs typeface="Arial" panose="020B0604020202020204" pitchFamily="34" charset="0"/>
              </a:rPr>
              <a:t>4.2 Learn </a:t>
            </a:r>
            <a:r>
              <a:rPr lang="en-US" altLang="zh-CN" sz="2200" dirty="0">
                <a:latin typeface="Arial" panose="020B0604020202020204" pitchFamily="34" charset="0"/>
                <a:cs typeface="Arial" panose="020B0604020202020204" pitchFamily="34" charset="0"/>
                <a:hlinkClick r:id="rId3" action="ppaction://hlinksldjump"/>
              </a:rPr>
              <a:t>Internal Structure of a Microcontroller</a:t>
            </a:r>
            <a:endParaRPr lang="en-US" altLang="zh-CN" sz="2200" dirty="0">
              <a:latin typeface="Arial" panose="020B0604020202020204" pitchFamily="34" charset="0"/>
              <a:cs typeface="Arial" panose="020B0604020202020204" pitchFamily="34" charset="0"/>
            </a:endParaRPr>
          </a:p>
          <a:p>
            <a:pPr>
              <a:lnSpc>
                <a:spcPct val="124000"/>
              </a:lnSpc>
              <a:spcAft>
                <a:spcPct val="0"/>
              </a:spcAft>
            </a:pPr>
            <a:r>
              <a:rPr lang="en-US" altLang="zh-CN" sz="2200" dirty="0">
                <a:latin typeface="Arial" panose="020B0604020202020204" pitchFamily="34" charset="0"/>
                <a:cs typeface="Arial" panose="020B0604020202020204" pitchFamily="34" charset="0"/>
              </a:rPr>
              <a:t>4.3 Learn </a:t>
            </a:r>
            <a:r>
              <a:rPr lang="en-US" altLang="zh-CN" sz="2200" dirty="0">
                <a:latin typeface="Arial" panose="020B0604020202020204" pitchFamily="34" charset="0"/>
                <a:cs typeface="Arial" panose="020B0604020202020204" pitchFamily="34" charset="0"/>
                <a:hlinkClick r:id="" action="ppaction://noaction"/>
              </a:rPr>
              <a:t>Microcontroller Memory</a:t>
            </a:r>
            <a:endParaRPr lang="en-US" altLang="zh-CN" sz="2200" dirty="0">
              <a:latin typeface="Arial" panose="020B0604020202020204" pitchFamily="34" charset="0"/>
              <a:cs typeface="Arial" panose="020B0604020202020204" pitchFamily="34" charset="0"/>
            </a:endParaRPr>
          </a:p>
          <a:p>
            <a:pPr>
              <a:lnSpc>
                <a:spcPct val="124000"/>
              </a:lnSpc>
            </a:pPr>
            <a:r>
              <a:rPr lang="en-US" altLang="zh-CN" sz="2200" dirty="0">
                <a:latin typeface="Arial" panose="020B0604020202020204" pitchFamily="34" charset="0"/>
                <a:cs typeface="Arial" panose="020B0604020202020204" pitchFamily="34" charset="0"/>
              </a:rPr>
              <a:t>4.4 Learn </a:t>
            </a:r>
            <a:r>
              <a:rPr lang="en-US" altLang="zh-CN" sz="2200" dirty="0">
                <a:latin typeface="Arial" panose="020B0604020202020204" pitchFamily="34" charset="0"/>
                <a:cs typeface="Arial" panose="020B0604020202020204" pitchFamily="34" charset="0"/>
                <a:hlinkClick r:id="" action="ppaction://noaction"/>
              </a:rPr>
              <a:t>Microcontroller Pin Usage (I/O Port Utilization)</a:t>
            </a:r>
            <a:endParaRPr lang="zh-CN" altLang="en-US" sz="2200" dirty="0">
              <a:latin typeface="Arial" panose="020B0604020202020204" pitchFamily="34" charset="0"/>
              <a:cs typeface="Arial" panose="020B0604020202020204" pitchFamily="34" charset="0"/>
            </a:endParaRPr>
          </a:p>
          <a:p>
            <a:pPr>
              <a:lnSpc>
                <a:spcPct val="124000"/>
              </a:lnSpc>
            </a:pPr>
            <a:r>
              <a:rPr lang="en-US" altLang="zh-CN" sz="2200" dirty="0">
                <a:latin typeface="Arial" panose="020B0604020202020204" pitchFamily="34" charset="0"/>
                <a:cs typeface="Arial" panose="020B0604020202020204" pitchFamily="34" charset="0"/>
              </a:rPr>
              <a:t>4.5 Learn </a:t>
            </a:r>
            <a:r>
              <a:rPr lang="en-US" altLang="zh-CN" sz="2200" dirty="0">
                <a:latin typeface="Arial" panose="020B0604020202020204" pitchFamily="34" charset="0"/>
                <a:cs typeface="Arial" panose="020B0604020202020204" pitchFamily="34" charset="0"/>
                <a:hlinkClick r:id="" action="ppaction://noaction"/>
              </a:rPr>
              <a:t>Typical Configuration of Microcontroller Application Systems</a:t>
            </a:r>
            <a:endParaRPr lang="zh-CN" altLang="en-US" sz="2200" dirty="0">
              <a:latin typeface="Arial" panose="020B0604020202020204" pitchFamily="34" charset="0"/>
              <a:cs typeface="Arial" panose="020B0604020202020204" pitchFamily="34" charset="0"/>
            </a:endParaRPr>
          </a:p>
        </p:txBody>
      </p:sp>
      <p:sp>
        <p:nvSpPr>
          <p:cNvPr id="3" name="灯片编号占位符 2"/>
          <p:cNvSpPr>
            <a:spLocks noGrp="1"/>
          </p:cNvSpPr>
          <p:nvPr>
            <p:ph type="sldNum" sz="quarter" idx="12"/>
          </p:nvPr>
        </p:nvSpPr>
        <p:spPr/>
        <p:txBody>
          <a:bodyPr/>
          <a:lstStyle/>
          <a:p>
            <a:fld id="{22E77DEE-32E4-4009-988B-F2758F7B8AC2}" type="slidenum">
              <a:rPr lang="zh-CN" altLang="en-US" smtClean="0"/>
              <a:t>2</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75107">
                                            <p:txEl>
                                              <p:pRg st="0" end="0"/>
                                            </p:txEl>
                                          </p:spTgt>
                                        </p:tgtEl>
                                        <p:attrNameLst>
                                          <p:attrName>style.visibility</p:attrName>
                                        </p:attrNameLst>
                                      </p:cBhvr>
                                      <p:to>
                                        <p:strVal val="visible"/>
                                      </p:to>
                                    </p:set>
                                    <p:anim calcmode="lin" valueType="num">
                                      <p:cBhvr additive="base">
                                        <p:cTn id="7" dur="500" fill="hold"/>
                                        <p:tgtEl>
                                          <p:spTgt spid="175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510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5107">
                                            <p:txEl>
                                              <p:pRg st="1" end="1"/>
                                            </p:txEl>
                                          </p:spTgt>
                                        </p:tgtEl>
                                        <p:attrNameLst>
                                          <p:attrName>style.visibility</p:attrName>
                                        </p:attrNameLst>
                                      </p:cBhvr>
                                      <p:to>
                                        <p:strVal val="visible"/>
                                      </p:to>
                                    </p:set>
                                    <p:anim calcmode="lin" valueType="num">
                                      <p:cBhvr additive="base">
                                        <p:cTn id="11" dur="500" fill="hold"/>
                                        <p:tgtEl>
                                          <p:spTgt spid="17510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7510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75107">
                                            <p:txEl>
                                              <p:pRg st="2" end="2"/>
                                            </p:txEl>
                                          </p:spTgt>
                                        </p:tgtEl>
                                        <p:attrNameLst>
                                          <p:attrName>style.visibility</p:attrName>
                                        </p:attrNameLst>
                                      </p:cBhvr>
                                      <p:to>
                                        <p:strVal val="visible"/>
                                      </p:to>
                                    </p:set>
                                    <p:anim calcmode="lin" valueType="num">
                                      <p:cBhvr additive="base">
                                        <p:cTn id="15" dur="500" fill="hold"/>
                                        <p:tgtEl>
                                          <p:spTgt spid="17510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7510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75107">
                                            <p:txEl>
                                              <p:pRg st="3" end="3"/>
                                            </p:txEl>
                                          </p:spTgt>
                                        </p:tgtEl>
                                        <p:attrNameLst>
                                          <p:attrName>style.visibility</p:attrName>
                                        </p:attrNameLst>
                                      </p:cBhvr>
                                      <p:to>
                                        <p:strVal val="visible"/>
                                      </p:to>
                                    </p:set>
                                    <p:anim calcmode="lin" valueType="num">
                                      <p:cBhvr additive="base">
                                        <p:cTn id="19" dur="500" fill="hold"/>
                                        <p:tgtEl>
                                          <p:spTgt spid="17510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5107">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75107">
                                            <p:txEl>
                                              <p:pRg st="4" end="4"/>
                                            </p:txEl>
                                          </p:spTgt>
                                        </p:tgtEl>
                                        <p:attrNameLst>
                                          <p:attrName>style.visibility</p:attrName>
                                        </p:attrNameLst>
                                      </p:cBhvr>
                                      <p:to>
                                        <p:strVal val="visible"/>
                                      </p:to>
                                    </p:set>
                                    <p:anim calcmode="lin" valueType="num">
                                      <p:cBhvr additive="base">
                                        <p:cTn id="23" dur="500" fill="hold"/>
                                        <p:tgtEl>
                                          <p:spTgt spid="17510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75107">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75107">
                                            <p:txEl>
                                              <p:pRg st="5" end="5"/>
                                            </p:txEl>
                                          </p:spTgt>
                                        </p:tgtEl>
                                        <p:attrNameLst>
                                          <p:attrName>style.visibility</p:attrName>
                                        </p:attrNameLst>
                                      </p:cBhvr>
                                      <p:to>
                                        <p:strVal val="visible"/>
                                      </p:to>
                                    </p:set>
                                    <p:anim calcmode="lin" valueType="num">
                                      <p:cBhvr additive="base">
                                        <p:cTn id="27" dur="500" fill="hold"/>
                                        <p:tgtEl>
                                          <p:spTgt spid="175107">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7510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533626" y="450602"/>
            <a:ext cx="8541005" cy="504825"/>
          </a:xfrm>
        </p:spPr>
        <p:txBody>
          <a:bodyPr vert="horz" lIns="91440" tIns="45720" rIns="91440" bIns="45720" rtlCol="0" anchor="b">
            <a:noAutofit/>
          </a:bodyPr>
          <a:lstStyle/>
          <a:p>
            <a:r>
              <a:rPr lang="en-US" altLang="zh-CN" sz="2600" dirty="0">
                <a:latin typeface="Arial" panose="020B0604020202020204" pitchFamily="34" charset="0"/>
                <a:cs typeface="Arial" panose="020B0604020202020204" pitchFamily="34" charset="0"/>
              </a:rPr>
              <a:t>4.1 Structure and Operating Process of the Model Machine</a:t>
            </a:r>
            <a:endParaRPr lang="zh-CN" altLang="en-US" sz="2600" dirty="0">
              <a:latin typeface="Arial" panose="020B0604020202020204" pitchFamily="34" charset="0"/>
              <a:cs typeface="Arial" panose="020B0604020202020204" pitchFamily="34" charset="0"/>
            </a:endParaRPr>
          </a:p>
        </p:txBody>
      </p:sp>
      <p:sp>
        <p:nvSpPr>
          <p:cNvPr id="176131" name="Rectangle 3"/>
          <p:cNvSpPr>
            <a:spLocks noGrp="1" noChangeArrowheads="1"/>
          </p:cNvSpPr>
          <p:nvPr>
            <p:ph type="body" idx="1"/>
          </p:nvPr>
        </p:nvSpPr>
        <p:spPr>
          <a:xfrm>
            <a:off x="469446" y="1151163"/>
            <a:ext cx="8541005" cy="4800602"/>
          </a:xfrm>
        </p:spPr>
        <p:txBody>
          <a:bodyPr>
            <a:normAutofit/>
          </a:bodyPr>
          <a:lstStyle/>
          <a:p>
            <a:pPr>
              <a:spcBef>
                <a:spcPct val="0"/>
              </a:spcBef>
              <a:spcAft>
                <a:spcPts val="1500"/>
              </a:spcAft>
              <a:buNone/>
            </a:pPr>
            <a:r>
              <a:rPr lang="en-US" altLang="zh-CN" sz="2800" dirty="0">
                <a:solidFill>
                  <a:srgbClr val="FF0000"/>
                </a:solidFill>
                <a:latin typeface="Arial" panose="020B0604020202020204" pitchFamily="34" charset="0"/>
                <a:cs typeface="Arial" panose="020B0604020202020204" pitchFamily="34" charset="0"/>
              </a:rPr>
              <a:t>4.1.1 Structural Overview of the Prototype Machine</a:t>
            </a:r>
          </a:p>
          <a:p>
            <a:pPr>
              <a:spcBef>
                <a:spcPct val="0"/>
              </a:spcBef>
              <a:spcAft>
                <a:spcPts val="1500"/>
              </a:spcAft>
              <a:buNone/>
            </a:pPr>
            <a:r>
              <a:rPr lang="en-US" altLang="zh-CN" sz="2800" dirty="0">
                <a:solidFill>
                  <a:srgbClr val="FF00FF"/>
                </a:solidFill>
                <a:latin typeface="Arial" panose="020B0604020202020204" pitchFamily="34" charset="0"/>
                <a:cs typeface="Arial" panose="020B0604020202020204" pitchFamily="34" charset="0"/>
              </a:rPr>
              <a:t>Structural Model of a Microcomputer (model machine)</a:t>
            </a:r>
            <a:endParaRPr lang="zh-CN" altLang="en-US" sz="4800" dirty="0">
              <a:latin typeface="宋体" panose="02010600030101010101" pitchFamily="2" charset="-122"/>
            </a:endParaRPr>
          </a:p>
          <a:p>
            <a:pPr>
              <a:spcBef>
                <a:spcPct val="0"/>
              </a:spcBef>
              <a:spcAft>
                <a:spcPts val="1500"/>
              </a:spcAft>
              <a:buNone/>
            </a:pPr>
            <a:r>
              <a:rPr kumimoji="1" lang="en-US" altLang="zh-CN" sz="2800" dirty="0">
                <a:latin typeface="Arial" panose="020B0604020202020204" pitchFamily="34" charset="0"/>
                <a:cs typeface="Arial" panose="020B0604020202020204" pitchFamily="34" charset="0"/>
              </a:rPr>
              <a:t>Model Machine Main Components:</a:t>
            </a:r>
            <a:endParaRPr kumimoji="1" lang="zh-CN" altLang="en-US" sz="2800" dirty="0">
              <a:latin typeface="Arial" panose="020B0604020202020204" pitchFamily="34" charset="0"/>
              <a:cs typeface="Arial" panose="020B0604020202020204" pitchFamily="34" charset="0"/>
            </a:endParaRPr>
          </a:p>
          <a:p>
            <a:pPr marL="711200" lvl="2" indent="-347980">
              <a:lnSpc>
                <a:spcPct val="114000"/>
              </a:lnSpc>
              <a:spcBef>
                <a:spcPct val="0"/>
              </a:spcBef>
              <a:spcAft>
                <a:spcPts val="1500"/>
              </a:spcAft>
              <a:buSzPct val="120000"/>
            </a:pPr>
            <a:r>
              <a:rPr kumimoji="1" lang="en-US" altLang="zh-CN" sz="2800" b="1" dirty="0">
                <a:solidFill>
                  <a:schemeClr val="accent2"/>
                </a:solidFill>
              </a:rPr>
              <a:t>Three-bus</a:t>
            </a:r>
            <a:r>
              <a:rPr kumimoji="1" lang="en-US" altLang="zh-CN" sz="2800" b="1" dirty="0"/>
              <a:t>(Address bus, data bus, and control bus)</a:t>
            </a:r>
          </a:p>
          <a:p>
            <a:pPr marL="711200" lvl="2" indent="-347980">
              <a:lnSpc>
                <a:spcPct val="114000"/>
              </a:lnSpc>
              <a:spcBef>
                <a:spcPct val="0"/>
              </a:spcBef>
              <a:spcAft>
                <a:spcPts val="1500"/>
              </a:spcAft>
              <a:buSzPct val="120000"/>
            </a:pPr>
            <a:r>
              <a:rPr kumimoji="1" lang="en-US" altLang="zh-CN" sz="2800" b="1" dirty="0">
                <a:solidFill>
                  <a:schemeClr val="accent2"/>
                </a:solidFill>
              </a:rPr>
              <a:t>Central Processing Unit</a:t>
            </a:r>
            <a:r>
              <a:rPr kumimoji="1" lang="zh-CN" altLang="en-US" sz="2800" b="1" dirty="0">
                <a:solidFill>
                  <a:schemeClr val="accent2"/>
                </a:solidFill>
              </a:rPr>
              <a:t>（</a:t>
            </a:r>
            <a:r>
              <a:rPr kumimoji="1" lang="en-US" altLang="zh-CN" sz="2800" b="1" dirty="0">
                <a:solidFill>
                  <a:schemeClr val="accent2"/>
                </a:solidFill>
              </a:rPr>
              <a:t>CPU</a:t>
            </a:r>
            <a:r>
              <a:rPr kumimoji="1" lang="zh-CN" altLang="en-US" sz="2800" b="1" dirty="0">
                <a:solidFill>
                  <a:schemeClr val="accent2"/>
                </a:solidFill>
              </a:rPr>
              <a:t>）</a:t>
            </a:r>
          </a:p>
          <a:p>
            <a:pPr marL="711200" lvl="2" indent="-347980">
              <a:lnSpc>
                <a:spcPct val="114000"/>
              </a:lnSpc>
              <a:spcBef>
                <a:spcPct val="0"/>
              </a:spcBef>
              <a:spcAft>
                <a:spcPts val="1500"/>
              </a:spcAft>
              <a:buSzPct val="120000"/>
            </a:pPr>
            <a:r>
              <a:rPr kumimoji="1" lang="en-US" altLang="zh-CN" sz="2800" b="1" dirty="0">
                <a:solidFill>
                  <a:schemeClr val="accent2"/>
                </a:solidFill>
              </a:rPr>
              <a:t>Memory</a:t>
            </a:r>
            <a:endParaRPr kumimoji="1" lang="zh-CN" altLang="en-US" sz="2800" b="1" dirty="0">
              <a:solidFill>
                <a:schemeClr val="accent2"/>
              </a:solidFill>
            </a:endParaRPr>
          </a:p>
          <a:p>
            <a:pPr marL="711200" lvl="2" indent="-347980">
              <a:lnSpc>
                <a:spcPct val="114000"/>
              </a:lnSpc>
              <a:spcBef>
                <a:spcPct val="0"/>
              </a:spcBef>
              <a:spcAft>
                <a:spcPts val="1500"/>
              </a:spcAft>
              <a:buSzPct val="120000"/>
            </a:pPr>
            <a:r>
              <a:rPr kumimoji="1" lang="en-US" altLang="zh-CN" sz="2800" b="1" dirty="0">
                <a:solidFill>
                  <a:schemeClr val="accent2"/>
                </a:solidFill>
              </a:rPr>
              <a:t>I/O interface</a:t>
            </a:r>
            <a:endParaRPr kumimoji="1" lang="en-US" altLang="zh-CN" sz="2800" dirty="0"/>
          </a:p>
        </p:txBody>
      </p:sp>
      <p:sp>
        <p:nvSpPr>
          <p:cNvPr id="4" name="灯片编号占位符 3"/>
          <p:cNvSpPr>
            <a:spLocks noGrp="1"/>
          </p:cNvSpPr>
          <p:nvPr>
            <p:ph type="sldNum" sz="quarter" idx="12"/>
          </p:nvPr>
        </p:nvSpPr>
        <p:spPr/>
        <p:txBody>
          <a:bodyPr/>
          <a:lstStyle/>
          <a:p>
            <a:fld id="{22E77DEE-32E4-4009-988B-F2758F7B8AC2}" type="slidenum">
              <a:rPr lang="zh-CN" altLang="en-US" smtClean="0"/>
              <a:t>3</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76131">
                                            <p:txEl>
                                              <p:pRg st="0" end="0"/>
                                            </p:txEl>
                                          </p:spTgt>
                                        </p:tgtEl>
                                        <p:attrNameLst>
                                          <p:attrName>style.visibility</p:attrName>
                                        </p:attrNameLst>
                                      </p:cBhvr>
                                      <p:to>
                                        <p:strVal val="visible"/>
                                      </p:to>
                                    </p:set>
                                    <p:anim calcmode="lin" valueType="num">
                                      <p:cBhvr additive="base">
                                        <p:cTn id="7" dur="500" fill="hold"/>
                                        <p:tgtEl>
                                          <p:spTgt spid="1761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613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6131">
                                            <p:txEl>
                                              <p:pRg st="1" end="1"/>
                                            </p:txEl>
                                          </p:spTgt>
                                        </p:tgtEl>
                                        <p:attrNameLst>
                                          <p:attrName>style.visibility</p:attrName>
                                        </p:attrNameLst>
                                      </p:cBhvr>
                                      <p:to>
                                        <p:strVal val="visible"/>
                                      </p:to>
                                    </p:set>
                                    <p:anim calcmode="lin" valueType="num">
                                      <p:cBhvr additive="base">
                                        <p:cTn id="11" dur="500" fill="hold"/>
                                        <p:tgtEl>
                                          <p:spTgt spid="17613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7613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76131">
                                            <p:txEl>
                                              <p:pRg st="2" end="2"/>
                                            </p:txEl>
                                          </p:spTgt>
                                        </p:tgtEl>
                                        <p:attrNameLst>
                                          <p:attrName>style.visibility</p:attrName>
                                        </p:attrNameLst>
                                      </p:cBhvr>
                                      <p:to>
                                        <p:strVal val="visible"/>
                                      </p:to>
                                    </p:set>
                                    <p:anim calcmode="lin" valueType="num">
                                      <p:cBhvr additive="base">
                                        <p:cTn id="15" dur="500" fill="hold"/>
                                        <p:tgtEl>
                                          <p:spTgt spid="17613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76131">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76131">
                                            <p:txEl>
                                              <p:pRg st="3" end="3"/>
                                            </p:txEl>
                                          </p:spTgt>
                                        </p:tgtEl>
                                        <p:attrNameLst>
                                          <p:attrName>style.visibility</p:attrName>
                                        </p:attrNameLst>
                                      </p:cBhvr>
                                      <p:to>
                                        <p:strVal val="visible"/>
                                      </p:to>
                                    </p:set>
                                    <p:anim calcmode="lin" valueType="num">
                                      <p:cBhvr additive="base">
                                        <p:cTn id="19" dur="500" fill="hold"/>
                                        <p:tgtEl>
                                          <p:spTgt spid="17613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6131">
                                            <p:txEl>
                                              <p:pRg st="3" end="3"/>
                                            </p:txEl>
                                          </p:spTgt>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2" presetClass="entr" presetSubtype="4" fill="hold" nodeType="afterEffect">
                                  <p:stCondLst>
                                    <p:cond delay="0"/>
                                  </p:stCondLst>
                                  <p:childTnLst>
                                    <p:set>
                                      <p:cBhvr>
                                        <p:cTn id="23" dur="1" fill="hold">
                                          <p:stCondLst>
                                            <p:cond delay="0"/>
                                          </p:stCondLst>
                                        </p:cTn>
                                        <p:tgtEl>
                                          <p:spTgt spid="176131">
                                            <p:txEl>
                                              <p:pRg st="4" end="4"/>
                                            </p:txEl>
                                          </p:spTgt>
                                        </p:tgtEl>
                                        <p:attrNameLst>
                                          <p:attrName>style.visibility</p:attrName>
                                        </p:attrNameLst>
                                      </p:cBhvr>
                                      <p:to>
                                        <p:strVal val="visible"/>
                                      </p:to>
                                    </p:set>
                                    <p:anim calcmode="lin" valueType="num">
                                      <p:cBhvr additive="base">
                                        <p:cTn id="24" dur="500" fill="hold"/>
                                        <p:tgtEl>
                                          <p:spTgt spid="176131">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76131">
                                            <p:txEl>
                                              <p:pRg st="4" end="4"/>
                                            </p:txEl>
                                          </p:spTgt>
                                        </p:tgtEl>
                                        <p:attrNameLst>
                                          <p:attrName>ppt_y</p:attrName>
                                        </p:attrNameLst>
                                      </p:cBhvr>
                                      <p:tavLst>
                                        <p:tav tm="0">
                                          <p:val>
                                            <p:strVal val="1+#ppt_h/2"/>
                                          </p:val>
                                        </p:tav>
                                        <p:tav tm="100000">
                                          <p:val>
                                            <p:strVal val="#ppt_y"/>
                                          </p:val>
                                        </p:tav>
                                      </p:tavLst>
                                    </p:anim>
                                  </p:childTnLst>
                                </p:cTn>
                              </p:par>
                            </p:childTnLst>
                          </p:cTn>
                        </p:par>
                        <p:par>
                          <p:cTn id="26" fill="hold">
                            <p:stCondLst>
                              <p:cond delay="1000"/>
                            </p:stCondLst>
                            <p:childTnLst>
                              <p:par>
                                <p:cTn id="27" presetID="2" presetClass="entr" presetSubtype="4" fill="hold" nodeType="afterEffect">
                                  <p:stCondLst>
                                    <p:cond delay="0"/>
                                  </p:stCondLst>
                                  <p:childTnLst>
                                    <p:set>
                                      <p:cBhvr>
                                        <p:cTn id="28" dur="1" fill="hold">
                                          <p:stCondLst>
                                            <p:cond delay="0"/>
                                          </p:stCondLst>
                                        </p:cTn>
                                        <p:tgtEl>
                                          <p:spTgt spid="176131">
                                            <p:txEl>
                                              <p:pRg st="5" end="5"/>
                                            </p:txEl>
                                          </p:spTgt>
                                        </p:tgtEl>
                                        <p:attrNameLst>
                                          <p:attrName>style.visibility</p:attrName>
                                        </p:attrNameLst>
                                      </p:cBhvr>
                                      <p:to>
                                        <p:strVal val="visible"/>
                                      </p:to>
                                    </p:set>
                                    <p:anim calcmode="lin" valueType="num">
                                      <p:cBhvr additive="base">
                                        <p:cTn id="29" dur="500" fill="hold"/>
                                        <p:tgtEl>
                                          <p:spTgt spid="176131">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7613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noChangeArrowheads="1"/>
          </p:cNvSpPr>
          <p:nvPr>
            <p:ph type="title"/>
          </p:nvPr>
        </p:nvSpPr>
        <p:spPr>
          <a:xfrm>
            <a:off x="362177" y="78127"/>
            <a:ext cx="8229600" cy="933566"/>
          </a:xfrm>
        </p:spPr>
        <p:txBody>
          <a:bodyPr vert="horz" lIns="91440" tIns="45720" rIns="91440" bIns="45720" rtlCol="0" anchor="b">
            <a:noAutofit/>
          </a:bodyPr>
          <a:lstStyle/>
          <a:p>
            <a:r>
              <a:rPr lang="en-US" altLang="zh-CN" sz="3200" dirty="0">
                <a:latin typeface="Arial" panose="020B0604020202020204" pitchFamily="34" charset="0"/>
                <a:cs typeface="Arial" panose="020B0604020202020204" pitchFamily="34" charset="0"/>
              </a:rPr>
              <a:t>4.1.1Structural Overview of </a:t>
            </a:r>
            <a:br>
              <a:rPr lang="en-US" altLang="zh-CN" sz="3200" dirty="0">
                <a:latin typeface="Arial" panose="020B0604020202020204" pitchFamily="34" charset="0"/>
                <a:cs typeface="Arial" panose="020B0604020202020204" pitchFamily="34" charset="0"/>
              </a:rPr>
            </a:br>
            <a:r>
              <a:rPr lang="en-US" altLang="zh-CN" sz="3200" dirty="0">
                <a:latin typeface="Arial" panose="020B0604020202020204" pitchFamily="34" charset="0"/>
                <a:cs typeface="Arial" panose="020B0604020202020204" pitchFamily="34" charset="0"/>
              </a:rPr>
              <a:t>the Prototype Machine</a:t>
            </a:r>
            <a:endParaRPr lang="zh-CN" altLang="en-US" sz="3200" dirty="0">
              <a:latin typeface="Arial" panose="020B0604020202020204" pitchFamily="34" charset="0"/>
              <a:cs typeface="Arial" panose="020B0604020202020204" pitchFamily="34" charset="0"/>
            </a:endParaRPr>
          </a:p>
        </p:txBody>
      </p:sp>
      <p:sp>
        <p:nvSpPr>
          <p:cNvPr id="22531" name="Rectangle 5"/>
          <p:cNvSpPr>
            <a:spLocks noChangeArrowheads="1"/>
          </p:cNvSpPr>
          <p:nvPr/>
        </p:nvSpPr>
        <p:spPr bwMode="auto">
          <a:xfrm>
            <a:off x="0" y="2043113"/>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428036" name="Object 4"/>
          <p:cNvGraphicFramePr>
            <a:graphicFrameLocks noChangeAspect="1"/>
          </p:cNvGraphicFramePr>
          <p:nvPr/>
        </p:nvGraphicFramePr>
        <p:xfrm>
          <a:off x="-552450" y="873125"/>
          <a:ext cx="9750425" cy="5907088"/>
        </p:xfrm>
        <a:graphic>
          <a:graphicData uri="http://schemas.openxmlformats.org/presentationml/2006/ole">
            <mc:AlternateContent xmlns:mc="http://schemas.openxmlformats.org/markup-compatibility/2006">
              <mc:Choice xmlns:v="urn:schemas-microsoft-com:vml" Requires="v">
                <p:oleObj name="Visio" r:id="rId2" imgW="4735195" imgH="2854325" progId="Visio.Drawing.11">
                  <p:embed/>
                </p:oleObj>
              </mc:Choice>
              <mc:Fallback>
                <p:oleObj name="Visio" r:id="rId2" imgW="4735195" imgH="2854325" progId="Visio.Drawing.11">
                  <p:embed/>
                  <p:pic>
                    <p:nvPicPr>
                      <p:cNvPr id="0" name="Object 4"/>
                      <p:cNvPicPr>
                        <a:picLocks noChangeAspect="1" noChangeArrowheads="1"/>
                      </p:cNvPicPr>
                      <p:nvPr/>
                    </p:nvPicPr>
                    <p:blipFill>
                      <a:blip r:embed="rId3"/>
                      <a:srcRect/>
                      <a:stretch>
                        <a:fillRect/>
                      </a:stretch>
                    </p:blipFill>
                    <p:spPr bwMode="auto">
                      <a:xfrm>
                        <a:off x="-552450" y="873125"/>
                        <a:ext cx="9750425" cy="5907088"/>
                      </a:xfrm>
                      <a:prstGeom prst="rect">
                        <a:avLst/>
                      </a:prstGeom>
                      <a:noFill/>
                      <a:ln>
                        <a:noFill/>
                      </a:ln>
                    </p:spPr>
                  </p:pic>
                </p:oleObj>
              </mc:Fallback>
            </mc:AlternateContent>
          </a:graphicData>
        </a:graphic>
      </p:graphicFrame>
      <p:sp>
        <p:nvSpPr>
          <p:cNvPr id="5" name="矩形 4"/>
          <p:cNvSpPr/>
          <p:nvPr/>
        </p:nvSpPr>
        <p:spPr>
          <a:xfrm>
            <a:off x="3943092" y="5779086"/>
            <a:ext cx="2621670" cy="450188"/>
          </a:xfrm>
          <a:prstGeom prst="rect">
            <a:avLst/>
          </a:prstGeom>
          <a:ln>
            <a:solidFill>
              <a:schemeClr val="bg1">
                <a:lumMod val="50000"/>
              </a:schemeClr>
            </a:solidFill>
          </a:ln>
        </p:spPr>
        <p:txBody>
          <a:bodyPr wrap="square" lIns="0" tIns="0" rIns="0" bIns="0">
            <a:spAutoFit/>
          </a:bodyPr>
          <a:lstStyle/>
          <a:p>
            <a:pPr marL="0" lvl="2" algn="ctr" eaLnBrk="1" hangingPunct="1">
              <a:lnSpc>
                <a:spcPct val="114000"/>
              </a:lnSpc>
              <a:spcBef>
                <a:spcPts val="0"/>
              </a:spcBef>
              <a:spcAft>
                <a:spcPts val="1500"/>
              </a:spcAft>
              <a:buSzPct val="120000"/>
              <a:defRPr/>
            </a:pPr>
            <a:r>
              <a:rPr kumimoji="1" lang="en-US" altLang="zh-CN" sz="2800" b="1" dirty="0">
                <a:solidFill>
                  <a:schemeClr val="accent2"/>
                </a:solidFill>
                <a:latin typeface="Arial" panose="020B0604020202020204" pitchFamily="34" charset="0"/>
                <a:cs typeface="Arial" panose="020B0604020202020204" pitchFamily="34" charset="0"/>
              </a:rPr>
              <a:t>I/O interface</a:t>
            </a:r>
            <a:endParaRPr kumimoji="1" lang="en-US" altLang="zh-CN" sz="2800" dirty="0">
              <a:latin typeface="Arial" panose="020B0604020202020204" pitchFamily="34" charset="0"/>
              <a:cs typeface="Arial" panose="020B0604020202020204" pitchFamily="34" charset="0"/>
            </a:endParaRPr>
          </a:p>
        </p:txBody>
      </p:sp>
      <p:sp>
        <p:nvSpPr>
          <p:cNvPr id="2" name="矩形 1"/>
          <p:cNvSpPr>
            <a:spLocks noChangeArrowheads="1"/>
          </p:cNvSpPr>
          <p:nvPr/>
        </p:nvSpPr>
        <p:spPr bwMode="auto">
          <a:xfrm>
            <a:off x="261938" y="1712913"/>
            <a:ext cx="1436687" cy="4310062"/>
          </a:xfrm>
          <a:prstGeom prst="rect">
            <a:avLst/>
          </a:prstGeom>
          <a:noFill/>
          <a:ln w="9525" algn="ctr">
            <a:solidFill>
              <a:srgbClr val="FF00FF"/>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 name="矩形 9"/>
          <p:cNvSpPr>
            <a:spLocks noChangeArrowheads="1"/>
          </p:cNvSpPr>
          <p:nvPr/>
        </p:nvSpPr>
        <p:spPr bwMode="auto">
          <a:xfrm>
            <a:off x="2017713" y="1712913"/>
            <a:ext cx="2032000" cy="4310062"/>
          </a:xfrm>
          <a:prstGeom prst="rect">
            <a:avLst/>
          </a:prstGeom>
          <a:noFill/>
          <a:ln w="9525" algn="ctr">
            <a:solidFill>
              <a:srgbClr val="FF00FF"/>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 name="矩形 6"/>
          <p:cNvSpPr>
            <a:spLocks noChangeArrowheads="1"/>
          </p:cNvSpPr>
          <p:nvPr/>
        </p:nvSpPr>
        <p:spPr bwMode="auto">
          <a:xfrm>
            <a:off x="92346" y="5977670"/>
            <a:ext cx="38507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CC3300"/>
                </a:solidFill>
                <a:latin typeface="Arial" panose="020B0604020202020204" pitchFamily="34" charset="0"/>
                <a:cs typeface="Arial" panose="020B0604020202020204" pitchFamily="34" charset="0"/>
              </a:rPr>
              <a:t>arithmetic unit </a:t>
            </a:r>
            <a:r>
              <a:rPr lang="zh-CN" altLang="en-US" sz="2000" b="1" dirty="0">
                <a:latin typeface="Arial" panose="020B0604020202020204" pitchFamily="34" charset="0"/>
                <a:cs typeface="Arial" panose="020B0604020202020204" pitchFamily="34" charset="0"/>
              </a:rPr>
              <a:t>      </a:t>
            </a:r>
            <a:r>
              <a:rPr lang="en-US" altLang="zh-CN" sz="2000" b="1" dirty="0">
                <a:solidFill>
                  <a:srgbClr val="CC3300"/>
                </a:solidFill>
                <a:latin typeface="Arial" panose="020B0604020202020204" pitchFamily="34" charset="0"/>
                <a:cs typeface="Arial" panose="020B0604020202020204" pitchFamily="34" charset="0"/>
              </a:rPr>
              <a:t>control unit</a:t>
            </a:r>
            <a:endParaRPr lang="zh-CN" altLang="en-US" sz="2000" b="1" dirty="0">
              <a:latin typeface="Arial" panose="020B0604020202020204" pitchFamily="34" charset="0"/>
              <a:cs typeface="Arial" panose="020B0604020202020204" pitchFamily="34" charset="0"/>
            </a:endParaRPr>
          </a:p>
        </p:txBody>
      </p:sp>
      <p:graphicFrame>
        <p:nvGraphicFramePr>
          <p:cNvPr id="12" name="Group 81"/>
          <p:cNvGraphicFramePr>
            <a:graphicFrameLocks noGrp="1"/>
          </p:cNvGraphicFramePr>
          <p:nvPr/>
        </p:nvGraphicFramePr>
        <p:xfrm>
          <a:off x="5259388" y="711997"/>
          <a:ext cx="2097087" cy="401638"/>
        </p:xfrm>
        <a:graphic>
          <a:graphicData uri="http://schemas.openxmlformats.org/drawingml/2006/table">
            <a:tbl>
              <a:tblPr/>
              <a:tblGrid>
                <a:gridCol w="2097087">
                  <a:extLst>
                    <a:ext uri="{9D8B030D-6E8A-4147-A177-3AD203B41FA5}">
                      <a16:colId xmlns:a16="http://schemas.microsoft.com/office/drawing/2014/main" val="20000"/>
                    </a:ext>
                  </a:extLst>
                </a:gridCol>
              </a:tblGrid>
              <a:tr h="401638">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pt-BR" altLang="zh-CN" sz="2400" b="1" i="0" u="none" strike="noStrike" cap="none" normalizeH="0" baseline="0" dirty="0">
                          <a:ln>
                            <a:noFill/>
                          </a:ln>
                          <a:solidFill>
                            <a:srgbClr val="0000CC"/>
                          </a:solidFill>
                          <a:effectLst/>
                          <a:latin typeface="Times New Roman" panose="02020603050405020304" pitchFamily="18" charset="0"/>
                          <a:ea typeface="宋体" panose="02010600030101010101" pitchFamily="2" charset="-122"/>
                          <a:cs typeface="Times New Roman" panose="02020603050405020304" pitchFamily="18" charset="0"/>
                        </a:rPr>
                        <a:t>MOV A</a:t>
                      </a:r>
                      <a:r>
                        <a:rPr kumimoji="0" lang="en-US" altLang="zh-CN" sz="2400" b="1" i="0" u="none" strike="noStrike" cap="none" normalizeH="0" baseline="0" dirty="0">
                          <a:ln>
                            <a:noFill/>
                          </a:ln>
                          <a:solidFill>
                            <a:srgbClr val="0000CC"/>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400" b="1" i="0" u="none" strike="noStrike" cap="none" normalizeH="0" baseline="0" dirty="0">
                          <a:ln>
                            <a:noFill/>
                          </a:ln>
                          <a:solidFill>
                            <a:srgbClr val="0000CC"/>
                          </a:solidFill>
                          <a:effectLst/>
                          <a:latin typeface="Times New Roman" panose="02020603050405020304" pitchFamily="18" charset="0"/>
                          <a:ea typeface="宋体" panose="02010600030101010101" pitchFamily="2" charset="-122"/>
                          <a:cs typeface="Times New Roman" panose="02020603050405020304" pitchFamily="18" charset="0"/>
                        </a:rPr>
                        <a:t>07H</a:t>
                      </a:r>
                    </a:p>
                  </a:txBody>
                  <a:tcPr marL="91430" marR="9143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aphicFrame>
        <p:nvGraphicFramePr>
          <p:cNvPr id="13" name="表格 12"/>
          <p:cNvGraphicFramePr>
            <a:graphicFrameLocks noGrp="1"/>
          </p:cNvGraphicFramePr>
          <p:nvPr/>
        </p:nvGraphicFramePr>
        <p:xfrm>
          <a:off x="7410450" y="11923"/>
          <a:ext cx="1733550" cy="1097439"/>
        </p:xfrm>
        <a:graphic>
          <a:graphicData uri="http://schemas.openxmlformats.org/drawingml/2006/table">
            <a:tbl>
              <a:tblPr/>
              <a:tblGrid>
                <a:gridCol w="1733550">
                  <a:extLst>
                    <a:ext uri="{9D8B030D-6E8A-4147-A177-3AD203B41FA5}">
                      <a16:colId xmlns:a16="http://schemas.microsoft.com/office/drawing/2014/main" val="20000"/>
                    </a:ext>
                  </a:extLst>
                </a:gridCol>
              </a:tblGrid>
              <a:tr h="365919">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rgbClr val="9900CC"/>
                          </a:solidFill>
                          <a:effectLst/>
                          <a:latin typeface="Times New Roman" panose="02020603050405020304" pitchFamily="18" charset="0"/>
                          <a:ea typeface="宋体" panose="02010600030101010101" pitchFamily="2" charset="-122"/>
                          <a:cs typeface="Times New Roman" panose="02020603050405020304" pitchFamily="18" charset="0"/>
                        </a:rPr>
                        <a:t>Machine code</a:t>
                      </a:r>
                      <a:endParaRPr kumimoji="0" lang="zh-CN" altLang="en-US" sz="2400" b="1" i="0" u="none" strike="noStrike" cap="none" normalizeH="0" baseline="0" dirty="0">
                        <a:ln>
                          <a:noFill/>
                        </a:ln>
                        <a:solidFill>
                          <a:srgbClr val="9900CC"/>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76" marR="9147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5919">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pt-BR" altLang="zh-CN" sz="2400" b="1" i="0" u="none" strike="noStrike" cap="none" normalizeH="0" baseline="0" dirty="0">
                          <a:ln>
                            <a:noFill/>
                          </a:ln>
                          <a:solidFill>
                            <a:srgbClr val="9900CC"/>
                          </a:solidFill>
                          <a:effectLst/>
                          <a:latin typeface="Times New Roman" panose="02020603050405020304" pitchFamily="18" charset="0"/>
                          <a:ea typeface="宋体" panose="02010600030101010101" pitchFamily="2" charset="-122"/>
                          <a:cs typeface="Times New Roman" panose="02020603050405020304" pitchFamily="18" charset="0"/>
                        </a:rPr>
                        <a:t>B0H  07H</a:t>
                      </a:r>
                    </a:p>
                  </a:txBody>
                  <a:tcPr marL="91476" marR="9147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
        <p:nvSpPr>
          <p:cNvPr id="14" name="矩形 13"/>
          <p:cNvSpPr>
            <a:spLocks noChangeArrowheads="1"/>
          </p:cNvSpPr>
          <p:nvPr/>
        </p:nvSpPr>
        <p:spPr bwMode="auto">
          <a:xfrm>
            <a:off x="5165631" y="-29371"/>
            <a:ext cx="22846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3D41D1"/>
                </a:solidFill>
              </a:rPr>
              <a:t>8086</a:t>
            </a:r>
          </a:p>
          <a:p>
            <a:pPr eaLnBrk="1" hangingPunct="1"/>
            <a:r>
              <a:rPr lang="en-US" altLang="zh-CN" sz="2000" b="1" dirty="0">
                <a:solidFill>
                  <a:srgbClr val="3D41D1"/>
                </a:solidFill>
              </a:rPr>
              <a:t>Assembly language</a:t>
            </a:r>
            <a:endParaRPr lang="zh-CN" altLang="en-US" sz="2000" b="1" dirty="0">
              <a:solidFill>
                <a:srgbClr val="3D41D1"/>
              </a:solidFill>
            </a:endParaRPr>
          </a:p>
        </p:txBody>
      </p:sp>
      <p:grpSp>
        <p:nvGrpSpPr>
          <p:cNvPr id="11" name="组合 10"/>
          <p:cNvGrpSpPr/>
          <p:nvPr/>
        </p:nvGrpSpPr>
        <p:grpSpPr bwMode="auto">
          <a:xfrm>
            <a:off x="4230688" y="2752725"/>
            <a:ext cx="1485900" cy="3038475"/>
            <a:chOff x="4285672" y="2743201"/>
            <a:chExt cx="1487057" cy="3038766"/>
          </a:xfrm>
        </p:grpSpPr>
        <p:sp>
          <p:nvSpPr>
            <p:cNvPr id="22558" name="箭头: 上下 19"/>
            <p:cNvSpPr>
              <a:spLocks noChangeArrowheads="1"/>
            </p:cNvSpPr>
            <p:nvPr/>
          </p:nvSpPr>
          <p:spPr bwMode="auto">
            <a:xfrm>
              <a:off x="4285672" y="2743201"/>
              <a:ext cx="157017" cy="3038766"/>
            </a:xfrm>
            <a:prstGeom prst="upDownArrow">
              <a:avLst>
                <a:gd name="adj1" fmla="val 50000"/>
                <a:gd name="adj2" fmla="val 75172"/>
              </a:avLst>
            </a:prstGeom>
            <a:noFill/>
            <a:ln w="9525" algn="ctr">
              <a:solidFill>
                <a:srgbClr val="0000FF"/>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559" name="箭头: 上下 20"/>
            <p:cNvSpPr>
              <a:spLocks noChangeArrowheads="1"/>
            </p:cNvSpPr>
            <p:nvPr/>
          </p:nvSpPr>
          <p:spPr bwMode="auto">
            <a:xfrm>
              <a:off x="5597239" y="3846944"/>
              <a:ext cx="175490" cy="1916548"/>
            </a:xfrm>
            <a:prstGeom prst="upDownArrow">
              <a:avLst>
                <a:gd name="adj1" fmla="val 50000"/>
                <a:gd name="adj2" fmla="val 75184"/>
              </a:avLst>
            </a:prstGeom>
            <a:noFill/>
            <a:ln w="9525" algn="ctr">
              <a:solidFill>
                <a:srgbClr val="0000FF"/>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560" name="箭头: 上下 21"/>
            <p:cNvSpPr>
              <a:spLocks noChangeArrowheads="1"/>
            </p:cNvSpPr>
            <p:nvPr/>
          </p:nvSpPr>
          <p:spPr bwMode="auto">
            <a:xfrm>
              <a:off x="4886039" y="5588001"/>
              <a:ext cx="193961" cy="184729"/>
            </a:xfrm>
            <a:prstGeom prst="upDownArrow">
              <a:avLst>
                <a:gd name="adj1" fmla="val 50000"/>
                <a:gd name="adj2" fmla="val 27778"/>
              </a:avLst>
            </a:prstGeom>
            <a:noFill/>
            <a:ln w="9525" algn="ctr">
              <a:solidFill>
                <a:srgbClr val="0000FF"/>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4" name="灯片编号占位符 3"/>
          <p:cNvSpPr>
            <a:spLocks noGrp="1"/>
          </p:cNvSpPr>
          <p:nvPr>
            <p:ph type="sldNum" sz="quarter" idx="12"/>
          </p:nvPr>
        </p:nvSpPr>
        <p:spPr/>
        <p:txBody>
          <a:bodyPr/>
          <a:lstStyle/>
          <a:p>
            <a:fld id="{22E77DEE-32E4-4009-988B-F2758F7B8AC2}" type="slidenum">
              <a:rPr lang="zh-CN" altLang="en-US" smtClean="0"/>
              <a:t>4</a:t>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noChangeArrowheads="1"/>
          </p:cNvSpPr>
          <p:nvPr>
            <p:ph type="title"/>
          </p:nvPr>
        </p:nvSpPr>
        <p:spPr>
          <a:xfrm>
            <a:off x="817562" y="500063"/>
            <a:ext cx="8250763" cy="592138"/>
          </a:xfrm>
        </p:spPr>
        <p:txBody>
          <a:bodyPr vert="horz" lIns="91440" tIns="45720" rIns="91440" bIns="45720" rtlCol="0" anchor="b">
            <a:noAutofit/>
          </a:bodyPr>
          <a:lstStyle/>
          <a:p>
            <a:r>
              <a:rPr lang="en-US" altLang="zh-CN" sz="2800" dirty="0">
                <a:latin typeface="Arial" panose="020B0604020202020204" pitchFamily="34" charset="0"/>
                <a:cs typeface="Arial" panose="020B0604020202020204" pitchFamily="34" charset="0"/>
              </a:rPr>
              <a:t>4.1.1 Introduction to </a:t>
            </a:r>
            <a:r>
              <a:rPr lang="en-US" altLang="zh-CN" sz="2800" dirty="0">
                <a:latin typeface="Arial" panose="020B0604020202020204" pitchFamily="34" charset="0"/>
                <a:cs typeface="Arial" panose="020B0604020202020204" pitchFamily="34" charset="0"/>
                <a:hlinkClick r:id="rId3" action="ppaction://hlinksldjump"/>
              </a:rPr>
              <a:t>Structure of the Model Machine</a:t>
            </a:r>
            <a:endParaRPr lang="zh-CN" altLang="en-US" sz="2800" dirty="0">
              <a:latin typeface="Arial" panose="020B0604020202020204" pitchFamily="34" charset="0"/>
              <a:cs typeface="Arial" panose="020B0604020202020204" pitchFamily="34" charset="0"/>
            </a:endParaRPr>
          </a:p>
        </p:txBody>
      </p:sp>
      <p:sp>
        <p:nvSpPr>
          <p:cNvPr id="429059" name="Rectangle 3"/>
          <p:cNvSpPr>
            <a:spLocks noGrp="1" noChangeArrowheads="1"/>
          </p:cNvSpPr>
          <p:nvPr>
            <p:ph idx="1"/>
          </p:nvPr>
        </p:nvSpPr>
        <p:spPr>
          <a:xfrm>
            <a:off x="817563" y="1176337"/>
            <a:ext cx="7624536" cy="3828370"/>
          </a:xfrm>
        </p:spPr>
        <p:txBody>
          <a:bodyPr>
            <a:normAutofit lnSpcReduction="10000"/>
          </a:bodyPr>
          <a:lstStyle/>
          <a:p>
            <a:pPr eaLnBrk="1" hangingPunct="1">
              <a:spcBef>
                <a:spcPts val="0"/>
              </a:spcBef>
              <a:spcAft>
                <a:spcPts val="1800"/>
              </a:spcAft>
              <a:buFontTx/>
              <a:buNone/>
              <a:defRPr/>
            </a:pPr>
            <a:r>
              <a:rPr lang="en-US" altLang="zh-CN" dirty="0">
                <a:solidFill>
                  <a:srgbClr val="FF0000"/>
                </a:solidFill>
                <a:latin typeface="Arial" panose="020B0604020202020204" pitchFamily="34" charset="0"/>
                <a:cs typeface="Arial" panose="020B0604020202020204" pitchFamily="34" charset="0"/>
              </a:rPr>
              <a:t>1</a:t>
            </a:r>
            <a:r>
              <a:rPr lang="zh-CN" altLang="en-US" dirty="0">
                <a:solidFill>
                  <a:srgbClr val="FF0000"/>
                </a:solidFill>
                <a:latin typeface="Arial" panose="020B0604020202020204" pitchFamily="34" charset="0"/>
                <a:cs typeface="Arial" panose="020B0604020202020204" pitchFamily="34" charset="0"/>
              </a:rPr>
              <a:t>、</a:t>
            </a:r>
            <a:r>
              <a:rPr lang="en-US" altLang="zh-CN" dirty="0">
                <a:solidFill>
                  <a:srgbClr val="FF0000"/>
                </a:solidFill>
                <a:latin typeface="Arial" panose="020B0604020202020204" pitchFamily="34" charset="0"/>
                <a:cs typeface="Arial" panose="020B0604020202020204" pitchFamily="34" charset="0"/>
              </a:rPr>
              <a:t>Components of the Central Processing Unit</a:t>
            </a:r>
            <a:endParaRPr lang="zh-CN" altLang="en-US" dirty="0">
              <a:solidFill>
                <a:srgbClr val="FF0000"/>
              </a:solidFill>
              <a:latin typeface="Arial" panose="020B0604020202020204" pitchFamily="34" charset="0"/>
              <a:cs typeface="Arial" panose="020B0604020202020204" pitchFamily="34" charset="0"/>
            </a:endParaRPr>
          </a:p>
          <a:p>
            <a:pPr eaLnBrk="1" hangingPunct="1">
              <a:spcBef>
                <a:spcPts val="0"/>
              </a:spcBef>
              <a:spcAft>
                <a:spcPts val="1800"/>
              </a:spcAft>
              <a:buFontTx/>
              <a:buNone/>
              <a:defRPr/>
            </a:pPr>
            <a:r>
              <a:rPr lang="en-US" altLang="zh-CN" dirty="0">
                <a:latin typeface="Arial" panose="020B0604020202020204" pitchFamily="34" charset="0"/>
                <a:cs typeface="Arial" panose="020B0604020202020204" pitchFamily="34" charset="0"/>
              </a:rPr>
              <a:t>The central processing unit (CPU) consists of </a:t>
            </a:r>
            <a:r>
              <a:rPr lang="en-US" altLang="zh-CN" sz="2100" dirty="0">
                <a:solidFill>
                  <a:srgbClr val="CC3300"/>
                </a:solidFill>
                <a:latin typeface="Arial" panose="020B0604020202020204" pitchFamily="34" charset="0"/>
                <a:cs typeface="Arial" panose="020B0604020202020204" pitchFamily="34" charset="0"/>
              </a:rPr>
              <a:t>arithmetic unit </a:t>
            </a:r>
            <a:r>
              <a:rPr lang="en-US" altLang="zh-CN" dirty="0">
                <a:latin typeface="Arial" panose="020B0604020202020204" pitchFamily="34" charset="0"/>
                <a:cs typeface="Arial" panose="020B0604020202020204" pitchFamily="34" charset="0"/>
              </a:rPr>
              <a:t>and </a:t>
            </a:r>
            <a:r>
              <a:rPr lang="en-US" altLang="zh-CN" sz="2100" dirty="0">
                <a:solidFill>
                  <a:srgbClr val="CC3300"/>
                </a:solidFill>
                <a:latin typeface="Arial" panose="020B0604020202020204" pitchFamily="34" charset="0"/>
                <a:cs typeface="Arial" panose="020B0604020202020204" pitchFamily="34" charset="0"/>
              </a:rPr>
              <a:t>control unit</a:t>
            </a:r>
            <a:r>
              <a:rPr lang="en-US" altLang="zh-CN" dirty="0">
                <a:latin typeface="Arial" panose="020B0604020202020204" pitchFamily="34" charset="0"/>
                <a:cs typeface="Arial" panose="020B0604020202020204" pitchFamily="34" charset="0"/>
              </a:rPr>
              <a:t>.</a:t>
            </a:r>
            <a:endParaRPr lang="zh-CN" altLang="en-US" sz="2100" dirty="0">
              <a:solidFill>
                <a:srgbClr val="CC3300"/>
              </a:solidFill>
              <a:latin typeface="Arial" panose="020B0604020202020204" pitchFamily="34" charset="0"/>
              <a:cs typeface="Arial" panose="020B0604020202020204" pitchFamily="34" charset="0"/>
            </a:endParaRPr>
          </a:p>
          <a:p>
            <a:pPr eaLnBrk="1" hangingPunct="1">
              <a:spcBef>
                <a:spcPts val="0"/>
              </a:spcBef>
              <a:spcAft>
                <a:spcPts val="1800"/>
              </a:spcAft>
              <a:buFontTx/>
              <a:buNone/>
              <a:defRPr/>
            </a:pPr>
            <a:r>
              <a:rPr lang="zh-CN" altLang="en-US" dirty="0">
                <a:solidFill>
                  <a:srgbClr val="FF0000"/>
                </a:solidFill>
                <a:latin typeface="Arial" panose="020B0604020202020204" pitchFamily="34" charset="0"/>
                <a:cs typeface="Arial" panose="020B0604020202020204" pitchFamily="34" charset="0"/>
              </a:rPr>
              <a:t>（</a:t>
            </a:r>
            <a:r>
              <a:rPr lang="en-US" altLang="zh-CN" dirty="0">
                <a:solidFill>
                  <a:srgbClr val="FF0000"/>
                </a:solidFill>
                <a:latin typeface="Arial" panose="020B0604020202020204" pitchFamily="34" charset="0"/>
                <a:cs typeface="Arial" panose="020B0604020202020204" pitchFamily="34" charset="0"/>
              </a:rPr>
              <a:t>1</a:t>
            </a:r>
            <a:r>
              <a:rPr lang="zh-CN" altLang="en-US" dirty="0">
                <a:solidFill>
                  <a:srgbClr val="FF0000"/>
                </a:solidFill>
                <a:latin typeface="Arial" panose="020B0604020202020204" pitchFamily="34" charset="0"/>
                <a:cs typeface="Arial" panose="020B0604020202020204" pitchFamily="34" charset="0"/>
              </a:rPr>
              <a:t>）</a:t>
            </a:r>
            <a:r>
              <a:rPr lang="en-US" altLang="zh-CN" dirty="0">
                <a:solidFill>
                  <a:srgbClr val="FF0000"/>
                </a:solidFill>
                <a:latin typeface="Arial" panose="020B0604020202020204" pitchFamily="34" charset="0"/>
                <a:cs typeface="Arial" panose="020B0604020202020204" pitchFamily="34" charset="0"/>
              </a:rPr>
              <a:t>Arithmetic unit</a:t>
            </a:r>
            <a:endParaRPr lang="zh-CN" altLang="en-US" dirty="0">
              <a:solidFill>
                <a:srgbClr val="FF0000"/>
              </a:solidFill>
              <a:latin typeface="Arial" panose="020B0604020202020204" pitchFamily="34" charset="0"/>
              <a:cs typeface="Arial" panose="020B0604020202020204" pitchFamily="34" charset="0"/>
            </a:endParaRPr>
          </a:p>
          <a:p>
            <a:pPr marL="1075055" indent="-1075055" eaLnBrk="1" hangingPunct="1">
              <a:spcBef>
                <a:spcPts val="0"/>
              </a:spcBef>
              <a:spcAft>
                <a:spcPts val="1800"/>
              </a:spcAft>
              <a:buFontTx/>
              <a:buNone/>
              <a:defRPr/>
            </a:pPr>
            <a:r>
              <a:rPr lang="en-US" altLang="zh-CN" dirty="0">
                <a:solidFill>
                  <a:srgbClr val="CC3300"/>
                </a:solidFill>
                <a:latin typeface="Arial" panose="020B0604020202020204" pitchFamily="34" charset="0"/>
                <a:cs typeface="Arial" panose="020B0604020202020204" pitchFamily="34" charset="0"/>
              </a:rPr>
              <a:t>Definition</a:t>
            </a:r>
            <a:r>
              <a:rPr lang="en-US" altLang="zh-CN" dirty="0">
                <a:latin typeface="Arial" panose="020B0604020202020204" pitchFamily="34" charset="0"/>
                <a:cs typeface="Arial" panose="020B0604020202020204" pitchFamily="34" charset="0"/>
              </a:rPr>
              <a:t>: </a:t>
            </a:r>
            <a:r>
              <a:rPr lang="en-US" altLang="zh-CN" dirty="0">
                <a:solidFill>
                  <a:schemeClr val="tx1"/>
                </a:solidFill>
                <a:latin typeface="Arial" panose="020B0604020202020204" pitchFamily="34" charset="0"/>
                <a:cs typeface="Arial" panose="020B0604020202020204" pitchFamily="34" charset="0"/>
              </a:rPr>
              <a:t>The arithmetic unit is the functional component in a computer responsible for processing and manipulating data.</a:t>
            </a:r>
            <a:endParaRPr lang="zh-CN" altLang="en-US" dirty="0">
              <a:solidFill>
                <a:schemeClr val="tx1"/>
              </a:solidFill>
              <a:latin typeface="Arial" panose="020B0604020202020204" pitchFamily="34" charset="0"/>
              <a:cs typeface="Arial" panose="020B0604020202020204" pitchFamily="34" charset="0"/>
            </a:endParaRPr>
          </a:p>
          <a:p>
            <a:pPr marL="1075055" indent="-1075055" eaLnBrk="1" hangingPunct="1">
              <a:spcBef>
                <a:spcPts val="0"/>
              </a:spcBef>
              <a:spcAft>
                <a:spcPts val="1800"/>
              </a:spcAft>
              <a:buFontTx/>
              <a:buNone/>
              <a:defRPr/>
            </a:pPr>
            <a:r>
              <a:rPr lang="en-US" altLang="zh-CN" dirty="0">
                <a:solidFill>
                  <a:srgbClr val="CC3300"/>
                </a:solidFill>
                <a:latin typeface="Arial" panose="020B0604020202020204" pitchFamily="34" charset="0"/>
                <a:cs typeface="Arial" panose="020B0604020202020204" pitchFamily="34" charset="0"/>
              </a:rPr>
              <a:t>Function</a:t>
            </a:r>
            <a:r>
              <a:rPr lang="en-US" altLang="zh-CN" dirty="0">
                <a:latin typeface="Arial" panose="020B0604020202020204" pitchFamily="34" charset="0"/>
                <a:cs typeface="Arial" panose="020B0604020202020204" pitchFamily="34" charset="0"/>
              </a:rPr>
              <a:t>: </a:t>
            </a:r>
            <a:r>
              <a:rPr lang="en-US" altLang="zh-CN" dirty="0">
                <a:solidFill>
                  <a:schemeClr val="tx1"/>
                </a:solidFill>
                <a:latin typeface="Arial" panose="020B0604020202020204" pitchFamily="34" charset="0"/>
                <a:cs typeface="Arial" panose="020B0604020202020204" pitchFamily="34" charset="0"/>
              </a:rPr>
              <a:t>Processing data primarily involves arithmetic and logical operations, such as addition, subtraction, multiplication, AND, OR, and NOT operations. It also temporarily stores data involved in operations and intermediate results.</a:t>
            </a:r>
          </a:p>
        </p:txBody>
      </p:sp>
      <p:sp>
        <p:nvSpPr>
          <p:cNvPr id="2" name="灯片编号占位符 1"/>
          <p:cNvSpPr>
            <a:spLocks noGrp="1"/>
          </p:cNvSpPr>
          <p:nvPr>
            <p:ph type="sldNum" sz="quarter" idx="12"/>
          </p:nvPr>
        </p:nvSpPr>
        <p:spPr/>
        <p:txBody>
          <a:bodyPr/>
          <a:lstStyle/>
          <a:p>
            <a:fld id="{22E77DEE-32E4-4009-988B-F2758F7B8AC2}" type="slidenum">
              <a:rPr lang="zh-CN" altLang="en-US" smtClean="0"/>
              <a:t>5</a:t>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noChangeArrowheads="1"/>
          </p:cNvSpPr>
          <p:nvPr>
            <p:ph type="title"/>
          </p:nvPr>
        </p:nvSpPr>
        <p:spPr>
          <a:xfrm>
            <a:off x="904761" y="461282"/>
            <a:ext cx="7504602" cy="582375"/>
          </a:xfrm>
        </p:spPr>
        <p:txBody>
          <a:bodyPr vert="horz" lIns="91440" tIns="45720" rIns="91440" bIns="45720" rtlCol="0" anchor="b">
            <a:noAutofit/>
          </a:bodyPr>
          <a:lstStyle/>
          <a:p>
            <a:r>
              <a:rPr lang="en-US" altLang="zh-CN" sz="2800" dirty="0">
                <a:latin typeface="Arial" panose="020B0604020202020204" pitchFamily="34" charset="0"/>
                <a:cs typeface="Arial" panose="020B0604020202020204" pitchFamily="34" charset="0"/>
              </a:rPr>
              <a:t>1</a:t>
            </a:r>
            <a:r>
              <a:rPr lang="zh-CN" altLang="en-US" sz="2800" dirty="0">
                <a:latin typeface="Arial" panose="020B0604020202020204" pitchFamily="34" charset="0"/>
                <a:cs typeface="Arial" panose="020B0604020202020204" pitchFamily="34" charset="0"/>
              </a:rPr>
              <a:t>、</a:t>
            </a:r>
            <a:r>
              <a:rPr lang="en-US" altLang="zh-CN" sz="2800" dirty="0">
                <a:latin typeface="Arial" panose="020B0604020202020204" pitchFamily="34" charset="0"/>
                <a:cs typeface="Arial" panose="020B0604020202020204" pitchFamily="34" charset="0"/>
              </a:rPr>
              <a:t>Components of the Central Processing Unit</a:t>
            </a:r>
            <a:endParaRPr lang="zh-CN" altLang="en-US" sz="2800" dirty="0">
              <a:latin typeface="Arial" panose="020B0604020202020204" pitchFamily="34" charset="0"/>
              <a:cs typeface="Arial" panose="020B0604020202020204" pitchFamily="34" charset="0"/>
            </a:endParaRPr>
          </a:p>
        </p:txBody>
      </p:sp>
      <p:sp>
        <p:nvSpPr>
          <p:cNvPr id="578563" name="Rectangle 3"/>
          <p:cNvSpPr>
            <a:spLocks noGrp="1" noChangeArrowheads="1"/>
          </p:cNvSpPr>
          <p:nvPr>
            <p:ph idx="1"/>
          </p:nvPr>
        </p:nvSpPr>
        <p:spPr>
          <a:xfrm>
            <a:off x="673554" y="1190625"/>
            <a:ext cx="7751989" cy="4975225"/>
          </a:xfrm>
        </p:spPr>
        <p:txBody>
          <a:bodyPr/>
          <a:lstStyle/>
          <a:p>
            <a:pPr eaLnBrk="1" hangingPunct="1">
              <a:lnSpc>
                <a:spcPct val="100000"/>
              </a:lnSpc>
              <a:spcAft>
                <a:spcPts val="1200"/>
              </a:spcAft>
            </a:pPr>
            <a:r>
              <a:rPr lang="en-US" altLang="zh-CN" dirty="0">
                <a:solidFill>
                  <a:srgbClr val="CC3300"/>
                </a:solidFill>
              </a:rPr>
              <a:t>Components of </a:t>
            </a:r>
            <a:r>
              <a:rPr lang="en-US" altLang="zh-CN" dirty="0">
                <a:solidFill>
                  <a:srgbClr val="CC3300"/>
                </a:solidFill>
                <a:hlinkClick r:id="rId2" action="ppaction://hlinksldjump"/>
              </a:rPr>
              <a:t>Arithmetic unit</a:t>
            </a:r>
            <a:r>
              <a:rPr lang="en-US" altLang="zh-CN" dirty="0">
                <a:solidFill>
                  <a:srgbClr val="CC3300"/>
                </a:solidFill>
              </a:rPr>
              <a:t> </a:t>
            </a:r>
            <a:endParaRPr lang="zh-CN" altLang="en-US" dirty="0"/>
          </a:p>
          <a:p>
            <a:pPr lvl="1" algn="l" eaLnBrk="1" hangingPunct="1">
              <a:spcAft>
                <a:spcPts val="1200"/>
              </a:spcAft>
            </a:pPr>
            <a:r>
              <a:rPr lang="en-US" altLang="zh-CN" dirty="0">
                <a:solidFill>
                  <a:srgbClr val="FF0000"/>
                </a:solidFill>
                <a:latin typeface="Times New Roman" panose="02020603050405020304" pitchFamily="18" charset="0"/>
                <a:cs typeface="Times New Roman" panose="02020603050405020304" pitchFamily="18" charset="0"/>
              </a:rPr>
              <a:t>ALU</a:t>
            </a:r>
            <a:r>
              <a:rPr lang="en-US" altLang="zh-CN" dirty="0">
                <a:solidFill>
                  <a:schemeClr val="accent2"/>
                </a:solidFill>
                <a:latin typeface="Times New Roman" panose="02020603050405020304" pitchFamily="18" charset="0"/>
                <a:cs typeface="Times New Roman" panose="02020603050405020304" pitchFamily="18" charset="0"/>
              </a:rPr>
              <a:t>(</a:t>
            </a:r>
            <a:r>
              <a:rPr lang="en-US" altLang="zh-CN" dirty="0">
                <a:solidFill>
                  <a:srgbClr val="CC3300"/>
                </a:solidFill>
                <a:latin typeface="Times New Roman" panose="02020603050405020304" pitchFamily="18" charset="0"/>
                <a:cs typeface="Times New Roman" panose="02020603050405020304" pitchFamily="18" charset="0"/>
              </a:rPr>
              <a:t>A</a:t>
            </a:r>
            <a:r>
              <a:rPr lang="en-US" altLang="zh-CN" dirty="0">
                <a:solidFill>
                  <a:schemeClr val="accent2"/>
                </a:solidFill>
                <a:latin typeface="Times New Roman" panose="02020603050405020304" pitchFamily="18" charset="0"/>
                <a:cs typeface="Times New Roman" panose="02020603050405020304" pitchFamily="18" charset="0"/>
              </a:rPr>
              <a:t>rithmetic </a:t>
            </a:r>
            <a:r>
              <a:rPr lang="en-US" altLang="zh-CN" dirty="0">
                <a:solidFill>
                  <a:srgbClr val="CC3300"/>
                </a:solidFill>
                <a:latin typeface="Times New Roman" panose="02020603050405020304" pitchFamily="18" charset="0"/>
                <a:cs typeface="Times New Roman" panose="02020603050405020304" pitchFamily="18" charset="0"/>
              </a:rPr>
              <a:t>L</a:t>
            </a:r>
            <a:r>
              <a:rPr lang="en-US" altLang="zh-CN" dirty="0">
                <a:solidFill>
                  <a:schemeClr val="accent2"/>
                </a:solidFill>
                <a:latin typeface="Times New Roman" panose="02020603050405020304" pitchFamily="18" charset="0"/>
                <a:cs typeface="Times New Roman" panose="02020603050405020304" pitchFamily="18" charset="0"/>
              </a:rPr>
              <a:t>ogical </a:t>
            </a:r>
            <a:r>
              <a:rPr lang="en-US" altLang="zh-CN" dirty="0">
                <a:solidFill>
                  <a:srgbClr val="CC3300"/>
                </a:solidFill>
                <a:latin typeface="Times New Roman" panose="02020603050405020304" pitchFamily="18" charset="0"/>
                <a:cs typeface="Times New Roman" panose="02020603050405020304" pitchFamily="18" charset="0"/>
              </a:rPr>
              <a:t>U</a:t>
            </a:r>
            <a:r>
              <a:rPr lang="en-US" altLang="zh-CN" dirty="0">
                <a:solidFill>
                  <a:schemeClr val="accent2"/>
                </a:solidFill>
                <a:latin typeface="Times New Roman" panose="02020603050405020304" pitchFamily="18" charset="0"/>
                <a:cs typeface="Times New Roman" panose="02020603050405020304" pitchFamily="18" charset="0"/>
              </a:rPr>
              <a:t>nit)</a:t>
            </a:r>
            <a:r>
              <a:rPr lang="zh-CN" altLang="en-US" dirty="0">
                <a:solidFill>
                  <a:schemeClr val="accent2"/>
                </a:solidFill>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primarily performs arithmetic and logical operations.</a:t>
            </a:r>
          </a:p>
          <a:p>
            <a:pPr lvl="1" algn="l" eaLnBrk="1" hangingPunct="1">
              <a:spcAft>
                <a:spcPts val="1200"/>
              </a:spcAft>
            </a:pPr>
            <a:r>
              <a:rPr lang="en-US" altLang="zh-CN" dirty="0">
                <a:solidFill>
                  <a:schemeClr val="accent2"/>
                </a:solidFill>
                <a:latin typeface="Times New Roman" panose="02020603050405020304" pitchFamily="18" charset="0"/>
                <a:cs typeface="Times New Roman" panose="02020603050405020304" pitchFamily="18" charset="0"/>
              </a:rPr>
              <a:t>Accumulator register (abbreviated as accumulator)</a:t>
            </a:r>
            <a:r>
              <a:rPr lang="en-US" altLang="zh-CN" dirty="0">
                <a:solidFill>
                  <a:srgbClr val="FF0000"/>
                </a:solidFill>
                <a:latin typeface="Times New Roman" panose="02020603050405020304" pitchFamily="18" charset="0"/>
                <a:cs typeface="Times New Roman" panose="02020603050405020304" pitchFamily="18" charset="0"/>
              </a:rPr>
              <a:t>A(Accumulator)</a:t>
            </a:r>
            <a:r>
              <a:rPr lang="zh-CN" altLang="en-US" dirty="0">
                <a:solidFill>
                  <a:schemeClr val="accent2"/>
                </a:solidFill>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used for storing operands or operation results.</a:t>
            </a:r>
            <a:endParaRPr lang="zh-CN" altLang="en-US" dirty="0">
              <a:latin typeface="Times New Roman" panose="02020603050405020304" pitchFamily="18" charset="0"/>
              <a:cs typeface="Times New Roman" panose="02020603050405020304" pitchFamily="18" charset="0"/>
            </a:endParaRPr>
          </a:p>
          <a:p>
            <a:pPr lvl="1" algn="l" eaLnBrk="1" hangingPunct="1">
              <a:spcAft>
                <a:spcPts val="1200"/>
              </a:spcAft>
            </a:pPr>
            <a:r>
              <a:rPr lang="en-US" altLang="zh-CN" dirty="0">
                <a:solidFill>
                  <a:schemeClr val="accent2"/>
                </a:solidFill>
                <a:latin typeface="Times New Roman" panose="02020603050405020304" pitchFamily="18" charset="0"/>
                <a:cs typeface="Times New Roman" panose="02020603050405020304" pitchFamily="18" charset="0"/>
              </a:rPr>
              <a:t>Register Set</a:t>
            </a:r>
            <a:r>
              <a:rPr lang="zh-CN" altLang="en-US" dirty="0">
                <a:solidFill>
                  <a:schemeClr val="accent2"/>
                </a:solidFill>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composed of other registers, primarily used to store operands or calculation results.</a:t>
            </a:r>
            <a:endParaRPr lang="zh-CN" altLang="en-US" dirty="0">
              <a:latin typeface="Times New Roman" panose="02020603050405020304" pitchFamily="18" charset="0"/>
              <a:cs typeface="Times New Roman" panose="02020603050405020304" pitchFamily="18" charset="0"/>
            </a:endParaRPr>
          </a:p>
          <a:p>
            <a:pPr lvl="1" algn="l" eaLnBrk="1" hangingPunct="1">
              <a:spcAft>
                <a:spcPts val="1200"/>
              </a:spcAft>
            </a:pPr>
            <a:r>
              <a:rPr lang="en-US" altLang="zh-CN" dirty="0">
                <a:solidFill>
                  <a:schemeClr val="accent2"/>
                </a:solidFill>
                <a:latin typeface="Times New Roman" panose="02020603050405020304" pitchFamily="18" charset="0"/>
                <a:cs typeface="Times New Roman" panose="02020603050405020304" pitchFamily="18" charset="0"/>
              </a:rPr>
              <a:t>Signal Register </a:t>
            </a:r>
            <a:r>
              <a:rPr lang="en-US" altLang="zh-CN" dirty="0">
                <a:solidFill>
                  <a:srgbClr val="FF0000"/>
                </a:solidFill>
                <a:latin typeface="Times New Roman" panose="02020603050405020304" pitchFamily="18" charset="0"/>
                <a:cs typeface="Times New Roman" panose="02020603050405020304" pitchFamily="18" charset="0"/>
              </a:rPr>
              <a:t>F(Flag)</a:t>
            </a:r>
            <a:r>
              <a:rPr lang="zh-CN" altLang="en-US" dirty="0">
                <a:solidFill>
                  <a:srgbClr val="3366FF"/>
                </a:solidFill>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Flags indicating the result of an operation (zero, sign, carry, overflow, etc.).</a:t>
            </a:r>
            <a:endParaRPr lang="zh-CN" altLang="en-US" dirty="0">
              <a:latin typeface="Times New Roman" panose="02020603050405020304" pitchFamily="18" charset="0"/>
              <a:cs typeface="Times New Roman" panose="02020603050405020304" pitchFamily="18" charset="0"/>
            </a:endParaRPr>
          </a:p>
          <a:p>
            <a:pPr eaLnBrk="1" hangingPunct="1">
              <a:lnSpc>
                <a:spcPct val="100000"/>
              </a:lnSpc>
              <a:spcAft>
                <a:spcPts val="1200"/>
              </a:spcAft>
            </a:pPr>
            <a:endParaRPr lang="en-US" altLang="zh-CN" dirty="0"/>
          </a:p>
        </p:txBody>
      </p:sp>
      <p:sp>
        <p:nvSpPr>
          <p:cNvPr id="2" name="灯片编号占位符 1"/>
          <p:cNvSpPr>
            <a:spLocks noGrp="1"/>
          </p:cNvSpPr>
          <p:nvPr>
            <p:ph type="sldNum" sz="quarter" idx="12"/>
          </p:nvPr>
        </p:nvSpPr>
        <p:spPr/>
        <p:txBody>
          <a:bodyPr/>
          <a:lstStyle/>
          <a:p>
            <a:fld id="{22E77DEE-32E4-4009-988B-F2758F7B8AC2}" type="slidenum">
              <a:rPr lang="zh-CN" altLang="en-US" smtClean="0"/>
              <a:t>6</a:t>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noChangeArrowheads="1"/>
          </p:cNvSpPr>
          <p:nvPr>
            <p:ph type="title"/>
          </p:nvPr>
        </p:nvSpPr>
        <p:spPr>
          <a:xfrm>
            <a:off x="717962" y="604837"/>
            <a:ext cx="4346575" cy="498475"/>
          </a:xfrm>
        </p:spPr>
        <p:txBody>
          <a:bodyPr>
            <a:normAutofit fontScale="90000"/>
          </a:bodyPr>
          <a:lstStyle/>
          <a:p>
            <a:pPr eaLnBrk="1" hangingPunct="1"/>
            <a:r>
              <a:rPr lang="en-US" altLang="zh-CN" sz="2800" dirty="0">
                <a:solidFill>
                  <a:srgbClr val="FF0000"/>
                </a:solidFill>
                <a:latin typeface="Arial" panose="020B0604020202020204" pitchFamily="34" charset="0"/>
                <a:cs typeface="Arial" panose="020B0604020202020204" pitchFamily="34" charset="0"/>
              </a:rPr>
              <a:t>1</a:t>
            </a:r>
            <a:r>
              <a:rPr lang="zh-CN" altLang="en-US" sz="2800" dirty="0">
                <a:solidFill>
                  <a:srgbClr val="FF0000"/>
                </a:solidFill>
                <a:latin typeface="Arial" panose="020B0604020202020204" pitchFamily="34" charset="0"/>
                <a:cs typeface="Arial" panose="020B0604020202020204" pitchFamily="34" charset="0"/>
              </a:rPr>
              <a:t>、</a:t>
            </a:r>
            <a:r>
              <a:rPr lang="en-US" altLang="zh-CN" sz="2800" dirty="0">
                <a:solidFill>
                  <a:srgbClr val="FF0000"/>
                </a:solidFill>
                <a:latin typeface="Arial" panose="020B0604020202020204" pitchFamily="34" charset="0"/>
                <a:cs typeface="Arial" panose="020B0604020202020204" pitchFamily="34" charset="0"/>
              </a:rPr>
              <a:t>Components of the Central Processing Unit</a:t>
            </a:r>
            <a:endParaRPr lang="zh-CN" altLang="en-US" sz="2800" dirty="0">
              <a:latin typeface="Arial" panose="020B0604020202020204" pitchFamily="34" charset="0"/>
              <a:cs typeface="Arial" panose="020B0604020202020204" pitchFamily="34" charset="0"/>
            </a:endParaRPr>
          </a:p>
        </p:txBody>
      </p:sp>
      <p:sp>
        <p:nvSpPr>
          <p:cNvPr id="430083" name="Rectangle 3"/>
          <p:cNvSpPr>
            <a:spLocks noGrp="1" noChangeArrowheads="1"/>
          </p:cNvSpPr>
          <p:nvPr>
            <p:ph idx="1"/>
          </p:nvPr>
        </p:nvSpPr>
        <p:spPr>
          <a:xfrm>
            <a:off x="710975" y="1172936"/>
            <a:ext cx="7616598" cy="904875"/>
          </a:xfrm>
        </p:spPr>
        <p:txBody>
          <a:bodyPr>
            <a:normAutofit fontScale="92500" lnSpcReduction="20000"/>
          </a:bodyPr>
          <a:lstStyle/>
          <a:p>
            <a:pPr eaLnBrk="1" hangingPunct="1">
              <a:lnSpc>
                <a:spcPct val="104000"/>
              </a:lnSpc>
              <a:spcBef>
                <a:spcPct val="0"/>
              </a:spcBef>
              <a:buFontTx/>
              <a:buNone/>
            </a:pPr>
            <a:r>
              <a:rPr lang="en-US" altLang="zh-CN" dirty="0">
                <a:solidFill>
                  <a:srgbClr val="CC3300"/>
                </a:solidFill>
                <a:latin typeface="Arial" panose="020B0604020202020204" pitchFamily="34" charset="0"/>
                <a:cs typeface="Arial" panose="020B0604020202020204" pitchFamily="34" charset="0"/>
              </a:rPr>
              <a:t>Function</a:t>
            </a:r>
            <a:r>
              <a:rPr lang="zh-CN" altLang="en-US" dirty="0">
                <a:latin typeface="Arial" panose="020B0604020202020204" pitchFamily="34" charset="0"/>
                <a:cs typeface="Arial" panose="020B0604020202020204" pitchFamily="34" charset="0"/>
              </a:rPr>
              <a:t>：</a:t>
            </a:r>
            <a:r>
              <a:rPr lang="en-US" altLang="zh-CN" dirty="0">
                <a:solidFill>
                  <a:schemeClr val="tx1"/>
                </a:solidFill>
                <a:latin typeface="Arial" panose="020B0604020202020204" pitchFamily="34" charset="0"/>
                <a:cs typeface="Arial" panose="020B0604020202020204" pitchFamily="34" charset="0"/>
              </a:rPr>
              <a:t>The controller is responsible for coordinating the actions of various functional components within the computer to execute program functions.</a:t>
            </a:r>
            <a:endParaRPr lang="zh-CN" altLang="en-US" dirty="0">
              <a:solidFill>
                <a:schemeClr val="tx1"/>
              </a:solidFill>
              <a:latin typeface="Arial" panose="020B0604020202020204" pitchFamily="34" charset="0"/>
              <a:cs typeface="Arial" panose="020B0604020202020204" pitchFamily="34" charset="0"/>
            </a:endParaRPr>
          </a:p>
        </p:txBody>
      </p:sp>
      <p:sp>
        <p:nvSpPr>
          <p:cNvPr id="5" name="Rectangle 3"/>
          <p:cNvSpPr txBox="1">
            <a:spLocks noChangeArrowheads="1"/>
          </p:cNvSpPr>
          <p:nvPr/>
        </p:nvSpPr>
        <p:spPr bwMode="auto">
          <a:xfrm>
            <a:off x="649061" y="1983242"/>
            <a:ext cx="7462157" cy="3995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2255" indent="-262255" algn="l" eaLnBrk="1" hangingPunct="1">
              <a:lnSpc>
                <a:spcPct val="104000"/>
              </a:lnSpc>
              <a:spcBef>
                <a:spcPts val="0"/>
              </a:spcBef>
              <a:defRPr/>
            </a:pPr>
            <a:r>
              <a:rPr lang="en-US" altLang="zh-CN" sz="2000" dirty="0">
                <a:solidFill>
                  <a:srgbClr val="CC3300"/>
                </a:solidFill>
                <a:latin typeface="Times New Roman" panose="02020603050405020304" pitchFamily="18" charset="0"/>
                <a:cs typeface="Times New Roman" panose="02020603050405020304" pitchFamily="18" charset="0"/>
                <a:hlinkClick r:id="rId4" action="ppaction://hlinksldjump"/>
              </a:rPr>
              <a:t>Controller Components</a:t>
            </a:r>
            <a:endParaRPr lang="zh-CN" altLang="en-US" sz="2000" dirty="0">
              <a:solidFill>
                <a:srgbClr val="CC3300"/>
              </a:solidFill>
              <a:latin typeface="Times New Roman" panose="02020603050405020304" pitchFamily="18" charset="0"/>
              <a:cs typeface="Times New Roman" panose="02020603050405020304" pitchFamily="18" charset="0"/>
            </a:endParaRPr>
          </a:p>
          <a:p>
            <a:pPr marL="266700" lvl="1" indent="-180975" algn="l" eaLnBrk="1" hangingPunct="1">
              <a:lnSpc>
                <a:spcPct val="104000"/>
              </a:lnSpc>
              <a:spcBef>
                <a:spcPts val="0"/>
              </a:spcBef>
              <a:spcAft>
                <a:spcPts val="600"/>
              </a:spcAft>
              <a:defRPr/>
            </a:pPr>
            <a:r>
              <a:rPr lang="en-US" altLang="zh-CN" sz="2000" dirty="0">
                <a:solidFill>
                  <a:srgbClr val="FF0000"/>
                </a:solidFill>
                <a:latin typeface="Times New Roman" panose="02020603050405020304" pitchFamily="18" charset="0"/>
                <a:cs typeface="Times New Roman" panose="02020603050405020304" pitchFamily="18" charset="0"/>
              </a:rPr>
              <a:t>PC</a:t>
            </a:r>
            <a:r>
              <a:rPr lang="en-US" altLang="zh-CN" sz="2000" dirty="0">
                <a:solidFill>
                  <a:schemeClr val="accent2"/>
                </a:solidFill>
                <a:latin typeface="Times New Roman" panose="02020603050405020304" pitchFamily="18" charset="0"/>
                <a:cs typeface="Times New Roman" panose="02020603050405020304" pitchFamily="18" charset="0"/>
              </a:rPr>
              <a:t>(</a:t>
            </a:r>
            <a:r>
              <a:rPr lang="en-US" altLang="zh-CN" sz="2000" dirty="0">
                <a:solidFill>
                  <a:srgbClr val="CC3300"/>
                </a:solidFill>
                <a:latin typeface="Times New Roman" panose="02020603050405020304" pitchFamily="18" charset="0"/>
                <a:cs typeface="Times New Roman" panose="02020603050405020304" pitchFamily="18" charset="0"/>
              </a:rPr>
              <a:t>P</a:t>
            </a:r>
            <a:r>
              <a:rPr lang="en-US" altLang="zh-CN" sz="2000" dirty="0">
                <a:solidFill>
                  <a:schemeClr val="accent2"/>
                </a:solidFill>
                <a:latin typeface="Times New Roman" panose="02020603050405020304" pitchFamily="18" charset="0"/>
                <a:cs typeface="Times New Roman" panose="02020603050405020304" pitchFamily="18" charset="0"/>
              </a:rPr>
              <a:t>rogram</a:t>
            </a:r>
            <a:r>
              <a:rPr lang="en-US" altLang="zh-CN" sz="2000" dirty="0">
                <a:solidFill>
                  <a:srgbClr val="CC3300"/>
                </a:solidFill>
                <a:latin typeface="Times New Roman" panose="02020603050405020304" pitchFamily="18" charset="0"/>
                <a:cs typeface="Times New Roman" panose="02020603050405020304" pitchFamily="18" charset="0"/>
              </a:rPr>
              <a:t> C</a:t>
            </a:r>
            <a:r>
              <a:rPr lang="en-US" altLang="zh-CN" sz="2000" dirty="0">
                <a:solidFill>
                  <a:schemeClr val="accent2"/>
                </a:solidFill>
                <a:latin typeface="Times New Roman" panose="02020603050405020304" pitchFamily="18" charset="0"/>
                <a:cs typeface="Times New Roman" panose="02020603050405020304" pitchFamily="18" charset="0"/>
              </a:rPr>
              <a:t>ounter)</a:t>
            </a:r>
            <a:r>
              <a:rPr lang="zh-CN" altLang="en-US" sz="2000" dirty="0">
                <a:solidFill>
                  <a:schemeClr val="accent2"/>
                </a:solidFill>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used to store the address of the instruction to be fetched, </a:t>
            </a:r>
            <a:r>
              <a:rPr lang="en-US" altLang="zh-CN" sz="2000" dirty="0">
                <a:solidFill>
                  <a:srgbClr val="3366FF"/>
                </a:solidFill>
                <a:latin typeface="Times New Roman" panose="02020603050405020304" pitchFamily="18" charset="0"/>
                <a:cs typeface="Times New Roman" panose="02020603050405020304" pitchFamily="18" charset="0"/>
              </a:rPr>
              <a:t>after the instruction (address) is fetched, its content is automatically incremented by 1.</a:t>
            </a:r>
            <a:endParaRPr lang="zh-CN" altLang="en-US" sz="2000" dirty="0">
              <a:latin typeface="Times New Roman" panose="02020603050405020304" pitchFamily="18" charset="0"/>
              <a:cs typeface="Times New Roman" panose="02020603050405020304" pitchFamily="18" charset="0"/>
            </a:endParaRPr>
          </a:p>
          <a:p>
            <a:pPr marL="266700" lvl="1" indent="-180975" algn="l" eaLnBrk="1" hangingPunct="1">
              <a:lnSpc>
                <a:spcPct val="101000"/>
              </a:lnSpc>
              <a:spcBef>
                <a:spcPts val="0"/>
              </a:spcBef>
              <a:spcAft>
                <a:spcPts val="600"/>
              </a:spcAft>
              <a:defRPr/>
            </a:pPr>
            <a:r>
              <a:rPr lang="en-US" altLang="zh-CN" sz="2000" dirty="0">
                <a:solidFill>
                  <a:srgbClr val="FF0000"/>
                </a:solidFill>
                <a:latin typeface="Times New Roman" panose="02020603050405020304" pitchFamily="18" charset="0"/>
                <a:cs typeface="Times New Roman" panose="02020603050405020304" pitchFamily="18" charset="0"/>
              </a:rPr>
              <a:t>AR</a:t>
            </a:r>
            <a:r>
              <a:rPr lang="en-US" altLang="zh-CN" sz="2000" kern="0" dirty="0">
                <a:solidFill>
                  <a:schemeClr val="accent2"/>
                </a:solidFill>
                <a:latin typeface="Times New Roman" panose="02020603050405020304" pitchFamily="18" charset="0"/>
                <a:cs typeface="Times New Roman" panose="02020603050405020304" pitchFamily="18" charset="0"/>
              </a:rPr>
              <a:t>(</a:t>
            </a:r>
            <a:r>
              <a:rPr lang="en-US" altLang="zh-CN" sz="1800" kern="0" dirty="0">
                <a:solidFill>
                  <a:srgbClr val="CC3300"/>
                </a:solidFill>
                <a:latin typeface="Times New Roman" panose="02020603050405020304" pitchFamily="18" charset="0"/>
                <a:cs typeface="Times New Roman" panose="02020603050405020304" pitchFamily="18" charset="0"/>
              </a:rPr>
              <a:t>A</a:t>
            </a:r>
            <a:r>
              <a:rPr lang="en-US" altLang="zh-CN" sz="1800" kern="0" dirty="0">
                <a:solidFill>
                  <a:schemeClr val="accent2"/>
                </a:solidFill>
                <a:latin typeface="Times New Roman" panose="02020603050405020304" pitchFamily="18" charset="0"/>
                <a:cs typeface="Times New Roman" panose="02020603050405020304" pitchFamily="18" charset="0"/>
              </a:rPr>
              <a:t>ddress</a:t>
            </a:r>
            <a:r>
              <a:rPr lang="en-US" altLang="zh-CN" sz="1800" kern="0" dirty="0">
                <a:solidFill>
                  <a:srgbClr val="3D41D1"/>
                </a:solidFill>
                <a:latin typeface="Times New Roman" panose="02020603050405020304" pitchFamily="18" charset="0"/>
                <a:cs typeface="Times New Roman" panose="02020603050405020304" pitchFamily="18" charset="0"/>
              </a:rPr>
              <a:t> </a:t>
            </a:r>
            <a:r>
              <a:rPr lang="en-US" altLang="zh-CN" sz="1800" kern="0" dirty="0">
                <a:solidFill>
                  <a:srgbClr val="CC3300"/>
                </a:solidFill>
                <a:latin typeface="Times New Roman" panose="02020603050405020304" pitchFamily="18" charset="0"/>
                <a:cs typeface="Times New Roman" panose="02020603050405020304" pitchFamily="18" charset="0"/>
              </a:rPr>
              <a:t>R</a:t>
            </a:r>
            <a:r>
              <a:rPr lang="en-US" altLang="zh-CN" sz="1800" kern="0" dirty="0">
                <a:solidFill>
                  <a:schemeClr val="accent2"/>
                </a:solidFill>
                <a:latin typeface="Times New Roman" panose="02020603050405020304" pitchFamily="18" charset="0"/>
                <a:cs typeface="Times New Roman" panose="02020603050405020304" pitchFamily="18" charset="0"/>
              </a:rPr>
              <a:t>egister</a:t>
            </a:r>
            <a:r>
              <a:rPr lang="en-US" altLang="zh-CN" sz="2000" kern="0" dirty="0">
                <a:solidFill>
                  <a:srgbClr val="3D41D1"/>
                </a:solidFill>
                <a:latin typeface="Times New Roman" panose="02020603050405020304" pitchFamily="18" charset="0"/>
                <a:cs typeface="Times New Roman" panose="02020603050405020304" pitchFamily="18" charset="0"/>
              </a:rPr>
              <a:t>)</a:t>
            </a:r>
            <a:r>
              <a:rPr lang="en-US" altLang="zh-CN" sz="2000" kern="0" dirty="0">
                <a:solidFill>
                  <a:schemeClr val="accent2"/>
                </a:solidFill>
                <a:latin typeface="Times New Roman" panose="02020603050405020304" pitchFamily="18" charset="0"/>
                <a:cs typeface="Times New Roman" panose="02020603050405020304" pitchFamily="18" charset="0"/>
              </a:rPr>
              <a:t>: </a:t>
            </a:r>
            <a:r>
              <a:rPr lang="en-US" altLang="zh-CN" sz="2000" kern="0" dirty="0">
                <a:latin typeface="Times New Roman" panose="02020603050405020304" pitchFamily="18" charset="0"/>
                <a:cs typeface="Times New Roman" panose="02020603050405020304" pitchFamily="18" charset="0"/>
              </a:rPr>
              <a:t>store operand (result) unit address</a:t>
            </a:r>
            <a:endParaRPr lang="zh-CN" altLang="en-US" sz="2000" kern="0" dirty="0">
              <a:latin typeface="Times New Roman" panose="02020603050405020304" pitchFamily="18" charset="0"/>
              <a:cs typeface="Times New Roman" panose="02020603050405020304" pitchFamily="18" charset="0"/>
            </a:endParaRPr>
          </a:p>
          <a:p>
            <a:pPr marL="266700" lvl="1" indent="-180975" algn="l" eaLnBrk="1" hangingPunct="1">
              <a:lnSpc>
                <a:spcPct val="101000"/>
              </a:lnSpc>
              <a:spcBef>
                <a:spcPts val="0"/>
              </a:spcBef>
              <a:spcAft>
                <a:spcPts val="600"/>
              </a:spcAft>
              <a:defRPr/>
            </a:pPr>
            <a:r>
              <a:rPr lang="en-US" altLang="zh-CN" sz="2000" dirty="0">
                <a:solidFill>
                  <a:srgbClr val="FF0000"/>
                </a:solidFill>
                <a:latin typeface="Times New Roman" panose="02020603050405020304" pitchFamily="18" charset="0"/>
                <a:cs typeface="Times New Roman" panose="02020603050405020304" pitchFamily="18" charset="0"/>
              </a:rPr>
              <a:t>DR</a:t>
            </a:r>
            <a:r>
              <a:rPr lang="en-US" altLang="zh-CN" sz="2000" kern="0" dirty="0">
                <a:solidFill>
                  <a:schemeClr val="accent2"/>
                </a:solidFill>
                <a:latin typeface="Times New Roman" panose="02020603050405020304" pitchFamily="18" charset="0"/>
                <a:cs typeface="Times New Roman" panose="02020603050405020304" pitchFamily="18" charset="0"/>
              </a:rPr>
              <a:t>(</a:t>
            </a:r>
            <a:r>
              <a:rPr lang="en-US" altLang="zh-CN" sz="2000" kern="0" dirty="0">
                <a:solidFill>
                  <a:srgbClr val="CC3300"/>
                </a:solidFill>
                <a:latin typeface="Times New Roman" panose="02020603050405020304" pitchFamily="18" charset="0"/>
                <a:cs typeface="Times New Roman" panose="02020603050405020304" pitchFamily="18" charset="0"/>
              </a:rPr>
              <a:t>D</a:t>
            </a:r>
            <a:r>
              <a:rPr lang="en-US" altLang="zh-CN" sz="2000" kern="0" dirty="0">
                <a:solidFill>
                  <a:schemeClr val="accent2"/>
                </a:solidFill>
                <a:latin typeface="Times New Roman" panose="02020603050405020304" pitchFamily="18" charset="0"/>
                <a:cs typeface="Times New Roman" panose="02020603050405020304" pitchFamily="18" charset="0"/>
              </a:rPr>
              <a:t>ata</a:t>
            </a:r>
            <a:r>
              <a:rPr lang="en-US" altLang="zh-CN" sz="2000" kern="0" dirty="0">
                <a:solidFill>
                  <a:srgbClr val="3D41D1"/>
                </a:solidFill>
                <a:latin typeface="Times New Roman" panose="02020603050405020304" pitchFamily="18" charset="0"/>
                <a:cs typeface="Times New Roman" panose="02020603050405020304" pitchFamily="18" charset="0"/>
              </a:rPr>
              <a:t> </a:t>
            </a:r>
            <a:r>
              <a:rPr lang="en-US" altLang="zh-CN" sz="2000" kern="0" dirty="0">
                <a:solidFill>
                  <a:srgbClr val="CC3300"/>
                </a:solidFill>
                <a:latin typeface="Times New Roman" panose="02020603050405020304" pitchFamily="18" charset="0"/>
                <a:cs typeface="Times New Roman" panose="02020603050405020304" pitchFamily="18" charset="0"/>
              </a:rPr>
              <a:t>R</a:t>
            </a:r>
            <a:r>
              <a:rPr lang="en-US" altLang="zh-CN" sz="2000" kern="0" dirty="0">
                <a:solidFill>
                  <a:schemeClr val="accent2"/>
                </a:solidFill>
                <a:latin typeface="Times New Roman" panose="02020603050405020304" pitchFamily="18" charset="0"/>
                <a:cs typeface="Times New Roman" panose="02020603050405020304" pitchFamily="18" charset="0"/>
              </a:rPr>
              <a:t>egister)</a:t>
            </a:r>
            <a:r>
              <a:rPr lang="zh-CN" altLang="en-US" sz="2000" kern="0" dirty="0">
                <a:solidFill>
                  <a:schemeClr val="accent2"/>
                </a:solidFill>
                <a:latin typeface="Times New Roman" panose="02020603050405020304" pitchFamily="18" charset="0"/>
                <a:cs typeface="Times New Roman" panose="02020603050405020304" pitchFamily="18" charset="0"/>
              </a:rPr>
              <a:t>：</a:t>
            </a:r>
            <a:r>
              <a:rPr lang="en-US" altLang="zh-CN" sz="2000" kern="0" dirty="0">
                <a:latin typeface="Times New Roman" panose="02020603050405020304" pitchFamily="18" charset="0"/>
                <a:cs typeface="Times New Roman" panose="02020603050405020304" pitchFamily="18" charset="0"/>
              </a:rPr>
              <a:t>used for storing operands</a:t>
            </a:r>
            <a:r>
              <a:rPr lang="zh-CN" altLang="en-US" sz="2000" kern="0" dirty="0">
                <a:latin typeface="Times New Roman" panose="02020603050405020304" pitchFamily="18" charset="0"/>
                <a:cs typeface="Times New Roman" panose="02020603050405020304" pitchFamily="18" charset="0"/>
              </a:rPr>
              <a:t>。</a:t>
            </a:r>
          </a:p>
          <a:p>
            <a:pPr marL="266700" lvl="1" indent="-180975" algn="l" eaLnBrk="1" hangingPunct="1">
              <a:lnSpc>
                <a:spcPct val="104000"/>
              </a:lnSpc>
              <a:spcBef>
                <a:spcPts val="0"/>
              </a:spcBef>
              <a:spcAft>
                <a:spcPts val="600"/>
              </a:spcAft>
              <a:defRPr/>
            </a:pPr>
            <a:r>
              <a:rPr lang="en-US" altLang="zh-CN" sz="2000" dirty="0">
                <a:solidFill>
                  <a:srgbClr val="FF0000"/>
                </a:solidFill>
                <a:latin typeface="Times New Roman" panose="02020603050405020304" pitchFamily="18" charset="0"/>
                <a:cs typeface="Times New Roman" panose="02020603050405020304" pitchFamily="18" charset="0"/>
              </a:rPr>
              <a:t>IR</a:t>
            </a:r>
            <a:r>
              <a:rPr lang="en-US" altLang="zh-CN" sz="2000" dirty="0">
                <a:solidFill>
                  <a:schemeClr val="accent2"/>
                </a:solidFill>
                <a:latin typeface="Times New Roman" panose="02020603050405020304" pitchFamily="18" charset="0"/>
                <a:cs typeface="Times New Roman" panose="02020603050405020304" pitchFamily="18" charset="0"/>
              </a:rPr>
              <a:t>(</a:t>
            </a:r>
            <a:r>
              <a:rPr lang="en-US" altLang="zh-CN" sz="2000" dirty="0">
                <a:solidFill>
                  <a:srgbClr val="CC3300"/>
                </a:solidFill>
                <a:latin typeface="Times New Roman" panose="02020603050405020304" pitchFamily="18" charset="0"/>
                <a:cs typeface="Times New Roman" panose="02020603050405020304" pitchFamily="18" charset="0"/>
              </a:rPr>
              <a:t>I</a:t>
            </a:r>
            <a:r>
              <a:rPr lang="en-US" altLang="zh-CN" sz="2000" dirty="0">
                <a:solidFill>
                  <a:schemeClr val="accent2"/>
                </a:solidFill>
                <a:latin typeface="Times New Roman" panose="02020603050405020304" pitchFamily="18" charset="0"/>
                <a:cs typeface="Times New Roman" panose="02020603050405020304" pitchFamily="18" charset="0"/>
              </a:rPr>
              <a:t>nstruction </a:t>
            </a:r>
            <a:r>
              <a:rPr lang="en-US" altLang="zh-CN" sz="2000" dirty="0">
                <a:solidFill>
                  <a:srgbClr val="CC3300"/>
                </a:solidFill>
                <a:latin typeface="Times New Roman" panose="02020603050405020304" pitchFamily="18" charset="0"/>
                <a:cs typeface="Times New Roman" panose="02020603050405020304" pitchFamily="18" charset="0"/>
              </a:rPr>
              <a:t>R</a:t>
            </a:r>
            <a:r>
              <a:rPr lang="en-US" altLang="zh-CN" sz="2000" dirty="0">
                <a:solidFill>
                  <a:schemeClr val="accent2"/>
                </a:solidFill>
                <a:latin typeface="Times New Roman" panose="02020603050405020304" pitchFamily="18" charset="0"/>
                <a:cs typeface="Times New Roman" panose="02020603050405020304" pitchFamily="18" charset="0"/>
              </a:rPr>
              <a:t>egister): </a:t>
            </a:r>
            <a:r>
              <a:rPr lang="en-US" altLang="zh-CN" sz="2000" dirty="0">
                <a:latin typeface="Times New Roman" panose="02020603050405020304" pitchFamily="18" charset="0"/>
                <a:cs typeface="Times New Roman" panose="02020603050405020304" pitchFamily="18" charset="0"/>
              </a:rPr>
              <a:t>store Instruction Opcode</a:t>
            </a:r>
            <a:r>
              <a:rPr lang="zh-CN" altLang="en-US" sz="2000" dirty="0">
                <a:latin typeface="Times New Roman" panose="02020603050405020304" pitchFamily="18" charset="0"/>
                <a:cs typeface="Times New Roman" panose="02020603050405020304" pitchFamily="18" charset="0"/>
              </a:rPr>
              <a:t>。</a:t>
            </a:r>
          </a:p>
          <a:p>
            <a:pPr marL="266700" lvl="1" indent="-180975" algn="l" eaLnBrk="1" hangingPunct="1">
              <a:lnSpc>
                <a:spcPct val="104000"/>
              </a:lnSpc>
              <a:spcBef>
                <a:spcPts val="0"/>
              </a:spcBef>
              <a:spcAft>
                <a:spcPts val="600"/>
              </a:spcAft>
              <a:defRPr/>
            </a:pPr>
            <a:r>
              <a:rPr lang="en-US" altLang="zh-CN" sz="2000" dirty="0">
                <a:solidFill>
                  <a:srgbClr val="FF0000"/>
                </a:solidFill>
                <a:latin typeface="Times New Roman" panose="02020603050405020304" pitchFamily="18" charset="0"/>
                <a:cs typeface="Times New Roman" panose="02020603050405020304" pitchFamily="18" charset="0"/>
              </a:rPr>
              <a:t>ID</a:t>
            </a:r>
            <a:r>
              <a:rPr lang="en-US" altLang="zh-CN" sz="2000" dirty="0">
                <a:solidFill>
                  <a:schemeClr val="accent2"/>
                </a:solidFill>
                <a:latin typeface="Times New Roman" panose="02020603050405020304" pitchFamily="18" charset="0"/>
                <a:cs typeface="Times New Roman" panose="02020603050405020304" pitchFamily="18" charset="0"/>
              </a:rPr>
              <a:t>(</a:t>
            </a:r>
            <a:r>
              <a:rPr lang="en-US" altLang="zh-CN" sz="2000" dirty="0">
                <a:solidFill>
                  <a:srgbClr val="CC3300"/>
                </a:solidFill>
                <a:latin typeface="Times New Roman" panose="02020603050405020304" pitchFamily="18" charset="0"/>
                <a:cs typeface="Times New Roman" panose="02020603050405020304" pitchFamily="18" charset="0"/>
              </a:rPr>
              <a:t>I</a:t>
            </a:r>
            <a:r>
              <a:rPr lang="en-US" altLang="zh-CN" sz="2000" dirty="0">
                <a:solidFill>
                  <a:schemeClr val="accent2"/>
                </a:solidFill>
                <a:latin typeface="Times New Roman" panose="02020603050405020304" pitchFamily="18" charset="0"/>
                <a:cs typeface="Times New Roman" panose="02020603050405020304" pitchFamily="18" charset="0"/>
              </a:rPr>
              <a:t>nstruction </a:t>
            </a:r>
            <a:r>
              <a:rPr lang="en-US" altLang="zh-CN" sz="2000" dirty="0">
                <a:solidFill>
                  <a:srgbClr val="CC3300"/>
                </a:solidFill>
                <a:latin typeface="Times New Roman" panose="02020603050405020304" pitchFamily="18" charset="0"/>
                <a:cs typeface="Times New Roman" panose="02020603050405020304" pitchFamily="18" charset="0"/>
              </a:rPr>
              <a:t>D</a:t>
            </a:r>
            <a:r>
              <a:rPr lang="en-US" altLang="zh-CN" sz="2000" dirty="0">
                <a:solidFill>
                  <a:schemeClr val="accent2"/>
                </a:solidFill>
                <a:latin typeface="Times New Roman" panose="02020603050405020304" pitchFamily="18" charset="0"/>
                <a:cs typeface="Times New Roman" panose="02020603050405020304" pitchFamily="18" charset="0"/>
              </a:rPr>
              <a:t>ecode)</a:t>
            </a:r>
            <a:r>
              <a:rPr lang="zh-CN" altLang="en-US" sz="2000" dirty="0">
                <a:solidFill>
                  <a:schemeClr val="accent2"/>
                </a:solidFill>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used to translate the instruction's opcode into a machine-recognizable command signal.</a:t>
            </a:r>
            <a:endParaRPr lang="zh-CN" altLang="en-US" sz="2000" dirty="0">
              <a:latin typeface="Times New Roman" panose="02020603050405020304" pitchFamily="18" charset="0"/>
              <a:cs typeface="Times New Roman" panose="02020603050405020304" pitchFamily="18" charset="0"/>
            </a:endParaRPr>
          </a:p>
        </p:txBody>
      </p:sp>
      <p:sp>
        <p:nvSpPr>
          <p:cNvPr id="7" name="Rectangle 3"/>
          <p:cNvSpPr txBox="1">
            <a:spLocks noChangeArrowheads="1"/>
          </p:cNvSpPr>
          <p:nvPr/>
        </p:nvSpPr>
        <p:spPr bwMode="auto">
          <a:xfrm>
            <a:off x="4380366" y="447200"/>
            <a:ext cx="3805091"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spcBef>
                <a:spcPts val="0"/>
              </a:spcBef>
              <a:buFontTx/>
              <a:buNone/>
              <a:defRPr/>
            </a:pPr>
            <a:r>
              <a:rPr lang="zh-CN" altLang="en-US" sz="3600" kern="0" dirty="0">
                <a:solidFill>
                  <a:srgbClr val="FF0000"/>
                </a:solidFill>
                <a:effectLst>
                  <a:outerShdw blurRad="38100" dist="38100" dir="2700000" algn="tl">
                    <a:srgbClr val="000000">
                      <a:alpha val="43137"/>
                    </a:srgbClr>
                  </a:outerShdw>
                </a:effectLst>
                <a:latin typeface="宋体" panose="02010600030101010101" pitchFamily="2" charset="-122"/>
              </a:rPr>
              <a:t>（</a:t>
            </a:r>
            <a:r>
              <a:rPr lang="en-US" altLang="zh-CN" sz="3600" kern="0" dirty="0">
                <a:solidFill>
                  <a:srgbClr val="FF0000"/>
                </a:solidFill>
                <a:effectLst>
                  <a:outerShdw blurRad="38100" dist="38100" dir="2700000" algn="tl">
                    <a:srgbClr val="000000">
                      <a:alpha val="43137"/>
                    </a:srgbClr>
                  </a:outerShdw>
                </a:effectLst>
                <a:latin typeface="宋体" panose="02010600030101010101" pitchFamily="2" charset="-122"/>
              </a:rPr>
              <a:t>2</a:t>
            </a:r>
            <a:r>
              <a:rPr lang="zh-CN" altLang="en-US" sz="3600" kern="0" dirty="0">
                <a:solidFill>
                  <a:srgbClr val="FF0000"/>
                </a:solidFill>
                <a:effectLst>
                  <a:outerShdw blurRad="38100" dist="38100" dir="2700000" algn="tl">
                    <a:srgbClr val="000000">
                      <a:alpha val="43137"/>
                    </a:srgbClr>
                  </a:outerShdw>
                </a:effectLst>
                <a:latin typeface="宋体" panose="02010600030101010101" pitchFamily="2" charset="-122"/>
              </a:rPr>
              <a:t>）</a:t>
            </a:r>
            <a:r>
              <a:rPr lang="en-US" altLang="zh-CN" sz="3600" kern="0" dirty="0">
                <a:solidFill>
                  <a:srgbClr val="FF0000"/>
                </a:solidFill>
                <a:effectLst>
                  <a:outerShdw blurRad="38100" dist="38100" dir="2700000" algn="tl">
                    <a:srgbClr val="000000">
                      <a:alpha val="43137"/>
                    </a:srgbClr>
                  </a:outerShdw>
                </a:effectLst>
                <a:latin typeface="宋体" panose="02010600030101010101" pitchFamily="2" charset="-122"/>
                <a:hlinkClick r:id="rId4" action="ppaction://hlinksldjump"/>
              </a:rPr>
              <a:t>Controller</a:t>
            </a:r>
            <a:endParaRPr lang="zh-CN" altLang="en-US" sz="3600" kern="0" dirty="0">
              <a:solidFill>
                <a:srgbClr val="FF0000"/>
              </a:solidFill>
              <a:effectLst>
                <a:outerShdw blurRad="38100" dist="38100" dir="2700000" algn="tl">
                  <a:srgbClr val="000000">
                    <a:alpha val="43137"/>
                  </a:srgbClr>
                </a:outerShdw>
              </a:effectLst>
              <a:latin typeface="宋体" panose="02010600030101010101" pitchFamily="2" charset="-122"/>
            </a:endParaRPr>
          </a:p>
        </p:txBody>
      </p:sp>
      <p:sp>
        <p:nvSpPr>
          <p:cNvPr id="8" name="Rectangle 3"/>
          <p:cNvSpPr txBox="1">
            <a:spLocks noChangeArrowheads="1"/>
          </p:cNvSpPr>
          <p:nvPr/>
        </p:nvSpPr>
        <p:spPr bwMode="auto">
          <a:xfrm>
            <a:off x="455232" y="5270501"/>
            <a:ext cx="7872341" cy="98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536575" lvl="1" indent="-274955" algn="l" eaLnBrk="1" hangingPunct="1">
              <a:lnSpc>
                <a:spcPct val="101000"/>
              </a:lnSpc>
              <a:spcBef>
                <a:spcPts val="0"/>
              </a:spcBef>
              <a:spcAft>
                <a:spcPts val="600"/>
              </a:spcAft>
              <a:defRPr/>
            </a:pPr>
            <a:r>
              <a:rPr lang="en-US" altLang="zh-CN" sz="2000" dirty="0">
                <a:solidFill>
                  <a:srgbClr val="FF0000"/>
                </a:solidFill>
                <a:latin typeface="Times New Roman" panose="02020603050405020304" pitchFamily="18" charset="0"/>
                <a:cs typeface="Times New Roman" panose="02020603050405020304" pitchFamily="18" charset="0"/>
              </a:rPr>
              <a:t>MOSG</a:t>
            </a:r>
            <a:r>
              <a:rPr lang="en-US" altLang="zh-CN" sz="1800" kern="0" dirty="0">
                <a:solidFill>
                  <a:schemeClr val="accent2"/>
                </a:solidFill>
                <a:latin typeface="Times New Roman" panose="02020603050405020304" pitchFamily="18" charset="0"/>
                <a:cs typeface="Times New Roman" panose="02020603050405020304" pitchFamily="18" charset="0"/>
              </a:rPr>
              <a:t>(</a:t>
            </a:r>
            <a:r>
              <a:rPr lang="en-US" altLang="zh-CN" sz="1800" kern="0" dirty="0">
                <a:solidFill>
                  <a:srgbClr val="CC3300"/>
                </a:solidFill>
                <a:latin typeface="Times New Roman" panose="02020603050405020304" pitchFamily="18" charset="0"/>
                <a:cs typeface="Times New Roman" panose="02020603050405020304" pitchFamily="18" charset="0"/>
              </a:rPr>
              <a:t>M</a:t>
            </a:r>
            <a:r>
              <a:rPr lang="en-US" altLang="zh-CN" sz="1800" kern="0" dirty="0">
                <a:solidFill>
                  <a:schemeClr val="accent2"/>
                </a:solidFill>
                <a:latin typeface="Times New Roman" panose="02020603050405020304" pitchFamily="18" charset="0"/>
                <a:cs typeface="Times New Roman" panose="02020603050405020304" pitchFamily="18" charset="0"/>
              </a:rPr>
              <a:t>icrooperation </a:t>
            </a:r>
            <a:r>
              <a:rPr lang="en-US" altLang="zh-CN" sz="1800" kern="0" dirty="0">
                <a:solidFill>
                  <a:srgbClr val="CC3300"/>
                </a:solidFill>
                <a:latin typeface="Times New Roman" panose="02020603050405020304" pitchFamily="18" charset="0"/>
                <a:cs typeface="Times New Roman" panose="02020603050405020304" pitchFamily="18" charset="0"/>
              </a:rPr>
              <a:t>S</a:t>
            </a:r>
            <a:r>
              <a:rPr lang="en-US" altLang="zh-CN" sz="1800" kern="0" dirty="0">
                <a:solidFill>
                  <a:schemeClr val="accent2"/>
                </a:solidFill>
                <a:latin typeface="Times New Roman" panose="02020603050405020304" pitchFamily="18" charset="0"/>
                <a:cs typeface="Times New Roman" panose="02020603050405020304" pitchFamily="18" charset="0"/>
              </a:rPr>
              <a:t>ignal </a:t>
            </a:r>
            <a:r>
              <a:rPr lang="en-US" altLang="zh-CN" sz="1800" kern="0" dirty="0">
                <a:solidFill>
                  <a:srgbClr val="CC3300"/>
                </a:solidFill>
                <a:latin typeface="Times New Roman" panose="02020603050405020304" pitchFamily="18" charset="0"/>
                <a:cs typeface="Times New Roman" panose="02020603050405020304" pitchFamily="18" charset="0"/>
              </a:rPr>
              <a:t>G</a:t>
            </a:r>
            <a:r>
              <a:rPr lang="en-US" altLang="zh-CN" sz="1800" kern="0" dirty="0">
                <a:solidFill>
                  <a:schemeClr val="accent2"/>
                </a:solidFill>
                <a:latin typeface="Times New Roman" panose="02020603050405020304" pitchFamily="18" charset="0"/>
                <a:cs typeface="Times New Roman" panose="02020603050405020304" pitchFamily="18" charset="0"/>
              </a:rPr>
              <a:t>enerator ):</a:t>
            </a:r>
            <a:r>
              <a:rPr lang="en-US" altLang="zh-CN" sz="2000" kern="0" dirty="0">
                <a:solidFill>
                  <a:schemeClr val="accent2"/>
                </a:solidFill>
                <a:latin typeface="Times New Roman" panose="02020603050405020304" pitchFamily="18" charset="0"/>
                <a:cs typeface="Times New Roman" panose="02020603050405020304" pitchFamily="18" charset="0"/>
              </a:rPr>
              <a:t>  </a:t>
            </a:r>
            <a:r>
              <a:rPr lang="en-US" altLang="zh-CN" sz="2000" kern="0" dirty="0">
                <a:latin typeface="Times New Roman" panose="02020603050405020304" pitchFamily="18" charset="0"/>
                <a:cs typeface="Times New Roman" panose="02020603050405020304" pitchFamily="18" charset="0"/>
              </a:rPr>
              <a:t>used to generate a series of micro-operation control signals.</a:t>
            </a:r>
            <a:endParaRPr lang="zh-CN" altLang="en-US" sz="2000" kern="0" dirty="0">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7</a:t>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noChangeArrowheads="1"/>
          </p:cNvSpPr>
          <p:nvPr>
            <p:ph type="title"/>
          </p:nvPr>
        </p:nvSpPr>
        <p:spPr>
          <a:xfrm>
            <a:off x="822962" y="539608"/>
            <a:ext cx="4694970" cy="504825"/>
          </a:xfrm>
        </p:spPr>
        <p:txBody>
          <a:bodyPr vert="horz" lIns="91440" tIns="45720" rIns="91440" bIns="45720" rtlCol="0" anchor="b">
            <a:noAutofit/>
          </a:bodyPr>
          <a:lstStyle/>
          <a:p>
            <a:r>
              <a:rPr lang="en-US" altLang="zh-CN" sz="2400" dirty="0">
                <a:latin typeface="Arial" panose="020B0604020202020204" pitchFamily="34" charset="0"/>
                <a:cs typeface="Arial" panose="020B0604020202020204" pitchFamily="34" charset="0"/>
              </a:rPr>
              <a:t>4.1.1 Introduction to Structure of the Model Machine</a:t>
            </a:r>
            <a:endParaRPr lang="zh-CN" altLang="en-US" sz="2400" dirty="0">
              <a:latin typeface="Arial" panose="020B0604020202020204" pitchFamily="34" charset="0"/>
              <a:cs typeface="Arial" panose="020B0604020202020204" pitchFamily="34" charset="0"/>
            </a:endParaRPr>
          </a:p>
        </p:txBody>
      </p:sp>
      <p:sp>
        <p:nvSpPr>
          <p:cNvPr id="581635" name="Rectangle 3"/>
          <p:cNvSpPr>
            <a:spLocks noGrp="1" noChangeArrowheads="1"/>
          </p:cNvSpPr>
          <p:nvPr>
            <p:ph idx="1"/>
          </p:nvPr>
        </p:nvSpPr>
        <p:spPr>
          <a:xfrm>
            <a:off x="342899" y="1145912"/>
            <a:ext cx="5441533" cy="1521307"/>
          </a:xfrm>
        </p:spPr>
        <p:txBody>
          <a:bodyPr>
            <a:normAutofit lnSpcReduction="10000"/>
          </a:bodyPr>
          <a:lstStyle/>
          <a:p>
            <a:pPr eaLnBrk="1" hangingPunct="1">
              <a:spcBef>
                <a:spcPct val="0"/>
              </a:spcBef>
              <a:buFontTx/>
              <a:buNone/>
            </a:pPr>
            <a:r>
              <a:rPr lang="en-US" altLang="zh-CN" sz="2400" dirty="0">
                <a:solidFill>
                  <a:srgbClr val="FF0000"/>
                </a:solidFill>
                <a:latin typeface="Arial" panose="020B0604020202020204" pitchFamily="34" charset="0"/>
                <a:cs typeface="Arial" panose="020B0604020202020204" pitchFamily="34" charset="0"/>
              </a:rPr>
              <a:t>2</a:t>
            </a:r>
            <a:r>
              <a:rPr lang="zh-CN" altLang="en-US" sz="2400" dirty="0">
                <a:solidFill>
                  <a:srgbClr val="FF0000"/>
                </a:solidFill>
                <a:latin typeface="Arial" panose="020B0604020202020204" pitchFamily="34" charset="0"/>
                <a:cs typeface="Arial" panose="020B0604020202020204" pitchFamily="34" charset="0"/>
              </a:rPr>
              <a:t>、</a:t>
            </a:r>
            <a:r>
              <a:rPr lang="en-US" altLang="zh-CN" sz="2400" dirty="0">
                <a:solidFill>
                  <a:srgbClr val="FF0000"/>
                </a:solidFill>
                <a:latin typeface="Arial" panose="020B0604020202020204" pitchFamily="34" charset="0"/>
                <a:cs typeface="Arial" panose="020B0604020202020204" pitchFamily="34" charset="0"/>
              </a:rPr>
              <a:t>Memory Structure</a:t>
            </a:r>
            <a:endParaRPr lang="zh-CN" altLang="en-US" sz="2400" dirty="0">
              <a:solidFill>
                <a:srgbClr val="FF0000"/>
              </a:solidFill>
              <a:latin typeface="Arial" panose="020B0604020202020204" pitchFamily="34" charset="0"/>
              <a:cs typeface="Arial" panose="020B0604020202020204" pitchFamily="34" charset="0"/>
            </a:endParaRPr>
          </a:p>
          <a:p>
            <a:pPr eaLnBrk="1" hangingPunct="1">
              <a:spcBef>
                <a:spcPct val="0"/>
              </a:spcBef>
              <a:spcAft>
                <a:spcPct val="0"/>
              </a:spcAft>
            </a:pPr>
            <a:r>
              <a:rPr lang="en-US" altLang="zh-CN" dirty="0">
                <a:solidFill>
                  <a:srgbClr val="CC3300"/>
                </a:solidFill>
                <a:latin typeface="Arial" panose="020B0604020202020204" pitchFamily="34" charset="0"/>
                <a:cs typeface="Arial" panose="020B0604020202020204" pitchFamily="34" charset="0"/>
              </a:rPr>
              <a:t>Function</a:t>
            </a:r>
            <a:r>
              <a:rPr lang="zh-CN" altLang="en-US" dirty="0">
                <a:solidFill>
                  <a:srgbClr val="CC3300"/>
                </a:solidFill>
                <a:latin typeface="Arial" panose="020B0604020202020204" pitchFamily="34" charset="0"/>
                <a:cs typeface="Arial" panose="020B0604020202020204" pitchFamily="34" charset="0"/>
              </a:rPr>
              <a:t>：</a:t>
            </a:r>
            <a:r>
              <a:rPr lang="en-US" altLang="zh-CN" dirty="0">
                <a:solidFill>
                  <a:schemeClr val="tx1"/>
                </a:solidFill>
                <a:latin typeface="Arial" panose="020B0604020202020204" pitchFamily="34" charset="0"/>
                <a:cs typeface="Arial" panose="020B0604020202020204" pitchFamily="34" charset="0"/>
              </a:rPr>
              <a:t>Primarily used for storing programs and data.</a:t>
            </a:r>
            <a:endParaRPr lang="zh-CN" altLang="en-US" dirty="0">
              <a:solidFill>
                <a:srgbClr val="3366FF"/>
              </a:solidFill>
              <a:latin typeface="Arial" panose="020B0604020202020204" pitchFamily="34" charset="0"/>
              <a:cs typeface="Arial" panose="020B0604020202020204" pitchFamily="34" charset="0"/>
            </a:endParaRPr>
          </a:p>
          <a:p>
            <a:pPr eaLnBrk="1" hangingPunct="1">
              <a:spcBef>
                <a:spcPct val="0"/>
              </a:spcBef>
            </a:pPr>
            <a:r>
              <a:rPr lang="en-US" altLang="zh-CN" dirty="0">
                <a:solidFill>
                  <a:srgbClr val="CC3300"/>
                </a:solidFill>
                <a:latin typeface="Arial" panose="020B0604020202020204" pitchFamily="34" charset="0"/>
                <a:cs typeface="Arial" panose="020B0604020202020204" pitchFamily="34" charset="0"/>
              </a:rPr>
              <a:t>Components</a:t>
            </a:r>
            <a:r>
              <a:rPr lang="zh-CN" altLang="en-US" dirty="0">
                <a:solidFill>
                  <a:srgbClr val="CC3300"/>
                </a:solidFill>
                <a:latin typeface="Arial" panose="020B0604020202020204" pitchFamily="34" charset="0"/>
                <a:cs typeface="Arial" panose="020B0604020202020204" pitchFamily="34" charset="0"/>
              </a:rPr>
              <a:t>：</a:t>
            </a:r>
            <a:r>
              <a:rPr lang="en-US" altLang="zh-CN" dirty="0">
                <a:solidFill>
                  <a:schemeClr val="tx1"/>
                </a:solidFill>
                <a:latin typeface="Arial" panose="020B0604020202020204" pitchFamily="34" charset="0"/>
                <a:cs typeface="Arial" panose="020B0604020202020204" pitchFamily="34" charset="0"/>
              </a:rPr>
              <a:t>Include </a:t>
            </a:r>
            <a:r>
              <a:rPr lang="en-US" altLang="zh-CN" dirty="0">
                <a:solidFill>
                  <a:schemeClr val="tx1"/>
                </a:solidFill>
                <a:latin typeface="Arial" panose="020B0604020202020204" pitchFamily="34" charset="0"/>
                <a:cs typeface="Arial" panose="020B0604020202020204" pitchFamily="34" charset="0"/>
                <a:hlinkClick r:id="rId2" action="ppaction://hlinksldjump"/>
              </a:rPr>
              <a:t>Address Decoder</a:t>
            </a:r>
            <a:r>
              <a:rPr lang="zh-CN" altLang="en-US" dirty="0">
                <a:solidFill>
                  <a:schemeClr val="tx1"/>
                </a:solidFill>
                <a:latin typeface="Arial" panose="020B0604020202020204" pitchFamily="34" charset="0"/>
                <a:cs typeface="Arial" panose="020B0604020202020204" pitchFamily="34" charset="0"/>
              </a:rPr>
              <a:t>、</a:t>
            </a:r>
            <a:r>
              <a:rPr lang="en-US" altLang="zh-CN" dirty="0">
                <a:solidFill>
                  <a:srgbClr val="0000FF"/>
                </a:solidFill>
                <a:latin typeface="Arial" panose="020B0604020202020204" pitchFamily="34" charset="0"/>
                <a:cs typeface="Arial" panose="020B0604020202020204" pitchFamily="34" charset="0"/>
              </a:rPr>
              <a:t>storage unit </a:t>
            </a:r>
            <a:r>
              <a:rPr lang="en-US" altLang="zh-CN" dirty="0">
                <a:solidFill>
                  <a:schemeClr val="tx1"/>
                </a:solidFill>
                <a:latin typeface="Arial" panose="020B0604020202020204" pitchFamily="34" charset="0"/>
                <a:cs typeface="Arial" panose="020B0604020202020204" pitchFamily="34" charset="0"/>
              </a:rPr>
              <a:t>and control logic.</a:t>
            </a:r>
            <a:endParaRPr lang="zh-CN" altLang="en-US" dirty="0">
              <a:solidFill>
                <a:schemeClr val="tx1"/>
              </a:solidFill>
              <a:latin typeface="Arial" panose="020B0604020202020204" pitchFamily="34" charset="0"/>
              <a:cs typeface="Arial" panose="020B0604020202020204" pitchFamily="34" charset="0"/>
            </a:endParaRPr>
          </a:p>
        </p:txBody>
      </p:sp>
      <p:sp>
        <p:nvSpPr>
          <p:cNvPr id="5" name="Rectangle 3"/>
          <p:cNvSpPr txBox="1">
            <a:spLocks noChangeArrowheads="1"/>
          </p:cNvSpPr>
          <p:nvPr/>
        </p:nvSpPr>
        <p:spPr bwMode="auto">
          <a:xfrm>
            <a:off x="342900" y="2559067"/>
            <a:ext cx="8748713" cy="3460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Blip>
                <a:blip r:embed="rId3"/>
              </a:buBlip>
              <a:defRPr sz="32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defRPr>
            </a:lvl1pPr>
            <a:lvl2pPr marL="742950" indent="-285750" algn="just">
              <a:spcBef>
                <a:spcPct val="20000"/>
              </a:spcBef>
              <a:buBlip>
                <a:blip r:embed="rId4"/>
              </a:buBlip>
              <a:defRPr sz="2800" b="1">
                <a:solidFill>
                  <a:schemeClr val="tx1"/>
                </a:solidFill>
                <a:latin typeface="Arial" panose="020B0604020202020204" pitchFamily="34" charset="0"/>
                <a:ea typeface="宋体" panose="02010600030101010101" pitchFamily="2" charset="-122"/>
              </a:defRPr>
            </a:lvl2pPr>
            <a:lvl3pPr marL="1143000" indent="-228600" algn="just">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gn="just">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just">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4000"/>
              </a:lnSpc>
              <a:spcBef>
                <a:spcPct val="0"/>
              </a:spcBef>
              <a:spcAft>
                <a:spcPts val="600"/>
              </a:spcAft>
            </a:pPr>
            <a:r>
              <a:rPr lang="en-US" altLang="zh-CN" sz="2400" dirty="0">
                <a:solidFill>
                  <a:srgbClr val="CC3300"/>
                </a:solidFill>
                <a:latin typeface="Arial" panose="020B0604020202020204" pitchFamily="34" charset="0"/>
                <a:cs typeface="Arial" panose="020B0604020202020204" pitchFamily="34" charset="0"/>
              </a:rPr>
              <a:t>Memory Access Process</a:t>
            </a:r>
            <a:r>
              <a:rPr lang="zh-CN" altLang="en-US" sz="2400" dirty="0">
                <a:solidFill>
                  <a:srgbClr val="CC3300"/>
                </a:solidFill>
                <a:latin typeface="Arial" panose="020B0604020202020204" pitchFamily="34" charset="0"/>
                <a:cs typeface="Arial" panose="020B0604020202020204" pitchFamily="34" charset="0"/>
              </a:rPr>
              <a:t>：</a:t>
            </a:r>
          </a:p>
          <a:p>
            <a:pPr eaLnBrk="1" hangingPunct="1">
              <a:lnSpc>
                <a:spcPct val="114000"/>
              </a:lnSpc>
              <a:spcBef>
                <a:spcPct val="0"/>
              </a:spcBef>
              <a:buFontTx/>
              <a:buNone/>
            </a:pPr>
            <a:r>
              <a:rPr lang="zh-CN" altLang="en-US" sz="2400" dirty="0">
                <a:solidFill>
                  <a:srgbClr val="3366FF"/>
                </a:solidFill>
                <a:latin typeface="Arial" panose="020B0604020202020204" pitchFamily="34" charset="0"/>
                <a:cs typeface="Arial" panose="020B0604020202020204" pitchFamily="34" charset="0"/>
              </a:rPr>
              <a:t>（</a:t>
            </a:r>
            <a:r>
              <a:rPr lang="en-US" altLang="zh-CN" sz="2400" dirty="0">
                <a:solidFill>
                  <a:srgbClr val="3366FF"/>
                </a:solidFill>
                <a:latin typeface="Arial" panose="020B0604020202020204" pitchFamily="34" charset="0"/>
                <a:cs typeface="Arial" panose="020B0604020202020204" pitchFamily="34" charset="0"/>
              </a:rPr>
              <a:t>1</a:t>
            </a:r>
            <a:r>
              <a:rPr lang="zh-CN" altLang="en-US" sz="2400" dirty="0">
                <a:solidFill>
                  <a:srgbClr val="3366FF"/>
                </a:solidFill>
                <a:latin typeface="Arial" panose="020B0604020202020204" pitchFamily="34" charset="0"/>
                <a:cs typeface="Arial" panose="020B0604020202020204" pitchFamily="34" charset="0"/>
              </a:rPr>
              <a:t>）</a:t>
            </a:r>
            <a:r>
              <a:rPr lang="en-US" altLang="zh-CN" sz="2400" dirty="0">
                <a:solidFill>
                  <a:srgbClr val="3366FF"/>
                </a:solidFill>
                <a:latin typeface="Arial" panose="020B0604020202020204" pitchFamily="34" charset="0"/>
                <a:cs typeface="Arial" panose="020B0604020202020204" pitchFamily="34" charset="0"/>
              </a:rPr>
              <a:t>Read operation</a:t>
            </a:r>
            <a:endParaRPr lang="zh-CN" altLang="en-US" sz="2400" dirty="0">
              <a:solidFill>
                <a:srgbClr val="3366FF"/>
              </a:solidFill>
              <a:latin typeface="Arial" panose="020B0604020202020204" pitchFamily="34" charset="0"/>
              <a:cs typeface="Arial" panose="020B0604020202020204" pitchFamily="34" charset="0"/>
            </a:endParaRPr>
          </a:p>
          <a:p>
            <a:pPr eaLnBrk="1" hangingPunct="1">
              <a:lnSpc>
                <a:spcPct val="114000"/>
              </a:lnSpc>
              <a:spcBef>
                <a:spcPct val="0"/>
              </a:spcBef>
              <a:spcAft>
                <a:spcPts val="600"/>
              </a:spcAft>
              <a:buFontTx/>
              <a:buNone/>
            </a:pPr>
            <a:r>
              <a:rPr lang="zh-CN" altLang="en-US" sz="2400" dirty="0">
                <a:solidFill>
                  <a:schemeClr val="tx1"/>
                </a:solidFill>
                <a:latin typeface="Arial" panose="020B0604020202020204" pitchFamily="34" charset="0"/>
                <a:cs typeface="Arial" panose="020B0604020202020204" pitchFamily="34" charset="0"/>
              </a:rPr>
              <a:t> </a:t>
            </a:r>
            <a:r>
              <a:rPr lang="en-US" altLang="zh-CN" sz="2400" dirty="0">
                <a:solidFill>
                  <a:schemeClr val="tx1"/>
                </a:solidFill>
                <a:latin typeface="Arial" panose="020B0604020202020204" pitchFamily="34" charset="0"/>
                <a:cs typeface="Arial" panose="020B0604020202020204" pitchFamily="34" charset="0"/>
              </a:rPr>
              <a:t>			</a:t>
            </a:r>
            <a:r>
              <a:rPr lang="en-US" altLang="zh-CN" sz="1800" dirty="0">
                <a:solidFill>
                  <a:schemeClr val="tx1"/>
                </a:solidFill>
                <a:latin typeface="Arial" panose="020B0604020202020204" pitchFamily="34" charset="0"/>
                <a:cs typeface="Arial" panose="020B0604020202020204" pitchFamily="34" charset="0"/>
              </a:rPr>
              <a:t>The CPU first loads the contents of the </a:t>
            </a:r>
            <a:r>
              <a:rPr lang="en-US" altLang="zh-CN" sz="1800" dirty="0">
                <a:solidFill>
                  <a:srgbClr val="9900CC"/>
                </a:solidFill>
                <a:latin typeface="Arial" panose="020B0604020202020204" pitchFamily="34" charset="0"/>
                <a:cs typeface="Arial" panose="020B0604020202020204" pitchFamily="34" charset="0"/>
                <a:hlinkClick r:id="rId2" action="ppaction://hlinksldjump"/>
              </a:rPr>
              <a:t>address register AR</a:t>
            </a:r>
            <a:r>
              <a:rPr lang="en-US" altLang="zh-CN" sz="1800" dirty="0">
                <a:solidFill>
                  <a:schemeClr val="tx1"/>
                </a:solidFill>
                <a:latin typeface="Arial" panose="020B0604020202020204" pitchFamily="34" charset="0"/>
                <a:cs typeface="Arial" panose="020B0604020202020204" pitchFamily="34" charset="0"/>
              </a:rPr>
              <a:t> onto the </a:t>
            </a:r>
            <a:r>
              <a:rPr lang="en-US" altLang="zh-CN" sz="1800" dirty="0">
                <a:solidFill>
                  <a:srgbClr val="9900CC"/>
                </a:solidFill>
                <a:latin typeface="Arial" panose="020B0604020202020204" pitchFamily="34" charset="0"/>
                <a:cs typeface="Arial" panose="020B0604020202020204" pitchFamily="34" charset="0"/>
              </a:rPr>
              <a:t>address bus AB</a:t>
            </a:r>
            <a:r>
              <a:rPr lang="zh-CN" altLang="en-US" sz="1800" dirty="0">
                <a:solidFill>
                  <a:schemeClr val="tx1"/>
                </a:solidFill>
                <a:latin typeface="Arial" panose="020B0604020202020204" pitchFamily="34" charset="0"/>
                <a:cs typeface="Arial" panose="020B0604020202020204" pitchFamily="34" charset="0"/>
              </a:rPr>
              <a:t>，</a:t>
            </a:r>
            <a:r>
              <a:rPr lang="en-US" altLang="zh-CN" sz="1800" dirty="0">
                <a:solidFill>
                  <a:schemeClr val="tx1"/>
                </a:solidFill>
                <a:latin typeface="Arial" panose="020B0604020202020204" pitchFamily="34" charset="0"/>
                <a:cs typeface="Arial" panose="020B0604020202020204" pitchFamily="34" charset="0"/>
              </a:rPr>
              <a:t>The contents on the address bus enter the </a:t>
            </a:r>
            <a:r>
              <a:rPr lang="en-US" altLang="zh-CN" sz="1800" dirty="0">
                <a:solidFill>
                  <a:srgbClr val="9900CC"/>
                </a:solidFill>
                <a:latin typeface="Arial" panose="020B0604020202020204" pitchFamily="34" charset="0"/>
                <a:cs typeface="Arial" panose="020B0604020202020204" pitchFamily="34" charset="0"/>
                <a:hlinkClick r:id="rId2" action="ppaction://hlinksldjump"/>
              </a:rPr>
              <a:t>address decoder</a:t>
            </a:r>
            <a:r>
              <a:rPr lang="zh-CN" altLang="en-US" sz="1800" dirty="0">
                <a:solidFill>
                  <a:schemeClr val="tx1"/>
                </a:solidFill>
                <a:latin typeface="Arial" panose="020B0604020202020204" pitchFamily="34" charset="0"/>
                <a:cs typeface="Arial" panose="020B0604020202020204" pitchFamily="34" charset="0"/>
              </a:rPr>
              <a:t>，</a:t>
            </a:r>
            <a:r>
              <a:rPr lang="en-US" altLang="zh-CN" sz="1800" dirty="0">
                <a:solidFill>
                  <a:schemeClr val="tx1"/>
                </a:solidFill>
                <a:latin typeface="Arial" panose="020B0604020202020204" pitchFamily="34" charset="0"/>
                <a:cs typeface="Arial" panose="020B0604020202020204" pitchFamily="34" charset="0"/>
              </a:rPr>
              <a:t>which decodes them and </a:t>
            </a:r>
            <a:r>
              <a:rPr lang="en-US" altLang="zh-CN" sz="1800" dirty="0">
                <a:solidFill>
                  <a:srgbClr val="FF0000"/>
                </a:solidFill>
                <a:latin typeface="Arial" panose="020B0604020202020204" pitchFamily="34" charset="0"/>
                <a:cs typeface="Arial" panose="020B0604020202020204" pitchFamily="34" charset="0"/>
              </a:rPr>
              <a:t>selects the corresponding memory cell.</a:t>
            </a:r>
            <a:endParaRPr lang="zh-CN" altLang="en-US" sz="2400" dirty="0">
              <a:solidFill>
                <a:schemeClr val="tx1"/>
              </a:solidFill>
              <a:latin typeface="Arial" panose="020B0604020202020204" pitchFamily="34" charset="0"/>
              <a:cs typeface="Arial" panose="020B0604020202020204" pitchFamily="34" charset="0"/>
            </a:endParaRPr>
          </a:p>
        </p:txBody>
      </p:sp>
      <p:sp>
        <p:nvSpPr>
          <p:cNvPr id="6" name="Rectangle 3"/>
          <p:cNvSpPr txBox="1">
            <a:spLocks noChangeArrowheads="1"/>
          </p:cNvSpPr>
          <p:nvPr/>
        </p:nvSpPr>
        <p:spPr bwMode="auto">
          <a:xfrm>
            <a:off x="342901" y="4613122"/>
            <a:ext cx="8748712" cy="161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sz="32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defRPr>
            </a:lvl1pPr>
            <a:lvl2pPr marL="742950" indent="-285750" algn="just">
              <a:spcBef>
                <a:spcPct val="20000"/>
              </a:spcBef>
              <a:buBlip>
                <a:blip r:embed="rId4"/>
              </a:buBlip>
              <a:defRPr sz="2800" b="1">
                <a:solidFill>
                  <a:schemeClr val="tx1"/>
                </a:solidFill>
                <a:latin typeface="Arial" panose="020B0604020202020204" pitchFamily="34" charset="0"/>
                <a:ea typeface="宋体" panose="02010600030101010101" pitchFamily="2" charset="-122"/>
              </a:defRPr>
            </a:lvl2pPr>
            <a:lvl3pPr marL="1143000" indent="-228600" algn="just">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gn="just">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just">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4000"/>
              </a:lnSpc>
              <a:spcBef>
                <a:spcPct val="0"/>
              </a:spcBef>
              <a:spcAft>
                <a:spcPts val="600"/>
              </a:spcAft>
              <a:buFontTx/>
              <a:buNone/>
            </a:pPr>
            <a:r>
              <a:rPr lang="zh-CN" altLang="en-US" sz="1800" dirty="0">
                <a:solidFill>
                  <a:schemeClr val="tx1"/>
                </a:solidFill>
                <a:latin typeface="Arial" panose="020B0604020202020204" pitchFamily="34" charset="0"/>
                <a:cs typeface="Arial" panose="020B0604020202020204" pitchFamily="34" charset="0"/>
              </a:rPr>
              <a:t>  </a:t>
            </a:r>
            <a:r>
              <a:rPr lang="en-US" altLang="zh-CN" sz="1800" dirty="0">
                <a:solidFill>
                  <a:schemeClr val="tx1"/>
                </a:solidFill>
                <a:latin typeface="Arial" panose="020B0604020202020204" pitchFamily="34" charset="0"/>
                <a:cs typeface="Arial" panose="020B0604020202020204" pitchFamily="34" charset="0"/>
              </a:rPr>
              <a:t>	The contents of the selected memory cell </a:t>
            </a:r>
            <a:r>
              <a:rPr lang="en-US" altLang="zh-CN" sz="1800" dirty="0">
                <a:solidFill>
                  <a:srgbClr val="FF0000"/>
                </a:solidFill>
                <a:latin typeface="Arial" panose="020B0604020202020204" pitchFamily="34" charset="0"/>
                <a:cs typeface="Arial" panose="020B0604020202020204" pitchFamily="34" charset="0"/>
              </a:rPr>
              <a:t>appear on the data bus</a:t>
            </a:r>
            <a:r>
              <a:rPr lang="en-US" altLang="zh-CN" sz="1800" dirty="0">
                <a:solidFill>
                  <a:schemeClr val="tx1"/>
                </a:solidFill>
                <a:latin typeface="Arial" panose="020B0604020202020204" pitchFamily="34" charset="0"/>
                <a:cs typeface="Arial" panose="020B0604020202020204" pitchFamily="34" charset="0"/>
              </a:rPr>
              <a:t>. Under the control signal </a:t>
            </a:r>
            <a:r>
              <a:rPr lang="zh-CN" altLang="en-US" sz="1800" dirty="0">
                <a:solidFill>
                  <a:schemeClr val="tx1"/>
                </a:solidFill>
                <a:latin typeface="Arial" panose="020B0604020202020204" pitchFamily="34" charset="0"/>
                <a:cs typeface="Arial" panose="020B0604020202020204" pitchFamily="34" charset="0"/>
              </a:rPr>
              <a:t>，</a:t>
            </a:r>
            <a:r>
              <a:rPr lang="en-US" altLang="zh-CN" sz="1800" dirty="0">
                <a:solidFill>
                  <a:schemeClr val="tx1"/>
                </a:solidFill>
                <a:latin typeface="Arial" panose="020B0604020202020204" pitchFamily="34" charset="0"/>
                <a:cs typeface="Arial" panose="020B0604020202020204" pitchFamily="34" charset="0"/>
              </a:rPr>
              <a:t>the CPU </a:t>
            </a:r>
            <a:r>
              <a:rPr lang="en-US" altLang="zh-CN" sz="1800" dirty="0">
                <a:solidFill>
                  <a:srgbClr val="FF0000"/>
                </a:solidFill>
                <a:latin typeface="Arial" panose="020B0604020202020204" pitchFamily="34" charset="0"/>
                <a:cs typeface="Arial" panose="020B0604020202020204" pitchFamily="34" charset="0"/>
              </a:rPr>
              <a:t>reads the data from the data bus into the data register DR</a:t>
            </a:r>
            <a:r>
              <a:rPr lang="zh-CN" altLang="en-US" sz="1800" dirty="0">
                <a:solidFill>
                  <a:schemeClr val="tx1"/>
                </a:solidFill>
                <a:latin typeface="Arial" panose="020B0604020202020204" pitchFamily="34" charset="0"/>
                <a:cs typeface="Arial" panose="020B0604020202020204" pitchFamily="34" charset="0"/>
              </a:rPr>
              <a:t>，</a:t>
            </a:r>
            <a:r>
              <a:rPr lang="en-US" altLang="zh-CN" sz="1800" dirty="0">
                <a:solidFill>
                  <a:schemeClr val="tx1"/>
                </a:solidFill>
                <a:latin typeface="Arial" panose="020B0604020202020204" pitchFamily="34" charset="0"/>
                <a:cs typeface="Arial" panose="020B0604020202020204" pitchFamily="34" charset="0"/>
              </a:rPr>
              <a:t>thereby completing the memory read operation.</a:t>
            </a:r>
            <a:endParaRPr lang="zh-CN" altLang="en-US" sz="1800" dirty="0">
              <a:solidFill>
                <a:schemeClr val="tx1"/>
              </a:solidFill>
              <a:latin typeface="Arial" panose="020B0604020202020204" pitchFamily="34" charset="0"/>
              <a:cs typeface="Arial" panose="020B0604020202020204" pitchFamily="34" charset="0"/>
            </a:endParaRPr>
          </a:p>
        </p:txBody>
      </p:sp>
      <p:pic>
        <p:nvPicPr>
          <p:cNvPr id="3" name="图片 2"/>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57851" y="1005975"/>
            <a:ext cx="3314684" cy="193371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2" name="灯片编号占位符 1"/>
          <p:cNvSpPr>
            <a:spLocks noGrp="1"/>
          </p:cNvSpPr>
          <p:nvPr>
            <p:ph type="sldNum" sz="quarter" idx="12"/>
          </p:nvPr>
        </p:nvSpPr>
        <p:spPr/>
        <p:txBody>
          <a:bodyPr/>
          <a:lstStyle/>
          <a:p>
            <a:fld id="{22E77DEE-32E4-4009-988B-F2758F7B8AC2}" type="slidenum">
              <a:rPr lang="zh-CN" altLang="en-US" smtClean="0"/>
              <a:t>8</a:t>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noChangeArrowheads="1"/>
          </p:cNvSpPr>
          <p:nvPr>
            <p:ph type="title"/>
          </p:nvPr>
        </p:nvSpPr>
        <p:spPr>
          <a:xfrm>
            <a:off x="874713" y="512763"/>
            <a:ext cx="7115175" cy="504825"/>
          </a:xfrm>
        </p:spPr>
        <p:txBody>
          <a:bodyPr/>
          <a:lstStyle/>
          <a:p>
            <a:pPr eaLnBrk="1" hangingPunct="1"/>
            <a:r>
              <a:rPr lang="en-US" altLang="zh-CN" sz="2800" dirty="0">
                <a:latin typeface="Arial" panose="020B0604020202020204" pitchFamily="34" charset="0"/>
                <a:cs typeface="Arial" panose="020B0604020202020204" pitchFamily="34" charset="0"/>
              </a:rPr>
              <a:t>Memory Access Process</a:t>
            </a:r>
            <a:endParaRPr lang="zh-CN" altLang="en-US" sz="2800" dirty="0">
              <a:latin typeface="Arial" panose="020B0604020202020204" pitchFamily="34" charset="0"/>
              <a:cs typeface="Arial" panose="020B0604020202020204" pitchFamily="34" charset="0"/>
            </a:endParaRPr>
          </a:p>
        </p:txBody>
      </p:sp>
      <p:sp>
        <p:nvSpPr>
          <p:cNvPr id="582659" name="Rectangle 3"/>
          <p:cNvSpPr>
            <a:spLocks noGrp="1" noChangeArrowheads="1"/>
          </p:cNvSpPr>
          <p:nvPr>
            <p:ph idx="1"/>
          </p:nvPr>
        </p:nvSpPr>
        <p:spPr>
          <a:xfrm>
            <a:off x="407987" y="4614862"/>
            <a:ext cx="7924801" cy="1730375"/>
          </a:xfrm>
        </p:spPr>
        <p:txBody>
          <a:bodyPr>
            <a:normAutofit fontScale="85000" lnSpcReduction="10000"/>
          </a:bodyPr>
          <a:lstStyle/>
          <a:p>
            <a:pPr eaLnBrk="1" hangingPunct="1">
              <a:lnSpc>
                <a:spcPct val="100000"/>
              </a:lnSpc>
              <a:spcBef>
                <a:spcPct val="0"/>
              </a:spcBef>
              <a:buFontTx/>
              <a:buNone/>
            </a:pPr>
            <a:r>
              <a:rPr lang="zh-CN" altLang="en-US" dirty="0">
                <a:solidFill>
                  <a:srgbClr val="FF0000"/>
                </a:solidFill>
                <a:latin typeface="Arial" panose="020B0604020202020204" pitchFamily="34" charset="0"/>
                <a:cs typeface="Arial" panose="020B0604020202020204" pitchFamily="34" charset="0"/>
              </a:rPr>
              <a:t>（</a:t>
            </a:r>
            <a:r>
              <a:rPr lang="en-US" altLang="zh-CN" dirty="0">
                <a:solidFill>
                  <a:srgbClr val="FF0000"/>
                </a:solidFill>
                <a:latin typeface="Arial" panose="020B0604020202020204" pitchFamily="34" charset="0"/>
                <a:cs typeface="Arial" panose="020B0604020202020204" pitchFamily="34" charset="0"/>
              </a:rPr>
              <a:t>2</a:t>
            </a:r>
            <a:r>
              <a:rPr lang="zh-CN" altLang="en-US" dirty="0">
                <a:solidFill>
                  <a:srgbClr val="FF0000"/>
                </a:solidFill>
                <a:latin typeface="Arial" panose="020B0604020202020204" pitchFamily="34" charset="0"/>
                <a:cs typeface="Arial" panose="020B0604020202020204" pitchFamily="34" charset="0"/>
              </a:rPr>
              <a:t>）</a:t>
            </a:r>
            <a:r>
              <a:rPr lang="en-US" altLang="zh-CN" dirty="0">
                <a:solidFill>
                  <a:srgbClr val="FF0000"/>
                </a:solidFill>
                <a:latin typeface="Arial" panose="020B0604020202020204" pitchFamily="34" charset="0"/>
                <a:cs typeface="Arial" panose="020B0604020202020204" pitchFamily="34" charset="0"/>
              </a:rPr>
              <a:t>Write operation</a:t>
            </a:r>
            <a:endParaRPr lang="zh-CN" altLang="en-US" dirty="0">
              <a:solidFill>
                <a:srgbClr val="FF0000"/>
              </a:solidFill>
              <a:latin typeface="Arial" panose="020B0604020202020204" pitchFamily="34" charset="0"/>
              <a:cs typeface="Arial" panose="020B0604020202020204" pitchFamily="34" charset="0"/>
            </a:endParaRPr>
          </a:p>
          <a:p>
            <a:pPr eaLnBrk="1" hangingPunct="1">
              <a:lnSpc>
                <a:spcPct val="100000"/>
              </a:lnSpc>
              <a:spcBef>
                <a:spcPct val="0"/>
              </a:spcBef>
              <a:buFontTx/>
              <a:buNone/>
            </a:pPr>
            <a:r>
              <a:rPr lang="zh-CN" altLang="en-US" dirty="0">
                <a:solidFill>
                  <a:schemeClr val="tx1"/>
                </a:solidFill>
                <a:latin typeface="Arial" panose="020B0604020202020204" pitchFamily="34" charset="0"/>
                <a:cs typeface="Arial" panose="020B0604020202020204" pitchFamily="34" charset="0"/>
              </a:rPr>
              <a:t>   </a:t>
            </a:r>
            <a:r>
              <a:rPr lang="en-US" altLang="zh-CN" dirty="0">
                <a:solidFill>
                  <a:schemeClr val="tx1"/>
                </a:solidFill>
                <a:latin typeface="Arial" panose="020B0604020202020204" pitchFamily="34" charset="0"/>
                <a:cs typeface="Arial" panose="020B0604020202020204" pitchFamily="34" charset="0"/>
              </a:rPr>
              <a:t>CPU transfers the contents of the </a:t>
            </a:r>
            <a:r>
              <a:rPr lang="en-US" altLang="zh-CN" dirty="0">
                <a:solidFill>
                  <a:srgbClr val="3366FF"/>
                </a:solidFill>
                <a:latin typeface="Arial" panose="020B0604020202020204" pitchFamily="34" charset="0"/>
                <a:cs typeface="Arial" panose="020B0604020202020204" pitchFamily="34" charset="0"/>
                <a:hlinkClick r:id="rId2" action="ppaction://hlinksldjump"/>
              </a:rPr>
              <a:t>address register AR</a:t>
            </a:r>
            <a:r>
              <a:rPr lang="en-US" altLang="zh-CN" dirty="0">
                <a:solidFill>
                  <a:srgbClr val="3366FF"/>
                </a:solidFill>
                <a:latin typeface="Arial" panose="020B0604020202020204" pitchFamily="34" charset="0"/>
                <a:cs typeface="Arial" panose="020B0604020202020204" pitchFamily="34" charset="0"/>
              </a:rPr>
              <a:t> </a:t>
            </a:r>
            <a:r>
              <a:rPr lang="en-US" altLang="zh-CN" dirty="0">
                <a:solidFill>
                  <a:schemeClr val="tx1"/>
                </a:solidFill>
                <a:latin typeface="Arial" panose="020B0604020202020204" pitchFamily="34" charset="0"/>
                <a:cs typeface="Arial" panose="020B0604020202020204" pitchFamily="34" charset="0"/>
              </a:rPr>
              <a:t> onto the address bus AB. The data on the address bus enters the </a:t>
            </a:r>
            <a:r>
              <a:rPr lang="en-US" altLang="zh-CN" sz="2200" dirty="0">
                <a:solidFill>
                  <a:srgbClr val="3366FF"/>
                </a:solidFill>
                <a:latin typeface="Arial" panose="020B0604020202020204" pitchFamily="34" charset="0"/>
                <a:cs typeface="Arial" panose="020B0604020202020204" pitchFamily="34" charset="0"/>
              </a:rPr>
              <a:t>address decoder</a:t>
            </a:r>
            <a:r>
              <a:rPr lang="en-US" altLang="zh-CN" dirty="0">
                <a:solidFill>
                  <a:schemeClr val="tx1"/>
                </a:solidFill>
                <a:latin typeface="Arial" panose="020B0604020202020204" pitchFamily="34" charset="0"/>
                <a:cs typeface="Arial" panose="020B0604020202020204" pitchFamily="34" charset="0"/>
              </a:rPr>
              <a:t>, which </a:t>
            </a:r>
            <a:r>
              <a:rPr lang="en-US" altLang="zh-CN" sz="2200" dirty="0">
                <a:solidFill>
                  <a:srgbClr val="3366FF"/>
                </a:solidFill>
                <a:latin typeface="Arial" panose="020B0604020202020204" pitchFamily="34" charset="0"/>
                <a:cs typeface="Arial" panose="020B0604020202020204" pitchFamily="34" charset="0"/>
              </a:rPr>
              <a:t>decodes</a:t>
            </a:r>
            <a:r>
              <a:rPr lang="en-US" altLang="zh-CN" dirty="0">
                <a:solidFill>
                  <a:schemeClr val="tx1"/>
                </a:solidFill>
                <a:latin typeface="Arial" panose="020B0604020202020204" pitchFamily="34" charset="0"/>
                <a:cs typeface="Arial" panose="020B0604020202020204" pitchFamily="34" charset="0"/>
              </a:rPr>
              <a:t> it to </a:t>
            </a:r>
            <a:r>
              <a:rPr lang="en-US" altLang="zh-CN" sz="2200" dirty="0">
                <a:solidFill>
                  <a:srgbClr val="C00000"/>
                </a:solidFill>
                <a:latin typeface="Arial" panose="020B0604020202020204" pitchFamily="34" charset="0"/>
                <a:cs typeface="Arial" panose="020B0604020202020204" pitchFamily="34" charset="0"/>
              </a:rPr>
              <a:t>select the corresponding memory cell</a:t>
            </a:r>
            <a:r>
              <a:rPr lang="en-US" altLang="zh-CN" dirty="0">
                <a:solidFill>
                  <a:schemeClr val="tx1"/>
                </a:solidFill>
                <a:latin typeface="Arial" panose="020B0604020202020204" pitchFamily="34" charset="0"/>
                <a:cs typeface="Arial" panose="020B0604020202020204" pitchFamily="34" charset="0"/>
              </a:rPr>
              <a:t>. Under the control of signal signals, the CPU writes </a:t>
            </a:r>
            <a:r>
              <a:rPr lang="en-US" altLang="zh-CN" sz="2200" dirty="0">
                <a:solidFill>
                  <a:srgbClr val="3366FF"/>
                </a:solidFill>
                <a:latin typeface="Arial" panose="020B0604020202020204" pitchFamily="34" charset="0"/>
                <a:cs typeface="Arial" panose="020B0604020202020204" pitchFamily="34" charset="0"/>
              </a:rPr>
              <a:t>the data to be stored </a:t>
            </a:r>
            <a:r>
              <a:rPr lang="en-US" altLang="zh-CN" dirty="0">
                <a:solidFill>
                  <a:schemeClr val="tx1"/>
                </a:solidFill>
                <a:latin typeface="Arial" panose="020B0604020202020204" pitchFamily="34" charset="0"/>
                <a:cs typeface="Arial" panose="020B0604020202020204" pitchFamily="34" charset="0"/>
              </a:rPr>
              <a:t>onto </a:t>
            </a:r>
            <a:r>
              <a:rPr lang="en-US" altLang="zh-CN" sz="2200" dirty="0">
                <a:solidFill>
                  <a:srgbClr val="FF0000"/>
                </a:solidFill>
                <a:latin typeface="Arial" panose="020B0604020202020204" pitchFamily="34" charset="0"/>
                <a:cs typeface="Arial" panose="020B0604020202020204" pitchFamily="34" charset="0"/>
              </a:rPr>
              <a:t>the selected memory cell </a:t>
            </a:r>
            <a:r>
              <a:rPr lang="en-US" altLang="zh-CN" sz="2200" dirty="0">
                <a:solidFill>
                  <a:srgbClr val="3366FF"/>
                </a:solidFill>
                <a:latin typeface="Arial" panose="020B0604020202020204" pitchFamily="34" charset="0"/>
                <a:cs typeface="Arial" panose="020B0604020202020204" pitchFamily="34" charset="0"/>
              </a:rPr>
              <a:t>via the data bus</a:t>
            </a:r>
            <a:r>
              <a:rPr lang="en-US" altLang="zh-CN" dirty="0">
                <a:solidFill>
                  <a:schemeClr val="tx1"/>
                </a:solidFill>
                <a:latin typeface="Arial" panose="020B0604020202020204" pitchFamily="34" charset="0"/>
                <a:cs typeface="Arial" panose="020B0604020202020204" pitchFamily="34" charset="0"/>
              </a:rPr>
              <a:t>, completing the memory write operation.</a:t>
            </a:r>
            <a:endParaRPr lang="en-US" altLang="zh-CN" dirty="0">
              <a:latin typeface="Arial" panose="020B0604020202020204" pitchFamily="34" charset="0"/>
              <a:cs typeface="Arial" panose="020B0604020202020204" pitchFamily="34" charset="0"/>
            </a:endParaRPr>
          </a:p>
        </p:txBody>
      </p:sp>
      <p:pic>
        <p:nvPicPr>
          <p:cNvPr id="28679"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46231" y="1155031"/>
            <a:ext cx="5884863" cy="343217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2" name="灯片编号占位符 1"/>
          <p:cNvSpPr>
            <a:spLocks noGrp="1"/>
          </p:cNvSpPr>
          <p:nvPr>
            <p:ph type="sldNum" sz="quarter" idx="12"/>
          </p:nvPr>
        </p:nvSpPr>
        <p:spPr/>
        <p:txBody>
          <a:bodyPr/>
          <a:lstStyle/>
          <a:p>
            <a:fld id="{22E77DEE-32E4-4009-988B-F2758F7B8AC2}" type="slidenum">
              <a:rPr lang="zh-CN" altLang="en-US" smtClean="0"/>
              <a:t>9</a:t>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7155" name="Rectangle 3"/>
          <p:cNvSpPr>
            <a:spLocks noGrp="1" noChangeArrowheads="1"/>
          </p:cNvSpPr>
          <p:nvPr>
            <p:ph idx="1"/>
          </p:nvPr>
        </p:nvSpPr>
        <p:spPr>
          <a:xfrm>
            <a:off x="439737" y="1328737"/>
            <a:ext cx="8250215" cy="2036764"/>
          </a:xfrm>
        </p:spPr>
        <p:txBody>
          <a:bodyPr>
            <a:normAutofit fontScale="85000" lnSpcReduction="20000"/>
          </a:bodyPr>
          <a:lstStyle/>
          <a:p>
            <a:pPr marL="87630" indent="-87630" eaLnBrk="1" hangingPunct="1">
              <a:spcBef>
                <a:spcPts val="0"/>
              </a:spcBef>
              <a:defRPr/>
            </a:pPr>
            <a:r>
              <a:rPr kumimoji="1" lang="en-US" altLang="zh-CN" dirty="0">
                <a:solidFill>
                  <a:srgbClr val="CC3300"/>
                </a:solidFill>
                <a:latin typeface="Arial" panose="020B0604020202020204" pitchFamily="34" charset="0"/>
                <a:cs typeface="Arial" panose="020B0604020202020204" pitchFamily="34" charset="0"/>
              </a:rPr>
              <a:t>Execution Process: </a:t>
            </a:r>
            <a:r>
              <a:rPr lang="en-US" altLang="zh-CN" dirty="0">
                <a:solidFill>
                  <a:srgbClr val="3366FF"/>
                </a:solidFill>
                <a:latin typeface="Arial" panose="020B0604020202020204" pitchFamily="34" charset="0"/>
                <a:cs typeface="Arial" panose="020B0604020202020204" pitchFamily="34" charset="0"/>
              </a:rPr>
              <a:t>Read Command</a:t>
            </a:r>
            <a:r>
              <a:rPr lang="zh-CN" altLang="en-US" dirty="0">
                <a:solidFill>
                  <a:srgbClr val="3366FF"/>
                </a:solidFill>
                <a:latin typeface="Arial" panose="020B0604020202020204" pitchFamily="34" charset="0"/>
                <a:cs typeface="Arial" panose="020B0604020202020204" pitchFamily="34" charset="0"/>
                <a:sym typeface="Wingdings" panose="05000000000000000000" pitchFamily="2" charset="2"/>
              </a:rPr>
              <a:t></a:t>
            </a:r>
            <a:r>
              <a:rPr lang="en-US" altLang="zh-CN" dirty="0">
                <a:solidFill>
                  <a:srgbClr val="3366FF"/>
                </a:solidFill>
                <a:latin typeface="Arial" panose="020B0604020202020204" pitchFamily="34" charset="0"/>
                <a:cs typeface="Arial" panose="020B0604020202020204" pitchFamily="34" charset="0"/>
              </a:rPr>
              <a:t>Analyze Command</a:t>
            </a:r>
            <a:r>
              <a:rPr lang="zh-CN" altLang="en-US" dirty="0">
                <a:solidFill>
                  <a:srgbClr val="3366FF"/>
                </a:solidFill>
                <a:latin typeface="Arial" panose="020B0604020202020204" pitchFamily="34" charset="0"/>
                <a:cs typeface="Arial" panose="020B0604020202020204" pitchFamily="34" charset="0"/>
                <a:sym typeface="Wingdings" panose="05000000000000000000" pitchFamily="2" charset="2"/>
              </a:rPr>
              <a:t></a:t>
            </a:r>
            <a:r>
              <a:rPr lang="en-US" altLang="zh-CN" dirty="0">
                <a:solidFill>
                  <a:srgbClr val="3366FF"/>
                </a:solidFill>
                <a:latin typeface="Arial" panose="020B0604020202020204" pitchFamily="34" charset="0"/>
                <a:cs typeface="Arial" panose="020B0604020202020204" pitchFamily="34" charset="0"/>
              </a:rPr>
              <a:t>Execute command</a:t>
            </a:r>
            <a:r>
              <a:rPr lang="zh-CN" altLang="en-US" dirty="0">
                <a:solidFill>
                  <a:srgbClr val="3366FF"/>
                </a:solidFill>
                <a:latin typeface="Arial" panose="020B0604020202020204" pitchFamily="34" charset="0"/>
                <a:cs typeface="Arial" panose="020B0604020202020204" pitchFamily="34" charset="0"/>
                <a:sym typeface="Wingdings" panose="05000000000000000000" pitchFamily="2" charset="2"/>
              </a:rPr>
              <a:t></a:t>
            </a:r>
            <a:r>
              <a:rPr lang="en-US" altLang="zh-CN" dirty="0">
                <a:solidFill>
                  <a:srgbClr val="3366FF"/>
                </a:solidFill>
                <a:latin typeface="Arial" panose="020B0604020202020204" pitchFamily="34" charset="0"/>
                <a:cs typeface="Arial" panose="020B0604020202020204" pitchFamily="34" charset="0"/>
              </a:rPr>
              <a:t>Save results</a:t>
            </a:r>
            <a:endParaRPr kumimoji="1" lang="zh-CN" altLang="en-US" dirty="0">
              <a:solidFill>
                <a:srgbClr val="3366FF"/>
              </a:solidFill>
              <a:latin typeface="Arial" panose="020B0604020202020204" pitchFamily="34" charset="0"/>
              <a:cs typeface="Arial" panose="020B0604020202020204" pitchFamily="34" charset="0"/>
            </a:endParaRPr>
          </a:p>
          <a:p>
            <a:pPr marL="87630" indent="-87630" eaLnBrk="1" hangingPunct="1">
              <a:spcBef>
                <a:spcPts val="0"/>
              </a:spcBef>
              <a:defRPr/>
            </a:pPr>
            <a:r>
              <a:rPr kumimoji="1" lang="en-US" altLang="zh-CN" dirty="0">
                <a:solidFill>
                  <a:srgbClr val="CC3300"/>
                </a:solidFill>
                <a:latin typeface="Arial" panose="020B0604020202020204" pitchFamily="34" charset="0"/>
                <a:cs typeface="Arial" panose="020B0604020202020204" pitchFamily="34" charset="0"/>
              </a:rPr>
              <a:t>Before allowing the computer to perform calculations, the following tasks should be completed</a:t>
            </a:r>
            <a:r>
              <a:rPr kumimoji="1" lang="zh-CN" altLang="en-US" dirty="0">
                <a:solidFill>
                  <a:srgbClr val="CC3300"/>
                </a:solidFill>
                <a:latin typeface="Arial" panose="020B0604020202020204" pitchFamily="34" charset="0"/>
                <a:cs typeface="Arial" panose="020B0604020202020204" pitchFamily="34" charset="0"/>
              </a:rPr>
              <a:t>：</a:t>
            </a:r>
          </a:p>
          <a:p>
            <a:pPr marL="449580" lvl="1" indent="-187325" eaLnBrk="1" hangingPunct="1">
              <a:lnSpc>
                <a:spcPct val="114000"/>
              </a:lnSpc>
              <a:spcBef>
                <a:spcPts val="0"/>
              </a:spcBef>
              <a:spcAft>
                <a:spcPts val="600"/>
              </a:spcAft>
              <a:defRPr/>
            </a:pPr>
            <a:r>
              <a:rPr lang="en-US" altLang="zh-CN" dirty="0">
                <a:latin typeface="Arial" panose="020B0604020202020204" pitchFamily="34" charset="0"/>
                <a:cs typeface="Arial" panose="020B0604020202020204" pitchFamily="34" charset="0"/>
              </a:rPr>
              <a:t>Write source code using mnemonic instructions (assembly language)</a:t>
            </a:r>
            <a:r>
              <a:rPr lang="zh-CN" altLang="en-US" dirty="0">
                <a:latin typeface="Arial" panose="020B0604020202020204" pitchFamily="34" charset="0"/>
                <a:cs typeface="Arial" panose="020B0604020202020204" pitchFamily="34" charset="0"/>
              </a:rPr>
              <a:t>；</a:t>
            </a:r>
          </a:p>
          <a:p>
            <a:pPr marL="449580" lvl="1" indent="-187325" eaLnBrk="1" hangingPunct="1">
              <a:lnSpc>
                <a:spcPct val="114000"/>
              </a:lnSpc>
              <a:spcBef>
                <a:spcPts val="0"/>
              </a:spcBef>
              <a:spcAft>
                <a:spcPts val="600"/>
              </a:spcAft>
              <a:defRPr/>
            </a:pPr>
            <a:r>
              <a:rPr lang="en-US" altLang="zh-CN" dirty="0">
                <a:latin typeface="Arial" panose="020B0604020202020204" pitchFamily="34" charset="0"/>
                <a:cs typeface="Arial" panose="020B0604020202020204" pitchFamily="34" charset="0"/>
              </a:rPr>
              <a:t>Use assembly software (an assembler) to assemble the source program into a machine language program that the computer can recognize.</a:t>
            </a:r>
            <a:r>
              <a:rPr lang="zh-CN" altLang="en-US" dirty="0">
                <a:latin typeface="Arial" panose="020B0604020202020204" pitchFamily="34" charset="0"/>
                <a:cs typeface="Arial" panose="020B0604020202020204" pitchFamily="34" charset="0"/>
              </a:rPr>
              <a:t>；</a:t>
            </a:r>
          </a:p>
          <a:p>
            <a:pPr marL="449580" lvl="1" indent="-187325" eaLnBrk="1" hangingPunct="1">
              <a:lnSpc>
                <a:spcPct val="114000"/>
              </a:lnSpc>
              <a:spcBef>
                <a:spcPts val="0"/>
              </a:spcBef>
              <a:spcAft>
                <a:spcPts val="600"/>
              </a:spcAft>
              <a:defRPr/>
            </a:pPr>
            <a:r>
              <a:rPr lang="en-US" altLang="zh-CN" dirty="0">
                <a:latin typeface="Arial" panose="020B0604020202020204" pitchFamily="34" charset="0"/>
                <a:cs typeface="Arial" panose="020B0604020202020204" pitchFamily="34" charset="0"/>
              </a:rPr>
              <a:t>Transfer data and programs into </a:t>
            </a:r>
            <a:r>
              <a:rPr lang="en-US" altLang="zh-CN" dirty="0">
                <a:latin typeface="Arial" panose="020B0604020202020204" pitchFamily="34" charset="0"/>
                <a:cs typeface="Arial" panose="020B0604020202020204" pitchFamily="34" charset="0"/>
                <a:hlinkClick r:id="rId2" action="ppaction://hlinksldjump"/>
              </a:rPr>
              <a:t>memory</a:t>
            </a:r>
            <a:r>
              <a:rPr lang="en-US" altLang="zh-CN" dirty="0">
                <a:latin typeface="Arial" panose="020B0604020202020204" pitchFamily="34" charset="0"/>
                <a:cs typeface="Arial" panose="020B0604020202020204" pitchFamily="34" charset="0"/>
              </a:rPr>
              <a:t> via input devices for storage.</a:t>
            </a:r>
            <a:endParaRPr lang="zh-CN" altLang="en-US" dirty="0">
              <a:latin typeface="Arial" panose="020B0604020202020204" pitchFamily="34" charset="0"/>
              <a:cs typeface="Arial" panose="020B0604020202020204" pitchFamily="34" charset="0"/>
            </a:endParaRPr>
          </a:p>
        </p:txBody>
      </p:sp>
      <p:graphicFrame>
        <p:nvGraphicFramePr>
          <p:cNvPr id="5" name="Group 81"/>
          <p:cNvGraphicFramePr>
            <a:graphicFrameLocks noGrp="1"/>
          </p:cNvGraphicFramePr>
          <p:nvPr/>
        </p:nvGraphicFramePr>
        <p:xfrm>
          <a:off x="439738" y="4298973"/>
          <a:ext cx="8300666" cy="1775460"/>
        </p:xfrm>
        <a:graphic>
          <a:graphicData uri="http://schemas.openxmlformats.org/drawingml/2006/table">
            <a:tbl>
              <a:tblPr/>
              <a:tblGrid>
                <a:gridCol w="1944008">
                  <a:extLst>
                    <a:ext uri="{9D8B030D-6E8A-4147-A177-3AD203B41FA5}">
                      <a16:colId xmlns:a16="http://schemas.microsoft.com/office/drawing/2014/main" val="20000"/>
                    </a:ext>
                  </a:extLst>
                </a:gridCol>
                <a:gridCol w="4351283">
                  <a:extLst>
                    <a:ext uri="{9D8B030D-6E8A-4147-A177-3AD203B41FA5}">
                      <a16:colId xmlns:a16="http://schemas.microsoft.com/office/drawing/2014/main" val="20001"/>
                    </a:ext>
                  </a:extLst>
                </a:gridCol>
                <a:gridCol w="2005375">
                  <a:extLst>
                    <a:ext uri="{9D8B030D-6E8A-4147-A177-3AD203B41FA5}">
                      <a16:colId xmlns:a16="http://schemas.microsoft.com/office/drawing/2014/main" val="20002"/>
                    </a:ext>
                  </a:extLst>
                </a:gridCol>
              </a:tblGrid>
              <a:tr h="400050">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CC"/>
                          </a:solidFill>
                          <a:effectLst/>
                          <a:latin typeface="Arial" panose="020B0604020202020204" pitchFamily="34" charset="0"/>
                          <a:ea typeface="宋体" panose="02010600030101010101" pitchFamily="2" charset="-122"/>
                          <a:cs typeface="Arial" panose="020B0604020202020204" pitchFamily="34" charset="0"/>
                        </a:rPr>
                        <a:t>Assembly language statements</a:t>
                      </a:r>
                      <a:endParaRPr kumimoji="0" lang="zh-CN" altLang="en-US" sz="1400" b="1" i="0" u="none" strike="noStrike" cap="none" normalizeH="0" baseline="0" dirty="0">
                        <a:ln>
                          <a:noFill/>
                        </a:ln>
                        <a:solidFill>
                          <a:srgbClr val="0000CC"/>
                        </a:solidFill>
                        <a:effectLst/>
                        <a:latin typeface="Arial" panose="020B0604020202020204" pitchFamily="34" charset="0"/>
                        <a:ea typeface="宋体" panose="02010600030101010101" pitchFamily="2" charset="-122"/>
                        <a:cs typeface="Arial" panose="020B0604020202020204" pitchFamily="34" charset="0"/>
                      </a:endParaRP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Notes</a:t>
                      </a:r>
                      <a:endPar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9900CC"/>
                          </a:solidFill>
                          <a:effectLst/>
                          <a:latin typeface="Times New Roman" panose="02020603050405020304" pitchFamily="18" charset="0"/>
                          <a:ea typeface="宋体" panose="02010600030101010101" pitchFamily="2" charset="-122"/>
                          <a:cs typeface="Times New Roman" panose="02020603050405020304" pitchFamily="18" charset="0"/>
                        </a:rPr>
                        <a:t>Machine code</a:t>
                      </a:r>
                      <a:endParaRPr kumimoji="0" lang="zh-CN" altLang="en-US" sz="1600" b="1" i="0" u="none" strike="noStrike" cap="none" normalizeH="0" baseline="0" dirty="0">
                        <a:ln>
                          <a:noFill/>
                        </a:ln>
                        <a:solidFill>
                          <a:srgbClr val="9900CC"/>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392" marR="913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0050">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pt-BR" altLang="zh-CN" sz="1800" b="1" i="0" u="none" strike="noStrike" cap="none" normalizeH="0" baseline="0" dirty="0">
                          <a:ln>
                            <a:noFill/>
                          </a:ln>
                          <a:solidFill>
                            <a:srgbClr val="0000CC"/>
                          </a:solidFill>
                          <a:effectLst/>
                          <a:latin typeface="Arial" panose="020B0604020202020204" pitchFamily="34" charset="0"/>
                          <a:ea typeface="宋体" panose="02010600030101010101" pitchFamily="2" charset="-122"/>
                          <a:cs typeface="Arial" panose="020B0604020202020204" pitchFamily="34" charset="0"/>
                        </a:rPr>
                        <a:t>MOV A</a:t>
                      </a:r>
                      <a:r>
                        <a:rPr kumimoji="0" lang="en-US" altLang="zh-CN" sz="1800" b="1" i="0" u="none" strike="noStrike" cap="none" normalizeH="0" baseline="0" dirty="0">
                          <a:ln>
                            <a:noFill/>
                          </a:ln>
                          <a:solidFill>
                            <a:srgbClr val="0000CC"/>
                          </a:solidFill>
                          <a:effectLst/>
                          <a:latin typeface="Arial" panose="020B0604020202020204" pitchFamily="34" charset="0"/>
                          <a:ea typeface="宋体" panose="02010600030101010101" pitchFamily="2" charset="-122"/>
                          <a:cs typeface="Arial" panose="020B0604020202020204" pitchFamily="34" charset="0"/>
                        </a:rPr>
                        <a:t>, </a:t>
                      </a:r>
                      <a:r>
                        <a:rPr kumimoji="0" lang="en-US" altLang="zh-CN"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rPr>
                        <a:t>#</a:t>
                      </a:r>
                      <a:r>
                        <a:rPr kumimoji="0" lang="pt-BR" altLang="zh-CN" sz="1800" b="1" i="0" u="none" strike="noStrike" cap="none" normalizeH="0" baseline="0" dirty="0">
                          <a:ln>
                            <a:noFill/>
                          </a:ln>
                          <a:solidFill>
                            <a:srgbClr val="0000CC"/>
                          </a:solidFill>
                          <a:effectLst/>
                          <a:latin typeface="Arial" panose="020B0604020202020204" pitchFamily="34" charset="0"/>
                          <a:ea typeface="宋体" panose="02010600030101010101" pitchFamily="2" charset="-122"/>
                          <a:cs typeface="Arial" panose="020B0604020202020204" pitchFamily="34" charset="0"/>
                        </a:rPr>
                        <a:t>07H</a:t>
                      </a:r>
                    </a:p>
                  </a:txBody>
                  <a:tcPr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 ; 07 Load into accumulator A</a:t>
                      </a:r>
                      <a:endParaRPr kumimoji="0" lang="pt-BR"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pt-BR" altLang="zh-CN" sz="1800" b="1" i="0" u="none" strike="noStrike" cap="none" normalizeH="0" baseline="0" dirty="0">
                          <a:ln>
                            <a:noFill/>
                          </a:ln>
                          <a:solidFill>
                            <a:srgbClr val="9900CC"/>
                          </a:solidFill>
                          <a:effectLst/>
                          <a:latin typeface="Times New Roman" panose="02020603050405020304" pitchFamily="18" charset="0"/>
                          <a:ea typeface="宋体" panose="02010600030101010101" pitchFamily="2" charset="-122"/>
                          <a:cs typeface="Times New Roman" panose="02020603050405020304" pitchFamily="18" charset="0"/>
                        </a:rPr>
                        <a:t>B0H  07H</a:t>
                      </a:r>
                    </a:p>
                  </a:txBody>
                  <a:tcPr marL="91392" marR="913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0050">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CC"/>
                          </a:solidFill>
                          <a:effectLst/>
                          <a:latin typeface="Arial" panose="020B0604020202020204" pitchFamily="34" charset="0"/>
                          <a:ea typeface="宋体" panose="02010600030101010101" pitchFamily="2" charset="-122"/>
                          <a:cs typeface="Arial" panose="020B0604020202020204" pitchFamily="34" charset="0"/>
                        </a:rPr>
                        <a:t>ADD A, </a:t>
                      </a:r>
                      <a:r>
                        <a:rPr kumimoji="0" lang="en-US" altLang="zh-CN"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rPr>
                        <a:t>#</a:t>
                      </a:r>
                      <a:r>
                        <a:rPr kumimoji="0" lang="en-US" altLang="zh-CN" sz="1800" b="1" i="0" u="none" strike="noStrike" cap="none" normalizeH="0" baseline="0" dirty="0">
                          <a:ln>
                            <a:noFill/>
                          </a:ln>
                          <a:solidFill>
                            <a:srgbClr val="0000CC"/>
                          </a:solidFill>
                          <a:effectLst/>
                          <a:latin typeface="Arial" panose="020B0604020202020204" pitchFamily="34" charset="0"/>
                          <a:ea typeface="宋体" panose="02010600030101010101" pitchFamily="2" charset="-122"/>
                          <a:cs typeface="Arial" panose="020B0604020202020204" pitchFamily="34" charset="0"/>
                        </a:rPr>
                        <a:t>0AH</a:t>
                      </a:r>
                    </a:p>
                  </a:txBody>
                  <a:tcPr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 10 is added to the contents of A, and the result is stored in A</a:t>
                      </a:r>
                      <a:endPar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9900CC"/>
                          </a:solidFill>
                          <a:effectLst/>
                          <a:latin typeface="Times New Roman" panose="02020603050405020304" pitchFamily="18" charset="0"/>
                          <a:ea typeface="宋体" panose="02010600030101010101" pitchFamily="2" charset="-122"/>
                          <a:cs typeface="Times New Roman" panose="02020603050405020304" pitchFamily="18" charset="0"/>
                        </a:rPr>
                        <a:t>04H  0AH</a:t>
                      </a:r>
                    </a:p>
                  </a:txBody>
                  <a:tcPr marL="91392" marR="913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0050">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CC"/>
                          </a:solidFill>
                          <a:effectLst/>
                          <a:latin typeface="Arial" panose="020B0604020202020204" pitchFamily="34" charset="0"/>
                          <a:ea typeface="宋体" panose="02010600030101010101" pitchFamily="2" charset="-122"/>
                          <a:cs typeface="Arial" panose="020B0604020202020204" pitchFamily="34" charset="0"/>
                        </a:rPr>
                        <a:t>HLT</a:t>
                      </a:r>
                    </a:p>
                  </a:txBody>
                  <a:tcPr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Pause</a:t>
                      </a:r>
                      <a:endPar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9900CC"/>
                          </a:solidFill>
                          <a:effectLst/>
                          <a:latin typeface="Times New Roman" panose="02020603050405020304" pitchFamily="18" charset="0"/>
                          <a:ea typeface="宋体" panose="02010600030101010101" pitchFamily="2" charset="-122"/>
                          <a:cs typeface="Times New Roman" panose="02020603050405020304" pitchFamily="18" charset="0"/>
                        </a:rPr>
                        <a:t>F4H</a:t>
                      </a:r>
                    </a:p>
                  </a:txBody>
                  <a:tcPr marL="91392" marR="91392"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7" name="Rectangle 3"/>
          <p:cNvSpPr txBox="1">
            <a:spLocks noChangeArrowheads="1"/>
          </p:cNvSpPr>
          <p:nvPr/>
        </p:nvSpPr>
        <p:spPr bwMode="auto">
          <a:xfrm>
            <a:off x="403596" y="3282920"/>
            <a:ext cx="5859463" cy="1016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Blip>
                <a:blip r:embed="rId3"/>
              </a:buBlip>
              <a:defRPr sz="32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defRPr>
            </a:lvl1pPr>
            <a:lvl2pPr marL="742950" indent="-285750" algn="just">
              <a:spcBef>
                <a:spcPct val="20000"/>
              </a:spcBef>
              <a:buBlip>
                <a:blip r:embed="rId4"/>
              </a:buBlip>
              <a:defRPr sz="2800" b="1">
                <a:solidFill>
                  <a:schemeClr val="tx1"/>
                </a:solidFill>
                <a:latin typeface="Arial" panose="020B0604020202020204" pitchFamily="34" charset="0"/>
                <a:ea typeface="宋体" panose="02010600030101010101" pitchFamily="2" charset="-122"/>
              </a:defRPr>
            </a:lvl2pPr>
            <a:lvl3pPr marL="1143000" indent="-228600" algn="just">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gn="just">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just">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4000"/>
              </a:lnSpc>
              <a:spcAft>
                <a:spcPts val="600"/>
              </a:spcAft>
              <a:buFontTx/>
              <a:buNone/>
            </a:pPr>
            <a:r>
              <a:rPr lang="en-US" altLang="zh-CN" sz="2400" dirty="0">
                <a:latin typeface="Arial" panose="020B0604020202020204" pitchFamily="34" charset="0"/>
                <a:cs typeface="Arial" panose="020B0604020202020204" pitchFamily="34" charset="0"/>
              </a:rPr>
              <a:t>For example</a:t>
            </a:r>
            <a:r>
              <a:rPr lang="zh-CN" altLang="en-US" sz="2400" dirty="0">
                <a:latin typeface="Arial" panose="020B0604020202020204" pitchFamily="34" charset="0"/>
                <a:cs typeface="Arial" panose="020B0604020202020204" pitchFamily="34" charset="0"/>
              </a:rPr>
              <a:t>，</a:t>
            </a:r>
            <a:r>
              <a:rPr lang="en-US" altLang="zh-CN" sz="2400" dirty="0">
                <a:latin typeface="Arial" panose="020B0604020202020204" pitchFamily="34" charset="0"/>
                <a:cs typeface="Arial" panose="020B0604020202020204" pitchFamily="34" charset="0"/>
              </a:rPr>
              <a:t>calculate 7+10=?</a:t>
            </a:r>
            <a:r>
              <a:rPr lang="zh-CN" altLang="en-US" sz="2400" dirty="0">
                <a:latin typeface="Arial" panose="020B0604020202020204" pitchFamily="34" charset="0"/>
                <a:cs typeface="Arial" panose="020B0604020202020204" pitchFamily="34" charset="0"/>
              </a:rPr>
              <a:t>，</a:t>
            </a:r>
            <a:r>
              <a:rPr lang="en-US" altLang="zh-CN" sz="2400" dirty="0">
                <a:latin typeface="Arial" panose="020B0604020202020204" pitchFamily="34" charset="0"/>
                <a:cs typeface="Arial" panose="020B0604020202020204" pitchFamily="34" charset="0"/>
              </a:rPr>
              <a:t>Put the results in A.</a:t>
            </a:r>
            <a:endParaRPr lang="zh-CN" altLang="en-US" sz="2400" dirty="0">
              <a:latin typeface="Arial" panose="020B0604020202020204" pitchFamily="34" charset="0"/>
              <a:cs typeface="Arial" panose="020B0604020202020204" pitchFamily="34" charset="0"/>
            </a:endParaRPr>
          </a:p>
        </p:txBody>
      </p:sp>
      <p:sp>
        <p:nvSpPr>
          <p:cNvPr id="29730" name="矩形 7"/>
          <p:cNvSpPr>
            <a:spLocks noChangeArrowheads="1"/>
          </p:cNvSpPr>
          <p:nvPr/>
        </p:nvSpPr>
        <p:spPr bwMode="auto">
          <a:xfrm>
            <a:off x="4545746" y="249717"/>
            <a:ext cx="4598254"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b="1" dirty="0">
              <a:latin typeface="Arial" panose="020B0604020202020204" pitchFamily="34" charset="0"/>
              <a:cs typeface="Arial" panose="020B0604020202020204" pitchFamily="34" charset="0"/>
            </a:endParaRPr>
          </a:p>
        </p:txBody>
      </p:sp>
      <p:sp>
        <p:nvSpPr>
          <p:cNvPr id="2" name="标题 1"/>
          <p:cNvSpPr>
            <a:spLocks noGrp="1" noChangeArrowheads="1"/>
          </p:cNvSpPr>
          <p:nvPr>
            <p:ph type="title"/>
          </p:nvPr>
        </p:nvSpPr>
        <p:spPr>
          <a:xfrm>
            <a:off x="154305" y="0"/>
            <a:ext cx="8820785" cy="1052195"/>
          </a:xfrm>
        </p:spPr>
        <p:txBody>
          <a:bodyPr>
            <a:normAutofit/>
          </a:bodyPr>
          <a:lstStyle/>
          <a:p>
            <a:r>
              <a:rPr lang="en-US" altLang="zh-CN" sz="2400" dirty="0">
                <a:latin typeface="Arial" panose="020B0604020202020204" pitchFamily="34" charset="0"/>
                <a:cs typeface="Arial" panose="020B0604020202020204" pitchFamily="34" charset="0"/>
              </a:rPr>
              <a:t>4.1.2 The Working Process of the Model Machine </a:t>
            </a:r>
            <a:r>
              <a:rPr kumimoji="1" lang="en-US" altLang="zh-CN" sz="2400" b="1" dirty="0">
                <a:solidFill>
                  <a:srgbClr val="3366FF"/>
                </a:solidFill>
                <a:latin typeface="Arial" panose="020B0604020202020204" pitchFamily="34" charset="0"/>
                <a:cs typeface="Arial" panose="020B0604020202020204" pitchFamily="34" charset="0"/>
              </a:rPr>
              <a:t>:</a:t>
            </a:r>
            <a:br>
              <a:rPr kumimoji="1" lang="en-US" altLang="zh-CN" sz="2400" b="1" dirty="0">
                <a:solidFill>
                  <a:srgbClr val="3366FF"/>
                </a:solidFill>
                <a:latin typeface="Arial" panose="020B0604020202020204" pitchFamily="34" charset="0"/>
                <a:cs typeface="Arial" panose="020B0604020202020204" pitchFamily="34" charset="0"/>
              </a:rPr>
            </a:br>
            <a:r>
              <a:rPr kumimoji="1" lang="en-US" altLang="zh-CN" sz="2400" b="1" dirty="0">
                <a:solidFill>
                  <a:srgbClr val="3366FF"/>
                </a:solidFill>
                <a:latin typeface="Arial" panose="020B0604020202020204" pitchFamily="34" charset="0"/>
                <a:cs typeface="Arial" panose="020B0604020202020204" pitchFamily="34" charset="0"/>
              </a:rPr>
              <a:t>Perform computational control functions by executing instructions</a:t>
            </a:r>
            <a:endParaRPr lang="zh-CN" altLang="en-US" sz="2400" dirty="0">
              <a:latin typeface="Arial" panose="020B0604020202020204" pitchFamily="34" charset="0"/>
              <a:cs typeface="Arial" panose="020B0604020202020204" pitchFamily="34" charset="0"/>
            </a:endParaRPr>
          </a:p>
        </p:txBody>
      </p:sp>
      <p:sp>
        <p:nvSpPr>
          <p:cNvPr id="3" name="矩形 2"/>
          <p:cNvSpPr>
            <a:spLocks noChangeArrowheads="1"/>
          </p:cNvSpPr>
          <p:nvPr/>
        </p:nvSpPr>
        <p:spPr bwMode="auto">
          <a:xfrm>
            <a:off x="6396132" y="3407631"/>
            <a:ext cx="274786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3D41D1"/>
                </a:solidFill>
                <a:latin typeface="Arial" panose="020B0604020202020204" pitchFamily="34" charset="0"/>
                <a:cs typeface="Arial" panose="020B0604020202020204" pitchFamily="34" charset="0"/>
              </a:rPr>
              <a:t>Microcomputer 8086 </a:t>
            </a:r>
          </a:p>
          <a:p>
            <a:pPr eaLnBrk="1" hangingPunct="1"/>
            <a:r>
              <a:rPr lang="en-US" altLang="zh-CN" sz="2000" b="1" dirty="0">
                <a:solidFill>
                  <a:srgbClr val="3D41D1"/>
                </a:solidFill>
                <a:latin typeface="Arial" panose="020B0604020202020204" pitchFamily="34" charset="0"/>
                <a:cs typeface="Arial" panose="020B0604020202020204" pitchFamily="34" charset="0"/>
              </a:rPr>
              <a:t>Assembly Language</a:t>
            </a:r>
            <a:endParaRPr lang="zh-CN" altLang="en-US" sz="2000" b="1" dirty="0">
              <a:solidFill>
                <a:srgbClr val="3D41D1"/>
              </a:solidFill>
              <a:latin typeface="Arial" panose="020B0604020202020204" pitchFamily="34" charset="0"/>
              <a:cs typeface="Arial" panose="020B0604020202020204" pitchFamily="34" charset="0"/>
            </a:endParaRPr>
          </a:p>
        </p:txBody>
      </p:sp>
      <p:sp>
        <p:nvSpPr>
          <p:cNvPr id="29734" name="矩形 9">
            <a:hlinkClick r:id="rId2" action="ppaction://hlinksldjump"/>
          </p:cNvPr>
          <p:cNvSpPr>
            <a:spLocks noChangeArrowheads="1"/>
          </p:cNvSpPr>
          <p:nvPr/>
        </p:nvSpPr>
        <p:spPr bwMode="auto">
          <a:xfrm>
            <a:off x="244475" y="433387"/>
            <a:ext cx="4545013" cy="414338"/>
          </a:xfrm>
          <a:prstGeom prst="rect">
            <a:avLst/>
          </a:prstGeom>
        </p:spPr>
        <p:txBody>
          <a:bodyPr vert="horz" lIns="91440" tIns="45720" rIns="91440" bIns="45720" rtlCol="0" anchor="b">
            <a:normAutofit fontScale="77500" lnSpcReduction="20000"/>
          </a:bodyPr>
          <a:lstStyle/>
          <a:p>
            <a:pPr defTabSz="914400">
              <a:lnSpc>
                <a:spcPct val="85000"/>
              </a:lnSpc>
              <a:spcBef>
                <a:spcPct val="0"/>
              </a:spcBef>
            </a:pPr>
            <a:endParaRPr lang="zh-CN" altLang="en-US" sz="4000" spc="-50">
              <a:solidFill>
                <a:schemeClr val="tx1">
                  <a:lumMod val="75000"/>
                  <a:lumOff val="25000"/>
                </a:schemeClr>
              </a:solidFill>
              <a:latin typeface="+mj-lt"/>
              <a:ea typeface="+mj-ea"/>
              <a:cs typeface="+mj-cs"/>
            </a:endParaRPr>
          </a:p>
        </p:txBody>
      </p:sp>
      <p:sp>
        <p:nvSpPr>
          <p:cNvPr id="8" name="灯片编号占位符 7"/>
          <p:cNvSpPr>
            <a:spLocks noGrp="1"/>
          </p:cNvSpPr>
          <p:nvPr>
            <p:ph type="sldNum" sz="quarter" idx="12"/>
          </p:nvPr>
        </p:nvSpPr>
        <p:spPr/>
        <p:txBody>
          <a:bodyPr/>
          <a:lstStyle/>
          <a:p>
            <a:fld id="{22E77DEE-32E4-4009-988B-F2758F7B8AC2}" type="slidenum">
              <a:rPr lang="zh-CN" altLang="en-US" smtClean="0"/>
              <a:t>10</a:t>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noChangeArrowheads="1"/>
          </p:cNvSpPr>
          <p:nvPr>
            <p:ph type="title"/>
          </p:nvPr>
        </p:nvSpPr>
        <p:spPr>
          <a:xfrm>
            <a:off x="462758" y="327923"/>
            <a:ext cx="5091112" cy="722573"/>
          </a:xfrm>
        </p:spPr>
        <p:txBody>
          <a:bodyPr vert="horz" lIns="91440" tIns="45720" rIns="91440" bIns="45720" rtlCol="0" anchor="b">
            <a:normAutofit fontScale="90000"/>
          </a:bodyPr>
          <a:lstStyle/>
          <a:p>
            <a:r>
              <a:rPr lang="en-US" altLang="zh-CN" sz="2800" dirty="0">
                <a:latin typeface="Arial" panose="020B0604020202020204" pitchFamily="34" charset="0"/>
                <a:cs typeface="Arial" panose="020B0604020202020204" pitchFamily="34" charset="0"/>
              </a:rPr>
              <a:t>For example</a:t>
            </a:r>
            <a:r>
              <a:rPr lang="zh-CN" altLang="en-US" sz="2800" dirty="0">
                <a:latin typeface="Arial" panose="020B0604020202020204" pitchFamily="34" charset="0"/>
                <a:cs typeface="Arial" panose="020B0604020202020204" pitchFamily="34" charset="0"/>
              </a:rPr>
              <a:t>，</a:t>
            </a:r>
            <a:r>
              <a:rPr lang="en-US" altLang="zh-CN" sz="2800" dirty="0">
                <a:latin typeface="Arial" panose="020B0604020202020204" pitchFamily="34" charset="0"/>
                <a:cs typeface="Arial" panose="020B0604020202020204" pitchFamily="34" charset="0"/>
              </a:rPr>
              <a:t>calculate 7+10=?</a:t>
            </a:r>
            <a:r>
              <a:rPr lang="zh-CN" altLang="en-US" sz="2800" dirty="0">
                <a:latin typeface="Arial" panose="020B0604020202020204" pitchFamily="34" charset="0"/>
                <a:cs typeface="Arial" panose="020B0604020202020204" pitchFamily="34" charset="0"/>
              </a:rPr>
              <a:t>，</a:t>
            </a:r>
            <a:r>
              <a:rPr lang="en-US" altLang="zh-CN" sz="2800" dirty="0">
                <a:latin typeface="Arial" panose="020B0604020202020204" pitchFamily="34" charset="0"/>
                <a:cs typeface="Arial" panose="020B0604020202020204" pitchFamily="34" charset="0"/>
              </a:rPr>
              <a:t>Put the results in A.</a:t>
            </a:r>
          </a:p>
        </p:txBody>
      </p:sp>
      <p:sp>
        <p:nvSpPr>
          <p:cNvPr id="440323" name="Rectangle 3"/>
          <p:cNvSpPr>
            <a:spLocks noGrp="1" noChangeArrowheads="1"/>
          </p:cNvSpPr>
          <p:nvPr>
            <p:ph idx="1"/>
          </p:nvPr>
        </p:nvSpPr>
        <p:spPr>
          <a:xfrm>
            <a:off x="304007" y="1234723"/>
            <a:ext cx="5268912" cy="798195"/>
          </a:xfrm>
        </p:spPr>
        <p:txBody>
          <a:bodyPr>
            <a:normAutofit fontScale="92500" lnSpcReduction="20000"/>
          </a:bodyPr>
          <a:lstStyle/>
          <a:p>
            <a:pPr marL="0" indent="0" eaLnBrk="1" hangingPunct="1">
              <a:spcBef>
                <a:spcPct val="0"/>
              </a:spcBef>
              <a:buFontTx/>
              <a:buNone/>
            </a:pPr>
            <a:r>
              <a:rPr lang="en-US" altLang="zh-CN" dirty="0">
                <a:latin typeface="Arial" panose="020B0604020202020204" pitchFamily="34" charset="0"/>
                <a:cs typeface="Arial" panose="020B0604020202020204" pitchFamily="34" charset="0"/>
              </a:rPr>
              <a:t>Assume the program's </a:t>
            </a:r>
            <a:r>
              <a:rPr lang="en-US" altLang="zh-CN" sz="2200" dirty="0">
                <a:solidFill>
                  <a:srgbClr val="C00000"/>
                </a:solidFill>
              </a:rPr>
              <a:t>storage format </a:t>
            </a:r>
            <a:r>
              <a:rPr lang="en-US" altLang="zh-CN" dirty="0">
                <a:latin typeface="Arial" panose="020B0604020202020204" pitchFamily="34" charset="0"/>
                <a:cs typeface="Arial" panose="020B0604020202020204" pitchFamily="34" charset="0"/>
              </a:rPr>
              <a:t>in memory (with the program starting at address </a:t>
            </a:r>
            <a:r>
              <a:rPr lang="en-US" altLang="zh-CN" sz="2200" dirty="0">
                <a:solidFill>
                  <a:srgbClr val="0000CC"/>
                </a:solidFill>
              </a:rPr>
              <a:t>00H</a:t>
            </a:r>
            <a:r>
              <a:rPr lang="en-US" altLang="zh-CN" dirty="0">
                <a:latin typeface="Arial" panose="020B0604020202020204" pitchFamily="34" charset="0"/>
                <a:cs typeface="Arial" panose="020B0604020202020204" pitchFamily="34" charset="0"/>
              </a:rPr>
              <a:t>) is as shown in the diagram.</a:t>
            </a:r>
          </a:p>
        </p:txBody>
      </p:sp>
      <p:graphicFrame>
        <p:nvGraphicFramePr>
          <p:cNvPr id="440392" name="Group 72"/>
          <p:cNvGraphicFramePr>
            <a:graphicFrameLocks noGrp="1"/>
          </p:cNvGraphicFramePr>
          <p:nvPr/>
        </p:nvGraphicFramePr>
        <p:xfrm>
          <a:off x="5614675" y="514287"/>
          <a:ext cx="2019754" cy="1815471"/>
        </p:xfrm>
        <a:graphic>
          <a:graphicData uri="http://schemas.openxmlformats.org/drawingml/2006/table">
            <a:tbl>
              <a:tblPr/>
              <a:tblGrid>
                <a:gridCol w="847002">
                  <a:extLst>
                    <a:ext uri="{9D8B030D-6E8A-4147-A177-3AD203B41FA5}">
                      <a16:colId xmlns:a16="http://schemas.microsoft.com/office/drawing/2014/main" val="20000"/>
                    </a:ext>
                  </a:extLst>
                </a:gridCol>
                <a:gridCol w="1172752">
                  <a:extLst>
                    <a:ext uri="{9D8B030D-6E8A-4147-A177-3AD203B41FA5}">
                      <a16:colId xmlns:a16="http://schemas.microsoft.com/office/drawing/2014/main" val="20001"/>
                    </a:ext>
                  </a:extLst>
                </a:gridCol>
              </a:tblGrid>
              <a:tr h="300915">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Address</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85000"/>
                        </a:lnSpc>
                        <a:spcBef>
                          <a:spcPct val="0"/>
                        </a:spcBef>
                        <a:spcAft>
                          <a:spcPct val="0"/>
                        </a:spcAft>
                        <a:buClrTx/>
                        <a:buSzTx/>
                        <a:buFontTx/>
                        <a:buNone/>
                      </a:pPr>
                      <a:r>
                        <a:rPr kumimoji="0" lang="en-US" altLang="zh-CN" sz="1200" b="1" i="0" u="none" strike="noStrike" cap="none" normalizeH="0" baseline="0" dirty="0">
                          <a:ln>
                            <a:noFill/>
                          </a:ln>
                          <a:solidFill>
                            <a:srgbClr val="9900CC"/>
                          </a:solidFill>
                          <a:effectLst/>
                          <a:latin typeface="Arial" panose="020B0604020202020204" pitchFamily="34" charset="0"/>
                          <a:ea typeface="宋体" panose="02010600030101010101" pitchFamily="2" charset="-122"/>
                          <a:cs typeface="Arial" panose="020B0604020202020204" pitchFamily="34" charset="0"/>
                        </a:rPr>
                        <a:t>Storage Content</a:t>
                      </a:r>
                      <a:endParaRPr kumimoji="0" lang="zh-CN" altLang="en-US" sz="1200" b="1" i="0" u="none" strike="noStrike" cap="none" normalizeH="0" baseline="0" dirty="0">
                        <a:ln>
                          <a:noFill/>
                        </a:ln>
                        <a:solidFill>
                          <a:srgbClr val="9900CC"/>
                        </a:solidFill>
                        <a:effectLst/>
                        <a:latin typeface="Arial" panose="020B0604020202020204" pitchFamily="34" charset="0"/>
                        <a:ea typeface="宋体" panose="02010600030101010101" pitchFamily="2" charset="-122"/>
                        <a:cs typeface="Arial" panose="020B0604020202020204" pitchFamily="34" charset="0"/>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00915">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normalizeH="0" baseline="0" dirty="0">
                          <a:ln>
                            <a:noFill/>
                          </a:ln>
                          <a:solidFill>
                            <a:srgbClr val="0000CC"/>
                          </a:solidFill>
                          <a:effectLst/>
                          <a:latin typeface="Arial" panose="020B0604020202020204" pitchFamily="34" charset="0"/>
                          <a:ea typeface="宋体" panose="02010600030101010101" pitchFamily="2" charset="-122"/>
                          <a:cs typeface="Arial" panose="020B0604020202020204" pitchFamily="34" charset="0"/>
                        </a:rPr>
                        <a:t>00H</a:t>
                      </a: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normalizeH="0" baseline="0" dirty="0">
                          <a:ln>
                            <a:noFill/>
                          </a:ln>
                          <a:solidFill>
                            <a:srgbClr val="9900CC"/>
                          </a:solidFill>
                          <a:effectLst/>
                          <a:latin typeface="Arial" panose="020B0604020202020204" pitchFamily="34" charset="0"/>
                          <a:ea typeface="宋体" panose="02010600030101010101" pitchFamily="2" charset="-122"/>
                          <a:cs typeface="Arial" panose="020B0604020202020204" pitchFamily="34" charset="0"/>
                        </a:rPr>
                        <a:t>B0H</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00915">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normalizeH="0" baseline="0" dirty="0">
                          <a:ln>
                            <a:noFill/>
                          </a:ln>
                          <a:solidFill>
                            <a:srgbClr val="0000CC"/>
                          </a:solidFill>
                          <a:effectLst/>
                          <a:latin typeface="Arial" panose="020B0604020202020204" pitchFamily="34" charset="0"/>
                          <a:ea typeface="宋体" panose="02010600030101010101" pitchFamily="2" charset="-122"/>
                          <a:cs typeface="Arial" panose="020B0604020202020204" pitchFamily="34" charset="0"/>
                        </a:rPr>
                        <a:t>01H</a:t>
                      </a: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normalizeH="0" baseline="0" dirty="0">
                          <a:ln>
                            <a:noFill/>
                          </a:ln>
                          <a:solidFill>
                            <a:srgbClr val="9900CC"/>
                          </a:solidFill>
                          <a:effectLst/>
                          <a:latin typeface="Arial" panose="020B0604020202020204" pitchFamily="34" charset="0"/>
                          <a:ea typeface="宋体" panose="02010600030101010101" pitchFamily="2" charset="-122"/>
                          <a:cs typeface="Arial" panose="020B0604020202020204" pitchFamily="34" charset="0"/>
                        </a:rPr>
                        <a:t>07H</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00915">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normalizeH="0" baseline="0" dirty="0">
                          <a:ln>
                            <a:noFill/>
                          </a:ln>
                          <a:solidFill>
                            <a:srgbClr val="0000CC"/>
                          </a:solidFill>
                          <a:effectLst/>
                          <a:latin typeface="Arial" panose="020B0604020202020204" pitchFamily="34" charset="0"/>
                          <a:ea typeface="宋体" panose="02010600030101010101" pitchFamily="2" charset="-122"/>
                          <a:cs typeface="Arial" panose="020B0604020202020204" pitchFamily="34" charset="0"/>
                        </a:rPr>
                        <a:t>02H</a:t>
                      </a: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normalizeH="0" baseline="0" dirty="0">
                          <a:ln>
                            <a:noFill/>
                          </a:ln>
                          <a:solidFill>
                            <a:srgbClr val="9900CC"/>
                          </a:solidFill>
                          <a:effectLst/>
                          <a:latin typeface="Arial" panose="020B0604020202020204" pitchFamily="34" charset="0"/>
                          <a:ea typeface="宋体" panose="02010600030101010101" pitchFamily="2" charset="-122"/>
                          <a:cs typeface="Arial" panose="020B0604020202020204" pitchFamily="34" charset="0"/>
                        </a:rPr>
                        <a:t>04H</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00915">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normalizeH="0" baseline="0" dirty="0">
                          <a:ln>
                            <a:noFill/>
                          </a:ln>
                          <a:solidFill>
                            <a:srgbClr val="0000CC"/>
                          </a:solidFill>
                          <a:effectLst/>
                          <a:latin typeface="Arial" panose="020B0604020202020204" pitchFamily="34" charset="0"/>
                          <a:ea typeface="宋体" panose="02010600030101010101" pitchFamily="2" charset="-122"/>
                          <a:cs typeface="Arial" panose="020B0604020202020204" pitchFamily="34" charset="0"/>
                        </a:rPr>
                        <a:t>03H</a:t>
                      </a: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normalizeH="0" baseline="0" dirty="0">
                          <a:ln>
                            <a:noFill/>
                          </a:ln>
                          <a:solidFill>
                            <a:srgbClr val="9900CC"/>
                          </a:solidFill>
                          <a:effectLst/>
                          <a:latin typeface="Arial" panose="020B0604020202020204" pitchFamily="34" charset="0"/>
                          <a:ea typeface="宋体" panose="02010600030101010101" pitchFamily="2" charset="-122"/>
                          <a:cs typeface="Arial" panose="020B0604020202020204" pitchFamily="34" charset="0"/>
                        </a:rPr>
                        <a:t>0AH</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00915">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normalizeH="0" baseline="0" dirty="0">
                          <a:ln>
                            <a:noFill/>
                          </a:ln>
                          <a:solidFill>
                            <a:srgbClr val="0000CC"/>
                          </a:solidFill>
                          <a:effectLst/>
                          <a:latin typeface="Arial" panose="020B0604020202020204" pitchFamily="34" charset="0"/>
                          <a:ea typeface="宋体" panose="02010600030101010101" pitchFamily="2" charset="-122"/>
                          <a:cs typeface="Arial" panose="020B0604020202020204" pitchFamily="34" charset="0"/>
                        </a:rPr>
                        <a:t>04H</a:t>
                      </a: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85000"/>
                        </a:lnSpc>
                        <a:spcBef>
                          <a:spcPct val="0"/>
                        </a:spcBef>
                        <a:spcAft>
                          <a:spcPct val="0"/>
                        </a:spcAft>
                        <a:buClrTx/>
                        <a:buSzTx/>
                        <a:buFontTx/>
                        <a:buNone/>
                      </a:pPr>
                      <a:r>
                        <a:rPr kumimoji="0" lang="en-US" altLang="zh-CN" sz="1600" b="1" i="0" u="none" strike="noStrike" cap="none" normalizeH="0" baseline="0" dirty="0">
                          <a:ln>
                            <a:noFill/>
                          </a:ln>
                          <a:solidFill>
                            <a:srgbClr val="9900CC"/>
                          </a:solidFill>
                          <a:effectLst/>
                          <a:latin typeface="Arial" panose="020B0604020202020204" pitchFamily="34" charset="0"/>
                          <a:ea typeface="宋体" panose="02010600030101010101" pitchFamily="2" charset="-122"/>
                          <a:cs typeface="Arial" panose="020B0604020202020204" pitchFamily="34" charset="0"/>
                        </a:rPr>
                        <a:t>F4H</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graphicFrame>
        <p:nvGraphicFramePr>
          <p:cNvPr id="7" name="表格 6"/>
          <p:cNvGraphicFramePr>
            <a:graphicFrameLocks noGrp="1"/>
          </p:cNvGraphicFramePr>
          <p:nvPr/>
        </p:nvGraphicFramePr>
        <p:xfrm>
          <a:off x="7657137" y="470137"/>
          <a:ext cx="1354525" cy="1714840"/>
        </p:xfrm>
        <a:graphic>
          <a:graphicData uri="http://schemas.openxmlformats.org/drawingml/2006/table">
            <a:tbl>
              <a:tblPr/>
              <a:tblGrid>
                <a:gridCol w="1354525">
                  <a:extLst>
                    <a:ext uri="{9D8B030D-6E8A-4147-A177-3AD203B41FA5}">
                      <a16:colId xmlns:a16="http://schemas.microsoft.com/office/drawing/2014/main" val="20000"/>
                    </a:ext>
                  </a:extLst>
                </a:gridCol>
              </a:tblGrid>
              <a:tr h="400220">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9900CC"/>
                          </a:solidFill>
                          <a:effectLst/>
                          <a:latin typeface="Times New Roman" panose="02020603050405020304" pitchFamily="18" charset="0"/>
                          <a:ea typeface="宋体" panose="02010600030101010101" pitchFamily="2" charset="-122"/>
                          <a:cs typeface="Times New Roman" panose="02020603050405020304" pitchFamily="18" charset="0"/>
                        </a:rPr>
                        <a:t>Machine code</a:t>
                      </a:r>
                      <a:endParaRPr kumimoji="0" lang="zh-CN" altLang="en-US" sz="1600" b="1" i="0" u="none" strike="noStrike" cap="none" normalizeH="0" baseline="0" dirty="0">
                        <a:ln>
                          <a:noFill/>
                        </a:ln>
                        <a:solidFill>
                          <a:srgbClr val="9900CC"/>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379" marR="9137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0220">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pt-BR" altLang="zh-CN" sz="1600" b="1" i="0" u="none" strike="noStrike" cap="none" normalizeH="0" baseline="0" dirty="0">
                          <a:ln>
                            <a:noFill/>
                          </a:ln>
                          <a:solidFill>
                            <a:srgbClr val="9900CC"/>
                          </a:solidFill>
                          <a:effectLst/>
                          <a:latin typeface="Times New Roman" panose="02020603050405020304" pitchFamily="18" charset="0"/>
                          <a:ea typeface="宋体" panose="02010600030101010101" pitchFamily="2" charset="-122"/>
                          <a:cs typeface="Times New Roman" panose="02020603050405020304" pitchFamily="18" charset="0"/>
                        </a:rPr>
                        <a:t>B0H  07H</a:t>
                      </a:r>
                    </a:p>
                  </a:txBody>
                  <a:tcPr marL="91379" marR="9137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0220">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9900CC"/>
                          </a:solidFill>
                          <a:effectLst/>
                          <a:latin typeface="Times New Roman" panose="02020603050405020304" pitchFamily="18" charset="0"/>
                          <a:ea typeface="宋体" panose="02010600030101010101" pitchFamily="2" charset="-122"/>
                          <a:cs typeface="Times New Roman" panose="02020603050405020304" pitchFamily="18" charset="0"/>
                        </a:rPr>
                        <a:t>04H  0AH</a:t>
                      </a:r>
                    </a:p>
                  </a:txBody>
                  <a:tcPr marL="91379" marR="9137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02452">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9900CC"/>
                          </a:solidFill>
                          <a:effectLst/>
                          <a:latin typeface="Times New Roman" panose="02020603050405020304" pitchFamily="18" charset="0"/>
                          <a:ea typeface="宋体" panose="02010600030101010101" pitchFamily="2" charset="-122"/>
                          <a:cs typeface="Times New Roman" panose="02020603050405020304" pitchFamily="18" charset="0"/>
                        </a:rPr>
                        <a:t>F4H</a:t>
                      </a:r>
                    </a:p>
                  </a:txBody>
                  <a:tcPr marL="91379" marR="9137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9" name="Rectangle 3"/>
          <p:cNvSpPr txBox="1">
            <a:spLocks noChangeArrowheads="1"/>
          </p:cNvSpPr>
          <p:nvPr/>
        </p:nvSpPr>
        <p:spPr bwMode="auto">
          <a:xfrm>
            <a:off x="58343" y="1973843"/>
            <a:ext cx="5642110" cy="4262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Blip>
                <a:blip r:embed="rId2"/>
              </a:buBlip>
              <a:defRPr sz="32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defRPr>
            </a:lvl1pPr>
            <a:lvl2pPr marL="363855" indent="-276225" algn="just">
              <a:spcBef>
                <a:spcPct val="20000"/>
              </a:spcBef>
              <a:buBlip>
                <a:blip r:embed="rId3"/>
              </a:buBlip>
              <a:defRPr sz="2800" b="1">
                <a:solidFill>
                  <a:schemeClr val="tx1"/>
                </a:solidFill>
                <a:latin typeface="Arial" panose="020B0604020202020204" pitchFamily="34" charset="0"/>
                <a:ea typeface="宋体" panose="02010600030101010101" pitchFamily="2" charset="-122"/>
              </a:defRPr>
            </a:lvl2pPr>
            <a:lvl3pPr marL="1143000" indent="-228600" algn="just">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gn="just">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just">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spcAft>
                <a:spcPts val="1800"/>
              </a:spcAft>
              <a:buFontTx/>
              <a:buNone/>
            </a:pPr>
            <a:r>
              <a:rPr lang="en-US" altLang="zh-CN" sz="1600" dirty="0">
                <a:latin typeface="Arial" panose="020B0604020202020204" pitchFamily="34" charset="0"/>
                <a:cs typeface="Arial" panose="020B0604020202020204" pitchFamily="34" charset="0"/>
              </a:rPr>
              <a:t>The execution process of </a:t>
            </a:r>
            <a:r>
              <a:rPr lang="en-US" altLang="zh-CN" sz="1600" dirty="0">
                <a:solidFill>
                  <a:srgbClr val="FF0000"/>
                </a:solidFill>
                <a:latin typeface="Arial" panose="020B0604020202020204" pitchFamily="34" charset="0"/>
                <a:cs typeface="Arial" panose="020B0604020202020204" pitchFamily="34" charset="0"/>
              </a:rPr>
              <a:t>the instruction read phase </a:t>
            </a:r>
            <a:r>
              <a:rPr lang="en-US" altLang="zh-CN" sz="1600" dirty="0">
                <a:latin typeface="Arial" panose="020B0604020202020204" pitchFamily="34" charset="0"/>
                <a:cs typeface="Arial" panose="020B0604020202020204" pitchFamily="34" charset="0"/>
              </a:rPr>
              <a:t>is as follows</a:t>
            </a:r>
            <a:r>
              <a:rPr lang="zh-CN" altLang="en-US" sz="1600" dirty="0">
                <a:latin typeface="Arial" panose="020B0604020202020204" pitchFamily="34" charset="0"/>
                <a:cs typeface="Arial" panose="020B0604020202020204" pitchFamily="34" charset="0"/>
              </a:rPr>
              <a:t>：</a:t>
            </a:r>
          </a:p>
          <a:p>
            <a:pPr lvl="1" algn="l" eaLnBrk="1" hangingPunct="1">
              <a:spcBef>
                <a:spcPct val="0"/>
              </a:spcBef>
              <a:spcAft>
                <a:spcPts val="600"/>
              </a:spcAft>
            </a:pPr>
            <a:r>
              <a:rPr lang="en-US" altLang="zh-CN" sz="1600" dirty="0">
                <a:cs typeface="Arial" panose="020B0604020202020204" pitchFamily="34" charset="0"/>
              </a:rPr>
              <a:t>①The CPU loads the contents of the </a:t>
            </a:r>
            <a:r>
              <a:rPr lang="en-US" altLang="zh-CN" sz="1600" dirty="0">
                <a:cs typeface="Arial" panose="020B0604020202020204" pitchFamily="34" charset="0"/>
                <a:hlinkClick r:id="rId4" action="ppaction://hlinksldjump"/>
              </a:rPr>
              <a:t>program counter</a:t>
            </a:r>
            <a:r>
              <a:rPr lang="en-US" altLang="zh-CN" sz="1600" dirty="0">
                <a:cs typeface="Arial" panose="020B0604020202020204" pitchFamily="34" charset="0"/>
              </a:rPr>
              <a:t> </a:t>
            </a:r>
            <a:r>
              <a:rPr lang="en-US" altLang="zh-CN" sz="1600" dirty="0">
                <a:solidFill>
                  <a:srgbClr val="3366FF"/>
                </a:solidFill>
                <a:cs typeface="Arial" panose="020B0604020202020204" pitchFamily="34" charset="0"/>
              </a:rPr>
              <a:t>(PC) </a:t>
            </a:r>
            <a:r>
              <a:rPr lang="en-US" altLang="zh-CN" sz="1600" dirty="0">
                <a:solidFill>
                  <a:srgbClr val="00B050"/>
                </a:solidFill>
                <a:cs typeface="Arial" panose="020B0604020202020204" pitchFamily="34" charset="0"/>
              </a:rPr>
              <a:t>00H</a:t>
            </a:r>
            <a:r>
              <a:rPr lang="en-US" altLang="zh-CN" sz="1600" dirty="0">
                <a:solidFill>
                  <a:srgbClr val="3366FF"/>
                </a:solidFill>
                <a:cs typeface="Arial" panose="020B0604020202020204" pitchFamily="34" charset="0"/>
              </a:rPr>
              <a:t> into the </a:t>
            </a:r>
            <a:r>
              <a:rPr lang="en-US" altLang="zh-CN" sz="1600" dirty="0">
                <a:cs typeface="Arial" panose="020B0604020202020204" pitchFamily="34" charset="0"/>
              </a:rPr>
              <a:t>address register </a:t>
            </a:r>
            <a:r>
              <a:rPr lang="en-US" altLang="zh-CN" sz="1600" dirty="0">
                <a:solidFill>
                  <a:srgbClr val="3366FF"/>
                </a:solidFill>
                <a:cs typeface="Arial" panose="020B0604020202020204" pitchFamily="34" charset="0"/>
              </a:rPr>
              <a:t>(</a:t>
            </a:r>
            <a:r>
              <a:rPr lang="en-US" altLang="zh-CN" sz="1600" dirty="0">
                <a:solidFill>
                  <a:srgbClr val="FF0000"/>
                </a:solidFill>
                <a:cs typeface="Arial" panose="020B0604020202020204" pitchFamily="34" charset="0"/>
              </a:rPr>
              <a:t>AR</a:t>
            </a:r>
            <a:r>
              <a:rPr lang="en-US" altLang="zh-CN" sz="1600" dirty="0">
                <a:solidFill>
                  <a:srgbClr val="3366FF"/>
                </a:solidFill>
                <a:cs typeface="Arial" panose="020B0604020202020204" pitchFamily="34" charset="0"/>
              </a:rPr>
              <a:t>)</a:t>
            </a:r>
            <a:r>
              <a:rPr lang="en-US" altLang="zh-CN" sz="1600" dirty="0">
                <a:cs typeface="Arial" panose="020B0604020202020204" pitchFamily="34" charset="0"/>
              </a:rPr>
              <a:t>.</a:t>
            </a:r>
            <a:endParaRPr lang="zh-CN" altLang="en-US" sz="1600" dirty="0">
              <a:cs typeface="Arial" panose="020B0604020202020204" pitchFamily="34" charset="0"/>
            </a:endParaRPr>
          </a:p>
          <a:p>
            <a:pPr lvl="1" algn="l" eaLnBrk="1" hangingPunct="1">
              <a:spcBef>
                <a:spcPct val="0"/>
              </a:spcBef>
              <a:spcAft>
                <a:spcPts val="600"/>
              </a:spcAft>
            </a:pPr>
            <a:r>
              <a:rPr lang="en-US" altLang="zh-CN" sz="1600" dirty="0">
                <a:cs typeface="Arial" panose="020B0604020202020204" pitchFamily="34" charset="0"/>
              </a:rPr>
              <a:t>②The contents of the </a:t>
            </a:r>
            <a:r>
              <a:rPr lang="en-US" altLang="zh-CN" sz="1600" dirty="0">
                <a:solidFill>
                  <a:srgbClr val="3366FF"/>
                </a:solidFill>
                <a:cs typeface="Arial" panose="020B0604020202020204" pitchFamily="34" charset="0"/>
              </a:rPr>
              <a:t>program counter (PC) automatically increment by 1 </a:t>
            </a:r>
            <a:r>
              <a:rPr lang="en-US" altLang="zh-CN" sz="1600" dirty="0">
                <a:cs typeface="Arial" panose="020B0604020202020204" pitchFamily="34" charset="0"/>
              </a:rPr>
              <a:t>to become </a:t>
            </a:r>
            <a:r>
              <a:rPr lang="en-US" altLang="zh-CN" sz="1600" dirty="0">
                <a:solidFill>
                  <a:srgbClr val="00B050"/>
                </a:solidFill>
                <a:cs typeface="Arial" panose="020B0604020202020204" pitchFamily="34" charset="0"/>
              </a:rPr>
              <a:t>01H</a:t>
            </a:r>
            <a:r>
              <a:rPr lang="en-US" altLang="zh-CN" sz="1600" dirty="0">
                <a:cs typeface="Arial" panose="020B0604020202020204" pitchFamily="34" charset="0"/>
              </a:rPr>
              <a:t>, preparing to fetch the next instruction.</a:t>
            </a:r>
            <a:endParaRPr lang="zh-CN" altLang="en-US" sz="1600" dirty="0">
              <a:cs typeface="Arial" panose="020B0604020202020204" pitchFamily="34" charset="0"/>
            </a:endParaRPr>
          </a:p>
          <a:p>
            <a:pPr lvl="1" algn="l" eaLnBrk="1" hangingPunct="1">
              <a:spcBef>
                <a:spcPct val="0"/>
              </a:spcBef>
              <a:spcAft>
                <a:spcPts val="600"/>
              </a:spcAft>
            </a:pPr>
            <a:r>
              <a:rPr lang="en-US" altLang="zh-CN" sz="1600" dirty="0">
                <a:cs typeface="Arial" panose="020B0604020202020204" pitchFamily="34" charset="0"/>
              </a:rPr>
              <a:t>③Address register </a:t>
            </a:r>
            <a:r>
              <a:rPr lang="en-US" altLang="zh-CN" sz="1600" dirty="0">
                <a:solidFill>
                  <a:srgbClr val="FF0000"/>
                </a:solidFill>
                <a:cs typeface="Arial" panose="020B0604020202020204" pitchFamily="34" charset="0"/>
              </a:rPr>
              <a:t>AR</a:t>
            </a:r>
            <a:r>
              <a:rPr lang="en-US" altLang="zh-CN" sz="1600" dirty="0">
                <a:cs typeface="Arial" panose="020B0604020202020204" pitchFamily="34" charset="0"/>
              </a:rPr>
              <a:t> sends </a:t>
            </a:r>
            <a:r>
              <a:rPr lang="en-US" altLang="zh-CN" sz="1600" dirty="0">
                <a:solidFill>
                  <a:srgbClr val="00B050"/>
                </a:solidFill>
                <a:cs typeface="Arial" panose="020B0604020202020204" pitchFamily="34" charset="0"/>
              </a:rPr>
              <a:t>00H</a:t>
            </a:r>
            <a:r>
              <a:rPr lang="en-US" altLang="zh-CN" sz="1600" dirty="0">
                <a:cs typeface="Arial" panose="020B0604020202020204" pitchFamily="34" charset="0"/>
              </a:rPr>
              <a:t> via address bus </a:t>
            </a:r>
            <a:r>
              <a:rPr lang="en-US" altLang="zh-CN" sz="1600" dirty="0">
                <a:solidFill>
                  <a:srgbClr val="FF0000"/>
                </a:solidFill>
                <a:cs typeface="Arial" panose="020B0604020202020204" pitchFamily="34" charset="0"/>
              </a:rPr>
              <a:t>AB</a:t>
            </a:r>
            <a:r>
              <a:rPr lang="en-US" altLang="zh-CN" sz="1600" dirty="0">
                <a:cs typeface="Arial" panose="020B0604020202020204" pitchFamily="34" charset="0"/>
              </a:rPr>
              <a:t> to the memory </a:t>
            </a:r>
            <a:r>
              <a:rPr lang="en-US" altLang="zh-CN" sz="1600" dirty="0">
                <a:solidFill>
                  <a:srgbClr val="FF0000"/>
                </a:solidFill>
                <a:cs typeface="Arial" panose="020B0604020202020204" pitchFamily="34" charset="0"/>
                <a:hlinkClick r:id="rId4" action="ppaction://hlinksldjump"/>
              </a:rPr>
              <a:t>address decoder</a:t>
            </a:r>
            <a:r>
              <a:rPr lang="en-US" altLang="zh-CN" sz="1600" dirty="0">
                <a:solidFill>
                  <a:srgbClr val="FF0000"/>
                </a:solidFill>
                <a:cs typeface="Arial" panose="020B0604020202020204" pitchFamily="34" charset="0"/>
              </a:rPr>
              <a:t> for decoding, selecting cell 00H.</a:t>
            </a:r>
            <a:endParaRPr lang="zh-CN" altLang="en-US" sz="1600" dirty="0">
              <a:cs typeface="Arial" panose="020B0604020202020204" pitchFamily="34" charset="0"/>
            </a:endParaRPr>
          </a:p>
          <a:p>
            <a:pPr lvl="1" algn="l" eaLnBrk="1" hangingPunct="1">
              <a:spcBef>
                <a:spcPct val="0"/>
              </a:spcBef>
              <a:spcAft>
                <a:spcPts val="600"/>
              </a:spcAft>
            </a:pPr>
            <a:r>
              <a:rPr lang="en-US" altLang="zh-CN" sz="1600" dirty="0">
                <a:cs typeface="Arial" panose="020B0604020202020204" pitchFamily="34" charset="0"/>
              </a:rPr>
              <a:t>④The CPU issues a </a:t>
            </a:r>
            <a:r>
              <a:rPr lang="en-US" altLang="zh-CN" sz="1600" dirty="0">
                <a:solidFill>
                  <a:srgbClr val="3366FF"/>
                </a:solidFill>
                <a:cs typeface="Arial" panose="020B0604020202020204" pitchFamily="34" charset="0"/>
              </a:rPr>
              <a:t>“read” command</a:t>
            </a:r>
            <a:r>
              <a:rPr lang="en-US" altLang="zh-CN" sz="1600" dirty="0">
                <a:cs typeface="Arial" panose="020B0604020202020204" pitchFamily="34" charset="0"/>
              </a:rPr>
              <a:t>.</a:t>
            </a:r>
            <a:endParaRPr lang="zh-CN" altLang="en-US" sz="1600" dirty="0">
              <a:cs typeface="Arial" panose="020B0604020202020204" pitchFamily="34" charset="0"/>
            </a:endParaRPr>
          </a:p>
          <a:p>
            <a:pPr lvl="1" algn="l" eaLnBrk="1" hangingPunct="1">
              <a:spcBef>
                <a:spcPct val="0"/>
              </a:spcBef>
              <a:spcAft>
                <a:spcPts val="600"/>
              </a:spcAft>
            </a:pPr>
            <a:r>
              <a:rPr lang="en-US" altLang="zh-CN" sz="1600" dirty="0">
                <a:cs typeface="Arial" panose="020B0604020202020204" pitchFamily="34" charset="0"/>
              </a:rPr>
              <a:t>⑤The contents of selected cell </a:t>
            </a:r>
            <a:r>
              <a:rPr lang="en-US" altLang="zh-CN" sz="1600" dirty="0">
                <a:solidFill>
                  <a:srgbClr val="0000CC"/>
                </a:solidFill>
                <a:cs typeface="Arial" panose="020B0604020202020204" pitchFamily="34" charset="0"/>
              </a:rPr>
              <a:t>00</a:t>
            </a:r>
            <a:r>
              <a:rPr lang="en-US" altLang="zh-CN" sz="1600" dirty="0">
                <a:cs typeface="Arial" panose="020B0604020202020204" pitchFamily="34" charset="0"/>
              </a:rPr>
              <a:t>, </a:t>
            </a:r>
            <a:r>
              <a:rPr lang="en-US" altLang="zh-CN" sz="1600" dirty="0">
                <a:solidFill>
                  <a:srgbClr val="FF0000"/>
                </a:solidFill>
                <a:cs typeface="Arial" panose="020B0604020202020204" pitchFamily="34" charset="0"/>
              </a:rPr>
              <a:t>B0H</a:t>
            </a:r>
            <a:r>
              <a:rPr lang="en-US" altLang="zh-CN" sz="1600" dirty="0">
                <a:cs typeface="Arial" panose="020B0604020202020204" pitchFamily="34" charset="0"/>
              </a:rPr>
              <a:t>, are transferred from memory to the data bus </a:t>
            </a:r>
            <a:r>
              <a:rPr lang="en-US" altLang="zh-CN" sz="1600" dirty="0">
                <a:solidFill>
                  <a:srgbClr val="FF0000"/>
                </a:solidFill>
                <a:cs typeface="Arial" panose="020B0604020202020204" pitchFamily="34" charset="0"/>
              </a:rPr>
              <a:t>DB</a:t>
            </a:r>
            <a:r>
              <a:rPr lang="en-US" altLang="zh-CN" sz="1600" dirty="0">
                <a:cs typeface="Arial" panose="020B0604020202020204" pitchFamily="34" charset="0"/>
              </a:rPr>
              <a:t>.</a:t>
            </a:r>
          </a:p>
          <a:p>
            <a:pPr lvl="1" algn="l" eaLnBrk="1" hangingPunct="1">
              <a:spcBef>
                <a:spcPct val="0"/>
              </a:spcBef>
              <a:spcAft>
                <a:spcPts val="600"/>
              </a:spcAft>
            </a:pPr>
            <a:r>
              <a:rPr lang="zh-CN" altLang="en-US" sz="1600" dirty="0">
                <a:solidFill>
                  <a:srgbClr val="3366FF"/>
                </a:solidFill>
                <a:cs typeface="Arial" panose="020B0604020202020204" pitchFamily="34" charset="0"/>
              </a:rPr>
              <a:t>⑥</a:t>
            </a:r>
            <a:r>
              <a:rPr lang="en-US" altLang="zh-CN" sz="1600" dirty="0">
                <a:solidFill>
                  <a:srgbClr val="3366FF"/>
                </a:solidFill>
                <a:cs typeface="Arial" panose="020B0604020202020204" pitchFamily="34" charset="0"/>
              </a:rPr>
              <a:t>Via </a:t>
            </a:r>
            <a:r>
              <a:rPr lang="en-US" altLang="zh-CN" sz="1600" dirty="0">
                <a:cs typeface="Arial" panose="020B0604020202020204" pitchFamily="34" charset="0"/>
              </a:rPr>
              <a:t>the data bus </a:t>
            </a:r>
            <a:r>
              <a:rPr lang="en-US" altLang="zh-CN" sz="1600" dirty="0">
                <a:solidFill>
                  <a:srgbClr val="3366FF"/>
                </a:solidFill>
                <a:cs typeface="Arial" panose="020B0604020202020204" pitchFamily="34" charset="0"/>
              </a:rPr>
              <a:t>DB, </a:t>
            </a:r>
            <a:r>
              <a:rPr lang="en-US" altLang="zh-CN" sz="1600" dirty="0">
                <a:cs typeface="Arial" panose="020B0604020202020204" pitchFamily="34" charset="0"/>
              </a:rPr>
              <a:t>the CPU transfers the </a:t>
            </a:r>
            <a:r>
              <a:rPr lang="en-US" altLang="zh-CN" sz="1600" dirty="0">
                <a:solidFill>
                  <a:srgbClr val="3366FF"/>
                </a:solidFill>
                <a:cs typeface="Arial" panose="020B0604020202020204" pitchFamily="34" charset="0"/>
              </a:rPr>
              <a:t>read content B0H </a:t>
            </a:r>
            <a:r>
              <a:rPr lang="en-US" altLang="zh-CN" sz="1600" dirty="0">
                <a:cs typeface="Arial" panose="020B0604020202020204" pitchFamily="34" charset="0"/>
              </a:rPr>
              <a:t>to the data register </a:t>
            </a:r>
            <a:r>
              <a:rPr lang="en-US" altLang="zh-CN" sz="1600" dirty="0">
                <a:solidFill>
                  <a:srgbClr val="FF0000"/>
                </a:solidFill>
                <a:cs typeface="Arial" panose="020B0604020202020204" pitchFamily="34" charset="0"/>
              </a:rPr>
              <a:t>DR</a:t>
            </a:r>
            <a:r>
              <a:rPr lang="en-US" altLang="zh-CN" sz="1600" dirty="0">
                <a:cs typeface="Arial" panose="020B0604020202020204" pitchFamily="34" charset="0"/>
              </a:rPr>
              <a:t>.</a:t>
            </a:r>
            <a:endParaRPr lang="zh-CN" altLang="en-US" sz="1600" dirty="0">
              <a:cs typeface="Arial" panose="020B0604020202020204" pitchFamily="34" charset="0"/>
            </a:endParaRPr>
          </a:p>
        </p:txBody>
      </p:sp>
      <p:graphicFrame>
        <p:nvGraphicFramePr>
          <p:cNvPr id="4" name="对象 3"/>
          <p:cNvGraphicFramePr>
            <a:graphicFrameLocks noChangeAspect="1"/>
          </p:cNvGraphicFramePr>
          <p:nvPr/>
        </p:nvGraphicFramePr>
        <p:xfrm>
          <a:off x="5808937" y="3362969"/>
          <a:ext cx="3345915" cy="2161736"/>
        </p:xfrm>
        <a:graphic>
          <a:graphicData uri="http://schemas.openxmlformats.org/presentationml/2006/ole">
            <mc:AlternateContent xmlns:mc="http://schemas.openxmlformats.org/markup-compatibility/2006">
              <mc:Choice xmlns:v="urn:schemas-microsoft-com:vml" Requires="v">
                <p:oleObj name="Visio" r:id="rId5" imgW="2165985" imgH="1716405" progId="Visio.Drawing.11">
                  <p:embed/>
                </p:oleObj>
              </mc:Choice>
              <mc:Fallback>
                <p:oleObj name="Visio" r:id="rId5" imgW="2165985" imgH="1716405" progId="Visio.Drawing.11">
                  <p:embed/>
                  <p:pic>
                    <p:nvPicPr>
                      <p:cNvPr id="0" name="对象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08937" y="3362969"/>
                        <a:ext cx="3345915" cy="2161736"/>
                      </a:xfrm>
                      <a:prstGeom prst="rect">
                        <a:avLst/>
                      </a:prstGeom>
                      <a:solidFill>
                        <a:schemeClr val="bg1"/>
                      </a:solidFill>
                      <a:ln w="9525">
                        <a:solidFill>
                          <a:srgbClr val="FF00FF"/>
                        </a:solidFill>
                        <a:miter lim="800000"/>
                        <a:headEnd/>
                        <a:tailEnd/>
                      </a:ln>
                    </p:spPr>
                  </p:pic>
                </p:oleObj>
              </mc:Fallback>
            </mc:AlternateContent>
          </a:graphicData>
        </a:graphic>
      </p:graphicFrame>
      <p:sp>
        <p:nvSpPr>
          <p:cNvPr id="18" name="矩形 17"/>
          <p:cNvSpPr>
            <a:spLocks noChangeArrowheads="1"/>
          </p:cNvSpPr>
          <p:nvPr/>
        </p:nvSpPr>
        <p:spPr bwMode="auto">
          <a:xfrm>
            <a:off x="6229090" y="2895507"/>
            <a:ext cx="19563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Address Decoding</a:t>
            </a:r>
            <a:endParaRPr lang="zh-CN" altLang="en-US" b="1" dirty="0"/>
          </a:p>
        </p:txBody>
      </p:sp>
      <p:sp>
        <p:nvSpPr>
          <p:cNvPr id="13" name="矩形 12"/>
          <p:cNvSpPr>
            <a:spLocks noChangeArrowheads="1"/>
          </p:cNvSpPr>
          <p:nvPr/>
        </p:nvSpPr>
        <p:spPr bwMode="auto">
          <a:xfrm>
            <a:off x="5700453" y="3264839"/>
            <a:ext cx="1117600" cy="1982787"/>
          </a:xfrm>
          <a:prstGeom prst="rect">
            <a:avLst/>
          </a:prstGeom>
          <a:noFill/>
          <a:ln w="9525">
            <a:solidFill>
              <a:srgbClr val="FF0000"/>
            </a:solidFill>
            <a:prstDash val="dash"/>
            <a:miter lim="800000"/>
          </a:ln>
          <a:extLst>
            <a:ext uri="{909E8E84-426E-40DD-AFC4-6F175D3DCCD1}">
              <a14:hiddenFill xmlns:a14="http://schemas.microsoft.com/office/drawing/2010/main">
                <a:solidFill>
                  <a:srgbClr val="FFFFFF"/>
                </a:solidFill>
              </a14:hiddenFill>
            </a:ext>
          </a:extLst>
        </p:spPr>
        <p:txBody>
          <a:bodyPr wrap="squar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00" b="1"/>
          </a:p>
        </p:txBody>
      </p:sp>
      <p:sp>
        <p:nvSpPr>
          <p:cNvPr id="2" name="灯片编号占位符 1"/>
          <p:cNvSpPr>
            <a:spLocks noGrp="1"/>
          </p:cNvSpPr>
          <p:nvPr>
            <p:ph type="sldNum" sz="quarter" idx="12"/>
          </p:nvPr>
        </p:nvSpPr>
        <p:spPr/>
        <p:txBody>
          <a:bodyPr/>
          <a:lstStyle/>
          <a:p>
            <a:fld id="{22E77DEE-32E4-4009-988B-F2758F7B8AC2}" type="slidenum">
              <a:rPr lang="zh-CN" altLang="en-US" smtClean="0"/>
              <a:t>11</a:t>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noChangeArrowheads="1"/>
          </p:cNvSpPr>
          <p:nvPr>
            <p:ph type="title"/>
          </p:nvPr>
        </p:nvSpPr>
        <p:spPr>
          <a:xfrm>
            <a:off x="403224" y="442912"/>
            <a:ext cx="8648701" cy="504825"/>
          </a:xfrm>
          <a:solidFill>
            <a:schemeClr val="bg1"/>
          </a:solidFill>
        </p:spPr>
        <p:txBody>
          <a:bodyPr>
            <a:normAutofit fontScale="90000"/>
          </a:bodyPr>
          <a:lstStyle/>
          <a:p>
            <a:pPr marL="87630" indent="-87630" eaLnBrk="1" hangingPunct="1"/>
            <a:r>
              <a:rPr kumimoji="1" lang="en-US" altLang="zh-CN" sz="2800" dirty="0">
                <a:latin typeface="Arial" panose="020B0604020202020204" pitchFamily="34" charset="0"/>
                <a:cs typeface="Arial" panose="020B0604020202020204" pitchFamily="34" charset="0"/>
              </a:rPr>
              <a:t>Work Process: </a:t>
            </a:r>
            <a:r>
              <a:rPr lang="en-US" altLang="zh-CN" sz="2800" dirty="0">
                <a:solidFill>
                  <a:srgbClr val="3D41D1"/>
                </a:solidFill>
                <a:latin typeface="Arial" panose="020B0604020202020204" pitchFamily="34" charset="0"/>
                <a:cs typeface="Arial" panose="020B0604020202020204" pitchFamily="34" charset="0"/>
              </a:rPr>
              <a:t>Read Command</a:t>
            </a:r>
            <a:r>
              <a:rPr lang="zh-CN" altLang="en-US" sz="2800" dirty="0">
                <a:solidFill>
                  <a:srgbClr val="3D41D1"/>
                </a:solidFill>
                <a:latin typeface="Arial" panose="020B0604020202020204" pitchFamily="34" charset="0"/>
                <a:cs typeface="Arial" panose="020B0604020202020204" pitchFamily="34" charset="0"/>
                <a:sym typeface="Wingdings" panose="05000000000000000000" pitchFamily="2" charset="2"/>
              </a:rPr>
              <a:t></a:t>
            </a:r>
            <a:r>
              <a:rPr lang="en-US" altLang="zh-CN" sz="2800" dirty="0">
                <a:solidFill>
                  <a:srgbClr val="FF0000"/>
                </a:solidFill>
                <a:latin typeface="Arial" panose="020B0604020202020204" pitchFamily="34" charset="0"/>
                <a:cs typeface="Arial" panose="020B0604020202020204" pitchFamily="34" charset="0"/>
              </a:rPr>
              <a:t>Analyze Command</a:t>
            </a:r>
            <a:r>
              <a:rPr lang="zh-CN" altLang="en-US" sz="2800" dirty="0">
                <a:solidFill>
                  <a:srgbClr val="3D41D1"/>
                </a:solidFill>
                <a:latin typeface="Arial" panose="020B0604020202020204" pitchFamily="34" charset="0"/>
                <a:cs typeface="Arial" panose="020B0604020202020204" pitchFamily="34" charset="0"/>
                <a:sym typeface="Wingdings" panose="05000000000000000000" pitchFamily="2" charset="2"/>
              </a:rPr>
              <a:t></a:t>
            </a:r>
            <a:r>
              <a:rPr lang="en-US" altLang="zh-CN" sz="2800" dirty="0">
                <a:solidFill>
                  <a:srgbClr val="3D41D1"/>
                </a:solidFill>
                <a:latin typeface="Arial" panose="020B0604020202020204" pitchFamily="34" charset="0"/>
                <a:cs typeface="Arial" panose="020B0604020202020204" pitchFamily="34" charset="0"/>
              </a:rPr>
              <a:t>Execute command</a:t>
            </a:r>
            <a:r>
              <a:rPr lang="zh-CN" altLang="en-US" sz="2800" dirty="0">
                <a:solidFill>
                  <a:srgbClr val="3D41D1"/>
                </a:solidFill>
                <a:latin typeface="Arial" panose="020B0604020202020204" pitchFamily="34" charset="0"/>
                <a:cs typeface="Arial" panose="020B0604020202020204" pitchFamily="34" charset="0"/>
                <a:sym typeface="Wingdings" panose="05000000000000000000" pitchFamily="2" charset="2"/>
              </a:rPr>
              <a:t></a:t>
            </a:r>
            <a:r>
              <a:rPr lang="en-US" altLang="zh-CN" sz="2800" dirty="0">
                <a:solidFill>
                  <a:srgbClr val="3D41D1"/>
                </a:solidFill>
                <a:latin typeface="Arial" panose="020B0604020202020204" pitchFamily="34" charset="0"/>
                <a:cs typeface="Arial" panose="020B0604020202020204" pitchFamily="34" charset="0"/>
              </a:rPr>
              <a:t>Save results</a:t>
            </a:r>
            <a:endParaRPr kumimoji="1" lang="zh-CN" altLang="en-US" sz="2800" dirty="0">
              <a:solidFill>
                <a:srgbClr val="3D41D1"/>
              </a:solidFill>
              <a:latin typeface="Arial" panose="020B0604020202020204" pitchFamily="34" charset="0"/>
              <a:cs typeface="Arial" panose="020B0604020202020204" pitchFamily="34" charset="0"/>
            </a:endParaRPr>
          </a:p>
        </p:txBody>
      </p:sp>
      <p:sp>
        <p:nvSpPr>
          <p:cNvPr id="583683" name="Rectangle 3"/>
          <p:cNvSpPr>
            <a:spLocks noGrp="1" noChangeArrowheads="1"/>
          </p:cNvSpPr>
          <p:nvPr>
            <p:ph idx="1"/>
          </p:nvPr>
        </p:nvSpPr>
        <p:spPr>
          <a:xfrm>
            <a:off x="500063" y="1259682"/>
            <a:ext cx="7932737" cy="915988"/>
          </a:xfrm>
        </p:spPr>
        <p:txBody>
          <a:bodyPr>
            <a:normAutofit fontScale="77500" lnSpcReduction="20000"/>
          </a:bodyPr>
          <a:lstStyle/>
          <a:p>
            <a:pPr marL="262255" lvl="1" indent="-262255" eaLnBrk="1" hangingPunct="1">
              <a:spcBef>
                <a:spcPct val="0"/>
              </a:spcBef>
              <a:spcAft>
                <a:spcPts val="300"/>
              </a:spcAft>
            </a:pPr>
            <a:r>
              <a:rPr lang="zh-CN" altLang="en-US" dirty="0">
                <a:latin typeface="Arial" panose="020B0604020202020204" pitchFamily="34" charset="0"/>
                <a:cs typeface="Arial" panose="020B0604020202020204" pitchFamily="34" charset="0"/>
              </a:rPr>
              <a:t>⑦</a:t>
            </a:r>
            <a:r>
              <a:rPr lang="en-US" altLang="zh-CN" dirty="0">
                <a:latin typeface="Arial" panose="020B0604020202020204" pitchFamily="34" charset="0"/>
                <a:cs typeface="Arial" panose="020B0604020202020204" pitchFamily="34" charset="0"/>
              </a:rPr>
              <a:t>The data register </a:t>
            </a:r>
            <a:r>
              <a:rPr lang="en-US" altLang="zh-CN" sz="2100" dirty="0">
                <a:solidFill>
                  <a:srgbClr val="0000CC"/>
                </a:solidFill>
                <a:latin typeface="Arial" panose="020B0604020202020204" pitchFamily="34" charset="0"/>
                <a:cs typeface="Arial" panose="020B0604020202020204" pitchFamily="34" charset="0"/>
              </a:rPr>
              <a:t>DR</a:t>
            </a:r>
            <a:r>
              <a:rPr lang="en-US" altLang="zh-CN" dirty="0">
                <a:latin typeface="Arial" panose="020B0604020202020204" pitchFamily="34" charset="0"/>
                <a:cs typeface="Arial" panose="020B0604020202020204" pitchFamily="34" charset="0"/>
              </a:rPr>
              <a:t> transfers its contents to the </a:t>
            </a:r>
            <a:r>
              <a:rPr lang="en-US" altLang="zh-CN" sz="2100" dirty="0">
                <a:solidFill>
                  <a:srgbClr val="FF0000"/>
                </a:solidFill>
                <a:latin typeface="Arial" panose="020B0604020202020204" pitchFamily="34" charset="0"/>
                <a:cs typeface="Arial" panose="020B0604020202020204" pitchFamily="34" charset="0"/>
              </a:rPr>
              <a:t>instruction register IR</a:t>
            </a:r>
            <a:r>
              <a:rPr lang="en-US" altLang="zh-CN" dirty="0">
                <a:latin typeface="Arial" panose="020B0604020202020204" pitchFamily="34" charset="0"/>
                <a:cs typeface="Arial" panose="020B0604020202020204" pitchFamily="34" charset="0"/>
              </a:rPr>
              <a:t>. After </a:t>
            </a:r>
            <a:r>
              <a:rPr lang="en-US" altLang="zh-CN" sz="2100" dirty="0">
                <a:solidFill>
                  <a:srgbClr val="FF0000"/>
                </a:solidFill>
                <a:latin typeface="Arial" panose="020B0604020202020204" pitchFamily="34" charset="0"/>
                <a:cs typeface="Arial" panose="020B0604020202020204" pitchFamily="34" charset="0"/>
              </a:rPr>
              <a:t>decoding</a:t>
            </a:r>
            <a:r>
              <a:rPr lang="en-US" altLang="zh-CN" dirty="0">
                <a:latin typeface="Arial" panose="020B0604020202020204" pitchFamily="34" charset="0"/>
                <a:cs typeface="Arial" panose="020B0604020202020204" pitchFamily="34" charset="0"/>
              </a:rPr>
              <a:t>, the CPU “</a:t>
            </a:r>
            <a:r>
              <a:rPr lang="en-US" altLang="zh-CN" sz="2100" dirty="0">
                <a:solidFill>
                  <a:srgbClr val="FF0000"/>
                </a:solidFill>
                <a:latin typeface="Arial" panose="020B0604020202020204" pitchFamily="34" charset="0"/>
                <a:cs typeface="Arial" panose="020B0604020202020204" pitchFamily="34" charset="0"/>
              </a:rPr>
              <a:t>recognizes</a:t>
            </a:r>
            <a:r>
              <a:rPr lang="en-US" altLang="zh-CN" dirty="0">
                <a:latin typeface="Arial" panose="020B0604020202020204" pitchFamily="34" charset="0"/>
                <a:cs typeface="Arial" panose="020B0604020202020204" pitchFamily="34" charset="0"/>
              </a:rPr>
              <a:t>” this opcode as </a:t>
            </a:r>
            <a:r>
              <a:rPr lang="en-US" altLang="zh-CN" sz="2100" dirty="0">
                <a:solidFill>
                  <a:srgbClr val="FF0000"/>
                </a:solidFill>
                <a:latin typeface="Arial" panose="020B0604020202020204" pitchFamily="34" charset="0"/>
                <a:cs typeface="Arial" panose="020B0604020202020204" pitchFamily="34" charset="0"/>
              </a:rPr>
              <a:t>the first byte of a two-byte instruction</a:t>
            </a:r>
            <a:r>
              <a:rPr lang="en-US" altLang="zh-CN" dirty="0">
                <a:latin typeface="Arial" panose="020B0604020202020204" pitchFamily="34" charset="0"/>
                <a:cs typeface="Arial" panose="020B0604020202020204" pitchFamily="34" charset="0"/>
              </a:rPr>
              <a:t>. It </a:t>
            </a:r>
            <a:r>
              <a:rPr lang="en-US" altLang="zh-CN" dirty="0">
                <a:solidFill>
                  <a:srgbClr val="3366FF"/>
                </a:solidFill>
                <a:latin typeface="Arial" panose="020B0604020202020204" pitchFamily="34" charset="0"/>
                <a:cs typeface="Arial" panose="020B0604020202020204" pitchFamily="34" charset="0"/>
              </a:rPr>
              <a:t>then </a:t>
            </a:r>
            <a:r>
              <a:rPr lang="en-US" altLang="zh-CN" u="sng" dirty="0">
                <a:solidFill>
                  <a:srgbClr val="3366FF"/>
                </a:solidFill>
                <a:latin typeface="Arial" panose="020B0604020202020204" pitchFamily="34" charset="0"/>
                <a:cs typeface="Arial" panose="020B0604020202020204" pitchFamily="34" charset="0"/>
              </a:rPr>
              <a:t>fetches the next byte </a:t>
            </a:r>
            <a:r>
              <a:rPr lang="en-US" altLang="zh-CN" u="sng" dirty="0">
                <a:solidFill>
                  <a:srgbClr val="FF00FF"/>
                </a:solidFill>
                <a:latin typeface="Arial" panose="020B0604020202020204" pitchFamily="34" charset="0"/>
                <a:cs typeface="Arial" panose="020B0604020202020204" pitchFamily="34" charset="0"/>
              </a:rPr>
              <a:t>(machine code) </a:t>
            </a:r>
            <a:r>
              <a:rPr lang="en-US" altLang="zh-CN" dirty="0">
                <a:latin typeface="Arial" panose="020B0604020202020204" pitchFamily="34" charset="0"/>
                <a:cs typeface="Arial" panose="020B0604020202020204" pitchFamily="34" charset="0"/>
              </a:rPr>
              <a:t>and identifies it as the “</a:t>
            </a:r>
            <a:r>
              <a:rPr lang="en-US" altLang="zh-CN" sz="2100" dirty="0">
                <a:solidFill>
                  <a:srgbClr val="0000CC"/>
                </a:solidFill>
                <a:latin typeface="Arial" panose="020B0604020202020204" pitchFamily="34" charset="0"/>
                <a:cs typeface="Arial" panose="020B0604020202020204" pitchFamily="34" charset="0"/>
              </a:rPr>
              <a:t>MOV A,</a:t>
            </a:r>
            <a:r>
              <a:rPr lang="en-US" altLang="zh-CN" dirty="0">
                <a:latin typeface="Arial" panose="020B0604020202020204" pitchFamily="34" charset="0"/>
                <a:cs typeface="Arial" panose="020B0604020202020204" pitchFamily="34" charset="0"/>
              </a:rPr>
              <a:t> </a:t>
            </a:r>
            <a:r>
              <a:rPr lang="en-US" altLang="zh-CN" sz="2100" dirty="0">
                <a:solidFill>
                  <a:srgbClr val="FF00FF"/>
                </a:solidFill>
                <a:latin typeface="Arial" panose="020B0604020202020204" pitchFamily="34" charset="0"/>
                <a:cs typeface="Arial" panose="020B0604020202020204" pitchFamily="34" charset="0"/>
              </a:rPr>
              <a:t>#</a:t>
            </a:r>
            <a:r>
              <a:rPr lang="en-US" altLang="zh-CN" sz="2100" dirty="0">
                <a:solidFill>
                  <a:srgbClr val="0000CC"/>
                </a:solidFill>
                <a:latin typeface="Arial" panose="020B0604020202020204" pitchFamily="34" charset="0"/>
                <a:cs typeface="Arial" panose="020B0604020202020204" pitchFamily="34" charset="0"/>
              </a:rPr>
              <a:t>07H</a:t>
            </a:r>
            <a:r>
              <a:rPr lang="en-US" altLang="zh-CN" dirty="0">
                <a:latin typeface="Arial" panose="020B0604020202020204" pitchFamily="34" charset="0"/>
                <a:cs typeface="Arial" panose="020B0604020202020204" pitchFamily="34" charset="0"/>
              </a:rPr>
              <a:t>” instruction. Consequently, the controller issues the control command to </a:t>
            </a:r>
            <a:r>
              <a:rPr lang="en-US" altLang="zh-CN" sz="2100" dirty="0">
                <a:solidFill>
                  <a:srgbClr val="FF0000"/>
                </a:solidFill>
                <a:latin typeface="Arial" panose="020B0604020202020204" pitchFamily="34" charset="0"/>
                <a:cs typeface="Arial" panose="020B0604020202020204" pitchFamily="34" charset="0"/>
              </a:rPr>
              <a:t>execute this instruction</a:t>
            </a:r>
            <a:r>
              <a:rPr lang="en-US" altLang="zh-CN" dirty="0">
                <a:latin typeface="Arial" panose="020B0604020202020204" pitchFamily="34" charset="0"/>
                <a:cs typeface="Arial" panose="020B0604020202020204" pitchFamily="34" charset="0"/>
              </a:rPr>
              <a:t>.</a:t>
            </a:r>
            <a:endParaRPr lang="en-US" altLang="zh-CN" sz="2400" dirty="0">
              <a:latin typeface="Arial" panose="020B0604020202020204" pitchFamily="34" charset="0"/>
              <a:cs typeface="Arial" panose="020B0604020202020204" pitchFamily="34" charset="0"/>
            </a:endParaRPr>
          </a:p>
        </p:txBody>
      </p:sp>
      <p:graphicFrame>
        <p:nvGraphicFramePr>
          <p:cNvPr id="4" name="对象 3"/>
          <p:cNvGraphicFramePr>
            <a:graphicFrameLocks noChangeAspect="1"/>
          </p:cNvGraphicFramePr>
          <p:nvPr/>
        </p:nvGraphicFramePr>
        <p:xfrm>
          <a:off x="2409826" y="2487615"/>
          <a:ext cx="6584950" cy="3606800"/>
        </p:xfrm>
        <a:graphic>
          <a:graphicData uri="http://schemas.openxmlformats.org/presentationml/2006/ole">
            <mc:AlternateContent xmlns:mc="http://schemas.openxmlformats.org/markup-compatibility/2006">
              <mc:Choice xmlns:v="urn:schemas-microsoft-com:vml" Requires="v">
                <p:oleObj name="Visio" r:id="rId2" imgW="2165985" imgH="1716405" progId="Visio.Drawing.11">
                  <p:embed/>
                </p:oleObj>
              </mc:Choice>
              <mc:Fallback>
                <p:oleObj name="Visio" r:id="rId2" imgW="2165985" imgH="1716405" progId="Visio.Drawing.11">
                  <p:embed/>
                  <p:pic>
                    <p:nvPicPr>
                      <p:cNvPr id="0"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9826" y="2487615"/>
                        <a:ext cx="6584950" cy="3606800"/>
                      </a:xfrm>
                      <a:prstGeom prst="rect">
                        <a:avLst/>
                      </a:prstGeom>
                      <a:solidFill>
                        <a:schemeClr val="bg1"/>
                      </a:solidFill>
                      <a:ln>
                        <a:noFill/>
                      </a:ln>
                    </p:spPr>
                  </p:pic>
                </p:oleObj>
              </mc:Fallback>
            </mc:AlternateContent>
          </a:graphicData>
        </a:graphic>
      </p:graphicFrame>
      <p:sp>
        <p:nvSpPr>
          <p:cNvPr id="6" name="Rectangle 6"/>
          <p:cNvSpPr>
            <a:spLocks noChangeArrowheads="1"/>
          </p:cNvSpPr>
          <p:nvPr/>
        </p:nvSpPr>
        <p:spPr bwMode="auto">
          <a:xfrm>
            <a:off x="57150" y="5226398"/>
            <a:ext cx="2200275" cy="1077218"/>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990033"/>
                </a:solidFill>
                <a:latin typeface="Arial" panose="020B0604020202020204" pitchFamily="34" charset="0"/>
                <a:cs typeface="Arial" panose="020B0604020202020204" pitchFamily="34" charset="0"/>
              </a:rPr>
              <a:t>Fig</a:t>
            </a:r>
            <a:r>
              <a:rPr lang="zh-CN" altLang="en-US" sz="1600" b="1" dirty="0">
                <a:solidFill>
                  <a:srgbClr val="990033"/>
                </a:solidFill>
                <a:latin typeface="Arial" panose="020B0604020202020204" pitchFamily="34" charset="0"/>
                <a:cs typeface="Arial" panose="020B0604020202020204" pitchFamily="34" charset="0"/>
              </a:rPr>
              <a:t> </a:t>
            </a:r>
            <a:r>
              <a:rPr lang="en-US" altLang="zh-CN" sz="1600" b="1" dirty="0">
                <a:solidFill>
                  <a:srgbClr val="990033"/>
                </a:solidFill>
                <a:latin typeface="Arial" panose="020B0604020202020204" pitchFamily="34" charset="0"/>
                <a:cs typeface="Arial" panose="020B0604020202020204" pitchFamily="34" charset="0"/>
              </a:rPr>
              <a:t>3-4 Schematic Diagram for Reading the First Byte of the First Instruction</a:t>
            </a:r>
            <a:endParaRPr lang="zh-CN" altLang="en-US" sz="1600" b="1" dirty="0">
              <a:solidFill>
                <a:srgbClr val="990033"/>
              </a:solidFill>
              <a:latin typeface="Arial" panose="020B0604020202020204" pitchFamily="34" charset="0"/>
              <a:cs typeface="Arial" panose="020B0604020202020204" pitchFamily="34" charset="0"/>
            </a:endParaRPr>
          </a:p>
        </p:txBody>
      </p:sp>
      <p:sp>
        <p:nvSpPr>
          <p:cNvPr id="7" name="灯片编号占位符 6"/>
          <p:cNvSpPr>
            <a:spLocks noGrp="1"/>
          </p:cNvSpPr>
          <p:nvPr>
            <p:ph type="sldNum" sz="quarter" idx="10"/>
          </p:nvPr>
        </p:nvSpPr>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a:fld id="{6F00AD29-30FC-4727-A054-E7CE1A98D934}" type="slidenum">
              <a:rPr lang="en-US" altLang="zh-CN">
                <a:latin typeface="Arial" panose="020B0604020202020204" pitchFamily="34" charset="0"/>
              </a:rPr>
              <a:t>12</a:t>
            </a:fld>
            <a:endParaRPr lang="en-US" altLang="zh-CN">
              <a:latin typeface="Arial" panose="020B0604020202020204" pitchFamily="34" charset="0"/>
            </a:endParaRPr>
          </a:p>
        </p:txBody>
      </p:sp>
      <p:sp>
        <p:nvSpPr>
          <p:cNvPr id="5" name="矩形 4"/>
          <p:cNvSpPr>
            <a:spLocks noChangeArrowheads="1"/>
          </p:cNvSpPr>
          <p:nvPr/>
        </p:nvSpPr>
        <p:spPr bwMode="auto">
          <a:xfrm>
            <a:off x="4065588" y="2450103"/>
            <a:ext cx="647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dirty="0"/>
              <a:t>加</a:t>
            </a:r>
            <a:r>
              <a:rPr lang="en-US" altLang="zh-CN" sz="2400" b="1" dirty="0"/>
              <a:t>1</a:t>
            </a:r>
            <a:endParaRPr lang="zh-CN" altLang="en-US" sz="2400" b="1" dirty="0"/>
          </a:p>
        </p:txBody>
      </p:sp>
      <p:sp>
        <p:nvSpPr>
          <p:cNvPr id="9" name="矩形 8"/>
          <p:cNvSpPr>
            <a:spLocks noChangeArrowheads="1"/>
          </p:cNvSpPr>
          <p:nvPr/>
        </p:nvSpPr>
        <p:spPr bwMode="auto">
          <a:xfrm>
            <a:off x="2801938" y="4819650"/>
            <a:ext cx="101123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t>地址译码</a:t>
            </a:r>
          </a:p>
        </p:txBody>
      </p:sp>
      <p:sp>
        <p:nvSpPr>
          <p:cNvPr id="10" name="Rectangle 6"/>
          <p:cNvSpPr>
            <a:spLocks noChangeArrowheads="1"/>
          </p:cNvSpPr>
          <p:nvPr/>
        </p:nvSpPr>
        <p:spPr bwMode="auto">
          <a:xfrm>
            <a:off x="500063" y="2091592"/>
            <a:ext cx="1909763" cy="897224"/>
          </a:xfrm>
          <a:prstGeom prst="rect">
            <a:avLst/>
          </a:prstGeom>
          <a:noFill/>
          <a:ln w="9525" algn="ctr">
            <a:solidFill>
              <a:srgbClr val="FF00FF"/>
            </a:solidFill>
            <a:miter lim="800000"/>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36000" rIns="0" bIns="36000"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114000"/>
              </a:lnSpc>
            </a:pPr>
            <a:r>
              <a:rPr lang="en-US" altLang="zh-CN" sz="1200" b="1" dirty="0">
                <a:solidFill>
                  <a:srgbClr val="990033"/>
                </a:solidFill>
                <a:latin typeface="Arial" panose="020B0604020202020204" pitchFamily="34" charset="0"/>
                <a:cs typeface="Arial" panose="020B0604020202020204" pitchFamily="34" charset="0"/>
                <a:hlinkClick r:id="rId4" action="ppaction://hlinksldjump"/>
              </a:rPr>
              <a:t>The aforementioned process of retrieving and decoding the finger must be repeated</a:t>
            </a:r>
          </a:p>
        </p:txBody>
      </p:sp>
      <p:sp>
        <p:nvSpPr>
          <p:cNvPr id="8" name="左弧形箭头 7"/>
          <p:cNvSpPr>
            <a:spLocks noChangeArrowheads="1"/>
          </p:cNvSpPr>
          <p:nvPr/>
        </p:nvSpPr>
        <p:spPr bwMode="auto">
          <a:xfrm>
            <a:off x="112711" y="1413522"/>
            <a:ext cx="290513" cy="1168400"/>
          </a:xfrm>
          <a:prstGeom prst="curvedRightArrow">
            <a:avLst>
              <a:gd name="adj1" fmla="val 24969"/>
              <a:gd name="adj2" fmla="val 49919"/>
              <a:gd name="adj3" fmla="val 25000"/>
            </a:avLst>
          </a:prstGeom>
          <a:solidFill>
            <a:schemeClr val="accent1">
              <a:alpha val="50195"/>
            </a:schemeClr>
          </a:solidFill>
          <a:ln w="9525" algn="ctr">
            <a:solidFill>
              <a:srgbClr val="FF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 name="Rectangle 6"/>
          <p:cNvSpPr>
            <a:spLocks noChangeArrowheads="1"/>
          </p:cNvSpPr>
          <p:nvPr/>
        </p:nvSpPr>
        <p:spPr bwMode="auto">
          <a:xfrm>
            <a:off x="8075613" y="3226539"/>
            <a:ext cx="1011237" cy="1181212"/>
          </a:xfrm>
          <a:prstGeom prst="rect">
            <a:avLst/>
          </a:prstGeom>
          <a:noFill/>
          <a:ln w="9525" algn="ctr">
            <a:solidFill>
              <a:srgbClr val="FF00FF"/>
            </a:solidFill>
            <a:miter lim="800000"/>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36000"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75000"/>
              </a:lnSpc>
            </a:pPr>
            <a:r>
              <a:rPr lang="en-US" altLang="zh-CN" sz="1600" b="1" dirty="0">
                <a:solidFill>
                  <a:srgbClr val="990033"/>
                </a:solidFill>
                <a:latin typeface="Arial" panose="020B0604020202020204" pitchFamily="34" charset="0"/>
                <a:cs typeface="Arial" panose="020B0604020202020204" pitchFamily="34" charset="0"/>
              </a:rPr>
              <a:t>Decoding generates microcontroller commands</a:t>
            </a:r>
            <a:endParaRPr lang="zh-CN" altLang="en-US" sz="1600" b="1" dirty="0">
              <a:solidFill>
                <a:srgbClr val="990033"/>
              </a:solidFill>
              <a:latin typeface="Arial" panose="020B0604020202020204" pitchFamily="34" charset="0"/>
              <a:cs typeface="Arial" panose="020B0604020202020204" pitchFamily="34" charset="0"/>
            </a:endParaRPr>
          </a:p>
        </p:txBody>
      </p:sp>
      <p:sp>
        <p:nvSpPr>
          <p:cNvPr id="13" name="Rectangle 6"/>
          <p:cNvSpPr>
            <a:spLocks noChangeArrowheads="1"/>
          </p:cNvSpPr>
          <p:nvPr/>
        </p:nvSpPr>
        <p:spPr bwMode="auto">
          <a:xfrm>
            <a:off x="3873501" y="2035124"/>
            <a:ext cx="3500438" cy="452491"/>
          </a:xfrm>
          <a:prstGeom prst="rect">
            <a:avLst/>
          </a:prstGeom>
          <a:noFill/>
          <a:ln w="9525" algn="ctr">
            <a:solidFill>
              <a:srgbClr val="FF00FF"/>
            </a:solidFill>
            <a:miter lim="800000"/>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nchor="b">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75000"/>
              </a:lnSpc>
            </a:pPr>
            <a:r>
              <a:rPr lang="en-US" altLang="zh-CN" b="1" dirty="0">
                <a:solidFill>
                  <a:srgbClr val="990033"/>
                </a:solidFill>
                <a:latin typeface="Arial" panose="020B0604020202020204" pitchFamily="34" charset="0"/>
                <a:cs typeface="Arial" panose="020B0604020202020204" pitchFamily="34" charset="0"/>
              </a:rPr>
              <a:t>Read the next machine code into A</a:t>
            </a:r>
            <a:endParaRPr lang="zh-CN" altLang="en-US" b="1" dirty="0">
              <a:solidFill>
                <a:srgbClr val="990033"/>
              </a:solidFill>
              <a:latin typeface="Arial" panose="020B0604020202020204" pitchFamily="34" charset="0"/>
              <a:cs typeface="Arial" panose="020B0604020202020204" pitchFamily="34" charset="0"/>
            </a:endParaRPr>
          </a:p>
        </p:txBody>
      </p:sp>
      <p:sp>
        <p:nvSpPr>
          <p:cNvPr id="14" name="矩形 13"/>
          <p:cNvSpPr>
            <a:spLocks noChangeArrowheads="1"/>
          </p:cNvSpPr>
          <p:nvPr/>
        </p:nvSpPr>
        <p:spPr bwMode="auto">
          <a:xfrm>
            <a:off x="6126163" y="5357023"/>
            <a:ext cx="2960687" cy="615553"/>
          </a:xfrm>
          <a:prstGeom prst="rect">
            <a:avLst/>
          </a:prstGeom>
          <a:solidFill>
            <a:schemeClr val="bg1"/>
          </a:solidFill>
          <a:ln w="9525">
            <a:solidFill>
              <a:srgbClr val="FF00FF"/>
            </a:solidFill>
            <a:miter lim="800000"/>
          </a:ln>
        </p:spPr>
        <p:txBody>
          <a:bodyPr lIns="0" tIns="0" r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dirty="0">
                <a:latin typeface="Arial" panose="020B0604020202020204" pitchFamily="34" charset="0"/>
                <a:cs typeface="Arial" panose="020B0604020202020204" pitchFamily="34" charset="0"/>
              </a:rPr>
              <a:t>“</a:t>
            </a:r>
            <a:r>
              <a:rPr lang="en-US" altLang="zh-CN" sz="2000" dirty="0">
                <a:solidFill>
                  <a:srgbClr val="0000CC"/>
                </a:solidFill>
                <a:latin typeface="Arial" panose="020B0604020202020204" pitchFamily="34" charset="0"/>
                <a:cs typeface="Arial" panose="020B0604020202020204" pitchFamily="34" charset="0"/>
              </a:rPr>
              <a:t>MOV A</a:t>
            </a:r>
            <a:r>
              <a:rPr lang="en-US" altLang="zh-CN" sz="2000" b="1" dirty="0">
                <a:solidFill>
                  <a:srgbClr val="0000CC"/>
                </a:solidFill>
                <a:latin typeface="Arial" panose="020B0604020202020204" pitchFamily="34" charset="0"/>
                <a:cs typeface="Arial" panose="020B0604020202020204" pitchFamily="34" charset="0"/>
              </a:rPr>
              <a:t>, </a:t>
            </a:r>
            <a:r>
              <a:rPr lang="en-US" altLang="zh-CN" sz="2000" b="1" dirty="0">
                <a:solidFill>
                  <a:srgbClr val="FF0000"/>
                </a:solidFill>
                <a:latin typeface="Arial" panose="020B0604020202020204" pitchFamily="34" charset="0"/>
                <a:cs typeface="Arial" panose="020B0604020202020204" pitchFamily="34" charset="0"/>
              </a:rPr>
              <a:t>#</a:t>
            </a:r>
            <a:r>
              <a:rPr lang="en-US" altLang="zh-CN" sz="2000" dirty="0">
                <a:solidFill>
                  <a:srgbClr val="0000CC"/>
                </a:solidFill>
                <a:latin typeface="Arial" panose="020B0604020202020204" pitchFamily="34" charset="0"/>
                <a:cs typeface="Arial" panose="020B0604020202020204" pitchFamily="34" charset="0"/>
              </a:rPr>
              <a:t>07H</a:t>
            </a:r>
            <a:r>
              <a:rPr lang="en-US" altLang="zh-CN" sz="2000" dirty="0">
                <a:latin typeface="Arial" panose="020B0604020202020204" pitchFamily="34" charset="0"/>
                <a:cs typeface="Arial" panose="020B0604020202020204" pitchFamily="34" charset="0"/>
              </a:rPr>
              <a:t>” </a:t>
            </a:r>
          </a:p>
          <a:p>
            <a:pPr eaLnBrk="1" hangingPunct="1"/>
            <a:r>
              <a:rPr lang="en-US" altLang="zh-CN" sz="2000" dirty="0">
                <a:latin typeface="Arial" panose="020B0604020202020204" pitchFamily="34" charset="0"/>
                <a:cs typeface="Arial" panose="020B0604020202020204" pitchFamily="34" charset="0"/>
              </a:rPr>
              <a:t>machine code:</a:t>
            </a:r>
            <a:r>
              <a:rPr lang="pt-BR" altLang="zh-CN" sz="2000" b="1" dirty="0">
                <a:solidFill>
                  <a:srgbClr val="FF0000"/>
                </a:solidFill>
                <a:latin typeface="Arial" panose="020B0604020202020204" pitchFamily="34" charset="0"/>
                <a:cs typeface="Arial" panose="020B0604020202020204" pitchFamily="34" charset="0"/>
              </a:rPr>
              <a:t>B0H  07H</a:t>
            </a:r>
            <a:endParaRPr lang="zh-CN" altLang="en-US" sz="2000" dirty="0">
              <a:latin typeface="Arial" panose="020B0604020202020204" pitchFamily="34" charset="0"/>
              <a:cs typeface="Arial" panose="020B0604020202020204" pitchFamily="34" charset="0"/>
            </a:endParaRPr>
          </a:p>
        </p:txBody>
      </p:sp>
      <p:sp>
        <p:nvSpPr>
          <p:cNvPr id="31759" name="矩形 14">
            <a:hlinkClick r:id="rId5" action="ppaction://hlinksldjump"/>
          </p:cNvPr>
          <p:cNvSpPr>
            <a:spLocks noChangeArrowheads="1"/>
          </p:cNvSpPr>
          <p:nvPr/>
        </p:nvSpPr>
        <p:spPr bwMode="auto">
          <a:xfrm>
            <a:off x="92075" y="396875"/>
            <a:ext cx="8340725" cy="415925"/>
          </a:xfrm>
          <a:prstGeom prst="rect">
            <a:avLst/>
          </a:prstGeom>
        </p:spPr>
        <p:txBody>
          <a:bodyPr vert="horz" lIns="91440" tIns="45720" rIns="91440" bIns="45720" rtlCol="0" anchor="b">
            <a:normAutofit lnSpcReduction="10000"/>
          </a:bodyPr>
          <a:lstStyle/>
          <a:p>
            <a:pPr defTabSz="914400">
              <a:lnSpc>
                <a:spcPct val="85000"/>
              </a:lnSpc>
              <a:spcBef>
                <a:spcPct val="0"/>
              </a:spcBef>
            </a:pPr>
            <a:endParaRPr lang="zh-CN" altLang="en-US" sz="2800" spc="-50">
              <a:solidFill>
                <a:schemeClr val="tx1">
                  <a:lumMod val="75000"/>
                  <a:lumOff val="25000"/>
                </a:schemeClr>
              </a:solidFill>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noChangeArrowheads="1"/>
          </p:cNvSpPr>
          <p:nvPr>
            <p:ph type="title"/>
          </p:nvPr>
        </p:nvSpPr>
        <p:spPr>
          <a:xfrm>
            <a:off x="101600" y="484982"/>
            <a:ext cx="8928100" cy="504825"/>
          </a:xfrm>
          <a:solidFill>
            <a:schemeClr val="bg1"/>
          </a:solidFill>
        </p:spPr>
        <p:txBody>
          <a:bodyPr>
            <a:noAutofit/>
          </a:bodyPr>
          <a:lstStyle/>
          <a:p>
            <a:pPr eaLnBrk="1" hangingPunct="1"/>
            <a:r>
              <a:rPr lang="en-US" altLang="zh-CN" sz="3200" dirty="0">
                <a:solidFill>
                  <a:srgbClr val="990033"/>
                </a:solidFill>
                <a:latin typeface="Arial" panose="020B0604020202020204" pitchFamily="34" charset="0"/>
                <a:cs typeface="Arial" panose="020B0604020202020204" pitchFamily="34" charset="0"/>
              </a:rPr>
              <a:t>Schematic diagram of </a:t>
            </a:r>
            <a:r>
              <a:rPr lang="en-US" altLang="zh-CN" sz="3200" dirty="0">
                <a:solidFill>
                  <a:srgbClr val="FF0000"/>
                </a:solidFill>
                <a:latin typeface="Arial" panose="020B0604020202020204" pitchFamily="34" charset="0"/>
                <a:cs typeface="Arial" panose="020B0604020202020204" pitchFamily="34" charset="0"/>
              </a:rPr>
              <a:t>reading the second byte of </a:t>
            </a:r>
            <a:r>
              <a:rPr lang="en-US" altLang="zh-CN" sz="3200" dirty="0">
                <a:solidFill>
                  <a:srgbClr val="990033"/>
                </a:solidFill>
                <a:latin typeface="Arial" panose="020B0604020202020204" pitchFamily="34" charset="0"/>
                <a:cs typeface="Arial" panose="020B0604020202020204" pitchFamily="34" charset="0"/>
              </a:rPr>
              <a:t>the first instruction</a:t>
            </a:r>
            <a:r>
              <a:rPr lang="en-US" altLang="zh-CN" sz="3200" dirty="0">
                <a:solidFill>
                  <a:srgbClr val="FF0000"/>
                </a:solidFill>
                <a:latin typeface="Arial" panose="020B0604020202020204" pitchFamily="34" charset="0"/>
                <a:cs typeface="Arial" panose="020B0604020202020204" pitchFamily="34" charset="0"/>
              </a:rPr>
              <a:t> (executing the instruction)</a:t>
            </a:r>
            <a:endParaRPr lang="zh-CN" altLang="en-US" sz="3200" dirty="0">
              <a:solidFill>
                <a:srgbClr val="3D41D1"/>
              </a:solidFill>
              <a:latin typeface="Arial" panose="020B0604020202020204" pitchFamily="34" charset="0"/>
              <a:cs typeface="Arial" panose="020B0604020202020204" pitchFamily="34" charset="0"/>
            </a:endParaRPr>
          </a:p>
        </p:txBody>
      </p:sp>
      <p:sp>
        <p:nvSpPr>
          <p:cNvPr id="32771" name="Rectangle 3"/>
          <p:cNvSpPr>
            <a:spLocks noGrp="1" noChangeArrowheads="1"/>
          </p:cNvSpPr>
          <p:nvPr>
            <p:ph idx="1"/>
          </p:nvPr>
        </p:nvSpPr>
        <p:spPr>
          <a:xfrm>
            <a:off x="6381742" y="1413668"/>
            <a:ext cx="2246312" cy="379412"/>
          </a:xfrm>
        </p:spPr>
        <p:txBody>
          <a:bodyPr>
            <a:normAutofit fontScale="85000" lnSpcReduction="10000"/>
          </a:bodyPr>
          <a:lstStyle/>
          <a:p>
            <a:pPr eaLnBrk="1" hangingPunct="1">
              <a:buFontTx/>
              <a:buNone/>
            </a:pPr>
            <a:r>
              <a:rPr lang="en-US" altLang="zh-CN" dirty="0">
                <a:solidFill>
                  <a:srgbClr val="3366FF"/>
                </a:solidFill>
                <a:latin typeface="Arial" panose="020B0604020202020204" pitchFamily="34" charset="0"/>
                <a:cs typeface="Arial" panose="020B0604020202020204" pitchFamily="34" charset="0"/>
              </a:rPr>
              <a:t>Retrieve the next byte</a:t>
            </a:r>
          </a:p>
        </p:txBody>
      </p:sp>
      <p:graphicFrame>
        <p:nvGraphicFramePr>
          <p:cNvPr id="444420" name="Object 4"/>
          <p:cNvGraphicFramePr>
            <a:graphicFrameLocks noChangeAspect="1"/>
          </p:cNvGraphicFramePr>
          <p:nvPr/>
        </p:nvGraphicFramePr>
        <p:xfrm>
          <a:off x="708661" y="2227262"/>
          <a:ext cx="5809994" cy="3955801"/>
        </p:xfrm>
        <a:graphic>
          <a:graphicData uri="http://schemas.openxmlformats.org/presentationml/2006/ole">
            <mc:AlternateContent xmlns:mc="http://schemas.openxmlformats.org/markup-compatibility/2006">
              <mc:Choice xmlns:v="urn:schemas-microsoft-com:vml" Requires="v">
                <p:oleObj name="Visio" r:id="rId3" imgW="3401060" imgH="2362835" progId="Visio.Drawing.11">
                  <p:embed/>
                </p:oleObj>
              </mc:Choice>
              <mc:Fallback>
                <p:oleObj name="Visio" r:id="rId3" imgW="3401060" imgH="2362835"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661" y="2227262"/>
                        <a:ext cx="5809994" cy="3955801"/>
                      </a:xfrm>
                      <a:prstGeom prst="rect">
                        <a:avLst/>
                      </a:prstGeom>
                      <a:noFill/>
                      <a:ln>
                        <a:noFill/>
                      </a:ln>
                    </p:spPr>
                  </p:pic>
                </p:oleObj>
              </mc:Fallback>
            </mc:AlternateContent>
          </a:graphicData>
        </a:graphic>
      </p:graphicFrame>
      <p:sp>
        <p:nvSpPr>
          <p:cNvPr id="444423" name="Rectangle 7"/>
          <p:cNvSpPr>
            <a:spLocks noChangeArrowheads="1"/>
          </p:cNvSpPr>
          <p:nvPr/>
        </p:nvSpPr>
        <p:spPr bwMode="auto">
          <a:xfrm>
            <a:off x="4042901" y="5591502"/>
            <a:ext cx="4951507" cy="646331"/>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3D41D1"/>
                </a:solidFill>
                <a:latin typeface="Arial" panose="020B0604020202020204" pitchFamily="34" charset="0"/>
                <a:cs typeface="Arial" panose="020B0604020202020204" pitchFamily="34" charset="0"/>
              </a:rPr>
              <a:t>Fig</a:t>
            </a:r>
            <a:r>
              <a:rPr lang="zh-CN" altLang="en-US" b="1" dirty="0">
                <a:solidFill>
                  <a:srgbClr val="3D41D1"/>
                </a:solidFill>
                <a:latin typeface="Arial" panose="020B0604020202020204" pitchFamily="34" charset="0"/>
                <a:cs typeface="Arial" panose="020B0604020202020204" pitchFamily="34" charset="0"/>
              </a:rPr>
              <a:t> </a:t>
            </a:r>
            <a:r>
              <a:rPr lang="en-US" altLang="zh-CN" b="1" dirty="0">
                <a:solidFill>
                  <a:srgbClr val="3D41D1"/>
                </a:solidFill>
                <a:latin typeface="Arial" panose="020B0604020202020204" pitchFamily="34" charset="0"/>
                <a:cs typeface="Arial" panose="020B0604020202020204" pitchFamily="34" charset="0"/>
              </a:rPr>
              <a:t>3-5 Schematic diagram for </a:t>
            </a:r>
            <a:r>
              <a:rPr lang="en-US" altLang="zh-CN" b="1" dirty="0">
                <a:solidFill>
                  <a:srgbClr val="FF0000"/>
                </a:solidFill>
                <a:latin typeface="Arial" panose="020B0604020202020204" pitchFamily="34" charset="0"/>
                <a:cs typeface="Arial" panose="020B0604020202020204" pitchFamily="34" charset="0"/>
              </a:rPr>
              <a:t>executing </a:t>
            </a:r>
            <a:r>
              <a:rPr lang="en-US" altLang="zh-CN" b="1" dirty="0">
                <a:solidFill>
                  <a:srgbClr val="3D41D1"/>
                </a:solidFill>
                <a:latin typeface="Arial" panose="020B0604020202020204" pitchFamily="34" charset="0"/>
                <a:cs typeface="Arial" panose="020B0604020202020204" pitchFamily="34" charset="0"/>
              </a:rPr>
              <a:t>the first instruction</a:t>
            </a:r>
            <a:endParaRPr lang="zh-CN" altLang="en-US" b="1" dirty="0">
              <a:solidFill>
                <a:srgbClr val="3D41D1"/>
              </a:solidFill>
              <a:latin typeface="Arial" panose="020B0604020202020204" pitchFamily="34" charset="0"/>
              <a:cs typeface="Arial" panose="020B0604020202020204" pitchFamily="34" charset="0"/>
            </a:endParaRPr>
          </a:p>
        </p:txBody>
      </p:sp>
      <p:sp>
        <p:nvSpPr>
          <p:cNvPr id="32774" name="矩形 2"/>
          <p:cNvSpPr>
            <a:spLocks noChangeArrowheads="1"/>
          </p:cNvSpPr>
          <p:nvPr/>
        </p:nvSpPr>
        <p:spPr bwMode="auto">
          <a:xfrm>
            <a:off x="39687" y="1109462"/>
            <a:ext cx="60166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dirty="0">
                <a:cs typeface="Times New Roman" panose="02020603050405020304" pitchFamily="18" charset="0"/>
              </a:rPr>
              <a:t>“</a:t>
            </a:r>
            <a:r>
              <a:rPr lang="en-US" altLang="zh-CN" sz="2400" dirty="0">
                <a:solidFill>
                  <a:srgbClr val="0000CC"/>
                </a:solidFill>
                <a:cs typeface="Times New Roman" panose="02020603050405020304" pitchFamily="18" charset="0"/>
              </a:rPr>
              <a:t>MOV A</a:t>
            </a:r>
            <a:r>
              <a:rPr lang="en-US" altLang="zh-CN" sz="2400" b="1" dirty="0">
                <a:solidFill>
                  <a:srgbClr val="0000CC"/>
                </a:solidFill>
                <a:cs typeface="Times New Roman" panose="02020603050405020304" pitchFamily="18" charset="0"/>
              </a:rPr>
              <a:t>, </a:t>
            </a:r>
            <a:r>
              <a:rPr lang="en-US" altLang="zh-CN" sz="2400" b="1" dirty="0">
                <a:solidFill>
                  <a:srgbClr val="FF0000"/>
                </a:solidFill>
                <a:cs typeface="Times New Roman" panose="02020603050405020304" pitchFamily="18" charset="0"/>
              </a:rPr>
              <a:t>#</a:t>
            </a:r>
            <a:r>
              <a:rPr lang="en-US" altLang="zh-CN" sz="2400" dirty="0">
                <a:solidFill>
                  <a:srgbClr val="0000CC"/>
                </a:solidFill>
                <a:cs typeface="Times New Roman" panose="02020603050405020304" pitchFamily="18" charset="0"/>
              </a:rPr>
              <a:t>07H</a:t>
            </a:r>
            <a:r>
              <a:rPr lang="en-US" altLang="zh-CN" sz="2400" dirty="0">
                <a:cs typeface="Times New Roman" panose="02020603050405020304" pitchFamily="18" charset="0"/>
              </a:rPr>
              <a:t>” (machine code:</a:t>
            </a:r>
            <a:r>
              <a:rPr lang="pt-BR" altLang="zh-CN" sz="2400" b="1" dirty="0">
                <a:solidFill>
                  <a:srgbClr val="FF0000"/>
                </a:solidFill>
                <a:cs typeface="Times New Roman" panose="02020603050405020304" pitchFamily="18" charset="0"/>
              </a:rPr>
              <a:t>B0H  07H</a:t>
            </a:r>
            <a:r>
              <a:rPr lang="en-US" altLang="zh-CN" sz="2400" dirty="0">
                <a:cs typeface="Times New Roman" panose="02020603050405020304" pitchFamily="18" charset="0"/>
              </a:rPr>
              <a:t>),</a:t>
            </a:r>
            <a:endParaRPr lang="zh-CN" altLang="en-US" sz="2400" dirty="0">
              <a:cs typeface="Times New Roman" panose="02020603050405020304" pitchFamily="18" charset="0"/>
            </a:endParaRPr>
          </a:p>
        </p:txBody>
      </p:sp>
      <p:sp>
        <p:nvSpPr>
          <p:cNvPr id="10" name="矩形 9"/>
          <p:cNvSpPr>
            <a:spLocks noChangeArrowheads="1"/>
          </p:cNvSpPr>
          <p:nvPr/>
        </p:nvSpPr>
        <p:spPr bwMode="auto">
          <a:xfrm>
            <a:off x="2557321" y="1847850"/>
            <a:ext cx="98135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dirty="0"/>
              <a:t>Add</a:t>
            </a:r>
            <a:r>
              <a:rPr lang="zh-CN" altLang="en-US" sz="2400" b="1" dirty="0"/>
              <a:t> </a:t>
            </a:r>
            <a:r>
              <a:rPr lang="en-US" altLang="zh-CN" sz="2400" b="1" dirty="0"/>
              <a:t>1</a:t>
            </a:r>
            <a:endParaRPr lang="zh-CN" altLang="en-US" sz="2400" b="1" dirty="0"/>
          </a:p>
        </p:txBody>
      </p:sp>
      <p:sp>
        <p:nvSpPr>
          <p:cNvPr id="11" name="矩形 10"/>
          <p:cNvSpPr>
            <a:spLocks noChangeArrowheads="1"/>
          </p:cNvSpPr>
          <p:nvPr/>
        </p:nvSpPr>
        <p:spPr bwMode="auto">
          <a:xfrm>
            <a:off x="1208088" y="4614070"/>
            <a:ext cx="101123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dirty="0"/>
              <a:t>地址译码</a:t>
            </a:r>
          </a:p>
        </p:txBody>
      </p:sp>
      <p:sp>
        <p:nvSpPr>
          <p:cNvPr id="12" name="Rectangle 3"/>
          <p:cNvSpPr txBox="1">
            <a:spLocks noChangeArrowheads="1"/>
          </p:cNvSpPr>
          <p:nvPr/>
        </p:nvSpPr>
        <p:spPr bwMode="auto">
          <a:xfrm>
            <a:off x="216429" y="1499790"/>
            <a:ext cx="6082771"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5"/>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6"/>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eaLnBrk="1" hangingPunct="1">
              <a:buFontTx/>
              <a:buNone/>
              <a:defRPr/>
            </a:pPr>
            <a:r>
              <a:rPr lang="en-US" altLang="zh-CN" sz="2400" dirty="0">
                <a:solidFill>
                  <a:srgbClr val="FF00FF"/>
                </a:solidFill>
              </a:rPr>
              <a:t>The process of retrieving machine code </a:t>
            </a:r>
            <a:r>
              <a:rPr lang="en-US" altLang="zh-CN" sz="2400" dirty="0">
                <a:solidFill>
                  <a:srgbClr val="FF0000"/>
                </a:solidFill>
              </a:rPr>
              <a:t>07H</a:t>
            </a:r>
            <a:r>
              <a:rPr lang="en-US" altLang="zh-CN" sz="2400" dirty="0">
                <a:solidFill>
                  <a:srgbClr val="FF00FF"/>
                </a:solidFill>
              </a:rPr>
              <a:t>:</a:t>
            </a:r>
            <a:endParaRPr lang="zh-CN" altLang="en-US" sz="2400" kern="0" dirty="0"/>
          </a:p>
        </p:txBody>
      </p:sp>
      <p:sp>
        <p:nvSpPr>
          <p:cNvPr id="4" name="灯片编号占位符 3"/>
          <p:cNvSpPr>
            <a:spLocks noGrp="1"/>
          </p:cNvSpPr>
          <p:nvPr>
            <p:ph type="sldNum" sz="quarter" idx="12"/>
          </p:nvPr>
        </p:nvSpPr>
        <p:spPr/>
        <p:txBody>
          <a:bodyPr/>
          <a:lstStyle/>
          <a:p>
            <a:fld id="{22E77DEE-32E4-4009-988B-F2758F7B8AC2}" type="slidenum">
              <a:rPr lang="zh-CN" altLang="en-US" smtClean="0"/>
              <a:t>13</a:t>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nvGraphicFramePr>
        <p:xfrm>
          <a:off x="4959070" y="3771395"/>
          <a:ext cx="3560233" cy="2494378"/>
        </p:xfrm>
        <a:graphic>
          <a:graphicData uri="http://schemas.openxmlformats.org/presentationml/2006/ole">
            <mc:AlternateContent xmlns:mc="http://schemas.openxmlformats.org/markup-compatibility/2006">
              <mc:Choice xmlns:v="urn:schemas-microsoft-com:vml" Requires="v">
                <p:oleObj name="Visio" r:id="rId2" imgW="3603625" imgH="2527935" progId="Visio.Drawing.11">
                  <p:embed/>
                </p:oleObj>
              </mc:Choice>
              <mc:Fallback>
                <p:oleObj name="Visio" r:id="rId2" imgW="3603625" imgH="2527935" progId="Visio.Drawing.11">
                  <p:embed/>
                  <p:pic>
                    <p:nvPicPr>
                      <p:cNvPr id="0" name="对象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9070" y="3771395"/>
                        <a:ext cx="3560233" cy="2494378"/>
                      </a:xfrm>
                      <a:prstGeom prst="rect">
                        <a:avLst/>
                      </a:prstGeom>
                      <a:solidFill>
                        <a:schemeClr val="bg1"/>
                      </a:solidFill>
                      <a:ln w="9525">
                        <a:solidFill>
                          <a:srgbClr val="FF00FF"/>
                        </a:solidFill>
                        <a:miter lim="800000"/>
                        <a:headEnd/>
                        <a:tailEnd/>
                      </a:ln>
                    </p:spPr>
                  </p:pic>
                </p:oleObj>
              </mc:Fallback>
            </mc:AlternateContent>
          </a:graphicData>
        </a:graphic>
      </p:graphicFrame>
      <p:sp>
        <p:nvSpPr>
          <p:cNvPr id="445443" name="Rectangle 3"/>
          <p:cNvSpPr>
            <a:spLocks noGrp="1" noChangeArrowheads="1"/>
          </p:cNvSpPr>
          <p:nvPr>
            <p:ph idx="1"/>
          </p:nvPr>
        </p:nvSpPr>
        <p:spPr>
          <a:xfrm>
            <a:off x="578909" y="1240383"/>
            <a:ext cx="6610879" cy="3919538"/>
          </a:xfrm>
        </p:spPr>
        <p:txBody>
          <a:bodyPr>
            <a:normAutofit/>
          </a:bodyPr>
          <a:lstStyle/>
          <a:p>
            <a:pPr eaLnBrk="1" hangingPunct="1">
              <a:lnSpc>
                <a:spcPct val="105000"/>
              </a:lnSpc>
              <a:spcBef>
                <a:spcPts val="0"/>
              </a:spcBef>
              <a:defRPr/>
            </a:pPr>
            <a:r>
              <a:rPr lang="en-US" altLang="zh-CN" sz="1600" dirty="0">
                <a:latin typeface="Arial" panose="020B0604020202020204" pitchFamily="34" charset="0"/>
                <a:cs typeface="Arial" panose="020B0604020202020204" pitchFamily="34" charset="0"/>
              </a:rPr>
              <a:t>The instruction fetching process for executing the second instruction is identical to that of the first, differing only in the instruction code address.</a:t>
            </a:r>
          </a:p>
          <a:p>
            <a:pPr eaLnBrk="1" hangingPunct="1">
              <a:lnSpc>
                <a:spcPct val="105000"/>
              </a:lnSpc>
              <a:spcBef>
                <a:spcPts val="0"/>
              </a:spcBef>
              <a:defRPr/>
            </a:pPr>
            <a:r>
              <a:rPr lang="en-US" altLang="zh-CN" sz="1600" dirty="0">
                <a:solidFill>
                  <a:srgbClr val="FF0000"/>
                </a:solidFill>
                <a:latin typeface="Arial" panose="020B0604020202020204" pitchFamily="34" charset="0"/>
                <a:cs typeface="Arial" panose="020B0604020202020204" pitchFamily="34" charset="0"/>
              </a:rPr>
              <a:t>Analysis (decoding) of the second instruction's opcode (first byte 04H) </a:t>
            </a:r>
            <a:r>
              <a:rPr lang="en-US" altLang="zh-CN" sz="1600" dirty="0">
                <a:latin typeface="Arial" panose="020B0604020202020204" pitchFamily="34" charset="0"/>
                <a:cs typeface="Arial" panose="020B0604020202020204" pitchFamily="34" charset="0"/>
              </a:rPr>
              <a:t>reveals it to be an addition instruction. The process for executing the </a:t>
            </a:r>
            <a:r>
              <a:rPr lang="en-US" altLang="zh-CN" sz="1600" dirty="0">
                <a:solidFill>
                  <a:srgbClr val="FF0000"/>
                </a:solidFill>
                <a:latin typeface="Arial" panose="020B0604020202020204" pitchFamily="34" charset="0"/>
                <a:cs typeface="Arial" panose="020B0604020202020204" pitchFamily="34" charset="0"/>
              </a:rPr>
              <a:t>second byte </a:t>
            </a:r>
            <a:r>
              <a:rPr lang="en-US" altLang="zh-CN" sz="1600" dirty="0">
                <a:latin typeface="Arial" panose="020B0604020202020204" pitchFamily="34" charset="0"/>
                <a:cs typeface="Arial" panose="020B0604020202020204" pitchFamily="34" charset="0"/>
              </a:rPr>
              <a:t>is as follows</a:t>
            </a:r>
            <a:r>
              <a:rPr lang="zh-CN" altLang="en-US" sz="1600" dirty="0">
                <a:latin typeface="Arial" panose="020B0604020202020204" pitchFamily="34" charset="0"/>
                <a:cs typeface="Arial" panose="020B0604020202020204" pitchFamily="34" charset="0"/>
              </a:rPr>
              <a:t>：</a:t>
            </a:r>
          </a:p>
          <a:p>
            <a:pPr marL="536575" lvl="1" indent="-274955" eaLnBrk="1" hangingPunct="1">
              <a:lnSpc>
                <a:spcPct val="105000"/>
              </a:lnSpc>
              <a:spcBef>
                <a:spcPts val="0"/>
              </a:spcBef>
              <a:spcAft>
                <a:spcPts val="600"/>
              </a:spcAft>
              <a:defRPr/>
            </a:pPr>
            <a:r>
              <a:rPr lang="zh-CN" altLang="en-US" sz="1400" dirty="0">
                <a:latin typeface="Arial" panose="020B0604020202020204" pitchFamily="34" charset="0"/>
                <a:cs typeface="Arial" panose="020B0604020202020204" pitchFamily="34" charset="0"/>
              </a:rPr>
              <a:t>①</a:t>
            </a:r>
            <a:r>
              <a:rPr lang="en-US" altLang="zh-CN" sz="1400" dirty="0">
                <a:latin typeface="Arial" panose="020B0604020202020204" pitchFamily="34" charset="0"/>
                <a:cs typeface="Arial" panose="020B0604020202020204" pitchFamily="34" charset="0"/>
              </a:rPr>
              <a:t>Program counter PC contents (03H) load into AR.</a:t>
            </a:r>
            <a:endParaRPr lang="zh-CN" altLang="en-US" sz="1400" dirty="0">
              <a:latin typeface="Arial" panose="020B0604020202020204" pitchFamily="34" charset="0"/>
              <a:cs typeface="Arial" panose="020B0604020202020204" pitchFamily="34" charset="0"/>
            </a:endParaRPr>
          </a:p>
          <a:p>
            <a:pPr marL="536575" lvl="1" indent="-274955" eaLnBrk="1" hangingPunct="1">
              <a:lnSpc>
                <a:spcPct val="105000"/>
              </a:lnSpc>
              <a:spcBef>
                <a:spcPts val="0"/>
              </a:spcBef>
              <a:spcAft>
                <a:spcPts val="600"/>
              </a:spcAft>
              <a:defRPr/>
            </a:pPr>
            <a:r>
              <a:rPr lang="zh-CN" altLang="en-US" sz="1400" dirty="0">
                <a:latin typeface="Arial" panose="020B0604020202020204" pitchFamily="34" charset="0"/>
                <a:cs typeface="Arial" panose="020B0604020202020204" pitchFamily="34" charset="0"/>
              </a:rPr>
              <a:t>②</a:t>
            </a:r>
            <a:r>
              <a:rPr lang="en-US" altLang="zh-CN" sz="1400" dirty="0">
                <a:latin typeface="Arial" panose="020B0604020202020204" pitchFamily="34" charset="0"/>
                <a:cs typeface="Arial" panose="020B0604020202020204" pitchFamily="34" charset="0"/>
              </a:rPr>
              <a:t>The contents of the program counter (PC) are automatically incremented by 1 and returned to the PC.</a:t>
            </a:r>
            <a:endParaRPr lang="zh-CN" altLang="en-US" sz="1400" dirty="0">
              <a:latin typeface="Arial" panose="020B0604020202020204" pitchFamily="34" charset="0"/>
              <a:cs typeface="Arial" panose="020B0604020202020204" pitchFamily="34" charset="0"/>
            </a:endParaRPr>
          </a:p>
          <a:p>
            <a:pPr marL="536575" lvl="1" indent="-274955" eaLnBrk="1" hangingPunct="1">
              <a:lnSpc>
                <a:spcPct val="105000"/>
              </a:lnSpc>
              <a:spcBef>
                <a:spcPts val="0"/>
              </a:spcBef>
              <a:spcAft>
                <a:spcPts val="600"/>
              </a:spcAft>
              <a:defRPr/>
            </a:pPr>
            <a:r>
              <a:rPr lang="zh-CN" altLang="en-US" sz="1400" dirty="0">
                <a:latin typeface="Arial" panose="020B0604020202020204" pitchFamily="34" charset="0"/>
                <a:cs typeface="Arial" panose="020B0604020202020204" pitchFamily="34" charset="0"/>
              </a:rPr>
              <a:t>③</a:t>
            </a:r>
            <a:r>
              <a:rPr lang="en-US" altLang="zh-CN" sz="1400" dirty="0">
                <a:latin typeface="Arial" panose="020B0604020202020204" pitchFamily="34" charset="0"/>
                <a:cs typeface="Arial" panose="020B0604020202020204" pitchFamily="34" charset="0"/>
              </a:rPr>
              <a:t>The contents of the address register AR are sent via the address bus AB to the memory address decoder.</a:t>
            </a:r>
            <a:endParaRPr lang="en-US" altLang="zh-CN" dirty="0">
              <a:solidFill>
                <a:srgbClr val="3366FF"/>
              </a:solidFill>
              <a:latin typeface="Arial" panose="020B0604020202020204" pitchFamily="34" charset="0"/>
              <a:cs typeface="Arial" panose="020B0604020202020204" pitchFamily="34" charset="0"/>
            </a:endParaRPr>
          </a:p>
        </p:txBody>
      </p:sp>
      <p:sp>
        <p:nvSpPr>
          <p:cNvPr id="34819" name="标题 1"/>
          <p:cNvSpPr>
            <a:spLocks noGrp="1" noChangeArrowheads="1"/>
          </p:cNvSpPr>
          <p:nvPr>
            <p:ph type="title"/>
          </p:nvPr>
        </p:nvSpPr>
        <p:spPr>
          <a:xfrm>
            <a:off x="409576" y="476250"/>
            <a:ext cx="7920923" cy="504825"/>
          </a:xfrm>
        </p:spPr>
        <p:txBody>
          <a:bodyPr>
            <a:noAutofit/>
          </a:bodyPr>
          <a:lstStyle/>
          <a:p>
            <a:pPr eaLnBrk="1" hangingPunct="1"/>
            <a:r>
              <a:rPr lang="en-US" altLang="zh-CN" sz="2500" dirty="0">
                <a:solidFill>
                  <a:srgbClr val="FF0000"/>
                </a:solidFill>
                <a:latin typeface="Arial" panose="020B0604020202020204" pitchFamily="34" charset="0"/>
                <a:cs typeface="Arial" panose="020B0604020202020204" pitchFamily="34" charset="0"/>
              </a:rPr>
              <a:t>Execute </a:t>
            </a:r>
            <a:r>
              <a:rPr lang="en-US" altLang="zh-CN" sz="2500" dirty="0">
                <a:latin typeface="Arial" panose="020B0604020202020204" pitchFamily="34" charset="0"/>
                <a:cs typeface="Arial" panose="020B0604020202020204" pitchFamily="34" charset="0"/>
              </a:rPr>
              <a:t>the second instruction “</a:t>
            </a:r>
            <a:r>
              <a:rPr lang="en-US" altLang="zh-CN" sz="2500" dirty="0">
                <a:solidFill>
                  <a:schemeClr val="tx1"/>
                </a:solidFill>
                <a:latin typeface="Arial" panose="020B0604020202020204" pitchFamily="34" charset="0"/>
                <a:cs typeface="Arial" panose="020B0604020202020204" pitchFamily="34" charset="0"/>
              </a:rPr>
              <a:t>ADD A, </a:t>
            </a:r>
            <a:r>
              <a:rPr lang="en-US" altLang="zh-CN" sz="2500" dirty="0">
                <a:solidFill>
                  <a:srgbClr val="FF0000"/>
                </a:solidFill>
                <a:latin typeface="Arial" panose="020B0604020202020204" pitchFamily="34" charset="0"/>
                <a:cs typeface="Arial" panose="020B0604020202020204" pitchFamily="34" charset="0"/>
              </a:rPr>
              <a:t>#</a:t>
            </a:r>
            <a:r>
              <a:rPr lang="en-US" altLang="zh-CN" sz="2500" dirty="0">
                <a:solidFill>
                  <a:schemeClr val="tx1"/>
                </a:solidFill>
                <a:latin typeface="Arial" panose="020B0604020202020204" pitchFamily="34" charset="0"/>
                <a:cs typeface="Arial" panose="020B0604020202020204" pitchFamily="34" charset="0"/>
              </a:rPr>
              <a:t>0AH</a:t>
            </a:r>
            <a:r>
              <a:rPr lang="en-US" altLang="zh-CN" sz="2500" dirty="0">
                <a:latin typeface="Arial" panose="020B0604020202020204" pitchFamily="34" charset="0"/>
                <a:cs typeface="Arial" panose="020B0604020202020204" pitchFamily="34" charset="0"/>
              </a:rPr>
              <a:t>”(machine code: </a:t>
            </a:r>
            <a:r>
              <a:rPr lang="en-US" altLang="zh-CN" sz="2500" dirty="0">
                <a:solidFill>
                  <a:srgbClr val="FF0000"/>
                </a:solidFill>
                <a:latin typeface="Arial" panose="020B0604020202020204" pitchFamily="34" charset="0"/>
                <a:cs typeface="Arial" panose="020B0604020202020204" pitchFamily="34" charset="0"/>
              </a:rPr>
              <a:t>04H</a:t>
            </a:r>
            <a:r>
              <a:rPr lang="en-US" altLang="zh-CN" sz="2500" dirty="0">
                <a:solidFill>
                  <a:schemeClr val="tx1"/>
                </a:solidFill>
                <a:latin typeface="Arial" panose="020B0604020202020204" pitchFamily="34" charset="0"/>
                <a:cs typeface="Arial" panose="020B0604020202020204" pitchFamily="34" charset="0"/>
              </a:rPr>
              <a:t>  </a:t>
            </a:r>
            <a:r>
              <a:rPr lang="en-US" altLang="zh-CN" sz="2500" dirty="0">
                <a:solidFill>
                  <a:srgbClr val="FF0000"/>
                </a:solidFill>
                <a:latin typeface="Arial" panose="020B0604020202020204" pitchFamily="34" charset="0"/>
                <a:cs typeface="Arial" panose="020B0604020202020204" pitchFamily="34" charset="0"/>
              </a:rPr>
              <a:t>0AH</a:t>
            </a:r>
            <a:r>
              <a:rPr lang="en-US" altLang="zh-CN" sz="2500" dirty="0">
                <a:latin typeface="Arial" panose="020B0604020202020204" pitchFamily="34" charset="0"/>
                <a:cs typeface="Arial" panose="020B0604020202020204" pitchFamily="34" charset="0"/>
              </a:rPr>
              <a:t>)</a:t>
            </a:r>
            <a:endParaRPr lang="zh-CN" altLang="en-US" sz="2500" dirty="0">
              <a:latin typeface="Arial" panose="020B0604020202020204" pitchFamily="34" charset="0"/>
              <a:cs typeface="Arial" panose="020B0604020202020204" pitchFamily="34" charset="0"/>
            </a:endParaRPr>
          </a:p>
        </p:txBody>
      </p:sp>
      <p:sp>
        <p:nvSpPr>
          <p:cNvPr id="5" name="Rectangle 3"/>
          <p:cNvSpPr txBox="1">
            <a:spLocks noChangeArrowheads="1"/>
          </p:cNvSpPr>
          <p:nvPr/>
        </p:nvSpPr>
        <p:spPr bwMode="auto">
          <a:xfrm>
            <a:off x="258168" y="3937412"/>
            <a:ext cx="4635447" cy="1347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Blip>
                <a:blip r:embed="rId4"/>
              </a:buBlip>
              <a:defRPr sz="32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defRPr>
            </a:lvl1pPr>
            <a:lvl2pPr marL="742950" indent="-285750" algn="just">
              <a:spcBef>
                <a:spcPct val="20000"/>
              </a:spcBef>
              <a:buBlip>
                <a:blip r:embed="rId5"/>
              </a:buBlip>
              <a:defRPr sz="2800" b="1">
                <a:solidFill>
                  <a:schemeClr val="tx1"/>
                </a:solidFill>
                <a:latin typeface="Arial" panose="020B0604020202020204" pitchFamily="34" charset="0"/>
                <a:ea typeface="宋体" panose="02010600030101010101" pitchFamily="2" charset="-122"/>
              </a:defRPr>
            </a:lvl2pPr>
            <a:lvl3pPr marL="1143000" indent="-228600" algn="just">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gn="just">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just">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lvl="1" eaLnBrk="1" hangingPunct="1">
              <a:spcBef>
                <a:spcPct val="0"/>
              </a:spcBef>
              <a:spcAft>
                <a:spcPts val="600"/>
              </a:spcAft>
            </a:pPr>
            <a:r>
              <a:rPr lang="zh-CN" altLang="en-US" sz="1400" dirty="0">
                <a:cs typeface="Arial" panose="020B0604020202020204" pitchFamily="34" charset="0"/>
              </a:rPr>
              <a:t>④</a:t>
            </a:r>
            <a:r>
              <a:rPr lang="en-US" altLang="zh-CN" sz="1400" dirty="0">
                <a:cs typeface="Arial" panose="020B0604020202020204" pitchFamily="34" charset="0"/>
              </a:rPr>
              <a:t>The CPU issues a “read” command.</a:t>
            </a:r>
            <a:endParaRPr lang="zh-CN" altLang="en-US" sz="1400" dirty="0">
              <a:cs typeface="Arial" panose="020B0604020202020204" pitchFamily="34" charset="0"/>
            </a:endParaRPr>
          </a:p>
          <a:p>
            <a:pPr lvl="1" eaLnBrk="1" hangingPunct="1">
              <a:spcBef>
                <a:spcPct val="0"/>
              </a:spcBef>
              <a:spcAft>
                <a:spcPts val="600"/>
              </a:spcAft>
            </a:pPr>
            <a:r>
              <a:rPr lang="zh-CN" altLang="en-US" sz="1400" dirty="0">
                <a:cs typeface="Arial" panose="020B0604020202020204" pitchFamily="34" charset="0"/>
              </a:rPr>
              <a:t>⑤</a:t>
            </a:r>
            <a:r>
              <a:rPr lang="en-US" altLang="zh-CN" sz="1400" dirty="0">
                <a:cs typeface="Arial" panose="020B0604020202020204" pitchFamily="34" charset="0"/>
              </a:rPr>
              <a:t>The contents of the selected 03H cell, 0AH, are sent to the data bus DB.</a:t>
            </a:r>
            <a:endParaRPr lang="zh-CN" altLang="en-US" sz="1400" dirty="0">
              <a:cs typeface="Arial" panose="020B0604020202020204" pitchFamily="34" charset="0"/>
            </a:endParaRPr>
          </a:p>
          <a:p>
            <a:pPr lvl="1" eaLnBrk="1" hangingPunct="1">
              <a:spcBef>
                <a:spcPct val="0"/>
              </a:spcBef>
              <a:spcAft>
                <a:spcPts val="600"/>
              </a:spcAft>
            </a:pPr>
            <a:r>
              <a:rPr lang="zh-CN" altLang="en-US" sz="1400" dirty="0">
                <a:cs typeface="Arial" panose="020B0604020202020204" pitchFamily="34" charset="0"/>
              </a:rPr>
              <a:t>⑥</a:t>
            </a:r>
            <a:r>
              <a:rPr lang="en-US" altLang="zh-CN" sz="1400" dirty="0">
                <a:cs typeface="Arial" panose="020B0604020202020204" pitchFamily="34" charset="0"/>
              </a:rPr>
              <a:t>Data from the data bus DB is transferred to the data register DR.</a:t>
            </a:r>
            <a:endParaRPr lang="zh-CN" altLang="en-US" sz="1400" dirty="0">
              <a:cs typeface="Arial" panose="020B0604020202020204" pitchFamily="34" charset="0"/>
            </a:endParaRPr>
          </a:p>
        </p:txBody>
      </p:sp>
      <p:graphicFrame>
        <p:nvGraphicFramePr>
          <p:cNvPr id="7" name="Group 72"/>
          <p:cNvGraphicFramePr>
            <a:graphicFrameLocks noGrp="1"/>
          </p:cNvGraphicFramePr>
          <p:nvPr/>
        </p:nvGraphicFramePr>
        <p:xfrm>
          <a:off x="7189788" y="2162969"/>
          <a:ext cx="1654175" cy="1555750"/>
        </p:xfrm>
        <a:graphic>
          <a:graphicData uri="http://schemas.openxmlformats.org/drawingml/2006/table">
            <a:tbl>
              <a:tblPr/>
              <a:tblGrid>
                <a:gridCol w="669146">
                  <a:extLst>
                    <a:ext uri="{9D8B030D-6E8A-4147-A177-3AD203B41FA5}">
                      <a16:colId xmlns:a16="http://schemas.microsoft.com/office/drawing/2014/main" val="20000"/>
                    </a:ext>
                  </a:extLst>
                </a:gridCol>
                <a:gridCol w="985029">
                  <a:extLst>
                    <a:ext uri="{9D8B030D-6E8A-4147-A177-3AD203B41FA5}">
                      <a16:colId xmlns:a16="http://schemas.microsoft.com/office/drawing/2014/main" val="20001"/>
                    </a:ext>
                  </a:extLst>
                </a:gridCol>
              </a:tblGrid>
              <a:tr h="311150">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85000"/>
                        </a:lnSpc>
                        <a:spcBef>
                          <a:spcPct val="0"/>
                        </a:spcBef>
                        <a:spcAft>
                          <a:spcPct val="0"/>
                        </a:spcAft>
                        <a:buClrTx/>
                        <a:buSzTx/>
                        <a:buFontTx/>
                        <a:buNone/>
                      </a:pPr>
                      <a:r>
                        <a:rPr kumimoji="0" lang="en-US" altLang="zh-CN" sz="2400" b="1" i="0" u="none" strike="noStrike" cap="none" normalizeH="0" baseline="0">
                          <a:ln>
                            <a:noFill/>
                          </a:ln>
                          <a:solidFill>
                            <a:srgbClr val="0000CC"/>
                          </a:solidFill>
                          <a:effectLst/>
                          <a:latin typeface="Times New Roman" panose="02020603050405020304" pitchFamily="18" charset="0"/>
                          <a:ea typeface="宋体" panose="02010600030101010101" pitchFamily="2" charset="-122"/>
                          <a:cs typeface="Times New Roman" panose="02020603050405020304" pitchFamily="18" charset="0"/>
                        </a:rPr>
                        <a:t>00H</a:t>
                      </a:r>
                    </a:p>
                  </a:txBody>
                  <a:tcPr marL="0" marR="0"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85000"/>
                        </a:lnSpc>
                        <a:spcBef>
                          <a:spcPct val="0"/>
                        </a:spcBef>
                        <a:spcAft>
                          <a:spcPct val="0"/>
                        </a:spcAft>
                        <a:buClrTx/>
                        <a:buSzTx/>
                        <a:buFontTx/>
                        <a:buNone/>
                      </a:pPr>
                      <a:r>
                        <a:rPr kumimoji="0" lang="en-US" altLang="zh-CN" sz="2400" b="1" i="0" u="none" strike="noStrike" cap="none" normalizeH="0" baseline="0">
                          <a:ln>
                            <a:noFill/>
                          </a:ln>
                          <a:solidFill>
                            <a:srgbClr val="9900CC"/>
                          </a:solidFill>
                          <a:effectLst/>
                          <a:latin typeface="Times New Roman" panose="02020603050405020304" pitchFamily="18" charset="0"/>
                          <a:ea typeface="宋体" panose="02010600030101010101" pitchFamily="2" charset="-122"/>
                          <a:cs typeface="Times New Roman" panose="02020603050405020304" pitchFamily="18" charset="0"/>
                        </a:rPr>
                        <a:t>B0H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1150">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85000"/>
                        </a:lnSpc>
                        <a:spcBef>
                          <a:spcPct val="0"/>
                        </a:spcBef>
                        <a:spcAft>
                          <a:spcPct val="0"/>
                        </a:spcAft>
                        <a:buClrTx/>
                        <a:buSzTx/>
                        <a:buFontTx/>
                        <a:buNone/>
                      </a:pPr>
                      <a:r>
                        <a:rPr kumimoji="0" lang="en-US" altLang="zh-CN" sz="2400" b="1" i="0" u="none" strike="noStrike" cap="none" normalizeH="0" baseline="0">
                          <a:ln>
                            <a:noFill/>
                          </a:ln>
                          <a:solidFill>
                            <a:srgbClr val="0000CC"/>
                          </a:solidFill>
                          <a:effectLst/>
                          <a:latin typeface="Times New Roman" panose="02020603050405020304" pitchFamily="18" charset="0"/>
                          <a:ea typeface="宋体" panose="02010600030101010101" pitchFamily="2" charset="-122"/>
                          <a:cs typeface="Times New Roman" panose="02020603050405020304" pitchFamily="18" charset="0"/>
                        </a:rPr>
                        <a:t>01H</a:t>
                      </a:r>
                    </a:p>
                  </a:txBody>
                  <a:tcPr marL="0" marR="0"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85000"/>
                        </a:lnSpc>
                        <a:spcBef>
                          <a:spcPct val="0"/>
                        </a:spcBef>
                        <a:spcAft>
                          <a:spcPct val="0"/>
                        </a:spcAft>
                        <a:buClrTx/>
                        <a:buSzTx/>
                        <a:buFontTx/>
                        <a:buNone/>
                      </a:pPr>
                      <a:r>
                        <a:rPr kumimoji="0" lang="en-US" altLang="zh-CN" sz="2400" b="1" i="0" u="none" strike="noStrike" cap="none" normalizeH="0" baseline="0">
                          <a:ln>
                            <a:noFill/>
                          </a:ln>
                          <a:solidFill>
                            <a:srgbClr val="9900CC"/>
                          </a:solidFill>
                          <a:effectLst/>
                          <a:latin typeface="Times New Roman" panose="02020603050405020304" pitchFamily="18" charset="0"/>
                          <a:ea typeface="宋体" panose="02010600030101010101" pitchFamily="2" charset="-122"/>
                          <a:cs typeface="Times New Roman" panose="02020603050405020304" pitchFamily="18" charset="0"/>
                        </a:rPr>
                        <a:t>07H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1150">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85000"/>
                        </a:lnSpc>
                        <a:spcBef>
                          <a:spcPct val="0"/>
                        </a:spcBef>
                        <a:spcAft>
                          <a:spcPct val="0"/>
                        </a:spcAft>
                        <a:buClrTx/>
                        <a:buSzTx/>
                        <a:buFontTx/>
                        <a:buNone/>
                      </a:pPr>
                      <a:r>
                        <a:rPr kumimoji="0" lang="en-US" altLang="zh-CN" sz="2400" b="1" i="0" u="none" strike="noStrike" cap="none" normalizeH="0" baseline="0" dirty="0">
                          <a:ln>
                            <a:noFill/>
                          </a:ln>
                          <a:solidFill>
                            <a:srgbClr val="0000CC"/>
                          </a:solidFill>
                          <a:effectLst/>
                          <a:latin typeface="Times New Roman" panose="02020603050405020304" pitchFamily="18" charset="0"/>
                          <a:ea typeface="宋体" panose="02010600030101010101" pitchFamily="2" charset="-122"/>
                          <a:cs typeface="Times New Roman" panose="02020603050405020304" pitchFamily="18" charset="0"/>
                        </a:rPr>
                        <a:t>02H</a:t>
                      </a:r>
                    </a:p>
                  </a:txBody>
                  <a:tcPr marL="0" marR="0"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85000"/>
                        </a:lnSpc>
                        <a:spcBef>
                          <a:spcPct val="0"/>
                        </a:spcBef>
                        <a:spcAft>
                          <a:spcPct val="0"/>
                        </a:spcAft>
                        <a:buClrTx/>
                        <a:buSzTx/>
                        <a:buFontTx/>
                        <a:buNone/>
                      </a:pPr>
                      <a:r>
                        <a:rPr kumimoji="0" lang="en-US" altLang="zh-CN" sz="2400" b="1" i="0" u="none" strike="noStrike" cap="none" normalizeH="0" baseline="0" dirty="0">
                          <a:ln>
                            <a:noFill/>
                          </a:ln>
                          <a:solidFill>
                            <a:srgbClr val="9900CC"/>
                          </a:solidFill>
                          <a:effectLst/>
                          <a:latin typeface="Times New Roman" panose="02020603050405020304" pitchFamily="18" charset="0"/>
                          <a:ea typeface="宋体" panose="02010600030101010101" pitchFamily="2" charset="-122"/>
                          <a:cs typeface="Times New Roman" panose="02020603050405020304" pitchFamily="18" charset="0"/>
                        </a:rPr>
                        <a:t>04H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1150">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85000"/>
                        </a:lnSpc>
                        <a:spcBef>
                          <a:spcPct val="0"/>
                        </a:spcBef>
                        <a:spcAft>
                          <a:spcPct val="0"/>
                        </a:spcAft>
                        <a:buClrTx/>
                        <a:buSzTx/>
                        <a:buFontTx/>
                        <a:buNone/>
                      </a:pPr>
                      <a:r>
                        <a:rPr kumimoji="0" lang="en-US" altLang="zh-CN" sz="2400" b="1" i="0" u="none" strike="noStrike" cap="none" normalizeH="0" baseline="0">
                          <a:ln>
                            <a:noFill/>
                          </a:ln>
                          <a:solidFill>
                            <a:srgbClr val="0000CC"/>
                          </a:solidFill>
                          <a:effectLst/>
                          <a:latin typeface="Times New Roman" panose="02020603050405020304" pitchFamily="18" charset="0"/>
                          <a:ea typeface="宋体" panose="02010600030101010101" pitchFamily="2" charset="-122"/>
                          <a:cs typeface="Times New Roman" panose="02020603050405020304" pitchFamily="18" charset="0"/>
                        </a:rPr>
                        <a:t>03H</a:t>
                      </a:r>
                    </a:p>
                  </a:txBody>
                  <a:tcPr marL="0" marR="0"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85000"/>
                        </a:lnSpc>
                        <a:spcBef>
                          <a:spcPct val="0"/>
                        </a:spcBef>
                        <a:spcAft>
                          <a:spcPct val="0"/>
                        </a:spcAft>
                        <a:buClrTx/>
                        <a:buSzTx/>
                        <a:buFontTx/>
                        <a:buNone/>
                      </a:pPr>
                      <a:r>
                        <a:rPr kumimoji="0" lang="en-US" altLang="zh-CN" sz="24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0AH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1150">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85000"/>
                        </a:lnSpc>
                        <a:spcBef>
                          <a:spcPct val="0"/>
                        </a:spcBef>
                        <a:spcAft>
                          <a:spcPct val="0"/>
                        </a:spcAft>
                        <a:buClrTx/>
                        <a:buSzTx/>
                        <a:buFontTx/>
                        <a:buNone/>
                      </a:pPr>
                      <a:r>
                        <a:rPr kumimoji="0" lang="en-US" altLang="zh-CN" sz="2400" b="1" i="0" u="none" strike="noStrike" cap="none" normalizeH="0" baseline="0" dirty="0">
                          <a:ln>
                            <a:noFill/>
                          </a:ln>
                          <a:solidFill>
                            <a:srgbClr val="0000CC"/>
                          </a:solidFill>
                          <a:effectLst/>
                          <a:latin typeface="Times New Roman" panose="02020603050405020304" pitchFamily="18" charset="0"/>
                          <a:ea typeface="宋体" panose="02010600030101010101" pitchFamily="2" charset="-122"/>
                          <a:cs typeface="Times New Roman" panose="02020603050405020304" pitchFamily="18" charset="0"/>
                        </a:rPr>
                        <a:t>04H</a:t>
                      </a:r>
                    </a:p>
                  </a:txBody>
                  <a:tcPr marL="0" marR="0"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85000"/>
                        </a:lnSpc>
                        <a:spcBef>
                          <a:spcPct val="0"/>
                        </a:spcBef>
                        <a:spcAft>
                          <a:spcPct val="0"/>
                        </a:spcAft>
                        <a:buClrTx/>
                        <a:buSzTx/>
                        <a:buFontTx/>
                        <a:buNone/>
                      </a:pPr>
                      <a:r>
                        <a:rPr kumimoji="0" lang="en-US" altLang="zh-CN" sz="2400" b="1" i="0" u="none" strike="noStrike" cap="none" normalizeH="0" baseline="0" dirty="0">
                          <a:ln>
                            <a:noFill/>
                          </a:ln>
                          <a:solidFill>
                            <a:srgbClr val="9900CC"/>
                          </a:solidFill>
                          <a:effectLst/>
                          <a:latin typeface="Times New Roman" panose="02020603050405020304" pitchFamily="18" charset="0"/>
                          <a:ea typeface="宋体" panose="02010600030101010101" pitchFamily="2" charset="-122"/>
                          <a:cs typeface="Times New Roman" panose="02020603050405020304" pitchFamily="18" charset="0"/>
                        </a:rPr>
                        <a:t>F4H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cxnSp>
        <p:nvCxnSpPr>
          <p:cNvPr id="8" name="直接箭头连接符 7"/>
          <p:cNvCxnSpPr>
            <a:cxnSpLocks noChangeShapeType="1"/>
          </p:cNvCxnSpPr>
          <p:nvPr/>
        </p:nvCxnSpPr>
        <p:spPr bwMode="auto">
          <a:xfrm>
            <a:off x="5467481" y="3203553"/>
            <a:ext cx="1601777" cy="340535"/>
          </a:xfrm>
          <a:prstGeom prst="straightConnector1">
            <a:avLst/>
          </a:prstGeom>
          <a:noFill/>
          <a:ln w="9525" algn="ctr">
            <a:solidFill>
              <a:srgbClr val="FF0000"/>
            </a:solidFill>
            <a:rou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直接箭头连接符 10"/>
          <p:cNvCxnSpPr>
            <a:cxnSpLocks noChangeShapeType="1"/>
          </p:cNvCxnSpPr>
          <p:nvPr/>
        </p:nvCxnSpPr>
        <p:spPr bwMode="auto">
          <a:xfrm>
            <a:off x="5341357" y="2667526"/>
            <a:ext cx="1799218" cy="422807"/>
          </a:xfrm>
          <a:prstGeom prst="straightConnector1">
            <a:avLst/>
          </a:prstGeom>
          <a:noFill/>
          <a:ln w="9525" algn="ctr">
            <a:solidFill>
              <a:srgbClr val="FF0000"/>
            </a:solidFill>
            <a:rou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矩形 9"/>
          <p:cNvSpPr>
            <a:spLocks noChangeArrowheads="1"/>
          </p:cNvSpPr>
          <p:nvPr/>
        </p:nvSpPr>
        <p:spPr bwMode="auto">
          <a:xfrm>
            <a:off x="4874021" y="4927711"/>
            <a:ext cx="12361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latin typeface="Arial" panose="020B0604020202020204" pitchFamily="34" charset="0"/>
                <a:cs typeface="Arial" panose="020B0604020202020204" pitchFamily="34" charset="0"/>
              </a:rPr>
              <a:t>Address Decoding</a:t>
            </a:r>
            <a:endParaRPr lang="zh-CN" altLang="en-US" sz="1400" b="1" dirty="0">
              <a:latin typeface="Arial" panose="020B0604020202020204" pitchFamily="34" charset="0"/>
              <a:cs typeface="Arial" panose="020B0604020202020204" pitchFamily="34" charset="0"/>
            </a:endParaRPr>
          </a:p>
        </p:txBody>
      </p:sp>
      <p:sp>
        <p:nvSpPr>
          <p:cNvPr id="12" name="灯片编号占位符 11"/>
          <p:cNvSpPr>
            <a:spLocks noGrp="1"/>
          </p:cNvSpPr>
          <p:nvPr>
            <p:ph type="sldNum" sz="quarter" idx="12"/>
          </p:nvPr>
        </p:nvSpPr>
        <p:spPr/>
        <p:txBody>
          <a:bodyPr/>
          <a:lstStyle/>
          <a:p>
            <a:fld id="{22E77DEE-32E4-4009-988B-F2758F7B8AC2}" type="slidenum">
              <a:rPr lang="zh-CN" altLang="en-US" smtClean="0"/>
              <a:t>14</a:t>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noChangeArrowheads="1"/>
          </p:cNvSpPr>
          <p:nvPr>
            <p:ph type="title"/>
          </p:nvPr>
        </p:nvSpPr>
        <p:spPr>
          <a:xfrm>
            <a:off x="373592" y="554946"/>
            <a:ext cx="8021108" cy="504825"/>
          </a:xfrm>
        </p:spPr>
        <p:txBody>
          <a:bodyPr>
            <a:normAutofit fontScale="90000"/>
          </a:bodyPr>
          <a:lstStyle/>
          <a:p>
            <a:pPr eaLnBrk="1" hangingPunct="1"/>
            <a:r>
              <a:rPr lang="en-US" altLang="zh-CN" sz="2800" dirty="0">
                <a:latin typeface="Times New Roman" panose="02020603050405020304" pitchFamily="18" charset="0"/>
                <a:cs typeface="Times New Roman" panose="02020603050405020304" pitchFamily="18" charset="0"/>
              </a:rPr>
              <a:t>Execute the second instruction “</a:t>
            </a:r>
            <a:r>
              <a:rPr lang="en-US" altLang="zh-CN" sz="2800" dirty="0">
                <a:solidFill>
                  <a:schemeClr val="tx1"/>
                </a:solidFill>
                <a:latin typeface="Times New Roman" panose="02020603050405020304" pitchFamily="18" charset="0"/>
                <a:cs typeface="Times New Roman" panose="02020603050405020304" pitchFamily="18" charset="0"/>
              </a:rPr>
              <a:t>ADD A, </a:t>
            </a:r>
            <a:r>
              <a:rPr lang="en-US" altLang="zh-CN" sz="2800" dirty="0">
                <a:solidFill>
                  <a:srgbClr val="FF0000"/>
                </a:solidFill>
                <a:latin typeface="Times New Roman" panose="02020603050405020304" pitchFamily="18" charset="0"/>
                <a:cs typeface="Times New Roman" panose="02020603050405020304" pitchFamily="18" charset="0"/>
              </a:rPr>
              <a:t>#</a:t>
            </a:r>
            <a:r>
              <a:rPr lang="en-US" altLang="zh-CN" sz="2800" dirty="0">
                <a:solidFill>
                  <a:schemeClr val="tx1"/>
                </a:solidFill>
                <a:latin typeface="Times New Roman" panose="02020603050405020304" pitchFamily="18" charset="0"/>
                <a:cs typeface="Times New Roman" panose="02020603050405020304" pitchFamily="18" charset="0"/>
              </a:rPr>
              <a:t>0AH</a:t>
            </a:r>
            <a:r>
              <a:rPr lang="en-US" altLang="zh-CN" sz="2800" dirty="0">
                <a:latin typeface="Times New Roman" panose="02020603050405020304" pitchFamily="18" charset="0"/>
                <a:cs typeface="Times New Roman" panose="02020603050405020304" pitchFamily="18" charset="0"/>
              </a:rPr>
              <a:t>”(machine code: </a:t>
            </a:r>
            <a:r>
              <a:rPr lang="en-US" altLang="zh-CN" sz="2800" dirty="0">
                <a:solidFill>
                  <a:schemeClr val="tx1"/>
                </a:solidFill>
                <a:latin typeface="Times New Roman" panose="02020603050405020304" pitchFamily="18" charset="0"/>
                <a:cs typeface="Times New Roman" panose="02020603050405020304" pitchFamily="18" charset="0"/>
              </a:rPr>
              <a:t>04H  0AH</a:t>
            </a:r>
            <a:r>
              <a:rPr lang="en-US" altLang="zh-CN" sz="2800" dirty="0">
                <a:latin typeface="Times New Roman" panose="02020603050405020304" pitchFamily="18" charset="0"/>
                <a:cs typeface="Times New Roman" panose="02020603050405020304" pitchFamily="18" charset="0"/>
              </a:rPr>
              <a:t>)</a:t>
            </a:r>
            <a:endParaRPr lang="zh-CN" altLang="en-US" sz="2800" dirty="0"/>
          </a:p>
        </p:txBody>
      </p:sp>
      <p:sp>
        <p:nvSpPr>
          <p:cNvPr id="5" name="Rectangle 7"/>
          <p:cNvSpPr>
            <a:spLocks noChangeArrowheads="1"/>
          </p:cNvSpPr>
          <p:nvPr/>
        </p:nvSpPr>
        <p:spPr bwMode="auto">
          <a:xfrm>
            <a:off x="246062" y="4771658"/>
            <a:ext cx="2982715" cy="830997"/>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990033"/>
                </a:solidFill>
                <a:latin typeface="Arial" panose="020B0604020202020204" pitchFamily="34" charset="0"/>
                <a:cs typeface="Arial" panose="020B0604020202020204" pitchFamily="34" charset="0"/>
              </a:rPr>
              <a:t>Fig</a:t>
            </a:r>
            <a:r>
              <a:rPr lang="zh-CN" altLang="en-US" sz="1600" b="1" dirty="0">
                <a:solidFill>
                  <a:srgbClr val="990033"/>
                </a:solidFill>
                <a:latin typeface="Arial" panose="020B0604020202020204" pitchFamily="34" charset="0"/>
                <a:cs typeface="Arial" panose="020B0604020202020204" pitchFamily="34" charset="0"/>
              </a:rPr>
              <a:t> </a:t>
            </a:r>
            <a:r>
              <a:rPr lang="en-US" altLang="zh-CN" sz="1600" b="1" dirty="0">
                <a:solidFill>
                  <a:srgbClr val="990033"/>
                </a:solidFill>
                <a:latin typeface="Arial" panose="020B0604020202020204" pitchFamily="34" charset="0"/>
                <a:cs typeface="Arial" panose="020B0604020202020204" pitchFamily="34" charset="0"/>
              </a:rPr>
              <a:t>3-6 Schematic Diagram for Executing the Second Instruction Operation</a:t>
            </a:r>
            <a:endParaRPr lang="zh-CN" altLang="en-US" sz="1600" b="1" dirty="0">
              <a:solidFill>
                <a:srgbClr val="990033"/>
              </a:solidFill>
              <a:latin typeface="Arial" panose="020B0604020202020204" pitchFamily="34" charset="0"/>
              <a:cs typeface="Arial" panose="020B0604020202020204" pitchFamily="34" charset="0"/>
            </a:endParaRPr>
          </a:p>
        </p:txBody>
      </p:sp>
      <p:graphicFrame>
        <p:nvGraphicFramePr>
          <p:cNvPr id="6" name="Object 121"/>
          <p:cNvGraphicFramePr>
            <a:graphicFrameLocks noChangeAspect="1"/>
          </p:cNvGraphicFramePr>
          <p:nvPr/>
        </p:nvGraphicFramePr>
        <p:xfrm>
          <a:off x="3060701" y="2085234"/>
          <a:ext cx="5593290" cy="3919079"/>
        </p:xfrm>
        <a:graphic>
          <a:graphicData uri="http://schemas.openxmlformats.org/presentationml/2006/ole">
            <mc:AlternateContent xmlns:mc="http://schemas.openxmlformats.org/markup-compatibility/2006">
              <mc:Choice xmlns:v="urn:schemas-microsoft-com:vml" Requires="v">
                <p:oleObj name="Visio" r:id="rId2" imgW="3603625" imgH="2527935" progId="Visio.Drawing.11">
                  <p:embed/>
                </p:oleObj>
              </mc:Choice>
              <mc:Fallback>
                <p:oleObj name="Visio" r:id="rId2" imgW="3603625" imgH="2527935" progId="Visio.Drawing.11">
                  <p:embed/>
                  <p:pic>
                    <p:nvPicPr>
                      <p:cNvPr id="0" name="Object 1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0701" y="2085234"/>
                        <a:ext cx="5593290" cy="3919079"/>
                      </a:xfrm>
                      <a:prstGeom prst="rect">
                        <a:avLst/>
                      </a:prstGeom>
                      <a:solidFill>
                        <a:schemeClr val="bg1"/>
                      </a:solidFill>
                      <a:ln>
                        <a:noFill/>
                      </a:ln>
                    </p:spPr>
                  </p:pic>
                </p:oleObj>
              </mc:Fallback>
            </mc:AlternateContent>
          </a:graphicData>
        </a:graphic>
      </p:graphicFrame>
      <p:sp>
        <p:nvSpPr>
          <p:cNvPr id="630787" name="Rectangle 3"/>
          <p:cNvSpPr>
            <a:spLocks noGrp="1" noChangeArrowheads="1"/>
          </p:cNvSpPr>
          <p:nvPr>
            <p:ph idx="1"/>
          </p:nvPr>
        </p:nvSpPr>
        <p:spPr>
          <a:xfrm>
            <a:off x="448733" y="1234281"/>
            <a:ext cx="8613285" cy="1051471"/>
          </a:xfrm>
        </p:spPr>
        <p:txBody>
          <a:bodyPr>
            <a:normAutofit fontScale="92500"/>
          </a:bodyPr>
          <a:lstStyle/>
          <a:p>
            <a:pPr marL="262255" lvl="1" indent="-262255" algn="l" eaLnBrk="1" hangingPunct="1">
              <a:defRPr/>
            </a:pPr>
            <a:r>
              <a:rPr lang="zh-CN" altLang="en-US" sz="1200" spc="-150" dirty="0">
                <a:latin typeface="Arial" panose="020B0604020202020204" pitchFamily="34" charset="0"/>
                <a:cs typeface="Arial" panose="020B0604020202020204" pitchFamily="34" charset="0"/>
              </a:rPr>
              <a:t>⑦</a:t>
            </a:r>
            <a:r>
              <a:rPr lang="en-US" altLang="zh-CN" sz="1200" dirty="0">
                <a:latin typeface="Arial" panose="020B0604020202020204" pitchFamily="34" charset="0"/>
                <a:cs typeface="Arial" panose="020B0604020202020204" pitchFamily="34" charset="0"/>
              </a:rPr>
              <a:t>The contents of data register DR </a:t>
            </a:r>
            <a:r>
              <a:rPr lang="en-US" altLang="zh-CN" sz="1600" dirty="0">
                <a:solidFill>
                  <a:srgbClr val="0000FF"/>
                </a:solidFill>
                <a:latin typeface="Arial" panose="020B0604020202020204" pitchFamily="34" charset="0"/>
                <a:cs typeface="Arial" panose="020B0604020202020204" pitchFamily="34" charset="0"/>
              </a:rPr>
              <a:t>are transferred to register B, then to one end of the arithmetic logic unit (ALU).</a:t>
            </a:r>
            <a:endParaRPr lang="zh-CN" altLang="en-US" sz="1600" dirty="0">
              <a:solidFill>
                <a:srgbClr val="0000FF"/>
              </a:solidFill>
              <a:latin typeface="Arial" panose="020B0604020202020204" pitchFamily="34" charset="0"/>
              <a:cs typeface="Arial" panose="020B0604020202020204" pitchFamily="34" charset="0"/>
            </a:endParaRPr>
          </a:p>
          <a:p>
            <a:pPr marL="262255" lvl="1" indent="-262255" algn="l" eaLnBrk="1" hangingPunct="1">
              <a:defRPr/>
            </a:pPr>
            <a:r>
              <a:rPr lang="zh-CN" altLang="en-US" sz="1200" spc="-150" dirty="0">
                <a:latin typeface="Arial" panose="020B0604020202020204" pitchFamily="34" charset="0"/>
                <a:cs typeface="Arial" panose="020B0604020202020204" pitchFamily="34" charset="0"/>
              </a:rPr>
              <a:t>⑧</a:t>
            </a:r>
            <a:r>
              <a:rPr lang="en-US" altLang="zh-CN" sz="1200" dirty="0">
                <a:latin typeface="Arial" panose="020B0604020202020204" pitchFamily="34" charset="0"/>
                <a:cs typeface="Arial" panose="020B0604020202020204" pitchFamily="34" charset="0"/>
              </a:rPr>
              <a:t>The contents of accumulator </a:t>
            </a:r>
            <a:r>
              <a:rPr lang="en-US" altLang="zh-CN" sz="1600" dirty="0">
                <a:solidFill>
                  <a:srgbClr val="0000FF"/>
                </a:solidFill>
                <a:latin typeface="Arial" panose="020B0604020202020204" pitchFamily="34" charset="0"/>
                <a:cs typeface="Arial" panose="020B0604020202020204" pitchFamily="34" charset="0"/>
              </a:rPr>
              <a:t>A are fed to the other end of the ALU to complete the addition operation</a:t>
            </a:r>
            <a:r>
              <a:rPr lang="en-US" altLang="zh-CN" sz="1200" dirty="0">
                <a:latin typeface="Arial" panose="020B0604020202020204" pitchFamily="34" charset="0"/>
                <a:cs typeface="Arial" panose="020B0604020202020204" pitchFamily="34" charset="0"/>
              </a:rPr>
              <a:t>.</a:t>
            </a:r>
            <a:endParaRPr lang="zh-CN" altLang="en-US" sz="1200" dirty="0">
              <a:latin typeface="Arial" panose="020B0604020202020204" pitchFamily="34" charset="0"/>
              <a:cs typeface="Arial" panose="020B0604020202020204" pitchFamily="34" charset="0"/>
            </a:endParaRPr>
          </a:p>
          <a:p>
            <a:pPr marL="262255" lvl="1" indent="-262255" algn="l" eaLnBrk="1" hangingPunct="1">
              <a:defRPr/>
            </a:pPr>
            <a:r>
              <a:rPr lang="zh-CN" altLang="en-US" sz="1200" spc="-150" dirty="0">
                <a:latin typeface="Arial" panose="020B0604020202020204" pitchFamily="34" charset="0"/>
                <a:cs typeface="Arial" panose="020B0604020202020204" pitchFamily="34" charset="0"/>
              </a:rPr>
              <a:t>⑨</a:t>
            </a:r>
            <a:r>
              <a:rPr lang="en-US" altLang="zh-CN" sz="1200" dirty="0">
                <a:latin typeface="Arial" panose="020B0604020202020204" pitchFamily="34" charset="0"/>
                <a:cs typeface="Arial" panose="020B0604020202020204" pitchFamily="34" charset="0"/>
              </a:rPr>
              <a:t>The result of the ALU addition is output to A.</a:t>
            </a:r>
            <a:endParaRPr lang="zh-CN" altLang="en-US" sz="1200" dirty="0">
              <a:latin typeface="Arial" panose="020B0604020202020204" pitchFamily="34" charset="0"/>
              <a:cs typeface="Arial" panose="020B0604020202020204" pitchFamily="34" charset="0"/>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15</a:t>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7155" name="Rectangle 3"/>
          <p:cNvSpPr>
            <a:spLocks noGrp="1" noChangeArrowheads="1"/>
          </p:cNvSpPr>
          <p:nvPr>
            <p:ph idx="1"/>
          </p:nvPr>
        </p:nvSpPr>
        <p:spPr>
          <a:xfrm>
            <a:off x="439738" y="1328736"/>
            <a:ext cx="7999412" cy="4246563"/>
          </a:xfrm>
        </p:spPr>
        <p:txBody>
          <a:bodyPr>
            <a:normAutofit fontScale="85000" lnSpcReduction="20000"/>
          </a:bodyPr>
          <a:lstStyle/>
          <a:p>
            <a:pPr algn="l" fontAlgn="base">
              <a:lnSpc>
                <a:spcPct val="120000"/>
              </a:lnSpc>
              <a:spcBef>
                <a:spcPts val="200"/>
              </a:spcBef>
              <a:spcAft>
                <a:spcPts val="0"/>
              </a:spcAft>
              <a:buFont typeface="Wingdings" panose="05000000000000000000" pitchFamily="2" charset="2"/>
              <a:buChar char="Ø"/>
            </a:pPr>
            <a:r>
              <a:rPr lang="en-US" altLang="zh-CN" sz="1600" b="1" i="0" dirty="0">
                <a:solidFill>
                  <a:srgbClr val="575D6C"/>
                </a:solidFill>
                <a:effectLst/>
                <a:latin typeface="Arial" panose="020B0604020202020204" pitchFamily="34" charset="0"/>
                <a:cs typeface="Arial" panose="020B0604020202020204" pitchFamily="34" charset="0"/>
              </a:rPr>
              <a:t>GCC Four-Step Detailed Explanation</a:t>
            </a:r>
            <a:endParaRPr lang="zh-CN" altLang="en-US" sz="1600" b="1" i="0" dirty="0">
              <a:solidFill>
                <a:srgbClr val="575D6C"/>
              </a:solidFill>
              <a:effectLst/>
              <a:latin typeface="Arial" panose="020B0604020202020204" pitchFamily="34" charset="0"/>
              <a:cs typeface="Arial" panose="020B0604020202020204" pitchFamily="34" charset="0"/>
            </a:endParaRPr>
          </a:p>
          <a:p>
            <a:pPr algn="l" fontAlgn="base">
              <a:lnSpc>
                <a:spcPct val="120000"/>
              </a:lnSpc>
              <a:spcBef>
                <a:spcPts val="200"/>
              </a:spcBef>
              <a:spcAft>
                <a:spcPts val="0"/>
              </a:spcAft>
              <a:buFont typeface="Wingdings" panose="05000000000000000000" pitchFamily="2" charset="2"/>
              <a:buChar char="Ø"/>
            </a:pPr>
            <a:r>
              <a:rPr lang="en-US" altLang="zh-CN" sz="1600" b="1" i="0" dirty="0">
                <a:solidFill>
                  <a:srgbClr val="FF0000"/>
                </a:solidFill>
                <a:effectLst/>
                <a:latin typeface="Arial" panose="020B0604020202020204" pitchFamily="34" charset="0"/>
                <a:cs typeface="Arial" panose="020B0604020202020204" pitchFamily="34" charset="0"/>
              </a:rPr>
              <a:t>Step One</a:t>
            </a:r>
            <a:r>
              <a:rPr lang="zh-CN" altLang="en-US" sz="1600" b="1" i="0" dirty="0">
                <a:solidFill>
                  <a:srgbClr val="FF0000"/>
                </a:solidFill>
                <a:effectLst/>
                <a:latin typeface="Arial" panose="020B0604020202020204" pitchFamily="34" charset="0"/>
                <a:cs typeface="Arial" panose="020B0604020202020204" pitchFamily="34" charset="0"/>
              </a:rPr>
              <a:t>：</a:t>
            </a:r>
            <a:r>
              <a:rPr lang="en-US" altLang="zh-CN" sz="1600" b="1" i="0" dirty="0">
                <a:solidFill>
                  <a:srgbClr val="FF0000"/>
                </a:solidFill>
                <a:effectLst/>
                <a:latin typeface="Arial" panose="020B0604020202020204" pitchFamily="34" charset="0"/>
                <a:cs typeface="Arial" panose="020B0604020202020204" pitchFamily="34" charset="0"/>
              </a:rPr>
              <a:t>Preprocessing (also known as </a:t>
            </a:r>
            <a:r>
              <a:rPr lang="en-US" altLang="zh-CN" sz="1600" b="1" i="0" dirty="0" err="1">
                <a:solidFill>
                  <a:srgbClr val="FF0000"/>
                </a:solidFill>
                <a:effectLst/>
                <a:latin typeface="Arial" panose="020B0604020202020204" pitchFamily="34" charset="0"/>
                <a:cs typeface="Arial" panose="020B0604020202020204" pitchFamily="34" charset="0"/>
              </a:rPr>
              <a:t>precompilation</a:t>
            </a:r>
            <a:r>
              <a:rPr lang="en-US" altLang="zh-CN" sz="1600" b="1" i="0" dirty="0">
                <a:solidFill>
                  <a:srgbClr val="FF0000"/>
                </a:solidFill>
                <a:effectLst/>
                <a:latin typeface="Arial" panose="020B0604020202020204" pitchFamily="34" charset="0"/>
                <a:cs typeface="Arial" panose="020B0604020202020204" pitchFamily="34" charset="0"/>
              </a:rPr>
              <a:t>)</a:t>
            </a:r>
            <a:br>
              <a:rPr lang="zh-CN" altLang="en-US" sz="1600" b="1" dirty="0">
                <a:solidFill>
                  <a:srgbClr val="FF0000"/>
                </a:solidFill>
                <a:latin typeface="Arial" panose="020B0604020202020204" pitchFamily="34" charset="0"/>
                <a:cs typeface="Arial" panose="020B0604020202020204" pitchFamily="34" charset="0"/>
              </a:rPr>
            </a:br>
            <a:r>
              <a:rPr lang="en-US" altLang="zh-CN" sz="1600" b="0" i="0" dirty="0" err="1">
                <a:solidFill>
                  <a:srgbClr val="575D6C"/>
                </a:solidFill>
                <a:effectLst/>
                <a:latin typeface="Arial" panose="020B0604020202020204" pitchFamily="34" charset="0"/>
                <a:cs typeface="Arial" panose="020B0604020202020204" pitchFamily="34" charset="0"/>
              </a:rPr>
              <a:t>gcc</a:t>
            </a:r>
            <a:r>
              <a:rPr lang="en-US" altLang="zh-CN" sz="1600" b="0" i="0" dirty="0">
                <a:solidFill>
                  <a:srgbClr val="575D6C"/>
                </a:solidFill>
                <a:effectLst/>
                <a:latin typeface="Arial" panose="020B0604020202020204" pitchFamily="34" charset="0"/>
                <a:cs typeface="Arial" panose="020B0604020202020204" pitchFamily="34" charset="0"/>
              </a:rPr>
              <a:t> -E  </a:t>
            </a:r>
            <a:r>
              <a:rPr lang="en-US" altLang="zh-CN" sz="1600" b="0" i="0" dirty="0" err="1">
                <a:solidFill>
                  <a:srgbClr val="575D6C"/>
                </a:solidFill>
                <a:effectLst/>
                <a:latin typeface="Arial" panose="020B0604020202020204" pitchFamily="34" charset="0"/>
                <a:cs typeface="Arial" panose="020B0604020202020204" pitchFamily="34" charset="0"/>
              </a:rPr>
              <a:t>hello.c</a:t>
            </a:r>
            <a:r>
              <a:rPr lang="en-US" altLang="zh-CN" sz="1600" b="0" i="0" dirty="0">
                <a:solidFill>
                  <a:srgbClr val="575D6C"/>
                </a:solidFill>
                <a:effectLst/>
                <a:latin typeface="Arial" panose="020B0604020202020204" pitchFamily="34" charset="0"/>
                <a:cs typeface="Arial" panose="020B0604020202020204" pitchFamily="34" charset="0"/>
              </a:rPr>
              <a:t>  -o </a:t>
            </a:r>
            <a:r>
              <a:rPr lang="en-US" altLang="zh-CN" sz="1600" b="0" i="0" dirty="0" err="1">
                <a:solidFill>
                  <a:srgbClr val="575D6C"/>
                </a:solidFill>
                <a:effectLst/>
                <a:latin typeface="Arial" panose="020B0604020202020204" pitchFamily="34" charset="0"/>
                <a:cs typeface="Arial" panose="020B0604020202020204" pitchFamily="34" charset="0"/>
              </a:rPr>
              <a:t>hello.i</a:t>
            </a:r>
            <a:endParaRPr lang="en-US" altLang="zh-CN" sz="1600" b="0" i="0" dirty="0">
              <a:solidFill>
                <a:srgbClr val="575D6C"/>
              </a:solidFill>
              <a:effectLst/>
              <a:latin typeface="Arial" panose="020B0604020202020204" pitchFamily="34" charset="0"/>
              <a:cs typeface="Arial" panose="020B0604020202020204" pitchFamily="34" charset="0"/>
            </a:endParaRPr>
          </a:p>
          <a:p>
            <a:pPr algn="l" fontAlgn="base">
              <a:lnSpc>
                <a:spcPct val="120000"/>
              </a:lnSpc>
              <a:spcBef>
                <a:spcPts val="200"/>
              </a:spcBef>
              <a:spcAft>
                <a:spcPts val="0"/>
              </a:spcAft>
              <a:buFont typeface="Wingdings" panose="05000000000000000000" pitchFamily="2" charset="2"/>
              <a:buChar char="Ø"/>
            </a:pPr>
            <a:r>
              <a:rPr lang="en-US" altLang="zh-CN" sz="1600" b="0" i="0" dirty="0">
                <a:solidFill>
                  <a:srgbClr val="575D6C"/>
                </a:solidFill>
                <a:effectLst/>
                <a:latin typeface="Arial" panose="020B0604020202020204" pitchFamily="34" charset="0"/>
                <a:cs typeface="Arial" panose="020B0604020202020204" pitchFamily="34" charset="0"/>
              </a:rPr>
              <a:t>or </a:t>
            </a:r>
            <a:r>
              <a:rPr lang="en-US" altLang="zh-CN" sz="1600" b="0" i="0" dirty="0" err="1">
                <a:solidFill>
                  <a:srgbClr val="575D6C"/>
                </a:solidFill>
                <a:effectLst/>
                <a:latin typeface="Arial" panose="020B0604020202020204" pitchFamily="34" charset="0"/>
                <a:cs typeface="Arial" panose="020B0604020202020204" pitchFamily="34" charset="0"/>
              </a:rPr>
              <a:t>cpp</a:t>
            </a:r>
            <a:r>
              <a:rPr lang="en-US" altLang="zh-CN" sz="1600" b="0" i="0" dirty="0">
                <a:solidFill>
                  <a:srgbClr val="575D6C"/>
                </a:solidFill>
                <a:effectLst/>
                <a:latin typeface="Arial" panose="020B0604020202020204" pitchFamily="34" charset="0"/>
                <a:cs typeface="Arial" panose="020B0604020202020204" pitchFamily="34" charset="0"/>
              </a:rPr>
              <a:t> </a:t>
            </a:r>
            <a:r>
              <a:rPr lang="en-US" altLang="zh-CN" sz="1600" b="0" i="0" dirty="0" err="1">
                <a:solidFill>
                  <a:srgbClr val="575D6C"/>
                </a:solidFill>
                <a:effectLst/>
                <a:latin typeface="Arial" panose="020B0604020202020204" pitchFamily="34" charset="0"/>
                <a:cs typeface="Arial" panose="020B0604020202020204" pitchFamily="34" charset="0"/>
              </a:rPr>
              <a:t>hello.c</a:t>
            </a:r>
            <a:r>
              <a:rPr lang="en-US" altLang="zh-CN" sz="1600" b="0" i="0" dirty="0">
                <a:solidFill>
                  <a:srgbClr val="575D6C"/>
                </a:solidFill>
                <a:effectLst/>
                <a:latin typeface="Arial" panose="020B0604020202020204" pitchFamily="34" charset="0"/>
                <a:cs typeface="Arial" panose="020B0604020202020204" pitchFamily="34" charset="0"/>
              </a:rPr>
              <a:t> &gt; </a:t>
            </a:r>
            <a:r>
              <a:rPr lang="en-US" altLang="zh-CN" sz="1600" b="0" i="0" dirty="0" err="1">
                <a:solidFill>
                  <a:srgbClr val="575D6C"/>
                </a:solidFill>
                <a:effectLst/>
                <a:latin typeface="Arial" panose="020B0604020202020204" pitchFamily="34" charset="0"/>
                <a:cs typeface="Arial" panose="020B0604020202020204" pitchFamily="34" charset="0"/>
              </a:rPr>
              <a:t>hello.i</a:t>
            </a:r>
            <a:r>
              <a:rPr lang="en-US" altLang="zh-CN" sz="1600" b="0" i="0" dirty="0">
                <a:solidFill>
                  <a:srgbClr val="575D6C"/>
                </a:solidFill>
                <a:effectLst/>
                <a:latin typeface="Arial" panose="020B0604020202020204" pitchFamily="34" charset="0"/>
                <a:cs typeface="Arial" panose="020B0604020202020204" pitchFamily="34" charset="0"/>
              </a:rPr>
              <a:t> 【</a:t>
            </a:r>
            <a:r>
              <a:rPr lang="en-US" altLang="zh-CN" sz="1600" b="0" i="0" dirty="0" err="1">
                <a:solidFill>
                  <a:srgbClr val="575D6C"/>
                </a:solidFill>
                <a:effectLst/>
                <a:latin typeface="Arial" panose="020B0604020202020204" pitchFamily="34" charset="0"/>
                <a:cs typeface="Arial" panose="020B0604020202020204" pitchFamily="34" charset="0"/>
              </a:rPr>
              <a:t>cpp</a:t>
            </a:r>
            <a:r>
              <a:rPr lang="en-US" altLang="zh-CN" sz="1600" b="0" i="0" dirty="0">
                <a:solidFill>
                  <a:srgbClr val="575D6C"/>
                </a:solidFill>
                <a:effectLst/>
                <a:latin typeface="Arial" panose="020B0604020202020204" pitchFamily="34" charset="0"/>
                <a:cs typeface="Arial" panose="020B0604020202020204" pitchFamily="34" charset="0"/>
              </a:rPr>
              <a:t> is a </a:t>
            </a:r>
            <a:r>
              <a:rPr lang="en-US" altLang="zh-CN" sz="1600" b="0" i="0" dirty="0" err="1">
                <a:solidFill>
                  <a:srgbClr val="575D6C"/>
                </a:solidFill>
                <a:effectLst/>
                <a:latin typeface="Arial" panose="020B0604020202020204" pitchFamily="34" charset="0"/>
                <a:cs typeface="Arial" panose="020B0604020202020204" pitchFamily="34" charset="0"/>
              </a:rPr>
              <a:t>precompiler</a:t>
            </a:r>
            <a:r>
              <a:rPr lang="en-US" altLang="zh-CN" sz="1600" b="0" i="0" dirty="0">
                <a:solidFill>
                  <a:srgbClr val="575D6C"/>
                </a:solidFill>
                <a:effectLst/>
                <a:latin typeface="Arial" panose="020B0604020202020204" pitchFamily="34" charset="0"/>
                <a:cs typeface="Arial" panose="020B0604020202020204" pitchFamily="34" charset="0"/>
              </a:rPr>
              <a:t>.】</a:t>
            </a:r>
          </a:p>
          <a:p>
            <a:pPr algn="l" fontAlgn="base">
              <a:lnSpc>
                <a:spcPct val="120000"/>
              </a:lnSpc>
              <a:spcBef>
                <a:spcPts val="200"/>
              </a:spcBef>
              <a:spcAft>
                <a:spcPts val="0"/>
              </a:spcAft>
              <a:buFont typeface="Wingdings" panose="05000000000000000000" pitchFamily="2" charset="2"/>
              <a:buChar char="Ø"/>
            </a:pPr>
            <a:r>
              <a:rPr lang="en-US" altLang="zh-CN" sz="1600" b="0" i="0" dirty="0">
                <a:solidFill>
                  <a:srgbClr val="575D6C"/>
                </a:solidFill>
                <a:effectLst/>
                <a:latin typeface="Arial" panose="020B0604020202020204" pitchFamily="34" charset="0"/>
                <a:cs typeface="Arial" panose="020B0604020202020204" pitchFamily="34" charset="0"/>
              </a:rPr>
              <a:t>Remove all #define directives and expand all macro definitions.</a:t>
            </a:r>
            <a:endParaRPr lang="zh-CN" altLang="en-US" sz="1600" b="0" i="0" dirty="0">
              <a:solidFill>
                <a:srgbClr val="575D6C"/>
              </a:solidFill>
              <a:effectLst/>
              <a:latin typeface="Arial" panose="020B0604020202020204" pitchFamily="34" charset="0"/>
              <a:cs typeface="Arial" panose="020B0604020202020204" pitchFamily="34" charset="0"/>
            </a:endParaRPr>
          </a:p>
          <a:p>
            <a:pPr algn="l" fontAlgn="base">
              <a:lnSpc>
                <a:spcPct val="120000"/>
              </a:lnSpc>
              <a:spcBef>
                <a:spcPts val="200"/>
              </a:spcBef>
              <a:spcAft>
                <a:spcPts val="0"/>
              </a:spcAft>
              <a:buFont typeface="Wingdings" panose="05000000000000000000" pitchFamily="2" charset="2"/>
              <a:buChar char="Ø"/>
            </a:pPr>
            <a:r>
              <a:rPr lang="en-US" altLang="zh-CN" sz="1600" b="0" i="0" dirty="0">
                <a:solidFill>
                  <a:srgbClr val="575D6C"/>
                </a:solidFill>
                <a:effectLst/>
                <a:latin typeface="Arial" panose="020B0604020202020204" pitchFamily="34" charset="0"/>
                <a:cs typeface="Arial" panose="020B0604020202020204" pitchFamily="34" charset="0"/>
              </a:rPr>
              <a:t>Process all conditional preprocessor directives, such as #if, #ifdef, #undef, #ifndef, #endif, and #elif.</a:t>
            </a:r>
          </a:p>
          <a:p>
            <a:pPr algn="l" fontAlgn="base">
              <a:lnSpc>
                <a:spcPct val="120000"/>
              </a:lnSpc>
              <a:spcBef>
                <a:spcPts val="200"/>
              </a:spcBef>
              <a:spcAft>
                <a:spcPts val="0"/>
              </a:spcAft>
              <a:buFont typeface="Wingdings" panose="05000000000000000000" pitchFamily="2" charset="2"/>
              <a:buChar char="Ø"/>
            </a:pPr>
            <a:r>
              <a:rPr lang="en-US" altLang="zh-CN" sz="1600" b="0" i="0" dirty="0">
                <a:solidFill>
                  <a:srgbClr val="575D6C"/>
                </a:solidFill>
                <a:effectLst/>
                <a:latin typeface="Arial" panose="020B0604020202020204" pitchFamily="34" charset="0"/>
                <a:cs typeface="Arial" panose="020B0604020202020204" pitchFamily="34" charset="0"/>
              </a:rPr>
              <a:t>Processing #include directives involves inserting included files at this location, which is a recursive process.</a:t>
            </a:r>
          </a:p>
          <a:p>
            <a:pPr algn="l" fontAlgn="base">
              <a:lnSpc>
                <a:spcPct val="120000"/>
              </a:lnSpc>
              <a:spcBef>
                <a:spcPts val="200"/>
              </a:spcBef>
              <a:spcAft>
                <a:spcPts val="0"/>
              </a:spcAft>
              <a:buFont typeface="Wingdings" panose="05000000000000000000" pitchFamily="2" charset="2"/>
              <a:buChar char="Ø"/>
            </a:pPr>
            <a:r>
              <a:rPr lang="en-US" altLang="zh-CN" sz="1600" b="0" i="0" dirty="0">
                <a:solidFill>
                  <a:srgbClr val="575D6C"/>
                </a:solidFill>
                <a:effectLst/>
                <a:latin typeface="Arial" panose="020B0604020202020204" pitchFamily="34" charset="0"/>
                <a:cs typeface="Arial" panose="020B0604020202020204" pitchFamily="34" charset="0"/>
              </a:rPr>
              <a:t>Remove all comments   //   /* */</a:t>
            </a:r>
          </a:p>
          <a:p>
            <a:pPr algn="l" fontAlgn="base">
              <a:lnSpc>
                <a:spcPct val="120000"/>
              </a:lnSpc>
              <a:spcBef>
                <a:spcPts val="200"/>
              </a:spcBef>
              <a:spcAft>
                <a:spcPts val="0"/>
              </a:spcAft>
              <a:buFont typeface="Wingdings" panose="05000000000000000000" pitchFamily="2" charset="2"/>
              <a:buChar char="Ø"/>
            </a:pPr>
            <a:r>
              <a:rPr lang="en-US" altLang="zh-CN" sz="1600" b="0" i="0" dirty="0">
                <a:solidFill>
                  <a:srgbClr val="575D6C"/>
                </a:solidFill>
                <a:effectLst/>
                <a:latin typeface="Arial" panose="020B0604020202020204" pitchFamily="34" charset="0"/>
                <a:cs typeface="Arial" panose="020B0604020202020204" pitchFamily="34" charset="0"/>
              </a:rPr>
              <a:t>Add line numbers and filename identifiers so that error warnings generated during compilation display line numbers.</a:t>
            </a:r>
          </a:p>
          <a:p>
            <a:pPr algn="l" fontAlgn="base">
              <a:lnSpc>
                <a:spcPct val="120000"/>
              </a:lnSpc>
              <a:spcBef>
                <a:spcPts val="200"/>
              </a:spcBef>
              <a:spcAft>
                <a:spcPts val="0"/>
              </a:spcAft>
              <a:buFont typeface="Wingdings" panose="05000000000000000000" pitchFamily="2" charset="2"/>
              <a:buChar char="Ø"/>
            </a:pPr>
            <a:r>
              <a:rPr lang="en-US" altLang="zh-CN" sz="1600" b="0" i="0" dirty="0">
                <a:solidFill>
                  <a:srgbClr val="575D6C"/>
                </a:solidFill>
                <a:effectLst/>
                <a:latin typeface="Arial" panose="020B0604020202020204" pitchFamily="34" charset="0"/>
                <a:cs typeface="Arial" panose="020B0604020202020204" pitchFamily="34" charset="0"/>
              </a:rPr>
              <a:t>Retain #pragma compiler directives</a:t>
            </a:r>
          </a:p>
          <a:p>
            <a:pPr algn="l" fontAlgn="base">
              <a:lnSpc>
                <a:spcPct val="120000"/>
              </a:lnSpc>
              <a:spcBef>
                <a:spcPts val="200"/>
              </a:spcBef>
              <a:spcAft>
                <a:spcPts val="0"/>
              </a:spcAft>
              <a:buFont typeface="Wingdings" panose="05000000000000000000" pitchFamily="2" charset="2"/>
              <a:buChar char="Ø"/>
            </a:pPr>
            <a:r>
              <a:rPr lang="en-US" altLang="zh-CN" sz="1600" b="1" i="0" dirty="0">
                <a:solidFill>
                  <a:srgbClr val="FF0000"/>
                </a:solidFill>
                <a:effectLst/>
                <a:latin typeface="Arial" panose="020B0604020202020204" pitchFamily="34" charset="0"/>
                <a:cs typeface="Arial" panose="020B0604020202020204" pitchFamily="34" charset="0"/>
              </a:rPr>
              <a:t>Step Two</a:t>
            </a:r>
            <a:r>
              <a:rPr lang="zh-CN" altLang="en-US" sz="1600" b="1" i="0" dirty="0">
                <a:solidFill>
                  <a:srgbClr val="FF0000"/>
                </a:solidFill>
                <a:effectLst/>
                <a:latin typeface="Arial" panose="020B0604020202020204" pitchFamily="34" charset="0"/>
                <a:cs typeface="Arial" panose="020B0604020202020204" pitchFamily="34" charset="0"/>
              </a:rPr>
              <a:t>：</a:t>
            </a:r>
            <a:r>
              <a:rPr lang="en-US" altLang="zh-CN" sz="1600" b="1" i="0" dirty="0">
                <a:solidFill>
                  <a:srgbClr val="FF0000"/>
                </a:solidFill>
                <a:effectLst/>
                <a:latin typeface="Arial" panose="020B0604020202020204" pitchFamily="34" charset="0"/>
                <a:cs typeface="Arial" panose="020B0604020202020204" pitchFamily="34" charset="0"/>
              </a:rPr>
              <a:t>Compilation</a:t>
            </a:r>
            <a:br>
              <a:rPr lang="zh-CN" altLang="en-US" sz="1600" dirty="0">
                <a:latin typeface="Arial" panose="020B0604020202020204" pitchFamily="34" charset="0"/>
                <a:cs typeface="Arial" panose="020B0604020202020204" pitchFamily="34" charset="0"/>
              </a:rPr>
            </a:br>
            <a:r>
              <a:rPr lang="en-US" altLang="zh-CN" sz="1600" b="0" i="0" dirty="0" err="1">
                <a:solidFill>
                  <a:srgbClr val="575D6C"/>
                </a:solidFill>
                <a:effectLst/>
                <a:latin typeface="Arial" panose="020B0604020202020204" pitchFamily="34" charset="0"/>
                <a:cs typeface="Arial" panose="020B0604020202020204" pitchFamily="34" charset="0"/>
              </a:rPr>
              <a:t>gcc</a:t>
            </a:r>
            <a:r>
              <a:rPr lang="en-US" altLang="zh-CN" sz="1600" b="0" i="0" dirty="0">
                <a:solidFill>
                  <a:srgbClr val="575D6C"/>
                </a:solidFill>
                <a:effectLst/>
                <a:latin typeface="Arial" panose="020B0604020202020204" pitchFamily="34" charset="0"/>
                <a:cs typeface="Arial" panose="020B0604020202020204" pitchFamily="34" charset="0"/>
              </a:rPr>
              <a:t>  -S  </a:t>
            </a:r>
            <a:r>
              <a:rPr lang="en-US" altLang="zh-CN" sz="1600" b="0" i="0" dirty="0" err="1">
                <a:solidFill>
                  <a:srgbClr val="575D6C"/>
                </a:solidFill>
                <a:effectLst/>
                <a:latin typeface="Arial" panose="020B0604020202020204" pitchFamily="34" charset="0"/>
                <a:cs typeface="Arial" panose="020B0604020202020204" pitchFamily="34" charset="0"/>
              </a:rPr>
              <a:t>hello.i</a:t>
            </a:r>
            <a:r>
              <a:rPr lang="en-US" altLang="zh-CN" sz="1600" b="0" i="0" dirty="0">
                <a:solidFill>
                  <a:srgbClr val="575D6C"/>
                </a:solidFill>
                <a:effectLst/>
                <a:latin typeface="Arial" panose="020B0604020202020204" pitchFamily="34" charset="0"/>
                <a:cs typeface="Arial" panose="020B0604020202020204" pitchFamily="34" charset="0"/>
              </a:rPr>
              <a:t>   -o  </a:t>
            </a:r>
            <a:r>
              <a:rPr lang="en-US" altLang="zh-CN" sz="1600" b="0" i="0" dirty="0" err="1">
                <a:solidFill>
                  <a:srgbClr val="575D6C"/>
                </a:solidFill>
                <a:effectLst/>
                <a:latin typeface="Arial" panose="020B0604020202020204" pitchFamily="34" charset="0"/>
                <a:cs typeface="Arial" panose="020B0604020202020204" pitchFamily="34" charset="0"/>
              </a:rPr>
              <a:t>hello.s</a:t>
            </a:r>
            <a:br>
              <a:rPr lang="zh-CN" altLang="en-US" sz="1600" dirty="0">
                <a:latin typeface="Arial" panose="020B0604020202020204" pitchFamily="34" charset="0"/>
                <a:cs typeface="Arial" panose="020B0604020202020204" pitchFamily="34" charset="0"/>
              </a:rPr>
            </a:br>
            <a:r>
              <a:rPr lang="en-US" altLang="zh-CN" sz="1600" b="0" i="0" dirty="0">
                <a:solidFill>
                  <a:srgbClr val="575D6C"/>
                </a:solidFill>
                <a:effectLst/>
                <a:latin typeface="Arial" panose="020B0604020202020204" pitchFamily="34" charset="0"/>
                <a:cs typeface="Arial" panose="020B0604020202020204" pitchFamily="34" charset="0"/>
              </a:rPr>
              <a:t>After performing a series of lexical analysis, syntactic analysis, semantic analysis, and optimizations on the preprocessed .</a:t>
            </a:r>
            <a:r>
              <a:rPr lang="en-US" altLang="zh-CN" sz="1600" b="0" i="0" dirty="0" err="1">
                <a:solidFill>
                  <a:srgbClr val="575D6C"/>
                </a:solidFill>
                <a:effectLst/>
                <a:latin typeface="Arial" panose="020B0604020202020204" pitchFamily="34" charset="0"/>
                <a:cs typeface="Arial" panose="020B0604020202020204" pitchFamily="34" charset="0"/>
              </a:rPr>
              <a:t>i</a:t>
            </a:r>
            <a:r>
              <a:rPr lang="en-US" altLang="zh-CN" sz="1600" b="0" i="0" dirty="0">
                <a:solidFill>
                  <a:srgbClr val="575D6C"/>
                </a:solidFill>
                <a:effectLst/>
                <a:latin typeface="Arial" panose="020B0604020202020204" pitchFamily="34" charset="0"/>
                <a:cs typeface="Arial" panose="020B0604020202020204" pitchFamily="34" charset="0"/>
              </a:rPr>
              <a:t> files, the corresponding assembly code files are generated. This constitutes the most critical and complex part of the entire program build process.</a:t>
            </a:r>
            <a:endParaRPr lang="zh-CN" altLang="en-US" sz="1600" dirty="0">
              <a:latin typeface="Arial" panose="020B0604020202020204" pitchFamily="34" charset="0"/>
              <a:cs typeface="Arial" panose="020B0604020202020204" pitchFamily="34" charset="0"/>
            </a:endParaRPr>
          </a:p>
        </p:txBody>
      </p:sp>
      <p:sp>
        <p:nvSpPr>
          <p:cNvPr id="2" name="标题 1"/>
          <p:cNvSpPr>
            <a:spLocks noGrp="1" noChangeArrowheads="1"/>
          </p:cNvSpPr>
          <p:nvPr>
            <p:ph type="title"/>
          </p:nvPr>
        </p:nvSpPr>
        <p:spPr>
          <a:xfrm>
            <a:off x="865188" y="583406"/>
            <a:ext cx="3821112" cy="504825"/>
          </a:xfrm>
        </p:spPr>
        <p:txBody>
          <a:bodyPr>
            <a:normAutofit/>
          </a:bodyPr>
          <a:lstStyle/>
          <a:p>
            <a:pPr eaLnBrk="1" hangingPunct="1"/>
            <a:r>
              <a:rPr lang="en-US" altLang="zh-CN" sz="2800" dirty="0">
                <a:latin typeface="Arial" panose="020B0604020202020204" pitchFamily="34" charset="0"/>
                <a:cs typeface="Arial" panose="020B0604020202020204" pitchFamily="34" charset="0"/>
              </a:rPr>
              <a:t>4.1.3 GCC Workflow</a:t>
            </a:r>
            <a:endParaRPr lang="zh-CN" altLang="en-US" sz="2800" dirty="0">
              <a:latin typeface="Arial" panose="020B0604020202020204" pitchFamily="34" charset="0"/>
              <a:cs typeface="Arial" panose="020B0604020202020204" pitchFamily="34" charset="0"/>
            </a:endParaRPr>
          </a:p>
        </p:txBody>
      </p:sp>
      <p:sp>
        <p:nvSpPr>
          <p:cNvPr id="29734" name="矩形 9">
            <a:hlinkClick r:id="rId2" action="ppaction://hlinksldjump"/>
          </p:cNvPr>
          <p:cNvSpPr>
            <a:spLocks noChangeArrowheads="1"/>
          </p:cNvSpPr>
          <p:nvPr/>
        </p:nvSpPr>
        <p:spPr bwMode="auto">
          <a:xfrm>
            <a:off x="244475" y="433387"/>
            <a:ext cx="4545013" cy="414338"/>
          </a:xfrm>
          <a:prstGeom prst="rect">
            <a:avLst/>
          </a:prstGeom>
        </p:spPr>
        <p:txBody>
          <a:bodyPr vert="horz" lIns="91440" tIns="45720" rIns="91440" bIns="45720" rtlCol="0" anchor="b">
            <a:normAutofit fontScale="77500" lnSpcReduction="20000"/>
          </a:bodyPr>
          <a:lstStyle/>
          <a:p>
            <a:pPr defTabSz="914400">
              <a:lnSpc>
                <a:spcPct val="85000"/>
              </a:lnSpc>
              <a:spcBef>
                <a:spcPct val="0"/>
              </a:spcBef>
            </a:pPr>
            <a:endParaRPr lang="zh-CN" altLang="en-US" sz="4000" spc="-50">
              <a:solidFill>
                <a:schemeClr val="tx1">
                  <a:lumMod val="75000"/>
                  <a:lumOff val="25000"/>
                </a:schemeClr>
              </a:solidFill>
              <a:latin typeface="+mj-lt"/>
              <a:ea typeface="+mj-ea"/>
              <a:cs typeface="+mj-cs"/>
            </a:endParaRPr>
          </a:p>
        </p:txBody>
      </p:sp>
      <p:sp>
        <p:nvSpPr>
          <p:cNvPr id="6" name="灯片编号占位符 5"/>
          <p:cNvSpPr>
            <a:spLocks noGrp="1"/>
          </p:cNvSpPr>
          <p:nvPr>
            <p:ph type="sldNum" sz="quarter" idx="12"/>
          </p:nvPr>
        </p:nvSpPr>
        <p:spPr/>
        <p:txBody>
          <a:bodyPr/>
          <a:lstStyle/>
          <a:p>
            <a:fld id="{22E77DEE-32E4-4009-988B-F2758F7B8AC2}" type="slidenum">
              <a:rPr lang="zh-CN" altLang="en-US" smtClean="0"/>
              <a:t>16</a:t>
            </a:fld>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7155" name="Rectangle 3"/>
          <p:cNvSpPr>
            <a:spLocks noGrp="1" noChangeArrowheads="1"/>
          </p:cNvSpPr>
          <p:nvPr>
            <p:ph idx="1"/>
          </p:nvPr>
        </p:nvSpPr>
        <p:spPr>
          <a:xfrm>
            <a:off x="439738" y="1328736"/>
            <a:ext cx="7999412" cy="4246563"/>
          </a:xfrm>
        </p:spPr>
        <p:txBody>
          <a:bodyPr>
            <a:normAutofit fontScale="85000" lnSpcReduction="10000"/>
          </a:bodyPr>
          <a:lstStyle/>
          <a:p>
            <a:pPr algn="l" fontAlgn="base"/>
            <a:r>
              <a:rPr lang="en-US" altLang="zh-CN" b="1" i="0" dirty="0">
                <a:solidFill>
                  <a:srgbClr val="36383C"/>
                </a:solidFill>
                <a:effectLst/>
                <a:latin typeface="Arial" panose="020B0604020202020204" pitchFamily="34" charset="0"/>
                <a:cs typeface="Arial" panose="020B0604020202020204" pitchFamily="34" charset="0"/>
              </a:rPr>
              <a:t>Step Three</a:t>
            </a:r>
            <a:r>
              <a:rPr lang="zh-CN" altLang="en-US" b="1" i="0" dirty="0">
                <a:solidFill>
                  <a:srgbClr val="36383C"/>
                </a:solidFill>
                <a:effectLst/>
                <a:latin typeface="Arial" panose="020B0604020202020204" pitchFamily="34" charset="0"/>
                <a:cs typeface="Arial" panose="020B0604020202020204" pitchFamily="34" charset="0"/>
              </a:rPr>
              <a:t>：</a:t>
            </a:r>
            <a:r>
              <a:rPr lang="en-US" altLang="zh-CN" b="1" i="0" dirty="0">
                <a:solidFill>
                  <a:srgbClr val="36383C"/>
                </a:solidFill>
                <a:effectLst/>
                <a:latin typeface="Arial" panose="020B0604020202020204" pitchFamily="34" charset="0"/>
                <a:cs typeface="Arial" panose="020B0604020202020204" pitchFamily="34" charset="0"/>
              </a:rPr>
              <a:t>Compilation</a:t>
            </a:r>
            <a:br>
              <a:rPr lang="zh-CN" altLang="en-US" dirty="0">
                <a:latin typeface="Arial" panose="020B0604020202020204" pitchFamily="34" charset="0"/>
                <a:cs typeface="Arial" panose="020B0604020202020204" pitchFamily="34" charset="0"/>
              </a:rPr>
            </a:br>
            <a:r>
              <a:rPr lang="en-US" altLang="zh-CN" b="0" i="0" dirty="0" err="1">
                <a:solidFill>
                  <a:srgbClr val="575D6C"/>
                </a:solidFill>
                <a:effectLst/>
                <a:latin typeface="Arial" panose="020B0604020202020204" pitchFamily="34" charset="0"/>
                <a:cs typeface="Arial" panose="020B0604020202020204" pitchFamily="34" charset="0"/>
              </a:rPr>
              <a:t>gcc</a:t>
            </a:r>
            <a:r>
              <a:rPr lang="en-US" altLang="zh-CN" b="0" i="0" dirty="0">
                <a:solidFill>
                  <a:srgbClr val="575D6C"/>
                </a:solidFill>
                <a:effectLst/>
                <a:latin typeface="Arial" panose="020B0604020202020204" pitchFamily="34" charset="0"/>
                <a:cs typeface="Arial" panose="020B0604020202020204" pitchFamily="34" charset="0"/>
              </a:rPr>
              <a:t>  -c  </a:t>
            </a:r>
            <a:r>
              <a:rPr lang="en-US" altLang="zh-CN" b="0" i="0" dirty="0" err="1">
                <a:solidFill>
                  <a:srgbClr val="575D6C"/>
                </a:solidFill>
                <a:effectLst/>
                <a:latin typeface="Arial" panose="020B0604020202020204" pitchFamily="34" charset="0"/>
                <a:cs typeface="Arial" panose="020B0604020202020204" pitchFamily="34" charset="0"/>
              </a:rPr>
              <a:t>hello.s</a:t>
            </a:r>
            <a:r>
              <a:rPr lang="en-US" altLang="zh-CN" b="0" i="0" dirty="0">
                <a:solidFill>
                  <a:srgbClr val="575D6C"/>
                </a:solidFill>
                <a:effectLst/>
                <a:latin typeface="Arial" panose="020B0604020202020204" pitchFamily="34" charset="0"/>
                <a:cs typeface="Arial" panose="020B0604020202020204" pitchFamily="34" charset="0"/>
              </a:rPr>
              <a:t>  -o  </a:t>
            </a:r>
            <a:r>
              <a:rPr lang="en-US" altLang="zh-CN" b="0" i="0" dirty="0" err="1">
                <a:solidFill>
                  <a:srgbClr val="575D6C"/>
                </a:solidFill>
                <a:effectLst/>
                <a:latin typeface="Arial" panose="020B0604020202020204" pitchFamily="34" charset="0"/>
                <a:cs typeface="Arial" panose="020B0604020202020204" pitchFamily="34" charset="0"/>
              </a:rPr>
              <a:t>hello.o</a:t>
            </a:r>
            <a:r>
              <a:rPr lang="en-US" altLang="zh-CN" b="0" i="0" dirty="0">
                <a:solidFill>
                  <a:srgbClr val="575D6C"/>
                </a:solidFill>
                <a:effectLst/>
                <a:latin typeface="Arial" panose="020B0604020202020204" pitchFamily="34" charset="0"/>
                <a:cs typeface="Arial" panose="020B0604020202020204" pitchFamily="34" charset="0"/>
              </a:rPr>
              <a:t> </a:t>
            </a:r>
            <a:r>
              <a:rPr lang="en-US" altLang="zh-CN" dirty="0">
                <a:solidFill>
                  <a:srgbClr val="575D6C"/>
                </a:solidFill>
                <a:latin typeface="Arial" panose="020B0604020202020204" pitchFamily="34" charset="0"/>
                <a:cs typeface="Arial" panose="020B0604020202020204" pitchFamily="34" charset="0"/>
              </a:rPr>
              <a:t>or</a:t>
            </a:r>
            <a:r>
              <a:rPr lang="zh-CN" altLang="en-US" b="0" i="0" dirty="0">
                <a:solidFill>
                  <a:srgbClr val="575D6C"/>
                </a:solidFill>
                <a:effectLst/>
                <a:latin typeface="Arial" panose="020B0604020202020204" pitchFamily="34" charset="0"/>
                <a:cs typeface="Arial" panose="020B0604020202020204" pitchFamily="34" charset="0"/>
              </a:rPr>
              <a:t> </a:t>
            </a:r>
            <a:r>
              <a:rPr lang="en-US" altLang="zh-CN" b="0" i="0" dirty="0">
                <a:solidFill>
                  <a:srgbClr val="575D6C"/>
                </a:solidFill>
                <a:effectLst/>
                <a:latin typeface="Arial" panose="020B0604020202020204" pitchFamily="34" charset="0"/>
                <a:cs typeface="Arial" panose="020B0604020202020204" pitchFamily="34" charset="0"/>
              </a:rPr>
              <a:t>as  </a:t>
            </a:r>
            <a:r>
              <a:rPr lang="en-US" altLang="zh-CN" b="0" i="0" dirty="0" err="1">
                <a:solidFill>
                  <a:srgbClr val="575D6C"/>
                </a:solidFill>
                <a:effectLst/>
                <a:latin typeface="Arial" panose="020B0604020202020204" pitchFamily="34" charset="0"/>
                <a:cs typeface="Arial" panose="020B0604020202020204" pitchFamily="34" charset="0"/>
              </a:rPr>
              <a:t>hello.s</a:t>
            </a:r>
            <a:r>
              <a:rPr lang="en-US" altLang="zh-CN" b="0" i="0" dirty="0">
                <a:solidFill>
                  <a:srgbClr val="575D6C"/>
                </a:solidFill>
                <a:effectLst/>
                <a:latin typeface="Arial" panose="020B0604020202020204" pitchFamily="34" charset="0"/>
                <a:cs typeface="Arial" panose="020B0604020202020204" pitchFamily="34" charset="0"/>
              </a:rPr>
              <a:t> -o  </a:t>
            </a:r>
            <a:r>
              <a:rPr lang="en-US" altLang="zh-CN" b="0" i="0" dirty="0" err="1">
                <a:solidFill>
                  <a:srgbClr val="575D6C"/>
                </a:solidFill>
                <a:effectLst/>
                <a:latin typeface="Arial" panose="020B0604020202020204" pitchFamily="34" charset="0"/>
                <a:cs typeface="Arial" panose="020B0604020202020204" pitchFamily="34" charset="0"/>
              </a:rPr>
              <a:t>hello.o</a:t>
            </a:r>
            <a:br>
              <a:rPr lang="zh-CN" altLang="en-US" dirty="0">
                <a:latin typeface="Arial" panose="020B0604020202020204" pitchFamily="34" charset="0"/>
                <a:cs typeface="Arial" panose="020B0604020202020204" pitchFamily="34" charset="0"/>
              </a:rPr>
            </a:br>
            <a:r>
              <a:rPr lang="en-US" altLang="zh-CN" b="0" i="0" dirty="0">
                <a:solidFill>
                  <a:srgbClr val="575D6C"/>
                </a:solidFill>
                <a:effectLst/>
                <a:latin typeface="Arial" panose="020B0604020202020204" pitchFamily="34" charset="0"/>
                <a:cs typeface="Arial" panose="020B0604020202020204" pitchFamily="34" charset="0"/>
              </a:rPr>
              <a:t>Assembly compiles the assembly code generated in the second step into machine-executable instructions, with nearly every assembly statement corresponding to a single machine instruction.</a:t>
            </a:r>
            <a:br>
              <a:rPr lang="zh-CN" altLang="en-US" dirty="0">
                <a:latin typeface="Arial" panose="020B0604020202020204" pitchFamily="34" charset="0"/>
                <a:cs typeface="Arial" panose="020B0604020202020204" pitchFamily="34" charset="0"/>
              </a:rPr>
            </a:br>
            <a:br>
              <a:rPr lang="zh-CN" altLang="en-US" b="0" i="0" dirty="0">
                <a:solidFill>
                  <a:srgbClr val="575D6C"/>
                </a:solidFill>
                <a:effectLst/>
                <a:latin typeface="Arial" panose="020B0604020202020204" pitchFamily="34" charset="0"/>
                <a:cs typeface="Arial" panose="020B0604020202020204" pitchFamily="34" charset="0"/>
              </a:rPr>
            </a:br>
            <a:endParaRPr lang="zh-CN" altLang="en-US" b="0" i="0" dirty="0">
              <a:solidFill>
                <a:srgbClr val="575D6C"/>
              </a:solidFill>
              <a:effectLst/>
              <a:latin typeface="Arial" panose="020B0604020202020204" pitchFamily="34" charset="0"/>
              <a:cs typeface="Arial" panose="020B0604020202020204" pitchFamily="34" charset="0"/>
            </a:endParaRPr>
          </a:p>
          <a:p>
            <a:pPr algn="l" fontAlgn="base"/>
            <a:r>
              <a:rPr lang="en-US" altLang="zh-CN" b="1" i="0" dirty="0">
                <a:solidFill>
                  <a:srgbClr val="36383C"/>
                </a:solidFill>
                <a:effectLst/>
                <a:latin typeface="Arial" panose="020B0604020202020204" pitchFamily="34" charset="0"/>
                <a:cs typeface="Arial" panose="020B0604020202020204" pitchFamily="34" charset="0"/>
              </a:rPr>
              <a:t>Step 4</a:t>
            </a:r>
            <a:r>
              <a:rPr lang="zh-CN" altLang="en-US" b="1" i="0" dirty="0">
                <a:solidFill>
                  <a:srgbClr val="36383C"/>
                </a:solidFill>
                <a:effectLst/>
                <a:latin typeface="Arial" panose="020B0604020202020204" pitchFamily="34" charset="0"/>
                <a:cs typeface="Arial" panose="020B0604020202020204" pitchFamily="34" charset="0"/>
              </a:rPr>
              <a:t>：</a:t>
            </a:r>
            <a:r>
              <a:rPr lang="en-US" altLang="zh-CN" b="1" i="0" dirty="0">
                <a:solidFill>
                  <a:srgbClr val="36383C"/>
                </a:solidFill>
                <a:effectLst/>
                <a:latin typeface="Arial" panose="020B0604020202020204" pitchFamily="34" charset="0"/>
                <a:cs typeface="Arial" panose="020B0604020202020204" pitchFamily="34" charset="0"/>
              </a:rPr>
              <a:t>Link</a:t>
            </a:r>
          </a:p>
          <a:p>
            <a:pPr algn="l" fontAlgn="base"/>
            <a:r>
              <a:rPr lang="en-US" altLang="zh-CN" b="0" i="0" dirty="0">
                <a:solidFill>
                  <a:srgbClr val="575D6C"/>
                </a:solidFill>
                <a:effectLst/>
                <a:latin typeface="Arial" panose="020B0604020202020204" pitchFamily="34" charset="0"/>
                <a:cs typeface="Arial" panose="020B0604020202020204" pitchFamily="34" charset="0"/>
              </a:rPr>
              <a:t>After linking dynamic libraries and static libraries, generate the executable file.</a:t>
            </a:r>
          </a:p>
          <a:p>
            <a:pPr algn="l" fontAlgn="base"/>
            <a:br>
              <a:rPr lang="zh-CN" altLang="en-US" dirty="0">
                <a:latin typeface="Arial" panose="020B0604020202020204" pitchFamily="34" charset="0"/>
                <a:cs typeface="Arial" panose="020B0604020202020204" pitchFamily="34" charset="0"/>
              </a:rPr>
            </a:br>
            <a:r>
              <a:rPr lang="en-US" altLang="zh-CN" b="1" dirty="0">
                <a:solidFill>
                  <a:srgbClr val="FF0000"/>
                </a:solidFill>
                <a:latin typeface="Arial" panose="020B0604020202020204" pitchFamily="34" charset="0"/>
                <a:cs typeface="Arial" panose="020B0604020202020204" pitchFamily="34" charset="0"/>
              </a:rPr>
              <a:t>.o</a:t>
            </a:r>
            <a:r>
              <a:rPr lang="zh-CN" altLang="en-US" b="1" dirty="0">
                <a:solidFill>
                  <a:srgbClr val="FF0000"/>
                </a:solidFill>
                <a:latin typeface="Arial" panose="020B0604020202020204" pitchFamily="34" charset="0"/>
                <a:cs typeface="Arial" panose="020B0604020202020204" pitchFamily="34" charset="0"/>
              </a:rPr>
              <a:t> </a:t>
            </a:r>
            <a:r>
              <a:rPr lang="en-US" altLang="zh-CN" b="1" dirty="0">
                <a:solidFill>
                  <a:srgbClr val="FF0000"/>
                </a:solidFill>
                <a:latin typeface="Arial" panose="020B0604020202020204" pitchFamily="34" charset="0"/>
                <a:cs typeface="Arial" panose="020B0604020202020204" pitchFamily="34" charset="0"/>
              </a:rPr>
              <a:t>file: Object file</a:t>
            </a:r>
          </a:p>
          <a:p>
            <a:r>
              <a:rPr lang="en-US" altLang="zh-CN" b="0" i="0" dirty="0">
                <a:solidFill>
                  <a:srgbClr val="575D6C"/>
                </a:solidFill>
                <a:effectLst/>
                <a:latin typeface="Arial" panose="020B0604020202020204" pitchFamily="34" charset="0"/>
                <a:cs typeface="Arial" panose="020B0604020202020204" pitchFamily="34" charset="0"/>
              </a:rPr>
              <a:t>Object files are intermediate files produced after compiling source code but before linking. In Linux, .o files are object files. Object files and executable files share nearly identical content and format, so we can broadly consider them as one type of file. Both are stored in the ELF file format.</a:t>
            </a:r>
            <a:endParaRPr lang="zh-CN" altLang="en-US" dirty="0">
              <a:latin typeface="Arial" panose="020B0604020202020204" pitchFamily="34" charset="0"/>
              <a:cs typeface="Arial" panose="020B0604020202020204" pitchFamily="34" charset="0"/>
            </a:endParaRPr>
          </a:p>
        </p:txBody>
      </p:sp>
      <p:sp>
        <p:nvSpPr>
          <p:cNvPr id="2" name="标题 1"/>
          <p:cNvSpPr>
            <a:spLocks noGrp="1" noChangeArrowheads="1"/>
          </p:cNvSpPr>
          <p:nvPr>
            <p:ph type="title"/>
          </p:nvPr>
        </p:nvSpPr>
        <p:spPr>
          <a:xfrm>
            <a:off x="865188" y="583406"/>
            <a:ext cx="3821112" cy="504825"/>
          </a:xfrm>
        </p:spPr>
        <p:txBody>
          <a:bodyPr>
            <a:normAutofit/>
          </a:bodyPr>
          <a:lstStyle/>
          <a:p>
            <a:pPr eaLnBrk="1" hangingPunct="1"/>
            <a:r>
              <a:rPr lang="en-US" altLang="zh-CN" sz="2800" dirty="0">
                <a:latin typeface="Arial" panose="020B0604020202020204" pitchFamily="34" charset="0"/>
                <a:cs typeface="Arial" panose="020B0604020202020204" pitchFamily="34" charset="0"/>
              </a:rPr>
              <a:t>4.1.3 GCC Workflow</a:t>
            </a:r>
            <a:endParaRPr lang="zh-CN" altLang="en-US" sz="2800" dirty="0">
              <a:latin typeface="Arial" panose="020B0604020202020204" pitchFamily="34" charset="0"/>
              <a:cs typeface="Arial" panose="020B0604020202020204" pitchFamily="34" charset="0"/>
            </a:endParaRPr>
          </a:p>
        </p:txBody>
      </p:sp>
      <p:sp>
        <p:nvSpPr>
          <p:cNvPr id="29734" name="矩形 9">
            <a:hlinkClick r:id="rId2" action="ppaction://hlinksldjump"/>
          </p:cNvPr>
          <p:cNvSpPr>
            <a:spLocks noChangeArrowheads="1"/>
          </p:cNvSpPr>
          <p:nvPr/>
        </p:nvSpPr>
        <p:spPr bwMode="auto">
          <a:xfrm>
            <a:off x="244475" y="433387"/>
            <a:ext cx="4545013" cy="414338"/>
          </a:xfrm>
          <a:prstGeom prst="rect">
            <a:avLst/>
          </a:prstGeom>
        </p:spPr>
        <p:txBody>
          <a:bodyPr vert="horz" lIns="91440" tIns="45720" rIns="91440" bIns="45720" rtlCol="0" anchor="b">
            <a:normAutofit fontScale="77500" lnSpcReduction="20000"/>
          </a:bodyPr>
          <a:lstStyle/>
          <a:p>
            <a:pPr defTabSz="914400">
              <a:lnSpc>
                <a:spcPct val="85000"/>
              </a:lnSpc>
              <a:spcBef>
                <a:spcPct val="0"/>
              </a:spcBef>
            </a:pPr>
            <a:endParaRPr lang="zh-CN" altLang="en-US" sz="4000" spc="-50">
              <a:solidFill>
                <a:schemeClr val="tx1">
                  <a:lumMod val="75000"/>
                  <a:lumOff val="25000"/>
                </a:schemeClr>
              </a:solidFill>
              <a:latin typeface="+mj-lt"/>
              <a:ea typeface="+mj-ea"/>
              <a:cs typeface="+mj-cs"/>
            </a:endParaRPr>
          </a:p>
        </p:txBody>
      </p:sp>
      <p:sp>
        <p:nvSpPr>
          <p:cNvPr id="3" name="灯片编号占位符 2"/>
          <p:cNvSpPr>
            <a:spLocks noGrp="1"/>
          </p:cNvSpPr>
          <p:nvPr>
            <p:ph type="sldNum" sz="quarter" idx="12"/>
          </p:nvPr>
        </p:nvSpPr>
        <p:spPr/>
        <p:txBody>
          <a:bodyPr/>
          <a:lstStyle/>
          <a:p>
            <a:fld id="{22E77DEE-32E4-4009-988B-F2758F7B8AC2}" type="slidenum">
              <a:rPr lang="zh-CN" altLang="en-US" smtClean="0"/>
              <a:t>17</a:t>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8" name="Text Box 4"/>
          <p:cNvSpPr>
            <a:spLocks noGrp="1" noChangeArrowheads="1"/>
          </p:cNvSpPr>
          <p:nvPr>
            <p:ph type="body" idx="1"/>
          </p:nvPr>
        </p:nvSpPr>
        <p:spPr>
          <a:xfrm>
            <a:off x="583422" y="1174221"/>
            <a:ext cx="7333931" cy="2493962"/>
          </a:xfrm>
          <a:extLst>
            <a:ext uri="{909E8E84-426E-40DD-AFC4-6F175D3DCCD1}">
              <a14:hiddenFill xmlns:a14="http://schemas.microsoft.com/office/drawing/2010/main">
                <a:gradFill rotWithShape="0">
                  <a:gsLst>
                    <a:gs pos="0">
                      <a:schemeClr val="accent1"/>
                    </a:gs>
                    <a:gs pos="100000">
                      <a:schemeClr val="bg1"/>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rmAutofit/>
          </a:bodyPr>
          <a:lstStyle/>
          <a:p>
            <a:pPr eaLnBrk="1" hangingPunct="1">
              <a:lnSpc>
                <a:spcPct val="125000"/>
              </a:lnSpc>
              <a:spcBef>
                <a:spcPct val="0"/>
              </a:spcBef>
              <a:buFont typeface="Wingdings" panose="05000000000000000000" pitchFamily="2" charset="2"/>
              <a:buChar char="Ø"/>
            </a:pPr>
            <a:r>
              <a:rPr kumimoji="1" lang="en-US" altLang="zh-CN" sz="1700" dirty="0">
                <a:latin typeface="Arial" panose="020B0604020202020204" pitchFamily="34" charset="0"/>
                <a:cs typeface="Arial" panose="020B0604020202020204" pitchFamily="34" charset="0"/>
              </a:rPr>
              <a:t>A single-chip microcomputer (abbreviated as microcontroller) integrates the functional structure of the aforementioned microcomputer onto a single chip</a:t>
            </a:r>
            <a:r>
              <a:rPr kumimoji="1" lang="zh-CN" altLang="en-US" sz="1700" dirty="0">
                <a:latin typeface="Arial" panose="020B0604020202020204" pitchFamily="34" charset="0"/>
                <a:cs typeface="Arial" panose="020B0604020202020204" pitchFamily="34" charset="0"/>
              </a:rPr>
              <a:t>，</a:t>
            </a:r>
            <a:endParaRPr kumimoji="1" lang="en-US" altLang="zh-CN" sz="1700" dirty="0">
              <a:latin typeface="Arial" panose="020B0604020202020204" pitchFamily="34" charset="0"/>
              <a:cs typeface="Arial" panose="020B0604020202020204" pitchFamily="34" charset="0"/>
            </a:endParaRPr>
          </a:p>
          <a:p>
            <a:pPr eaLnBrk="1" hangingPunct="1">
              <a:lnSpc>
                <a:spcPct val="125000"/>
              </a:lnSpc>
              <a:spcBef>
                <a:spcPct val="0"/>
              </a:spcBef>
              <a:buFont typeface="Wingdings" panose="05000000000000000000" pitchFamily="2" charset="2"/>
              <a:buChar char="Ø"/>
            </a:pPr>
            <a:r>
              <a:rPr kumimoji="1" lang="en-US" altLang="zh-CN" sz="1700" dirty="0">
                <a:latin typeface="Arial" panose="020B0604020202020204" pitchFamily="34" charset="0"/>
                <a:cs typeface="Arial" panose="020B0604020202020204" pitchFamily="34" charset="0"/>
              </a:rPr>
              <a:t>Some microcontrollers not only integrate conventional resources such as a </a:t>
            </a:r>
            <a:r>
              <a:rPr kumimoji="1" lang="en-US" altLang="zh-CN" sz="1700" dirty="0">
                <a:solidFill>
                  <a:srgbClr val="CC3300"/>
                </a:solidFill>
                <a:latin typeface="Arial" panose="020B0604020202020204" pitchFamily="34" charset="0"/>
                <a:cs typeface="Arial" panose="020B0604020202020204" pitchFamily="34" charset="0"/>
              </a:rPr>
              <a:t>CPU</a:t>
            </a:r>
            <a:r>
              <a:rPr kumimoji="1" lang="en-US" altLang="zh-CN" sz="1700" dirty="0">
                <a:latin typeface="Arial" panose="020B0604020202020204" pitchFamily="34" charset="0"/>
                <a:cs typeface="Arial" panose="020B0604020202020204" pitchFamily="34" charset="0"/>
              </a:rPr>
              <a:t>, </a:t>
            </a:r>
            <a:r>
              <a:rPr kumimoji="1" lang="en-US" altLang="zh-CN" sz="1700" dirty="0">
                <a:solidFill>
                  <a:srgbClr val="CC3300"/>
                </a:solidFill>
                <a:latin typeface="Arial" panose="020B0604020202020204" pitchFamily="34" charset="0"/>
                <a:cs typeface="Arial" panose="020B0604020202020204" pitchFamily="34" charset="0"/>
              </a:rPr>
              <a:t>memory for storing programs and data</a:t>
            </a:r>
            <a:r>
              <a:rPr kumimoji="1" lang="en-US" altLang="zh-CN" sz="1700" dirty="0">
                <a:latin typeface="Arial" panose="020B0604020202020204" pitchFamily="34" charset="0"/>
                <a:cs typeface="Arial" panose="020B0604020202020204" pitchFamily="34" charset="0"/>
              </a:rPr>
              <a:t>, </a:t>
            </a:r>
            <a:r>
              <a:rPr kumimoji="1" lang="en-US" altLang="zh-CN" sz="1700" dirty="0">
                <a:solidFill>
                  <a:srgbClr val="CC3300"/>
                </a:solidFill>
                <a:latin typeface="Arial" panose="020B0604020202020204" pitchFamily="34" charset="0"/>
                <a:cs typeface="Arial" panose="020B0604020202020204" pitchFamily="34" charset="0"/>
              </a:rPr>
              <a:t>system buses</a:t>
            </a:r>
            <a:r>
              <a:rPr kumimoji="1" lang="en-US" altLang="zh-CN" sz="1700" dirty="0">
                <a:latin typeface="Arial" panose="020B0604020202020204" pitchFamily="34" charset="0"/>
                <a:cs typeface="Arial" panose="020B0604020202020204" pitchFamily="34" charset="0"/>
              </a:rPr>
              <a:t>, </a:t>
            </a:r>
            <a:r>
              <a:rPr kumimoji="1" lang="en-US" altLang="zh-CN" sz="1700" dirty="0">
                <a:solidFill>
                  <a:srgbClr val="CC3300"/>
                </a:solidFill>
                <a:latin typeface="Arial" panose="020B0604020202020204" pitchFamily="34" charset="0"/>
                <a:cs typeface="Arial" panose="020B0604020202020204" pitchFamily="34" charset="0"/>
              </a:rPr>
              <a:t>I/O interfaces</a:t>
            </a:r>
            <a:r>
              <a:rPr kumimoji="1" lang="en-US" altLang="zh-CN" sz="1700" dirty="0">
                <a:latin typeface="Arial" panose="020B0604020202020204" pitchFamily="34" charset="0"/>
                <a:cs typeface="Arial" panose="020B0604020202020204" pitchFamily="34" charset="0"/>
              </a:rPr>
              <a:t>, and </a:t>
            </a:r>
            <a:r>
              <a:rPr kumimoji="1" lang="en-US" altLang="zh-CN" sz="1700" dirty="0">
                <a:solidFill>
                  <a:srgbClr val="CC3300"/>
                </a:solidFill>
                <a:latin typeface="Arial" panose="020B0604020202020204" pitchFamily="34" charset="0"/>
                <a:cs typeface="Arial" panose="020B0604020202020204" pitchFamily="34" charset="0"/>
              </a:rPr>
              <a:t>timers/counters</a:t>
            </a:r>
            <a:r>
              <a:rPr kumimoji="1" lang="en-US" altLang="zh-CN" sz="1700" dirty="0">
                <a:latin typeface="Arial" panose="020B0604020202020204" pitchFamily="34" charset="0"/>
                <a:cs typeface="Arial" panose="020B0604020202020204" pitchFamily="34" charset="0"/>
              </a:rPr>
              <a:t>, but also incorporate </a:t>
            </a:r>
            <a:r>
              <a:rPr kumimoji="1" lang="en-US" altLang="zh-CN" sz="1700" dirty="0">
                <a:solidFill>
                  <a:srgbClr val="CC3300"/>
                </a:solidFill>
                <a:latin typeface="Arial" panose="020B0604020202020204" pitchFamily="34" charset="0"/>
                <a:cs typeface="Arial" panose="020B0604020202020204" pitchFamily="34" charset="0"/>
              </a:rPr>
              <a:t>analog signal acquisition modules</a:t>
            </a:r>
            <a:r>
              <a:rPr kumimoji="1" lang="en-US" altLang="zh-CN" sz="1700" dirty="0">
                <a:latin typeface="Arial" panose="020B0604020202020204" pitchFamily="34" charset="0"/>
                <a:cs typeface="Arial" panose="020B0604020202020204" pitchFamily="34" charset="0"/>
              </a:rPr>
              <a:t> commonly used in industrial measurement and control systems.</a:t>
            </a:r>
            <a:r>
              <a:rPr kumimoji="1" lang="zh-CN" altLang="en-US" sz="1700" dirty="0">
                <a:solidFill>
                  <a:srgbClr val="3366FF"/>
                </a:solidFill>
                <a:latin typeface="Arial" panose="020B0604020202020204" pitchFamily="34" charset="0"/>
                <a:cs typeface="Arial" panose="020B0604020202020204" pitchFamily="34" charset="0"/>
              </a:rPr>
              <a:t> </a:t>
            </a:r>
          </a:p>
        </p:txBody>
      </p:sp>
      <p:sp>
        <p:nvSpPr>
          <p:cNvPr id="180254" name="Rectangle 30"/>
          <p:cNvSpPr>
            <a:spLocks noGrp="1" noChangeArrowheads="1"/>
          </p:cNvSpPr>
          <p:nvPr>
            <p:ph type="title"/>
          </p:nvPr>
        </p:nvSpPr>
        <p:spPr>
          <a:xfrm>
            <a:off x="710780" y="423862"/>
            <a:ext cx="5948574" cy="504825"/>
          </a:xfrm>
        </p:spPr>
        <p:txBody>
          <a:bodyPr vert="horz" lIns="91440" tIns="45720" rIns="91440" bIns="45720" rtlCol="0" anchor="b">
            <a:normAutofit fontScale="90000"/>
          </a:bodyPr>
          <a:lstStyle/>
          <a:p>
            <a:r>
              <a:rPr lang="en-US" altLang="zh-CN" sz="2800" dirty="0">
                <a:latin typeface="Arial" panose="020B0604020202020204" pitchFamily="34" charset="0"/>
                <a:cs typeface="Arial" panose="020B0604020202020204" pitchFamily="34" charset="0"/>
              </a:rPr>
              <a:t>4.2 Internal Structure of a Microcontroller</a:t>
            </a:r>
            <a:endParaRPr lang="zh-CN" altLang="en-US" sz="2800" dirty="0">
              <a:latin typeface="Arial" panose="020B0604020202020204" pitchFamily="34" charset="0"/>
              <a:cs typeface="Arial" panose="020B0604020202020204" pitchFamily="34" charset="0"/>
            </a:endParaRPr>
          </a:p>
        </p:txBody>
      </p:sp>
      <p:sp>
        <p:nvSpPr>
          <p:cNvPr id="4" name="矩形 3"/>
          <p:cNvSpPr/>
          <p:nvPr/>
        </p:nvSpPr>
        <p:spPr>
          <a:xfrm>
            <a:off x="94593" y="5054048"/>
            <a:ext cx="9049407" cy="1169551"/>
          </a:xfrm>
          <a:prstGeom prst="rect">
            <a:avLst/>
          </a:prstGeom>
          <a:ln>
            <a:solidFill>
              <a:srgbClr val="FF0000"/>
            </a:solidFill>
          </a:ln>
        </p:spPr>
        <p:txBody>
          <a:bodyPr wrap="square">
            <a:spAutoFit/>
          </a:bodyPr>
          <a:lstStyle/>
          <a:p>
            <a:pPr eaLnBrk="1" hangingPunct="1">
              <a:spcAft>
                <a:spcPts val="600"/>
              </a:spcAft>
              <a:defRPr/>
            </a:pPr>
            <a:r>
              <a:rPr kumimoji="1" lang="en-US" altLang="zh-CN" sz="2000" b="1" dirty="0">
                <a:solidFill>
                  <a:schemeClr val="accent2"/>
                </a:solidFill>
                <a:latin typeface="Arial" panose="020B0604020202020204" pitchFamily="34" charset="0"/>
                <a:ea typeface="+mj-ea"/>
                <a:cs typeface="Arial" panose="020B0604020202020204" pitchFamily="34" charset="0"/>
              </a:rPr>
              <a:t>IAP15W4K58S4 Operating Voltage</a:t>
            </a:r>
            <a:r>
              <a:rPr kumimoji="1" lang="zh-CN" altLang="en-US" sz="2000" b="1" dirty="0">
                <a:solidFill>
                  <a:schemeClr val="accent2"/>
                </a:solidFill>
                <a:latin typeface="Arial" panose="020B0604020202020204" pitchFamily="34" charset="0"/>
                <a:ea typeface="+mj-ea"/>
                <a:cs typeface="Arial" panose="020B0604020202020204" pitchFamily="34" charset="0"/>
              </a:rPr>
              <a:t>：</a:t>
            </a:r>
            <a:r>
              <a:rPr kumimoji="1" lang="en-US" altLang="zh-CN" sz="2000" b="1" dirty="0">
                <a:solidFill>
                  <a:schemeClr val="accent2"/>
                </a:solidFill>
                <a:latin typeface="Arial" panose="020B0604020202020204" pitchFamily="34" charset="0"/>
                <a:ea typeface="+mj-ea"/>
                <a:cs typeface="Arial" panose="020B0604020202020204" pitchFamily="34" charset="0"/>
              </a:rPr>
              <a:t>2.5V - 5.5V</a:t>
            </a:r>
          </a:p>
          <a:p>
            <a:pPr eaLnBrk="1" hangingPunct="1">
              <a:spcAft>
                <a:spcPts val="600"/>
              </a:spcAft>
              <a:defRPr/>
            </a:pPr>
            <a:r>
              <a:rPr kumimoji="1" lang="en-US" altLang="zh-CN" sz="2000" b="1" dirty="0">
                <a:solidFill>
                  <a:schemeClr val="accent2"/>
                </a:solidFill>
                <a:latin typeface="Arial" panose="020B0604020202020204" pitchFamily="34" charset="0"/>
                <a:ea typeface="+mj-ea"/>
                <a:cs typeface="Arial" panose="020B0604020202020204" pitchFamily="34" charset="0"/>
              </a:rPr>
              <a:t>STC15F2K60S2 Series Operating Voltage:</a:t>
            </a:r>
            <a:r>
              <a:rPr kumimoji="1" lang="zh-CN" altLang="en-US" sz="2000" b="1" dirty="0">
                <a:solidFill>
                  <a:schemeClr val="accent2"/>
                </a:solidFill>
                <a:latin typeface="Arial" panose="020B0604020202020204" pitchFamily="34" charset="0"/>
                <a:ea typeface="+mj-ea"/>
                <a:cs typeface="Arial" panose="020B0604020202020204" pitchFamily="34" charset="0"/>
              </a:rPr>
              <a:t> </a:t>
            </a:r>
            <a:r>
              <a:rPr kumimoji="1" lang="en-US" altLang="zh-CN" sz="2000" b="1" dirty="0">
                <a:solidFill>
                  <a:schemeClr val="accent2"/>
                </a:solidFill>
                <a:latin typeface="Arial" panose="020B0604020202020204" pitchFamily="34" charset="0"/>
                <a:ea typeface="+mj-ea"/>
                <a:cs typeface="Arial" panose="020B0604020202020204" pitchFamily="34" charset="0"/>
              </a:rPr>
              <a:t>5.5V - 3.8V(</a:t>
            </a:r>
            <a:r>
              <a:rPr kumimoji="1" lang="zh-CN" altLang="en-US" sz="2000" b="1" dirty="0">
                <a:solidFill>
                  <a:schemeClr val="accent2"/>
                </a:solidFill>
                <a:latin typeface="Arial" panose="020B0604020202020204" pitchFamily="34" charset="0"/>
                <a:ea typeface="+mj-ea"/>
                <a:cs typeface="Arial" panose="020B0604020202020204" pitchFamily="34" charset="0"/>
              </a:rPr>
              <a:t> </a:t>
            </a:r>
            <a:r>
              <a:rPr kumimoji="1" lang="en-US" altLang="zh-CN" sz="2000" b="1" dirty="0">
                <a:solidFill>
                  <a:schemeClr val="accent2"/>
                </a:solidFill>
                <a:latin typeface="Arial" panose="020B0604020202020204" pitchFamily="34" charset="0"/>
                <a:ea typeface="+mj-ea"/>
                <a:cs typeface="Arial" panose="020B0604020202020204" pitchFamily="34" charset="0"/>
              </a:rPr>
              <a:t>5V Microcontroller)</a:t>
            </a:r>
          </a:p>
          <a:p>
            <a:pPr eaLnBrk="1" hangingPunct="1">
              <a:spcAft>
                <a:spcPts val="600"/>
              </a:spcAft>
              <a:defRPr/>
            </a:pPr>
            <a:r>
              <a:rPr kumimoji="1" lang="en-US" altLang="zh-CN" sz="2000" b="1" dirty="0">
                <a:solidFill>
                  <a:schemeClr val="accent2"/>
                </a:solidFill>
                <a:latin typeface="Arial" panose="020B0604020202020204" pitchFamily="34" charset="0"/>
                <a:ea typeface="+mj-ea"/>
                <a:cs typeface="Arial" panose="020B0604020202020204" pitchFamily="34" charset="0"/>
              </a:rPr>
              <a:t>STC15L2K60S2 Series Operating Voltage:</a:t>
            </a:r>
            <a:r>
              <a:rPr kumimoji="1" lang="zh-CN" altLang="en-US" sz="2000" b="1" dirty="0">
                <a:solidFill>
                  <a:schemeClr val="accent2"/>
                </a:solidFill>
                <a:latin typeface="Arial" panose="020B0604020202020204" pitchFamily="34" charset="0"/>
                <a:ea typeface="+mj-ea"/>
                <a:cs typeface="Arial" panose="020B0604020202020204" pitchFamily="34" charset="0"/>
              </a:rPr>
              <a:t> </a:t>
            </a:r>
            <a:r>
              <a:rPr kumimoji="1" lang="en-US" altLang="zh-CN" sz="2000" b="1" dirty="0">
                <a:solidFill>
                  <a:schemeClr val="accent2"/>
                </a:solidFill>
                <a:latin typeface="Arial" panose="020B0604020202020204" pitchFamily="34" charset="0"/>
                <a:ea typeface="+mj-ea"/>
                <a:cs typeface="Arial" panose="020B0604020202020204" pitchFamily="34" charset="0"/>
              </a:rPr>
              <a:t>3.6V - 2.4V(</a:t>
            </a:r>
            <a:r>
              <a:rPr kumimoji="1" lang="zh-CN" altLang="en-US" sz="2000" b="1" dirty="0">
                <a:solidFill>
                  <a:schemeClr val="accent2"/>
                </a:solidFill>
                <a:latin typeface="Arial" panose="020B0604020202020204" pitchFamily="34" charset="0"/>
                <a:ea typeface="+mj-ea"/>
                <a:cs typeface="Arial" panose="020B0604020202020204" pitchFamily="34" charset="0"/>
              </a:rPr>
              <a:t> </a:t>
            </a:r>
            <a:r>
              <a:rPr kumimoji="1" lang="en-US" altLang="zh-CN" sz="2000" b="1" dirty="0">
                <a:solidFill>
                  <a:schemeClr val="accent2"/>
                </a:solidFill>
                <a:latin typeface="Arial" panose="020B0604020202020204" pitchFamily="34" charset="0"/>
                <a:ea typeface="+mj-ea"/>
                <a:cs typeface="Arial" panose="020B0604020202020204" pitchFamily="34" charset="0"/>
              </a:rPr>
              <a:t>3V Microcontroller)</a:t>
            </a:r>
            <a:endParaRPr kumimoji="1" lang="zh-CN" altLang="en-US" sz="2000" b="1" dirty="0">
              <a:solidFill>
                <a:schemeClr val="accent2"/>
              </a:solidFill>
              <a:latin typeface="Arial" panose="020B0604020202020204" pitchFamily="34" charset="0"/>
              <a:ea typeface="+mj-ea"/>
              <a:cs typeface="Arial" panose="020B0604020202020204" pitchFamily="34" charset="0"/>
            </a:endParaRP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7855" y="3190580"/>
            <a:ext cx="1845799" cy="1805082"/>
          </a:xfrm>
          <a:prstGeom prst="rect">
            <a:avLst/>
          </a:prstGeom>
        </p:spPr>
      </p:pic>
      <p:sp>
        <p:nvSpPr>
          <p:cNvPr id="7" name="灯片编号占位符 6"/>
          <p:cNvSpPr>
            <a:spLocks noGrp="1"/>
          </p:cNvSpPr>
          <p:nvPr>
            <p:ph type="sldNum" sz="quarter" idx="12"/>
          </p:nvPr>
        </p:nvSpPr>
        <p:spPr/>
        <p:txBody>
          <a:bodyPr/>
          <a:lstStyle/>
          <a:p>
            <a:fld id="{22E77DEE-32E4-4009-988B-F2758F7B8AC2}" type="slidenum">
              <a:rPr lang="zh-CN" altLang="en-US" smtClean="0"/>
              <a:t>18</a:t>
            </a:fld>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764646" y="509588"/>
            <a:ext cx="5743360" cy="504825"/>
          </a:xfrm>
        </p:spPr>
        <p:txBody>
          <a:bodyPr vert="horz" lIns="91440" tIns="45720" rIns="91440" bIns="45720" rtlCol="0" anchor="b">
            <a:normAutofit fontScale="90000"/>
          </a:bodyPr>
          <a:lstStyle/>
          <a:p>
            <a:r>
              <a:rPr lang="en-US" altLang="zh-CN" sz="2800" dirty="0">
                <a:latin typeface="Arial" panose="020B0604020202020204" pitchFamily="34" charset="0"/>
                <a:cs typeface="Arial" panose="020B0604020202020204" pitchFamily="34" charset="0"/>
              </a:rPr>
              <a:t>4.2 Internal Structure of a Microcontroller</a:t>
            </a:r>
            <a:endParaRPr lang="zh-CN" altLang="en-US" sz="2800" dirty="0">
              <a:latin typeface="Arial" panose="020B0604020202020204" pitchFamily="34" charset="0"/>
              <a:cs typeface="Arial" panose="020B0604020202020204" pitchFamily="34" charset="0"/>
            </a:endParaRPr>
          </a:p>
        </p:txBody>
      </p:sp>
      <p:sp>
        <p:nvSpPr>
          <p:cNvPr id="453635" name="Rectangle 3"/>
          <p:cNvSpPr>
            <a:spLocks noGrp="1" noChangeArrowheads="1"/>
          </p:cNvSpPr>
          <p:nvPr>
            <p:ph idx="1"/>
          </p:nvPr>
        </p:nvSpPr>
        <p:spPr>
          <a:xfrm>
            <a:off x="821125" y="1420283"/>
            <a:ext cx="7427806" cy="3270250"/>
          </a:xfrm>
        </p:spPr>
        <p:txBody>
          <a:bodyPr>
            <a:noAutofit/>
          </a:bodyPr>
          <a:lstStyle/>
          <a:p>
            <a:pPr marL="262255" lvl="1" indent="-262255" algn="l" eaLnBrk="1" hangingPunct="1">
              <a:spcBef>
                <a:spcPct val="0"/>
              </a:spcBef>
              <a:spcAft>
                <a:spcPts val="1200"/>
              </a:spcAft>
            </a:pPr>
            <a:r>
              <a:rPr lang="en-US" altLang="zh-CN" sz="1500" dirty="0">
                <a:solidFill>
                  <a:srgbClr val="FF0000"/>
                </a:solidFill>
                <a:latin typeface="Arial" panose="020B0604020202020204" pitchFamily="34" charset="0"/>
                <a:cs typeface="Arial" panose="020B0604020202020204" pitchFamily="34" charset="0"/>
              </a:rPr>
              <a:t>The 8051 core </a:t>
            </a:r>
            <a:r>
              <a:rPr lang="en-US" altLang="zh-CN" sz="1500" dirty="0">
                <a:latin typeface="Arial" panose="020B0604020202020204" pitchFamily="34" charset="0"/>
                <a:cs typeface="Arial" panose="020B0604020202020204" pitchFamily="34" charset="0"/>
              </a:rPr>
              <a:t>serves as the fundamental standard for the Intel 8051 series of microcontrollers. Many reference books refer to this microcontroller as the </a:t>
            </a:r>
            <a:r>
              <a:rPr lang="en-US" altLang="zh-CN" sz="1500" dirty="0">
                <a:solidFill>
                  <a:srgbClr val="FF0000"/>
                </a:solidFill>
                <a:latin typeface="Arial" panose="020B0604020202020204" pitchFamily="34" charset="0"/>
                <a:cs typeface="Arial" panose="020B0604020202020204" pitchFamily="34" charset="0"/>
              </a:rPr>
              <a:t>MCS-51 series microcontroller.</a:t>
            </a:r>
            <a:endParaRPr lang="zh-CN" altLang="en-US" sz="1500" dirty="0">
              <a:latin typeface="Arial" panose="020B0604020202020204" pitchFamily="34" charset="0"/>
              <a:cs typeface="Arial" panose="020B0604020202020204" pitchFamily="34" charset="0"/>
            </a:endParaRPr>
          </a:p>
          <a:p>
            <a:pPr marL="262255" lvl="1" indent="-262255" algn="l" eaLnBrk="1" hangingPunct="1">
              <a:spcBef>
                <a:spcPct val="0"/>
              </a:spcBef>
              <a:spcAft>
                <a:spcPts val="1200"/>
              </a:spcAft>
            </a:pPr>
            <a:r>
              <a:rPr lang="en-US" altLang="zh-CN" sz="1500" dirty="0">
                <a:latin typeface="Arial" panose="020B0604020202020204" pitchFamily="34" charset="0"/>
                <a:cs typeface="Arial" panose="020B0604020202020204" pitchFamily="34" charset="0"/>
              </a:rPr>
              <a:t>The MCS-51 series microcontroller is represented by the 8051, featuring </a:t>
            </a:r>
            <a:r>
              <a:rPr lang="en-US" altLang="zh-CN" sz="1500" dirty="0">
                <a:solidFill>
                  <a:srgbClr val="FF0000"/>
                </a:solidFill>
                <a:latin typeface="Arial" panose="020B0604020202020204" pitchFamily="34" charset="0"/>
                <a:cs typeface="Arial" panose="020B0604020202020204" pitchFamily="34" charset="0"/>
              </a:rPr>
              <a:t>4K × 8-bit ROM</a:t>
            </a:r>
            <a:r>
              <a:rPr lang="en-US" altLang="zh-CN" sz="1500" dirty="0">
                <a:latin typeface="Arial" panose="020B0604020202020204" pitchFamily="34" charset="0"/>
                <a:cs typeface="Arial" panose="020B0604020202020204" pitchFamily="34" charset="0"/>
              </a:rPr>
              <a:t>, </a:t>
            </a:r>
            <a:r>
              <a:rPr lang="en-US" altLang="zh-CN" sz="1500" dirty="0">
                <a:solidFill>
                  <a:srgbClr val="FF0000"/>
                </a:solidFill>
                <a:latin typeface="Arial" panose="020B0604020202020204" pitchFamily="34" charset="0"/>
                <a:cs typeface="Arial" panose="020B0604020202020204" pitchFamily="34" charset="0"/>
              </a:rPr>
              <a:t>128 bytes of RAM</a:t>
            </a:r>
            <a:r>
              <a:rPr lang="en-US" altLang="zh-CN" sz="1500" dirty="0">
                <a:latin typeface="Arial" panose="020B0604020202020204" pitchFamily="34" charset="0"/>
                <a:cs typeface="Arial" panose="020B0604020202020204" pitchFamily="34" charset="0"/>
              </a:rPr>
              <a:t>, </a:t>
            </a:r>
            <a:r>
              <a:rPr lang="en-US" altLang="zh-CN" sz="1500" dirty="0">
                <a:solidFill>
                  <a:srgbClr val="3366FF"/>
                </a:solidFill>
                <a:latin typeface="Arial" panose="020B0604020202020204" pitchFamily="34" charset="0"/>
                <a:cs typeface="Arial" panose="020B0604020202020204" pitchFamily="34" charset="0"/>
              </a:rPr>
              <a:t>two 16-bit timers/counters</a:t>
            </a:r>
            <a:r>
              <a:rPr lang="en-US" altLang="zh-CN" sz="1500" dirty="0">
                <a:latin typeface="Arial" panose="020B0604020202020204" pitchFamily="34" charset="0"/>
                <a:cs typeface="Arial" panose="020B0604020202020204" pitchFamily="34" charset="0"/>
              </a:rPr>
              <a:t>, </a:t>
            </a:r>
            <a:r>
              <a:rPr lang="en-US" altLang="zh-CN" sz="1500" dirty="0">
                <a:solidFill>
                  <a:srgbClr val="3366FF"/>
                </a:solidFill>
                <a:latin typeface="Arial" panose="020B0604020202020204" pitchFamily="34" charset="0"/>
                <a:cs typeface="Arial" panose="020B0604020202020204" pitchFamily="34" charset="0"/>
              </a:rPr>
              <a:t>four 8-bit I/O ports</a:t>
            </a:r>
            <a:r>
              <a:rPr lang="en-US" altLang="zh-CN" sz="1500" dirty="0">
                <a:latin typeface="Arial" panose="020B0604020202020204" pitchFamily="34" charset="0"/>
                <a:cs typeface="Arial" panose="020B0604020202020204" pitchFamily="34" charset="0"/>
              </a:rPr>
              <a:t>, one serial port, and 111 instructions.</a:t>
            </a:r>
            <a:endParaRPr lang="zh-CN" altLang="en-US" sz="1500" dirty="0">
              <a:latin typeface="Arial" panose="020B0604020202020204" pitchFamily="34" charset="0"/>
              <a:cs typeface="Arial" panose="020B0604020202020204" pitchFamily="34" charset="0"/>
            </a:endParaRPr>
          </a:p>
          <a:p>
            <a:pPr marL="262255" lvl="1" indent="-262255" algn="l" eaLnBrk="1" hangingPunct="1">
              <a:spcBef>
                <a:spcPct val="0"/>
              </a:spcBef>
              <a:spcAft>
                <a:spcPts val="1200"/>
              </a:spcAft>
            </a:pPr>
            <a:r>
              <a:rPr lang="en-US" altLang="zh-CN" sz="1500" dirty="0">
                <a:latin typeface="Arial" panose="020B0604020202020204" pitchFamily="34" charset="0"/>
                <a:cs typeface="Arial" panose="020B0604020202020204" pitchFamily="34" charset="0"/>
              </a:rPr>
              <a:t>In the 1980s, Intel </a:t>
            </a:r>
            <a:r>
              <a:rPr lang="en-US" altLang="zh-CN" sz="1500" dirty="0">
                <a:solidFill>
                  <a:srgbClr val="3366FF"/>
                </a:solidFill>
                <a:latin typeface="Arial" panose="020B0604020202020204" pitchFamily="34" charset="0"/>
                <a:cs typeface="Arial" panose="020B0604020202020204" pitchFamily="34" charset="0"/>
              </a:rPr>
              <a:t>sold the 8051 core </a:t>
            </a:r>
            <a:r>
              <a:rPr lang="en-US" altLang="zh-CN" sz="1500" dirty="0">
                <a:latin typeface="Arial" panose="020B0604020202020204" pitchFamily="34" charset="0"/>
                <a:cs typeface="Arial" panose="020B0604020202020204" pitchFamily="34" charset="0"/>
              </a:rPr>
              <a:t>to several prominent IC manufacturers, such as </a:t>
            </a:r>
            <a:r>
              <a:rPr lang="en-US" altLang="zh-CN" sz="1500" dirty="0">
                <a:solidFill>
                  <a:srgbClr val="3366FF"/>
                </a:solidFill>
                <a:latin typeface="Arial" panose="020B0604020202020204" pitchFamily="34" charset="0"/>
                <a:cs typeface="Arial" panose="020B0604020202020204" pitchFamily="34" charset="0"/>
              </a:rPr>
              <a:t>Philips</a:t>
            </a:r>
            <a:r>
              <a:rPr lang="en-US" altLang="zh-CN" sz="1500" dirty="0">
                <a:latin typeface="Arial" panose="020B0604020202020204" pitchFamily="34" charset="0"/>
                <a:cs typeface="Arial" panose="020B0604020202020204" pitchFamily="34" charset="0"/>
              </a:rPr>
              <a:t> and </a:t>
            </a:r>
            <a:r>
              <a:rPr lang="en-US" altLang="zh-CN" sz="1500" dirty="0">
                <a:solidFill>
                  <a:srgbClr val="3366FF"/>
                </a:solidFill>
                <a:latin typeface="Arial" panose="020B0604020202020204" pitchFamily="34" charset="0"/>
                <a:cs typeface="Arial" panose="020B0604020202020204" pitchFamily="34" charset="0"/>
              </a:rPr>
              <a:t>Atmel</a:t>
            </a:r>
            <a:r>
              <a:rPr lang="en-US" altLang="zh-CN" sz="1500" dirty="0">
                <a:latin typeface="Arial" panose="020B0604020202020204" pitchFamily="34" charset="0"/>
                <a:cs typeface="Arial" panose="020B0604020202020204" pitchFamily="34" charset="0"/>
              </a:rPr>
              <a:t>. As a result, the 8051 microcontroller gained support from numerous manufacturers and evolved into a large family of products numbering in the hundreds.</a:t>
            </a:r>
            <a:endParaRPr lang="zh-CN" altLang="en-US" sz="1500" dirty="0">
              <a:latin typeface="Arial" panose="020B0604020202020204" pitchFamily="34" charset="0"/>
              <a:cs typeface="Arial" panose="020B0604020202020204" pitchFamily="34" charset="0"/>
            </a:endParaRPr>
          </a:p>
          <a:p>
            <a:pPr marL="262255" lvl="1" indent="-262255" algn="l" eaLnBrk="1" hangingPunct="1">
              <a:spcBef>
                <a:spcPct val="0"/>
              </a:spcBef>
              <a:spcAft>
                <a:spcPts val="1200"/>
              </a:spcAft>
            </a:pPr>
            <a:r>
              <a:rPr lang="en-US" altLang="zh-CN" sz="1500" dirty="0">
                <a:latin typeface="Arial" panose="020B0604020202020204" pitchFamily="34" charset="0"/>
                <a:cs typeface="Arial" panose="020B0604020202020204" pitchFamily="34" charset="0"/>
              </a:rPr>
              <a:t>The most commonly used include the </a:t>
            </a:r>
            <a:r>
              <a:rPr lang="en-US" altLang="zh-CN" sz="1500" dirty="0">
                <a:solidFill>
                  <a:srgbClr val="FF0000"/>
                </a:solidFill>
                <a:latin typeface="Arial" panose="020B0604020202020204" pitchFamily="34" charset="0"/>
                <a:cs typeface="Arial" panose="020B0604020202020204" pitchFamily="34" charset="0"/>
              </a:rPr>
              <a:t>STC series microcontrollers from </a:t>
            </a:r>
            <a:r>
              <a:rPr lang="en-US" altLang="zh-CN" sz="1500" dirty="0" err="1">
                <a:solidFill>
                  <a:srgbClr val="FF0000"/>
                </a:solidFill>
                <a:latin typeface="Arial" panose="020B0604020202020204" pitchFamily="34" charset="0"/>
                <a:cs typeface="Arial" panose="020B0604020202020204" pitchFamily="34" charset="0"/>
              </a:rPr>
              <a:t>Macronix</a:t>
            </a:r>
            <a:r>
              <a:rPr lang="en-US" altLang="zh-CN" sz="1500" dirty="0">
                <a:solidFill>
                  <a:srgbClr val="FF0000"/>
                </a:solidFill>
                <a:latin typeface="Arial" panose="020B0604020202020204" pitchFamily="34" charset="0"/>
                <a:cs typeface="Arial" panose="020B0604020202020204" pitchFamily="34" charset="0"/>
              </a:rPr>
              <a:t> </a:t>
            </a:r>
            <a:r>
              <a:rPr lang="en-US" altLang="zh-CN" sz="1500" dirty="0">
                <a:latin typeface="Arial" panose="020B0604020202020204" pitchFamily="34" charset="0"/>
                <a:cs typeface="Arial" panose="020B0604020202020204" pitchFamily="34" charset="0"/>
              </a:rPr>
              <a:t>and the AT89 series from Atmel, both belonging to the 51 series. As long as they are 8051-core microcontrollers, their basic structures are identical, and their instruction sets are fully compatible with standard 8051 microcontrollers.</a:t>
            </a:r>
            <a:endParaRPr lang="zh-CN" altLang="en-US" sz="1500" dirty="0">
              <a:latin typeface="Arial" panose="020B0604020202020204" pitchFamily="34" charset="0"/>
              <a:cs typeface="Arial" panose="020B0604020202020204" pitchFamily="34" charset="0"/>
            </a:endParaRPr>
          </a:p>
        </p:txBody>
      </p:sp>
      <p:sp>
        <p:nvSpPr>
          <p:cNvPr id="3" name="灯片编号占位符 2"/>
          <p:cNvSpPr>
            <a:spLocks noGrp="1"/>
          </p:cNvSpPr>
          <p:nvPr>
            <p:ph type="sldNum" sz="quarter" idx="12"/>
          </p:nvPr>
        </p:nvSpPr>
        <p:spPr/>
        <p:txBody>
          <a:bodyPr/>
          <a:lstStyle/>
          <a:p>
            <a:fld id="{22E77DEE-32E4-4009-988B-F2758F7B8AC2}" type="slidenum">
              <a:rPr lang="zh-CN" altLang="en-US" smtClean="0"/>
              <a:t>19</a:t>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noChangeArrowheads="1"/>
          </p:cNvSpPr>
          <p:nvPr>
            <p:ph type="title"/>
          </p:nvPr>
        </p:nvSpPr>
        <p:spPr>
          <a:xfrm>
            <a:off x="422428" y="493712"/>
            <a:ext cx="8299143" cy="504825"/>
          </a:xfrm>
        </p:spPr>
        <p:txBody>
          <a:bodyPr vert="horz" lIns="91440" tIns="45720" rIns="91440" bIns="45720" rtlCol="0" anchor="b">
            <a:normAutofit fontScale="90000"/>
          </a:bodyPr>
          <a:lstStyle/>
          <a:p>
            <a:r>
              <a:rPr lang="en-US" altLang="zh-CN" sz="2800" dirty="0">
                <a:latin typeface="Arial" panose="020B0604020202020204" pitchFamily="34" charset="0"/>
                <a:cs typeface="Arial" panose="020B0604020202020204" pitchFamily="34" charset="0"/>
              </a:rPr>
              <a:t>4.2  Internal Structure of the IAP15W4K58S4 Microcontroller</a:t>
            </a:r>
            <a:endParaRPr lang="zh-CN" altLang="en-US" sz="2800" dirty="0">
              <a:latin typeface="Arial" panose="020B0604020202020204" pitchFamily="34" charset="0"/>
              <a:cs typeface="Arial" panose="020B0604020202020204" pitchFamily="34" charset="0"/>
            </a:endParaRPr>
          </a:p>
        </p:txBody>
      </p:sp>
      <p:sp>
        <p:nvSpPr>
          <p:cNvPr id="452611" name="Rectangle 3"/>
          <p:cNvSpPr>
            <a:spLocks noGrp="1" noChangeArrowheads="1"/>
          </p:cNvSpPr>
          <p:nvPr>
            <p:ph idx="1"/>
          </p:nvPr>
        </p:nvSpPr>
        <p:spPr>
          <a:xfrm>
            <a:off x="822961" y="1212850"/>
            <a:ext cx="7457439" cy="3160183"/>
          </a:xfrm>
        </p:spPr>
        <p:txBody>
          <a:bodyPr>
            <a:normAutofit/>
          </a:bodyPr>
          <a:lstStyle/>
          <a:p>
            <a:pPr eaLnBrk="1" hangingPunct="1">
              <a:lnSpc>
                <a:spcPct val="124000"/>
              </a:lnSpc>
              <a:spcAft>
                <a:spcPts val="1200"/>
              </a:spcAft>
            </a:pPr>
            <a:r>
              <a:rPr lang="en-US" altLang="zh-CN" sz="2200" dirty="0">
                <a:latin typeface="Arial" panose="020B0604020202020204" pitchFamily="34" charset="0"/>
                <a:cs typeface="Arial" panose="020B0604020202020204" pitchFamily="34" charset="0"/>
              </a:rPr>
              <a:t>This course uses the enhanced 8051 core microcontroller </a:t>
            </a:r>
            <a:r>
              <a:rPr lang="en-US" altLang="zh-CN" sz="2200" dirty="0">
                <a:solidFill>
                  <a:srgbClr val="FF0000"/>
                </a:solidFill>
                <a:latin typeface="Arial" panose="020B0604020202020204" pitchFamily="34" charset="0"/>
                <a:cs typeface="Arial" panose="020B0604020202020204" pitchFamily="34" charset="0"/>
              </a:rPr>
              <a:t>IAP15W4K58S4 as an example </a:t>
            </a:r>
            <a:r>
              <a:rPr lang="en-US" altLang="zh-CN" sz="2200" dirty="0">
                <a:latin typeface="Arial" panose="020B0604020202020204" pitchFamily="34" charset="0"/>
                <a:cs typeface="Arial" panose="020B0604020202020204" pitchFamily="34" charset="0"/>
              </a:rPr>
              <a:t>to illustrate the internal structure of microcontrollers. See</a:t>
            </a:r>
            <a:r>
              <a:rPr lang="zh-CN" altLang="en-US" sz="2200" dirty="0">
                <a:latin typeface="Arial" panose="020B0604020202020204" pitchFamily="34" charset="0"/>
                <a:cs typeface="Arial" panose="020B0604020202020204" pitchFamily="34" charset="0"/>
              </a:rPr>
              <a:t> </a:t>
            </a:r>
            <a:r>
              <a:rPr lang="en-US" altLang="zh-CN" sz="2200" dirty="0">
                <a:latin typeface="Arial" panose="020B0604020202020204" pitchFamily="34" charset="0"/>
                <a:cs typeface="Arial" panose="020B0604020202020204" pitchFamily="34" charset="0"/>
              </a:rPr>
              <a:t>Fig</a:t>
            </a:r>
            <a:r>
              <a:rPr lang="zh-CN" altLang="en-US" sz="2200" dirty="0">
                <a:latin typeface="Arial" panose="020B0604020202020204" pitchFamily="34" charset="0"/>
                <a:cs typeface="Arial" panose="020B0604020202020204" pitchFamily="34" charset="0"/>
              </a:rPr>
              <a:t> </a:t>
            </a:r>
            <a:r>
              <a:rPr lang="en-US" altLang="zh-CN" sz="2200" dirty="0">
                <a:latin typeface="Arial" panose="020B0604020202020204" pitchFamily="34" charset="0"/>
                <a:cs typeface="Arial" panose="020B0604020202020204" pitchFamily="34" charset="0"/>
              </a:rPr>
              <a:t>3-6</a:t>
            </a:r>
          </a:p>
          <a:p>
            <a:pPr eaLnBrk="1" hangingPunct="1">
              <a:lnSpc>
                <a:spcPct val="124000"/>
              </a:lnSpc>
              <a:spcAft>
                <a:spcPts val="1200"/>
              </a:spcAft>
            </a:pPr>
            <a:r>
              <a:rPr lang="en-US" altLang="zh-CN" sz="2200" dirty="0">
                <a:solidFill>
                  <a:srgbClr val="FF0000"/>
                </a:solidFill>
                <a:latin typeface="Arial" panose="020B0604020202020204" pitchFamily="34" charset="0"/>
                <a:cs typeface="Arial" panose="020B0604020202020204" pitchFamily="34" charset="0"/>
              </a:rPr>
              <a:t>IAP15W4K58S4 </a:t>
            </a:r>
            <a:r>
              <a:rPr lang="en-US" altLang="zh-CN" sz="2200" dirty="0">
                <a:latin typeface="Arial" panose="020B0604020202020204" pitchFamily="34" charset="0"/>
                <a:cs typeface="Arial" panose="020B0604020202020204" pitchFamily="34" charset="0"/>
              </a:rPr>
              <a:t>incorporates nearly </a:t>
            </a:r>
            <a:r>
              <a:rPr lang="en-US" altLang="zh-CN" sz="2200" dirty="0">
                <a:solidFill>
                  <a:srgbClr val="FF0000"/>
                </a:solidFill>
                <a:latin typeface="Arial" panose="020B0604020202020204" pitchFamily="34" charset="0"/>
                <a:cs typeface="Arial" panose="020B0604020202020204" pitchFamily="34" charset="0"/>
              </a:rPr>
              <a:t>all the unit modules </a:t>
            </a:r>
            <a:r>
              <a:rPr lang="en-US" altLang="zh-CN" sz="2200" dirty="0">
                <a:latin typeface="Arial" panose="020B0604020202020204" pitchFamily="34" charset="0"/>
                <a:cs typeface="Arial" panose="020B0604020202020204" pitchFamily="34" charset="0"/>
              </a:rPr>
              <a:t>required for </a:t>
            </a:r>
            <a:r>
              <a:rPr lang="en-US" altLang="zh-CN" sz="2200" dirty="0">
                <a:solidFill>
                  <a:srgbClr val="0000FF"/>
                </a:solidFill>
                <a:latin typeface="Arial" panose="020B0604020202020204" pitchFamily="34" charset="0"/>
                <a:cs typeface="Arial" panose="020B0604020202020204" pitchFamily="34" charset="0"/>
              </a:rPr>
              <a:t>data acquisition </a:t>
            </a:r>
            <a:r>
              <a:rPr lang="en-US" altLang="zh-CN" sz="2200" dirty="0">
                <a:solidFill>
                  <a:srgbClr val="FF0000"/>
                </a:solidFill>
                <a:latin typeface="Arial" panose="020B0604020202020204" pitchFamily="34" charset="0"/>
                <a:cs typeface="Arial" panose="020B0604020202020204" pitchFamily="34" charset="0"/>
              </a:rPr>
              <a:t>and</a:t>
            </a:r>
            <a:r>
              <a:rPr lang="en-US" altLang="zh-CN" sz="2200" dirty="0">
                <a:solidFill>
                  <a:srgbClr val="0000FF"/>
                </a:solidFill>
                <a:latin typeface="Arial" panose="020B0604020202020204" pitchFamily="34" charset="0"/>
                <a:cs typeface="Arial" panose="020B0604020202020204" pitchFamily="34" charset="0"/>
              </a:rPr>
              <a:t> control</a:t>
            </a:r>
            <a:r>
              <a:rPr lang="zh-CN" altLang="en-US" sz="2200" dirty="0">
                <a:latin typeface="Arial" panose="020B0604020202020204" pitchFamily="34" charset="0"/>
                <a:cs typeface="Arial" panose="020B0604020202020204" pitchFamily="34" charset="0"/>
              </a:rPr>
              <a:t>，</a:t>
            </a:r>
          </a:p>
          <a:p>
            <a:pPr eaLnBrk="1" hangingPunct="1">
              <a:lnSpc>
                <a:spcPct val="124000"/>
              </a:lnSpc>
              <a:spcAft>
                <a:spcPts val="1200"/>
              </a:spcAft>
              <a:buFontTx/>
              <a:buNone/>
            </a:pPr>
            <a:r>
              <a:rPr lang="zh-CN" altLang="en-US" sz="2200" dirty="0">
                <a:latin typeface="Arial" panose="020B0604020202020204" pitchFamily="34" charset="0"/>
                <a:cs typeface="Arial" panose="020B0604020202020204" pitchFamily="34" charset="0"/>
              </a:rPr>
              <a:t>           </a:t>
            </a:r>
            <a:r>
              <a:rPr lang="en-US" altLang="zh-CN" sz="2200" dirty="0">
                <a:latin typeface="Arial" panose="020B0604020202020204" pitchFamily="34" charset="0"/>
                <a:cs typeface="Arial" panose="020B0604020202020204" pitchFamily="34" charset="0"/>
              </a:rPr>
              <a:t>——It can be considered a </a:t>
            </a:r>
            <a:r>
              <a:rPr lang="en-US" altLang="zh-CN" sz="2200" dirty="0">
                <a:solidFill>
                  <a:srgbClr val="0000FF"/>
                </a:solidFill>
                <a:latin typeface="Arial" panose="020B0604020202020204" pitchFamily="34" charset="0"/>
                <a:cs typeface="Arial" panose="020B0604020202020204" pitchFamily="34" charset="0"/>
              </a:rPr>
              <a:t>system-on-a-chip (SOC)</a:t>
            </a:r>
            <a:endParaRPr lang="zh-CN" altLang="zh-CN" sz="2200" dirty="0">
              <a:solidFill>
                <a:srgbClr val="0000FF"/>
              </a:solidFill>
              <a:latin typeface="Arial" panose="020B0604020202020204" pitchFamily="34" charset="0"/>
              <a:cs typeface="Arial" panose="020B0604020202020204" pitchFamily="34" charset="0"/>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20</a:t>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939" name="Object 8">
            <a:hlinkClick r:id="rId2" action="ppaction://hlinksldjump"/>
          </p:cNvPr>
          <p:cNvGraphicFramePr>
            <a:graphicFrameLocks noChangeAspect="1"/>
          </p:cNvGraphicFramePr>
          <p:nvPr/>
        </p:nvGraphicFramePr>
        <p:xfrm>
          <a:off x="1571451" y="1384159"/>
          <a:ext cx="6345902" cy="4593068"/>
        </p:xfrm>
        <a:graphic>
          <a:graphicData uri="http://schemas.openxmlformats.org/presentationml/2006/ole">
            <mc:AlternateContent xmlns:mc="http://schemas.openxmlformats.org/markup-compatibility/2006">
              <mc:Choice xmlns:v="urn:schemas-microsoft-com:vml" Requires="v">
                <p:oleObj name="Visio" r:id="rId3" imgW="6565900" imgH="5257800" progId="Visio.Drawing.11">
                  <p:embed/>
                </p:oleObj>
              </mc:Choice>
              <mc:Fallback>
                <p:oleObj name="Visio" r:id="rId3" imgW="6565900" imgH="5257800" progId="Visio.Drawing.11">
                  <p:embed/>
                  <p:pic>
                    <p:nvPicPr>
                      <p:cNvPr id="0" name="Object 8">
                        <a:hlinkClick r:id="" action="ppaction://noaction"/>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1451" y="1384159"/>
                        <a:ext cx="6345902" cy="4593068"/>
                      </a:xfrm>
                      <a:prstGeom prst="rect">
                        <a:avLst/>
                      </a:prstGeom>
                      <a:solidFill>
                        <a:schemeClr val="bg1"/>
                      </a:solidFill>
                      <a:ln>
                        <a:noFill/>
                      </a:ln>
                    </p:spPr>
                  </p:pic>
                </p:oleObj>
              </mc:Fallback>
            </mc:AlternateContent>
          </a:graphicData>
        </a:graphic>
      </p:graphicFrame>
      <p:sp>
        <p:nvSpPr>
          <p:cNvPr id="454659" name="Rectangle 3"/>
          <p:cNvSpPr>
            <a:spLocks noGrp="1" noChangeArrowheads="1"/>
          </p:cNvSpPr>
          <p:nvPr>
            <p:ph idx="1"/>
          </p:nvPr>
        </p:nvSpPr>
        <p:spPr/>
        <p:txBody>
          <a:bodyPr/>
          <a:lstStyle/>
          <a:p>
            <a:pPr eaLnBrk="1" hangingPunct="1">
              <a:buFontTx/>
              <a:buNone/>
            </a:pPr>
            <a:endParaRPr lang="en-US" altLang="zh-CN"/>
          </a:p>
          <a:p>
            <a:pPr eaLnBrk="1" hangingPunct="1"/>
            <a:endParaRPr lang="en-US" altLang="zh-CN"/>
          </a:p>
          <a:p>
            <a:pPr eaLnBrk="1" hangingPunct="1"/>
            <a:endParaRPr lang="en-US" altLang="zh-CN"/>
          </a:p>
          <a:p>
            <a:pPr eaLnBrk="1" hangingPunct="1"/>
            <a:endParaRPr lang="en-US" altLang="zh-CN"/>
          </a:p>
          <a:p>
            <a:pPr eaLnBrk="1" hangingPunct="1"/>
            <a:endParaRPr lang="en-US" altLang="zh-CN"/>
          </a:p>
        </p:txBody>
      </p:sp>
      <p:sp>
        <p:nvSpPr>
          <p:cNvPr id="39942" name="Rectangle 5"/>
          <p:cNvSpPr>
            <a:spLocks noChangeArrowheads="1"/>
          </p:cNvSpPr>
          <p:nvPr/>
        </p:nvSpPr>
        <p:spPr bwMode="auto">
          <a:xfrm>
            <a:off x="0" y="1924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9943" name="Rectangle 8"/>
          <p:cNvSpPr>
            <a:spLocks noChangeArrowheads="1"/>
          </p:cNvSpPr>
          <p:nvPr/>
        </p:nvSpPr>
        <p:spPr bwMode="auto">
          <a:xfrm>
            <a:off x="0" y="15859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9944"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9945" name="Rectangle 9"/>
          <p:cNvSpPr>
            <a:spLocks noChangeArrowheads="1"/>
          </p:cNvSpPr>
          <p:nvPr/>
        </p:nvSpPr>
        <p:spPr bwMode="auto">
          <a:xfrm>
            <a:off x="194944" y="492025"/>
            <a:ext cx="894905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dirty="0">
                <a:solidFill>
                  <a:srgbClr val="990033"/>
                </a:solidFill>
                <a:latin typeface="Arial" panose="020B0604020202020204" pitchFamily="34" charset="0"/>
                <a:cs typeface="Arial" panose="020B0604020202020204" pitchFamily="34" charset="0"/>
              </a:rPr>
              <a:t>Block Diagram of the Internal Structure of the IAP15W4K58S4 Microcontroller</a:t>
            </a:r>
            <a:endParaRPr lang="zh-CN" altLang="en-US" sz="2000" dirty="0">
              <a:solidFill>
                <a:srgbClr val="990033"/>
              </a:solidFill>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2"/>
          </p:nvPr>
        </p:nvSpPr>
        <p:spPr/>
        <p:txBody>
          <a:bodyPr/>
          <a:lstStyle/>
          <a:p>
            <a:fld id="{22E77DEE-32E4-4009-988B-F2758F7B8AC2}" type="slidenum">
              <a:rPr lang="zh-CN" altLang="en-US" smtClean="0"/>
              <a:t>21</a:t>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noChangeArrowheads="1"/>
          </p:cNvSpPr>
          <p:nvPr>
            <p:ph type="title"/>
          </p:nvPr>
        </p:nvSpPr>
        <p:spPr>
          <a:xfrm>
            <a:off x="901700" y="551180"/>
            <a:ext cx="7340600" cy="504825"/>
          </a:xfrm>
        </p:spPr>
        <p:txBody>
          <a:bodyPr vert="horz" lIns="91440" tIns="45720" rIns="91440" bIns="45720" rtlCol="0" anchor="b">
            <a:normAutofit fontScale="90000"/>
          </a:bodyPr>
          <a:lstStyle/>
          <a:p>
            <a:r>
              <a:rPr lang="en-US" altLang="zh-CN" sz="2800" dirty="0">
                <a:latin typeface="Arial" panose="020B0604020202020204" pitchFamily="34" charset="0"/>
                <a:cs typeface="Arial" panose="020B0604020202020204" pitchFamily="34" charset="0"/>
              </a:rPr>
              <a:t>The IAP15W4K58S4 microcontroller integrates the following typical resources:</a:t>
            </a:r>
            <a:endParaRPr lang="zh-CN" altLang="en-US" sz="2800" dirty="0">
              <a:latin typeface="Arial" panose="020B0604020202020204" pitchFamily="34" charset="0"/>
              <a:cs typeface="Arial" panose="020B0604020202020204" pitchFamily="34" charset="0"/>
            </a:endParaRPr>
          </a:p>
        </p:txBody>
      </p:sp>
      <p:sp>
        <p:nvSpPr>
          <p:cNvPr id="452611" name="Rectangle 3"/>
          <p:cNvSpPr>
            <a:spLocks noGrp="1" noChangeArrowheads="1"/>
          </p:cNvSpPr>
          <p:nvPr>
            <p:ph idx="1"/>
          </p:nvPr>
        </p:nvSpPr>
        <p:spPr>
          <a:xfrm>
            <a:off x="868680" y="1462405"/>
            <a:ext cx="7720965" cy="4758690"/>
          </a:xfrm>
        </p:spPr>
        <p:txBody>
          <a:bodyPr>
            <a:normAutofit/>
          </a:bodyPr>
          <a:lstStyle/>
          <a:p>
            <a:pPr eaLnBrk="1" hangingPunct="1">
              <a:spcBef>
                <a:spcPct val="0"/>
              </a:spcBef>
              <a:buFontTx/>
              <a:buNone/>
            </a:pPr>
            <a:r>
              <a:rPr lang="en-US" altLang="zh-CN" dirty="0">
                <a:latin typeface="Arial" panose="020B0604020202020204" pitchFamily="34" charset="0"/>
                <a:cs typeface="Arial" panose="020B0604020202020204" pitchFamily="34" charset="0"/>
                <a:sym typeface="Symbol" panose="05050102010706020507" pitchFamily="18" charset="2"/>
              </a:rPr>
              <a:t></a:t>
            </a:r>
            <a:r>
              <a:rPr lang="en-US" altLang="zh-CN" dirty="0">
                <a:latin typeface="Arial" panose="020B0604020202020204" pitchFamily="34" charset="0"/>
                <a:cs typeface="Arial" panose="020B0604020202020204" pitchFamily="34" charset="0"/>
              </a:rPr>
              <a:t>  Enhanced 8051 core, </a:t>
            </a:r>
            <a:r>
              <a:rPr lang="en-US" altLang="zh-CN" dirty="0">
                <a:solidFill>
                  <a:srgbClr val="FF0000"/>
                </a:solidFill>
                <a:latin typeface="Arial" panose="020B0604020202020204" pitchFamily="34" charset="0"/>
                <a:cs typeface="Arial" panose="020B0604020202020204" pitchFamily="34" charset="0"/>
              </a:rPr>
              <a:t>single-clock machine cycle</a:t>
            </a:r>
            <a:r>
              <a:rPr lang="en-US" altLang="zh-CN" dirty="0">
                <a:latin typeface="Arial" panose="020B0604020202020204" pitchFamily="34" charset="0"/>
                <a:cs typeface="Arial" panose="020B0604020202020204" pitchFamily="34" charset="0"/>
              </a:rPr>
              <a:t>, delivering speeds 8 to 12 times faster than traditional 8051-core microcontrollers.</a:t>
            </a:r>
            <a:endParaRPr lang="zh-CN" altLang="zh-CN" dirty="0">
              <a:latin typeface="Arial" panose="020B0604020202020204" pitchFamily="34" charset="0"/>
              <a:cs typeface="Arial" panose="020B0604020202020204" pitchFamily="34" charset="0"/>
            </a:endParaRPr>
          </a:p>
          <a:p>
            <a:pPr>
              <a:lnSpc>
                <a:spcPct val="100000"/>
              </a:lnSpc>
              <a:spcBef>
                <a:spcPct val="0"/>
              </a:spcBef>
              <a:buNone/>
            </a:pPr>
            <a:r>
              <a:rPr lang="en-US" altLang="zh-CN" dirty="0">
                <a:latin typeface="Arial" panose="020B0604020202020204" pitchFamily="34" charset="0"/>
                <a:cs typeface="Arial" panose="020B0604020202020204" pitchFamily="34" charset="0"/>
                <a:sym typeface="Symbol" panose="05050102010706020507" pitchFamily="18" charset="2"/>
              </a:rPr>
              <a:t></a:t>
            </a:r>
            <a:r>
              <a:rPr lang="en-US" altLang="zh-CN" dirty="0">
                <a:latin typeface="Arial" panose="020B0604020202020204" pitchFamily="34" charset="0"/>
                <a:cs typeface="Arial" panose="020B0604020202020204" pitchFamily="34" charset="0"/>
              </a:rPr>
              <a:t>  </a:t>
            </a:r>
            <a:r>
              <a:rPr lang="en-US" altLang="zh-CN" dirty="0">
                <a:solidFill>
                  <a:srgbClr val="FF0000"/>
                </a:solidFill>
                <a:latin typeface="Arial" panose="020B0604020202020204" pitchFamily="34" charset="0"/>
                <a:cs typeface="Arial" panose="020B0604020202020204" pitchFamily="34" charset="0"/>
              </a:rPr>
              <a:t>58KB Flash program memory </a:t>
            </a:r>
            <a:r>
              <a:rPr lang="en-US" altLang="zh-CN" dirty="0">
                <a:latin typeface="Arial" panose="020B0604020202020204" pitchFamily="34" charset="0"/>
                <a:cs typeface="Arial" panose="020B0604020202020204" pitchFamily="34" charset="0"/>
              </a:rPr>
              <a:t>for storing user programs. For </a:t>
            </a:r>
            <a:r>
              <a:rPr lang="en-US" altLang="zh-CN" dirty="0">
                <a:solidFill>
                  <a:srgbClr val="3333FF"/>
                </a:solidFill>
                <a:latin typeface="Arial" panose="020B0604020202020204" pitchFamily="34" charset="0"/>
                <a:cs typeface="Arial" panose="020B0604020202020204" pitchFamily="34" charset="0"/>
              </a:rPr>
              <a:t>IAP-type microcontrollers</a:t>
            </a:r>
            <a:r>
              <a:rPr lang="en-US" altLang="zh-CN" dirty="0">
                <a:latin typeface="Arial" panose="020B0604020202020204" pitchFamily="34" charset="0"/>
                <a:cs typeface="Arial" panose="020B0604020202020204" pitchFamily="34" charset="0"/>
              </a:rPr>
              <a:t>,</a:t>
            </a:r>
            <a:r>
              <a:rPr lang="en-US" altLang="zh-CN" dirty="0">
                <a:solidFill>
                  <a:srgbClr val="FF0000"/>
                </a:solidFill>
                <a:latin typeface="Arial" panose="020B0604020202020204" pitchFamily="34" charset="0"/>
                <a:cs typeface="Arial" panose="020B0604020202020204" pitchFamily="34" charset="0"/>
              </a:rPr>
              <a:t> </a:t>
            </a:r>
            <a:r>
              <a:rPr lang="en-US" altLang="zh-CN" dirty="0">
                <a:solidFill>
                  <a:srgbClr val="3333FF"/>
                </a:solidFill>
                <a:latin typeface="Arial" panose="020B0604020202020204" pitchFamily="34" charset="0"/>
                <a:cs typeface="Arial" panose="020B0604020202020204" pitchFamily="34" charset="0"/>
              </a:rPr>
              <a:t>the portion of </a:t>
            </a:r>
            <a:r>
              <a:rPr lang="en-US" altLang="zh-CN" dirty="0">
                <a:latin typeface="Arial" panose="020B0604020202020204" pitchFamily="34" charset="0"/>
                <a:cs typeface="Arial" panose="020B0604020202020204" pitchFamily="34" charset="0"/>
              </a:rPr>
              <a:t>Flash</a:t>
            </a:r>
            <a:r>
              <a:rPr lang="en-US" altLang="zh-CN" dirty="0">
                <a:solidFill>
                  <a:srgbClr val="FF0000"/>
                </a:solidFill>
                <a:latin typeface="Arial" panose="020B0604020202020204" pitchFamily="34" charset="0"/>
                <a:cs typeface="Arial" panose="020B0604020202020204" pitchFamily="34" charset="0"/>
              </a:rPr>
              <a:t> </a:t>
            </a:r>
            <a:r>
              <a:rPr lang="en-US" altLang="zh-CN" dirty="0">
                <a:solidFill>
                  <a:srgbClr val="3333FF"/>
                </a:solidFill>
                <a:latin typeface="Arial" panose="020B0604020202020204" pitchFamily="34" charset="0"/>
                <a:cs typeface="Arial" panose="020B0604020202020204" pitchFamily="34" charset="0"/>
              </a:rPr>
              <a:t>not allocated for program storage can be used as data Flash</a:t>
            </a:r>
            <a:r>
              <a:rPr lang="en-US" altLang="zh-CN" dirty="0">
                <a:solidFill>
                  <a:srgbClr val="FF0000"/>
                </a:solidFill>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to preserve parameters that must remain intact after power loss. The Flash memory supports over 100,000 erase/write cycles.</a:t>
            </a:r>
            <a:endParaRPr lang="zh-CN" altLang="zh-CN" dirty="0">
              <a:latin typeface="Arial" panose="020B0604020202020204" pitchFamily="34" charset="0"/>
              <a:cs typeface="Arial" panose="020B0604020202020204" pitchFamily="34" charset="0"/>
            </a:endParaRPr>
          </a:p>
          <a:p>
            <a:pPr eaLnBrk="1" hangingPunct="1">
              <a:spcBef>
                <a:spcPct val="0"/>
              </a:spcBef>
              <a:buFontTx/>
              <a:buNone/>
            </a:pPr>
            <a:r>
              <a:rPr lang="en-US" altLang="zh-CN" dirty="0">
                <a:latin typeface="Arial" panose="020B0604020202020204" pitchFamily="34" charset="0"/>
                <a:cs typeface="Arial" panose="020B0604020202020204" pitchFamily="34" charset="0"/>
                <a:sym typeface="Symbol" panose="05050102010706020507" pitchFamily="18" charset="2"/>
              </a:rPr>
              <a:t></a:t>
            </a:r>
            <a:r>
              <a:rPr lang="en-US" altLang="zh-CN" dirty="0">
                <a:latin typeface="Arial" panose="020B0604020202020204" pitchFamily="34" charset="0"/>
                <a:cs typeface="Arial" panose="020B0604020202020204" pitchFamily="34" charset="0"/>
              </a:rPr>
              <a:t>  </a:t>
            </a:r>
            <a:r>
              <a:rPr lang="en-US" altLang="zh-CN" dirty="0">
                <a:solidFill>
                  <a:srgbClr val="FF0000"/>
                </a:solidFill>
                <a:latin typeface="Arial" panose="020B0604020202020204" pitchFamily="34" charset="0"/>
                <a:cs typeface="Arial" panose="020B0604020202020204" pitchFamily="34" charset="0"/>
              </a:rPr>
              <a:t>4096-bit SRAM</a:t>
            </a:r>
            <a:r>
              <a:rPr lang="en-US" altLang="zh-CN" sz="2200" dirty="0">
                <a:latin typeface="Arial" panose="020B0604020202020204" pitchFamily="34" charset="0"/>
                <a:cs typeface="Arial" panose="020B0604020202020204" pitchFamily="34" charset="0"/>
              </a:rPr>
              <a:t>, equivalent to computer memory, can be used to store variables used in programs.</a:t>
            </a:r>
            <a:endParaRPr lang="zh-CN" altLang="zh-CN" sz="2200" dirty="0">
              <a:latin typeface="Arial" panose="020B0604020202020204" pitchFamily="34" charset="0"/>
              <a:cs typeface="Arial" panose="020B0604020202020204" pitchFamily="34" charset="0"/>
            </a:endParaRPr>
          </a:p>
          <a:p>
            <a:pPr eaLnBrk="1" hangingPunct="1">
              <a:spcBef>
                <a:spcPct val="0"/>
              </a:spcBef>
              <a:buFontTx/>
              <a:buNone/>
            </a:pPr>
            <a:r>
              <a:rPr lang="en-US" altLang="zh-CN" dirty="0">
                <a:latin typeface="Arial" panose="020B0604020202020204" pitchFamily="34" charset="0"/>
                <a:cs typeface="Arial" panose="020B0604020202020204" pitchFamily="34" charset="0"/>
                <a:sym typeface="Symbol" panose="05050102010706020507" pitchFamily="18" charset="2"/>
              </a:rPr>
              <a:t></a:t>
            </a:r>
            <a:r>
              <a:rPr lang="en-US" altLang="zh-CN" dirty="0">
                <a:latin typeface="Arial" panose="020B0604020202020204" pitchFamily="34" charset="0"/>
                <a:cs typeface="Arial" panose="020B0604020202020204" pitchFamily="34" charset="0"/>
              </a:rPr>
              <a:t>  </a:t>
            </a:r>
            <a:r>
              <a:rPr lang="en-US" altLang="zh-CN" dirty="0">
                <a:solidFill>
                  <a:srgbClr val="FF0000"/>
                </a:solidFill>
                <a:latin typeface="Arial" panose="020B0604020202020204" pitchFamily="34" charset="0"/>
                <a:cs typeface="Arial" panose="020B0604020202020204" pitchFamily="34" charset="0"/>
              </a:rPr>
              <a:t>Five 16-bit auto-reloadable timers/counters </a:t>
            </a:r>
            <a:r>
              <a:rPr lang="en-US" altLang="zh-CN" sz="2200" dirty="0">
                <a:latin typeface="Arial" panose="020B0604020202020204" pitchFamily="34" charset="0"/>
                <a:cs typeface="Arial" panose="020B0604020202020204" pitchFamily="34" charset="0"/>
              </a:rPr>
              <a:t>(T0, T1, T2, T3, and T4) with programmable clock output functionality. </a:t>
            </a:r>
            <a:endParaRPr lang="zh-CN" altLang="zh-CN" sz="2200" dirty="0">
              <a:latin typeface="Arial" panose="020B0604020202020204" pitchFamily="34" charset="0"/>
              <a:cs typeface="Arial" panose="020B0604020202020204" pitchFamily="34" charset="0"/>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22</a:t>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1" name="Rectangle 3"/>
          <p:cNvSpPr>
            <a:spLocks noGrp="1" noChangeArrowheads="1"/>
          </p:cNvSpPr>
          <p:nvPr>
            <p:ph type="body" idx="1"/>
          </p:nvPr>
        </p:nvSpPr>
        <p:spPr>
          <a:xfrm>
            <a:off x="869950" y="1665606"/>
            <a:ext cx="7249160" cy="3093720"/>
          </a:xfrm>
        </p:spPr>
        <p:txBody>
          <a:bodyPr>
            <a:noAutofit/>
          </a:bodyPr>
          <a:lstStyle/>
          <a:p>
            <a:pPr eaLnBrk="1" hangingPunct="1">
              <a:spcBef>
                <a:spcPct val="0"/>
              </a:spcBef>
              <a:spcAft>
                <a:spcPts val="1200"/>
              </a:spcAft>
              <a:buFontTx/>
              <a:buNone/>
            </a:pPr>
            <a:r>
              <a:rPr lang="en-US" altLang="zh-CN" sz="1700" dirty="0">
                <a:latin typeface="Arial" panose="020B0604020202020204" pitchFamily="34" charset="0"/>
                <a:cs typeface="Arial" panose="020B0604020202020204" pitchFamily="34" charset="0"/>
                <a:sym typeface="Symbol" panose="05050102010706020507" pitchFamily="18" charset="2"/>
              </a:rPr>
              <a:t></a:t>
            </a:r>
            <a:r>
              <a:rPr lang="en-US" altLang="zh-CN" sz="1700" dirty="0">
                <a:latin typeface="Arial" panose="020B0604020202020204" pitchFamily="34" charset="0"/>
                <a:cs typeface="Arial" panose="020B0604020202020204" pitchFamily="34" charset="0"/>
              </a:rPr>
              <a:t>  </a:t>
            </a:r>
            <a:r>
              <a:rPr lang="en-US" altLang="zh-CN" sz="1700" dirty="0">
                <a:solidFill>
                  <a:srgbClr val="FF0000"/>
                </a:solidFill>
                <a:latin typeface="Arial" panose="020B0604020202020204" pitchFamily="34" charset="0"/>
                <a:cs typeface="Arial" panose="020B0604020202020204" pitchFamily="34" charset="0"/>
              </a:rPr>
              <a:t>Up to 62 I/O (input/output) port lines (64-pin package) </a:t>
            </a:r>
            <a:r>
              <a:rPr lang="en-US" altLang="zh-CN" sz="1700" dirty="0">
                <a:latin typeface="Arial" panose="020B0604020202020204" pitchFamily="34" charset="0"/>
                <a:cs typeface="Arial" panose="020B0604020202020204" pitchFamily="34" charset="0"/>
              </a:rPr>
              <a:t>for parallel data input and output.</a:t>
            </a:r>
            <a:endParaRPr lang="zh-CN" altLang="zh-CN" sz="1700" dirty="0">
              <a:latin typeface="Arial" panose="020B0604020202020204" pitchFamily="34" charset="0"/>
              <a:cs typeface="Arial" panose="020B0604020202020204" pitchFamily="34" charset="0"/>
            </a:endParaRPr>
          </a:p>
          <a:p>
            <a:pPr eaLnBrk="1" hangingPunct="1">
              <a:spcBef>
                <a:spcPct val="0"/>
              </a:spcBef>
              <a:spcAft>
                <a:spcPts val="1200"/>
              </a:spcAft>
              <a:buFontTx/>
              <a:buNone/>
            </a:pPr>
            <a:r>
              <a:rPr lang="en-US" altLang="zh-CN" sz="1700" dirty="0">
                <a:latin typeface="Arial" panose="020B0604020202020204" pitchFamily="34" charset="0"/>
                <a:cs typeface="Arial" panose="020B0604020202020204" pitchFamily="34" charset="0"/>
                <a:sym typeface="Symbol" panose="05050102010706020507" pitchFamily="18" charset="2"/>
              </a:rPr>
              <a:t></a:t>
            </a:r>
            <a:r>
              <a:rPr lang="en-US" altLang="zh-CN" sz="1700" dirty="0">
                <a:latin typeface="Arial" panose="020B0604020202020204" pitchFamily="34" charset="0"/>
                <a:cs typeface="Arial" panose="020B0604020202020204" pitchFamily="34" charset="0"/>
              </a:rPr>
              <a:t> </a:t>
            </a:r>
            <a:r>
              <a:rPr lang="en-US" altLang="zh-CN" sz="1700" dirty="0">
                <a:solidFill>
                  <a:srgbClr val="FF0000"/>
                </a:solidFill>
                <a:latin typeface="Arial" panose="020B0604020202020204" pitchFamily="34" charset="0"/>
                <a:cs typeface="Arial" panose="020B0604020202020204" pitchFamily="34" charset="0"/>
              </a:rPr>
              <a:t> Four full-duplex asynchronous serial ports (UART) </a:t>
            </a:r>
            <a:r>
              <a:rPr lang="en-US" altLang="zh-CN" sz="1700" dirty="0">
                <a:latin typeface="Arial" panose="020B0604020202020204" pitchFamily="34" charset="0"/>
                <a:cs typeface="Arial" panose="020B0604020202020204" pitchFamily="34" charset="0"/>
              </a:rPr>
              <a:t>enable serial data transmission between the microcontroller and other devices.</a:t>
            </a:r>
            <a:endParaRPr lang="zh-CN" altLang="zh-CN" sz="1700" dirty="0">
              <a:latin typeface="Arial" panose="020B0604020202020204" pitchFamily="34" charset="0"/>
              <a:cs typeface="Arial" panose="020B0604020202020204" pitchFamily="34" charset="0"/>
            </a:endParaRPr>
          </a:p>
          <a:p>
            <a:pPr eaLnBrk="1" hangingPunct="1">
              <a:spcBef>
                <a:spcPct val="0"/>
              </a:spcBef>
              <a:spcAft>
                <a:spcPts val="1200"/>
              </a:spcAft>
              <a:buFontTx/>
              <a:buNone/>
            </a:pPr>
            <a:r>
              <a:rPr lang="en-US" altLang="zh-CN" sz="1700" dirty="0">
                <a:latin typeface="Arial" panose="020B0604020202020204" pitchFamily="34" charset="0"/>
                <a:cs typeface="Arial" panose="020B0604020202020204" pitchFamily="34" charset="0"/>
                <a:sym typeface="Symbol" panose="05050102010706020507" pitchFamily="18" charset="2"/>
              </a:rPr>
              <a:t></a:t>
            </a:r>
            <a:r>
              <a:rPr lang="en-US" altLang="zh-CN" sz="1700" dirty="0">
                <a:latin typeface="Arial" panose="020B0604020202020204" pitchFamily="34" charset="0"/>
                <a:cs typeface="Arial" panose="020B0604020202020204" pitchFamily="34" charset="0"/>
              </a:rPr>
              <a:t>  </a:t>
            </a:r>
            <a:r>
              <a:rPr lang="en-US" altLang="zh-CN" sz="1700" dirty="0">
                <a:solidFill>
                  <a:srgbClr val="FF0000"/>
                </a:solidFill>
                <a:latin typeface="Arial" panose="020B0604020202020204" pitchFamily="34" charset="0"/>
                <a:cs typeface="Arial" panose="020B0604020202020204" pitchFamily="34" charset="0"/>
              </a:rPr>
              <a:t>1 high-speed synchronous communication port (SPI) </a:t>
            </a:r>
            <a:r>
              <a:rPr lang="en-US" altLang="zh-CN" sz="1700" dirty="0">
                <a:latin typeface="Arial" panose="020B0604020202020204" pitchFamily="34" charset="0"/>
                <a:cs typeface="Arial" panose="020B0604020202020204" pitchFamily="34" charset="0"/>
              </a:rPr>
              <a:t>for interfacing with SPI-enabled devices.</a:t>
            </a:r>
            <a:endParaRPr lang="zh-CN" altLang="zh-CN" sz="1700" dirty="0">
              <a:latin typeface="Arial" panose="020B0604020202020204" pitchFamily="34" charset="0"/>
              <a:cs typeface="Arial" panose="020B0604020202020204" pitchFamily="34" charset="0"/>
            </a:endParaRPr>
          </a:p>
          <a:p>
            <a:pPr eaLnBrk="1" hangingPunct="1">
              <a:spcBef>
                <a:spcPct val="0"/>
              </a:spcBef>
              <a:spcAft>
                <a:spcPts val="1200"/>
              </a:spcAft>
              <a:buFontTx/>
              <a:buNone/>
            </a:pPr>
            <a:r>
              <a:rPr lang="en-US" altLang="zh-CN" sz="1700" dirty="0">
                <a:latin typeface="Arial" panose="020B0604020202020204" pitchFamily="34" charset="0"/>
                <a:cs typeface="Arial" panose="020B0604020202020204" pitchFamily="34" charset="0"/>
                <a:sym typeface="Symbol" panose="05050102010706020507" pitchFamily="18" charset="2"/>
              </a:rPr>
              <a:t></a:t>
            </a:r>
            <a:r>
              <a:rPr lang="en-US" altLang="zh-CN" sz="1700" dirty="0">
                <a:latin typeface="Arial" panose="020B0604020202020204" pitchFamily="34" charset="0"/>
                <a:cs typeface="Arial" panose="020B0604020202020204" pitchFamily="34" charset="0"/>
              </a:rPr>
              <a:t> </a:t>
            </a:r>
            <a:r>
              <a:rPr lang="en-US" altLang="zh-CN" sz="1700" dirty="0">
                <a:solidFill>
                  <a:srgbClr val="FF0000"/>
                </a:solidFill>
                <a:latin typeface="Arial" panose="020B0604020202020204" pitchFamily="34" charset="0"/>
                <a:cs typeface="Arial" panose="020B0604020202020204" pitchFamily="34" charset="0"/>
              </a:rPr>
              <a:t>Interrupt Control System</a:t>
            </a:r>
            <a:r>
              <a:rPr lang="en-US" altLang="zh-CN" sz="1700" dirty="0">
                <a:latin typeface="Arial" panose="020B0604020202020204" pitchFamily="34" charset="0"/>
                <a:cs typeface="Arial" panose="020B0604020202020204" pitchFamily="34" charset="0"/>
              </a:rPr>
              <a:t>. Features </a:t>
            </a:r>
            <a:r>
              <a:rPr lang="en-US" altLang="zh-CN" sz="1700" dirty="0">
                <a:solidFill>
                  <a:srgbClr val="FF0000"/>
                </a:solidFill>
                <a:latin typeface="Arial" panose="020B0604020202020204" pitchFamily="34" charset="0"/>
                <a:cs typeface="Arial" panose="020B0604020202020204" pitchFamily="34" charset="0"/>
              </a:rPr>
              <a:t>five external interrupt channels</a:t>
            </a:r>
            <a:r>
              <a:rPr lang="en-US" altLang="zh-CN" sz="1700" dirty="0">
                <a:latin typeface="Arial" panose="020B0604020202020204" pitchFamily="34" charset="0"/>
                <a:cs typeface="Arial" panose="020B0604020202020204" pitchFamily="34" charset="0"/>
              </a:rPr>
              <a:t>, capable of triggering circuits via falling edge interrupts or dual-edge (rising and falling edge) interrupts. In power-down mode, the system can be awakened by an external interrupt low signal.</a:t>
            </a:r>
            <a:endParaRPr lang="zh-CN" altLang="zh-CN" sz="1700" dirty="0">
              <a:latin typeface="Arial" panose="020B0604020202020204" pitchFamily="34" charset="0"/>
              <a:cs typeface="Arial" panose="020B0604020202020204" pitchFamily="34" charset="0"/>
            </a:endParaRPr>
          </a:p>
        </p:txBody>
      </p:sp>
      <p:sp>
        <p:nvSpPr>
          <p:cNvPr id="41988" name="标题 1"/>
          <p:cNvSpPr>
            <a:spLocks noGrp="1" noChangeArrowheads="1"/>
          </p:cNvSpPr>
          <p:nvPr>
            <p:ph type="title"/>
          </p:nvPr>
        </p:nvSpPr>
        <p:spPr>
          <a:xfrm>
            <a:off x="616108" y="484187"/>
            <a:ext cx="8057833" cy="504825"/>
          </a:xfrm>
        </p:spPr>
        <p:txBody>
          <a:bodyPr>
            <a:noAutofit/>
          </a:bodyPr>
          <a:lstStyle/>
          <a:p>
            <a:pPr eaLnBrk="1" hangingPunct="1"/>
            <a:r>
              <a:rPr lang="en-US" altLang="zh-CN" sz="2800" dirty="0">
                <a:latin typeface="Arial" panose="020B0604020202020204" pitchFamily="34" charset="0"/>
                <a:cs typeface="Arial" panose="020B0604020202020204" pitchFamily="34" charset="0"/>
              </a:rPr>
              <a:t>The IAP15W4K58S4 microcontroller integrates the following typical resources</a:t>
            </a:r>
            <a:r>
              <a:rPr lang="zh-CN" altLang="zh-CN" sz="2800" dirty="0">
                <a:latin typeface="Arial" panose="020B0604020202020204" pitchFamily="34" charset="0"/>
                <a:cs typeface="Arial" panose="020B0604020202020204" pitchFamily="34" charset="0"/>
              </a:rPr>
              <a:t>：</a:t>
            </a:r>
            <a:endParaRPr lang="zh-CN" altLang="en-US" sz="2800" dirty="0">
              <a:latin typeface="Arial" panose="020B0604020202020204" pitchFamily="34" charset="0"/>
              <a:cs typeface="Arial" panose="020B0604020202020204" pitchFamily="34" charset="0"/>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23</a:t>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3"/>
          <p:cNvSpPr>
            <a:spLocks noGrp="1" noChangeArrowheads="1"/>
          </p:cNvSpPr>
          <p:nvPr>
            <p:ph type="title"/>
          </p:nvPr>
        </p:nvSpPr>
        <p:spPr>
          <a:xfrm>
            <a:off x="546735" y="363396"/>
            <a:ext cx="8229600" cy="704358"/>
          </a:xfrm>
        </p:spPr>
        <p:txBody>
          <a:bodyPr vert="horz" lIns="91440" tIns="45720" rIns="91440" bIns="45720" rtlCol="0" anchor="b">
            <a:noAutofit/>
          </a:bodyPr>
          <a:lstStyle/>
          <a:p>
            <a:r>
              <a:rPr lang="en-US" altLang="zh-CN" sz="2400" dirty="0">
                <a:latin typeface="Arial" panose="020B0604020202020204" pitchFamily="34" charset="0"/>
                <a:cs typeface="Arial" panose="020B0604020202020204" pitchFamily="34" charset="0"/>
              </a:rPr>
              <a:t>The central processing unit (CPU) consists of an arithmetic logic unit and a control unit</a:t>
            </a:r>
            <a:endParaRPr lang="zh-CN" altLang="en-US" sz="2400" dirty="0">
              <a:latin typeface="Arial" panose="020B0604020202020204" pitchFamily="34" charset="0"/>
              <a:cs typeface="Arial" panose="020B0604020202020204" pitchFamily="34" charset="0"/>
            </a:endParaRPr>
          </a:p>
        </p:txBody>
      </p:sp>
      <p:sp>
        <p:nvSpPr>
          <p:cNvPr id="456707" name="Rectangle 3"/>
          <p:cNvSpPr>
            <a:spLocks noGrp="1" noChangeArrowheads="1"/>
          </p:cNvSpPr>
          <p:nvPr>
            <p:ph idx="1"/>
          </p:nvPr>
        </p:nvSpPr>
        <p:spPr>
          <a:xfrm>
            <a:off x="363538" y="1277938"/>
            <a:ext cx="8780462" cy="1268413"/>
          </a:xfrm>
        </p:spPr>
        <p:txBody>
          <a:bodyPr/>
          <a:lstStyle/>
          <a:p>
            <a:pPr eaLnBrk="1" hangingPunct="1">
              <a:spcBef>
                <a:spcPct val="0"/>
              </a:spcBef>
              <a:spcAft>
                <a:spcPct val="0"/>
              </a:spcAft>
              <a:buFontTx/>
              <a:buNone/>
            </a:pPr>
            <a:r>
              <a:rPr lang="en-US" altLang="zh-CN" dirty="0">
                <a:solidFill>
                  <a:srgbClr val="3333FF"/>
                </a:solidFill>
                <a:latin typeface="Arial" panose="020B0604020202020204" pitchFamily="34" charset="0"/>
                <a:cs typeface="Arial" panose="020B0604020202020204" pitchFamily="34" charset="0"/>
              </a:rPr>
              <a:t>The central processing unit (CPU) of </a:t>
            </a:r>
            <a:r>
              <a:rPr lang="en-US" altLang="zh-CN" dirty="0">
                <a:latin typeface="Arial" panose="020B0604020202020204" pitchFamily="34" charset="0"/>
                <a:cs typeface="Arial" panose="020B0604020202020204" pitchFamily="34" charset="0"/>
              </a:rPr>
              <a:t>a microcontroller </a:t>
            </a:r>
            <a:r>
              <a:rPr lang="en-US" altLang="zh-CN" dirty="0">
                <a:solidFill>
                  <a:srgbClr val="3333FF"/>
                </a:solidFill>
                <a:latin typeface="Arial" panose="020B0604020202020204" pitchFamily="34" charset="0"/>
                <a:cs typeface="Arial" panose="020B0604020202020204" pitchFamily="34" charset="0"/>
              </a:rPr>
              <a:t>consists of an arithmetic unit and a control unit</a:t>
            </a:r>
            <a:r>
              <a:rPr lang="en-US" altLang="zh-CN" dirty="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a:p>
            <a:pPr eaLnBrk="1" hangingPunct="1">
              <a:spcBef>
                <a:spcPts val="600"/>
              </a:spcBef>
              <a:spcAft>
                <a:spcPts val="300"/>
              </a:spcAft>
              <a:buFontTx/>
              <a:buNone/>
            </a:pPr>
            <a:r>
              <a:rPr lang="en-US" altLang="zh-CN" dirty="0">
                <a:solidFill>
                  <a:srgbClr val="CC3300"/>
                </a:solidFill>
                <a:latin typeface="Arial" panose="020B0604020202020204" pitchFamily="34" charset="0"/>
                <a:cs typeface="Arial" panose="020B0604020202020204" pitchFamily="34" charset="0"/>
              </a:rPr>
              <a:t>  1.  </a:t>
            </a:r>
            <a:r>
              <a:rPr lang="en-US" altLang="zh-CN" dirty="0">
                <a:solidFill>
                  <a:srgbClr val="CC3300"/>
                </a:solidFill>
                <a:latin typeface="Arial" panose="020B0604020202020204" pitchFamily="34" charset="0"/>
                <a:cs typeface="Arial" panose="020B0604020202020204" pitchFamily="34" charset="0"/>
                <a:hlinkClick r:id="rId2" action="ppaction://hlinksldjump"/>
              </a:rPr>
              <a:t>Arithmetic unit</a:t>
            </a:r>
            <a:endParaRPr lang="zh-CN" altLang="en-US" dirty="0">
              <a:solidFill>
                <a:srgbClr val="CC3300"/>
              </a:solidFill>
              <a:latin typeface="Arial" panose="020B0604020202020204" pitchFamily="34" charset="0"/>
              <a:cs typeface="Arial" panose="020B0604020202020204" pitchFamily="34" charset="0"/>
            </a:endParaRPr>
          </a:p>
        </p:txBody>
      </p:sp>
      <p:pic>
        <p:nvPicPr>
          <p:cNvPr id="4648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0487" y="1727200"/>
            <a:ext cx="3705225" cy="44529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3"/>
          <p:cNvSpPr txBox="1">
            <a:spLocks noChangeArrowheads="1"/>
          </p:cNvSpPr>
          <p:nvPr/>
        </p:nvSpPr>
        <p:spPr bwMode="auto">
          <a:xfrm>
            <a:off x="268287" y="2305052"/>
            <a:ext cx="4902199" cy="2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4"/>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5"/>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262255" eaLnBrk="1" hangingPunct="1">
              <a:lnSpc>
                <a:spcPct val="124000"/>
              </a:lnSpc>
              <a:spcBef>
                <a:spcPts val="0"/>
              </a:spcBef>
              <a:buFontTx/>
              <a:buNone/>
              <a:defRPr/>
            </a:pPr>
            <a:r>
              <a:rPr lang="en-US" altLang="zh-CN" sz="1800" kern="0" dirty="0">
                <a:latin typeface="Arial" panose="020B0604020202020204" pitchFamily="34" charset="0"/>
                <a:cs typeface="Arial" panose="020B0604020202020204" pitchFamily="34" charset="0"/>
              </a:rPr>
              <a:t>Centered around an 8-bit arithmetic logic unit </a:t>
            </a:r>
            <a:r>
              <a:rPr lang="en-US" altLang="zh-CN" sz="1800" kern="0" dirty="0">
                <a:solidFill>
                  <a:srgbClr val="FF0000"/>
                </a:solidFill>
                <a:latin typeface="Arial" panose="020B0604020202020204" pitchFamily="34" charset="0"/>
                <a:cs typeface="Arial" panose="020B0604020202020204" pitchFamily="34" charset="0"/>
              </a:rPr>
              <a:t>(ALU)</a:t>
            </a:r>
            <a:r>
              <a:rPr lang="en-US" altLang="zh-CN" sz="1800" kern="0" dirty="0">
                <a:latin typeface="Arial" panose="020B0604020202020204" pitchFamily="34" charset="0"/>
                <a:cs typeface="Arial" panose="020B0604020202020204" pitchFamily="34" charset="0"/>
              </a:rPr>
              <a:t>, the entire arithmetic logic unit's logic circuit </a:t>
            </a:r>
            <a:r>
              <a:rPr lang="en-US" altLang="zh-CN" sz="1800" kern="0" dirty="0">
                <a:solidFill>
                  <a:srgbClr val="C00000"/>
                </a:solidFill>
                <a:latin typeface="Arial" panose="020B0604020202020204" pitchFamily="34" charset="0"/>
                <a:cs typeface="Arial" panose="020B0604020202020204" pitchFamily="34" charset="0"/>
              </a:rPr>
              <a:t>comprises registers TMP1 and TMP2</a:t>
            </a:r>
            <a:r>
              <a:rPr lang="en-US" altLang="zh-CN" sz="1800" kern="0" dirty="0">
                <a:latin typeface="Arial" panose="020B0604020202020204" pitchFamily="34" charset="0"/>
                <a:cs typeface="Arial" panose="020B0604020202020204" pitchFamily="34" charset="0"/>
              </a:rPr>
              <a:t>, </a:t>
            </a:r>
            <a:r>
              <a:rPr lang="en-US" altLang="zh-CN" sz="1800" kern="0" dirty="0">
                <a:solidFill>
                  <a:srgbClr val="FF0000"/>
                </a:solidFill>
                <a:latin typeface="Arial" panose="020B0604020202020204" pitchFamily="34" charset="0"/>
                <a:cs typeface="Arial" panose="020B0604020202020204" pitchFamily="34" charset="0"/>
              </a:rPr>
              <a:t>the accumulator (ACC)</a:t>
            </a:r>
            <a:r>
              <a:rPr lang="en-US" altLang="zh-CN" sz="1800" kern="0" dirty="0">
                <a:latin typeface="Arial" panose="020B0604020202020204" pitchFamily="34" charset="0"/>
                <a:cs typeface="Arial" panose="020B0604020202020204" pitchFamily="34" charset="0"/>
              </a:rPr>
              <a:t>, </a:t>
            </a:r>
            <a:r>
              <a:rPr lang="en-US" altLang="zh-CN" sz="1800" kern="0" dirty="0">
                <a:solidFill>
                  <a:srgbClr val="C00000"/>
                </a:solidFill>
                <a:latin typeface="Arial" panose="020B0604020202020204" pitchFamily="34" charset="0"/>
                <a:cs typeface="Arial" panose="020B0604020202020204" pitchFamily="34" charset="0"/>
              </a:rPr>
              <a:t>register B</a:t>
            </a:r>
            <a:r>
              <a:rPr lang="en-US" altLang="zh-CN" sz="1800" kern="0" dirty="0">
                <a:latin typeface="Arial" panose="020B0604020202020204" pitchFamily="34" charset="0"/>
                <a:cs typeface="Arial" panose="020B0604020202020204" pitchFamily="34" charset="0"/>
              </a:rPr>
              <a:t>, the program </a:t>
            </a:r>
            <a:r>
              <a:rPr lang="en-US" altLang="zh-CN" sz="1800" kern="0" dirty="0">
                <a:solidFill>
                  <a:srgbClr val="C00000"/>
                </a:solidFill>
                <a:latin typeface="Arial" panose="020B0604020202020204" pitchFamily="34" charset="0"/>
                <a:cs typeface="Arial" panose="020B0604020202020204" pitchFamily="34" charset="0"/>
              </a:rPr>
              <a:t>status word (PSW)</a:t>
            </a:r>
            <a:r>
              <a:rPr lang="en-US" altLang="zh-CN" sz="1800" kern="0" dirty="0">
                <a:latin typeface="Arial" panose="020B0604020202020204" pitchFamily="34" charset="0"/>
                <a:cs typeface="Arial" panose="020B0604020202020204" pitchFamily="34" charset="0"/>
              </a:rPr>
              <a:t>, and a </a:t>
            </a:r>
            <a:r>
              <a:rPr lang="en-US" altLang="zh-CN" sz="1800" kern="0" dirty="0">
                <a:solidFill>
                  <a:srgbClr val="C00000"/>
                </a:solidFill>
                <a:latin typeface="Arial" panose="020B0604020202020204" pitchFamily="34" charset="0"/>
                <a:cs typeface="Arial" panose="020B0604020202020204" pitchFamily="34" charset="0"/>
              </a:rPr>
              <a:t>Boolean processing unit</a:t>
            </a:r>
            <a:r>
              <a:rPr lang="en-US" altLang="zh-CN" sz="1800" kern="0" dirty="0">
                <a:latin typeface="Arial" panose="020B0604020202020204" pitchFamily="34" charset="0"/>
                <a:cs typeface="Arial" panose="020B0604020202020204" pitchFamily="34" charset="0"/>
              </a:rPr>
              <a:t>, all interconnected via internal buses.</a:t>
            </a:r>
          </a:p>
        </p:txBody>
      </p:sp>
      <p:sp>
        <p:nvSpPr>
          <p:cNvPr id="3" name="矩形 2"/>
          <p:cNvSpPr>
            <a:spLocks noChangeArrowheads="1"/>
          </p:cNvSpPr>
          <p:nvPr/>
        </p:nvSpPr>
        <p:spPr bwMode="auto">
          <a:xfrm>
            <a:off x="292894" y="5130800"/>
            <a:ext cx="515286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400" b="1" dirty="0">
                <a:solidFill>
                  <a:srgbClr val="FF0000"/>
                </a:solidFill>
                <a:latin typeface="Arial" panose="020B0604020202020204" pitchFamily="34" charset="0"/>
              </a:rPr>
              <a:t>P</a:t>
            </a:r>
            <a:r>
              <a:rPr lang="en-US" altLang="zh-CN" sz="2400" b="1" dirty="0">
                <a:solidFill>
                  <a:srgbClr val="333333"/>
                </a:solidFill>
                <a:latin typeface="Arial" panose="020B0604020202020204" pitchFamily="34" charset="0"/>
              </a:rPr>
              <a:t>rogram</a:t>
            </a:r>
            <a:r>
              <a:rPr lang="en-US" altLang="zh-CN" sz="2400" b="1" dirty="0">
                <a:solidFill>
                  <a:srgbClr val="CC0000"/>
                </a:solidFill>
                <a:latin typeface="Arial" panose="020B0604020202020204" pitchFamily="34" charset="0"/>
              </a:rPr>
              <a:t> </a:t>
            </a:r>
            <a:r>
              <a:rPr lang="en-US" altLang="zh-CN" sz="2400" b="1" dirty="0">
                <a:solidFill>
                  <a:srgbClr val="FF0000"/>
                </a:solidFill>
                <a:latin typeface="Arial" panose="020B0604020202020204" pitchFamily="34" charset="0"/>
              </a:rPr>
              <a:t>S</a:t>
            </a:r>
            <a:r>
              <a:rPr lang="en-US" altLang="zh-CN" sz="2400" b="1" dirty="0">
                <a:solidFill>
                  <a:srgbClr val="333333"/>
                </a:solidFill>
                <a:latin typeface="Arial" panose="020B0604020202020204" pitchFamily="34" charset="0"/>
              </a:rPr>
              <a:t>tatus</a:t>
            </a:r>
            <a:r>
              <a:rPr lang="en-US" altLang="zh-CN" sz="2400" b="1" dirty="0">
                <a:solidFill>
                  <a:srgbClr val="CC0000"/>
                </a:solidFill>
                <a:latin typeface="Arial" panose="020B0604020202020204" pitchFamily="34" charset="0"/>
              </a:rPr>
              <a:t> </a:t>
            </a:r>
            <a:r>
              <a:rPr lang="en-US" altLang="zh-CN" sz="2400" b="1" dirty="0">
                <a:solidFill>
                  <a:srgbClr val="FF0000"/>
                </a:solidFill>
                <a:latin typeface="Arial" panose="020B0604020202020204" pitchFamily="34" charset="0"/>
              </a:rPr>
              <a:t>W</a:t>
            </a:r>
            <a:r>
              <a:rPr lang="en-US" altLang="zh-CN" sz="2400" b="1" dirty="0">
                <a:solidFill>
                  <a:srgbClr val="333333"/>
                </a:solidFill>
                <a:latin typeface="Arial" panose="020B0604020202020204" pitchFamily="34" charset="0"/>
              </a:rPr>
              <a:t>ord</a:t>
            </a:r>
            <a:r>
              <a:rPr lang="en-US" altLang="zh-CN" sz="2400" b="1" dirty="0">
                <a:solidFill>
                  <a:srgbClr val="CC0000"/>
                </a:solidFill>
                <a:latin typeface="Arial" panose="020B0604020202020204" pitchFamily="34" charset="0"/>
              </a:rPr>
              <a:t> (PSW), </a:t>
            </a:r>
            <a:r>
              <a:rPr lang="en-US" altLang="zh-CN" sz="2400" b="1" dirty="0">
                <a:solidFill>
                  <a:srgbClr val="333333"/>
                </a:solidFill>
                <a:latin typeface="Arial" panose="020B0604020202020204" pitchFamily="34" charset="0"/>
              </a:rPr>
              <a:t>also known as </a:t>
            </a:r>
            <a:r>
              <a:rPr lang="en-US" altLang="zh-CN" sz="2400" b="1" dirty="0">
                <a:solidFill>
                  <a:srgbClr val="CC0000"/>
                </a:solidFill>
                <a:latin typeface="Arial" panose="020B0604020202020204" pitchFamily="34" charset="0"/>
              </a:rPr>
              <a:t>the status register</a:t>
            </a:r>
            <a:endParaRPr lang="zh-CN" altLang="en-US" sz="2400" b="1" dirty="0"/>
          </a:p>
        </p:txBody>
      </p:sp>
      <p:sp>
        <p:nvSpPr>
          <p:cNvPr id="4" name="灯片编号占位符 3"/>
          <p:cNvSpPr>
            <a:spLocks noGrp="1"/>
          </p:cNvSpPr>
          <p:nvPr>
            <p:ph type="sldNum" sz="quarter" idx="12"/>
          </p:nvPr>
        </p:nvSpPr>
        <p:spPr/>
        <p:txBody>
          <a:bodyPr/>
          <a:lstStyle/>
          <a:p>
            <a:fld id="{22E77DEE-32E4-4009-988B-F2758F7B8AC2}" type="slidenum">
              <a:rPr lang="zh-CN" altLang="en-US" smtClean="0"/>
              <a:t>24</a:t>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2"/>
          <p:cNvSpPr>
            <a:spLocks noGrp="1" noChangeArrowheads="1"/>
          </p:cNvSpPr>
          <p:nvPr>
            <p:ph type="title"/>
          </p:nvPr>
        </p:nvSpPr>
        <p:spPr>
          <a:xfrm>
            <a:off x="714375" y="468313"/>
            <a:ext cx="6841807" cy="504825"/>
          </a:xfrm>
        </p:spPr>
        <p:txBody>
          <a:bodyPr vert="horz" lIns="91440" tIns="45720" rIns="91440" bIns="45720" rtlCol="0" anchor="b">
            <a:noAutofit/>
          </a:bodyPr>
          <a:lstStyle/>
          <a:p>
            <a:r>
              <a:rPr lang="en-US" altLang="zh-CN" sz="3200" dirty="0">
                <a:latin typeface="Arial" panose="020B0604020202020204" pitchFamily="34" charset="0"/>
                <a:cs typeface="Arial" panose="020B0604020202020204" pitchFamily="34" charset="0"/>
              </a:rPr>
              <a:t>Program Status Word (PSW) (8 bits)</a:t>
            </a:r>
            <a:endParaRPr lang="zh-CN" altLang="en-US" sz="3200" dirty="0">
              <a:latin typeface="Arial" panose="020B0604020202020204" pitchFamily="34" charset="0"/>
              <a:cs typeface="Arial" panose="020B0604020202020204" pitchFamily="34" charset="0"/>
            </a:endParaRPr>
          </a:p>
        </p:txBody>
      </p:sp>
      <p:sp>
        <p:nvSpPr>
          <p:cNvPr id="458755" name="Rectangle 3"/>
          <p:cNvSpPr>
            <a:spLocks noGrp="1" noChangeArrowheads="1"/>
          </p:cNvSpPr>
          <p:nvPr>
            <p:ph idx="1"/>
          </p:nvPr>
        </p:nvSpPr>
        <p:spPr>
          <a:xfrm>
            <a:off x="714375" y="1310640"/>
            <a:ext cx="8277225" cy="1146810"/>
          </a:xfrm>
        </p:spPr>
        <p:txBody>
          <a:bodyPr/>
          <a:lstStyle/>
          <a:p>
            <a:pPr eaLnBrk="1" hangingPunct="1">
              <a:lnSpc>
                <a:spcPct val="104000"/>
              </a:lnSpc>
              <a:spcBef>
                <a:spcPct val="0"/>
              </a:spcBef>
            </a:pPr>
            <a:r>
              <a:rPr lang="en-US" altLang="zh-CN" dirty="0">
                <a:latin typeface="Arial" panose="020B0604020202020204" pitchFamily="34" charset="0"/>
                <a:cs typeface="Arial" panose="020B0604020202020204" pitchFamily="34" charset="0"/>
              </a:rPr>
              <a:t>Some bits in the </a:t>
            </a:r>
            <a:r>
              <a:rPr lang="en-US" altLang="zh-CN" dirty="0">
                <a:solidFill>
                  <a:srgbClr val="CC3300"/>
                </a:solidFill>
                <a:latin typeface="Arial" panose="020B0604020202020204" pitchFamily="34" charset="0"/>
                <a:cs typeface="Arial" panose="020B0604020202020204" pitchFamily="34" charset="0"/>
              </a:rPr>
              <a:t>PSW </a:t>
            </a:r>
            <a:r>
              <a:rPr lang="en-US" altLang="zh-CN" dirty="0">
                <a:latin typeface="Arial" panose="020B0604020202020204" pitchFamily="34" charset="0"/>
                <a:cs typeface="Arial" panose="020B0604020202020204" pitchFamily="34" charset="0"/>
              </a:rPr>
              <a:t>are</a:t>
            </a:r>
            <a:r>
              <a:rPr lang="en-US" altLang="zh-CN" dirty="0">
                <a:solidFill>
                  <a:srgbClr val="CC3300"/>
                </a:solidFill>
                <a:latin typeface="Arial" panose="020B0604020202020204" pitchFamily="34" charset="0"/>
                <a:cs typeface="Arial" panose="020B0604020202020204" pitchFamily="34" charset="0"/>
              </a:rPr>
              <a:t> automatically set </a:t>
            </a:r>
            <a:r>
              <a:rPr lang="en-US" altLang="zh-CN" dirty="0">
                <a:latin typeface="Arial" panose="020B0604020202020204" pitchFamily="34" charset="0"/>
                <a:cs typeface="Arial" panose="020B0604020202020204" pitchFamily="34" charset="0"/>
              </a:rPr>
              <a:t>during instruction execution, while </a:t>
            </a:r>
            <a:r>
              <a:rPr lang="en-US" altLang="zh-CN" dirty="0">
                <a:solidFill>
                  <a:srgbClr val="CC3300"/>
                </a:solidFill>
                <a:latin typeface="Arial" panose="020B0604020202020204" pitchFamily="34" charset="0"/>
                <a:cs typeface="Arial" panose="020B0604020202020204" pitchFamily="34" charset="0"/>
              </a:rPr>
              <a:t>others </a:t>
            </a:r>
            <a:r>
              <a:rPr lang="en-US" altLang="zh-CN" dirty="0">
                <a:latin typeface="Arial" panose="020B0604020202020204" pitchFamily="34" charset="0"/>
                <a:cs typeface="Arial" panose="020B0604020202020204" pitchFamily="34" charset="0"/>
              </a:rPr>
              <a:t>can be </a:t>
            </a:r>
            <a:r>
              <a:rPr lang="en-US" altLang="zh-CN" dirty="0">
                <a:solidFill>
                  <a:srgbClr val="CC3300"/>
                </a:solidFill>
                <a:latin typeface="Arial" panose="020B0604020202020204" pitchFamily="34" charset="0"/>
                <a:cs typeface="Arial" panose="020B0604020202020204" pitchFamily="34" charset="0"/>
              </a:rPr>
              <a:t>modified by user-executed instructions</a:t>
            </a:r>
            <a:r>
              <a:rPr lang="en-US" altLang="zh-CN" dirty="0">
                <a:latin typeface="Arial" panose="020B0604020202020204" pitchFamily="34" charset="0"/>
                <a:cs typeface="Arial" panose="020B0604020202020204" pitchFamily="34" charset="0"/>
              </a:rPr>
              <a:t>.</a:t>
            </a:r>
          </a:p>
          <a:p>
            <a:pPr eaLnBrk="1" hangingPunct="1">
              <a:lnSpc>
                <a:spcPct val="104000"/>
              </a:lnSpc>
              <a:spcBef>
                <a:spcPct val="0"/>
              </a:spcBef>
            </a:pPr>
            <a:r>
              <a:rPr lang="en-US" altLang="zh-CN" dirty="0">
                <a:solidFill>
                  <a:srgbClr val="CC3300"/>
                </a:solidFill>
                <a:latin typeface="Arial" panose="020B0604020202020204" pitchFamily="34" charset="0"/>
                <a:cs typeface="Arial" panose="020B0604020202020204" pitchFamily="34" charset="0"/>
              </a:rPr>
              <a:t>The individual bits of the PSW </a:t>
            </a:r>
            <a:r>
              <a:rPr lang="en-US" altLang="zh-CN" dirty="0">
                <a:latin typeface="Arial" panose="020B0604020202020204" pitchFamily="34" charset="0"/>
                <a:cs typeface="Arial" panose="020B0604020202020204" pitchFamily="34" charset="0"/>
              </a:rPr>
              <a:t>are defined as follows</a:t>
            </a:r>
            <a:r>
              <a:rPr lang="zh-CN" altLang="en-US" dirty="0">
                <a:latin typeface="Arial" panose="020B0604020202020204" pitchFamily="34" charset="0"/>
                <a:cs typeface="Arial" panose="020B0604020202020204" pitchFamily="34" charset="0"/>
              </a:rPr>
              <a:t>：</a:t>
            </a:r>
            <a:endParaRPr lang="zh-CN" altLang="en-GB" dirty="0">
              <a:latin typeface="Arial" panose="020B0604020202020204" pitchFamily="34" charset="0"/>
              <a:cs typeface="Arial" panose="020B0604020202020204" pitchFamily="34" charset="0"/>
            </a:endParaRPr>
          </a:p>
        </p:txBody>
      </p:sp>
      <p:graphicFrame>
        <p:nvGraphicFramePr>
          <p:cNvPr id="458874" name="Group 122"/>
          <p:cNvGraphicFramePr>
            <a:graphicFrameLocks noGrp="1"/>
          </p:cNvGraphicFramePr>
          <p:nvPr/>
        </p:nvGraphicFramePr>
        <p:xfrm>
          <a:off x="714375" y="2395538"/>
          <a:ext cx="7821613" cy="1097467"/>
        </p:xfrm>
        <a:graphic>
          <a:graphicData uri="http://schemas.openxmlformats.org/drawingml/2006/table">
            <a:tbl>
              <a:tblPr/>
              <a:tblGrid>
                <a:gridCol w="922338">
                  <a:extLst>
                    <a:ext uri="{9D8B030D-6E8A-4147-A177-3AD203B41FA5}">
                      <a16:colId xmlns:a16="http://schemas.microsoft.com/office/drawing/2014/main" val="20000"/>
                    </a:ext>
                  </a:extLst>
                </a:gridCol>
                <a:gridCol w="858837">
                  <a:extLst>
                    <a:ext uri="{9D8B030D-6E8A-4147-A177-3AD203B41FA5}">
                      <a16:colId xmlns:a16="http://schemas.microsoft.com/office/drawing/2014/main" val="20001"/>
                    </a:ext>
                  </a:extLst>
                </a:gridCol>
                <a:gridCol w="868363">
                  <a:extLst>
                    <a:ext uri="{9D8B030D-6E8A-4147-A177-3AD203B41FA5}">
                      <a16:colId xmlns:a16="http://schemas.microsoft.com/office/drawing/2014/main" val="20002"/>
                    </a:ext>
                  </a:extLst>
                </a:gridCol>
                <a:gridCol w="892175">
                  <a:extLst>
                    <a:ext uri="{9D8B030D-6E8A-4147-A177-3AD203B41FA5}">
                      <a16:colId xmlns:a16="http://schemas.microsoft.com/office/drawing/2014/main" val="20003"/>
                    </a:ext>
                  </a:extLst>
                </a:gridCol>
                <a:gridCol w="893762">
                  <a:extLst>
                    <a:ext uri="{9D8B030D-6E8A-4147-A177-3AD203B41FA5}">
                      <a16:colId xmlns:a16="http://schemas.microsoft.com/office/drawing/2014/main" val="20004"/>
                    </a:ext>
                  </a:extLst>
                </a:gridCol>
                <a:gridCol w="895350">
                  <a:extLst>
                    <a:ext uri="{9D8B030D-6E8A-4147-A177-3AD203B41FA5}">
                      <a16:colId xmlns:a16="http://schemas.microsoft.com/office/drawing/2014/main" val="20005"/>
                    </a:ext>
                  </a:extLst>
                </a:gridCol>
                <a:gridCol w="892175">
                  <a:extLst>
                    <a:ext uri="{9D8B030D-6E8A-4147-A177-3AD203B41FA5}">
                      <a16:colId xmlns:a16="http://schemas.microsoft.com/office/drawing/2014/main" val="20006"/>
                    </a:ext>
                  </a:extLst>
                </a:gridCol>
                <a:gridCol w="893763">
                  <a:extLst>
                    <a:ext uri="{9D8B030D-6E8A-4147-A177-3AD203B41FA5}">
                      <a16:colId xmlns:a16="http://schemas.microsoft.com/office/drawing/2014/main" val="20007"/>
                    </a:ext>
                  </a:extLst>
                </a:gridCol>
                <a:gridCol w="704850">
                  <a:extLst>
                    <a:ext uri="{9D8B030D-6E8A-4147-A177-3AD203B41FA5}">
                      <a16:colId xmlns:a16="http://schemas.microsoft.com/office/drawing/2014/main" val="20008"/>
                    </a:ext>
                  </a:extLst>
                </a:gridCol>
              </a:tblGrid>
              <a:tr h="518319">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Pin number</a:t>
                      </a:r>
                      <a:endParaRPr kumimoji="0" lang="zh-CN" altLang="en-GB"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D7</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D6</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D5</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D4</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D3</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D2</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D1</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D0</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319">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Symbol</a:t>
                      </a:r>
                      <a:endParaRPr kumimoji="0" lang="zh-CN" altLang="en-GB" sz="18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CY</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AC</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F0</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RS1</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RS0</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lang="en-GB" altLang="zh-CN" sz="2800" b="1"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OV</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F1</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 name="Rectangle 3"/>
          <p:cNvSpPr txBox="1">
            <a:spLocks noChangeArrowheads="1"/>
          </p:cNvSpPr>
          <p:nvPr/>
        </p:nvSpPr>
        <p:spPr bwMode="auto">
          <a:xfrm>
            <a:off x="560863" y="3569371"/>
            <a:ext cx="8141703" cy="1906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2255" indent="-262255" eaLnBrk="1" hangingPunct="1">
              <a:lnSpc>
                <a:spcPct val="104000"/>
              </a:lnSpc>
              <a:spcBef>
                <a:spcPts val="0"/>
              </a:spcBef>
              <a:defRPr/>
            </a:pPr>
            <a:r>
              <a:rPr lang="en-GB" altLang="zh-CN" sz="1600" kern="0" dirty="0">
                <a:solidFill>
                  <a:srgbClr val="FF0000"/>
                </a:solidFill>
                <a:latin typeface="Arial" panose="020B0604020202020204" pitchFamily="34" charset="0"/>
                <a:cs typeface="Arial" panose="020B0604020202020204" pitchFamily="34" charset="0"/>
              </a:rPr>
              <a:t>CY</a:t>
            </a:r>
            <a:r>
              <a:rPr lang="zh-CN" altLang="en-GB" sz="1600" kern="0" dirty="0">
                <a:solidFill>
                  <a:srgbClr val="0000CC"/>
                </a:solidFill>
                <a:latin typeface="Arial" panose="020B0604020202020204" pitchFamily="34" charset="0"/>
                <a:cs typeface="Arial" panose="020B0604020202020204" pitchFamily="34" charset="0"/>
              </a:rPr>
              <a:t>（</a:t>
            </a:r>
            <a:r>
              <a:rPr lang="en-GB" altLang="zh-CN" sz="1600" kern="0" dirty="0">
                <a:solidFill>
                  <a:srgbClr val="FF0000"/>
                </a:solidFill>
                <a:latin typeface="Arial" panose="020B0604020202020204" pitchFamily="34" charset="0"/>
                <a:cs typeface="Arial" panose="020B0604020202020204" pitchFamily="34" charset="0"/>
              </a:rPr>
              <a:t>PSW.7</a:t>
            </a:r>
            <a:r>
              <a:rPr lang="zh-CN" altLang="en-GB" sz="1600" kern="0" dirty="0">
                <a:solidFill>
                  <a:srgbClr val="0000CC"/>
                </a:solidFill>
                <a:latin typeface="Arial" panose="020B0604020202020204" pitchFamily="34" charset="0"/>
                <a:cs typeface="Arial" panose="020B0604020202020204" pitchFamily="34" charset="0"/>
              </a:rPr>
              <a:t>）</a:t>
            </a:r>
            <a:r>
              <a:rPr lang="zh-CN" altLang="en-GB" sz="1600" kern="0" dirty="0">
                <a:latin typeface="Arial" panose="020B0604020202020204" pitchFamily="34" charset="0"/>
                <a:cs typeface="Arial" panose="020B0604020202020204" pitchFamily="34" charset="0"/>
              </a:rPr>
              <a:t>：</a:t>
            </a:r>
            <a:r>
              <a:rPr lang="en-US" altLang="zh-CN" sz="1600" kern="0" dirty="0">
                <a:solidFill>
                  <a:srgbClr val="0000CC"/>
                </a:solidFill>
                <a:latin typeface="Arial" panose="020B0604020202020204" pitchFamily="34" charset="0"/>
                <a:cs typeface="Arial" panose="020B0604020202020204" pitchFamily="34" charset="0"/>
              </a:rPr>
              <a:t>Carry Flag Bit</a:t>
            </a:r>
            <a:endParaRPr lang="zh-CN" altLang="en-GB" sz="1600" kern="0" dirty="0">
              <a:solidFill>
                <a:srgbClr val="0000CC"/>
              </a:solidFill>
              <a:latin typeface="Arial" panose="020B0604020202020204" pitchFamily="34" charset="0"/>
              <a:cs typeface="Arial" panose="020B0604020202020204" pitchFamily="34" charset="0"/>
            </a:endParaRPr>
          </a:p>
          <a:p>
            <a:pPr eaLnBrk="1" hangingPunct="1">
              <a:lnSpc>
                <a:spcPct val="104000"/>
              </a:lnSpc>
              <a:spcBef>
                <a:spcPts val="0"/>
              </a:spcBef>
              <a:buFont typeface="Wingdings" panose="05000000000000000000" pitchFamily="2" charset="2"/>
              <a:buChar char="Ø"/>
              <a:defRPr/>
            </a:pPr>
            <a:r>
              <a:rPr lang="en-US" altLang="zh-CN" sz="1600" kern="0" dirty="0">
                <a:solidFill>
                  <a:schemeClr val="tx1"/>
                </a:solidFill>
                <a:latin typeface="Arial" panose="020B0604020202020204" pitchFamily="34" charset="0"/>
                <a:cs typeface="Arial" panose="020B0604020202020204" pitchFamily="34" charset="0"/>
              </a:rPr>
              <a:t>When executing addition/subtraction instructions, if the most significant </a:t>
            </a:r>
            <a:r>
              <a:rPr lang="en-US" altLang="zh-CN" sz="1600" kern="0" dirty="0">
                <a:solidFill>
                  <a:srgbClr val="FF0000"/>
                </a:solidFill>
                <a:latin typeface="Arial" panose="020B0604020202020204" pitchFamily="34" charset="0"/>
                <a:cs typeface="Arial" panose="020B0604020202020204" pitchFamily="34" charset="0"/>
              </a:rPr>
              <a:t>bit D7 </a:t>
            </a:r>
            <a:r>
              <a:rPr lang="en-US" altLang="zh-CN" sz="1600" kern="0" dirty="0">
                <a:solidFill>
                  <a:schemeClr val="tx1"/>
                </a:solidFill>
                <a:latin typeface="Arial" panose="020B0604020202020204" pitchFamily="34" charset="0"/>
                <a:cs typeface="Arial" panose="020B0604020202020204" pitchFamily="34" charset="0"/>
              </a:rPr>
              <a:t>of the result </a:t>
            </a:r>
            <a:r>
              <a:rPr lang="en-US" altLang="zh-CN" sz="1600" kern="0" dirty="0">
                <a:solidFill>
                  <a:srgbClr val="FF0000"/>
                </a:solidFill>
                <a:latin typeface="Arial" panose="020B0604020202020204" pitchFamily="34" charset="0"/>
                <a:cs typeface="Arial" panose="020B0604020202020204" pitchFamily="34" charset="0"/>
              </a:rPr>
              <a:t>carries or borrows, CY is set to “1”</a:t>
            </a:r>
            <a:r>
              <a:rPr lang="en-US" altLang="zh-CN" sz="1600" kern="0" dirty="0">
                <a:solidFill>
                  <a:schemeClr val="tx1"/>
                </a:solidFill>
                <a:latin typeface="Arial" panose="020B0604020202020204" pitchFamily="34" charset="0"/>
                <a:cs typeface="Arial" panose="020B0604020202020204" pitchFamily="34" charset="0"/>
              </a:rPr>
              <a:t>; otherwise, </a:t>
            </a:r>
            <a:r>
              <a:rPr lang="en-US" altLang="zh-CN" sz="1600" kern="0" dirty="0">
                <a:solidFill>
                  <a:srgbClr val="9900CC"/>
                </a:solidFill>
                <a:latin typeface="Arial" panose="020B0604020202020204" pitchFamily="34" charset="0"/>
                <a:cs typeface="Arial" panose="020B0604020202020204" pitchFamily="34" charset="0"/>
              </a:rPr>
              <a:t>it is cleared to “0”</a:t>
            </a:r>
            <a:r>
              <a:rPr lang="en-US" altLang="zh-CN" sz="1600" kern="0" dirty="0">
                <a:solidFill>
                  <a:schemeClr val="tx1"/>
                </a:solidFill>
                <a:latin typeface="Arial" panose="020B0604020202020204" pitchFamily="34" charset="0"/>
                <a:cs typeface="Arial" panose="020B0604020202020204" pitchFamily="34" charset="0"/>
              </a:rPr>
              <a:t>.</a:t>
            </a:r>
          </a:p>
          <a:p>
            <a:pPr eaLnBrk="1" hangingPunct="1">
              <a:lnSpc>
                <a:spcPct val="104000"/>
              </a:lnSpc>
              <a:spcBef>
                <a:spcPts val="0"/>
              </a:spcBef>
              <a:buFont typeface="Wingdings" panose="05000000000000000000" pitchFamily="2" charset="2"/>
              <a:buChar char="Ø"/>
              <a:defRPr/>
            </a:pPr>
            <a:r>
              <a:rPr lang="en-US" altLang="zh-CN" sz="1600" kern="0" dirty="0">
                <a:solidFill>
                  <a:schemeClr val="tx1"/>
                </a:solidFill>
                <a:latin typeface="Arial" panose="020B0604020202020204" pitchFamily="34" charset="0"/>
                <a:cs typeface="Arial" panose="020B0604020202020204" pitchFamily="34" charset="0"/>
              </a:rPr>
              <a:t>After </a:t>
            </a:r>
            <a:r>
              <a:rPr lang="en-US" altLang="zh-CN" sz="1600" kern="0" dirty="0">
                <a:solidFill>
                  <a:srgbClr val="0000CC"/>
                </a:solidFill>
                <a:latin typeface="Arial" panose="020B0604020202020204" pitchFamily="34" charset="0"/>
                <a:cs typeface="Arial" panose="020B0604020202020204" pitchFamily="34" charset="0"/>
              </a:rPr>
              <a:t>performing multiplication or division operations, </a:t>
            </a:r>
            <a:r>
              <a:rPr lang="en-US" altLang="zh-CN" sz="1600" kern="0" dirty="0">
                <a:solidFill>
                  <a:schemeClr val="tx1"/>
                </a:solidFill>
                <a:latin typeface="Arial" panose="020B0604020202020204" pitchFamily="34" charset="0"/>
                <a:cs typeface="Arial" panose="020B0604020202020204" pitchFamily="34" charset="0"/>
              </a:rPr>
              <a:t>the CY flag is cleared. Additionally, the CPU affects this flag during </a:t>
            </a:r>
            <a:r>
              <a:rPr lang="en-US" altLang="zh-CN" sz="1600" kern="0" dirty="0">
                <a:solidFill>
                  <a:srgbClr val="0000CC"/>
                </a:solidFill>
                <a:latin typeface="Arial" panose="020B0604020202020204" pitchFamily="34" charset="0"/>
                <a:cs typeface="Arial" panose="020B0604020202020204" pitchFamily="34" charset="0"/>
              </a:rPr>
              <a:t>shift operations</a:t>
            </a:r>
            <a:r>
              <a:rPr lang="en-US" altLang="zh-CN" sz="1600" kern="0" dirty="0">
                <a:solidFill>
                  <a:schemeClr val="tx1"/>
                </a:solidFill>
                <a:latin typeface="Arial" panose="020B0604020202020204" pitchFamily="34" charset="0"/>
                <a:cs typeface="Arial" panose="020B0604020202020204" pitchFamily="34" charset="0"/>
              </a:rPr>
              <a:t>.</a:t>
            </a:r>
            <a:endParaRPr lang="zh-CN" altLang="en-GB" sz="1600" kern="0" dirty="0">
              <a:solidFill>
                <a:schemeClr val="tx1"/>
              </a:solidFill>
              <a:latin typeface="Arial" panose="020B0604020202020204" pitchFamily="34" charset="0"/>
              <a:cs typeface="Arial" panose="020B0604020202020204" pitchFamily="34" charset="0"/>
            </a:endParaRPr>
          </a:p>
          <a:p>
            <a:pPr eaLnBrk="1" hangingPunct="1">
              <a:lnSpc>
                <a:spcPct val="104000"/>
              </a:lnSpc>
              <a:spcBef>
                <a:spcPts val="0"/>
              </a:spcBef>
              <a:defRPr/>
            </a:pPr>
            <a:endParaRPr lang="en-US" altLang="zh-CN" sz="1600" kern="0" dirty="0">
              <a:solidFill>
                <a:schemeClr val="tx1"/>
              </a:solidFill>
              <a:latin typeface="Arial" panose="020B0604020202020204" pitchFamily="34" charset="0"/>
              <a:cs typeface="Arial" panose="020B0604020202020204" pitchFamily="34" charset="0"/>
            </a:endParaRPr>
          </a:p>
        </p:txBody>
      </p:sp>
      <p:sp>
        <p:nvSpPr>
          <p:cNvPr id="9" name="Rectangle 3"/>
          <p:cNvSpPr txBox="1">
            <a:spLocks noChangeArrowheads="1"/>
          </p:cNvSpPr>
          <p:nvPr/>
        </p:nvSpPr>
        <p:spPr bwMode="auto">
          <a:xfrm>
            <a:off x="1080292" y="5547361"/>
            <a:ext cx="7329071" cy="683172"/>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lvl="1" indent="0" algn="l" eaLnBrk="1" hangingPunct="1">
              <a:lnSpc>
                <a:spcPct val="114000"/>
              </a:lnSpc>
              <a:spcBef>
                <a:spcPts val="0"/>
              </a:spcBef>
              <a:spcAft>
                <a:spcPts val="1200"/>
              </a:spcAft>
              <a:buFontTx/>
              <a:buNone/>
              <a:defRPr/>
            </a:pPr>
            <a:r>
              <a:rPr lang="en-US" altLang="zh-CN" sz="1800" kern="0" dirty="0">
                <a:solidFill>
                  <a:srgbClr val="0000CC"/>
                </a:solidFill>
                <a:latin typeface="Arial" panose="020B0604020202020204" pitchFamily="34" charset="0"/>
                <a:cs typeface="Arial" panose="020B0604020202020204" pitchFamily="34" charset="0"/>
              </a:rPr>
              <a:t>It also serves as the “</a:t>
            </a:r>
            <a:r>
              <a:rPr lang="en-US" altLang="zh-CN" sz="1800" kern="0" dirty="0">
                <a:solidFill>
                  <a:srgbClr val="FF0000"/>
                </a:solidFill>
                <a:latin typeface="Arial" panose="020B0604020202020204" pitchFamily="34" charset="0"/>
                <a:cs typeface="Arial" panose="020B0604020202020204" pitchFamily="34" charset="0"/>
              </a:rPr>
              <a:t>accumulator</a:t>
            </a:r>
            <a:r>
              <a:rPr lang="en-US" altLang="zh-CN" sz="1800" kern="0" dirty="0">
                <a:solidFill>
                  <a:srgbClr val="0000CC"/>
                </a:solidFill>
                <a:latin typeface="Arial" panose="020B0604020202020204" pitchFamily="34" charset="0"/>
                <a:cs typeface="Arial" panose="020B0604020202020204" pitchFamily="34" charset="0"/>
              </a:rPr>
              <a:t>” for bit operations performed by the bit processor.</a:t>
            </a:r>
            <a:endParaRPr lang="zh-CN" altLang="en-GB" sz="1800" kern="0" dirty="0">
              <a:latin typeface="Arial" panose="020B0604020202020204" pitchFamily="34" charset="0"/>
              <a:cs typeface="Arial" panose="020B0604020202020204" pitchFamily="34" charset="0"/>
            </a:endParaRPr>
          </a:p>
        </p:txBody>
      </p:sp>
      <p:sp>
        <p:nvSpPr>
          <p:cNvPr id="3" name="灯片编号占位符 2"/>
          <p:cNvSpPr>
            <a:spLocks noGrp="1"/>
          </p:cNvSpPr>
          <p:nvPr>
            <p:ph type="sldNum" sz="quarter" idx="12"/>
          </p:nvPr>
        </p:nvSpPr>
        <p:spPr/>
        <p:txBody>
          <a:bodyPr/>
          <a:lstStyle/>
          <a:p>
            <a:fld id="{22E77DEE-32E4-4009-988B-F2758F7B8AC2}" type="slidenum">
              <a:rPr lang="zh-CN" altLang="en-US" smtClean="0"/>
              <a:t>25</a:t>
            </a:fld>
            <a:endParaRPr lang="zh-CN" altLang="en-US"/>
          </a:p>
        </p:txBody>
      </p:sp>
      <p:sp>
        <p:nvSpPr>
          <p:cNvPr id="12" name="矩形 11"/>
          <p:cNvSpPr>
            <a:spLocks noChangeArrowheads="1"/>
          </p:cNvSpPr>
          <p:nvPr/>
        </p:nvSpPr>
        <p:spPr bwMode="auto">
          <a:xfrm>
            <a:off x="1709738" y="2974535"/>
            <a:ext cx="7032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GB" altLang="zh-CN" sz="2800" b="1" dirty="0">
                <a:solidFill>
                  <a:srgbClr val="FF0000"/>
                </a:solidFill>
                <a:cs typeface="Times New Roman" panose="02020603050405020304" pitchFamily="18" charset="0"/>
              </a:rPr>
              <a:t>CY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2"/>
          <p:cNvSpPr>
            <a:spLocks noGrp="1" noChangeArrowheads="1"/>
          </p:cNvSpPr>
          <p:nvPr>
            <p:ph type="title"/>
          </p:nvPr>
        </p:nvSpPr>
        <p:spPr>
          <a:xfrm>
            <a:off x="457200" y="463550"/>
            <a:ext cx="8229600" cy="504825"/>
          </a:xfrm>
        </p:spPr>
        <p:txBody>
          <a:bodyPr>
            <a:noAutofit/>
          </a:bodyPr>
          <a:lstStyle/>
          <a:p>
            <a:pPr eaLnBrk="1" hangingPunct="1"/>
            <a:r>
              <a:rPr lang="en-US" altLang="zh-CN" sz="3200" dirty="0">
                <a:latin typeface="Arial" panose="020B0604020202020204" pitchFamily="34" charset="0"/>
                <a:cs typeface="Arial" panose="020B0604020202020204" pitchFamily="34" charset="0"/>
              </a:rPr>
              <a:t>Program </a:t>
            </a:r>
            <a:r>
              <a:rPr lang="en-US" altLang="zh-CN" sz="3200" dirty="0">
                <a:solidFill>
                  <a:srgbClr val="C00000"/>
                </a:solidFill>
                <a:latin typeface="Arial" panose="020B0604020202020204" pitchFamily="34" charset="0"/>
                <a:cs typeface="Arial" panose="020B0604020202020204" pitchFamily="34" charset="0"/>
              </a:rPr>
              <a:t>Status Word (PSW) (8 bits)</a:t>
            </a:r>
            <a:endParaRPr lang="zh-CN" altLang="en-US" sz="3200" dirty="0">
              <a:solidFill>
                <a:srgbClr val="C00000"/>
              </a:solidFill>
              <a:latin typeface="Arial" panose="020B0604020202020204" pitchFamily="34" charset="0"/>
              <a:cs typeface="Arial" panose="020B0604020202020204" pitchFamily="34" charset="0"/>
            </a:endParaRPr>
          </a:p>
        </p:txBody>
      </p:sp>
      <p:sp>
        <p:nvSpPr>
          <p:cNvPr id="584707" name="Rectangle 3"/>
          <p:cNvSpPr>
            <a:spLocks noGrp="1" noChangeArrowheads="1"/>
          </p:cNvSpPr>
          <p:nvPr>
            <p:ph idx="1"/>
          </p:nvPr>
        </p:nvSpPr>
        <p:spPr>
          <a:xfrm>
            <a:off x="575786" y="2443231"/>
            <a:ext cx="7949566" cy="1036638"/>
          </a:xfrm>
        </p:spPr>
        <p:txBody>
          <a:bodyPr>
            <a:noAutofit/>
          </a:bodyPr>
          <a:lstStyle/>
          <a:p>
            <a:pPr marL="262255" indent="-262255" eaLnBrk="1" hangingPunct="1">
              <a:lnSpc>
                <a:spcPct val="100000"/>
              </a:lnSpc>
              <a:spcBef>
                <a:spcPts val="0"/>
              </a:spcBef>
              <a:spcAft>
                <a:spcPts val="300"/>
              </a:spcAft>
              <a:defRPr/>
            </a:pPr>
            <a:r>
              <a:rPr lang="en-GB" altLang="zh-CN" sz="1700" dirty="0">
                <a:solidFill>
                  <a:srgbClr val="FF0000"/>
                </a:solidFill>
                <a:latin typeface="Arial" panose="020B0604020202020204" pitchFamily="34" charset="0"/>
                <a:cs typeface="Arial" panose="020B0604020202020204" pitchFamily="34" charset="0"/>
              </a:rPr>
              <a:t>AC</a:t>
            </a:r>
            <a:r>
              <a:rPr lang="zh-CN" altLang="en-GB" sz="1700" dirty="0">
                <a:latin typeface="Arial" panose="020B0604020202020204" pitchFamily="34" charset="0"/>
                <a:cs typeface="Arial" panose="020B0604020202020204" pitchFamily="34" charset="0"/>
              </a:rPr>
              <a:t>（</a:t>
            </a:r>
            <a:r>
              <a:rPr lang="en-GB" altLang="zh-CN" sz="1700" dirty="0">
                <a:solidFill>
                  <a:srgbClr val="FF0000"/>
                </a:solidFill>
                <a:latin typeface="Arial" panose="020B0604020202020204" pitchFamily="34" charset="0"/>
                <a:cs typeface="Arial" panose="020B0604020202020204" pitchFamily="34" charset="0"/>
              </a:rPr>
              <a:t>PSW.6</a:t>
            </a:r>
            <a:r>
              <a:rPr lang="zh-CN" altLang="en-GB" sz="1700" dirty="0">
                <a:latin typeface="Arial" panose="020B0604020202020204" pitchFamily="34" charset="0"/>
                <a:cs typeface="Arial" panose="020B0604020202020204" pitchFamily="34" charset="0"/>
              </a:rPr>
              <a:t>）：</a:t>
            </a:r>
            <a:r>
              <a:rPr lang="en-US" altLang="zh-CN" sz="1700" dirty="0">
                <a:solidFill>
                  <a:srgbClr val="0000CC"/>
                </a:solidFill>
                <a:latin typeface="Arial" panose="020B0604020202020204" pitchFamily="34" charset="0"/>
                <a:cs typeface="Arial" panose="020B0604020202020204" pitchFamily="34" charset="0"/>
              </a:rPr>
              <a:t>Auxiliary Carry Flag Bit (</a:t>
            </a:r>
            <a:r>
              <a:rPr lang="en-US" altLang="zh-CN" sz="1700" dirty="0">
                <a:solidFill>
                  <a:srgbClr val="FF0000"/>
                </a:solidFill>
                <a:latin typeface="Arial" panose="020B0604020202020204" pitchFamily="34" charset="0"/>
                <a:cs typeface="Arial" panose="020B0604020202020204" pitchFamily="34" charset="0"/>
              </a:rPr>
              <a:t>A</a:t>
            </a:r>
            <a:r>
              <a:rPr lang="en-US" altLang="zh-CN" sz="1700" dirty="0">
                <a:latin typeface="Arial" panose="020B0604020202020204" pitchFamily="34" charset="0"/>
                <a:cs typeface="Arial" panose="020B0604020202020204" pitchFamily="34" charset="0"/>
              </a:rPr>
              <a:t>uxiliary </a:t>
            </a:r>
            <a:r>
              <a:rPr lang="en-US" altLang="zh-CN" sz="1700" dirty="0">
                <a:solidFill>
                  <a:srgbClr val="FF0000"/>
                </a:solidFill>
                <a:latin typeface="Arial" panose="020B0604020202020204" pitchFamily="34" charset="0"/>
                <a:cs typeface="Arial" panose="020B0604020202020204" pitchFamily="34" charset="0"/>
              </a:rPr>
              <a:t>C</a:t>
            </a:r>
            <a:r>
              <a:rPr lang="en-US" altLang="zh-CN" sz="1700" dirty="0">
                <a:latin typeface="Arial" panose="020B0604020202020204" pitchFamily="34" charset="0"/>
                <a:cs typeface="Arial" panose="020B0604020202020204" pitchFamily="34" charset="0"/>
              </a:rPr>
              <a:t>arry</a:t>
            </a:r>
            <a:r>
              <a:rPr lang="en-US" altLang="zh-CN" sz="1700" dirty="0">
                <a:solidFill>
                  <a:srgbClr val="0000CC"/>
                </a:solidFill>
                <a:latin typeface="Arial" panose="020B0604020202020204" pitchFamily="34" charset="0"/>
                <a:cs typeface="Arial" panose="020B0604020202020204" pitchFamily="34" charset="0"/>
              </a:rPr>
              <a:t>)</a:t>
            </a:r>
            <a:endParaRPr lang="zh-CN" altLang="en-GB" sz="1700" dirty="0">
              <a:solidFill>
                <a:srgbClr val="0000CC"/>
              </a:solidFill>
              <a:latin typeface="Arial" panose="020B0604020202020204" pitchFamily="34" charset="0"/>
              <a:cs typeface="Arial" panose="020B0604020202020204" pitchFamily="34" charset="0"/>
            </a:endParaRPr>
          </a:p>
          <a:p>
            <a:pPr eaLnBrk="1" hangingPunct="1">
              <a:lnSpc>
                <a:spcPct val="100000"/>
              </a:lnSpc>
              <a:spcBef>
                <a:spcPts val="0"/>
              </a:spcBef>
              <a:spcAft>
                <a:spcPts val="300"/>
              </a:spcAft>
              <a:buFontTx/>
              <a:buNone/>
              <a:defRPr/>
            </a:pPr>
            <a:r>
              <a:rPr lang="zh-CN" altLang="en-GB" sz="1700" dirty="0">
                <a:solidFill>
                  <a:schemeClr val="tx1"/>
                </a:solidFill>
                <a:latin typeface="Arial" panose="020B0604020202020204" pitchFamily="34" charset="0"/>
                <a:cs typeface="Arial" panose="020B0604020202020204" pitchFamily="34" charset="0"/>
              </a:rPr>
              <a:t>   </a:t>
            </a:r>
            <a:r>
              <a:rPr lang="en-US" altLang="zh-CN" sz="1700" dirty="0">
                <a:solidFill>
                  <a:schemeClr val="tx1"/>
                </a:solidFill>
                <a:latin typeface="Arial" panose="020B0604020202020204" pitchFamily="34" charset="0"/>
                <a:cs typeface="Arial" panose="020B0604020202020204" pitchFamily="34" charset="0"/>
              </a:rPr>
              <a:t>When executing addition/subtraction instructions, if </a:t>
            </a:r>
            <a:r>
              <a:rPr lang="en-US" altLang="zh-CN" sz="1700" dirty="0">
                <a:solidFill>
                  <a:srgbClr val="FF0000"/>
                </a:solidFill>
                <a:latin typeface="Arial" panose="020B0604020202020204" pitchFamily="34" charset="0"/>
                <a:cs typeface="Arial" panose="020B0604020202020204" pitchFamily="34" charset="0"/>
              </a:rPr>
              <a:t>a carry/borrow occurs from the lower four digits to the upper four digits</a:t>
            </a:r>
            <a:r>
              <a:rPr lang="en-US" altLang="zh-CN" sz="1700" dirty="0">
                <a:solidFill>
                  <a:schemeClr val="tx1"/>
                </a:solidFill>
                <a:latin typeface="Arial" panose="020B0604020202020204" pitchFamily="34" charset="0"/>
                <a:cs typeface="Arial" panose="020B0604020202020204" pitchFamily="34" charset="0"/>
              </a:rPr>
              <a:t>, the AC bit is set to “1”; otherwise, it is cleared.</a:t>
            </a:r>
            <a:endParaRPr lang="zh-CN" altLang="en-GB" sz="1700" dirty="0">
              <a:solidFill>
                <a:schemeClr val="tx1"/>
              </a:solidFill>
              <a:latin typeface="Arial" panose="020B0604020202020204" pitchFamily="34" charset="0"/>
              <a:cs typeface="Arial" panose="020B0604020202020204" pitchFamily="34" charset="0"/>
            </a:endParaRPr>
          </a:p>
        </p:txBody>
      </p:sp>
      <p:graphicFrame>
        <p:nvGraphicFramePr>
          <p:cNvPr id="584708" name="Group 4"/>
          <p:cNvGraphicFramePr>
            <a:graphicFrameLocks noGrp="1"/>
          </p:cNvGraphicFramePr>
          <p:nvPr/>
        </p:nvGraphicFramePr>
        <p:xfrm>
          <a:off x="661193" y="1273810"/>
          <a:ext cx="7821613" cy="1097467"/>
        </p:xfrm>
        <a:graphic>
          <a:graphicData uri="http://schemas.openxmlformats.org/drawingml/2006/table">
            <a:tbl>
              <a:tblPr/>
              <a:tblGrid>
                <a:gridCol w="922338">
                  <a:extLst>
                    <a:ext uri="{9D8B030D-6E8A-4147-A177-3AD203B41FA5}">
                      <a16:colId xmlns:a16="http://schemas.microsoft.com/office/drawing/2014/main" val="20000"/>
                    </a:ext>
                  </a:extLst>
                </a:gridCol>
                <a:gridCol w="858837">
                  <a:extLst>
                    <a:ext uri="{9D8B030D-6E8A-4147-A177-3AD203B41FA5}">
                      <a16:colId xmlns:a16="http://schemas.microsoft.com/office/drawing/2014/main" val="20001"/>
                    </a:ext>
                  </a:extLst>
                </a:gridCol>
                <a:gridCol w="868363">
                  <a:extLst>
                    <a:ext uri="{9D8B030D-6E8A-4147-A177-3AD203B41FA5}">
                      <a16:colId xmlns:a16="http://schemas.microsoft.com/office/drawing/2014/main" val="20002"/>
                    </a:ext>
                  </a:extLst>
                </a:gridCol>
                <a:gridCol w="892175">
                  <a:extLst>
                    <a:ext uri="{9D8B030D-6E8A-4147-A177-3AD203B41FA5}">
                      <a16:colId xmlns:a16="http://schemas.microsoft.com/office/drawing/2014/main" val="20003"/>
                    </a:ext>
                  </a:extLst>
                </a:gridCol>
                <a:gridCol w="893762">
                  <a:extLst>
                    <a:ext uri="{9D8B030D-6E8A-4147-A177-3AD203B41FA5}">
                      <a16:colId xmlns:a16="http://schemas.microsoft.com/office/drawing/2014/main" val="20004"/>
                    </a:ext>
                  </a:extLst>
                </a:gridCol>
                <a:gridCol w="895350">
                  <a:extLst>
                    <a:ext uri="{9D8B030D-6E8A-4147-A177-3AD203B41FA5}">
                      <a16:colId xmlns:a16="http://schemas.microsoft.com/office/drawing/2014/main" val="20005"/>
                    </a:ext>
                  </a:extLst>
                </a:gridCol>
                <a:gridCol w="892175">
                  <a:extLst>
                    <a:ext uri="{9D8B030D-6E8A-4147-A177-3AD203B41FA5}">
                      <a16:colId xmlns:a16="http://schemas.microsoft.com/office/drawing/2014/main" val="20006"/>
                    </a:ext>
                  </a:extLst>
                </a:gridCol>
                <a:gridCol w="893763">
                  <a:extLst>
                    <a:ext uri="{9D8B030D-6E8A-4147-A177-3AD203B41FA5}">
                      <a16:colId xmlns:a16="http://schemas.microsoft.com/office/drawing/2014/main" val="20007"/>
                    </a:ext>
                  </a:extLst>
                </a:gridCol>
                <a:gridCol w="704850">
                  <a:extLst>
                    <a:ext uri="{9D8B030D-6E8A-4147-A177-3AD203B41FA5}">
                      <a16:colId xmlns:a16="http://schemas.microsoft.com/office/drawing/2014/main" val="20008"/>
                    </a:ext>
                  </a:extLst>
                </a:gridCol>
              </a:tblGrid>
              <a:tr h="518319">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Pin number</a:t>
                      </a:r>
                      <a:endParaRPr kumimoji="0" lang="zh-CN" altLang="en-GB"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D7</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D6</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D5</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D4</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D3</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D2</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D1</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D0</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319">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Symbol</a:t>
                      </a:r>
                      <a:endParaRPr kumimoji="0" lang="zh-CN" altLang="en-GB"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CY</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AC</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F0</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RS1</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RS0</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OV</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F1</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 name="Rectangle 3"/>
          <p:cNvSpPr txBox="1">
            <a:spLocks noChangeArrowheads="1"/>
          </p:cNvSpPr>
          <p:nvPr/>
        </p:nvSpPr>
        <p:spPr bwMode="auto">
          <a:xfrm>
            <a:off x="661192" y="3521075"/>
            <a:ext cx="8369296" cy="2753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2255" indent="-262255" algn="l" eaLnBrk="1" hangingPunct="1">
              <a:lnSpc>
                <a:spcPct val="100000"/>
              </a:lnSpc>
              <a:spcBef>
                <a:spcPts val="0"/>
              </a:spcBef>
              <a:spcAft>
                <a:spcPts val="300"/>
              </a:spcAft>
              <a:defRPr/>
            </a:pPr>
            <a:r>
              <a:rPr lang="en-GB" altLang="zh-CN" sz="2000" dirty="0">
                <a:solidFill>
                  <a:srgbClr val="FF0000"/>
                </a:solidFill>
                <a:latin typeface="Arial" panose="020B0604020202020204" pitchFamily="34" charset="0"/>
                <a:cs typeface="Arial" panose="020B0604020202020204" pitchFamily="34" charset="0"/>
              </a:rPr>
              <a:t>F0</a:t>
            </a:r>
            <a:r>
              <a:rPr lang="zh-CN" altLang="en-GB" sz="2000" kern="0" dirty="0">
                <a:latin typeface="Arial" panose="020B0604020202020204" pitchFamily="34" charset="0"/>
                <a:cs typeface="Arial" panose="020B0604020202020204" pitchFamily="34" charset="0"/>
              </a:rPr>
              <a:t>（</a:t>
            </a:r>
            <a:r>
              <a:rPr lang="en-GB" altLang="zh-CN" sz="2000" dirty="0">
                <a:solidFill>
                  <a:srgbClr val="FF0000"/>
                </a:solidFill>
                <a:latin typeface="Arial" panose="020B0604020202020204" pitchFamily="34" charset="0"/>
                <a:cs typeface="Arial" panose="020B0604020202020204" pitchFamily="34" charset="0"/>
              </a:rPr>
              <a:t>PSW.5</a:t>
            </a:r>
            <a:r>
              <a:rPr lang="zh-CN" altLang="en-GB" sz="2000" kern="0" dirty="0">
                <a:latin typeface="Arial" panose="020B0604020202020204" pitchFamily="34" charset="0"/>
                <a:cs typeface="Arial" panose="020B0604020202020204" pitchFamily="34" charset="0"/>
              </a:rPr>
              <a:t>）：</a:t>
            </a:r>
            <a:r>
              <a:rPr lang="en-US" altLang="zh-CN" sz="2000" dirty="0">
                <a:solidFill>
                  <a:srgbClr val="0000CC"/>
                </a:solidFill>
                <a:latin typeface="Arial" panose="020B0604020202020204" pitchFamily="34" charset="0"/>
                <a:cs typeface="Arial" panose="020B0604020202020204" pitchFamily="34" charset="0"/>
              </a:rPr>
              <a:t>User Flag Register (</a:t>
            </a:r>
            <a:r>
              <a:rPr lang="en-US" altLang="zh-CN" sz="2000" dirty="0">
                <a:solidFill>
                  <a:srgbClr val="FF0000"/>
                </a:solidFill>
                <a:latin typeface="Arial" panose="020B0604020202020204" pitchFamily="34" charset="0"/>
                <a:cs typeface="Arial" panose="020B0604020202020204" pitchFamily="34" charset="0"/>
              </a:rPr>
              <a:t>F0</a:t>
            </a:r>
            <a:r>
              <a:rPr lang="en-US" altLang="zh-CN" sz="2000" dirty="0">
                <a:solidFill>
                  <a:srgbClr val="0000CC"/>
                </a:solidFill>
                <a:latin typeface="Arial" panose="020B0604020202020204" pitchFamily="34" charset="0"/>
                <a:cs typeface="Arial" panose="020B0604020202020204" pitchFamily="34" charset="0"/>
              </a:rPr>
              <a:t>).</a:t>
            </a:r>
            <a:endParaRPr lang="zh-CN" altLang="en-GB" sz="2000" dirty="0">
              <a:solidFill>
                <a:srgbClr val="0000CC"/>
              </a:solidFill>
              <a:latin typeface="Arial" panose="020B0604020202020204" pitchFamily="34" charset="0"/>
              <a:cs typeface="Arial" panose="020B0604020202020204" pitchFamily="34" charset="0"/>
            </a:endParaRPr>
          </a:p>
          <a:p>
            <a:pPr indent="-81280" eaLnBrk="1" hangingPunct="1">
              <a:lnSpc>
                <a:spcPct val="100000"/>
              </a:lnSpc>
              <a:spcBef>
                <a:spcPts val="0"/>
              </a:spcBef>
              <a:buFontTx/>
              <a:buNone/>
              <a:defRPr/>
            </a:pPr>
            <a:r>
              <a:rPr lang="en-US" altLang="zh-CN" sz="2000" kern="0" dirty="0">
                <a:solidFill>
                  <a:schemeClr val="tx1"/>
                </a:solidFill>
                <a:latin typeface="Arial" panose="020B0604020202020204" pitchFamily="34" charset="0"/>
                <a:cs typeface="Arial" panose="020B0604020202020204" pitchFamily="34" charset="0"/>
              </a:rPr>
              <a:t>is </a:t>
            </a:r>
            <a:r>
              <a:rPr lang="en-US" altLang="zh-CN" sz="2000" kern="0" dirty="0">
                <a:solidFill>
                  <a:srgbClr val="FF0000"/>
                </a:solidFill>
                <a:latin typeface="Arial" panose="020B0604020202020204" pitchFamily="34" charset="0"/>
                <a:cs typeface="Arial" panose="020B0604020202020204" pitchFamily="34" charset="0"/>
              </a:rPr>
              <a:t>a user-defined status flag</a:t>
            </a:r>
            <a:r>
              <a:rPr lang="en-US" altLang="zh-CN" sz="2000" kern="0" dirty="0">
                <a:solidFill>
                  <a:schemeClr val="tx1"/>
                </a:solidFill>
                <a:latin typeface="Arial" panose="020B0604020202020204" pitchFamily="34" charset="0"/>
                <a:cs typeface="Arial" panose="020B0604020202020204" pitchFamily="34" charset="0"/>
              </a:rPr>
              <a:t>. It can be set to </a:t>
            </a:r>
            <a:r>
              <a:rPr lang="en-US" altLang="zh-CN" sz="2000" kern="0" dirty="0">
                <a:latin typeface="Arial" panose="020B0604020202020204" pitchFamily="34" charset="0"/>
                <a:cs typeface="Arial" panose="020B0604020202020204" pitchFamily="34" charset="0"/>
              </a:rPr>
              <a:t>“</a:t>
            </a:r>
            <a:r>
              <a:rPr lang="en-US" altLang="zh-CN" sz="2000" kern="0" dirty="0">
                <a:solidFill>
                  <a:schemeClr val="tx1"/>
                </a:solidFill>
                <a:latin typeface="Arial" panose="020B0604020202020204" pitchFamily="34" charset="0"/>
                <a:cs typeface="Arial" panose="020B0604020202020204" pitchFamily="34" charset="0"/>
              </a:rPr>
              <a:t>1</a:t>
            </a:r>
            <a:r>
              <a:rPr lang="en-US" altLang="zh-CN" sz="2000" kern="0" dirty="0">
                <a:latin typeface="Arial" panose="020B0604020202020204" pitchFamily="34" charset="0"/>
                <a:cs typeface="Arial" panose="020B0604020202020204" pitchFamily="34" charset="0"/>
              </a:rPr>
              <a:t>”</a:t>
            </a:r>
            <a:r>
              <a:rPr lang="en-US" altLang="zh-CN" sz="2000" kern="0" dirty="0">
                <a:solidFill>
                  <a:schemeClr val="tx1"/>
                </a:solidFill>
                <a:latin typeface="Arial" panose="020B0604020202020204" pitchFamily="34" charset="0"/>
                <a:cs typeface="Arial" panose="020B0604020202020204" pitchFamily="34" charset="0"/>
              </a:rPr>
              <a:t> or cleared to </a:t>
            </a:r>
            <a:r>
              <a:rPr lang="en-US" altLang="zh-CN" sz="2000" kern="0" dirty="0">
                <a:latin typeface="Arial" panose="020B0604020202020204" pitchFamily="34" charset="0"/>
                <a:cs typeface="Arial" panose="020B0604020202020204" pitchFamily="34" charset="0"/>
              </a:rPr>
              <a:t>“</a:t>
            </a:r>
            <a:r>
              <a:rPr lang="en-US" altLang="zh-CN" sz="2000" kern="0" dirty="0">
                <a:solidFill>
                  <a:schemeClr val="tx1"/>
                </a:solidFill>
                <a:latin typeface="Arial" panose="020B0604020202020204" pitchFamily="34" charset="0"/>
                <a:cs typeface="Arial" panose="020B0604020202020204" pitchFamily="34" charset="0"/>
              </a:rPr>
              <a:t>0</a:t>
            </a:r>
            <a:r>
              <a:rPr lang="en-US" altLang="zh-CN" sz="2000" kern="0" dirty="0">
                <a:latin typeface="Arial" panose="020B0604020202020204" pitchFamily="34" charset="0"/>
                <a:cs typeface="Arial" panose="020B0604020202020204" pitchFamily="34" charset="0"/>
              </a:rPr>
              <a:t>”</a:t>
            </a:r>
            <a:r>
              <a:rPr lang="en-US" altLang="zh-CN" sz="2000" kern="0" dirty="0">
                <a:solidFill>
                  <a:schemeClr val="tx1"/>
                </a:solidFill>
                <a:latin typeface="Arial" panose="020B0604020202020204" pitchFamily="34" charset="0"/>
                <a:cs typeface="Arial" panose="020B0604020202020204" pitchFamily="34" charset="0"/>
              </a:rPr>
              <a:t> via software, and software can also test F0 to control program flow.</a:t>
            </a:r>
            <a:endParaRPr lang="zh-CN" altLang="en-GB" sz="2000" kern="0" dirty="0">
              <a:solidFill>
                <a:schemeClr val="tx1"/>
              </a:solidFill>
              <a:latin typeface="Arial" panose="020B0604020202020204" pitchFamily="34" charset="0"/>
              <a:cs typeface="Arial" panose="020B0604020202020204" pitchFamily="34" charset="0"/>
            </a:endParaRPr>
          </a:p>
          <a:p>
            <a:pPr marL="262255" indent="-262255" algn="l" eaLnBrk="1" hangingPunct="1">
              <a:lnSpc>
                <a:spcPct val="100000"/>
              </a:lnSpc>
              <a:spcBef>
                <a:spcPts val="0"/>
              </a:spcBef>
              <a:spcAft>
                <a:spcPts val="300"/>
              </a:spcAft>
              <a:defRPr/>
            </a:pPr>
            <a:r>
              <a:rPr lang="en-GB" altLang="zh-CN" sz="2000" dirty="0">
                <a:solidFill>
                  <a:srgbClr val="FF0000"/>
                </a:solidFill>
                <a:latin typeface="Arial" panose="020B0604020202020204" pitchFamily="34" charset="0"/>
                <a:cs typeface="Arial" panose="020B0604020202020204" pitchFamily="34" charset="0"/>
              </a:rPr>
              <a:t>F1</a:t>
            </a:r>
            <a:r>
              <a:rPr lang="zh-CN" altLang="en-GB" sz="2000" kern="0" dirty="0">
                <a:latin typeface="Arial" panose="020B0604020202020204" pitchFamily="34" charset="0"/>
                <a:cs typeface="Arial" panose="020B0604020202020204" pitchFamily="34" charset="0"/>
              </a:rPr>
              <a:t>（</a:t>
            </a:r>
            <a:r>
              <a:rPr lang="en-GB" altLang="zh-CN" sz="2000" dirty="0">
                <a:solidFill>
                  <a:srgbClr val="FF0000"/>
                </a:solidFill>
                <a:latin typeface="Arial" panose="020B0604020202020204" pitchFamily="34" charset="0"/>
                <a:cs typeface="Arial" panose="020B0604020202020204" pitchFamily="34" charset="0"/>
              </a:rPr>
              <a:t>PSW.1</a:t>
            </a:r>
            <a:r>
              <a:rPr lang="zh-CN" altLang="en-GB" sz="2000" kern="0" dirty="0">
                <a:latin typeface="Arial" panose="020B0604020202020204" pitchFamily="34" charset="0"/>
                <a:cs typeface="Arial" panose="020B0604020202020204" pitchFamily="34" charset="0"/>
              </a:rPr>
              <a:t>）：</a:t>
            </a:r>
            <a:r>
              <a:rPr lang="nb-NO" altLang="zh-CN" sz="2000" dirty="0">
                <a:solidFill>
                  <a:srgbClr val="0000CC"/>
                </a:solidFill>
                <a:latin typeface="Arial" panose="020B0604020202020204" pitchFamily="34" charset="0"/>
                <a:cs typeface="Arial" panose="020B0604020202020204" pitchFamily="34" charset="0"/>
              </a:rPr>
              <a:t>User Flag 1 </a:t>
            </a:r>
            <a:r>
              <a:rPr lang="en-GB" altLang="zh-CN" sz="2000" dirty="0">
                <a:solidFill>
                  <a:srgbClr val="0000CC"/>
                </a:solidFill>
                <a:latin typeface="Arial" panose="020B0604020202020204" pitchFamily="34" charset="0"/>
                <a:cs typeface="Arial" panose="020B0604020202020204" pitchFamily="34" charset="0"/>
              </a:rPr>
              <a:t>(</a:t>
            </a:r>
            <a:r>
              <a:rPr lang="en-US" altLang="zh-CN" sz="2000" dirty="0">
                <a:solidFill>
                  <a:srgbClr val="FF0000"/>
                </a:solidFill>
                <a:latin typeface="Arial" panose="020B0604020202020204" pitchFamily="34" charset="0"/>
                <a:cs typeface="Arial" panose="020B0604020202020204" pitchFamily="34" charset="0"/>
              </a:rPr>
              <a:t>F1</a:t>
            </a:r>
            <a:r>
              <a:rPr lang="en-GB" altLang="zh-CN" sz="2000" dirty="0">
                <a:solidFill>
                  <a:srgbClr val="0000CC"/>
                </a:solidFill>
                <a:latin typeface="Arial" panose="020B0604020202020204" pitchFamily="34" charset="0"/>
                <a:cs typeface="Arial" panose="020B0604020202020204" pitchFamily="34" charset="0"/>
              </a:rPr>
              <a:t>) </a:t>
            </a:r>
            <a:r>
              <a:rPr lang="en-US" altLang="zh-CN" sz="2000" dirty="0">
                <a:solidFill>
                  <a:srgbClr val="0000CC"/>
                </a:solidFill>
                <a:latin typeface="Arial" panose="020B0604020202020204" pitchFamily="34" charset="0"/>
                <a:cs typeface="Arial" panose="020B0604020202020204" pitchFamily="34" charset="0"/>
              </a:rPr>
              <a:t>.</a:t>
            </a:r>
            <a:endParaRPr lang="zh-CN" altLang="en-GB" sz="2000" dirty="0">
              <a:solidFill>
                <a:srgbClr val="0000CC"/>
              </a:solidFill>
              <a:latin typeface="Arial" panose="020B0604020202020204" pitchFamily="34" charset="0"/>
              <a:cs typeface="Arial" panose="020B0604020202020204" pitchFamily="34" charset="0"/>
            </a:endParaRPr>
          </a:p>
          <a:p>
            <a:pPr eaLnBrk="1" hangingPunct="1">
              <a:lnSpc>
                <a:spcPct val="100000"/>
              </a:lnSpc>
              <a:spcBef>
                <a:spcPts val="0"/>
              </a:spcBef>
              <a:buFontTx/>
              <a:buNone/>
              <a:defRPr/>
            </a:pPr>
            <a:r>
              <a:rPr lang="zh-CN" altLang="en-GB" sz="2000" kern="0" dirty="0">
                <a:solidFill>
                  <a:schemeClr val="tx1"/>
                </a:solidFill>
                <a:latin typeface="Arial" panose="020B0604020202020204" pitchFamily="34" charset="0"/>
                <a:cs typeface="Arial" panose="020B0604020202020204" pitchFamily="34" charset="0"/>
              </a:rPr>
              <a:t>    </a:t>
            </a:r>
            <a:r>
              <a:rPr lang="en-US" altLang="zh-CN" sz="2000" kern="0" dirty="0">
                <a:solidFill>
                  <a:srgbClr val="FF0000"/>
                </a:solidFill>
                <a:latin typeface="Arial" panose="020B0604020202020204" pitchFamily="34" charset="0"/>
                <a:cs typeface="Arial" panose="020B0604020202020204" pitchFamily="34" charset="0"/>
              </a:rPr>
              <a:t>is a user-defined status flag. </a:t>
            </a:r>
            <a:r>
              <a:rPr lang="en-US" altLang="zh-CN" sz="2000" kern="0" dirty="0">
                <a:solidFill>
                  <a:schemeClr val="tx1"/>
                </a:solidFill>
                <a:latin typeface="Arial" panose="020B0604020202020204" pitchFamily="34" charset="0"/>
                <a:cs typeface="Arial" panose="020B0604020202020204" pitchFamily="34" charset="0"/>
              </a:rPr>
              <a:t>It can be set to </a:t>
            </a:r>
            <a:r>
              <a:rPr lang="en-US" altLang="zh-CN" sz="2000" kern="0" dirty="0">
                <a:latin typeface="Arial" panose="020B0604020202020204" pitchFamily="34" charset="0"/>
                <a:cs typeface="Arial" panose="020B0604020202020204" pitchFamily="34" charset="0"/>
              </a:rPr>
              <a:t>“</a:t>
            </a:r>
            <a:r>
              <a:rPr lang="en-US" altLang="zh-CN" sz="2000" kern="0" dirty="0">
                <a:solidFill>
                  <a:schemeClr val="tx1"/>
                </a:solidFill>
                <a:latin typeface="Arial" panose="020B0604020202020204" pitchFamily="34" charset="0"/>
                <a:cs typeface="Arial" panose="020B0604020202020204" pitchFamily="34" charset="0"/>
              </a:rPr>
              <a:t>1</a:t>
            </a:r>
            <a:r>
              <a:rPr lang="en-US" altLang="zh-CN" sz="2000" kern="0" dirty="0">
                <a:latin typeface="Arial" panose="020B0604020202020204" pitchFamily="34" charset="0"/>
                <a:cs typeface="Arial" panose="020B0604020202020204" pitchFamily="34" charset="0"/>
              </a:rPr>
              <a:t>”</a:t>
            </a:r>
            <a:r>
              <a:rPr lang="en-US" altLang="zh-CN" sz="2000" kern="0" dirty="0">
                <a:solidFill>
                  <a:schemeClr val="tx1"/>
                </a:solidFill>
                <a:latin typeface="Arial" panose="020B0604020202020204" pitchFamily="34" charset="0"/>
                <a:cs typeface="Arial" panose="020B0604020202020204" pitchFamily="34" charset="0"/>
              </a:rPr>
              <a:t> or cleared to </a:t>
            </a:r>
            <a:r>
              <a:rPr lang="en-US" altLang="zh-CN" sz="2000" kern="0" dirty="0">
                <a:latin typeface="Arial" panose="020B0604020202020204" pitchFamily="34" charset="0"/>
                <a:cs typeface="Arial" panose="020B0604020202020204" pitchFamily="34" charset="0"/>
              </a:rPr>
              <a:t>“</a:t>
            </a:r>
            <a:r>
              <a:rPr lang="en-US" altLang="zh-CN" sz="2000" kern="0" dirty="0">
                <a:solidFill>
                  <a:schemeClr val="tx1"/>
                </a:solidFill>
                <a:latin typeface="Arial" panose="020B0604020202020204" pitchFamily="34" charset="0"/>
                <a:cs typeface="Arial" panose="020B0604020202020204" pitchFamily="34" charset="0"/>
              </a:rPr>
              <a:t>0</a:t>
            </a:r>
            <a:r>
              <a:rPr lang="en-US" altLang="zh-CN" sz="2000" kern="0" dirty="0">
                <a:latin typeface="Arial" panose="020B0604020202020204" pitchFamily="34" charset="0"/>
                <a:cs typeface="Arial" panose="020B0604020202020204" pitchFamily="34" charset="0"/>
              </a:rPr>
              <a:t>”</a:t>
            </a:r>
            <a:r>
              <a:rPr lang="en-US" altLang="zh-CN" sz="2000" kern="0" dirty="0">
                <a:solidFill>
                  <a:schemeClr val="tx1"/>
                </a:solidFill>
                <a:latin typeface="Arial" panose="020B0604020202020204" pitchFamily="34" charset="0"/>
                <a:cs typeface="Arial" panose="020B0604020202020204" pitchFamily="34" charset="0"/>
              </a:rPr>
              <a:t> via software, and software can also test F1 to control program flow.</a:t>
            </a:r>
            <a:endParaRPr lang="zh-CN" altLang="en-US" sz="2000" kern="0" dirty="0">
              <a:solidFill>
                <a:schemeClr val="tx1"/>
              </a:solidFill>
              <a:latin typeface="Arial" panose="020B0604020202020204" pitchFamily="34" charset="0"/>
              <a:cs typeface="Arial" panose="020B0604020202020204" pitchFamily="34" charset="0"/>
            </a:endParaRPr>
          </a:p>
        </p:txBody>
      </p:sp>
      <p:sp>
        <p:nvSpPr>
          <p:cNvPr id="3" name="灯片编号占位符 2"/>
          <p:cNvSpPr>
            <a:spLocks noGrp="1"/>
          </p:cNvSpPr>
          <p:nvPr>
            <p:ph type="sldNum" sz="quarter" idx="12"/>
          </p:nvPr>
        </p:nvSpPr>
        <p:spPr/>
        <p:txBody>
          <a:bodyPr/>
          <a:lstStyle/>
          <a:p>
            <a:fld id="{22E77DEE-32E4-4009-988B-F2758F7B8AC2}" type="slidenum">
              <a:rPr lang="zh-CN" altLang="en-US" smtClean="0"/>
              <a:t>26</a:t>
            </a:fld>
            <a:endParaRPr lang="zh-CN" altLang="en-US"/>
          </a:p>
        </p:txBody>
      </p:sp>
      <p:sp>
        <p:nvSpPr>
          <p:cNvPr id="7" name="矩形 6"/>
          <p:cNvSpPr>
            <a:spLocks noChangeArrowheads="1"/>
          </p:cNvSpPr>
          <p:nvPr/>
        </p:nvSpPr>
        <p:spPr bwMode="auto">
          <a:xfrm>
            <a:off x="2512218" y="1862333"/>
            <a:ext cx="7048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FF0000"/>
                </a:solidFill>
                <a:cs typeface="Times New Roman" panose="02020603050405020304" pitchFamily="18" charset="0"/>
              </a:rPr>
              <a:t>A</a:t>
            </a:r>
            <a:r>
              <a:rPr lang="en-GB" altLang="zh-CN" sz="2800" b="1" dirty="0">
                <a:solidFill>
                  <a:srgbClr val="FF0000"/>
                </a:solidFill>
                <a:cs typeface="Times New Roman" panose="02020603050405020304" pitchFamily="18" charset="0"/>
              </a:rPr>
              <a:t>C</a:t>
            </a:r>
          </a:p>
        </p:txBody>
      </p:sp>
      <p:sp>
        <p:nvSpPr>
          <p:cNvPr id="9" name="矩形 8"/>
          <p:cNvSpPr>
            <a:spLocks noChangeArrowheads="1"/>
          </p:cNvSpPr>
          <p:nvPr/>
        </p:nvSpPr>
        <p:spPr bwMode="auto">
          <a:xfrm>
            <a:off x="3458368" y="1848045"/>
            <a:ext cx="5842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FF0000"/>
                </a:solidFill>
                <a:cs typeface="Times New Roman" panose="02020603050405020304" pitchFamily="18" charset="0"/>
              </a:rPr>
              <a:t>F0</a:t>
            </a:r>
            <a:endParaRPr lang="en-GB" altLang="zh-CN" sz="2800" b="1">
              <a:solidFill>
                <a:srgbClr val="FF0000"/>
              </a:solidFill>
              <a:cs typeface="Times New Roman" panose="02020603050405020304" pitchFamily="18" charset="0"/>
            </a:endParaRPr>
          </a:p>
        </p:txBody>
      </p:sp>
      <p:sp>
        <p:nvSpPr>
          <p:cNvPr id="10" name="矩形 9"/>
          <p:cNvSpPr>
            <a:spLocks noChangeArrowheads="1"/>
          </p:cNvSpPr>
          <p:nvPr/>
        </p:nvSpPr>
        <p:spPr bwMode="auto">
          <a:xfrm>
            <a:off x="7028655" y="1848045"/>
            <a:ext cx="5842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FF0000"/>
                </a:solidFill>
                <a:cs typeface="Times New Roman" panose="02020603050405020304" pitchFamily="18" charset="0"/>
              </a:rPr>
              <a:t>F1</a:t>
            </a:r>
            <a:endParaRPr lang="en-GB" altLang="zh-CN" sz="2800" b="1">
              <a:solidFill>
                <a:srgbClr val="FF0000"/>
              </a:solidFill>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2"/>
          <p:cNvSpPr>
            <a:spLocks noGrp="1" noChangeArrowheads="1"/>
          </p:cNvSpPr>
          <p:nvPr>
            <p:ph type="title"/>
          </p:nvPr>
        </p:nvSpPr>
        <p:spPr>
          <a:xfrm>
            <a:off x="596106" y="488385"/>
            <a:ext cx="8229600" cy="504825"/>
          </a:xfrm>
        </p:spPr>
        <p:txBody>
          <a:bodyPr>
            <a:noAutofit/>
          </a:bodyPr>
          <a:lstStyle/>
          <a:p>
            <a:pPr eaLnBrk="1" hangingPunct="1"/>
            <a:r>
              <a:rPr lang="en-US" altLang="zh-CN" sz="3600" dirty="0">
                <a:latin typeface="Arial" panose="020B0604020202020204" pitchFamily="34" charset="0"/>
                <a:cs typeface="Arial" panose="020B0604020202020204" pitchFamily="34" charset="0"/>
              </a:rPr>
              <a:t>Program </a:t>
            </a:r>
            <a:r>
              <a:rPr lang="en-US" altLang="zh-CN" sz="3600" dirty="0">
                <a:solidFill>
                  <a:srgbClr val="C00000"/>
                </a:solidFill>
                <a:latin typeface="Arial" panose="020B0604020202020204" pitchFamily="34" charset="0"/>
                <a:cs typeface="Arial" panose="020B0604020202020204" pitchFamily="34" charset="0"/>
              </a:rPr>
              <a:t>Status Word (PSW) (8 bits)</a:t>
            </a:r>
            <a:endParaRPr lang="zh-CN" altLang="en-US" sz="3600" dirty="0">
              <a:solidFill>
                <a:srgbClr val="C00000"/>
              </a:solidFill>
              <a:latin typeface="Arial" panose="020B0604020202020204" pitchFamily="34" charset="0"/>
              <a:cs typeface="Arial" panose="020B0604020202020204" pitchFamily="34" charset="0"/>
            </a:endParaRPr>
          </a:p>
        </p:txBody>
      </p:sp>
      <p:sp>
        <p:nvSpPr>
          <p:cNvPr id="460803" name="Rectangle 3"/>
          <p:cNvSpPr>
            <a:spLocks noGrp="1" noChangeArrowheads="1"/>
          </p:cNvSpPr>
          <p:nvPr>
            <p:ph idx="1"/>
          </p:nvPr>
        </p:nvSpPr>
        <p:spPr>
          <a:xfrm>
            <a:off x="596106" y="2537494"/>
            <a:ext cx="7897813" cy="1425575"/>
          </a:xfrm>
        </p:spPr>
        <p:txBody>
          <a:bodyPr>
            <a:normAutofit fontScale="92500"/>
          </a:bodyPr>
          <a:lstStyle/>
          <a:p>
            <a:pPr marL="262255" indent="-262255" eaLnBrk="1" hangingPunct="1">
              <a:lnSpc>
                <a:spcPct val="90000"/>
              </a:lnSpc>
            </a:pPr>
            <a:r>
              <a:rPr lang="en-GB" altLang="zh-CN" dirty="0">
                <a:solidFill>
                  <a:srgbClr val="FF0000"/>
                </a:solidFill>
                <a:latin typeface="Arial" panose="020B0604020202020204" pitchFamily="34" charset="0"/>
                <a:cs typeface="Arial" panose="020B0604020202020204" pitchFamily="34" charset="0"/>
              </a:rPr>
              <a:t>RS1</a:t>
            </a:r>
            <a:r>
              <a:rPr lang="en-US" altLang="zh-CN" dirty="0">
                <a:solidFill>
                  <a:srgbClr val="FF0000"/>
                </a:solidFill>
                <a:latin typeface="Arial" panose="020B0604020202020204" pitchFamily="34" charset="0"/>
                <a:cs typeface="Arial" panose="020B0604020202020204" pitchFamily="34" charset="0"/>
              </a:rPr>
              <a:t>,</a:t>
            </a:r>
            <a:r>
              <a:rPr lang="en-GB" altLang="zh-CN" dirty="0">
                <a:solidFill>
                  <a:srgbClr val="FF0000"/>
                </a:solidFill>
                <a:latin typeface="Arial" panose="020B0604020202020204" pitchFamily="34" charset="0"/>
                <a:cs typeface="Arial" panose="020B0604020202020204" pitchFamily="34" charset="0"/>
              </a:rPr>
              <a:t>RS0</a:t>
            </a:r>
            <a:r>
              <a:rPr lang="zh-CN" altLang="en-GB" dirty="0">
                <a:latin typeface="Arial" panose="020B0604020202020204" pitchFamily="34" charset="0"/>
                <a:cs typeface="Arial" panose="020B0604020202020204" pitchFamily="34" charset="0"/>
              </a:rPr>
              <a:t>（</a:t>
            </a:r>
            <a:r>
              <a:rPr lang="en-GB" altLang="zh-CN" dirty="0">
                <a:solidFill>
                  <a:srgbClr val="FF0000"/>
                </a:solidFill>
                <a:latin typeface="Arial" panose="020B0604020202020204" pitchFamily="34" charset="0"/>
                <a:cs typeface="Arial" panose="020B0604020202020204" pitchFamily="34" charset="0"/>
              </a:rPr>
              <a:t>PSW.4</a:t>
            </a:r>
            <a:r>
              <a:rPr lang="zh-CN" altLang="en-GB" dirty="0">
                <a:solidFill>
                  <a:srgbClr val="FF0000"/>
                </a:solidFill>
                <a:latin typeface="Arial" panose="020B0604020202020204" pitchFamily="34" charset="0"/>
                <a:cs typeface="Arial" panose="020B0604020202020204" pitchFamily="34" charset="0"/>
              </a:rPr>
              <a:t>～</a:t>
            </a:r>
            <a:r>
              <a:rPr lang="en-GB" altLang="zh-CN" dirty="0">
                <a:solidFill>
                  <a:srgbClr val="FF0000"/>
                </a:solidFill>
                <a:latin typeface="Arial" panose="020B0604020202020204" pitchFamily="34" charset="0"/>
                <a:cs typeface="Arial" panose="020B0604020202020204" pitchFamily="34" charset="0"/>
              </a:rPr>
              <a:t>PSW.3</a:t>
            </a:r>
            <a:r>
              <a:rPr lang="zh-CN" altLang="en-GB" dirty="0">
                <a:latin typeface="Arial" panose="020B0604020202020204" pitchFamily="34" charset="0"/>
                <a:cs typeface="Arial" panose="020B0604020202020204" pitchFamily="34" charset="0"/>
              </a:rPr>
              <a:t>）：</a:t>
            </a:r>
            <a:r>
              <a:rPr lang="en-US" altLang="zh-CN" dirty="0">
                <a:solidFill>
                  <a:srgbClr val="0000CC"/>
                </a:solidFill>
                <a:latin typeface="Arial" panose="020B0604020202020204" pitchFamily="34" charset="0"/>
                <a:cs typeface="Arial" panose="020B0604020202020204" pitchFamily="34" charset="0"/>
              </a:rPr>
              <a:t>Work register group selection control bit</a:t>
            </a:r>
            <a:r>
              <a:rPr lang="en-US" altLang="zh-CN" dirty="0">
                <a:solidFill>
                  <a:schemeClr val="tx1"/>
                </a:solidFill>
                <a:latin typeface="Arial" panose="020B0604020202020204" pitchFamily="34" charset="0"/>
                <a:cs typeface="Arial" panose="020B0604020202020204" pitchFamily="34" charset="0"/>
              </a:rPr>
              <a:t>`</a:t>
            </a:r>
            <a:r>
              <a:rPr lang="en-US" altLang="zh-CN" dirty="0">
                <a:solidFill>
                  <a:srgbClr val="0000CC"/>
                </a:solidFill>
                <a:latin typeface="Arial" panose="020B0604020202020204" pitchFamily="34" charset="0"/>
                <a:cs typeface="Arial" panose="020B0604020202020204" pitchFamily="34" charset="0"/>
              </a:rPr>
              <a:t> </a:t>
            </a:r>
            <a:r>
              <a:rPr lang="en-US" altLang="zh-CN" dirty="0">
                <a:solidFill>
                  <a:schemeClr val="tx1"/>
                </a:solidFill>
                <a:latin typeface="Arial" panose="020B0604020202020204" pitchFamily="34" charset="0"/>
                <a:cs typeface="Arial" panose="020B0604020202020204" pitchFamily="34" charset="0"/>
                <a:hlinkClick r:id="" action="ppaction://noaction"/>
              </a:rPr>
              <a:t>follow</a:t>
            </a:r>
            <a:r>
              <a:rPr lang="zh-CN" altLang="en-GB" dirty="0">
                <a:solidFill>
                  <a:schemeClr val="tx1"/>
                </a:solidFill>
                <a:latin typeface="Arial" panose="020B0604020202020204" pitchFamily="34" charset="0"/>
                <a:cs typeface="Arial" panose="020B0604020202020204" pitchFamily="34" charset="0"/>
              </a:rPr>
              <a:t>。</a:t>
            </a:r>
          </a:p>
          <a:p>
            <a:pPr marL="262255" indent="-262255" eaLnBrk="1" hangingPunct="1">
              <a:lnSpc>
                <a:spcPct val="90000"/>
              </a:lnSpc>
            </a:pPr>
            <a:r>
              <a:rPr lang="en-GB" altLang="zh-CN" dirty="0">
                <a:solidFill>
                  <a:srgbClr val="FF0000"/>
                </a:solidFill>
                <a:latin typeface="Arial" panose="020B0604020202020204" pitchFamily="34" charset="0"/>
                <a:cs typeface="Arial" panose="020B0604020202020204" pitchFamily="34" charset="0"/>
              </a:rPr>
              <a:t>OV</a:t>
            </a:r>
            <a:r>
              <a:rPr lang="zh-CN" altLang="en-GB" dirty="0">
                <a:latin typeface="Arial" panose="020B0604020202020204" pitchFamily="34" charset="0"/>
                <a:cs typeface="Arial" panose="020B0604020202020204" pitchFamily="34" charset="0"/>
              </a:rPr>
              <a:t>（</a:t>
            </a:r>
            <a:r>
              <a:rPr lang="en-GB" altLang="zh-CN" dirty="0">
                <a:solidFill>
                  <a:srgbClr val="FF0000"/>
                </a:solidFill>
                <a:latin typeface="Arial" panose="020B0604020202020204" pitchFamily="34" charset="0"/>
                <a:cs typeface="Arial" panose="020B0604020202020204" pitchFamily="34" charset="0"/>
              </a:rPr>
              <a:t>PSW.2</a:t>
            </a:r>
            <a:r>
              <a:rPr lang="zh-CN" altLang="en-GB" dirty="0">
                <a:latin typeface="Arial" panose="020B0604020202020204" pitchFamily="34" charset="0"/>
                <a:cs typeface="Arial" panose="020B0604020202020204" pitchFamily="34" charset="0"/>
              </a:rPr>
              <a:t>）：</a:t>
            </a:r>
            <a:r>
              <a:rPr lang="en-US" altLang="zh-CN" dirty="0">
                <a:solidFill>
                  <a:srgbClr val="0000CC"/>
                </a:solidFill>
                <a:latin typeface="Arial" panose="020B0604020202020204" pitchFamily="34" charset="0"/>
                <a:cs typeface="Arial" panose="020B0604020202020204" pitchFamily="34" charset="0"/>
              </a:rPr>
              <a:t>Overflow flag. </a:t>
            </a:r>
            <a:r>
              <a:rPr lang="en-US" altLang="zh-CN" dirty="0">
                <a:solidFill>
                  <a:schemeClr val="tx1"/>
                </a:solidFill>
                <a:latin typeface="Arial" panose="020B0604020202020204" pitchFamily="34" charset="0"/>
                <a:cs typeface="Arial" panose="020B0604020202020204" pitchFamily="34" charset="0"/>
              </a:rPr>
              <a:t>Indicates whether an overflow occurred during an operation; it is automatically set during instruction execution.</a:t>
            </a:r>
            <a:endParaRPr lang="zh-CN" altLang="en-US" dirty="0">
              <a:solidFill>
                <a:schemeClr val="tx1"/>
              </a:solidFill>
              <a:latin typeface="Arial" panose="020B0604020202020204" pitchFamily="34" charset="0"/>
              <a:cs typeface="Arial" panose="020B0604020202020204" pitchFamily="34" charset="0"/>
            </a:endParaRPr>
          </a:p>
        </p:txBody>
      </p:sp>
      <p:graphicFrame>
        <p:nvGraphicFramePr>
          <p:cNvPr id="8" name="Group 4"/>
          <p:cNvGraphicFramePr>
            <a:graphicFrameLocks noGrp="1"/>
          </p:cNvGraphicFramePr>
          <p:nvPr/>
        </p:nvGraphicFramePr>
        <p:xfrm>
          <a:off x="731838" y="1298996"/>
          <a:ext cx="7821613" cy="1097467"/>
        </p:xfrm>
        <a:graphic>
          <a:graphicData uri="http://schemas.openxmlformats.org/drawingml/2006/table">
            <a:tbl>
              <a:tblPr/>
              <a:tblGrid>
                <a:gridCol w="922338">
                  <a:extLst>
                    <a:ext uri="{9D8B030D-6E8A-4147-A177-3AD203B41FA5}">
                      <a16:colId xmlns:a16="http://schemas.microsoft.com/office/drawing/2014/main" val="20000"/>
                    </a:ext>
                  </a:extLst>
                </a:gridCol>
                <a:gridCol w="858837">
                  <a:extLst>
                    <a:ext uri="{9D8B030D-6E8A-4147-A177-3AD203B41FA5}">
                      <a16:colId xmlns:a16="http://schemas.microsoft.com/office/drawing/2014/main" val="20001"/>
                    </a:ext>
                  </a:extLst>
                </a:gridCol>
                <a:gridCol w="868363">
                  <a:extLst>
                    <a:ext uri="{9D8B030D-6E8A-4147-A177-3AD203B41FA5}">
                      <a16:colId xmlns:a16="http://schemas.microsoft.com/office/drawing/2014/main" val="20002"/>
                    </a:ext>
                  </a:extLst>
                </a:gridCol>
                <a:gridCol w="892175">
                  <a:extLst>
                    <a:ext uri="{9D8B030D-6E8A-4147-A177-3AD203B41FA5}">
                      <a16:colId xmlns:a16="http://schemas.microsoft.com/office/drawing/2014/main" val="20003"/>
                    </a:ext>
                  </a:extLst>
                </a:gridCol>
                <a:gridCol w="893762">
                  <a:extLst>
                    <a:ext uri="{9D8B030D-6E8A-4147-A177-3AD203B41FA5}">
                      <a16:colId xmlns:a16="http://schemas.microsoft.com/office/drawing/2014/main" val="20004"/>
                    </a:ext>
                  </a:extLst>
                </a:gridCol>
                <a:gridCol w="895350">
                  <a:extLst>
                    <a:ext uri="{9D8B030D-6E8A-4147-A177-3AD203B41FA5}">
                      <a16:colId xmlns:a16="http://schemas.microsoft.com/office/drawing/2014/main" val="20005"/>
                    </a:ext>
                  </a:extLst>
                </a:gridCol>
                <a:gridCol w="892175">
                  <a:extLst>
                    <a:ext uri="{9D8B030D-6E8A-4147-A177-3AD203B41FA5}">
                      <a16:colId xmlns:a16="http://schemas.microsoft.com/office/drawing/2014/main" val="20006"/>
                    </a:ext>
                  </a:extLst>
                </a:gridCol>
                <a:gridCol w="893763">
                  <a:extLst>
                    <a:ext uri="{9D8B030D-6E8A-4147-A177-3AD203B41FA5}">
                      <a16:colId xmlns:a16="http://schemas.microsoft.com/office/drawing/2014/main" val="20007"/>
                    </a:ext>
                  </a:extLst>
                </a:gridCol>
                <a:gridCol w="704850">
                  <a:extLst>
                    <a:ext uri="{9D8B030D-6E8A-4147-A177-3AD203B41FA5}">
                      <a16:colId xmlns:a16="http://schemas.microsoft.com/office/drawing/2014/main" val="20008"/>
                    </a:ext>
                  </a:extLst>
                </a:gridCol>
              </a:tblGrid>
              <a:tr h="518319">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Pin number</a:t>
                      </a:r>
                      <a:endParaRPr kumimoji="0" lang="zh-CN" altLang="en-GB"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D7</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D6</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D5</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D4</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D3</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D2</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D1</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D0</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319">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Symbol</a:t>
                      </a:r>
                      <a:endParaRPr kumimoji="0" lang="zh-CN" altLang="en-GB"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CY</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kern="1200"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AC</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F0</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RS1</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RS0</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OV</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F1</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9" name="矩形 8"/>
          <p:cNvSpPr>
            <a:spLocks noChangeArrowheads="1"/>
          </p:cNvSpPr>
          <p:nvPr/>
        </p:nvSpPr>
        <p:spPr bwMode="auto">
          <a:xfrm>
            <a:off x="4308475" y="1868600"/>
            <a:ext cx="8239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FF0000"/>
                </a:solidFill>
                <a:cs typeface="Times New Roman" panose="02020603050405020304" pitchFamily="18" charset="0"/>
              </a:rPr>
              <a:t>RS1</a:t>
            </a:r>
            <a:endParaRPr lang="en-GB" altLang="zh-CN" sz="2800" b="1" dirty="0">
              <a:solidFill>
                <a:srgbClr val="FF0000"/>
              </a:solidFill>
              <a:cs typeface="Times New Roman" panose="02020603050405020304" pitchFamily="18" charset="0"/>
            </a:endParaRPr>
          </a:p>
        </p:txBody>
      </p:sp>
      <p:sp>
        <p:nvSpPr>
          <p:cNvPr id="10" name="矩形 9"/>
          <p:cNvSpPr>
            <a:spLocks noChangeArrowheads="1"/>
          </p:cNvSpPr>
          <p:nvPr/>
        </p:nvSpPr>
        <p:spPr bwMode="auto">
          <a:xfrm>
            <a:off x="5194300" y="1873232"/>
            <a:ext cx="8239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FF0000"/>
                </a:solidFill>
                <a:cs typeface="Times New Roman" panose="02020603050405020304" pitchFamily="18" charset="0"/>
              </a:rPr>
              <a:t>RS0</a:t>
            </a:r>
            <a:endParaRPr lang="en-GB" altLang="zh-CN" sz="2800" b="1" dirty="0">
              <a:solidFill>
                <a:srgbClr val="FF0000"/>
              </a:solidFill>
              <a:cs typeface="Times New Roman" panose="02020603050405020304" pitchFamily="18" charset="0"/>
            </a:endParaRPr>
          </a:p>
        </p:txBody>
      </p:sp>
      <p:sp>
        <p:nvSpPr>
          <p:cNvPr id="11" name="矩形 10"/>
          <p:cNvSpPr>
            <a:spLocks noChangeArrowheads="1"/>
          </p:cNvSpPr>
          <p:nvPr/>
        </p:nvSpPr>
        <p:spPr bwMode="auto">
          <a:xfrm>
            <a:off x="6159500" y="1878037"/>
            <a:ext cx="722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FF0000"/>
                </a:solidFill>
                <a:cs typeface="Times New Roman" panose="02020603050405020304" pitchFamily="18" charset="0"/>
              </a:rPr>
              <a:t>OV</a:t>
            </a:r>
            <a:endParaRPr lang="en-GB" altLang="zh-CN" sz="2800" b="1" dirty="0">
              <a:solidFill>
                <a:srgbClr val="FF0000"/>
              </a:solidFill>
              <a:cs typeface="Times New Roman" panose="02020603050405020304" pitchFamily="18" charset="0"/>
            </a:endParaRPr>
          </a:p>
        </p:txBody>
      </p:sp>
      <p:sp>
        <p:nvSpPr>
          <p:cNvPr id="12" name="Rectangle 3"/>
          <p:cNvSpPr txBox="1">
            <a:spLocks noChangeArrowheads="1"/>
          </p:cNvSpPr>
          <p:nvPr/>
        </p:nvSpPr>
        <p:spPr bwMode="auto">
          <a:xfrm>
            <a:off x="731838" y="4001770"/>
            <a:ext cx="7825422" cy="221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2255" indent="-262255" eaLnBrk="1" hangingPunct="1">
              <a:spcBef>
                <a:spcPts val="0"/>
              </a:spcBef>
              <a:defRPr/>
            </a:pPr>
            <a:r>
              <a:rPr lang="en-GB" altLang="zh-CN" sz="2000" dirty="0">
                <a:solidFill>
                  <a:srgbClr val="FF0000"/>
                </a:solidFill>
                <a:latin typeface="Arial" panose="020B0604020202020204" pitchFamily="34" charset="0"/>
                <a:cs typeface="Arial" panose="020B0604020202020204" pitchFamily="34" charset="0"/>
              </a:rPr>
              <a:t>P</a:t>
            </a:r>
            <a:r>
              <a:rPr lang="zh-CN" altLang="en-GB" sz="2000" kern="0" dirty="0">
                <a:latin typeface="Arial" panose="020B0604020202020204" pitchFamily="34" charset="0"/>
                <a:cs typeface="Arial" panose="020B0604020202020204" pitchFamily="34" charset="0"/>
              </a:rPr>
              <a:t>（</a:t>
            </a:r>
            <a:r>
              <a:rPr lang="en-GB" altLang="zh-CN" sz="2000" dirty="0">
                <a:solidFill>
                  <a:srgbClr val="FF0000"/>
                </a:solidFill>
                <a:latin typeface="Arial" panose="020B0604020202020204" pitchFamily="34" charset="0"/>
                <a:cs typeface="Arial" panose="020B0604020202020204" pitchFamily="34" charset="0"/>
              </a:rPr>
              <a:t>PSW.0</a:t>
            </a:r>
            <a:r>
              <a:rPr lang="zh-CN" altLang="en-GB" sz="2000" kern="0" dirty="0">
                <a:latin typeface="Arial" panose="020B0604020202020204" pitchFamily="34" charset="0"/>
                <a:cs typeface="Arial" panose="020B0604020202020204" pitchFamily="34" charset="0"/>
              </a:rPr>
              <a:t>）：</a:t>
            </a:r>
            <a:r>
              <a:rPr lang="en-US" altLang="zh-CN" sz="2000" dirty="0">
                <a:solidFill>
                  <a:srgbClr val="0000CC"/>
                </a:solidFill>
                <a:latin typeface="Arial" panose="020B0604020202020204" pitchFamily="34" charset="0"/>
                <a:cs typeface="Arial" panose="020B0604020202020204" pitchFamily="34" charset="0"/>
              </a:rPr>
              <a:t>Parity bit</a:t>
            </a:r>
            <a:endParaRPr lang="zh-CN" altLang="en-GB" sz="2000" dirty="0">
              <a:solidFill>
                <a:srgbClr val="0000CC"/>
              </a:solidFill>
              <a:latin typeface="Arial" panose="020B0604020202020204" pitchFamily="34" charset="0"/>
              <a:cs typeface="Arial" panose="020B0604020202020204" pitchFamily="34" charset="0"/>
            </a:endParaRPr>
          </a:p>
          <a:p>
            <a:pPr eaLnBrk="1" hangingPunct="1">
              <a:spcBef>
                <a:spcPts val="0"/>
              </a:spcBef>
              <a:buFont typeface="Wingdings" panose="05000000000000000000" pitchFamily="2" charset="2"/>
              <a:buChar char="Ø"/>
              <a:defRPr/>
            </a:pPr>
            <a:r>
              <a:rPr lang="en-US" altLang="zh-CN" sz="2000" kern="0" dirty="0">
                <a:solidFill>
                  <a:srgbClr val="FF0000"/>
                </a:solidFill>
                <a:latin typeface="Arial" panose="020B0604020202020204" pitchFamily="34" charset="0"/>
                <a:cs typeface="Arial" panose="020B0604020202020204" pitchFamily="34" charset="0"/>
              </a:rPr>
              <a:t>The number of 1s in the</a:t>
            </a:r>
            <a:r>
              <a:rPr lang="en-US" altLang="zh-CN" sz="2000" kern="0" dirty="0">
                <a:latin typeface="Arial" panose="020B0604020202020204" pitchFamily="34" charset="0"/>
                <a:cs typeface="Arial" panose="020B0604020202020204" pitchFamily="34" charset="0"/>
              </a:rPr>
              <a:t> accumulator </a:t>
            </a:r>
            <a:r>
              <a:rPr lang="en-US" altLang="zh-CN" sz="2000" kern="0" dirty="0">
                <a:solidFill>
                  <a:srgbClr val="FF0000"/>
                </a:solidFill>
                <a:latin typeface="Arial" panose="020B0604020202020204" pitchFamily="34" charset="0"/>
                <a:cs typeface="Arial" panose="020B0604020202020204" pitchFamily="34" charset="0"/>
              </a:rPr>
              <a:t>ACC is even</a:t>
            </a:r>
            <a:r>
              <a:rPr lang="en-US" altLang="zh-CN" sz="2000" kern="0" dirty="0">
                <a:latin typeface="Arial" panose="020B0604020202020204" pitchFamily="34" charset="0"/>
                <a:cs typeface="Arial" panose="020B0604020202020204" pitchFamily="34" charset="0"/>
              </a:rPr>
              <a:t>, </a:t>
            </a:r>
            <a:r>
              <a:rPr lang="en-US" altLang="zh-CN" sz="2000" kern="0" dirty="0">
                <a:solidFill>
                  <a:srgbClr val="FF0000"/>
                </a:solidFill>
                <a:latin typeface="Arial" panose="020B0604020202020204" pitchFamily="34" charset="0"/>
                <a:cs typeface="Arial" panose="020B0604020202020204" pitchFamily="34" charset="0"/>
              </a:rPr>
              <a:t>P=0</a:t>
            </a:r>
            <a:r>
              <a:rPr lang="en-US" altLang="zh-CN" sz="2000" kern="0" dirty="0">
                <a:latin typeface="Arial" panose="020B0604020202020204" pitchFamily="34" charset="0"/>
                <a:cs typeface="Arial" panose="020B0604020202020204" pitchFamily="34" charset="0"/>
              </a:rPr>
              <a:t>; otherwise P=1. Each instruction cycle is set to “1” or cleared to “0” by hardware.</a:t>
            </a:r>
          </a:p>
          <a:p>
            <a:pPr eaLnBrk="1" hangingPunct="1">
              <a:spcBef>
                <a:spcPts val="0"/>
              </a:spcBef>
              <a:buFont typeface="Wingdings" panose="05000000000000000000" pitchFamily="2" charset="2"/>
              <a:buChar char="Ø"/>
              <a:defRPr/>
            </a:pPr>
            <a:r>
              <a:rPr lang="en-US" altLang="zh-CN" sz="2000" kern="0" dirty="0">
                <a:latin typeface="Arial" panose="020B0604020202020204" pitchFamily="34" charset="0"/>
                <a:cs typeface="Arial" panose="020B0604020202020204" pitchFamily="34" charset="0"/>
              </a:rPr>
              <a:t>In serial communication with parity checking, the parity bit can be set according to P.</a:t>
            </a:r>
            <a:endParaRPr lang="zh-CN" altLang="en-US" sz="2000" kern="0" dirty="0">
              <a:latin typeface="Arial" panose="020B0604020202020204" pitchFamily="34" charset="0"/>
              <a:cs typeface="Arial" panose="020B0604020202020204" pitchFamily="34" charset="0"/>
            </a:endParaRPr>
          </a:p>
        </p:txBody>
      </p:sp>
      <p:sp>
        <p:nvSpPr>
          <p:cNvPr id="13" name="矩形 12"/>
          <p:cNvSpPr>
            <a:spLocks noChangeArrowheads="1"/>
          </p:cNvSpPr>
          <p:nvPr/>
        </p:nvSpPr>
        <p:spPr bwMode="auto">
          <a:xfrm>
            <a:off x="8002588" y="1873231"/>
            <a:ext cx="403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FF0000"/>
                </a:solidFill>
                <a:cs typeface="Times New Roman" panose="02020603050405020304" pitchFamily="18" charset="0"/>
              </a:rPr>
              <a:t>P</a:t>
            </a:r>
            <a:endParaRPr lang="en-GB" altLang="zh-CN" sz="2800" b="1" dirty="0">
              <a:solidFill>
                <a:srgbClr val="FF0000"/>
              </a:solidFill>
              <a:cs typeface="Times New Roman" panose="02020603050405020304" pitchFamily="18" charset="0"/>
            </a:endParaRPr>
          </a:p>
        </p:txBody>
      </p:sp>
      <p:sp>
        <p:nvSpPr>
          <p:cNvPr id="3" name="灯片编号占位符 2"/>
          <p:cNvSpPr>
            <a:spLocks noGrp="1"/>
          </p:cNvSpPr>
          <p:nvPr>
            <p:ph type="sldNum" sz="quarter" idx="12"/>
          </p:nvPr>
        </p:nvSpPr>
        <p:spPr/>
        <p:txBody>
          <a:bodyPr/>
          <a:lstStyle/>
          <a:p>
            <a:fld id="{22E77DEE-32E4-4009-988B-F2758F7B8AC2}" type="slidenum">
              <a:rPr lang="zh-CN" altLang="en-US" smtClean="0"/>
              <a:t>27</a:t>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3"/>
          <p:cNvSpPr>
            <a:spLocks noGrp="1" noChangeArrowheads="1"/>
          </p:cNvSpPr>
          <p:nvPr>
            <p:ph type="title"/>
          </p:nvPr>
        </p:nvSpPr>
        <p:spPr>
          <a:xfrm>
            <a:off x="577055" y="551250"/>
            <a:ext cx="7048025" cy="504825"/>
          </a:xfrm>
        </p:spPr>
        <p:txBody>
          <a:bodyPr vert="horz" lIns="91440" tIns="45720" rIns="91440" bIns="45720" rtlCol="0" anchor="b">
            <a:normAutofit fontScale="90000"/>
          </a:bodyPr>
          <a:lstStyle/>
          <a:p>
            <a:r>
              <a:rPr lang="en-US" altLang="zh-CN" sz="4300" dirty="0">
                <a:solidFill>
                  <a:schemeClr val="accent2"/>
                </a:solidFill>
              </a:rPr>
              <a:t>Controller</a:t>
            </a:r>
            <a:endParaRPr lang="zh-CN" altLang="en-US" sz="4300" dirty="0">
              <a:solidFill>
                <a:schemeClr val="accent2"/>
              </a:solidFill>
            </a:endParaRPr>
          </a:p>
        </p:txBody>
      </p:sp>
      <p:sp>
        <p:nvSpPr>
          <p:cNvPr id="462851" name="Rectangle 3"/>
          <p:cNvSpPr>
            <a:spLocks noGrp="1" noChangeArrowheads="1"/>
          </p:cNvSpPr>
          <p:nvPr>
            <p:ph idx="1"/>
          </p:nvPr>
        </p:nvSpPr>
        <p:spPr>
          <a:xfrm>
            <a:off x="577055" y="1380173"/>
            <a:ext cx="7989889" cy="1048067"/>
          </a:xfrm>
        </p:spPr>
        <p:txBody>
          <a:bodyPr>
            <a:normAutofit lnSpcReduction="10000"/>
          </a:bodyPr>
          <a:lstStyle/>
          <a:p>
            <a:pPr marL="262255" indent="-262255" eaLnBrk="1" hangingPunct="1">
              <a:lnSpc>
                <a:spcPct val="110000"/>
              </a:lnSpc>
              <a:spcBef>
                <a:spcPts val="0"/>
              </a:spcBef>
              <a:buClr>
                <a:srgbClr val="FF0000"/>
              </a:buClr>
              <a:buFont typeface="Wingdings" panose="05000000000000000000" pitchFamily="2" charset="2"/>
              <a:buChar char="Ø"/>
              <a:defRPr/>
            </a:pPr>
            <a:r>
              <a:rPr lang="en-US" altLang="zh-CN" dirty="0">
                <a:solidFill>
                  <a:srgbClr val="00B0F0"/>
                </a:solidFill>
                <a:latin typeface="Times New Roman" panose="02020603050405020304" pitchFamily="18" charset="0"/>
                <a:cs typeface="Times New Roman" panose="02020603050405020304" pitchFamily="18" charset="0"/>
              </a:rPr>
              <a:t>The controller </a:t>
            </a:r>
            <a:r>
              <a:rPr lang="en-US" altLang="zh-CN" dirty="0">
                <a:latin typeface="Times New Roman" panose="02020603050405020304" pitchFamily="18" charset="0"/>
                <a:cs typeface="Times New Roman" panose="02020603050405020304" pitchFamily="18" charset="0"/>
              </a:rPr>
              <a:t>is the central nervous system of the CPU, including timing control logic, instruction registers, decoders, (data) address pointer DPTR, program counter PC, stack pointer SP, RAM address registers, and so on.</a:t>
            </a:r>
            <a:endParaRPr lang="zh-CN" altLang="en-US" dirty="0">
              <a:latin typeface="Times New Roman" panose="02020603050405020304" pitchFamily="18" charset="0"/>
              <a:cs typeface="Times New Roman" panose="02020603050405020304" pitchFamily="18" charset="0"/>
            </a:endParaRPr>
          </a:p>
        </p:txBody>
      </p:sp>
      <p:sp>
        <p:nvSpPr>
          <p:cNvPr id="6" name="Rectangle 3"/>
          <p:cNvSpPr txBox="1">
            <a:spLocks noChangeArrowheads="1"/>
          </p:cNvSpPr>
          <p:nvPr/>
        </p:nvSpPr>
        <p:spPr bwMode="auto">
          <a:xfrm>
            <a:off x="421640" y="2327593"/>
            <a:ext cx="8478520" cy="387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2255" indent="-262255" algn="l" eaLnBrk="1" hangingPunct="1">
              <a:lnSpc>
                <a:spcPct val="110000"/>
              </a:lnSpc>
              <a:spcBef>
                <a:spcPts val="0"/>
              </a:spcBef>
              <a:spcAft>
                <a:spcPts val="1200"/>
              </a:spcAft>
              <a:defRPr/>
            </a:pPr>
            <a:r>
              <a:rPr lang="en-US" altLang="zh-CN" dirty="0"/>
              <a:t>Program Counter </a:t>
            </a:r>
            <a:endParaRPr lang="en-US" altLang="zh-CN" kern="0" dirty="0">
              <a:solidFill>
                <a:srgbClr val="CC3300"/>
              </a:solidFill>
            </a:endParaRPr>
          </a:p>
          <a:p>
            <a:pPr marL="449580" lvl="1" indent="-274955" algn="l" eaLnBrk="1" hangingPunct="1">
              <a:lnSpc>
                <a:spcPct val="110000"/>
              </a:lnSpc>
              <a:spcBef>
                <a:spcPts val="0"/>
              </a:spcBef>
              <a:spcAft>
                <a:spcPts val="1200"/>
              </a:spcAft>
              <a:defRPr/>
            </a:pPr>
            <a:r>
              <a:rPr lang="en-US" altLang="zh-CN" sz="2000" b="0" kern="0" dirty="0">
                <a:latin typeface="Times New Roman" panose="02020603050405020304" pitchFamily="18" charset="0"/>
                <a:cs typeface="Times New Roman" panose="02020603050405020304" pitchFamily="18" charset="0"/>
              </a:rPr>
              <a:t>It is a </a:t>
            </a:r>
            <a:r>
              <a:rPr lang="en-US" altLang="zh-CN" sz="2000" b="0" kern="0" dirty="0">
                <a:solidFill>
                  <a:srgbClr val="FF0000"/>
                </a:solidFill>
                <a:latin typeface="Times New Roman" panose="02020603050405020304" pitchFamily="18" charset="0"/>
                <a:cs typeface="Times New Roman" panose="02020603050405020304" pitchFamily="18" charset="0"/>
              </a:rPr>
              <a:t>16-bit program address register</a:t>
            </a:r>
            <a:r>
              <a:rPr lang="en-US" altLang="zh-CN" sz="2000" b="0" kern="0" dirty="0">
                <a:latin typeface="Times New Roman" panose="02020603050405020304" pitchFamily="18" charset="0"/>
                <a:cs typeface="Times New Roman" panose="02020603050405020304" pitchFamily="18" charset="0"/>
              </a:rPr>
              <a:t>, specifically used to </a:t>
            </a:r>
            <a:r>
              <a:rPr lang="en-US" altLang="zh-CN" sz="2000" b="0" kern="0" dirty="0">
                <a:solidFill>
                  <a:srgbClr val="FF0000"/>
                </a:solidFill>
                <a:latin typeface="Times New Roman" panose="02020603050405020304" pitchFamily="18" charset="0"/>
                <a:cs typeface="Times New Roman" panose="02020603050405020304" pitchFamily="18" charset="0"/>
              </a:rPr>
              <a:t>store the memory address of the next instruction</a:t>
            </a:r>
            <a:r>
              <a:rPr lang="en-US" altLang="zh-CN" sz="2000" b="0" kern="0" dirty="0">
                <a:latin typeface="Times New Roman" panose="02020603050405020304" pitchFamily="18" charset="0"/>
                <a:cs typeface="Times New Roman" panose="02020603050405020304" pitchFamily="18" charset="0"/>
              </a:rPr>
              <a:t> to be executed, and it automatically increments by 1.</a:t>
            </a:r>
            <a:endParaRPr lang="zh-CN" altLang="en-US" sz="2000" b="0" kern="0" dirty="0">
              <a:latin typeface="Times New Roman" panose="02020603050405020304" pitchFamily="18" charset="0"/>
              <a:cs typeface="Times New Roman" panose="02020603050405020304" pitchFamily="18" charset="0"/>
            </a:endParaRPr>
          </a:p>
          <a:p>
            <a:pPr marL="449580" lvl="1" indent="-274955" algn="l" eaLnBrk="1" hangingPunct="1">
              <a:lnSpc>
                <a:spcPct val="110000"/>
              </a:lnSpc>
              <a:spcBef>
                <a:spcPts val="0"/>
              </a:spcBef>
              <a:spcAft>
                <a:spcPts val="1200"/>
              </a:spcAft>
              <a:defRPr/>
            </a:pPr>
            <a:r>
              <a:rPr lang="en-US" altLang="zh-CN" sz="2000" b="0" kern="0" dirty="0">
                <a:latin typeface="Times New Roman" panose="02020603050405020304" pitchFamily="18" charset="0"/>
                <a:cs typeface="Times New Roman" panose="02020603050405020304" pitchFamily="18" charset="0"/>
              </a:rPr>
              <a:t>When the CPU executes instructions, </a:t>
            </a:r>
            <a:r>
              <a:rPr lang="en-US" altLang="zh-CN" sz="2000" b="0" kern="0" dirty="0">
                <a:solidFill>
                  <a:srgbClr val="00B0F0"/>
                </a:solidFill>
                <a:latin typeface="Times New Roman" panose="02020603050405020304" pitchFamily="18" charset="0"/>
                <a:cs typeface="Times New Roman" panose="02020603050405020304" pitchFamily="18" charset="0"/>
              </a:rPr>
              <a:t>it retrieves the instruction code from memory based on the address provided by the PC</a:t>
            </a:r>
            <a:r>
              <a:rPr lang="en-US" altLang="zh-CN" sz="2000" b="0" kern="0" dirty="0">
                <a:latin typeface="Times New Roman" panose="02020603050405020304" pitchFamily="18" charset="0"/>
                <a:cs typeface="Times New Roman" panose="02020603050405020304" pitchFamily="18" charset="0"/>
              </a:rPr>
              <a:t>, and then the controller decodes and analyzes it before execution.</a:t>
            </a:r>
          </a:p>
          <a:p>
            <a:pPr marL="449580" lvl="1" indent="-274955" algn="l" eaLnBrk="1" hangingPunct="1">
              <a:lnSpc>
                <a:spcPct val="110000"/>
              </a:lnSpc>
              <a:spcBef>
                <a:spcPts val="0"/>
              </a:spcBef>
              <a:spcAft>
                <a:spcPts val="1200"/>
              </a:spcAft>
              <a:defRPr/>
            </a:pPr>
            <a:r>
              <a:rPr lang="en-US" altLang="zh-CN" sz="2000" b="0" kern="0" dirty="0">
                <a:latin typeface="Times New Roman" panose="02020603050405020304" pitchFamily="18" charset="0"/>
                <a:cs typeface="Times New Roman" panose="02020603050405020304" pitchFamily="18" charset="0"/>
              </a:rPr>
              <a:t>Each time an instruction code is fetched, the PC automatically increments by 1. In this way, as the program counter PC increments repeatedly, instructions are executed one by one.</a:t>
            </a:r>
            <a:endParaRPr lang="zh-CN" altLang="en-US" sz="2000" b="0" kern="0" dirty="0">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p:txBody>
          <a:bodyPr/>
          <a:lstStyle/>
          <a:p>
            <a:fld id="{22E77DEE-32E4-4009-988B-F2758F7B8AC2}" type="slidenum">
              <a:rPr lang="zh-CN" altLang="en-US" smtClean="0"/>
              <a:t>28</a:t>
            </a:fld>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3"/>
          <p:cNvSpPr>
            <a:spLocks noGrp="1" noChangeArrowheads="1"/>
          </p:cNvSpPr>
          <p:nvPr>
            <p:ph type="title"/>
          </p:nvPr>
        </p:nvSpPr>
        <p:spPr>
          <a:xfrm>
            <a:off x="741679" y="633095"/>
            <a:ext cx="7574281" cy="504825"/>
          </a:xfrm>
        </p:spPr>
        <p:txBody>
          <a:bodyPr vert="horz" lIns="91440" tIns="45720" rIns="91440" bIns="45720" rtlCol="0" anchor="b">
            <a:noAutofit/>
          </a:bodyPr>
          <a:lstStyle/>
          <a:p>
            <a:r>
              <a:rPr lang="en-US" altLang="zh-CN" sz="4000" dirty="0">
                <a:solidFill>
                  <a:srgbClr val="00B0F0"/>
                </a:solidFill>
              </a:rPr>
              <a:t>Controller</a:t>
            </a:r>
            <a:r>
              <a:rPr lang="en-US" altLang="zh-CN" sz="4000" dirty="0">
                <a:solidFill>
                  <a:schemeClr val="accent2"/>
                </a:solidFill>
              </a:rPr>
              <a:t> — Stack</a:t>
            </a:r>
            <a:endParaRPr lang="zh-CN" altLang="en-US" sz="4000" dirty="0">
              <a:solidFill>
                <a:schemeClr val="accent2"/>
              </a:solidFill>
            </a:endParaRPr>
          </a:p>
        </p:txBody>
      </p:sp>
      <p:sp>
        <p:nvSpPr>
          <p:cNvPr id="464899" name="Rectangle 3"/>
          <p:cNvSpPr>
            <a:spLocks noGrp="1" noChangeArrowheads="1"/>
          </p:cNvSpPr>
          <p:nvPr>
            <p:ph idx="1"/>
          </p:nvPr>
        </p:nvSpPr>
        <p:spPr>
          <a:xfrm>
            <a:off x="741679" y="1346198"/>
            <a:ext cx="7574281" cy="4810761"/>
          </a:xfrm>
        </p:spPr>
        <p:txBody>
          <a:bodyPr>
            <a:noAutofit/>
          </a:bodyPr>
          <a:lstStyle/>
          <a:p>
            <a:pPr marL="174625" lvl="1" indent="-174625" algn="l" eaLnBrk="1" hangingPunct="1">
              <a:lnSpc>
                <a:spcPct val="114000"/>
              </a:lnSpc>
              <a:spcBef>
                <a:spcPts val="0"/>
              </a:spcBef>
              <a:spcAft>
                <a:spcPts val="600"/>
              </a:spcAft>
              <a:defRPr/>
            </a:pPr>
            <a:r>
              <a:rPr lang="en-US" altLang="zh-CN" dirty="0">
                <a:latin typeface="Times New Roman" panose="02020603050405020304" pitchFamily="18" charset="0"/>
                <a:cs typeface="Times New Roman" panose="02020603050405020304" pitchFamily="18" charset="0"/>
              </a:rPr>
              <a:t>Primarily used for </a:t>
            </a:r>
            <a:r>
              <a:rPr lang="en-US" altLang="zh-CN" dirty="0">
                <a:solidFill>
                  <a:srgbClr val="0000CC"/>
                </a:solidFill>
                <a:latin typeface="Times New Roman" panose="02020603050405020304" pitchFamily="18" charset="0"/>
                <a:cs typeface="Times New Roman" panose="02020603050405020304" pitchFamily="18" charset="0"/>
              </a:rPr>
              <a:t>saving temporary data, local variables</a:t>
            </a:r>
            <a:r>
              <a:rPr lang="en-US" altLang="zh-CN" dirty="0">
                <a:latin typeface="Times New Roman" panose="02020603050405020304" pitchFamily="18" charset="0"/>
                <a:cs typeface="Times New Roman" panose="02020603050405020304" pitchFamily="18" charset="0"/>
              </a:rPr>
              <a:t>, and </a:t>
            </a:r>
            <a:r>
              <a:rPr lang="en-US" altLang="zh-CN" dirty="0">
                <a:solidFill>
                  <a:srgbClr val="0000CC"/>
                </a:solidFill>
                <a:latin typeface="Times New Roman" panose="02020603050405020304" pitchFamily="18" charset="0"/>
                <a:cs typeface="Times New Roman" panose="02020603050405020304" pitchFamily="18" charset="0"/>
              </a:rPr>
              <a:t>return addresses</a:t>
            </a:r>
            <a:r>
              <a:rPr lang="en-US" altLang="zh-CN" dirty="0">
                <a:latin typeface="Times New Roman" panose="02020603050405020304" pitchFamily="18" charset="0"/>
                <a:cs typeface="Times New Roman" panose="02020603050405020304" pitchFamily="18" charset="0"/>
              </a:rPr>
              <a:t> for interrupts or subroutines.</a:t>
            </a:r>
            <a:endParaRPr lang="zh-CN" altLang="en-US" dirty="0">
              <a:latin typeface="Times New Roman" panose="02020603050405020304" pitchFamily="18" charset="0"/>
              <a:cs typeface="Times New Roman" panose="02020603050405020304" pitchFamily="18" charset="0"/>
            </a:endParaRPr>
          </a:p>
          <a:p>
            <a:pPr marL="174625" lvl="1" indent="-174625" algn="l" eaLnBrk="1" hangingPunct="1">
              <a:lnSpc>
                <a:spcPct val="114000"/>
              </a:lnSpc>
              <a:spcBef>
                <a:spcPts val="0"/>
              </a:spcBef>
              <a:spcAft>
                <a:spcPts val="600"/>
              </a:spcAft>
              <a:defRPr/>
            </a:pPr>
            <a:r>
              <a:rPr lang="en-US" altLang="zh-CN" dirty="0">
                <a:latin typeface="Times New Roman" panose="02020603050405020304" pitchFamily="18" charset="0"/>
                <a:cs typeface="Times New Roman" panose="02020603050405020304" pitchFamily="18" charset="0"/>
              </a:rPr>
              <a:t>The stack for the </a:t>
            </a:r>
            <a:r>
              <a:rPr lang="en-US" altLang="zh-CN" dirty="0">
                <a:solidFill>
                  <a:srgbClr val="FF0000"/>
                </a:solidFill>
                <a:latin typeface="Times New Roman" panose="02020603050405020304" pitchFamily="18" charset="0"/>
                <a:cs typeface="Times New Roman" panose="02020603050405020304" pitchFamily="18" charset="0"/>
              </a:rPr>
              <a:t>IAP15W4K58S4 </a:t>
            </a:r>
            <a:r>
              <a:rPr lang="en-US" altLang="zh-CN" dirty="0">
                <a:latin typeface="Times New Roman" panose="02020603050405020304" pitchFamily="18" charset="0"/>
                <a:cs typeface="Times New Roman" panose="02020603050405020304" pitchFamily="18" charset="0"/>
              </a:rPr>
              <a:t>microcontroller is located in the </a:t>
            </a:r>
            <a:r>
              <a:rPr lang="en-US" altLang="zh-CN" dirty="0">
                <a:solidFill>
                  <a:srgbClr val="0000CC"/>
                </a:solidFill>
                <a:latin typeface="Times New Roman" panose="02020603050405020304" pitchFamily="18" charset="0"/>
                <a:cs typeface="Times New Roman" panose="02020603050405020304" pitchFamily="18" charset="0"/>
              </a:rPr>
              <a:t>internal RAM</a:t>
            </a:r>
            <a:r>
              <a:rPr lang="en-US" altLang="zh-CN" dirty="0">
                <a:latin typeface="Times New Roman" panose="02020603050405020304" pitchFamily="18" charset="0"/>
                <a:cs typeface="Times New Roman" panose="02020603050405020304" pitchFamily="18" charset="0"/>
              </a:rPr>
              <a:t>, and it is an area for storing data following the "</a:t>
            </a:r>
            <a:r>
              <a:rPr lang="en-US" altLang="zh-CN" dirty="0">
                <a:solidFill>
                  <a:srgbClr val="0000CC"/>
                </a:solidFill>
                <a:latin typeface="Times New Roman" panose="02020603050405020304" pitchFamily="18" charset="0"/>
                <a:cs typeface="Times New Roman" panose="02020603050405020304" pitchFamily="18" charset="0"/>
              </a:rPr>
              <a:t>First-In, Last-Out</a:t>
            </a:r>
            <a:r>
              <a:rPr lang="en-US" altLang="zh-CN" dirty="0">
                <a:latin typeface="Times New Roman" panose="02020603050405020304" pitchFamily="18" charset="0"/>
                <a:cs typeface="Times New Roman" panose="02020603050405020304" pitchFamily="18" charset="0"/>
              </a:rPr>
              <a:t>" (FILO) principle.</a:t>
            </a:r>
          </a:p>
          <a:p>
            <a:pPr marL="174625" lvl="1" indent="-174625" eaLnBrk="1" hangingPunct="1">
              <a:lnSpc>
                <a:spcPct val="114000"/>
              </a:lnSpc>
              <a:spcBef>
                <a:spcPts val="0"/>
              </a:spcBef>
              <a:spcAft>
                <a:spcPts val="600"/>
              </a:spcAft>
              <a:defRPr/>
            </a:pPr>
            <a:r>
              <a:rPr lang="en-US" altLang="zh-CN" dirty="0">
                <a:solidFill>
                  <a:srgbClr val="FF0000"/>
                </a:solidFill>
                <a:latin typeface="Times New Roman" panose="02020603050405020304" pitchFamily="18" charset="0"/>
                <a:cs typeface="Times New Roman" panose="02020603050405020304" pitchFamily="18" charset="0"/>
              </a:rPr>
              <a:t>The Stack Pointer (SP) </a:t>
            </a:r>
            <a:r>
              <a:rPr lang="en-US" altLang="zh-CN" dirty="0">
                <a:solidFill>
                  <a:schemeClr val="tx1"/>
                </a:solidFill>
                <a:latin typeface="Times New Roman" panose="02020603050405020304" pitchFamily="18" charset="0"/>
                <a:cs typeface="Times New Roman" panose="02020603050405020304" pitchFamily="18" charset="0"/>
              </a:rPr>
              <a:t>is </a:t>
            </a:r>
            <a:r>
              <a:rPr lang="en-US" altLang="zh-CN" dirty="0">
                <a:solidFill>
                  <a:srgbClr val="0000CC"/>
                </a:solidFill>
                <a:latin typeface="Times New Roman" panose="02020603050405020304" pitchFamily="18" charset="0"/>
                <a:cs typeface="Times New Roman" panose="02020603050405020304" pitchFamily="18" charset="0"/>
              </a:rPr>
              <a:t>an 8-bit register </a:t>
            </a:r>
            <a:r>
              <a:rPr lang="en-US" altLang="zh-CN" dirty="0">
                <a:solidFill>
                  <a:schemeClr val="tx1"/>
                </a:solidFill>
                <a:latin typeface="Times New Roman" panose="02020603050405020304" pitchFamily="18" charset="0"/>
                <a:cs typeface="Times New Roman" panose="02020603050405020304" pitchFamily="18" charset="0"/>
              </a:rPr>
              <a:t>that can </a:t>
            </a:r>
            <a:r>
              <a:rPr lang="en-US" altLang="zh-CN" dirty="0">
                <a:solidFill>
                  <a:srgbClr val="0000CC"/>
                </a:solidFill>
                <a:latin typeface="Times New Roman" panose="02020603050405020304" pitchFamily="18" charset="0"/>
                <a:cs typeface="Times New Roman" panose="02020603050405020304" pitchFamily="18" charset="0"/>
              </a:rPr>
              <a:t>automatically increment by 1 or decrement by 1</a:t>
            </a:r>
            <a:r>
              <a:rPr lang="en-US" altLang="zh-CN" dirty="0">
                <a:solidFill>
                  <a:schemeClr val="tx1"/>
                </a:solidFill>
                <a:latin typeface="Times New Roman" panose="02020603050405020304" pitchFamily="18" charset="0"/>
                <a:cs typeface="Times New Roman" panose="02020603050405020304" pitchFamily="18" charset="0"/>
              </a:rPr>
              <a:t>.</a:t>
            </a:r>
          </a:p>
          <a:p>
            <a:pPr marL="174625" lvl="1" indent="-174625" eaLnBrk="1" hangingPunct="1">
              <a:lnSpc>
                <a:spcPct val="114000"/>
              </a:lnSpc>
              <a:spcBef>
                <a:spcPts val="0"/>
              </a:spcBef>
              <a:spcAft>
                <a:spcPts val="600"/>
              </a:spcAft>
              <a:defRPr/>
            </a:pPr>
            <a:r>
              <a:rPr lang="en-US" altLang="zh-CN" dirty="0">
                <a:solidFill>
                  <a:srgbClr val="FF0000"/>
                </a:solidFill>
                <a:latin typeface="Times New Roman" panose="02020603050405020304" pitchFamily="18" charset="0"/>
                <a:cs typeface="Times New Roman" panose="02020603050405020304" pitchFamily="18" charset="0"/>
              </a:rPr>
              <a:t>SP points to the top of the stack</a:t>
            </a:r>
            <a:r>
              <a:rPr lang="en-US" altLang="zh-CN" dirty="0">
                <a:solidFill>
                  <a:schemeClr val="tx1"/>
                </a:solidFill>
                <a:latin typeface="Times New Roman" panose="02020603050405020304" pitchFamily="18" charset="0"/>
                <a:cs typeface="Times New Roman" panose="02020603050405020304" pitchFamily="18" charset="0"/>
              </a:rPr>
              <a:t>. When data is </a:t>
            </a:r>
            <a:r>
              <a:rPr lang="en-US" altLang="zh-CN" dirty="0">
                <a:solidFill>
                  <a:srgbClr val="FF00FF"/>
                </a:solidFill>
                <a:latin typeface="Times New Roman" panose="02020603050405020304" pitchFamily="18" charset="0"/>
                <a:cs typeface="Times New Roman" panose="02020603050405020304" pitchFamily="18" charset="0"/>
              </a:rPr>
              <a:t>pushed onto the stack, SP automatically increments by 1 first, and then the data is pushed</a:t>
            </a:r>
            <a:r>
              <a:rPr lang="en-US" altLang="zh-CN" dirty="0">
                <a:solidFill>
                  <a:schemeClr val="tx1"/>
                </a:solidFill>
                <a:latin typeface="Times New Roman" panose="02020603050405020304" pitchFamily="18" charset="0"/>
                <a:cs typeface="Times New Roman" panose="02020603050405020304" pitchFamily="18" charset="0"/>
              </a:rPr>
              <a:t>; </a:t>
            </a:r>
            <a:r>
              <a:rPr lang="en-US" altLang="zh-CN" dirty="0">
                <a:solidFill>
                  <a:srgbClr val="0000CC"/>
                </a:solidFill>
                <a:latin typeface="Times New Roman" panose="02020603050405020304" pitchFamily="18" charset="0"/>
                <a:cs typeface="Times New Roman" panose="02020603050405020304" pitchFamily="18" charset="0"/>
              </a:rPr>
              <a:t>when data is popped, the data is popped from the stack first, and then SP automatically decrements by 1.</a:t>
            </a:r>
          </a:p>
          <a:p>
            <a:pPr marL="174625" lvl="1" indent="-174625" eaLnBrk="1" hangingPunct="1">
              <a:lnSpc>
                <a:spcPct val="114000"/>
              </a:lnSpc>
              <a:spcBef>
                <a:spcPts val="0"/>
              </a:spcBef>
              <a:spcAft>
                <a:spcPts val="600"/>
              </a:spcAft>
              <a:defRPr/>
            </a:pPr>
            <a:r>
              <a:rPr lang="en-US" altLang="zh-CN" dirty="0">
                <a:solidFill>
                  <a:srgbClr val="CF3E3E"/>
                </a:solidFill>
                <a:latin typeface="Times New Roman" panose="02020603050405020304" pitchFamily="18" charset="0"/>
                <a:cs typeface="Times New Roman" panose="02020603050405020304" pitchFamily="18" charset="0"/>
              </a:rPr>
              <a:t>Upon reset, the </a:t>
            </a:r>
            <a:r>
              <a:rPr lang="en-US" altLang="zh-CN" dirty="0">
                <a:solidFill>
                  <a:srgbClr val="FF0000"/>
                </a:solidFill>
                <a:latin typeface="Times New Roman" panose="02020603050405020304" pitchFamily="18" charset="0"/>
                <a:cs typeface="Times New Roman" panose="02020603050405020304" pitchFamily="18" charset="0"/>
              </a:rPr>
              <a:t>SP</a:t>
            </a:r>
            <a:r>
              <a:rPr lang="en-US" altLang="zh-CN" dirty="0">
                <a:solidFill>
                  <a:srgbClr val="CF3E3E"/>
                </a:solidFill>
                <a:latin typeface="Times New Roman" panose="02020603050405020304" pitchFamily="18" charset="0"/>
                <a:cs typeface="Times New Roman" panose="02020603050405020304" pitchFamily="18" charset="0"/>
              </a:rPr>
              <a:t> register defaults to 07H, </a:t>
            </a:r>
            <a:r>
              <a:rPr lang="en-US" altLang="zh-CN" dirty="0">
                <a:solidFill>
                  <a:schemeClr val="tx1"/>
                </a:solidFill>
                <a:latin typeface="Times New Roman" panose="02020603050405020304" pitchFamily="18" charset="0"/>
                <a:cs typeface="Times New Roman" panose="02020603050405020304" pitchFamily="18" charset="0"/>
              </a:rPr>
              <a:t>meaning the stack area </a:t>
            </a:r>
            <a:r>
              <a:rPr lang="en-US" altLang="zh-CN" dirty="0">
                <a:solidFill>
                  <a:srgbClr val="0000CC"/>
                </a:solidFill>
                <a:latin typeface="Times New Roman" panose="02020603050405020304" pitchFamily="18" charset="0"/>
                <a:cs typeface="Times New Roman" panose="02020603050405020304" pitchFamily="18" charset="0"/>
              </a:rPr>
              <a:t>starts at address 08H</a:t>
            </a:r>
            <a:r>
              <a:rPr lang="en-US" altLang="zh-CN" dirty="0">
                <a:solidFill>
                  <a:schemeClr val="tx1"/>
                </a:solidFill>
                <a:latin typeface="Times New Roman" panose="02020603050405020304" pitchFamily="18" charset="0"/>
                <a:cs typeface="Times New Roman" panose="02020603050405020304" pitchFamily="18" charset="0"/>
              </a:rPr>
              <a:t>. Users can typically use instructions to set the stack area within the internal </a:t>
            </a:r>
            <a:r>
              <a:rPr lang="en-US" altLang="zh-CN" dirty="0">
                <a:solidFill>
                  <a:srgbClr val="FF0000"/>
                </a:solidFill>
                <a:latin typeface="Times New Roman" panose="02020603050405020304" pitchFamily="18" charset="0"/>
                <a:cs typeface="Times New Roman" panose="02020603050405020304" pitchFamily="18" charset="0"/>
              </a:rPr>
              <a:t>RAM range of 80H to FFH.</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p:txBody>
          <a:bodyPr/>
          <a:lstStyle/>
          <a:p>
            <a:fld id="{22E77DEE-32E4-4009-988B-F2758F7B8AC2}" type="slidenum">
              <a:rPr lang="zh-CN" altLang="en-US" smtClean="0"/>
              <a:t>29</a:t>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0"/>
          <p:cNvSpPr>
            <a:spLocks noGrp="1" noChangeArrowheads="1"/>
          </p:cNvSpPr>
          <p:nvPr>
            <p:ph type="title"/>
          </p:nvPr>
        </p:nvSpPr>
        <p:spPr>
          <a:xfrm>
            <a:off x="337344" y="335202"/>
            <a:ext cx="8469312" cy="504825"/>
          </a:xfrm>
        </p:spPr>
        <p:txBody>
          <a:bodyPr>
            <a:normAutofit fontScale="90000"/>
          </a:bodyPr>
          <a:lstStyle/>
          <a:p>
            <a:pPr eaLnBrk="1" hangingPunct="1"/>
            <a:r>
              <a:rPr lang="en-US" altLang="zh-CN" b="0" dirty="0" err="1">
                <a:latin typeface="隶书" panose="02010509060101010101" pitchFamily="49" charset="-122"/>
                <a:ea typeface="隶书" panose="02010509060101010101" pitchFamily="49" charset="-122"/>
              </a:rPr>
              <a:t>Broadcomm</a:t>
            </a:r>
            <a:r>
              <a:rPr lang="en-US" altLang="zh-CN" b="0" dirty="0">
                <a:latin typeface="隶书" panose="02010509060101010101" pitchFamily="49" charset="-122"/>
                <a:ea typeface="隶书" panose="02010509060101010101" pitchFamily="49" charset="-122"/>
              </a:rPr>
              <a:t> BCM2711</a:t>
            </a:r>
            <a:endParaRPr kumimoji="1" lang="zh-CN" altLang="en-US" dirty="0"/>
          </a:p>
        </p:txBody>
      </p:sp>
      <p:pic>
        <p:nvPicPr>
          <p:cNvPr id="1026" name="Picture 2" descr="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436" y="1030288"/>
            <a:ext cx="7703128" cy="5048976"/>
          </a:xfrm>
          <a:prstGeom prst="rect">
            <a:avLst/>
          </a:prstGeom>
          <a:noFill/>
          <a:extLst>
            <a:ext uri="{909E8E84-426E-40DD-AFC4-6F175D3DCCD1}">
              <a14:hiddenFill xmlns:a14="http://schemas.microsoft.com/office/drawing/2010/main">
                <a:solidFill>
                  <a:srgbClr val="FFFFFF"/>
                </a:solidFill>
              </a14:hiddenFill>
            </a:ext>
          </a:extLst>
        </p:spPr>
      </p:pic>
      <p:sp>
        <p:nvSpPr>
          <p:cNvPr id="4" name="灯片编号占位符 3"/>
          <p:cNvSpPr>
            <a:spLocks noGrp="1"/>
          </p:cNvSpPr>
          <p:nvPr>
            <p:ph type="sldNum" sz="quarter" idx="12"/>
          </p:nvPr>
        </p:nvSpPr>
        <p:spPr/>
        <p:txBody>
          <a:bodyPr/>
          <a:lstStyle/>
          <a:p>
            <a:fld id="{22E77DEE-32E4-4009-988B-F2758F7B8AC2}" type="slidenum">
              <a:rPr lang="zh-CN" altLang="en-US" smtClean="0"/>
              <a:t>30</a:t>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3" name="Rectangle 3"/>
          <p:cNvSpPr>
            <a:spLocks noGrp="1" noChangeArrowheads="1"/>
          </p:cNvSpPr>
          <p:nvPr>
            <p:ph type="body" idx="1"/>
          </p:nvPr>
        </p:nvSpPr>
        <p:spPr>
          <a:xfrm>
            <a:off x="73025" y="1199605"/>
            <a:ext cx="9070975" cy="1066076"/>
          </a:xfrm>
        </p:spPr>
        <p:txBody>
          <a:bodyPr>
            <a:normAutofit/>
          </a:bodyPr>
          <a:lstStyle/>
          <a:p>
            <a:pPr marL="174625" indent="-174625" eaLnBrk="1" hangingPunct="1">
              <a:lnSpc>
                <a:spcPct val="104000"/>
              </a:lnSpc>
              <a:spcBef>
                <a:spcPct val="0"/>
              </a:spcBef>
            </a:pPr>
            <a:r>
              <a:rPr lang="en-US" altLang="zh-CN" sz="1800" dirty="0">
                <a:solidFill>
                  <a:srgbClr val="CF3E3E"/>
                </a:solidFill>
                <a:latin typeface="Times New Roman" panose="02020603050405020304" pitchFamily="18" charset="0"/>
                <a:cs typeface="Times New Roman" panose="02020603050405020304" pitchFamily="18" charset="0"/>
              </a:rPr>
              <a:t>Structural Feature</a:t>
            </a:r>
            <a:r>
              <a:rPr lang="en-US" altLang="zh-CN" sz="1800" dirty="0">
                <a:latin typeface="Times New Roman" panose="02020603050405020304" pitchFamily="18" charset="0"/>
                <a:cs typeface="Times New Roman" panose="02020603050405020304" pitchFamily="18" charset="0"/>
              </a:rPr>
              <a:t>: The addressing spaces for Program Memory and Data Memory are separate.</a:t>
            </a:r>
            <a:endParaRPr lang="zh-CN" altLang="en-US" sz="1800" dirty="0">
              <a:latin typeface="Times New Roman" panose="02020603050405020304" pitchFamily="18" charset="0"/>
              <a:cs typeface="Times New Roman" panose="02020603050405020304" pitchFamily="18" charset="0"/>
            </a:endParaRPr>
          </a:p>
          <a:p>
            <a:pPr marL="174625" indent="-174625" eaLnBrk="1" hangingPunct="1">
              <a:lnSpc>
                <a:spcPct val="104000"/>
              </a:lnSpc>
              <a:spcBef>
                <a:spcPct val="0"/>
              </a:spcBef>
            </a:pPr>
            <a:r>
              <a:rPr lang="en-US" altLang="zh-CN" sz="1800" dirty="0">
                <a:solidFill>
                  <a:srgbClr val="CC3300"/>
                </a:solidFill>
                <a:latin typeface="Times New Roman" panose="02020603050405020304" pitchFamily="18" charset="0"/>
                <a:cs typeface="Times New Roman" panose="02020603050405020304" pitchFamily="18" charset="0"/>
              </a:rPr>
              <a:t>Structural Division: </a:t>
            </a:r>
            <a:r>
              <a:rPr lang="en-US" altLang="zh-CN" sz="1800" dirty="0">
                <a:solidFill>
                  <a:schemeClr val="tx1"/>
                </a:solidFill>
                <a:latin typeface="Times New Roman" panose="02020603050405020304" pitchFamily="18" charset="0"/>
                <a:cs typeface="Times New Roman" panose="02020603050405020304" pitchFamily="18" charset="0"/>
              </a:rPr>
              <a:t>The chip integrates </a:t>
            </a:r>
            <a:r>
              <a:rPr lang="en-US" altLang="zh-CN" sz="1800" dirty="0">
                <a:solidFill>
                  <a:srgbClr val="FF00FF"/>
                </a:solidFill>
                <a:latin typeface="Times New Roman" panose="02020603050405020304" pitchFamily="18" charset="0"/>
                <a:cs typeface="Times New Roman" panose="02020603050405020304" pitchFamily="18" charset="0"/>
              </a:rPr>
              <a:t>3</a:t>
            </a:r>
            <a:r>
              <a:rPr lang="en-US" altLang="zh-CN" sz="1800" dirty="0">
                <a:solidFill>
                  <a:schemeClr val="tx1"/>
                </a:solidFill>
                <a:latin typeface="Times New Roman" panose="02020603050405020304" pitchFamily="18" charset="0"/>
                <a:cs typeface="Times New Roman" panose="02020603050405020304" pitchFamily="18" charset="0"/>
              </a:rPr>
              <a:t> </a:t>
            </a:r>
            <a:r>
              <a:rPr lang="en-US" altLang="zh-CN" sz="1800" dirty="0">
                <a:solidFill>
                  <a:srgbClr val="FF00FF"/>
                </a:solidFill>
                <a:latin typeface="Times New Roman" panose="02020603050405020304" pitchFamily="18" charset="0"/>
                <a:cs typeface="Times New Roman" panose="02020603050405020304" pitchFamily="18" charset="0"/>
              </a:rPr>
              <a:t>physically independent memory spaces</a:t>
            </a:r>
            <a:r>
              <a:rPr lang="en-US" altLang="zh-CN" sz="1800" dirty="0">
                <a:solidFill>
                  <a:schemeClr val="tx1"/>
                </a:solidFill>
                <a:latin typeface="Times New Roman" panose="02020603050405020304" pitchFamily="18" charset="0"/>
                <a:cs typeface="Times New Roman" panose="02020603050405020304" pitchFamily="18" charset="0"/>
              </a:rPr>
              <a:t>: </a:t>
            </a:r>
            <a:r>
              <a:rPr lang="en-US" altLang="zh-CN" sz="1800" dirty="0">
                <a:solidFill>
                  <a:srgbClr val="FF00FF"/>
                </a:solidFill>
                <a:latin typeface="Times New Roman" panose="02020603050405020304" pitchFamily="18" charset="0"/>
                <a:cs typeface="Times New Roman" panose="02020603050405020304" pitchFamily="18" charset="0"/>
              </a:rPr>
              <a:t>Program Flash Memory, Internal Data Memory, and Extended Data Memory</a:t>
            </a:r>
            <a:r>
              <a:rPr lang="en-US" altLang="zh-CN" sz="1800" dirty="0">
                <a:solidFill>
                  <a:schemeClr val="tx1"/>
                </a:solidFill>
                <a:latin typeface="Times New Roman" panose="02020603050405020304" pitchFamily="18" charset="0"/>
                <a:cs typeface="Times New Roman" panose="02020603050405020304" pitchFamily="18" charset="0"/>
              </a:rPr>
              <a:t>.</a:t>
            </a:r>
            <a:endParaRPr lang="zh-CN" altLang="en-US" sz="1800" dirty="0">
              <a:solidFill>
                <a:schemeClr val="tx1"/>
              </a:solidFill>
              <a:latin typeface="Times New Roman" panose="02020603050405020304" pitchFamily="18" charset="0"/>
              <a:cs typeface="Times New Roman" panose="02020603050405020304" pitchFamily="18" charset="0"/>
            </a:endParaRPr>
          </a:p>
        </p:txBody>
      </p:sp>
      <p:sp>
        <p:nvSpPr>
          <p:cNvPr id="55299" name="Rectangle 30"/>
          <p:cNvSpPr>
            <a:spLocks noGrp="1" noChangeArrowheads="1"/>
          </p:cNvSpPr>
          <p:nvPr>
            <p:ph type="title"/>
          </p:nvPr>
        </p:nvSpPr>
        <p:spPr>
          <a:xfrm>
            <a:off x="337344" y="-2855"/>
            <a:ext cx="9070974" cy="1159597"/>
          </a:xfrm>
        </p:spPr>
        <p:txBody>
          <a:bodyPr>
            <a:noAutofit/>
          </a:bodyPr>
          <a:lstStyle/>
          <a:p>
            <a:pPr eaLnBrk="1" hangingPunct="1"/>
            <a:r>
              <a:rPr lang="en-US" altLang="zh-CN" sz="3600" b="0" dirty="0">
                <a:ea typeface="隶书" panose="02010509060101010101" pitchFamily="49" charset="-122"/>
              </a:rPr>
              <a:t>4.3 Memory of </a:t>
            </a:r>
            <a:r>
              <a:rPr lang="en-US" altLang="zh-CN" sz="3600" b="0" dirty="0">
                <a:solidFill>
                  <a:srgbClr val="00B0F0"/>
                </a:solidFill>
                <a:ea typeface="隶书" panose="02010509060101010101" pitchFamily="49" charset="-122"/>
              </a:rPr>
              <a:t>IAP15W4K58S4 Microcontroller</a:t>
            </a:r>
            <a:endParaRPr kumimoji="1" lang="zh-CN" altLang="en-US" sz="3600" dirty="0">
              <a:solidFill>
                <a:srgbClr val="00B0F0"/>
              </a:solidFill>
            </a:endParaRPr>
          </a:p>
        </p:txBody>
      </p:sp>
      <p:graphicFrame>
        <p:nvGraphicFramePr>
          <p:cNvPr id="55302" name="Object 10"/>
          <p:cNvGraphicFramePr>
            <a:graphicFrameLocks noChangeAspect="1"/>
          </p:cNvGraphicFramePr>
          <p:nvPr/>
        </p:nvGraphicFramePr>
        <p:xfrm>
          <a:off x="73025" y="3082925"/>
          <a:ext cx="8888413" cy="3309938"/>
        </p:xfrm>
        <a:graphic>
          <a:graphicData uri="http://schemas.openxmlformats.org/presentationml/2006/ole">
            <mc:AlternateContent xmlns:mc="http://schemas.openxmlformats.org/markup-compatibility/2006">
              <mc:Choice xmlns:v="urn:schemas-microsoft-com:vml" Requires="v">
                <p:oleObj name="Visio" r:id="rId2" imgW="2633980" imgH="824230" progId="Visio.Drawing.11">
                  <p:embed/>
                </p:oleObj>
              </mc:Choice>
              <mc:Fallback>
                <p:oleObj name="Visio" r:id="rId2" imgW="2633980" imgH="824230" progId="Visio.Drawing.11">
                  <p:embed/>
                  <p:pic>
                    <p:nvPicPr>
                      <p:cNvPr id="0" name="Object 10"/>
                      <p:cNvPicPr>
                        <a:picLocks noChangeAspect="1" noChangeArrowheads="1"/>
                      </p:cNvPicPr>
                      <p:nvPr/>
                    </p:nvPicPr>
                    <p:blipFill>
                      <a:blip r:embed="rId3"/>
                      <a:srcRect/>
                      <a:stretch>
                        <a:fillRect/>
                      </a:stretch>
                    </p:blipFill>
                    <p:spPr bwMode="auto">
                      <a:xfrm>
                        <a:off x="73025" y="3082925"/>
                        <a:ext cx="8888413" cy="330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6"/>
          <p:cNvSpPr>
            <a:spLocks noChangeArrowheads="1"/>
          </p:cNvSpPr>
          <p:nvPr/>
        </p:nvSpPr>
        <p:spPr bwMode="auto">
          <a:xfrm>
            <a:off x="3106738" y="2503250"/>
            <a:ext cx="2365375" cy="738664"/>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alpha val="50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ctr" eaLnBrk="1" hangingPunct="1">
              <a:defRPr/>
            </a:pPr>
            <a:r>
              <a:rPr lang="en-US" altLang="zh-CN" sz="2400" spc="-150" dirty="0">
                <a:solidFill>
                  <a:srgbClr val="0000FF"/>
                </a:solidFill>
              </a:rPr>
              <a:t>Accessed using </a:t>
            </a:r>
            <a:r>
              <a:rPr lang="en-US" altLang="zh-CN" sz="2400" spc="-150" dirty="0">
                <a:solidFill>
                  <a:srgbClr val="FF0000"/>
                </a:solidFill>
              </a:rPr>
              <a:t>MOV </a:t>
            </a:r>
            <a:r>
              <a:rPr lang="en-US" altLang="zh-CN" sz="2400" spc="-150" dirty="0">
                <a:solidFill>
                  <a:srgbClr val="0000FF"/>
                </a:solidFill>
              </a:rPr>
              <a:t>instruction</a:t>
            </a:r>
            <a:endParaRPr lang="zh-CN" altLang="en-US" sz="2400" spc="-150" dirty="0">
              <a:solidFill>
                <a:srgbClr val="0000FF"/>
              </a:solidFill>
            </a:endParaRPr>
          </a:p>
        </p:txBody>
      </p:sp>
      <p:sp>
        <p:nvSpPr>
          <p:cNvPr id="8" name="Rectangle 6"/>
          <p:cNvSpPr>
            <a:spLocks noChangeArrowheads="1"/>
          </p:cNvSpPr>
          <p:nvPr/>
        </p:nvSpPr>
        <p:spPr bwMode="auto">
          <a:xfrm>
            <a:off x="5997575" y="2531273"/>
            <a:ext cx="2940050" cy="944554"/>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alpha val="50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ctr" eaLnBrk="1" hangingPunct="1">
              <a:lnSpc>
                <a:spcPct val="85000"/>
              </a:lnSpc>
              <a:defRPr/>
            </a:pPr>
            <a:r>
              <a:rPr lang="en-US" altLang="zh-CN" sz="2400" dirty="0"/>
              <a:t>Physically on-chip, logically external, accessed using </a:t>
            </a:r>
            <a:r>
              <a:rPr lang="en-US" altLang="zh-CN" sz="2400" dirty="0">
                <a:solidFill>
                  <a:srgbClr val="FF0000"/>
                </a:solidFill>
              </a:rPr>
              <a:t>MOVX</a:t>
            </a:r>
            <a:endParaRPr lang="zh-CN" altLang="en-US" sz="2400" spc="-300" dirty="0">
              <a:solidFill>
                <a:srgbClr val="FF0000"/>
              </a:solidFill>
            </a:endParaRPr>
          </a:p>
        </p:txBody>
      </p:sp>
      <p:cxnSp>
        <p:nvCxnSpPr>
          <p:cNvPr id="9" name="直接箭头连接符 8"/>
          <p:cNvCxnSpPr/>
          <p:nvPr/>
        </p:nvCxnSpPr>
        <p:spPr bwMode="auto">
          <a:xfrm>
            <a:off x="4070350" y="2376488"/>
            <a:ext cx="79375" cy="317500"/>
          </a:xfrm>
          <a:prstGeom prst="straightConnector1">
            <a:avLst/>
          </a:prstGeom>
          <a:noFill/>
          <a:ln w="28575" algn="ctr">
            <a:solidFill>
              <a:srgbClr val="FF0000"/>
            </a:solidFill>
            <a:rou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直接箭头连接符 9"/>
          <p:cNvCxnSpPr/>
          <p:nvPr/>
        </p:nvCxnSpPr>
        <p:spPr bwMode="auto">
          <a:xfrm>
            <a:off x="7108825" y="2389188"/>
            <a:ext cx="68263" cy="266700"/>
          </a:xfrm>
          <a:prstGeom prst="straightConnector1">
            <a:avLst/>
          </a:prstGeom>
          <a:noFill/>
          <a:ln w="28575" algn="ctr">
            <a:solidFill>
              <a:srgbClr val="FF0000"/>
            </a:solidFill>
            <a:rou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Rectangle 6"/>
          <p:cNvSpPr>
            <a:spLocks noChangeArrowheads="1"/>
          </p:cNvSpPr>
          <p:nvPr/>
        </p:nvSpPr>
        <p:spPr bwMode="auto">
          <a:xfrm>
            <a:off x="73025" y="2508806"/>
            <a:ext cx="2873375" cy="738664"/>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alpha val="50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ctr" eaLnBrk="1" hangingPunct="1">
              <a:defRPr/>
            </a:pPr>
            <a:r>
              <a:rPr lang="en-US" altLang="zh-CN" sz="2400" spc="-150" dirty="0">
                <a:solidFill>
                  <a:srgbClr val="0000FF"/>
                </a:solidFill>
              </a:rPr>
              <a:t>Data is accessed using </a:t>
            </a:r>
            <a:r>
              <a:rPr lang="en-US" altLang="zh-CN" sz="2400" spc="-150" dirty="0">
                <a:solidFill>
                  <a:srgbClr val="FF0000"/>
                </a:solidFill>
              </a:rPr>
              <a:t>MOVC</a:t>
            </a:r>
            <a:r>
              <a:rPr lang="en-US" altLang="zh-CN" sz="2400" spc="-150" dirty="0">
                <a:solidFill>
                  <a:srgbClr val="0000FF"/>
                </a:solidFill>
              </a:rPr>
              <a:t> instruction</a:t>
            </a:r>
            <a:endParaRPr lang="zh-CN" altLang="en-US" sz="2400" spc="-150" dirty="0">
              <a:solidFill>
                <a:srgbClr val="0000FF"/>
              </a:solidFill>
            </a:endParaRPr>
          </a:p>
        </p:txBody>
      </p:sp>
      <p:cxnSp>
        <p:nvCxnSpPr>
          <p:cNvPr id="20" name="直接箭头连接符 19"/>
          <p:cNvCxnSpPr/>
          <p:nvPr/>
        </p:nvCxnSpPr>
        <p:spPr bwMode="auto">
          <a:xfrm>
            <a:off x="1147763" y="2368550"/>
            <a:ext cx="58737" cy="282575"/>
          </a:xfrm>
          <a:prstGeom prst="straightConnector1">
            <a:avLst/>
          </a:prstGeom>
          <a:noFill/>
          <a:ln w="28575" algn="ctr">
            <a:solidFill>
              <a:srgbClr val="FF0000"/>
            </a:solidFill>
            <a:rou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灯片编号占位符 1"/>
          <p:cNvSpPr>
            <a:spLocks noGrp="1"/>
          </p:cNvSpPr>
          <p:nvPr>
            <p:ph type="sldNum" sz="quarter" idx="12"/>
          </p:nvPr>
        </p:nvSpPr>
        <p:spPr/>
        <p:txBody>
          <a:bodyPr/>
          <a:lstStyle/>
          <a:p>
            <a:fld id="{22E77DEE-32E4-4009-988B-F2758F7B8AC2}" type="slidenum">
              <a:rPr lang="zh-CN" altLang="en-US" smtClean="0"/>
              <a:t>31</a:t>
            </a:fld>
            <a:endParaRPr lang="zh-CN" altLang="en-US"/>
          </a:p>
        </p:txBody>
      </p:sp>
      <p:sp>
        <p:nvSpPr>
          <p:cNvPr id="4" name="文本框 3"/>
          <p:cNvSpPr txBox="1"/>
          <p:nvPr/>
        </p:nvSpPr>
        <p:spPr>
          <a:xfrm>
            <a:off x="1018903" y="4064714"/>
            <a:ext cx="1219200" cy="923330"/>
          </a:xfrm>
          <a:prstGeom prst="rect">
            <a:avLst/>
          </a:prstGeom>
          <a:solidFill>
            <a:schemeClr val="bg1"/>
          </a:solidFill>
        </p:spPr>
        <p:txBody>
          <a:bodyPr wrap="square">
            <a:spAutoFit/>
          </a:bodyPr>
          <a:lstStyle/>
          <a:p>
            <a:r>
              <a:rPr lang="en-US" altLang="zh-CN" dirty="0"/>
              <a:t>Program Flash Memory</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3"/>
          <p:cNvSpPr>
            <a:spLocks noGrp="1" noChangeArrowheads="1"/>
          </p:cNvSpPr>
          <p:nvPr>
            <p:ph type="title"/>
          </p:nvPr>
        </p:nvSpPr>
        <p:spPr>
          <a:xfrm>
            <a:off x="588291" y="447675"/>
            <a:ext cx="8229600" cy="504825"/>
          </a:xfrm>
        </p:spPr>
        <p:txBody>
          <a:bodyPr>
            <a:noAutofit/>
          </a:bodyPr>
          <a:lstStyle/>
          <a:p>
            <a:pPr eaLnBrk="1" hangingPunct="1"/>
            <a:r>
              <a:rPr lang="en-US" altLang="zh-CN" sz="3600" dirty="0">
                <a:solidFill>
                  <a:srgbClr val="00B0F0"/>
                </a:solidFill>
              </a:rPr>
              <a:t>Data Memory</a:t>
            </a:r>
            <a:endParaRPr lang="zh-CN" altLang="en-US" sz="3600" dirty="0">
              <a:solidFill>
                <a:srgbClr val="00B0F0"/>
              </a:solidFill>
            </a:endParaRPr>
          </a:p>
        </p:txBody>
      </p:sp>
      <p:sp>
        <p:nvSpPr>
          <p:cNvPr id="471043" name="Rectangle 3"/>
          <p:cNvSpPr>
            <a:spLocks noGrp="1" noChangeArrowheads="1"/>
          </p:cNvSpPr>
          <p:nvPr>
            <p:ph idx="1"/>
          </p:nvPr>
        </p:nvSpPr>
        <p:spPr>
          <a:xfrm>
            <a:off x="290634" y="1417579"/>
            <a:ext cx="8824913" cy="2900469"/>
          </a:xfrm>
          <a:solidFill>
            <a:schemeClr val="bg1"/>
          </a:solidFill>
        </p:spPr>
        <p:txBody>
          <a:bodyPr>
            <a:normAutofit/>
          </a:bodyPr>
          <a:lstStyle/>
          <a:p>
            <a:pPr eaLnBrk="1" hangingPunct="1">
              <a:lnSpc>
                <a:spcPct val="105000"/>
              </a:lnSpc>
              <a:spcBef>
                <a:spcPts val="0"/>
              </a:spcBef>
              <a:buFontTx/>
              <a:buNone/>
              <a:defRPr/>
            </a:pPr>
            <a:r>
              <a:rPr lang="en-US" altLang="zh-CN" dirty="0">
                <a:latin typeface="Times New Roman" panose="02020603050405020304" pitchFamily="18" charset="0"/>
                <a:cs typeface="Times New Roman" panose="02020603050405020304" pitchFamily="18" charset="0"/>
              </a:rPr>
              <a:t>Data Memory is also known as </a:t>
            </a:r>
            <a:r>
              <a:rPr lang="en-US" altLang="zh-CN" dirty="0">
                <a:solidFill>
                  <a:srgbClr val="FF00FF"/>
                </a:solidFill>
                <a:latin typeface="Times New Roman" panose="02020603050405020304" pitchFamily="18" charset="0"/>
                <a:cs typeface="Times New Roman" panose="02020603050405020304" pitchFamily="18" charset="0"/>
              </a:rPr>
              <a:t>Random Access Data Memory (RAM).</a:t>
            </a:r>
            <a:endParaRPr lang="zh-CN" altLang="en-US" dirty="0">
              <a:solidFill>
                <a:srgbClr val="FF00FF"/>
              </a:solidFill>
              <a:latin typeface="Times New Roman" panose="02020603050405020304" pitchFamily="18" charset="0"/>
              <a:cs typeface="Times New Roman" panose="02020603050405020304" pitchFamily="18" charset="0"/>
            </a:endParaRPr>
          </a:p>
          <a:p>
            <a:pPr eaLnBrk="1" hangingPunct="1">
              <a:lnSpc>
                <a:spcPct val="105000"/>
              </a:lnSpc>
              <a:spcBef>
                <a:spcPts val="0"/>
              </a:spcBef>
              <a:defRPr/>
            </a:pPr>
            <a:r>
              <a:rPr lang="en-US" altLang="zh-CN" dirty="0">
                <a:solidFill>
                  <a:srgbClr val="CC3300"/>
                </a:solidFill>
                <a:latin typeface="Times New Roman" panose="02020603050405020304" pitchFamily="18" charset="0"/>
                <a:cs typeface="Times New Roman" panose="02020603050405020304" pitchFamily="18" charset="0"/>
              </a:rPr>
              <a:t>Space Segmentation</a:t>
            </a:r>
          </a:p>
          <a:p>
            <a:pPr marL="363855" indent="0" eaLnBrk="1" hangingPunct="1">
              <a:lnSpc>
                <a:spcPct val="105000"/>
              </a:lnSpc>
              <a:spcBef>
                <a:spcPts val="0"/>
              </a:spcBef>
              <a:buFontTx/>
              <a:buNone/>
              <a:defRPr/>
            </a:pPr>
            <a:r>
              <a:rPr lang="en-US" altLang="zh-CN" sz="1800" dirty="0">
                <a:solidFill>
                  <a:schemeClr val="tx1"/>
                </a:solidFill>
                <a:latin typeface="Times New Roman" panose="02020603050405020304" pitchFamily="18" charset="0"/>
                <a:cs typeface="Times New Roman" panose="02020603050405020304" pitchFamily="18" charset="0"/>
              </a:rPr>
              <a:t>Physically and logically, the Data Memory is divided into two address spaces: Internal Data Memory and External Data Memory.</a:t>
            </a:r>
            <a:r>
              <a:rPr lang="zh-CN" altLang="en-US"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marL="342900" lvl="1" indent="-342900" algn="l" eaLnBrk="1" hangingPunct="1">
              <a:lnSpc>
                <a:spcPct val="105000"/>
              </a:lnSpc>
              <a:spcBef>
                <a:spcPts val="0"/>
              </a:spcBef>
              <a:spcAft>
                <a:spcPts val="600"/>
              </a:spcAft>
              <a:buFontTx/>
              <a:buBlip>
                <a:blip r:embed="rId2"/>
              </a:buBlip>
              <a:defRPr/>
            </a:pPr>
            <a:r>
              <a:rPr lang="en-US" altLang="zh-CN" dirty="0">
                <a:solidFill>
                  <a:srgbClr val="FF00FF"/>
                </a:solidFill>
                <a:latin typeface="Times New Roman" panose="02020603050405020304" pitchFamily="18" charset="0"/>
                <a:cs typeface="Times New Roman" panose="02020603050405020304" pitchFamily="18" charset="0"/>
              </a:rPr>
              <a:t>(1) Internal Data Memory (also referred to as Internal RAM)</a:t>
            </a:r>
          </a:p>
          <a:p>
            <a:pPr marL="342900" lvl="1" indent="-342900" algn="l" eaLnBrk="1" hangingPunct="1">
              <a:lnSpc>
                <a:spcPct val="105000"/>
              </a:lnSpc>
              <a:spcBef>
                <a:spcPts val="0"/>
              </a:spcBef>
              <a:spcAft>
                <a:spcPts val="600"/>
              </a:spcAft>
              <a:buFontTx/>
              <a:buBlip>
                <a:blip r:embed="rId2"/>
              </a:buBlip>
              <a:defRPr/>
            </a:pPr>
            <a:r>
              <a:rPr lang="en-US" altLang="zh-CN" dirty="0">
                <a:solidFill>
                  <a:schemeClr val="tx1"/>
                </a:solidFill>
                <a:latin typeface="Times New Roman" panose="02020603050405020304" pitchFamily="18" charset="0"/>
                <a:cs typeface="Times New Roman" panose="02020603050405020304" pitchFamily="18" charset="0"/>
              </a:rPr>
              <a:t>The 256 bytes of Internal RAM stores intermediate results and process data. The Internal RAM address range is </a:t>
            </a:r>
            <a:r>
              <a:rPr lang="en-US" altLang="zh-CN" dirty="0">
                <a:latin typeface="Times New Roman" panose="02020603050405020304" pitchFamily="18" charset="0"/>
                <a:cs typeface="Times New Roman" panose="02020603050405020304" pitchFamily="18" charset="0"/>
              </a:rPr>
              <a:t>00H</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FFH</a:t>
            </a:r>
            <a:r>
              <a:rPr lang="en-US" altLang="zh-CN" dirty="0">
                <a:solidFill>
                  <a:schemeClr val="tx1"/>
                </a:solidFill>
                <a:latin typeface="Times New Roman" panose="02020603050405020304" pitchFamily="18" charset="0"/>
                <a:cs typeface="Times New Roman" panose="02020603050405020304" pitchFamily="18" charset="0"/>
              </a:rPr>
              <a:t>, totaling </a:t>
            </a:r>
            <a:r>
              <a:rPr lang="en-US" altLang="zh-CN" dirty="0">
                <a:latin typeface="Times New Roman" panose="02020603050405020304" pitchFamily="18" charset="0"/>
                <a:cs typeface="Times New Roman" panose="02020603050405020304" pitchFamily="18" charset="0"/>
              </a:rPr>
              <a:t>256(</a:t>
            </a:r>
            <a:r>
              <a:rPr lang="en-US" altLang="zh-CN" dirty="0">
                <a:solidFill>
                  <a:srgbClr val="0000FF"/>
                </a:solidFill>
                <a:latin typeface="Times New Roman" panose="02020603050405020304" pitchFamily="18" charset="0"/>
                <a:cs typeface="Times New Roman" panose="02020603050405020304" pitchFamily="18" charset="0"/>
              </a:rPr>
              <a:t>+128</a:t>
            </a:r>
            <a:r>
              <a:rPr lang="en-US" altLang="zh-CN" dirty="0">
                <a:latin typeface="Times New Roman" panose="02020603050405020304" pitchFamily="18" charset="0"/>
                <a:cs typeface="Times New Roman" panose="02020603050405020304" pitchFamily="18" charset="0"/>
              </a:rPr>
              <a:t>) </a:t>
            </a:r>
            <a:r>
              <a:rPr lang="en-US" altLang="zh-CN" dirty="0">
                <a:solidFill>
                  <a:schemeClr val="tx1"/>
                </a:solidFill>
                <a:latin typeface="Times New Roman" panose="02020603050405020304" pitchFamily="18" charset="0"/>
                <a:cs typeface="Times New Roman" panose="02020603050405020304" pitchFamily="18" charset="0"/>
              </a:rPr>
              <a:t>units, segmented into </a:t>
            </a:r>
            <a:r>
              <a:rPr lang="en-US" altLang="zh-CN" dirty="0">
                <a:solidFill>
                  <a:srgbClr val="CF3E3E"/>
                </a:solidFill>
                <a:latin typeface="Times New Roman" panose="02020603050405020304" pitchFamily="18" charset="0"/>
                <a:cs typeface="Times New Roman" panose="02020603050405020304" pitchFamily="18" charset="0"/>
              </a:rPr>
              <a:t>three parts</a:t>
            </a:r>
            <a:r>
              <a:rPr lang="en-US" altLang="zh-CN" dirty="0">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8" name="Rectangle 3"/>
          <p:cNvSpPr txBox="1">
            <a:spLocks noChangeArrowheads="1"/>
          </p:cNvSpPr>
          <p:nvPr/>
        </p:nvSpPr>
        <p:spPr bwMode="auto">
          <a:xfrm>
            <a:off x="440246" y="3894594"/>
            <a:ext cx="5725894" cy="197643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lvl="1" indent="0" algn="l" eaLnBrk="1" hangingPunct="1">
              <a:lnSpc>
                <a:spcPct val="114000"/>
              </a:lnSpc>
              <a:spcBef>
                <a:spcPts val="0"/>
              </a:spcBef>
              <a:spcAft>
                <a:spcPts val="900"/>
              </a:spcAft>
              <a:buFontTx/>
              <a:buNone/>
              <a:defRPr/>
            </a:pPr>
            <a:r>
              <a:rPr lang="zh-CN" altLang="en-US" sz="2000" dirty="0">
                <a:solidFill>
                  <a:srgbClr val="CC3300"/>
                </a:solidFill>
                <a:latin typeface="Times New Roman" panose="02020603050405020304" pitchFamily="18" charset="0"/>
                <a:cs typeface="Times New Roman" panose="02020603050405020304" pitchFamily="18" charset="0"/>
              </a:rPr>
              <a:t>①</a:t>
            </a:r>
            <a:r>
              <a:rPr lang="en-US" altLang="zh-CN" sz="2000" kern="0" dirty="0">
                <a:solidFill>
                  <a:srgbClr val="CC3300"/>
                </a:solidFill>
                <a:latin typeface="Times New Roman" panose="02020603050405020304" pitchFamily="18" charset="0"/>
                <a:cs typeface="Times New Roman" panose="02020603050405020304" pitchFamily="18" charset="0"/>
              </a:rPr>
              <a:t>Lower 128 Bytes of RAM </a:t>
            </a:r>
            <a:r>
              <a:rPr lang="en-US" altLang="zh-CN" sz="2000" dirty="0">
                <a:latin typeface="Times New Roman" panose="02020603050405020304" pitchFamily="18" charset="0"/>
                <a:cs typeface="Times New Roman" panose="02020603050405020304" pitchFamily="18" charset="0"/>
              </a:rPr>
              <a:t>(00H</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7FH) </a:t>
            </a:r>
          </a:p>
          <a:p>
            <a:pPr marL="0" lvl="1" indent="0" algn="l" eaLnBrk="1" hangingPunct="1">
              <a:lnSpc>
                <a:spcPct val="114000"/>
              </a:lnSpc>
              <a:spcBef>
                <a:spcPts val="0"/>
              </a:spcBef>
              <a:spcAft>
                <a:spcPts val="900"/>
              </a:spcAft>
              <a:buFontTx/>
              <a:buNone/>
              <a:defRPr/>
            </a:pPr>
            <a:r>
              <a:rPr lang="zh-CN" altLang="en-US" sz="2000" kern="0" dirty="0">
                <a:solidFill>
                  <a:srgbClr val="CC3300"/>
                </a:solidFill>
                <a:latin typeface="Times New Roman" panose="02020603050405020304" pitchFamily="18" charset="0"/>
                <a:cs typeface="Times New Roman" panose="02020603050405020304" pitchFamily="18" charset="0"/>
              </a:rPr>
              <a:t>②</a:t>
            </a:r>
            <a:r>
              <a:rPr lang="en-US" altLang="zh-CN" sz="2000" kern="0" dirty="0">
                <a:solidFill>
                  <a:srgbClr val="CC3300"/>
                </a:solidFill>
                <a:latin typeface="Times New Roman" panose="02020603050405020304" pitchFamily="18" charset="0"/>
                <a:cs typeface="Times New Roman" panose="02020603050405020304" pitchFamily="18" charset="0"/>
              </a:rPr>
              <a:t>Upper 128 Bytes of RAM</a:t>
            </a:r>
            <a:r>
              <a:rPr lang="zh-CN" altLang="en-US" sz="2000" kern="0" dirty="0">
                <a:latin typeface="Times New Roman" panose="02020603050405020304" pitchFamily="18" charset="0"/>
                <a:cs typeface="Times New Roman" panose="02020603050405020304" pitchFamily="18" charset="0"/>
              </a:rPr>
              <a:t>（</a:t>
            </a:r>
            <a:r>
              <a:rPr lang="en-US" altLang="zh-CN" sz="2000" kern="0" dirty="0">
                <a:solidFill>
                  <a:srgbClr val="9900CC"/>
                </a:solidFill>
                <a:latin typeface="Times New Roman" panose="02020603050405020304" pitchFamily="18" charset="0"/>
                <a:cs typeface="Times New Roman" panose="02020603050405020304" pitchFamily="18" charset="0"/>
              </a:rPr>
              <a:t>80H</a:t>
            </a:r>
            <a:r>
              <a:rPr lang="zh-CN" altLang="en-US" sz="2000" kern="0" dirty="0">
                <a:solidFill>
                  <a:srgbClr val="9900CC"/>
                </a:solidFill>
                <a:latin typeface="Times New Roman" panose="02020603050405020304" pitchFamily="18" charset="0"/>
                <a:cs typeface="Times New Roman" panose="02020603050405020304" pitchFamily="18" charset="0"/>
              </a:rPr>
              <a:t>～</a:t>
            </a:r>
            <a:r>
              <a:rPr lang="en-US" altLang="zh-CN" sz="2000" kern="0" dirty="0">
                <a:solidFill>
                  <a:srgbClr val="9900CC"/>
                </a:solidFill>
                <a:latin typeface="Times New Roman" panose="02020603050405020304" pitchFamily="18" charset="0"/>
                <a:cs typeface="Times New Roman" panose="02020603050405020304" pitchFamily="18" charset="0"/>
              </a:rPr>
              <a:t>FFH</a:t>
            </a:r>
            <a:r>
              <a:rPr lang="zh-CN" altLang="en-US" sz="2000" kern="0" dirty="0">
                <a:latin typeface="Times New Roman" panose="02020603050405020304" pitchFamily="18" charset="0"/>
                <a:cs typeface="Times New Roman" panose="02020603050405020304" pitchFamily="18" charset="0"/>
              </a:rPr>
              <a:t>）</a:t>
            </a:r>
          </a:p>
          <a:p>
            <a:pPr marL="0" lvl="1" indent="0" algn="l" eaLnBrk="1" hangingPunct="1">
              <a:lnSpc>
                <a:spcPct val="114000"/>
              </a:lnSpc>
              <a:spcBef>
                <a:spcPts val="0"/>
              </a:spcBef>
              <a:spcAft>
                <a:spcPts val="900"/>
              </a:spcAft>
              <a:buFontTx/>
              <a:buNone/>
              <a:defRPr/>
            </a:pPr>
            <a:r>
              <a:rPr lang="zh-CN" altLang="en-US" sz="2000" kern="0" dirty="0">
                <a:solidFill>
                  <a:srgbClr val="CC3300"/>
                </a:solidFill>
                <a:latin typeface="Times New Roman" panose="02020603050405020304" pitchFamily="18" charset="0"/>
                <a:cs typeface="Times New Roman" panose="02020603050405020304" pitchFamily="18" charset="0"/>
              </a:rPr>
              <a:t>③</a:t>
            </a:r>
            <a:r>
              <a:rPr lang="en-US" altLang="zh-CN" sz="2000" dirty="0">
                <a:solidFill>
                  <a:srgbClr val="9900CC"/>
                </a:solidFill>
                <a:latin typeface="Times New Roman" panose="02020603050405020304" pitchFamily="18" charset="0"/>
                <a:cs typeface="Times New Roman" panose="02020603050405020304" pitchFamily="18" charset="0"/>
              </a:rPr>
              <a:t>Special Function Register (SFR) Area: Address range is 80H</a:t>
            </a:r>
            <a:r>
              <a:rPr lang="zh-CN" altLang="en-US" sz="2000" dirty="0">
                <a:solidFill>
                  <a:srgbClr val="9900CC"/>
                </a:solidFill>
                <a:latin typeface="Times New Roman" panose="02020603050405020304" pitchFamily="18" charset="0"/>
                <a:cs typeface="Times New Roman" panose="02020603050405020304" pitchFamily="18" charset="0"/>
              </a:rPr>
              <a:t>～</a:t>
            </a:r>
            <a:r>
              <a:rPr lang="en-US" altLang="zh-CN" sz="2000" dirty="0">
                <a:solidFill>
                  <a:srgbClr val="9900CC"/>
                </a:solidFill>
                <a:latin typeface="Times New Roman" panose="02020603050405020304" pitchFamily="18" charset="0"/>
                <a:cs typeface="Times New Roman" panose="02020603050405020304" pitchFamily="18" charset="0"/>
              </a:rPr>
              <a:t>FFH</a:t>
            </a:r>
            <a:endParaRPr lang="zh-CN" altLang="en-US" sz="2000" kern="0" dirty="0">
              <a:solidFill>
                <a:srgbClr val="9900CC"/>
              </a:solidFill>
              <a:latin typeface="Times New Roman" panose="02020603050405020304" pitchFamily="18" charset="0"/>
              <a:cs typeface="Times New Roman" panose="02020603050405020304" pitchFamily="18" charset="0"/>
            </a:endParaRPr>
          </a:p>
        </p:txBody>
      </p:sp>
      <p:sp>
        <p:nvSpPr>
          <p:cNvPr id="7" name="Rectangle 3"/>
          <p:cNvSpPr txBox="1">
            <a:spLocks noChangeArrowheads="1"/>
          </p:cNvSpPr>
          <p:nvPr/>
        </p:nvSpPr>
        <p:spPr bwMode="auto">
          <a:xfrm>
            <a:off x="6707105" y="4384140"/>
            <a:ext cx="2376125" cy="99733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lvl="1" indent="0" algn="ctr" eaLnBrk="1" hangingPunct="1">
              <a:lnSpc>
                <a:spcPct val="85000"/>
              </a:lnSpc>
              <a:spcBef>
                <a:spcPts val="0"/>
              </a:spcBef>
              <a:spcAft>
                <a:spcPts val="0"/>
              </a:spcAft>
              <a:buFontTx/>
              <a:buNone/>
              <a:defRPr/>
            </a:pPr>
            <a:r>
              <a:rPr lang="en-US" altLang="zh-CN" sz="2000" dirty="0">
                <a:solidFill>
                  <a:srgbClr val="3333FF"/>
                </a:solidFill>
              </a:rPr>
              <a:t>Address Overlap</a:t>
            </a:r>
          </a:p>
          <a:p>
            <a:pPr marL="0" lvl="1" indent="0" algn="ctr" eaLnBrk="1" hangingPunct="1">
              <a:lnSpc>
                <a:spcPct val="85000"/>
              </a:lnSpc>
              <a:spcBef>
                <a:spcPts val="0"/>
              </a:spcBef>
              <a:spcAft>
                <a:spcPts val="0"/>
              </a:spcAft>
              <a:buFontTx/>
              <a:buNone/>
              <a:defRPr/>
            </a:pPr>
            <a:r>
              <a:rPr lang="en-US" altLang="zh-CN" sz="2000" dirty="0">
                <a:solidFill>
                  <a:srgbClr val="3333FF"/>
                </a:solidFill>
              </a:rPr>
              <a:t>distinguished by Addressing Mode</a:t>
            </a:r>
            <a:endParaRPr lang="zh-CN" altLang="en-US" sz="2000" kern="0" dirty="0">
              <a:solidFill>
                <a:srgbClr val="3333FF"/>
              </a:solidFill>
            </a:endParaRPr>
          </a:p>
        </p:txBody>
      </p:sp>
      <p:sp>
        <p:nvSpPr>
          <p:cNvPr id="3" name="右大括号 2"/>
          <p:cNvSpPr/>
          <p:nvPr/>
        </p:nvSpPr>
        <p:spPr bwMode="auto">
          <a:xfrm>
            <a:off x="6254101" y="3971975"/>
            <a:ext cx="420687" cy="1622303"/>
          </a:xfrm>
          <a:prstGeom prst="rightBrace">
            <a:avLst>
              <a:gd name="adj1" fmla="val 8861"/>
              <a:gd name="adj2" fmla="val 50000"/>
            </a:avLst>
          </a:prstGeom>
          <a:noFill/>
          <a:ln w="9525" algn="ctr">
            <a:solidFill>
              <a:srgbClr val="3333FF"/>
            </a:solidFill>
            <a:rou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 name="灯片编号占位符 3"/>
          <p:cNvSpPr>
            <a:spLocks noGrp="1"/>
          </p:cNvSpPr>
          <p:nvPr>
            <p:ph type="sldNum" sz="quarter" idx="12"/>
          </p:nvPr>
        </p:nvSpPr>
        <p:spPr/>
        <p:txBody>
          <a:bodyPr/>
          <a:lstStyle/>
          <a:p>
            <a:fld id="{22E77DEE-32E4-4009-988B-F2758F7B8AC2}" type="slidenum">
              <a:rPr lang="zh-CN" altLang="en-US" smtClean="0"/>
              <a:t>32</a:t>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3" name="Rectangle 3"/>
          <p:cNvSpPr>
            <a:spLocks noGrp="1" noChangeArrowheads="1"/>
          </p:cNvSpPr>
          <p:nvPr>
            <p:ph idx="1"/>
          </p:nvPr>
        </p:nvSpPr>
        <p:spPr>
          <a:xfrm>
            <a:off x="734059" y="1320800"/>
            <a:ext cx="7518401" cy="4008846"/>
          </a:xfrm>
          <a:solidFill>
            <a:schemeClr val="bg1"/>
          </a:solidFill>
        </p:spPr>
        <p:txBody>
          <a:bodyPr>
            <a:normAutofit fontScale="92500" lnSpcReduction="20000"/>
          </a:bodyPr>
          <a:lstStyle/>
          <a:p>
            <a:pPr marL="0" lvl="1" indent="0" algn="l" eaLnBrk="1" hangingPunct="1">
              <a:lnSpc>
                <a:spcPct val="114000"/>
              </a:lnSpc>
              <a:spcBef>
                <a:spcPts val="0"/>
              </a:spcBef>
              <a:spcAft>
                <a:spcPts val="1200"/>
              </a:spcAft>
              <a:buFontTx/>
              <a:buNone/>
              <a:defRPr/>
            </a:pPr>
            <a:r>
              <a:rPr lang="en-US" altLang="zh-CN" sz="1900" dirty="0">
                <a:solidFill>
                  <a:srgbClr val="FF00FF"/>
                </a:solidFill>
                <a:latin typeface="Times New Roman" panose="02020603050405020304" pitchFamily="18" charset="0"/>
                <a:cs typeface="Times New Roman" panose="02020603050405020304" pitchFamily="18" charset="0"/>
              </a:rPr>
              <a:t>(1) Detailed Introduction to the Three Segments of Internal Data Memory (a.k.a. Internal RAM):</a:t>
            </a:r>
          </a:p>
          <a:p>
            <a:pPr marL="342900" lvl="1" indent="-342900" algn="l" eaLnBrk="1" hangingPunct="1">
              <a:lnSpc>
                <a:spcPct val="114000"/>
              </a:lnSpc>
              <a:spcBef>
                <a:spcPts val="0"/>
              </a:spcBef>
              <a:spcAft>
                <a:spcPts val="1200"/>
              </a:spcAft>
              <a:buFontTx/>
              <a:buBlip>
                <a:blip r:embed="rId2"/>
              </a:buBlip>
              <a:defRPr/>
            </a:pPr>
            <a:r>
              <a:rPr lang="zh-CN" altLang="en-US" dirty="0">
                <a:solidFill>
                  <a:srgbClr val="CC3300"/>
                </a:solidFill>
                <a:latin typeface="Times New Roman" panose="02020603050405020304" pitchFamily="18" charset="0"/>
                <a:cs typeface="Times New Roman" panose="02020603050405020304" pitchFamily="18" charset="0"/>
              </a:rPr>
              <a:t>①</a:t>
            </a:r>
            <a:r>
              <a:rPr lang="en-US" altLang="zh-CN" dirty="0">
                <a:solidFill>
                  <a:srgbClr val="CC3300"/>
                </a:solidFill>
                <a:latin typeface="Times New Roman" panose="02020603050405020304" pitchFamily="18" charset="0"/>
                <a:cs typeface="Times New Roman" panose="02020603050405020304" pitchFamily="18" charset="0"/>
              </a:rPr>
              <a:t>128 Bytes of RAM </a:t>
            </a:r>
            <a:r>
              <a:rPr lang="en-US" altLang="zh-CN" dirty="0">
                <a:latin typeface="Times New Roman" panose="02020603050405020304" pitchFamily="18" charset="0"/>
                <a:cs typeface="Times New Roman" panose="02020603050405020304" pitchFamily="18" charset="0"/>
              </a:rPr>
              <a:t>(00H</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7FH)</a:t>
            </a:r>
            <a:r>
              <a:rPr lang="zh-CN" altLang="en-US" dirty="0">
                <a:latin typeface="Times New Roman" panose="02020603050405020304" pitchFamily="18" charset="0"/>
                <a:cs typeface="Times New Roman" panose="02020603050405020304" pitchFamily="18" charset="0"/>
              </a:rPr>
              <a:t>：</a:t>
            </a:r>
            <a:r>
              <a:rPr lang="en-US" altLang="zh-CN" dirty="0">
                <a:solidFill>
                  <a:srgbClr val="FF0000"/>
                </a:solidFill>
                <a:latin typeface="Times New Roman" panose="02020603050405020304" pitchFamily="18" charset="0"/>
                <a:cs typeface="Times New Roman" panose="02020603050405020304" pitchFamily="18" charset="0"/>
              </a:rPr>
              <a:t>Also known as the Base RAM Area.</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The Base RAM Area is further divided into </a:t>
            </a:r>
            <a:r>
              <a:rPr lang="en-US" altLang="zh-CN" dirty="0">
                <a:solidFill>
                  <a:srgbClr val="0000CC"/>
                </a:solidFill>
                <a:latin typeface="Times New Roman" panose="02020603050405020304" pitchFamily="18" charset="0"/>
                <a:cs typeface="Times New Roman" panose="02020603050405020304" pitchFamily="18" charset="0"/>
              </a:rPr>
              <a:t>Register Banks, the Bit-Addressable Area, User RAM, and the Stack Area</a:t>
            </a:r>
            <a:r>
              <a:rPr lang="en-US" altLang="zh-CN" dirty="0">
                <a:latin typeface="Times New Roman" panose="02020603050405020304" pitchFamily="18" charset="0"/>
                <a:cs typeface="Times New Roman" panose="02020603050405020304" pitchFamily="18" charset="0"/>
              </a:rPr>
              <a:t>.</a:t>
            </a:r>
          </a:p>
          <a:p>
            <a:pPr marL="363855" lvl="1" indent="-189230" algn="l" eaLnBrk="1" hangingPunct="1">
              <a:lnSpc>
                <a:spcPct val="114000"/>
              </a:lnSpc>
              <a:spcBef>
                <a:spcPts val="0"/>
              </a:spcBef>
              <a:spcAft>
                <a:spcPts val="1200"/>
              </a:spcAft>
              <a:buClr>
                <a:srgbClr val="0000CC"/>
              </a:buClr>
              <a:buSzPct val="70000"/>
              <a:buFont typeface="Wingdings" panose="05000000000000000000" pitchFamily="2" charset="2"/>
              <a:buChar char="u"/>
              <a:defRPr/>
            </a:pPr>
            <a:r>
              <a:rPr lang="en-US" altLang="zh-CN" dirty="0">
                <a:latin typeface="Times New Roman" panose="02020603050405020304" pitchFamily="18" charset="0"/>
                <a:cs typeface="Times New Roman" panose="02020603050405020304" pitchFamily="18" charset="0"/>
              </a:rPr>
              <a:t>Supports Direct Addressing and Register Indirect Addressing. Accessed using instructions in the form of "</a:t>
            </a:r>
            <a:r>
              <a:rPr lang="en-US" altLang="zh-CN" dirty="0">
                <a:solidFill>
                  <a:srgbClr val="FF0000"/>
                </a:solidFill>
                <a:latin typeface="Times New Roman" panose="02020603050405020304" pitchFamily="18" charset="0"/>
                <a:cs typeface="Times New Roman" panose="02020603050405020304" pitchFamily="18" charset="0"/>
              </a:rPr>
              <a:t>MOV direct" and "MOV @Ri</a:t>
            </a:r>
            <a:r>
              <a:rPr lang="en-US" altLang="zh-CN" dirty="0">
                <a:latin typeface="Times New Roman" panose="02020603050405020304" pitchFamily="18" charset="0"/>
                <a:cs typeface="Times New Roman" panose="02020603050405020304" pitchFamily="18" charset="0"/>
              </a:rPr>
              <a:t>".</a:t>
            </a:r>
          </a:p>
          <a:p>
            <a:pPr marL="342900" lvl="1" indent="-342900" algn="l" eaLnBrk="1" hangingPunct="1">
              <a:lnSpc>
                <a:spcPct val="114000"/>
              </a:lnSpc>
              <a:spcBef>
                <a:spcPts val="0"/>
              </a:spcBef>
              <a:spcAft>
                <a:spcPts val="1200"/>
              </a:spcAft>
              <a:buFontTx/>
              <a:buBlip>
                <a:blip r:embed="rId2"/>
              </a:buBlip>
              <a:defRPr/>
            </a:pPr>
            <a:r>
              <a:rPr lang="zh-CN" altLang="en-US" dirty="0">
                <a:solidFill>
                  <a:srgbClr val="CC3300"/>
                </a:solidFill>
                <a:latin typeface="Times New Roman" panose="02020603050405020304" pitchFamily="18" charset="0"/>
                <a:cs typeface="Times New Roman" panose="02020603050405020304" pitchFamily="18" charset="0"/>
              </a:rPr>
              <a:t>②</a:t>
            </a:r>
            <a:r>
              <a:rPr lang="en-US" altLang="zh-CN" dirty="0">
                <a:solidFill>
                  <a:srgbClr val="CC3300"/>
                </a:solidFill>
                <a:latin typeface="Times New Roman" panose="02020603050405020304" pitchFamily="18" charset="0"/>
                <a:cs typeface="Times New Roman" panose="02020603050405020304" pitchFamily="18" charset="0"/>
              </a:rPr>
              <a:t>128 Bytes of RAM(</a:t>
            </a:r>
            <a:r>
              <a:rPr lang="en-US" altLang="zh-CN" dirty="0">
                <a:latin typeface="Times New Roman" panose="02020603050405020304" pitchFamily="18" charset="0"/>
                <a:cs typeface="Times New Roman" panose="02020603050405020304" pitchFamily="18" charset="0"/>
              </a:rPr>
              <a:t>80H</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FFH):Can only be accessed via Indirect Addressing. Accessed using instructions in the form of "MOV @Ri".</a:t>
            </a:r>
            <a:endParaRPr lang="zh-CN" altLang="en-US" dirty="0">
              <a:latin typeface="Times New Roman" panose="02020603050405020304" pitchFamily="18" charset="0"/>
              <a:cs typeface="Times New Roman" panose="02020603050405020304" pitchFamily="18" charset="0"/>
            </a:endParaRPr>
          </a:p>
          <a:p>
            <a:pPr marL="342900" lvl="1" indent="-342900" algn="l" eaLnBrk="1" hangingPunct="1">
              <a:lnSpc>
                <a:spcPct val="114000"/>
              </a:lnSpc>
              <a:spcBef>
                <a:spcPts val="0"/>
              </a:spcBef>
              <a:spcAft>
                <a:spcPts val="1200"/>
              </a:spcAft>
              <a:buFontTx/>
              <a:buBlip>
                <a:blip r:embed="rId2"/>
              </a:buBlip>
              <a:defRPr/>
            </a:pPr>
            <a:r>
              <a:rPr lang="zh-CN" altLang="en-US" dirty="0">
                <a:solidFill>
                  <a:srgbClr val="CC3300"/>
                </a:solidFill>
                <a:latin typeface="Times New Roman" panose="02020603050405020304" pitchFamily="18" charset="0"/>
                <a:cs typeface="Times New Roman" panose="02020603050405020304" pitchFamily="18" charset="0"/>
              </a:rPr>
              <a:t>③</a:t>
            </a:r>
            <a:r>
              <a:rPr lang="en-US" altLang="zh-CN" dirty="0">
                <a:solidFill>
                  <a:srgbClr val="CC3300"/>
                </a:solidFill>
                <a:latin typeface="Times New Roman" panose="02020603050405020304" pitchFamily="18" charset="0"/>
                <a:cs typeface="Times New Roman" panose="02020603050405020304" pitchFamily="18" charset="0"/>
              </a:rPr>
              <a:t>Special Function Register </a:t>
            </a:r>
            <a:r>
              <a:rPr lang="en-US" altLang="zh-CN" dirty="0">
                <a:latin typeface="Times New Roman" panose="02020603050405020304" pitchFamily="18" charset="0"/>
                <a:cs typeface="Times New Roman" panose="02020603050405020304" pitchFamily="18" charset="0"/>
              </a:rPr>
              <a:t>(SFR):Area: Address range is80H</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FFH</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Can only be accessed via Direct Addressing, accessed using instructions in the form of </a:t>
            </a:r>
            <a:r>
              <a:rPr lang="en-US" altLang="zh-CN" dirty="0">
                <a:solidFill>
                  <a:srgbClr val="FF0000"/>
                </a:solidFill>
                <a:latin typeface="Times New Roman" panose="02020603050405020304" pitchFamily="18" charset="0"/>
                <a:cs typeface="Times New Roman" panose="02020603050405020304" pitchFamily="18" charset="0"/>
              </a:rPr>
              <a:t>"MOV direct".</a:t>
            </a:r>
            <a:endParaRPr lang="zh-CN" altLang="en-US" dirty="0">
              <a:solidFill>
                <a:srgbClr val="FF0000"/>
              </a:solidFill>
              <a:latin typeface="Times New Roman" panose="02020603050405020304" pitchFamily="18" charset="0"/>
              <a:cs typeface="Times New Roman" panose="02020603050405020304" pitchFamily="18" charset="0"/>
            </a:endParaRPr>
          </a:p>
          <a:p>
            <a:pPr marL="342900" lvl="1" indent="-342900" algn="l" eaLnBrk="1" hangingPunct="1">
              <a:lnSpc>
                <a:spcPct val="114000"/>
              </a:lnSpc>
              <a:spcBef>
                <a:spcPts val="0"/>
              </a:spcBef>
              <a:spcAft>
                <a:spcPts val="1200"/>
              </a:spcAft>
              <a:buFontTx/>
              <a:buBlip>
                <a:blip r:embed="rId2"/>
              </a:buBlip>
              <a:defRPr/>
            </a:pPr>
            <a:endParaRPr lang="zh-CN" altLang="en-US" dirty="0">
              <a:latin typeface="Times New Roman" panose="02020603050405020304" pitchFamily="18" charset="0"/>
              <a:cs typeface="Times New Roman" panose="02020603050405020304" pitchFamily="18" charset="0"/>
            </a:endParaRPr>
          </a:p>
        </p:txBody>
      </p:sp>
      <p:graphicFrame>
        <p:nvGraphicFramePr>
          <p:cNvPr id="6" name="Group 81"/>
          <p:cNvGraphicFramePr>
            <a:graphicFrameLocks noGrp="1"/>
          </p:cNvGraphicFramePr>
          <p:nvPr/>
        </p:nvGraphicFramePr>
        <p:xfrm>
          <a:off x="6869083" y="3796065"/>
          <a:ext cx="1973263" cy="400050"/>
        </p:xfrm>
        <a:graphic>
          <a:graphicData uri="http://schemas.openxmlformats.org/drawingml/2006/table">
            <a:tbl>
              <a:tblPr/>
              <a:tblGrid>
                <a:gridCol w="1973263">
                  <a:extLst>
                    <a:ext uri="{9D8B030D-6E8A-4147-A177-3AD203B41FA5}">
                      <a16:colId xmlns:a16="http://schemas.microsoft.com/office/drawing/2014/main" val="20000"/>
                    </a:ext>
                  </a:extLst>
                </a:gridCol>
              </a:tblGrid>
              <a:tr h="400050">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pt-BR" altLang="zh-CN" sz="2400" b="1" i="0" u="none" strike="noStrike" cap="none" normalizeH="0" baseline="0" dirty="0">
                          <a:ln>
                            <a:noFill/>
                          </a:ln>
                          <a:solidFill>
                            <a:srgbClr val="0000CC"/>
                          </a:solidFill>
                          <a:effectLst/>
                          <a:latin typeface="Times New Roman" panose="02020603050405020304" pitchFamily="18" charset="0"/>
                          <a:ea typeface="宋体" panose="02010600030101010101" pitchFamily="2" charset="-122"/>
                          <a:cs typeface="Times New Roman" panose="02020603050405020304" pitchFamily="18" charset="0"/>
                        </a:rPr>
                        <a:t>MOV A</a:t>
                      </a:r>
                      <a:r>
                        <a:rPr kumimoji="0" lang="en-US" altLang="zh-CN" sz="2400" b="1" i="0" u="none" strike="noStrike" cap="none" normalizeH="0" baseline="0" dirty="0">
                          <a:ln>
                            <a:noFill/>
                          </a:ln>
                          <a:solidFill>
                            <a:srgbClr val="0000CC"/>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pt-BR"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38H</a:t>
                      </a:r>
                    </a:p>
                  </a:txBody>
                  <a:tcPr marL="91444" marR="914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aphicFrame>
        <p:nvGraphicFramePr>
          <p:cNvPr id="7" name="Group 81"/>
          <p:cNvGraphicFramePr>
            <a:graphicFrameLocks noGrp="1"/>
          </p:cNvGraphicFramePr>
          <p:nvPr/>
        </p:nvGraphicFramePr>
        <p:xfrm>
          <a:off x="6753196" y="4761185"/>
          <a:ext cx="2089150" cy="400050"/>
        </p:xfrm>
        <a:graphic>
          <a:graphicData uri="http://schemas.openxmlformats.org/drawingml/2006/table">
            <a:tbl>
              <a:tblPr/>
              <a:tblGrid>
                <a:gridCol w="2089150">
                  <a:extLst>
                    <a:ext uri="{9D8B030D-6E8A-4147-A177-3AD203B41FA5}">
                      <a16:colId xmlns:a16="http://schemas.microsoft.com/office/drawing/2014/main" val="20000"/>
                    </a:ext>
                  </a:extLst>
                </a:gridCol>
              </a:tblGrid>
              <a:tr h="400050">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pt-BR" altLang="zh-CN" sz="2400" b="1" i="0" u="none" strike="noStrike" cap="none" normalizeH="0" baseline="0" dirty="0">
                          <a:ln>
                            <a:noFill/>
                          </a:ln>
                          <a:solidFill>
                            <a:srgbClr val="0000CC"/>
                          </a:solidFill>
                          <a:effectLst/>
                          <a:latin typeface="Times New Roman" panose="02020603050405020304" pitchFamily="18" charset="0"/>
                          <a:ea typeface="宋体" panose="02010600030101010101" pitchFamily="2" charset="-122"/>
                          <a:cs typeface="Times New Roman" panose="02020603050405020304" pitchFamily="18" charset="0"/>
                        </a:rPr>
                        <a:t>MOV A</a:t>
                      </a:r>
                      <a:r>
                        <a:rPr kumimoji="0" lang="en-US" altLang="zh-CN" sz="2400" b="1" i="0" u="none" strike="noStrike" cap="none" normalizeH="0" baseline="0" dirty="0">
                          <a:ln>
                            <a:noFill/>
                          </a:ln>
                          <a:solidFill>
                            <a:srgbClr val="0000CC"/>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pt-BR"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@R0</a:t>
                      </a:r>
                    </a:p>
                  </a:txBody>
                  <a:tcPr marL="91470" marR="9147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sp>
        <p:nvSpPr>
          <p:cNvPr id="3" name="灯片编号占位符 2"/>
          <p:cNvSpPr>
            <a:spLocks noGrp="1"/>
          </p:cNvSpPr>
          <p:nvPr>
            <p:ph type="sldNum" sz="quarter" idx="12"/>
          </p:nvPr>
        </p:nvSpPr>
        <p:spPr/>
        <p:txBody>
          <a:bodyPr/>
          <a:lstStyle/>
          <a:p>
            <a:fld id="{22E77DEE-32E4-4009-988B-F2758F7B8AC2}" type="slidenum">
              <a:rPr lang="zh-CN" altLang="en-US" smtClean="0"/>
              <a:t>33</a:t>
            </a:fld>
            <a:endParaRPr lang="zh-CN" altLang="en-US"/>
          </a:p>
        </p:txBody>
      </p:sp>
      <p:sp>
        <p:nvSpPr>
          <p:cNvPr id="5" name="标题 3"/>
          <p:cNvSpPr>
            <a:spLocks noGrp="1" noChangeArrowheads="1"/>
          </p:cNvSpPr>
          <p:nvPr>
            <p:ph type="title"/>
          </p:nvPr>
        </p:nvSpPr>
        <p:spPr>
          <a:xfrm>
            <a:off x="588291" y="447675"/>
            <a:ext cx="8229600" cy="504825"/>
          </a:xfrm>
        </p:spPr>
        <p:txBody>
          <a:bodyPr>
            <a:noAutofit/>
          </a:bodyPr>
          <a:lstStyle/>
          <a:p>
            <a:pPr eaLnBrk="1" hangingPunct="1"/>
            <a:r>
              <a:rPr lang="en-US" altLang="zh-CN" sz="3600" dirty="0">
                <a:solidFill>
                  <a:srgbClr val="00B0F0"/>
                </a:solidFill>
              </a:rPr>
              <a:t>Data Memory</a:t>
            </a:r>
            <a:endParaRPr lang="zh-CN" altLang="en-US" sz="3600" dirty="0">
              <a:solidFill>
                <a:srgbClr val="00B0F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3"/>
          <p:cNvSpPr>
            <a:spLocks noGrp="1" noChangeArrowheads="1"/>
          </p:cNvSpPr>
          <p:nvPr>
            <p:ph type="title"/>
          </p:nvPr>
        </p:nvSpPr>
        <p:spPr>
          <a:xfrm>
            <a:off x="530724" y="569803"/>
            <a:ext cx="8229600" cy="504825"/>
          </a:xfrm>
        </p:spPr>
        <p:txBody>
          <a:bodyPr>
            <a:noAutofit/>
          </a:bodyPr>
          <a:lstStyle/>
          <a:p>
            <a:pPr eaLnBrk="1" hangingPunct="1"/>
            <a:r>
              <a:rPr lang="en-US" altLang="zh-CN" sz="3600" dirty="0">
                <a:solidFill>
                  <a:srgbClr val="00B0F0"/>
                </a:solidFill>
              </a:rPr>
              <a:t>Working Register Banks</a:t>
            </a:r>
            <a:endParaRPr lang="zh-CN" altLang="en-US" sz="3600" dirty="0">
              <a:solidFill>
                <a:srgbClr val="00B0F0"/>
              </a:solidFill>
            </a:endParaRPr>
          </a:p>
        </p:txBody>
      </p:sp>
      <p:sp>
        <p:nvSpPr>
          <p:cNvPr id="474115" name="Rectangle 3"/>
          <p:cNvSpPr>
            <a:spLocks noGrp="1" noChangeArrowheads="1"/>
          </p:cNvSpPr>
          <p:nvPr>
            <p:ph idx="1"/>
          </p:nvPr>
        </p:nvSpPr>
        <p:spPr>
          <a:xfrm>
            <a:off x="771525" y="1203326"/>
            <a:ext cx="7521575" cy="2745077"/>
          </a:xfrm>
        </p:spPr>
        <p:txBody>
          <a:bodyPr>
            <a:noAutofit/>
          </a:bodyPr>
          <a:lstStyle/>
          <a:p>
            <a:pPr marL="262255" lvl="1" indent="-262255" algn="l" eaLnBrk="1" hangingPunct="1">
              <a:lnSpc>
                <a:spcPct val="114000"/>
              </a:lnSpc>
              <a:spcBef>
                <a:spcPts val="0"/>
              </a:spcBef>
              <a:spcAft>
                <a:spcPts val="600"/>
              </a:spcAft>
              <a:defRPr/>
            </a:pPr>
            <a:r>
              <a:rPr lang="en-US" altLang="zh-CN" dirty="0">
                <a:solidFill>
                  <a:srgbClr val="CC3300"/>
                </a:solidFill>
                <a:latin typeface="Times New Roman" panose="02020603050405020304" pitchFamily="18" charset="0"/>
                <a:cs typeface="Times New Roman" panose="02020603050405020304" pitchFamily="18" charset="0"/>
              </a:rPr>
              <a:t>Address Allocation:</a:t>
            </a:r>
            <a:r>
              <a:rPr lang="en-US" altLang="zh-CN" dirty="0">
                <a:solidFill>
                  <a:srgbClr val="0000CC"/>
                </a:solidFill>
                <a:latin typeface="Times New Roman" panose="02020603050405020304" pitchFamily="18" charset="0"/>
                <a:cs typeface="Times New Roman" panose="02020603050405020304" pitchFamily="18" charset="0"/>
              </a:rPr>
              <a:t>00H</a:t>
            </a:r>
            <a:r>
              <a:rPr lang="zh-CN" altLang="en-US" dirty="0">
                <a:solidFill>
                  <a:srgbClr val="0000CC"/>
                </a:solidFill>
                <a:latin typeface="Times New Roman" panose="02020603050405020304" pitchFamily="18" charset="0"/>
                <a:cs typeface="Times New Roman" panose="02020603050405020304" pitchFamily="18" charset="0"/>
              </a:rPr>
              <a:t>～</a:t>
            </a:r>
            <a:r>
              <a:rPr lang="en-US" altLang="zh-CN" dirty="0">
                <a:solidFill>
                  <a:srgbClr val="0000CC"/>
                </a:solidFill>
                <a:latin typeface="Times New Roman" panose="02020603050405020304" pitchFamily="18" charset="0"/>
                <a:cs typeface="Times New Roman" panose="02020603050405020304" pitchFamily="18" charset="0"/>
              </a:rPr>
              <a:t>1FH , totaling 32 units</a:t>
            </a:r>
            <a:r>
              <a:rPr lang="en-US" altLang="zh-CN" dirty="0">
                <a:solidFill>
                  <a:schemeClr val="tx1"/>
                </a:solidFill>
                <a:latin typeface="Times New Roman" panose="02020603050405020304" pitchFamily="18" charset="0"/>
                <a:cs typeface="Times New Roman" panose="02020603050405020304" pitchFamily="18" charset="0"/>
              </a:rPr>
              <a:t>. Divided into four banks (each bank is called a Register Bank), </a:t>
            </a:r>
            <a:r>
              <a:rPr lang="en-US" altLang="zh-CN" dirty="0">
                <a:solidFill>
                  <a:srgbClr val="0000CC"/>
                </a:solidFill>
                <a:latin typeface="Times New Roman" panose="02020603050405020304" pitchFamily="18" charset="0"/>
                <a:cs typeface="Times New Roman" panose="02020603050405020304" pitchFamily="18" charset="0"/>
              </a:rPr>
              <a:t>with each bank including 8 x 8-bit working registers, namely R0 ~ R7</a:t>
            </a:r>
            <a:r>
              <a:rPr lang="en-US" altLang="zh-CN" dirty="0">
                <a:solidFill>
                  <a:schemeClr val="tx1"/>
                </a:solidFill>
                <a:latin typeface="Times New Roman" panose="02020603050405020304" pitchFamily="18" charset="0"/>
                <a:cs typeface="Times New Roman" panose="02020603050405020304" pitchFamily="18" charset="0"/>
              </a:rPr>
              <a:t>.</a:t>
            </a:r>
          </a:p>
          <a:p>
            <a:pPr marL="262255" lvl="1" indent="-262255" algn="l" eaLnBrk="1" hangingPunct="1">
              <a:lnSpc>
                <a:spcPct val="114000"/>
              </a:lnSpc>
              <a:spcBef>
                <a:spcPts val="0"/>
              </a:spcBef>
              <a:spcAft>
                <a:spcPts val="600"/>
              </a:spcAft>
              <a:defRPr/>
            </a:pPr>
            <a:r>
              <a:rPr lang="en-US" altLang="zh-CN" dirty="0">
                <a:solidFill>
                  <a:srgbClr val="CF3E3E"/>
                </a:solidFill>
                <a:latin typeface="Times New Roman" panose="02020603050405020304" pitchFamily="18" charset="0"/>
                <a:cs typeface="Times New Roman" panose="02020603050405020304" pitchFamily="18" charset="0"/>
              </a:rPr>
              <a:t>Function:</a:t>
            </a:r>
            <a:r>
              <a:rPr lang="en-US" altLang="zh-CN" dirty="0">
                <a:latin typeface="Times New Roman" panose="02020603050405020304" pitchFamily="18" charset="0"/>
                <a:cs typeface="Times New Roman" panose="02020603050405020304" pitchFamily="18" charset="0"/>
              </a:rPr>
              <a:t> Using the working registers can increase computation speed, </a:t>
            </a:r>
            <a:r>
              <a:rPr lang="en-US" altLang="zh-CN" dirty="0">
                <a:solidFill>
                  <a:srgbClr val="FF0000"/>
                </a:solidFill>
                <a:latin typeface="Times New Roman" panose="02020603050405020304" pitchFamily="18" charset="0"/>
                <a:cs typeface="Times New Roman" panose="02020603050405020304" pitchFamily="18" charset="0"/>
              </a:rPr>
              <a:t>and R0 or R1 can also be used to store an 8-bit address value to access an element in a 256-byte (logically external) RAM block.</a:t>
            </a:r>
          </a:p>
          <a:p>
            <a:pPr marL="262255" lvl="1" indent="-262255" algn="l" eaLnBrk="1" hangingPunct="1">
              <a:lnSpc>
                <a:spcPct val="114000"/>
              </a:lnSpc>
              <a:spcBef>
                <a:spcPts val="0"/>
              </a:spcBef>
              <a:spcAft>
                <a:spcPts val="600"/>
              </a:spcAft>
              <a:defRPr/>
            </a:pPr>
            <a:r>
              <a:rPr lang="en-US" altLang="zh-CN" dirty="0">
                <a:latin typeface="Times New Roman" panose="02020603050405020304" pitchFamily="18" charset="0"/>
                <a:cs typeface="Times New Roman" panose="02020603050405020304" pitchFamily="18" charset="0"/>
              </a:rPr>
              <a:t>Furthermore, </a:t>
            </a:r>
            <a:r>
              <a:rPr lang="en-US" altLang="zh-CN" dirty="0">
                <a:solidFill>
                  <a:srgbClr val="0000CC"/>
                </a:solidFill>
                <a:latin typeface="Times New Roman" panose="02020603050405020304" pitchFamily="18" charset="0"/>
                <a:cs typeface="Times New Roman" panose="02020603050405020304" pitchFamily="18" charset="0"/>
              </a:rPr>
              <a:t>R0~R7 can also be used as counters</a:t>
            </a:r>
            <a:r>
              <a:rPr lang="en-US" altLang="zh-CN" dirty="0">
                <a:latin typeface="Times New Roman" panose="02020603050405020304" pitchFamily="18" charset="0"/>
                <a:cs typeface="Times New Roman" panose="02020603050405020304" pitchFamily="18" charset="0"/>
              </a:rPr>
              <a:t>, performing increment by 1 or decrement by 1 under instruction control</a:t>
            </a:r>
            <a:endParaRPr lang="zh-CN" altLang="en-US" dirty="0">
              <a:latin typeface="Times New Roman" panose="02020603050405020304" pitchFamily="18" charset="0"/>
              <a:cs typeface="Times New Roman" panose="02020603050405020304" pitchFamily="18" charset="0"/>
            </a:endParaRPr>
          </a:p>
        </p:txBody>
      </p:sp>
      <p:grpSp>
        <p:nvGrpSpPr>
          <p:cNvPr id="6" name="组合 5"/>
          <p:cNvGrpSpPr/>
          <p:nvPr/>
        </p:nvGrpSpPr>
        <p:grpSpPr bwMode="auto">
          <a:xfrm>
            <a:off x="3480118" y="4522573"/>
            <a:ext cx="1625600" cy="1558925"/>
            <a:chOff x="6117794" y="2283691"/>
            <a:chExt cx="1625600" cy="1559515"/>
          </a:xfrm>
        </p:grpSpPr>
        <p:sp>
          <p:nvSpPr>
            <p:cNvPr id="63513" name="TextBox 6"/>
            <p:cNvSpPr txBox="1">
              <a:spLocks noChangeArrowheads="1"/>
            </p:cNvSpPr>
            <p:nvPr/>
          </p:nvSpPr>
          <p:spPr bwMode="auto">
            <a:xfrm>
              <a:off x="6117794" y="2283691"/>
              <a:ext cx="15965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l" eaLnBrk="1" hangingPunct="1">
                <a:lnSpc>
                  <a:spcPct val="75000"/>
                </a:lnSpc>
              </a:pPr>
              <a:r>
                <a:rPr lang="en-US" altLang="zh-CN" sz="2400" b="1" dirty="0">
                  <a:solidFill>
                    <a:srgbClr val="9900CC"/>
                  </a:solidFill>
                </a:rPr>
                <a:t>18H~1FH</a:t>
              </a:r>
              <a:endParaRPr lang="zh-CN" altLang="en-US" sz="2400" dirty="0">
                <a:solidFill>
                  <a:srgbClr val="9900CC"/>
                </a:solidFill>
              </a:endParaRPr>
            </a:p>
          </p:txBody>
        </p:sp>
        <p:sp>
          <p:nvSpPr>
            <p:cNvPr id="63514" name="TextBox 7"/>
            <p:cNvSpPr txBox="1">
              <a:spLocks noChangeArrowheads="1"/>
            </p:cNvSpPr>
            <p:nvPr/>
          </p:nvSpPr>
          <p:spPr bwMode="auto">
            <a:xfrm>
              <a:off x="6132308" y="2690094"/>
              <a:ext cx="15965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l" eaLnBrk="1" hangingPunct="1">
                <a:lnSpc>
                  <a:spcPct val="75000"/>
                </a:lnSpc>
              </a:pPr>
              <a:r>
                <a:rPr lang="en-US" altLang="zh-CN" sz="2400" b="1">
                  <a:solidFill>
                    <a:srgbClr val="9900CC"/>
                  </a:solidFill>
                </a:rPr>
                <a:t>10H~17H</a:t>
              </a:r>
              <a:endParaRPr lang="zh-CN" altLang="en-US" sz="2400">
                <a:solidFill>
                  <a:srgbClr val="9900CC"/>
                </a:solidFill>
              </a:endParaRPr>
            </a:p>
          </p:txBody>
        </p:sp>
        <p:sp>
          <p:nvSpPr>
            <p:cNvPr id="63515" name="TextBox 8"/>
            <p:cNvSpPr txBox="1">
              <a:spLocks noChangeArrowheads="1"/>
            </p:cNvSpPr>
            <p:nvPr/>
          </p:nvSpPr>
          <p:spPr bwMode="auto">
            <a:xfrm>
              <a:off x="6132308" y="3074973"/>
              <a:ext cx="15965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l" eaLnBrk="1" hangingPunct="1">
                <a:lnSpc>
                  <a:spcPct val="75000"/>
                </a:lnSpc>
              </a:pPr>
              <a:r>
                <a:rPr lang="en-US" altLang="zh-CN" sz="2400" b="1">
                  <a:solidFill>
                    <a:srgbClr val="9900CC"/>
                  </a:solidFill>
                </a:rPr>
                <a:t>08H~0FH</a:t>
              </a:r>
              <a:endParaRPr lang="zh-CN" altLang="en-US" sz="2400">
                <a:solidFill>
                  <a:srgbClr val="9900CC"/>
                </a:solidFill>
              </a:endParaRPr>
            </a:p>
          </p:txBody>
        </p:sp>
        <p:sp>
          <p:nvSpPr>
            <p:cNvPr id="63516" name="TextBox 9"/>
            <p:cNvSpPr txBox="1">
              <a:spLocks noChangeArrowheads="1"/>
            </p:cNvSpPr>
            <p:nvPr/>
          </p:nvSpPr>
          <p:spPr bwMode="auto">
            <a:xfrm>
              <a:off x="6146822" y="3473874"/>
              <a:ext cx="15965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l" eaLnBrk="1" hangingPunct="1">
                <a:lnSpc>
                  <a:spcPct val="75000"/>
                </a:lnSpc>
              </a:pPr>
              <a:r>
                <a:rPr lang="en-US" altLang="zh-CN" sz="2400" b="1">
                  <a:solidFill>
                    <a:srgbClr val="9900CC"/>
                  </a:solidFill>
                </a:rPr>
                <a:t>00H~07H</a:t>
              </a:r>
              <a:endParaRPr lang="zh-CN" altLang="en-US" sz="2400">
                <a:solidFill>
                  <a:srgbClr val="9900CC"/>
                </a:solidFill>
              </a:endParaRPr>
            </a:p>
          </p:txBody>
        </p:sp>
      </p:grpSp>
      <p:graphicFrame>
        <p:nvGraphicFramePr>
          <p:cNvPr id="11" name="表格 10"/>
          <p:cNvGraphicFramePr>
            <a:graphicFrameLocks noGrp="1"/>
          </p:cNvGraphicFramePr>
          <p:nvPr/>
        </p:nvGraphicFramePr>
        <p:xfrm>
          <a:off x="417513" y="4425610"/>
          <a:ext cx="3062605" cy="1597024"/>
        </p:xfrm>
        <a:graphic>
          <a:graphicData uri="http://schemas.openxmlformats.org/drawingml/2006/table">
            <a:tbl>
              <a:tblPr firstRow="1" bandRow="1">
                <a:tableStyleId>{5940675A-B579-460E-94D1-54222C63F5DA}</a:tableStyleId>
              </a:tblPr>
              <a:tblGrid>
                <a:gridCol w="3062605">
                  <a:extLst>
                    <a:ext uri="{9D8B030D-6E8A-4147-A177-3AD203B41FA5}">
                      <a16:colId xmlns:a16="http://schemas.microsoft.com/office/drawing/2014/main" val="20000"/>
                    </a:ext>
                  </a:extLst>
                </a:gridCol>
              </a:tblGrid>
              <a:tr h="39925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000" dirty="0"/>
                        <a:t>Register Bank </a:t>
                      </a:r>
                      <a:r>
                        <a:rPr lang="en-US" altLang="zh-CN" sz="2000" b="1" dirty="0"/>
                        <a:t>3(R0~R7)</a:t>
                      </a: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9925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000" dirty="0"/>
                        <a:t>Register Bank </a:t>
                      </a:r>
                      <a:r>
                        <a:rPr lang="en-US" altLang="zh-CN" sz="2000" b="1" dirty="0"/>
                        <a:t>2(R0~R7)</a:t>
                      </a: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9925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000" dirty="0"/>
                        <a:t>Register Bank </a:t>
                      </a:r>
                      <a:r>
                        <a:rPr lang="en-US" altLang="zh-CN" sz="2000" b="1" dirty="0"/>
                        <a:t>1(R0~R7)</a:t>
                      </a: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99256">
                <a:tc>
                  <a:txBody>
                    <a:bodyPr/>
                    <a:lstStyle/>
                    <a:p>
                      <a:pPr algn="ctr"/>
                      <a:r>
                        <a:rPr lang="en-US" altLang="zh-CN" sz="2000" dirty="0"/>
                        <a:t>Register Bank 0</a:t>
                      </a:r>
                      <a:r>
                        <a:rPr lang="en-US" altLang="zh-CN" sz="2000" b="1" dirty="0"/>
                        <a:t>(R0~R7)</a:t>
                      </a: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矩形 2"/>
          <p:cNvSpPr/>
          <p:nvPr/>
        </p:nvSpPr>
        <p:spPr>
          <a:xfrm>
            <a:off x="4048899" y="3963945"/>
            <a:ext cx="4981303" cy="398780"/>
          </a:xfrm>
          <a:prstGeom prst="rect">
            <a:avLst/>
          </a:prstGeom>
          <a:ln>
            <a:solidFill>
              <a:schemeClr val="accent1"/>
            </a:solidFill>
          </a:ln>
        </p:spPr>
        <p:txBody>
          <a:bodyPr wrap="square">
            <a:spAutoFit/>
          </a:bodyPr>
          <a:lstStyle/>
          <a:p>
            <a:pPr algn="ctr" eaLnBrk="1" hangingPunct="1">
              <a:defRPr/>
            </a:pPr>
            <a:r>
              <a:rPr lang="en-US" altLang="zh-CN" sz="2000" b="1" spc="-150" dirty="0">
                <a:solidFill>
                  <a:srgbClr val="3366FF"/>
                </a:solidFill>
                <a:cs typeface="Times New Roman" panose="02020603050405020304" pitchFamily="18" charset="0"/>
              </a:rPr>
              <a:t>Indirect Addressing Mode </a:t>
            </a:r>
            <a:r>
              <a:rPr lang="en-GB" altLang="zh-CN" sz="2000" b="1" spc="-150" dirty="0">
                <a:solidFill>
                  <a:srgbClr val="3366FF"/>
                </a:solidFill>
                <a:cs typeface="Times New Roman" panose="02020603050405020304" pitchFamily="18" charset="0"/>
              </a:rPr>
              <a:t>“ </a:t>
            </a:r>
            <a:r>
              <a:rPr lang="en-US" altLang="zh-CN" sz="2000" b="1" spc="-150" dirty="0">
                <a:solidFill>
                  <a:srgbClr val="3366FF"/>
                </a:solidFill>
                <a:cs typeface="Times New Roman" panose="02020603050405020304" pitchFamily="18" charset="0"/>
              </a:rPr>
              <a:t>MOV(X)   @Ri ”</a:t>
            </a:r>
          </a:p>
        </p:txBody>
      </p:sp>
      <p:sp>
        <p:nvSpPr>
          <p:cNvPr id="13" name="矩形 12"/>
          <p:cNvSpPr>
            <a:spLocks noChangeArrowheads="1"/>
          </p:cNvSpPr>
          <p:nvPr/>
        </p:nvSpPr>
        <p:spPr bwMode="auto">
          <a:xfrm>
            <a:off x="5003441" y="4573463"/>
            <a:ext cx="3905428" cy="1323439"/>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000" b="1" dirty="0">
                <a:solidFill>
                  <a:srgbClr val="3366FF"/>
                </a:solidFill>
                <a:cs typeface="Times New Roman" panose="02020603050405020304" pitchFamily="18" charset="0"/>
              </a:rPr>
              <a:t>Increment Instruction </a:t>
            </a:r>
            <a:r>
              <a:rPr lang="en-GB" altLang="zh-CN" sz="2000" b="1" dirty="0">
                <a:solidFill>
                  <a:srgbClr val="3366FF"/>
                </a:solidFill>
                <a:cs typeface="Times New Roman" panose="02020603050405020304" pitchFamily="18" charset="0"/>
              </a:rPr>
              <a:t>“</a:t>
            </a:r>
            <a:r>
              <a:rPr lang="en-US" altLang="zh-CN" sz="2000" b="1" dirty="0">
                <a:solidFill>
                  <a:srgbClr val="C00000"/>
                </a:solidFill>
                <a:cs typeface="Times New Roman" panose="02020603050405020304" pitchFamily="18" charset="0"/>
              </a:rPr>
              <a:t>INC R0</a:t>
            </a:r>
            <a:r>
              <a:rPr lang="en-US" altLang="zh-CN" sz="2000" b="1" dirty="0">
                <a:solidFill>
                  <a:srgbClr val="3366FF"/>
                </a:solidFill>
                <a:cs typeface="Times New Roman" panose="02020603050405020304" pitchFamily="18" charset="0"/>
              </a:rPr>
              <a:t>”</a:t>
            </a:r>
          </a:p>
          <a:p>
            <a:pPr algn="l"/>
            <a:r>
              <a:rPr lang="en-US" altLang="zh-CN" sz="2000" b="1" dirty="0">
                <a:solidFill>
                  <a:srgbClr val="C00000"/>
                </a:solidFill>
              </a:rPr>
              <a:t>Inc</a:t>
            </a:r>
            <a:r>
              <a:rPr lang="en-US" altLang="zh-CN" sz="2000" b="1" dirty="0">
                <a:solidFill>
                  <a:srgbClr val="3366FF"/>
                </a:solidFill>
              </a:rPr>
              <a:t>rease R0 by 1</a:t>
            </a:r>
          </a:p>
          <a:p>
            <a:pPr algn="l"/>
            <a:r>
              <a:rPr lang="en-US" altLang="zh-CN" sz="2000" b="1" dirty="0">
                <a:solidFill>
                  <a:srgbClr val="3366FF"/>
                </a:solidFill>
                <a:cs typeface="Times New Roman" panose="02020603050405020304" pitchFamily="18" charset="0"/>
              </a:rPr>
              <a:t>Decrement Instruction </a:t>
            </a:r>
            <a:r>
              <a:rPr lang="en-GB" altLang="zh-CN" sz="2000" b="1" dirty="0">
                <a:solidFill>
                  <a:srgbClr val="3366FF"/>
                </a:solidFill>
                <a:cs typeface="Times New Roman" panose="02020603050405020304" pitchFamily="18" charset="0"/>
              </a:rPr>
              <a:t>“</a:t>
            </a:r>
            <a:r>
              <a:rPr lang="en-US" altLang="zh-CN" sz="2000" b="1" dirty="0">
                <a:solidFill>
                  <a:srgbClr val="C00000"/>
                </a:solidFill>
                <a:cs typeface="Times New Roman" panose="02020603050405020304" pitchFamily="18" charset="0"/>
              </a:rPr>
              <a:t>DEC R0</a:t>
            </a:r>
            <a:r>
              <a:rPr lang="en-US" altLang="zh-CN" sz="2000" b="1" dirty="0">
                <a:solidFill>
                  <a:srgbClr val="3366FF"/>
                </a:solidFill>
                <a:cs typeface="Times New Roman" panose="02020603050405020304" pitchFamily="18" charset="0"/>
              </a:rPr>
              <a:t>”</a:t>
            </a:r>
            <a:endParaRPr lang="zh-CN" altLang="en-US" sz="2000" b="1" dirty="0">
              <a:solidFill>
                <a:srgbClr val="3366FF"/>
              </a:solidFill>
            </a:endParaRPr>
          </a:p>
          <a:p>
            <a:pPr algn="l"/>
            <a:r>
              <a:rPr lang="en-US" altLang="zh-CN" sz="2000" b="1" dirty="0">
                <a:solidFill>
                  <a:srgbClr val="C00000"/>
                </a:solidFill>
              </a:rPr>
              <a:t>Dec</a:t>
            </a:r>
            <a:r>
              <a:rPr lang="en-US" altLang="zh-CN" sz="2000" b="1" dirty="0">
                <a:solidFill>
                  <a:srgbClr val="3366FF"/>
                </a:solidFill>
              </a:rPr>
              <a:t>rease R0 by 1</a:t>
            </a:r>
            <a:endParaRPr lang="zh-CN" altLang="en-US" sz="2000" b="1" dirty="0">
              <a:solidFill>
                <a:srgbClr val="3366FF"/>
              </a:solidFill>
            </a:endParaRPr>
          </a:p>
        </p:txBody>
      </p:sp>
      <p:sp>
        <p:nvSpPr>
          <p:cNvPr id="14" name="矩形 13"/>
          <p:cNvSpPr/>
          <p:nvPr/>
        </p:nvSpPr>
        <p:spPr>
          <a:xfrm>
            <a:off x="5506085" y="569595"/>
            <a:ext cx="3532505" cy="706755"/>
          </a:xfrm>
          <a:prstGeom prst="rect">
            <a:avLst/>
          </a:prstGeom>
          <a:solidFill>
            <a:schemeClr val="bg1"/>
          </a:solidFill>
          <a:ln>
            <a:solidFill>
              <a:schemeClr val="accent1"/>
            </a:solidFill>
          </a:ln>
        </p:spPr>
        <p:txBody>
          <a:bodyPr wrap="square">
            <a:spAutoFit/>
          </a:bodyPr>
          <a:lstStyle/>
          <a:p>
            <a:pPr algn="ctr" eaLnBrk="1" hangingPunct="1">
              <a:defRPr/>
            </a:pPr>
            <a:r>
              <a:rPr lang="pt-BR" altLang="zh-CN" sz="2000" kern="100" dirty="0">
                <a:solidFill>
                  <a:srgbClr val="FF00FF"/>
                </a:solidFill>
                <a:latin typeface="Monaco"/>
                <a:ea typeface="新宋体" panose="02010609030101010101" pitchFamily="49" charset="-122"/>
                <a:cs typeface="Times New Roman" panose="02020603050405020304" pitchFamily="18" charset="0"/>
              </a:rPr>
              <a:t>Example: “MOV A, @R0” </a:t>
            </a:r>
            <a:r>
              <a:rPr lang="pt-BR" altLang="zh-CN" sz="2000" kern="100" dirty="0">
                <a:solidFill>
                  <a:srgbClr val="FF0000"/>
                </a:solidFill>
                <a:latin typeface="Monaco"/>
                <a:ea typeface="新宋体" panose="02010609030101010101" pitchFamily="49" charset="-122"/>
                <a:cs typeface="Times New Roman" panose="02020603050405020304" pitchFamily="18" charset="0"/>
              </a:rPr>
              <a:t>(Opcode E6)</a:t>
            </a:r>
            <a:endParaRPr lang="zh-CN" altLang="en-US" sz="2400" b="1" spc="-150" dirty="0">
              <a:solidFill>
                <a:srgbClr val="FF00FF"/>
              </a:solidFill>
            </a:endParaRPr>
          </a:p>
        </p:txBody>
      </p:sp>
      <p:sp>
        <p:nvSpPr>
          <p:cNvPr id="4" name="灯片编号占位符 3"/>
          <p:cNvSpPr>
            <a:spLocks noGrp="1"/>
          </p:cNvSpPr>
          <p:nvPr>
            <p:ph type="sldNum" sz="quarter" idx="12"/>
          </p:nvPr>
        </p:nvSpPr>
        <p:spPr/>
        <p:txBody>
          <a:bodyPr/>
          <a:lstStyle/>
          <a:p>
            <a:fld id="{22E77DEE-32E4-4009-988B-F2758F7B8AC2}" type="slidenum">
              <a:rPr lang="zh-CN" altLang="en-US" smtClean="0"/>
              <a:t>34</a:t>
            </a:fld>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3"/>
          <p:cNvSpPr>
            <a:spLocks noGrp="1" noChangeArrowheads="1"/>
          </p:cNvSpPr>
          <p:nvPr>
            <p:ph type="title"/>
          </p:nvPr>
        </p:nvSpPr>
        <p:spPr>
          <a:xfrm>
            <a:off x="919479" y="365761"/>
            <a:ext cx="7781607" cy="702628"/>
          </a:xfrm>
        </p:spPr>
        <p:txBody>
          <a:bodyPr>
            <a:normAutofit/>
          </a:bodyPr>
          <a:lstStyle/>
          <a:p>
            <a:pPr eaLnBrk="1" hangingPunct="1"/>
            <a:r>
              <a:rPr lang="en-US" altLang="zh-CN" sz="3600" dirty="0">
                <a:solidFill>
                  <a:srgbClr val="00B0F0"/>
                </a:solidFill>
              </a:rPr>
              <a:t>User RAM and Stack Area</a:t>
            </a:r>
            <a:endParaRPr lang="zh-CN" altLang="en-US" sz="3600" dirty="0">
              <a:solidFill>
                <a:srgbClr val="00B0F0"/>
              </a:solidFill>
            </a:endParaRPr>
          </a:p>
        </p:txBody>
      </p:sp>
      <p:sp>
        <p:nvSpPr>
          <p:cNvPr id="477187" name="Rectangle 3"/>
          <p:cNvSpPr>
            <a:spLocks noGrp="1" noChangeArrowheads="1"/>
          </p:cNvSpPr>
          <p:nvPr>
            <p:ph idx="1"/>
          </p:nvPr>
        </p:nvSpPr>
        <p:spPr>
          <a:xfrm>
            <a:off x="711200" y="1407160"/>
            <a:ext cx="7482840" cy="4627879"/>
          </a:xfrm>
        </p:spPr>
        <p:txBody>
          <a:bodyPr>
            <a:noAutofit/>
          </a:bodyPr>
          <a:lstStyle/>
          <a:p>
            <a:pPr marL="174625" lvl="1" indent="-174625" algn="l" eaLnBrk="1" hangingPunct="1">
              <a:spcBef>
                <a:spcPct val="0"/>
              </a:spcBef>
              <a:spcAft>
                <a:spcPts val="1200"/>
              </a:spcAft>
            </a:pPr>
            <a:r>
              <a:rPr lang="en-US" altLang="zh-CN" dirty="0">
                <a:latin typeface="Times New Roman" panose="02020603050405020304" pitchFamily="18" charset="0"/>
                <a:cs typeface="Times New Roman" panose="02020603050405020304" pitchFamily="18" charset="0"/>
              </a:rPr>
              <a:t>The memory units from </a:t>
            </a:r>
            <a:r>
              <a:rPr lang="en-US" altLang="zh-CN" dirty="0">
                <a:solidFill>
                  <a:srgbClr val="FF0000"/>
                </a:solidFill>
                <a:latin typeface="Times New Roman" panose="02020603050405020304" pitchFamily="18" charset="0"/>
                <a:cs typeface="Times New Roman" panose="02020603050405020304" pitchFamily="18" charset="0"/>
              </a:rPr>
              <a:t>30H to 7FH </a:t>
            </a:r>
            <a:r>
              <a:rPr lang="en-US" altLang="zh-CN" dirty="0">
                <a:latin typeface="Times New Roman" panose="02020603050405020304" pitchFamily="18" charset="0"/>
                <a:cs typeface="Times New Roman" panose="02020603050405020304" pitchFamily="18" charset="0"/>
              </a:rPr>
              <a:t>in the internal RAM constitute the User RAM and Stack area.</a:t>
            </a:r>
          </a:p>
          <a:p>
            <a:pPr marL="174625" lvl="1" indent="-174625" algn="l" eaLnBrk="1" hangingPunct="1">
              <a:spcBef>
                <a:spcPct val="0"/>
              </a:spcBef>
              <a:spcAft>
                <a:spcPts val="1200"/>
              </a:spcAft>
            </a:pPr>
            <a:r>
              <a:rPr lang="en-US" altLang="zh-CN" dirty="0">
                <a:latin typeface="Times New Roman" panose="02020603050405020304" pitchFamily="18" charset="0"/>
                <a:cs typeface="Times New Roman" panose="02020603050405020304" pitchFamily="18" charset="0"/>
              </a:rPr>
              <a:t>There is an </a:t>
            </a:r>
            <a:r>
              <a:rPr lang="en-US" altLang="zh-CN" dirty="0">
                <a:solidFill>
                  <a:srgbClr val="FF0000"/>
                </a:solidFill>
                <a:latin typeface="Times New Roman" panose="02020603050405020304" pitchFamily="18" charset="0"/>
                <a:cs typeface="Times New Roman" panose="02020603050405020304" pitchFamily="18" charset="0"/>
              </a:rPr>
              <a:t>8-bit Stack Pointer (SP), </a:t>
            </a:r>
            <a:r>
              <a:rPr lang="en-US" altLang="zh-CN" dirty="0">
                <a:latin typeface="Times New Roman" panose="02020603050405020304" pitchFamily="18" charset="0"/>
                <a:cs typeface="Times New Roman" panose="02020603050405020304" pitchFamily="18" charset="0"/>
              </a:rPr>
              <a:t>and the </a:t>
            </a:r>
            <a:r>
              <a:rPr lang="en-US" altLang="zh-CN" dirty="0">
                <a:solidFill>
                  <a:srgbClr val="0000CC"/>
                </a:solidFill>
                <a:latin typeface="Times New Roman" panose="02020603050405020304" pitchFamily="18" charset="0"/>
                <a:cs typeface="Times New Roman" panose="02020603050405020304" pitchFamily="18" charset="0"/>
              </a:rPr>
              <a:t>stack area </a:t>
            </a:r>
            <a:r>
              <a:rPr lang="en-US" altLang="zh-CN" dirty="0">
                <a:latin typeface="Times New Roman" panose="02020603050405020304" pitchFamily="18" charset="0"/>
                <a:cs typeface="Times New Roman" panose="02020603050405020304" pitchFamily="18" charset="0"/>
              </a:rPr>
              <a:t>can only be set within the </a:t>
            </a:r>
            <a:r>
              <a:rPr lang="en-US" altLang="zh-CN" dirty="0">
                <a:solidFill>
                  <a:srgbClr val="FF00FF"/>
                </a:solidFill>
                <a:latin typeface="Times New Roman" panose="02020603050405020304" pitchFamily="18" charset="0"/>
                <a:cs typeface="Times New Roman" panose="02020603050405020304" pitchFamily="18" charset="0"/>
              </a:rPr>
              <a:t>internal data memory.</a:t>
            </a:r>
            <a:r>
              <a:rPr lang="en-US" altLang="zh-CN" dirty="0">
                <a:latin typeface="Times New Roman" panose="02020603050405020304" pitchFamily="18" charset="0"/>
                <a:cs typeface="Times New Roman" panose="02020603050405020304" pitchFamily="18" charset="0"/>
              </a:rPr>
              <a:t> When a subroutine is called or an interrupt is requested, </a:t>
            </a:r>
            <a:r>
              <a:rPr lang="en-US" altLang="zh-CN" dirty="0">
                <a:solidFill>
                  <a:srgbClr val="0000CC"/>
                </a:solidFill>
                <a:latin typeface="Times New Roman" panose="02020603050405020304" pitchFamily="18" charset="0"/>
                <a:cs typeface="Times New Roman" panose="02020603050405020304" pitchFamily="18" charset="0"/>
              </a:rPr>
              <a:t>information such as the return address </a:t>
            </a:r>
            <a:r>
              <a:rPr lang="en-US" altLang="zh-CN" dirty="0">
                <a:latin typeface="Times New Roman" panose="02020603050405020304" pitchFamily="18" charset="0"/>
                <a:cs typeface="Times New Roman" panose="02020603050405020304" pitchFamily="18" charset="0"/>
              </a:rPr>
              <a:t>is automatically saved in the stack.</a:t>
            </a:r>
            <a:endParaRPr lang="zh-CN" altLang="en-GB" dirty="0">
              <a:latin typeface="Times New Roman" panose="02020603050405020304" pitchFamily="18" charset="0"/>
              <a:cs typeface="Times New Roman" panose="02020603050405020304" pitchFamily="18" charset="0"/>
            </a:endParaRPr>
          </a:p>
          <a:p>
            <a:pPr marL="174625" lvl="1" indent="-174625" algn="l" eaLnBrk="1" hangingPunct="1">
              <a:spcBef>
                <a:spcPct val="0"/>
              </a:spcBef>
              <a:spcAft>
                <a:spcPts val="1200"/>
              </a:spcAft>
            </a:pPr>
            <a:r>
              <a:rPr lang="en-US" altLang="zh-CN" dirty="0">
                <a:solidFill>
                  <a:srgbClr val="FF0000"/>
                </a:solidFill>
                <a:latin typeface="Times New Roman" panose="02020603050405020304" pitchFamily="18" charset="0"/>
                <a:cs typeface="Times New Roman" panose="02020603050405020304" pitchFamily="18" charset="0"/>
              </a:rPr>
              <a:t>After a reset </a:t>
            </a:r>
            <a:r>
              <a:rPr lang="en-US" altLang="zh-CN" dirty="0">
                <a:latin typeface="Times New Roman" panose="02020603050405020304" pitchFamily="18" charset="0"/>
                <a:cs typeface="Times New Roman" panose="02020603050405020304" pitchFamily="18" charset="0"/>
              </a:rPr>
              <a:t>of the IAP15W4K58S4 microcontroller, </a:t>
            </a:r>
            <a:r>
              <a:rPr lang="en-US" altLang="zh-CN" dirty="0">
                <a:solidFill>
                  <a:srgbClr val="FF0000"/>
                </a:solidFill>
                <a:latin typeface="Times New Roman" panose="02020603050405020304" pitchFamily="18" charset="0"/>
                <a:cs typeface="Times New Roman" panose="02020603050405020304" pitchFamily="18" charset="0"/>
              </a:rPr>
              <a:t>the SP is 07H</a:t>
            </a:r>
            <a:r>
              <a:rPr lang="en-US" altLang="zh-CN" dirty="0">
                <a:latin typeface="Times New Roman" panose="02020603050405020304" pitchFamily="18" charset="0"/>
                <a:cs typeface="Times New Roman" panose="02020603050405020304" pitchFamily="18" charset="0"/>
              </a:rPr>
              <a:t>, causing the stack to effectively </a:t>
            </a:r>
            <a:r>
              <a:rPr lang="en-US" altLang="zh-CN" dirty="0">
                <a:solidFill>
                  <a:srgbClr val="FF0000"/>
                </a:solidFill>
                <a:latin typeface="Times New Roman" panose="02020603050405020304" pitchFamily="18" charset="0"/>
                <a:cs typeface="Times New Roman" panose="02020603050405020304" pitchFamily="18" charset="0"/>
              </a:rPr>
              <a:t>start from memory unit 08H </a:t>
            </a:r>
            <a:r>
              <a:rPr lang="en-US" altLang="zh-CN" dirty="0">
                <a:latin typeface="Times New Roman" panose="02020603050405020304" pitchFamily="18" charset="0"/>
                <a:cs typeface="Times New Roman" panose="02020603050405020304" pitchFamily="18" charset="0"/>
              </a:rPr>
              <a:t>(</a:t>
            </a:r>
            <a:r>
              <a:rPr lang="en-US" altLang="zh-CN" dirty="0">
                <a:solidFill>
                  <a:srgbClr val="FF00FF"/>
                </a:solidFill>
                <a:latin typeface="Times New Roman" panose="02020603050405020304" pitchFamily="18" charset="0"/>
                <a:cs typeface="Times New Roman" panose="02020603050405020304" pitchFamily="18" charset="0"/>
              </a:rPr>
              <a:t>SP is incremented by 1 before data is pushed onto the stack, then the data is pushed</a:t>
            </a:r>
            <a:r>
              <a:rPr lang="en-US" altLang="zh-CN" dirty="0">
                <a:latin typeface="Times New Roman" panose="02020603050405020304" pitchFamily="18" charset="0"/>
                <a:cs typeface="Times New Roman" panose="02020603050405020304" pitchFamily="18" charset="0"/>
              </a:rPr>
              <a:t>).</a:t>
            </a:r>
          </a:p>
          <a:p>
            <a:pPr marL="174625" lvl="1" indent="-174625" algn="l" eaLnBrk="1" hangingPunct="1">
              <a:spcBef>
                <a:spcPct val="0"/>
              </a:spcBef>
              <a:spcAft>
                <a:spcPts val="1200"/>
              </a:spcAft>
            </a:pPr>
            <a:r>
              <a:rPr lang="en-US" altLang="zh-CN" dirty="0">
                <a:latin typeface="Times New Roman" panose="02020603050405020304" pitchFamily="18" charset="0"/>
                <a:cs typeface="Times New Roman" panose="02020603050405020304" pitchFamily="18" charset="0"/>
              </a:rPr>
              <a:t>Considering that memory units </a:t>
            </a:r>
            <a:r>
              <a:rPr lang="en-US" altLang="zh-CN" dirty="0">
                <a:solidFill>
                  <a:srgbClr val="00B0F0"/>
                </a:solidFill>
                <a:latin typeface="Times New Roman" panose="02020603050405020304" pitchFamily="18" charset="0"/>
                <a:cs typeface="Times New Roman" panose="02020603050405020304" pitchFamily="18" charset="0"/>
              </a:rPr>
              <a:t>08H to 1FH </a:t>
            </a:r>
            <a:r>
              <a:rPr lang="en-US" altLang="zh-CN" dirty="0">
                <a:latin typeface="Times New Roman" panose="02020603050405020304" pitchFamily="18" charset="0"/>
                <a:cs typeface="Times New Roman" panose="02020603050405020304" pitchFamily="18" charset="0"/>
              </a:rPr>
              <a:t>belong to </a:t>
            </a:r>
            <a:r>
              <a:rPr lang="en-US" altLang="zh-CN" dirty="0">
                <a:solidFill>
                  <a:srgbClr val="00B0F0"/>
                </a:solidFill>
                <a:latin typeface="Times New Roman" panose="02020603050405020304" pitchFamily="18" charset="0"/>
                <a:cs typeface="Times New Roman" panose="02020603050405020304" pitchFamily="18" charset="0"/>
              </a:rPr>
              <a:t>Working Register Banks 1 to 3</a:t>
            </a:r>
            <a:r>
              <a:rPr lang="en-US" altLang="zh-CN" dirty="0">
                <a:latin typeface="Times New Roman" panose="02020603050405020304" pitchFamily="18" charset="0"/>
                <a:cs typeface="Times New Roman" panose="02020603050405020304" pitchFamily="18" charset="0"/>
              </a:rPr>
              <a:t>, if these working registers are used in the program, </a:t>
            </a:r>
            <a:r>
              <a:rPr lang="en-US" altLang="zh-CN" dirty="0">
                <a:solidFill>
                  <a:srgbClr val="FF00FF"/>
                </a:solidFill>
                <a:latin typeface="Times New Roman" panose="02020603050405020304" pitchFamily="18" charset="0"/>
                <a:cs typeface="Times New Roman" panose="02020603050405020304" pitchFamily="18" charset="0"/>
              </a:rPr>
              <a:t>it is best to change the SP value to 80H or greater in the user initialization program.</a:t>
            </a:r>
            <a:endParaRPr lang="zh-CN" altLang="en-GB" dirty="0">
              <a:solidFill>
                <a:srgbClr val="FF00FF"/>
              </a:solidFill>
              <a:latin typeface="Times New Roman" panose="02020603050405020304" pitchFamily="18" charset="0"/>
              <a:cs typeface="Times New Roman" panose="02020603050405020304" pitchFamily="18" charset="0"/>
            </a:endParaRPr>
          </a:p>
          <a:p>
            <a:pPr marL="174625" lvl="1" indent="-174625" algn="l" eaLnBrk="1" hangingPunct="1">
              <a:spcBef>
                <a:spcPct val="0"/>
              </a:spcBef>
              <a:spcAft>
                <a:spcPts val="1200"/>
              </a:spcAft>
            </a:pPr>
            <a:r>
              <a:rPr lang="en-US" altLang="zh-CN" dirty="0">
                <a:latin typeface="Times New Roman" panose="02020603050405020304" pitchFamily="18" charset="0"/>
                <a:cs typeface="Times New Roman" panose="02020603050405020304" pitchFamily="18" charset="0"/>
              </a:rPr>
              <a:t>The stack of the IAP15W4K58S4 microcontroller grows in the direction of increasing addresses, meaning that after a data push operation</a:t>
            </a:r>
            <a:r>
              <a:rPr lang="en-US" altLang="zh-CN" dirty="0">
                <a:solidFill>
                  <a:srgbClr val="FF0000"/>
                </a:solidFill>
                <a:latin typeface="Times New Roman" panose="02020603050405020304" pitchFamily="18" charset="0"/>
                <a:cs typeface="Times New Roman" panose="02020603050405020304" pitchFamily="18" charset="0"/>
              </a:rPr>
              <a:t>, the SP value increases (SP is incremented by 1 first, then the data is pushed).</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p:txBody>
          <a:bodyPr/>
          <a:lstStyle/>
          <a:p>
            <a:fld id="{22E77DEE-32E4-4009-988B-F2758F7B8AC2}" type="slidenum">
              <a:rPr lang="zh-CN" altLang="en-US" smtClean="0"/>
              <a:t>35</a:t>
            </a:fld>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3"/>
          <p:cNvSpPr>
            <a:spLocks noGrp="1" noChangeArrowheads="1"/>
          </p:cNvSpPr>
          <p:nvPr>
            <p:ph type="title"/>
          </p:nvPr>
        </p:nvSpPr>
        <p:spPr>
          <a:xfrm>
            <a:off x="656785" y="644434"/>
            <a:ext cx="7752578" cy="506322"/>
          </a:xfrm>
        </p:spPr>
        <p:txBody>
          <a:bodyPr>
            <a:noAutofit/>
          </a:bodyPr>
          <a:lstStyle/>
          <a:p>
            <a:pPr eaLnBrk="1" hangingPunct="1"/>
            <a:r>
              <a:rPr lang="en-US" altLang="zh-CN" sz="3600" dirty="0">
                <a:solidFill>
                  <a:srgbClr val="00B0F0"/>
                </a:solidFill>
              </a:rPr>
              <a:t>Upper 128 Bytes of RAM and Special Function Registers</a:t>
            </a:r>
            <a:endParaRPr lang="zh-CN" altLang="en-US" sz="3600" dirty="0">
              <a:solidFill>
                <a:srgbClr val="00B0F0"/>
              </a:solidFill>
            </a:endParaRPr>
          </a:p>
        </p:txBody>
      </p:sp>
      <p:sp>
        <p:nvSpPr>
          <p:cNvPr id="632835" name="Rectangle 3"/>
          <p:cNvSpPr>
            <a:spLocks noGrp="1" noChangeArrowheads="1"/>
          </p:cNvSpPr>
          <p:nvPr>
            <p:ph idx="1"/>
          </p:nvPr>
        </p:nvSpPr>
        <p:spPr>
          <a:xfrm>
            <a:off x="782320" y="1310640"/>
            <a:ext cx="7882890" cy="4903470"/>
          </a:xfrm>
        </p:spPr>
        <p:txBody>
          <a:bodyPr>
            <a:normAutofit/>
          </a:bodyPr>
          <a:lstStyle/>
          <a:p>
            <a:pPr marL="262255" lvl="1" indent="-262255" eaLnBrk="1" hangingPunct="1">
              <a:lnSpc>
                <a:spcPct val="114000"/>
              </a:lnSpc>
              <a:spcAft>
                <a:spcPts val="600"/>
              </a:spcAft>
              <a:defRPr/>
            </a:pPr>
            <a:r>
              <a:rPr lang="en-US" altLang="zh-CN" dirty="0">
                <a:latin typeface="Times New Roman" panose="02020603050405020304" pitchFamily="18" charset="0"/>
                <a:cs typeface="Times New Roman" panose="02020603050405020304" pitchFamily="18" charset="0"/>
              </a:rPr>
              <a:t>For the IAP15W4K58S4 microcontroller, </a:t>
            </a:r>
            <a:r>
              <a:rPr lang="en-US" altLang="zh-CN" dirty="0">
                <a:solidFill>
                  <a:srgbClr val="FF0000"/>
                </a:solidFill>
                <a:latin typeface="Times New Roman" panose="02020603050405020304" pitchFamily="18" charset="0"/>
                <a:cs typeface="Times New Roman" panose="02020603050405020304" pitchFamily="18" charset="0"/>
              </a:rPr>
              <a:t>the 80H to FFH RAM (Upper 128 Bytes) area shares the same address range with the Special Function Register (SFR) area. </a:t>
            </a:r>
            <a:r>
              <a:rPr lang="en-US" altLang="zh-CN" dirty="0">
                <a:latin typeface="Times New Roman" panose="02020603050405020304" pitchFamily="18" charset="0"/>
                <a:cs typeface="Times New Roman" panose="02020603050405020304" pitchFamily="18" charset="0"/>
              </a:rPr>
              <a:t>Their address spaces overlap, but they are physically independent.</a:t>
            </a:r>
            <a:endParaRPr lang="zh-CN" altLang="en-US" dirty="0">
              <a:latin typeface="Times New Roman" panose="02020603050405020304" pitchFamily="18" charset="0"/>
              <a:cs typeface="Times New Roman" panose="02020603050405020304" pitchFamily="18" charset="0"/>
            </a:endParaRPr>
          </a:p>
          <a:p>
            <a:pPr marL="262255" lvl="1" indent="-262255" eaLnBrk="1" hangingPunct="1">
              <a:lnSpc>
                <a:spcPct val="114000"/>
              </a:lnSpc>
              <a:spcAft>
                <a:spcPts val="600"/>
              </a:spcAft>
              <a:defRPr/>
            </a:pPr>
            <a:r>
              <a:rPr lang="en-US" altLang="zh-CN" dirty="0">
                <a:latin typeface="Times New Roman" panose="02020603050405020304" pitchFamily="18" charset="0"/>
                <a:cs typeface="Times New Roman" panose="02020603050405020304" pitchFamily="18" charset="0"/>
              </a:rPr>
              <a:t>When in use, they are distinguished by different addressing modes: the </a:t>
            </a:r>
            <a:r>
              <a:rPr lang="en-US" altLang="zh-CN" dirty="0">
                <a:solidFill>
                  <a:srgbClr val="FF0000"/>
                </a:solidFill>
                <a:latin typeface="Times New Roman" panose="02020603050405020304" pitchFamily="18" charset="0"/>
                <a:cs typeface="Times New Roman" panose="02020603050405020304" pitchFamily="18" charset="0"/>
              </a:rPr>
              <a:t>upper 128 bytes of RAM are accessed using indirect addressing</a:t>
            </a:r>
            <a:r>
              <a:rPr lang="en-US" altLang="zh-CN" dirty="0">
                <a:latin typeface="Times New Roman" panose="02020603050405020304" pitchFamily="18" charset="0"/>
                <a:cs typeface="Times New Roman" panose="02020603050405020304" pitchFamily="18" charset="0"/>
              </a:rPr>
              <a:t>, while </a:t>
            </a:r>
            <a:r>
              <a:rPr lang="en-US" altLang="zh-CN" dirty="0">
                <a:solidFill>
                  <a:srgbClr val="FF00FF"/>
                </a:solidFill>
                <a:latin typeface="Times New Roman" panose="02020603050405020304" pitchFamily="18" charset="0"/>
                <a:cs typeface="Times New Roman" panose="02020603050405020304" pitchFamily="18" charset="0"/>
              </a:rPr>
              <a:t>Special Function Registers are accessed using direct addressing.</a:t>
            </a:r>
          </a:p>
          <a:p>
            <a:pPr marL="262255" lvl="1" indent="-262255" eaLnBrk="1" hangingPunct="1">
              <a:lnSpc>
                <a:spcPct val="114000"/>
              </a:lnSpc>
              <a:spcAft>
                <a:spcPts val="600"/>
              </a:spcAft>
              <a:defRPr/>
            </a:pPr>
            <a:r>
              <a:rPr lang="en-US" altLang="zh-CN" dirty="0">
                <a:latin typeface="Times New Roman" panose="02020603050405020304" pitchFamily="18" charset="0"/>
                <a:cs typeface="Times New Roman" panose="02020603050405020304" pitchFamily="18" charset="0"/>
              </a:rPr>
              <a:t>Since </a:t>
            </a:r>
            <a:r>
              <a:rPr lang="en-US" altLang="zh-CN" dirty="0">
                <a:solidFill>
                  <a:srgbClr val="0000CC"/>
                </a:solidFill>
                <a:latin typeface="Times New Roman" panose="02020603050405020304" pitchFamily="18" charset="0"/>
                <a:cs typeface="Times New Roman" panose="02020603050405020304" pitchFamily="18" charset="0"/>
              </a:rPr>
              <a:t>stack operations </a:t>
            </a:r>
            <a:r>
              <a:rPr lang="en-US" altLang="zh-CN" dirty="0">
                <a:solidFill>
                  <a:srgbClr val="FF0000"/>
                </a:solidFill>
                <a:latin typeface="Times New Roman" panose="02020603050405020304" pitchFamily="18" charset="0"/>
                <a:cs typeface="Times New Roman" panose="02020603050405020304" pitchFamily="18" charset="0"/>
              </a:rPr>
              <a:t>use the Stack Pointer (SP) as an indirect register for indirect addressing</a:t>
            </a:r>
            <a:r>
              <a:rPr lang="en-US" altLang="zh-CN" dirty="0">
                <a:latin typeface="Times New Roman" panose="02020603050405020304" pitchFamily="18" charset="0"/>
                <a:cs typeface="Times New Roman" panose="02020603050405020304" pitchFamily="18" charset="0"/>
              </a:rPr>
              <a:t>, the upper 128 bytes of data RAM can also be used as a stack area.</a:t>
            </a:r>
          </a:p>
          <a:p>
            <a:pPr marL="262255" lvl="1" indent="-262255" eaLnBrk="1" hangingPunct="1">
              <a:lnSpc>
                <a:spcPct val="114000"/>
              </a:lnSpc>
              <a:spcAft>
                <a:spcPts val="600"/>
              </a:spcAft>
              <a:defRPr/>
            </a:pPr>
            <a:r>
              <a:rPr lang="en-US" altLang="zh-CN" dirty="0">
                <a:latin typeface="Times New Roman" panose="02020603050405020304" pitchFamily="18" charset="0"/>
                <a:cs typeface="Times New Roman" panose="02020603050405020304" pitchFamily="18" charset="0"/>
              </a:rPr>
              <a:t>Apart from the Program Counter (PC) and the four Working Register Banks, all other registers are located in the </a:t>
            </a:r>
            <a:r>
              <a:rPr lang="en-US" altLang="zh-CN" dirty="0">
                <a:solidFill>
                  <a:srgbClr val="FF00FF"/>
                </a:solidFill>
                <a:latin typeface="Times New Roman" panose="02020603050405020304" pitchFamily="18" charset="0"/>
                <a:cs typeface="Times New Roman" panose="02020603050405020304" pitchFamily="18" charset="0"/>
              </a:rPr>
              <a:t>SFR area</a:t>
            </a: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p:txBody>
          <a:bodyPr/>
          <a:lstStyle/>
          <a:p>
            <a:fld id="{22E77DEE-32E4-4009-988B-F2758F7B8AC2}" type="slidenum">
              <a:rPr lang="zh-CN" altLang="en-US" smtClean="0"/>
              <a:t>36</a:t>
            </a:fld>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3"/>
          <p:cNvSpPr>
            <a:spLocks noGrp="1" noChangeArrowheads="1"/>
          </p:cNvSpPr>
          <p:nvPr>
            <p:ph type="title"/>
          </p:nvPr>
        </p:nvSpPr>
        <p:spPr>
          <a:xfrm>
            <a:off x="752793" y="374468"/>
            <a:ext cx="7014527" cy="650105"/>
          </a:xfrm>
        </p:spPr>
        <p:txBody>
          <a:bodyPr>
            <a:normAutofit/>
          </a:bodyPr>
          <a:lstStyle/>
          <a:p>
            <a:pPr eaLnBrk="1" hangingPunct="1"/>
            <a:r>
              <a:rPr lang="en-US" altLang="zh-CN" sz="3600" dirty="0"/>
              <a:t>Special Function Registers (SFRs)</a:t>
            </a:r>
            <a:endParaRPr lang="zh-CN" altLang="en-US" sz="3600" dirty="0"/>
          </a:p>
        </p:txBody>
      </p:sp>
      <p:sp>
        <p:nvSpPr>
          <p:cNvPr id="633859" name="Rectangle 3"/>
          <p:cNvSpPr>
            <a:spLocks noGrp="1" noChangeArrowheads="1"/>
          </p:cNvSpPr>
          <p:nvPr>
            <p:ph idx="1"/>
          </p:nvPr>
        </p:nvSpPr>
        <p:spPr>
          <a:xfrm>
            <a:off x="883920" y="1884680"/>
            <a:ext cx="8025130" cy="4290695"/>
          </a:xfrm>
        </p:spPr>
        <p:txBody>
          <a:bodyPr>
            <a:normAutofit/>
          </a:bodyPr>
          <a:lstStyle/>
          <a:p>
            <a:pPr marL="262255" lvl="1" indent="-262255" eaLnBrk="1" hangingPunct="1">
              <a:lnSpc>
                <a:spcPct val="114000"/>
              </a:lnSpc>
              <a:spcBef>
                <a:spcPts val="0"/>
              </a:spcBef>
              <a:spcAft>
                <a:spcPts val="1200"/>
              </a:spcAft>
              <a:defRPr/>
            </a:pPr>
            <a:r>
              <a:rPr lang="en-US" altLang="zh-CN" dirty="0">
                <a:solidFill>
                  <a:schemeClr val="tx1"/>
                </a:solidFill>
                <a:latin typeface="Times New Roman" panose="02020603050405020304" pitchFamily="18" charset="0"/>
                <a:cs typeface="Times New Roman" panose="02020603050405020304" pitchFamily="18" charset="0"/>
              </a:rPr>
              <a:t>Special Function Registers are broadly categorized into </a:t>
            </a:r>
            <a:r>
              <a:rPr lang="en-US" altLang="zh-CN" dirty="0">
                <a:solidFill>
                  <a:srgbClr val="0000CC"/>
                </a:solidFill>
                <a:latin typeface="Times New Roman" panose="02020603050405020304" pitchFamily="18" charset="0"/>
                <a:cs typeface="Times New Roman" panose="02020603050405020304" pitchFamily="18" charset="0"/>
              </a:rPr>
              <a:t>two types</a:t>
            </a:r>
            <a:r>
              <a:rPr lang="en-US" altLang="zh-CN" dirty="0">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a:p>
            <a:pPr marL="536575" lvl="1" indent="-536575" eaLnBrk="1" hangingPunct="1">
              <a:lnSpc>
                <a:spcPct val="114000"/>
              </a:lnSpc>
              <a:spcBef>
                <a:spcPts val="0"/>
              </a:spcBef>
              <a:spcAft>
                <a:spcPts val="1200"/>
              </a:spcAft>
              <a:buFontTx/>
              <a:buNone/>
              <a:defRPr/>
            </a:pPr>
            <a:r>
              <a:rPr lang="zh-CN" altLang="en-US" dirty="0">
                <a:latin typeface="Times New Roman" panose="02020603050405020304" pitchFamily="18" charset="0"/>
                <a:cs typeface="Times New Roman" panose="02020603050405020304" pitchFamily="18" charset="0"/>
              </a:rPr>
              <a:t> </a:t>
            </a:r>
            <a:r>
              <a:rPr lang="zh-CN" altLang="en-US" dirty="0">
                <a:solidFill>
                  <a:srgbClr val="CC3300"/>
                </a:solidFill>
                <a:latin typeface="Times New Roman" panose="02020603050405020304" pitchFamily="18" charset="0"/>
                <a:cs typeface="Times New Roman" panose="02020603050405020304" pitchFamily="18" charset="0"/>
              </a:rPr>
              <a:t>①</a:t>
            </a:r>
            <a:r>
              <a:rPr lang="en-US" altLang="zh-CN" dirty="0">
                <a:solidFill>
                  <a:srgbClr val="FF0000"/>
                </a:solidFill>
                <a:latin typeface="Times New Roman" panose="02020603050405020304" pitchFamily="18" charset="0"/>
                <a:cs typeface="Times New Roman" panose="02020603050405020304" pitchFamily="18" charset="0"/>
              </a:rPr>
              <a:t>One type is related to the chip's pins. For example, P0~P7 are actually 8 latches</a:t>
            </a:r>
            <a:r>
              <a:rPr lang="en-US" altLang="zh-CN" dirty="0">
                <a:latin typeface="Times New Roman" panose="02020603050405020304" pitchFamily="18" charset="0"/>
                <a:cs typeface="Times New Roman" panose="02020603050405020304" pitchFamily="18" charset="0"/>
              </a:rPr>
              <a:t>, and each latch, equipped with its corresponding output driver and input buffer, forms a parallel port.</a:t>
            </a:r>
          </a:p>
          <a:p>
            <a:pPr marL="536575" lvl="1" indent="-536575" eaLnBrk="1" hangingPunct="1">
              <a:lnSpc>
                <a:spcPct val="114000"/>
              </a:lnSpc>
              <a:spcBef>
                <a:spcPts val="0"/>
              </a:spcBef>
              <a:spcAft>
                <a:spcPts val="1200"/>
              </a:spcAft>
              <a:buFontTx/>
              <a:buNone/>
              <a:defRPr/>
            </a:pPr>
            <a:r>
              <a:rPr lang="zh-CN" altLang="en-US" dirty="0">
                <a:solidFill>
                  <a:srgbClr val="CC3300"/>
                </a:solidFill>
                <a:latin typeface="Times New Roman" panose="02020603050405020304" pitchFamily="18" charset="0"/>
                <a:cs typeface="Times New Roman" panose="02020603050405020304" pitchFamily="18" charset="0"/>
              </a:rPr>
              <a:t>②</a:t>
            </a:r>
            <a:r>
              <a:rPr lang="en-US" altLang="zh-CN" dirty="0">
                <a:solidFill>
                  <a:srgbClr val="FF00FF"/>
                </a:solidFill>
                <a:latin typeface="Times New Roman" panose="02020603050405020304" pitchFamily="18" charset="0"/>
                <a:cs typeface="Times New Roman" panose="02020603050405020304" pitchFamily="18" charset="0"/>
              </a:rPr>
              <a:t>Another type consists of registers for controlling internal chip functions or internal registers</a:t>
            </a:r>
            <a:r>
              <a:rPr lang="en-US" altLang="zh-CN" dirty="0">
                <a:latin typeface="Times New Roman" panose="02020603050405020304" pitchFamily="18" charset="0"/>
                <a:cs typeface="Times New Roman" panose="02020603050405020304" pitchFamily="18" charset="0"/>
              </a:rPr>
              <a:t>. Examples include registers related to interrupt masking and priority control, timers, serial ports, SPI interfaces, and so on.</a:t>
            </a:r>
            <a:endParaRPr lang="zh-CN" altLang="en-US" dirty="0">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p:txBody>
          <a:bodyPr/>
          <a:lstStyle/>
          <a:p>
            <a:fld id="{22E77DEE-32E4-4009-988B-F2758F7B8AC2}" type="slidenum">
              <a:rPr lang="zh-CN" altLang="en-US" smtClean="0"/>
              <a:t>37</a:t>
            </a:fld>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3"/>
          <p:cNvSpPr>
            <a:spLocks noGrp="1" noChangeArrowheads="1"/>
          </p:cNvSpPr>
          <p:nvPr>
            <p:ph type="title"/>
          </p:nvPr>
        </p:nvSpPr>
        <p:spPr>
          <a:xfrm>
            <a:off x="673418" y="606176"/>
            <a:ext cx="7943214" cy="504825"/>
          </a:xfrm>
          <a:solidFill>
            <a:schemeClr val="bg1"/>
          </a:solidFill>
        </p:spPr>
        <p:txBody>
          <a:bodyPr>
            <a:noAutofit/>
          </a:bodyPr>
          <a:lstStyle/>
          <a:p>
            <a:pPr eaLnBrk="1" hangingPunct="1"/>
            <a:r>
              <a:rPr lang="en-US" altLang="zh-CN" sz="3600" dirty="0">
                <a:solidFill>
                  <a:srgbClr val="C00000"/>
                </a:solidFill>
              </a:rPr>
              <a:t> </a:t>
            </a:r>
            <a:r>
              <a:rPr lang="en-US" altLang="zh-CN" sz="3600" dirty="0">
                <a:solidFill>
                  <a:srgbClr val="FF00FF"/>
                </a:solidFill>
              </a:rPr>
              <a:t>(2) </a:t>
            </a:r>
            <a:r>
              <a:rPr lang="en-US" altLang="zh-CN" sz="3600" dirty="0">
                <a:solidFill>
                  <a:srgbClr val="00B0F0"/>
                </a:solidFill>
              </a:rPr>
              <a:t>on-chip expanded RAM</a:t>
            </a:r>
            <a:r>
              <a:rPr lang="en-US" altLang="zh-CN" sz="3600" dirty="0"/>
              <a:t>(XRAM)</a:t>
            </a:r>
            <a:endParaRPr lang="zh-CN" altLang="en-US" sz="3600" dirty="0">
              <a:solidFill>
                <a:srgbClr val="C00000"/>
              </a:solidFill>
            </a:endParaRPr>
          </a:p>
        </p:txBody>
      </p:sp>
      <p:sp>
        <p:nvSpPr>
          <p:cNvPr id="480259" name="Rectangle 3"/>
          <p:cNvSpPr>
            <a:spLocks noGrp="1" noChangeArrowheads="1"/>
          </p:cNvSpPr>
          <p:nvPr>
            <p:ph idx="1"/>
          </p:nvPr>
        </p:nvSpPr>
        <p:spPr>
          <a:xfrm>
            <a:off x="741679" y="1433512"/>
            <a:ext cx="7943213" cy="3605848"/>
          </a:xfrm>
        </p:spPr>
        <p:txBody>
          <a:bodyPr>
            <a:normAutofit/>
          </a:bodyPr>
          <a:lstStyle/>
          <a:p>
            <a:pPr eaLnBrk="1" hangingPunct="1">
              <a:lnSpc>
                <a:spcPct val="104000"/>
              </a:lnSpc>
              <a:spcBef>
                <a:spcPts val="0"/>
              </a:spcBef>
              <a:buClr>
                <a:srgbClr val="FF0000"/>
              </a:buClr>
              <a:buFont typeface="Wingdings" panose="05000000000000000000" pitchFamily="2" charset="2"/>
              <a:buChar char="Ø"/>
              <a:defRPr/>
            </a:pPr>
            <a:r>
              <a:rPr lang="en-US" altLang="zh-CN" sz="1800" dirty="0">
                <a:latin typeface="Times New Roman" panose="02020603050405020304" pitchFamily="18" charset="0"/>
                <a:cs typeface="Times New Roman" panose="02020603050405020304" pitchFamily="18" charset="0"/>
              </a:rPr>
              <a:t>The external data memory area is also known as the </a:t>
            </a:r>
            <a:r>
              <a:rPr lang="en-US" altLang="zh-CN" sz="1800" dirty="0">
                <a:solidFill>
                  <a:srgbClr val="FF00FF"/>
                </a:solidFill>
                <a:latin typeface="Times New Roman" panose="02020603050405020304" pitchFamily="18" charset="0"/>
                <a:cs typeface="Times New Roman" panose="02020603050405020304" pitchFamily="18" charset="0"/>
              </a:rPr>
              <a:t>expanded RAM (XRAM)</a:t>
            </a:r>
            <a:r>
              <a:rPr lang="en-US" altLang="zh-CN" sz="1800" dirty="0">
                <a:latin typeface="Times New Roman" panose="02020603050405020304" pitchFamily="18" charset="0"/>
                <a:cs typeface="Times New Roman" panose="02020603050405020304" pitchFamily="18" charset="0"/>
              </a:rPr>
              <a:t> area. The </a:t>
            </a:r>
            <a:r>
              <a:rPr lang="en-US" altLang="zh-CN" sz="1800" dirty="0">
                <a:solidFill>
                  <a:srgbClr val="00B0F0"/>
                </a:solidFill>
                <a:latin typeface="Times New Roman" panose="02020603050405020304" pitchFamily="18" charset="0"/>
                <a:cs typeface="Times New Roman" panose="02020603050405020304" pitchFamily="18" charset="0"/>
              </a:rPr>
              <a:t>IAP15W4K58S4 microcontroller </a:t>
            </a:r>
            <a:r>
              <a:rPr lang="en-US" altLang="zh-CN" sz="1800" dirty="0">
                <a:latin typeface="Times New Roman" panose="02020603050405020304" pitchFamily="18" charset="0"/>
                <a:cs typeface="Times New Roman" panose="02020603050405020304" pitchFamily="18" charset="0"/>
              </a:rPr>
              <a:t>can access a total of 64KB of expanded data memory space. The IAP15W4K58S4 microcontroller </a:t>
            </a:r>
            <a:r>
              <a:rPr lang="en-US" altLang="zh-CN" sz="1800" dirty="0">
                <a:solidFill>
                  <a:srgbClr val="FF00FF"/>
                </a:solidFill>
                <a:latin typeface="Times New Roman" panose="02020603050405020304" pitchFamily="18" charset="0"/>
                <a:cs typeface="Times New Roman" panose="02020603050405020304" pitchFamily="18" charset="0"/>
              </a:rPr>
              <a:t>integrates 3840B of XRAM on-chip</a:t>
            </a:r>
            <a:r>
              <a:rPr lang="en-US" altLang="zh-CN" sz="1800" dirty="0">
                <a:latin typeface="Times New Roman" panose="02020603050405020304" pitchFamily="18" charset="0"/>
                <a:cs typeface="Times New Roman" panose="02020603050405020304" pitchFamily="18" charset="0"/>
              </a:rPr>
              <a:t>, with an address range from </a:t>
            </a:r>
            <a:r>
              <a:rPr lang="en-US" altLang="zh-CN" sz="1800" dirty="0">
                <a:solidFill>
                  <a:srgbClr val="FF00FF"/>
                </a:solidFill>
                <a:latin typeface="Times New Roman" panose="02020603050405020304" pitchFamily="18" charset="0"/>
                <a:cs typeface="Times New Roman" panose="02020603050405020304" pitchFamily="18" charset="0"/>
              </a:rPr>
              <a:t>0000H to 0EFFH</a:t>
            </a:r>
            <a:r>
              <a:rPr lang="en-US" altLang="zh-CN" sz="1800" dirty="0">
                <a:latin typeface="Times New Roman" panose="02020603050405020304" pitchFamily="18" charset="0"/>
                <a:cs typeface="Times New Roman" panose="02020603050405020304" pitchFamily="18" charset="0"/>
              </a:rPr>
              <a:t>, which can be used to store data.</a:t>
            </a:r>
            <a:r>
              <a:rPr lang="zh-CN" altLang="en-US" sz="1800" dirty="0">
                <a:latin typeface="Times New Roman" panose="02020603050405020304" pitchFamily="18" charset="0"/>
                <a:cs typeface="Times New Roman" panose="02020603050405020304" pitchFamily="18" charset="0"/>
              </a:rPr>
              <a:t>        </a:t>
            </a:r>
          </a:p>
          <a:p>
            <a:pPr eaLnBrk="1" hangingPunct="1">
              <a:lnSpc>
                <a:spcPct val="104000"/>
              </a:lnSpc>
              <a:spcBef>
                <a:spcPts val="0"/>
              </a:spcBef>
              <a:buFontTx/>
              <a:buNone/>
              <a:defRPr/>
            </a:pPr>
            <a:r>
              <a:rPr lang="en-US" altLang="zh-CN" sz="1800" dirty="0">
                <a:solidFill>
                  <a:srgbClr val="C00000"/>
                </a:solidFill>
                <a:latin typeface="Times New Roman" panose="02020603050405020304" pitchFamily="18" charset="0"/>
                <a:cs typeface="Times New Roman" panose="02020603050405020304" pitchFamily="18" charset="0"/>
              </a:rPr>
              <a:t>Note</a:t>
            </a:r>
            <a:r>
              <a:rPr lang="en-US" altLang="zh-CN" sz="1800" dirty="0">
                <a:latin typeface="Times New Roman" panose="02020603050405020304" pitchFamily="18" charset="0"/>
                <a:cs typeface="Times New Roman" panose="02020603050405020304" pitchFamily="18" charset="0"/>
              </a:rPr>
              <a:t> that "internal" and "external" here are logical concepts relative to the 8051 core, not referring to the physical internal and external parts of the chip.</a:t>
            </a:r>
            <a:endParaRPr lang="zh-CN" altLang="en-US" sz="1800" dirty="0">
              <a:latin typeface="Times New Roman" panose="02020603050405020304" pitchFamily="18" charset="0"/>
              <a:cs typeface="Times New Roman" panose="02020603050405020304" pitchFamily="18" charset="0"/>
            </a:endParaRPr>
          </a:p>
          <a:p>
            <a:pPr lvl="1" eaLnBrk="1" hangingPunct="1">
              <a:lnSpc>
                <a:spcPct val="104000"/>
              </a:lnSpc>
              <a:spcBef>
                <a:spcPts val="0"/>
              </a:spcBef>
              <a:spcAft>
                <a:spcPts val="600"/>
              </a:spcAft>
              <a:defRPr/>
            </a:pPr>
            <a:r>
              <a:rPr lang="en-US" altLang="zh-CN" dirty="0">
                <a:latin typeface="Times New Roman" panose="02020603050405020304" pitchFamily="18" charset="0"/>
                <a:cs typeface="Times New Roman" panose="02020603050405020304" pitchFamily="18" charset="0"/>
              </a:rPr>
              <a:t>In assembly language, XRAM is accessed using the "</a:t>
            </a:r>
            <a:r>
              <a:rPr lang="en-US" altLang="zh-CN" dirty="0">
                <a:solidFill>
                  <a:srgbClr val="FF00FF"/>
                </a:solidFill>
                <a:latin typeface="Times New Roman" panose="02020603050405020304" pitchFamily="18" charset="0"/>
                <a:cs typeface="Times New Roman" panose="02020603050405020304" pitchFamily="18" charset="0"/>
              </a:rPr>
              <a:t>MOVX @DPTR</a:t>
            </a:r>
            <a:r>
              <a:rPr lang="en-US" altLang="zh-CN" dirty="0">
                <a:latin typeface="Times New Roman" panose="02020603050405020304" pitchFamily="18" charset="0"/>
                <a:cs typeface="Times New Roman" panose="02020603050405020304" pitchFamily="18" charset="0"/>
              </a:rPr>
              <a:t>" or "</a:t>
            </a:r>
            <a:r>
              <a:rPr lang="en-US" altLang="zh-CN" dirty="0">
                <a:solidFill>
                  <a:srgbClr val="FF0000"/>
                </a:solidFill>
                <a:latin typeface="Times New Roman" panose="02020603050405020304" pitchFamily="18" charset="0"/>
                <a:cs typeface="Times New Roman" panose="02020603050405020304" pitchFamily="18" charset="0"/>
              </a:rPr>
              <a:t>MOVX @Ri</a:t>
            </a:r>
            <a:r>
              <a:rPr lang="en-US" altLang="zh-CN" dirty="0">
                <a:latin typeface="Times New Roman" panose="02020603050405020304" pitchFamily="18" charset="0"/>
                <a:cs typeface="Times New Roman" panose="02020603050405020304" pitchFamily="18" charset="0"/>
              </a:rPr>
              <a:t>" instructions.</a:t>
            </a:r>
            <a:endParaRPr lang="zh-CN" altLang="en-US" dirty="0">
              <a:latin typeface="Times New Roman" panose="02020603050405020304" pitchFamily="18" charset="0"/>
              <a:cs typeface="Times New Roman" panose="02020603050405020304" pitchFamily="18" charset="0"/>
            </a:endParaRPr>
          </a:p>
          <a:p>
            <a:pPr lvl="1" eaLnBrk="1" hangingPunct="1">
              <a:lnSpc>
                <a:spcPct val="104000"/>
              </a:lnSpc>
              <a:spcBef>
                <a:spcPts val="0"/>
              </a:spcBef>
              <a:spcAft>
                <a:spcPts val="600"/>
              </a:spcAft>
              <a:defRPr/>
            </a:pPr>
            <a:r>
              <a:rPr lang="en-US" altLang="zh-CN" dirty="0">
                <a:latin typeface="Times New Roman" panose="02020603050405020304" pitchFamily="18" charset="0"/>
                <a:cs typeface="Times New Roman" panose="02020603050405020304" pitchFamily="18" charset="0"/>
              </a:rPr>
              <a:t>In C language, you can declare the storage type using </a:t>
            </a:r>
            <a:r>
              <a:rPr lang="en-US" altLang="zh-CN" dirty="0" err="1">
                <a:solidFill>
                  <a:srgbClr val="FF0000"/>
                </a:solidFill>
                <a:latin typeface="Times New Roman" panose="02020603050405020304" pitchFamily="18" charset="0"/>
                <a:cs typeface="Times New Roman" panose="02020603050405020304" pitchFamily="18" charset="0"/>
              </a:rPr>
              <a:t>pdata</a:t>
            </a:r>
            <a:r>
              <a:rPr lang="en-US" altLang="zh-CN" dirty="0">
                <a:solidFill>
                  <a:srgbClr val="FF0000"/>
                </a:solidFill>
                <a:latin typeface="Times New Roman" panose="02020603050405020304" pitchFamily="18" charset="0"/>
                <a:cs typeface="Times New Roman" panose="02020603050405020304" pitchFamily="18" charset="0"/>
              </a:rPr>
              <a:t> or </a:t>
            </a:r>
            <a:r>
              <a:rPr lang="en-US" altLang="zh-CN" dirty="0" err="1">
                <a:solidFill>
                  <a:srgbClr val="FF0000"/>
                </a:solidFill>
                <a:latin typeface="Times New Roman" panose="02020603050405020304" pitchFamily="18" charset="0"/>
                <a:cs typeface="Times New Roman" panose="02020603050405020304" pitchFamily="18" charset="0"/>
              </a:rPr>
              <a:t>xdata</a:t>
            </a: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p>
            <a:pPr lvl="1" eaLnBrk="1" hangingPunct="1">
              <a:lnSpc>
                <a:spcPct val="104000"/>
              </a:lnSpc>
              <a:spcBef>
                <a:spcPts val="0"/>
              </a:spcBef>
              <a:spcAft>
                <a:spcPts val="600"/>
              </a:spcAft>
              <a:buFontTx/>
              <a:buNone/>
              <a:defRPr/>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Example </a:t>
            </a:r>
            <a:r>
              <a:rPr lang="zh-CN" altLang="en-US" dirty="0">
                <a:latin typeface="Times New Roman" panose="02020603050405020304" pitchFamily="18" charset="0"/>
                <a:cs typeface="Times New Roman" panose="02020603050405020304" pitchFamily="18" charset="0"/>
              </a:rPr>
              <a:t>：</a:t>
            </a:r>
            <a:r>
              <a:rPr lang="en-US" altLang="zh-CN" dirty="0">
                <a:solidFill>
                  <a:srgbClr val="3333FF"/>
                </a:solidFill>
                <a:latin typeface="Times New Roman" panose="02020603050405020304" pitchFamily="18" charset="0"/>
                <a:cs typeface="Times New Roman" panose="02020603050405020304" pitchFamily="18" charset="0"/>
              </a:rPr>
              <a:t>unsigned cha</a:t>
            </a:r>
            <a:r>
              <a:rPr lang="en-US" altLang="zh-CN" dirty="0">
                <a:latin typeface="Times New Roman" panose="02020603050405020304" pitchFamily="18" charset="0"/>
                <a:cs typeface="Times New Roman" panose="02020603050405020304" pitchFamily="18" charset="0"/>
              </a:rPr>
              <a:t>r </a:t>
            </a:r>
            <a:r>
              <a:rPr lang="en-US" altLang="zh-CN" dirty="0" err="1">
                <a:solidFill>
                  <a:srgbClr val="FF00FF"/>
                </a:solidFill>
                <a:latin typeface="Times New Roman" panose="02020603050405020304" pitchFamily="18" charset="0"/>
                <a:cs typeface="Times New Roman" panose="02020603050405020304" pitchFamily="18" charset="0"/>
              </a:rPr>
              <a:t>xdata</a:t>
            </a:r>
            <a:r>
              <a:rPr lang="en-US" altLang="zh-CN" dirty="0">
                <a:latin typeface="Times New Roman" panose="02020603050405020304" pitchFamily="18" charset="0"/>
                <a:cs typeface="Times New Roman" panose="02020603050405020304" pitchFamily="18" charset="0"/>
              </a:rPr>
              <a:t> </a:t>
            </a:r>
            <a:r>
              <a:rPr lang="en-US" altLang="zh-CN" dirty="0" err="1">
                <a:solidFill>
                  <a:srgbClr val="3333FF"/>
                </a:solidFill>
                <a:latin typeface="Times New Roman" panose="02020603050405020304" pitchFamily="18" charset="0"/>
                <a:cs typeface="Times New Roman" panose="02020603050405020304" pitchFamily="18" charset="0"/>
              </a:rPr>
              <a:t>i</a:t>
            </a:r>
            <a:r>
              <a:rPr lang="en-US" altLang="zh-CN" dirty="0">
                <a:solidFill>
                  <a:srgbClr val="3333FF"/>
                </a:solidFill>
                <a:latin typeface="Times New Roman" panose="02020603050405020304" pitchFamily="18" charset="0"/>
                <a:cs typeface="Times New Roman" panose="02020603050405020304" pitchFamily="18" charset="0"/>
              </a:rPr>
              <a:t>= 0</a:t>
            </a:r>
            <a:r>
              <a:rPr lang="en-US" altLang="zh-CN" dirty="0">
                <a:latin typeface="Times New Roman" panose="02020603050405020304" pitchFamily="18" charset="0"/>
                <a:cs typeface="Times New Roman" panose="02020603050405020304" pitchFamily="18" charset="0"/>
              </a:rPr>
              <a:t>; </a:t>
            </a:r>
          </a:p>
          <a:p>
            <a:pPr eaLnBrk="1" hangingPunct="1">
              <a:lnSpc>
                <a:spcPct val="104000"/>
              </a:lnSpc>
              <a:spcBef>
                <a:spcPts val="0"/>
              </a:spcBef>
              <a:buClr>
                <a:srgbClr val="FF0000"/>
              </a:buClr>
              <a:buFont typeface="Wingdings" panose="05000000000000000000" pitchFamily="2" charset="2"/>
              <a:buChar char="Ø"/>
              <a:defRPr/>
            </a:pPr>
            <a:endParaRPr lang="zh-CN" altLang="en-US" dirty="0"/>
          </a:p>
          <a:p>
            <a:pPr eaLnBrk="1" hangingPunct="1">
              <a:lnSpc>
                <a:spcPct val="104000"/>
              </a:lnSpc>
              <a:spcBef>
                <a:spcPts val="0"/>
              </a:spcBef>
              <a:buFontTx/>
              <a:buNone/>
              <a:defRPr/>
            </a:pPr>
            <a:endParaRPr lang="zh-CN" altLang="en-US" dirty="0">
              <a:solidFill>
                <a:srgbClr val="CC3300"/>
              </a:solidFill>
            </a:endParaRPr>
          </a:p>
        </p:txBody>
      </p:sp>
      <p:sp>
        <p:nvSpPr>
          <p:cNvPr id="3" name="灯片编号占位符 2"/>
          <p:cNvSpPr>
            <a:spLocks noGrp="1"/>
          </p:cNvSpPr>
          <p:nvPr>
            <p:ph type="sldNum" sz="quarter" idx="12"/>
          </p:nvPr>
        </p:nvSpPr>
        <p:spPr/>
        <p:txBody>
          <a:bodyPr/>
          <a:lstStyle/>
          <a:p>
            <a:fld id="{22E77DEE-32E4-4009-988B-F2758F7B8AC2}" type="slidenum">
              <a:rPr lang="zh-CN" altLang="en-US" smtClean="0"/>
              <a:t>38</a:t>
            </a:fld>
            <a:endParaRPr lang="zh-CN" altLang="en-US"/>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3" name="Rectangle 3"/>
          <p:cNvSpPr>
            <a:spLocks noGrp="1" noChangeArrowheads="1"/>
          </p:cNvSpPr>
          <p:nvPr>
            <p:ph idx="1"/>
          </p:nvPr>
        </p:nvSpPr>
        <p:spPr>
          <a:xfrm>
            <a:off x="435928" y="2701471"/>
            <a:ext cx="8469312" cy="3378200"/>
          </a:xfrm>
        </p:spPr>
        <p:txBody>
          <a:bodyPr>
            <a:normAutofit/>
          </a:bodyPr>
          <a:lstStyle/>
          <a:p>
            <a:pPr eaLnBrk="1" hangingPunct="1">
              <a:lnSpc>
                <a:spcPct val="113000"/>
              </a:lnSpc>
              <a:spcAft>
                <a:spcPts val="1200"/>
              </a:spcAft>
            </a:pPr>
            <a:r>
              <a:rPr lang="en-US" altLang="zh-CN" sz="1800" dirty="0">
                <a:latin typeface="Times New Roman" panose="02020603050405020304" pitchFamily="18" charset="0"/>
                <a:cs typeface="Times New Roman" panose="02020603050405020304" pitchFamily="18" charset="0"/>
              </a:rPr>
              <a:t>The </a:t>
            </a:r>
            <a:r>
              <a:rPr lang="en-US" altLang="zh-CN" sz="1800" dirty="0">
                <a:solidFill>
                  <a:srgbClr val="00B0F0"/>
                </a:solidFill>
                <a:latin typeface="Times New Roman" panose="02020603050405020304" pitchFamily="18" charset="0"/>
                <a:cs typeface="Times New Roman" panose="02020603050405020304" pitchFamily="18" charset="0"/>
              </a:rPr>
              <a:t>IAP15W4K58S4 </a:t>
            </a:r>
            <a:r>
              <a:rPr lang="en-US" altLang="zh-CN" sz="1800" dirty="0">
                <a:latin typeface="Times New Roman" panose="02020603050405020304" pitchFamily="18" charset="0"/>
                <a:cs typeface="Times New Roman" panose="02020603050405020304" pitchFamily="18" charset="0"/>
              </a:rPr>
              <a:t>microcontroller can also access externally expanded 64KB </a:t>
            </a:r>
            <a:r>
              <a:rPr lang="en-US" altLang="zh-CN" sz="1800" dirty="0">
                <a:solidFill>
                  <a:srgbClr val="FF00FF"/>
                </a:solidFill>
                <a:latin typeface="Times New Roman" panose="02020603050405020304" pitchFamily="18" charset="0"/>
                <a:cs typeface="Times New Roman" panose="02020603050405020304" pitchFamily="18" charset="0"/>
              </a:rPr>
              <a:t>external data memory</a:t>
            </a: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p>
            <a:pPr eaLnBrk="1" hangingPunct="1">
              <a:lnSpc>
                <a:spcPct val="113000"/>
              </a:lnSpc>
              <a:spcAft>
                <a:spcPts val="1200"/>
              </a:spcAft>
            </a:pPr>
            <a:r>
              <a:rPr lang="en-US" altLang="zh-CN" sz="1800" dirty="0">
                <a:solidFill>
                  <a:srgbClr val="FF0000"/>
                </a:solidFill>
                <a:latin typeface="Times New Roman" panose="02020603050405020304" pitchFamily="18" charset="0"/>
                <a:cs typeface="Times New Roman" panose="02020603050405020304" pitchFamily="18" charset="0"/>
              </a:rPr>
              <a:t>The external expanded I/O ports </a:t>
            </a:r>
            <a:r>
              <a:rPr lang="en-US" altLang="zh-CN" sz="1800" dirty="0">
                <a:latin typeface="Times New Roman" panose="02020603050405020304" pitchFamily="18" charset="0"/>
                <a:cs typeface="Times New Roman" panose="02020603050405020304" pitchFamily="18" charset="0"/>
              </a:rPr>
              <a:t>of the IAP15W4K58S4 microcontroller share the </a:t>
            </a:r>
            <a:r>
              <a:rPr lang="en-US" altLang="zh-CN" sz="1800" dirty="0">
                <a:solidFill>
                  <a:srgbClr val="FF0000"/>
                </a:solidFill>
                <a:latin typeface="Times New Roman" panose="02020603050405020304" pitchFamily="18" charset="0"/>
                <a:cs typeface="Times New Roman" panose="02020603050405020304" pitchFamily="18" charset="0"/>
              </a:rPr>
              <a:t>same address</a:t>
            </a:r>
            <a:r>
              <a:rPr lang="en-US" altLang="zh-CN" sz="1800" dirty="0">
                <a:latin typeface="Times New Roman" panose="02020603050405020304" pitchFamily="18" charset="0"/>
                <a:cs typeface="Times New Roman" panose="02020603050405020304" pitchFamily="18" charset="0"/>
              </a:rPr>
              <a:t> space with the extended data memory. Therefore, the addresses of the external I/O ports occupy address units within the extended data memory, and external expanded I/O ports are also accessed using the </a:t>
            </a:r>
            <a:r>
              <a:rPr lang="en-US" altLang="zh-CN" sz="1800" dirty="0">
                <a:solidFill>
                  <a:srgbClr val="CF3E3E"/>
                </a:solidFill>
                <a:latin typeface="Times New Roman" panose="02020603050405020304" pitchFamily="18" charset="0"/>
                <a:cs typeface="Times New Roman" panose="02020603050405020304" pitchFamily="18" charset="0"/>
              </a:rPr>
              <a:t>MOVX</a:t>
            </a:r>
            <a:r>
              <a:rPr lang="en-US" altLang="zh-CN" sz="1800" dirty="0">
                <a:latin typeface="Times New Roman" panose="02020603050405020304" pitchFamily="18" charset="0"/>
                <a:cs typeface="Times New Roman" panose="02020603050405020304" pitchFamily="18" charset="0"/>
              </a:rPr>
              <a:t> instruction.</a:t>
            </a:r>
            <a:endParaRPr lang="zh-CN" altLang="en-US" sz="1800" dirty="0">
              <a:latin typeface="Times New Roman" panose="02020603050405020304" pitchFamily="18" charset="0"/>
              <a:cs typeface="Times New Roman" panose="02020603050405020304" pitchFamily="18" charset="0"/>
            </a:endParaRPr>
          </a:p>
        </p:txBody>
      </p:sp>
      <p:grpSp>
        <p:nvGrpSpPr>
          <p:cNvPr id="75781" name="组合 6"/>
          <p:cNvGrpSpPr/>
          <p:nvPr/>
        </p:nvGrpSpPr>
        <p:grpSpPr bwMode="auto">
          <a:xfrm>
            <a:off x="435928" y="1539648"/>
            <a:ext cx="8469312" cy="1140710"/>
            <a:chOff x="552264" y="1119079"/>
            <a:chExt cx="8469088" cy="1519689"/>
          </a:xfrm>
        </p:grpSpPr>
        <p:sp>
          <p:nvSpPr>
            <p:cNvPr id="9" name="Rectangle 3"/>
            <p:cNvSpPr txBox="1">
              <a:spLocks noChangeArrowheads="1"/>
            </p:cNvSpPr>
            <p:nvPr/>
          </p:nvSpPr>
          <p:spPr bwMode="auto">
            <a:xfrm>
              <a:off x="552264" y="1119079"/>
              <a:ext cx="8469088" cy="151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3"/>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4"/>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algn="l" eaLnBrk="1" hangingPunct="1">
                <a:lnSpc>
                  <a:spcPct val="113000"/>
                </a:lnSpc>
                <a:spcBef>
                  <a:spcPts val="0"/>
                </a:spcBef>
                <a:defRPr/>
              </a:pPr>
              <a:r>
                <a:rPr lang="en-US" altLang="zh-CN" sz="1800" b="0" kern="0" dirty="0">
                  <a:solidFill>
                    <a:srgbClr val="FF00FF"/>
                  </a:solidFill>
                  <a:latin typeface="Times New Roman" panose="02020603050405020304" pitchFamily="18" charset="0"/>
                  <a:cs typeface="Times New Roman" panose="02020603050405020304" pitchFamily="18" charset="0"/>
                </a:rPr>
                <a:t>When accessing the on-chip integrated external RAM, it does not affect </a:t>
              </a:r>
              <a:r>
                <a:rPr lang="en-US" altLang="zh-CN" sz="1800" b="0" kern="0" dirty="0">
                  <a:latin typeface="Times New Roman" panose="02020603050405020304" pitchFamily="18" charset="0"/>
                  <a:cs typeface="Times New Roman" panose="02020603050405020304" pitchFamily="18" charset="0"/>
                </a:rPr>
                <a:t>P0, P2, P4.2 (</a:t>
              </a:r>
              <a:r>
                <a:rPr lang="en-US" altLang="zh-CN" sz="1800" b="0" kern="0" dirty="0">
                  <a:solidFill>
                    <a:srgbClr val="0000CC"/>
                  </a:solidFill>
                  <a:latin typeface="Times New Roman" panose="02020603050405020304" pitchFamily="18" charset="0"/>
                  <a:cs typeface="Times New Roman" panose="02020603050405020304" pitchFamily="18" charset="0"/>
                </a:rPr>
                <a:t>WR</a:t>
              </a:r>
              <a:r>
                <a:rPr lang="en-US" altLang="zh-CN" sz="1800" b="0" kern="0" dirty="0">
                  <a:latin typeface="Times New Roman" panose="02020603050405020304" pitchFamily="18" charset="0"/>
                  <a:cs typeface="Times New Roman" panose="02020603050405020304" pitchFamily="18" charset="0"/>
                </a:rPr>
                <a:t>), P4.4 (</a:t>
              </a:r>
              <a:r>
                <a:rPr lang="en-US" altLang="zh-CN" sz="1800" b="0" kern="0" dirty="0">
                  <a:solidFill>
                    <a:srgbClr val="0000CC"/>
                  </a:solidFill>
                  <a:latin typeface="Times New Roman" panose="02020603050405020304" pitchFamily="18" charset="0"/>
                  <a:cs typeface="Times New Roman" panose="02020603050405020304" pitchFamily="18" charset="0"/>
                </a:rPr>
                <a:t>RD</a:t>
              </a:r>
              <a:r>
                <a:rPr lang="en-US" altLang="zh-CN" sz="1800" b="0" kern="0" dirty="0">
                  <a:latin typeface="Times New Roman" panose="02020603050405020304" pitchFamily="18" charset="0"/>
                  <a:cs typeface="Times New Roman" panose="02020603050405020304" pitchFamily="18" charset="0"/>
                </a:rPr>
                <a:t>), and ALE (P4.5). However, accessing externally expanded RAM will affect these port lines.</a:t>
              </a:r>
              <a:endParaRPr lang="zh-CN" altLang="en-US" sz="1800" b="0" kern="0" dirty="0">
                <a:latin typeface="Times New Roman" panose="02020603050405020304" pitchFamily="18" charset="0"/>
                <a:cs typeface="Times New Roman" panose="02020603050405020304" pitchFamily="18" charset="0"/>
              </a:endParaRPr>
            </a:p>
          </p:txBody>
        </p:sp>
        <p:cxnSp>
          <p:nvCxnSpPr>
            <p:cNvPr id="75784" name="直接连接符 5"/>
            <p:cNvCxnSpPr>
              <a:cxnSpLocks noChangeShapeType="1"/>
            </p:cNvCxnSpPr>
            <p:nvPr/>
          </p:nvCxnSpPr>
          <p:spPr bwMode="auto">
            <a:xfrm>
              <a:off x="1087009" y="1673001"/>
              <a:ext cx="333828" cy="0"/>
            </a:xfrm>
            <a:prstGeom prst="line">
              <a:avLst/>
            </a:prstGeom>
            <a:noFill/>
            <a:ln w="9525" algn="ctr">
              <a:solidFill>
                <a:srgbClr val="0000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785" name="直接连接符 7"/>
            <p:cNvCxnSpPr>
              <a:cxnSpLocks noChangeShapeType="1"/>
            </p:cNvCxnSpPr>
            <p:nvPr/>
          </p:nvCxnSpPr>
          <p:spPr bwMode="auto">
            <a:xfrm>
              <a:off x="2160294" y="1673001"/>
              <a:ext cx="333828" cy="0"/>
            </a:xfrm>
            <a:prstGeom prst="line">
              <a:avLst/>
            </a:prstGeom>
            <a:noFill/>
            <a:ln w="9525" algn="ctr">
              <a:solidFill>
                <a:srgbClr val="0000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 name="灯片编号占位符 2"/>
          <p:cNvSpPr>
            <a:spLocks noGrp="1"/>
          </p:cNvSpPr>
          <p:nvPr>
            <p:ph type="sldNum" sz="quarter" idx="12"/>
          </p:nvPr>
        </p:nvSpPr>
        <p:spPr/>
        <p:txBody>
          <a:bodyPr/>
          <a:lstStyle/>
          <a:p>
            <a:fld id="{22E77DEE-32E4-4009-988B-F2758F7B8AC2}" type="slidenum">
              <a:rPr lang="zh-CN" altLang="en-US" smtClean="0"/>
              <a:t>39</a:t>
            </a:fld>
            <a:endParaRPr lang="zh-CN" altLang="en-US"/>
          </a:p>
        </p:txBody>
      </p:sp>
      <p:sp>
        <p:nvSpPr>
          <p:cNvPr id="5" name="标题 3"/>
          <p:cNvSpPr>
            <a:spLocks noGrp="1" noChangeArrowheads="1"/>
          </p:cNvSpPr>
          <p:nvPr>
            <p:ph type="title"/>
          </p:nvPr>
        </p:nvSpPr>
        <p:spPr>
          <a:xfrm>
            <a:off x="673418" y="606176"/>
            <a:ext cx="7943214" cy="504825"/>
          </a:xfrm>
          <a:solidFill>
            <a:schemeClr val="bg1"/>
          </a:solidFill>
        </p:spPr>
        <p:txBody>
          <a:bodyPr>
            <a:noAutofit/>
          </a:bodyPr>
          <a:lstStyle/>
          <a:p>
            <a:pPr eaLnBrk="1" hangingPunct="1"/>
            <a:r>
              <a:rPr lang="en-US" altLang="zh-CN" sz="3600" dirty="0">
                <a:solidFill>
                  <a:srgbClr val="C00000"/>
                </a:solidFill>
              </a:rPr>
              <a:t> </a:t>
            </a:r>
            <a:r>
              <a:rPr lang="en-US" altLang="zh-CN" sz="3600" dirty="0">
                <a:solidFill>
                  <a:srgbClr val="FF00FF"/>
                </a:solidFill>
              </a:rPr>
              <a:t>(2) </a:t>
            </a:r>
            <a:r>
              <a:rPr lang="en-US" altLang="zh-CN" sz="3600" dirty="0">
                <a:solidFill>
                  <a:srgbClr val="00B0F0"/>
                </a:solidFill>
              </a:rPr>
              <a:t>on-chip expanded RAM</a:t>
            </a:r>
            <a:r>
              <a:rPr lang="en-US" altLang="zh-CN" sz="3600" dirty="0"/>
              <a:t>(XRAM)</a:t>
            </a:r>
            <a:endParaRPr lang="zh-CN" altLang="en-US" sz="3600" dirty="0">
              <a:solidFill>
                <a:srgbClr val="C0000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p:cNvSpPr>
            <a:spLocks noGrp="1" noChangeArrowheads="1"/>
          </p:cNvSpPr>
          <p:nvPr>
            <p:ph type="body" idx="1"/>
          </p:nvPr>
        </p:nvSpPr>
        <p:spPr>
          <a:xfrm>
            <a:off x="398645" y="1126808"/>
            <a:ext cx="8098473" cy="1043551"/>
          </a:xfrm>
        </p:spPr>
        <p:txBody>
          <a:bodyPr>
            <a:noAutofit/>
          </a:bodyPr>
          <a:lstStyle/>
          <a:p>
            <a:pPr marL="262255" indent="-262255" eaLnBrk="1" hangingPunct="1">
              <a:lnSpc>
                <a:spcPct val="125000"/>
              </a:lnSpc>
            </a:pPr>
            <a:r>
              <a:rPr lang="en-US" altLang="zh-CN" sz="1800" dirty="0">
                <a:latin typeface="Times New Roman" panose="02020603050405020304" pitchFamily="18" charset="0"/>
                <a:cs typeface="Times New Roman" panose="02020603050405020304" pitchFamily="18" charset="0"/>
              </a:rPr>
              <a:t>Whether the </a:t>
            </a:r>
            <a:r>
              <a:rPr lang="en-US" altLang="zh-CN" sz="1800" dirty="0">
                <a:solidFill>
                  <a:srgbClr val="FF00FF"/>
                </a:solidFill>
                <a:latin typeface="Times New Roman" panose="02020603050405020304" pitchFamily="18" charset="0"/>
                <a:cs typeface="Times New Roman" panose="02020603050405020304" pitchFamily="18" charset="0"/>
              </a:rPr>
              <a:t>internal expanded RAM </a:t>
            </a:r>
            <a:r>
              <a:rPr lang="en-US" altLang="zh-CN" sz="1800" dirty="0">
                <a:latin typeface="Times New Roman" panose="02020603050405020304" pitchFamily="18" charset="0"/>
                <a:cs typeface="Times New Roman" panose="02020603050405020304" pitchFamily="18" charset="0"/>
              </a:rPr>
              <a:t>of </a:t>
            </a:r>
            <a:r>
              <a:rPr lang="en-US" altLang="zh-CN" sz="1800" dirty="0">
                <a:solidFill>
                  <a:srgbClr val="FF00FF"/>
                </a:solidFill>
                <a:latin typeface="Times New Roman" panose="02020603050405020304" pitchFamily="18" charset="0"/>
                <a:cs typeface="Times New Roman" panose="02020603050405020304" pitchFamily="18" charset="0"/>
              </a:rPr>
              <a:t>the microcontroller is accessible is controlled by the EXTRAM bit in the auxiliary register AUXR</a:t>
            </a:r>
            <a:r>
              <a:rPr lang="en-US" altLang="zh-CN" sz="1800" dirty="0">
                <a:latin typeface="Times New Roman" panose="02020603050405020304" pitchFamily="18" charset="0"/>
                <a:cs typeface="Times New Roman" panose="02020603050405020304" pitchFamily="18" charset="0"/>
              </a:rPr>
              <a:t> (address 8EH, reset value 01H).</a:t>
            </a:r>
            <a:endParaRPr lang="zh-CN" altLang="en-US" sz="1800" dirty="0">
              <a:solidFill>
                <a:schemeClr val="tx1"/>
              </a:solidFill>
              <a:latin typeface="Times New Roman" panose="02020603050405020304" pitchFamily="18" charset="0"/>
              <a:cs typeface="Times New Roman" panose="02020603050405020304" pitchFamily="18" charset="0"/>
            </a:endParaRPr>
          </a:p>
        </p:txBody>
      </p:sp>
      <p:graphicFrame>
        <p:nvGraphicFramePr>
          <p:cNvPr id="646265" name="Group 121"/>
          <p:cNvGraphicFramePr>
            <a:graphicFrameLocks noGrp="1"/>
          </p:cNvGraphicFramePr>
          <p:nvPr/>
        </p:nvGraphicFramePr>
        <p:xfrm>
          <a:off x="42862" y="2170361"/>
          <a:ext cx="9101138" cy="1203325"/>
        </p:xfrm>
        <a:graphic>
          <a:graphicData uri="http://schemas.openxmlformats.org/drawingml/2006/table">
            <a:tbl>
              <a:tblPr/>
              <a:tblGrid>
                <a:gridCol w="748850">
                  <a:extLst>
                    <a:ext uri="{9D8B030D-6E8A-4147-A177-3AD203B41FA5}">
                      <a16:colId xmlns:a16="http://schemas.microsoft.com/office/drawing/2014/main" val="20000"/>
                    </a:ext>
                  </a:extLst>
                </a:gridCol>
                <a:gridCol w="905118">
                  <a:extLst>
                    <a:ext uri="{9D8B030D-6E8A-4147-A177-3AD203B41FA5}">
                      <a16:colId xmlns:a16="http://schemas.microsoft.com/office/drawing/2014/main" val="20001"/>
                    </a:ext>
                  </a:extLst>
                </a:gridCol>
                <a:gridCol w="929768">
                  <a:extLst>
                    <a:ext uri="{9D8B030D-6E8A-4147-A177-3AD203B41FA5}">
                      <a16:colId xmlns:a16="http://schemas.microsoft.com/office/drawing/2014/main" val="20002"/>
                    </a:ext>
                  </a:extLst>
                </a:gridCol>
                <a:gridCol w="1524114">
                  <a:extLst>
                    <a:ext uri="{9D8B030D-6E8A-4147-A177-3AD203B41FA5}">
                      <a16:colId xmlns:a16="http://schemas.microsoft.com/office/drawing/2014/main" val="20003"/>
                    </a:ext>
                  </a:extLst>
                </a:gridCol>
                <a:gridCol w="692882">
                  <a:extLst>
                    <a:ext uri="{9D8B030D-6E8A-4147-A177-3AD203B41FA5}">
                      <a16:colId xmlns:a16="http://schemas.microsoft.com/office/drawing/2014/main" val="20004"/>
                    </a:ext>
                  </a:extLst>
                </a:gridCol>
                <a:gridCol w="1107025">
                  <a:extLst>
                    <a:ext uri="{9D8B030D-6E8A-4147-A177-3AD203B41FA5}">
                      <a16:colId xmlns:a16="http://schemas.microsoft.com/office/drawing/2014/main" val="20005"/>
                    </a:ext>
                  </a:extLst>
                </a:gridCol>
                <a:gridCol w="899953">
                  <a:extLst>
                    <a:ext uri="{9D8B030D-6E8A-4147-A177-3AD203B41FA5}">
                      <a16:colId xmlns:a16="http://schemas.microsoft.com/office/drawing/2014/main" val="20006"/>
                    </a:ext>
                  </a:extLst>
                </a:gridCol>
                <a:gridCol w="1393475">
                  <a:extLst>
                    <a:ext uri="{9D8B030D-6E8A-4147-A177-3AD203B41FA5}">
                      <a16:colId xmlns:a16="http://schemas.microsoft.com/office/drawing/2014/main" val="20007"/>
                    </a:ext>
                  </a:extLst>
                </a:gridCol>
                <a:gridCol w="899953">
                  <a:extLst>
                    <a:ext uri="{9D8B030D-6E8A-4147-A177-3AD203B41FA5}">
                      <a16:colId xmlns:a16="http://schemas.microsoft.com/office/drawing/2014/main" val="20008"/>
                    </a:ext>
                  </a:extLst>
                </a:gridCol>
              </a:tblGrid>
              <a:tr h="42221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Bit No.</a:t>
                      </a:r>
                      <a:endPar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D7</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D6</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D5</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D4</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D3</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D2</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D1</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D0</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8110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Bit Name</a:t>
                      </a: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T0x12</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T1x12</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UART_</a:t>
                      </a: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M0x6</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T2R</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T2_C/ </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T2x12</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FF00FF"/>
                          </a:solidFill>
                          <a:effectLst/>
                          <a:latin typeface="Times New Roman" panose="02020603050405020304" pitchFamily="18" charset="0"/>
                          <a:ea typeface="宋体" panose="02010600030101010101" pitchFamily="2" charset="-122"/>
                          <a:cs typeface="Times New Roman" panose="02020603050405020304" pitchFamily="18" charset="0"/>
                        </a:rPr>
                        <a:t>EXTRAM</a:t>
                      </a:r>
                      <a:endParaRPr kumimoji="0" lang="en-US" altLang="zh-CN" sz="2400" b="1" i="0" u="none" strike="noStrike" cap="none" normalizeH="0" baseline="0">
                        <a:ln>
                          <a:noFill/>
                        </a:ln>
                        <a:solidFill>
                          <a:srgbClr val="FF00FF"/>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S1ST2</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7859" name="Rectangle 123"/>
          <p:cNvSpPr>
            <a:spLocks noChangeArrowheads="1"/>
          </p:cNvSpPr>
          <p:nvPr/>
        </p:nvSpPr>
        <p:spPr bwMode="auto">
          <a:xfrm>
            <a:off x="-290513" y="3255963"/>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646266" name="Object 122"/>
          <p:cNvGraphicFramePr>
            <a:graphicFrameLocks noChangeAspect="1"/>
          </p:cNvGraphicFramePr>
          <p:nvPr/>
        </p:nvGraphicFramePr>
        <p:xfrm>
          <a:off x="5667375" y="2683828"/>
          <a:ext cx="327025" cy="457200"/>
        </p:xfrm>
        <a:graphic>
          <a:graphicData uri="http://schemas.openxmlformats.org/presentationml/2006/ole">
            <mc:AlternateContent xmlns:mc="http://schemas.openxmlformats.org/markup-compatibility/2006">
              <mc:Choice xmlns:v="urn:schemas-microsoft-com:vml" Requires="v">
                <p:oleObj name="公式" r:id="rId2" imgW="139700" imgH="203200" progId="Equation.3">
                  <p:embed/>
                </p:oleObj>
              </mc:Choice>
              <mc:Fallback>
                <p:oleObj name="公式" r:id="rId2" imgW="139700" imgH="203200" progId="Equation.3">
                  <p:embed/>
                  <p:pic>
                    <p:nvPicPr>
                      <p:cNvPr id="0" name="Object 1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7375" y="2683828"/>
                        <a:ext cx="327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3"/>
          <p:cNvSpPr txBox="1">
            <a:spLocks noChangeArrowheads="1"/>
          </p:cNvSpPr>
          <p:nvPr/>
        </p:nvSpPr>
        <p:spPr bwMode="auto">
          <a:xfrm>
            <a:off x="188913" y="3695700"/>
            <a:ext cx="8955087" cy="2719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4"/>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5"/>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2255" indent="-262255" eaLnBrk="1" hangingPunct="1">
              <a:spcBef>
                <a:spcPts val="300"/>
              </a:spcBef>
              <a:defRPr/>
            </a:pPr>
            <a:r>
              <a:rPr lang="en-US" altLang="zh-CN" sz="2000" kern="0" dirty="0">
                <a:solidFill>
                  <a:srgbClr val="FF00FF"/>
                </a:solidFill>
              </a:rPr>
              <a:t>EXTRAM</a:t>
            </a:r>
            <a:r>
              <a:rPr lang="zh-CN" altLang="en-US" kern="0" dirty="0"/>
              <a:t>：</a:t>
            </a:r>
          </a:p>
          <a:p>
            <a:pPr marL="262255" indent="-262255" eaLnBrk="1" hangingPunct="1">
              <a:spcBef>
                <a:spcPts val="300"/>
              </a:spcBef>
              <a:defRPr/>
            </a:pPr>
            <a:r>
              <a:rPr lang="en-US" altLang="zh-CN" sz="2000" kern="0" dirty="0">
                <a:solidFill>
                  <a:srgbClr val="FF00FF"/>
                </a:solidFill>
              </a:rPr>
              <a:t>0: Internal expanded RAM is accessible</a:t>
            </a:r>
            <a:r>
              <a:rPr lang="en-US" altLang="zh-CN" sz="2000" kern="0" dirty="0">
                <a:solidFill>
                  <a:schemeClr val="tx1"/>
                </a:solidFill>
              </a:rPr>
              <a:t>; </a:t>
            </a:r>
            <a:r>
              <a:rPr lang="en-US" altLang="zh-CN" sz="2000" kern="0" dirty="0">
                <a:solidFill>
                  <a:srgbClr val="FF0000"/>
                </a:solidFill>
              </a:rPr>
              <a:t>when the address is less than 0F00H, access the internal expanded RAM</a:t>
            </a:r>
            <a:r>
              <a:rPr lang="en-US" altLang="zh-CN" sz="2000" kern="0" dirty="0">
                <a:solidFill>
                  <a:schemeClr val="tx1"/>
                </a:solidFill>
              </a:rPr>
              <a:t>; </a:t>
            </a:r>
            <a:r>
              <a:rPr lang="en-US" altLang="zh-CN" sz="2000" kern="0" dirty="0">
                <a:solidFill>
                  <a:srgbClr val="0000CC"/>
                </a:solidFill>
              </a:rPr>
              <a:t>when the address is greater than or equal to 0F00H, access the microcontroller's externally expanded RAM or I/O space</a:t>
            </a:r>
            <a:r>
              <a:rPr lang="en-US" altLang="zh-CN" sz="2000" kern="0" dirty="0">
                <a:solidFill>
                  <a:schemeClr val="tx1"/>
                </a:solidFill>
              </a:rPr>
              <a:t>.</a:t>
            </a:r>
            <a:endParaRPr lang="zh-CN" altLang="en-US" sz="2000" kern="0" dirty="0">
              <a:solidFill>
                <a:schemeClr val="tx1"/>
              </a:solidFill>
            </a:endParaRPr>
          </a:p>
          <a:p>
            <a:pPr marL="262255" indent="-262255" eaLnBrk="1" hangingPunct="1">
              <a:spcBef>
                <a:spcPts val="300"/>
              </a:spcBef>
              <a:defRPr/>
            </a:pPr>
            <a:r>
              <a:rPr lang="en-US" altLang="zh-CN" sz="2000" kern="0" dirty="0">
                <a:solidFill>
                  <a:srgbClr val="FF00FF"/>
                </a:solidFill>
              </a:rPr>
              <a:t>1</a:t>
            </a:r>
            <a:r>
              <a:rPr lang="en-US" altLang="zh-CN" sz="2000" kern="0" dirty="0">
                <a:solidFill>
                  <a:schemeClr val="tx1"/>
                </a:solidFill>
              </a:rPr>
              <a:t>: Access to internal expanded RAM is prohibited.</a:t>
            </a:r>
            <a:endParaRPr lang="zh-CN" altLang="en-US" sz="2000" kern="0" dirty="0">
              <a:solidFill>
                <a:schemeClr val="tx1"/>
              </a:solidFill>
            </a:endParaRPr>
          </a:p>
        </p:txBody>
      </p:sp>
      <p:sp>
        <p:nvSpPr>
          <p:cNvPr id="10" name="Rectangle 3">
            <a:hlinkClick r:id="rId6" action="ppaction://hlinksldjump"/>
          </p:cNvPr>
          <p:cNvSpPr txBox="1">
            <a:spLocks noChangeArrowheads="1"/>
          </p:cNvSpPr>
          <p:nvPr/>
        </p:nvSpPr>
        <p:spPr bwMode="auto">
          <a:xfrm>
            <a:off x="2301399" y="3808165"/>
            <a:ext cx="6731952" cy="444500"/>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342900" indent="-342900" algn="l" rtl="0" fontAlgn="base">
              <a:lnSpc>
                <a:spcPct val="114000"/>
              </a:lnSpc>
              <a:spcBef>
                <a:spcPct val="20000"/>
              </a:spcBef>
              <a:spcAft>
                <a:spcPts val="600"/>
              </a:spcAft>
              <a:buBlip>
                <a:blip r:embed="rId4"/>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5"/>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algn="ctr" eaLnBrk="1" hangingPunct="1">
              <a:lnSpc>
                <a:spcPct val="100000"/>
              </a:lnSpc>
              <a:buClr>
                <a:srgbClr val="FF0000"/>
              </a:buClr>
              <a:buFontTx/>
              <a:buNone/>
              <a:defRPr/>
            </a:pPr>
            <a:r>
              <a:rPr lang="en-US" altLang="zh-CN" sz="2400" kern="0" dirty="0">
                <a:solidFill>
                  <a:srgbClr val="FF0000"/>
                </a:solidFill>
              </a:rPr>
              <a:t>3840 bytes, address range from 0000H to 0EFFH</a:t>
            </a:r>
            <a:endParaRPr lang="en-US" altLang="zh-CN" sz="2400" kern="0" dirty="0"/>
          </a:p>
        </p:txBody>
      </p:sp>
      <p:sp>
        <p:nvSpPr>
          <p:cNvPr id="2" name="灯片编号占位符 1"/>
          <p:cNvSpPr>
            <a:spLocks noGrp="1"/>
          </p:cNvSpPr>
          <p:nvPr>
            <p:ph type="sldNum" sz="quarter" idx="12"/>
          </p:nvPr>
        </p:nvSpPr>
        <p:spPr/>
        <p:txBody>
          <a:bodyPr/>
          <a:lstStyle/>
          <a:p>
            <a:fld id="{22E77DEE-32E4-4009-988B-F2758F7B8AC2}" type="slidenum">
              <a:rPr lang="zh-CN" altLang="en-US" smtClean="0"/>
              <a:t>40</a:t>
            </a:fld>
            <a:endParaRPr lang="zh-CN" altLang="en-US"/>
          </a:p>
        </p:txBody>
      </p:sp>
      <p:sp>
        <p:nvSpPr>
          <p:cNvPr id="5" name="标题 3"/>
          <p:cNvSpPr>
            <a:spLocks noGrp="1" noChangeArrowheads="1"/>
          </p:cNvSpPr>
          <p:nvPr>
            <p:ph type="title"/>
          </p:nvPr>
        </p:nvSpPr>
        <p:spPr>
          <a:xfrm>
            <a:off x="673418" y="606176"/>
            <a:ext cx="7943214" cy="504825"/>
          </a:xfrm>
          <a:solidFill>
            <a:schemeClr val="bg1"/>
          </a:solidFill>
        </p:spPr>
        <p:txBody>
          <a:bodyPr>
            <a:noAutofit/>
          </a:bodyPr>
          <a:lstStyle/>
          <a:p>
            <a:pPr eaLnBrk="1" hangingPunct="1"/>
            <a:r>
              <a:rPr lang="en-US" altLang="zh-CN" sz="3600" dirty="0">
                <a:solidFill>
                  <a:srgbClr val="C00000"/>
                </a:solidFill>
              </a:rPr>
              <a:t> </a:t>
            </a:r>
            <a:r>
              <a:rPr lang="en-US" altLang="zh-CN" sz="3600" dirty="0">
                <a:solidFill>
                  <a:srgbClr val="FF00FF"/>
                </a:solidFill>
              </a:rPr>
              <a:t>(2) </a:t>
            </a:r>
            <a:r>
              <a:rPr lang="en-US" altLang="zh-CN" sz="3600" dirty="0">
                <a:solidFill>
                  <a:srgbClr val="00B0F0"/>
                </a:solidFill>
              </a:rPr>
              <a:t>on-chip expanded RAM</a:t>
            </a:r>
            <a:r>
              <a:rPr lang="en-US" altLang="zh-CN" sz="3600" dirty="0"/>
              <a:t>(XRAM)</a:t>
            </a:r>
            <a:endParaRPr lang="zh-CN" altLang="en-US" sz="3600" dirty="0">
              <a:solidFill>
                <a:srgbClr val="C0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0" name="图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2938" y="862014"/>
            <a:ext cx="5868202" cy="5442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1" name="标题 2"/>
          <p:cNvSpPr>
            <a:spLocks noGrp="1" noChangeArrowheads="1"/>
          </p:cNvSpPr>
          <p:nvPr>
            <p:ph type="title"/>
          </p:nvPr>
        </p:nvSpPr>
        <p:spPr>
          <a:xfrm>
            <a:off x="468313" y="357188"/>
            <a:ext cx="5436098" cy="504825"/>
          </a:xfrm>
        </p:spPr>
        <p:txBody>
          <a:bodyPr>
            <a:noAutofit/>
          </a:bodyPr>
          <a:lstStyle/>
          <a:p>
            <a:pPr eaLnBrk="1" hangingPunct="1"/>
            <a:r>
              <a:rPr lang="en-US" altLang="zh-CN" sz="3600" b="0" dirty="0">
                <a:ea typeface="隶书" panose="02010509060101010101" pitchFamily="49" charset="-122"/>
                <a:cs typeface="Times New Roman" panose="02020603050405020304" pitchFamily="18" charset="0"/>
              </a:rPr>
              <a:t>4.4</a:t>
            </a:r>
            <a:r>
              <a:rPr lang="en-US" altLang="zh-CN" sz="3600" dirty="0">
                <a:cs typeface="Times New Roman" panose="02020603050405020304" pitchFamily="18" charset="0"/>
              </a:rPr>
              <a:t>Microcontroller Pins</a:t>
            </a:r>
            <a:endParaRPr lang="zh-CN" altLang="en-US" sz="3600" dirty="0">
              <a:cs typeface="Times New Roman" panose="02020603050405020304" pitchFamily="18" charset="0"/>
            </a:endParaRPr>
          </a:p>
        </p:txBody>
      </p:sp>
      <p:sp>
        <p:nvSpPr>
          <p:cNvPr id="83973" name="Rectangle 1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3975" name="Rectangle 1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2276" name="Rectangle 4"/>
          <p:cNvSpPr>
            <a:spLocks noGrp="1" noChangeArrowheads="1"/>
          </p:cNvSpPr>
          <p:nvPr>
            <p:ph idx="1"/>
          </p:nvPr>
        </p:nvSpPr>
        <p:spPr>
          <a:xfrm>
            <a:off x="246699" y="1272539"/>
            <a:ext cx="4325301" cy="800101"/>
          </a:xfrm>
        </p:spPr>
        <p:txBody>
          <a:bodyPr>
            <a:normAutofit fontScale="92500"/>
          </a:bodyPr>
          <a:lstStyle/>
          <a:p>
            <a:pPr eaLnBrk="1" hangingPunct="1">
              <a:buFontTx/>
              <a:buNone/>
            </a:pPr>
            <a:r>
              <a:rPr lang="en-US" altLang="zh-CN" dirty="0">
                <a:solidFill>
                  <a:srgbClr val="3333FF"/>
                </a:solidFill>
              </a:rPr>
              <a:t>4.4.1 Microcontroller Pins and Functions</a:t>
            </a:r>
            <a:endParaRPr lang="zh-CN" altLang="en-US" dirty="0">
              <a:solidFill>
                <a:srgbClr val="3333FF"/>
              </a:solidFill>
            </a:endParaRPr>
          </a:p>
          <a:p>
            <a:pPr eaLnBrk="1" hangingPunct="1"/>
            <a:r>
              <a:rPr lang="en-US" altLang="zh-CN" dirty="0">
                <a:solidFill>
                  <a:srgbClr val="CC3300"/>
                </a:solidFill>
              </a:rPr>
              <a:t>Package</a:t>
            </a:r>
            <a:endParaRPr lang="zh-CN" altLang="en-US" dirty="0"/>
          </a:p>
        </p:txBody>
      </p:sp>
      <p:sp>
        <p:nvSpPr>
          <p:cNvPr id="9" name="Rectangle 4"/>
          <p:cNvSpPr txBox="1">
            <a:spLocks noChangeArrowheads="1"/>
          </p:cNvSpPr>
          <p:nvPr/>
        </p:nvSpPr>
        <p:spPr bwMode="auto">
          <a:xfrm>
            <a:off x="419102" y="3226142"/>
            <a:ext cx="3067367"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3"/>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4"/>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buFontTx/>
              <a:buNone/>
              <a:defRPr/>
            </a:pPr>
            <a:r>
              <a:rPr lang="en-US" altLang="zh-CN" kern="0" dirty="0">
                <a:solidFill>
                  <a:srgbClr val="3333FF"/>
                </a:solidFill>
              </a:rPr>
              <a:t>LQFP-</a:t>
            </a:r>
            <a:r>
              <a:rPr lang="en-US" altLang="zh-CN" kern="0" dirty="0">
                <a:solidFill>
                  <a:srgbClr val="FF0000"/>
                </a:solidFill>
              </a:rPr>
              <a:t>64 Package </a:t>
            </a:r>
            <a:endParaRPr lang="zh-CN" altLang="en-US" kern="0" dirty="0">
              <a:solidFill>
                <a:srgbClr val="3333FF"/>
              </a:solidFill>
            </a:endParaRPr>
          </a:p>
        </p:txBody>
      </p:sp>
      <p:sp>
        <p:nvSpPr>
          <p:cNvPr id="83978" name="矩形 3"/>
          <p:cNvSpPr>
            <a:spLocks noChangeArrowheads="1"/>
          </p:cNvSpPr>
          <p:nvPr/>
        </p:nvSpPr>
        <p:spPr bwMode="auto">
          <a:xfrm>
            <a:off x="244636" y="4530963"/>
            <a:ext cx="3416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dirty="0">
                <a:solidFill>
                  <a:srgbClr val="3333FF"/>
                </a:solidFill>
              </a:rPr>
              <a:t>L</a:t>
            </a:r>
            <a:r>
              <a:rPr lang="en-US" altLang="zh-CN" sz="2000" dirty="0"/>
              <a:t>ow Profile </a:t>
            </a:r>
            <a:r>
              <a:rPr lang="en-US" altLang="zh-CN" sz="2000" dirty="0">
                <a:solidFill>
                  <a:srgbClr val="3333FF"/>
                </a:solidFill>
              </a:rPr>
              <a:t>Q</a:t>
            </a:r>
            <a:r>
              <a:rPr lang="en-US" altLang="zh-CN" sz="2000" dirty="0"/>
              <a:t>uad </a:t>
            </a:r>
            <a:r>
              <a:rPr lang="en-US" altLang="zh-CN" sz="2000" dirty="0">
                <a:solidFill>
                  <a:srgbClr val="3333FF"/>
                </a:solidFill>
              </a:rPr>
              <a:t>F</a:t>
            </a:r>
            <a:r>
              <a:rPr lang="en-US" altLang="zh-CN" sz="2000" dirty="0"/>
              <a:t>lat </a:t>
            </a:r>
            <a:r>
              <a:rPr lang="en-US" altLang="zh-CN" sz="2000" dirty="0">
                <a:solidFill>
                  <a:srgbClr val="3333FF"/>
                </a:solidFill>
              </a:rPr>
              <a:t>P</a:t>
            </a:r>
            <a:r>
              <a:rPr lang="en-US" altLang="zh-CN" sz="2000" dirty="0"/>
              <a:t>ackage</a:t>
            </a:r>
            <a:endParaRPr lang="zh-CN" altLang="en-US" sz="2000" dirty="0"/>
          </a:p>
        </p:txBody>
      </p:sp>
      <p:sp>
        <p:nvSpPr>
          <p:cNvPr id="6" name="矩形 5"/>
          <p:cNvSpPr>
            <a:spLocks noChangeArrowheads="1"/>
          </p:cNvSpPr>
          <p:nvPr/>
        </p:nvSpPr>
        <p:spPr bwMode="auto">
          <a:xfrm>
            <a:off x="0" y="2704256"/>
            <a:ext cx="3812262" cy="461665"/>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dirty="0">
                <a:solidFill>
                  <a:srgbClr val="3333FF"/>
                </a:solidFill>
              </a:rPr>
              <a:t>Input/Output Ports</a:t>
            </a:r>
            <a:r>
              <a:rPr lang="zh-CN" altLang="en-US" sz="2400" b="1" dirty="0">
                <a:solidFill>
                  <a:srgbClr val="3333FF"/>
                </a:solidFill>
              </a:rPr>
              <a:t> </a:t>
            </a:r>
            <a:r>
              <a:rPr lang="en-US" altLang="zh-CN" sz="2400" b="1" dirty="0">
                <a:solidFill>
                  <a:srgbClr val="3333FF"/>
                </a:solidFill>
              </a:rPr>
              <a:t>P0</a:t>
            </a:r>
            <a:r>
              <a:rPr lang="zh-CN" altLang="en-US" sz="2400" b="1" dirty="0">
                <a:solidFill>
                  <a:srgbClr val="3333FF"/>
                </a:solidFill>
              </a:rPr>
              <a:t>～</a:t>
            </a:r>
            <a:r>
              <a:rPr lang="en-US" altLang="zh-CN" sz="2400" b="1" dirty="0">
                <a:solidFill>
                  <a:srgbClr val="FF0000"/>
                </a:solidFill>
              </a:rPr>
              <a:t>P7</a:t>
            </a:r>
            <a:endParaRPr lang="zh-CN" altLang="en-US" sz="2400" b="1" dirty="0"/>
          </a:p>
        </p:txBody>
      </p:sp>
      <p:sp>
        <p:nvSpPr>
          <p:cNvPr id="2" name="灯片编号占位符 1"/>
          <p:cNvSpPr>
            <a:spLocks noGrp="1"/>
          </p:cNvSpPr>
          <p:nvPr>
            <p:ph type="sldNum" sz="quarter" idx="12"/>
          </p:nvPr>
        </p:nvSpPr>
        <p:spPr/>
        <p:txBody>
          <a:bodyPr/>
          <a:lstStyle/>
          <a:p>
            <a:fld id="{22E77DEE-32E4-4009-988B-F2758F7B8AC2}" type="slidenum">
              <a:rPr lang="zh-CN" altLang="en-US" smtClean="0"/>
              <a:t>41</a:t>
            </a:fld>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4994" name="Object 16"/>
          <p:cNvGraphicFramePr>
            <a:graphicFrameLocks noChangeAspect="1"/>
          </p:cNvGraphicFramePr>
          <p:nvPr/>
        </p:nvGraphicFramePr>
        <p:xfrm>
          <a:off x="1393729" y="120491"/>
          <a:ext cx="8442142" cy="6617018"/>
        </p:xfrm>
        <a:graphic>
          <a:graphicData uri="http://schemas.openxmlformats.org/presentationml/2006/ole">
            <mc:AlternateContent xmlns:mc="http://schemas.openxmlformats.org/markup-compatibility/2006">
              <mc:Choice xmlns:v="urn:schemas-microsoft-com:vml" Requires="v">
                <p:oleObj name="Visio" r:id="rId2" imgW="8115300" imgH="7416800" progId="Visio.Drawing.11">
                  <p:embed/>
                </p:oleObj>
              </mc:Choice>
              <mc:Fallback>
                <p:oleObj name="Visio" r:id="rId2" imgW="8115300" imgH="7416800" progId="Visio.Drawing.11">
                  <p:embed/>
                  <p:pic>
                    <p:nvPicPr>
                      <p:cNvPr id="0" name="Object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3729" y="120491"/>
                        <a:ext cx="8442142" cy="6617018"/>
                      </a:xfrm>
                      <a:prstGeom prst="rect">
                        <a:avLst/>
                      </a:prstGeom>
                      <a:noFill/>
                      <a:ln>
                        <a:noFill/>
                      </a:ln>
                    </p:spPr>
                  </p:pic>
                </p:oleObj>
              </mc:Fallback>
            </mc:AlternateContent>
          </a:graphicData>
        </a:graphic>
      </p:graphicFrame>
      <p:sp>
        <p:nvSpPr>
          <p:cNvPr id="84997" name="Rectangle 1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4999" name="Rectangle 1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 name="Rectangle 4"/>
          <p:cNvSpPr txBox="1">
            <a:spLocks noChangeArrowheads="1"/>
          </p:cNvSpPr>
          <p:nvPr/>
        </p:nvSpPr>
        <p:spPr bwMode="auto">
          <a:xfrm>
            <a:off x="468313" y="4843143"/>
            <a:ext cx="3812262"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4"/>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5"/>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buFontTx/>
              <a:buNone/>
              <a:defRPr/>
            </a:pPr>
            <a:r>
              <a:rPr lang="en-US" altLang="zh-CN" kern="0" dirty="0">
                <a:solidFill>
                  <a:srgbClr val="3333FF"/>
                </a:solidFill>
              </a:rPr>
              <a:t>LQFP-</a:t>
            </a:r>
            <a:r>
              <a:rPr lang="en-US" altLang="zh-CN" kern="0" dirty="0">
                <a:solidFill>
                  <a:srgbClr val="FF0000"/>
                </a:solidFill>
              </a:rPr>
              <a:t>44 </a:t>
            </a:r>
            <a:r>
              <a:rPr lang="en-US" altLang="zh-CN" kern="0" dirty="0">
                <a:solidFill>
                  <a:srgbClr val="3333FF"/>
                </a:solidFill>
              </a:rPr>
              <a:t>Package</a:t>
            </a:r>
          </a:p>
          <a:p>
            <a:pPr eaLnBrk="1" hangingPunct="1">
              <a:buFontTx/>
              <a:buNone/>
              <a:defRPr/>
            </a:pPr>
            <a:endParaRPr lang="zh-CN" altLang="en-US" kern="0" dirty="0">
              <a:solidFill>
                <a:srgbClr val="3333FF"/>
              </a:solidFill>
            </a:endParaRPr>
          </a:p>
        </p:txBody>
      </p:sp>
      <p:sp>
        <p:nvSpPr>
          <p:cNvPr id="85002" name="矩形 3"/>
          <p:cNvSpPr>
            <a:spLocks noChangeArrowheads="1"/>
          </p:cNvSpPr>
          <p:nvPr/>
        </p:nvSpPr>
        <p:spPr bwMode="auto">
          <a:xfrm>
            <a:off x="377825" y="5486400"/>
            <a:ext cx="3416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a:solidFill>
                  <a:srgbClr val="3333FF"/>
                </a:solidFill>
              </a:rPr>
              <a:t>L</a:t>
            </a:r>
            <a:r>
              <a:rPr lang="en-US" altLang="zh-CN" sz="2000"/>
              <a:t>ow Profile </a:t>
            </a:r>
            <a:r>
              <a:rPr lang="en-US" altLang="zh-CN" sz="2000">
                <a:solidFill>
                  <a:srgbClr val="3333FF"/>
                </a:solidFill>
              </a:rPr>
              <a:t>Q</a:t>
            </a:r>
            <a:r>
              <a:rPr lang="en-US" altLang="zh-CN" sz="2000"/>
              <a:t>uad </a:t>
            </a:r>
            <a:r>
              <a:rPr lang="en-US" altLang="zh-CN" sz="2000">
                <a:solidFill>
                  <a:srgbClr val="3333FF"/>
                </a:solidFill>
              </a:rPr>
              <a:t>F</a:t>
            </a:r>
            <a:r>
              <a:rPr lang="en-US" altLang="zh-CN" sz="2000"/>
              <a:t>lat </a:t>
            </a:r>
            <a:r>
              <a:rPr lang="en-US" altLang="zh-CN" sz="2000">
                <a:solidFill>
                  <a:srgbClr val="3333FF"/>
                </a:solidFill>
              </a:rPr>
              <a:t>P</a:t>
            </a:r>
            <a:r>
              <a:rPr lang="en-US" altLang="zh-CN" sz="2000"/>
              <a:t>ackage</a:t>
            </a:r>
            <a:endParaRPr lang="zh-CN" altLang="en-US" sz="2000"/>
          </a:p>
        </p:txBody>
      </p:sp>
      <p:sp>
        <p:nvSpPr>
          <p:cNvPr id="12" name="矩形 11"/>
          <p:cNvSpPr>
            <a:spLocks noChangeArrowheads="1"/>
          </p:cNvSpPr>
          <p:nvPr/>
        </p:nvSpPr>
        <p:spPr bwMode="auto">
          <a:xfrm>
            <a:off x="468313" y="4370999"/>
            <a:ext cx="3812262" cy="461665"/>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dirty="0">
                <a:solidFill>
                  <a:srgbClr val="3333FF"/>
                </a:solidFill>
              </a:rPr>
              <a:t>Input/Output Ports P0</a:t>
            </a:r>
            <a:r>
              <a:rPr lang="zh-CN" altLang="en-US" sz="2400" b="1" dirty="0">
                <a:solidFill>
                  <a:srgbClr val="3333FF"/>
                </a:solidFill>
              </a:rPr>
              <a:t>～</a:t>
            </a:r>
            <a:r>
              <a:rPr lang="en-US" altLang="zh-CN" sz="2400" b="1" dirty="0">
                <a:solidFill>
                  <a:srgbClr val="FF0000"/>
                </a:solidFill>
              </a:rPr>
              <a:t>P5</a:t>
            </a:r>
            <a:endParaRPr lang="zh-CN" altLang="en-US" sz="2400" b="1" dirty="0"/>
          </a:p>
        </p:txBody>
      </p:sp>
      <p:sp>
        <p:nvSpPr>
          <p:cNvPr id="2" name="灯片编号占位符 1"/>
          <p:cNvSpPr>
            <a:spLocks noGrp="1"/>
          </p:cNvSpPr>
          <p:nvPr>
            <p:ph type="sldNum" sz="quarter" idx="12"/>
          </p:nvPr>
        </p:nvSpPr>
        <p:spPr/>
        <p:txBody>
          <a:bodyPr/>
          <a:lstStyle/>
          <a:p>
            <a:fld id="{22E77DEE-32E4-4009-988B-F2758F7B8AC2}" type="slidenum">
              <a:rPr lang="zh-CN" altLang="en-US" smtClean="0"/>
              <a:t>42</a:t>
            </a:fld>
            <a:endParaRPr lang="zh-CN" altLang="en-US"/>
          </a:p>
        </p:txBody>
      </p:sp>
      <p:sp>
        <p:nvSpPr>
          <p:cNvPr id="5" name="Rectangle 4"/>
          <p:cNvSpPr txBox="1">
            <a:spLocks noChangeArrowheads="1"/>
          </p:cNvSpPr>
          <p:nvPr/>
        </p:nvSpPr>
        <p:spPr>
          <a:xfrm>
            <a:off x="246699" y="1272539"/>
            <a:ext cx="4325301" cy="800101"/>
          </a:xfrm>
          <a:prstGeom prst="rect">
            <a:avLst/>
          </a:prstGeom>
        </p:spPr>
        <p:txBody>
          <a:bodyPr vert="horz" lIns="0" tIns="45720" rIns="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a:buFontTx/>
              <a:buNone/>
            </a:pPr>
            <a:r>
              <a:rPr lang="en-US" altLang="zh-CN" dirty="0">
                <a:solidFill>
                  <a:srgbClr val="3333FF"/>
                </a:solidFill>
              </a:rPr>
              <a:t>4.4.1 Microcontroller Pins and Functions</a:t>
            </a:r>
            <a:endParaRPr lang="zh-CN" altLang="en-US" dirty="0">
              <a:solidFill>
                <a:srgbClr val="3333FF"/>
              </a:solidFill>
            </a:endParaRPr>
          </a:p>
          <a:p>
            <a:r>
              <a:rPr lang="en-US" altLang="zh-CN" dirty="0">
                <a:solidFill>
                  <a:srgbClr val="CC3300"/>
                </a:solidFill>
              </a:rPr>
              <a:t>Package</a:t>
            </a:r>
            <a:endParaRPr lang="zh-CN" altLang="en-US" dirty="0"/>
          </a:p>
        </p:txBody>
      </p:sp>
      <p:sp>
        <p:nvSpPr>
          <p:cNvPr id="8" name="标题 2"/>
          <p:cNvSpPr>
            <a:spLocks noGrp="1" noChangeArrowheads="1"/>
          </p:cNvSpPr>
          <p:nvPr>
            <p:ph type="title"/>
          </p:nvPr>
        </p:nvSpPr>
        <p:spPr>
          <a:xfrm>
            <a:off x="468313" y="357188"/>
            <a:ext cx="5436098" cy="504825"/>
          </a:xfrm>
        </p:spPr>
        <p:txBody>
          <a:bodyPr>
            <a:noAutofit/>
          </a:bodyPr>
          <a:lstStyle/>
          <a:p>
            <a:pPr eaLnBrk="1" hangingPunct="1"/>
            <a:r>
              <a:rPr lang="en-US" altLang="zh-CN" sz="3600" b="0" dirty="0">
                <a:ea typeface="隶书" panose="02010509060101010101" pitchFamily="49" charset="-122"/>
                <a:cs typeface="Times New Roman" panose="02020603050405020304" pitchFamily="18" charset="0"/>
              </a:rPr>
              <a:t>4.4 </a:t>
            </a:r>
            <a:r>
              <a:rPr lang="en-US" altLang="zh-CN" sz="3600" dirty="0">
                <a:cs typeface="Times New Roman" panose="02020603050405020304" pitchFamily="18" charset="0"/>
              </a:rPr>
              <a:t>Microcontroller Pins</a:t>
            </a:r>
            <a:endParaRPr lang="zh-CN" altLang="en-US" sz="3600" dirty="0">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6022" name="Object 5"/>
          <p:cNvGraphicFramePr>
            <a:graphicFrameLocks noChangeAspect="1"/>
          </p:cNvGraphicFramePr>
          <p:nvPr/>
        </p:nvGraphicFramePr>
        <p:xfrm>
          <a:off x="719138" y="587060"/>
          <a:ext cx="8647112" cy="6081712"/>
        </p:xfrm>
        <a:graphic>
          <a:graphicData uri="http://schemas.openxmlformats.org/presentationml/2006/ole">
            <mc:AlternateContent xmlns:mc="http://schemas.openxmlformats.org/markup-compatibility/2006">
              <mc:Choice xmlns:v="urn:schemas-microsoft-com:vml" Requires="v">
                <p:oleObj name="Visio" r:id="rId2" imgW="5435600" imgH="3835400" progId="Visio.Drawing.11">
                  <p:embed/>
                </p:oleObj>
              </mc:Choice>
              <mc:Fallback>
                <p:oleObj name="Visio" r:id="rId2" imgW="5435600" imgH="3835400" progId="Visio.Drawing.11">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138" y="587060"/>
                        <a:ext cx="8647112" cy="608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6018" name="Rectangle 3"/>
          <p:cNvSpPr>
            <a:spLocks noGrp="1" noChangeArrowheads="1"/>
          </p:cNvSpPr>
          <p:nvPr>
            <p:ph idx="1"/>
          </p:nvPr>
        </p:nvSpPr>
        <p:spPr>
          <a:xfrm>
            <a:off x="267449" y="1390967"/>
            <a:ext cx="1037907" cy="358774"/>
          </a:xfrm>
        </p:spPr>
        <p:txBody>
          <a:bodyPr>
            <a:normAutofit fontScale="92500"/>
          </a:bodyPr>
          <a:lstStyle/>
          <a:p>
            <a:pPr eaLnBrk="1" hangingPunct="1"/>
            <a:r>
              <a:rPr lang="en-US" altLang="zh-CN" dirty="0"/>
              <a:t>Package</a:t>
            </a:r>
            <a:r>
              <a:rPr lang="zh-CN" altLang="en-US" dirty="0"/>
              <a:t> </a:t>
            </a:r>
          </a:p>
        </p:txBody>
      </p:sp>
      <p:sp>
        <p:nvSpPr>
          <p:cNvPr id="86020" name="Rectangle 5"/>
          <p:cNvSpPr>
            <a:spLocks noChangeArrowheads="1"/>
          </p:cNvSpPr>
          <p:nvPr/>
        </p:nvSpPr>
        <p:spPr bwMode="auto">
          <a:xfrm>
            <a:off x="0" y="2157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6021"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 name="Rectangle 4"/>
          <p:cNvSpPr txBox="1">
            <a:spLocks noChangeArrowheads="1"/>
          </p:cNvSpPr>
          <p:nvPr/>
        </p:nvSpPr>
        <p:spPr bwMode="auto">
          <a:xfrm>
            <a:off x="339228" y="5260884"/>
            <a:ext cx="2847253"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4"/>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5"/>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buFontTx/>
              <a:buNone/>
              <a:defRPr/>
            </a:pPr>
            <a:r>
              <a:rPr lang="en-US" altLang="zh-CN" kern="0" dirty="0">
                <a:solidFill>
                  <a:srgbClr val="3333FF"/>
                </a:solidFill>
              </a:rPr>
              <a:t>DIP-40 Package</a:t>
            </a:r>
            <a:endParaRPr lang="zh-CN" altLang="en-US" kern="0" dirty="0">
              <a:solidFill>
                <a:srgbClr val="3333FF"/>
              </a:solidFill>
            </a:endParaRPr>
          </a:p>
        </p:txBody>
      </p:sp>
      <p:sp>
        <p:nvSpPr>
          <p:cNvPr id="86025" name="标题 3"/>
          <p:cNvSpPr>
            <a:spLocks noGrp="1" noChangeArrowheads="1"/>
          </p:cNvSpPr>
          <p:nvPr>
            <p:ph type="title"/>
          </p:nvPr>
        </p:nvSpPr>
        <p:spPr>
          <a:xfrm>
            <a:off x="468313" y="357188"/>
            <a:ext cx="8229600" cy="504825"/>
          </a:xfrm>
        </p:spPr>
        <p:txBody>
          <a:bodyPr>
            <a:normAutofit fontScale="90000"/>
          </a:bodyPr>
          <a:lstStyle/>
          <a:p>
            <a:pPr eaLnBrk="1" hangingPunct="1"/>
            <a:r>
              <a:rPr lang="en-US" altLang="zh-CN" sz="4000" dirty="0">
                <a:solidFill>
                  <a:srgbClr val="3333FF"/>
                </a:solidFill>
                <a:cs typeface="Times New Roman" panose="02020603050405020304" pitchFamily="18" charset="0"/>
              </a:rPr>
              <a:t>Microcontroller</a:t>
            </a:r>
            <a:r>
              <a:rPr lang="en-US" altLang="zh-CN" dirty="0">
                <a:solidFill>
                  <a:srgbClr val="3333FF"/>
                </a:solidFill>
              </a:rPr>
              <a:t> Pins and Functions</a:t>
            </a:r>
            <a:endParaRPr lang="zh-CN" altLang="en-US" dirty="0"/>
          </a:p>
        </p:txBody>
      </p:sp>
      <p:sp>
        <p:nvSpPr>
          <p:cNvPr id="86026" name="矩形 4"/>
          <p:cNvSpPr>
            <a:spLocks noChangeArrowheads="1"/>
          </p:cNvSpPr>
          <p:nvPr/>
        </p:nvSpPr>
        <p:spPr bwMode="auto">
          <a:xfrm>
            <a:off x="351659" y="5776588"/>
            <a:ext cx="24673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solidFill>
                  <a:srgbClr val="333333"/>
                </a:solidFill>
                <a:latin typeface="Arial" panose="020B0604020202020204" pitchFamily="34" charset="0"/>
              </a:rPr>
              <a:t>(</a:t>
            </a:r>
            <a:r>
              <a:rPr lang="en-US" altLang="zh-CN" dirty="0">
                <a:solidFill>
                  <a:srgbClr val="3333FF"/>
                </a:solidFill>
                <a:latin typeface="Arial" panose="020B0604020202020204" pitchFamily="34" charset="0"/>
              </a:rPr>
              <a:t>D</a:t>
            </a:r>
            <a:r>
              <a:rPr lang="en-US" altLang="zh-CN" dirty="0">
                <a:solidFill>
                  <a:srgbClr val="333333"/>
                </a:solidFill>
                <a:latin typeface="Arial" panose="020B0604020202020204" pitchFamily="34" charset="0"/>
              </a:rPr>
              <a:t>ual </a:t>
            </a:r>
            <a:r>
              <a:rPr lang="en-US" altLang="zh-CN" dirty="0">
                <a:solidFill>
                  <a:srgbClr val="3333FF"/>
                </a:solidFill>
                <a:latin typeface="Arial" panose="020B0604020202020204" pitchFamily="34" charset="0"/>
              </a:rPr>
              <a:t>I</a:t>
            </a:r>
            <a:r>
              <a:rPr lang="en-US" altLang="zh-CN" dirty="0">
                <a:solidFill>
                  <a:srgbClr val="333333"/>
                </a:solidFill>
                <a:latin typeface="Arial" panose="020B0604020202020204" pitchFamily="34" charset="0"/>
              </a:rPr>
              <a:t>n-line </a:t>
            </a:r>
            <a:r>
              <a:rPr lang="en-US" altLang="zh-CN" dirty="0">
                <a:solidFill>
                  <a:srgbClr val="3333FF"/>
                </a:solidFill>
                <a:latin typeface="Arial" panose="020B0604020202020204" pitchFamily="34" charset="0"/>
              </a:rPr>
              <a:t>P</a:t>
            </a:r>
            <a:r>
              <a:rPr lang="en-US" altLang="zh-CN" dirty="0">
                <a:solidFill>
                  <a:srgbClr val="333333"/>
                </a:solidFill>
                <a:latin typeface="Arial" panose="020B0604020202020204" pitchFamily="34" charset="0"/>
              </a:rPr>
              <a:t>ackage)</a:t>
            </a:r>
            <a:endParaRPr lang="zh-CN" altLang="en-US" dirty="0"/>
          </a:p>
        </p:txBody>
      </p:sp>
      <p:sp>
        <p:nvSpPr>
          <p:cNvPr id="11" name="矩形 10"/>
          <p:cNvSpPr>
            <a:spLocks noChangeArrowheads="1"/>
          </p:cNvSpPr>
          <p:nvPr/>
        </p:nvSpPr>
        <p:spPr bwMode="auto">
          <a:xfrm>
            <a:off x="155936" y="3860800"/>
            <a:ext cx="2847253" cy="369332"/>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3333FF"/>
                </a:solidFill>
              </a:rPr>
              <a:t>Input/Output PortsP0</a:t>
            </a:r>
            <a:r>
              <a:rPr lang="zh-CN" altLang="en-US" b="1" dirty="0">
                <a:solidFill>
                  <a:srgbClr val="3333FF"/>
                </a:solidFill>
              </a:rPr>
              <a:t>～</a:t>
            </a:r>
            <a:r>
              <a:rPr lang="en-US" altLang="zh-CN" b="1" dirty="0">
                <a:solidFill>
                  <a:srgbClr val="FF0000"/>
                </a:solidFill>
              </a:rPr>
              <a:t>P5</a:t>
            </a:r>
            <a:endParaRPr lang="zh-CN" altLang="en-US" b="1" dirty="0"/>
          </a:p>
        </p:txBody>
      </p:sp>
      <p:sp>
        <p:nvSpPr>
          <p:cNvPr id="86028" name="矩形 5"/>
          <p:cNvSpPr>
            <a:spLocks noChangeArrowheads="1"/>
          </p:cNvSpPr>
          <p:nvPr/>
        </p:nvSpPr>
        <p:spPr bwMode="auto">
          <a:xfrm>
            <a:off x="138113" y="1625254"/>
            <a:ext cx="28829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dirty="0">
                <a:solidFill>
                  <a:srgbClr val="0000FF"/>
                </a:solidFill>
              </a:rPr>
              <a:t>Dual In-line Package</a:t>
            </a:r>
            <a:endParaRPr lang="zh-CN" altLang="en-US" sz="2400" dirty="0">
              <a:solidFill>
                <a:srgbClr val="0000FF"/>
              </a:solidFill>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43</a:t>
            </a:fld>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393372"/>
            <a:ext cx="3330153" cy="4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3" name="Rectangle 3"/>
          <p:cNvSpPr>
            <a:spLocks noGrp="1" noChangeArrowheads="1"/>
          </p:cNvSpPr>
          <p:nvPr>
            <p:ph idx="1"/>
          </p:nvPr>
        </p:nvSpPr>
        <p:spPr>
          <a:xfrm>
            <a:off x="539750" y="1125220"/>
            <a:ext cx="1443990" cy="340360"/>
          </a:xfrm>
        </p:spPr>
        <p:txBody>
          <a:bodyPr>
            <a:normAutofit fontScale="87500" lnSpcReduction="10000"/>
          </a:bodyPr>
          <a:lstStyle/>
          <a:p>
            <a:r>
              <a:rPr lang="en-US" altLang="zh-CN" dirty="0"/>
              <a:t>Package</a:t>
            </a:r>
            <a:r>
              <a:rPr lang="zh-CN" altLang="en-US" dirty="0"/>
              <a:t> </a:t>
            </a:r>
          </a:p>
          <a:p>
            <a:pPr eaLnBrk="1" hangingPunct="1"/>
            <a:endParaRPr lang="zh-CN" altLang="en-US" dirty="0"/>
          </a:p>
        </p:txBody>
      </p:sp>
      <p:sp>
        <p:nvSpPr>
          <p:cNvPr id="87045" name="Rectangle 5"/>
          <p:cNvSpPr>
            <a:spLocks noChangeArrowheads="1"/>
          </p:cNvSpPr>
          <p:nvPr/>
        </p:nvSpPr>
        <p:spPr bwMode="auto">
          <a:xfrm>
            <a:off x="0" y="2157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7046"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7047" name="标题 3"/>
          <p:cNvSpPr>
            <a:spLocks noGrp="1" noChangeArrowheads="1"/>
          </p:cNvSpPr>
          <p:nvPr>
            <p:ph type="title"/>
          </p:nvPr>
        </p:nvSpPr>
        <p:spPr>
          <a:xfrm>
            <a:off x="468313" y="357188"/>
            <a:ext cx="8229600" cy="504825"/>
          </a:xfrm>
        </p:spPr>
        <p:txBody>
          <a:bodyPr>
            <a:noAutofit/>
          </a:bodyPr>
          <a:lstStyle/>
          <a:p>
            <a:pPr eaLnBrk="1" hangingPunct="1"/>
            <a:r>
              <a:rPr lang="en-US" altLang="zh-CN" sz="3200" dirty="0">
                <a:solidFill>
                  <a:srgbClr val="3333FF"/>
                </a:solidFill>
              </a:rPr>
              <a:t>Microcontroller Pins and Functions</a:t>
            </a:r>
            <a:endParaRPr lang="zh-CN" altLang="en-US" sz="3200" dirty="0"/>
          </a:p>
        </p:txBody>
      </p:sp>
      <p:pic>
        <p:nvPicPr>
          <p:cNvPr id="8704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9426" y="1393372"/>
            <a:ext cx="4718517" cy="4882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p:txBody>
          <a:bodyPr/>
          <a:lstStyle/>
          <a:p>
            <a:fld id="{22E77DEE-32E4-4009-988B-F2758F7B8AC2}" type="slidenum">
              <a:rPr lang="zh-CN" altLang="en-US" smtClean="0"/>
              <a:t>44</a:t>
            </a:fld>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0"/>
          <p:cNvSpPr>
            <a:spLocks noGrp="1" noChangeArrowheads="1"/>
          </p:cNvSpPr>
          <p:nvPr>
            <p:ph type="title"/>
          </p:nvPr>
        </p:nvSpPr>
        <p:spPr>
          <a:xfrm>
            <a:off x="282575" y="525463"/>
            <a:ext cx="8469312" cy="504825"/>
          </a:xfrm>
        </p:spPr>
        <p:txBody>
          <a:bodyPr>
            <a:normAutofit fontScale="90000"/>
          </a:bodyPr>
          <a:lstStyle/>
          <a:p>
            <a:pPr eaLnBrk="1" hangingPunct="1"/>
            <a:r>
              <a:rPr lang="en-US" altLang="zh-CN" b="0" dirty="0" err="1">
                <a:latin typeface="隶书" panose="02010509060101010101" pitchFamily="49" charset="-122"/>
                <a:ea typeface="隶书" panose="02010509060101010101" pitchFamily="49" charset="-122"/>
              </a:rPr>
              <a:t>Broadcomm</a:t>
            </a:r>
            <a:r>
              <a:rPr lang="en-US" altLang="zh-CN" b="0" dirty="0">
                <a:latin typeface="隶书" panose="02010509060101010101" pitchFamily="49" charset="-122"/>
                <a:ea typeface="隶书" panose="02010509060101010101" pitchFamily="49" charset="-122"/>
              </a:rPr>
              <a:t> BCM2711</a:t>
            </a:r>
            <a:endParaRPr kumimoji="1" lang="zh-CN" altLang="en-US" dirty="0"/>
          </a:p>
        </p:txBody>
      </p:sp>
      <p:sp>
        <p:nvSpPr>
          <p:cNvPr id="3" name="内容占位符 2"/>
          <p:cNvSpPr>
            <a:spLocks noGrp="1"/>
          </p:cNvSpPr>
          <p:nvPr>
            <p:ph idx="1"/>
          </p:nvPr>
        </p:nvSpPr>
        <p:spPr/>
        <p:txBody>
          <a:bodyPr/>
          <a:lstStyle/>
          <a:p>
            <a:endParaRPr lang="zh-CN" altLang="en-US"/>
          </a:p>
        </p:txBody>
      </p:sp>
      <p:pic>
        <p:nvPicPr>
          <p:cNvPr id="1028" name="Picture 4" descr="An introduction to Raspberry Pi 4 GPIO and controlling it with Node.js | by  Uday Hiwarale | System Failure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59" y="1030288"/>
            <a:ext cx="9144000" cy="5245100"/>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p:cNvSpPr>
            <a:spLocks noGrp="1"/>
          </p:cNvSpPr>
          <p:nvPr>
            <p:ph type="sldNum" sz="quarter" idx="12"/>
          </p:nvPr>
        </p:nvSpPr>
        <p:spPr/>
        <p:txBody>
          <a:bodyPr/>
          <a:lstStyle/>
          <a:p>
            <a:fld id="{22E77DEE-32E4-4009-988B-F2758F7B8AC2}" type="slidenum">
              <a:rPr lang="zh-CN" altLang="en-US" smtClean="0"/>
              <a:t>45</a:t>
            </a:fld>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3"/>
          <p:cNvSpPr>
            <a:spLocks noGrp="1" noChangeArrowheads="1"/>
          </p:cNvSpPr>
          <p:nvPr>
            <p:ph type="title"/>
          </p:nvPr>
        </p:nvSpPr>
        <p:spPr>
          <a:xfrm>
            <a:off x="600393" y="612775"/>
            <a:ext cx="8229600" cy="504825"/>
          </a:xfrm>
        </p:spPr>
        <p:txBody>
          <a:bodyPr>
            <a:noAutofit/>
          </a:bodyPr>
          <a:lstStyle/>
          <a:p>
            <a:pPr eaLnBrk="1" hangingPunct="1"/>
            <a:r>
              <a:rPr lang="en-US" altLang="zh-CN" sz="3600" dirty="0">
                <a:solidFill>
                  <a:srgbClr val="FF0000"/>
                </a:solidFill>
              </a:rPr>
              <a:t>Microcontroller Pins and Functions</a:t>
            </a:r>
            <a:endParaRPr lang="zh-CN" altLang="en-US" sz="3600" dirty="0">
              <a:solidFill>
                <a:srgbClr val="FF0000"/>
              </a:solidFill>
            </a:endParaRPr>
          </a:p>
        </p:txBody>
      </p:sp>
      <p:sp>
        <p:nvSpPr>
          <p:cNvPr id="594947" name="Rectangle 3"/>
          <p:cNvSpPr>
            <a:spLocks noGrp="1" noChangeArrowheads="1"/>
          </p:cNvSpPr>
          <p:nvPr>
            <p:ph idx="1"/>
          </p:nvPr>
        </p:nvSpPr>
        <p:spPr>
          <a:xfrm>
            <a:off x="772160" y="1224280"/>
            <a:ext cx="7736840" cy="5054600"/>
          </a:xfrm>
        </p:spPr>
        <p:txBody>
          <a:bodyPr>
            <a:normAutofit/>
          </a:bodyPr>
          <a:lstStyle/>
          <a:p>
            <a:pPr lvl="1" eaLnBrk="1" hangingPunct="1">
              <a:lnSpc>
                <a:spcPct val="124000"/>
              </a:lnSpc>
              <a:defRPr/>
            </a:pPr>
            <a:r>
              <a:rPr lang="en-US" altLang="zh-CN" dirty="0">
                <a:latin typeface="Times New Roman" panose="02020603050405020304" pitchFamily="18" charset="0"/>
                <a:cs typeface="Times New Roman" panose="02020603050405020304" pitchFamily="18" charset="0"/>
              </a:rPr>
              <a:t>Compared to the </a:t>
            </a:r>
            <a:r>
              <a:rPr lang="en-US" altLang="zh-CN" dirty="0">
                <a:solidFill>
                  <a:srgbClr val="FF0000"/>
                </a:solidFill>
                <a:latin typeface="Times New Roman" panose="02020603050405020304" pitchFamily="18" charset="0"/>
                <a:cs typeface="Times New Roman" panose="02020603050405020304" pitchFamily="18" charset="0"/>
              </a:rPr>
              <a:t>LQFP-44 </a:t>
            </a:r>
            <a:r>
              <a:rPr lang="en-US" altLang="zh-CN" dirty="0">
                <a:latin typeface="Times New Roman" panose="02020603050405020304" pitchFamily="18" charset="0"/>
                <a:cs typeface="Times New Roman" panose="02020603050405020304" pitchFamily="18" charset="0"/>
              </a:rPr>
              <a:t>packaged microcontroller, the </a:t>
            </a:r>
            <a:r>
              <a:rPr lang="en-US" altLang="zh-CN" dirty="0">
                <a:solidFill>
                  <a:srgbClr val="FF0000"/>
                </a:solidFill>
                <a:latin typeface="Times New Roman" panose="02020603050405020304" pitchFamily="18" charset="0"/>
                <a:cs typeface="Times New Roman" panose="02020603050405020304" pitchFamily="18" charset="0"/>
              </a:rPr>
              <a:t>DIP-40</a:t>
            </a:r>
            <a:r>
              <a:rPr lang="en-US" altLang="zh-CN" dirty="0">
                <a:latin typeface="Times New Roman" panose="02020603050405020304" pitchFamily="18" charset="0"/>
                <a:cs typeface="Times New Roman" panose="02020603050405020304" pitchFamily="18" charset="0"/>
              </a:rPr>
              <a:t> packaged IAP15W4K58S4 microcontroller is identical in all other resources, </a:t>
            </a:r>
            <a:r>
              <a:rPr lang="en-US" altLang="zh-CN" dirty="0">
                <a:solidFill>
                  <a:srgbClr val="FF0000"/>
                </a:solidFill>
                <a:latin typeface="Times New Roman" panose="02020603050405020304" pitchFamily="18" charset="0"/>
                <a:cs typeface="Times New Roman" panose="02020603050405020304" pitchFamily="18" charset="0"/>
              </a:rPr>
              <a:t>except for the absence of P4.0, P4.3, P4.6, and P4.7 pins.</a:t>
            </a:r>
            <a:endParaRPr lang="zh-CN" altLang="en-US" dirty="0">
              <a:solidFill>
                <a:srgbClr val="FF0000"/>
              </a:solidFill>
              <a:latin typeface="Times New Roman" panose="02020603050405020304" pitchFamily="18" charset="0"/>
              <a:cs typeface="Times New Roman" panose="02020603050405020304" pitchFamily="18" charset="0"/>
            </a:endParaRPr>
          </a:p>
          <a:p>
            <a:pPr lvl="1" eaLnBrk="1" hangingPunct="1">
              <a:lnSpc>
                <a:spcPct val="124000"/>
              </a:lnSpc>
              <a:defRPr/>
            </a:pPr>
            <a:r>
              <a:rPr lang="en-US" altLang="zh-CN" dirty="0">
                <a:solidFill>
                  <a:srgbClr val="0000CC"/>
                </a:solidFill>
                <a:latin typeface="Times New Roman" panose="02020603050405020304" pitchFamily="18" charset="0"/>
                <a:cs typeface="Times New Roman" panose="02020603050405020304" pitchFamily="18" charset="0"/>
              </a:rPr>
              <a:t>Since DIP package microcontrollers are easier to solder</a:t>
            </a:r>
            <a:r>
              <a:rPr lang="en-US" altLang="zh-CN" dirty="0">
                <a:latin typeface="Times New Roman" panose="02020603050405020304" pitchFamily="18" charset="0"/>
                <a:cs typeface="Times New Roman" panose="02020603050405020304" pitchFamily="18" charset="0"/>
              </a:rPr>
              <a:t>, it is best for beginners to choose DIP package microcontrollers for learning.</a:t>
            </a:r>
            <a:endParaRPr lang="zh-CN" altLang="en-US" dirty="0">
              <a:latin typeface="Times New Roman" panose="02020603050405020304" pitchFamily="18" charset="0"/>
              <a:cs typeface="Times New Roman" panose="02020603050405020304" pitchFamily="18" charset="0"/>
            </a:endParaRPr>
          </a:p>
          <a:p>
            <a:pPr lvl="1" eaLnBrk="1" hangingPunct="1">
              <a:lnSpc>
                <a:spcPct val="124000"/>
              </a:lnSpc>
              <a:defRPr/>
            </a:pPr>
            <a:r>
              <a:rPr lang="en-US" altLang="zh-CN" dirty="0">
                <a:latin typeface="Times New Roman" panose="02020603050405020304" pitchFamily="18" charset="0"/>
                <a:cs typeface="Times New Roman" panose="02020603050405020304" pitchFamily="18" charset="0"/>
              </a:rPr>
              <a:t>Note: In practical applications, </a:t>
            </a:r>
            <a:r>
              <a:rPr lang="en-US" altLang="zh-CN" dirty="0">
                <a:solidFill>
                  <a:srgbClr val="CF3E3E"/>
                </a:solidFill>
                <a:latin typeface="Times New Roman" panose="02020603050405020304" pitchFamily="18" charset="0"/>
                <a:cs typeface="Times New Roman" panose="02020603050405020304" pitchFamily="18" charset="0"/>
              </a:rPr>
              <a:t>when designing the schematic diagram for a microcontroller application system</a:t>
            </a:r>
            <a:r>
              <a:rPr lang="en-US" altLang="zh-CN" dirty="0">
                <a:latin typeface="Times New Roman" panose="02020603050405020304" pitchFamily="18" charset="0"/>
                <a:cs typeface="Times New Roman" panose="02020603050405020304" pitchFamily="18" charset="0"/>
              </a:rPr>
              <a:t>, </a:t>
            </a:r>
            <a:r>
              <a:rPr lang="en-US" altLang="zh-CN" dirty="0">
                <a:solidFill>
                  <a:srgbClr val="00B0F0"/>
                </a:solidFill>
                <a:latin typeface="Times New Roman" panose="02020603050405020304" pitchFamily="18" charset="0"/>
                <a:cs typeface="Times New Roman" panose="02020603050405020304" pitchFamily="18" charset="0"/>
              </a:rPr>
              <a:t>a logic symbol </a:t>
            </a:r>
            <a:r>
              <a:rPr lang="en-US" altLang="zh-CN" dirty="0">
                <a:latin typeface="Times New Roman" panose="02020603050405020304" pitchFamily="18" charset="0"/>
                <a:cs typeface="Times New Roman" panose="02020603050405020304" pitchFamily="18" charset="0"/>
              </a:rPr>
              <a:t>diagram should generally be used for circuit analysis. However, when designing the printed circuit board (</a:t>
            </a:r>
            <a:r>
              <a:rPr lang="en-US" altLang="zh-CN" dirty="0">
                <a:solidFill>
                  <a:srgbClr val="FF00FF"/>
                </a:solidFill>
                <a:latin typeface="Times New Roman" panose="02020603050405020304" pitchFamily="18" charset="0"/>
                <a:cs typeface="Times New Roman" panose="02020603050405020304" pitchFamily="18" charset="0"/>
              </a:rPr>
              <a:t>PCB</a:t>
            </a:r>
            <a:r>
              <a:rPr lang="en-US" altLang="zh-CN" dirty="0">
                <a:latin typeface="Times New Roman" panose="02020603050405020304" pitchFamily="18" charset="0"/>
                <a:cs typeface="Times New Roman" panose="02020603050405020304" pitchFamily="18" charset="0"/>
              </a:rPr>
              <a:t>) layout for an application system, </a:t>
            </a:r>
            <a:r>
              <a:rPr lang="en-US" altLang="zh-CN" dirty="0">
                <a:solidFill>
                  <a:srgbClr val="00B0F0"/>
                </a:solidFill>
                <a:latin typeface="Times New Roman" panose="02020603050405020304" pitchFamily="18" charset="0"/>
                <a:cs typeface="Times New Roman" panose="02020603050405020304" pitchFamily="18" charset="0"/>
              </a:rPr>
              <a:t>the microcontroller pin diagram must be used.</a:t>
            </a:r>
          </a:p>
          <a:p>
            <a:pPr lvl="1" eaLnBrk="1" hangingPunct="1">
              <a:lnSpc>
                <a:spcPct val="124000"/>
              </a:lnSpc>
              <a:defRPr/>
            </a:pPr>
            <a:r>
              <a:rPr lang="en-US" altLang="zh-CN" dirty="0">
                <a:latin typeface="Times New Roman" panose="02020603050405020304" pitchFamily="18" charset="0"/>
                <a:cs typeface="Times New Roman" panose="02020603050405020304" pitchFamily="18" charset="0"/>
              </a:rPr>
              <a:t>Minimum Function Board</a:t>
            </a:r>
            <a:endParaRPr lang="zh-CN" altLang="en-US" dirty="0">
              <a:latin typeface="Times New Roman" panose="02020603050405020304" pitchFamily="18" charset="0"/>
              <a:cs typeface="Times New Roman" panose="02020603050405020304" pitchFamily="18" charset="0"/>
            </a:endParaRPr>
          </a:p>
          <a:p>
            <a:pPr eaLnBrk="1" hangingPunct="1">
              <a:lnSpc>
                <a:spcPct val="124000"/>
              </a:lnSpc>
              <a:defRPr/>
            </a:pPr>
            <a:endParaRPr lang="en-US" altLang="zh-CN" dirty="0"/>
          </a:p>
        </p:txBody>
      </p:sp>
      <p:sp>
        <p:nvSpPr>
          <p:cNvPr id="3" name="灯片编号占位符 2"/>
          <p:cNvSpPr>
            <a:spLocks noGrp="1"/>
          </p:cNvSpPr>
          <p:nvPr>
            <p:ph type="sldNum" sz="quarter" idx="12"/>
          </p:nvPr>
        </p:nvSpPr>
        <p:spPr/>
        <p:txBody>
          <a:bodyPr/>
          <a:lstStyle/>
          <a:p>
            <a:fld id="{22E77DEE-32E4-4009-988B-F2758F7B8AC2}" type="slidenum">
              <a:rPr lang="zh-CN" altLang="en-US" smtClean="0"/>
              <a:t>46</a:t>
            </a:fld>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5" name="Rectangle 3"/>
          <p:cNvSpPr>
            <a:spLocks noGrp="1" noChangeArrowheads="1"/>
          </p:cNvSpPr>
          <p:nvPr>
            <p:ph idx="1"/>
          </p:nvPr>
        </p:nvSpPr>
        <p:spPr>
          <a:xfrm>
            <a:off x="901699" y="1350963"/>
            <a:ext cx="6826937" cy="2574925"/>
          </a:xfrm>
        </p:spPr>
        <p:txBody>
          <a:bodyPr>
            <a:normAutofit/>
          </a:bodyPr>
          <a:lstStyle/>
          <a:p>
            <a:pPr eaLnBrk="1" hangingPunct="1">
              <a:spcBef>
                <a:spcPts val="0"/>
              </a:spcBef>
              <a:spcAft>
                <a:spcPts val="0"/>
              </a:spcAft>
              <a:defRPr/>
            </a:pPr>
            <a:r>
              <a:rPr lang="en-US" altLang="zh-CN" sz="2800" dirty="0">
                <a:solidFill>
                  <a:srgbClr val="2998E3"/>
                </a:solidFill>
                <a:latin typeface="Times New Roman" panose="02020603050405020304" pitchFamily="18" charset="0"/>
                <a:cs typeface="Times New Roman" panose="02020603050405020304" pitchFamily="18" charset="0"/>
              </a:rPr>
              <a:t>Minimum Functional Board: </a:t>
            </a:r>
            <a:r>
              <a:rPr lang="en-US" altLang="zh-CN" sz="2800" dirty="0">
                <a:solidFill>
                  <a:srgbClr val="FF0000"/>
                </a:solidFill>
                <a:latin typeface="Times New Roman" panose="02020603050405020304" pitchFamily="18" charset="0"/>
                <a:cs typeface="Times New Roman" panose="02020603050405020304" pitchFamily="18" charset="0"/>
              </a:rPr>
              <a:t>Pins</a:t>
            </a:r>
            <a:endParaRPr lang="zh-CN" altLang="en-US" sz="2800" dirty="0">
              <a:solidFill>
                <a:srgbClr val="FF0000"/>
              </a:solidFill>
              <a:latin typeface="Times New Roman" panose="02020603050405020304" pitchFamily="18" charset="0"/>
              <a:cs typeface="Times New Roman" panose="02020603050405020304" pitchFamily="18" charset="0"/>
            </a:endParaRPr>
          </a:p>
          <a:p>
            <a:pPr lvl="1" eaLnBrk="1" hangingPunct="1">
              <a:defRPr/>
            </a:pPr>
            <a:r>
              <a:rPr lang="en-US" altLang="zh-CN" sz="3200" dirty="0">
                <a:latin typeface="Times New Roman" panose="02020603050405020304" pitchFamily="18" charset="0"/>
                <a:cs typeface="Times New Roman" panose="02020603050405020304" pitchFamily="18" charset="0"/>
              </a:rPr>
              <a:t>Power supply pins</a:t>
            </a:r>
            <a:endParaRPr lang="zh-CN" altLang="en-US" sz="3200" dirty="0">
              <a:latin typeface="Times New Roman" panose="02020603050405020304" pitchFamily="18" charset="0"/>
              <a:cs typeface="Times New Roman" panose="02020603050405020304" pitchFamily="18" charset="0"/>
            </a:endParaRPr>
          </a:p>
          <a:p>
            <a:pPr lvl="1" eaLnBrk="1" hangingPunct="1">
              <a:defRPr/>
            </a:pPr>
            <a:r>
              <a:rPr lang="en-US" altLang="zh-CN" sz="3200" dirty="0">
                <a:latin typeface="Times New Roman" panose="02020603050405020304" pitchFamily="18" charset="0"/>
                <a:cs typeface="Times New Roman" panose="02020603050405020304" pitchFamily="18" charset="0"/>
              </a:rPr>
              <a:t>External crystal oscillator pins</a:t>
            </a:r>
            <a:endParaRPr lang="zh-CN" altLang="en-US" sz="3200" dirty="0">
              <a:latin typeface="Times New Roman" panose="02020603050405020304" pitchFamily="18" charset="0"/>
              <a:cs typeface="Times New Roman" panose="02020603050405020304" pitchFamily="18" charset="0"/>
            </a:endParaRPr>
          </a:p>
          <a:p>
            <a:pPr lvl="1" eaLnBrk="1" hangingPunct="1">
              <a:defRPr/>
            </a:pPr>
            <a:r>
              <a:rPr lang="en-US" altLang="zh-CN" sz="3200" dirty="0">
                <a:latin typeface="Times New Roman" panose="02020603050405020304" pitchFamily="18" charset="0"/>
                <a:cs typeface="Times New Roman" panose="02020603050405020304" pitchFamily="18" charset="0"/>
              </a:rPr>
              <a:t>Control and reset pins</a:t>
            </a:r>
            <a:endParaRPr lang="zh-CN" altLang="en-US" sz="3200" dirty="0">
              <a:latin typeface="Times New Roman" panose="02020603050405020304" pitchFamily="18" charset="0"/>
              <a:cs typeface="Times New Roman" panose="02020603050405020304" pitchFamily="18" charset="0"/>
            </a:endParaRPr>
          </a:p>
          <a:p>
            <a:pPr lvl="1" eaLnBrk="1" hangingPunct="1">
              <a:defRPr/>
            </a:pPr>
            <a:r>
              <a:rPr lang="en-US" altLang="zh-CN" sz="3200" dirty="0">
                <a:latin typeface="Times New Roman" panose="02020603050405020304" pitchFamily="18" charset="0"/>
                <a:cs typeface="Times New Roman" panose="02020603050405020304" pitchFamily="18" charset="0"/>
              </a:rPr>
              <a:t>Input/Output (I/O) pins</a:t>
            </a:r>
            <a:endParaRPr lang="zh-CN" altLang="en-US" sz="3200" dirty="0">
              <a:latin typeface="Times New Roman" panose="02020603050405020304" pitchFamily="18" charset="0"/>
              <a:cs typeface="Times New Roman" panose="02020603050405020304" pitchFamily="18" charset="0"/>
            </a:endParaRPr>
          </a:p>
          <a:p>
            <a:pPr eaLnBrk="1" hangingPunct="1">
              <a:buFontTx/>
              <a:buNone/>
              <a:defRPr/>
            </a:pPr>
            <a:endParaRPr lang="zh-CN" altLang="en-US" dirty="0"/>
          </a:p>
          <a:p>
            <a:pPr eaLnBrk="1" hangingPunct="1">
              <a:buFontTx/>
              <a:buNone/>
              <a:defRPr/>
            </a:pPr>
            <a:endParaRPr lang="zh-CN" altLang="en-US" dirty="0"/>
          </a:p>
          <a:p>
            <a:pPr eaLnBrk="1" hangingPunct="1">
              <a:buFontTx/>
              <a:buNone/>
              <a:defRPr/>
            </a:pPr>
            <a:endParaRPr lang="zh-CN" altLang="en-US" dirty="0"/>
          </a:p>
          <a:p>
            <a:pPr eaLnBrk="1" hangingPunct="1">
              <a:buFontTx/>
              <a:buNone/>
              <a:defRPr/>
            </a:pPr>
            <a:endParaRPr lang="zh-CN" altLang="en-US" dirty="0"/>
          </a:p>
          <a:p>
            <a:pPr eaLnBrk="1" hangingPunct="1">
              <a:buFontTx/>
              <a:buNone/>
              <a:defRPr/>
            </a:pPr>
            <a:endParaRPr lang="en-US" altLang="zh-CN" dirty="0">
              <a:solidFill>
                <a:srgbClr val="3366FF"/>
              </a:solidFill>
            </a:endParaRPr>
          </a:p>
        </p:txBody>
      </p:sp>
      <p:sp>
        <p:nvSpPr>
          <p:cNvPr id="6" name="Rectangle 3"/>
          <p:cNvSpPr txBox="1">
            <a:spLocks noChangeArrowheads="1"/>
          </p:cNvSpPr>
          <p:nvPr/>
        </p:nvSpPr>
        <p:spPr bwMode="auto">
          <a:xfrm>
            <a:off x="873879" y="4023679"/>
            <a:ext cx="7396242" cy="1799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spcBef>
                <a:spcPts val="0"/>
              </a:spcBef>
              <a:buFontTx/>
              <a:buNone/>
              <a:defRPr/>
            </a:pPr>
            <a:r>
              <a:rPr lang="en-US" altLang="zh-CN" sz="2400" kern="0" dirty="0">
                <a:solidFill>
                  <a:srgbClr val="FF0000"/>
                </a:solidFill>
                <a:latin typeface="Times New Roman" panose="02020603050405020304" pitchFamily="18" charset="0"/>
                <a:cs typeface="Times New Roman" panose="02020603050405020304" pitchFamily="18" charset="0"/>
              </a:rPr>
              <a:t>1.Power Supply Pins</a:t>
            </a:r>
            <a:endParaRPr lang="zh-CN" altLang="en-US" sz="2400" kern="0" dirty="0">
              <a:solidFill>
                <a:srgbClr val="FF0000"/>
              </a:solidFill>
              <a:latin typeface="Times New Roman" panose="02020603050405020304" pitchFamily="18" charset="0"/>
              <a:cs typeface="Times New Roman" panose="02020603050405020304" pitchFamily="18" charset="0"/>
            </a:endParaRPr>
          </a:p>
          <a:p>
            <a:pPr eaLnBrk="1" hangingPunct="1">
              <a:spcBef>
                <a:spcPts val="0"/>
              </a:spcBef>
              <a:defRPr/>
            </a:pPr>
            <a:r>
              <a:rPr lang="en-US" altLang="zh-CN" sz="1800" b="0" kern="0" dirty="0">
                <a:latin typeface="Times New Roman" panose="02020603050405020304" pitchFamily="18" charset="0"/>
                <a:cs typeface="Times New Roman" panose="02020603050405020304" pitchFamily="18" charset="0"/>
              </a:rPr>
              <a:t>VCC: Generally connected to +5V from the power supply. The specific voltage range should refer to the microcontroller's datasheet.</a:t>
            </a:r>
            <a:endParaRPr lang="zh-CN" altLang="en-US" sz="1800" b="0" kern="0" dirty="0">
              <a:latin typeface="Times New Roman" panose="02020603050405020304" pitchFamily="18" charset="0"/>
              <a:cs typeface="Times New Roman" panose="02020603050405020304" pitchFamily="18" charset="0"/>
            </a:endParaRPr>
          </a:p>
          <a:p>
            <a:pPr eaLnBrk="1" hangingPunct="1">
              <a:spcBef>
                <a:spcPts val="0"/>
              </a:spcBef>
              <a:defRPr/>
            </a:pPr>
            <a:r>
              <a:rPr lang="en-US" altLang="zh-CN" sz="1800" b="0" kern="0" dirty="0">
                <a:latin typeface="Times New Roman" panose="02020603050405020304" pitchFamily="18" charset="0"/>
                <a:cs typeface="Times New Roman" panose="02020603050405020304" pitchFamily="18" charset="0"/>
              </a:rPr>
              <a:t>GND: Connect to power ground.</a:t>
            </a:r>
            <a:endParaRPr lang="zh-CN" altLang="en-US" sz="1800" b="0" kern="0" dirty="0">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p:txBody>
          <a:bodyPr/>
          <a:lstStyle/>
          <a:p>
            <a:fld id="{22E77DEE-32E4-4009-988B-F2758F7B8AC2}" type="slidenum">
              <a:rPr lang="zh-CN" altLang="en-US" smtClean="0"/>
              <a:t>47</a:t>
            </a:fld>
            <a:endParaRPr lang="zh-CN" altLang="en-US"/>
          </a:p>
        </p:txBody>
      </p:sp>
      <p:sp>
        <p:nvSpPr>
          <p:cNvPr id="5" name="标题 3"/>
          <p:cNvSpPr>
            <a:spLocks noGrp="1" noChangeArrowheads="1"/>
          </p:cNvSpPr>
          <p:nvPr>
            <p:ph type="title"/>
          </p:nvPr>
        </p:nvSpPr>
        <p:spPr>
          <a:xfrm>
            <a:off x="655558" y="510222"/>
            <a:ext cx="6826936" cy="504825"/>
          </a:xfrm>
        </p:spPr>
        <p:txBody>
          <a:bodyPr>
            <a:noAutofit/>
          </a:bodyPr>
          <a:lstStyle/>
          <a:p>
            <a:pPr eaLnBrk="1" hangingPunct="1"/>
            <a:r>
              <a:rPr lang="en-US" altLang="zh-CN" sz="4000" dirty="0">
                <a:solidFill>
                  <a:srgbClr val="FF0000"/>
                </a:solidFill>
              </a:rPr>
              <a:t>Minimum Functional Board</a:t>
            </a:r>
            <a:endParaRPr lang="zh-CN" altLang="en-US" sz="4000" dirty="0">
              <a:solidFill>
                <a:srgbClr val="FF0000"/>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2"/>
          <p:cNvSpPr>
            <a:spLocks noGrp="1" noChangeArrowheads="1"/>
          </p:cNvSpPr>
          <p:nvPr>
            <p:ph type="title"/>
          </p:nvPr>
        </p:nvSpPr>
        <p:spPr>
          <a:xfrm>
            <a:off x="864552" y="755650"/>
            <a:ext cx="8229600" cy="504825"/>
          </a:xfrm>
        </p:spPr>
        <p:txBody>
          <a:bodyPr>
            <a:normAutofit fontScale="90000"/>
          </a:bodyPr>
          <a:lstStyle/>
          <a:p>
            <a:pPr eaLnBrk="1" hangingPunct="1"/>
            <a:r>
              <a:rPr lang="en-US" altLang="zh-CN" dirty="0">
                <a:solidFill>
                  <a:srgbClr val="FF0000"/>
                </a:solidFill>
              </a:rPr>
              <a:t>Microcontroller Pins and Functions</a:t>
            </a:r>
            <a:endParaRPr lang="zh-CN" altLang="en-US" dirty="0">
              <a:solidFill>
                <a:srgbClr val="FF0000"/>
              </a:solidFill>
            </a:endParaRPr>
          </a:p>
        </p:txBody>
      </p:sp>
      <p:graphicFrame>
        <p:nvGraphicFramePr>
          <p:cNvPr id="490500" name="Object 4"/>
          <p:cNvGraphicFramePr>
            <a:graphicFrameLocks noGrp="1" noChangeAspect="1"/>
          </p:cNvGraphicFramePr>
          <p:nvPr>
            <p:ph idx="1"/>
          </p:nvPr>
        </p:nvGraphicFramePr>
        <p:xfrm>
          <a:off x="4451350" y="1222375"/>
          <a:ext cx="4465638" cy="3203575"/>
        </p:xfrm>
        <a:graphic>
          <a:graphicData uri="http://schemas.openxmlformats.org/presentationml/2006/ole">
            <mc:AlternateContent xmlns:mc="http://schemas.openxmlformats.org/markup-compatibility/2006">
              <mc:Choice xmlns:v="urn:schemas-microsoft-com:vml" Requires="v">
                <p:oleObj name="Microsoft Drawing" r:id="rId2" imgW="1673225" imgH="1262380" progId="MSDraw">
                  <p:embed/>
                </p:oleObj>
              </mc:Choice>
              <mc:Fallback>
                <p:oleObj name="Microsoft Drawing" r:id="rId2" imgW="1673225" imgH="1262380" progId="MSDraw">
                  <p:embed/>
                  <p:pic>
                    <p:nvPicPr>
                      <p:cNvPr id="0"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1350" y="1222375"/>
                        <a:ext cx="4465638" cy="3203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90499" name="Rectangle 3"/>
          <p:cNvSpPr>
            <a:spLocks noGrp="1" noChangeArrowheads="1"/>
          </p:cNvSpPr>
          <p:nvPr>
            <p:ph type="body" sz="half" idx="4294967295"/>
          </p:nvPr>
        </p:nvSpPr>
        <p:spPr>
          <a:xfrm>
            <a:off x="252732" y="1403464"/>
            <a:ext cx="8737600" cy="1209675"/>
          </a:xfrm>
        </p:spPr>
        <p:txBody>
          <a:bodyPr/>
          <a:lstStyle/>
          <a:p>
            <a:pPr eaLnBrk="1" hangingPunct="1">
              <a:buFontTx/>
              <a:buNone/>
              <a:defRPr/>
            </a:pPr>
            <a:r>
              <a:rPr lang="en-US" altLang="zh-CN" sz="2400" dirty="0">
                <a:solidFill>
                  <a:srgbClr val="FF0000"/>
                </a:solidFill>
              </a:rPr>
              <a:t>  2. </a:t>
            </a:r>
            <a:r>
              <a:rPr lang="en-US" altLang="zh-CN" sz="2400" dirty="0">
                <a:solidFill>
                  <a:srgbClr val="00B0F0"/>
                </a:solidFill>
                <a:latin typeface="Times New Roman" panose="02020603050405020304" pitchFamily="18" charset="0"/>
                <a:cs typeface="Times New Roman" panose="02020603050405020304" pitchFamily="18" charset="0"/>
              </a:rPr>
              <a:t>External Crystal Oscillator Pins</a:t>
            </a:r>
            <a:endParaRPr lang="zh-CN" altLang="en-US" sz="2400" dirty="0">
              <a:solidFill>
                <a:srgbClr val="00B0F0"/>
              </a:solidFill>
              <a:latin typeface="Times New Roman" panose="02020603050405020304" pitchFamily="18" charset="0"/>
              <a:cs typeface="Times New Roman" panose="02020603050405020304" pitchFamily="18" charset="0"/>
            </a:endParaRPr>
          </a:p>
          <a:p>
            <a:pPr eaLnBrk="1" hangingPunct="1">
              <a:defRPr/>
            </a:pPr>
            <a:r>
              <a:rPr lang="en-US" altLang="zh-CN" sz="2400" dirty="0">
                <a:solidFill>
                  <a:srgbClr val="CC3300"/>
                </a:solidFill>
                <a:latin typeface="Times New Roman" panose="02020603050405020304" pitchFamily="18" charset="0"/>
                <a:cs typeface="Times New Roman" panose="02020603050405020304" pitchFamily="18" charset="0"/>
              </a:rPr>
              <a:t>XTAL1</a:t>
            </a:r>
            <a:r>
              <a:rPr lang="zh-CN" altLang="en-US" sz="2400" dirty="0">
                <a:solidFill>
                  <a:srgbClr val="CC3300"/>
                </a:solidFill>
                <a:latin typeface="Times New Roman" panose="02020603050405020304" pitchFamily="18" charset="0"/>
                <a:cs typeface="Times New Roman" panose="02020603050405020304" pitchFamily="18" charset="0"/>
              </a:rPr>
              <a:t> </a:t>
            </a:r>
            <a:r>
              <a:rPr lang="en-US" altLang="zh-CN" sz="2400" dirty="0">
                <a:solidFill>
                  <a:srgbClr val="CC3300"/>
                </a:solidFill>
                <a:latin typeface="Times New Roman" panose="02020603050405020304" pitchFamily="18" charset="0"/>
                <a:cs typeface="Times New Roman" panose="02020603050405020304" pitchFamily="18" charset="0"/>
              </a:rPr>
              <a:t>and</a:t>
            </a:r>
            <a:r>
              <a:rPr lang="zh-CN" altLang="en-US" sz="2400" dirty="0">
                <a:solidFill>
                  <a:srgbClr val="CC3300"/>
                </a:solidFill>
                <a:latin typeface="Times New Roman" panose="02020603050405020304" pitchFamily="18" charset="0"/>
                <a:cs typeface="Times New Roman" panose="02020603050405020304" pitchFamily="18" charset="0"/>
              </a:rPr>
              <a:t> </a:t>
            </a:r>
            <a:r>
              <a:rPr lang="en-US" altLang="zh-CN" sz="2400" dirty="0">
                <a:solidFill>
                  <a:srgbClr val="CC3300"/>
                </a:solidFill>
                <a:latin typeface="Times New Roman" panose="02020603050405020304" pitchFamily="18" charset="0"/>
                <a:cs typeface="Times New Roman" panose="02020603050405020304" pitchFamily="18" charset="0"/>
              </a:rPr>
              <a:t>XATL2</a:t>
            </a:r>
          </a:p>
        </p:txBody>
      </p:sp>
      <p:sp>
        <p:nvSpPr>
          <p:cNvPr id="10" name="Rectangle 3"/>
          <p:cNvSpPr txBox="1">
            <a:spLocks noChangeArrowheads="1"/>
          </p:cNvSpPr>
          <p:nvPr/>
        </p:nvSpPr>
        <p:spPr bwMode="auto">
          <a:xfrm>
            <a:off x="153670" y="2425857"/>
            <a:ext cx="4368800" cy="1967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spcBef>
                <a:spcPct val="20000"/>
              </a:spcBef>
              <a:spcAft>
                <a:spcPct val="0"/>
              </a:spcAft>
              <a:buBlip>
                <a:blip r:embed="rId4"/>
              </a:buBlip>
              <a:defRPr sz="3200" b="1">
                <a:solidFill>
                  <a:schemeClr val="accent2"/>
                </a:solidFill>
                <a:latin typeface="+mn-lt"/>
                <a:ea typeface="+mn-ea"/>
                <a:cs typeface="+mn-cs"/>
              </a:defRPr>
            </a:lvl1pPr>
            <a:lvl2pPr marL="742950" indent="-285750" algn="just" rtl="0" fontAlgn="base">
              <a:spcBef>
                <a:spcPct val="20000"/>
              </a:spcBef>
              <a:spcAft>
                <a:spcPct val="0"/>
              </a:spcAft>
              <a:buBlip>
                <a:blip r:embed="rId5"/>
              </a:buBlip>
              <a:defRPr sz="2800" b="1">
                <a:solidFill>
                  <a:schemeClr val="tx1"/>
                </a:solidFill>
                <a:latin typeface="+mn-lt"/>
                <a:ea typeface="+mj-ea"/>
              </a:defRPr>
            </a:lvl2pPr>
            <a:lvl3pPr marL="1143000" indent="-228600" algn="just" rtl="0" fontAlgn="base">
              <a:spcBef>
                <a:spcPct val="20000"/>
              </a:spcBef>
              <a:spcAft>
                <a:spcPct val="0"/>
              </a:spcAft>
              <a:buChar char="•"/>
              <a:defRPr sz="2400">
                <a:solidFill>
                  <a:schemeClr val="tx1"/>
                </a:solidFill>
                <a:latin typeface="+mn-lt"/>
                <a:ea typeface="+mj-ea"/>
              </a:defRPr>
            </a:lvl3pPr>
            <a:lvl4pPr marL="1600200" indent="-228600" algn="just" rtl="0" fontAlgn="base">
              <a:spcBef>
                <a:spcPct val="20000"/>
              </a:spcBef>
              <a:spcAft>
                <a:spcPct val="0"/>
              </a:spcAft>
              <a:buChar char="–"/>
              <a:defRPr sz="2000">
                <a:solidFill>
                  <a:schemeClr val="tx1"/>
                </a:solidFill>
                <a:latin typeface="+mn-lt"/>
                <a:ea typeface="+mj-ea"/>
              </a:defRPr>
            </a:lvl4pPr>
            <a:lvl5pPr marL="2057400" indent="-228600" algn="just" rtl="0" fontAlgn="base">
              <a:spcBef>
                <a:spcPct val="20000"/>
              </a:spcBef>
              <a:spcAft>
                <a:spcPct val="0"/>
              </a:spcAft>
              <a:buChar char="»"/>
              <a:defRPr sz="2000">
                <a:solidFill>
                  <a:schemeClr val="tx1"/>
                </a:solidFill>
                <a:latin typeface="+mn-lt"/>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2255" indent="-262255" algn="l" eaLnBrk="1" hangingPunct="1">
              <a:lnSpc>
                <a:spcPct val="125000"/>
              </a:lnSpc>
              <a:defRPr/>
            </a:pPr>
            <a:r>
              <a:rPr lang="en-US" altLang="zh-CN" sz="2000" kern="0" dirty="0">
                <a:latin typeface="Times New Roman" panose="02020603050405020304" pitchFamily="18" charset="0"/>
                <a:ea typeface="+mj-ea"/>
                <a:cs typeface="Times New Roman" panose="02020603050405020304" pitchFamily="18" charset="0"/>
              </a:rPr>
              <a:t>The input and output terminals of an internal inverting amplifier within the chip. Commonly used to connect a crystal oscillator</a:t>
            </a:r>
            <a:r>
              <a:rPr lang="en-US" altLang="zh-CN" sz="2000" kern="0" dirty="0">
                <a:latin typeface="+mj-ea"/>
                <a:ea typeface="+mj-ea"/>
              </a:rPr>
              <a:t>.</a:t>
            </a:r>
            <a:endParaRPr lang="zh-CN" altLang="en-US" sz="2000" kern="0" dirty="0">
              <a:latin typeface="+mj-ea"/>
              <a:ea typeface="+mj-ea"/>
            </a:endParaRPr>
          </a:p>
        </p:txBody>
      </p:sp>
      <p:sp>
        <p:nvSpPr>
          <p:cNvPr id="11" name="Rectangle 3"/>
          <p:cNvSpPr txBox="1">
            <a:spLocks noChangeArrowheads="1"/>
          </p:cNvSpPr>
          <p:nvPr/>
        </p:nvSpPr>
        <p:spPr bwMode="auto">
          <a:xfrm>
            <a:off x="153670" y="4577556"/>
            <a:ext cx="9029065" cy="165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4"/>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5"/>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174625" lvl="1" indent="-174625" algn="l" eaLnBrk="1" hangingPunct="1">
              <a:lnSpc>
                <a:spcPct val="114000"/>
              </a:lnSpc>
              <a:defRPr/>
            </a:pPr>
            <a:r>
              <a:rPr lang="en-US" altLang="zh-CN" sz="2000" kern="0" dirty="0">
                <a:latin typeface="Times New Roman" panose="02020603050405020304" pitchFamily="18" charset="0"/>
                <a:cs typeface="Times New Roman" panose="02020603050405020304" pitchFamily="18" charset="0"/>
              </a:rPr>
              <a:t>The crystal oscillator frequency can be selected between </a:t>
            </a:r>
            <a:r>
              <a:rPr lang="en-US" altLang="zh-CN" sz="2000" kern="0" dirty="0">
                <a:solidFill>
                  <a:srgbClr val="FF0000"/>
                </a:solidFill>
                <a:latin typeface="Times New Roman" panose="02020603050405020304" pitchFamily="18" charset="0"/>
                <a:cs typeface="Times New Roman" panose="02020603050405020304" pitchFamily="18" charset="0"/>
              </a:rPr>
              <a:t>4MHz and 48MHz</a:t>
            </a:r>
            <a:r>
              <a:rPr lang="en-US" altLang="zh-CN" sz="2000" kern="0" dirty="0">
                <a:latin typeface="Times New Roman" panose="02020603050405020304" pitchFamily="18" charset="0"/>
                <a:cs typeface="Times New Roman" panose="02020603050405020304" pitchFamily="18" charset="0"/>
              </a:rPr>
              <a:t>, with a typical value of </a:t>
            </a:r>
            <a:r>
              <a:rPr lang="en-US" altLang="zh-CN" sz="2000" kern="0" dirty="0">
                <a:solidFill>
                  <a:srgbClr val="FF0000"/>
                </a:solidFill>
                <a:latin typeface="Times New Roman" panose="02020603050405020304" pitchFamily="18" charset="0"/>
                <a:cs typeface="Times New Roman" panose="02020603050405020304" pitchFamily="18" charset="0"/>
              </a:rPr>
              <a:t>11.0592MHz</a:t>
            </a:r>
            <a:r>
              <a:rPr lang="en-US" altLang="zh-CN" sz="2000" kern="0" dirty="0">
                <a:latin typeface="Times New Roman" panose="02020603050405020304" pitchFamily="18" charset="0"/>
                <a:cs typeface="Times New Roman" panose="02020603050405020304" pitchFamily="18" charset="0"/>
              </a:rPr>
              <a:t> (because when designing a microcontroller communication application system, using a crystal with this frequency can accurately achieve baud rates of 9600 bits/s and 19200 bits/s).</a:t>
            </a:r>
          </a:p>
          <a:p>
            <a:pPr marL="174625" lvl="1" indent="-174625" algn="l" eaLnBrk="1" hangingPunct="1">
              <a:lnSpc>
                <a:spcPct val="114000"/>
              </a:lnSpc>
              <a:defRPr/>
            </a:pPr>
            <a:endParaRPr lang="zh-CN" altLang="en-US" kern="0" dirty="0"/>
          </a:p>
        </p:txBody>
      </p:sp>
      <p:sp>
        <p:nvSpPr>
          <p:cNvPr id="5" name="矩形 4"/>
          <p:cNvSpPr/>
          <p:nvPr/>
        </p:nvSpPr>
        <p:spPr>
          <a:xfrm>
            <a:off x="8089900" y="1665288"/>
            <a:ext cx="841375" cy="461962"/>
          </a:xfrm>
          <a:prstGeom prst="rect">
            <a:avLst/>
          </a:prstGeom>
        </p:spPr>
        <p:txBody>
          <a:bodyPr wrap="none">
            <a:spAutoFit/>
          </a:bodyPr>
          <a:lstStyle/>
          <a:p>
            <a:pPr algn="ctr" eaLnBrk="1" hangingPunct="1">
              <a:defRPr/>
            </a:pPr>
            <a:r>
              <a:rPr lang="en-US" altLang="zh-CN" sz="2400" b="1" kern="0">
                <a:solidFill>
                  <a:srgbClr val="FF0000"/>
                </a:solidFill>
              </a:rPr>
              <a:t>/P1.6</a:t>
            </a:r>
            <a:endParaRPr lang="zh-CN" altLang="en-US" sz="2400" b="1"/>
          </a:p>
        </p:txBody>
      </p:sp>
      <p:sp>
        <p:nvSpPr>
          <p:cNvPr id="12" name="矩形 11"/>
          <p:cNvSpPr/>
          <p:nvPr/>
        </p:nvSpPr>
        <p:spPr>
          <a:xfrm>
            <a:off x="8061325" y="3040063"/>
            <a:ext cx="841375" cy="461962"/>
          </a:xfrm>
          <a:prstGeom prst="rect">
            <a:avLst/>
          </a:prstGeom>
        </p:spPr>
        <p:txBody>
          <a:bodyPr wrap="none">
            <a:spAutoFit/>
          </a:bodyPr>
          <a:lstStyle/>
          <a:p>
            <a:pPr algn="ctr" eaLnBrk="1" hangingPunct="1">
              <a:defRPr/>
            </a:pPr>
            <a:r>
              <a:rPr lang="en-US" altLang="zh-CN" sz="2400" b="1" kern="0">
                <a:solidFill>
                  <a:srgbClr val="FF0000"/>
                </a:solidFill>
              </a:rPr>
              <a:t>/P1.7</a:t>
            </a:r>
            <a:endParaRPr lang="zh-CN" altLang="en-US" sz="2400" b="1"/>
          </a:p>
        </p:txBody>
      </p:sp>
      <p:sp>
        <p:nvSpPr>
          <p:cNvPr id="6" name="矩形 5"/>
          <p:cNvSpPr/>
          <p:nvPr/>
        </p:nvSpPr>
        <p:spPr>
          <a:xfrm>
            <a:off x="5222875" y="1450975"/>
            <a:ext cx="817563" cy="461963"/>
          </a:xfrm>
          <a:prstGeom prst="rect">
            <a:avLst/>
          </a:prstGeom>
        </p:spPr>
        <p:txBody>
          <a:bodyPr wrap="none">
            <a:spAutoFit/>
          </a:bodyPr>
          <a:lstStyle/>
          <a:p>
            <a:pPr algn="ctr" eaLnBrk="1" hangingPunct="1">
              <a:defRPr/>
            </a:pPr>
            <a:r>
              <a:rPr lang="en-US" altLang="zh-CN" sz="2400" kern="0" dirty="0"/>
              <a:t>47pF</a:t>
            </a:r>
            <a:endParaRPr lang="zh-CN" altLang="en-US" sz="2400" dirty="0"/>
          </a:p>
        </p:txBody>
      </p:sp>
      <p:sp>
        <p:nvSpPr>
          <p:cNvPr id="13" name="矩形 12"/>
          <p:cNvSpPr/>
          <p:nvPr/>
        </p:nvSpPr>
        <p:spPr>
          <a:xfrm>
            <a:off x="5168900" y="3243263"/>
            <a:ext cx="817563" cy="460375"/>
          </a:xfrm>
          <a:prstGeom prst="rect">
            <a:avLst/>
          </a:prstGeom>
        </p:spPr>
        <p:txBody>
          <a:bodyPr wrap="none">
            <a:spAutoFit/>
          </a:bodyPr>
          <a:lstStyle/>
          <a:p>
            <a:pPr algn="ctr" eaLnBrk="1" hangingPunct="1">
              <a:defRPr/>
            </a:pPr>
            <a:r>
              <a:rPr lang="en-US" altLang="zh-CN" sz="2400" kern="0" dirty="0"/>
              <a:t>47pF</a:t>
            </a:r>
            <a:endParaRPr lang="zh-CN" altLang="en-US" sz="2400" dirty="0"/>
          </a:p>
        </p:txBody>
      </p:sp>
      <p:sp>
        <p:nvSpPr>
          <p:cNvPr id="2" name="灯片编号占位符 1"/>
          <p:cNvSpPr>
            <a:spLocks noGrp="1"/>
          </p:cNvSpPr>
          <p:nvPr>
            <p:ph type="sldNum" sz="quarter" idx="12"/>
          </p:nvPr>
        </p:nvSpPr>
        <p:spPr/>
        <p:txBody>
          <a:bodyPr/>
          <a:lstStyle/>
          <a:p>
            <a:fld id="{22E77DEE-32E4-4009-988B-F2758F7B8AC2}" type="slidenum">
              <a:rPr lang="zh-CN" altLang="en-US" smtClean="0"/>
              <a:t>48</a:t>
            </a:fld>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457200" y="507684"/>
            <a:ext cx="8229600" cy="504825"/>
          </a:xfrm>
        </p:spPr>
        <p:txBody>
          <a:bodyPr>
            <a:noAutofit/>
          </a:bodyPr>
          <a:lstStyle/>
          <a:p>
            <a:pPr eaLnBrk="1" hangingPunct="1">
              <a:defRPr/>
            </a:pPr>
            <a:r>
              <a:rPr lang="en-US" altLang="zh-CN" sz="3600" dirty="0">
                <a:solidFill>
                  <a:srgbClr val="FF0000"/>
                </a:solidFill>
              </a:rPr>
              <a:t>2. External Crystal Oscillator Pins</a:t>
            </a:r>
            <a:endParaRPr lang="zh-CN" altLang="en-US" sz="3600" dirty="0">
              <a:solidFill>
                <a:srgbClr val="FF0000"/>
              </a:solidFill>
            </a:endParaRPr>
          </a:p>
        </p:txBody>
      </p:sp>
      <p:sp>
        <p:nvSpPr>
          <p:cNvPr id="491523" name="Rectangle 3"/>
          <p:cNvSpPr>
            <a:spLocks noGrp="1" noChangeArrowheads="1"/>
          </p:cNvSpPr>
          <p:nvPr>
            <p:ph idx="1"/>
          </p:nvPr>
        </p:nvSpPr>
        <p:spPr>
          <a:xfrm>
            <a:off x="311943" y="1250226"/>
            <a:ext cx="8694738" cy="1086531"/>
          </a:xfrm>
        </p:spPr>
        <p:txBody>
          <a:bodyPr>
            <a:normAutofit/>
          </a:bodyPr>
          <a:lstStyle/>
          <a:p>
            <a:pPr marL="262255" lvl="1" indent="-262255" algn="l" eaLnBrk="1" hangingPunct="1">
              <a:lnSpc>
                <a:spcPct val="104000"/>
              </a:lnSpc>
            </a:pPr>
            <a:r>
              <a:rPr lang="en-US" altLang="zh-CN" dirty="0">
                <a:latin typeface="Times New Roman" panose="02020603050405020304" pitchFamily="18" charset="0"/>
                <a:cs typeface="Times New Roman" panose="02020603050405020304" pitchFamily="18" charset="0"/>
              </a:rPr>
              <a:t>The IAP15W4K58S4 microcontroller </a:t>
            </a:r>
            <a:r>
              <a:rPr lang="en-US" altLang="zh-CN" dirty="0">
                <a:solidFill>
                  <a:srgbClr val="FF0000"/>
                </a:solidFill>
                <a:latin typeface="Times New Roman" panose="02020603050405020304" pitchFamily="18" charset="0"/>
                <a:cs typeface="Times New Roman" panose="02020603050405020304" pitchFamily="18" charset="0"/>
              </a:rPr>
              <a:t>integrates a high-precision R/C oscillator internally</a:t>
            </a:r>
            <a:r>
              <a:rPr lang="en-US" altLang="zh-CN" dirty="0">
                <a:latin typeface="Times New Roman" panose="02020603050405020304" pitchFamily="18" charset="0"/>
                <a:cs typeface="Times New Roman" panose="02020603050405020304" pitchFamily="18" charset="0"/>
              </a:rPr>
              <a:t>, and its operational clock can be sourced either from this internal oscillator or an external crystal oscillator.</a:t>
            </a:r>
          </a:p>
          <a:p>
            <a:pPr marL="262255" lvl="1" indent="-262255" algn="l" eaLnBrk="1" hangingPunct="1">
              <a:lnSpc>
                <a:spcPct val="104000"/>
              </a:lnSpc>
            </a:pPr>
            <a:endParaRPr lang="en-US" altLang="zh-CN" dirty="0">
              <a:latin typeface="Times New Roman" panose="02020603050405020304" pitchFamily="18" charset="0"/>
              <a:cs typeface="Times New Roman" panose="02020603050405020304" pitchFamily="18" charset="0"/>
            </a:endParaRPr>
          </a:p>
        </p:txBody>
      </p:sp>
      <p:sp>
        <p:nvSpPr>
          <p:cNvPr id="7" name="Rectangle 3"/>
          <p:cNvSpPr txBox="1">
            <a:spLocks noChangeArrowheads="1"/>
          </p:cNvSpPr>
          <p:nvPr/>
        </p:nvSpPr>
        <p:spPr bwMode="auto">
          <a:xfrm>
            <a:off x="137318" y="2099309"/>
            <a:ext cx="9006681" cy="4218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2255" lvl="1" indent="-262255" algn="l">
              <a:lnSpc>
                <a:spcPct val="104000"/>
              </a:lnSpc>
              <a:spcBef>
                <a:spcPts val="0"/>
              </a:spcBef>
              <a:defRPr/>
            </a:pPr>
            <a:r>
              <a:rPr lang="en-US" altLang="zh-CN" sz="2000" kern="0" dirty="0">
                <a:solidFill>
                  <a:srgbClr val="FF0000"/>
                </a:solidFill>
                <a:latin typeface="Times New Roman" panose="02020603050405020304" pitchFamily="18" charset="0"/>
                <a:cs typeface="Times New Roman" panose="02020603050405020304" pitchFamily="18" charset="0"/>
              </a:rPr>
              <a:t>The factory default configuration </a:t>
            </a:r>
            <a:r>
              <a:rPr lang="en-US" altLang="zh-CN" sz="2000" kern="0" dirty="0">
                <a:latin typeface="Times New Roman" panose="02020603050405020304" pitchFamily="18" charset="0"/>
                <a:cs typeface="Times New Roman" panose="02020603050405020304" pitchFamily="18" charset="0"/>
              </a:rPr>
              <a:t>for the 40-pin and 44-pin packaged IAP15W4K58S4 microcontrollers uses an external clock. The integrated high-precision </a:t>
            </a:r>
            <a:r>
              <a:rPr lang="en-US" altLang="zh-CN" sz="2000" kern="0" dirty="0">
                <a:solidFill>
                  <a:srgbClr val="0000CC"/>
                </a:solidFill>
                <a:latin typeface="Times New Roman" panose="02020603050405020304" pitchFamily="18" charset="0"/>
                <a:cs typeface="Times New Roman" panose="02020603050405020304" pitchFamily="18" charset="0"/>
              </a:rPr>
              <a:t>R/C oscillator </a:t>
            </a:r>
            <a:r>
              <a:rPr lang="en-US" altLang="zh-CN" sz="2000" kern="0" dirty="0">
                <a:latin typeface="Times New Roman" panose="02020603050405020304" pitchFamily="18" charset="0"/>
                <a:cs typeface="Times New Roman" panose="02020603050405020304" pitchFamily="18" charset="0"/>
              </a:rPr>
              <a:t>has a temperature drift of ±1% in an industrial environment, and a temperature drift of 5‰ at room temperature. Its frequency range is </a:t>
            </a:r>
            <a:r>
              <a:rPr lang="en-US" altLang="zh-CN" sz="2000" kern="0" dirty="0">
                <a:solidFill>
                  <a:srgbClr val="0000CC"/>
                </a:solidFill>
                <a:latin typeface="Times New Roman" panose="02020603050405020304" pitchFamily="18" charset="0"/>
                <a:cs typeface="Times New Roman" panose="02020603050405020304" pitchFamily="18" charset="0"/>
              </a:rPr>
              <a:t>5MHz~35MHz</a:t>
            </a:r>
            <a:r>
              <a:rPr lang="en-US" altLang="zh-CN" sz="2000" kern="0" dirty="0">
                <a:latin typeface="Times New Roman" panose="02020603050405020304" pitchFamily="18" charset="0"/>
                <a:cs typeface="Times New Roman" panose="02020603050405020304" pitchFamily="18" charset="0"/>
              </a:rPr>
              <a:t>, and it can be configured during programming. For applications where clock frequency accuracy is not highly critical, the internal R/C oscillator is perfectly sufficient.</a:t>
            </a:r>
          </a:p>
          <a:p>
            <a:pPr marL="262255" lvl="1" indent="-262255" algn="l" eaLnBrk="1" hangingPunct="1">
              <a:lnSpc>
                <a:spcPct val="104000"/>
              </a:lnSpc>
              <a:spcBef>
                <a:spcPts val="0"/>
              </a:spcBef>
              <a:defRPr/>
            </a:pPr>
            <a:r>
              <a:rPr lang="en-US" altLang="zh-CN" sz="2000" kern="0" dirty="0">
                <a:latin typeface="Times New Roman" panose="02020603050405020304" pitchFamily="18" charset="0"/>
                <a:cs typeface="Times New Roman" panose="02020603050405020304" pitchFamily="18" charset="0"/>
              </a:rPr>
              <a:t>When using the internal R/C oscillator as the clock source, the XTAL1 and XTAL2 pins should be left floating (unconnected).</a:t>
            </a:r>
          </a:p>
          <a:p>
            <a:pPr marL="262255" lvl="1" indent="-262255" algn="l" eaLnBrk="1" hangingPunct="1">
              <a:lnSpc>
                <a:spcPct val="104000"/>
              </a:lnSpc>
              <a:spcBef>
                <a:spcPts val="0"/>
              </a:spcBef>
              <a:defRPr/>
            </a:pPr>
            <a:r>
              <a:rPr lang="en-US" altLang="zh-CN" sz="2000" kern="0" dirty="0">
                <a:latin typeface="Times New Roman" panose="02020603050405020304" pitchFamily="18" charset="0"/>
                <a:cs typeface="Times New Roman" panose="02020603050405020304" pitchFamily="18" charset="0"/>
              </a:rPr>
              <a:t>When using an </a:t>
            </a:r>
            <a:r>
              <a:rPr lang="en-US" altLang="zh-CN" sz="2000" kern="0" dirty="0">
                <a:solidFill>
                  <a:srgbClr val="FF0000"/>
                </a:solidFill>
                <a:latin typeface="Times New Roman" panose="02020603050405020304" pitchFamily="18" charset="0"/>
                <a:cs typeface="Times New Roman" panose="02020603050405020304" pitchFamily="18" charset="0"/>
              </a:rPr>
              <a:t>In-System Programming </a:t>
            </a:r>
            <a:r>
              <a:rPr lang="en-US" altLang="zh-CN" sz="2000" kern="0" dirty="0">
                <a:latin typeface="Times New Roman" panose="02020603050405020304" pitchFamily="18" charset="0"/>
                <a:cs typeface="Times New Roman" panose="02020603050405020304" pitchFamily="18" charset="0"/>
              </a:rPr>
              <a:t>(ISP) tool to </a:t>
            </a:r>
            <a:r>
              <a:rPr lang="en-US" altLang="zh-CN" sz="2000" kern="0" dirty="0">
                <a:solidFill>
                  <a:srgbClr val="FF0000"/>
                </a:solidFill>
                <a:latin typeface="Times New Roman" panose="02020603050405020304" pitchFamily="18" charset="0"/>
                <a:cs typeface="Times New Roman" panose="02020603050405020304" pitchFamily="18" charset="0"/>
              </a:rPr>
              <a:t>download user programs </a:t>
            </a:r>
            <a:r>
              <a:rPr lang="en-US" altLang="zh-CN" sz="2000" kern="0" dirty="0">
                <a:latin typeface="Times New Roman" panose="02020603050405020304" pitchFamily="18" charset="0"/>
                <a:cs typeface="Times New Roman" panose="02020603050405020304" pitchFamily="18" charset="0"/>
              </a:rPr>
              <a:t>to the IAP15W4K58S4 microcontroller, </a:t>
            </a:r>
            <a:r>
              <a:rPr lang="en-US" altLang="zh-CN" sz="2000" kern="0" dirty="0">
                <a:solidFill>
                  <a:srgbClr val="0000CC"/>
                </a:solidFill>
                <a:latin typeface="Times New Roman" panose="02020603050405020304" pitchFamily="18" charset="0"/>
                <a:cs typeface="Times New Roman" panose="02020603050405020304" pitchFamily="18" charset="0"/>
              </a:rPr>
              <a:t>you can choose in the options to use either the external crystal oscillator or the internal R/C oscillator as the clock source.</a:t>
            </a:r>
          </a:p>
          <a:p>
            <a:pPr marL="262255" lvl="1" indent="-262255" algn="l" eaLnBrk="1" hangingPunct="1">
              <a:lnSpc>
                <a:spcPct val="104000"/>
              </a:lnSpc>
              <a:spcBef>
                <a:spcPts val="0"/>
              </a:spcBef>
              <a:defRPr/>
            </a:pPr>
            <a:endParaRPr lang="zh-CN" altLang="en-US" kern="0" dirty="0">
              <a:latin typeface="Times New Roman" panose="02020603050405020304" pitchFamily="18" charset="0"/>
              <a:cs typeface="Times New Roman" panose="02020603050405020304" pitchFamily="18" charset="0"/>
            </a:endParaRPr>
          </a:p>
          <a:p>
            <a:pPr marL="262255" lvl="1" indent="-262255" algn="l" eaLnBrk="1" hangingPunct="1">
              <a:lnSpc>
                <a:spcPct val="104000"/>
              </a:lnSpc>
              <a:spcBef>
                <a:spcPts val="0"/>
              </a:spcBef>
              <a:defRPr/>
            </a:pPr>
            <a:endParaRPr lang="en-US" altLang="zh-CN" kern="0" dirty="0">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p:txBody>
          <a:bodyPr/>
          <a:lstStyle/>
          <a:p>
            <a:fld id="{22E77DEE-32E4-4009-988B-F2758F7B8AC2}" type="slidenum">
              <a:rPr lang="zh-CN" altLang="en-US" smtClean="0"/>
              <a:t>49</a:t>
            </a:fld>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78325" y="1033530"/>
            <a:ext cx="3094038" cy="760412"/>
          </a:xfrm>
          <a:prstGeom prst="rect">
            <a:avLst/>
          </a:prstGeom>
          <a:noFill/>
          <a:ln w="9525">
            <a:solidFill>
              <a:srgbClr val="00B050"/>
            </a:solidFill>
            <a:miter lim="800000"/>
            <a:headEnd/>
            <a:tailEnd/>
          </a:ln>
        </p:spPr>
      </p:pic>
      <p:sp>
        <p:nvSpPr>
          <p:cNvPr id="95234" name="标题 2"/>
          <p:cNvSpPr>
            <a:spLocks noGrp="1" noChangeArrowheads="1"/>
          </p:cNvSpPr>
          <p:nvPr>
            <p:ph type="title"/>
          </p:nvPr>
        </p:nvSpPr>
        <p:spPr>
          <a:xfrm>
            <a:off x="369888" y="511051"/>
            <a:ext cx="8229600" cy="504825"/>
          </a:xfrm>
        </p:spPr>
        <p:txBody>
          <a:bodyPr>
            <a:noAutofit/>
          </a:bodyPr>
          <a:lstStyle/>
          <a:p>
            <a:pPr eaLnBrk="1" hangingPunct="1"/>
            <a:r>
              <a:rPr lang="zh-CN" altLang="en-US" sz="3600" dirty="0">
                <a:solidFill>
                  <a:srgbClr val="00B0F0"/>
                </a:solidFill>
              </a:rPr>
              <a:t> </a:t>
            </a:r>
            <a:r>
              <a:rPr lang="en-US" altLang="zh-CN" sz="3600" dirty="0">
                <a:solidFill>
                  <a:srgbClr val="00B0F0"/>
                </a:solidFill>
              </a:rPr>
              <a:t>3. Control and Reset Pins</a:t>
            </a:r>
            <a:endParaRPr lang="zh-CN" altLang="en-US" sz="3600" dirty="0">
              <a:solidFill>
                <a:srgbClr val="00B0F0"/>
              </a:solidFill>
            </a:endParaRPr>
          </a:p>
        </p:txBody>
      </p:sp>
      <p:graphicFrame>
        <p:nvGraphicFramePr>
          <p:cNvPr id="495620" name="Object 4"/>
          <p:cNvGraphicFramePr>
            <a:graphicFrameLocks noGrp="1" noDrilldown="1" noChangeAspect="1" noMove="1" noResize="1"/>
          </p:cNvGraphicFramePr>
          <p:nvPr>
            <p:ph idx="1"/>
          </p:nvPr>
        </p:nvGraphicFramePr>
        <p:xfrm>
          <a:off x="3303638" y="2763838"/>
          <a:ext cx="3783013" cy="3467100"/>
        </p:xfrm>
        <a:graphic>
          <a:graphicData uri="http://schemas.openxmlformats.org/presentationml/2006/ole">
            <mc:AlternateContent xmlns:mc="http://schemas.openxmlformats.org/markup-compatibility/2006">
              <mc:Choice xmlns:v="urn:schemas-microsoft-com:vml" Requires="v">
                <p:oleObj name="Microsoft Drawing" r:id="rId3" imgW="1514475" imgH="1450975" progId="MSDraw">
                  <p:embed/>
                </p:oleObj>
              </mc:Choice>
              <mc:Fallback>
                <p:oleObj name="Microsoft Drawing" r:id="rId3" imgW="1514475" imgH="1450975" progId="MSDraw">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3638" y="2763838"/>
                        <a:ext cx="3783013" cy="3467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95619" name="Rectangle 3"/>
          <p:cNvSpPr>
            <a:spLocks noGrp="1" noChangeArrowheads="1"/>
          </p:cNvSpPr>
          <p:nvPr>
            <p:ph type="body" sz="half" idx="4294967295"/>
          </p:nvPr>
        </p:nvSpPr>
        <p:spPr>
          <a:xfrm>
            <a:off x="563881" y="1439802"/>
            <a:ext cx="8321039" cy="1287338"/>
          </a:xfrm>
        </p:spPr>
        <p:txBody>
          <a:bodyPr>
            <a:normAutofit fontScale="85000" lnSpcReduction="20000"/>
          </a:bodyPr>
          <a:lstStyle/>
          <a:p>
            <a:pPr eaLnBrk="1" hangingPunct="1">
              <a:spcBef>
                <a:spcPct val="0"/>
              </a:spcBef>
              <a:spcAft>
                <a:spcPts val="600"/>
              </a:spcAft>
            </a:pPr>
            <a:r>
              <a:rPr lang="en-US" altLang="zh-CN" sz="2800" dirty="0">
                <a:solidFill>
                  <a:srgbClr val="CF3E3E"/>
                </a:solidFill>
              </a:rPr>
              <a:t>RST</a:t>
            </a:r>
            <a:r>
              <a:rPr lang="en-US" altLang="zh-CN" sz="2800" dirty="0"/>
              <a:t> (</a:t>
            </a:r>
            <a:r>
              <a:rPr lang="en-US" altLang="zh-CN" sz="2800" dirty="0">
                <a:solidFill>
                  <a:srgbClr val="FF0000"/>
                </a:solidFill>
              </a:rPr>
              <a:t>R</a:t>
            </a:r>
            <a:r>
              <a:rPr lang="en-US" altLang="zh-CN" sz="2800" dirty="0">
                <a:solidFill>
                  <a:srgbClr val="0000CC"/>
                </a:solidFill>
              </a:rPr>
              <a:t>E</a:t>
            </a:r>
            <a:r>
              <a:rPr lang="en-US" altLang="zh-CN" sz="2800" dirty="0">
                <a:solidFill>
                  <a:srgbClr val="FF0000"/>
                </a:solidFill>
              </a:rPr>
              <a:t>S</a:t>
            </a:r>
            <a:r>
              <a:rPr lang="en-US" altLang="zh-CN" sz="2800" dirty="0">
                <a:solidFill>
                  <a:srgbClr val="0000CC"/>
                </a:solidFill>
              </a:rPr>
              <a:t>E</a:t>
            </a:r>
            <a:r>
              <a:rPr lang="en-US" altLang="zh-CN" sz="2800" dirty="0">
                <a:solidFill>
                  <a:srgbClr val="FF0000"/>
                </a:solidFill>
              </a:rPr>
              <a:t>T</a:t>
            </a:r>
            <a:r>
              <a:rPr lang="en-US" altLang="zh-CN" sz="2800" dirty="0"/>
              <a:t>) (Multiplexed with P5.4)</a:t>
            </a:r>
            <a:endParaRPr lang="zh-CN" altLang="en-US" sz="2800" dirty="0">
              <a:solidFill>
                <a:srgbClr val="CC3300"/>
              </a:solidFill>
            </a:endParaRPr>
          </a:p>
          <a:p>
            <a:pPr marL="536575" lvl="1" indent="-274955" algn="l" eaLnBrk="1" hangingPunct="1">
              <a:spcBef>
                <a:spcPct val="0"/>
              </a:spcBef>
              <a:spcAft>
                <a:spcPts val="600"/>
              </a:spcAft>
            </a:pPr>
            <a:r>
              <a:rPr lang="en-US" altLang="zh-CN" sz="2100" dirty="0">
                <a:latin typeface="Times New Roman" panose="02020603050405020304" pitchFamily="18" charset="0"/>
                <a:cs typeface="Times New Roman" panose="02020603050405020304" pitchFamily="18" charset="0"/>
              </a:rPr>
              <a:t>When the oscillator is running, </a:t>
            </a:r>
            <a:r>
              <a:rPr lang="en-US" altLang="zh-CN" sz="2100" dirty="0">
                <a:solidFill>
                  <a:srgbClr val="FF0000"/>
                </a:solidFill>
                <a:latin typeface="Times New Roman" panose="02020603050405020304" pitchFamily="18" charset="0"/>
                <a:cs typeface="Times New Roman" panose="02020603050405020304" pitchFamily="18" charset="0"/>
              </a:rPr>
              <a:t>a high level on this pin lasting for two machine cycles will reset the microcontroller</a:t>
            </a:r>
            <a:r>
              <a:rPr lang="en-US" altLang="zh-CN" sz="2100" dirty="0">
                <a:latin typeface="Times New Roman" panose="02020603050405020304" pitchFamily="18" charset="0"/>
                <a:cs typeface="Times New Roman" panose="02020603050405020304" pitchFamily="18" charset="0"/>
              </a:rPr>
              <a:t>.</a:t>
            </a:r>
            <a:endParaRPr lang="zh-CN" altLang="en-US" sz="2100" dirty="0">
              <a:latin typeface="Times New Roman" panose="02020603050405020304" pitchFamily="18" charset="0"/>
              <a:cs typeface="Times New Roman" panose="02020603050405020304" pitchFamily="18" charset="0"/>
            </a:endParaRPr>
          </a:p>
          <a:p>
            <a:pPr marL="536575" lvl="1" indent="-274955" algn="l" eaLnBrk="1" hangingPunct="1">
              <a:spcBef>
                <a:spcPct val="0"/>
              </a:spcBef>
              <a:spcAft>
                <a:spcPts val="600"/>
              </a:spcAft>
            </a:pPr>
            <a:r>
              <a:rPr lang="en-US" altLang="zh-CN" sz="2100" dirty="0">
                <a:latin typeface="Times New Roman" panose="02020603050405020304" pitchFamily="18" charset="0"/>
                <a:cs typeface="Times New Roman" panose="02020603050405020304" pitchFamily="18" charset="0"/>
              </a:rPr>
              <a:t>If the microcontroller needs to reset automatically upon power-up, </a:t>
            </a:r>
            <a:r>
              <a:rPr lang="en-US" altLang="zh-CN" sz="2100" dirty="0">
                <a:solidFill>
                  <a:srgbClr val="C00000"/>
                </a:solidFill>
                <a:latin typeface="Times New Roman" panose="02020603050405020304" pitchFamily="18" charset="0"/>
                <a:cs typeface="Times New Roman" panose="02020603050405020304" pitchFamily="18" charset="0"/>
              </a:rPr>
              <a:t>a power-on reset circuit can be used.</a:t>
            </a:r>
          </a:p>
        </p:txBody>
      </p:sp>
      <p:sp>
        <p:nvSpPr>
          <p:cNvPr id="7" name="矩形 6"/>
          <p:cNvSpPr>
            <a:spLocks noChangeArrowheads="1"/>
          </p:cNvSpPr>
          <p:nvPr/>
        </p:nvSpPr>
        <p:spPr bwMode="auto">
          <a:xfrm>
            <a:off x="7167432" y="3881835"/>
            <a:ext cx="2031163"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000" dirty="0" err="1">
                <a:solidFill>
                  <a:srgbClr val="FF00FF"/>
                </a:solidFill>
              </a:rPr>
              <a:t>VPD:Backup</a:t>
            </a:r>
            <a:r>
              <a:rPr lang="en-US" altLang="zh-CN" sz="2000" dirty="0">
                <a:solidFill>
                  <a:srgbClr val="FF00FF"/>
                </a:solidFill>
              </a:rPr>
              <a:t> power supply pin for traditional C51 microcontrollers</a:t>
            </a:r>
            <a:endParaRPr lang="zh-CN" altLang="en-US" sz="2000" dirty="0">
              <a:solidFill>
                <a:srgbClr val="FF00FF"/>
              </a:solidFill>
            </a:endParaRPr>
          </a:p>
        </p:txBody>
      </p:sp>
      <p:sp>
        <p:nvSpPr>
          <p:cNvPr id="8" name="矩形 7"/>
          <p:cNvSpPr>
            <a:spLocks noChangeArrowheads="1"/>
          </p:cNvSpPr>
          <p:nvPr/>
        </p:nvSpPr>
        <p:spPr bwMode="auto">
          <a:xfrm>
            <a:off x="471586" y="3594566"/>
            <a:ext cx="2969623"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solidFill>
                  <a:srgbClr val="FF0000"/>
                </a:solidFill>
              </a:rPr>
              <a:t>SS_3 </a:t>
            </a:r>
            <a:r>
              <a:rPr lang="en-US" altLang="zh-CN" sz="2800" dirty="0">
                <a:solidFill>
                  <a:srgbClr val="3333FF"/>
                </a:solidFill>
              </a:rPr>
              <a:t>/SYSCLKO</a:t>
            </a:r>
            <a:r>
              <a:rPr lang="en-US" altLang="zh-CN" sz="2800" dirty="0">
                <a:solidFill>
                  <a:srgbClr val="FF0000"/>
                </a:solidFill>
              </a:rPr>
              <a:t> /RST /P5.4</a:t>
            </a:r>
            <a:endParaRPr lang="zh-CN" altLang="en-US" sz="2800" dirty="0">
              <a:solidFill>
                <a:srgbClr val="FF0000"/>
              </a:solidFill>
            </a:endParaRPr>
          </a:p>
        </p:txBody>
      </p:sp>
      <p:cxnSp>
        <p:nvCxnSpPr>
          <p:cNvPr id="12" name="直接连接符 11"/>
          <p:cNvCxnSpPr>
            <a:cxnSpLocks noChangeShapeType="1"/>
          </p:cNvCxnSpPr>
          <p:nvPr/>
        </p:nvCxnSpPr>
        <p:spPr bwMode="auto">
          <a:xfrm>
            <a:off x="6053753" y="4111170"/>
            <a:ext cx="552450" cy="0"/>
          </a:xfrm>
          <a:prstGeom prst="line">
            <a:avLst/>
          </a:prstGeom>
          <a:noFill/>
          <a:ln w="28575" algn="ctr">
            <a:solidFill>
              <a:srgbClr val="FF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95244" name="图片 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30688" y="461839"/>
            <a:ext cx="3389312"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直接箭头连接符 9"/>
          <p:cNvCxnSpPr>
            <a:cxnSpLocks noChangeShapeType="1"/>
          </p:cNvCxnSpPr>
          <p:nvPr/>
        </p:nvCxnSpPr>
        <p:spPr bwMode="auto">
          <a:xfrm flipV="1">
            <a:off x="4400001" y="1793942"/>
            <a:ext cx="1478324" cy="2754731"/>
          </a:xfrm>
          <a:prstGeom prst="straightConnector1">
            <a:avLst/>
          </a:prstGeom>
          <a:noFill/>
          <a:ln w="9525" algn="ctr">
            <a:solidFill>
              <a:srgbClr val="FF0000"/>
            </a:solidFill>
            <a:rou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Text Box 7"/>
          <p:cNvSpPr txBox="1">
            <a:spLocks noChangeArrowheads="1"/>
          </p:cNvSpPr>
          <p:nvPr/>
        </p:nvSpPr>
        <p:spPr bwMode="auto">
          <a:xfrm>
            <a:off x="6078343" y="964932"/>
            <a:ext cx="29845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FF0000"/>
                </a:solidFill>
              </a:rPr>
              <a:t>Power-on charging potential</a:t>
            </a:r>
            <a:endParaRPr lang="zh-CN" altLang="en-US" b="1" dirty="0">
              <a:solidFill>
                <a:srgbClr val="FF0000"/>
              </a:solidFill>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50</a:t>
            </a:fld>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2"/>
          <p:cNvSpPr>
            <a:spLocks noGrp="1" noChangeArrowheads="1"/>
          </p:cNvSpPr>
          <p:nvPr>
            <p:ph type="title"/>
          </p:nvPr>
        </p:nvSpPr>
        <p:spPr>
          <a:xfrm>
            <a:off x="519113" y="472952"/>
            <a:ext cx="8229600" cy="504825"/>
          </a:xfrm>
        </p:spPr>
        <p:txBody>
          <a:bodyPr>
            <a:noAutofit/>
          </a:bodyPr>
          <a:lstStyle/>
          <a:p>
            <a:pPr eaLnBrk="1" hangingPunct="1"/>
            <a:r>
              <a:rPr lang="en-US" altLang="zh-CN" sz="3600" dirty="0">
                <a:solidFill>
                  <a:srgbClr val="FF0000"/>
                </a:solidFill>
              </a:rPr>
              <a:t>(2) RST </a:t>
            </a:r>
            <a:r>
              <a:rPr lang="en-US" altLang="zh-CN" sz="3600" dirty="0">
                <a:solidFill>
                  <a:srgbClr val="00B0F0"/>
                </a:solidFill>
              </a:rPr>
              <a:t>Pin</a:t>
            </a:r>
            <a:endParaRPr lang="zh-CN" altLang="en-US" sz="3600" dirty="0">
              <a:solidFill>
                <a:srgbClr val="00B0F0"/>
              </a:solidFill>
            </a:endParaRPr>
          </a:p>
        </p:txBody>
      </p:sp>
      <p:sp>
        <p:nvSpPr>
          <p:cNvPr id="495619" name="Rectangle 3"/>
          <p:cNvSpPr>
            <a:spLocks noGrp="1" noChangeArrowheads="1"/>
          </p:cNvSpPr>
          <p:nvPr>
            <p:ph type="body" sz="half" idx="4294967295"/>
          </p:nvPr>
        </p:nvSpPr>
        <p:spPr>
          <a:xfrm>
            <a:off x="460104" y="1198245"/>
            <a:ext cx="7957456" cy="1047869"/>
          </a:xfrm>
        </p:spPr>
        <p:txBody>
          <a:bodyPr>
            <a:noAutofit/>
          </a:bodyPr>
          <a:lstStyle/>
          <a:p>
            <a:pPr marL="363855" lvl="1" indent="-189230" algn="l" eaLnBrk="1" hangingPunct="1">
              <a:lnSpc>
                <a:spcPct val="114000"/>
              </a:lnSpc>
              <a:spcBef>
                <a:spcPts val="0"/>
              </a:spcBef>
              <a:spcAft>
                <a:spcPts val="300"/>
              </a:spcAft>
              <a:defRPr/>
            </a:pPr>
            <a:r>
              <a:rPr lang="en-US" altLang="zh-CN" dirty="0">
                <a:latin typeface="Times New Roman" panose="02020603050405020304" pitchFamily="18" charset="0"/>
                <a:cs typeface="Times New Roman" panose="02020603050405020304" pitchFamily="18" charset="0"/>
              </a:rPr>
              <a:t>The P5.4/RST/</a:t>
            </a:r>
            <a:r>
              <a:rPr lang="en-US" altLang="zh-CN" strike="sngStrike" dirty="0">
                <a:solidFill>
                  <a:srgbClr val="FF00FF"/>
                </a:solidFill>
                <a:latin typeface="Times New Roman" panose="02020603050405020304" pitchFamily="18" charset="0"/>
                <a:cs typeface="Times New Roman" panose="02020603050405020304" pitchFamily="18" charset="0"/>
              </a:rPr>
              <a:t>MCLKO</a:t>
            </a:r>
            <a:r>
              <a:rPr lang="en-US" altLang="zh-CN" dirty="0">
                <a:latin typeface="Times New Roman" panose="02020603050405020304" pitchFamily="18" charset="0"/>
                <a:cs typeface="Times New Roman" panose="02020603050405020304" pitchFamily="18" charset="0"/>
              </a:rPr>
              <a:t> </a:t>
            </a:r>
            <a:r>
              <a:rPr lang="en-US" altLang="zh-CN" dirty="0">
                <a:solidFill>
                  <a:srgbClr val="FF0000"/>
                </a:solidFill>
                <a:latin typeface="Times New Roman" panose="02020603050405020304" pitchFamily="18" charset="0"/>
                <a:cs typeface="Times New Roman" panose="02020603050405020304" pitchFamily="18" charset="0"/>
              </a:rPr>
              <a:t>SYSCLKO</a:t>
            </a:r>
            <a:r>
              <a:rPr lang="en-US" altLang="zh-CN" dirty="0">
                <a:latin typeface="Times New Roman" panose="02020603050405020304" pitchFamily="18" charset="0"/>
                <a:cs typeface="Times New Roman" panose="02020603050405020304" pitchFamily="18" charset="0"/>
              </a:rPr>
              <a:t> pin is factory defaulted as an I/O port. When downloading programs using STC-ISP programming software, it can be set as the RST reset pin.</a:t>
            </a:r>
            <a:endParaRPr lang="zh-CN" altLang="en-US" dirty="0">
              <a:latin typeface="Times New Roman" panose="02020603050405020304" pitchFamily="18" charset="0"/>
              <a:cs typeface="Times New Roman" panose="02020603050405020304" pitchFamily="18" charset="0"/>
            </a:endParaRPr>
          </a:p>
        </p:txBody>
      </p:sp>
      <p:graphicFrame>
        <p:nvGraphicFramePr>
          <p:cNvPr id="495620" name="Object 4"/>
          <p:cNvGraphicFramePr>
            <a:graphicFrameLocks noGrp="1" noChangeAspect="1"/>
          </p:cNvGraphicFramePr>
          <p:nvPr>
            <p:ph idx="1"/>
          </p:nvPr>
        </p:nvGraphicFramePr>
        <p:xfrm>
          <a:off x="4903788" y="2025650"/>
          <a:ext cx="3913187" cy="3749675"/>
        </p:xfrm>
        <a:graphic>
          <a:graphicData uri="http://schemas.openxmlformats.org/presentationml/2006/ole">
            <mc:AlternateContent xmlns:mc="http://schemas.openxmlformats.org/markup-compatibility/2006">
              <mc:Choice xmlns:v="urn:schemas-microsoft-com:vml" Requires="v">
                <p:oleObj name="Microsoft Drawing" r:id="rId2" imgW="1514475" imgH="1450975" progId="MSDraw">
                  <p:embed/>
                </p:oleObj>
              </mc:Choice>
              <mc:Fallback>
                <p:oleObj name="Microsoft Drawing" r:id="rId2" imgW="1514475" imgH="1450975" progId="MSDraw">
                  <p:embed/>
                  <p:pic>
                    <p:nvPicPr>
                      <p:cNvPr id="0"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3788" y="2025650"/>
                        <a:ext cx="3913187" cy="3749675"/>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0" name="Rectangle 3"/>
          <p:cNvSpPr txBox="1">
            <a:spLocks noChangeArrowheads="1"/>
          </p:cNvSpPr>
          <p:nvPr/>
        </p:nvSpPr>
        <p:spPr bwMode="auto">
          <a:xfrm>
            <a:off x="460104" y="2246119"/>
            <a:ext cx="4443684" cy="3662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spcBef>
                <a:spcPct val="20000"/>
              </a:spcBef>
              <a:spcAft>
                <a:spcPct val="0"/>
              </a:spcAft>
              <a:buBlip>
                <a:blip r:embed="rId4"/>
              </a:buBlip>
              <a:defRPr sz="3200" b="1">
                <a:solidFill>
                  <a:schemeClr val="accent2"/>
                </a:solidFill>
                <a:latin typeface="+mn-lt"/>
                <a:ea typeface="+mn-ea"/>
                <a:cs typeface="+mn-cs"/>
              </a:defRPr>
            </a:lvl1pPr>
            <a:lvl2pPr marL="742950" indent="-285750" algn="just" rtl="0" fontAlgn="base">
              <a:spcBef>
                <a:spcPct val="20000"/>
              </a:spcBef>
              <a:spcAft>
                <a:spcPct val="0"/>
              </a:spcAft>
              <a:buBlip>
                <a:blip r:embed="rId5"/>
              </a:buBlip>
              <a:defRPr sz="2800" b="1">
                <a:solidFill>
                  <a:schemeClr val="tx1"/>
                </a:solidFill>
                <a:latin typeface="+mn-lt"/>
                <a:ea typeface="+mj-ea"/>
              </a:defRPr>
            </a:lvl2pPr>
            <a:lvl3pPr marL="1143000" indent="-228600" algn="just" rtl="0" fontAlgn="base">
              <a:spcBef>
                <a:spcPct val="20000"/>
              </a:spcBef>
              <a:spcAft>
                <a:spcPct val="0"/>
              </a:spcAft>
              <a:buChar char="•"/>
              <a:defRPr sz="2400">
                <a:solidFill>
                  <a:schemeClr val="tx1"/>
                </a:solidFill>
                <a:latin typeface="+mn-lt"/>
                <a:ea typeface="+mj-ea"/>
              </a:defRPr>
            </a:lvl3pPr>
            <a:lvl4pPr marL="1600200" indent="-228600" algn="just" rtl="0" fontAlgn="base">
              <a:spcBef>
                <a:spcPct val="20000"/>
              </a:spcBef>
              <a:spcAft>
                <a:spcPct val="0"/>
              </a:spcAft>
              <a:buChar char="–"/>
              <a:defRPr sz="2000">
                <a:solidFill>
                  <a:schemeClr val="tx1"/>
                </a:solidFill>
                <a:latin typeface="+mn-lt"/>
                <a:ea typeface="+mj-ea"/>
              </a:defRPr>
            </a:lvl4pPr>
            <a:lvl5pPr marL="2057400" indent="-228600" algn="just" rtl="0" fontAlgn="base">
              <a:spcBef>
                <a:spcPct val="20000"/>
              </a:spcBef>
              <a:spcAft>
                <a:spcPct val="0"/>
              </a:spcAft>
              <a:buChar char="»"/>
              <a:defRPr sz="2000">
                <a:solidFill>
                  <a:schemeClr val="tx1"/>
                </a:solidFill>
                <a:latin typeface="+mn-lt"/>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363855" lvl="1" indent="-189230" algn="l" eaLnBrk="1" hangingPunct="1">
              <a:lnSpc>
                <a:spcPct val="134000"/>
              </a:lnSpc>
              <a:spcBef>
                <a:spcPts val="0"/>
              </a:spcBef>
              <a:spcAft>
                <a:spcPts val="300"/>
              </a:spcAft>
              <a:defRPr/>
            </a:pPr>
            <a:r>
              <a:rPr lang="en-US" altLang="zh-CN" sz="2000" kern="0" dirty="0">
                <a:latin typeface="Times New Roman" panose="02020603050405020304" pitchFamily="18" charset="0"/>
                <a:cs typeface="Times New Roman" panose="02020603050405020304" pitchFamily="18" charset="0"/>
              </a:rPr>
              <a:t>The IAP15W4K58S4 microcontroller integrates a dedicated </a:t>
            </a:r>
            <a:r>
              <a:rPr lang="en-US" altLang="zh-CN" sz="2000" kern="0" dirty="0">
                <a:solidFill>
                  <a:srgbClr val="FF00FF"/>
                </a:solidFill>
                <a:latin typeface="Times New Roman" panose="02020603050405020304" pitchFamily="18" charset="0"/>
                <a:cs typeface="Times New Roman" panose="02020603050405020304" pitchFamily="18" charset="0"/>
              </a:rPr>
              <a:t>MAX810 reset circuit internally.</a:t>
            </a:r>
            <a:r>
              <a:rPr lang="en-US" altLang="zh-CN" sz="2000" kern="0" dirty="0">
                <a:latin typeface="Times New Roman" panose="02020603050405020304" pitchFamily="18" charset="0"/>
                <a:cs typeface="Times New Roman" panose="02020603050405020304" pitchFamily="18" charset="0"/>
              </a:rPr>
              <a:t> When the clock frequency is below 12MHz, the reset pin can be connected via a 1K resistor to ground, or the traditional reset circuit shown in the diagram can also be used.</a:t>
            </a:r>
            <a:endParaRPr lang="zh-CN" altLang="en-US" sz="2000" kern="0" dirty="0">
              <a:latin typeface="Times New Roman" panose="02020603050405020304" pitchFamily="18" charset="0"/>
              <a:cs typeface="Times New Roman" panose="02020603050405020304" pitchFamily="18" charset="0"/>
            </a:endParaRPr>
          </a:p>
        </p:txBody>
      </p:sp>
      <p:cxnSp>
        <p:nvCxnSpPr>
          <p:cNvPr id="6" name="直接连接符 5"/>
          <p:cNvCxnSpPr>
            <a:cxnSpLocks noChangeShapeType="1"/>
          </p:cNvCxnSpPr>
          <p:nvPr/>
        </p:nvCxnSpPr>
        <p:spPr bwMode="auto">
          <a:xfrm>
            <a:off x="7780338" y="3508375"/>
            <a:ext cx="550862" cy="0"/>
          </a:xfrm>
          <a:prstGeom prst="line">
            <a:avLst/>
          </a:prstGeom>
          <a:noFill/>
          <a:ln w="28575" algn="ctr">
            <a:solidFill>
              <a:srgbClr val="FF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灯片编号占位符 1"/>
          <p:cNvSpPr>
            <a:spLocks noGrp="1"/>
          </p:cNvSpPr>
          <p:nvPr>
            <p:ph type="sldNum" sz="quarter" idx="12"/>
          </p:nvPr>
        </p:nvSpPr>
        <p:spPr/>
        <p:txBody>
          <a:bodyPr/>
          <a:lstStyle/>
          <a:p>
            <a:fld id="{22E77DEE-32E4-4009-988B-F2758F7B8AC2}" type="slidenum">
              <a:rPr lang="zh-CN" altLang="en-US" smtClean="0"/>
              <a:t>51</a:t>
            </a:fld>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3"/>
          <p:cNvSpPr>
            <a:spLocks noGrp="1" noChangeArrowheads="1"/>
          </p:cNvSpPr>
          <p:nvPr>
            <p:ph type="title"/>
          </p:nvPr>
        </p:nvSpPr>
        <p:spPr>
          <a:xfrm>
            <a:off x="607536" y="435429"/>
            <a:ext cx="7827328" cy="625021"/>
          </a:xfrm>
        </p:spPr>
        <p:txBody>
          <a:bodyPr>
            <a:noAutofit/>
          </a:bodyPr>
          <a:lstStyle/>
          <a:p>
            <a:pPr eaLnBrk="1" hangingPunct="1"/>
            <a:r>
              <a:rPr lang="pt-BR" altLang="zh-CN" sz="3600" dirty="0">
                <a:solidFill>
                  <a:srgbClr val="FF0000"/>
                </a:solidFill>
                <a:latin typeface="Times New Roman" panose="02020603050405020304" pitchFamily="18" charset="0"/>
                <a:cs typeface="Times New Roman" panose="02020603050405020304" pitchFamily="18" charset="0"/>
              </a:rPr>
              <a:t>Microcontroller Input/Output (I/O) </a:t>
            </a:r>
            <a:r>
              <a:rPr lang="pt-BR" altLang="zh-CN" sz="3600" dirty="0">
                <a:solidFill>
                  <a:srgbClr val="00B0F0"/>
                </a:solidFill>
                <a:latin typeface="Times New Roman" panose="02020603050405020304" pitchFamily="18" charset="0"/>
                <a:cs typeface="Times New Roman" panose="02020603050405020304" pitchFamily="18" charset="0"/>
              </a:rPr>
              <a:t>Pins</a:t>
            </a:r>
            <a:endParaRPr lang="zh-CN" altLang="en-US" sz="3600" dirty="0">
              <a:solidFill>
                <a:srgbClr val="00B0F0"/>
              </a:solidFill>
            </a:endParaRPr>
          </a:p>
        </p:txBody>
      </p:sp>
      <p:sp>
        <p:nvSpPr>
          <p:cNvPr id="497667" name="Rectangle 3"/>
          <p:cNvSpPr>
            <a:spLocks noGrp="1" noChangeArrowheads="1"/>
          </p:cNvSpPr>
          <p:nvPr>
            <p:ph idx="1"/>
          </p:nvPr>
        </p:nvSpPr>
        <p:spPr>
          <a:xfrm>
            <a:off x="822961" y="1235710"/>
            <a:ext cx="7409497" cy="2316480"/>
          </a:xfrm>
        </p:spPr>
        <p:txBody>
          <a:bodyPr>
            <a:normAutofit lnSpcReduction="10000"/>
          </a:bodyPr>
          <a:lstStyle/>
          <a:p>
            <a:pPr marL="0" indent="0" eaLnBrk="1" hangingPunct="1">
              <a:lnSpc>
                <a:spcPct val="90000"/>
              </a:lnSpc>
              <a:spcBef>
                <a:spcPct val="0"/>
              </a:spcBef>
              <a:spcAft>
                <a:spcPct val="0"/>
              </a:spcAft>
              <a:buFontTx/>
              <a:buNone/>
            </a:pPr>
            <a:r>
              <a:rPr lang="en-US" altLang="zh-CN" dirty="0"/>
              <a:t>The IAP15W4K58S4 microcontroller in an </a:t>
            </a:r>
            <a:r>
              <a:rPr lang="en-US" altLang="zh-CN" dirty="0">
                <a:solidFill>
                  <a:srgbClr val="FF00FF"/>
                </a:solidFill>
              </a:rPr>
              <a:t>LQFP-44</a:t>
            </a:r>
            <a:r>
              <a:rPr lang="en-US" altLang="zh-CN" dirty="0"/>
              <a:t> package can have up to </a:t>
            </a:r>
            <a:r>
              <a:rPr lang="en-US" altLang="zh-CN" dirty="0">
                <a:solidFill>
                  <a:srgbClr val="00B0F0"/>
                </a:solidFill>
              </a:rPr>
              <a:t>42 I/O lines</a:t>
            </a:r>
            <a:r>
              <a:rPr lang="en-US" altLang="zh-CN" dirty="0"/>
              <a:t>:</a:t>
            </a:r>
            <a:endParaRPr lang="zh-CN" altLang="en-US" dirty="0"/>
          </a:p>
          <a:p>
            <a:pPr lvl="1" algn="l" eaLnBrk="1" hangingPunct="1">
              <a:lnSpc>
                <a:spcPct val="90000"/>
              </a:lnSpc>
              <a:spcBef>
                <a:spcPct val="0"/>
              </a:spcBef>
            </a:pPr>
            <a:r>
              <a:rPr lang="fr-FR" altLang="zh-CN" dirty="0">
                <a:solidFill>
                  <a:srgbClr val="C00000"/>
                </a:solidFill>
                <a:latin typeface="Times New Roman" panose="02020603050405020304" pitchFamily="18" charset="0"/>
                <a:cs typeface="Times New Roman" panose="02020603050405020304" pitchFamily="18" charset="0"/>
              </a:rPr>
              <a:t>P0 Port </a:t>
            </a:r>
            <a:r>
              <a:rPr lang="fr-FR" altLang="zh-CN" dirty="0">
                <a:latin typeface="Times New Roman" panose="02020603050405020304" pitchFamily="18" charset="0"/>
                <a:cs typeface="Times New Roman" panose="02020603050405020304" pitchFamily="18" charset="0"/>
              </a:rPr>
              <a:t>(8 pins): P0.0~P0.7</a:t>
            </a:r>
            <a:endParaRPr lang="en-US" altLang="zh-CN" dirty="0">
              <a:latin typeface="Times New Roman" panose="02020603050405020304" pitchFamily="18" charset="0"/>
              <a:cs typeface="Times New Roman" panose="02020603050405020304" pitchFamily="18" charset="0"/>
            </a:endParaRPr>
          </a:p>
          <a:p>
            <a:pPr lvl="1" algn="l" eaLnBrk="1" hangingPunct="1">
              <a:lnSpc>
                <a:spcPct val="90000"/>
              </a:lnSpc>
              <a:spcBef>
                <a:spcPct val="0"/>
              </a:spcBef>
            </a:pPr>
            <a:r>
              <a:rPr lang="fr-FR" altLang="zh-CN" dirty="0">
                <a:solidFill>
                  <a:srgbClr val="C00000"/>
                </a:solidFill>
                <a:latin typeface="Times New Roman" panose="02020603050405020304" pitchFamily="18" charset="0"/>
                <a:cs typeface="Times New Roman" panose="02020603050405020304" pitchFamily="18" charset="0"/>
              </a:rPr>
              <a:t>P1 Port </a:t>
            </a:r>
            <a:r>
              <a:rPr lang="fr-FR" altLang="zh-CN" dirty="0">
                <a:latin typeface="Times New Roman" panose="02020603050405020304" pitchFamily="18" charset="0"/>
                <a:cs typeface="Times New Roman" panose="02020603050405020304" pitchFamily="18" charset="0"/>
              </a:rPr>
              <a:t>(8 pins): P1.0~P1.7</a:t>
            </a:r>
            <a:endParaRPr lang="en-US" altLang="zh-CN" dirty="0">
              <a:latin typeface="Times New Roman" panose="02020603050405020304" pitchFamily="18" charset="0"/>
              <a:cs typeface="Times New Roman" panose="02020603050405020304" pitchFamily="18" charset="0"/>
            </a:endParaRPr>
          </a:p>
          <a:p>
            <a:pPr lvl="1" algn="l" eaLnBrk="1" hangingPunct="1">
              <a:lnSpc>
                <a:spcPct val="90000"/>
              </a:lnSpc>
              <a:spcBef>
                <a:spcPct val="0"/>
              </a:spcBef>
            </a:pPr>
            <a:r>
              <a:rPr lang="fr-FR" altLang="zh-CN" dirty="0">
                <a:solidFill>
                  <a:srgbClr val="C00000"/>
                </a:solidFill>
                <a:latin typeface="Times New Roman" panose="02020603050405020304" pitchFamily="18" charset="0"/>
                <a:cs typeface="Times New Roman" panose="02020603050405020304" pitchFamily="18" charset="0"/>
              </a:rPr>
              <a:t>P2 Port </a:t>
            </a:r>
            <a:r>
              <a:rPr lang="fr-FR" altLang="zh-CN" dirty="0">
                <a:latin typeface="Times New Roman" panose="02020603050405020304" pitchFamily="18" charset="0"/>
                <a:cs typeface="Times New Roman" panose="02020603050405020304" pitchFamily="18" charset="0"/>
              </a:rPr>
              <a:t>(8 pins): P2.0~P2.7</a:t>
            </a:r>
            <a:endParaRPr lang="en-US" altLang="zh-CN" dirty="0">
              <a:latin typeface="Times New Roman" panose="02020603050405020304" pitchFamily="18" charset="0"/>
              <a:cs typeface="Times New Roman" panose="02020603050405020304" pitchFamily="18" charset="0"/>
            </a:endParaRPr>
          </a:p>
          <a:p>
            <a:pPr lvl="1" algn="l" eaLnBrk="1" hangingPunct="1">
              <a:lnSpc>
                <a:spcPct val="90000"/>
              </a:lnSpc>
              <a:spcBef>
                <a:spcPct val="0"/>
              </a:spcBef>
            </a:pPr>
            <a:r>
              <a:rPr lang="fr-FR" altLang="zh-CN" dirty="0">
                <a:solidFill>
                  <a:srgbClr val="C00000"/>
                </a:solidFill>
                <a:latin typeface="Times New Roman" panose="02020603050405020304" pitchFamily="18" charset="0"/>
                <a:cs typeface="Times New Roman" panose="02020603050405020304" pitchFamily="18" charset="0"/>
              </a:rPr>
              <a:t>P3 Port </a:t>
            </a:r>
            <a:r>
              <a:rPr lang="fr-FR" altLang="zh-CN" dirty="0">
                <a:latin typeface="Times New Roman" panose="02020603050405020304" pitchFamily="18" charset="0"/>
                <a:cs typeface="Times New Roman" panose="02020603050405020304" pitchFamily="18" charset="0"/>
              </a:rPr>
              <a:t>(8 pins): P3.0~P3.7</a:t>
            </a:r>
            <a:endParaRPr lang="en-US" altLang="zh-CN" dirty="0">
              <a:latin typeface="Times New Roman" panose="02020603050405020304" pitchFamily="18" charset="0"/>
              <a:cs typeface="Times New Roman" panose="02020603050405020304" pitchFamily="18" charset="0"/>
            </a:endParaRPr>
          </a:p>
          <a:p>
            <a:pPr lvl="1" algn="l" eaLnBrk="1" hangingPunct="1">
              <a:lnSpc>
                <a:spcPct val="90000"/>
              </a:lnSpc>
              <a:spcBef>
                <a:spcPct val="0"/>
              </a:spcBef>
            </a:pPr>
            <a:r>
              <a:rPr lang="fr-FR" altLang="zh-CN" dirty="0">
                <a:solidFill>
                  <a:srgbClr val="C00000"/>
                </a:solidFill>
                <a:latin typeface="Times New Roman" panose="02020603050405020304" pitchFamily="18" charset="0"/>
                <a:cs typeface="Times New Roman" panose="02020603050405020304" pitchFamily="18" charset="0"/>
              </a:rPr>
              <a:t>P4 Port </a:t>
            </a:r>
            <a:r>
              <a:rPr lang="fr-FR" altLang="zh-CN" dirty="0">
                <a:latin typeface="Times New Roman" panose="02020603050405020304" pitchFamily="18" charset="0"/>
                <a:cs typeface="Times New Roman" panose="02020603050405020304" pitchFamily="18" charset="0"/>
              </a:rPr>
              <a:t>(8 pins): P4.0~P4.7</a:t>
            </a:r>
            <a:endParaRPr lang="en-US" altLang="zh-CN" dirty="0">
              <a:latin typeface="Times New Roman" panose="02020603050405020304" pitchFamily="18" charset="0"/>
              <a:cs typeface="Times New Roman" panose="02020603050405020304" pitchFamily="18" charset="0"/>
            </a:endParaRPr>
          </a:p>
          <a:p>
            <a:pPr lvl="1" algn="l" eaLnBrk="1" hangingPunct="1">
              <a:lnSpc>
                <a:spcPct val="90000"/>
              </a:lnSpc>
              <a:spcBef>
                <a:spcPct val="0"/>
              </a:spcBef>
            </a:pPr>
            <a:r>
              <a:rPr lang="fr-FR" altLang="zh-CN" dirty="0">
                <a:solidFill>
                  <a:srgbClr val="C00000"/>
                </a:solidFill>
                <a:latin typeface="Times New Roman" panose="02020603050405020304" pitchFamily="18" charset="0"/>
                <a:cs typeface="Times New Roman" panose="02020603050405020304" pitchFamily="18" charset="0"/>
              </a:rPr>
              <a:t>P5 Port </a:t>
            </a:r>
            <a:r>
              <a:rPr lang="fr-FR" altLang="zh-CN" dirty="0">
                <a:latin typeface="Times New Roman" panose="02020603050405020304" pitchFamily="18" charset="0"/>
                <a:cs typeface="Times New Roman" panose="02020603050405020304" pitchFamily="18" charset="0"/>
              </a:rPr>
              <a:t>(2 pins): P5.4, P5.5.</a:t>
            </a:r>
            <a:endParaRPr lang="zh-CN" altLang="en-US" dirty="0">
              <a:latin typeface="Times New Roman" panose="02020603050405020304" pitchFamily="18" charset="0"/>
              <a:cs typeface="Times New Roman" panose="02020603050405020304" pitchFamily="18" charset="0"/>
            </a:endParaRPr>
          </a:p>
        </p:txBody>
      </p:sp>
      <p:sp>
        <p:nvSpPr>
          <p:cNvPr id="6" name="Rectangle 3"/>
          <p:cNvSpPr txBox="1">
            <a:spLocks noChangeArrowheads="1"/>
          </p:cNvSpPr>
          <p:nvPr/>
        </p:nvSpPr>
        <p:spPr bwMode="auto">
          <a:xfrm>
            <a:off x="388620" y="4094480"/>
            <a:ext cx="8366760" cy="1775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2255" lvl="1" indent="-262255" algn="l" eaLnBrk="1" hangingPunct="1">
              <a:spcBef>
                <a:spcPts val="0"/>
              </a:spcBef>
              <a:spcAft>
                <a:spcPts val="600"/>
              </a:spcAft>
              <a:tabLst>
                <a:tab pos="261620" algn="l"/>
              </a:tabLst>
              <a:defRPr/>
            </a:pPr>
            <a:r>
              <a:rPr lang="en-US" altLang="zh-CN" sz="2000" kern="0" dirty="0">
                <a:solidFill>
                  <a:srgbClr val="FF0000"/>
                </a:solidFill>
                <a:latin typeface="Times New Roman" panose="02020603050405020304" pitchFamily="18" charset="0"/>
                <a:cs typeface="Times New Roman" panose="02020603050405020304" pitchFamily="18" charset="0"/>
              </a:rPr>
              <a:t>4 modes: </a:t>
            </a:r>
            <a:r>
              <a:rPr lang="en-US" altLang="zh-CN" sz="2000" kern="0" dirty="0">
                <a:solidFill>
                  <a:srgbClr val="0000CC"/>
                </a:solidFill>
                <a:latin typeface="Times New Roman" panose="02020603050405020304" pitchFamily="18" charset="0"/>
                <a:cs typeface="Times New Roman" panose="02020603050405020304" pitchFamily="18" charset="0"/>
              </a:rPr>
              <a:t>Quasi-bidirectional / Weak Pull-up</a:t>
            </a:r>
            <a:r>
              <a:rPr lang="en-US" altLang="zh-CN" sz="2000" kern="0" dirty="0">
                <a:latin typeface="Times New Roman" panose="02020603050405020304" pitchFamily="18" charset="0"/>
                <a:cs typeface="Times New Roman" panose="02020603050405020304" pitchFamily="18" charset="0"/>
              </a:rPr>
              <a:t>, </a:t>
            </a:r>
            <a:r>
              <a:rPr lang="en-US" altLang="zh-CN" sz="2000" kern="0" dirty="0">
                <a:solidFill>
                  <a:srgbClr val="FF00FF"/>
                </a:solidFill>
                <a:latin typeface="Times New Roman" panose="02020603050405020304" pitchFamily="18" charset="0"/>
                <a:cs typeface="Times New Roman" panose="02020603050405020304" pitchFamily="18" charset="0"/>
              </a:rPr>
              <a:t>Push-pull / Strong Pull-up</a:t>
            </a:r>
            <a:r>
              <a:rPr lang="en-US" altLang="zh-CN" sz="2000" kern="0" dirty="0">
                <a:latin typeface="Times New Roman" panose="02020603050405020304" pitchFamily="18" charset="0"/>
                <a:cs typeface="Times New Roman" panose="02020603050405020304" pitchFamily="18" charset="0"/>
              </a:rPr>
              <a:t>, </a:t>
            </a:r>
            <a:r>
              <a:rPr lang="en-US" altLang="zh-CN" sz="2000" kern="0" dirty="0">
                <a:solidFill>
                  <a:srgbClr val="C00000"/>
                </a:solidFill>
                <a:latin typeface="Times New Roman" panose="02020603050405020304" pitchFamily="18" charset="0"/>
                <a:cs typeface="Times New Roman" panose="02020603050405020304" pitchFamily="18" charset="0"/>
              </a:rPr>
              <a:t>Input / High-impedance</a:t>
            </a:r>
            <a:r>
              <a:rPr lang="en-US" altLang="zh-CN" sz="2000" kern="0" dirty="0">
                <a:latin typeface="Times New Roman" panose="02020603050405020304" pitchFamily="18" charset="0"/>
                <a:cs typeface="Times New Roman" panose="02020603050405020304" pitchFamily="18" charset="0"/>
              </a:rPr>
              <a:t>, and </a:t>
            </a:r>
            <a:r>
              <a:rPr lang="en-US" altLang="zh-CN" sz="2000" kern="0" dirty="0">
                <a:solidFill>
                  <a:srgbClr val="00B0F0"/>
                </a:solidFill>
                <a:latin typeface="Times New Roman" panose="02020603050405020304" pitchFamily="18" charset="0"/>
                <a:cs typeface="Times New Roman" panose="02020603050405020304" pitchFamily="18" charset="0"/>
              </a:rPr>
              <a:t>Open-drain modes</a:t>
            </a:r>
            <a:r>
              <a:rPr lang="en-US" altLang="zh-CN" sz="2000" kern="0" dirty="0">
                <a:latin typeface="Times New Roman" panose="02020603050405020304" pitchFamily="18" charset="0"/>
                <a:cs typeface="Times New Roman" panose="02020603050405020304" pitchFamily="18" charset="0"/>
              </a:rPr>
              <a:t>. After reset, it defaults to Quasi-bidirectional / Weak Pull-up mode.</a:t>
            </a:r>
            <a:endParaRPr lang="zh-CN" altLang="en-US" sz="2000" kern="0" dirty="0">
              <a:latin typeface="Times New Roman" panose="02020603050405020304" pitchFamily="18" charset="0"/>
              <a:cs typeface="Times New Roman" panose="02020603050405020304" pitchFamily="18" charset="0"/>
            </a:endParaRPr>
          </a:p>
          <a:p>
            <a:pPr marL="262255" lvl="1" indent="-262255" algn="l" eaLnBrk="1" hangingPunct="1">
              <a:spcBef>
                <a:spcPts val="0"/>
              </a:spcBef>
              <a:spcAft>
                <a:spcPts val="600"/>
              </a:spcAft>
              <a:tabLst>
                <a:tab pos="261620" algn="l"/>
              </a:tabLst>
              <a:defRPr/>
            </a:pPr>
            <a:r>
              <a:rPr lang="en-US" altLang="zh-CN" sz="2000" kern="0" dirty="0">
                <a:latin typeface="Times New Roman" panose="02020603050405020304" pitchFamily="18" charset="0"/>
                <a:cs typeface="Times New Roman" panose="02020603050405020304" pitchFamily="18" charset="0"/>
              </a:rPr>
              <a:t>The operating mode of each port is controlled by corresponding bits in </a:t>
            </a:r>
            <a:r>
              <a:rPr lang="en-US" altLang="zh-CN" sz="2000" kern="0" dirty="0">
                <a:solidFill>
                  <a:srgbClr val="C00000"/>
                </a:solidFill>
                <a:latin typeface="Times New Roman" panose="02020603050405020304" pitchFamily="18" charset="0"/>
                <a:cs typeface="Times New Roman" panose="02020603050405020304" pitchFamily="18" charset="0"/>
              </a:rPr>
              <a:t>2 control registers</a:t>
            </a:r>
            <a:r>
              <a:rPr lang="en-US" altLang="zh-CN" sz="2000" kern="0" dirty="0">
                <a:latin typeface="Times New Roman" panose="02020603050405020304" pitchFamily="18" charset="0"/>
                <a:cs typeface="Times New Roman" panose="02020603050405020304" pitchFamily="18" charset="0"/>
              </a:rPr>
              <a:t> (</a:t>
            </a:r>
            <a:r>
              <a:rPr lang="en-US" altLang="zh-CN" sz="2000" kern="0" dirty="0">
                <a:solidFill>
                  <a:srgbClr val="FF0000"/>
                </a:solidFill>
                <a:latin typeface="Times New Roman" panose="02020603050405020304" pitchFamily="18" charset="0"/>
                <a:cs typeface="Times New Roman" panose="02020603050405020304" pitchFamily="18" charset="0"/>
              </a:rPr>
              <a:t>PnM0 and PnM1</a:t>
            </a:r>
            <a:r>
              <a:rPr lang="en-US" altLang="zh-CN" sz="2000" kern="0" dirty="0">
                <a:latin typeface="Times New Roman" panose="02020603050405020304" pitchFamily="18" charset="0"/>
                <a:cs typeface="Times New Roman" panose="02020603050405020304" pitchFamily="18" charset="0"/>
              </a:rPr>
              <a:t>, where n=0, 1, 2, 3, 4, 5, 6, 7).</a:t>
            </a:r>
            <a:endParaRPr lang="zh-CN" altLang="en-US" sz="2000" kern="0" dirty="0">
              <a:latin typeface="Times New Roman" panose="02020603050405020304" pitchFamily="18" charset="0"/>
              <a:cs typeface="Times New Roman" panose="02020603050405020304" pitchFamily="18" charset="0"/>
            </a:endParaRPr>
          </a:p>
          <a:p>
            <a:pPr marL="262255" indent="-262255" algn="l" eaLnBrk="1" hangingPunct="1">
              <a:lnSpc>
                <a:spcPct val="100000"/>
              </a:lnSpc>
              <a:spcBef>
                <a:spcPts val="0"/>
              </a:spcBef>
              <a:buFontTx/>
              <a:buNone/>
              <a:tabLst>
                <a:tab pos="261620" algn="l"/>
              </a:tabLst>
              <a:defRPr/>
            </a:pPr>
            <a:endParaRPr lang="en-US" altLang="zh-CN" kern="0" dirty="0"/>
          </a:p>
        </p:txBody>
      </p:sp>
      <p:sp>
        <p:nvSpPr>
          <p:cNvPr id="5" name="矩形 4"/>
          <p:cNvSpPr>
            <a:spLocks noChangeArrowheads="1"/>
          </p:cNvSpPr>
          <p:nvPr/>
        </p:nvSpPr>
        <p:spPr bwMode="auto">
          <a:xfrm>
            <a:off x="655434" y="3465840"/>
            <a:ext cx="46009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FF0000"/>
                </a:solidFill>
              </a:rPr>
              <a:t>1. I/O Port Operating Modes</a:t>
            </a:r>
            <a:endParaRPr lang="zh-CN" altLang="en-US" sz="2800" b="1" dirty="0"/>
          </a:p>
        </p:txBody>
      </p:sp>
      <p:sp>
        <p:nvSpPr>
          <p:cNvPr id="3" name="灯片编号占位符 2"/>
          <p:cNvSpPr>
            <a:spLocks noGrp="1"/>
          </p:cNvSpPr>
          <p:nvPr>
            <p:ph type="sldNum" sz="quarter" idx="12"/>
          </p:nvPr>
        </p:nvSpPr>
        <p:spPr/>
        <p:txBody>
          <a:bodyPr/>
          <a:lstStyle/>
          <a:p>
            <a:fld id="{22E77DEE-32E4-4009-988B-F2758F7B8AC2}" type="slidenum">
              <a:rPr lang="zh-CN" altLang="en-US" smtClean="0"/>
              <a:t>52</a:t>
            </a:fld>
            <a:endParaRPr lang="zh-CN" altLang="en-US"/>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9" name="Rectangle 3"/>
          <p:cNvSpPr>
            <a:spLocks noGrp="1" noChangeArrowheads="1"/>
          </p:cNvSpPr>
          <p:nvPr>
            <p:ph idx="1"/>
          </p:nvPr>
        </p:nvSpPr>
        <p:spPr>
          <a:xfrm>
            <a:off x="731738" y="1240474"/>
            <a:ext cx="7496174" cy="1426209"/>
          </a:xfrm>
        </p:spPr>
        <p:txBody>
          <a:bodyPr>
            <a:normAutofit fontScale="92500" lnSpcReduction="10000"/>
          </a:bodyPr>
          <a:lstStyle/>
          <a:p>
            <a:pPr marL="262255" lvl="1" indent="-262255" eaLnBrk="1" hangingPunct="1"/>
            <a:r>
              <a:rPr lang="en-US" altLang="zh-CN" dirty="0">
                <a:latin typeface="Times New Roman" panose="02020603050405020304" pitchFamily="18" charset="0"/>
                <a:cs typeface="Times New Roman" panose="02020603050405020304" pitchFamily="18" charset="0"/>
              </a:rPr>
              <a:t>The quasi-bidirectional port has 3 pull-up field-effect transistors (FETs), </a:t>
            </a:r>
            <a:r>
              <a:rPr lang="en-US" altLang="zh-CN" dirty="0">
                <a:solidFill>
                  <a:srgbClr val="FF0000"/>
                </a:solidFill>
                <a:latin typeface="Times New Roman" panose="02020603050405020304" pitchFamily="18" charset="0"/>
                <a:cs typeface="Times New Roman" panose="02020603050405020304" pitchFamily="18" charset="0"/>
              </a:rPr>
              <a:t>T1, T2, T3</a:t>
            </a:r>
            <a:r>
              <a:rPr lang="en-US" altLang="zh-CN" dirty="0">
                <a:latin typeface="Times New Roman" panose="02020603050405020304" pitchFamily="18" charset="0"/>
                <a:cs typeface="Times New Roman" panose="02020603050405020304" pitchFamily="18" charset="0"/>
              </a:rPr>
              <a:t>, to suit different needs. Among them, </a:t>
            </a:r>
            <a:r>
              <a:rPr lang="en-US" altLang="zh-CN" dirty="0">
                <a:solidFill>
                  <a:srgbClr val="FF00FF"/>
                </a:solidFill>
                <a:latin typeface="Times New Roman" panose="02020603050405020304" pitchFamily="18" charset="0"/>
                <a:cs typeface="Times New Roman" panose="02020603050405020304" pitchFamily="18" charset="0"/>
              </a:rPr>
              <a:t>T1 is called strong pull-up</a:t>
            </a:r>
            <a:r>
              <a:rPr lang="en-US" altLang="zh-CN" dirty="0">
                <a:latin typeface="Times New Roman" panose="02020603050405020304" pitchFamily="18" charset="0"/>
                <a:cs typeface="Times New Roman" panose="02020603050405020304" pitchFamily="18" charset="0"/>
              </a:rPr>
              <a:t>, with a pull-up capability of up to 20mA; </a:t>
            </a:r>
            <a:r>
              <a:rPr lang="en-US" altLang="zh-CN" dirty="0">
                <a:solidFill>
                  <a:srgbClr val="FF00FF"/>
                </a:solidFill>
                <a:latin typeface="Times New Roman" panose="02020603050405020304" pitchFamily="18" charset="0"/>
                <a:cs typeface="Times New Roman" panose="02020603050405020304" pitchFamily="18" charset="0"/>
              </a:rPr>
              <a:t>T2 is called extremely weak pull-up</a:t>
            </a:r>
            <a:r>
              <a:rPr lang="en-US" altLang="zh-CN" dirty="0">
                <a:latin typeface="Times New Roman" panose="02020603050405020304" pitchFamily="18" charset="0"/>
                <a:cs typeface="Times New Roman" panose="02020603050405020304" pitchFamily="18" charset="0"/>
              </a:rPr>
              <a:t>, with a typical pull-up capability of 30µA; </a:t>
            </a:r>
            <a:r>
              <a:rPr lang="en-US" altLang="zh-CN" dirty="0">
                <a:solidFill>
                  <a:srgbClr val="FF00FF"/>
                </a:solidFill>
                <a:latin typeface="Times New Roman" panose="02020603050405020304" pitchFamily="18" charset="0"/>
                <a:cs typeface="Times New Roman" panose="02020603050405020304" pitchFamily="18" charset="0"/>
              </a:rPr>
              <a:t>T3 is called weak pull-up</a:t>
            </a:r>
            <a:r>
              <a:rPr lang="en-US" altLang="zh-CN" dirty="0">
                <a:latin typeface="Times New Roman" panose="02020603050405020304" pitchFamily="18" charset="0"/>
                <a:cs typeface="Times New Roman" panose="02020603050405020304" pitchFamily="18" charset="0"/>
              </a:rPr>
              <a:t>, with a typical pull-up capability of 150µA~250µA, a typical value being 200µA. </a:t>
            </a:r>
            <a:r>
              <a:rPr lang="en-US" altLang="zh-CN" dirty="0">
                <a:solidFill>
                  <a:srgbClr val="0000CC"/>
                </a:solidFill>
                <a:latin typeface="Times New Roman" panose="02020603050405020304" pitchFamily="18" charset="0"/>
                <a:cs typeface="Times New Roman" panose="02020603050405020304" pitchFamily="18" charset="0"/>
              </a:rPr>
              <a:t>When outputting a low level, the maximum sink current can reach 20mA.</a:t>
            </a:r>
            <a:endParaRPr lang="zh-CN" altLang="en-US" dirty="0">
              <a:solidFill>
                <a:srgbClr val="0000CC"/>
              </a:solidFill>
              <a:latin typeface="Times New Roman" panose="02020603050405020304" pitchFamily="18" charset="0"/>
              <a:cs typeface="Times New Roman" panose="02020603050405020304" pitchFamily="18" charset="0"/>
            </a:endParaRPr>
          </a:p>
        </p:txBody>
      </p:sp>
      <p:pic>
        <p:nvPicPr>
          <p:cNvPr id="6" name="Picture 189" descr="D:\DOCUME~1\ADMINI~1\LOCALS~1\Temp\HS5ClipImage_56b00a7d.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 y="2558098"/>
            <a:ext cx="8258175" cy="334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组合 6"/>
          <p:cNvGrpSpPr/>
          <p:nvPr/>
        </p:nvGrpSpPr>
        <p:grpSpPr bwMode="auto">
          <a:xfrm>
            <a:off x="4733323" y="2893093"/>
            <a:ext cx="3500689" cy="454895"/>
            <a:chOff x="4899218" y="2766063"/>
            <a:chExt cx="3501876" cy="455713"/>
          </a:xfrm>
        </p:grpSpPr>
        <p:sp>
          <p:nvSpPr>
            <p:cNvPr id="103456" name="矩形 7"/>
            <p:cNvSpPr>
              <a:spLocks noChangeArrowheads="1"/>
            </p:cNvSpPr>
            <p:nvPr/>
          </p:nvSpPr>
          <p:spPr bwMode="auto">
            <a:xfrm>
              <a:off x="4899218" y="2852814"/>
              <a:ext cx="801006" cy="36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0000"/>
                  </a:solidFill>
                </a:rPr>
                <a:t>strong</a:t>
              </a:r>
            </a:p>
          </p:txBody>
        </p:sp>
        <p:sp>
          <p:nvSpPr>
            <p:cNvPr id="103457" name="矩形 8"/>
            <p:cNvSpPr>
              <a:spLocks noChangeArrowheads="1"/>
            </p:cNvSpPr>
            <p:nvPr/>
          </p:nvSpPr>
          <p:spPr bwMode="auto">
            <a:xfrm>
              <a:off x="6159189" y="2766063"/>
              <a:ext cx="1180230" cy="36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0000"/>
                  </a:solidFill>
                </a:rPr>
                <a:t>very weak</a:t>
              </a:r>
            </a:p>
          </p:txBody>
        </p:sp>
        <p:sp>
          <p:nvSpPr>
            <p:cNvPr id="103458" name="矩形 9"/>
            <p:cNvSpPr>
              <a:spLocks noChangeArrowheads="1"/>
            </p:cNvSpPr>
            <p:nvPr/>
          </p:nvSpPr>
          <p:spPr bwMode="auto">
            <a:xfrm>
              <a:off x="7709980" y="2811513"/>
              <a:ext cx="691114" cy="36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0000"/>
                  </a:solidFill>
                </a:rPr>
                <a:t>weak</a:t>
              </a:r>
            </a:p>
          </p:txBody>
        </p:sp>
      </p:grpSp>
      <p:sp>
        <p:nvSpPr>
          <p:cNvPr id="11" name="矩形 10"/>
          <p:cNvSpPr>
            <a:spLocks noChangeArrowheads="1"/>
          </p:cNvSpPr>
          <p:nvPr/>
        </p:nvSpPr>
        <p:spPr bwMode="auto">
          <a:xfrm>
            <a:off x="121602" y="5011738"/>
            <a:ext cx="1951038"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dirty="0">
                <a:solidFill>
                  <a:srgbClr val="FF0000"/>
                </a:solidFill>
                <a:cs typeface="Times New Roman" panose="02020603050405020304" pitchFamily="18" charset="0"/>
              </a:rPr>
              <a:t>Any one port line of P0~P7</a:t>
            </a:r>
          </a:p>
        </p:txBody>
      </p:sp>
      <p:sp>
        <p:nvSpPr>
          <p:cNvPr id="17" name="任意多边形 16"/>
          <p:cNvSpPr/>
          <p:nvPr/>
        </p:nvSpPr>
        <p:spPr bwMode="auto">
          <a:xfrm>
            <a:off x="4718050" y="2978785"/>
            <a:ext cx="2916237" cy="919163"/>
          </a:xfrm>
          <a:custGeom>
            <a:avLst/>
            <a:gdLst>
              <a:gd name="T0" fmla="*/ 1500 w 1792757"/>
              <a:gd name="T1" fmla="*/ 0 h 683441"/>
              <a:gd name="T2" fmla="*/ 460921 w 1792757"/>
              <a:gd name="T3" fmla="*/ 810326 h 683441"/>
              <a:gd name="T4" fmla="*/ 2917061 w 1792757"/>
              <a:gd name="T5" fmla="*/ 888307 h 683441"/>
              <a:gd name="T6" fmla="*/ 0 60000 65536"/>
              <a:gd name="T7" fmla="*/ 0 60000 65536"/>
              <a:gd name="T8" fmla="*/ 0 60000 65536"/>
            </a:gdLst>
            <a:ahLst/>
            <a:cxnLst>
              <a:cxn ang="T6">
                <a:pos x="T0" y="T1"/>
              </a:cxn>
              <a:cxn ang="T7">
                <a:pos x="T2" y="T3"/>
              </a:cxn>
              <a:cxn ang="T8">
                <a:pos x="T4" y="T5"/>
              </a:cxn>
            </a:cxnLst>
            <a:rect l="0" t="0" r="r" b="b"/>
            <a:pathLst>
              <a:path w="1792757" h="683441">
                <a:moveTo>
                  <a:pt x="922" y="0"/>
                </a:moveTo>
                <a:cubicBezTo>
                  <a:pt x="-3046" y="292334"/>
                  <a:pt x="-7015" y="494432"/>
                  <a:pt x="283271" y="603289"/>
                </a:cubicBezTo>
                <a:cubicBezTo>
                  <a:pt x="573557" y="712146"/>
                  <a:pt x="1183157" y="686746"/>
                  <a:pt x="1792757" y="661346"/>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矩形 18"/>
          <p:cNvSpPr>
            <a:spLocks noChangeArrowheads="1"/>
          </p:cNvSpPr>
          <p:nvPr/>
        </p:nvSpPr>
        <p:spPr bwMode="auto">
          <a:xfrm>
            <a:off x="6062662" y="2645410"/>
            <a:ext cx="7731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0000"/>
                </a:solidFill>
                <a:cs typeface="Times New Roman" panose="02020603050405020304" pitchFamily="18" charset="0"/>
              </a:rPr>
              <a:t>30μA</a:t>
            </a:r>
            <a:endParaRPr lang="zh-CN" altLang="en-US" sz="2000" b="1">
              <a:solidFill>
                <a:srgbClr val="FF0000"/>
              </a:solidFill>
            </a:endParaRPr>
          </a:p>
        </p:txBody>
      </p:sp>
      <p:sp>
        <p:nvSpPr>
          <p:cNvPr id="20" name="矩形 19"/>
          <p:cNvSpPr>
            <a:spLocks noChangeArrowheads="1"/>
          </p:cNvSpPr>
          <p:nvPr/>
        </p:nvSpPr>
        <p:spPr bwMode="auto">
          <a:xfrm>
            <a:off x="4708842" y="2781935"/>
            <a:ext cx="841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0000"/>
                </a:solidFill>
                <a:cs typeface="Times New Roman" panose="02020603050405020304" pitchFamily="18" charset="0"/>
              </a:rPr>
              <a:t>20mA</a:t>
            </a:r>
            <a:endParaRPr lang="zh-CN" altLang="en-US" sz="2000" b="1">
              <a:solidFill>
                <a:srgbClr val="FF0000"/>
              </a:solidFill>
            </a:endParaRPr>
          </a:p>
        </p:txBody>
      </p:sp>
      <p:sp>
        <p:nvSpPr>
          <p:cNvPr id="21" name="矩形 20"/>
          <p:cNvSpPr>
            <a:spLocks noChangeArrowheads="1"/>
          </p:cNvSpPr>
          <p:nvPr/>
        </p:nvSpPr>
        <p:spPr bwMode="auto">
          <a:xfrm>
            <a:off x="7474902" y="2721293"/>
            <a:ext cx="9001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FF0000"/>
                </a:solidFill>
                <a:cs typeface="Times New Roman" panose="02020603050405020304" pitchFamily="18" charset="0"/>
              </a:rPr>
              <a:t>200μA</a:t>
            </a:r>
            <a:endParaRPr lang="zh-CN" altLang="en-US" sz="2000" b="1" dirty="0">
              <a:solidFill>
                <a:srgbClr val="FF0000"/>
              </a:solidFill>
            </a:endParaRPr>
          </a:p>
        </p:txBody>
      </p:sp>
      <p:grpSp>
        <p:nvGrpSpPr>
          <p:cNvPr id="26" name="组合 25"/>
          <p:cNvGrpSpPr/>
          <p:nvPr/>
        </p:nvGrpSpPr>
        <p:grpSpPr bwMode="auto">
          <a:xfrm>
            <a:off x="8297862" y="3875723"/>
            <a:ext cx="679450" cy="1843087"/>
            <a:chOff x="8330084" y="4626889"/>
            <a:chExt cx="679714" cy="1844515"/>
          </a:xfrm>
        </p:grpSpPr>
        <p:pic>
          <p:nvPicPr>
            <p:cNvPr id="103453" name="图片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0084" y="5211550"/>
              <a:ext cx="679714" cy="1259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3454" name="直接连接符 22"/>
            <p:cNvCxnSpPr/>
            <p:nvPr/>
          </p:nvCxnSpPr>
          <p:spPr bwMode="auto">
            <a:xfrm>
              <a:off x="8455741" y="4627084"/>
              <a:ext cx="234497" cy="0"/>
            </a:xfrm>
            <a:prstGeom prst="line">
              <a:avLst/>
            </a:prstGeom>
            <a:noFill/>
            <a:ln w="28575" algn="ctr">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3455" name="直接连接符 26"/>
            <p:cNvCxnSpPr>
              <a:endCxn id="103453" idx="0"/>
            </p:cNvCxnSpPr>
            <p:nvPr/>
          </p:nvCxnSpPr>
          <p:spPr bwMode="auto">
            <a:xfrm>
              <a:off x="8669941" y="4626889"/>
              <a:ext cx="0" cy="584661"/>
            </a:xfrm>
            <a:prstGeom prst="line">
              <a:avLst/>
            </a:prstGeom>
            <a:noFill/>
            <a:ln w="28575" algn="ctr">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1" name="任意多边形 30"/>
          <p:cNvSpPr/>
          <p:nvPr/>
        </p:nvSpPr>
        <p:spPr bwMode="auto">
          <a:xfrm>
            <a:off x="5935662" y="2950210"/>
            <a:ext cx="1722438" cy="947738"/>
          </a:xfrm>
          <a:custGeom>
            <a:avLst/>
            <a:gdLst>
              <a:gd name="T0" fmla="*/ 886 w 1792757"/>
              <a:gd name="T1" fmla="*/ 0 h 683441"/>
              <a:gd name="T2" fmla="*/ 272278 w 1792757"/>
              <a:gd name="T3" fmla="*/ 835600 h 683441"/>
              <a:gd name="T4" fmla="*/ 1723187 w 1792757"/>
              <a:gd name="T5" fmla="*/ 916013 h 683441"/>
              <a:gd name="T6" fmla="*/ 0 60000 65536"/>
              <a:gd name="T7" fmla="*/ 0 60000 65536"/>
              <a:gd name="T8" fmla="*/ 0 60000 65536"/>
            </a:gdLst>
            <a:ahLst/>
            <a:cxnLst>
              <a:cxn ang="T6">
                <a:pos x="T0" y="T1"/>
              </a:cxn>
              <a:cxn ang="T7">
                <a:pos x="T2" y="T3"/>
              </a:cxn>
              <a:cxn ang="T8">
                <a:pos x="T4" y="T5"/>
              </a:cxn>
            </a:cxnLst>
            <a:rect l="0" t="0" r="r" b="b"/>
            <a:pathLst>
              <a:path w="1792757" h="683441">
                <a:moveTo>
                  <a:pt x="922" y="0"/>
                </a:moveTo>
                <a:cubicBezTo>
                  <a:pt x="-3046" y="292334"/>
                  <a:pt x="-7015" y="494432"/>
                  <a:pt x="283271" y="603289"/>
                </a:cubicBezTo>
                <a:cubicBezTo>
                  <a:pt x="573557" y="712146"/>
                  <a:pt x="1183157" y="686746"/>
                  <a:pt x="1792757" y="661346"/>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任意多边形 31"/>
          <p:cNvSpPr/>
          <p:nvPr/>
        </p:nvSpPr>
        <p:spPr bwMode="auto">
          <a:xfrm>
            <a:off x="7408862" y="3069273"/>
            <a:ext cx="525463" cy="741362"/>
          </a:xfrm>
          <a:custGeom>
            <a:avLst/>
            <a:gdLst>
              <a:gd name="T0" fmla="*/ 270 w 1792757"/>
              <a:gd name="T1" fmla="*/ 0 h 683441"/>
              <a:gd name="T2" fmla="*/ 82849 w 1792757"/>
              <a:gd name="T3" fmla="*/ 654306 h 683441"/>
              <a:gd name="T4" fmla="*/ 524331 w 1792757"/>
              <a:gd name="T5" fmla="*/ 717273 h 683441"/>
              <a:gd name="T6" fmla="*/ 0 60000 65536"/>
              <a:gd name="T7" fmla="*/ 0 60000 65536"/>
              <a:gd name="T8" fmla="*/ 0 60000 65536"/>
            </a:gdLst>
            <a:ahLst/>
            <a:cxnLst>
              <a:cxn ang="T6">
                <a:pos x="T0" y="T1"/>
              </a:cxn>
              <a:cxn ang="T7">
                <a:pos x="T2" y="T3"/>
              </a:cxn>
              <a:cxn ang="T8">
                <a:pos x="T4" y="T5"/>
              </a:cxn>
            </a:cxnLst>
            <a:rect l="0" t="0" r="r" b="b"/>
            <a:pathLst>
              <a:path w="1792757" h="683441">
                <a:moveTo>
                  <a:pt x="922" y="0"/>
                </a:moveTo>
                <a:cubicBezTo>
                  <a:pt x="-3046" y="292334"/>
                  <a:pt x="-7015" y="494432"/>
                  <a:pt x="283271" y="603289"/>
                </a:cubicBezTo>
                <a:cubicBezTo>
                  <a:pt x="573557" y="712146"/>
                  <a:pt x="1183157" y="686746"/>
                  <a:pt x="1792757" y="661346"/>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16103" name="组合 516102"/>
          <p:cNvGrpSpPr/>
          <p:nvPr/>
        </p:nvGrpSpPr>
        <p:grpSpPr bwMode="auto">
          <a:xfrm>
            <a:off x="8415337" y="2407285"/>
            <a:ext cx="728663" cy="1473200"/>
            <a:chOff x="8466965" y="3159241"/>
            <a:chExt cx="728995" cy="1473352"/>
          </a:xfrm>
        </p:grpSpPr>
        <p:pic>
          <p:nvPicPr>
            <p:cNvPr id="103450" name="图片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77982" y="3159241"/>
              <a:ext cx="717978" cy="1295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3451" name="直接连接符 33"/>
            <p:cNvCxnSpPr>
              <a:cxnSpLocks noChangeShapeType="1"/>
            </p:cNvCxnSpPr>
            <p:nvPr/>
          </p:nvCxnSpPr>
          <p:spPr bwMode="auto">
            <a:xfrm flipV="1">
              <a:off x="8466965" y="4626889"/>
              <a:ext cx="286056" cy="912"/>
            </a:xfrm>
            <a:prstGeom prst="line">
              <a:avLst/>
            </a:prstGeom>
            <a:noFill/>
            <a:ln w="28575" algn="ctr">
              <a:solidFill>
                <a:srgbClr val="3333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3452" name="直接连接符 34"/>
            <p:cNvCxnSpPr>
              <a:cxnSpLocks noChangeShapeType="1"/>
            </p:cNvCxnSpPr>
            <p:nvPr/>
          </p:nvCxnSpPr>
          <p:spPr bwMode="auto">
            <a:xfrm flipV="1">
              <a:off x="8753021" y="4393765"/>
              <a:ext cx="4480" cy="238828"/>
            </a:xfrm>
            <a:prstGeom prst="line">
              <a:avLst/>
            </a:prstGeom>
            <a:noFill/>
            <a:ln w="28575" algn="ctr">
              <a:solidFill>
                <a:srgbClr val="3333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6" name="任意多边形 45"/>
          <p:cNvSpPr/>
          <p:nvPr/>
        </p:nvSpPr>
        <p:spPr bwMode="auto">
          <a:xfrm flipV="1">
            <a:off x="5948362" y="4013835"/>
            <a:ext cx="1765300" cy="665163"/>
          </a:xfrm>
          <a:custGeom>
            <a:avLst/>
            <a:gdLst>
              <a:gd name="T0" fmla="*/ 5863 w 1797807"/>
              <a:gd name="T1" fmla="*/ 0 h 699131"/>
              <a:gd name="T2" fmla="*/ 236351 w 1797807"/>
              <a:gd name="T3" fmla="*/ 608961 h 699131"/>
              <a:gd name="T4" fmla="*/ 1764889 w 1797807"/>
              <a:gd name="T5" fmla="*/ 664273 h 699131"/>
              <a:gd name="T6" fmla="*/ 0 60000 65536"/>
              <a:gd name="T7" fmla="*/ 0 60000 65536"/>
              <a:gd name="T8" fmla="*/ 0 60000 65536"/>
            </a:gdLst>
            <a:ahLst/>
            <a:cxnLst>
              <a:cxn ang="T6">
                <a:pos x="T0" y="T1"/>
              </a:cxn>
              <a:cxn ang="T7">
                <a:pos x="T2" y="T3"/>
              </a:cxn>
              <a:cxn ang="T8">
                <a:pos x="T4" y="T5"/>
              </a:cxn>
            </a:cxnLst>
            <a:rect l="0" t="0" r="r" b="b"/>
            <a:pathLst>
              <a:path w="1797807" h="699131">
                <a:moveTo>
                  <a:pt x="5972" y="0"/>
                </a:moveTo>
                <a:cubicBezTo>
                  <a:pt x="2004" y="292334"/>
                  <a:pt x="-49527" y="602063"/>
                  <a:pt x="240759" y="639167"/>
                </a:cubicBezTo>
                <a:cubicBezTo>
                  <a:pt x="531045" y="712147"/>
                  <a:pt x="1223877" y="698705"/>
                  <a:pt x="1797807" y="697223"/>
                </a:cubicBezTo>
              </a:path>
            </a:pathLst>
          </a:custGeom>
          <a:noFill/>
          <a:ln w="19050" cap="flat" cmpd="sng" algn="ctr">
            <a:solidFill>
              <a:srgbClr val="3333FF"/>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矩形 46"/>
          <p:cNvSpPr>
            <a:spLocks noChangeArrowheads="1"/>
          </p:cNvSpPr>
          <p:nvPr/>
        </p:nvSpPr>
        <p:spPr bwMode="auto">
          <a:xfrm>
            <a:off x="6530975" y="4064635"/>
            <a:ext cx="8397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3333FF"/>
                </a:solidFill>
                <a:cs typeface="Times New Roman" panose="02020603050405020304" pitchFamily="18" charset="0"/>
              </a:rPr>
              <a:t>20mA</a:t>
            </a:r>
            <a:endParaRPr lang="zh-CN" altLang="en-US" sz="2000" b="1">
              <a:solidFill>
                <a:srgbClr val="3333FF"/>
              </a:solidFill>
            </a:endParaRPr>
          </a:p>
        </p:txBody>
      </p:sp>
      <p:sp>
        <p:nvSpPr>
          <p:cNvPr id="48" name="矩形 47"/>
          <p:cNvSpPr>
            <a:spLocks noChangeArrowheads="1"/>
          </p:cNvSpPr>
          <p:nvPr/>
        </p:nvSpPr>
        <p:spPr bwMode="auto">
          <a:xfrm>
            <a:off x="1451928" y="3968591"/>
            <a:ext cx="3635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FF0000"/>
                </a:solidFill>
                <a:cs typeface="Times New Roman" panose="02020603050405020304" pitchFamily="18" charset="0"/>
              </a:rPr>
              <a:t>1</a:t>
            </a:r>
            <a:endParaRPr lang="zh-CN" altLang="en-US" sz="2800" b="1" dirty="0">
              <a:solidFill>
                <a:srgbClr val="FF0000"/>
              </a:solidFill>
            </a:endParaRPr>
          </a:p>
        </p:txBody>
      </p:sp>
      <p:sp>
        <p:nvSpPr>
          <p:cNvPr id="49" name="矩形 48"/>
          <p:cNvSpPr>
            <a:spLocks noChangeArrowheads="1"/>
          </p:cNvSpPr>
          <p:nvPr/>
        </p:nvSpPr>
        <p:spPr bwMode="auto">
          <a:xfrm>
            <a:off x="5191125" y="4309110"/>
            <a:ext cx="36353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FF0000"/>
                </a:solidFill>
                <a:cs typeface="Times New Roman" panose="02020603050405020304" pitchFamily="18" charset="0"/>
              </a:rPr>
              <a:t>0</a:t>
            </a:r>
            <a:endParaRPr lang="zh-CN" altLang="en-US" sz="2800" b="1">
              <a:solidFill>
                <a:srgbClr val="FF0000"/>
              </a:solidFill>
            </a:endParaRPr>
          </a:p>
        </p:txBody>
      </p:sp>
      <p:sp>
        <p:nvSpPr>
          <p:cNvPr id="50" name="矩形 49"/>
          <p:cNvSpPr>
            <a:spLocks noChangeArrowheads="1"/>
          </p:cNvSpPr>
          <p:nvPr/>
        </p:nvSpPr>
        <p:spPr bwMode="auto">
          <a:xfrm>
            <a:off x="7361237" y="3880485"/>
            <a:ext cx="3651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FF0000"/>
                </a:solidFill>
                <a:cs typeface="Times New Roman" panose="02020603050405020304" pitchFamily="18" charset="0"/>
              </a:rPr>
              <a:t>1</a:t>
            </a:r>
            <a:endParaRPr lang="zh-CN" altLang="en-US" sz="2800" b="1">
              <a:solidFill>
                <a:srgbClr val="FF0000"/>
              </a:solidFill>
            </a:endParaRPr>
          </a:p>
        </p:txBody>
      </p:sp>
      <p:sp>
        <p:nvSpPr>
          <p:cNvPr id="51" name="矩形 50"/>
          <p:cNvSpPr>
            <a:spLocks noChangeArrowheads="1"/>
          </p:cNvSpPr>
          <p:nvPr/>
        </p:nvSpPr>
        <p:spPr bwMode="auto">
          <a:xfrm>
            <a:off x="7469187" y="4105910"/>
            <a:ext cx="3540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3333FF"/>
                </a:solidFill>
                <a:cs typeface="Times New Roman" panose="02020603050405020304" pitchFamily="18" charset="0"/>
              </a:rPr>
              <a:t>0</a:t>
            </a:r>
            <a:endParaRPr lang="zh-CN" altLang="en-US" sz="2800" b="1">
              <a:solidFill>
                <a:srgbClr val="3333FF"/>
              </a:solidFill>
            </a:endParaRPr>
          </a:p>
        </p:txBody>
      </p:sp>
      <p:sp>
        <p:nvSpPr>
          <p:cNvPr id="52" name="矩形 51"/>
          <p:cNvSpPr>
            <a:spLocks noChangeArrowheads="1"/>
          </p:cNvSpPr>
          <p:nvPr/>
        </p:nvSpPr>
        <p:spPr bwMode="auto">
          <a:xfrm>
            <a:off x="6061921" y="4767103"/>
            <a:ext cx="3635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3333FF"/>
                </a:solidFill>
                <a:cs typeface="Times New Roman" panose="02020603050405020304" pitchFamily="18" charset="0"/>
              </a:rPr>
              <a:t>1</a:t>
            </a:r>
            <a:endParaRPr lang="zh-CN" altLang="en-US" sz="2800" b="1" dirty="0">
              <a:solidFill>
                <a:srgbClr val="3333FF"/>
              </a:solidFill>
            </a:endParaRPr>
          </a:p>
        </p:txBody>
      </p:sp>
      <p:sp>
        <p:nvSpPr>
          <p:cNvPr id="53" name="矩形 52"/>
          <p:cNvSpPr>
            <a:spLocks noChangeArrowheads="1"/>
          </p:cNvSpPr>
          <p:nvPr/>
        </p:nvSpPr>
        <p:spPr bwMode="auto">
          <a:xfrm>
            <a:off x="3656012" y="4776083"/>
            <a:ext cx="3556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3333FF"/>
                </a:solidFill>
                <a:cs typeface="Times New Roman" panose="02020603050405020304" pitchFamily="18" charset="0"/>
              </a:rPr>
              <a:t>0</a:t>
            </a:r>
            <a:endParaRPr lang="zh-CN" altLang="en-US" sz="2800" b="1" dirty="0">
              <a:solidFill>
                <a:srgbClr val="3333FF"/>
              </a:solidFill>
            </a:endParaRPr>
          </a:p>
        </p:txBody>
      </p:sp>
      <p:sp>
        <p:nvSpPr>
          <p:cNvPr id="3" name="灯片编号占位符 2"/>
          <p:cNvSpPr>
            <a:spLocks noGrp="1"/>
          </p:cNvSpPr>
          <p:nvPr>
            <p:ph type="sldNum" sz="quarter" idx="12"/>
          </p:nvPr>
        </p:nvSpPr>
        <p:spPr/>
        <p:txBody>
          <a:bodyPr/>
          <a:lstStyle/>
          <a:p>
            <a:fld id="{22E77DEE-32E4-4009-988B-F2758F7B8AC2}" type="slidenum">
              <a:rPr lang="zh-CN" altLang="en-US" smtClean="0"/>
              <a:t>53</a:t>
            </a:fld>
            <a:endParaRPr lang="zh-CN" altLang="en-US"/>
          </a:p>
        </p:txBody>
      </p:sp>
      <p:sp>
        <p:nvSpPr>
          <p:cNvPr id="9" name="标题 3"/>
          <p:cNvSpPr>
            <a:spLocks noGrp="1" noChangeArrowheads="1"/>
          </p:cNvSpPr>
          <p:nvPr>
            <p:ph type="title"/>
          </p:nvPr>
        </p:nvSpPr>
        <p:spPr>
          <a:xfrm>
            <a:off x="374650" y="150914"/>
            <a:ext cx="8656003" cy="1045744"/>
          </a:xfrm>
        </p:spPr>
        <p:txBody>
          <a:bodyPr>
            <a:noAutofit/>
          </a:bodyPr>
          <a:lstStyle/>
          <a:p>
            <a:pPr eaLnBrk="1" hangingPunct="1"/>
            <a:r>
              <a:rPr lang="en-US" altLang="zh-CN" sz="3600" dirty="0">
                <a:solidFill>
                  <a:srgbClr val="FF0000"/>
                </a:solidFill>
              </a:rPr>
              <a:t>(1)Structure of the dual-directional (</a:t>
            </a:r>
            <a:r>
              <a:rPr lang="en-US" altLang="zh-CN" sz="3600" dirty="0">
                <a:solidFill>
                  <a:schemeClr val="tx1"/>
                </a:solidFill>
              </a:rPr>
              <a:t>weak pull-up</a:t>
            </a:r>
            <a:r>
              <a:rPr lang="en-US" altLang="zh-CN" sz="3600" dirty="0">
                <a:solidFill>
                  <a:srgbClr val="FF0000"/>
                </a:solidFill>
              </a:rPr>
              <a:t>) </a:t>
            </a:r>
            <a:r>
              <a:rPr lang="en-US" altLang="zh-CN" sz="3600" dirty="0">
                <a:solidFill>
                  <a:srgbClr val="0000CC"/>
                </a:solidFill>
              </a:rPr>
              <a:t>working mode</a:t>
            </a:r>
            <a:endParaRPr lang="zh-CN" altLang="en-US" sz="3600" dirty="0">
              <a:solidFill>
                <a:srgbClr val="0000CC"/>
              </a:solidFill>
            </a:endParaRPr>
          </a:p>
        </p:txBody>
      </p:sp>
      <p:sp>
        <p:nvSpPr>
          <p:cNvPr id="2" name="文本框 1"/>
          <p:cNvSpPr txBox="1"/>
          <p:nvPr/>
        </p:nvSpPr>
        <p:spPr>
          <a:xfrm>
            <a:off x="-48895" y="4364990"/>
            <a:ext cx="1102995" cy="583565"/>
          </a:xfrm>
          <a:prstGeom prst="rect">
            <a:avLst/>
          </a:prstGeom>
        </p:spPr>
        <p:txBody>
          <a:bodyPr wrap="square">
            <a:spAutoFit/>
          </a:bodyPr>
          <a:lstStyle/>
          <a:p>
            <a:pPr algn="ctr"/>
            <a:r>
              <a:rPr lang="en-US" altLang="zh-CN" sz="1600"/>
              <a:t>Port Data Latch</a:t>
            </a:r>
          </a:p>
        </p:txBody>
      </p:sp>
      <p:sp>
        <p:nvSpPr>
          <p:cNvPr id="5" name="文本框 4"/>
          <p:cNvSpPr txBox="1"/>
          <p:nvPr/>
        </p:nvSpPr>
        <p:spPr>
          <a:xfrm>
            <a:off x="2760345" y="5416550"/>
            <a:ext cx="3048000" cy="368300"/>
          </a:xfrm>
          <a:prstGeom prst="rect">
            <a:avLst/>
          </a:prstGeom>
          <a:noFill/>
        </p:spPr>
        <p:txBody>
          <a:bodyPr wrap="square" rtlCol="0">
            <a:spAutoFit/>
          </a:bodyPr>
          <a:lstStyle/>
          <a:p>
            <a:r>
              <a:rPr lang="en-US" altLang="zh-CN"/>
              <a:t>input data </a:t>
            </a:r>
          </a:p>
        </p:txBody>
      </p:sp>
      <p:sp>
        <p:nvSpPr>
          <p:cNvPr id="10" name="文本框 9"/>
          <p:cNvSpPr txBox="1"/>
          <p:nvPr/>
        </p:nvSpPr>
        <p:spPr>
          <a:xfrm>
            <a:off x="5854700" y="5840730"/>
            <a:ext cx="2802890" cy="337185"/>
          </a:xfrm>
          <a:prstGeom prst="rect">
            <a:avLst/>
          </a:prstGeom>
        </p:spPr>
        <p:txBody>
          <a:bodyPr wrap="square">
            <a:spAutoFit/>
          </a:bodyPr>
          <a:lstStyle/>
          <a:p>
            <a:r>
              <a:rPr lang="en-US" altLang="zh-CN" sz="1600"/>
              <a:t>Interference Suppression Filter</a:t>
            </a:r>
          </a:p>
        </p:txBody>
      </p:sp>
      <p:sp>
        <p:nvSpPr>
          <p:cNvPr id="4" name="文本框 3"/>
          <p:cNvSpPr txBox="1"/>
          <p:nvPr/>
        </p:nvSpPr>
        <p:spPr>
          <a:xfrm>
            <a:off x="7625080" y="4244340"/>
            <a:ext cx="3048000" cy="368300"/>
          </a:xfrm>
          <a:prstGeom prst="rect">
            <a:avLst/>
          </a:prstGeom>
          <a:noFill/>
        </p:spPr>
        <p:txBody>
          <a:bodyPr wrap="square" rtlCol="0">
            <a:spAutoFit/>
          </a:bodyPr>
          <a:lstStyle/>
          <a:p>
            <a:r>
              <a:rPr lang="en-US" altLang="zh-CN"/>
              <a:t>Port Pin</a:t>
            </a:r>
          </a:p>
        </p:txBody>
      </p:sp>
      <p:sp>
        <p:nvSpPr>
          <p:cNvPr id="12" name="文本框 11"/>
          <p:cNvSpPr txBox="1"/>
          <p:nvPr/>
        </p:nvSpPr>
        <p:spPr>
          <a:xfrm>
            <a:off x="2170430" y="3562985"/>
            <a:ext cx="3048000" cy="583565"/>
          </a:xfrm>
          <a:prstGeom prst="rect">
            <a:avLst/>
          </a:prstGeom>
          <a:noFill/>
        </p:spPr>
        <p:txBody>
          <a:bodyPr wrap="square" rtlCol="0">
            <a:spAutoFit/>
          </a:bodyPr>
          <a:lstStyle/>
          <a:p>
            <a:r>
              <a:rPr lang="en-US" altLang="zh-CN" sz="1600"/>
              <a:t>2 CPU clock</a:t>
            </a:r>
          </a:p>
          <a:p>
            <a:r>
              <a:rPr lang="en-US" altLang="zh-CN" sz="1600"/>
              <a:t>delays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9" name="Rectangle 3"/>
          <p:cNvSpPr>
            <a:spLocks noGrp="1" noChangeArrowheads="1"/>
          </p:cNvSpPr>
          <p:nvPr>
            <p:ph idx="1"/>
          </p:nvPr>
        </p:nvSpPr>
        <p:spPr>
          <a:xfrm>
            <a:off x="233311" y="1543618"/>
            <a:ext cx="8777288" cy="2520167"/>
          </a:xfrm>
        </p:spPr>
        <p:txBody>
          <a:bodyPr/>
          <a:lstStyle/>
          <a:p>
            <a:pPr marL="262255" lvl="1" indent="-262255" algn="l" eaLnBrk="1" hangingPunct="1">
              <a:lnSpc>
                <a:spcPct val="90000"/>
              </a:lnSpc>
              <a:spcBef>
                <a:spcPct val="0"/>
              </a:spcBef>
              <a:spcAft>
                <a:spcPts val="200"/>
              </a:spcAft>
            </a:pPr>
            <a:r>
              <a:rPr lang="en-US" altLang="zh-CN" dirty="0">
                <a:solidFill>
                  <a:srgbClr val="FF0000"/>
                </a:solidFill>
                <a:latin typeface="Times New Roman" panose="02020603050405020304" pitchFamily="18" charset="0"/>
                <a:cs typeface="Times New Roman" panose="02020603050405020304" pitchFamily="18" charset="0"/>
              </a:rPr>
              <a:t>Each port contains a latch, which is a </a:t>
            </a:r>
            <a:r>
              <a:rPr lang="en-US" altLang="zh-CN" dirty="0">
                <a:solidFill>
                  <a:srgbClr val="00B0F0"/>
                </a:solidFill>
                <a:latin typeface="Times New Roman" panose="02020603050405020304" pitchFamily="18" charset="0"/>
                <a:cs typeface="Times New Roman" panose="02020603050405020304" pitchFamily="18" charset="0"/>
              </a:rPr>
              <a:t>Special Function Register</a:t>
            </a:r>
            <a:r>
              <a:rPr lang="en-US" altLang="zh-CN" dirty="0">
                <a:solidFill>
                  <a:srgbClr val="FF0000"/>
                </a:solidFill>
                <a:latin typeface="Times New Roman" panose="02020603050405020304" pitchFamily="18" charset="0"/>
                <a:cs typeface="Times New Roman" panose="02020603050405020304" pitchFamily="18" charset="0"/>
              </a:rPr>
              <a:t> P0~P7</a:t>
            </a:r>
            <a:r>
              <a:rPr lang="en-US" altLang="zh-CN" dirty="0">
                <a:latin typeface="Times New Roman" panose="02020603050405020304" pitchFamily="18" charset="0"/>
                <a:cs typeface="Times New Roman" panose="02020603050405020304" pitchFamily="18" charset="0"/>
              </a:rPr>
              <a:t>.</a:t>
            </a:r>
            <a:r>
              <a:rPr lang="en-US" altLang="zh-CN" dirty="0">
                <a:solidFill>
                  <a:srgbClr val="0000CC"/>
                </a:solidFill>
                <a:latin typeface="Times New Roman" panose="02020603050405020304" pitchFamily="18" charset="0"/>
                <a:cs typeface="Times New Roman" panose="02020603050405020304" pitchFamily="18" charset="0"/>
              </a:rPr>
              <a:t> This structure provides a latching function during data output</a:t>
            </a:r>
            <a:r>
              <a:rPr lang="en-US" altLang="zh-CN" dirty="0">
                <a:latin typeface="Times New Roman" panose="02020603050405020304" pitchFamily="18" charset="0"/>
                <a:cs typeface="Times New Roman" panose="02020603050405020304" pitchFamily="18" charset="0"/>
              </a:rPr>
              <a:t>, meaning the data on the port line remains unchanged until new data is re-outputted.</a:t>
            </a:r>
          </a:p>
          <a:p>
            <a:pPr marL="262255" lvl="1" indent="-262255" eaLnBrk="1" hangingPunct="1">
              <a:lnSpc>
                <a:spcPct val="90000"/>
              </a:lnSpc>
              <a:spcBef>
                <a:spcPct val="0"/>
              </a:spcBef>
              <a:spcAft>
                <a:spcPts val="200"/>
              </a:spcAft>
            </a:pPr>
            <a:r>
              <a:rPr lang="en-US" altLang="zh-CN" dirty="0">
                <a:latin typeface="Times New Roman" panose="02020603050405020304" pitchFamily="18" charset="0"/>
                <a:cs typeface="Times New Roman" panose="02020603050405020304" pitchFamily="18" charset="0"/>
              </a:rPr>
              <a:t>However, </a:t>
            </a:r>
            <a:r>
              <a:rPr lang="en-US" altLang="zh-CN" dirty="0">
                <a:solidFill>
                  <a:srgbClr val="0000CC"/>
                </a:solidFill>
                <a:latin typeface="Times New Roman" panose="02020603050405020304" pitchFamily="18" charset="0"/>
                <a:cs typeface="Times New Roman" panose="02020603050405020304" pitchFamily="18" charset="0"/>
              </a:rPr>
              <a:t>input signals are not latched</a:t>
            </a:r>
            <a:r>
              <a:rPr lang="en-US" altLang="zh-CN" dirty="0">
                <a:latin typeface="Times New Roman" panose="02020603050405020304" pitchFamily="18" charset="0"/>
                <a:cs typeface="Times New Roman" panose="02020603050405020304" pitchFamily="18" charset="0"/>
              </a:rPr>
              <a:t>, so data input from peripheral devices must be maintained until the data read instruction is executed.</a:t>
            </a:r>
          </a:p>
        </p:txBody>
      </p:sp>
      <p:pic>
        <p:nvPicPr>
          <p:cNvPr id="7" name="Picture 189" descr="D:\DOCUME~1\ADMINI~1\LOCALS~1\Temp\HS5ClipImage_56b00a7d.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959" y="3222782"/>
            <a:ext cx="8258175" cy="301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a:spLocks noChangeArrowheads="1"/>
          </p:cNvSpPr>
          <p:nvPr/>
        </p:nvSpPr>
        <p:spPr bwMode="auto">
          <a:xfrm>
            <a:off x="42862" y="5154770"/>
            <a:ext cx="20066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a:solidFill>
                  <a:srgbClr val="FF0000"/>
                </a:solidFill>
                <a:cs typeface="Times New Roman" panose="02020603050405020304" pitchFamily="18" charset="0"/>
              </a:rPr>
              <a:t>P0</a:t>
            </a:r>
            <a:r>
              <a:rPr lang="zh-CN" altLang="en-US" sz="2400">
                <a:solidFill>
                  <a:srgbClr val="FF0000"/>
                </a:solidFill>
                <a:cs typeface="Times New Roman" panose="02020603050405020304" pitchFamily="18" charset="0"/>
              </a:rPr>
              <a:t>～</a:t>
            </a:r>
            <a:r>
              <a:rPr lang="en-US" altLang="zh-CN" sz="2400">
                <a:solidFill>
                  <a:srgbClr val="FF0000"/>
                </a:solidFill>
                <a:cs typeface="Times New Roman" panose="02020603050405020304" pitchFamily="18" charset="0"/>
              </a:rPr>
              <a:t>P7</a:t>
            </a:r>
            <a:r>
              <a:rPr lang="zh-CN" altLang="en-US" sz="2400">
                <a:solidFill>
                  <a:srgbClr val="FF0000"/>
                </a:solidFill>
                <a:cs typeface="Times New Roman" panose="02020603050405020304" pitchFamily="18" charset="0"/>
              </a:rPr>
              <a:t>口的任一位口线</a:t>
            </a:r>
            <a:endParaRPr lang="zh-CN" altLang="en-US" sz="2400">
              <a:cs typeface="Times New Roman" panose="02020603050405020304" pitchFamily="18" charset="0"/>
            </a:endParaRPr>
          </a:p>
        </p:txBody>
      </p:sp>
      <p:sp>
        <p:nvSpPr>
          <p:cNvPr id="6" name="Rectangle 3"/>
          <p:cNvSpPr txBox="1">
            <a:spLocks noChangeArrowheads="1"/>
          </p:cNvSpPr>
          <p:nvPr/>
        </p:nvSpPr>
        <p:spPr bwMode="auto">
          <a:xfrm>
            <a:off x="131762" y="2766834"/>
            <a:ext cx="8980386" cy="605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3"/>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4"/>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2255" lvl="1" indent="-262255" algn="l" eaLnBrk="1" hangingPunct="1">
              <a:lnSpc>
                <a:spcPct val="90000"/>
              </a:lnSpc>
              <a:spcBef>
                <a:spcPts val="0"/>
              </a:spcBef>
              <a:spcAft>
                <a:spcPts val="0"/>
              </a:spcAft>
              <a:defRPr/>
            </a:pPr>
            <a:r>
              <a:rPr lang="en-US" altLang="zh-CN" sz="2000" kern="0" dirty="0">
                <a:latin typeface="Times New Roman" panose="02020603050405020304" pitchFamily="18" charset="0"/>
                <a:cs typeface="Times New Roman" panose="02020603050405020304" pitchFamily="18" charset="0"/>
              </a:rPr>
              <a:t>For convenience in description, from now on, </a:t>
            </a:r>
            <a:r>
              <a:rPr lang="en-US" altLang="zh-CN" sz="2000" kern="0" dirty="0">
                <a:solidFill>
                  <a:srgbClr val="FF0000"/>
                </a:solidFill>
                <a:latin typeface="Times New Roman" panose="02020603050405020304" pitchFamily="18" charset="0"/>
                <a:cs typeface="Times New Roman" panose="02020603050405020304" pitchFamily="18" charset="0"/>
              </a:rPr>
              <a:t>all 8 port pins </a:t>
            </a:r>
            <a:r>
              <a:rPr lang="en-US" altLang="zh-CN" sz="2000" kern="0" dirty="0">
                <a:solidFill>
                  <a:srgbClr val="FF00FF"/>
                </a:solidFill>
                <a:latin typeface="Times New Roman" panose="02020603050405020304" pitchFamily="18" charset="0"/>
                <a:cs typeface="Times New Roman" panose="02020603050405020304" pitchFamily="18" charset="0"/>
              </a:rPr>
              <a:t>and their latches </a:t>
            </a:r>
            <a:r>
              <a:rPr lang="en-US" altLang="zh-CN" sz="2000" kern="0" dirty="0">
                <a:solidFill>
                  <a:srgbClr val="FF0000"/>
                </a:solidFill>
                <a:latin typeface="Times New Roman" panose="02020603050405020304" pitchFamily="18" charset="0"/>
                <a:cs typeface="Times New Roman" panose="02020603050405020304" pitchFamily="18" charset="0"/>
              </a:rPr>
              <a:t>will be referred to as P0~P7.</a:t>
            </a:r>
            <a:endParaRPr lang="zh-CN" altLang="en-US" sz="2000" kern="0" dirty="0">
              <a:solidFill>
                <a:srgbClr val="FF0000"/>
              </a:solidFill>
              <a:latin typeface="Times New Roman" panose="02020603050405020304" pitchFamily="18" charset="0"/>
              <a:cs typeface="Times New Roman" panose="02020603050405020304" pitchFamily="18" charset="0"/>
            </a:endParaRPr>
          </a:p>
        </p:txBody>
      </p:sp>
      <p:grpSp>
        <p:nvGrpSpPr>
          <p:cNvPr id="9" name="组合 8"/>
          <p:cNvGrpSpPr/>
          <p:nvPr/>
        </p:nvGrpSpPr>
        <p:grpSpPr bwMode="auto">
          <a:xfrm>
            <a:off x="8423274" y="3064032"/>
            <a:ext cx="681038" cy="1412875"/>
            <a:chOff x="8466965" y="3220133"/>
            <a:chExt cx="682399" cy="1412460"/>
          </a:xfrm>
        </p:grpSpPr>
        <p:pic>
          <p:nvPicPr>
            <p:cNvPr id="105528" name="图片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89545" y="3220133"/>
              <a:ext cx="659819" cy="119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5529" name="直接连接符 10"/>
            <p:cNvCxnSpPr>
              <a:cxnSpLocks noChangeShapeType="1"/>
            </p:cNvCxnSpPr>
            <p:nvPr/>
          </p:nvCxnSpPr>
          <p:spPr bwMode="auto">
            <a:xfrm flipV="1">
              <a:off x="8466965" y="4626889"/>
              <a:ext cx="286056" cy="912"/>
            </a:xfrm>
            <a:prstGeom prst="line">
              <a:avLst/>
            </a:prstGeom>
            <a:noFill/>
            <a:ln w="28575" algn="ctr">
              <a:solidFill>
                <a:srgbClr val="3333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5530" name="直接连接符 11"/>
            <p:cNvCxnSpPr>
              <a:cxnSpLocks noChangeShapeType="1"/>
            </p:cNvCxnSpPr>
            <p:nvPr/>
          </p:nvCxnSpPr>
          <p:spPr bwMode="auto">
            <a:xfrm flipV="1">
              <a:off x="8742004" y="4393765"/>
              <a:ext cx="4480" cy="238828"/>
            </a:xfrm>
            <a:prstGeom prst="line">
              <a:avLst/>
            </a:prstGeom>
            <a:noFill/>
            <a:ln w="28575" algn="ctr">
              <a:solidFill>
                <a:srgbClr val="3333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3" name="任意多边形 12"/>
          <p:cNvSpPr/>
          <p:nvPr/>
        </p:nvSpPr>
        <p:spPr bwMode="auto">
          <a:xfrm flipV="1">
            <a:off x="5967412" y="4575332"/>
            <a:ext cx="1763712" cy="604838"/>
          </a:xfrm>
          <a:custGeom>
            <a:avLst/>
            <a:gdLst>
              <a:gd name="T0" fmla="*/ 5863 w 1797807"/>
              <a:gd name="T1" fmla="*/ 0 h 699131"/>
              <a:gd name="T2" fmla="*/ 236351 w 1797807"/>
              <a:gd name="T3" fmla="*/ 552312 h 699131"/>
              <a:gd name="T4" fmla="*/ 1764889 w 1797807"/>
              <a:gd name="T5" fmla="*/ 602479 h 699131"/>
              <a:gd name="T6" fmla="*/ 0 60000 65536"/>
              <a:gd name="T7" fmla="*/ 0 60000 65536"/>
              <a:gd name="T8" fmla="*/ 0 60000 65536"/>
            </a:gdLst>
            <a:ahLst/>
            <a:cxnLst>
              <a:cxn ang="T6">
                <a:pos x="T0" y="T1"/>
              </a:cxn>
              <a:cxn ang="T7">
                <a:pos x="T2" y="T3"/>
              </a:cxn>
              <a:cxn ang="T8">
                <a:pos x="T4" y="T5"/>
              </a:cxn>
            </a:cxnLst>
            <a:rect l="0" t="0" r="r" b="b"/>
            <a:pathLst>
              <a:path w="1797807" h="699131">
                <a:moveTo>
                  <a:pt x="5972" y="0"/>
                </a:moveTo>
                <a:cubicBezTo>
                  <a:pt x="2004" y="292334"/>
                  <a:pt x="-49527" y="602063"/>
                  <a:pt x="240759" y="639167"/>
                </a:cubicBezTo>
                <a:cubicBezTo>
                  <a:pt x="531045" y="712147"/>
                  <a:pt x="1223877" y="698705"/>
                  <a:pt x="1797807" y="697223"/>
                </a:cubicBezTo>
              </a:path>
            </a:pathLst>
          </a:custGeom>
          <a:noFill/>
          <a:ln w="19050" cap="flat" cmpd="sng" algn="ctr">
            <a:solidFill>
              <a:srgbClr val="3333FF"/>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矩形 13"/>
          <p:cNvSpPr>
            <a:spLocks noChangeArrowheads="1"/>
          </p:cNvSpPr>
          <p:nvPr/>
        </p:nvSpPr>
        <p:spPr bwMode="auto">
          <a:xfrm>
            <a:off x="6538912" y="4661057"/>
            <a:ext cx="8397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3333FF"/>
                </a:solidFill>
                <a:cs typeface="Times New Roman" panose="02020603050405020304" pitchFamily="18" charset="0"/>
              </a:rPr>
              <a:t>20mA</a:t>
            </a:r>
            <a:endParaRPr lang="zh-CN" altLang="en-US" sz="2000" b="1">
              <a:solidFill>
                <a:srgbClr val="3333FF"/>
              </a:solidFill>
            </a:endParaRPr>
          </a:p>
        </p:txBody>
      </p:sp>
      <p:sp>
        <p:nvSpPr>
          <p:cNvPr id="15" name="矩形 14"/>
          <p:cNvSpPr>
            <a:spLocks noChangeArrowheads="1"/>
          </p:cNvSpPr>
          <p:nvPr/>
        </p:nvSpPr>
        <p:spPr bwMode="auto">
          <a:xfrm>
            <a:off x="393699" y="4757895"/>
            <a:ext cx="3635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3333FF"/>
                </a:solidFill>
                <a:cs typeface="Times New Roman" panose="02020603050405020304" pitchFamily="18" charset="0"/>
              </a:rPr>
              <a:t>0</a:t>
            </a:r>
            <a:endParaRPr lang="zh-CN" altLang="en-US" sz="2800" b="1">
              <a:solidFill>
                <a:srgbClr val="3333FF"/>
              </a:solidFill>
            </a:endParaRPr>
          </a:p>
        </p:txBody>
      </p:sp>
      <p:sp>
        <p:nvSpPr>
          <p:cNvPr id="16" name="矩形 15"/>
          <p:cNvSpPr>
            <a:spLocks noChangeArrowheads="1"/>
          </p:cNvSpPr>
          <p:nvPr/>
        </p:nvSpPr>
        <p:spPr bwMode="auto">
          <a:xfrm>
            <a:off x="5326062" y="4775357"/>
            <a:ext cx="3651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3333FF"/>
                </a:solidFill>
                <a:cs typeface="Times New Roman" panose="02020603050405020304" pitchFamily="18" charset="0"/>
              </a:rPr>
              <a:t>1</a:t>
            </a:r>
            <a:endParaRPr lang="zh-CN" altLang="en-US" sz="2800" b="1">
              <a:solidFill>
                <a:srgbClr val="3333FF"/>
              </a:solidFill>
            </a:endParaRPr>
          </a:p>
        </p:txBody>
      </p:sp>
      <p:sp>
        <p:nvSpPr>
          <p:cNvPr id="17" name="矩形 16"/>
          <p:cNvSpPr>
            <a:spLocks noChangeArrowheads="1"/>
          </p:cNvSpPr>
          <p:nvPr/>
        </p:nvSpPr>
        <p:spPr bwMode="auto">
          <a:xfrm>
            <a:off x="7466012" y="4489607"/>
            <a:ext cx="3651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3333FF"/>
                </a:solidFill>
                <a:cs typeface="Times New Roman" panose="02020603050405020304" pitchFamily="18" charset="0"/>
              </a:rPr>
              <a:t>0</a:t>
            </a:r>
            <a:endParaRPr lang="zh-CN" altLang="en-US" sz="2800" b="1">
              <a:solidFill>
                <a:srgbClr val="3333FF"/>
              </a:solidFill>
            </a:endParaRPr>
          </a:p>
        </p:txBody>
      </p:sp>
      <p:grpSp>
        <p:nvGrpSpPr>
          <p:cNvPr id="24" name="组合 23"/>
          <p:cNvGrpSpPr/>
          <p:nvPr/>
        </p:nvGrpSpPr>
        <p:grpSpPr bwMode="auto">
          <a:xfrm>
            <a:off x="8437562" y="3064032"/>
            <a:ext cx="619125" cy="1412875"/>
            <a:chOff x="8466965" y="3220133"/>
            <a:chExt cx="620077" cy="1412460"/>
          </a:xfrm>
        </p:grpSpPr>
        <p:pic>
          <p:nvPicPr>
            <p:cNvPr id="105524" name="图片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88415" y="3220133"/>
              <a:ext cx="598627" cy="119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5525" name="直接连接符 25"/>
            <p:cNvCxnSpPr>
              <a:cxnSpLocks noChangeShapeType="1"/>
            </p:cNvCxnSpPr>
            <p:nvPr/>
          </p:nvCxnSpPr>
          <p:spPr bwMode="auto">
            <a:xfrm flipV="1">
              <a:off x="8466965" y="4626889"/>
              <a:ext cx="286056" cy="912"/>
            </a:xfrm>
            <a:prstGeom prst="line">
              <a:avLst/>
            </a:prstGeom>
            <a:noFill/>
            <a:ln w="28575" algn="ctr">
              <a:solidFill>
                <a:srgbClr val="3333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5526" name="直接连接符 26"/>
            <p:cNvCxnSpPr>
              <a:cxnSpLocks noChangeShapeType="1"/>
            </p:cNvCxnSpPr>
            <p:nvPr/>
          </p:nvCxnSpPr>
          <p:spPr bwMode="auto">
            <a:xfrm flipV="1">
              <a:off x="8742004" y="4393765"/>
              <a:ext cx="4480" cy="238828"/>
            </a:xfrm>
            <a:prstGeom prst="line">
              <a:avLst/>
            </a:prstGeom>
            <a:noFill/>
            <a:ln w="28575" algn="ctr">
              <a:solidFill>
                <a:srgbClr val="3333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5527" name="直接连接符 33"/>
            <p:cNvCxnSpPr/>
            <p:nvPr/>
          </p:nvCxnSpPr>
          <p:spPr bwMode="auto">
            <a:xfrm rot="16200000" flipV="1">
              <a:off x="8712181" y="4019015"/>
              <a:ext cx="264766" cy="238086"/>
            </a:xfrm>
            <a:prstGeom prst="curvedConnector3">
              <a:avLst>
                <a:gd name="adj1" fmla="val 96741"/>
              </a:avLst>
            </a:prstGeom>
            <a:noFill/>
            <a:ln w="28575" algn="ctr">
              <a:solidFill>
                <a:srgbClr val="3333FF"/>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2" name="矩形 21"/>
          <p:cNvSpPr/>
          <p:nvPr/>
        </p:nvSpPr>
        <p:spPr>
          <a:xfrm>
            <a:off x="7348537" y="5103970"/>
            <a:ext cx="1071562" cy="500062"/>
          </a:xfrm>
          <a:prstGeom prst="rect">
            <a:avLst/>
          </a:prstGeom>
          <a:noFill/>
        </p:spPr>
        <p:txBody>
          <a:bodyPr lIns="0" tIns="36000" rIns="0" bIns="0" anchor="b">
            <a:spAutoFit/>
          </a:bodyPr>
          <a:lstStyle/>
          <a:p>
            <a:pPr algn="ctr" eaLnBrk="1" hangingPunct="1">
              <a:lnSpc>
                <a:spcPct val="75000"/>
              </a:lnSpc>
              <a:defRPr/>
            </a:pPr>
            <a:r>
              <a:rPr lang="zh-CN" altLang="en-US" sz="2000" b="1" kern="0" dirty="0">
                <a:solidFill>
                  <a:srgbClr val="00B050"/>
                </a:solidFill>
                <a:cs typeface="Times New Roman" panose="02020603050405020304" pitchFamily="18" charset="0"/>
              </a:rPr>
              <a:t>例</a:t>
            </a:r>
            <a:r>
              <a:rPr lang="en-US" altLang="zh-CN" sz="2000" b="1" kern="0" dirty="0">
                <a:solidFill>
                  <a:srgbClr val="00B050"/>
                </a:solidFill>
                <a:cs typeface="Times New Roman" panose="02020603050405020304" pitchFamily="18" charset="0"/>
              </a:rPr>
              <a:t>:</a:t>
            </a:r>
            <a:r>
              <a:rPr lang="zh-CN" altLang="en-US" sz="2000" b="1" kern="0" dirty="0">
                <a:solidFill>
                  <a:srgbClr val="00B050"/>
                </a:solidFill>
                <a:cs typeface="Times New Roman" panose="02020603050405020304" pitchFamily="18" charset="0"/>
              </a:rPr>
              <a:t>口线</a:t>
            </a:r>
            <a:r>
              <a:rPr lang="en-US" altLang="zh-CN" sz="2000" b="1" kern="0" dirty="0">
                <a:solidFill>
                  <a:srgbClr val="00B050"/>
                </a:solidFill>
                <a:cs typeface="Times New Roman" panose="02020603050405020304" pitchFamily="18" charset="0"/>
              </a:rPr>
              <a:t>P1.0</a:t>
            </a:r>
            <a:endParaRPr lang="en-US" altLang="zh-CN" sz="2000" b="1" dirty="0">
              <a:solidFill>
                <a:srgbClr val="00B050"/>
              </a:solidFill>
              <a:ea typeface="宋体" panose="02010600030101010101" pitchFamily="2" charset="-122"/>
              <a:cs typeface="Times New Roman" panose="02020603050405020304" pitchFamily="18" charset="0"/>
            </a:endParaRPr>
          </a:p>
        </p:txBody>
      </p:sp>
      <p:cxnSp>
        <p:nvCxnSpPr>
          <p:cNvPr id="29" name="直接箭头连接符 28"/>
          <p:cNvCxnSpPr>
            <a:stCxn id="22" idx="0"/>
          </p:cNvCxnSpPr>
          <p:nvPr/>
        </p:nvCxnSpPr>
        <p:spPr bwMode="auto">
          <a:xfrm flipV="1">
            <a:off x="7885112" y="4791232"/>
            <a:ext cx="149225" cy="312738"/>
          </a:xfrm>
          <a:prstGeom prst="straightConnector1">
            <a:avLst/>
          </a:prstGeom>
          <a:noFill/>
          <a:ln w="38100" algn="ctr">
            <a:solidFill>
              <a:srgbClr val="00B050"/>
            </a:solidFill>
            <a:rou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箭头连接符 29"/>
          <p:cNvCxnSpPr>
            <a:cxnSpLocks noChangeShapeType="1"/>
          </p:cNvCxnSpPr>
          <p:nvPr/>
        </p:nvCxnSpPr>
        <p:spPr bwMode="auto">
          <a:xfrm>
            <a:off x="174624" y="3943507"/>
            <a:ext cx="0" cy="830263"/>
          </a:xfrm>
          <a:prstGeom prst="straightConnector1">
            <a:avLst/>
          </a:prstGeom>
          <a:noFill/>
          <a:ln w="38100" algn="ctr">
            <a:solidFill>
              <a:srgbClr val="00B050"/>
            </a:solidFill>
            <a:rou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矩形 30"/>
          <p:cNvSpPr/>
          <p:nvPr/>
        </p:nvSpPr>
        <p:spPr>
          <a:xfrm>
            <a:off x="7375524" y="4588032"/>
            <a:ext cx="536575" cy="363538"/>
          </a:xfrm>
          <a:prstGeom prst="rect">
            <a:avLst/>
          </a:prstGeom>
          <a:noFill/>
        </p:spPr>
        <p:txBody>
          <a:bodyPr lIns="0" tIns="36000" rIns="0" bIns="0" anchor="b">
            <a:spAutoFit/>
          </a:bodyPr>
          <a:lstStyle/>
          <a:p>
            <a:pPr algn="ctr" eaLnBrk="1" hangingPunct="1">
              <a:lnSpc>
                <a:spcPct val="75000"/>
              </a:lnSpc>
              <a:defRPr/>
            </a:pPr>
            <a:r>
              <a:rPr lang="en-US" altLang="zh-CN" sz="2800" b="1" kern="0" dirty="0">
                <a:solidFill>
                  <a:srgbClr val="00B050"/>
                </a:solidFill>
                <a:cs typeface="Times New Roman" panose="02020603050405020304" pitchFamily="18" charset="0"/>
              </a:rPr>
              <a:t>1</a:t>
            </a:r>
            <a:endParaRPr lang="en-US" altLang="zh-CN" sz="2800" b="1" dirty="0">
              <a:solidFill>
                <a:srgbClr val="00B050"/>
              </a:solidFill>
              <a:ea typeface="宋体" panose="02010600030101010101" pitchFamily="2" charset="-122"/>
              <a:cs typeface="Times New Roman" panose="02020603050405020304" pitchFamily="18" charset="0"/>
            </a:endParaRPr>
          </a:p>
        </p:txBody>
      </p:sp>
      <p:sp>
        <p:nvSpPr>
          <p:cNvPr id="32" name="矩形 31"/>
          <p:cNvSpPr/>
          <p:nvPr/>
        </p:nvSpPr>
        <p:spPr>
          <a:xfrm>
            <a:off x="292099" y="4851557"/>
            <a:ext cx="536575" cy="361950"/>
          </a:xfrm>
          <a:prstGeom prst="rect">
            <a:avLst/>
          </a:prstGeom>
          <a:noFill/>
        </p:spPr>
        <p:txBody>
          <a:bodyPr lIns="0" tIns="36000" rIns="0" bIns="0" anchor="b">
            <a:spAutoFit/>
          </a:bodyPr>
          <a:lstStyle/>
          <a:p>
            <a:pPr algn="ctr" eaLnBrk="1" hangingPunct="1">
              <a:lnSpc>
                <a:spcPct val="75000"/>
              </a:lnSpc>
              <a:defRPr/>
            </a:pPr>
            <a:r>
              <a:rPr lang="en-US" altLang="zh-CN" sz="2800" b="1" kern="0" dirty="0">
                <a:solidFill>
                  <a:srgbClr val="00B050"/>
                </a:solidFill>
                <a:cs typeface="Times New Roman" panose="02020603050405020304" pitchFamily="18" charset="0"/>
              </a:rPr>
              <a:t>1</a:t>
            </a:r>
            <a:endParaRPr lang="en-US" altLang="zh-CN" sz="2800" b="1" dirty="0">
              <a:solidFill>
                <a:srgbClr val="00B050"/>
              </a:solidFill>
              <a:ea typeface="宋体" panose="02010600030101010101" pitchFamily="2" charset="-122"/>
              <a:cs typeface="Times New Roman" panose="02020603050405020304" pitchFamily="18" charset="0"/>
            </a:endParaRPr>
          </a:p>
        </p:txBody>
      </p:sp>
      <p:graphicFrame>
        <p:nvGraphicFramePr>
          <p:cNvPr id="33" name="Group 116"/>
          <p:cNvGraphicFramePr>
            <a:graphicFrameLocks noGrp="1"/>
          </p:cNvGraphicFramePr>
          <p:nvPr/>
        </p:nvGraphicFramePr>
        <p:xfrm>
          <a:off x="4564177" y="1136202"/>
          <a:ext cx="4570182" cy="486620"/>
        </p:xfrm>
        <a:graphic>
          <a:graphicData uri="http://schemas.openxmlformats.org/drawingml/2006/table">
            <a:tbl>
              <a:tblPr/>
              <a:tblGrid>
                <a:gridCol w="507798">
                  <a:extLst>
                    <a:ext uri="{9D8B030D-6E8A-4147-A177-3AD203B41FA5}">
                      <a16:colId xmlns:a16="http://schemas.microsoft.com/office/drawing/2014/main" val="20000"/>
                    </a:ext>
                  </a:extLst>
                </a:gridCol>
                <a:gridCol w="507798">
                  <a:extLst>
                    <a:ext uri="{9D8B030D-6E8A-4147-A177-3AD203B41FA5}">
                      <a16:colId xmlns:a16="http://schemas.microsoft.com/office/drawing/2014/main" val="20001"/>
                    </a:ext>
                  </a:extLst>
                </a:gridCol>
                <a:gridCol w="507798">
                  <a:extLst>
                    <a:ext uri="{9D8B030D-6E8A-4147-A177-3AD203B41FA5}">
                      <a16:colId xmlns:a16="http://schemas.microsoft.com/office/drawing/2014/main" val="20002"/>
                    </a:ext>
                  </a:extLst>
                </a:gridCol>
                <a:gridCol w="507798">
                  <a:extLst>
                    <a:ext uri="{9D8B030D-6E8A-4147-A177-3AD203B41FA5}">
                      <a16:colId xmlns:a16="http://schemas.microsoft.com/office/drawing/2014/main" val="20003"/>
                    </a:ext>
                  </a:extLst>
                </a:gridCol>
                <a:gridCol w="507798">
                  <a:extLst>
                    <a:ext uri="{9D8B030D-6E8A-4147-A177-3AD203B41FA5}">
                      <a16:colId xmlns:a16="http://schemas.microsoft.com/office/drawing/2014/main" val="20004"/>
                    </a:ext>
                  </a:extLst>
                </a:gridCol>
                <a:gridCol w="507798">
                  <a:extLst>
                    <a:ext uri="{9D8B030D-6E8A-4147-A177-3AD203B41FA5}">
                      <a16:colId xmlns:a16="http://schemas.microsoft.com/office/drawing/2014/main" val="20005"/>
                    </a:ext>
                  </a:extLst>
                </a:gridCol>
                <a:gridCol w="507798">
                  <a:extLst>
                    <a:ext uri="{9D8B030D-6E8A-4147-A177-3AD203B41FA5}">
                      <a16:colId xmlns:a16="http://schemas.microsoft.com/office/drawing/2014/main" val="20006"/>
                    </a:ext>
                  </a:extLst>
                </a:gridCol>
                <a:gridCol w="507798">
                  <a:extLst>
                    <a:ext uri="{9D8B030D-6E8A-4147-A177-3AD203B41FA5}">
                      <a16:colId xmlns:a16="http://schemas.microsoft.com/office/drawing/2014/main" val="20007"/>
                    </a:ext>
                  </a:extLst>
                </a:gridCol>
                <a:gridCol w="507798">
                  <a:extLst>
                    <a:ext uri="{9D8B030D-6E8A-4147-A177-3AD203B41FA5}">
                      <a16:colId xmlns:a16="http://schemas.microsoft.com/office/drawing/2014/main" val="20008"/>
                    </a:ext>
                  </a:extLst>
                </a:gridCol>
              </a:tblGrid>
              <a:tr h="486620">
                <a:tc>
                  <a:txBody>
                    <a:bodyPr/>
                    <a:lstStyle/>
                    <a:p>
                      <a:pPr marL="0" marR="0" lvl="0" indent="0" algn="ctr" defTabSz="914400" rtl="0" eaLnBrk="1" fontAlgn="base" latinLnBrk="0" hangingPunct="1">
                        <a:lnSpc>
                          <a:spcPct val="75000"/>
                        </a:lnSpc>
                        <a:spcBef>
                          <a:spcPct val="0"/>
                        </a:spcBef>
                        <a:spcAft>
                          <a:spcPct val="0"/>
                        </a:spcAft>
                        <a:buClrTx/>
                        <a:buSzTx/>
                        <a:buFontTx/>
                        <a:buNone/>
                        <a:defRPr/>
                      </a:pPr>
                      <a:r>
                        <a:rPr lang="zh-CN" altLang="en-US" sz="1600" b="1" kern="0" dirty="0">
                          <a:solidFill>
                            <a:srgbClr val="FF00FF"/>
                          </a:solidFill>
                          <a:latin typeface="Times New Roman" panose="02020603050405020304" pitchFamily="18" charset="0"/>
                          <a:ea typeface="宋体" panose="02010600030101010101" pitchFamily="2" charset="-122"/>
                          <a:cs typeface="Times New Roman" panose="02020603050405020304" pitchFamily="18" charset="0"/>
                        </a:rPr>
                        <a:t>例</a:t>
                      </a:r>
                      <a:endParaRPr lang="en-US" altLang="zh-CN" sz="1600" b="1" kern="0" dirty="0">
                        <a:solidFill>
                          <a:srgbClr val="FF00FF"/>
                        </a:solidFill>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75000"/>
                        </a:lnSpc>
                        <a:spcBef>
                          <a:spcPct val="0"/>
                        </a:spcBef>
                        <a:spcAft>
                          <a:spcPct val="0"/>
                        </a:spcAft>
                        <a:buClrTx/>
                        <a:buSzTx/>
                        <a:buFontTx/>
                        <a:buNone/>
                        <a:defRPr/>
                      </a:pPr>
                      <a:r>
                        <a:rPr lang="en-US" altLang="zh-CN" sz="1600" b="1" kern="0" dirty="0">
                          <a:solidFill>
                            <a:srgbClr val="FF00FF"/>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sz="1600" b="1" kern="0" dirty="0">
                          <a:solidFill>
                            <a:srgbClr val="FF00FF"/>
                          </a:solidFill>
                          <a:latin typeface="Times New Roman" panose="02020603050405020304" pitchFamily="18" charset="0"/>
                          <a:ea typeface="宋体" panose="02010600030101010101" pitchFamily="2" charset="-122"/>
                          <a:cs typeface="Times New Roman" panose="02020603050405020304" pitchFamily="18" charset="0"/>
                        </a:rPr>
                        <a:t>口</a:t>
                      </a:r>
                      <a:endParaRPr kumimoji="0" lang="zh-CN" altLang="en-US" sz="1600" b="1" i="0" u="none" strike="noStrike" cap="none" normalizeH="0" baseline="0" dirty="0">
                        <a:ln>
                          <a:noFill/>
                        </a:ln>
                        <a:solidFill>
                          <a:srgbClr val="FF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75000"/>
                        </a:lnSpc>
                        <a:spcBef>
                          <a:spcPct val="0"/>
                        </a:spcBef>
                        <a:spcAft>
                          <a:spcPct val="0"/>
                        </a:spcAft>
                        <a:buClrTx/>
                        <a:buSzTx/>
                        <a:buFontTx/>
                        <a:buNone/>
                        <a:defRPr/>
                      </a:pPr>
                      <a:r>
                        <a:rPr lang="en-US" altLang="zh-CN" sz="1800" b="1" kern="0" dirty="0">
                          <a:solidFill>
                            <a:srgbClr val="3366FF"/>
                          </a:solidFill>
                          <a:latin typeface="Times New Roman" panose="02020603050405020304" pitchFamily="18" charset="0"/>
                          <a:ea typeface="宋体" panose="02010600030101010101" pitchFamily="2" charset="-122"/>
                          <a:cs typeface="Times New Roman" panose="02020603050405020304" pitchFamily="18" charset="0"/>
                        </a:rPr>
                        <a:t>P1.7</a:t>
                      </a:r>
                      <a:endParaRPr kumimoji="0" lang="en-US" altLang="zh-CN" sz="1800" b="1" i="0" u="none" strike="noStrike" cap="none" normalizeH="0" baseline="0" dirty="0">
                        <a:ln>
                          <a:noFill/>
                        </a:ln>
                        <a:solidFill>
                          <a:srgbClr val="3366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75000"/>
                        </a:lnSpc>
                        <a:spcBef>
                          <a:spcPct val="0"/>
                        </a:spcBef>
                        <a:spcAft>
                          <a:spcPct val="0"/>
                        </a:spcAft>
                        <a:buClrTx/>
                        <a:buSzTx/>
                        <a:buFontTx/>
                        <a:buNone/>
                        <a:defRPr/>
                      </a:pPr>
                      <a:r>
                        <a:rPr lang="en-US" altLang="zh-CN" sz="1800" b="1" kern="0" dirty="0">
                          <a:solidFill>
                            <a:srgbClr val="3366FF"/>
                          </a:solidFill>
                          <a:latin typeface="Times New Roman" panose="02020603050405020304" pitchFamily="18" charset="0"/>
                          <a:ea typeface="宋体" panose="02010600030101010101" pitchFamily="2" charset="-122"/>
                          <a:cs typeface="Times New Roman" panose="02020603050405020304" pitchFamily="18" charset="0"/>
                        </a:rPr>
                        <a:t>P1.6</a:t>
                      </a:r>
                      <a:endParaRPr kumimoji="0" lang="en-US" altLang="zh-CN" sz="1800" b="1" i="0" u="none" strike="noStrike" cap="none" normalizeH="0" baseline="0" dirty="0">
                        <a:ln>
                          <a:noFill/>
                        </a:ln>
                        <a:solidFill>
                          <a:srgbClr val="3366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75000"/>
                        </a:lnSpc>
                        <a:spcBef>
                          <a:spcPct val="0"/>
                        </a:spcBef>
                        <a:spcAft>
                          <a:spcPct val="0"/>
                        </a:spcAft>
                        <a:buClrTx/>
                        <a:buSzTx/>
                        <a:buFontTx/>
                        <a:buNone/>
                        <a:defRPr/>
                      </a:pPr>
                      <a:r>
                        <a:rPr lang="en-US" altLang="zh-CN" sz="1800" b="1" kern="0" dirty="0">
                          <a:solidFill>
                            <a:srgbClr val="3366FF"/>
                          </a:solidFill>
                          <a:latin typeface="Times New Roman" panose="02020603050405020304" pitchFamily="18" charset="0"/>
                          <a:ea typeface="宋体" panose="02010600030101010101" pitchFamily="2" charset="-122"/>
                          <a:cs typeface="Times New Roman" panose="02020603050405020304" pitchFamily="18" charset="0"/>
                        </a:rPr>
                        <a:t>P1.5</a:t>
                      </a:r>
                      <a:endParaRPr kumimoji="0" lang="en-US" altLang="zh-CN" sz="1800" b="1" i="0" u="none" strike="noStrike" cap="none" normalizeH="0" baseline="0" dirty="0">
                        <a:ln>
                          <a:noFill/>
                        </a:ln>
                        <a:solidFill>
                          <a:srgbClr val="3366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75000"/>
                        </a:lnSpc>
                        <a:spcBef>
                          <a:spcPct val="0"/>
                        </a:spcBef>
                        <a:spcAft>
                          <a:spcPct val="0"/>
                        </a:spcAft>
                        <a:buClrTx/>
                        <a:buSzTx/>
                        <a:buFontTx/>
                        <a:buNone/>
                        <a:defRPr/>
                      </a:pPr>
                      <a:r>
                        <a:rPr lang="en-US" altLang="zh-CN" sz="1800" b="1" kern="0" dirty="0">
                          <a:solidFill>
                            <a:srgbClr val="3366FF"/>
                          </a:solidFill>
                          <a:latin typeface="Times New Roman" panose="02020603050405020304" pitchFamily="18" charset="0"/>
                          <a:ea typeface="宋体" panose="02010600030101010101" pitchFamily="2" charset="-122"/>
                          <a:cs typeface="Times New Roman" panose="02020603050405020304" pitchFamily="18" charset="0"/>
                        </a:rPr>
                        <a:t>P1.4</a:t>
                      </a:r>
                      <a:endParaRPr kumimoji="0" lang="en-US" altLang="zh-CN" sz="1800" b="1" i="0" u="none" strike="noStrike" cap="none" normalizeH="0" baseline="0" dirty="0">
                        <a:ln>
                          <a:noFill/>
                        </a:ln>
                        <a:solidFill>
                          <a:srgbClr val="3366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75000"/>
                        </a:lnSpc>
                        <a:spcBef>
                          <a:spcPct val="0"/>
                        </a:spcBef>
                        <a:spcAft>
                          <a:spcPct val="0"/>
                        </a:spcAft>
                        <a:buClrTx/>
                        <a:buSzTx/>
                        <a:buFontTx/>
                        <a:buNone/>
                        <a:defRPr/>
                      </a:pPr>
                      <a:r>
                        <a:rPr lang="en-US" altLang="zh-CN" sz="1800" b="1" kern="0" dirty="0">
                          <a:solidFill>
                            <a:srgbClr val="3366FF"/>
                          </a:solidFill>
                          <a:latin typeface="Times New Roman" panose="02020603050405020304" pitchFamily="18" charset="0"/>
                          <a:ea typeface="宋体" panose="02010600030101010101" pitchFamily="2" charset="-122"/>
                          <a:cs typeface="Times New Roman" panose="02020603050405020304" pitchFamily="18" charset="0"/>
                        </a:rPr>
                        <a:t>P1.3</a:t>
                      </a:r>
                      <a:endParaRPr kumimoji="0" lang="en-US" altLang="zh-CN" sz="1800" b="1" i="0" u="none" strike="noStrike" cap="none" normalizeH="0" baseline="0" dirty="0">
                        <a:ln>
                          <a:noFill/>
                        </a:ln>
                        <a:solidFill>
                          <a:srgbClr val="3366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75000"/>
                        </a:lnSpc>
                        <a:spcBef>
                          <a:spcPct val="0"/>
                        </a:spcBef>
                        <a:spcAft>
                          <a:spcPct val="0"/>
                        </a:spcAft>
                        <a:buClrTx/>
                        <a:buSzTx/>
                        <a:buFontTx/>
                        <a:buNone/>
                        <a:defRPr/>
                      </a:pPr>
                      <a:r>
                        <a:rPr lang="en-US" altLang="zh-CN" sz="1800" b="1" kern="0" dirty="0">
                          <a:solidFill>
                            <a:srgbClr val="3366FF"/>
                          </a:solidFill>
                          <a:latin typeface="Times New Roman" panose="02020603050405020304" pitchFamily="18" charset="0"/>
                          <a:ea typeface="宋体" panose="02010600030101010101" pitchFamily="2" charset="-122"/>
                          <a:cs typeface="Times New Roman" panose="02020603050405020304" pitchFamily="18" charset="0"/>
                        </a:rPr>
                        <a:t>P1.2</a:t>
                      </a:r>
                      <a:endParaRPr kumimoji="0" lang="en-US" altLang="zh-CN" sz="1800" b="1" i="0" u="none" strike="noStrike" cap="none" normalizeH="0" baseline="0" dirty="0">
                        <a:ln>
                          <a:noFill/>
                        </a:ln>
                        <a:solidFill>
                          <a:srgbClr val="3366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75000"/>
                        </a:lnSpc>
                        <a:spcBef>
                          <a:spcPct val="0"/>
                        </a:spcBef>
                        <a:spcAft>
                          <a:spcPct val="0"/>
                        </a:spcAft>
                        <a:buClrTx/>
                        <a:buSzTx/>
                        <a:buFontTx/>
                        <a:buNone/>
                        <a:defRPr/>
                      </a:pPr>
                      <a:r>
                        <a:rPr lang="en-US" altLang="zh-CN" sz="1800" b="1" kern="0" dirty="0">
                          <a:solidFill>
                            <a:srgbClr val="3366FF"/>
                          </a:solidFill>
                          <a:latin typeface="Times New Roman" panose="02020603050405020304" pitchFamily="18" charset="0"/>
                          <a:ea typeface="宋体" panose="02010600030101010101" pitchFamily="2" charset="-122"/>
                          <a:cs typeface="Times New Roman" panose="02020603050405020304" pitchFamily="18" charset="0"/>
                        </a:rPr>
                        <a:t>P1.1</a:t>
                      </a:r>
                      <a:endParaRPr kumimoji="0" lang="en-US" altLang="zh-CN" sz="1800" b="1" i="0" u="none" strike="noStrike" cap="none" normalizeH="0" baseline="0" dirty="0">
                        <a:ln>
                          <a:noFill/>
                        </a:ln>
                        <a:solidFill>
                          <a:srgbClr val="3366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75000"/>
                        </a:lnSpc>
                        <a:spcBef>
                          <a:spcPct val="0"/>
                        </a:spcBef>
                        <a:spcAft>
                          <a:spcPct val="0"/>
                        </a:spcAft>
                        <a:buClrTx/>
                        <a:buSzTx/>
                        <a:buFontTx/>
                        <a:buNone/>
                        <a:defRPr/>
                      </a:pPr>
                      <a:r>
                        <a:rPr lang="en-US" altLang="zh-CN" sz="1800" b="1" kern="0" dirty="0">
                          <a:solidFill>
                            <a:srgbClr val="FF00FF"/>
                          </a:solidFill>
                          <a:latin typeface="Times New Roman" panose="02020603050405020304" pitchFamily="18" charset="0"/>
                          <a:ea typeface="宋体" panose="02010600030101010101" pitchFamily="2" charset="-122"/>
                          <a:cs typeface="Times New Roman" panose="02020603050405020304" pitchFamily="18" charset="0"/>
                        </a:rPr>
                        <a:t>P1.0</a:t>
                      </a:r>
                      <a:endParaRPr kumimoji="0" lang="en-US" altLang="zh-CN" sz="1800" b="1" i="0" u="none" strike="noStrike" cap="none" normalizeH="0" baseline="0" dirty="0">
                        <a:ln>
                          <a:noFill/>
                        </a:ln>
                        <a:solidFill>
                          <a:srgbClr val="FF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sp>
        <p:nvSpPr>
          <p:cNvPr id="36" name="矩形 35"/>
          <p:cNvSpPr/>
          <p:nvPr/>
        </p:nvSpPr>
        <p:spPr>
          <a:xfrm>
            <a:off x="5254624" y="4902357"/>
            <a:ext cx="534988" cy="361950"/>
          </a:xfrm>
          <a:prstGeom prst="rect">
            <a:avLst/>
          </a:prstGeom>
          <a:noFill/>
        </p:spPr>
        <p:txBody>
          <a:bodyPr lIns="0" tIns="36000" rIns="0" bIns="0" anchor="b">
            <a:spAutoFit/>
          </a:bodyPr>
          <a:lstStyle/>
          <a:p>
            <a:pPr algn="ctr" eaLnBrk="1" hangingPunct="1">
              <a:lnSpc>
                <a:spcPct val="75000"/>
              </a:lnSpc>
              <a:defRPr/>
            </a:pPr>
            <a:r>
              <a:rPr lang="en-US" altLang="zh-CN" sz="2800" b="1" kern="0" dirty="0">
                <a:solidFill>
                  <a:srgbClr val="00B050"/>
                </a:solidFill>
                <a:cs typeface="Times New Roman" panose="02020603050405020304" pitchFamily="18" charset="0"/>
              </a:rPr>
              <a:t>0</a:t>
            </a:r>
            <a:endParaRPr lang="en-US" altLang="zh-CN" sz="2800" b="1" dirty="0">
              <a:solidFill>
                <a:srgbClr val="00B050"/>
              </a:solidFill>
              <a:ea typeface="宋体" panose="02010600030101010101" pitchFamily="2" charset="-122"/>
              <a:cs typeface="Times New Roman" panose="02020603050405020304" pitchFamily="18" charset="0"/>
            </a:endParaRPr>
          </a:p>
        </p:txBody>
      </p:sp>
      <p:grpSp>
        <p:nvGrpSpPr>
          <p:cNvPr id="43" name="组合 42"/>
          <p:cNvGrpSpPr/>
          <p:nvPr/>
        </p:nvGrpSpPr>
        <p:grpSpPr bwMode="auto">
          <a:xfrm>
            <a:off x="8399462" y="4472145"/>
            <a:ext cx="595312" cy="1470025"/>
            <a:chOff x="8364824" y="5083095"/>
            <a:chExt cx="596483" cy="1470809"/>
          </a:xfrm>
        </p:grpSpPr>
        <p:pic>
          <p:nvPicPr>
            <p:cNvPr id="105520" name="图片 43"/>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364824" y="5408656"/>
              <a:ext cx="596483" cy="1145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5521" name="直接连接符 44"/>
            <p:cNvCxnSpPr/>
            <p:nvPr/>
          </p:nvCxnSpPr>
          <p:spPr bwMode="auto">
            <a:xfrm>
              <a:off x="8405208" y="5083095"/>
              <a:ext cx="242699" cy="0"/>
            </a:xfrm>
            <a:prstGeom prst="line">
              <a:avLst/>
            </a:prstGeom>
            <a:noFill/>
            <a:ln w="28575" algn="ctr">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5522" name="直接连接符 45"/>
            <p:cNvCxnSpPr/>
            <p:nvPr/>
          </p:nvCxnSpPr>
          <p:spPr bwMode="auto">
            <a:xfrm>
              <a:off x="8647907" y="5089213"/>
              <a:ext cx="0" cy="320069"/>
            </a:xfrm>
            <a:prstGeom prst="line">
              <a:avLst/>
            </a:prstGeom>
            <a:noFill/>
            <a:ln w="28575" algn="ctr">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5523" name="直接连接符 59"/>
            <p:cNvCxnSpPr/>
            <p:nvPr/>
          </p:nvCxnSpPr>
          <p:spPr bwMode="auto">
            <a:xfrm rot="10800000" flipV="1">
              <a:off x="8695744" y="5537738"/>
              <a:ext cx="217046" cy="158640"/>
            </a:xfrm>
            <a:prstGeom prst="curvedConnector3">
              <a:avLst>
                <a:gd name="adj1" fmla="val 2486"/>
              </a:avLst>
            </a:prstGeom>
            <a:noFill/>
            <a:ln w="28575" algn="ctr">
              <a:solidFill>
                <a:srgbClr val="0000FF"/>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 name="灯片编号占位符 3"/>
          <p:cNvSpPr>
            <a:spLocks noGrp="1"/>
          </p:cNvSpPr>
          <p:nvPr>
            <p:ph type="sldNum" sz="quarter" idx="12"/>
          </p:nvPr>
        </p:nvSpPr>
        <p:spPr/>
        <p:txBody>
          <a:bodyPr/>
          <a:lstStyle/>
          <a:p>
            <a:fld id="{22E77DEE-32E4-4009-988B-F2758F7B8AC2}" type="slidenum">
              <a:rPr lang="zh-CN" altLang="en-US" smtClean="0"/>
              <a:t>54</a:t>
            </a:fld>
            <a:endParaRPr lang="zh-CN" altLang="en-US"/>
          </a:p>
        </p:txBody>
      </p:sp>
      <p:sp>
        <p:nvSpPr>
          <p:cNvPr id="19" name="标题 3"/>
          <p:cNvSpPr>
            <a:spLocks noGrp="1" noChangeArrowheads="1"/>
          </p:cNvSpPr>
          <p:nvPr>
            <p:ph type="title"/>
          </p:nvPr>
        </p:nvSpPr>
        <p:spPr>
          <a:xfrm>
            <a:off x="716752" y="79930"/>
            <a:ext cx="8229600" cy="1045744"/>
          </a:xfrm>
        </p:spPr>
        <p:txBody>
          <a:bodyPr>
            <a:noAutofit/>
          </a:bodyPr>
          <a:lstStyle/>
          <a:p>
            <a:pPr eaLnBrk="1" hangingPunct="1"/>
            <a:r>
              <a:rPr lang="en-US" altLang="zh-CN" sz="3600" dirty="0">
                <a:solidFill>
                  <a:srgbClr val="FF0000"/>
                </a:solidFill>
              </a:rPr>
              <a:t>Structure of the dual-directional (weak pull-up) working mode</a:t>
            </a:r>
            <a:endParaRPr lang="zh-CN" altLang="en-US" sz="3600" dirty="0">
              <a:solidFill>
                <a:srgbClr val="FF0000"/>
              </a:solidFill>
            </a:endParaRPr>
          </a:p>
        </p:txBody>
      </p:sp>
      <p:sp>
        <p:nvSpPr>
          <p:cNvPr id="2" name="文本框 1"/>
          <p:cNvSpPr txBox="1"/>
          <p:nvPr/>
        </p:nvSpPr>
        <p:spPr>
          <a:xfrm>
            <a:off x="128905" y="3884295"/>
            <a:ext cx="1527810" cy="337185"/>
          </a:xfrm>
          <a:prstGeom prst="rect">
            <a:avLst/>
          </a:prstGeom>
        </p:spPr>
        <p:txBody>
          <a:bodyPr wrap="square">
            <a:spAutoFit/>
          </a:bodyPr>
          <a:lstStyle/>
          <a:p>
            <a:r>
              <a:rPr lang="en-US" altLang="zh-CN" sz="1600"/>
              <a:t>Port Data Latch</a:t>
            </a:r>
          </a:p>
        </p:txBody>
      </p:sp>
      <p:sp>
        <p:nvSpPr>
          <p:cNvPr id="5" name="文本框 4"/>
          <p:cNvSpPr txBox="1"/>
          <p:nvPr/>
        </p:nvSpPr>
        <p:spPr>
          <a:xfrm>
            <a:off x="2804795" y="5760720"/>
            <a:ext cx="3048000" cy="368300"/>
          </a:xfrm>
          <a:prstGeom prst="rect">
            <a:avLst/>
          </a:prstGeom>
          <a:noFill/>
        </p:spPr>
        <p:txBody>
          <a:bodyPr wrap="square" rtlCol="0">
            <a:spAutoFit/>
          </a:bodyPr>
          <a:lstStyle/>
          <a:p>
            <a:r>
              <a:rPr lang="en-US" altLang="zh-CN"/>
              <a:t>input data </a:t>
            </a:r>
          </a:p>
        </p:txBody>
      </p:sp>
      <p:sp>
        <p:nvSpPr>
          <p:cNvPr id="10" name="文本框 9"/>
          <p:cNvSpPr txBox="1"/>
          <p:nvPr/>
        </p:nvSpPr>
        <p:spPr>
          <a:xfrm>
            <a:off x="5899150" y="6167755"/>
            <a:ext cx="2802890" cy="337185"/>
          </a:xfrm>
          <a:prstGeom prst="rect">
            <a:avLst/>
          </a:prstGeom>
        </p:spPr>
        <p:txBody>
          <a:bodyPr wrap="square">
            <a:spAutoFit/>
          </a:bodyPr>
          <a:lstStyle/>
          <a:p>
            <a:r>
              <a:rPr lang="en-US" altLang="zh-CN" sz="1600"/>
              <a:t>Interference Suppression Filter</a:t>
            </a:r>
          </a:p>
        </p:txBody>
      </p:sp>
      <p:sp>
        <p:nvSpPr>
          <p:cNvPr id="11" name="文本框 10"/>
          <p:cNvSpPr txBox="1"/>
          <p:nvPr/>
        </p:nvSpPr>
        <p:spPr>
          <a:xfrm>
            <a:off x="7589520" y="4740275"/>
            <a:ext cx="3048000" cy="368300"/>
          </a:xfrm>
          <a:prstGeom prst="rect">
            <a:avLst/>
          </a:prstGeom>
          <a:noFill/>
        </p:spPr>
        <p:txBody>
          <a:bodyPr wrap="square" rtlCol="0">
            <a:spAutoFit/>
          </a:bodyPr>
          <a:lstStyle/>
          <a:p>
            <a:r>
              <a:rPr lang="en-US" altLang="zh-CN"/>
              <a:t>Port Pin</a:t>
            </a:r>
          </a:p>
        </p:txBody>
      </p:sp>
      <p:sp>
        <p:nvSpPr>
          <p:cNvPr id="12" name="文本框 11"/>
          <p:cNvSpPr txBox="1"/>
          <p:nvPr/>
        </p:nvSpPr>
        <p:spPr>
          <a:xfrm>
            <a:off x="2186305" y="4110355"/>
            <a:ext cx="3048000" cy="583565"/>
          </a:xfrm>
          <a:prstGeom prst="rect">
            <a:avLst/>
          </a:prstGeom>
          <a:noFill/>
        </p:spPr>
        <p:txBody>
          <a:bodyPr wrap="square" rtlCol="0">
            <a:spAutoFit/>
          </a:bodyPr>
          <a:lstStyle/>
          <a:p>
            <a:r>
              <a:rPr lang="en-US" altLang="zh-CN" sz="1600"/>
              <a:t>2 CPU clock</a:t>
            </a:r>
          </a:p>
          <a:p>
            <a:r>
              <a:rPr lang="en-US" altLang="zh-CN" sz="1600"/>
              <a:t>delays</a:t>
            </a:r>
          </a:p>
        </p:txBody>
      </p:sp>
      <p:sp>
        <p:nvSpPr>
          <p:cNvPr id="18" name="矩形 17"/>
          <p:cNvSpPr/>
          <p:nvPr/>
        </p:nvSpPr>
        <p:spPr>
          <a:xfrm>
            <a:off x="42228" y="3571558"/>
            <a:ext cx="1311275" cy="312420"/>
          </a:xfrm>
          <a:prstGeom prst="rect">
            <a:avLst/>
          </a:prstGeom>
          <a:noFill/>
        </p:spPr>
        <p:txBody>
          <a:bodyPr lIns="0" tIns="36000" rIns="0" bIns="0" anchor="b">
            <a:spAutoFit/>
          </a:bodyPr>
          <a:lstStyle/>
          <a:p>
            <a:pPr algn="ctr" eaLnBrk="1" hangingPunct="1">
              <a:lnSpc>
                <a:spcPct val="75000"/>
              </a:lnSpc>
              <a:defRPr/>
            </a:pPr>
            <a:r>
              <a:rPr lang="zh-CN" altLang="en-US" sz="1200" b="1" kern="0" dirty="0">
                <a:solidFill>
                  <a:srgbClr val="00B050"/>
                </a:solidFill>
                <a:cs typeface="Times New Roman" panose="02020603050405020304" pitchFamily="18" charset="0"/>
              </a:rPr>
              <a:t>Example: latch bit of P</a:t>
            </a:r>
            <a:r>
              <a:rPr lang="en-US" altLang="zh-CN" sz="1200" b="1" kern="0" dirty="0">
                <a:solidFill>
                  <a:srgbClr val="00B050"/>
                </a:solidFill>
                <a:cs typeface="Times New Roman" panose="02020603050405020304" pitchFamily="18" charset="0"/>
              </a:rPr>
              <a:t>1</a:t>
            </a:r>
            <a:r>
              <a:rPr lang="zh-CN" altLang="en-US" sz="1200" b="1" kern="0" dirty="0">
                <a:solidFill>
                  <a:srgbClr val="00B050"/>
                </a:solidFill>
                <a:cs typeface="Times New Roman" panose="02020603050405020304" pitchFamily="18" charset="0"/>
              </a:rPr>
              <a:t>.</a:t>
            </a:r>
            <a:r>
              <a:rPr lang="en-US" altLang="zh-CN" sz="1200" b="1" kern="0" dirty="0">
                <a:solidFill>
                  <a:srgbClr val="00B050"/>
                </a:solidFill>
                <a:cs typeface="Times New Roman" panose="02020603050405020304" pitchFamily="18" charset="0"/>
              </a:rPr>
              <a:t>0</a:t>
            </a:r>
            <a:r>
              <a:rPr lang="zh-CN" altLang="en-US" sz="1200" b="1" kern="0" dirty="0">
                <a:solidFill>
                  <a:srgbClr val="00B050"/>
                </a:solidFill>
                <a:cs typeface="Times New Roman" panose="02020603050405020304" pitchFamily="18" charset="0"/>
              </a:rPr>
              <a:t> line</a:t>
            </a:r>
            <a:endParaRPr lang="zh-CN" altLang="en-US" sz="1200" b="1" kern="0" dirty="0">
              <a:solidFill>
                <a:srgbClr val="00B050"/>
              </a:solidFill>
              <a:ea typeface="宋体" panose="02010600030101010101" pitchFamily="2" charset="-122"/>
              <a:cs typeface="Times New Roman" panose="02020603050405020304" pitchFamily="18" charset="0"/>
            </a:endParaRPr>
          </a:p>
        </p:txBody>
      </p:sp>
      <p:sp>
        <p:nvSpPr>
          <p:cNvPr id="42" name="矩形 41"/>
          <p:cNvSpPr/>
          <p:nvPr/>
        </p:nvSpPr>
        <p:spPr>
          <a:xfrm>
            <a:off x="1831657" y="5281931"/>
            <a:ext cx="3157538" cy="219710"/>
          </a:xfrm>
          <a:prstGeom prst="rect">
            <a:avLst/>
          </a:prstGeom>
          <a:noFill/>
        </p:spPr>
        <p:txBody>
          <a:bodyPr lIns="0" tIns="36000" rIns="0" bIns="0" anchor="b">
            <a:spAutoFit/>
          </a:bodyPr>
          <a:lstStyle/>
          <a:p>
            <a:pPr algn="ctr" eaLnBrk="1" hangingPunct="1">
              <a:lnSpc>
                <a:spcPct val="75000"/>
              </a:lnSpc>
              <a:defRPr/>
            </a:pPr>
            <a:r>
              <a:rPr lang="en-US" altLang="zh-CN" sz="1600" b="1" kern="0" dirty="0">
                <a:solidFill>
                  <a:srgbClr val="00B050"/>
                </a:solidFill>
                <a:cs typeface="Times New Roman" panose="02020603050405020304" pitchFamily="18" charset="0"/>
              </a:rPr>
              <a:t>CPU reads pin status data</a:t>
            </a:r>
            <a:endParaRPr lang="en-US" altLang="zh-CN" sz="1600" b="1" kern="0" dirty="0">
              <a:solidFill>
                <a:srgbClr val="00B050"/>
              </a:solidFill>
              <a:ea typeface="宋体" panose="02010600030101010101" pitchFamily="2" charset="-122"/>
              <a:cs typeface="Times New Roman" panose="02020603050405020304" pitchFamily="18" charset="0"/>
            </a:endParaRPr>
          </a:p>
        </p:txBody>
      </p:sp>
      <p:sp>
        <p:nvSpPr>
          <p:cNvPr id="20" name="文本框 19"/>
          <p:cNvSpPr txBox="1"/>
          <p:nvPr/>
        </p:nvSpPr>
        <p:spPr>
          <a:xfrm>
            <a:off x="5715" y="5866130"/>
            <a:ext cx="2639060" cy="337185"/>
          </a:xfrm>
          <a:prstGeom prst="rect">
            <a:avLst/>
          </a:prstGeom>
        </p:spPr>
        <p:txBody>
          <a:bodyPr wrap="square">
            <a:spAutoFit/>
          </a:bodyPr>
          <a:lstStyle/>
          <a:p>
            <a:r>
              <a:rPr lang="en-US" altLang="zh-CN" sz="1600" b="1">
                <a:solidFill>
                  <a:srgbClr val="FF0000"/>
                </a:solidFill>
              </a:rPr>
              <a:t>Any port line from P0 to P7</a:t>
            </a:r>
          </a:p>
        </p:txBody>
      </p:sp>
      <p:sp>
        <p:nvSpPr>
          <p:cNvPr id="3" name="矩形 2"/>
          <p:cNvSpPr/>
          <p:nvPr/>
        </p:nvSpPr>
        <p:spPr>
          <a:xfrm>
            <a:off x="7012939" y="5647212"/>
            <a:ext cx="1611313" cy="337185"/>
          </a:xfrm>
          <a:prstGeom prst="rect">
            <a:avLst/>
          </a:prstGeom>
        </p:spPr>
        <p:txBody>
          <a:bodyPr>
            <a:spAutoFit/>
          </a:bodyPr>
          <a:lstStyle/>
          <a:p>
            <a:pPr algn="ctr" eaLnBrk="1" hangingPunct="1">
              <a:defRPr/>
            </a:pPr>
            <a:r>
              <a:rPr lang="en-US" altLang="zh-CN" sz="1600" b="1" dirty="0"/>
              <a:t>schmmit trigger</a:t>
            </a:r>
          </a:p>
        </p:txBody>
      </p:sp>
      <p:sp>
        <p:nvSpPr>
          <p:cNvPr id="21" name="文本框 20"/>
          <p:cNvSpPr txBox="1"/>
          <p:nvPr/>
        </p:nvSpPr>
        <p:spPr>
          <a:xfrm>
            <a:off x="5756910" y="5467985"/>
            <a:ext cx="4572000" cy="229870"/>
          </a:xfrm>
          <a:prstGeom prst="rect">
            <a:avLst/>
          </a:prstGeom>
          <a:noFill/>
        </p:spPr>
        <p:txBody>
          <a:bodyPr wrap="square" rtlCol="0" anchor="t">
            <a:spAutoFit/>
          </a:bodyPr>
          <a:lstStyle/>
          <a:p>
            <a:pPr algn="ctr" eaLnBrk="1" hangingPunct="1">
              <a:lnSpc>
                <a:spcPct val="75000"/>
              </a:lnSpc>
              <a:defRPr/>
            </a:pPr>
            <a:r>
              <a:rPr lang="en-US" altLang="zh-CN" sz="1200" b="1" kern="0" dirty="0">
                <a:solidFill>
                  <a:srgbClr val="00B050"/>
                </a:solidFill>
                <a:cs typeface="Times New Roman" panose="02020603050405020304" pitchFamily="18" charset="0"/>
                <a:sym typeface="+mn-ea"/>
              </a:rPr>
              <a:t>example</a:t>
            </a:r>
            <a:r>
              <a:rPr lang="zh-CN" altLang="en-US" sz="1200" b="1" kern="0" dirty="0">
                <a:solidFill>
                  <a:srgbClr val="00B050"/>
                </a:solidFill>
                <a:cs typeface="Times New Roman" panose="02020603050405020304" pitchFamily="18" charset="0"/>
                <a:sym typeface="+mn-ea"/>
              </a:rPr>
              <a:t>：P</a:t>
            </a:r>
            <a:r>
              <a:rPr lang="en-US" altLang="zh-CN" sz="1200" b="1" kern="0" dirty="0">
                <a:solidFill>
                  <a:srgbClr val="00B050"/>
                </a:solidFill>
                <a:cs typeface="Times New Roman" panose="02020603050405020304" pitchFamily="18" charset="0"/>
                <a:sym typeface="+mn-ea"/>
              </a:rPr>
              <a:t>1</a:t>
            </a:r>
            <a:r>
              <a:rPr lang="zh-CN" altLang="en-US" sz="1200" b="1" kern="0" dirty="0">
                <a:solidFill>
                  <a:srgbClr val="00B050"/>
                </a:solidFill>
                <a:cs typeface="Times New Roman" panose="02020603050405020304" pitchFamily="18" charset="0"/>
                <a:sym typeface="+mn-ea"/>
              </a:rPr>
              <a:t>.</a:t>
            </a:r>
            <a:r>
              <a:rPr lang="en-US" altLang="zh-CN" sz="1200" b="1" kern="0" dirty="0">
                <a:solidFill>
                  <a:srgbClr val="00B050"/>
                </a:solidFill>
                <a:cs typeface="Times New Roman" panose="02020603050405020304" pitchFamily="18" charset="0"/>
                <a:sym typeface="+mn-ea"/>
              </a:rPr>
              <a:t>0</a:t>
            </a:r>
            <a:r>
              <a:rPr lang="zh-CN" altLang="en-US" sz="1200" b="1" kern="0" dirty="0">
                <a:solidFill>
                  <a:srgbClr val="00B050"/>
                </a:solidFill>
                <a:cs typeface="Times New Roman" panose="02020603050405020304" pitchFamily="18" charset="0"/>
                <a:sym typeface="+mn-ea"/>
              </a:rPr>
              <a:t> line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189" descr="D:\DOCUME~1\ADMINI~1\LOCALS~1\Temp\HS5ClipImage_56b00a7d.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737" y="3042989"/>
            <a:ext cx="7888288" cy="334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763" name="Rectangle 3"/>
          <p:cNvSpPr>
            <a:spLocks noGrp="1" noChangeArrowheads="1"/>
          </p:cNvSpPr>
          <p:nvPr>
            <p:ph idx="1"/>
          </p:nvPr>
        </p:nvSpPr>
        <p:spPr>
          <a:xfrm>
            <a:off x="31115" y="1164590"/>
            <a:ext cx="9112885" cy="1945005"/>
          </a:xfrm>
        </p:spPr>
        <p:txBody>
          <a:bodyPr>
            <a:noAutofit/>
          </a:bodyPr>
          <a:lstStyle/>
          <a:p>
            <a:pPr marL="0" lvl="1" indent="0" eaLnBrk="1" hangingPunct="1">
              <a:lnSpc>
                <a:spcPct val="95000"/>
              </a:lnSpc>
              <a:spcBef>
                <a:spcPts val="0"/>
              </a:spcBef>
              <a:spcAft>
                <a:spcPts val="600"/>
              </a:spcAft>
              <a:buNone/>
              <a:defRPr/>
            </a:pPr>
            <a:r>
              <a:rPr lang="en-US" altLang="zh-CN" sz="2000" dirty="0">
                <a:latin typeface="Times New Roman" panose="02020603050405020304" pitchFamily="18" charset="0"/>
                <a:cs typeface="Times New Roman" panose="02020603050405020304" pitchFamily="18" charset="0"/>
              </a:rPr>
              <a:t>Each I/O port of the IAP15W4K58S4 microcontroller in weak pull-up mode can withstand a sink current of 20mA (</a:t>
            </a:r>
            <a:r>
              <a:rPr lang="en-US" altLang="zh-CN" sz="2000" dirty="0">
                <a:solidFill>
                  <a:srgbClr val="FF0000"/>
                </a:solidFill>
                <a:latin typeface="Times New Roman" panose="02020603050405020304" pitchFamily="18" charset="0"/>
                <a:cs typeface="Times New Roman" panose="02020603050405020304" pitchFamily="18" charset="0"/>
              </a:rPr>
              <a:t>it's best to use a current-limiting resistor,</a:t>
            </a:r>
            <a:r>
              <a:rPr lang="en-US" altLang="zh-CN" sz="2000" dirty="0">
                <a:latin typeface="Times New Roman" panose="02020603050405020304" pitchFamily="18" charset="0"/>
                <a:cs typeface="Times New Roman" panose="02020603050405020304" pitchFamily="18" charset="0"/>
              </a:rPr>
              <a:t> such as 1KΩ)</a:t>
            </a:r>
            <a:endParaRPr lang="zh-CN" altLang="en-US" sz="2000" dirty="0">
              <a:latin typeface="Times New Roman" panose="02020603050405020304" pitchFamily="18" charset="0"/>
              <a:cs typeface="Times New Roman" panose="02020603050405020304" pitchFamily="18" charset="0"/>
            </a:endParaRPr>
          </a:p>
          <a:p>
            <a:pPr marL="0" lvl="1" indent="0" eaLnBrk="1" hangingPunct="1">
              <a:lnSpc>
                <a:spcPct val="95000"/>
              </a:lnSpc>
              <a:spcBef>
                <a:spcPts val="0"/>
              </a:spcBef>
              <a:spcAft>
                <a:spcPts val="600"/>
              </a:spcAft>
              <a:buNone/>
              <a:defRPr/>
            </a:pPr>
            <a:r>
              <a:rPr lang="en-US" altLang="zh-CN" sz="2000" dirty="0">
                <a:latin typeface="Times New Roman" panose="02020603050405020304" pitchFamily="18" charset="0"/>
                <a:cs typeface="Times New Roman" panose="02020603050405020304" pitchFamily="18" charset="0"/>
              </a:rPr>
              <a:t>The recommended operating current for the entire chip should not exceed 90mA. </a:t>
            </a:r>
            <a:r>
              <a:rPr lang="en-US" altLang="zh-CN" sz="2000" dirty="0">
                <a:solidFill>
                  <a:srgbClr val="FF00FF"/>
                </a:solidFill>
                <a:latin typeface="Times New Roman" panose="02020603050405020304" pitchFamily="18" charset="0"/>
                <a:cs typeface="Times New Roman" panose="02020603050405020304" pitchFamily="18" charset="0"/>
              </a:rPr>
              <a:t>That is, the current flowing into MCU-</a:t>
            </a:r>
            <a:r>
              <a:rPr lang="en-US" altLang="zh-CN" sz="2000" dirty="0" err="1">
                <a:solidFill>
                  <a:srgbClr val="FF00FF"/>
                </a:solidFill>
                <a:latin typeface="Times New Roman" panose="02020603050405020304" pitchFamily="18" charset="0"/>
                <a:cs typeface="Times New Roman" panose="02020603050405020304" pitchFamily="18" charset="0"/>
              </a:rPr>
              <a:t>Vcc</a:t>
            </a:r>
            <a:r>
              <a:rPr lang="en-US" altLang="zh-CN" sz="2000" dirty="0">
                <a:solidFill>
                  <a:srgbClr val="FF00FF"/>
                </a:solidFill>
                <a:latin typeface="Times New Roman" panose="02020603050405020304" pitchFamily="18" charset="0"/>
                <a:cs typeface="Times New Roman" panose="02020603050405020304" pitchFamily="18" charset="0"/>
              </a:rPr>
              <a:t> should not exceed 90mA</a:t>
            </a:r>
            <a:r>
              <a:rPr lang="en-US" altLang="zh-CN" sz="2000" dirty="0">
                <a:solidFill>
                  <a:srgbClr val="0000CC"/>
                </a:solidFill>
                <a:latin typeface="Times New Roman" panose="02020603050405020304" pitchFamily="18" charset="0"/>
                <a:cs typeface="Times New Roman" panose="02020603050405020304" pitchFamily="18" charset="0"/>
              </a:rPr>
              <a:t>, the current flowing out of MCU-GND should not exceed 90mA</a:t>
            </a:r>
            <a:r>
              <a:rPr lang="en-US" altLang="zh-CN" sz="2000" dirty="0">
                <a:latin typeface="Times New Roman" panose="02020603050405020304" pitchFamily="18" charset="0"/>
                <a:cs typeface="Times New Roman" panose="02020603050405020304" pitchFamily="18" charset="0"/>
              </a:rPr>
              <a:t>, and the total inflow/outflow current should not exceed 90mA.</a:t>
            </a:r>
            <a:endParaRPr lang="zh-CN" altLang="en-US" sz="2000" dirty="0">
              <a:latin typeface="Times New Roman" panose="02020603050405020304" pitchFamily="18" charset="0"/>
              <a:cs typeface="Times New Roman" panose="02020603050405020304" pitchFamily="18" charset="0"/>
            </a:endParaRPr>
          </a:p>
        </p:txBody>
      </p:sp>
      <p:sp>
        <p:nvSpPr>
          <p:cNvPr id="106520" name="矩形 11"/>
          <p:cNvSpPr>
            <a:spLocks noChangeArrowheads="1"/>
          </p:cNvSpPr>
          <p:nvPr/>
        </p:nvSpPr>
        <p:spPr bwMode="auto">
          <a:xfrm>
            <a:off x="4660657" y="3473166"/>
            <a:ext cx="7543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0000"/>
                </a:solidFill>
              </a:rPr>
              <a:t>strong</a:t>
            </a:r>
          </a:p>
        </p:txBody>
      </p:sp>
      <p:sp>
        <p:nvSpPr>
          <p:cNvPr id="106521" name="矩形 12"/>
          <p:cNvSpPr>
            <a:spLocks noChangeArrowheads="1"/>
          </p:cNvSpPr>
          <p:nvPr/>
        </p:nvSpPr>
        <p:spPr bwMode="auto">
          <a:xfrm>
            <a:off x="5647549" y="3406990"/>
            <a:ext cx="112903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0000"/>
                </a:solidFill>
              </a:rPr>
              <a:t>very weak</a:t>
            </a:r>
          </a:p>
        </p:txBody>
      </p:sp>
      <p:sp>
        <p:nvSpPr>
          <p:cNvPr id="106522" name="矩形 13"/>
          <p:cNvSpPr>
            <a:spLocks noChangeArrowheads="1"/>
          </p:cNvSpPr>
          <p:nvPr/>
        </p:nvSpPr>
        <p:spPr bwMode="auto">
          <a:xfrm>
            <a:off x="7408153" y="3481456"/>
            <a:ext cx="6654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0000"/>
                </a:solidFill>
              </a:rPr>
              <a:t>weak</a:t>
            </a:r>
          </a:p>
        </p:txBody>
      </p:sp>
      <p:sp>
        <p:nvSpPr>
          <p:cNvPr id="106517" name="矩形 16"/>
          <p:cNvSpPr>
            <a:spLocks noChangeArrowheads="1"/>
          </p:cNvSpPr>
          <p:nvPr/>
        </p:nvSpPr>
        <p:spPr bwMode="auto">
          <a:xfrm>
            <a:off x="5922598" y="3180336"/>
            <a:ext cx="773067" cy="4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0000"/>
                </a:solidFill>
                <a:cs typeface="Times New Roman" panose="02020603050405020304" pitchFamily="18" charset="0"/>
              </a:rPr>
              <a:t>30μA</a:t>
            </a:r>
            <a:endParaRPr lang="zh-CN" altLang="en-US" sz="2000" b="1">
              <a:solidFill>
                <a:srgbClr val="FF0000"/>
              </a:solidFill>
            </a:endParaRPr>
          </a:p>
        </p:txBody>
      </p:sp>
      <p:sp>
        <p:nvSpPr>
          <p:cNvPr id="106518" name="矩形 17"/>
          <p:cNvSpPr>
            <a:spLocks noChangeArrowheads="1"/>
          </p:cNvSpPr>
          <p:nvPr/>
        </p:nvSpPr>
        <p:spPr bwMode="auto">
          <a:xfrm>
            <a:off x="4617402" y="3180136"/>
            <a:ext cx="840403" cy="4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0000"/>
                </a:solidFill>
                <a:cs typeface="Times New Roman" panose="02020603050405020304" pitchFamily="18" charset="0"/>
              </a:rPr>
              <a:t>20mA</a:t>
            </a:r>
            <a:endParaRPr lang="zh-CN" altLang="en-US" sz="2000" b="1">
              <a:solidFill>
                <a:srgbClr val="FF0000"/>
              </a:solidFill>
            </a:endParaRPr>
          </a:p>
        </p:txBody>
      </p:sp>
      <p:sp>
        <p:nvSpPr>
          <p:cNvPr id="106519" name="矩形 18"/>
          <p:cNvSpPr>
            <a:spLocks noChangeArrowheads="1"/>
          </p:cNvSpPr>
          <p:nvPr/>
        </p:nvSpPr>
        <p:spPr bwMode="auto">
          <a:xfrm>
            <a:off x="7208260" y="3229044"/>
            <a:ext cx="901325" cy="4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0000"/>
                </a:solidFill>
                <a:cs typeface="Times New Roman" panose="02020603050405020304" pitchFamily="18" charset="0"/>
              </a:rPr>
              <a:t>200μA</a:t>
            </a:r>
            <a:endParaRPr lang="zh-CN" altLang="en-US" sz="2000" b="1">
              <a:solidFill>
                <a:srgbClr val="FF0000"/>
              </a:solidFill>
            </a:endParaRPr>
          </a:p>
        </p:txBody>
      </p:sp>
      <p:sp>
        <p:nvSpPr>
          <p:cNvPr id="7" name="任意多边形 6"/>
          <p:cNvSpPr/>
          <p:nvPr/>
        </p:nvSpPr>
        <p:spPr bwMode="auto">
          <a:xfrm rot="21404582">
            <a:off x="5797550" y="4439989"/>
            <a:ext cx="1836737" cy="566737"/>
          </a:xfrm>
          <a:custGeom>
            <a:avLst/>
            <a:gdLst>
              <a:gd name="T0" fmla="*/ 1837088 w 1941838"/>
              <a:gd name="T1" fmla="*/ 27428 h 732096"/>
              <a:gd name="T2" fmla="*/ 230523 w 1941838"/>
              <a:gd name="T3" fmla="*/ 61154 h 732096"/>
              <a:gd name="T4" fmla="*/ 10821 w 1941838"/>
              <a:gd name="T5" fmla="*/ 567058 h 732096"/>
              <a:gd name="T6" fmla="*/ 10821 w 1941838"/>
              <a:gd name="T7" fmla="*/ 567058 h 7320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41838" h="732096">
                <a:moveTo>
                  <a:pt x="1941838" y="35411"/>
                </a:moveTo>
                <a:cubicBezTo>
                  <a:pt x="1253619" y="-875"/>
                  <a:pt x="565400" y="-37161"/>
                  <a:pt x="243667" y="78953"/>
                </a:cubicBezTo>
                <a:cubicBezTo>
                  <a:pt x="-78066" y="195067"/>
                  <a:pt x="11438" y="732096"/>
                  <a:pt x="11438" y="732096"/>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矩形 2"/>
          <p:cNvSpPr>
            <a:spLocks noChangeArrowheads="1"/>
          </p:cNvSpPr>
          <p:nvPr/>
        </p:nvSpPr>
        <p:spPr bwMode="auto">
          <a:xfrm>
            <a:off x="7237412" y="5066416"/>
            <a:ext cx="1924050" cy="7385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solidFill>
                  <a:srgbClr val="FF0000"/>
                </a:solidFill>
                <a:sym typeface="+mn-ea"/>
              </a:rPr>
              <a:t>At low output, the maximum sink current is 20mA</a:t>
            </a:r>
          </a:p>
        </p:txBody>
      </p:sp>
      <p:sp>
        <p:nvSpPr>
          <p:cNvPr id="15" name="矩形 14"/>
          <p:cNvSpPr>
            <a:spLocks noChangeArrowheads="1"/>
          </p:cNvSpPr>
          <p:nvPr/>
        </p:nvSpPr>
        <p:spPr bwMode="auto">
          <a:xfrm>
            <a:off x="154305" y="3543369"/>
            <a:ext cx="12207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dirty="0">
                <a:solidFill>
                  <a:srgbClr val="FF0000"/>
                </a:solidFill>
                <a:cs typeface="Times New Roman" panose="02020603050405020304" pitchFamily="18" charset="0"/>
              </a:rPr>
              <a:t>P0</a:t>
            </a:r>
            <a:r>
              <a:rPr lang="zh-CN" altLang="en-US" sz="2400" dirty="0">
                <a:solidFill>
                  <a:srgbClr val="FF0000"/>
                </a:solidFill>
                <a:cs typeface="Times New Roman" panose="02020603050405020304" pitchFamily="18" charset="0"/>
              </a:rPr>
              <a:t>～</a:t>
            </a:r>
            <a:r>
              <a:rPr lang="en-US" altLang="zh-CN" sz="2400" dirty="0">
                <a:solidFill>
                  <a:srgbClr val="FF0000"/>
                </a:solidFill>
                <a:cs typeface="Times New Roman" panose="02020603050405020304" pitchFamily="18" charset="0"/>
              </a:rPr>
              <a:t> P7</a:t>
            </a:r>
            <a:endParaRPr lang="zh-CN" altLang="en-US" sz="2400" dirty="0">
              <a:cs typeface="Times New Roman" panose="02020603050405020304" pitchFamily="18" charset="0"/>
            </a:endParaRPr>
          </a:p>
        </p:txBody>
      </p:sp>
      <p:pic>
        <p:nvPicPr>
          <p:cNvPr id="106514" name="图片 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4574" y="2942976"/>
            <a:ext cx="717651" cy="1295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6515" name="直接连接符 21"/>
          <p:cNvCxnSpPr>
            <a:cxnSpLocks noChangeShapeType="1"/>
          </p:cNvCxnSpPr>
          <p:nvPr/>
        </p:nvCxnSpPr>
        <p:spPr bwMode="auto">
          <a:xfrm flipV="1">
            <a:off x="8183562" y="4410473"/>
            <a:ext cx="285926" cy="912"/>
          </a:xfrm>
          <a:prstGeom prst="line">
            <a:avLst/>
          </a:prstGeom>
          <a:noFill/>
          <a:ln w="28575" algn="ctr">
            <a:solidFill>
              <a:srgbClr val="3333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516" name="直接连接符 22"/>
          <p:cNvCxnSpPr>
            <a:cxnSpLocks noChangeShapeType="1"/>
          </p:cNvCxnSpPr>
          <p:nvPr/>
        </p:nvCxnSpPr>
        <p:spPr bwMode="auto">
          <a:xfrm flipV="1">
            <a:off x="8469488" y="4177373"/>
            <a:ext cx="4478" cy="238803"/>
          </a:xfrm>
          <a:prstGeom prst="line">
            <a:avLst/>
          </a:prstGeom>
          <a:noFill/>
          <a:ln w="28575" algn="ctr">
            <a:solidFill>
              <a:srgbClr val="3333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矩形 23"/>
          <p:cNvSpPr/>
          <p:nvPr/>
        </p:nvSpPr>
        <p:spPr>
          <a:xfrm>
            <a:off x="801370" y="5300096"/>
            <a:ext cx="1071562" cy="592138"/>
          </a:xfrm>
          <a:prstGeom prst="rect">
            <a:avLst/>
          </a:prstGeom>
          <a:noFill/>
        </p:spPr>
        <p:txBody>
          <a:bodyPr lIns="0" tIns="36000" rIns="0" bIns="0" anchor="b">
            <a:spAutoFit/>
          </a:bodyPr>
          <a:lstStyle/>
          <a:p>
            <a:pPr algn="ctr" eaLnBrk="1" hangingPunct="1">
              <a:lnSpc>
                <a:spcPct val="75000"/>
              </a:lnSpc>
              <a:defRPr/>
            </a:pPr>
            <a:r>
              <a:rPr lang="zh-CN" altLang="en-US" sz="2400" b="1" kern="0" dirty="0">
                <a:solidFill>
                  <a:srgbClr val="00B050"/>
                </a:solidFill>
                <a:cs typeface="Times New Roman" panose="02020603050405020304" pitchFamily="18" charset="0"/>
              </a:rPr>
              <a:t>例</a:t>
            </a:r>
            <a:r>
              <a:rPr lang="en-US" altLang="zh-CN" sz="2400" b="1" kern="0" dirty="0">
                <a:solidFill>
                  <a:srgbClr val="00B050"/>
                </a:solidFill>
                <a:cs typeface="Times New Roman" panose="02020603050405020304" pitchFamily="18" charset="0"/>
              </a:rPr>
              <a:t>:</a:t>
            </a:r>
            <a:r>
              <a:rPr lang="zh-CN" altLang="en-US" sz="2400" b="1" kern="0" dirty="0">
                <a:solidFill>
                  <a:srgbClr val="00B050"/>
                </a:solidFill>
                <a:cs typeface="Times New Roman" panose="02020603050405020304" pitchFamily="18" charset="0"/>
              </a:rPr>
              <a:t>口线</a:t>
            </a:r>
            <a:r>
              <a:rPr lang="en-US" altLang="zh-CN" sz="2400" b="1" kern="0" dirty="0">
                <a:solidFill>
                  <a:srgbClr val="00B050"/>
                </a:solidFill>
                <a:cs typeface="Times New Roman" panose="02020603050405020304" pitchFamily="18" charset="0"/>
              </a:rPr>
              <a:t>P1.0</a:t>
            </a:r>
            <a:endParaRPr lang="en-US" altLang="zh-CN" sz="2400" b="1" dirty="0">
              <a:solidFill>
                <a:srgbClr val="00B050"/>
              </a:solidFill>
              <a:ea typeface="宋体" panose="02010600030101010101" pitchFamily="2" charset="-122"/>
              <a:cs typeface="Times New Roman" panose="02020603050405020304" pitchFamily="18" charset="0"/>
            </a:endParaRPr>
          </a:p>
        </p:txBody>
      </p:sp>
      <p:sp>
        <p:nvSpPr>
          <p:cNvPr id="25" name="矩形 24"/>
          <p:cNvSpPr>
            <a:spLocks noChangeArrowheads="1"/>
          </p:cNvSpPr>
          <p:nvPr/>
        </p:nvSpPr>
        <p:spPr bwMode="auto">
          <a:xfrm>
            <a:off x="5038725" y="4819401"/>
            <a:ext cx="3635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3333FF"/>
                </a:solidFill>
                <a:cs typeface="Times New Roman" panose="02020603050405020304" pitchFamily="18" charset="0"/>
              </a:rPr>
              <a:t>1</a:t>
            </a:r>
            <a:endParaRPr lang="zh-CN" altLang="en-US" sz="2800" b="1">
              <a:solidFill>
                <a:srgbClr val="3333FF"/>
              </a:solidFill>
            </a:endParaRPr>
          </a:p>
        </p:txBody>
      </p:sp>
      <p:sp>
        <p:nvSpPr>
          <p:cNvPr id="26" name="矩形 25"/>
          <p:cNvSpPr/>
          <p:nvPr/>
        </p:nvSpPr>
        <p:spPr>
          <a:xfrm>
            <a:off x="7097712" y="4463801"/>
            <a:ext cx="493713" cy="363538"/>
          </a:xfrm>
          <a:prstGeom prst="rect">
            <a:avLst/>
          </a:prstGeom>
          <a:noFill/>
        </p:spPr>
        <p:txBody>
          <a:bodyPr lIns="0" tIns="36000" rIns="0" bIns="0" anchor="b">
            <a:spAutoFit/>
          </a:bodyPr>
          <a:lstStyle/>
          <a:p>
            <a:pPr algn="ctr" eaLnBrk="1" hangingPunct="1">
              <a:lnSpc>
                <a:spcPct val="75000"/>
              </a:lnSpc>
              <a:defRPr/>
            </a:pPr>
            <a:r>
              <a:rPr lang="en-US" altLang="zh-CN" sz="2800" b="1" kern="0" dirty="0">
                <a:solidFill>
                  <a:srgbClr val="0000FF"/>
                </a:solidFill>
                <a:cs typeface="Times New Roman" panose="02020603050405020304" pitchFamily="18" charset="0"/>
              </a:rPr>
              <a:t>0</a:t>
            </a:r>
            <a:endParaRPr lang="en-US" altLang="zh-CN" sz="2800" b="1" dirty="0">
              <a:solidFill>
                <a:srgbClr val="0000FF"/>
              </a:solidFill>
              <a:ea typeface="宋体" panose="02010600030101010101" pitchFamily="2" charset="-122"/>
              <a:cs typeface="Times New Roman" panose="02020603050405020304" pitchFamily="18" charset="0"/>
            </a:endParaRPr>
          </a:p>
        </p:txBody>
      </p:sp>
      <p:sp>
        <p:nvSpPr>
          <p:cNvPr id="27" name="矩形 26"/>
          <p:cNvSpPr/>
          <p:nvPr/>
        </p:nvSpPr>
        <p:spPr>
          <a:xfrm>
            <a:off x="319087" y="4895601"/>
            <a:ext cx="536575" cy="361950"/>
          </a:xfrm>
          <a:prstGeom prst="rect">
            <a:avLst/>
          </a:prstGeom>
          <a:noFill/>
        </p:spPr>
        <p:txBody>
          <a:bodyPr lIns="0" tIns="36000" rIns="0" bIns="0" anchor="b">
            <a:spAutoFit/>
          </a:bodyPr>
          <a:lstStyle/>
          <a:p>
            <a:pPr algn="ctr" eaLnBrk="1" hangingPunct="1">
              <a:lnSpc>
                <a:spcPct val="75000"/>
              </a:lnSpc>
              <a:defRPr/>
            </a:pPr>
            <a:r>
              <a:rPr lang="en-US" altLang="zh-CN" sz="2800" b="1" kern="0" dirty="0">
                <a:solidFill>
                  <a:srgbClr val="0000FF"/>
                </a:solidFill>
                <a:cs typeface="Times New Roman" panose="02020603050405020304" pitchFamily="18" charset="0"/>
              </a:rPr>
              <a:t>0</a:t>
            </a:r>
            <a:endParaRPr lang="en-US" altLang="zh-CN" sz="2800" b="1" dirty="0">
              <a:solidFill>
                <a:srgbClr val="0000FF"/>
              </a:solidFill>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2"/>
          </p:nvPr>
        </p:nvSpPr>
        <p:spPr>
          <a:xfrm>
            <a:off x="7407881" y="6073775"/>
            <a:ext cx="984019" cy="365125"/>
          </a:xfrm>
        </p:spPr>
        <p:txBody>
          <a:bodyPr/>
          <a:lstStyle/>
          <a:p>
            <a:fld id="{22E77DEE-32E4-4009-988B-F2758F7B8AC2}" type="slidenum">
              <a:rPr lang="zh-CN" altLang="en-US" smtClean="0"/>
              <a:t>55</a:t>
            </a:fld>
            <a:endParaRPr lang="zh-CN" altLang="en-US"/>
          </a:p>
        </p:txBody>
      </p:sp>
      <p:sp>
        <p:nvSpPr>
          <p:cNvPr id="12" name="标题 3"/>
          <p:cNvSpPr>
            <a:spLocks noGrp="1" noChangeArrowheads="1"/>
          </p:cNvSpPr>
          <p:nvPr>
            <p:ph type="title"/>
          </p:nvPr>
        </p:nvSpPr>
        <p:spPr>
          <a:xfrm>
            <a:off x="801053" y="166154"/>
            <a:ext cx="8229600" cy="1045744"/>
          </a:xfrm>
        </p:spPr>
        <p:txBody>
          <a:bodyPr>
            <a:noAutofit/>
          </a:bodyPr>
          <a:lstStyle/>
          <a:p>
            <a:pPr eaLnBrk="1" hangingPunct="1"/>
            <a:r>
              <a:rPr lang="en-US" altLang="zh-CN" sz="3600" dirty="0">
                <a:solidFill>
                  <a:srgbClr val="FF0000"/>
                </a:solidFill>
              </a:rPr>
              <a:t>Structure of the dual-directional (weak pull-up) working mode</a:t>
            </a:r>
            <a:endParaRPr lang="zh-CN" altLang="en-US" sz="3600" dirty="0">
              <a:solidFill>
                <a:srgbClr val="FF0000"/>
              </a:solidFill>
            </a:endParaRPr>
          </a:p>
        </p:txBody>
      </p:sp>
      <p:sp>
        <p:nvSpPr>
          <p:cNvPr id="2" name="文本框 1"/>
          <p:cNvSpPr txBox="1"/>
          <p:nvPr/>
        </p:nvSpPr>
        <p:spPr>
          <a:xfrm>
            <a:off x="-16510" y="3901440"/>
            <a:ext cx="1527810" cy="337185"/>
          </a:xfrm>
          <a:prstGeom prst="rect">
            <a:avLst/>
          </a:prstGeom>
        </p:spPr>
        <p:txBody>
          <a:bodyPr wrap="square">
            <a:spAutoFit/>
          </a:bodyPr>
          <a:lstStyle/>
          <a:p>
            <a:r>
              <a:rPr lang="en-US" altLang="zh-CN" sz="1600"/>
              <a:t>Port Data Latch</a:t>
            </a:r>
          </a:p>
        </p:txBody>
      </p:sp>
      <p:sp>
        <p:nvSpPr>
          <p:cNvPr id="5" name="文本框 4"/>
          <p:cNvSpPr txBox="1"/>
          <p:nvPr/>
        </p:nvSpPr>
        <p:spPr>
          <a:xfrm>
            <a:off x="2675255" y="5955665"/>
            <a:ext cx="3048000" cy="368300"/>
          </a:xfrm>
          <a:prstGeom prst="rect">
            <a:avLst/>
          </a:prstGeom>
          <a:noFill/>
        </p:spPr>
        <p:txBody>
          <a:bodyPr wrap="square" rtlCol="0">
            <a:spAutoFit/>
          </a:bodyPr>
          <a:lstStyle/>
          <a:p>
            <a:r>
              <a:rPr lang="en-US" altLang="zh-CN"/>
              <a:t>input data </a:t>
            </a:r>
          </a:p>
        </p:txBody>
      </p:sp>
      <p:sp>
        <p:nvSpPr>
          <p:cNvPr id="6" name="文本框 5"/>
          <p:cNvSpPr txBox="1"/>
          <p:nvPr/>
        </p:nvSpPr>
        <p:spPr>
          <a:xfrm>
            <a:off x="5851525" y="6398895"/>
            <a:ext cx="2802890" cy="337185"/>
          </a:xfrm>
          <a:prstGeom prst="rect">
            <a:avLst/>
          </a:prstGeom>
        </p:spPr>
        <p:txBody>
          <a:bodyPr wrap="square">
            <a:spAutoFit/>
          </a:bodyPr>
          <a:lstStyle/>
          <a:p>
            <a:r>
              <a:rPr lang="en-US" altLang="zh-CN" sz="1600"/>
              <a:t>Interference Suppression Filter</a:t>
            </a:r>
          </a:p>
        </p:txBody>
      </p:sp>
      <p:sp>
        <p:nvSpPr>
          <p:cNvPr id="8" name="文本框 7"/>
          <p:cNvSpPr txBox="1"/>
          <p:nvPr/>
        </p:nvSpPr>
        <p:spPr>
          <a:xfrm>
            <a:off x="7444105" y="4757420"/>
            <a:ext cx="3048000" cy="368300"/>
          </a:xfrm>
          <a:prstGeom prst="rect">
            <a:avLst/>
          </a:prstGeom>
          <a:noFill/>
        </p:spPr>
        <p:txBody>
          <a:bodyPr wrap="square" rtlCol="0">
            <a:spAutoFit/>
          </a:bodyPr>
          <a:lstStyle/>
          <a:p>
            <a:r>
              <a:rPr lang="en-US" altLang="zh-CN"/>
              <a:t>Port Pin</a:t>
            </a:r>
          </a:p>
        </p:txBody>
      </p:sp>
      <p:sp>
        <p:nvSpPr>
          <p:cNvPr id="9" name="文本框 8"/>
          <p:cNvSpPr txBox="1"/>
          <p:nvPr/>
        </p:nvSpPr>
        <p:spPr>
          <a:xfrm>
            <a:off x="2040890" y="4127500"/>
            <a:ext cx="3048000" cy="583565"/>
          </a:xfrm>
          <a:prstGeom prst="rect">
            <a:avLst/>
          </a:prstGeom>
          <a:noFill/>
        </p:spPr>
        <p:txBody>
          <a:bodyPr wrap="square" rtlCol="0">
            <a:spAutoFit/>
          </a:bodyPr>
          <a:lstStyle/>
          <a:p>
            <a:r>
              <a:rPr lang="en-US" altLang="zh-CN" sz="1600"/>
              <a:t>2 CPU clock</a:t>
            </a:r>
          </a:p>
          <a:p>
            <a:r>
              <a:rPr lang="en-US" altLang="zh-CN" sz="1600"/>
              <a:t>delays</a:t>
            </a:r>
          </a:p>
        </p:txBody>
      </p:sp>
      <p:sp>
        <p:nvSpPr>
          <p:cNvPr id="13" name="文本框 12"/>
          <p:cNvSpPr txBox="1"/>
          <p:nvPr/>
        </p:nvSpPr>
        <p:spPr>
          <a:xfrm>
            <a:off x="312420" y="5804853"/>
            <a:ext cx="5080000" cy="337185"/>
          </a:xfrm>
          <a:prstGeom prst="rect">
            <a:avLst/>
          </a:prstGeom>
        </p:spPr>
        <p:txBody>
          <a:bodyPr>
            <a:spAutoFit/>
          </a:bodyPr>
          <a:lstStyle/>
          <a:p>
            <a:r>
              <a:rPr lang="en-US" altLang="zh-CN" sz="1600" b="1">
                <a:solidFill>
                  <a:srgbClr val="00B050"/>
                </a:solidFill>
              </a:rPr>
              <a:t>Example: Mouth line P1.0</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3" name="Rectangle 3"/>
          <p:cNvSpPr>
            <a:spLocks noGrp="1" noChangeArrowheads="1"/>
          </p:cNvSpPr>
          <p:nvPr>
            <p:ph idx="1"/>
          </p:nvPr>
        </p:nvSpPr>
        <p:spPr>
          <a:xfrm>
            <a:off x="537734" y="1237511"/>
            <a:ext cx="8101013" cy="1283440"/>
          </a:xfrm>
        </p:spPr>
        <p:txBody>
          <a:bodyPr>
            <a:normAutofit fontScale="92500" lnSpcReduction="10000"/>
          </a:bodyPr>
          <a:lstStyle/>
          <a:p>
            <a:pPr marL="262255" lvl="1" indent="-262255" eaLnBrk="1" hangingPunct="1">
              <a:spcBef>
                <a:spcPct val="0"/>
              </a:spcBef>
              <a:spcAft>
                <a:spcPts val="200"/>
              </a:spcAft>
            </a:pPr>
            <a:r>
              <a:rPr lang="en-US" altLang="zh-CN" sz="1900" dirty="0">
                <a:solidFill>
                  <a:srgbClr val="0000CC"/>
                </a:solidFill>
                <a:latin typeface="Times New Roman" panose="02020603050405020304" pitchFamily="18" charset="0"/>
                <a:cs typeface="Times New Roman" panose="02020603050405020304" pitchFamily="18" charset="0"/>
              </a:rPr>
              <a:t>When the latch is 1 </a:t>
            </a:r>
            <a:r>
              <a:rPr lang="en-US" altLang="zh-CN" sz="1900" dirty="0">
                <a:latin typeface="Times New Roman" panose="02020603050405020304" pitchFamily="18" charset="0"/>
                <a:cs typeface="Times New Roman" panose="02020603050405020304" pitchFamily="18" charset="0"/>
              </a:rPr>
              <a:t>and </a:t>
            </a:r>
            <a:r>
              <a:rPr lang="en-US" altLang="zh-CN" sz="1900" dirty="0">
                <a:solidFill>
                  <a:srgbClr val="FF00FF"/>
                </a:solidFill>
                <a:latin typeface="Times New Roman" panose="02020603050405020304" pitchFamily="18" charset="0"/>
                <a:cs typeface="Times New Roman" panose="02020603050405020304" pitchFamily="18" charset="0"/>
              </a:rPr>
              <a:t>the port line pin itself is also 1</a:t>
            </a:r>
            <a:r>
              <a:rPr lang="en-US" altLang="zh-CN" sz="1900" dirty="0">
                <a:latin typeface="Times New Roman" panose="02020603050405020304" pitchFamily="18" charset="0"/>
                <a:cs typeface="Times New Roman" panose="02020603050405020304" pitchFamily="18" charset="0"/>
              </a:rPr>
              <a:t>, T3 is turned on. T3 provides the basic drive current to make the quasi-bidirectional port output 1.</a:t>
            </a:r>
          </a:p>
          <a:p>
            <a:pPr marL="262255" lvl="1" indent="-262255" eaLnBrk="1" hangingPunct="1">
              <a:spcBef>
                <a:spcPct val="0"/>
              </a:spcBef>
              <a:spcAft>
                <a:spcPts val="200"/>
              </a:spcAft>
            </a:pPr>
            <a:r>
              <a:rPr lang="en-US" altLang="zh-CN" sz="1900" dirty="0">
                <a:solidFill>
                  <a:srgbClr val="FF0000"/>
                </a:solidFill>
                <a:latin typeface="Times New Roman" panose="02020603050405020304" pitchFamily="18" charset="0"/>
                <a:cs typeface="Times New Roman" panose="02020603050405020304" pitchFamily="18" charset="0"/>
              </a:rPr>
              <a:t>If the pin outputs "1" and is pulled low by an external device</a:t>
            </a:r>
            <a:r>
              <a:rPr lang="en-US" altLang="zh-CN" sz="1900" dirty="0">
                <a:latin typeface="Times New Roman" panose="02020603050405020304" pitchFamily="18" charset="0"/>
                <a:cs typeface="Times New Roman" panose="02020603050405020304" pitchFamily="18" charset="0"/>
              </a:rPr>
              <a:t>, T3 turns off, while T2 remains on. To forcibly pull this pin low, the external device must have sufficient sink current capability to drop the voltage on the pin below the threshold voltage.</a:t>
            </a:r>
          </a:p>
          <a:p>
            <a:pPr marL="262255" lvl="1" indent="-262255" eaLnBrk="1" hangingPunct="1">
              <a:spcBef>
                <a:spcPct val="0"/>
              </a:spcBef>
              <a:spcAft>
                <a:spcPts val="200"/>
              </a:spcAft>
            </a:pPr>
            <a:endParaRPr lang="zh-CN" altLang="en-US" dirty="0">
              <a:latin typeface="Times New Roman" panose="02020603050405020304" pitchFamily="18" charset="0"/>
              <a:cs typeface="Times New Roman" panose="02020603050405020304" pitchFamily="18" charset="0"/>
            </a:endParaRPr>
          </a:p>
        </p:txBody>
      </p:sp>
      <p:pic>
        <p:nvPicPr>
          <p:cNvPr id="16" name="Picture 189" descr="D:\DOCUME~1\ADMINI~1\LOCALS~1\Temp\HS5ClipImage_56b00a7d.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348" y="2520951"/>
            <a:ext cx="8258175" cy="334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 name="组合 16"/>
          <p:cNvGrpSpPr/>
          <p:nvPr/>
        </p:nvGrpSpPr>
        <p:grpSpPr bwMode="auto">
          <a:xfrm>
            <a:off x="4712658" y="2825751"/>
            <a:ext cx="3255634" cy="421005"/>
            <a:chOff x="4889981" y="2699591"/>
            <a:chExt cx="3256703" cy="421068"/>
          </a:xfrm>
        </p:grpSpPr>
        <p:sp>
          <p:nvSpPr>
            <p:cNvPr id="107555" name="矩形 17"/>
            <p:cNvSpPr>
              <a:spLocks noChangeArrowheads="1"/>
            </p:cNvSpPr>
            <p:nvPr/>
          </p:nvSpPr>
          <p:spPr bwMode="auto">
            <a:xfrm>
              <a:off x="4889981" y="2699591"/>
              <a:ext cx="869600" cy="398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B050"/>
                  </a:solidFill>
                </a:rPr>
                <a:t>strong</a:t>
              </a:r>
            </a:p>
          </p:txBody>
        </p:sp>
        <p:sp>
          <p:nvSpPr>
            <p:cNvPr id="107556" name="矩形 18"/>
            <p:cNvSpPr>
              <a:spLocks noChangeArrowheads="1"/>
            </p:cNvSpPr>
            <p:nvPr/>
          </p:nvSpPr>
          <p:spPr bwMode="auto">
            <a:xfrm>
              <a:off x="5950665" y="2705942"/>
              <a:ext cx="1291379" cy="398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B050"/>
                  </a:solidFill>
                </a:rPr>
                <a:t>very weak</a:t>
              </a:r>
            </a:p>
          </p:txBody>
        </p:sp>
        <p:sp>
          <p:nvSpPr>
            <p:cNvPr id="107557" name="矩形 19"/>
            <p:cNvSpPr>
              <a:spLocks noChangeArrowheads="1"/>
            </p:cNvSpPr>
            <p:nvPr/>
          </p:nvSpPr>
          <p:spPr bwMode="auto">
            <a:xfrm>
              <a:off x="7399044" y="2721819"/>
              <a:ext cx="747640" cy="398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B050"/>
                  </a:solidFill>
                </a:rPr>
                <a:t>weak</a:t>
              </a:r>
            </a:p>
          </p:txBody>
        </p:sp>
      </p:grpSp>
      <p:sp>
        <p:nvSpPr>
          <p:cNvPr id="21" name="矩形 20"/>
          <p:cNvSpPr>
            <a:spLocks noChangeArrowheads="1"/>
          </p:cNvSpPr>
          <p:nvPr/>
        </p:nvSpPr>
        <p:spPr bwMode="auto">
          <a:xfrm>
            <a:off x="83185" y="2947036"/>
            <a:ext cx="1143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a:solidFill>
                  <a:srgbClr val="FF0000"/>
                </a:solidFill>
                <a:cs typeface="Times New Roman" panose="02020603050405020304" pitchFamily="18" charset="0"/>
              </a:rPr>
              <a:t>P0</a:t>
            </a:r>
            <a:r>
              <a:rPr lang="zh-CN" altLang="en-US" sz="2400">
                <a:solidFill>
                  <a:srgbClr val="FF0000"/>
                </a:solidFill>
                <a:cs typeface="Times New Roman" panose="02020603050405020304" pitchFamily="18" charset="0"/>
              </a:rPr>
              <a:t>～</a:t>
            </a:r>
            <a:r>
              <a:rPr lang="en-US" altLang="zh-CN" sz="2400">
                <a:solidFill>
                  <a:srgbClr val="FF0000"/>
                </a:solidFill>
                <a:cs typeface="Times New Roman" panose="02020603050405020304" pitchFamily="18" charset="0"/>
              </a:rPr>
              <a:t>P7</a:t>
            </a:r>
            <a:endParaRPr lang="zh-CN" altLang="en-US" sz="2400">
              <a:cs typeface="Times New Roman" panose="02020603050405020304" pitchFamily="18" charset="0"/>
            </a:endParaRPr>
          </a:p>
        </p:txBody>
      </p:sp>
      <p:sp>
        <p:nvSpPr>
          <p:cNvPr id="22" name="矩形 21"/>
          <p:cNvSpPr>
            <a:spLocks noChangeArrowheads="1"/>
          </p:cNvSpPr>
          <p:nvPr/>
        </p:nvSpPr>
        <p:spPr bwMode="auto">
          <a:xfrm>
            <a:off x="583565" y="4276726"/>
            <a:ext cx="3381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sp>
        <p:nvSpPr>
          <p:cNvPr id="23" name="矩形 22"/>
          <p:cNvSpPr>
            <a:spLocks noChangeArrowheads="1"/>
          </p:cNvSpPr>
          <p:nvPr/>
        </p:nvSpPr>
        <p:spPr bwMode="auto">
          <a:xfrm>
            <a:off x="3108960" y="394811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0</a:t>
            </a:r>
            <a:endParaRPr lang="zh-CN" altLang="en-US" sz="2400" b="1"/>
          </a:p>
        </p:txBody>
      </p:sp>
      <p:sp>
        <p:nvSpPr>
          <p:cNvPr id="24" name="矩形 23"/>
          <p:cNvSpPr>
            <a:spLocks noChangeArrowheads="1"/>
          </p:cNvSpPr>
          <p:nvPr/>
        </p:nvSpPr>
        <p:spPr bwMode="auto">
          <a:xfrm>
            <a:off x="1927860" y="2520951"/>
            <a:ext cx="3381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sp>
        <p:nvSpPr>
          <p:cNvPr id="25" name="矩形 24"/>
          <p:cNvSpPr>
            <a:spLocks noChangeArrowheads="1"/>
          </p:cNvSpPr>
          <p:nvPr/>
        </p:nvSpPr>
        <p:spPr bwMode="auto">
          <a:xfrm>
            <a:off x="3907473" y="2770188"/>
            <a:ext cx="3381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sp>
        <p:nvSpPr>
          <p:cNvPr id="29" name="矩形 28"/>
          <p:cNvSpPr>
            <a:spLocks noChangeArrowheads="1"/>
          </p:cNvSpPr>
          <p:nvPr/>
        </p:nvSpPr>
        <p:spPr bwMode="auto">
          <a:xfrm>
            <a:off x="3305810" y="2517776"/>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sp>
        <p:nvSpPr>
          <p:cNvPr id="33" name="任意多边形 32"/>
          <p:cNvSpPr/>
          <p:nvPr/>
        </p:nvSpPr>
        <p:spPr bwMode="auto">
          <a:xfrm>
            <a:off x="6049010" y="2930526"/>
            <a:ext cx="1657350" cy="885825"/>
          </a:xfrm>
          <a:custGeom>
            <a:avLst/>
            <a:gdLst>
              <a:gd name="T0" fmla="*/ 16487 w 1759219"/>
              <a:gd name="T1" fmla="*/ 0 h 675238"/>
              <a:gd name="T2" fmla="*/ 235210 w 1759219"/>
              <a:gd name="T3" fmla="*/ 780613 h 675238"/>
              <a:gd name="T4" fmla="*/ 1656911 w 1759219"/>
              <a:gd name="T5" fmla="*/ 856771 h 675238"/>
              <a:gd name="T6" fmla="*/ 0 60000 65536"/>
              <a:gd name="T7" fmla="*/ 0 60000 65536"/>
              <a:gd name="T8" fmla="*/ 0 60000 65536"/>
            </a:gdLst>
            <a:ahLst/>
            <a:cxnLst>
              <a:cxn ang="T6">
                <a:pos x="T0" y="T1"/>
              </a:cxn>
              <a:cxn ang="T7">
                <a:pos x="T2" y="T3"/>
              </a:cxn>
              <a:cxn ang="T8">
                <a:pos x="T4" y="T5"/>
              </a:cxn>
            </a:cxnLst>
            <a:rect l="0" t="0" r="r" b="b"/>
            <a:pathLst>
              <a:path w="1759219" h="675238">
                <a:moveTo>
                  <a:pt x="17505" y="0"/>
                </a:moveTo>
                <a:cubicBezTo>
                  <a:pt x="-11524" y="243114"/>
                  <a:pt x="-40553" y="486229"/>
                  <a:pt x="249733" y="595086"/>
                </a:cubicBezTo>
                <a:cubicBezTo>
                  <a:pt x="540019" y="703943"/>
                  <a:pt x="1149619" y="678543"/>
                  <a:pt x="1759219" y="653143"/>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任意多边形 33"/>
          <p:cNvSpPr/>
          <p:nvPr/>
        </p:nvSpPr>
        <p:spPr bwMode="auto">
          <a:xfrm>
            <a:off x="7758748" y="2820988"/>
            <a:ext cx="827087" cy="885825"/>
          </a:xfrm>
          <a:custGeom>
            <a:avLst/>
            <a:gdLst>
              <a:gd name="T0" fmla="*/ 8243 w 1759219"/>
              <a:gd name="T1" fmla="*/ 0 h 675238"/>
              <a:gd name="T2" fmla="*/ 117605 w 1759219"/>
              <a:gd name="T3" fmla="*/ 780613 h 675238"/>
              <a:gd name="T4" fmla="*/ 828455 w 1759219"/>
              <a:gd name="T5" fmla="*/ 856771 h 675238"/>
              <a:gd name="T6" fmla="*/ 0 60000 65536"/>
              <a:gd name="T7" fmla="*/ 0 60000 65536"/>
              <a:gd name="T8" fmla="*/ 0 60000 65536"/>
            </a:gdLst>
            <a:ahLst/>
            <a:cxnLst>
              <a:cxn ang="T6">
                <a:pos x="T0" y="T1"/>
              </a:cxn>
              <a:cxn ang="T7">
                <a:pos x="T2" y="T3"/>
              </a:cxn>
              <a:cxn ang="T8">
                <a:pos x="T4" y="T5"/>
              </a:cxn>
            </a:cxnLst>
            <a:rect l="0" t="0" r="r" b="b"/>
            <a:pathLst>
              <a:path w="1759219" h="675238">
                <a:moveTo>
                  <a:pt x="17505" y="0"/>
                </a:moveTo>
                <a:cubicBezTo>
                  <a:pt x="-11524" y="243114"/>
                  <a:pt x="-40553" y="486229"/>
                  <a:pt x="249733" y="595086"/>
                </a:cubicBezTo>
                <a:cubicBezTo>
                  <a:pt x="540019" y="703943"/>
                  <a:pt x="1149619" y="678543"/>
                  <a:pt x="1759219" y="653143"/>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矩形 35"/>
          <p:cNvSpPr>
            <a:spLocks noChangeArrowheads="1"/>
          </p:cNvSpPr>
          <p:nvPr/>
        </p:nvSpPr>
        <p:spPr bwMode="auto">
          <a:xfrm>
            <a:off x="4749483" y="3381376"/>
            <a:ext cx="538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off</a:t>
            </a:r>
          </a:p>
        </p:txBody>
      </p:sp>
      <p:sp>
        <p:nvSpPr>
          <p:cNvPr id="37" name="矩形 36"/>
          <p:cNvSpPr>
            <a:spLocks noChangeArrowheads="1"/>
          </p:cNvSpPr>
          <p:nvPr/>
        </p:nvSpPr>
        <p:spPr bwMode="auto">
          <a:xfrm>
            <a:off x="5476717" y="3384551"/>
            <a:ext cx="5048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on</a:t>
            </a:r>
          </a:p>
        </p:txBody>
      </p:sp>
      <p:sp>
        <p:nvSpPr>
          <p:cNvPr id="38" name="矩形 37"/>
          <p:cNvSpPr>
            <a:spLocks noChangeArrowheads="1"/>
          </p:cNvSpPr>
          <p:nvPr/>
        </p:nvSpPr>
        <p:spPr bwMode="auto">
          <a:xfrm>
            <a:off x="6982302" y="3392488"/>
            <a:ext cx="5048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on</a:t>
            </a:r>
          </a:p>
        </p:txBody>
      </p:sp>
      <p:sp>
        <p:nvSpPr>
          <p:cNvPr id="39" name="任意多边形 38"/>
          <p:cNvSpPr/>
          <p:nvPr/>
        </p:nvSpPr>
        <p:spPr bwMode="auto">
          <a:xfrm>
            <a:off x="6615748" y="3436938"/>
            <a:ext cx="757237" cy="1428750"/>
          </a:xfrm>
          <a:custGeom>
            <a:avLst/>
            <a:gdLst>
              <a:gd name="T0" fmla="*/ 743021 w 757535"/>
              <a:gd name="T1" fmla="*/ 624115 h 1429925"/>
              <a:gd name="T2" fmla="*/ 757535 w 757535"/>
              <a:gd name="T3" fmla="*/ 783772 h 1429925"/>
              <a:gd name="T4" fmla="*/ 743021 w 757535"/>
              <a:gd name="T5" fmla="*/ 1103086 h 1429925"/>
              <a:gd name="T6" fmla="*/ 743021 w 757535"/>
              <a:gd name="T7" fmla="*/ 1378858 h 1429925"/>
              <a:gd name="T8" fmla="*/ 612393 w 757535"/>
              <a:gd name="T9" fmla="*/ 1422400 h 1429925"/>
              <a:gd name="T10" fmla="*/ 322107 w 757535"/>
              <a:gd name="T11" fmla="*/ 1422400 h 1429925"/>
              <a:gd name="T12" fmla="*/ 104393 w 757535"/>
              <a:gd name="T13" fmla="*/ 1422400 h 1429925"/>
              <a:gd name="T14" fmla="*/ 31821 w 757535"/>
              <a:gd name="T15" fmla="*/ 1320800 h 1429925"/>
              <a:gd name="T16" fmla="*/ 2793 w 757535"/>
              <a:gd name="T17" fmla="*/ 1117600 h 1429925"/>
              <a:gd name="T18" fmla="*/ 2793 w 757535"/>
              <a:gd name="T19" fmla="*/ 740229 h 1429925"/>
              <a:gd name="T20" fmla="*/ 17307 w 757535"/>
              <a:gd name="T21" fmla="*/ 319315 h 1429925"/>
              <a:gd name="T22" fmla="*/ 17307 w 757535"/>
              <a:gd name="T23" fmla="*/ 72572 h 1429925"/>
              <a:gd name="T24" fmla="*/ 162450 w 757535"/>
              <a:gd name="T25" fmla="*/ 14515 h 1429925"/>
              <a:gd name="T26" fmla="*/ 409193 w 757535"/>
              <a:gd name="T27" fmla="*/ 0 h 14299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57535" h="1429925">
                <a:moveTo>
                  <a:pt x="743021" y="624115"/>
                </a:moveTo>
                <a:cubicBezTo>
                  <a:pt x="750278" y="664029"/>
                  <a:pt x="757535" y="703944"/>
                  <a:pt x="757535" y="783772"/>
                </a:cubicBezTo>
                <a:cubicBezTo>
                  <a:pt x="757535" y="863600"/>
                  <a:pt x="745440" y="1003905"/>
                  <a:pt x="743021" y="1103086"/>
                </a:cubicBezTo>
                <a:cubicBezTo>
                  <a:pt x="740602" y="1202267"/>
                  <a:pt x="764792" y="1325639"/>
                  <a:pt x="743021" y="1378858"/>
                </a:cubicBezTo>
                <a:cubicBezTo>
                  <a:pt x="721250" y="1432077"/>
                  <a:pt x="682545" y="1415143"/>
                  <a:pt x="612393" y="1422400"/>
                </a:cubicBezTo>
                <a:cubicBezTo>
                  <a:pt x="542241" y="1429657"/>
                  <a:pt x="322107" y="1422400"/>
                  <a:pt x="322107" y="1422400"/>
                </a:cubicBezTo>
                <a:cubicBezTo>
                  <a:pt x="237440" y="1422400"/>
                  <a:pt x="152774" y="1439333"/>
                  <a:pt x="104393" y="1422400"/>
                </a:cubicBezTo>
                <a:cubicBezTo>
                  <a:pt x="56012" y="1405467"/>
                  <a:pt x="48754" y="1371600"/>
                  <a:pt x="31821" y="1320800"/>
                </a:cubicBezTo>
                <a:cubicBezTo>
                  <a:pt x="14888" y="1270000"/>
                  <a:pt x="7631" y="1214362"/>
                  <a:pt x="2793" y="1117600"/>
                </a:cubicBezTo>
                <a:cubicBezTo>
                  <a:pt x="-2045" y="1020838"/>
                  <a:pt x="374" y="873276"/>
                  <a:pt x="2793" y="740229"/>
                </a:cubicBezTo>
                <a:cubicBezTo>
                  <a:pt x="5212" y="607182"/>
                  <a:pt x="14888" y="430591"/>
                  <a:pt x="17307" y="319315"/>
                </a:cubicBezTo>
                <a:cubicBezTo>
                  <a:pt x="19726" y="208039"/>
                  <a:pt x="-6883" y="123372"/>
                  <a:pt x="17307" y="72572"/>
                </a:cubicBezTo>
                <a:cubicBezTo>
                  <a:pt x="41497" y="21772"/>
                  <a:pt x="97136" y="26610"/>
                  <a:pt x="162450" y="14515"/>
                </a:cubicBezTo>
                <a:cubicBezTo>
                  <a:pt x="227764" y="2420"/>
                  <a:pt x="318478" y="1210"/>
                  <a:pt x="409193" y="0"/>
                </a:cubicBezTo>
              </a:path>
            </a:pathLst>
          </a:custGeom>
          <a:noFill/>
          <a:ln w="9525"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矩形 39"/>
          <p:cNvSpPr>
            <a:spLocks noChangeArrowheads="1"/>
          </p:cNvSpPr>
          <p:nvPr/>
        </p:nvSpPr>
        <p:spPr bwMode="auto">
          <a:xfrm>
            <a:off x="7465060" y="340836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grpSp>
        <p:nvGrpSpPr>
          <p:cNvPr id="45" name="组合 44"/>
          <p:cNvGrpSpPr/>
          <p:nvPr/>
        </p:nvGrpSpPr>
        <p:grpSpPr bwMode="auto">
          <a:xfrm>
            <a:off x="4945698" y="2554288"/>
            <a:ext cx="3667125" cy="946150"/>
            <a:chOff x="4874106" y="3312640"/>
            <a:chExt cx="3666444" cy="945293"/>
          </a:xfrm>
        </p:grpSpPr>
        <p:sp>
          <p:nvSpPr>
            <p:cNvPr id="107552" name="矩形 45"/>
            <p:cNvSpPr>
              <a:spLocks noChangeArrowheads="1"/>
            </p:cNvSpPr>
            <p:nvPr/>
          </p:nvSpPr>
          <p:spPr bwMode="auto">
            <a:xfrm>
              <a:off x="6095382" y="3312718"/>
              <a:ext cx="7729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B050"/>
                  </a:solidFill>
                  <a:cs typeface="Times New Roman" panose="02020603050405020304" pitchFamily="18" charset="0"/>
                </a:rPr>
                <a:t>30μA</a:t>
              </a:r>
              <a:endParaRPr lang="zh-CN" altLang="en-US" sz="2000" b="1">
                <a:solidFill>
                  <a:srgbClr val="00B050"/>
                </a:solidFill>
              </a:endParaRPr>
            </a:p>
          </p:txBody>
        </p:sp>
        <p:sp>
          <p:nvSpPr>
            <p:cNvPr id="107553" name="矩形 46"/>
            <p:cNvSpPr>
              <a:spLocks noChangeArrowheads="1"/>
            </p:cNvSpPr>
            <p:nvPr/>
          </p:nvSpPr>
          <p:spPr bwMode="auto">
            <a:xfrm>
              <a:off x="4874106" y="3312640"/>
              <a:ext cx="84029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B050"/>
                  </a:solidFill>
                  <a:cs typeface="Times New Roman" panose="02020603050405020304" pitchFamily="18" charset="0"/>
                </a:rPr>
                <a:t>20mA</a:t>
              </a:r>
              <a:endParaRPr lang="zh-CN" altLang="en-US" sz="2000" b="1">
                <a:solidFill>
                  <a:srgbClr val="00B050"/>
                </a:solidFill>
              </a:endParaRPr>
            </a:p>
          </p:txBody>
        </p:sp>
        <p:sp>
          <p:nvSpPr>
            <p:cNvPr id="107554" name="矩形 47"/>
            <p:cNvSpPr>
              <a:spLocks noChangeArrowheads="1"/>
            </p:cNvSpPr>
            <p:nvPr/>
          </p:nvSpPr>
          <p:spPr bwMode="auto">
            <a:xfrm>
              <a:off x="7639341" y="3857823"/>
              <a:ext cx="9012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B050"/>
                  </a:solidFill>
                  <a:cs typeface="Times New Roman" panose="02020603050405020304" pitchFamily="18" charset="0"/>
                </a:rPr>
                <a:t>200μA</a:t>
              </a:r>
              <a:endParaRPr lang="zh-CN" altLang="en-US" sz="2000" b="1">
                <a:solidFill>
                  <a:srgbClr val="00B050"/>
                </a:solidFill>
              </a:endParaRPr>
            </a:p>
          </p:txBody>
        </p:sp>
      </p:grpSp>
      <p:sp>
        <p:nvSpPr>
          <p:cNvPr id="49" name="矩形 48"/>
          <p:cNvSpPr>
            <a:spLocks noChangeArrowheads="1"/>
          </p:cNvSpPr>
          <p:nvPr/>
        </p:nvSpPr>
        <p:spPr bwMode="auto">
          <a:xfrm>
            <a:off x="8581073" y="3342006"/>
            <a:ext cx="43688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000" b="1">
                <a:solidFill>
                  <a:srgbClr val="00B050"/>
                </a:solidFill>
              </a:rPr>
              <a:t>0</a:t>
            </a:r>
          </a:p>
        </p:txBody>
      </p:sp>
      <p:sp>
        <p:nvSpPr>
          <p:cNvPr id="50" name="任意多边形 49"/>
          <p:cNvSpPr/>
          <p:nvPr/>
        </p:nvSpPr>
        <p:spPr bwMode="auto">
          <a:xfrm>
            <a:off x="6631623" y="3436938"/>
            <a:ext cx="757237" cy="1428750"/>
          </a:xfrm>
          <a:custGeom>
            <a:avLst/>
            <a:gdLst>
              <a:gd name="T0" fmla="*/ 743021 w 757535"/>
              <a:gd name="T1" fmla="*/ 624115 h 1429925"/>
              <a:gd name="T2" fmla="*/ 757535 w 757535"/>
              <a:gd name="T3" fmla="*/ 783772 h 1429925"/>
              <a:gd name="T4" fmla="*/ 743021 w 757535"/>
              <a:gd name="T5" fmla="*/ 1103086 h 1429925"/>
              <a:gd name="T6" fmla="*/ 743021 w 757535"/>
              <a:gd name="T7" fmla="*/ 1378858 h 1429925"/>
              <a:gd name="T8" fmla="*/ 612393 w 757535"/>
              <a:gd name="T9" fmla="*/ 1422400 h 1429925"/>
              <a:gd name="T10" fmla="*/ 322107 w 757535"/>
              <a:gd name="T11" fmla="*/ 1422400 h 1429925"/>
              <a:gd name="T12" fmla="*/ 104393 w 757535"/>
              <a:gd name="T13" fmla="*/ 1422400 h 1429925"/>
              <a:gd name="T14" fmla="*/ 31821 w 757535"/>
              <a:gd name="T15" fmla="*/ 1320800 h 1429925"/>
              <a:gd name="T16" fmla="*/ 2793 w 757535"/>
              <a:gd name="T17" fmla="*/ 1117600 h 1429925"/>
              <a:gd name="T18" fmla="*/ 2793 w 757535"/>
              <a:gd name="T19" fmla="*/ 740229 h 1429925"/>
              <a:gd name="T20" fmla="*/ 17307 w 757535"/>
              <a:gd name="T21" fmla="*/ 319315 h 1429925"/>
              <a:gd name="T22" fmla="*/ 17307 w 757535"/>
              <a:gd name="T23" fmla="*/ 72572 h 1429925"/>
              <a:gd name="T24" fmla="*/ 162450 w 757535"/>
              <a:gd name="T25" fmla="*/ 14515 h 1429925"/>
              <a:gd name="T26" fmla="*/ 409193 w 757535"/>
              <a:gd name="T27" fmla="*/ 0 h 14299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57535" h="1429925">
                <a:moveTo>
                  <a:pt x="743021" y="624115"/>
                </a:moveTo>
                <a:cubicBezTo>
                  <a:pt x="750278" y="664029"/>
                  <a:pt x="757535" y="703944"/>
                  <a:pt x="757535" y="783772"/>
                </a:cubicBezTo>
                <a:cubicBezTo>
                  <a:pt x="757535" y="863600"/>
                  <a:pt x="745440" y="1003905"/>
                  <a:pt x="743021" y="1103086"/>
                </a:cubicBezTo>
                <a:cubicBezTo>
                  <a:pt x="740602" y="1202267"/>
                  <a:pt x="764792" y="1325639"/>
                  <a:pt x="743021" y="1378858"/>
                </a:cubicBezTo>
                <a:cubicBezTo>
                  <a:pt x="721250" y="1432077"/>
                  <a:pt x="682545" y="1415143"/>
                  <a:pt x="612393" y="1422400"/>
                </a:cubicBezTo>
                <a:cubicBezTo>
                  <a:pt x="542241" y="1429657"/>
                  <a:pt x="322107" y="1422400"/>
                  <a:pt x="322107" y="1422400"/>
                </a:cubicBezTo>
                <a:cubicBezTo>
                  <a:pt x="237440" y="1422400"/>
                  <a:pt x="152774" y="1439333"/>
                  <a:pt x="104393" y="1422400"/>
                </a:cubicBezTo>
                <a:cubicBezTo>
                  <a:pt x="56012" y="1405467"/>
                  <a:pt x="48754" y="1371600"/>
                  <a:pt x="31821" y="1320800"/>
                </a:cubicBezTo>
                <a:cubicBezTo>
                  <a:pt x="14888" y="1270000"/>
                  <a:pt x="7631" y="1214362"/>
                  <a:pt x="2793" y="1117600"/>
                </a:cubicBezTo>
                <a:cubicBezTo>
                  <a:pt x="-2045" y="1020838"/>
                  <a:pt x="374" y="873276"/>
                  <a:pt x="2793" y="740229"/>
                </a:cubicBezTo>
                <a:cubicBezTo>
                  <a:pt x="5212" y="607182"/>
                  <a:pt x="14888" y="430591"/>
                  <a:pt x="17307" y="319315"/>
                </a:cubicBezTo>
                <a:cubicBezTo>
                  <a:pt x="19726" y="208039"/>
                  <a:pt x="-6883" y="123372"/>
                  <a:pt x="17307" y="72572"/>
                </a:cubicBezTo>
                <a:cubicBezTo>
                  <a:pt x="41497" y="21772"/>
                  <a:pt x="97136" y="26610"/>
                  <a:pt x="162450" y="14515"/>
                </a:cubicBezTo>
                <a:cubicBezTo>
                  <a:pt x="227764" y="2420"/>
                  <a:pt x="318478" y="1210"/>
                  <a:pt x="409193" y="0"/>
                </a:cubicBezTo>
              </a:path>
            </a:pathLst>
          </a:custGeom>
          <a:noFill/>
          <a:ln w="38100" cap="flat" cmpd="sng" algn="ctr">
            <a:solidFill>
              <a:srgbClr val="00B05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矩形 50"/>
          <p:cNvSpPr>
            <a:spLocks noChangeArrowheads="1"/>
          </p:cNvSpPr>
          <p:nvPr/>
        </p:nvSpPr>
        <p:spPr bwMode="auto">
          <a:xfrm>
            <a:off x="6732270" y="3472815"/>
            <a:ext cx="355600" cy="30226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o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00B050"/>
                </a:solidFill>
              </a:rPr>
              <a:t>off</a:t>
            </a:r>
          </a:p>
        </p:txBody>
      </p:sp>
      <p:sp>
        <p:nvSpPr>
          <p:cNvPr id="31" name="矩形 30"/>
          <p:cNvSpPr/>
          <p:nvPr/>
        </p:nvSpPr>
        <p:spPr>
          <a:xfrm>
            <a:off x="7965123" y="2589213"/>
            <a:ext cx="1071562" cy="593725"/>
          </a:xfrm>
          <a:prstGeom prst="rect">
            <a:avLst/>
          </a:prstGeom>
          <a:noFill/>
        </p:spPr>
        <p:txBody>
          <a:bodyPr lIns="0" tIns="36000" rIns="0" bIns="0" anchor="b">
            <a:spAutoFit/>
          </a:bodyPr>
          <a:lstStyle/>
          <a:p>
            <a:pPr algn="ctr" eaLnBrk="1" hangingPunct="1">
              <a:lnSpc>
                <a:spcPct val="75000"/>
              </a:lnSpc>
              <a:defRPr/>
            </a:pPr>
            <a:r>
              <a:rPr lang="zh-CN" altLang="en-US" sz="2400" b="1" kern="0" dirty="0">
                <a:solidFill>
                  <a:srgbClr val="FF00FF"/>
                </a:solidFill>
                <a:cs typeface="Times New Roman" panose="02020603050405020304" pitchFamily="18" charset="0"/>
              </a:rPr>
              <a:t>例</a:t>
            </a:r>
            <a:r>
              <a:rPr lang="en-US" altLang="zh-CN" sz="2400" b="1" kern="0" dirty="0">
                <a:solidFill>
                  <a:srgbClr val="FF00FF"/>
                </a:solidFill>
                <a:cs typeface="Times New Roman" panose="02020603050405020304" pitchFamily="18" charset="0"/>
              </a:rPr>
              <a:t>:</a:t>
            </a:r>
            <a:r>
              <a:rPr lang="zh-CN" altLang="en-US" sz="2400" b="1" kern="0" dirty="0">
                <a:solidFill>
                  <a:srgbClr val="FF00FF"/>
                </a:solidFill>
                <a:cs typeface="Times New Roman" panose="02020603050405020304" pitchFamily="18" charset="0"/>
              </a:rPr>
              <a:t>口线</a:t>
            </a:r>
            <a:r>
              <a:rPr lang="en-US" altLang="zh-CN" sz="2400" b="1" kern="0" dirty="0">
                <a:solidFill>
                  <a:srgbClr val="FF00FF"/>
                </a:solidFill>
                <a:cs typeface="Times New Roman" panose="02020603050405020304" pitchFamily="18" charset="0"/>
              </a:rPr>
              <a:t>P1.2</a:t>
            </a:r>
            <a:endParaRPr lang="en-US" altLang="zh-CN" sz="2400" b="1" dirty="0">
              <a:solidFill>
                <a:srgbClr val="FF00FF"/>
              </a:solidFill>
              <a:ea typeface="宋体" panose="02010600030101010101" pitchFamily="2" charset="-122"/>
              <a:cs typeface="Times New Roman" panose="02020603050405020304" pitchFamily="18" charset="0"/>
            </a:endParaRPr>
          </a:p>
        </p:txBody>
      </p:sp>
      <p:sp>
        <p:nvSpPr>
          <p:cNvPr id="32" name="矩形 31"/>
          <p:cNvSpPr/>
          <p:nvPr/>
        </p:nvSpPr>
        <p:spPr>
          <a:xfrm>
            <a:off x="364173" y="4910138"/>
            <a:ext cx="1273175" cy="868363"/>
          </a:xfrm>
          <a:prstGeom prst="rect">
            <a:avLst/>
          </a:prstGeom>
          <a:noFill/>
        </p:spPr>
        <p:txBody>
          <a:bodyPr lIns="0" tIns="36000" rIns="0" bIns="0" anchor="b">
            <a:spAutoFit/>
          </a:bodyPr>
          <a:lstStyle/>
          <a:p>
            <a:pPr algn="ctr" eaLnBrk="1" hangingPunct="1">
              <a:lnSpc>
                <a:spcPct val="75000"/>
              </a:lnSpc>
              <a:defRPr/>
            </a:pPr>
            <a:r>
              <a:rPr lang="zh-CN" altLang="en-US" sz="2400" b="1" kern="0" dirty="0">
                <a:solidFill>
                  <a:srgbClr val="0000FF"/>
                </a:solidFill>
                <a:cs typeface="Times New Roman" panose="02020603050405020304" pitchFamily="18" charset="0"/>
              </a:rPr>
              <a:t>例</a:t>
            </a:r>
            <a:r>
              <a:rPr lang="en-US" altLang="zh-CN" sz="2400" b="1" kern="0" dirty="0">
                <a:solidFill>
                  <a:srgbClr val="0000FF"/>
                </a:solidFill>
                <a:cs typeface="Times New Roman" panose="02020603050405020304" pitchFamily="18" charset="0"/>
              </a:rPr>
              <a:t>:</a:t>
            </a:r>
            <a:r>
              <a:rPr lang="zh-CN" altLang="en-US" sz="2400" b="1" kern="0" dirty="0">
                <a:solidFill>
                  <a:srgbClr val="0000FF"/>
                </a:solidFill>
                <a:cs typeface="Times New Roman" panose="02020603050405020304" pitchFamily="18" charset="0"/>
              </a:rPr>
              <a:t>口线</a:t>
            </a:r>
            <a:r>
              <a:rPr lang="en-US" altLang="zh-CN" sz="2400" b="1" kern="0" dirty="0">
                <a:solidFill>
                  <a:srgbClr val="0000FF"/>
                </a:solidFill>
                <a:cs typeface="Times New Roman" panose="02020603050405020304" pitchFamily="18" charset="0"/>
              </a:rPr>
              <a:t>P1.2</a:t>
            </a:r>
            <a:r>
              <a:rPr lang="zh-CN" altLang="en-US" sz="2400" b="1" kern="0" dirty="0">
                <a:solidFill>
                  <a:srgbClr val="0000FF"/>
                </a:solidFill>
                <a:cs typeface="Times New Roman" panose="02020603050405020304" pitchFamily="18" charset="0"/>
              </a:rPr>
              <a:t>的锁存器位</a:t>
            </a:r>
            <a:endParaRPr lang="en-US" altLang="zh-CN" sz="2400" b="1" dirty="0">
              <a:solidFill>
                <a:srgbClr val="0000FF"/>
              </a:solidFill>
              <a:ea typeface="宋体" panose="02010600030101010101" pitchFamily="2" charset="-122"/>
              <a:cs typeface="Times New Roman" panose="02020603050405020304" pitchFamily="18" charset="0"/>
            </a:endParaRPr>
          </a:p>
        </p:txBody>
      </p:sp>
      <p:grpSp>
        <p:nvGrpSpPr>
          <p:cNvPr id="41" name="组合 40"/>
          <p:cNvGrpSpPr/>
          <p:nvPr/>
        </p:nvGrpSpPr>
        <p:grpSpPr bwMode="auto">
          <a:xfrm>
            <a:off x="8347710" y="3948113"/>
            <a:ext cx="641350" cy="1884363"/>
            <a:chOff x="8390097" y="4627084"/>
            <a:chExt cx="641132" cy="1884822"/>
          </a:xfrm>
        </p:grpSpPr>
        <p:pic>
          <p:nvPicPr>
            <p:cNvPr id="107549" name="图片 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0097" y="5380031"/>
              <a:ext cx="641132" cy="11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7550" name="直接连接符 42"/>
            <p:cNvCxnSpPr>
              <a:cxnSpLocks noChangeShapeType="1"/>
            </p:cNvCxnSpPr>
            <p:nvPr/>
          </p:nvCxnSpPr>
          <p:spPr bwMode="auto">
            <a:xfrm>
              <a:off x="8469491" y="4627084"/>
              <a:ext cx="178416" cy="0"/>
            </a:xfrm>
            <a:prstGeom prst="line">
              <a:avLst/>
            </a:prstGeom>
            <a:noFill/>
            <a:ln w="28575" algn="ctr">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7551" name="直接连接符 43"/>
            <p:cNvCxnSpPr>
              <a:cxnSpLocks noChangeShapeType="1"/>
            </p:cNvCxnSpPr>
            <p:nvPr/>
          </p:nvCxnSpPr>
          <p:spPr bwMode="auto">
            <a:xfrm>
              <a:off x="8666595" y="4627084"/>
              <a:ext cx="0" cy="752947"/>
            </a:xfrm>
            <a:prstGeom prst="line">
              <a:avLst/>
            </a:prstGeom>
            <a:noFill/>
            <a:ln w="28575" algn="ctr">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 name="灯片编号占位符 2"/>
          <p:cNvSpPr>
            <a:spLocks noGrp="1"/>
          </p:cNvSpPr>
          <p:nvPr>
            <p:ph type="sldNum" sz="quarter" idx="12"/>
          </p:nvPr>
        </p:nvSpPr>
        <p:spPr/>
        <p:txBody>
          <a:bodyPr/>
          <a:lstStyle/>
          <a:p>
            <a:fld id="{22E77DEE-32E4-4009-988B-F2758F7B8AC2}" type="slidenum">
              <a:rPr lang="zh-CN" altLang="en-US" smtClean="0"/>
              <a:t>56</a:t>
            </a:fld>
            <a:endParaRPr lang="zh-CN" altLang="en-US"/>
          </a:p>
        </p:txBody>
      </p:sp>
      <p:sp>
        <p:nvSpPr>
          <p:cNvPr id="9" name="标题 3"/>
          <p:cNvSpPr>
            <a:spLocks noGrp="1" noChangeArrowheads="1"/>
          </p:cNvSpPr>
          <p:nvPr>
            <p:ph type="title"/>
          </p:nvPr>
        </p:nvSpPr>
        <p:spPr>
          <a:xfrm>
            <a:off x="801053" y="135674"/>
            <a:ext cx="8229600" cy="1045744"/>
          </a:xfrm>
        </p:spPr>
        <p:txBody>
          <a:bodyPr>
            <a:noAutofit/>
          </a:bodyPr>
          <a:lstStyle/>
          <a:p>
            <a:pPr eaLnBrk="1" hangingPunct="1"/>
            <a:r>
              <a:rPr lang="en-US" altLang="zh-CN" sz="3600" dirty="0">
                <a:solidFill>
                  <a:srgbClr val="FF0000"/>
                </a:solidFill>
              </a:rPr>
              <a:t>Structure of the dual-directional (weak pull-up) working mode</a:t>
            </a:r>
            <a:endParaRPr lang="zh-CN" altLang="en-US" sz="3600" dirty="0">
              <a:solidFill>
                <a:srgbClr val="FF0000"/>
              </a:solidFill>
            </a:endParaRPr>
          </a:p>
        </p:txBody>
      </p:sp>
      <p:sp>
        <p:nvSpPr>
          <p:cNvPr id="2" name="文本框 1"/>
          <p:cNvSpPr txBox="1"/>
          <p:nvPr/>
        </p:nvSpPr>
        <p:spPr>
          <a:xfrm>
            <a:off x="-22225" y="3369945"/>
            <a:ext cx="1527810" cy="337185"/>
          </a:xfrm>
          <a:prstGeom prst="rect">
            <a:avLst/>
          </a:prstGeom>
        </p:spPr>
        <p:txBody>
          <a:bodyPr wrap="square">
            <a:spAutoFit/>
          </a:bodyPr>
          <a:lstStyle/>
          <a:p>
            <a:r>
              <a:rPr lang="en-US" altLang="zh-CN" sz="1600"/>
              <a:t>Port Data Latch</a:t>
            </a:r>
          </a:p>
        </p:txBody>
      </p:sp>
      <p:sp>
        <p:nvSpPr>
          <p:cNvPr id="4" name="文本框 3"/>
          <p:cNvSpPr txBox="1"/>
          <p:nvPr/>
        </p:nvSpPr>
        <p:spPr>
          <a:xfrm>
            <a:off x="2842895" y="5357495"/>
            <a:ext cx="3048000" cy="368300"/>
          </a:xfrm>
          <a:prstGeom prst="rect">
            <a:avLst/>
          </a:prstGeom>
          <a:noFill/>
        </p:spPr>
        <p:txBody>
          <a:bodyPr wrap="square" rtlCol="0">
            <a:spAutoFit/>
          </a:bodyPr>
          <a:lstStyle/>
          <a:p>
            <a:r>
              <a:rPr lang="en-US" altLang="zh-CN"/>
              <a:t>input data </a:t>
            </a:r>
          </a:p>
        </p:txBody>
      </p:sp>
      <p:sp>
        <p:nvSpPr>
          <p:cNvPr id="5" name="文本框 4"/>
          <p:cNvSpPr txBox="1"/>
          <p:nvPr/>
        </p:nvSpPr>
        <p:spPr>
          <a:xfrm>
            <a:off x="6019165" y="5800725"/>
            <a:ext cx="2802890" cy="337185"/>
          </a:xfrm>
          <a:prstGeom prst="rect">
            <a:avLst/>
          </a:prstGeom>
        </p:spPr>
        <p:txBody>
          <a:bodyPr wrap="square">
            <a:spAutoFit/>
          </a:bodyPr>
          <a:lstStyle/>
          <a:p>
            <a:r>
              <a:rPr lang="en-US" altLang="zh-CN" sz="1600"/>
              <a:t>Interference Suppression Filter</a:t>
            </a:r>
          </a:p>
        </p:txBody>
      </p:sp>
      <p:sp>
        <p:nvSpPr>
          <p:cNvPr id="6" name="文本框 5"/>
          <p:cNvSpPr txBox="1"/>
          <p:nvPr/>
        </p:nvSpPr>
        <p:spPr>
          <a:xfrm>
            <a:off x="7747000" y="4208145"/>
            <a:ext cx="3048000" cy="368300"/>
          </a:xfrm>
          <a:prstGeom prst="rect">
            <a:avLst/>
          </a:prstGeom>
          <a:noFill/>
        </p:spPr>
        <p:txBody>
          <a:bodyPr wrap="square" rtlCol="0">
            <a:spAutoFit/>
          </a:bodyPr>
          <a:lstStyle/>
          <a:p>
            <a:r>
              <a:rPr lang="en-US" altLang="zh-CN"/>
              <a:t>Port Pin</a:t>
            </a:r>
          </a:p>
        </p:txBody>
      </p:sp>
      <p:sp>
        <p:nvSpPr>
          <p:cNvPr id="8" name="文本框 7"/>
          <p:cNvSpPr txBox="1"/>
          <p:nvPr/>
        </p:nvSpPr>
        <p:spPr>
          <a:xfrm>
            <a:off x="2208530" y="3529330"/>
            <a:ext cx="3048000" cy="583565"/>
          </a:xfrm>
          <a:prstGeom prst="rect">
            <a:avLst/>
          </a:prstGeom>
          <a:noFill/>
        </p:spPr>
        <p:txBody>
          <a:bodyPr wrap="square" rtlCol="0">
            <a:spAutoFit/>
          </a:bodyPr>
          <a:lstStyle/>
          <a:p>
            <a:r>
              <a:rPr lang="en-US" altLang="zh-CN" sz="1600"/>
              <a:t>2 CPU clock</a:t>
            </a:r>
          </a:p>
          <a:p>
            <a:r>
              <a:rPr lang="en-US" altLang="zh-CN" sz="1600"/>
              <a:t>delays</a:t>
            </a:r>
          </a:p>
        </p:txBody>
      </p:sp>
      <p:sp>
        <p:nvSpPr>
          <p:cNvPr id="10" name="矩形 9"/>
          <p:cNvSpPr/>
          <p:nvPr/>
        </p:nvSpPr>
        <p:spPr>
          <a:xfrm>
            <a:off x="364173" y="5752783"/>
            <a:ext cx="1311275" cy="312420"/>
          </a:xfrm>
          <a:prstGeom prst="rect">
            <a:avLst/>
          </a:prstGeom>
          <a:noFill/>
        </p:spPr>
        <p:txBody>
          <a:bodyPr lIns="0" tIns="36000" rIns="0" bIns="0" anchor="b">
            <a:spAutoFit/>
          </a:bodyPr>
          <a:lstStyle/>
          <a:p>
            <a:pPr algn="ctr" eaLnBrk="1" hangingPunct="1">
              <a:lnSpc>
                <a:spcPct val="75000"/>
              </a:lnSpc>
              <a:defRPr/>
            </a:pPr>
            <a:r>
              <a:rPr lang="zh-CN" altLang="en-US" sz="1200" b="1" kern="0" dirty="0">
                <a:solidFill>
                  <a:srgbClr val="0000FF"/>
                </a:solidFill>
                <a:cs typeface="Times New Roman" panose="02020603050405020304" pitchFamily="18" charset="0"/>
              </a:rPr>
              <a:t>Example: latch bit of P</a:t>
            </a:r>
            <a:r>
              <a:rPr lang="en-US" altLang="zh-CN" sz="1200" b="1" kern="0" dirty="0">
                <a:solidFill>
                  <a:srgbClr val="0000FF"/>
                </a:solidFill>
                <a:cs typeface="Times New Roman" panose="02020603050405020304" pitchFamily="18" charset="0"/>
              </a:rPr>
              <a:t>1</a:t>
            </a:r>
            <a:r>
              <a:rPr lang="zh-CN" altLang="en-US" sz="1200" b="1" kern="0" dirty="0">
                <a:solidFill>
                  <a:srgbClr val="0000FF"/>
                </a:solidFill>
                <a:cs typeface="Times New Roman" panose="02020603050405020304" pitchFamily="18" charset="0"/>
              </a:rPr>
              <a:t>.2 line</a:t>
            </a:r>
            <a:endParaRPr lang="en-US" altLang="zh-CN" sz="2400" b="1" dirty="0">
              <a:solidFill>
                <a:srgbClr val="0000FF"/>
              </a:solidFill>
              <a:ea typeface="宋体" panose="02010600030101010101" pitchFamily="2" charset="-122"/>
              <a:cs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3" name="Rectangle 3"/>
          <p:cNvSpPr>
            <a:spLocks noGrp="1" noChangeArrowheads="1"/>
          </p:cNvSpPr>
          <p:nvPr>
            <p:ph idx="1"/>
          </p:nvPr>
        </p:nvSpPr>
        <p:spPr>
          <a:xfrm>
            <a:off x="274638" y="1154113"/>
            <a:ext cx="8616950" cy="1576387"/>
          </a:xfrm>
        </p:spPr>
        <p:txBody>
          <a:bodyPr/>
          <a:lstStyle/>
          <a:p>
            <a:pPr marL="262255" lvl="1" indent="-262255" algn="l" eaLnBrk="1" hangingPunct="1">
              <a:spcAft>
                <a:spcPts val="600"/>
              </a:spcAft>
              <a:defRPr/>
            </a:pPr>
            <a:r>
              <a:rPr lang="en-US" altLang="zh-CN" dirty="0">
                <a:solidFill>
                  <a:srgbClr val="FF0000"/>
                </a:solidFill>
                <a:latin typeface="Times New Roman" panose="02020603050405020304" pitchFamily="18" charset="0"/>
                <a:cs typeface="Times New Roman" panose="02020603050405020304" pitchFamily="18" charset="0"/>
              </a:rPr>
              <a:t>When the latch is 1</a:t>
            </a:r>
            <a:r>
              <a:rPr lang="en-US" altLang="zh-CN" dirty="0">
                <a:latin typeface="Times New Roman" panose="02020603050405020304" pitchFamily="18" charset="0"/>
                <a:cs typeface="Times New Roman" panose="02020603050405020304" pitchFamily="18" charset="0"/>
              </a:rPr>
              <a:t>, T2 and T3 are turned on. The pin outputs a high level.</a:t>
            </a:r>
            <a:endParaRPr lang="zh-CN" altLang="en-US" dirty="0">
              <a:latin typeface="Times New Roman" panose="02020603050405020304" pitchFamily="18" charset="0"/>
              <a:cs typeface="Times New Roman" panose="02020603050405020304" pitchFamily="18" charset="0"/>
            </a:endParaRPr>
          </a:p>
          <a:p>
            <a:pPr marL="262255" lvl="1" indent="-262255" algn="l" eaLnBrk="1" hangingPunct="1">
              <a:spcAft>
                <a:spcPts val="600"/>
              </a:spcAft>
              <a:defRPr/>
            </a:pPr>
            <a:r>
              <a:rPr lang="en-US" altLang="zh-CN" dirty="0">
                <a:solidFill>
                  <a:srgbClr val="0000CC"/>
                </a:solidFill>
                <a:latin typeface="Times New Roman" panose="02020603050405020304" pitchFamily="18" charset="0"/>
                <a:cs typeface="Times New Roman" panose="02020603050405020304" pitchFamily="18" charset="0"/>
              </a:rPr>
              <a:t>When latch is 0</a:t>
            </a:r>
            <a:r>
              <a:rPr lang="en-US" altLang="zh-CN" dirty="0">
                <a:latin typeface="Times New Roman" panose="02020603050405020304" pitchFamily="18" charset="0"/>
                <a:cs typeface="Times New Roman" panose="02020603050405020304" pitchFamily="18" charset="0"/>
              </a:rPr>
              <a:t>, T1, T2, and T3 are all cut off, T4 is turned on, and the pin outputs a low level.</a:t>
            </a:r>
            <a:endParaRPr lang="zh-CN" altLang="en-US" dirty="0">
              <a:latin typeface="Times New Roman" panose="02020603050405020304" pitchFamily="18" charset="0"/>
              <a:cs typeface="Times New Roman" panose="02020603050405020304" pitchFamily="18" charset="0"/>
            </a:endParaRPr>
          </a:p>
        </p:txBody>
      </p:sp>
      <p:pic>
        <p:nvPicPr>
          <p:cNvPr id="12" name="Picture 189" descr="D:\DOCUME~1\ADMINI~1\LOCALS~1\Temp\HS5ClipImage_56b00a7d.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088" y="2605212"/>
            <a:ext cx="8258175" cy="334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 name="组合 12"/>
          <p:cNvGrpSpPr/>
          <p:nvPr/>
        </p:nvGrpSpPr>
        <p:grpSpPr bwMode="auto">
          <a:xfrm>
            <a:off x="4799653" y="2932237"/>
            <a:ext cx="3491854" cy="428625"/>
            <a:chOff x="5025280" y="2721819"/>
            <a:chExt cx="3493001" cy="428689"/>
          </a:xfrm>
        </p:grpSpPr>
        <p:sp>
          <p:nvSpPr>
            <p:cNvPr id="108588" name="矩形 13"/>
            <p:cNvSpPr>
              <a:spLocks noChangeArrowheads="1"/>
            </p:cNvSpPr>
            <p:nvPr/>
          </p:nvSpPr>
          <p:spPr bwMode="auto">
            <a:xfrm>
              <a:off x="5025280" y="2721819"/>
              <a:ext cx="869600" cy="398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B050"/>
                  </a:solidFill>
                </a:rPr>
                <a:t>strong</a:t>
              </a:r>
            </a:p>
          </p:txBody>
        </p:sp>
        <p:sp>
          <p:nvSpPr>
            <p:cNvPr id="108589" name="矩形 14"/>
            <p:cNvSpPr>
              <a:spLocks noChangeArrowheads="1"/>
            </p:cNvSpPr>
            <p:nvPr/>
          </p:nvSpPr>
          <p:spPr bwMode="auto">
            <a:xfrm>
              <a:off x="6234602" y="2721819"/>
              <a:ext cx="1291379" cy="398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B050"/>
                  </a:solidFill>
                </a:rPr>
                <a:t>very weak</a:t>
              </a:r>
            </a:p>
          </p:txBody>
        </p:sp>
        <p:sp>
          <p:nvSpPr>
            <p:cNvPr id="108590" name="矩形 15"/>
            <p:cNvSpPr>
              <a:spLocks noChangeArrowheads="1"/>
            </p:cNvSpPr>
            <p:nvPr/>
          </p:nvSpPr>
          <p:spPr bwMode="auto">
            <a:xfrm>
              <a:off x="7770641" y="2751668"/>
              <a:ext cx="747640" cy="398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B050"/>
                  </a:solidFill>
                </a:rPr>
                <a:t>weak</a:t>
              </a:r>
            </a:p>
          </p:txBody>
        </p:sp>
      </p:grpSp>
      <p:sp>
        <p:nvSpPr>
          <p:cNvPr id="17" name="矩形 16"/>
          <p:cNvSpPr>
            <a:spLocks noChangeArrowheads="1"/>
          </p:cNvSpPr>
          <p:nvPr/>
        </p:nvSpPr>
        <p:spPr bwMode="auto">
          <a:xfrm>
            <a:off x="34925" y="3007167"/>
            <a:ext cx="1143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a:solidFill>
                  <a:srgbClr val="FF0000"/>
                </a:solidFill>
                <a:cs typeface="Times New Roman" panose="02020603050405020304" pitchFamily="18" charset="0"/>
              </a:rPr>
              <a:t>P0</a:t>
            </a:r>
            <a:r>
              <a:rPr lang="zh-CN" altLang="en-US" sz="2400">
                <a:solidFill>
                  <a:srgbClr val="FF0000"/>
                </a:solidFill>
                <a:cs typeface="Times New Roman" panose="02020603050405020304" pitchFamily="18" charset="0"/>
              </a:rPr>
              <a:t>～</a:t>
            </a:r>
            <a:r>
              <a:rPr lang="en-US" altLang="zh-CN" sz="2400">
                <a:solidFill>
                  <a:srgbClr val="FF0000"/>
                </a:solidFill>
                <a:cs typeface="Times New Roman" panose="02020603050405020304" pitchFamily="18" charset="0"/>
              </a:rPr>
              <a:t>P7</a:t>
            </a:r>
            <a:endParaRPr lang="zh-CN" altLang="en-US" sz="2400">
              <a:cs typeface="Times New Roman" panose="02020603050405020304" pitchFamily="18" charset="0"/>
            </a:endParaRPr>
          </a:p>
        </p:txBody>
      </p:sp>
      <p:sp>
        <p:nvSpPr>
          <p:cNvPr id="18" name="矩形 17"/>
          <p:cNvSpPr>
            <a:spLocks noChangeArrowheads="1"/>
          </p:cNvSpPr>
          <p:nvPr/>
        </p:nvSpPr>
        <p:spPr bwMode="auto">
          <a:xfrm>
            <a:off x="263525" y="4360987"/>
            <a:ext cx="3381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sp>
        <p:nvSpPr>
          <p:cNvPr id="19" name="矩形 18"/>
          <p:cNvSpPr>
            <a:spLocks noChangeArrowheads="1"/>
          </p:cNvSpPr>
          <p:nvPr/>
        </p:nvSpPr>
        <p:spPr bwMode="auto">
          <a:xfrm>
            <a:off x="3060700" y="4032374"/>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0</a:t>
            </a:r>
            <a:endParaRPr lang="zh-CN" altLang="en-US" sz="2400" b="1"/>
          </a:p>
        </p:txBody>
      </p:sp>
      <p:sp>
        <p:nvSpPr>
          <p:cNvPr id="20" name="矩形 19"/>
          <p:cNvSpPr>
            <a:spLocks noChangeArrowheads="1"/>
          </p:cNvSpPr>
          <p:nvPr/>
        </p:nvSpPr>
        <p:spPr bwMode="auto">
          <a:xfrm>
            <a:off x="1879600" y="2605212"/>
            <a:ext cx="3381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sp>
        <p:nvSpPr>
          <p:cNvPr id="21" name="矩形 20"/>
          <p:cNvSpPr>
            <a:spLocks noChangeArrowheads="1"/>
          </p:cNvSpPr>
          <p:nvPr/>
        </p:nvSpPr>
        <p:spPr bwMode="auto">
          <a:xfrm>
            <a:off x="3859213" y="2854449"/>
            <a:ext cx="3381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sp>
        <p:nvSpPr>
          <p:cNvPr id="22" name="矩形 21"/>
          <p:cNvSpPr>
            <a:spLocks noChangeArrowheads="1"/>
          </p:cNvSpPr>
          <p:nvPr/>
        </p:nvSpPr>
        <p:spPr bwMode="auto">
          <a:xfrm>
            <a:off x="282575" y="4662612"/>
            <a:ext cx="3381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0</a:t>
            </a:r>
            <a:endParaRPr lang="zh-CN" altLang="en-US" sz="2400" b="1">
              <a:solidFill>
                <a:srgbClr val="3366FF"/>
              </a:solidFill>
            </a:endParaRPr>
          </a:p>
        </p:txBody>
      </p:sp>
      <p:sp>
        <p:nvSpPr>
          <p:cNvPr id="23" name="矩形 22"/>
          <p:cNvSpPr>
            <a:spLocks noChangeArrowheads="1"/>
          </p:cNvSpPr>
          <p:nvPr/>
        </p:nvSpPr>
        <p:spPr bwMode="auto">
          <a:xfrm>
            <a:off x="3089275" y="4419724"/>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1</a:t>
            </a:r>
            <a:endParaRPr lang="zh-CN" altLang="en-US" sz="2400" b="1">
              <a:solidFill>
                <a:srgbClr val="3366FF"/>
              </a:solidFill>
            </a:endParaRPr>
          </a:p>
        </p:txBody>
      </p:sp>
      <p:sp>
        <p:nvSpPr>
          <p:cNvPr id="24" name="矩形 23"/>
          <p:cNvSpPr>
            <a:spLocks noChangeArrowheads="1"/>
          </p:cNvSpPr>
          <p:nvPr/>
        </p:nvSpPr>
        <p:spPr bwMode="auto">
          <a:xfrm>
            <a:off x="1858963" y="3327524"/>
            <a:ext cx="3381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0</a:t>
            </a:r>
            <a:endParaRPr lang="zh-CN" altLang="en-US" sz="2400" b="1">
              <a:solidFill>
                <a:srgbClr val="3366FF"/>
              </a:solidFill>
            </a:endParaRPr>
          </a:p>
        </p:txBody>
      </p:sp>
      <p:sp>
        <p:nvSpPr>
          <p:cNvPr id="25" name="矩形 24"/>
          <p:cNvSpPr>
            <a:spLocks noChangeArrowheads="1"/>
          </p:cNvSpPr>
          <p:nvPr/>
        </p:nvSpPr>
        <p:spPr bwMode="auto">
          <a:xfrm>
            <a:off x="3257550" y="2602037"/>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sp>
        <p:nvSpPr>
          <p:cNvPr id="26" name="矩形 25"/>
          <p:cNvSpPr>
            <a:spLocks noChangeArrowheads="1"/>
          </p:cNvSpPr>
          <p:nvPr/>
        </p:nvSpPr>
        <p:spPr bwMode="auto">
          <a:xfrm>
            <a:off x="3200400" y="3224337"/>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0</a:t>
            </a:r>
            <a:endParaRPr lang="zh-CN" altLang="en-US" sz="2400" b="1">
              <a:solidFill>
                <a:srgbClr val="3366FF"/>
              </a:solidFill>
            </a:endParaRPr>
          </a:p>
        </p:txBody>
      </p:sp>
      <p:sp>
        <p:nvSpPr>
          <p:cNvPr id="27" name="任意多边形 26"/>
          <p:cNvSpPr/>
          <p:nvPr/>
        </p:nvSpPr>
        <p:spPr bwMode="auto">
          <a:xfrm rot="21404582">
            <a:off x="5935663" y="4022849"/>
            <a:ext cx="1836737" cy="566738"/>
          </a:xfrm>
          <a:custGeom>
            <a:avLst/>
            <a:gdLst>
              <a:gd name="T0" fmla="*/ 1837088 w 1941838"/>
              <a:gd name="T1" fmla="*/ 27428 h 732096"/>
              <a:gd name="T2" fmla="*/ 230523 w 1941838"/>
              <a:gd name="T3" fmla="*/ 61154 h 732096"/>
              <a:gd name="T4" fmla="*/ 10821 w 1941838"/>
              <a:gd name="T5" fmla="*/ 567058 h 732096"/>
              <a:gd name="T6" fmla="*/ 10821 w 1941838"/>
              <a:gd name="T7" fmla="*/ 567058 h 7320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41838" h="732096">
                <a:moveTo>
                  <a:pt x="1941838" y="35411"/>
                </a:moveTo>
                <a:cubicBezTo>
                  <a:pt x="1253619" y="-875"/>
                  <a:pt x="565400" y="-37161"/>
                  <a:pt x="243667" y="78953"/>
                </a:cubicBezTo>
                <a:cubicBezTo>
                  <a:pt x="-78066" y="195067"/>
                  <a:pt x="11438" y="732096"/>
                  <a:pt x="11438" y="732096"/>
                </a:cubicBezTo>
              </a:path>
            </a:pathLst>
          </a:custGeom>
          <a:noFill/>
          <a:ln w="19050" cap="flat" cmpd="sng" algn="ctr">
            <a:solidFill>
              <a:srgbClr val="3366FF"/>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任意多边形 28"/>
          <p:cNvSpPr/>
          <p:nvPr/>
        </p:nvSpPr>
        <p:spPr bwMode="auto">
          <a:xfrm>
            <a:off x="6000750" y="3014787"/>
            <a:ext cx="1657350" cy="885825"/>
          </a:xfrm>
          <a:custGeom>
            <a:avLst/>
            <a:gdLst>
              <a:gd name="T0" fmla="*/ 16487 w 1759219"/>
              <a:gd name="T1" fmla="*/ 0 h 675238"/>
              <a:gd name="T2" fmla="*/ 235210 w 1759219"/>
              <a:gd name="T3" fmla="*/ 780613 h 675238"/>
              <a:gd name="T4" fmla="*/ 1656911 w 1759219"/>
              <a:gd name="T5" fmla="*/ 856771 h 675238"/>
              <a:gd name="T6" fmla="*/ 0 60000 65536"/>
              <a:gd name="T7" fmla="*/ 0 60000 65536"/>
              <a:gd name="T8" fmla="*/ 0 60000 65536"/>
            </a:gdLst>
            <a:ahLst/>
            <a:cxnLst>
              <a:cxn ang="T6">
                <a:pos x="T0" y="T1"/>
              </a:cxn>
              <a:cxn ang="T7">
                <a:pos x="T2" y="T3"/>
              </a:cxn>
              <a:cxn ang="T8">
                <a:pos x="T4" y="T5"/>
              </a:cxn>
            </a:cxnLst>
            <a:rect l="0" t="0" r="r" b="b"/>
            <a:pathLst>
              <a:path w="1759219" h="675238">
                <a:moveTo>
                  <a:pt x="17505" y="0"/>
                </a:moveTo>
                <a:cubicBezTo>
                  <a:pt x="-11524" y="243114"/>
                  <a:pt x="-40553" y="486229"/>
                  <a:pt x="249733" y="595086"/>
                </a:cubicBezTo>
                <a:cubicBezTo>
                  <a:pt x="540019" y="703943"/>
                  <a:pt x="1149619" y="678543"/>
                  <a:pt x="1759219" y="653143"/>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任意多边形 29"/>
          <p:cNvSpPr/>
          <p:nvPr/>
        </p:nvSpPr>
        <p:spPr bwMode="auto">
          <a:xfrm>
            <a:off x="7421563" y="2905249"/>
            <a:ext cx="828675" cy="885825"/>
          </a:xfrm>
          <a:custGeom>
            <a:avLst/>
            <a:gdLst>
              <a:gd name="T0" fmla="*/ 8243 w 1759219"/>
              <a:gd name="T1" fmla="*/ 0 h 675238"/>
              <a:gd name="T2" fmla="*/ 117605 w 1759219"/>
              <a:gd name="T3" fmla="*/ 780613 h 675238"/>
              <a:gd name="T4" fmla="*/ 828455 w 1759219"/>
              <a:gd name="T5" fmla="*/ 856771 h 675238"/>
              <a:gd name="T6" fmla="*/ 0 60000 65536"/>
              <a:gd name="T7" fmla="*/ 0 60000 65536"/>
              <a:gd name="T8" fmla="*/ 0 60000 65536"/>
            </a:gdLst>
            <a:ahLst/>
            <a:cxnLst>
              <a:cxn ang="T6">
                <a:pos x="T0" y="T1"/>
              </a:cxn>
              <a:cxn ang="T7">
                <a:pos x="T2" y="T3"/>
              </a:cxn>
              <a:cxn ang="T8">
                <a:pos x="T4" y="T5"/>
              </a:cxn>
            </a:cxnLst>
            <a:rect l="0" t="0" r="r" b="b"/>
            <a:pathLst>
              <a:path w="1759219" h="675238">
                <a:moveTo>
                  <a:pt x="17505" y="0"/>
                </a:moveTo>
                <a:cubicBezTo>
                  <a:pt x="-11524" y="243114"/>
                  <a:pt x="-40553" y="486229"/>
                  <a:pt x="249733" y="595086"/>
                </a:cubicBezTo>
                <a:cubicBezTo>
                  <a:pt x="540019" y="703943"/>
                  <a:pt x="1149619" y="678543"/>
                  <a:pt x="1759219" y="653143"/>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矩形 30"/>
          <p:cNvSpPr>
            <a:spLocks noChangeArrowheads="1"/>
          </p:cNvSpPr>
          <p:nvPr/>
        </p:nvSpPr>
        <p:spPr bwMode="auto">
          <a:xfrm>
            <a:off x="3879850" y="3360862"/>
            <a:ext cx="3381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1</a:t>
            </a:r>
            <a:endParaRPr lang="zh-CN" altLang="en-US" sz="2400" b="1">
              <a:solidFill>
                <a:srgbClr val="3366FF"/>
              </a:solidFill>
            </a:endParaRPr>
          </a:p>
        </p:txBody>
      </p:sp>
      <p:sp>
        <p:nvSpPr>
          <p:cNvPr id="32" name="矩形 31"/>
          <p:cNvSpPr>
            <a:spLocks noChangeArrowheads="1"/>
          </p:cNvSpPr>
          <p:nvPr/>
        </p:nvSpPr>
        <p:spPr bwMode="auto">
          <a:xfrm>
            <a:off x="4701223" y="3465637"/>
            <a:ext cx="538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off</a:t>
            </a:r>
          </a:p>
        </p:txBody>
      </p:sp>
      <p:sp>
        <p:nvSpPr>
          <p:cNvPr id="33" name="矩形 32"/>
          <p:cNvSpPr>
            <a:spLocks noChangeArrowheads="1"/>
          </p:cNvSpPr>
          <p:nvPr/>
        </p:nvSpPr>
        <p:spPr bwMode="auto">
          <a:xfrm>
            <a:off x="5428457" y="3468812"/>
            <a:ext cx="5048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on</a:t>
            </a:r>
          </a:p>
        </p:txBody>
      </p:sp>
      <p:sp>
        <p:nvSpPr>
          <p:cNvPr id="35" name="任意多边形 34"/>
          <p:cNvSpPr/>
          <p:nvPr/>
        </p:nvSpPr>
        <p:spPr bwMode="auto">
          <a:xfrm>
            <a:off x="6567488" y="3521199"/>
            <a:ext cx="757237" cy="1428750"/>
          </a:xfrm>
          <a:custGeom>
            <a:avLst/>
            <a:gdLst>
              <a:gd name="T0" fmla="*/ 743021 w 757535"/>
              <a:gd name="T1" fmla="*/ 624115 h 1429925"/>
              <a:gd name="T2" fmla="*/ 757535 w 757535"/>
              <a:gd name="T3" fmla="*/ 783772 h 1429925"/>
              <a:gd name="T4" fmla="*/ 743021 w 757535"/>
              <a:gd name="T5" fmla="*/ 1103086 h 1429925"/>
              <a:gd name="T6" fmla="*/ 743021 w 757535"/>
              <a:gd name="T7" fmla="*/ 1378858 h 1429925"/>
              <a:gd name="T8" fmla="*/ 612393 w 757535"/>
              <a:gd name="T9" fmla="*/ 1422400 h 1429925"/>
              <a:gd name="T10" fmla="*/ 322107 w 757535"/>
              <a:gd name="T11" fmla="*/ 1422400 h 1429925"/>
              <a:gd name="T12" fmla="*/ 104393 w 757535"/>
              <a:gd name="T13" fmla="*/ 1422400 h 1429925"/>
              <a:gd name="T14" fmla="*/ 31821 w 757535"/>
              <a:gd name="T15" fmla="*/ 1320800 h 1429925"/>
              <a:gd name="T16" fmla="*/ 2793 w 757535"/>
              <a:gd name="T17" fmla="*/ 1117600 h 1429925"/>
              <a:gd name="T18" fmla="*/ 2793 w 757535"/>
              <a:gd name="T19" fmla="*/ 740229 h 1429925"/>
              <a:gd name="T20" fmla="*/ 17307 w 757535"/>
              <a:gd name="T21" fmla="*/ 319315 h 1429925"/>
              <a:gd name="T22" fmla="*/ 17307 w 757535"/>
              <a:gd name="T23" fmla="*/ 72572 h 1429925"/>
              <a:gd name="T24" fmla="*/ 162450 w 757535"/>
              <a:gd name="T25" fmla="*/ 14515 h 1429925"/>
              <a:gd name="T26" fmla="*/ 409193 w 757535"/>
              <a:gd name="T27" fmla="*/ 0 h 14299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57535" h="1429925">
                <a:moveTo>
                  <a:pt x="743021" y="624115"/>
                </a:moveTo>
                <a:cubicBezTo>
                  <a:pt x="750278" y="664029"/>
                  <a:pt x="757535" y="703944"/>
                  <a:pt x="757535" y="783772"/>
                </a:cubicBezTo>
                <a:cubicBezTo>
                  <a:pt x="757535" y="863600"/>
                  <a:pt x="745440" y="1003905"/>
                  <a:pt x="743021" y="1103086"/>
                </a:cubicBezTo>
                <a:cubicBezTo>
                  <a:pt x="740602" y="1202267"/>
                  <a:pt x="764792" y="1325639"/>
                  <a:pt x="743021" y="1378858"/>
                </a:cubicBezTo>
                <a:cubicBezTo>
                  <a:pt x="721250" y="1432077"/>
                  <a:pt x="682545" y="1415143"/>
                  <a:pt x="612393" y="1422400"/>
                </a:cubicBezTo>
                <a:cubicBezTo>
                  <a:pt x="542241" y="1429657"/>
                  <a:pt x="322107" y="1422400"/>
                  <a:pt x="322107" y="1422400"/>
                </a:cubicBezTo>
                <a:cubicBezTo>
                  <a:pt x="237440" y="1422400"/>
                  <a:pt x="152774" y="1439333"/>
                  <a:pt x="104393" y="1422400"/>
                </a:cubicBezTo>
                <a:cubicBezTo>
                  <a:pt x="56012" y="1405467"/>
                  <a:pt x="48754" y="1371600"/>
                  <a:pt x="31821" y="1320800"/>
                </a:cubicBezTo>
                <a:cubicBezTo>
                  <a:pt x="14888" y="1270000"/>
                  <a:pt x="7631" y="1214362"/>
                  <a:pt x="2793" y="1117600"/>
                </a:cubicBezTo>
                <a:cubicBezTo>
                  <a:pt x="-2045" y="1020838"/>
                  <a:pt x="374" y="873276"/>
                  <a:pt x="2793" y="740229"/>
                </a:cubicBezTo>
                <a:cubicBezTo>
                  <a:pt x="5212" y="607182"/>
                  <a:pt x="14888" y="430591"/>
                  <a:pt x="17307" y="319315"/>
                </a:cubicBezTo>
                <a:cubicBezTo>
                  <a:pt x="19726" y="208039"/>
                  <a:pt x="-6883" y="123372"/>
                  <a:pt x="17307" y="72572"/>
                </a:cubicBezTo>
                <a:cubicBezTo>
                  <a:pt x="41497" y="21772"/>
                  <a:pt x="97136" y="26610"/>
                  <a:pt x="162450" y="14515"/>
                </a:cubicBezTo>
                <a:cubicBezTo>
                  <a:pt x="227764" y="2420"/>
                  <a:pt x="318478" y="1210"/>
                  <a:pt x="409193" y="0"/>
                </a:cubicBezTo>
              </a:path>
            </a:pathLst>
          </a:custGeom>
          <a:noFill/>
          <a:ln w="9525"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矩形 36"/>
          <p:cNvSpPr>
            <a:spLocks noChangeArrowheads="1"/>
          </p:cNvSpPr>
          <p:nvPr/>
        </p:nvSpPr>
        <p:spPr bwMode="auto">
          <a:xfrm>
            <a:off x="5350669" y="4602287"/>
            <a:ext cx="5048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on</a:t>
            </a:r>
          </a:p>
        </p:txBody>
      </p:sp>
      <p:sp>
        <p:nvSpPr>
          <p:cNvPr id="38" name="矩形 37"/>
          <p:cNvSpPr>
            <a:spLocks noChangeArrowheads="1"/>
          </p:cNvSpPr>
          <p:nvPr/>
        </p:nvSpPr>
        <p:spPr bwMode="auto">
          <a:xfrm>
            <a:off x="5335429" y="3740274"/>
            <a:ext cx="538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off</a:t>
            </a:r>
          </a:p>
        </p:txBody>
      </p:sp>
      <p:sp>
        <p:nvSpPr>
          <p:cNvPr id="40" name="矩形 39"/>
          <p:cNvSpPr>
            <a:spLocks noChangeArrowheads="1"/>
          </p:cNvSpPr>
          <p:nvPr/>
        </p:nvSpPr>
        <p:spPr bwMode="auto">
          <a:xfrm>
            <a:off x="7462838" y="3968874"/>
            <a:ext cx="3381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0</a:t>
            </a:r>
            <a:endParaRPr lang="zh-CN" altLang="en-US" sz="2400" b="1">
              <a:solidFill>
                <a:srgbClr val="3366FF"/>
              </a:solidFill>
            </a:endParaRPr>
          </a:p>
        </p:txBody>
      </p:sp>
      <p:grpSp>
        <p:nvGrpSpPr>
          <p:cNvPr id="41" name="组合 40"/>
          <p:cNvGrpSpPr/>
          <p:nvPr/>
        </p:nvGrpSpPr>
        <p:grpSpPr bwMode="auto">
          <a:xfrm>
            <a:off x="4897438" y="2638549"/>
            <a:ext cx="3662045" cy="492125"/>
            <a:chOff x="4874106" y="3312640"/>
            <a:chExt cx="3661212" cy="492368"/>
          </a:xfrm>
        </p:grpSpPr>
        <p:sp>
          <p:nvSpPr>
            <p:cNvPr id="108585" name="矩形 41"/>
            <p:cNvSpPr>
              <a:spLocks noChangeArrowheads="1"/>
            </p:cNvSpPr>
            <p:nvPr/>
          </p:nvSpPr>
          <p:spPr bwMode="auto">
            <a:xfrm>
              <a:off x="6095382" y="3312718"/>
              <a:ext cx="7729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B050"/>
                  </a:solidFill>
                  <a:cs typeface="Times New Roman" panose="02020603050405020304" pitchFamily="18" charset="0"/>
                </a:rPr>
                <a:t>30μA</a:t>
              </a:r>
              <a:endParaRPr lang="zh-CN" altLang="en-US" sz="2000" b="1">
                <a:solidFill>
                  <a:srgbClr val="00B050"/>
                </a:solidFill>
              </a:endParaRPr>
            </a:p>
          </p:txBody>
        </p:sp>
        <p:sp>
          <p:nvSpPr>
            <p:cNvPr id="108586" name="矩形 42"/>
            <p:cNvSpPr>
              <a:spLocks noChangeArrowheads="1"/>
            </p:cNvSpPr>
            <p:nvPr/>
          </p:nvSpPr>
          <p:spPr bwMode="auto">
            <a:xfrm>
              <a:off x="4874106" y="3312640"/>
              <a:ext cx="84029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B050"/>
                  </a:solidFill>
                  <a:cs typeface="Times New Roman" panose="02020603050405020304" pitchFamily="18" charset="0"/>
                </a:rPr>
                <a:t>20mA</a:t>
              </a:r>
              <a:endParaRPr lang="zh-CN" altLang="en-US" sz="2000" b="1">
                <a:solidFill>
                  <a:srgbClr val="00B050"/>
                </a:solidFill>
              </a:endParaRPr>
            </a:p>
          </p:txBody>
        </p:sp>
        <p:sp>
          <p:nvSpPr>
            <p:cNvPr id="108587" name="矩形 43"/>
            <p:cNvSpPr>
              <a:spLocks noChangeArrowheads="1"/>
            </p:cNvSpPr>
            <p:nvPr/>
          </p:nvSpPr>
          <p:spPr bwMode="auto">
            <a:xfrm>
              <a:off x="7634109" y="3404898"/>
              <a:ext cx="9012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B050"/>
                  </a:solidFill>
                  <a:cs typeface="Times New Roman" panose="02020603050405020304" pitchFamily="18" charset="0"/>
                </a:rPr>
                <a:t>200μA</a:t>
              </a:r>
              <a:endParaRPr lang="zh-CN" altLang="en-US" sz="2000" b="1">
                <a:solidFill>
                  <a:srgbClr val="00B050"/>
                </a:solidFill>
              </a:endParaRPr>
            </a:p>
          </p:txBody>
        </p:sp>
      </p:grpSp>
      <p:sp>
        <p:nvSpPr>
          <p:cNvPr id="46" name="任意多边形 45"/>
          <p:cNvSpPr/>
          <p:nvPr/>
        </p:nvSpPr>
        <p:spPr bwMode="auto">
          <a:xfrm>
            <a:off x="6569075" y="3521199"/>
            <a:ext cx="757238" cy="1428750"/>
          </a:xfrm>
          <a:custGeom>
            <a:avLst/>
            <a:gdLst>
              <a:gd name="T0" fmla="*/ 743021 w 757535"/>
              <a:gd name="T1" fmla="*/ 624115 h 1429925"/>
              <a:gd name="T2" fmla="*/ 757535 w 757535"/>
              <a:gd name="T3" fmla="*/ 783772 h 1429925"/>
              <a:gd name="T4" fmla="*/ 743021 w 757535"/>
              <a:gd name="T5" fmla="*/ 1103086 h 1429925"/>
              <a:gd name="T6" fmla="*/ 743021 w 757535"/>
              <a:gd name="T7" fmla="*/ 1378858 h 1429925"/>
              <a:gd name="T8" fmla="*/ 612393 w 757535"/>
              <a:gd name="T9" fmla="*/ 1422400 h 1429925"/>
              <a:gd name="T10" fmla="*/ 322107 w 757535"/>
              <a:gd name="T11" fmla="*/ 1422400 h 1429925"/>
              <a:gd name="T12" fmla="*/ 104393 w 757535"/>
              <a:gd name="T13" fmla="*/ 1422400 h 1429925"/>
              <a:gd name="T14" fmla="*/ 31821 w 757535"/>
              <a:gd name="T15" fmla="*/ 1320800 h 1429925"/>
              <a:gd name="T16" fmla="*/ 2793 w 757535"/>
              <a:gd name="T17" fmla="*/ 1117600 h 1429925"/>
              <a:gd name="T18" fmla="*/ 2793 w 757535"/>
              <a:gd name="T19" fmla="*/ 740229 h 1429925"/>
              <a:gd name="T20" fmla="*/ 17307 w 757535"/>
              <a:gd name="T21" fmla="*/ 319315 h 1429925"/>
              <a:gd name="T22" fmla="*/ 17307 w 757535"/>
              <a:gd name="T23" fmla="*/ 72572 h 1429925"/>
              <a:gd name="T24" fmla="*/ 162450 w 757535"/>
              <a:gd name="T25" fmla="*/ 14515 h 1429925"/>
              <a:gd name="T26" fmla="*/ 409193 w 757535"/>
              <a:gd name="T27" fmla="*/ 0 h 14299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57535" h="1429925">
                <a:moveTo>
                  <a:pt x="743021" y="624115"/>
                </a:moveTo>
                <a:cubicBezTo>
                  <a:pt x="750278" y="664029"/>
                  <a:pt x="757535" y="703944"/>
                  <a:pt x="757535" y="783772"/>
                </a:cubicBezTo>
                <a:cubicBezTo>
                  <a:pt x="757535" y="863600"/>
                  <a:pt x="745440" y="1003905"/>
                  <a:pt x="743021" y="1103086"/>
                </a:cubicBezTo>
                <a:cubicBezTo>
                  <a:pt x="740602" y="1202267"/>
                  <a:pt x="764792" y="1325639"/>
                  <a:pt x="743021" y="1378858"/>
                </a:cubicBezTo>
                <a:cubicBezTo>
                  <a:pt x="721250" y="1432077"/>
                  <a:pt x="682545" y="1415143"/>
                  <a:pt x="612393" y="1422400"/>
                </a:cubicBezTo>
                <a:cubicBezTo>
                  <a:pt x="542241" y="1429657"/>
                  <a:pt x="322107" y="1422400"/>
                  <a:pt x="322107" y="1422400"/>
                </a:cubicBezTo>
                <a:cubicBezTo>
                  <a:pt x="237440" y="1422400"/>
                  <a:pt x="152774" y="1439333"/>
                  <a:pt x="104393" y="1422400"/>
                </a:cubicBezTo>
                <a:cubicBezTo>
                  <a:pt x="56012" y="1405467"/>
                  <a:pt x="48754" y="1371600"/>
                  <a:pt x="31821" y="1320800"/>
                </a:cubicBezTo>
                <a:cubicBezTo>
                  <a:pt x="14888" y="1270000"/>
                  <a:pt x="7631" y="1214362"/>
                  <a:pt x="2793" y="1117600"/>
                </a:cubicBezTo>
                <a:cubicBezTo>
                  <a:pt x="-2045" y="1020838"/>
                  <a:pt x="374" y="873276"/>
                  <a:pt x="2793" y="740229"/>
                </a:cubicBezTo>
                <a:cubicBezTo>
                  <a:pt x="5212" y="607182"/>
                  <a:pt x="14888" y="430591"/>
                  <a:pt x="17307" y="319315"/>
                </a:cubicBezTo>
                <a:cubicBezTo>
                  <a:pt x="19726" y="208039"/>
                  <a:pt x="-6883" y="123372"/>
                  <a:pt x="17307" y="72572"/>
                </a:cubicBezTo>
                <a:cubicBezTo>
                  <a:pt x="41497" y="21772"/>
                  <a:pt x="97136" y="26610"/>
                  <a:pt x="162450" y="14515"/>
                </a:cubicBezTo>
                <a:cubicBezTo>
                  <a:pt x="227764" y="2420"/>
                  <a:pt x="318478" y="1210"/>
                  <a:pt x="409193" y="0"/>
                </a:cubicBezTo>
              </a:path>
            </a:pathLst>
          </a:custGeom>
          <a:noFill/>
          <a:ln w="38100" cap="flat" cmpd="sng" algn="ctr">
            <a:solidFill>
              <a:srgbClr val="00B05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矩形 46"/>
          <p:cNvSpPr>
            <a:spLocks noChangeArrowheads="1"/>
          </p:cNvSpPr>
          <p:nvPr/>
        </p:nvSpPr>
        <p:spPr bwMode="auto">
          <a:xfrm>
            <a:off x="6631940" y="3623945"/>
            <a:ext cx="443865" cy="1981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o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B050"/>
                </a:solidFill>
              </a:rPr>
              <a:t>off</a:t>
            </a:r>
          </a:p>
        </p:txBody>
      </p:sp>
      <p:grpSp>
        <p:nvGrpSpPr>
          <p:cNvPr id="48" name="组合 47"/>
          <p:cNvGrpSpPr/>
          <p:nvPr/>
        </p:nvGrpSpPr>
        <p:grpSpPr bwMode="auto">
          <a:xfrm>
            <a:off x="8413750" y="2522662"/>
            <a:ext cx="730250" cy="1473200"/>
            <a:chOff x="8466965" y="3159241"/>
            <a:chExt cx="728995" cy="1473352"/>
          </a:xfrm>
        </p:grpSpPr>
        <p:pic>
          <p:nvPicPr>
            <p:cNvPr id="108582" name="图片 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7982" y="3159241"/>
              <a:ext cx="717978" cy="1295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8583" name="直接连接符 49"/>
            <p:cNvCxnSpPr>
              <a:cxnSpLocks noChangeShapeType="1"/>
            </p:cNvCxnSpPr>
            <p:nvPr/>
          </p:nvCxnSpPr>
          <p:spPr bwMode="auto">
            <a:xfrm flipV="1">
              <a:off x="8466965" y="4626889"/>
              <a:ext cx="286056" cy="912"/>
            </a:xfrm>
            <a:prstGeom prst="line">
              <a:avLst/>
            </a:prstGeom>
            <a:noFill/>
            <a:ln w="28575" algn="ctr">
              <a:solidFill>
                <a:srgbClr val="3333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584" name="直接连接符 50"/>
            <p:cNvCxnSpPr>
              <a:cxnSpLocks noChangeShapeType="1"/>
            </p:cNvCxnSpPr>
            <p:nvPr/>
          </p:nvCxnSpPr>
          <p:spPr bwMode="auto">
            <a:xfrm flipV="1">
              <a:off x="8753021" y="4393765"/>
              <a:ext cx="4480" cy="238828"/>
            </a:xfrm>
            <a:prstGeom prst="line">
              <a:avLst/>
            </a:prstGeom>
            <a:noFill/>
            <a:ln w="28575" algn="ctr">
              <a:solidFill>
                <a:srgbClr val="3333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2" name="矩形 51"/>
          <p:cNvSpPr/>
          <p:nvPr/>
        </p:nvSpPr>
        <p:spPr>
          <a:xfrm>
            <a:off x="6283325" y="1992437"/>
            <a:ext cx="1016000" cy="612775"/>
          </a:xfrm>
          <a:prstGeom prst="rect">
            <a:avLst/>
          </a:prstGeom>
          <a:noFill/>
        </p:spPr>
        <p:txBody>
          <a:bodyPr lIns="0" tIns="36000" rIns="0" bIns="0" anchor="b">
            <a:spAutoFit/>
          </a:bodyPr>
          <a:lstStyle/>
          <a:p>
            <a:pPr algn="ctr" eaLnBrk="1" hangingPunct="1">
              <a:lnSpc>
                <a:spcPct val="75000"/>
              </a:lnSpc>
              <a:defRPr/>
            </a:pPr>
            <a:r>
              <a:rPr lang="zh-CN" altLang="en-US" sz="2400" b="1" kern="0" dirty="0">
                <a:solidFill>
                  <a:srgbClr val="FF00FF"/>
                </a:solidFill>
                <a:cs typeface="Times New Roman" panose="02020603050405020304" pitchFamily="18" charset="0"/>
              </a:rPr>
              <a:t>例</a:t>
            </a:r>
            <a:r>
              <a:rPr lang="en-US" altLang="zh-CN" sz="2400" b="1" kern="0" dirty="0">
                <a:solidFill>
                  <a:srgbClr val="FF00FF"/>
                </a:solidFill>
                <a:cs typeface="Times New Roman" panose="02020603050405020304" pitchFamily="18" charset="0"/>
              </a:rPr>
              <a:t>:</a:t>
            </a:r>
            <a:r>
              <a:rPr lang="zh-CN" altLang="en-US" sz="2400" b="1" kern="0" dirty="0">
                <a:solidFill>
                  <a:srgbClr val="FF00FF"/>
                </a:solidFill>
                <a:cs typeface="Times New Roman" panose="02020603050405020304" pitchFamily="18" charset="0"/>
              </a:rPr>
              <a:t>口线</a:t>
            </a:r>
            <a:r>
              <a:rPr lang="en-US" altLang="zh-CN" sz="2400" b="1" kern="0" dirty="0">
                <a:solidFill>
                  <a:srgbClr val="FF00FF"/>
                </a:solidFill>
                <a:cs typeface="Times New Roman" panose="02020603050405020304" pitchFamily="18" charset="0"/>
              </a:rPr>
              <a:t>P3.2</a:t>
            </a:r>
            <a:endParaRPr lang="en-US" altLang="zh-CN" sz="2400" b="1" dirty="0">
              <a:solidFill>
                <a:srgbClr val="FF00FF"/>
              </a:solidFill>
              <a:ea typeface="宋体" panose="02010600030101010101" pitchFamily="2" charset="-122"/>
              <a:cs typeface="Times New Roman" panose="02020603050405020304" pitchFamily="18" charset="0"/>
            </a:endParaRPr>
          </a:p>
        </p:txBody>
      </p:sp>
      <p:sp>
        <p:nvSpPr>
          <p:cNvPr id="53" name="矩形 52"/>
          <p:cNvSpPr/>
          <p:nvPr/>
        </p:nvSpPr>
        <p:spPr>
          <a:xfrm>
            <a:off x="693738" y="4957887"/>
            <a:ext cx="1284287" cy="866775"/>
          </a:xfrm>
          <a:prstGeom prst="rect">
            <a:avLst/>
          </a:prstGeom>
          <a:noFill/>
        </p:spPr>
        <p:txBody>
          <a:bodyPr lIns="0" tIns="36000" rIns="0" bIns="0" anchor="b">
            <a:spAutoFit/>
          </a:bodyPr>
          <a:lstStyle/>
          <a:p>
            <a:pPr algn="ctr" eaLnBrk="1" hangingPunct="1">
              <a:lnSpc>
                <a:spcPct val="75000"/>
              </a:lnSpc>
              <a:defRPr/>
            </a:pPr>
            <a:r>
              <a:rPr lang="zh-CN" altLang="en-US" sz="2400" b="1" kern="0" dirty="0">
                <a:solidFill>
                  <a:srgbClr val="0000FF"/>
                </a:solidFill>
                <a:cs typeface="Times New Roman" panose="02020603050405020304" pitchFamily="18" charset="0"/>
              </a:rPr>
              <a:t>例</a:t>
            </a:r>
            <a:r>
              <a:rPr lang="en-US" altLang="zh-CN" sz="2400" b="1" kern="0" dirty="0">
                <a:solidFill>
                  <a:srgbClr val="0000FF"/>
                </a:solidFill>
                <a:cs typeface="Times New Roman" panose="02020603050405020304" pitchFamily="18" charset="0"/>
              </a:rPr>
              <a:t>:</a:t>
            </a:r>
            <a:r>
              <a:rPr lang="zh-CN" altLang="en-US" sz="2400" b="1" kern="0" dirty="0">
                <a:solidFill>
                  <a:srgbClr val="0000FF"/>
                </a:solidFill>
                <a:cs typeface="Times New Roman" panose="02020603050405020304" pitchFamily="18" charset="0"/>
              </a:rPr>
              <a:t>口线</a:t>
            </a:r>
            <a:r>
              <a:rPr lang="en-US" altLang="zh-CN" sz="2400" b="1" kern="0" dirty="0">
                <a:solidFill>
                  <a:srgbClr val="0000FF"/>
                </a:solidFill>
                <a:cs typeface="Times New Roman" panose="02020603050405020304" pitchFamily="18" charset="0"/>
              </a:rPr>
              <a:t>P3.2</a:t>
            </a:r>
            <a:r>
              <a:rPr lang="zh-CN" altLang="en-US" sz="2400" b="1" kern="0" dirty="0">
                <a:solidFill>
                  <a:srgbClr val="0000FF"/>
                </a:solidFill>
                <a:cs typeface="Times New Roman" panose="02020603050405020304" pitchFamily="18" charset="0"/>
              </a:rPr>
              <a:t>的锁存器位</a:t>
            </a:r>
            <a:endParaRPr lang="en-US" altLang="zh-CN" sz="2400" b="1" dirty="0">
              <a:solidFill>
                <a:srgbClr val="0000FF"/>
              </a:solidFill>
              <a:ea typeface="宋体" panose="02010600030101010101" pitchFamily="2" charset="-122"/>
              <a:cs typeface="Times New Roman" panose="02020603050405020304" pitchFamily="18" charset="0"/>
            </a:endParaRPr>
          </a:p>
        </p:txBody>
      </p:sp>
      <p:sp>
        <p:nvSpPr>
          <p:cNvPr id="54" name="矩形 53"/>
          <p:cNvSpPr>
            <a:spLocks noChangeArrowheads="1"/>
          </p:cNvSpPr>
          <p:nvPr/>
        </p:nvSpPr>
        <p:spPr bwMode="auto">
          <a:xfrm>
            <a:off x="5056823" y="4394324"/>
            <a:ext cx="538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off</a:t>
            </a:r>
          </a:p>
        </p:txBody>
      </p:sp>
      <p:sp>
        <p:nvSpPr>
          <p:cNvPr id="3" name="灯片编号占位符 2"/>
          <p:cNvSpPr>
            <a:spLocks noGrp="1"/>
          </p:cNvSpPr>
          <p:nvPr>
            <p:ph type="sldNum" sz="quarter" idx="12"/>
          </p:nvPr>
        </p:nvSpPr>
        <p:spPr/>
        <p:txBody>
          <a:bodyPr/>
          <a:lstStyle/>
          <a:p>
            <a:fld id="{22E77DEE-32E4-4009-988B-F2758F7B8AC2}" type="slidenum">
              <a:rPr lang="zh-CN" altLang="en-US" smtClean="0"/>
              <a:t>57</a:t>
            </a:fld>
            <a:endParaRPr lang="zh-CN" altLang="en-US"/>
          </a:p>
        </p:txBody>
      </p:sp>
      <p:sp>
        <p:nvSpPr>
          <p:cNvPr id="10" name="标题 3"/>
          <p:cNvSpPr>
            <a:spLocks noGrp="1" noChangeArrowheads="1"/>
          </p:cNvSpPr>
          <p:nvPr>
            <p:ph type="title"/>
          </p:nvPr>
        </p:nvSpPr>
        <p:spPr>
          <a:xfrm>
            <a:off x="801053" y="150914"/>
            <a:ext cx="8229600" cy="1045744"/>
          </a:xfrm>
        </p:spPr>
        <p:txBody>
          <a:bodyPr>
            <a:noAutofit/>
          </a:bodyPr>
          <a:lstStyle/>
          <a:p>
            <a:pPr eaLnBrk="1" hangingPunct="1"/>
            <a:r>
              <a:rPr lang="en-US" altLang="zh-CN" sz="3600" dirty="0">
                <a:solidFill>
                  <a:srgbClr val="FF0000"/>
                </a:solidFill>
              </a:rPr>
              <a:t>Structure of the dual-directional (weak pull-up) working mode</a:t>
            </a:r>
            <a:endParaRPr lang="zh-CN" altLang="en-US" sz="3600" dirty="0">
              <a:solidFill>
                <a:srgbClr val="FF0000"/>
              </a:solidFill>
            </a:endParaRPr>
          </a:p>
        </p:txBody>
      </p:sp>
      <p:sp>
        <p:nvSpPr>
          <p:cNvPr id="2" name="文本框 1"/>
          <p:cNvSpPr txBox="1"/>
          <p:nvPr/>
        </p:nvSpPr>
        <p:spPr>
          <a:xfrm>
            <a:off x="2782570" y="5502910"/>
            <a:ext cx="3048000" cy="368300"/>
          </a:xfrm>
          <a:prstGeom prst="rect">
            <a:avLst/>
          </a:prstGeom>
          <a:noFill/>
        </p:spPr>
        <p:txBody>
          <a:bodyPr wrap="square" rtlCol="0">
            <a:spAutoFit/>
          </a:bodyPr>
          <a:lstStyle/>
          <a:p>
            <a:r>
              <a:rPr lang="en-US" altLang="zh-CN"/>
              <a:t>input data </a:t>
            </a:r>
          </a:p>
        </p:txBody>
      </p:sp>
      <p:sp>
        <p:nvSpPr>
          <p:cNvPr id="4" name="文本框 3"/>
          <p:cNvSpPr txBox="1"/>
          <p:nvPr/>
        </p:nvSpPr>
        <p:spPr>
          <a:xfrm>
            <a:off x="5895975" y="5957570"/>
            <a:ext cx="2802890" cy="337185"/>
          </a:xfrm>
          <a:prstGeom prst="rect">
            <a:avLst/>
          </a:prstGeom>
        </p:spPr>
        <p:txBody>
          <a:bodyPr wrap="square">
            <a:spAutoFit/>
          </a:bodyPr>
          <a:lstStyle/>
          <a:p>
            <a:r>
              <a:rPr lang="en-US" altLang="zh-CN" sz="1600"/>
              <a:t>Interference Suppression Filter</a:t>
            </a:r>
          </a:p>
        </p:txBody>
      </p:sp>
      <p:sp>
        <p:nvSpPr>
          <p:cNvPr id="5" name="文本框 4"/>
          <p:cNvSpPr txBox="1"/>
          <p:nvPr/>
        </p:nvSpPr>
        <p:spPr>
          <a:xfrm>
            <a:off x="8357870" y="3967480"/>
            <a:ext cx="3048000" cy="368300"/>
          </a:xfrm>
          <a:prstGeom prst="rect">
            <a:avLst/>
          </a:prstGeom>
          <a:noFill/>
        </p:spPr>
        <p:txBody>
          <a:bodyPr wrap="square" rtlCol="0">
            <a:spAutoFit/>
          </a:bodyPr>
          <a:lstStyle/>
          <a:p>
            <a:r>
              <a:rPr lang="en-US" altLang="zh-CN"/>
              <a:t>Port Pin</a:t>
            </a:r>
          </a:p>
        </p:txBody>
      </p:sp>
      <p:sp>
        <p:nvSpPr>
          <p:cNvPr id="8" name="文本框 7"/>
          <p:cNvSpPr txBox="1"/>
          <p:nvPr/>
        </p:nvSpPr>
        <p:spPr>
          <a:xfrm>
            <a:off x="2085340" y="3686175"/>
            <a:ext cx="3048000" cy="583565"/>
          </a:xfrm>
          <a:prstGeom prst="rect">
            <a:avLst/>
          </a:prstGeom>
          <a:noFill/>
        </p:spPr>
        <p:txBody>
          <a:bodyPr wrap="square" rtlCol="0">
            <a:spAutoFit/>
          </a:bodyPr>
          <a:lstStyle/>
          <a:p>
            <a:r>
              <a:rPr lang="en-US" altLang="zh-CN" sz="1600"/>
              <a:t>2 CPU clock</a:t>
            </a:r>
          </a:p>
          <a:p>
            <a:r>
              <a:rPr lang="en-US" altLang="zh-CN" sz="1600"/>
              <a:t>delays</a:t>
            </a:r>
          </a:p>
        </p:txBody>
      </p:sp>
      <p:sp>
        <p:nvSpPr>
          <p:cNvPr id="9" name="文本框 8"/>
          <p:cNvSpPr txBox="1"/>
          <p:nvPr/>
        </p:nvSpPr>
        <p:spPr>
          <a:xfrm>
            <a:off x="-30480" y="3361055"/>
            <a:ext cx="1527810" cy="337185"/>
          </a:xfrm>
          <a:prstGeom prst="rect">
            <a:avLst/>
          </a:prstGeom>
        </p:spPr>
        <p:txBody>
          <a:bodyPr wrap="square">
            <a:spAutoFit/>
          </a:bodyPr>
          <a:lstStyle/>
          <a:p>
            <a:r>
              <a:rPr lang="en-US" altLang="zh-CN" sz="1600"/>
              <a:t>Port Data Latch</a:t>
            </a:r>
          </a:p>
        </p:txBody>
      </p:sp>
      <p:sp>
        <p:nvSpPr>
          <p:cNvPr id="6" name="矩形 5"/>
          <p:cNvSpPr/>
          <p:nvPr/>
        </p:nvSpPr>
        <p:spPr>
          <a:xfrm>
            <a:off x="7336155" y="1871028"/>
            <a:ext cx="1625600" cy="590550"/>
          </a:xfrm>
          <a:prstGeom prst="rect">
            <a:avLst/>
          </a:prstGeom>
          <a:noFill/>
        </p:spPr>
        <p:txBody>
          <a:bodyPr lIns="0" tIns="36000" rIns="0" bIns="0" anchor="b">
            <a:spAutoFit/>
          </a:bodyPr>
          <a:lstStyle/>
          <a:p>
            <a:pPr algn="ctr" eaLnBrk="1" hangingPunct="1">
              <a:lnSpc>
                <a:spcPct val="75000"/>
              </a:lnSpc>
              <a:defRPr/>
            </a:pPr>
            <a:r>
              <a:rPr lang="zh-CN" altLang="en-US" sz="1200" b="1" kern="0" dirty="0">
                <a:solidFill>
                  <a:srgbClr val="FF00FF"/>
                </a:solidFill>
                <a:cs typeface="Times New Roman" panose="02020603050405020304" pitchFamily="18" charset="0"/>
              </a:rPr>
              <a:t>Example: latch bit of P3.2 line</a:t>
            </a:r>
            <a:endParaRPr lang="en-US" altLang="zh-CN" sz="2400" b="1" dirty="0">
              <a:solidFill>
                <a:srgbClr val="FF00FF"/>
              </a:solidFill>
              <a:ea typeface="宋体" panose="02010600030101010101" pitchFamily="2" charset="-122"/>
              <a:cs typeface="Times New Roman" panose="02020603050405020304" pitchFamily="18" charset="0"/>
            </a:endParaRPr>
          </a:p>
        </p:txBody>
      </p:sp>
      <p:sp>
        <p:nvSpPr>
          <p:cNvPr id="7" name="矩形 6"/>
          <p:cNvSpPr/>
          <p:nvPr/>
        </p:nvSpPr>
        <p:spPr>
          <a:xfrm>
            <a:off x="666433" y="5253038"/>
            <a:ext cx="1311275" cy="866775"/>
          </a:xfrm>
          <a:prstGeom prst="rect">
            <a:avLst/>
          </a:prstGeom>
          <a:noFill/>
        </p:spPr>
        <p:txBody>
          <a:bodyPr lIns="0" tIns="36000" rIns="0" bIns="0" anchor="b">
            <a:spAutoFit/>
          </a:bodyPr>
          <a:lstStyle/>
          <a:p>
            <a:pPr algn="ctr" eaLnBrk="1" hangingPunct="1">
              <a:lnSpc>
                <a:spcPct val="75000"/>
              </a:lnSpc>
              <a:defRPr/>
            </a:pPr>
            <a:r>
              <a:rPr lang="zh-CN" altLang="en-US" sz="1200" b="1" kern="0" dirty="0">
                <a:solidFill>
                  <a:srgbClr val="0000FF"/>
                </a:solidFill>
                <a:cs typeface="Times New Roman" panose="02020603050405020304" pitchFamily="18" charset="0"/>
              </a:rPr>
              <a:t>Example: latch bit of P3.2 line</a:t>
            </a:r>
            <a:endParaRPr lang="en-US" altLang="zh-CN" sz="2400" b="1" dirty="0">
              <a:solidFill>
                <a:srgbClr val="0000FF"/>
              </a:solidFill>
              <a:ea typeface="宋体" panose="02010600030101010101" pitchFamily="2" charset="-122"/>
              <a:cs typeface="Times New Roman" panose="02020603050405020304" pitchFamily="18" charset="0"/>
            </a:endParaRPr>
          </a:p>
        </p:txBody>
      </p:sp>
      <p:sp>
        <p:nvSpPr>
          <p:cNvPr id="36" name="矩形 35"/>
          <p:cNvSpPr>
            <a:spLocks noChangeArrowheads="1"/>
          </p:cNvSpPr>
          <p:nvPr/>
        </p:nvSpPr>
        <p:spPr bwMode="auto">
          <a:xfrm>
            <a:off x="7299325" y="3505324"/>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sp>
        <p:nvSpPr>
          <p:cNvPr id="34" name="矩形 33"/>
          <p:cNvSpPr>
            <a:spLocks noChangeArrowheads="1"/>
          </p:cNvSpPr>
          <p:nvPr/>
        </p:nvSpPr>
        <p:spPr bwMode="auto">
          <a:xfrm>
            <a:off x="6911182" y="3476749"/>
            <a:ext cx="5048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on</a:t>
            </a:r>
          </a:p>
        </p:txBody>
      </p:sp>
      <p:sp>
        <p:nvSpPr>
          <p:cNvPr id="11" name="矩形 10"/>
          <p:cNvSpPr>
            <a:spLocks noChangeArrowheads="1"/>
          </p:cNvSpPr>
          <p:nvPr/>
        </p:nvSpPr>
        <p:spPr bwMode="auto">
          <a:xfrm>
            <a:off x="7637780" y="4515485"/>
            <a:ext cx="1323975" cy="434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solidFill>
                  <a:srgbClr val="3333FF"/>
                </a:solidFill>
              </a:rPr>
              <a:t>At low output, the maximum sink current is 20mA</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标题 3"/>
          <p:cNvSpPr>
            <a:spLocks noGrp="1" noChangeArrowheads="1"/>
          </p:cNvSpPr>
          <p:nvPr>
            <p:ph type="title"/>
          </p:nvPr>
        </p:nvSpPr>
        <p:spPr>
          <a:xfrm>
            <a:off x="862013" y="691833"/>
            <a:ext cx="8229600" cy="504825"/>
          </a:xfrm>
        </p:spPr>
        <p:txBody>
          <a:bodyPr>
            <a:noAutofit/>
          </a:bodyPr>
          <a:lstStyle/>
          <a:p>
            <a:pPr eaLnBrk="1" hangingPunct="1"/>
            <a:r>
              <a:rPr lang="zh-CN" altLang="en-US" sz="4000" dirty="0">
                <a:solidFill>
                  <a:srgbClr val="FF0000"/>
                </a:solidFill>
              </a:rPr>
              <a:t>Structure of the dual-directional (weak pull-up) working mode</a:t>
            </a:r>
          </a:p>
        </p:txBody>
      </p:sp>
      <p:sp>
        <p:nvSpPr>
          <p:cNvPr id="618499" name="Rectangle 3"/>
          <p:cNvSpPr>
            <a:spLocks noGrp="1" noChangeArrowheads="1"/>
          </p:cNvSpPr>
          <p:nvPr>
            <p:ph idx="1"/>
          </p:nvPr>
        </p:nvSpPr>
        <p:spPr>
          <a:xfrm>
            <a:off x="665480" y="1229360"/>
            <a:ext cx="7585710" cy="1553845"/>
          </a:xfrm>
        </p:spPr>
        <p:txBody>
          <a:bodyPr>
            <a:normAutofit lnSpcReduction="10000"/>
          </a:bodyPr>
          <a:lstStyle/>
          <a:p>
            <a:pPr marL="262255" lvl="1" indent="-262255" eaLnBrk="1" hangingPunct="1">
              <a:defRPr/>
            </a:pPr>
            <a:r>
              <a:rPr lang="zh-CN" altLang="en-US" dirty="0"/>
              <a:t>When the</a:t>
            </a:r>
            <a:r>
              <a:rPr lang="zh-CN" altLang="en-US" dirty="0">
                <a:solidFill>
                  <a:srgbClr val="FF0000"/>
                </a:solidFill>
              </a:rPr>
              <a:t> latch toggles from 0 to 1</a:t>
            </a:r>
            <a:r>
              <a:rPr lang="zh-CN" altLang="en-US" dirty="0"/>
              <a:t>, </a:t>
            </a:r>
            <a:r>
              <a:rPr lang="zh-CN" altLang="en-US" dirty="0">
                <a:solidFill>
                  <a:srgbClr val="FF00FF"/>
                </a:solidFill>
              </a:rPr>
              <a:t>T1 accelerates the quasi-bidirectional latchs transition from logic 0 to logic 1</a:t>
            </a:r>
            <a:r>
              <a:rPr lang="zh-CN" altLang="en-US" dirty="0"/>
              <a:t>. During this process, T1 conducts for approximately two clock cycles, enabling the pin to rapidly pull up to a high level.</a:t>
            </a:r>
          </a:p>
          <a:p>
            <a:pPr marL="262255" lvl="1" indent="-262255" eaLnBrk="1" hangingPunct="1">
              <a:defRPr/>
            </a:pPr>
            <a:r>
              <a:rPr lang="zh-CN" altLang="en-US" dirty="0"/>
              <a:t>The bidirectional switch has a Schmitt trigger input and an interference suppression circuit.</a:t>
            </a:r>
          </a:p>
        </p:txBody>
      </p:sp>
      <p:pic>
        <p:nvPicPr>
          <p:cNvPr id="6" name="Picture 189" descr="D:\DOCUME~1\ADMINI~1\LOCALS~1\Temp\HS5ClipImage_56b00a7d.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788" y="2759075"/>
            <a:ext cx="8258175" cy="334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组合 6"/>
          <p:cNvGrpSpPr/>
          <p:nvPr/>
        </p:nvGrpSpPr>
        <p:grpSpPr bwMode="auto">
          <a:xfrm>
            <a:off x="4866012" y="3068955"/>
            <a:ext cx="3272781" cy="358141"/>
            <a:chOff x="4908086" y="2721819"/>
            <a:chExt cx="3273856" cy="358195"/>
          </a:xfrm>
        </p:grpSpPr>
        <p:sp>
          <p:nvSpPr>
            <p:cNvPr id="109617" name="矩形 7"/>
            <p:cNvSpPr>
              <a:spLocks noChangeArrowheads="1"/>
            </p:cNvSpPr>
            <p:nvPr/>
          </p:nvSpPr>
          <p:spPr bwMode="auto">
            <a:xfrm>
              <a:off x="4908086" y="2721819"/>
              <a:ext cx="663158" cy="306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a:solidFill>
                    <a:srgbClr val="00B050"/>
                  </a:solidFill>
                </a:rPr>
                <a:t>strong</a:t>
              </a:r>
            </a:p>
          </p:txBody>
        </p:sp>
        <p:sp>
          <p:nvSpPr>
            <p:cNvPr id="109618" name="矩形 8"/>
            <p:cNvSpPr>
              <a:spLocks noChangeArrowheads="1"/>
            </p:cNvSpPr>
            <p:nvPr/>
          </p:nvSpPr>
          <p:spPr bwMode="auto">
            <a:xfrm>
              <a:off x="5947169" y="2721819"/>
              <a:ext cx="980762" cy="306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400" b="1">
                  <a:solidFill>
                    <a:srgbClr val="00B050"/>
                  </a:solidFill>
                </a:rPr>
                <a:t>Very weak</a:t>
              </a:r>
            </a:p>
          </p:txBody>
        </p:sp>
        <p:sp>
          <p:nvSpPr>
            <p:cNvPr id="109619" name="矩形 9"/>
            <p:cNvSpPr>
              <a:spLocks noChangeArrowheads="1"/>
            </p:cNvSpPr>
            <p:nvPr/>
          </p:nvSpPr>
          <p:spPr bwMode="auto">
            <a:xfrm>
              <a:off x="7603902" y="2773263"/>
              <a:ext cx="578040" cy="306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400" b="1">
                  <a:solidFill>
                    <a:srgbClr val="00B050"/>
                  </a:solidFill>
                </a:rPr>
                <a:t>weak</a:t>
              </a:r>
            </a:p>
          </p:txBody>
        </p:sp>
      </p:grpSp>
      <p:sp>
        <p:nvSpPr>
          <p:cNvPr id="11" name="矩形 10"/>
          <p:cNvSpPr>
            <a:spLocks noChangeArrowheads="1"/>
          </p:cNvSpPr>
          <p:nvPr/>
        </p:nvSpPr>
        <p:spPr bwMode="auto">
          <a:xfrm>
            <a:off x="236855" y="3455988"/>
            <a:ext cx="86614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a:solidFill>
                  <a:srgbClr val="FF0000"/>
                </a:solidFill>
                <a:cs typeface="Times New Roman" panose="02020603050405020304" pitchFamily="18" charset="0"/>
              </a:rPr>
              <a:t>P0～ P7</a:t>
            </a:r>
          </a:p>
        </p:txBody>
      </p:sp>
      <p:sp>
        <p:nvSpPr>
          <p:cNvPr id="13" name="矩形 12"/>
          <p:cNvSpPr>
            <a:spLocks noChangeArrowheads="1"/>
          </p:cNvSpPr>
          <p:nvPr/>
        </p:nvSpPr>
        <p:spPr bwMode="auto">
          <a:xfrm>
            <a:off x="327025" y="4395470"/>
            <a:ext cx="474345" cy="532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0000"/>
                </a:solidFill>
              </a:rPr>
              <a:t>1</a:t>
            </a:r>
          </a:p>
        </p:txBody>
      </p:sp>
      <p:sp>
        <p:nvSpPr>
          <p:cNvPr id="14" name="矩形 13"/>
          <p:cNvSpPr>
            <a:spLocks noChangeArrowheads="1"/>
          </p:cNvSpPr>
          <p:nvPr/>
        </p:nvSpPr>
        <p:spPr bwMode="auto">
          <a:xfrm>
            <a:off x="3122454" y="4195763"/>
            <a:ext cx="28448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FF0000"/>
                </a:solidFill>
              </a:rPr>
              <a:t>0</a:t>
            </a:r>
          </a:p>
        </p:txBody>
      </p:sp>
      <p:sp>
        <p:nvSpPr>
          <p:cNvPr id="15" name="矩形 14"/>
          <p:cNvSpPr>
            <a:spLocks noChangeArrowheads="1"/>
          </p:cNvSpPr>
          <p:nvPr/>
        </p:nvSpPr>
        <p:spPr bwMode="auto">
          <a:xfrm>
            <a:off x="2059305" y="2878138"/>
            <a:ext cx="28448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FF0000"/>
                </a:solidFill>
              </a:rPr>
              <a:t>1</a:t>
            </a:r>
          </a:p>
        </p:txBody>
      </p:sp>
      <p:sp>
        <p:nvSpPr>
          <p:cNvPr id="16" name="矩形 15"/>
          <p:cNvSpPr>
            <a:spLocks noChangeArrowheads="1"/>
          </p:cNvSpPr>
          <p:nvPr/>
        </p:nvSpPr>
        <p:spPr bwMode="auto">
          <a:xfrm>
            <a:off x="3943191" y="3008313"/>
            <a:ext cx="2971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0000"/>
                </a:solidFill>
              </a:rPr>
              <a:t>1</a:t>
            </a:r>
          </a:p>
        </p:txBody>
      </p:sp>
      <p:sp>
        <p:nvSpPr>
          <p:cNvPr id="17" name="矩形 16"/>
          <p:cNvSpPr>
            <a:spLocks noChangeArrowheads="1"/>
          </p:cNvSpPr>
          <p:nvPr/>
        </p:nvSpPr>
        <p:spPr bwMode="auto">
          <a:xfrm>
            <a:off x="427832" y="4946650"/>
            <a:ext cx="27178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a:solidFill>
                  <a:srgbClr val="3366FF"/>
                </a:solidFill>
              </a:rPr>
              <a:t>0</a:t>
            </a:r>
          </a:p>
        </p:txBody>
      </p:sp>
      <p:sp>
        <p:nvSpPr>
          <p:cNvPr id="18" name="矩形 17"/>
          <p:cNvSpPr>
            <a:spLocks noChangeArrowheads="1"/>
          </p:cNvSpPr>
          <p:nvPr/>
        </p:nvSpPr>
        <p:spPr bwMode="auto">
          <a:xfrm>
            <a:off x="3124359" y="4743133"/>
            <a:ext cx="28448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3366FF"/>
                </a:solidFill>
              </a:rPr>
              <a:t>1</a:t>
            </a:r>
          </a:p>
        </p:txBody>
      </p:sp>
      <p:sp>
        <p:nvSpPr>
          <p:cNvPr id="19" name="矩形 18"/>
          <p:cNvSpPr>
            <a:spLocks noChangeArrowheads="1"/>
          </p:cNvSpPr>
          <p:nvPr/>
        </p:nvSpPr>
        <p:spPr bwMode="auto">
          <a:xfrm>
            <a:off x="2045812" y="3334385"/>
            <a:ext cx="2971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3366FF"/>
                </a:solidFill>
              </a:rPr>
              <a:t>0</a:t>
            </a:r>
          </a:p>
        </p:txBody>
      </p:sp>
      <p:sp>
        <p:nvSpPr>
          <p:cNvPr id="20" name="矩形 19"/>
          <p:cNvSpPr>
            <a:spLocks noChangeArrowheads="1"/>
          </p:cNvSpPr>
          <p:nvPr/>
        </p:nvSpPr>
        <p:spPr bwMode="auto">
          <a:xfrm>
            <a:off x="1667986" y="2625408"/>
            <a:ext cx="226568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solidFill>
                  <a:srgbClr val="FF00FF"/>
                </a:solidFill>
              </a:rPr>
              <a:t>Delay 2 clock cycles to 1</a:t>
            </a:r>
          </a:p>
        </p:txBody>
      </p:sp>
      <p:sp>
        <p:nvSpPr>
          <p:cNvPr id="21" name="矩形 20"/>
          <p:cNvSpPr>
            <a:spLocks noChangeArrowheads="1"/>
          </p:cNvSpPr>
          <p:nvPr/>
        </p:nvSpPr>
        <p:spPr bwMode="auto">
          <a:xfrm>
            <a:off x="3351689" y="3386455"/>
            <a:ext cx="309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3366FF"/>
                </a:solidFill>
              </a:rPr>
              <a:t>0</a:t>
            </a:r>
          </a:p>
        </p:txBody>
      </p:sp>
      <p:sp>
        <p:nvSpPr>
          <p:cNvPr id="22" name="矩形 21"/>
          <p:cNvSpPr>
            <a:spLocks noChangeArrowheads="1"/>
          </p:cNvSpPr>
          <p:nvPr/>
        </p:nvSpPr>
        <p:spPr bwMode="auto">
          <a:xfrm>
            <a:off x="3766185" y="3612515"/>
            <a:ext cx="957580" cy="548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en-US" altLang="zh-CN" sz="1400" b="1">
                <a:solidFill>
                  <a:srgbClr val="FF00FF"/>
                </a:solidFill>
              </a:rPr>
              <a:t>remain</a:t>
            </a:r>
            <a:r>
              <a:rPr lang="zh-CN" altLang="en-US" sz="1400" b="1">
                <a:solidFill>
                  <a:srgbClr val="FF00FF"/>
                </a:solidFill>
              </a:rPr>
              <a:t> </a:t>
            </a:r>
            <a:r>
              <a:rPr lang="en-US" altLang="zh-CN" sz="1400" b="1">
                <a:solidFill>
                  <a:srgbClr val="3366FF"/>
                </a:solidFill>
                <a:sym typeface="+mn-ea"/>
              </a:rPr>
              <a:t>0</a:t>
            </a:r>
            <a:endParaRPr lang="en-US" altLang="zh-CN" sz="2800" b="1">
              <a:solidFill>
                <a:srgbClr val="0000FF"/>
              </a:solidFill>
            </a:endParaRPr>
          </a:p>
          <a:p>
            <a:pPr eaLnBrk="1" hangingPunct="1">
              <a:lnSpc>
                <a:spcPct val="85000"/>
              </a:lnSpc>
            </a:pPr>
            <a:r>
              <a:rPr lang="en-US" altLang="zh-CN" sz="1400" b="1">
                <a:solidFill>
                  <a:srgbClr val="FF00FF"/>
                </a:solidFill>
              </a:rPr>
              <a:t>for  2 clock cycles</a:t>
            </a:r>
          </a:p>
        </p:txBody>
      </p:sp>
      <p:sp>
        <p:nvSpPr>
          <p:cNvPr id="28" name="矩形 27"/>
          <p:cNvSpPr>
            <a:spLocks noChangeArrowheads="1"/>
          </p:cNvSpPr>
          <p:nvPr/>
        </p:nvSpPr>
        <p:spPr bwMode="auto">
          <a:xfrm>
            <a:off x="4019709" y="3319463"/>
            <a:ext cx="2971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3366FF"/>
                </a:solidFill>
              </a:rPr>
              <a:t>1</a:t>
            </a:r>
          </a:p>
        </p:txBody>
      </p:sp>
      <p:sp>
        <p:nvSpPr>
          <p:cNvPr id="29" name="矩形 28"/>
          <p:cNvSpPr>
            <a:spLocks noChangeArrowheads="1"/>
          </p:cNvSpPr>
          <p:nvPr/>
        </p:nvSpPr>
        <p:spPr bwMode="auto">
          <a:xfrm>
            <a:off x="4789805" y="3630930"/>
            <a:ext cx="47688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FF0000"/>
                </a:solidFill>
              </a:rPr>
              <a:t>Off</a:t>
            </a:r>
          </a:p>
        </p:txBody>
      </p:sp>
      <p:sp>
        <p:nvSpPr>
          <p:cNvPr id="34" name="矩形 33"/>
          <p:cNvSpPr>
            <a:spLocks noChangeArrowheads="1"/>
          </p:cNvSpPr>
          <p:nvPr/>
        </p:nvSpPr>
        <p:spPr bwMode="auto">
          <a:xfrm>
            <a:off x="7549198" y="3681413"/>
            <a:ext cx="28448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FF0000"/>
                </a:solidFill>
              </a:rPr>
              <a:t>1</a:t>
            </a:r>
          </a:p>
        </p:txBody>
      </p:sp>
      <p:sp>
        <p:nvSpPr>
          <p:cNvPr id="35" name="矩形 34"/>
          <p:cNvSpPr>
            <a:spLocks noChangeArrowheads="1"/>
          </p:cNvSpPr>
          <p:nvPr/>
        </p:nvSpPr>
        <p:spPr bwMode="auto">
          <a:xfrm>
            <a:off x="5442744" y="4670425"/>
            <a:ext cx="45402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solidFill>
                  <a:srgbClr val="3366FF"/>
                </a:solidFill>
              </a:rPr>
              <a:t>On</a:t>
            </a:r>
          </a:p>
        </p:txBody>
      </p:sp>
      <p:grpSp>
        <p:nvGrpSpPr>
          <p:cNvPr id="618497" name="组合 618496"/>
          <p:cNvGrpSpPr/>
          <p:nvPr/>
        </p:nvGrpSpPr>
        <p:grpSpPr bwMode="auto">
          <a:xfrm>
            <a:off x="4923874" y="2947748"/>
            <a:ext cx="3291380" cy="344765"/>
            <a:chOff x="4924356" y="3409032"/>
            <a:chExt cx="3291488" cy="344030"/>
          </a:xfrm>
        </p:grpSpPr>
        <p:sp>
          <p:nvSpPr>
            <p:cNvPr id="109614" name="矩形 11"/>
            <p:cNvSpPr>
              <a:spLocks noChangeArrowheads="1"/>
            </p:cNvSpPr>
            <p:nvPr/>
          </p:nvSpPr>
          <p:spPr bwMode="auto">
            <a:xfrm>
              <a:off x="6178454" y="3409032"/>
              <a:ext cx="589934" cy="306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a:solidFill>
                    <a:srgbClr val="00B050"/>
                  </a:solidFill>
                  <a:cs typeface="Times New Roman" panose="02020603050405020304" pitchFamily="18" charset="0"/>
                </a:rPr>
                <a:t>30μA</a:t>
              </a:r>
            </a:p>
          </p:txBody>
        </p:sp>
        <p:sp>
          <p:nvSpPr>
            <p:cNvPr id="109615" name="矩形 35"/>
            <p:cNvSpPr>
              <a:spLocks noChangeArrowheads="1"/>
            </p:cNvSpPr>
            <p:nvPr/>
          </p:nvSpPr>
          <p:spPr bwMode="auto">
            <a:xfrm>
              <a:off x="4924356" y="3409591"/>
              <a:ext cx="636926" cy="306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a:solidFill>
                    <a:srgbClr val="00B050"/>
                  </a:solidFill>
                  <a:cs typeface="Times New Roman" panose="02020603050405020304" pitchFamily="18" charset="0"/>
                </a:rPr>
                <a:t>20mA</a:t>
              </a:r>
            </a:p>
          </p:txBody>
        </p:sp>
        <p:sp>
          <p:nvSpPr>
            <p:cNvPr id="109616" name="矩形 36"/>
            <p:cNvSpPr>
              <a:spLocks noChangeArrowheads="1"/>
            </p:cNvSpPr>
            <p:nvPr/>
          </p:nvSpPr>
          <p:spPr bwMode="auto">
            <a:xfrm>
              <a:off x="7537007" y="3447011"/>
              <a:ext cx="678837" cy="306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a:solidFill>
                    <a:srgbClr val="00B050"/>
                  </a:solidFill>
                  <a:cs typeface="Times New Roman" panose="02020603050405020304" pitchFamily="18" charset="0"/>
                </a:rPr>
                <a:t>200μA</a:t>
              </a:r>
            </a:p>
          </p:txBody>
        </p:sp>
      </p:grpSp>
      <p:sp>
        <p:nvSpPr>
          <p:cNvPr id="39" name="矩形 38"/>
          <p:cNvSpPr>
            <a:spLocks noChangeArrowheads="1"/>
          </p:cNvSpPr>
          <p:nvPr/>
        </p:nvSpPr>
        <p:spPr bwMode="auto">
          <a:xfrm>
            <a:off x="5425282" y="3549333"/>
            <a:ext cx="47688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3366FF"/>
                </a:solidFill>
              </a:rPr>
              <a:t>Off</a:t>
            </a:r>
          </a:p>
        </p:txBody>
      </p:sp>
      <p:sp>
        <p:nvSpPr>
          <p:cNvPr id="40" name="矩形 39"/>
          <p:cNvSpPr>
            <a:spLocks noChangeArrowheads="1"/>
          </p:cNvSpPr>
          <p:nvPr/>
        </p:nvSpPr>
        <p:spPr bwMode="auto">
          <a:xfrm>
            <a:off x="6729889" y="3844925"/>
            <a:ext cx="47688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3366FF"/>
                </a:solidFill>
              </a:rPr>
              <a:t>Off</a:t>
            </a:r>
          </a:p>
        </p:txBody>
      </p:sp>
      <p:sp>
        <p:nvSpPr>
          <p:cNvPr id="41" name="矩形 40"/>
          <p:cNvSpPr>
            <a:spLocks noChangeArrowheads="1"/>
          </p:cNvSpPr>
          <p:nvPr/>
        </p:nvSpPr>
        <p:spPr bwMode="auto">
          <a:xfrm>
            <a:off x="7510145" y="4210685"/>
            <a:ext cx="337820" cy="575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3366FF"/>
                </a:solidFill>
              </a:rPr>
              <a:t>0</a:t>
            </a:r>
          </a:p>
        </p:txBody>
      </p:sp>
      <p:sp>
        <p:nvSpPr>
          <p:cNvPr id="30" name="矩形 29"/>
          <p:cNvSpPr>
            <a:spLocks noChangeArrowheads="1"/>
          </p:cNvSpPr>
          <p:nvPr/>
        </p:nvSpPr>
        <p:spPr bwMode="auto">
          <a:xfrm>
            <a:off x="5646420" y="3867150"/>
            <a:ext cx="309880" cy="21145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o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solidFill>
                  <a:srgbClr val="FF0000"/>
                </a:solidFill>
              </a:rPr>
              <a:t>On</a:t>
            </a:r>
          </a:p>
        </p:txBody>
      </p:sp>
      <p:sp>
        <p:nvSpPr>
          <p:cNvPr id="42" name="矩形 41"/>
          <p:cNvSpPr>
            <a:spLocks noChangeArrowheads="1"/>
          </p:cNvSpPr>
          <p:nvPr/>
        </p:nvSpPr>
        <p:spPr bwMode="auto">
          <a:xfrm>
            <a:off x="7162800" y="3867150"/>
            <a:ext cx="309880" cy="22987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o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solidFill>
                  <a:srgbClr val="FF0000"/>
                </a:solidFill>
              </a:rPr>
              <a:t>On</a:t>
            </a:r>
          </a:p>
        </p:txBody>
      </p:sp>
      <p:cxnSp>
        <p:nvCxnSpPr>
          <p:cNvPr id="618500" name="直接箭头连接符 618499"/>
          <p:cNvCxnSpPr>
            <a:cxnSpLocks noChangeShapeType="1"/>
          </p:cNvCxnSpPr>
          <p:nvPr/>
        </p:nvCxnSpPr>
        <p:spPr bwMode="auto">
          <a:xfrm flipV="1">
            <a:off x="564198" y="4663758"/>
            <a:ext cx="0" cy="355600"/>
          </a:xfrm>
          <a:prstGeom prst="straightConnector1">
            <a:avLst/>
          </a:prstGeom>
          <a:noFill/>
          <a:ln w="28575" algn="ctr">
            <a:solidFill>
              <a:srgbClr val="FF0000"/>
            </a:solidFill>
            <a:rou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 name="矩形 44"/>
          <p:cNvSpPr>
            <a:spLocks noChangeArrowheads="1"/>
          </p:cNvSpPr>
          <p:nvPr/>
        </p:nvSpPr>
        <p:spPr bwMode="auto">
          <a:xfrm>
            <a:off x="4723130" y="3867150"/>
            <a:ext cx="887730" cy="548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en-US" altLang="zh-CN" sz="1400" b="1">
                <a:solidFill>
                  <a:srgbClr val="FF00FF"/>
                </a:solidFill>
                <a:sym typeface="+mn-ea"/>
              </a:rPr>
              <a:t>remain</a:t>
            </a:r>
            <a:r>
              <a:rPr lang="zh-CN" altLang="en-US" sz="1400" b="1">
                <a:solidFill>
                  <a:srgbClr val="FF00FF"/>
                </a:solidFill>
                <a:sym typeface="+mn-ea"/>
              </a:rPr>
              <a:t> </a:t>
            </a:r>
            <a:r>
              <a:rPr lang="en-US" altLang="zh-CN" sz="1400" b="1">
                <a:solidFill>
                  <a:srgbClr val="FF00FF"/>
                </a:solidFill>
                <a:sym typeface="+mn-ea"/>
              </a:rPr>
              <a:t>on</a:t>
            </a:r>
            <a:endParaRPr lang="en-US" altLang="zh-CN" sz="1400" b="1">
              <a:solidFill>
                <a:srgbClr val="0000FF"/>
              </a:solidFill>
            </a:endParaRPr>
          </a:p>
          <a:p>
            <a:pPr eaLnBrk="1" hangingPunct="1">
              <a:lnSpc>
                <a:spcPct val="85000"/>
              </a:lnSpc>
            </a:pPr>
            <a:r>
              <a:rPr lang="en-US" altLang="zh-CN" sz="1400" b="1">
                <a:solidFill>
                  <a:srgbClr val="FF00FF"/>
                </a:solidFill>
                <a:sym typeface="+mn-ea"/>
              </a:rPr>
              <a:t>for  2 clock cycles</a:t>
            </a:r>
          </a:p>
        </p:txBody>
      </p:sp>
      <p:sp>
        <p:nvSpPr>
          <p:cNvPr id="38" name="矩形 37"/>
          <p:cNvSpPr>
            <a:spLocks noChangeArrowheads="1"/>
          </p:cNvSpPr>
          <p:nvPr/>
        </p:nvSpPr>
        <p:spPr bwMode="auto">
          <a:xfrm>
            <a:off x="3362326" y="2909253"/>
            <a:ext cx="28448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FF0000"/>
                </a:solidFill>
              </a:rPr>
              <a:t>1</a:t>
            </a:r>
          </a:p>
        </p:txBody>
      </p:sp>
      <p:sp>
        <p:nvSpPr>
          <p:cNvPr id="43" name="任意多边形 42"/>
          <p:cNvSpPr/>
          <p:nvPr/>
        </p:nvSpPr>
        <p:spPr bwMode="auto">
          <a:xfrm>
            <a:off x="4759325" y="3205163"/>
            <a:ext cx="2917825" cy="917575"/>
          </a:xfrm>
          <a:custGeom>
            <a:avLst/>
            <a:gdLst>
              <a:gd name="T0" fmla="*/ 1500 w 1792757"/>
              <a:gd name="T1" fmla="*/ 0 h 683441"/>
              <a:gd name="T2" fmla="*/ 460921 w 1792757"/>
              <a:gd name="T3" fmla="*/ 810326 h 683441"/>
              <a:gd name="T4" fmla="*/ 2917061 w 1792757"/>
              <a:gd name="T5" fmla="*/ 888307 h 683441"/>
              <a:gd name="T6" fmla="*/ 0 60000 65536"/>
              <a:gd name="T7" fmla="*/ 0 60000 65536"/>
              <a:gd name="T8" fmla="*/ 0 60000 65536"/>
            </a:gdLst>
            <a:ahLst/>
            <a:cxnLst>
              <a:cxn ang="T6">
                <a:pos x="T0" y="T1"/>
              </a:cxn>
              <a:cxn ang="T7">
                <a:pos x="T2" y="T3"/>
              </a:cxn>
              <a:cxn ang="T8">
                <a:pos x="T4" y="T5"/>
              </a:cxn>
            </a:cxnLst>
            <a:rect l="0" t="0" r="r" b="b"/>
            <a:pathLst>
              <a:path w="1792757" h="683441">
                <a:moveTo>
                  <a:pt x="922" y="0"/>
                </a:moveTo>
                <a:cubicBezTo>
                  <a:pt x="-3046" y="292334"/>
                  <a:pt x="-7015" y="494432"/>
                  <a:pt x="283271" y="603289"/>
                </a:cubicBezTo>
                <a:cubicBezTo>
                  <a:pt x="573557" y="712146"/>
                  <a:pt x="1183157" y="686746"/>
                  <a:pt x="1792757" y="661346"/>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44" name="任意多边形 43"/>
          <p:cNvSpPr/>
          <p:nvPr/>
        </p:nvSpPr>
        <p:spPr bwMode="auto">
          <a:xfrm>
            <a:off x="6019800" y="3186113"/>
            <a:ext cx="1722438" cy="947737"/>
          </a:xfrm>
          <a:custGeom>
            <a:avLst/>
            <a:gdLst>
              <a:gd name="T0" fmla="*/ 886 w 1792757"/>
              <a:gd name="T1" fmla="*/ 0 h 683441"/>
              <a:gd name="T2" fmla="*/ 272278 w 1792757"/>
              <a:gd name="T3" fmla="*/ 835600 h 683441"/>
              <a:gd name="T4" fmla="*/ 1723187 w 1792757"/>
              <a:gd name="T5" fmla="*/ 916013 h 683441"/>
              <a:gd name="T6" fmla="*/ 0 60000 65536"/>
              <a:gd name="T7" fmla="*/ 0 60000 65536"/>
              <a:gd name="T8" fmla="*/ 0 60000 65536"/>
            </a:gdLst>
            <a:ahLst/>
            <a:cxnLst>
              <a:cxn ang="T6">
                <a:pos x="T0" y="T1"/>
              </a:cxn>
              <a:cxn ang="T7">
                <a:pos x="T2" y="T3"/>
              </a:cxn>
              <a:cxn ang="T8">
                <a:pos x="T4" y="T5"/>
              </a:cxn>
            </a:cxnLst>
            <a:rect l="0" t="0" r="r" b="b"/>
            <a:pathLst>
              <a:path w="1792757" h="683441">
                <a:moveTo>
                  <a:pt x="922" y="0"/>
                </a:moveTo>
                <a:cubicBezTo>
                  <a:pt x="-3046" y="292334"/>
                  <a:pt x="-7015" y="494432"/>
                  <a:pt x="283271" y="603289"/>
                </a:cubicBezTo>
                <a:cubicBezTo>
                  <a:pt x="573557" y="712146"/>
                  <a:pt x="1183157" y="686746"/>
                  <a:pt x="1792757" y="661346"/>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46" name="任意多边形 45"/>
          <p:cNvSpPr/>
          <p:nvPr/>
        </p:nvSpPr>
        <p:spPr bwMode="auto">
          <a:xfrm>
            <a:off x="7472363" y="3336925"/>
            <a:ext cx="523875" cy="741363"/>
          </a:xfrm>
          <a:custGeom>
            <a:avLst/>
            <a:gdLst>
              <a:gd name="T0" fmla="*/ 270 w 1792757"/>
              <a:gd name="T1" fmla="*/ 0 h 683441"/>
              <a:gd name="T2" fmla="*/ 82849 w 1792757"/>
              <a:gd name="T3" fmla="*/ 654306 h 683441"/>
              <a:gd name="T4" fmla="*/ 524331 w 1792757"/>
              <a:gd name="T5" fmla="*/ 717273 h 683441"/>
              <a:gd name="T6" fmla="*/ 0 60000 65536"/>
              <a:gd name="T7" fmla="*/ 0 60000 65536"/>
              <a:gd name="T8" fmla="*/ 0 60000 65536"/>
            </a:gdLst>
            <a:ahLst/>
            <a:cxnLst>
              <a:cxn ang="T6">
                <a:pos x="T0" y="T1"/>
              </a:cxn>
              <a:cxn ang="T7">
                <a:pos x="T2" y="T3"/>
              </a:cxn>
              <a:cxn ang="T8">
                <a:pos x="T4" y="T5"/>
              </a:cxn>
            </a:cxnLst>
            <a:rect l="0" t="0" r="r" b="b"/>
            <a:pathLst>
              <a:path w="1792757" h="683441">
                <a:moveTo>
                  <a:pt x="922" y="0"/>
                </a:moveTo>
                <a:cubicBezTo>
                  <a:pt x="-3046" y="292334"/>
                  <a:pt x="-7015" y="494432"/>
                  <a:pt x="283271" y="603289"/>
                </a:cubicBezTo>
                <a:cubicBezTo>
                  <a:pt x="573557" y="712146"/>
                  <a:pt x="1183157" y="686746"/>
                  <a:pt x="1792757" y="661346"/>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47" name="矩形 46"/>
          <p:cNvSpPr/>
          <p:nvPr/>
        </p:nvSpPr>
        <p:spPr>
          <a:xfrm>
            <a:off x="7618413" y="4574858"/>
            <a:ext cx="1016000" cy="612775"/>
          </a:xfrm>
          <a:prstGeom prst="rect">
            <a:avLst/>
          </a:prstGeom>
          <a:noFill/>
        </p:spPr>
        <p:txBody>
          <a:bodyPr lIns="0" tIns="36000" rIns="0" bIns="0" anchor="b">
            <a:spAutoFit/>
          </a:bodyPr>
          <a:lstStyle/>
          <a:p>
            <a:pPr algn="ctr" eaLnBrk="1" hangingPunct="1">
              <a:lnSpc>
                <a:spcPct val="75000"/>
              </a:lnSpc>
              <a:defRPr/>
            </a:pPr>
            <a:r>
              <a:rPr lang="zh-CN" altLang="en-US" sz="1200" b="1" kern="0" dirty="0">
                <a:solidFill>
                  <a:srgbClr val="FF00FF"/>
                </a:solidFill>
                <a:cs typeface="Times New Roman" panose="02020603050405020304" pitchFamily="18" charset="0"/>
              </a:rPr>
              <a:t>Example: P3.2</a:t>
            </a:r>
            <a:endParaRPr lang="en-US" altLang="zh-CN" sz="2400" b="1" dirty="0">
              <a:solidFill>
                <a:srgbClr val="FF00FF"/>
              </a:solidFill>
              <a:ea typeface="宋体" panose="02010600030101010101" pitchFamily="2" charset="-122"/>
              <a:cs typeface="Times New Roman" panose="02020603050405020304" pitchFamily="18" charset="0"/>
            </a:endParaRPr>
          </a:p>
        </p:txBody>
      </p:sp>
      <p:sp>
        <p:nvSpPr>
          <p:cNvPr id="48" name="矩形 47"/>
          <p:cNvSpPr/>
          <p:nvPr/>
        </p:nvSpPr>
        <p:spPr>
          <a:xfrm>
            <a:off x="927418" y="4578033"/>
            <a:ext cx="1311275" cy="866775"/>
          </a:xfrm>
          <a:prstGeom prst="rect">
            <a:avLst/>
          </a:prstGeom>
          <a:noFill/>
        </p:spPr>
        <p:txBody>
          <a:bodyPr lIns="0" tIns="36000" rIns="0" bIns="0" anchor="b">
            <a:spAutoFit/>
          </a:bodyPr>
          <a:lstStyle/>
          <a:p>
            <a:pPr algn="ctr" eaLnBrk="1" hangingPunct="1">
              <a:lnSpc>
                <a:spcPct val="75000"/>
              </a:lnSpc>
              <a:defRPr/>
            </a:pPr>
            <a:r>
              <a:rPr lang="zh-CN" altLang="en-US" sz="1200" b="1" kern="0" dirty="0">
                <a:solidFill>
                  <a:srgbClr val="0000FF"/>
                </a:solidFill>
                <a:cs typeface="Times New Roman" panose="02020603050405020304" pitchFamily="18" charset="0"/>
              </a:rPr>
              <a:t>Example: latch bit of P3.2 line</a:t>
            </a:r>
            <a:endParaRPr lang="en-US" altLang="zh-CN" sz="2400" b="1" dirty="0">
              <a:solidFill>
                <a:srgbClr val="0000FF"/>
              </a:solidFill>
              <a:ea typeface="宋体" panose="02010600030101010101" pitchFamily="2" charset="-122"/>
              <a:cs typeface="Times New Roman" panose="02020603050405020304" pitchFamily="18" charset="0"/>
            </a:endParaRPr>
          </a:p>
        </p:txBody>
      </p:sp>
      <p:cxnSp>
        <p:nvCxnSpPr>
          <p:cNvPr id="49" name="直接箭头连接符 48"/>
          <p:cNvCxnSpPr>
            <a:cxnSpLocks noChangeShapeType="1"/>
          </p:cNvCxnSpPr>
          <p:nvPr/>
        </p:nvCxnSpPr>
        <p:spPr bwMode="auto">
          <a:xfrm flipV="1">
            <a:off x="7676833" y="3917633"/>
            <a:ext cx="0" cy="357187"/>
          </a:xfrm>
          <a:prstGeom prst="straightConnector1">
            <a:avLst/>
          </a:prstGeom>
          <a:noFill/>
          <a:ln w="28575" algn="ctr">
            <a:solidFill>
              <a:srgbClr val="FF0000"/>
            </a:solidFill>
            <a:rou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直接箭头连接符 49"/>
          <p:cNvCxnSpPr>
            <a:cxnSpLocks noChangeShapeType="1"/>
          </p:cNvCxnSpPr>
          <p:nvPr/>
        </p:nvCxnSpPr>
        <p:spPr bwMode="auto">
          <a:xfrm flipV="1">
            <a:off x="3265170" y="4447223"/>
            <a:ext cx="0" cy="355600"/>
          </a:xfrm>
          <a:prstGeom prst="straightConnector1">
            <a:avLst/>
          </a:prstGeom>
          <a:noFill/>
          <a:ln w="28575" algn="ctr">
            <a:solidFill>
              <a:srgbClr val="FF0000"/>
            </a:solidFill>
            <a:rou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矩形 50"/>
          <p:cNvSpPr/>
          <p:nvPr/>
        </p:nvSpPr>
        <p:spPr>
          <a:xfrm>
            <a:off x="2058353" y="5818188"/>
            <a:ext cx="3157537" cy="312737"/>
          </a:xfrm>
          <a:prstGeom prst="rect">
            <a:avLst/>
          </a:prstGeom>
          <a:noFill/>
        </p:spPr>
        <p:txBody>
          <a:bodyPr lIns="0" tIns="36000" rIns="0" bIns="0" anchor="b">
            <a:spAutoFit/>
          </a:bodyPr>
          <a:lstStyle/>
          <a:p>
            <a:pPr algn="ctr" eaLnBrk="1" hangingPunct="1">
              <a:lnSpc>
                <a:spcPct val="75000"/>
              </a:lnSpc>
              <a:defRPr/>
            </a:pPr>
            <a:r>
              <a:rPr lang="en-US" altLang="zh-CN" sz="1200" b="1" kern="0" dirty="0">
                <a:solidFill>
                  <a:srgbClr val="00B050"/>
                </a:solidFill>
                <a:cs typeface="Times New Roman" panose="02020603050405020304" pitchFamily="18" charset="0"/>
              </a:rPr>
              <a:t>CPU reads pin status data</a:t>
            </a:r>
            <a:endParaRPr lang="en-US" altLang="zh-CN" sz="2400" b="1" dirty="0">
              <a:solidFill>
                <a:srgbClr val="00B050"/>
              </a:solidFill>
              <a:ea typeface="宋体" panose="02010600030101010101" pitchFamily="2" charset="-122"/>
              <a:cs typeface="Times New Roman" panose="02020603050405020304" pitchFamily="18" charset="0"/>
            </a:endParaRPr>
          </a:p>
        </p:txBody>
      </p:sp>
      <p:sp>
        <p:nvSpPr>
          <p:cNvPr id="52" name="矩形 51"/>
          <p:cNvSpPr>
            <a:spLocks noChangeArrowheads="1"/>
          </p:cNvSpPr>
          <p:nvPr/>
        </p:nvSpPr>
        <p:spPr bwMode="auto">
          <a:xfrm>
            <a:off x="1487805" y="4745990"/>
            <a:ext cx="337820" cy="462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3366FF"/>
                </a:solidFill>
              </a:rPr>
              <a:t>1</a:t>
            </a:r>
          </a:p>
        </p:txBody>
      </p:sp>
      <p:cxnSp>
        <p:nvCxnSpPr>
          <p:cNvPr id="53" name="直接箭头连接符 52"/>
          <p:cNvCxnSpPr>
            <a:cxnSpLocks noChangeShapeType="1"/>
          </p:cNvCxnSpPr>
          <p:nvPr/>
        </p:nvCxnSpPr>
        <p:spPr bwMode="auto">
          <a:xfrm flipV="1">
            <a:off x="1650048" y="4445953"/>
            <a:ext cx="0" cy="357187"/>
          </a:xfrm>
          <a:prstGeom prst="straightConnector1">
            <a:avLst/>
          </a:prstGeom>
          <a:noFill/>
          <a:ln w="28575" algn="ctr">
            <a:solidFill>
              <a:srgbClr val="FF0000"/>
            </a:solidFill>
            <a:rou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 name="矩形 53"/>
          <p:cNvSpPr>
            <a:spLocks noChangeArrowheads="1"/>
          </p:cNvSpPr>
          <p:nvPr/>
        </p:nvSpPr>
        <p:spPr bwMode="auto">
          <a:xfrm>
            <a:off x="1508602" y="4206240"/>
            <a:ext cx="28448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FF0000"/>
                </a:solidFill>
              </a:rPr>
              <a:t>0</a:t>
            </a:r>
          </a:p>
        </p:txBody>
      </p:sp>
      <p:cxnSp>
        <p:nvCxnSpPr>
          <p:cNvPr id="55" name="直接箭头连接符 54"/>
          <p:cNvCxnSpPr/>
          <p:nvPr/>
        </p:nvCxnSpPr>
        <p:spPr bwMode="auto">
          <a:xfrm flipV="1">
            <a:off x="2198688" y="3140393"/>
            <a:ext cx="0" cy="274637"/>
          </a:xfrm>
          <a:prstGeom prst="straightConnector1">
            <a:avLst/>
          </a:prstGeom>
          <a:noFill/>
          <a:ln w="28575" algn="ctr">
            <a:solidFill>
              <a:srgbClr val="FF0000"/>
            </a:solidFill>
            <a:rou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直接箭头连接符 55"/>
          <p:cNvCxnSpPr/>
          <p:nvPr/>
        </p:nvCxnSpPr>
        <p:spPr bwMode="auto">
          <a:xfrm flipV="1">
            <a:off x="3500120" y="3155315"/>
            <a:ext cx="0" cy="277813"/>
          </a:xfrm>
          <a:prstGeom prst="straightConnector1">
            <a:avLst/>
          </a:prstGeom>
          <a:noFill/>
          <a:ln w="28575" algn="ctr">
            <a:solidFill>
              <a:srgbClr val="FF0000"/>
            </a:solidFill>
            <a:rou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矩形 56"/>
          <p:cNvSpPr>
            <a:spLocks noChangeArrowheads="1"/>
          </p:cNvSpPr>
          <p:nvPr/>
        </p:nvSpPr>
        <p:spPr bwMode="auto">
          <a:xfrm>
            <a:off x="5109686" y="4660900"/>
            <a:ext cx="47688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FF0000"/>
                </a:solidFill>
              </a:rPr>
              <a:t>Off</a:t>
            </a:r>
          </a:p>
        </p:txBody>
      </p:sp>
      <p:sp>
        <p:nvSpPr>
          <p:cNvPr id="3" name="灯片编号占位符 2"/>
          <p:cNvSpPr>
            <a:spLocks noGrp="1"/>
          </p:cNvSpPr>
          <p:nvPr>
            <p:ph type="sldNum" sz="quarter" idx="12"/>
          </p:nvPr>
        </p:nvSpPr>
        <p:spPr/>
        <p:txBody>
          <a:bodyPr/>
          <a:lstStyle/>
          <a:p>
            <a:fld id="{22E77DEE-32E4-4009-988B-F2758F7B8AC2}" type="slidenum">
              <a:rPr lang="zh-CN" altLang="en-US" smtClean="0"/>
              <a:t>58</a:t>
            </a:fld>
            <a:endParaRPr lang="zh-CN" altLang="en-US"/>
          </a:p>
        </p:txBody>
      </p:sp>
      <p:sp>
        <p:nvSpPr>
          <p:cNvPr id="2" name="文本框 1"/>
          <p:cNvSpPr txBox="1"/>
          <p:nvPr/>
        </p:nvSpPr>
        <p:spPr>
          <a:xfrm>
            <a:off x="2966085" y="5585460"/>
            <a:ext cx="3048000" cy="368300"/>
          </a:xfrm>
          <a:prstGeom prst="rect">
            <a:avLst/>
          </a:prstGeom>
          <a:noFill/>
        </p:spPr>
        <p:txBody>
          <a:bodyPr wrap="square" rtlCol="0">
            <a:spAutoFit/>
          </a:bodyPr>
          <a:lstStyle/>
          <a:p>
            <a:r>
              <a:rPr lang="en-US" altLang="zh-CN"/>
              <a:t>input data </a:t>
            </a:r>
          </a:p>
        </p:txBody>
      </p:sp>
      <p:sp>
        <p:nvSpPr>
          <p:cNvPr id="4" name="文本框 3"/>
          <p:cNvSpPr txBox="1"/>
          <p:nvPr/>
        </p:nvSpPr>
        <p:spPr>
          <a:xfrm>
            <a:off x="6079490" y="6040120"/>
            <a:ext cx="2802890" cy="337185"/>
          </a:xfrm>
          <a:prstGeom prst="rect">
            <a:avLst/>
          </a:prstGeom>
        </p:spPr>
        <p:txBody>
          <a:bodyPr wrap="square">
            <a:spAutoFit/>
          </a:bodyPr>
          <a:lstStyle/>
          <a:p>
            <a:r>
              <a:rPr lang="en-US" altLang="zh-CN" sz="1600"/>
              <a:t>Interference Suppression Filter</a:t>
            </a:r>
          </a:p>
        </p:txBody>
      </p:sp>
      <p:sp>
        <p:nvSpPr>
          <p:cNvPr id="5" name="文本框 4"/>
          <p:cNvSpPr txBox="1"/>
          <p:nvPr/>
        </p:nvSpPr>
        <p:spPr>
          <a:xfrm>
            <a:off x="7807325" y="4447540"/>
            <a:ext cx="3048000" cy="368300"/>
          </a:xfrm>
          <a:prstGeom prst="rect">
            <a:avLst/>
          </a:prstGeom>
          <a:noFill/>
        </p:spPr>
        <p:txBody>
          <a:bodyPr wrap="square" rtlCol="0">
            <a:spAutoFit/>
          </a:bodyPr>
          <a:lstStyle/>
          <a:p>
            <a:r>
              <a:rPr lang="en-US" altLang="zh-CN"/>
              <a:t>Port Pin</a:t>
            </a:r>
          </a:p>
        </p:txBody>
      </p:sp>
      <p:sp>
        <p:nvSpPr>
          <p:cNvPr id="8" name="文本框 7"/>
          <p:cNvSpPr txBox="1"/>
          <p:nvPr/>
        </p:nvSpPr>
        <p:spPr>
          <a:xfrm>
            <a:off x="2268855" y="3768725"/>
            <a:ext cx="3048000" cy="583565"/>
          </a:xfrm>
          <a:prstGeom prst="rect">
            <a:avLst/>
          </a:prstGeom>
          <a:noFill/>
        </p:spPr>
        <p:txBody>
          <a:bodyPr wrap="square" rtlCol="0">
            <a:spAutoFit/>
          </a:bodyPr>
          <a:lstStyle/>
          <a:p>
            <a:r>
              <a:rPr lang="en-US" altLang="zh-CN" sz="1600"/>
              <a:t>2 CPU clock</a:t>
            </a:r>
          </a:p>
          <a:p>
            <a:r>
              <a:rPr lang="en-US" altLang="zh-CN" sz="1600"/>
              <a:t>delays</a:t>
            </a:r>
          </a:p>
        </p:txBody>
      </p:sp>
      <p:sp>
        <p:nvSpPr>
          <p:cNvPr id="9" name="文本框 8"/>
          <p:cNvSpPr txBox="1"/>
          <p:nvPr/>
        </p:nvSpPr>
        <p:spPr>
          <a:xfrm>
            <a:off x="109855" y="3662680"/>
            <a:ext cx="1617345" cy="337185"/>
          </a:xfrm>
          <a:prstGeom prst="rect">
            <a:avLst/>
          </a:prstGeom>
        </p:spPr>
        <p:txBody>
          <a:bodyPr wrap="square">
            <a:spAutoFit/>
          </a:bodyPr>
          <a:lstStyle/>
          <a:p>
            <a:r>
              <a:rPr lang="en-US" altLang="zh-CN" sz="1600"/>
              <a:t>Port Data Latch</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bwMode="auto">
          <a:xfrm>
            <a:off x="8554403" y="2814003"/>
            <a:ext cx="620712" cy="1412875"/>
            <a:chOff x="8466965" y="3220133"/>
            <a:chExt cx="620077" cy="1412460"/>
          </a:xfrm>
        </p:grpSpPr>
        <p:pic>
          <p:nvPicPr>
            <p:cNvPr id="110630" name="图片 5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88415" y="3220133"/>
              <a:ext cx="598627" cy="119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0631" name="直接连接符 59"/>
            <p:cNvCxnSpPr>
              <a:cxnSpLocks noChangeShapeType="1"/>
            </p:cNvCxnSpPr>
            <p:nvPr/>
          </p:nvCxnSpPr>
          <p:spPr bwMode="auto">
            <a:xfrm flipV="1">
              <a:off x="8466965" y="4626889"/>
              <a:ext cx="286056" cy="912"/>
            </a:xfrm>
            <a:prstGeom prst="line">
              <a:avLst/>
            </a:prstGeom>
            <a:noFill/>
            <a:ln w="28575" algn="ctr">
              <a:solidFill>
                <a:srgbClr val="3333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632" name="直接连接符 60"/>
            <p:cNvCxnSpPr>
              <a:cxnSpLocks noChangeShapeType="1"/>
            </p:cNvCxnSpPr>
            <p:nvPr/>
          </p:nvCxnSpPr>
          <p:spPr bwMode="auto">
            <a:xfrm flipV="1">
              <a:off x="8742004" y="4393765"/>
              <a:ext cx="4480" cy="238828"/>
            </a:xfrm>
            <a:prstGeom prst="line">
              <a:avLst/>
            </a:prstGeom>
            <a:noFill/>
            <a:ln w="28575" algn="ctr">
              <a:solidFill>
                <a:srgbClr val="3333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633" name="直接连接符 62"/>
            <p:cNvCxnSpPr/>
            <p:nvPr/>
          </p:nvCxnSpPr>
          <p:spPr bwMode="auto">
            <a:xfrm rot="10800000">
              <a:off x="8685447" y="4055551"/>
              <a:ext cx="314299" cy="182805"/>
            </a:xfrm>
            <a:prstGeom prst="curvedConnector3">
              <a:avLst>
                <a:gd name="adj1" fmla="val 28125"/>
              </a:avLst>
            </a:prstGeom>
            <a:noFill/>
            <a:ln w="28575" algn="ctr">
              <a:solidFill>
                <a:srgbClr val="3333FF"/>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10594" name="标题 3"/>
          <p:cNvSpPr>
            <a:spLocks noGrp="1" noChangeArrowheads="1"/>
          </p:cNvSpPr>
          <p:nvPr>
            <p:ph type="title"/>
          </p:nvPr>
        </p:nvSpPr>
        <p:spPr>
          <a:xfrm>
            <a:off x="877888" y="694373"/>
            <a:ext cx="8229600" cy="504825"/>
          </a:xfrm>
        </p:spPr>
        <p:txBody>
          <a:bodyPr>
            <a:noAutofit/>
          </a:bodyPr>
          <a:lstStyle/>
          <a:p>
            <a:pPr eaLnBrk="1" hangingPunct="1"/>
            <a:r>
              <a:rPr lang="zh-CN" altLang="en-US" sz="4000" dirty="0">
                <a:solidFill>
                  <a:srgbClr val="FF0000"/>
                </a:solidFill>
              </a:rPr>
              <a:t>Structure of the dual-directional (weak pull-up) working mode</a:t>
            </a:r>
          </a:p>
        </p:txBody>
      </p:sp>
      <p:sp>
        <p:nvSpPr>
          <p:cNvPr id="618499" name="Rectangle 3"/>
          <p:cNvSpPr>
            <a:spLocks noGrp="1" noChangeArrowheads="1"/>
          </p:cNvSpPr>
          <p:nvPr>
            <p:ph idx="1"/>
          </p:nvPr>
        </p:nvSpPr>
        <p:spPr>
          <a:xfrm>
            <a:off x="127000" y="1204913"/>
            <a:ext cx="8853488" cy="557212"/>
          </a:xfrm>
        </p:spPr>
        <p:txBody>
          <a:bodyPr>
            <a:normAutofit fontScale="90000" lnSpcReduction="10000"/>
          </a:bodyPr>
          <a:lstStyle/>
          <a:p>
            <a:pPr marL="262255" lvl="1" indent="-262255" algn="l" eaLnBrk="1" hangingPunct="1">
              <a:lnSpc>
                <a:spcPct val="101000"/>
              </a:lnSpc>
              <a:spcBef>
                <a:spcPct val="0"/>
              </a:spcBef>
              <a:spcAft>
                <a:spcPts val="200"/>
              </a:spcAft>
            </a:pPr>
            <a:r>
              <a:rPr lang="en-US" altLang="zh-CN" dirty="0">
                <a:latin typeface="Times New Roman" panose="02020603050405020304" pitchFamily="18" charset="0"/>
                <a:cs typeface="Times New Roman" panose="02020603050405020304" pitchFamily="18" charset="0"/>
              </a:rPr>
              <a:t>The I/O port can be used for both output and input functions without reconfiguring the port line output status (</a:t>
            </a:r>
            <a:r>
              <a:rPr lang="zh-CN" altLang="en-US" dirty="0">
                <a:solidFill>
                  <a:srgbClr val="FF00FF"/>
                </a:solidFill>
                <a:latin typeface="Times New Roman" panose="02020603050405020304" pitchFamily="18" charset="0"/>
                <a:cs typeface="Times New Roman" panose="02020603050405020304" pitchFamily="18" charset="0"/>
              </a:rPr>
              <a:t>4 working modes</a:t>
            </a: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pic>
        <p:nvPicPr>
          <p:cNvPr id="6" name="Picture 189" descr="D:\DOCUME~1\ADMINI~1\LOCALS~1\Temp\HS5ClipImage_56b00a7d.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563" y="2822258"/>
            <a:ext cx="8258175" cy="334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组合 6"/>
          <p:cNvGrpSpPr/>
          <p:nvPr/>
        </p:nvGrpSpPr>
        <p:grpSpPr bwMode="auto">
          <a:xfrm>
            <a:off x="4622288" y="3109278"/>
            <a:ext cx="3329060" cy="414021"/>
            <a:chOff x="4873343" y="2721819"/>
            <a:chExt cx="3328377" cy="414083"/>
          </a:xfrm>
        </p:grpSpPr>
        <p:sp>
          <p:nvSpPr>
            <p:cNvPr id="110640" name="矩形 7"/>
            <p:cNvSpPr>
              <a:spLocks noChangeArrowheads="1"/>
            </p:cNvSpPr>
            <p:nvPr/>
          </p:nvSpPr>
          <p:spPr bwMode="auto">
            <a:xfrm>
              <a:off x="4873343" y="2798666"/>
              <a:ext cx="732640" cy="337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00B050"/>
                  </a:solidFill>
                </a:rPr>
                <a:t>strong</a:t>
              </a:r>
            </a:p>
          </p:txBody>
        </p:sp>
        <p:sp>
          <p:nvSpPr>
            <p:cNvPr id="110641" name="矩形 8"/>
            <p:cNvSpPr>
              <a:spLocks noChangeArrowheads="1"/>
            </p:cNvSpPr>
            <p:nvPr/>
          </p:nvSpPr>
          <p:spPr bwMode="auto">
            <a:xfrm>
              <a:off x="6054723" y="2721819"/>
              <a:ext cx="1094515" cy="337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solidFill>
                    <a:srgbClr val="00B050"/>
                  </a:solidFill>
                </a:rPr>
                <a:t>Very weak</a:t>
              </a:r>
            </a:p>
          </p:txBody>
        </p:sp>
        <p:sp>
          <p:nvSpPr>
            <p:cNvPr id="110642" name="矩形 9"/>
            <p:cNvSpPr>
              <a:spLocks noChangeArrowheads="1"/>
            </p:cNvSpPr>
            <p:nvPr/>
          </p:nvSpPr>
          <p:spPr bwMode="auto">
            <a:xfrm>
              <a:off x="7567485" y="2798666"/>
              <a:ext cx="634235" cy="337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solidFill>
                    <a:srgbClr val="00B050"/>
                  </a:solidFill>
                </a:rPr>
                <a:t>weak</a:t>
              </a:r>
            </a:p>
          </p:txBody>
        </p:sp>
      </p:grpSp>
      <p:sp>
        <p:nvSpPr>
          <p:cNvPr id="11" name="矩形 10"/>
          <p:cNvSpPr>
            <a:spLocks noChangeArrowheads="1"/>
          </p:cNvSpPr>
          <p:nvPr/>
        </p:nvSpPr>
        <p:spPr bwMode="auto">
          <a:xfrm>
            <a:off x="127159" y="3409950"/>
            <a:ext cx="95123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0000"/>
                </a:solidFill>
                <a:cs typeface="Times New Roman" panose="02020603050405020304" pitchFamily="18" charset="0"/>
              </a:rPr>
              <a:t>P0～ P7</a:t>
            </a:r>
          </a:p>
        </p:txBody>
      </p:sp>
      <p:sp>
        <p:nvSpPr>
          <p:cNvPr id="13" name="矩形 12"/>
          <p:cNvSpPr>
            <a:spLocks noChangeArrowheads="1"/>
          </p:cNvSpPr>
          <p:nvPr/>
        </p:nvSpPr>
        <p:spPr bwMode="auto">
          <a:xfrm>
            <a:off x="259398" y="4539615"/>
            <a:ext cx="2971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0000"/>
                </a:solidFill>
              </a:rPr>
              <a:t>1</a:t>
            </a:r>
          </a:p>
        </p:txBody>
      </p:sp>
      <p:sp>
        <p:nvSpPr>
          <p:cNvPr id="14" name="矩形 13"/>
          <p:cNvSpPr>
            <a:spLocks noChangeArrowheads="1"/>
          </p:cNvSpPr>
          <p:nvPr/>
        </p:nvSpPr>
        <p:spPr bwMode="auto">
          <a:xfrm>
            <a:off x="3057366" y="4209415"/>
            <a:ext cx="2971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0000"/>
                </a:solidFill>
              </a:rPr>
              <a:t>0</a:t>
            </a:r>
          </a:p>
        </p:txBody>
      </p:sp>
      <p:sp>
        <p:nvSpPr>
          <p:cNvPr id="15" name="矩形 14"/>
          <p:cNvSpPr>
            <a:spLocks noChangeArrowheads="1"/>
          </p:cNvSpPr>
          <p:nvPr/>
        </p:nvSpPr>
        <p:spPr bwMode="auto">
          <a:xfrm>
            <a:off x="1827213" y="2893378"/>
            <a:ext cx="2971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0000"/>
                </a:solidFill>
              </a:rPr>
              <a:t>1</a:t>
            </a:r>
          </a:p>
        </p:txBody>
      </p:sp>
      <p:sp>
        <p:nvSpPr>
          <p:cNvPr id="16" name="矩形 15"/>
          <p:cNvSpPr>
            <a:spLocks noChangeArrowheads="1"/>
          </p:cNvSpPr>
          <p:nvPr/>
        </p:nvSpPr>
        <p:spPr bwMode="auto">
          <a:xfrm>
            <a:off x="3855086" y="3031490"/>
            <a:ext cx="2971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0000"/>
                </a:solidFill>
              </a:rPr>
              <a:t>1</a:t>
            </a:r>
          </a:p>
        </p:txBody>
      </p:sp>
      <p:sp>
        <p:nvSpPr>
          <p:cNvPr id="20" name="矩形 19"/>
          <p:cNvSpPr>
            <a:spLocks noChangeArrowheads="1"/>
          </p:cNvSpPr>
          <p:nvPr/>
        </p:nvSpPr>
        <p:spPr bwMode="auto">
          <a:xfrm>
            <a:off x="3205956" y="2891790"/>
            <a:ext cx="2971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0000"/>
                </a:solidFill>
              </a:rPr>
              <a:t>1</a:t>
            </a:r>
          </a:p>
        </p:txBody>
      </p:sp>
      <p:sp>
        <p:nvSpPr>
          <p:cNvPr id="26" name="任意多边形 25"/>
          <p:cNvSpPr/>
          <p:nvPr/>
        </p:nvSpPr>
        <p:spPr bwMode="auto">
          <a:xfrm>
            <a:off x="5976938" y="3193415"/>
            <a:ext cx="1655762" cy="885825"/>
          </a:xfrm>
          <a:custGeom>
            <a:avLst/>
            <a:gdLst>
              <a:gd name="T0" fmla="*/ 16487 w 1759219"/>
              <a:gd name="T1" fmla="*/ 0 h 675238"/>
              <a:gd name="T2" fmla="*/ 235210 w 1759219"/>
              <a:gd name="T3" fmla="*/ 780613 h 675238"/>
              <a:gd name="T4" fmla="*/ 1656911 w 1759219"/>
              <a:gd name="T5" fmla="*/ 856771 h 675238"/>
              <a:gd name="T6" fmla="*/ 0 60000 65536"/>
              <a:gd name="T7" fmla="*/ 0 60000 65536"/>
              <a:gd name="T8" fmla="*/ 0 60000 65536"/>
            </a:gdLst>
            <a:ahLst/>
            <a:cxnLst>
              <a:cxn ang="T6">
                <a:pos x="T0" y="T1"/>
              </a:cxn>
              <a:cxn ang="T7">
                <a:pos x="T2" y="T3"/>
              </a:cxn>
              <a:cxn ang="T8">
                <a:pos x="T4" y="T5"/>
              </a:cxn>
            </a:cxnLst>
            <a:rect l="0" t="0" r="r" b="b"/>
            <a:pathLst>
              <a:path w="1759219" h="675238">
                <a:moveTo>
                  <a:pt x="17505" y="0"/>
                </a:moveTo>
                <a:cubicBezTo>
                  <a:pt x="-11524" y="243114"/>
                  <a:pt x="-40553" y="486229"/>
                  <a:pt x="249733" y="595086"/>
                </a:cubicBezTo>
                <a:cubicBezTo>
                  <a:pt x="540019" y="703943"/>
                  <a:pt x="1149619" y="678543"/>
                  <a:pt x="1759219" y="653143"/>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27" name="任意多边形 26"/>
          <p:cNvSpPr/>
          <p:nvPr/>
        </p:nvSpPr>
        <p:spPr bwMode="auto">
          <a:xfrm>
            <a:off x="7685088" y="3082290"/>
            <a:ext cx="828675" cy="885825"/>
          </a:xfrm>
          <a:custGeom>
            <a:avLst/>
            <a:gdLst>
              <a:gd name="T0" fmla="*/ 8243 w 1759219"/>
              <a:gd name="T1" fmla="*/ 0 h 675238"/>
              <a:gd name="T2" fmla="*/ 117605 w 1759219"/>
              <a:gd name="T3" fmla="*/ 780613 h 675238"/>
              <a:gd name="T4" fmla="*/ 828455 w 1759219"/>
              <a:gd name="T5" fmla="*/ 856771 h 675238"/>
              <a:gd name="T6" fmla="*/ 0 60000 65536"/>
              <a:gd name="T7" fmla="*/ 0 60000 65536"/>
              <a:gd name="T8" fmla="*/ 0 60000 65536"/>
            </a:gdLst>
            <a:ahLst/>
            <a:cxnLst>
              <a:cxn ang="T6">
                <a:pos x="T0" y="T1"/>
              </a:cxn>
              <a:cxn ang="T7">
                <a:pos x="T2" y="T3"/>
              </a:cxn>
              <a:cxn ang="T8">
                <a:pos x="T4" y="T5"/>
              </a:cxn>
            </a:cxnLst>
            <a:rect l="0" t="0" r="r" b="b"/>
            <a:pathLst>
              <a:path w="1759219" h="675238">
                <a:moveTo>
                  <a:pt x="17505" y="0"/>
                </a:moveTo>
                <a:cubicBezTo>
                  <a:pt x="-11524" y="243114"/>
                  <a:pt x="-40553" y="486229"/>
                  <a:pt x="249733" y="595086"/>
                </a:cubicBezTo>
                <a:cubicBezTo>
                  <a:pt x="540019" y="703943"/>
                  <a:pt x="1149619" y="678543"/>
                  <a:pt x="1759219" y="653143"/>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29" name="矩形 28"/>
          <p:cNvSpPr>
            <a:spLocks noChangeArrowheads="1"/>
          </p:cNvSpPr>
          <p:nvPr/>
        </p:nvSpPr>
        <p:spPr bwMode="auto">
          <a:xfrm>
            <a:off x="4714558" y="3847465"/>
            <a:ext cx="538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off</a:t>
            </a:r>
          </a:p>
        </p:txBody>
      </p:sp>
      <p:sp>
        <p:nvSpPr>
          <p:cNvPr id="30" name="矩形 29"/>
          <p:cNvSpPr>
            <a:spLocks noChangeArrowheads="1"/>
          </p:cNvSpPr>
          <p:nvPr/>
        </p:nvSpPr>
        <p:spPr bwMode="auto">
          <a:xfrm>
            <a:off x="5411629" y="3647440"/>
            <a:ext cx="4876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solidFill>
                  <a:srgbClr val="FF0000"/>
                </a:solidFill>
              </a:rPr>
              <a:t>On</a:t>
            </a:r>
          </a:p>
        </p:txBody>
      </p:sp>
      <p:sp>
        <p:nvSpPr>
          <p:cNvPr id="31" name="矩形 30"/>
          <p:cNvSpPr>
            <a:spLocks noChangeArrowheads="1"/>
          </p:cNvSpPr>
          <p:nvPr/>
        </p:nvSpPr>
        <p:spPr bwMode="auto">
          <a:xfrm>
            <a:off x="6895148" y="3655378"/>
            <a:ext cx="4876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solidFill>
                  <a:srgbClr val="FF0000"/>
                </a:solidFill>
              </a:rPr>
              <a:t>On</a:t>
            </a:r>
          </a:p>
        </p:txBody>
      </p:sp>
      <p:sp>
        <p:nvSpPr>
          <p:cNvPr id="618496" name="任意多边形 618495"/>
          <p:cNvSpPr/>
          <p:nvPr/>
        </p:nvSpPr>
        <p:spPr bwMode="auto">
          <a:xfrm>
            <a:off x="6542088" y="3698240"/>
            <a:ext cx="757237" cy="1430338"/>
          </a:xfrm>
          <a:custGeom>
            <a:avLst/>
            <a:gdLst>
              <a:gd name="T0" fmla="*/ 743021 w 757535"/>
              <a:gd name="T1" fmla="*/ 624115 h 1429925"/>
              <a:gd name="T2" fmla="*/ 757535 w 757535"/>
              <a:gd name="T3" fmla="*/ 783772 h 1429925"/>
              <a:gd name="T4" fmla="*/ 743021 w 757535"/>
              <a:gd name="T5" fmla="*/ 1103086 h 1429925"/>
              <a:gd name="T6" fmla="*/ 743021 w 757535"/>
              <a:gd name="T7" fmla="*/ 1378858 h 1429925"/>
              <a:gd name="T8" fmla="*/ 612393 w 757535"/>
              <a:gd name="T9" fmla="*/ 1422400 h 1429925"/>
              <a:gd name="T10" fmla="*/ 322107 w 757535"/>
              <a:gd name="T11" fmla="*/ 1422400 h 1429925"/>
              <a:gd name="T12" fmla="*/ 104393 w 757535"/>
              <a:gd name="T13" fmla="*/ 1422400 h 1429925"/>
              <a:gd name="T14" fmla="*/ 31821 w 757535"/>
              <a:gd name="T15" fmla="*/ 1320800 h 1429925"/>
              <a:gd name="T16" fmla="*/ 2793 w 757535"/>
              <a:gd name="T17" fmla="*/ 1117600 h 1429925"/>
              <a:gd name="T18" fmla="*/ 2793 w 757535"/>
              <a:gd name="T19" fmla="*/ 740229 h 1429925"/>
              <a:gd name="T20" fmla="*/ 17307 w 757535"/>
              <a:gd name="T21" fmla="*/ 319315 h 1429925"/>
              <a:gd name="T22" fmla="*/ 17307 w 757535"/>
              <a:gd name="T23" fmla="*/ 72572 h 1429925"/>
              <a:gd name="T24" fmla="*/ 162450 w 757535"/>
              <a:gd name="T25" fmla="*/ 14515 h 1429925"/>
              <a:gd name="T26" fmla="*/ 409193 w 757535"/>
              <a:gd name="T27" fmla="*/ 0 h 14299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57535" h="1429925">
                <a:moveTo>
                  <a:pt x="743021" y="624115"/>
                </a:moveTo>
                <a:cubicBezTo>
                  <a:pt x="750278" y="664029"/>
                  <a:pt x="757535" y="703944"/>
                  <a:pt x="757535" y="783772"/>
                </a:cubicBezTo>
                <a:cubicBezTo>
                  <a:pt x="757535" y="863600"/>
                  <a:pt x="745440" y="1003905"/>
                  <a:pt x="743021" y="1103086"/>
                </a:cubicBezTo>
                <a:cubicBezTo>
                  <a:pt x="740602" y="1202267"/>
                  <a:pt x="764792" y="1325639"/>
                  <a:pt x="743021" y="1378858"/>
                </a:cubicBezTo>
                <a:cubicBezTo>
                  <a:pt x="721250" y="1432077"/>
                  <a:pt x="682545" y="1415143"/>
                  <a:pt x="612393" y="1422400"/>
                </a:cubicBezTo>
                <a:cubicBezTo>
                  <a:pt x="542241" y="1429657"/>
                  <a:pt x="322107" y="1422400"/>
                  <a:pt x="322107" y="1422400"/>
                </a:cubicBezTo>
                <a:cubicBezTo>
                  <a:pt x="237440" y="1422400"/>
                  <a:pt x="152774" y="1439333"/>
                  <a:pt x="104393" y="1422400"/>
                </a:cubicBezTo>
                <a:cubicBezTo>
                  <a:pt x="56012" y="1405467"/>
                  <a:pt x="48754" y="1371600"/>
                  <a:pt x="31821" y="1320800"/>
                </a:cubicBezTo>
                <a:cubicBezTo>
                  <a:pt x="14888" y="1270000"/>
                  <a:pt x="7631" y="1214362"/>
                  <a:pt x="2793" y="1117600"/>
                </a:cubicBezTo>
                <a:cubicBezTo>
                  <a:pt x="-2045" y="1020838"/>
                  <a:pt x="374" y="873276"/>
                  <a:pt x="2793" y="740229"/>
                </a:cubicBezTo>
                <a:cubicBezTo>
                  <a:pt x="5212" y="607182"/>
                  <a:pt x="14888" y="430591"/>
                  <a:pt x="17307" y="319315"/>
                </a:cubicBezTo>
                <a:cubicBezTo>
                  <a:pt x="19726" y="208039"/>
                  <a:pt x="-6883" y="123372"/>
                  <a:pt x="17307" y="72572"/>
                </a:cubicBezTo>
                <a:cubicBezTo>
                  <a:pt x="41497" y="21772"/>
                  <a:pt x="97136" y="26610"/>
                  <a:pt x="162450" y="14515"/>
                </a:cubicBezTo>
                <a:cubicBezTo>
                  <a:pt x="227764" y="2420"/>
                  <a:pt x="318478" y="1210"/>
                  <a:pt x="409193" y="0"/>
                </a:cubicBezTo>
              </a:path>
            </a:pathLst>
          </a:custGeom>
          <a:noFill/>
          <a:ln w="9525"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矩形 33"/>
          <p:cNvSpPr>
            <a:spLocks noChangeArrowheads="1"/>
          </p:cNvSpPr>
          <p:nvPr/>
        </p:nvSpPr>
        <p:spPr bwMode="auto">
          <a:xfrm>
            <a:off x="7411879" y="3669665"/>
            <a:ext cx="2971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0000"/>
                </a:solidFill>
              </a:rPr>
              <a:t>1</a:t>
            </a:r>
          </a:p>
        </p:txBody>
      </p:sp>
      <p:grpSp>
        <p:nvGrpSpPr>
          <p:cNvPr id="39" name="组合 38"/>
          <p:cNvGrpSpPr/>
          <p:nvPr/>
        </p:nvGrpSpPr>
        <p:grpSpPr bwMode="auto">
          <a:xfrm>
            <a:off x="4763432" y="2953898"/>
            <a:ext cx="3643077" cy="414578"/>
            <a:chOff x="4763881" y="3449748"/>
            <a:chExt cx="3644138" cy="414185"/>
          </a:xfrm>
        </p:grpSpPr>
        <p:sp>
          <p:nvSpPr>
            <p:cNvPr id="110637" name="矩形 39"/>
            <p:cNvSpPr>
              <a:spLocks noChangeArrowheads="1"/>
            </p:cNvSpPr>
            <p:nvPr/>
          </p:nvSpPr>
          <p:spPr bwMode="auto">
            <a:xfrm>
              <a:off x="6040413" y="3449748"/>
              <a:ext cx="647889" cy="33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00B050"/>
                  </a:solidFill>
                  <a:cs typeface="Times New Roman" panose="02020603050405020304" pitchFamily="18" charset="0"/>
                </a:rPr>
                <a:t>30μA</a:t>
              </a:r>
            </a:p>
          </p:txBody>
        </p:sp>
        <p:sp>
          <p:nvSpPr>
            <p:cNvPr id="110638" name="矩形 40"/>
            <p:cNvSpPr>
              <a:spLocks noChangeArrowheads="1"/>
            </p:cNvSpPr>
            <p:nvPr/>
          </p:nvSpPr>
          <p:spPr bwMode="auto">
            <a:xfrm>
              <a:off x="4763881" y="3527068"/>
              <a:ext cx="702515" cy="33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00B050"/>
                  </a:solidFill>
                  <a:cs typeface="Times New Roman" panose="02020603050405020304" pitchFamily="18" charset="0"/>
                </a:rPr>
                <a:t>20mA</a:t>
              </a:r>
            </a:p>
          </p:txBody>
        </p:sp>
        <p:sp>
          <p:nvSpPr>
            <p:cNvPr id="110639" name="矩形 41"/>
            <p:cNvSpPr>
              <a:spLocks noChangeArrowheads="1"/>
            </p:cNvSpPr>
            <p:nvPr/>
          </p:nvSpPr>
          <p:spPr bwMode="auto">
            <a:xfrm>
              <a:off x="7658501" y="3485725"/>
              <a:ext cx="749518" cy="33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00B050"/>
                  </a:solidFill>
                  <a:cs typeface="Times New Roman" panose="02020603050405020304" pitchFamily="18" charset="0"/>
                </a:rPr>
                <a:t>200μA</a:t>
              </a:r>
            </a:p>
          </p:txBody>
        </p:sp>
      </p:grpSp>
      <p:sp>
        <p:nvSpPr>
          <p:cNvPr id="43" name="Rectangle 3"/>
          <p:cNvSpPr txBox="1">
            <a:spLocks noChangeArrowheads="1"/>
          </p:cNvSpPr>
          <p:nvPr/>
        </p:nvSpPr>
        <p:spPr bwMode="auto">
          <a:xfrm>
            <a:off x="127000" y="1701800"/>
            <a:ext cx="9093200" cy="391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4"/>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5"/>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5430" lvl="1" indent="-265430" algn="l" eaLnBrk="1" hangingPunct="1">
              <a:lnSpc>
                <a:spcPct val="101000"/>
              </a:lnSpc>
              <a:spcBef>
                <a:spcPts val="0"/>
              </a:spcBef>
              <a:spcAft>
                <a:spcPts val="200"/>
              </a:spcAft>
              <a:buClr>
                <a:srgbClr val="7030A0"/>
              </a:buClr>
              <a:buSzPct val="70000"/>
              <a:buFont typeface="Wingdings" panose="05000000000000000000" pitchFamily="2" charset="2"/>
              <a:buChar char="u"/>
              <a:defRPr/>
            </a:pPr>
            <a:r>
              <a:rPr lang="zh-CN" altLang="en-US" sz="1800" kern="0" dirty="0">
                <a:latin typeface="Times New Roman" panose="02020603050405020304" pitchFamily="18" charset="0"/>
                <a:cs typeface="Times New Roman" panose="02020603050405020304" pitchFamily="18" charset="0"/>
              </a:rPr>
              <a:t>When the port output latch is set to 1, the I/O ports high-level drive capability becomes very weak.</a:t>
            </a:r>
          </a:p>
        </p:txBody>
      </p:sp>
      <p:sp>
        <p:nvSpPr>
          <p:cNvPr id="45" name="任意多边形 44"/>
          <p:cNvSpPr/>
          <p:nvPr/>
        </p:nvSpPr>
        <p:spPr bwMode="auto">
          <a:xfrm>
            <a:off x="6557963" y="3698240"/>
            <a:ext cx="758825" cy="1430338"/>
          </a:xfrm>
          <a:custGeom>
            <a:avLst/>
            <a:gdLst>
              <a:gd name="T0" fmla="*/ 743021 w 757535"/>
              <a:gd name="T1" fmla="*/ 624115 h 1429925"/>
              <a:gd name="T2" fmla="*/ 757535 w 757535"/>
              <a:gd name="T3" fmla="*/ 783772 h 1429925"/>
              <a:gd name="T4" fmla="*/ 743021 w 757535"/>
              <a:gd name="T5" fmla="*/ 1103086 h 1429925"/>
              <a:gd name="T6" fmla="*/ 743021 w 757535"/>
              <a:gd name="T7" fmla="*/ 1378858 h 1429925"/>
              <a:gd name="T8" fmla="*/ 612393 w 757535"/>
              <a:gd name="T9" fmla="*/ 1422400 h 1429925"/>
              <a:gd name="T10" fmla="*/ 322107 w 757535"/>
              <a:gd name="T11" fmla="*/ 1422400 h 1429925"/>
              <a:gd name="T12" fmla="*/ 104393 w 757535"/>
              <a:gd name="T13" fmla="*/ 1422400 h 1429925"/>
              <a:gd name="T14" fmla="*/ 31821 w 757535"/>
              <a:gd name="T15" fmla="*/ 1320800 h 1429925"/>
              <a:gd name="T16" fmla="*/ 2793 w 757535"/>
              <a:gd name="T17" fmla="*/ 1117600 h 1429925"/>
              <a:gd name="T18" fmla="*/ 2793 w 757535"/>
              <a:gd name="T19" fmla="*/ 740229 h 1429925"/>
              <a:gd name="T20" fmla="*/ 17307 w 757535"/>
              <a:gd name="T21" fmla="*/ 319315 h 1429925"/>
              <a:gd name="T22" fmla="*/ 17307 w 757535"/>
              <a:gd name="T23" fmla="*/ 72572 h 1429925"/>
              <a:gd name="T24" fmla="*/ 162450 w 757535"/>
              <a:gd name="T25" fmla="*/ 14515 h 1429925"/>
              <a:gd name="T26" fmla="*/ 409193 w 757535"/>
              <a:gd name="T27" fmla="*/ 0 h 14299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57535" h="1429925">
                <a:moveTo>
                  <a:pt x="743021" y="624115"/>
                </a:moveTo>
                <a:cubicBezTo>
                  <a:pt x="750278" y="664029"/>
                  <a:pt x="757535" y="703944"/>
                  <a:pt x="757535" y="783772"/>
                </a:cubicBezTo>
                <a:cubicBezTo>
                  <a:pt x="757535" y="863600"/>
                  <a:pt x="745440" y="1003905"/>
                  <a:pt x="743021" y="1103086"/>
                </a:cubicBezTo>
                <a:cubicBezTo>
                  <a:pt x="740602" y="1202267"/>
                  <a:pt x="764792" y="1325639"/>
                  <a:pt x="743021" y="1378858"/>
                </a:cubicBezTo>
                <a:cubicBezTo>
                  <a:pt x="721250" y="1432077"/>
                  <a:pt x="682545" y="1415143"/>
                  <a:pt x="612393" y="1422400"/>
                </a:cubicBezTo>
                <a:cubicBezTo>
                  <a:pt x="542241" y="1429657"/>
                  <a:pt x="322107" y="1422400"/>
                  <a:pt x="322107" y="1422400"/>
                </a:cubicBezTo>
                <a:cubicBezTo>
                  <a:pt x="237440" y="1422400"/>
                  <a:pt x="152774" y="1439333"/>
                  <a:pt x="104393" y="1422400"/>
                </a:cubicBezTo>
                <a:cubicBezTo>
                  <a:pt x="56012" y="1405467"/>
                  <a:pt x="48754" y="1371600"/>
                  <a:pt x="31821" y="1320800"/>
                </a:cubicBezTo>
                <a:cubicBezTo>
                  <a:pt x="14888" y="1270000"/>
                  <a:pt x="7631" y="1214362"/>
                  <a:pt x="2793" y="1117600"/>
                </a:cubicBezTo>
                <a:cubicBezTo>
                  <a:pt x="-2045" y="1020838"/>
                  <a:pt x="374" y="873276"/>
                  <a:pt x="2793" y="740229"/>
                </a:cubicBezTo>
                <a:cubicBezTo>
                  <a:pt x="5212" y="607182"/>
                  <a:pt x="14888" y="430591"/>
                  <a:pt x="17307" y="319315"/>
                </a:cubicBezTo>
                <a:cubicBezTo>
                  <a:pt x="19726" y="208039"/>
                  <a:pt x="-6883" y="123372"/>
                  <a:pt x="17307" y="72572"/>
                </a:cubicBezTo>
                <a:cubicBezTo>
                  <a:pt x="41497" y="21772"/>
                  <a:pt x="97136" y="26610"/>
                  <a:pt x="162450" y="14515"/>
                </a:cubicBezTo>
                <a:cubicBezTo>
                  <a:pt x="227764" y="2420"/>
                  <a:pt x="318478" y="1210"/>
                  <a:pt x="409193" y="0"/>
                </a:cubicBezTo>
              </a:path>
            </a:pathLst>
          </a:custGeom>
          <a:noFill/>
          <a:ln w="38100" cap="flat" cmpd="sng" algn="ctr">
            <a:solidFill>
              <a:srgbClr val="00B05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矩形 45"/>
          <p:cNvSpPr>
            <a:spLocks noChangeArrowheads="1"/>
          </p:cNvSpPr>
          <p:nvPr/>
        </p:nvSpPr>
        <p:spPr bwMode="auto">
          <a:xfrm>
            <a:off x="6687344" y="3778250"/>
            <a:ext cx="266700" cy="27686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B050"/>
                </a:solidFill>
              </a:rPr>
              <a:t>off</a:t>
            </a:r>
          </a:p>
        </p:txBody>
      </p:sp>
      <p:grpSp>
        <p:nvGrpSpPr>
          <p:cNvPr id="47" name="组合 46"/>
          <p:cNvGrpSpPr/>
          <p:nvPr/>
        </p:nvGrpSpPr>
        <p:grpSpPr bwMode="auto">
          <a:xfrm>
            <a:off x="8334375" y="4225290"/>
            <a:ext cx="641350" cy="1884363"/>
            <a:chOff x="8390097" y="4627084"/>
            <a:chExt cx="641132" cy="1884822"/>
          </a:xfrm>
        </p:grpSpPr>
        <p:pic>
          <p:nvPicPr>
            <p:cNvPr id="110634" name="图片 4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90097" y="5380031"/>
              <a:ext cx="641132" cy="11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0635" name="直接连接符 48"/>
            <p:cNvCxnSpPr/>
            <p:nvPr/>
          </p:nvCxnSpPr>
          <p:spPr bwMode="auto">
            <a:xfrm>
              <a:off x="8469491" y="4627084"/>
              <a:ext cx="197104" cy="0"/>
            </a:xfrm>
            <a:prstGeom prst="line">
              <a:avLst/>
            </a:prstGeom>
            <a:noFill/>
            <a:ln w="28575" algn="ctr">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636" name="直接连接符 49"/>
            <p:cNvCxnSpPr>
              <a:cxnSpLocks noChangeShapeType="1"/>
            </p:cNvCxnSpPr>
            <p:nvPr/>
          </p:nvCxnSpPr>
          <p:spPr bwMode="auto">
            <a:xfrm>
              <a:off x="8666595" y="4627084"/>
              <a:ext cx="0" cy="752947"/>
            </a:xfrm>
            <a:prstGeom prst="line">
              <a:avLst/>
            </a:prstGeom>
            <a:noFill/>
            <a:ln w="28575" algn="ctr">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6" name="矩形 55"/>
          <p:cNvSpPr/>
          <p:nvPr/>
        </p:nvSpPr>
        <p:spPr>
          <a:xfrm>
            <a:off x="7388225" y="3786505"/>
            <a:ext cx="299085" cy="460375"/>
          </a:xfrm>
          <a:prstGeom prst="rect">
            <a:avLst/>
          </a:prstGeom>
        </p:spPr>
        <p:txBody>
          <a:bodyPr wrap="none">
            <a:spAutoFit/>
          </a:bodyPr>
          <a:lstStyle/>
          <a:p>
            <a:pPr algn="ctr" eaLnBrk="1" hangingPunct="1">
              <a:defRPr/>
            </a:pPr>
            <a:r>
              <a:rPr lang="en-US" altLang="zh-CN" sz="2400" b="1" spc="-300" dirty="0">
                <a:solidFill>
                  <a:srgbClr val="00B050"/>
                </a:solidFill>
              </a:rPr>
              <a:t>0</a:t>
            </a:r>
          </a:p>
        </p:txBody>
      </p:sp>
      <p:sp>
        <p:nvSpPr>
          <p:cNvPr id="51" name="矩形 50"/>
          <p:cNvSpPr/>
          <p:nvPr/>
        </p:nvSpPr>
        <p:spPr>
          <a:xfrm>
            <a:off x="7836218" y="3396615"/>
            <a:ext cx="1071562" cy="450850"/>
          </a:xfrm>
          <a:prstGeom prst="rect">
            <a:avLst/>
          </a:prstGeom>
          <a:noFill/>
        </p:spPr>
        <p:txBody>
          <a:bodyPr lIns="0" tIns="36000" rIns="0" bIns="0" anchor="b">
            <a:spAutoFit/>
          </a:bodyPr>
          <a:lstStyle/>
          <a:p>
            <a:pPr algn="ctr" eaLnBrk="1" hangingPunct="1">
              <a:lnSpc>
                <a:spcPct val="75000"/>
              </a:lnSpc>
              <a:defRPr/>
            </a:pPr>
            <a:r>
              <a:rPr lang="zh-CN" altLang="en-US" b="1" kern="0" dirty="0">
                <a:solidFill>
                  <a:srgbClr val="0000FF"/>
                </a:solidFill>
                <a:cs typeface="Times New Roman" panose="02020603050405020304" pitchFamily="18" charset="0"/>
              </a:rPr>
              <a:t>Example: P1.2</a:t>
            </a:r>
            <a:endParaRPr lang="zh-CN" altLang="en-US" b="1" kern="0" dirty="0">
              <a:solidFill>
                <a:srgbClr val="0000FF"/>
              </a:solidFill>
              <a:ea typeface="宋体" panose="02010600030101010101" pitchFamily="2" charset="-122"/>
              <a:cs typeface="Times New Roman" panose="02020603050405020304" pitchFamily="18" charset="0"/>
            </a:endParaRPr>
          </a:p>
        </p:txBody>
      </p:sp>
      <p:sp>
        <p:nvSpPr>
          <p:cNvPr id="57" name="矩形 56"/>
          <p:cNvSpPr/>
          <p:nvPr/>
        </p:nvSpPr>
        <p:spPr>
          <a:xfrm>
            <a:off x="88900" y="5050790"/>
            <a:ext cx="1350963" cy="866775"/>
          </a:xfrm>
          <a:prstGeom prst="rect">
            <a:avLst/>
          </a:prstGeom>
          <a:noFill/>
        </p:spPr>
        <p:txBody>
          <a:bodyPr lIns="0" tIns="36000" rIns="0" bIns="0" anchor="b">
            <a:spAutoFit/>
          </a:bodyPr>
          <a:lstStyle/>
          <a:p>
            <a:pPr algn="ctr" eaLnBrk="1" hangingPunct="1">
              <a:lnSpc>
                <a:spcPct val="75000"/>
              </a:lnSpc>
              <a:defRPr/>
            </a:pPr>
            <a:r>
              <a:rPr lang="zh-CN" altLang="en-US" sz="1200" b="1" kern="0" dirty="0">
                <a:solidFill>
                  <a:srgbClr val="0000FF"/>
                </a:solidFill>
                <a:cs typeface="Times New Roman" panose="02020603050405020304" pitchFamily="18" charset="0"/>
              </a:rPr>
              <a:t>Example: latch bit of P1.2 line</a:t>
            </a:r>
            <a:endParaRPr lang="en-US" altLang="zh-CN" sz="2400" b="1" dirty="0">
              <a:solidFill>
                <a:srgbClr val="0000FF"/>
              </a:solidFill>
              <a:ea typeface="宋体" panose="02010600030101010101" pitchFamily="2" charset="-122"/>
              <a:cs typeface="Times New Roman" panose="02020603050405020304" pitchFamily="18" charset="0"/>
            </a:endParaRPr>
          </a:p>
        </p:txBody>
      </p:sp>
      <p:sp>
        <p:nvSpPr>
          <p:cNvPr id="62" name="矩形 61"/>
          <p:cNvSpPr/>
          <p:nvPr/>
        </p:nvSpPr>
        <p:spPr>
          <a:xfrm>
            <a:off x="1846580" y="5001895"/>
            <a:ext cx="3336290" cy="497205"/>
          </a:xfrm>
          <a:prstGeom prst="rect">
            <a:avLst/>
          </a:prstGeom>
          <a:noFill/>
        </p:spPr>
        <p:txBody>
          <a:bodyPr wrap="square" lIns="0" tIns="36000" rIns="0" bIns="0" anchor="b">
            <a:spAutoFit/>
          </a:bodyPr>
          <a:lstStyle/>
          <a:p>
            <a:pPr algn="ctr" eaLnBrk="1" hangingPunct="1">
              <a:lnSpc>
                <a:spcPct val="75000"/>
              </a:lnSpc>
              <a:defRPr/>
            </a:pPr>
            <a:r>
              <a:rPr lang="zh-CN" altLang="en-US" sz="2000" b="1" kern="0" dirty="0">
                <a:solidFill>
                  <a:srgbClr val="FF00FF"/>
                </a:solidFill>
                <a:cs typeface="Times New Roman" panose="02020603050405020304" pitchFamily="18" charset="0"/>
              </a:rPr>
              <a:t>The CPU can now read the pin status data</a:t>
            </a:r>
          </a:p>
        </p:txBody>
      </p:sp>
      <p:sp>
        <p:nvSpPr>
          <p:cNvPr id="72" name="矩形 71"/>
          <p:cNvSpPr/>
          <p:nvPr/>
        </p:nvSpPr>
        <p:spPr>
          <a:xfrm>
            <a:off x="1729105" y="5855970"/>
            <a:ext cx="3524250" cy="312738"/>
          </a:xfrm>
          <a:prstGeom prst="rect">
            <a:avLst/>
          </a:prstGeom>
          <a:noFill/>
        </p:spPr>
        <p:txBody>
          <a:bodyPr lIns="0" tIns="36000" rIns="0" bIns="0" anchor="b">
            <a:spAutoFit/>
          </a:bodyPr>
          <a:lstStyle/>
          <a:p>
            <a:pPr algn="ctr" eaLnBrk="1" hangingPunct="1">
              <a:lnSpc>
                <a:spcPct val="75000"/>
              </a:lnSpc>
              <a:defRPr/>
            </a:pPr>
            <a:r>
              <a:rPr lang="zh-CN" altLang="en-US" sz="1200" b="1" kern="0" dirty="0">
                <a:solidFill>
                  <a:srgbClr val="FF0000"/>
                </a:solidFill>
                <a:cs typeface="Times New Roman" panose="02020603050405020304" pitchFamily="18" charset="0"/>
              </a:rPr>
              <a:t>The pin status can be high or low.</a:t>
            </a:r>
            <a:endParaRPr lang="en-US" altLang="zh-CN" sz="2400" b="1" dirty="0">
              <a:solidFill>
                <a:srgbClr val="FF0000"/>
              </a:solidFill>
              <a:ea typeface="宋体" panose="02010600030101010101" pitchFamily="2" charset="-122"/>
              <a:cs typeface="Times New Roman" panose="02020603050405020304" pitchFamily="18" charset="0"/>
            </a:endParaRPr>
          </a:p>
        </p:txBody>
      </p:sp>
      <p:sp>
        <p:nvSpPr>
          <p:cNvPr id="73" name="Rectangle 3"/>
          <p:cNvSpPr txBox="1">
            <a:spLocks noChangeArrowheads="1"/>
          </p:cNvSpPr>
          <p:nvPr/>
        </p:nvSpPr>
        <p:spPr bwMode="auto">
          <a:xfrm>
            <a:off x="88900" y="2302510"/>
            <a:ext cx="9086850" cy="5956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4"/>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5"/>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5430" lvl="1" indent="-265430" algn="l" eaLnBrk="1" hangingPunct="1">
              <a:lnSpc>
                <a:spcPct val="101000"/>
              </a:lnSpc>
              <a:spcBef>
                <a:spcPts val="0"/>
              </a:spcBef>
              <a:spcAft>
                <a:spcPts val="200"/>
              </a:spcAft>
              <a:buClr>
                <a:srgbClr val="7030A0"/>
              </a:buClr>
              <a:buSzPct val="70000"/>
              <a:buFont typeface="Wingdings" panose="05000000000000000000" pitchFamily="2" charset="2"/>
              <a:buChar char="u"/>
              <a:defRPr/>
            </a:pPr>
            <a:r>
              <a:rPr lang="zh-CN" altLang="en-US" sz="1800" kern="0" dirty="0">
                <a:latin typeface="Times New Roman" panose="02020603050405020304" pitchFamily="18" charset="0"/>
                <a:cs typeface="Times New Roman" panose="02020603050405020304" pitchFamily="18" charset="0"/>
              </a:rPr>
              <a:t>Allow external devices to pull it down (that is, </a:t>
            </a:r>
            <a:r>
              <a:rPr lang="zh-CN" altLang="en-US" sz="1800" kern="0" dirty="0">
                <a:solidFill>
                  <a:srgbClr val="FF0000"/>
                </a:solidFill>
                <a:latin typeface="Times New Roman" panose="02020603050405020304" pitchFamily="18" charset="0"/>
                <a:cs typeface="Times New Roman" panose="02020603050405020304" pitchFamily="18" charset="0"/>
              </a:rPr>
              <a:t>allow low input, at which time T3 and the Schmitt trigger tube form positive feedback, the pin is clamped at 0 level, low input</a:t>
            </a:r>
            <a:r>
              <a:rPr lang="zh-CN" altLang="en-US" sz="1800" kern="0" dirty="0">
                <a:latin typeface="Times New Roman" panose="02020603050405020304" pitchFamily="18" charset="0"/>
                <a:cs typeface="Times New Roman" panose="02020603050405020304" pitchFamily="18" charset="0"/>
              </a:rPr>
              <a:t>).</a:t>
            </a:r>
          </a:p>
        </p:txBody>
      </p:sp>
      <p:grpSp>
        <p:nvGrpSpPr>
          <p:cNvPr id="65" name="组合 64"/>
          <p:cNvGrpSpPr/>
          <p:nvPr/>
        </p:nvGrpSpPr>
        <p:grpSpPr bwMode="auto">
          <a:xfrm>
            <a:off x="8267700" y="4217353"/>
            <a:ext cx="679450" cy="1852612"/>
            <a:chOff x="8330084" y="4626889"/>
            <a:chExt cx="679714" cy="1844515"/>
          </a:xfrm>
        </p:grpSpPr>
        <p:pic>
          <p:nvPicPr>
            <p:cNvPr id="110627" name="图片 6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30084" y="5211550"/>
              <a:ext cx="679714" cy="1259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0628" name="直接连接符 66"/>
            <p:cNvCxnSpPr/>
            <p:nvPr/>
          </p:nvCxnSpPr>
          <p:spPr bwMode="auto">
            <a:xfrm>
              <a:off x="8469491" y="4627084"/>
              <a:ext cx="200450" cy="7556"/>
            </a:xfrm>
            <a:prstGeom prst="line">
              <a:avLst/>
            </a:prstGeom>
            <a:noFill/>
            <a:ln w="28575" algn="ctr">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629" name="直接连接符 67"/>
            <p:cNvCxnSpPr>
              <a:endCxn id="110627" idx="0"/>
            </p:cNvCxnSpPr>
            <p:nvPr/>
          </p:nvCxnSpPr>
          <p:spPr bwMode="auto">
            <a:xfrm>
              <a:off x="8669941" y="4626889"/>
              <a:ext cx="0" cy="584661"/>
            </a:xfrm>
            <a:prstGeom prst="line">
              <a:avLst/>
            </a:prstGeom>
            <a:noFill/>
            <a:ln w="28575" algn="ctr">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 name="灯片编号占位符 2"/>
          <p:cNvSpPr>
            <a:spLocks noGrp="1"/>
          </p:cNvSpPr>
          <p:nvPr>
            <p:ph type="sldNum" sz="quarter" idx="12"/>
          </p:nvPr>
        </p:nvSpPr>
        <p:spPr/>
        <p:txBody>
          <a:bodyPr/>
          <a:lstStyle/>
          <a:p>
            <a:fld id="{22E77DEE-32E4-4009-988B-F2758F7B8AC2}" type="slidenum">
              <a:rPr lang="zh-CN" altLang="en-US" smtClean="0"/>
              <a:t>59</a:t>
            </a:fld>
            <a:endParaRPr lang="zh-CN" altLang="en-US"/>
          </a:p>
        </p:txBody>
      </p:sp>
      <p:sp>
        <p:nvSpPr>
          <p:cNvPr id="9" name="文本框 8"/>
          <p:cNvSpPr txBox="1"/>
          <p:nvPr/>
        </p:nvSpPr>
        <p:spPr>
          <a:xfrm>
            <a:off x="-30480" y="3609975"/>
            <a:ext cx="1527810" cy="337185"/>
          </a:xfrm>
          <a:prstGeom prst="rect">
            <a:avLst/>
          </a:prstGeom>
        </p:spPr>
        <p:txBody>
          <a:bodyPr wrap="square">
            <a:spAutoFit/>
          </a:bodyPr>
          <a:lstStyle/>
          <a:p>
            <a:r>
              <a:rPr lang="en-US" altLang="zh-CN" sz="1600"/>
              <a:t>Port Data Latch</a:t>
            </a:r>
          </a:p>
        </p:txBody>
      </p:sp>
      <p:sp>
        <p:nvSpPr>
          <p:cNvPr id="8" name="文本框 7"/>
          <p:cNvSpPr txBox="1"/>
          <p:nvPr/>
        </p:nvSpPr>
        <p:spPr>
          <a:xfrm>
            <a:off x="2134870" y="3823970"/>
            <a:ext cx="1388745" cy="583565"/>
          </a:xfrm>
          <a:prstGeom prst="rect">
            <a:avLst/>
          </a:prstGeom>
          <a:noFill/>
        </p:spPr>
        <p:txBody>
          <a:bodyPr wrap="square" rtlCol="0">
            <a:spAutoFit/>
          </a:bodyPr>
          <a:lstStyle/>
          <a:p>
            <a:r>
              <a:rPr lang="en-US" altLang="zh-CN" sz="1600"/>
              <a:t>2 CPU clock</a:t>
            </a:r>
          </a:p>
          <a:p>
            <a:r>
              <a:rPr lang="en-US" altLang="zh-CN" sz="1600"/>
              <a:t>delays</a:t>
            </a:r>
          </a:p>
        </p:txBody>
      </p:sp>
      <p:sp>
        <p:nvSpPr>
          <p:cNvPr id="2" name="文本框 1"/>
          <p:cNvSpPr txBox="1"/>
          <p:nvPr/>
        </p:nvSpPr>
        <p:spPr>
          <a:xfrm>
            <a:off x="2808605" y="5646420"/>
            <a:ext cx="3048000" cy="368300"/>
          </a:xfrm>
          <a:prstGeom prst="rect">
            <a:avLst/>
          </a:prstGeom>
          <a:noFill/>
        </p:spPr>
        <p:txBody>
          <a:bodyPr wrap="square" rtlCol="0">
            <a:spAutoFit/>
          </a:bodyPr>
          <a:lstStyle/>
          <a:p>
            <a:r>
              <a:rPr lang="en-US" altLang="zh-CN"/>
              <a:t>input data </a:t>
            </a:r>
          </a:p>
        </p:txBody>
      </p:sp>
      <p:sp>
        <p:nvSpPr>
          <p:cNvPr id="4" name="文本框 3"/>
          <p:cNvSpPr txBox="1"/>
          <p:nvPr/>
        </p:nvSpPr>
        <p:spPr>
          <a:xfrm>
            <a:off x="5903595" y="6061710"/>
            <a:ext cx="2802890" cy="337185"/>
          </a:xfrm>
          <a:prstGeom prst="rect">
            <a:avLst/>
          </a:prstGeom>
        </p:spPr>
        <p:txBody>
          <a:bodyPr wrap="square">
            <a:spAutoFit/>
          </a:bodyPr>
          <a:lstStyle/>
          <a:p>
            <a:r>
              <a:rPr lang="en-US" altLang="zh-CN" sz="1600"/>
              <a:t>Interference Suppression Filter</a:t>
            </a:r>
          </a:p>
        </p:txBody>
      </p:sp>
      <p:sp>
        <p:nvSpPr>
          <p:cNvPr id="5" name="文本框 4"/>
          <p:cNvSpPr txBox="1"/>
          <p:nvPr/>
        </p:nvSpPr>
        <p:spPr>
          <a:xfrm>
            <a:off x="7615555" y="4510405"/>
            <a:ext cx="3048000" cy="368300"/>
          </a:xfrm>
          <a:prstGeom prst="rect">
            <a:avLst/>
          </a:prstGeom>
          <a:noFill/>
        </p:spPr>
        <p:txBody>
          <a:bodyPr wrap="square" rtlCol="0">
            <a:spAutoFit/>
          </a:bodyPr>
          <a:lstStyle/>
          <a:p>
            <a:r>
              <a:rPr lang="en-US" altLang="zh-CN"/>
              <a:t>Port Pin</a:t>
            </a:r>
          </a:p>
        </p:txBody>
      </p:sp>
      <p:sp>
        <p:nvSpPr>
          <p:cNvPr id="10" name="文本框 9"/>
          <p:cNvSpPr txBox="1"/>
          <p:nvPr/>
        </p:nvSpPr>
        <p:spPr>
          <a:xfrm>
            <a:off x="8292465" y="3927475"/>
            <a:ext cx="3048000" cy="368300"/>
          </a:xfrm>
          <a:prstGeom prst="rect">
            <a:avLst/>
          </a:prstGeom>
          <a:noFill/>
        </p:spPr>
        <p:txBody>
          <a:bodyPr wrap="square" rtlCol="0">
            <a:spAutoFit/>
          </a:bodyPr>
          <a:lstStyle/>
          <a:p>
            <a:r>
              <a:rPr lang="en-US" altLang="zh-CN" b="1">
                <a:solidFill>
                  <a:srgbClr val="00B050"/>
                </a:solidFill>
              </a:rPr>
              <a:t>0 input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89" descr="D:\DOCUME~1\ADMINI~1\LOCALS~1\Temp\HS5ClipImage_56b00a7d.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075" y="3035936"/>
            <a:ext cx="8258175"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组合 6"/>
          <p:cNvGrpSpPr/>
          <p:nvPr/>
        </p:nvGrpSpPr>
        <p:grpSpPr bwMode="auto">
          <a:xfrm>
            <a:off x="4768068" y="3321367"/>
            <a:ext cx="3464541" cy="438786"/>
            <a:chOff x="4668971" y="2681873"/>
            <a:chExt cx="3463515" cy="438127"/>
          </a:xfrm>
        </p:grpSpPr>
        <p:sp>
          <p:nvSpPr>
            <p:cNvPr id="111660" name="矩形 7"/>
            <p:cNvSpPr>
              <a:spLocks noChangeArrowheads="1"/>
            </p:cNvSpPr>
            <p:nvPr/>
          </p:nvSpPr>
          <p:spPr bwMode="auto">
            <a:xfrm>
              <a:off x="4668971" y="2681873"/>
              <a:ext cx="817638" cy="398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a:solidFill>
                    <a:srgbClr val="FF0000"/>
                  </a:solidFill>
                </a:rPr>
                <a:t>strong</a:t>
              </a:r>
            </a:p>
          </p:txBody>
        </p:sp>
        <p:sp>
          <p:nvSpPr>
            <p:cNvPr id="111661" name="矩形 8"/>
            <p:cNvSpPr>
              <a:spLocks noChangeArrowheads="1"/>
            </p:cNvSpPr>
            <p:nvPr/>
          </p:nvSpPr>
          <p:spPr bwMode="auto">
            <a:xfrm>
              <a:off x="5860505" y="2721819"/>
              <a:ext cx="1154088" cy="367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0000"/>
                  </a:solidFill>
                </a:rPr>
                <a:t>Very weak</a:t>
              </a:r>
            </a:p>
          </p:txBody>
        </p:sp>
        <p:sp>
          <p:nvSpPr>
            <p:cNvPr id="111662" name="矩形 9"/>
            <p:cNvSpPr>
              <a:spLocks noChangeArrowheads="1"/>
            </p:cNvSpPr>
            <p:nvPr/>
          </p:nvSpPr>
          <p:spPr bwMode="auto">
            <a:xfrm>
              <a:off x="7413244" y="2721819"/>
              <a:ext cx="719242" cy="398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rgbClr val="FF0000"/>
                  </a:solidFill>
                </a:rPr>
                <a:t>weak</a:t>
              </a:r>
            </a:p>
          </p:txBody>
        </p:sp>
      </p:grpSp>
      <p:sp>
        <p:nvSpPr>
          <p:cNvPr id="11" name="矩形 10"/>
          <p:cNvSpPr>
            <a:spLocks noChangeArrowheads="1"/>
          </p:cNvSpPr>
          <p:nvPr/>
        </p:nvSpPr>
        <p:spPr bwMode="auto">
          <a:xfrm>
            <a:off x="201930" y="3496946"/>
            <a:ext cx="86614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a:solidFill>
                  <a:srgbClr val="FF0000"/>
                </a:solidFill>
                <a:cs typeface="Times New Roman" panose="02020603050405020304" pitchFamily="18" charset="0"/>
              </a:rPr>
              <a:t>P0～ P7</a:t>
            </a:r>
          </a:p>
        </p:txBody>
      </p:sp>
      <p:sp>
        <p:nvSpPr>
          <p:cNvPr id="111621" name="标题 3"/>
          <p:cNvSpPr>
            <a:spLocks noGrp="1" noChangeArrowheads="1"/>
          </p:cNvSpPr>
          <p:nvPr>
            <p:ph type="title"/>
          </p:nvPr>
        </p:nvSpPr>
        <p:spPr>
          <a:xfrm>
            <a:off x="837248" y="696913"/>
            <a:ext cx="8229600" cy="504825"/>
          </a:xfrm>
        </p:spPr>
        <p:txBody>
          <a:bodyPr>
            <a:noAutofit/>
          </a:bodyPr>
          <a:lstStyle/>
          <a:p>
            <a:pPr eaLnBrk="1" hangingPunct="1"/>
            <a:r>
              <a:rPr lang="zh-CN" altLang="en-US" sz="4000" dirty="0">
                <a:solidFill>
                  <a:srgbClr val="FF0000"/>
                </a:solidFill>
              </a:rPr>
              <a:t>Structure of the dual-directional (weak pull-up) working mode</a:t>
            </a:r>
          </a:p>
        </p:txBody>
      </p:sp>
      <p:sp>
        <p:nvSpPr>
          <p:cNvPr id="518147" name="Rectangle 3"/>
          <p:cNvSpPr>
            <a:spLocks noGrp="1" noChangeArrowheads="1"/>
          </p:cNvSpPr>
          <p:nvPr>
            <p:ph idx="1"/>
          </p:nvPr>
        </p:nvSpPr>
        <p:spPr>
          <a:xfrm>
            <a:off x="730725" y="1313815"/>
            <a:ext cx="7815899" cy="849312"/>
          </a:xfrm>
        </p:spPr>
        <p:txBody>
          <a:bodyPr>
            <a:normAutofit fontScale="92500"/>
          </a:bodyPr>
          <a:lstStyle/>
          <a:p>
            <a:pPr marL="262255" lvl="1" indent="-262255" algn="l" eaLnBrk="1" hangingPunct="1">
              <a:spcBef>
                <a:spcPts val="0"/>
              </a:spcBef>
              <a:spcAft>
                <a:spcPts val="200"/>
              </a:spcAft>
              <a:defRPr/>
            </a:pPr>
            <a:r>
              <a:rPr lang="zh-CN" altLang="en-US" dirty="0"/>
              <a:t>When data is </a:t>
            </a:r>
            <a:r>
              <a:rPr lang="zh-CN" altLang="en-US" dirty="0">
                <a:solidFill>
                  <a:srgbClr val="FF0000"/>
                </a:solidFill>
              </a:rPr>
              <a:t>input from the port pins</a:t>
            </a:r>
            <a:r>
              <a:rPr lang="zh-CN" altLang="en-US" dirty="0"/>
              <a:t>, </a:t>
            </a:r>
            <a:r>
              <a:rPr lang="zh-CN" altLang="en-US" dirty="0">
                <a:solidFill>
                  <a:srgbClr val="FF0000"/>
                </a:solidFill>
              </a:rPr>
              <a:t>T4</a:t>
            </a:r>
            <a:r>
              <a:rPr lang="zh-CN" altLang="en-US" dirty="0"/>
              <a:t> should remain in the</a:t>
            </a:r>
            <a:r>
              <a:rPr lang="zh-CN" altLang="en-US" dirty="0">
                <a:solidFill>
                  <a:srgbClr val="FF0000"/>
                </a:solidFill>
              </a:rPr>
              <a:t> cutoff</a:t>
            </a:r>
            <a:r>
              <a:rPr lang="zh-CN" altLang="en-US" dirty="0"/>
              <a:t> state.</a:t>
            </a:r>
            <a:endParaRPr lang="en-US" altLang="zh-CN" dirty="0"/>
          </a:p>
          <a:p>
            <a:pPr marL="262255" lvl="1" indent="-262255" algn="l" eaLnBrk="1" hangingPunct="1">
              <a:spcBef>
                <a:spcPts val="0"/>
              </a:spcBef>
              <a:spcAft>
                <a:spcPts val="200"/>
              </a:spcAft>
              <a:defRPr/>
            </a:pPr>
            <a:r>
              <a:rPr lang="zh-CN" altLang="en-US" dirty="0">
                <a:solidFill>
                  <a:srgbClr val="3366FF"/>
                </a:solidFill>
              </a:rPr>
              <a:t>Assuming that data 0 is latched before the input, T4 is turned on, and the pin potential is clamped at the 0 level</a:t>
            </a:r>
            <a:r>
              <a:rPr lang="zh-CN" altLang="en-US" dirty="0"/>
              <a:t>, so that the input high level cannot be read.</a:t>
            </a:r>
          </a:p>
        </p:txBody>
      </p:sp>
      <p:sp>
        <p:nvSpPr>
          <p:cNvPr id="12" name="Rectangle 3"/>
          <p:cNvSpPr txBox="1">
            <a:spLocks noChangeArrowheads="1"/>
          </p:cNvSpPr>
          <p:nvPr/>
        </p:nvSpPr>
        <p:spPr bwMode="auto">
          <a:xfrm>
            <a:off x="311150" y="1976482"/>
            <a:ext cx="8769350" cy="1122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3"/>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4"/>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lvl="1" indent="0" algn="l" eaLnBrk="1" hangingPunct="1">
              <a:buFontTx/>
              <a:buNone/>
              <a:defRPr/>
            </a:pPr>
            <a:r>
              <a:rPr lang="zh-CN" altLang="en-US" sz="1800" kern="0" dirty="0"/>
              <a:t>Therefore, </a:t>
            </a:r>
            <a:r>
              <a:rPr lang="zh-CN" altLang="en-US" sz="1800" kern="0" dirty="0">
                <a:solidFill>
                  <a:srgbClr val="FF0000"/>
                </a:solidFill>
              </a:rPr>
              <a:t>as a quasi-dual-port application, when inputting data, it is necessary to first write 1 to the port to cut off T4, and then the high impedance input can be made. </a:t>
            </a:r>
            <a:r>
              <a:rPr lang="zh-CN" altLang="en-US" sz="1800" kern="0" dirty="0"/>
              <a:t>This is the main feature of the quasi-dual-port.</a:t>
            </a:r>
          </a:p>
        </p:txBody>
      </p:sp>
      <p:sp>
        <p:nvSpPr>
          <p:cNvPr id="13" name="矩形 12"/>
          <p:cNvSpPr>
            <a:spLocks noChangeArrowheads="1"/>
          </p:cNvSpPr>
          <p:nvPr/>
        </p:nvSpPr>
        <p:spPr bwMode="auto">
          <a:xfrm>
            <a:off x="509429" y="4528186"/>
            <a:ext cx="28448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3366FF"/>
                </a:solidFill>
              </a:rPr>
              <a:t>0</a:t>
            </a:r>
          </a:p>
        </p:txBody>
      </p:sp>
      <p:sp>
        <p:nvSpPr>
          <p:cNvPr id="14" name="矩形 13"/>
          <p:cNvSpPr>
            <a:spLocks noChangeArrowheads="1"/>
          </p:cNvSpPr>
          <p:nvPr/>
        </p:nvSpPr>
        <p:spPr bwMode="auto">
          <a:xfrm>
            <a:off x="3166904" y="4345623"/>
            <a:ext cx="28448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3366FF"/>
                </a:solidFill>
              </a:rPr>
              <a:t>1</a:t>
            </a:r>
          </a:p>
        </p:txBody>
      </p:sp>
      <p:sp>
        <p:nvSpPr>
          <p:cNvPr id="15" name="矩形 14"/>
          <p:cNvSpPr>
            <a:spLocks noChangeArrowheads="1"/>
          </p:cNvSpPr>
          <p:nvPr/>
        </p:nvSpPr>
        <p:spPr bwMode="auto">
          <a:xfrm>
            <a:off x="5464175" y="4756786"/>
            <a:ext cx="45402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solidFill>
                  <a:srgbClr val="3366FF"/>
                </a:solidFill>
              </a:rPr>
              <a:t>On</a:t>
            </a:r>
          </a:p>
        </p:txBody>
      </p:sp>
      <p:sp>
        <p:nvSpPr>
          <p:cNvPr id="16" name="矩形 15"/>
          <p:cNvSpPr>
            <a:spLocks noChangeArrowheads="1"/>
          </p:cNvSpPr>
          <p:nvPr/>
        </p:nvSpPr>
        <p:spPr bwMode="auto">
          <a:xfrm>
            <a:off x="7489666" y="4293236"/>
            <a:ext cx="28448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3366FF"/>
                </a:solidFill>
              </a:rPr>
              <a:t>0</a:t>
            </a:r>
          </a:p>
        </p:txBody>
      </p:sp>
      <p:sp>
        <p:nvSpPr>
          <p:cNvPr id="17" name="矩形 16"/>
          <p:cNvSpPr>
            <a:spLocks noChangeArrowheads="1"/>
          </p:cNvSpPr>
          <p:nvPr/>
        </p:nvSpPr>
        <p:spPr bwMode="auto">
          <a:xfrm>
            <a:off x="636429" y="4644073"/>
            <a:ext cx="28448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FF0000"/>
                </a:solidFill>
              </a:rPr>
              <a:t>1</a:t>
            </a:r>
          </a:p>
        </p:txBody>
      </p:sp>
      <p:sp>
        <p:nvSpPr>
          <p:cNvPr id="18" name="矩形 17"/>
          <p:cNvSpPr>
            <a:spLocks noChangeArrowheads="1"/>
          </p:cNvSpPr>
          <p:nvPr/>
        </p:nvSpPr>
        <p:spPr bwMode="auto">
          <a:xfrm>
            <a:off x="3166904" y="4594861"/>
            <a:ext cx="28448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FF0000"/>
                </a:solidFill>
              </a:rPr>
              <a:t>0</a:t>
            </a:r>
          </a:p>
        </p:txBody>
      </p:sp>
      <p:sp>
        <p:nvSpPr>
          <p:cNvPr id="20" name="矩形 19"/>
          <p:cNvSpPr>
            <a:spLocks noChangeArrowheads="1"/>
          </p:cNvSpPr>
          <p:nvPr/>
        </p:nvSpPr>
        <p:spPr bwMode="auto">
          <a:xfrm>
            <a:off x="7452201" y="4451033"/>
            <a:ext cx="28448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FF0000"/>
                </a:solidFill>
              </a:rPr>
              <a:t>1</a:t>
            </a:r>
          </a:p>
        </p:txBody>
      </p:sp>
      <p:sp>
        <p:nvSpPr>
          <p:cNvPr id="21" name="任意多边形 20"/>
          <p:cNvSpPr/>
          <p:nvPr/>
        </p:nvSpPr>
        <p:spPr bwMode="auto">
          <a:xfrm>
            <a:off x="6567487" y="3774123"/>
            <a:ext cx="758825" cy="1368425"/>
          </a:xfrm>
          <a:custGeom>
            <a:avLst/>
            <a:gdLst>
              <a:gd name="T0" fmla="*/ 743021 w 757535"/>
              <a:gd name="T1" fmla="*/ 597359 h 1429925"/>
              <a:gd name="T2" fmla="*/ 757535 w 757535"/>
              <a:gd name="T3" fmla="*/ 750171 h 1429925"/>
              <a:gd name="T4" fmla="*/ 743021 w 757535"/>
              <a:gd name="T5" fmla="*/ 1055796 h 1429925"/>
              <a:gd name="T6" fmla="*/ 743021 w 757535"/>
              <a:gd name="T7" fmla="*/ 1319745 h 1429925"/>
              <a:gd name="T8" fmla="*/ 612393 w 757535"/>
              <a:gd name="T9" fmla="*/ 1361421 h 1429925"/>
              <a:gd name="T10" fmla="*/ 322107 w 757535"/>
              <a:gd name="T11" fmla="*/ 1361421 h 1429925"/>
              <a:gd name="T12" fmla="*/ 104393 w 757535"/>
              <a:gd name="T13" fmla="*/ 1361421 h 1429925"/>
              <a:gd name="T14" fmla="*/ 31821 w 757535"/>
              <a:gd name="T15" fmla="*/ 1264176 h 1429925"/>
              <a:gd name="T16" fmla="*/ 2793 w 757535"/>
              <a:gd name="T17" fmla="*/ 1069688 h 1429925"/>
              <a:gd name="T18" fmla="*/ 2793 w 757535"/>
              <a:gd name="T19" fmla="*/ 708495 h 1429925"/>
              <a:gd name="T20" fmla="*/ 17307 w 757535"/>
              <a:gd name="T21" fmla="*/ 305626 h 1429925"/>
              <a:gd name="T22" fmla="*/ 17307 w 757535"/>
              <a:gd name="T23" fmla="*/ 69461 h 1429925"/>
              <a:gd name="T24" fmla="*/ 162450 w 757535"/>
              <a:gd name="T25" fmla="*/ 13893 h 1429925"/>
              <a:gd name="T26" fmla="*/ 409193 w 757535"/>
              <a:gd name="T27" fmla="*/ 0 h 14299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57535" h="1429925">
                <a:moveTo>
                  <a:pt x="743021" y="624115"/>
                </a:moveTo>
                <a:cubicBezTo>
                  <a:pt x="750278" y="664029"/>
                  <a:pt x="757535" y="703944"/>
                  <a:pt x="757535" y="783772"/>
                </a:cubicBezTo>
                <a:cubicBezTo>
                  <a:pt x="757535" y="863600"/>
                  <a:pt x="745440" y="1003905"/>
                  <a:pt x="743021" y="1103086"/>
                </a:cubicBezTo>
                <a:cubicBezTo>
                  <a:pt x="740602" y="1202267"/>
                  <a:pt x="764792" y="1325639"/>
                  <a:pt x="743021" y="1378858"/>
                </a:cubicBezTo>
                <a:cubicBezTo>
                  <a:pt x="721250" y="1432077"/>
                  <a:pt x="682545" y="1415143"/>
                  <a:pt x="612393" y="1422400"/>
                </a:cubicBezTo>
                <a:cubicBezTo>
                  <a:pt x="542241" y="1429657"/>
                  <a:pt x="322107" y="1422400"/>
                  <a:pt x="322107" y="1422400"/>
                </a:cubicBezTo>
                <a:cubicBezTo>
                  <a:pt x="237440" y="1422400"/>
                  <a:pt x="152774" y="1439333"/>
                  <a:pt x="104393" y="1422400"/>
                </a:cubicBezTo>
                <a:cubicBezTo>
                  <a:pt x="56012" y="1405467"/>
                  <a:pt x="48754" y="1371600"/>
                  <a:pt x="31821" y="1320800"/>
                </a:cubicBezTo>
                <a:cubicBezTo>
                  <a:pt x="14888" y="1270000"/>
                  <a:pt x="7631" y="1214362"/>
                  <a:pt x="2793" y="1117600"/>
                </a:cubicBezTo>
                <a:cubicBezTo>
                  <a:pt x="-2045" y="1020838"/>
                  <a:pt x="374" y="873276"/>
                  <a:pt x="2793" y="740229"/>
                </a:cubicBezTo>
                <a:cubicBezTo>
                  <a:pt x="5212" y="607182"/>
                  <a:pt x="14888" y="430591"/>
                  <a:pt x="17307" y="319315"/>
                </a:cubicBezTo>
                <a:cubicBezTo>
                  <a:pt x="19726" y="208039"/>
                  <a:pt x="-6883" y="123372"/>
                  <a:pt x="17307" y="72572"/>
                </a:cubicBezTo>
                <a:cubicBezTo>
                  <a:pt x="41497" y="21772"/>
                  <a:pt x="97136" y="26610"/>
                  <a:pt x="162450" y="14515"/>
                </a:cubicBezTo>
                <a:cubicBezTo>
                  <a:pt x="227764" y="2420"/>
                  <a:pt x="318478" y="1210"/>
                  <a:pt x="409193" y="0"/>
                </a:cubicBezTo>
              </a:path>
            </a:pathLst>
          </a:custGeom>
          <a:noFill/>
          <a:ln w="28575" cap="flat" cmpd="sng" algn="ctr">
            <a:solidFill>
              <a:srgbClr val="3366FF"/>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23" name="矩形 22"/>
          <p:cNvSpPr>
            <a:spLocks noChangeArrowheads="1"/>
          </p:cNvSpPr>
          <p:nvPr/>
        </p:nvSpPr>
        <p:spPr bwMode="auto">
          <a:xfrm>
            <a:off x="6793548" y="3774123"/>
            <a:ext cx="42037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solidFill>
                  <a:srgbClr val="3366FF"/>
                </a:solidFill>
              </a:rPr>
              <a:t>off</a:t>
            </a:r>
          </a:p>
        </p:txBody>
      </p:sp>
      <p:sp>
        <p:nvSpPr>
          <p:cNvPr id="19" name="矩形 18"/>
          <p:cNvSpPr>
            <a:spLocks noChangeArrowheads="1"/>
          </p:cNvSpPr>
          <p:nvPr/>
        </p:nvSpPr>
        <p:spPr bwMode="auto">
          <a:xfrm>
            <a:off x="5249228" y="4849813"/>
            <a:ext cx="42037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FF0000"/>
                </a:solidFill>
              </a:rPr>
              <a:t>off</a:t>
            </a:r>
          </a:p>
        </p:txBody>
      </p:sp>
      <p:sp>
        <p:nvSpPr>
          <p:cNvPr id="24" name="矩形 23"/>
          <p:cNvSpPr>
            <a:spLocks noChangeArrowheads="1"/>
          </p:cNvSpPr>
          <p:nvPr/>
        </p:nvSpPr>
        <p:spPr bwMode="auto">
          <a:xfrm>
            <a:off x="5985510" y="3875723"/>
            <a:ext cx="28448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FF0000"/>
                </a:solidFill>
              </a:rPr>
              <a:t>1</a:t>
            </a:r>
          </a:p>
        </p:txBody>
      </p:sp>
      <p:grpSp>
        <p:nvGrpSpPr>
          <p:cNvPr id="25" name="组合 24"/>
          <p:cNvGrpSpPr/>
          <p:nvPr/>
        </p:nvGrpSpPr>
        <p:grpSpPr bwMode="auto">
          <a:xfrm>
            <a:off x="4823488" y="3177541"/>
            <a:ext cx="3440403" cy="335415"/>
            <a:chOff x="4798556" y="3397137"/>
            <a:chExt cx="3440961" cy="335581"/>
          </a:xfrm>
        </p:grpSpPr>
        <p:sp>
          <p:nvSpPr>
            <p:cNvPr id="111657" name="矩形 25"/>
            <p:cNvSpPr>
              <a:spLocks noChangeArrowheads="1"/>
            </p:cNvSpPr>
            <p:nvPr/>
          </p:nvSpPr>
          <p:spPr bwMode="auto">
            <a:xfrm>
              <a:off x="6201897" y="3397215"/>
              <a:ext cx="590011" cy="306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a:solidFill>
                    <a:srgbClr val="FF0000"/>
                  </a:solidFill>
                  <a:cs typeface="Times New Roman" panose="02020603050405020304" pitchFamily="18" charset="0"/>
                </a:rPr>
                <a:t>30μA</a:t>
              </a:r>
            </a:p>
          </p:txBody>
        </p:sp>
        <p:sp>
          <p:nvSpPr>
            <p:cNvPr id="111658" name="矩形 26"/>
            <p:cNvSpPr>
              <a:spLocks noChangeArrowheads="1"/>
            </p:cNvSpPr>
            <p:nvPr/>
          </p:nvSpPr>
          <p:spPr bwMode="auto">
            <a:xfrm>
              <a:off x="4798556" y="3397137"/>
              <a:ext cx="637008" cy="306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a:solidFill>
                    <a:srgbClr val="FF0000"/>
                  </a:solidFill>
                  <a:cs typeface="Times New Roman" panose="02020603050405020304" pitchFamily="18" charset="0"/>
                </a:rPr>
                <a:t>20mA</a:t>
              </a:r>
            </a:p>
          </p:txBody>
        </p:sp>
        <p:sp>
          <p:nvSpPr>
            <p:cNvPr id="111659" name="矩形 27"/>
            <p:cNvSpPr>
              <a:spLocks noChangeArrowheads="1"/>
            </p:cNvSpPr>
            <p:nvPr/>
          </p:nvSpPr>
          <p:spPr bwMode="auto">
            <a:xfrm>
              <a:off x="7560592" y="3425861"/>
              <a:ext cx="678925" cy="306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a:solidFill>
                    <a:srgbClr val="FF0000"/>
                  </a:solidFill>
                  <a:cs typeface="Times New Roman" panose="02020603050405020304" pitchFamily="18" charset="0"/>
                </a:rPr>
                <a:t>200μA</a:t>
              </a:r>
            </a:p>
          </p:txBody>
        </p:sp>
      </p:grpSp>
      <p:sp>
        <p:nvSpPr>
          <p:cNvPr id="29" name="矩形 28"/>
          <p:cNvSpPr>
            <a:spLocks noChangeArrowheads="1"/>
          </p:cNvSpPr>
          <p:nvPr/>
        </p:nvSpPr>
        <p:spPr bwMode="auto">
          <a:xfrm>
            <a:off x="4831715" y="3788411"/>
            <a:ext cx="42037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solidFill>
                  <a:srgbClr val="FF0000"/>
                </a:solidFill>
              </a:rPr>
              <a:t>off</a:t>
            </a:r>
          </a:p>
        </p:txBody>
      </p:sp>
      <p:sp>
        <p:nvSpPr>
          <p:cNvPr id="30" name="矩形 29"/>
          <p:cNvSpPr>
            <a:spLocks noChangeArrowheads="1"/>
          </p:cNvSpPr>
          <p:nvPr/>
        </p:nvSpPr>
        <p:spPr bwMode="auto">
          <a:xfrm>
            <a:off x="5430996" y="3764598"/>
            <a:ext cx="271145" cy="24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solidFill>
                  <a:srgbClr val="FF0000"/>
                </a:solidFill>
              </a:rPr>
              <a:t>On</a:t>
            </a:r>
          </a:p>
        </p:txBody>
      </p:sp>
      <p:sp>
        <p:nvSpPr>
          <p:cNvPr id="31" name="矩形 30"/>
          <p:cNvSpPr>
            <a:spLocks noChangeArrowheads="1"/>
          </p:cNvSpPr>
          <p:nvPr/>
        </p:nvSpPr>
        <p:spPr bwMode="auto">
          <a:xfrm>
            <a:off x="7496016" y="4280536"/>
            <a:ext cx="28448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3366FF"/>
                </a:solidFill>
              </a:rPr>
              <a:t>0</a:t>
            </a:r>
          </a:p>
        </p:txBody>
      </p:sp>
      <p:grpSp>
        <p:nvGrpSpPr>
          <p:cNvPr id="32" name="组合 31"/>
          <p:cNvGrpSpPr/>
          <p:nvPr/>
        </p:nvGrpSpPr>
        <p:grpSpPr bwMode="auto">
          <a:xfrm>
            <a:off x="8415655" y="2891473"/>
            <a:ext cx="620712" cy="1411288"/>
            <a:chOff x="8466965" y="3220133"/>
            <a:chExt cx="620077" cy="1412460"/>
          </a:xfrm>
        </p:grpSpPr>
        <p:pic>
          <p:nvPicPr>
            <p:cNvPr id="111653" name="图片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88415" y="3220133"/>
              <a:ext cx="598627" cy="119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1654" name="直接连接符 33"/>
            <p:cNvCxnSpPr>
              <a:cxnSpLocks noChangeShapeType="1"/>
            </p:cNvCxnSpPr>
            <p:nvPr/>
          </p:nvCxnSpPr>
          <p:spPr bwMode="auto">
            <a:xfrm flipV="1">
              <a:off x="8466965" y="4626889"/>
              <a:ext cx="286056" cy="912"/>
            </a:xfrm>
            <a:prstGeom prst="line">
              <a:avLst/>
            </a:prstGeom>
            <a:noFill/>
            <a:ln w="28575" algn="ctr">
              <a:solidFill>
                <a:srgbClr val="3333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655" name="直接连接符 34"/>
            <p:cNvCxnSpPr>
              <a:cxnSpLocks noChangeShapeType="1"/>
            </p:cNvCxnSpPr>
            <p:nvPr/>
          </p:nvCxnSpPr>
          <p:spPr bwMode="auto">
            <a:xfrm flipV="1">
              <a:off x="8742004" y="4393765"/>
              <a:ext cx="4480" cy="238828"/>
            </a:xfrm>
            <a:prstGeom prst="line">
              <a:avLst/>
            </a:prstGeom>
            <a:noFill/>
            <a:ln w="28575" algn="ctr">
              <a:solidFill>
                <a:srgbClr val="3333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656" name="直接连接符 44"/>
            <p:cNvCxnSpPr/>
            <p:nvPr/>
          </p:nvCxnSpPr>
          <p:spPr bwMode="auto">
            <a:xfrm rot="10800000">
              <a:off x="8727145" y="4063802"/>
              <a:ext cx="237988" cy="184664"/>
            </a:xfrm>
            <a:prstGeom prst="curvedConnector3">
              <a:avLst>
                <a:gd name="adj1" fmla="val -2000"/>
              </a:avLst>
            </a:prstGeom>
            <a:noFill/>
            <a:ln w="28575" algn="ctr">
              <a:solidFill>
                <a:srgbClr val="3333FF"/>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6" name="组合 35"/>
          <p:cNvGrpSpPr/>
          <p:nvPr/>
        </p:nvGrpSpPr>
        <p:grpSpPr bwMode="auto">
          <a:xfrm>
            <a:off x="8410575" y="4299586"/>
            <a:ext cx="596900" cy="1482725"/>
            <a:chOff x="8364824" y="5071239"/>
            <a:chExt cx="596483" cy="1482665"/>
          </a:xfrm>
        </p:grpSpPr>
        <p:pic>
          <p:nvPicPr>
            <p:cNvPr id="111649" name="图片 3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364824" y="5408656"/>
              <a:ext cx="596483" cy="1145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1650" name="直接连接符 37"/>
            <p:cNvCxnSpPr>
              <a:cxnSpLocks noChangeShapeType="1"/>
            </p:cNvCxnSpPr>
            <p:nvPr/>
          </p:nvCxnSpPr>
          <p:spPr bwMode="auto">
            <a:xfrm flipV="1">
              <a:off x="8405208" y="5071239"/>
              <a:ext cx="242699" cy="11856"/>
            </a:xfrm>
            <a:prstGeom prst="line">
              <a:avLst/>
            </a:prstGeom>
            <a:noFill/>
            <a:ln w="28575" algn="ctr">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651" name="直接连接符 38"/>
            <p:cNvCxnSpPr/>
            <p:nvPr/>
          </p:nvCxnSpPr>
          <p:spPr bwMode="auto">
            <a:xfrm>
              <a:off x="8647907" y="5089213"/>
              <a:ext cx="0" cy="320069"/>
            </a:xfrm>
            <a:prstGeom prst="line">
              <a:avLst/>
            </a:prstGeom>
            <a:noFill/>
            <a:ln w="28575" algn="ctr">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652" name="直接连接符 59"/>
            <p:cNvCxnSpPr/>
            <p:nvPr/>
          </p:nvCxnSpPr>
          <p:spPr bwMode="auto">
            <a:xfrm rot="10800000" flipV="1">
              <a:off x="8695744" y="5537738"/>
              <a:ext cx="217046" cy="158640"/>
            </a:xfrm>
            <a:prstGeom prst="curvedConnector3">
              <a:avLst>
                <a:gd name="adj1" fmla="val 2486"/>
              </a:avLst>
            </a:prstGeom>
            <a:noFill/>
            <a:ln w="28575" algn="ctr">
              <a:solidFill>
                <a:srgbClr val="0000FF"/>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2" name="矩形 21"/>
          <p:cNvSpPr>
            <a:spLocks noChangeArrowheads="1"/>
          </p:cNvSpPr>
          <p:nvPr/>
        </p:nvSpPr>
        <p:spPr bwMode="auto">
          <a:xfrm>
            <a:off x="7807325" y="4755516"/>
            <a:ext cx="1111250" cy="456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zh-CN" altLang="en-US" sz="1400" b="1">
                <a:solidFill>
                  <a:srgbClr val="3366FF"/>
                </a:solidFill>
              </a:rPr>
              <a:t>outside</a:t>
            </a:r>
            <a:endParaRPr lang="en-US" altLang="zh-CN" sz="2800" b="1">
              <a:solidFill>
                <a:srgbClr val="3366FF"/>
              </a:solidFill>
            </a:endParaRPr>
          </a:p>
          <a:p>
            <a:pPr eaLnBrk="1" hangingPunct="1">
              <a:lnSpc>
                <a:spcPct val="85000"/>
              </a:lnSpc>
            </a:pPr>
            <a:r>
              <a:rPr lang="zh-CN" altLang="en-US" sz="1400" b="1">
                <a:solidFill>
                  <a:srgbClr val="3366FF"/>
                </a:solidFill>
              </a:rPr>
              <a:t>Enter 0</a:t>
            </a:r>
          </a:p>
        </p:txBody>
      </p:sp>
      <p:sp>
        <p:nvSpPr>
          <p:cNvPr id="41" name="矩形 40"/>
          <p:cNvSpPr/>
          <p:nvPr/>
        </p:nvSpPr>
        <p:spPr>
          <a:xfrm>
            <a:off x="254000" y="4807268"/>
            <a:ext cx="1625600" cy="590550"/>
          </a:xfrm>
          <a:prstGeom prst="rect">
            <a:avLst/>
          </a:prstGeom>
          <a:noFill/>
        </p:spPr>
        <p:txBody>
          <a:bodyPr lIns="0" tIns="36000" rIns="0" bIns="0" anchor="b">
            <a:spAutoFit/>
          </a:bodyPr>
          <a:lstStyle/>
          <a:p>
            <a:pPr algn="ctr" eaLnBrk="1" hangingPunct="1">
              <a:lnSpc>
                <a:spcPct val="75000"/>
              </a:lnSpc>
              <a:defRPr/>
            </a:pPr>
            <a:r>
              <a:rPr lang="zh-CN" altLang="en-US" sz="1200" b="1" kern="0" dirty="0">
                <a:solidFill>
                  <a:srgbClr val="FF00FF"/>
                </a:solidFill>
                <a:cs typeface="Times New Roman" panose="02020603050405020304" pitchFamily="18" charset="0"/>
              </a:rPr>
              <a:t>Example: latch bit of P3.2 line</a:t>
            </a:r>
            <a:endParaRPr lang="en-US" altLang="zh-CN" sz="2400" b="1" dirty="0">
              <a:solidFill>
                <a:srgbClr val="FF00FF"/>
              </a:solidFill>
              <a:ea typeface="宋体" panose="02010600030101010101" pitchFamily="2" charset="-122"/>
              <a:cs typeface="Times New Roman" panose="02020603050405020304" pitchFamily="18" charset="0"/>
            </a:endParaRPr>
          </a:p>
        </p:txBody>
      </p:sp>
      <p:sp>
        <p:nvSpPr>
          <p:cNvPr id="42" name="矩形 41"/>
          <p:cNvSpPr/>
          <p:nvPr/>
        </p:nvSpPr>
        <p:spPr>
          <a:xfrm>
            <a:off x="1953577" y="5198746"/>
            <a:ext cx="3157538" cy="219710"/>
          </a:xfrm>
          <a:prstGeom prst="rect">
            <a:avLst/>
          </a:prstGeom>
          <a:noFill/>
        </p:spPr>
        <p:txBody>
          <a:bodyPr lIns="0" tIns="36000" rIns="0" bIns="0" anchor="b">
            <a:spAutoFit/>
          </a:bodyPr>
          <a:lstStyle/>
          <a:p>
            <a:pPr algn="ctr" eaLnBrk="1" hangingPunct="1">
              <a:lnSpc>
                <a:spcPct val="75000"/>
              </a:lnSpc>
              <a:defRPr/>
            </a:pPr>
            <a:r>
              <a:rPr lang="en-US" altLang="zh-CN" sz="1600" b="1" kern="0" dirty="0">
                <a:solidFill>
                  <a:srgbClr val="00B050"/>
                </a:solidFill>
                <a:cs typeface="Times New Roman" panose="02020603050405020304" pitchFamily="18" charset="0"/>
              </a:rPr>
              <a:t>CPU reads pin status data</a:t>
            </a:r>
            <a:endParaRPr lang="en-US" altLang="zh-CN" sz="1600" b="1" kern="0" dirty="0">
              <a:solidFill>
                <a:srgbClr val="00B050"/>
              </a:solidFill>
              <a:ea typeface="宋体" panose="02010600030101010101" pitchFamily="2" charset="-122"/>
              <a:cs typeface="Times New Roman" panose="02020603050405020304" pitchFamily="18" charset="0"/>
            </a:endParaRPr>
          </a:p>
        </p:txBody>
      </p:sp>
      <p:sp>
        <p:nvSpPr>
          <p:cNvPr id="43" name="矩形 42"/>
          <p:cNvSpPr>
            <a:spLocks noChangeArrowheads="1"/>
          </p:cNvSpPr>
          <p:nvPr/>
        </p:nvSpPr>
        <p:spPr bwMode="auto">
          <a:xfrm>
            <a:off x="5155248" y="4714558"/>
            <a:ext cx="42037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FF0000"/>
                </a:solidFill>
              </a:rPr>
              <a:t>off</a:t>
            </a:r>
          </a:p>
        </p:txBody>
      </p:sp>
      <p:sp>
        <p:nvSpPr>
          <p:cNvPr id="59" name="矩形 58"/>
          <p:cNvSpPr>
            <a:spLocks noChangeArrowheads="1"/>
          </p:cNvSpPr>
          <p:nvPr/>
        </p:nvSpPr>
        <p:spPr bwMode="auto">
          <a:xfrm>
            <a:off x="6011704" y="3875723"/>
            <a:ext cx="28448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3366FF"/>
                </a:solidFill>
              </a:rPr>
              <a:t>0</a:t>
            </a:r>
          </a:p>
        </p:txBody>
      </p:sp>
      <p:sp>
        <p:nvSpPr>
          <p:cNvPr id="3" name="灯片编号占位符 2"/>
          <p:cNvSpPr>
            <a:spLocks noGrp="1"/>
          </p:cNvSpPr>
          <p:nvPr>
            <p:ph type="sldNum" sz="quarter" idx="12"/>
          </p:nvPr>
        </p:nvSpPr>
        <p:spPr/>
        <p:txBody>
          <a:bodyPr/>
          <a:lstStyle/>
          <a:p>
            <a:fld id="{22E77DEE-32E4-4009-988B-F2758F7B8AC2}" type="slidenum">
              <a:rPr lang="zh-CN" altLang="en-US" smtClean="0"/>
              <a:t>60</a:t>
            </a:fld>
            <a:endParaRPr lang="zh-CN" altLang="en-US"/>
          </a:p>
        </p:txBody>
      </p:sp>
      <p:sp>
        <p:nvSpPr>
          <p:cNvPr id="9" name="文本框 8"/>
          <p:cNvSpPr txBox="1"/>
          <p:nvPr/>
        </p:nvSpPr>
        <p:spPr>
          <a:xfrm>
            <a:off x="-30480" y="3797300"/>
            <a:ext cx="1527810" cy="337185"/>
          </a:xfrm>
          <a:prstGeom prst="rect">
            <a:avLst/>
          </a:prstGeom>
        </p:spPr>
        <p:txBody>
          <a:bodyPr wrap="square">
            <a:spAutoFit/>
          </a:bodyPr>
          <a:lstStyle/>
          <a:p>
            <a:r>
              <a:rPr lang="en-US" altLang="zh-CN" sz="1600"/>
              <a:t>Port Data Latch</a:t>
            </a:r>
          </a:p>
        </p:txBody>
      </p:sp>
      <p:sp>
        <p:nvSpPr>
          <p:cNvPr id="8" name="文本框 7"/>
          <p:cNvSpPr txBox="1"/>
          <p:nvPr/>
        </p:nvSpPr>
        <p:spPr>
          <a:xfrm>
            <a:off x="2134870" y="3944620"/>
            <a:ext cx="1388745" cy="583565"/>
          </a:xfrm>
          <a:prstGeom prst="rect">
            <a:avLst/>
          </a:prstGeom>
          <a:noFill/>
        </p:spPr>
        <p:txBody>
          <a:bodyPr wrap="square" rtlCol="0">
            <a:spAutoFit/>
          </a:bodyPr>
          <a:lstStyle/>
          <a:p>
            <a:r>
              <a:rPr lang="en-US" altLang="zh-CN" sz="1600"/>
              <a:t>2 CPU clock</a:t>
            </a:r>
          </a:p>
          <a:p>
            <a:r>
              <a:rPr lang="en-US" altLang="zh-CN" sz="1600"/>
              <a:t>delays</a:t>
            </a:r>
          </a:p>
        </p:txBody>
      </p:sp>
      <p:sp>
        <p:nvSpPr>
          <p:cNvPr id="4" name="文本框 3"/>
          <p:cNvSpPr txBox="1"/>
          <p:nvPr/>
        </p:nvSpPr>
        <p:spPr>
          <a:xfrm>
            <a:off x="2808605" y="5567045"/>
            <a:ext cx="3048000" cy="368300"/>
          </a:xfrm>
          <a:prstGeom prst="rect">
            <a:avLst/>
          </a:prstGeom>
          <a:noFill/>
        </p:spPr>
        <p:txBody>
          <a:bodyPr wrap="square" rtlCol="0">
            <a:spAutoFit/>
          </a:bodyPr>
          <a:lstStyle/>
          <a:p>
            <a:r>
              <a:rPr lang="en-US" altLang="zh-CN"/>
              <a:t>input data </a:t>
            </a:r>
          </a:p>
        </p:txBody>
      </p:sp>
      <p:sp>
        <p:nvSpPr>
          <p:cNvPr id="5" name="文本框 4"/>
          <p:cNvSpPr txBox="1"/>
          <p:nvPr/>
        </p:nvSpPr>
        <p:spPr>
          <a:xfrm>
            <a:off x="5974080" y="5935345"/>
            <a:ext cx="2802890" cy="337185"/>
          </a:xfrm>
          <a:prstGeom prst="rect">
            <a:avLst/>
          </a:prstGeom>
        </p:spPr>
        <p:txBody>
          <a:bodyPr wrap="square">
            <a:spAutoFit/>
          </a:bodyPr>
          <a:lstStyle/>
          <a:p>
            <a:r>
              <a:rPr lang="en-US" altLang="zh-CN" sz="1600"/>
              <a:t>Interference Suppression Filter</a:t>
            </a:r>
          </a:p>
        </p:txBody>
      </p:sp>
      <p:sp>
        <p:nvSpPr>
          <p:cNvPr id="10" name="文本框 9"/>
          <p:cNvSpPr txBox="1"/>
          <p:nvPr/>
        </p:nvSpPr>
        <p:spPr>
          <a:xfrm>
            <a:off x="7672705" y="4547235"/>
            <a:ext cx="3048000" cy="368300"/>
          </a:xfrm>
          <a:prstGeom prst="rect">
            <a:avLst/>
          </a:prstGeom>
          <a:noFill/>
        </p:spPr>
        <p:txBody>
          <a:bodyPr wrap="square" rtlCol="0">
            <a:spAutoFit/>
          </a:bodyPr>
          <a:lstStyle/>
          <a:p>
            <a:r>
              <a:rPr lang="en-US" altLang="zh-CN"/>
              <a:t>Port Pin</a:t>
            </a:r>
          </a:p>
        </p:txBody>
      </p:sp>
      <p:sp>
        <p:nvSpPr>
          <p:cNvPr id="26" name="文本框 25"/>
          <p:cNvSpPr txBox="1"/>
          <p:nvPr/>
        </p:nvSpPr>
        <p:spPr>
          <a:xfrm>
            <a:off x="209550" y="5814060"/>
            <a:ext cx="5925820" cy="583565"/>
          </a:xfrm>
          <a:prstGeom prst="rect">
            <a:avLst/>
          </a:prstGeom>
          <a:noFill/>
        </p:spPr>
        <p:txBody>
          <a:bodyPr wrap="square" rtlCol="0">
            <a:spAutoFit/>
          </a:bodyPr>
          <a:lstStyle/>
          <a:p>
            <a:r>
              <a:rPr lang="en-US" altLang="zh-CN" sz="1600"/>
              <a:t>Keyboard interface circuit </a:t>
            </a:r>
            <a:r>
              <a:rPr lang="en-US" altLang="zh-CN" sz="1600">
                <a:solidFill>
                  <a:srgbClr val="3366FF"/>
                </a:solidFill>
              </a:rPr>
              <a:t>(with current-limiting resistor) commonly operates in quasi-dual-port mode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3"/>
          <p:cNvSpPr>
            <a:spLocks noGrp="1" noChangeArrowheads="1"/>
          </p:cNvSpPr>
          <p:nvPr>
            <p:ph type="body" idx="1"/>
          </p:nvPr>
        </p:nvSpPr>
        <p:spPr>
          <a:xfrm>
            <a:off x="4051935" y="1253490"/>
            <a:ext cx="5019040" cy="790575"/>
          </a:xfrm>
          <a:solidFill>
            <a:schemeClr val="bg1"/>
          </a:solidFill>
        </p:spPr>
        <p:txBody>
          <a:bodyPr>
            <a:normAutofit/>
          </a:bodyPr>
          <a:lstStyle/>
          <a:p>
            <a:pPr eaLnBrk="1" hangingPunct="1">
              <a:lnSpc>
                <a:spcPct val="80000"/>
              </a:lnSpc>
              <a:buFontTx/>
              <a:buNone/>
            </a:pPr>
            <a:r>
              <a:rPr lang="zh-CN" altLang="en-US" sz="1300" dirty="0"/>
              <a:t>The programming learning platform implements matrix keyboard key scanning and displays the results on digital LED.</a:t>
            </a:r>
            <a:endParaRPr lang="zh-CN" altLang="en-US" sz="2600" dirty="0"/>
          </a:p>
        </p:txBody>
      </p:sp>
      <p:sp>
        <p:nvSpPr>
          <p:cNvPr id="112643"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112644" name="Object 1"/>
          <p:cNvGraphicFramePr>
            <a:graphicFrameLocks noChangeAspect="1"/>
          </p:cNvGraphicFramePr>
          <p:nvPr/>
        </p:nvGraphicFramePr>
        <p:xfrm>
          <a:off x="725488" y="1193165"/>
          <a:ext cx="8345487" cy="5207000"/>
        </p:xfrm>
        <a:graphic>
          <a:graphicData uri="http://schemas.openxmlformats.org/presentationml/2006/ole">
            <mc:AlternateContent xmlns:mc="http://schemas.openxmlformats.org/markup-compatibility/2006">
              <mc:Choice xmlns:v="urn:schemas-microsoft-com:vml" Requires="v">
                <p:oleObj name="Visio" r:id="rId2" imgW="3505200" imgH="2167255" progId="Visio.Drawing.11">
                  <p:embed/>
                </p:oleObj>
              </mc:Choice>
              <mc:Fallback>
                <p:oleObj name="Visio" r:id="rId2" imgW="3505200" imgH="2167255"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5488" y="1193165"/>
                        <a:ext cx="8345487" cy="520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647" name="Rectangle 6"/>
          <p:cNvSpPr>
            <a:spLocks noGrp="1" noChangeArrowheads="1"/>
          </p:cNvSpPr>
          <p:nvPr>
            <p:ph type="title"/>
          </p:nvPr>
        </p:nvSpPr>
        <p:spPr>
          <a:xfrm>
            <a:off x="396241" y="288289"/>
            <a:ext cx="8284210" cy="504825"/>
          </a:xfrm>
        </p:spPr>
        <p:txBody>
          <a:bodyPr>
            <a:normAutofit fontScale="90000"/>
          </a:bodyPr>
          <a:lstStyle/>
          <a:p>
            <a:pPr eaLnBrk="1" hangingPunct="1"/>
            <a:r>
              <a:rPr lang="zh-CN" altLang="en-US" sz="3600" dirty="0">
                <a:latin typeface="+mn-lt"/>
                <a:ea typeface="隶书" panose="02010509060101010101" pitchFamily="49" charset="-122"/>
                <a:cs typeface="+mn-lt"/>
              </a:rPr>
              <a:t>Implementation of a simple keyboard interface</a:t>
            </a:r>
          </a:p>
        </p:txBody>
      </p:sp>
      <p:sp>
        <p:nvSpPr>
          <p:cNvPr id="112649" name="TextBox 3"/>
          <p:cNvSpPr txBox="1">
            <a:spLocks noChangeArrowheads="1"/>
          </p:cNvSpPr>
          <p:nvPr/>
        </p:nvSpPr>
        <p:spPr bwMode="auto">
          <a:xfrm rot="10800000">
            <a:off x="374047" y="1203960"/>
            <a:ext cx="400110" cy="505618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vert="eaVert">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FF0000"/>
                </a:solidFill>
                <a:latin typeface="Cambria Math" panose="02040503050406030204" pitchFamily="18" charset="0"/>
              </a:rPr>
              <a:t>MCU</a:t>
            </a:r>
            <a:endParaRPr lang="zh-CN" altLang="en-US" sz="2800" b="1" dirty="0">
              <a:solidFill>
                <a:srgbClr val="FF0000"/>
              </a:solidFill>
              <a:latin typeface="Cambria Math" panose="02040503050406030204" pitchFamily="18" charset="0"/>
              <a:ea typeface="黑体" panose="02010609060101010101" pitchFamily="49" charset="-122"/>
            </a:endParaRPr>
          </a:p>
        </p:txBody>
      </p:sp>
      <p:sp>
        <p:nvSpPr>
          <p:cNvPr id="5" name="矩形 4"/>
          <p:cNvSpPr>
            <a:spLocks noChangeArrowheads="1"/>
          </p:cNvSpPr>
          <p:nvPr/>
        </p:nvSpPr>
        <p:spPr bwMode="auto">
          <a:xfrm>
            <a:off x="1393825" y="1146810"/>
            <a:ext cx="1103313" cy="5170488"/>
          </a:xfrm>
          <a:prstGeom prst="rect">
            <a:avLst/>
          </a:prstGeom>
          <a:noFill/>
          <a:ln w="28575" algn="ctr">
            <a:solidFill>
              <a:srgbClr val="FF00FF"/>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 name="灯片编号占位符 1"/>
          <p:cNvSpPr>
            <a:spLocks noGrp="1"/>
          </p:cNvSpPr>
          <p:nvPr>
            <p:ph type="sldNum" sz="quarter" idx="12"/>
          </p:nvPr>
        </p:nvSpPr>
        <p:spPr/>
        <p:txBody>
          <a:bodyPr/>
          <a:lstStyle/>
          <a:p>
            <a:fld id="{22E77DEE-32E4-4009-988B-F2758F7B8AC2}" type="slidenum">
              <a:rPr lang="zh-CN" altLang="en-US" smtClean="0"/>
              <a:t>61</a:t>
            </a:fld>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8" name="Rectangle 5"/>
          <p:cNvSpPr>
            <a:spLocks noChangeArrowheads="1"/>
          </p:cNvSpPr>
          <p:nvPr/>
        </p:nvSpPr>
        <p:spPr bwMode="auto">
          <a:xfrm>
            <a:off x="0" y="1562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784388" name="Object 4"/>
          <p:cNvGraphicFramePr>
            <a:graphicFrameLocks noChangeAspect="1"/>
          </p:cNvGraphicFramePr>
          <p:nvPr/>
        </p:nvGraphicFramePr>
        <p:xfrm>
          <a:off x="2182366" y="736600"/>
          <a:ext cx="6902895" cy="5889625"/>
        </p:xfrm>
        <a:graphic>
          <a:graphicData uri="http://schemas.openxmlformats.org/presentationml/2006/ole">
            <mc:AlternateContent xmlns:mc="http://schemas.openxmlformats.org/markup-compatibility/2006">
              <mc:Choice xmlns:v="urn:schemas-microsoft-com:vml" Requires="v">
                <p:oleObj name="Visio" r:id="rId2" imgW="3689985" imgH="3152140" progId="Visio.Drawing.11">
                  <p:embed/>
                </p:oleObj>
              </mc:Choice>
              <mc:Fallback>
                <p:oleObj name="Visio" r:id="rId2" imgW="3689985" imgH="3152140" progId="Visio.Drawing.11">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2366" y="736600"/>
                        <a:ext cx="6902895" cy="5889625"/>
                      </a:xfrm>
                      <a:prstGeom prst="rect">
                        <a:avLst/>
                      </a:prstGeom>
                      <a:solidFill>
                        <a:schemeClr val="bg1"/>
                      </a:solidFill>
                      <a:ln>
                        <a:noFill/>
                      </a:ln>
                    </p:spPr>
                  </p:pic>
                </p:oleObj>
              </mc:Fallback>
            </mc:AlternateContent>
          </a:graphicData>
        </a:graphic>
      </p:graphicFrame>
      <p:sp>
        <p:nvSpPr>
          <p:cNvPr id="784387" name="Rectangle 3"/>
          <p:cNvSpPr>
            <a:spLocks noGrp="1" noChangeArrowheads="1"/>
          </p:cNvSpPr>
          <p:nvPr>
            <p:ph type="body" idx="1"/>
          </p:nvPr>
        </p:nvSpPr>
        <p:spPr>
          <a:xfrm>
            <a:off x="308928" y="1626236"/>
            <a:ext cx="2133600" cy="1802764"/>
          </a:xfrm>
        </p:spPr>
        <p:txBody>
          <a:bodyPr lIns="36000" tIns="0" rIns="36000" bIns="0"/>
          <a:lstStyle/>
          <a:p>
            <a:pPr marL="0" indent="0" eaLnBrk="1" hangingPunct="1">
              <a:buFontTx/>
              <a:buNone/>
            </a:pPr>
            <a:r>
              <a:rPr lang="zh-CN" altLang="en-US" sz="1600" dirty="0"/>
              <a:t>For example, the 8 I/O lines of port P2 can be arranged in a 4×4 matrix to connect 16 buttons, as shown in the figure.</a:t>
            </a:r>
          </a:p>
        </p:txBody>
      </p:sp>
      <p:sp>
        <p:nvSpPr>
          <p:cNvPr id="784390" name="Rectangle 6"/>
          <p:cNvSpPr>
            <a:spLocks noChangeArrowheads="1"/>
          </p:cNvSpPr>
          <p:nvPr/>
        </p:nvSpPr>
        <p:spPr bwMode="auto">
          <a:xfrm>
            <a:off x="177203" y="4534615"/>
            <a:ext cx="239712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800000"/>
                </a:solidFill>
              </a:rPr>
              <a:t>4×4 matrix keyboard circuit</a:t>
            </a:r>
          </a:p>
        </p:txBody>
      </p:sp>
      <p:grpSp>
        <p:nvGrpSpPr>
          <p:cNvPr id="5" name="组合 4"/>
          <p:cNvGrpSpPr/>
          <p:nvPr/>
        </p:nvGrpSpPr>
        <p:grpSpPr bwMode="auto">
          <a:xfrm>
            <a:off x="6691313" y="2438400"/>
            <a:ext cx="377825" cy="3468688"/>
            <a:chOff x="6691084" y="2438399"/>
            <a:chExt cx="377373" cy="3468913"/>
          </a:xfrm>
        </p:grpSpPr>
        <p:sp>
          <p:nvSpPr>
            <p:cNvPr id="113674" name="矩形 2"/>
            <p:cNvSpPr>
              <a:spLocks noChangeArrowheads="1"/>
            </p:cNvSpPr>
            <p:nvPr/>
          </p:nvSpPr>
          <p:spPr bwMode="auto">
            <a:xfrm>
              <a:off x="6691086" y="2438399"/>
              <a:ext cx="377371" cy="130629"/>
            </a:xfrm>
            <a:prstGeom prst="rect">
              <a:avLst/>
            </a:prstGeom>
            <a:solidFill>
              <a:srgbClr val="FFFFFF"/>
            </a:solidFill>
            <a:ln w="28575" algn="ctr">
              <a:solidFill>
                <a:srgbClr val="FF00FF"/>
              </a:solidFill>
              <a:round/>
            </a:ln>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675" name="矩形 9"/>
            <p:cNvSpPr>
              <a:spLocks noChangeArrowheads="1"/>
            </p:cNvSpPr>
            <p:nvPr/>
          </p:nvSpPr>
          <p:spPr bwMode="auto">
            <a:xfrm>
              <a:off x="6691086" y="3004456"/>
              <a:ext cx="377371" cy="130629"/>
            </a:xfrm>
            <a:prstGeom prst="rect">
              <a:avLst/>
            </a:prstGeom>
            <a:solidFill>
              <a:srgbClr val="FFFFFF"/>
            </a:solidFill>
            <a:ln w="28575" algn="ctr">
              <a:solidFill>
                <a:srgbClr val="FF00FF"/>
              </a:solidFill>
              <a:round/>
            </a:ln>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676" name="矩形 10"/>
            <p:cNvSpPr>
              <a:spLocks noChangeArrowheads="1"/>
            </p:cNvSpPr>
            <p:nvPr/>
          </p:nvSpPr>
          <p:spPr bwMode="auto">
            <a:xfrm>
              <a:off x="6691086" y="3614056"/>
              <a:ext cx="377371" cy="130629"/>
            </a:xfrm>
            <a:prstGeom prst="rect">
              <a:avLst/>
            </a:prstGeom>
            <a:solidFill>
              <a:srgbClr val="FFFFFF"/>
            </a:solidFill>
            <a:ln w="28575" algn="ctr">
              <a:solidFill>
                <a:srgbClr val="FF00FF"/>
              </a:solidFill>
              <a:round/>
            </a:ln>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677" name="矩形 11"/>
            <p:cNvSpPr>
              <a:spLocks noChangeArrowheads="1"/>
            </p:cNvSpPr>
            <p:nvPr/>
          </p:nvSpPr>
          <p:spPr bwMode="auto">
            <a:xfrm>
              <a:off x="6691086" y="4122056"/>
              <a:ext cx="377371" cy="130629"/>
            </a:xfrm>
            <a:prstGeom prst="rect">
              <a:avLst/>
            </a:prstGeom>
            <a:solidFill>
              <a:srgbClr val="FFFFFF"/>
            </a:solidFill>
            <a:ln w="28575" algn="ctr">
              <a:solidFill>
                <a:srgbClr val="FF00FF"/>
              </a:solidFill>
              <a:round/>
            </a:ln>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678" name="矩形 12"/>
            <p:cNvSpPr>
              <a:spLocks noChangeArrowheads="1"/>
            </p:cNvSpPr>
            <p:nvPr/>
          </p:nvSpPr>
          <p:spPr bwMode="auto">
            <a:xfrm>
              <a:off x="6691086" y="4688112"/>
              <a:ext cx="377371" cy="130629"/>
            </a:xfrm>
            <a:prstGeom prst="rect">
              <a:avLst/>
            </a:prstGeom>
            <a:solidFill>
              <a:srgbClr val="FFFFFF"/>
            </a:solidFill>
            <a:ln w="28575" algn="ctr">
              <a:solidFill>
                <a:srgbClr val="FF00FF"/>
              </a:solidFill>
              <a:round/>
            </a:ln>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679" name="矩形 13"/>
            <p:cNvSpPr>
              <a:spLocks noChangeArrowheads="1"/>
            </p:cNvSpPr>
            <p:nvPr/>
          </p:nvSpPr>
          <p:spPr bwMode="auto">
            <a:xfrm>
              <a:off x="6691086" y="5050970"/>
              <a:ext cx="377371" cy="130629"/>
            </a:xfrm>
            <a:prstGeom prst="rect">
              <a:avLst/>
            </a:prstGeom>
            <a:solidFill>
              <a:srgbClr val="FFFFFF"/>
            </a:solidFill>
            <a:ln w="28575" algn="ctr">
              <a:solidFill>
                <a:srgbClr val="FF00FF"/>
              </a:solidFill>
              <a:round/>
            </a:ln>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680" name="矩形 14"/>
            <p:cNvSpPr>
              <a:spLocks noChangeArrowheads="1"/>
            </p:cNvSpPr>
            <p:nvPr/>
          </p:nvSpPr>
          <p:spPr bwMode="auto">
            <a:xfrm>
              <a:off x="6691085" y="5399312"/>
              <a:ext cx="377371" cy="130629"/>
            </a:xfrm>
            <a:prstGeom prst="rect">
              <a:avLst/>
            </a:prstGeom>
            <a:solidFill>
              <a:srgbClr val="FFFFFF"/>
            </a:solidFill>
            <a:ln w="28575" algn="ctr">
              <a:solidFill>
                <a:srgbClr val="FF00FF"/>
              </a:solidFill>
              <a:round/>
            </a:ln>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681" name="矩形 15"/>
            <p:cNvSpPr>
              <a:spLocks noChangeArrowheads="1"/>
            </p:cNvSpPr>
            <p:nvPr/>
          </p:nvSpPr>
          <p:spPr bwMode="auto">
            <a:xfrm>
              <a:off x="6691084" y="5776683"/>
              <a:ext cx="377371" cy="130629"/>
            </a:xfrm>
            <a:prstGeom prst="rect">
              <a:avLst/>
            </a:prstGeom>
            <a:solidFill>
              <a:srgbClr val="FFFFFF"/>
            </a:solidFill>
            <a:ln w="28575" algn="ctr">
              <a:solidFill>
                <a:srgbClr val="FF00FF"/>
              </a:solidFill>
              <a:round/>
            </a:ln>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17" name="Rectangle 3"/>
          <p:cNvSpPr txBox="1">
            <a:spLocks noChangeArrowheads="1"/>
          </p:cNvSpPr>
          <p:nvPr/>
        </p:nvSpPr>
        <p:spPr bwMode="auto">
          <a:xfrm>
            <a:off x="6051550" y="5943600"/>
            <a:ext cx="1174750"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lstStyle>
            <a:lvl1pPr marL="342900" indent="-342900" algn="l" rtl="0" fontAlgn="base">
              <a:lnSpc>
                <a:spcPct val="114000"/>
              </a:lnSpc>
              <a:spcBef>
                <a:spcPct val="20000"/>
              </a:spcBef>
              <a:spcAft>
                <a:spcPts val="600"/>
              </a:spcAft>
              <a:buBlip>
                <a:blip r:embed="rId4"/>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5"/>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eaLnBrk="1" hangingPunct="1">
              <a:buFontTx/>
              <a:buNone/>
              <a:defRPr/>
            </a:pPr>
            <a:r>
              <a:rPr lang="en-US" altLang="zh-CN" sz="1000" kern="0" dirty="0">
                <a:solidFill>
                  <a:srgbClr val="FF00FF"/>
                </a:solidFill>
              </a:rPr>
              <a:t>300Ω×8</a:t>
            </a:r>
            <a:endParaRPr lang="zh-CN" altLang="en-US" sz="2000" kern="0" dirty="0">
              <a:solidFill>
                <a:srgbClr val="FF00FF"/>
              </a:solidFill>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62</a:t>
            </a:fld>
            <a:endParaRPr lang="zh-CN" altLang="en-US"/>
          </a:p>
        </p:txBody>
      </p:sp>
      <p:sp>
        <p:nvSpPr>
          <p:cNvPr id="112647" name="Rectangle 6"/>
          <p:cNvSpPr>
            <a:spLocks noGrp="1" noChangeArrowheads="1"/>
          </p:cNvSpPr>
          <p:nvPr/>
        </p:nvSpPr>
        <p:spPr>
          <a:xfrm>
            <a:off x="421641" y="199708"/>
            <a:ext cx="8258810" cy="504825"/>
          </a:xfrm>
          <a:prstGeom prst="rect">
            <a:avLst/>
          </a:prstGeom>
        </p:spPr>
        <p:txBody>
          <a:bodyPr vert="horz" lIns="91440" tIns="45720" rIns="91440" bIns="45720" rtlCol="0" anchor="b"/>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eaLnBrk="1" hangingPunct="1"/>
            <a:r>
              <a:rPr lang="zh-CN" altLang="en-US" sz="3200" dirty="0">
                <a:latin typeface="+mn-lt"/>
                <a:ea typeface="隶书" panose="02010509060101010101" pitchFamily="49" charset="-122"/>
                <a:cs typeface="+mn-lt"/>
              </a:rPr>
              <a:t>Implementation of a simple keyboard interface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标题 2"/>
          <p:cNvSpPr>
            <a:spLocks noGrp="1" noChangeArrowheads="1"/>
          </p:cNvSpPr>
          <p:nvPr>
            <p:ph type="title"/>
          </p:nvPr>
        </p:nvSpPr>
        <p:spPr>
          <a:xfrm>
            <a:off x="725488" y="802958"/>
            <a:ext cx="8229600" cy="504825"/>
          </a:xfrm>
        </p:spPr>
        <p:txBody>
          <a:bodyPr>
            <a:noAutofit/>
          </a:bodyPr>
          <a:lstStyle/>
          <a:p>
            <a:pPr eaLnBrk="1" hangingPunct="1"/>
            <a:r>
              <a:rPr kumimoji="1" lang="en-US" altLang="zh-CN" sz="4000">
                <a:solidFill>
                  <a:srgbClr val="FF0000"/>
                </a:solidFill>
              </a:rPr>
              <a:t>(3) Pull current mode and push current mode</a:t>
            </a:r>
          </a:p>
        </p:txBody>
      </p:sp>
      <p:sp>
        <p:nvSpPr>
          <p:cNvPr id="533507" name="Rectangle 3"/>
          <p:cNvSpPr>
            <a:spLocks noGrp="1" noChangeArrowheads="1"/>
          </p:cNvSpPr>
          <p:nvPr>
            <p:ph idx="1"/>
          </p:nvPr>
        </p:nvSpPr>
        <p:spPr>
          <a:xfrm>
            <a:off x="180658" y="1215072"/>
            <a:ext cx="8848725" cy="1260475"/>
          </a:xfrm>
        </p:spPr>
        <p:txBody>
          <a:bodyPr>
            <a:noAutofit/>
          </a:bodyPr>
          <a:lstStyle/>
          <a:p>
            <a:pPr marL="266700" indent="-266700" eaLnBrk="1" hangingPunct="1">
              <a:lnSpc>
                <a:spcPct val="101000"/>
              </a:lnSpc>
              <a:spcBef>
                <a:spcPct val="0"/>
              </a:spcBef>
            </a:pPr>
            <a:r>
              <a:rPr lang="zh-CN" altLang="en-US" sz="1800" dirty="0">
                <a:solidFill>
                  <a:srgbClr val="3366FF"/>
                </a:solidFill>
              </a:rPr>
              <a:t>If the matrix key scanning circuit lacks a current-limiting resistor, it may damage the I/O port. </a:t>
            </a:r>
            <a:r>
              <a:rPr lang="zh-CN" altLang="en-US" sz="1800" dirty="0"/>
              <a:t>This can be prevented by connecting the weak pull-up pins P2.0 and P2.4 to the key via a circuit. The configuration involves connecting the source of transistor T1 on P2.0 and the drain of transistor T4 on P2.4 to the key through the key and current-limiting resistor, while ensuring the output from P2.0 and P2.4 remains at a low voltage level.</a:t>
            </a:r>
          </a:p>
        </p:txBody>
      </p:sp>
      <p:sp>
        <p:nvSpPr>
          <p:cNvPr id="9" name="Rectangle 3"/>
          <p:cNvSpPr txBox="1">
            <a:spLocks noChangeArrowheads="1"/>
          </p:cNvSpPr>
          <p:nvPr/>
        </p:nvSpPr>
        <p:spPr bwMode="auto">
          <a:xfrm>
            <a:off x="319088" y="3883025"/>
            <a:ext cx="6089650" cy="232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eaLnBrk="1" hangingPunct="1">
              <a:lnSpc>
                <a:spcPct val="110000"/>
              </a:lnSpc>
              <a:spcBef>
                <a:spcPts val="0"/>
              </a:spcBef>
              <a:buFontTx/>
              <a:buNone/>
              <a:defRPr/>
            </a:pPr>
            <a:r>
              <a:rPr lang="zh-CN" altLang="en-US" sz="2000" kern="0" dirty="0"/>
              <a:t>If the current-limiting resistor is omitted, </a:t>
            </a:r>
            <a:r>
              <a:rPr lang="zh-CN" altLang="en-US" sz="2000" kern="0" dirty="0">
                <a:solidFill>
                  <a:srgbClr val="FF0000"/>
                </a:solidFill>
              </a:rPr>
              <a:t>it is equivalent to the T1 transistor at P2.0 and the T4 transistor at P2.4 being short-circuited to the power supplys positive and negative terminals simultaneously</a:t>
            </a:r>
            <a:r>
              <a:rPr lang="zh-CN" altLang="en-US" sz="2000" kern="0" dirty="0"/>
              <a:t>. This creates a high current that could damage the I/O port. Therefore, the two pins of the microcontroller should not be directly short-circuited.</a:t>
            </a:r>
          </a:p>
        </p:txBody>
      </p:sp>
      <p:pic>
        <p:nvPicPr>
          <p:cNvPr id="12" name="图片 1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26225" y="3694113"/>
            <a:ext cx="2144713"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3"/>
          <p:cNvSpPr txBox="1">
            <a:spLocks noChangeArrowheads="1"/>
          </p:cNvSpPr>
          <p:nvPr/>
        </p:nvSpPr>
        <p:spPr bwMode="auto">
          <a:xfrm>
            <a:off x="7451725" y="3946525"/>
            <a:ext cx="13954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algn="ctr" eaLnBrk="1" hangingPunct="1">
              <a:lnSpc>
                <a:spcPct val="85000"/>
              </a:lnSpc>
              <a:spcBef>
                <a:spcPts val="0"/>
              </a:spcBef>
              <a:buFontTx/>
              <a:buNone/>
              <a:defRPr/>
            </a:pPr>
            <a:r>
              <a:rPr lang="en-US" altLang="zh-CN" sz="1600" kern="0" dirty="0">
                <a:solidFill>
                  <a:srgbClr val="FF0000"/>
                </a:solidFill>
              </a:rPr>
              <a:t>T1 for P2.0 port</a:t>
            </a:r>
          </a:p>
        </p:txBody>
      </p:sp>
      <p:sp>
        <p:nvSpPr>
          <p:cNvPr id="16" name="Rectangle 3"/>
          <p:cNvSpPr txBox="1">
            <a:spLocks noChangeArrowheads="1"/>
          </p:cNvSpPr>
          <p:nvPr/>
        </p:nvSpPr>
        <p:spPr bwMode="auto">
          <a:xfrm>
            <a:off x="6689725" y="5838825"/>
            <a:ext cx="1535113"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algn="ctr" eaLnBrk="1" hangingPunct="1">
              <a:lnSpc>
                <a:spcPct val="85000"/>
              </a:lnSpc>
              <a:spcBef>
                <a:spcPts val="0"/>
              </a:spcBef>
              <a:buFontTx/>
              <a:buNone/>
              <a:defRPr/>
            </a:pPr>
            <a:r>
              <a:rPr lang="en-US" altLang="zh-CN" sz="1200" kern="0" dirty="0">
                <a:solidFill>
                  <a:srgbClr val="FF0000"/>
                </a:solidFill>
              </a:rPr>
              <a:t>T4 for P2.4 port</a:t>
            </a:r>
            <a:endParaRPr lang="en-US" altLang="zh-CN" sz="2400" kern="0" dirty="0"/>
          </a:p>
        </p:txBody>
      </p:sp>
      <p:sp>
        <p:nvSpPr>
          <p:cNvPr id="17" name="Rectangle 3"/>
          <p:cNvSpPr txBox="1">
            <a:spLocks noChangeArrowheads="1"/>
          </p:cNvSpPr>
          <p:nvPr/>
        </p:nvSpPr>
        <p:spPr bwMode="auto">
          <a:xfrm>
            <a:off x="7700010" y="4863148"/>
            <a:ext cx="738188" cy="32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eaLnBrk="1" hangingPunct="1">
              <a:lnSpc>
                <a:spcPct val="85000"/>
              </a:lnSpc>
              <a:spcBef>
                <a:spcPts val="0"/>
              </a:spcBef>
              <a:buFontTx/>
              <a:buNone/>
              <a:defRPr/>
            </a:pPr>
            <a:r>
              <a:rPr lang="zh-CN" altLang="en-US" sz="1400" kern="0" dirty="0">
                <a:solidFill>
                  <a:srgbClr val="FF00FF"/>
                </a:solidFill>
              </a:rPr>
              <a:t>key</a:t>
            </a:r>
          </a:p>
        </p:txBody>
      </p:sp>
      <p:sp>
        <p:nvSpPr>
          <p:cNvPr id="18" name="Rectangle 3"/>
          <p:cNvSpPr txBox="1">
            <a:spLocks noChangeArrowheads="1"/>
          </p:cNvSpPr>
          <p:nvPr/>
        </p:nvSpPr>
        <p:spPr bwMode="auto">
          <a:xfrm>
            <a:off x="6470650" y="4078288"/>
            <a:ext cx="388938" cy="315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eaLnBrk="1" hangingPunct="1">
              <a:lnSpc>
                <a:spcPct val="85000"/>
              </a:lnSpc>
              <a:spcBef>
                <a:spcPts val="0"/>
              </a:spcBef>
              <a:buFontTx/>
              <a:buNone/>
              <a:defRPr/>
            </a:pPr>
            <a:r>
              <a:rPr lang="en-US" altLang="zh-CN" sz="1600" kern="0" dirty="0">
                <a:solidFill>
                  <a:srgbClr val="FF0000"/>
                </a:solidFill>
              </a:rPr>
              <a:t>0</a:t>
            </a:r>
          </a:p>
        </p:txBody>
      </p:sp>
      <p:sp>
        <p:nvSpPr>
          <p:cNvPr id="19" name="Rectangle 3"/>
          <p:cNvSpPr txBox="1">
            <a:spLocks noChangeArrowheads="1"/>
          </p:cNvSpPr>
          <p:nvPr/>
        </p:nvSpPr>
        <p:spPr bwMode="auto">
          <a:xfrm>
            <a:off x="6575108" y="5443538"/>
            <a:ext cx="388937" cy="33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eaLnBrk="1" hangingPunct="1">
              <a:lnSpc>
                <a:spcPct val="85000"/>
              </a:lnSpc>
              <a:spcBef>
                <a:spcPts val="0"/>
              </a:spcBef>
              <a:buFontTx/>
              <a:buNone/>
              <a:defRPr/>
            </a:pPr>
            <a:r>
              <a:rPr lang="en-US" altLang="zh-CN" sz="1600" kern="0" dirty="0">
                <a:solidFill>
                  <a:srgbClr val="FF0000"/>
                </a:solidFill>
              </a:rPr>
              <a:t>1</a:t>
            </a:r>
          </a:p>
        </p:txBody>
      </p:sp>
      <p:cxnSp>
        <p:nvCxnSpPr>
          <p:cNvPr id="20" name="直接箭头连接符 19"/>
          <p:cNvCxnSpPr/>
          <p:nvPr/>
        </p:nvCxnSpPr>
        <p:spPr bwMode="auto">
          <a:xfrm flipH="1">
            <a:off x="6689725" y="3498850"/>
            <a:ext cx="609600" cy="674688"/>
          </a:xfrm>
          <a:prstGeom prst="straightConnector1">
            <a:avLst/>
          </a:prstGeom>
          <a:noFill/>
          <a:ln w="9525" algn="ctr">
            <a:solidFill>
              <a:srgbClr val="FF0000"/>
            </a:solidFill>
            <a:rou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Rectangle 3"/>
          <p:cNvSpPr txBox="1">
            <a:spLocks noChangeArrowheads="1"/>
          </p:cNvSpPr>
          <p:nvPr/>
        </p:nvSpPr>
        <p:spPr bwMode="auto">
          <a:xfrm>
            <a:off x="220663" y="2792095"/>
            <a:ext cx="8809037" cy="941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6700" indent="-266700" eaLnBrk="1" hangingPunct="1">
              <a:lnSpc>
                <a:spcPct val="101000"/>
              </a:lnSpc>
              <a:spcBef>
                <a:spcPts val="0"/>
              </a:spcBef>
              <a:defRPr/>
            </a:pPr>
            <a:r>
              <a:rPr lang="zh-CN" altLang="en-US" sz="2400" kern="0" dirty="0">
                <a:solidFill>
                  <a:srgbClr val="FF00FF"/>
                </a:solidFill>
              </a:rPr>
              <a:t>To read the status of P2.4 via the P2.0 port, the port must first output a 1. </a:t>
            </a:r>
            <a:r>
              <a:rPr lang="zh-CN" altLang="en-US" sz="2400" kern="0" dirty="0">
                <a:solidFill>
                  <a:srgbClr val="00B0F0"/>
                </a:solidFill>
              </a:rPr>
              <a:t>When the P2.0 port transitions from 0 (initial state) to 1, T1 will conduct for two clock cycles.</a:t>
            </a:r>
          </a:p>
        </p:txBody>
      </p:sp>
      <p:sp>
        <p:nvSpPr>
          <p:cNvPr id="22" name="Rectangle 3"/>
          <p:cNvSpPr txBox="1">
            <a:spLocks noChangeArrowheads="1"/>
          </p:cNvSpPr>
          <p:nvPr/>
        </p:nvSpPr>
        <p:spPr bwMode="auto">
          <a:xfrm>
            <a:off x="7259320" y="5372100"/>
            <a:ext cx="165608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eaLnBrk="1" hangingPunct="1">
              <a:lnSpc>
                <a:spcPct val="85000"/>
              </a:lnSpc>
              <a:spcBef>
                <a:spcPts val="0"/>
              </a:spcBef>
              <a:buFontTx/>
              <a:buNone/>
              <a:defRPr/>
            </a:pPr>
            <a:r>
              <a:rPr lang="zh-CN" altLang="en-US" sz="1200" kern="0" dirty="0">
                <a:solidFill>
                  <a:srgbClr val="FF00FF"/>
                </a:solidFill>
              </a:rPr>
              <a:t>current-limiting resistance</a:t>
            </a:r>
          </a:p>
        </p:txBody>
      </p:sp>
      <p:cxnSp>
        <p:nvCxnSpPr>
          <p:cNvPr id="23" name="直接箭头连接符 22"/>
          <p:cNvCxnSpPr>
            <a:cxnSpLocks noChangeShapeType="1"/>
          </p:cNvCxnSpPr>
          <p:nvPr/>
        </p:nvCxnSpPr>
        <p:spPr bwMode="auto">
          <a:xfrm flipV="1">
            <a:off x="8031163" y="5241925"/>
            <a:ext cx="76200" cy="198438"/>
          </a:xfrm>
          <a:prstGeom prst="straightConnector1">
            <a:avLst/>
          </a:prstGeom>
          <a:noFill/>
          <a:ln w="9525" algn="ctr">
            <a:solidFill>
              <a:srgbClr val="FF00FF"/>
            </a:solidFill>
            <a:rou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接箭头连接符 23"/>
          <p:cNvCxnSpPr>
            <a:cxnSpLocks noChangeShapeType="1"/>
          </p:cNvCxnSpPr>
          <p:nvPr/>
        </p:nvCxnSpPr>
        <p:spPr bwMode="auto">
          <a:xfrm flipH="1" flipV="1">
            <a:off x="7635875" y="5287963"/>
            <a:ext cx="82550" cy="114300"/>
          </a:xfrm>
          <a:prstGeom prst="straightConnector1">
            <a:avLst/>
          </a:prstGeom>
          <a:noFill/>
          <a:ln w="9525" algn="ctr">
            <a:solidFill>
              <a:srgbClr val="FF00FF"/>
            </a:solidFill>
            <a:rou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灯片编号占位符 2"/>
          <p:cNvSpPr>
            <a:spLocks noGrp="1"/>
          </p:cNvSpPr>
          <p:nvPr>
            <p:ph type="sldNum" sz="quarter" idx="12"/>
          </p:nvPr>
        </p:nvSpPr>
        <p:spPr/>
        <p:txBody>
          <a:bodyPr/>
          <a:lstStyle/>
          <a:p>
            <a:fld id="{22E77DEE-32E4-4009-988B-F2758F7B8AC2}" type="slidenum">
              <a:rPr lang="zh-CN" altLang="en-US" smtClean="0"/>
              <a:t>63</a:t>
            </a:fld>
            <a:endParaRPr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标题 3"/>
          <p:cNvSpPr>
            <a:spLocks noGrp="1" noChangeArrowheads="1"/>
          </p:cNvSpPr>
          <p:nvPr>
            <p:ph type="title"/>
          </p:nvPr>
        </p:nvSpPr>
        <p:spPr>
          <a:xfrm>
            <a:off x="682625" y="552133"/>
            <a:ext cx="8229600" cy="504825"/>
          </a:xfrm>
        </p:spPr>
        <p:txBody>
          <a:bodyPr>
            <a:noAutofit/>
          </a:bodyPr>
          <a:lstStyle/>
          <a:p>
            <a:pPr eaLnBrk="1" hangingPunct="1"/>
            <a:r>
              <a:rPr lang="zh-CN" altLang="en-US" sz="3200" dirty="0">
                <a:solidFill>
                  <a:srgbClr val="FF0000"/>
                </a:solidFill>
                <a:latin typeface="+mn-lt"/>
                <a:cs typeface="+mn-lt"/>
              </a:rPr>
              <a:t>(2) Architecture of push-pull output (strong pull-up output) operating mode</a:t>
            </a:r>
          </a:p>
        </p:txBody>
      </p:sp>
      <p:sp>
        <p:nvSpPr>
          <p:cNvPr id="501763" name="Rectangle 3"/>
          <p:cNvSpPr>
            <a:spLocks noGrp="1" noChangeArrowheads="1"/>
          </p:cNvSpPr>
          <p:nvPr>
            <p:ph idx="1"/>
          </p:nvPr>
        </p:nvSpPr>
        <p:spPr>
          <a:xfrm>
            <a:off x="188913" y="1100546"/>
            <a:ext cx="8723312" cy="1273153"/>
          </a:xfrm>
        </p:spPr>
        <p:txBody>
          <a:bodyPr>
            <a:normAutofit fontScale="90000"/>
          </a:bodyPr>
          <a:lstStyle/>
          <a:p>
            <a:pPr marL="262255" lvl="1" indent="-262255" eaLnBrk="1" hangingPunct="1">
              <a:lnSpc>
                <a:spcPct val="114000"/>
              </a:lnSpc>
              <a:defRPr/>
            </a:pPr>
            <a:r>
              <a:rPr lang="zh-CN" altLang="en-US" dirty="0">
                <a:solidFill>
                  <a:srgbClr val="3366FF"/>
                </a:solidFill>
              </a:rPr>
              <a:t>The push-pull output can output 20mA pull current (also need to add current limiting resistor).</a:t>
            </a:r>
          </a:p>
          <a:p>
            <a:pPr marL="262255" lvl="1" indent="-262255" eaLnBrk="1" hangingPunct="1">
              <a:lnSpc>
                <a:spcPct val="114000"/>
              </a:lnSpc>
              <a:defRPr/>
            </a:pPr>
            <a:r>
              <a:rPr lang="zh-CN" altLang="en-US" dirty="0">
                <a:solidFill>
                  <a:srgbClr val="FF0000"/>
                </a:solidFill>
              </a:rPr>
              <a:t>The recommended operating current for the entire chip should not exceed 90mA</a:t>
            </a:r>
            <a:r>
              <a:rPr lang="zh-CN" altLang="en-US" dirty="0"/>
              <a:t>. Specifically, the current flowing into MCU-Vcc and out of MCU-GND must not exceed 90mA, and the total current entering or exiting the system must also not exceed 90mA.</a:t>
            </a:r>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0225" y="2416493"/>
            <a:ext cx="7016750" cy="3236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矩形 8"/>
          <p:cNvSpPr>
            <a:spLocks noChangeArrowheads="1"/>
          </p:cNvSpPr>
          <p:nvPr/>
        </p:nvSpPr>
        <p:spPr bwMode="auto">
          <a:xfrm>
            <a:off x="141288" y="4426268"/>
            <a:ext cx="366236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400" b="1">
                <a:solidFill>
                  <a:srgbClr val="3D41D1"/>
                </a:solidFill>
              </a:rPr>
              <a:t>Push-pull output (strong pull-up output)</a:t>
            </a:r>
            <a:endParaRPr lang="zh-CN" altLang="en-US" sz="2800" b="1">
              <a:solidFill>
                <a:srgbClr val="3D41D1"/>
              </a:solidFill>
            </a:endParaRPr>
          </a:p>
        </p:txBody>
      </p:sp>
      <p:sp>
        <p:nvSpPr>
          <p:cNvPr id="10" name="矩形 9"/>
          <p:cNvSpPr>
            <a:spLocks noChangeArrowheads="1"/>
          </p:cNvSpPr>
          <p:nvPr/>
        </p:nvSpPr>
        <p:spPr bwMode="auto">
          <a:xfrm>
            <a:off x="6448425" y="4948555"/>
            <a:ext cx="2368550" cy="3975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a:solidFill>
                  <a:srgbClr val="FF0000"/>
                </a:solidFill>
              </a:rPr>
              <a:t>At low output, the maximum sink current is 20mA</a:t>
            </a:r>
            <a:endParaRPr lang="zh-CN" altLang="en-US" sz="2400" b="1">
              <a:solidFill>
                <a:srgbClr val="FF0000"/>
              </a:solidFill>
            </a:endParaRPr>
          </a:p>
        </p:txBody>
      </p:sp>
      <p:sp>
        <p:nvSpPr>
          <p:cNvPr id="11" name="矩形 10"/>
          <p:cNvSpPr>
            <a:spLocks noChangeArrowheads="1"/>
          </p:cNvSpPr>
          <p:nvPr/>
        </p:nvSpPr>
        <p:spPr bwMode="auto">
          <a:xfrm>
            <a:off x="4867910" y="2559050"/>
            <a:ext cx="4362450" cy="184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a:solidFill>
                  <a:srgbClr val="FF0000"/>
                </a:solidFill>
              </a:rPr>
              <a:t>When the output is high, the pull current can reach up to 20mA</a:t>
            </a:r>
            <a:endParaRPr lang="zh-CN" altLang="en-US" sz="2400" b="1">
              <a:solidFill>
                <a:srgbClr val="FF0000"/>
              </a:solidFill>
            </a:endParaRPr>
          </a:p>
        </p:txBody>
      </p:sp>
      <p:sp>
        <p:nvSpPr>
          <p:cNvPr id="12" name="任意多边形 11"/>
          <p:cNvSpPr/>
          <p:nvPr/>
        </p:nvSpPr>
        <p:spPr bwMode="auto">
          <a:xfrm>
            <a:off x="4702175" y="2894330"/>
            <a:ext cx="2097088" cy="885825"/>
          </a:xfrm>
          <a:custGeom>
            <a:avLst/>
            <a:gdLst>
              <a:gd name="T0" fmla="*/ 20869 w 1759219"/>
              <a:gd name="T1" fmla="*/ 0 h 675238"/>
              <a:gd name="T2" fmla="*/ 297730 w 1759219"/>
              <a:gd name="T3" fmla="*/ 780613 h 675238"/>
              <a:gd name="T4" fmla="*/ 2097326 w 1759219"/>
              <a:gd name="T5" fmla="*/ 856771 h 675238"/>
              <a:gd name="T6" fmla="*/ 0 60000 65536"/>
              <a:gd name="T7" fmla="*/ 0 60000 65536"/>
              <a:gd name="T8" fmla="*/ 0 60000 65536"/>
            </a:gdLst>
            <a:ahLst/>
            <a:cxnLst>
              <a:cxn ang="T6">
                <a:pos x="T0" y="T1"/>
              </a:cxn>
              <a:cxn ang="T7">
                <a:pos x="T2" y="T3"/>
              </a:cxn>
              <a:cxn ang="T8">
                <a:pos x="T4" y="T5"/>
              </a:cxn>
            </a:cxnLst>
            <a:rect l="0" t="0" r="r" b="b"/>
            <a:pathLst>
              <a:path w="1759219" h="675238">
                <a:moveTo>
                  <a:pt x="17505" y="0"/>
                </a:moveTo>
                <a:cubicBezTo>
                  <a:pt x="-11524" y="243114"/>
                  <a:pt x="-40553" y="486229"/>
                  <a:pt x="249733" y="595086"/>
                </a:cubicBezTo>
                <a:cubicBezTo>
                  <a:pt x="540019" y="703943"/>
                  <a:pt x="1149619" y="678543"/>
                  <a:pt x="1759219" y="653143"/>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任意多边形 12"/>
          <p:cNvSpPr/>
          <p:nvPr/>
        </p:nvSpPr>
        <p:spPr bwMode="auto">
          <a:xfrm rot="-195418">
            <a:off x="4776788" y="3981768"/>
            <a:ext cx="1836737" cy="568325"/>
          </a:xfrm>
          <a:custGeom>
            <a:avLst/>
            <a:gdLst>
              <a:gd name="T0" fmla="*/ 1837088 w 1941838"/>
              <a:gd name="T1" fmla="*/ 27428 h 732096"/>
              <a:gd name="T2" fmla="*/ 230523 w 1941838"/>
              <a:gd name="T3" fmla="*/ 61154 h 732096"/>
              <a:gd name="T4" fmla="*/ 10821 w 1941838"/>
              <a:gd name="T5" fmla="*/ 567058 h 732096"/>
              <a:gd name="T6" fmla="*/ 10821 w 1941838"/>
              <a:gd name="T7" fmla="*/ 567058 h 7320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41838" h="732096">
                <a:moveTo>
                  <a:pt x="1941838" y="35411"/>
                </a:moveTo>
                <a:cubicBezTo>
                  <a:pt x="1253619" y="-875"/>
                  <a:pt x="565400" y="-37161"/>
                  <a:pt x="243667" y="78953"/>
                </a:cubicBezTo>
                <a:cubicBezTo>
                  <a:pt x="-78066" y="195067"/>
                  <a:pt x="11438" y="732096"/>
                  <a:pt x="11438" y="732096"/>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矩形 13"/>
          <p:cNvSpPr/>
          <p:nvPr/>
        </p:nvSpPr>
        <p:spPr>
          <a:xfrm>
            <a:off x="6157595" y="3136900"/>
            <a:ext cx="1016000" cy="311785"/>
          </a:xfrm>
          <a:prstGeom prst="rect">
            <a:avLst/>
          </a:prstGeom>
          <a:noFill/>
        </p:spPr>
        <p:txBody>
          <a:bodyPr lIns="0" tIns="36000" rIns="0" bIns="0" anchor="b">
            <a:noAutofit/>
          </a:bodyPr>
          <a:lstStyle/>
          <a:p>
            <a:pPr algn="ctr" eaLnBrk="1" hangingPunct="1">
              <a:lnSpc>
                <a:spcPct val="75000"/>
              </a:lnSpc>
              <a:defRPr/>
            </a:pPr>
            <a:r>
              <a:rPr lang="zh-CN" altLang="en-US" sz="1200" b="1" kern="0" dirty="0">
                <a:solidFill>
                  <a:srgbClr val="FF00FF"/>
                </a:solidFill>
                <a:cs typeface="Times New Roman" panose="02020603050405020304" pitchFamily="18" charset="0"/>
              </a:rPr>
              <a:t>Example: P3.2</a:t>
            </a:r>
            <a:endParaRPr lang="en-US" altLang="zh-CN" sz="2400" b="1" dirty="0">
              <a:solidFill>
                <a:srgbClr val="FF00FF"/>
              </a:solidFill>
              <a:ea typeface="宋体" panose="02010600030101010101" pitchFamily="2" charset="-122"/>
              <a:cs typeface="Times New Roman" panose="02020603050405020304" pitchFamily="18" charset="0"/>
            </a:endParaRPr>
          </a:p>
        </p:txBody>
      </p:sp>
      <p:sp>
        <p:nvSpPr>
          <p:cNvPr id="15" name="矩形 14"/>
          <p:cNvSpPr/>
          <p:nvPr/>
        </p:nvSpPr>
        <p:spPr>
          <a:xfrm>
            <a:off x="369888" y="2905443"/>
            <a:ext cx="1311275" cy="868362"/>
          </a:xfrm>
          <a:prstGeom prst="rect">
            <a:avLst/>
          </a:prstGeom>
          <a:noFill/>
        </p:spPr>
        <p:txBody>
          <a:bodyPr lIns="0" tIns="36000" rIns="0" bIns="0" anchor="b">
            <a:spAutoFit/>
          </a:bodyPr>
          <a:lstStyle/>
          <a:p>
            <a:pPr algn="ctr" eaLnBrk="1" hangingPunct="1">
              <a:lnSpc>
                <a:spcPct val="75000"/>
              </a:lnSpc>
              <a:defRPr/>
            </a:pPr>
            <a:r>
              <a:rPr lang="zh-CN" altLang="en-US" sz="1200" b="1" kern="0" dirty="0">
                <a:solidFill>
                  <a:srgbClr val="0000FF"/>
                </a:solidFill>
                <a:cs typeface="Times New Roman" panose="02020603050405020304" pitchFamily="18" charset="0"/>
              </a:rPr>
              <a:t>Example: latch bit of P3.2 line</a:t>
            </a:r>
            <a:endParaRPr lang="en-US" altLang="zh-CN" sz="2400" b="1" dirty="0">
              <a:solidFill>
                <a:srgbClr val="0000FF"/>
              </a:solidFill>
              <a:ea typeface="宋体" panose="02010600030101010101" pitchFamily="2" charset="-122"/>
              <a:cs typeface="Times New Roman" panose="02020603050405020304" pitchFamily="18" charset="0"/>
            </a:endParaRPr>
          </a:p>
        </p:txBody>
      </p:sp>
      <p:sp>
        <p:nvSpPr>
          <p:cNvPr id="2" name="文本框 1"/>
          <p:cNvSpPr txBox="1"/>
          <p:nvPr/>
        </p:nvSpPr>
        <p:spPr>
          <a:xfrm>
            <a:off x="4939030" y="3080385"/>
            <a:ext cx="920750" cy="368300"/>
          </a:xfrm>
          <a:prstGeom prst="rect">
            <a:avLst/>
          </a:prstGeom>
          <a:noFill/>
        </p:spPr>
        <p:txBody>
          <a:bodyPr wrap="square" rtlCol="0">
            <a:spAutoFit/>
          </a:bodyPr>
          <a:lstStyle/>
          <a:p>
            <a:r>
              <a:rPr lang="en-US" altLang="zh-CN"/>
              <a:t>strong</a:t>
            </a:r>
          </a:p>
        </p:txBody>
      </p:sp>
      <p:sp>
        <p:nvSpPr>
          <p:cNvPr id="3" name="文本框 2"/>
          <p:cNvSpPr txBox="1"/>
          <p:nvPr/>
        </p:nvSpPr>
        <p:spPr>
          <a:xfrm>
            <a:off x="1559560" y="3981450"/>
            <a:ext cx="1527810" cy="337185"/>
          </a:xfrm>
          <a:prstGeom prst="rect">
            <a:avLst/>
          </a:prstGeom>
        </p:spPr>
        <p:txBody>
          <a:bodyPr wrap="square">
            <a:spAutoFit/>
          </a:bodyPr>
          <a:lstStyle/>
          <a:p>
            <a:r>
              <a:rPr lang="en-US" altLang="zh-CN" sz="1600"/>
              <a:t>Port Data Latch</a:t>
            </a:r>
          </a:p>
        </p:txBody>
      </p:sp>
      <p:sp>
        <p:nvSpPr>
          <p:cNvPr id="4" name="文本框 3"/>
          <p:cNvSpPr txBox="1"/>
          <p:nvPr/>
        </p:nvSpPr>
        <p:spPr>
          <a:xfrm>
            <a:off x="7805420" y="3677920"/>
            <a:ext cx="3048000" cy="368300"/>
          </a:xfrm>
          <a:prstGeom prst="rect">
            <a:avLst/>
          </a:prstGeom>
          <a:noFill/>
        </p:spPr>
        <p:txBody>
          <a:bodyPr wrap="square" rtlCol="0">
            <a:spAutoFit/>
          </a:bodyPr>
          <a:lstStyle/>
          <a:p>
            <a:r>
              <a:rPr lang="en-US" altLang="zh-CN"/>
              <a:t>Port Pin</a:t>
            </a:r>
          </a:p>
        </p:txBody>
      </p:sp>
      <p:pic>
        <p:nvPicPr>
          <p:cNvPr id="6" name="图片 5"/>
          <p:cNvPicPr>
            <a:picLocks noChangeAspect="1"/>
          </p:cNvPicPr>
          <p:nvPr/>
        </p:nvPicPr>
        <p:blipFill>
          <a:blip r:embed="rId3"/>
          <a:stretch>
            <a:fillRect/>
          </a:stretch>
        </p:blipFill>
        <p:spPr>
          <a:xfrm>
            <a:off x="8662670" y="5350510"/>
            <a:ext cx="419100" cy="428625"/>
          </a:xfrm>
          <a:prstGeom prst="rect">
            <a:avLst/>
          </a:prstGeom>
        </p:spPr>
      </p:pic>
      <p:sp>
        <p:nvSpPr>
          <p:cNvPr id="7" name="文本框 6"/>
          <p:cNvSpPr txBox="1"/>
          <p:nvPr/>
        </p:nvSpPr>
        <p:spPr>
          <a:xfrm>
            <a:off x="2579370" y="5350510"/>
            <a:ext cx="3048000" cy="368300"/>
          </a:xfrm>
          <a:prstGeom prst="rect">
            <a:avLst/>
          </a:prstGeom>
          <a:noFill/>
        </p:spPr>
        <p:txBody>
          <a:bodyPr wrap="square" rtlCol="0">
            <a:spAutoFit/>
          </a:bodyPr>
          <a:lstStyle/>
          <a:p>
            <a:r>
              <a:rPr lang="en-US" altLang="zh-CN"/>
              <a:t>input data </a:t>
            </a:r>
          </a:p>
        </p:txBody>
      </p:sp>
      <p:sp>
        <p:nvSpPr>
          <p:cNvPr id="16" name="灯片编号占位符 15"/>
          <p:cNvSpPr>
            <a:spLocks noGrp="1"/>
          </p:cNvSpPr>
          <p:nvPr>
            <p:ph type="sldNum" sz="quarter" idx="12"/>
          </p:nvPr>
        </p:nvSpPr>
        <p:spPr/>
        <p:txBody>
          <a:bodyPr/>
          <a:lstStyle/>
          <a:p>
            <a:fld id="{22E77DEE-32E4-4009-988B-F2758F7B8AC2}" type="slidenum">
              <a:rPr lang="zh-CN" altLang="en-US" smtClean="0"/>
              <a:t>64</a:t>
            </a:fld>
            <a:endParaRPr lang="zh-CN" altLang="en-US"/>
          </a:p>
        </p:txBody>
      </p:sp>
      <p:sp>
        <p:nvSpPr>
          <p:cNvPr id="5" name="文本框 4"/>
          <p:cNvSpPr txBox="1"/>
          <p:nvPr/>
        </p:nvSpPr>
        <p:spPr>
          <a:xfrm>
            <a:off x="5806440" y="5617210"/>
            <a:ext cx="3168015" cy="337185"/>
          </a:xfrm>
          <a:prstGeom prst="rect">
            <a:avLst/>
          </a:prstGeom>
        </p:spPr>
        <p:txBody>
          <a:bodyPr wrap="square">
            <a:spAutoFit/>
          </a:bodyPr>
          <a:lstStyle/>
          <a:p>
            <a:r>
              <a:rPr lang="en-US" altLang="zh-CN" sz="1600"/>
              <a:t>Interference Suppression Filter</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59435" y="679133"/>
            <a:ext cx="8229600" cy="504825"/>
          </a:xfrm>
        </p:spPr>
        <p:txBody>
          <a:bodyPr vert="horz" lIns="91440" tIns="45720" rIns="91440" bIns="45720" rtlCol="0" anchor="b">
            <a:noAutofit/>
          </a:bodyPr>
          <a:lstStyle/>
          <a:p>
            <a:r>
              <a:rPr lang="zh-CN" altLang="en-US" sz="3200" dirty="0">
                <a:solidFill>
                  <a:srgbClr val="FF0000"/>
                </a:solidFill>
                <a:latin typeface="+mn-lt"/>
                <a:cs typeface="+mn-lt"/>
                <a:sym typeface="+mn-ea"/>
              </a:rPr>
              <a:t>(2) Architecture of push-pull output (strong pull-up output) operating mode</a:t>
            </a:r>
            <a:endParaRPr lang="zh-CN" altLang="en-US" sz="3200" dirty="0">
              <a:solidFill>
                <a:srgbClr val="FF0000"/>
              </a:solidFill>
            </a:endParaRPr>
          </a:p>
        </p:txBody>
      </p:sp>
      <p:sp>
        <p:nvSpPr>
          <p:cNvPr id="117763" name="Rectangle 3"/>
          <p:cNvSpPr>
            <a:spLocks noGrp="1" noChangeArrowheads="1"/>
          </p:cNvSpPr>
          <p:nvPr>
            <p:ph idx="1"/>
          </p:nvPr>
        </p:nvSpPr>
        <p:spPr/>
        <p:txBody>
          <a:bodyPr/>
          <a:lstStyle/>
          <a:p>
            <a:pPr eaLnBrk="1" hangingPunct="1"/>
            <a:r>
              <a:rPr lang="zh-CN" altLang="en-US">
                <a:solidFill>
                  <a:srgbClr val="CC3300"/>
                </a:solidFill>
              </a:rPr>
              <a:t>Structure of push-pull output mode</a:t>
            </a:r>
          </a:p>
        </p:txBody>
      </p:sp>
      <p:sp>
        <p:nvSpPr>
          <p:cNvPr id="117765"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7766" name="Rectangle 10"/>
          <p:cNvSpPr>
            <a:spLocks noChangeArrowheads="1"/>
          </p:cNvSpPr>
          <p:nvPr/>
        </p:nvSpPr>
        <p:spPr bwMode="auto">
          <a:xfrm>
            <a:off x="2267742" y="5639127"/>
            <a:ext cx="5056191" cy="52322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400" b="1" dirty="0">
                <a:solidFill>
                  <a:srgbClr val="990033"/>
                </a:solidFill>
                <a:latin typeface="宋体" panose="02010600030101010101" pitchFamily="2" charset="-122"/>
              </a:rPr>
              <a:t>Input/output bit structure for push-pull output mode</a:t>
            </a:r>
            <a:endParaRPr lang="zh-CN" altLang="en-US" sz="2800" b="1" dirty="0">
              <a:solidFill>
                <a:srgbClr val="990033"/>
              </a:solidFill>
              <a:latin typeface="宋体" panose="02010600030101010101" pitchFamily="2" charset="-122"/>
            </a:endParaRPr>
          </a:p>
        </p:txBody>
      </p:sp>
      <p:pic>
        <p:nvPicPr>
          <p:cNvPr id="117768" name="Picture 390" descr="D:\DOCUME~1\ADMINI~1\LOCALS~1\Temp\HS5ClipImage_56b013b5.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4325" y="1538288"/>
            <a:ext cx="6180138" cy="374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a:spLocks noChangeArrowheads="1"/>
          </p:cNvSpPr>
          <p:nvPr/>
        </p:nvSpPr>
        <p:spPr bwMode="auto">
          <a:xfrm>
            <a:off x="3049271" y="2299653"/>
            <a:ext cx="2971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0000"/>
                </a:solidFill>
              </a:rPr>
              <a:t>1</a:t>
            </a:r>
          </a:p>
        </p:txBody>
      </p:sp>
      <p:sp>
        <p:nvSpPr>
          <p:cNvPr id="10" name="矩形 9"/>
          <p:cNvSpPr>
            <a:spLocks noChangeArrowheads="1"/>
          </p:cNvSpPr>
          <p:nvPr/>
        </p:nvSpPr>
        <p:spPr bwMode="auto">
          <a:xfrm>
            <a:off x="5146358" y="2668270"/>
            <a:ext cx="538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3366FF"/>
                </a:solidFill>
              </a:rPr>
              <a:t>off</a:t>
            </a:r>
          </a:p>
        </p:txBody>
      </p:sp>
      <p:sp>
        <p:nvSpPr>
          <p:cNvPr id="11" name="矩形 10"/>
          <p:cNvSpPr>
            <a:spLocks noChangeArrowheads="1"/>
          </p:cNvSpPr>
          <p:nvPr/>
        </p:nvSpPr>
        <p:spPr bwMode="auto">
          <a:xfrm>
            <a:off x="4496118" y="3109278"/>
            <a:ext cx="538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rPr>
              <a:t>off</a:t>
            </a:r>
          </a:p>
        </p:txBody>
      </p:sp>
      <p:sp>
        <p:nvSpPr>
          <p:cNvPr id="12" name="矩形 11"/>
          <p:cNvSpPr>
            <a:spLocks noChangeArrowheads="1"/>
          </p:cNvSpPr>
          <p:nvPr/>
        </p:nvSpPr>
        <p:spPr bwMode="auto">
          <a:xfrm>
            <a:off x="4485482" y="2427288"/>
            <a:ext cx="5048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on</a:t>
            </a:r>
          </a:p>
        </p:txBody>
      </p:sp>
      <p:sp>
        <p:nvSpPr>
          <p:cNvPr id="13" name="矩形 12"/>
          <p:cNvSpPr>
            <a:spLocks noChangeArrowheads="1"/>
          </p:cNvSpPr>
          <p:nvPr/>
        </p:nvSpPr>
        <p:spPr bwMode="auto">
          <a:xfrm>
            <a:off x="6338729" y="2435225"/>
            <a:ext cx="2971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0000"/>
                </a:solidFill>
              </a:rPr>
              <a:t>1</a:t>
            </a:r>
          </a:p>
        </p:txBody>
      </p:sp>
      <p:sp>
        <p:nvSpPr>
          <p:cNvPr id="14" name="矩形 13"/>
          <p:cNvSpPr>
            <a:spLocks noChangeArrowheads="1"/>
          </p:cNvSpPr>
          <p:nvPr/>
        </p:nvSpPr>
        <p:spPr bwMode="auto">
          <a:xfrm>
            <a:off x="3022124" y="3204845"/>
            <a:ext cx="2971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3366FF"/>
                </a:solidFill>
              </a:rPr>
              <a:t>0</a:t>
            </a:r>
          </a:p>
        </p:txBody>
      </p:sp>
      <p:sp>
        <p:nvSpPr>
          <p:cNvPr id="15" name="矩形 14"/>
          <p:cNvSpPr>
            <a:spLocks noChangeArrowheads="1"/>
          </p:cNvSpPr>
          <p:nvPr/>
        </p:nvSpPr>
        <p:spPr bwMode="auto">
          <a:xfrm>
            <a:off x="4342449" y="3656965"/>
            <a:ext cx="5048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on</a:t>
            </a:r>
          </a:p>
        </p:txBody>
      </p:sp>
      <p:sp>
        <p:nvSpPr>
          <p:cNvPr id="16" name="矩形 15"/>
          <p:cNvSpPr>
            <a:spLocks noChangeArrowheads="1"/>
          </p:cNvSpPr>
          <p:nvPr/>
        </p:nvSpPr>
        <p:spPr bwMode="auto">
          <a:xfrm>
            <a:off x="6250623" y="2984500"/>
            <a:ext cx="2971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3366FF"/>
                </a:solidFill>
              </a:rPr>
              <a:t>0</a:t>
            </a:r>
          </a:p>
        </p:txBody>
      </p:sp>
      <p:sp>
        <p:nvSpPr>
          <p:cNvPr id="17" name="矩形 16"/>
          <p:cNvSpPr>
            <a:spLocks noChangeArrowheads="1"/>
          </p:cNvSpPr>
          <p:nvPr/>
        </p:nvSpPr>
        <p:spPr bwMode="auto">
          <a:xfrm>
            <a:off x="3852704" y="2457450"/>
            <a:ext cx="2971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0000"/>
                </a:solidFill>
              </a:rPr>
              <a:t>0</a:t>
            </a:r>
          </a:p>
        </p:txBody>
      </p:sp>
      <p:sp>
        <p:nvSpPr>
          <p:cNvPr id="18" name="矩形 17"/>
          <p:cNvSpPr>
            <a:spLocks noChangeArrowheads="1"/>
          </p:cNvSpPr>
          <p:nvPr/>
        </p:nvSpPr>
        <p:spPr bwMode="auto">
          <a:xfrm>
            <a:off x="3895566" y="3243263"/>
            <a:ext cx="2971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3333FF"/>
                </a:solidFill>
              </a:rPr>
              <a:t>1</a:t>
            </a:r>
          </a:p>
        </p:txBody>
      </p:sp>
      <p:sp>
        <p:nvSpPr>
          <p:cNvPr id="23" name="矩形 22"/>
          <p:cNvSpPr/>
          <p:nvPr/>
        </p:nvSpPr>
        <p:spPr>
          <a:xfrm>
            <a:off x="7883843" y="2496503"/>
            <a:ext cx="1016000" cy="612775"/>
          </a:xfrm>
          <a:prstGeom prst="rect">
            <a:avLst/>
          </a:prstGeom>
          <a:noFill/>
        </p:spPr>
        <p:txBody>
          <a:bodyPr lIns="0" tIns="36000" rIns="0" bIns="0" anchor="b">
            <a:spAutoFit/>
          </a:bodyPr>
          <a:lstStyle/>
          <a:p>
            <a:pPr algn="ctr" eaLnBrk="1" hangingPunct="1">
              <a:lnSpc>
                <a:spcPct val="75000"/>
              </a:lnSpc>
              <a:defRPr/>
            </a:pPr>
            <a:r>
              <a:rPr lang="zh-CN" altLang="en-US" sz="1200" b="1" kern="0" dirty="0">
                <a:solidFill>
                  <a:srgbClr val="FF00FF"/>
                </a:solidFill>
                <a:cs typeface="Times New Roman" panose="02020603050405020304" pitchFamily="18" charset="0"/>
              </a:rPr>
              <a:t>Example: P3.2</a:t>
            </a:r>
            <a:endParaRPr lang="en-US" altLang="zh-CN" sz="2400" b="1" dirty="0">
              <a:solidFill>
                <a:srgbClr val="FF00FF"/>
              </a:solidFill>
              <a:ea typeface="宋体" panose="02010600030101010101" pitchFamily="2" charset="-122"/>
              <a:cs typeface="Times New Roman" panose="02020603050405020304" pitchFamily="18" charset="0"/>
            </a:endParaRPr>
          </a:p>
        </p:txBody>
      </p:sp>
      <p:sp>
        <p:nvSpPr>
          <p:cNvPr id="24" name="矩形 23"/>
          <p:cNvSpPr/>
          <p:nvPr/>
        </p:nvSpPr>
        <p:spPr>
          <a:xfrm>
            <a:off x="582613" y="3181350"/>
            <a:ext cx="1311275" cy="868363"/>
          </a:xfrm>
          <a:prstGeom prst="rect">
            <a:avLst/>
          </a:prstGeom>
          <a:noFill/>
        </p:spPr>
        <p:txBody>
          <a:bodyPr lIns="0" tIns="36000" rIns="0" bIns="0" anchor="b">
            <a:spAutoFit/>
          </a:bodyPr>
          <a:lstStyle/>
          <a:p>
            <a:pPr algn="ctr" eaLnBrk="1" hangingPunct="1">
              <a:lnSpc>
                <a:spcPct val="75000"/>
              </a:lnSpc>
              <a:defRPr/>
            </a:pPr>
            <a:r>
              <a:rPr lang="zh-CN" altLang="en-US" sz="1200" b="1" kern="0" dirty="0">
                <a:solidFill>
                  <a:srgbClr val="0000FF"/>
                </a:solidFill>
                <a:cs typeface="Times New Roman" panose="02020603050405020304" pitchFamily="18" charset="0"/>
              </a:rPr>
              <a:t>Example: latch bit of P3.2 line</a:t>
            </a:r>
            <a:endParaRPr lang="en-US" altLang="zh-CN" sz="2400" b="1" dirty="0">
              <a:solidFill>
                <a:srgbClr val="0000FF"/>
              </a:solidFill>
              <a:ea typeface="宋体" panose="02010600030101010101" pitchFamily="2" charset="-122"/>
              <a:cs typeface="Times New Roman" panose="02020603050405020304" pitchFamily="18" charset="0"/>
            </a:endParaRPr>
          </a:p>
        </p:txBody>
      </p:sp>
      <p:sp>
        <p:nvSpPr>
          <p:cNvPr id="4" name="文本框 3"/>
          <p:cNvSpPr txBox="1"/>
          <p:nvPr/>
        </p:nvSpPr>
        <p:spPr>
          <a:xfrm>
            <a:off x="1683385" y="3025140"/>
            <a:ext cx="1916430" cy="337185"/>
          </a:xfrm>
          <a:prstGeom prst="rect">
            <a:avLst/>
          </a:prstGeom>
        </p:spPr>
        <p:txBody>
          <a:bodyPr wrap="square">
            <a:spAutoFit/>
          </a:bodyPr>
          <a:lstStyle/>
          <a:p>
            <a:r>
              <a:rPr lang="en-US" altLang="zh-CN" sz="1600"/>
              <a:t>Port Data Latch</a:t>
            </a:r>
          </a:p>
        </p:txBody>
      </p:sp>
      <p:sp>
        <p:nvSpPr>
          <p:cNvPr id="5" name="文本框 4"/>
          <p:cNvSpPr txBox="1"/>
          <p:nvPr/>
        </p:nvSpPr>
        <p:spPr>
          <a:xfrm>
            <a:off x="5259705" y="5190490"/>
            <a:ext cx="3275330" cy="337185"/>
          </a:xfrm>
          <a:prstGeom prst="rect">
            <a:avLst/>
          </a:prstGeom>
        </p:spPr>
        <p:txBody>
          <a:bodyPr wrap="square">
            <a:spAutoFit/>
          </a:bodyPr>
          <a:lstStyle/>
          <a:p>
            <a:r>
              <a:rPr lang="en-US" altLang="zh-CN" sz="1600"/>
              <a:t>Interference Suppression Filter</a:t>
            </a:r>
          </a:p>
        </p:txBody>
      </p:sp>
      <p:sp>
        <p:nvSpPr>
          <p:cNvPr id="6" name="文本框 5"/>
          <p:cNvSpPr txBox="1"/>
          <p:nvPr/>
        </p:nvSpPr>
        <p:spPr>
          <a:xfrm>
            <a:off x="6868160" y="3344545"/>
            <a:ext cx="3048000" cy="368300"/>
          </a:xfrm>
          <a:prstGeom prst="rect">
            <a:avLst/>
          </a:prstGeom>
          <a:noFill/>
        </p:spPr>
        <p:txBody>
          <a:bodyPr wrap="square" rtlCol="0">
            <a:spAutoFit/>
          </a:bodyPr>
          <a:lstStyle/>
          <a:p>
            <a:r>
              <a:rPr lang="en-US" altLang="zh-CN"/>
              <a:t>Port Pin</a:t>
            </a:r>
          </a:p>
        </p:txBody>
      </p:sp>
      <p:sp>
        <p:nvSpPr>
          <p:cNvPr id="7" name="文本框 6"/>
          <p:cNvSpPr txBox="1"/>
          <p:nvPr/>
        </p:nvSpPr>
        <p:spPr>
          <a:xfrm>
            <a:off x="2267585" y="4719320"/>
            <a:ext cx="3048000" cy="368300"/>
          </a:xfrm>
          <a:prstGeom prst="rect">
            <a:avLst/>
          </a:prstGeom>
          <a:noFill/>
        </p:spPr>
        <p:txBody>
          <a:bodyPr wrap="square" rtlCol="0">
            <a:spAutoFit/>
          </a:bodyPr>
          <a:lstStyle/>
          <a:p>
            <a:r>
              <a:rPr lang="en-US" altLang="zh-CN"/>
              <a:t>input data </a:t>
            </a:r>
          </a:p>
        </p:txBody>
      </p:sp>
      <p:sp>
        <p:nvSpPr>
          <p:cNvPr id="8" name="灯片编号占位符 7"/>
          <p:cNvSpPr>
            <a:spLocks noGrp="1"/>
          </p:cNvSpPr>
          <p:nvPr>
            <p:ph type="sldNum" sz="quarter" idx="12"/>
          </p:nvPr>
        </p:nvSpPr>
        <p:spPr/>
        <p:txBody>
          <a:bodyPr/>
          <a:lstStyle/>
          <a:p>
            <a:fld id="{22E77DEE-32E4-4009-988B-F2758F7B8AC2}" type="slidenum">
              <a:rPr lang="zh-CN" altLang="en-US" smtClean="0"/>
              <a:t>65</a:t>
            </a:fld>
            <a:endParaRPr lang="zh-CN"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786" name="Picture 2" descr="D:\DOCUME~1\ADMINI~1\LOCALS~1\Temp\HS5ClipImage_56b013cf.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6513" y="3101658"/>
            <a:ext cx="4978400" cy="301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3267" name="Rectangle 3"/>
          <p:cNvSpPr>
            <a:spLocks noGrp="1" noChangeArrowheads="1"/>
          </p:cNvSpPr>
          <p:nvPr>
            <p:ph idx="1"/>
          </p:nvPr>
        </p:nvSpPr>
        <p:spPr>
          <a:xfrm>
            <a:off x="101600" y="1176655"/>
            <a:ext cx="8853805" cy="2111375"/>
          </a:xfrm>
        </p:spPr>
        <p:txBody>
          <a:bodyPr/>
          <a:lstStyle/>
          <a:p>
            <a:pPr marL="262255" lvl="1" indent="-262255" algn="l" eaLnBrk="1" hangingPunct="1">
              <a:spcBef>
                <a:spcPts val="0"/>
              </a:spcBef>
              <a:spcAft>
                <a:spcPts val="300"/>
              </a:spcAft>
              <a:defRPr/>
            </a:pPr>
            <a:r>
              <a:rPr lang="zh-CN" altLang="en-US" dirty="0">
                <a:solidFill>
                  <a:srgbClr val="FF0000"/>
                </a:solidFill>
              </a:rPr>
              <a:t>The pull-down structure in push-pull output mode is identical to that of a quasi-dual-port, but provides sustained strong pull-up when the latch is set to 1. </a:t>
            </a:r>
            <a:r>
              <a:rPr lang="zh-CN" altLang="en-US" dirty="0">
                <a:solidFill>
                  <a:srgbClr val="FF00FF"/>
                </a:solidFill>
              </a:rPr>
              <a:t>This push-pull mode is typically employed where higher drive current is required.</a:t>
            </a:r>
            <a:endParaRPr lang="zh-CN" altLang="en-US" dirty="0"/>
          </a:p>
          <a:p>
            <a:pPr marL="262255" lvl="1" indent="-262255" algn="l" eaLnBrk="1" hangingPunct="1">
              <a:spcBef>
                <a:spcPts val="0"/>
              </a:spcBef>
              <a:spcAft>
                <a:spcPts val="300"/>
              </a:spcAft>
              <a:defRPr/>
            </a:pPr>
            <a:r>
              <a:rPr lang="zh-CN" altLang="en-US" dirty="0">
                <a:solidFill>
                  <a:srgbClr val="FF0000"/>
                </a:solidFill>
              </a:rPr>
              <a:t>If the output is high, the pull current can reach up to 20mA;</a:t>
            </a:r>
            <a:r>
              <a:rPr lang="zh-CN" altLang="en-US" dirty="0">
                <a:solidFill>
                  <a:srgbClr val="3333FF"/>
                </a:solidFill>
              </a:rPr>
              <a:t>If the output is low, the sink current can also reach 20mA.</a:t>
            </a:r>
            <a:endParaRPr lang="en-US" altLang="zh-CN" dirty="0"/>
          </a:p>
        </p:txBody>
      </p:sp>
      <p:sp>
        <p:nvSpPr>
          <p:cNvPr id="7" name="矩形 6"/>
          <p:cNvSpPr>
            <a:spLocks noChangeArrowheads="1"/>
          </p:cNvSpPr>
          <p:nvPr/>
        </p:nvSpPr>
        <p:spPr bwMode="auto">
          <a:xfrm>
            <a:off x="5664200" y="4914265"/>
            <a:ext cx="1901825" cy="434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a:solidFill>
                  <a:srgbClr val="3333FF"/>
                </a:solidFill>
              </a:rPr>
              <a:t>At low output, the maximum sink current is 20mA</a:t>
            </a:r>
            <a:endParaRPr lang="zh-CN" altLang="en-US" sz="2400" b="1">
              <a:solidFill>
                <a:srgbClr val="3333FF"/>
              </a:solidFill>
            </a:endParaRPr>
          </a:p>
        </p:txBody>
      </p:sp>
      <p:sp>
        <p:nvSpPr>
          <p:cNvPr id="8" name="矩形 7"/>
          <p:cNvSpPr>
            <a:spLocks noChangeArrowheads="1"/>
          </p:cNvSpPr>
          <p:nvPr/>
        </p:nvSpPr>
        <p:spPr bwMode="auto">
          <a:xfrm>
            <a:off x="4295775" y="3234690"/>
            <a:ext cx="2512695" cy="3905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a:solidFill>
                  <a:srgbClr val="FF0000"/>
                </a:solidFill>
              </a:rPr>
              <a:t>When the output is high, the pull current can reach up to 20mA</a:t>
            </a:r>
            <a:endParaRPr lang="zh-CN" altLang="en-US" sz="2400" b="1">
              <a:solidFill>
                <a:srgbClr val="FF0000"/>
              </a:solidFill>
            </a:endParaRPr>
          </a:p>
        </p:txBody>
      </p:sp>
      <p:sp>
        <p:nvSpPr>
          <p:cNvPr id="9" name="任意多边形 8"/>
          <p:cNvSpPr/>
          <p:nvPr/>
        </p:nvSpPr>
        <p:spPr bwMode="auto">
          <a:xfrm>
            <a:off x="4295775" y="3320733"/>
            <a:ext cx="2097088" cy="885825"/>
          </a:xfrm>
          <a:custGeom>
            <a:avLst/>
            <a:gdLst>
              <a:gd name="T0" fmla="*/ 20869 w 1759219"/>
              <a:gd name="T1" fmla="*/ 0 h 675238"/>
              <a:gd name="T2" fmla="*/ 297730 w 1759219"/>
              <a:gd name="T3" fmla="*/ 780613 h 675238"/>
              <a:gd name="T4" fmla="*/ 2097326 w 1759219"/>
              <a:gd name="T5" fmla="*/ 856771 h 675238"/>
              <a:gd name="T6" fmla="*/ 0 60000 65536"/>
              <a:gd name="T7" fmla="*/ 0 60000 65536"/>
              <a:gd name="T8" fmla="*/ 0 60000 65536"/>
            </a:gdLst>
            <a:ahLst/>
            <a:cxnLst>
              <a:cxn ang="T6">
                <a:pos x="T0" y="T1"/>
              </a:cxn>
              <a:cxn ang="T7">
                <a:pos x="T2" y="T3"/>
              </a:cxn>
              <a:cxn ang="T8">
                <a:pos x="T4" y="T5"/>
              </a:cxn>
            </a:cxnLst>
            <a:rect l="0" t="0" r="r" b="b"/>
            <a:pathLst>
              <a:path w="1759219" h="675238">
                <a:moveTo>
                  <a:pt x="17505" y="0"/>
                </a:moveTo>
                <a:cubicBezTo>
                  <a:pt x="-11524" y="243114"/>
                  <a:pt x="-40553" y="486229"/>
                  <a:pt x="249733" y="595086"/>
                </a:cubicBezTo>
                <a:cubicBezTo>
                  <a:pt x="540019" y="703943"/>
                  <a:pt x="1149619" y="678543"/>
                  <a:pt x="1759219" y="653143"/>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a:p>
        </p:txBody>
      </p:sp>
      <p:sp>
        <p:nvSpPr>
          <p:cNvPr id="10" name="任意多边形 9"/>
          <p:cNvSpPr/>
          <p:nvPr/>
        </p:nvSpPr>
        <p:spPr bwMode="auto">
          <a:xfrm rot="-195418">
            <a:off x="4152900" y="4351020"/>
            <a:ext cx="1836738" cy="566738"/>
          </a:xfrm>
          <a:custGeom>
            <a:avLst/>
            <a:gdLst>
              <a:gd name="T0" fmla="*/ 1837088 w 1941838"/>
              <a:gd name="T1" fmla="*/ 27428 h 732096"/>
              <a:gd name="T2" fmla="*/ 230523 w 1941838"/>
              <a:gd name="T3" fmla="*/ 61154 h 732096"/>
              <a:gd name="T4" fmla="*/ 10821 w 1941838"/>
              <a:gd name="T5" fmla="*/ 567058 h 732096"/>
              <a:gd name="T6" fmla="*/ 10821 w 1941838"/>
              <a:gd name="T7" fmla="*/ 567058 h 7320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41838" h="732096">
                <a:moveTo>
                  <a:pt x="1941838" y="35411"/>
                </a:moveTo>
                <a:cubicBezTo>
                  <a:pt x="1253619" y="-875"/>
                  <a:pt x="565400" y="-37161"/>
                  <a:pt x="243667" y="78953"/>
                </a:cubicBezTo>
                <a:cubicBezTo>
                  <a:pt x="-78066" y="195067"/>
                  <a:pt x="11438" y="732096"/>
                  <a:pt x="11438" y="732096"/>
                </a:cubicBezTo>
              </a:path>
            </a:pathLst>
          </a:custGeom>
          <a:noFill/>
          <a:ln w="28575" cap="flat" cmpd="sng" algn="ctr">
            <a:solidFill>
              <a:srgbClr val="3333FF"/>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矩形 10"/>
          <p:cNvSpPr>
            <a:spLocks noChangeArrowheads="1"/>
          </p:cNvSpPr>
          <p:nvPr/>
        </p:nvSpPr>
        <p:spPr bwMode="auto">
          <a:xfrm>
            <a:off x="2443163" y="3701733"/>
            <a:ext cx="309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0000"/>
                </a:solidFill>
              </a:rPr>
              <a:t>1</a:t>
            </a:r>
          </a:p>
        </p:txBody>
      </p:sp>
      <p:sp>
        <p:nvSpPr>
          <p:cNvPr id="12" name="矩形 11"/>
          <p:cNvSpPr>
            <a:spLocks noChangeArrowheads="1"/>
          </p:cNvSpPr>
          <p:nvPr/>
        </p:nvSpPr>
        <p:spPr bwMode="auto">
          <a:xfrm>
            <a:off x="5325904" y="3792220"/>
            <a:ext cx="309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0000"/>
                </a:solidFill>
              </a:rPr>
              <a:t>1</a:t>
            </a:r>
          </a:p>
        </p:txBody>
      </p:sp>
      <p:sp>
        <p:nvSpPr>
          <p:cNvPr id="13" name="矩形 12"/>
          <p:cNvSpPr>
            <a:spLocks noChangeArrowheads="1"/>
          </p:cNvSpPr>
          <p:nvPr/>
        </p:nvSpPr>
        <p:spPr bwMode="auto">
          <a:xfrm>
            <a:off x="3217704" y="3887470"/>
            <a:ext cx="309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0000"/>
                </a:solidFill>
              </a:rPr>
              <a:t>0</a:t>
            </a:r>
          </a:p>
        </p:txBody>
      </p:sp>
      <p:grpSp>
        <p:nvGrpSpPr>
          <p:cNvPr id="14" name="组合 13"/>
          <p:cNvGrpSpPr/>
          <p:nvPr/>
        </p:nvGrpSpPr>
        <p:grpSpPr bwMode="auto">
          <a:xfrm>
            <a:off x="6216650" y="4246245"/>
            <a:ext cx="2559050" cy="1843088"/>
            <a:chOff x="6552141" y="4627084"/>
            <a:chExt cx="2559027" cy="1844320"/>
          </a:xfrm>
        </p:grpSpPr>
        <p:pic>
          <p:nvPicPr>
            <p:cNvPr id="118809" name="图片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8715" y="5211550"/>
              <a:ext cx="882453" cy="1259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8810" name="直接连接符 15"/>
            <p:cNvCxnSpPr>
              <a:cxnSpLocks noChangeShapeType="1"/>
            </p:cNvCxnSpPr>
            <p:nvPr/>
          </p:nvCxnSpPr>
          <p:spPr bwMode="auto">
            <a:xfrm>
              <a:off x="6552141" y="4627084"/>
              <a:ext cx="2095766" cy="0"/>
            </a:xfrm>
            <a:prstGeom prst="line">
              <a:avLst/>
            </a:prstGeom>
            <a:noFill/>
            <a:ln w="28575" algn="ctr">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8811" name="直接连接符 16"/>
            <p:cNvCxnSpPr>
              <a:cxnSpLocks noChangeShapeType="1"/>
            </p:cNvCxnSpPr>
            <p:nvPr/>
          </p:nvCxnSpPr>
          <p:spPr bwMode="auto">
            <a:xfrm>
              <a:off x="8647907" y="4627084"/>
              <a:ext cx="0" cy="782198"/>
            </a:xfrm>
            <a:prstGeom prst="line">
              <a:avLst/>
            </a:prstGeom>
            <a:noFill/>
            <a:ln w="28575" algn="ctr">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9" name="矩形 18"/>
          <p:cNvSpPr/>
          <p:nvPr/>
        </p:nvSpPr>
        <p:spPr>
          <a:xfrm>
            <a:off x="6913563" y="3370580"/>
            <a:ext cx="1016000" cy="612775"/>
          </a:xfrm>
          <a:prstGeom prst="rect">
            <a:avLst/>
          </a:prstGeom>
          <a:noFill/>
        </p:spPr>
        <p:txBody>
          <a:bodyPr lIns="0" tIns="36000" rIns="0" bIns="0" anchor="b">
            <a:spAutoFit/>
          </a:bodyPr>
          <a:lstStyle/>
          <a:p>
            <a:pPr algn="ctr" eaLnBrk="1" hangingPunct="1">
              <a:lnSpc>
                <a:spcPct val="75000"/>
              </a:lnSpc>
              <a:defRPr/>
            </a:pPr>
            <a:r>
              <a:rPr lang="zh-CN" altLang="en-US" sz="1200" b="1" kern="0" dirty="0">
                <a:solidFill>
                  <a:srgbClr val="FF00FF"/>
                </a:solidFill>
                <a:cs typeface="Times New Roman" panose="02020603050405020304" pitchFamily="18" charset="0"/>
              </a:rPr>
              <a:t>Example: P3.2</a:t>
            </a:r>
            <a:endParaRPr lang="en-US" altLang="zh-CN" sz="2400" b="1" dirty="0">
              <a:solidFill>
                <a:srgbClr val="FF00FF"/>
              </a:solidFill>
              <a:ea typeface="宋体" panose="02010600030101010101" pitchFamily="2" charset="-122"/>
              <a:cs typeface="Times New Roman" panose="02020603050405020304" pitchFamily="18" charset="0"/>
            </a:endParaRPr>
          </a:p>
        </p:txBody>
      </p:sp>
      <p:sp>
        <p:nvSpPr>
          <p:cNvPr id="20" name="矩形 19"/>
          <p:cNvSpPr/>
          <p:nvPr/>
        </p:nvSpPr>
        <p:spPr>
          <a:xfrm>
            <a:off x="184150" y="4344670"/>
            <a:ext cx="1312863" cy="866775"/>
          </a:xfrm>
          <a:prstGeom prst="rect">
            <a:avLst/>
          </a:prstGeom>
          <a:noFill/>
        </p:spPr>
        <p:txBody>
          <a:bodyPr lIns="0" tIns="36000" rIns="0" bIns="0" anchor="b">
            <a:spAutoFit/>
          </a:bodyPr>
          <a:lstStyle/>
          <a:p>
            <a:pPr algn="ctr" eaLnBrk="1" hangingPunct="1">
              <a:lnSpc>
                <a:spcPct val="75000"/>
              </a:lnSpc>
              <a:defRPr/>
            </a:pPr>
            <a:r>
              <a:rPr lang="zh-CN" altLang="en-US" sz="1200" b="1" kern="0" dirty="0">
                <a:solidFill>
                  <a:srgbClr val="0000FF"/>
                </a:solidFill>
                <a:cs typeface="Times New Roman" panose="02020603050405020304" pitchFamily="18" charset="0"/>
              </a:rPr>
              <a:t>Example: latch bit of P3.2 line</a:t>
            </a:r>
            <a:endParaRPr lang="en-US" altLang="zh-CN" sz="2400" b="1" dirty="0">
              <a:solidFill>
                <a:srgbClr val="0000FF"/>
              </a:solidFill>
              <a:ea typeface="宋体" panose="02010600030101010101" pitchFamily="2" charset="-122"/>
              <a:cs typeface="Times New Roman" panose="02020603050405020304" pitchFamily="18" charset="0"/>
            </a:endParaRPr>
          </a:p>
        </p:txBody>
      </p:sp>
      <p:grpSp>
        <p:nvGrpSpPr>
          <p:cNvPr id="21" name="组合 20"/>
          <p:cNvGrpSpPr/>
          <p:nvPr/>
        </p:nvGrpSpPr>
        <p:grpSpPr bwMode="auto">
          <a:xfrm>
            <a:off x="6289675" y="2733037"/>
            <a:ext cx="2706688" cy="1518923"/>
            <a:chOff x="6489705" y="3113513"/>
            <a:chExt cx="2706255" cy="1519080"/>
          </a:xfrm>
        </p:grpSpPr>
        <p:pic>
          <p:nvPicPr>
            <p:cNvPr id="118806" name="图片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77982" y="3113513"/>
              <a:ext cx="717978" cy="1295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8807" name="直接连接符 22"/>
            <p:cNvCxnSpPr>
              <a:cxnSpLocks noChangeShapeType="1"/>
            </p:cNvCxnSpPr>
            <p:nvPr/>
          </p:nvCxnSpPr>
          <p:spPr bwMode="auto">
            <a:xfrm>
              <a:off x="6489705" y="4626889"/>
              <a:ext cx="2263316" cy="0"/>
            </a:xfrm>
            <a:prstGeom prst="line">
              <a:avLst/>
            </a:prstGeom>
            <a:noFill/>
            <a:ln w="28575" algn="ctr">
              <a:solidFill>
                <a:srgbClr val="3333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8808" name="直接连接符 23"/>
            <p:cNvCxnSpPr>
              <a:cxnSpLocks noChangeShapeType="1"/>
            </p:cNvCxnSpPr>
            <p:nvPr/>
          </p:nvCxnSpPr>
          <p:spPr bwMode="auto">
            <a:xfrm flipV="1">
              <a:off x="8753021" y="4393765"/>
              <a:ext cx="4480" cy="238828"/>
            </a:xfrm>
            <a:prstGeom prst="line">
              <a:avLst/>
            </a:prstGeom>
            <a:noFill/>
            <a:ln w="28575" algn="ctr">
              <a:solidFill>
                <a:srgbClr val="3333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5" name="Rectangle 3"/>
          <p:cNvSpPr txBox="1">
            <a:spLocks noChangeArrowheads="1"/>
          </p:cNvSpPr>
          <p:nvPr/>
        </p:nvSpPr>
        <p:spPr bwMode="auto">
          <a:xfrm>
            <a:off x="0" y="2480310"/>
            <a:ext cx="9381490" cy="586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5"/>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6"/>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2255" lvl="1" indent="-262255" algn="l" eaLnBrk="1" hangingPunct="1">
              <a:spcBef>
                <a:spcPts val="0"/>
              </a:spcBef>
              <a:spcAft>
                <a:spcPts val="300"/>
              </a:spcAft>
              <a:defRPr/>
            </a:pPr>
            <a:r>
              <a:rPr lang="zh-CN" altLang="en-US" sz="2000" kern="0" dirty="0"/>
              <a:t>The push-pull output mode also features a Schmitt trigger input and an interference suppression circuit.</a:t>
            </a:r>
          </a:p>
        </p:txBody>
      </p:sp>
      <p:sp>
        <p:nvSpPr>
          <p:cNvPr id="28" name="矩形 27"/>
          <p:cNvSpPr>
            <a:spLocks noChangeArrowheads="1"/>
          </p:cNvSpPr>
          <p:nvPr/>
        </p:nvSpPr>
        <p:spPr bwMode="auto">
          <a:xfrm>
            <a:off x="2434432" y="4368483"/>
            <a:ext cx="309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3366FF"/>
                </a:solidFill>
              </a:rPr>
              <a:t>0</a:t>
            </a:r>
          </a:p>
        </p:txBody>
      </p:sp>
      <p:sp>
        <p:nvSpPr>
          <p:cNvPr id="29" name="矩形 28"/>
          <p:cNvSpPr>
            <a:spLocks noChangeArrowheads="1"/>
          </p:cNvSpPr>
          <p:nvPr/>
        </p:nvSpPr>
        <p:spPr bwMode="auto">
          <a:xfrm>
            <a:off x="5339398" y="4322445"/>
            <a:ext cx="309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3366FF"/>
                </a:solidFill>
              </a:rPr>
              <a:t>0</a:t>
            </a:r>
          </a:p>
        </p:txBody>
      </p:sp>
      <p:sp>
        <p:nvSpPr>
          <p:cNvPr id="30" name="矩形 29"/>
          <p:cNvSpPr>
            <a:spLocks noChangeArrowheads="1"/>
          </p:cNvSpPr>
          <p:nvPr/>
        </p:nvSpPr>
        <p:spPr bwMode="auto">
          <a:xfrm>
            <a:off x="3233579" y="4285933"/>
            <a:ext cx="309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3333FF"/>
                </a:solidFill>
              </a:rPr>
              <a:t>1</a:t>
            </a:r>
          </a:p>
        </p:txBody>
      </p:sp>
      <p:sp>
        <p:nvSpPr>
          <p:cNvPr id="4" name="标题 3"/>
          <p:cNvSpPr>
            <a:spLocks noGrp="1"/>
          </p:cNvSpPr>
          <p:nvPr>
            <p:ph type="title"/>
          </p:nvPr>
        </p:nvSpPr>
        <p:spPr>
          <a:xfrm>
            <a:off x="559435" y="679133"/>
            <a:ext cx="8229600" cy="504825"/>
          </a:xfrm>
        </p:spPr>
        <p:txBody>
          <a:bodyPr vert="horz" lIns="91440" tIns="45720" rIns="91440" bIns="45720" rtlCol="0" anchor="b">
            <a:noAutofit/>
          </a:bodyPr>
          <a:lstStyle/>
          <a:p>
            <a:r>
              <a:rPr lang="zh-CN" altLang="en-US" sz="3200" dirty="0">
                <a:solidFill>
                  <a:srgbClr val="FF0000"/>
                </a:solidFill>
                <a:latin typeface="+mn-lt"/>
                <a:cs typeface="+mn-lt"/>
                <a:sym typeface="+mn-ea"/>
              </a:rPr>
              <a:t>(2) Architecture of push-pull output (strong pull-up output) operating mode</a:t>
            </a:r>
            <a:endParaRPr lang="zh-CN" altLang="en-US" sz="3200" dirty="0">
              <a:solidFill>
                <a:srgbClr val="FF0000"/>
              </a:solidFill>
            </a:endParaRPr>
          </a:p>
        </p:txBody>
      </p:sp>
      <p:sp>
        <p:nvSpPr>
          <p:cNvPr id="18" name="文本框 17"/>
          <p:cNvSpPr txBox="1"/>
          <p:nvPr/>
        </p:nvSpPr>
        <p:spPr>
          <a:xfrm>
            <a:off x="1149350" y="4246245"/>
            <a:ext cx="1527810" cy="337185"/>
          </a:xfrm>
          <a:prstGeom prst="rect">
            <a:avLst/>
          </a:prstGeom>
        </p:spPr>
        <p:txBody>
          <a:bodyPr wrap="square">
            <a:spAutoFit/>
          </a:bodyPr>
          <a:lstStyle/>
          <a:p>
            <a:r>
              <a:rPr lang="en-US" altLang="zh-CN" sz="1600"/>
              <a:t>Port Data Latch</a:t>
            </a:r>
          </a:p>
        </p:txBody>
      </p:sp>
      <p:sp>
        <p:nvSpPr>
          <p:cNvPr id="22" name="文本框 21"/>
          <p:cNvSpPr txBox="1"/>
          <p:nvPr/>
        </p:nvSpPr>
        <p:spPr>
          <a:xfrm>
            <a:off x="4005580" y="6070600"/>
            <a:ext cx="2802890" cy="337185"/>
          </a:xfrm>
          <a:prstGeom prst="rect">
            <a:avLst/>
          </a:prstGeom>
        </p:spPr>
        <p:txBody>
          <a:bodyPr wrap="square">
            <a:spAutoFit/>
          </a:bodyPr>
          <a:lstStyle/>
          <a:p>
            <a:r>
              <a:rPr lang="en-US" altLang="zh-CN" sz="1600"/>
              <a:t>Interference Suppression Filter</a:t>
            </a:r>
          </a:p>
        </p:txBody>
      </p:sp>
      <p:sp>
        <p:nvSpPr>
          <p:cNvPr id="23" name="文本框 22"/>
          <p:cNvSpPr txBox="1"/>
          <p:nvPr/>
        </p:nvSpPr>
        <p:spPr>
          <a:xfrm>
            <a:off x="5449570" y="4531995"/>
            <a:ext cx="3048000" cy="368300"/>
          </a:xfrm>
          <a:prstGeom prst="rect">
            <a:avLst/>
          </a:prstGeom>
          <a:noFill/>
        </p:spPr>
        <p:txBody>
          <a:bodyPr wrap="square" rtlCol="0">
            <a:spAutoFit/>
          </a:bodyPr>
          <a:lstStyle/>
          <a:p>
            <a:r>
              <a:rPr lang="en-US" altLang="zh-CN"/>
              <a:t>Port Pin</a:t>
            </a:r>
          </a:p>
        </p:txBody>
      </p:sp>
      <p:sp>
        <p:nvSpPr>
          <p:cNvPr id="24" name="文本框 23"/>
          <p:cNvSpPr txBox="1"/>
          <p:nvPr/>
        </p:nvSpPr>
        <p:spPr>
          <a:xfrm>
            <a:off x="1774825" y="5643880"/>
            <a:ext cx="3048000" cy="368300"/>
          </a:xfrm>
          <a:prstGeom prst="rect">
            <a:avLst/>
          </a:prstGeom>
          <a:noFill/>
        </p:spPr>
        <p:txBody>
          <a:bodyPr wrap="square" rtlCol="0">
            <a:spAutoFit/>
          </a:bodyPr>
          <a:lstStyle/>
          <a:p>
            <a:r>
              <a:rPr lang="en-US" altLang="zh-CN"/>
              <a:t>input data </a:t>
            </a:r>
          </a:p>
        </p:txBody>
      </p:sp>
      <p:sp>
        <p:nvSpPr>
          <p:cNvPr id="52" name="灯片编号占位符 51"/>
          <p:cNvSpPr>
            <a:spLocks noGrp="1"/>
          </p:cNvSpPr>
          <p:nvPr>
            <p:ph type="sldNum" sz="quarter" idx="12"/>
          </p:nvPr>
        </p:nvSpPr>
        <p:spPr/>
        <p:txBody>
          <a:bodyPr/>
          <a:lstStyle/>
          <a:p>
            <a:fld id="{22E77DEE-32E4-4009-988B-F2758F7B8AC2}" type="slidenum">
              <a:rPr lang="zh-CN" altLang="en-US" smtClean="0"/>
              <a:t>66</a:t>
            </a:fld>
            <a:endParaRPr lang="zh-C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2"/>
          <p:cNvSpPr>
            <a:spLocks noGrp="1" noChangeArrowheads="1"/>
          </p:cNvSpPr>
          <p:nvPr>
            <p:ph type="title"/>
          </p:nvPr>
        </p:nvSpPr>
        <p:spPr>
          <a:xfrm>
            <a:off x="499428" y="610553"/>
            <a:ext cx="8229600" cy="504825"/>
          </a:xfrm>
        </p:spPr>
        <p:txBody>
          <a:bodyPr vert="horz" lIns="91440" tIns="45720" rIns="91440" bIns="45720" rtlCol="0" anchor="b">
            <a:noAutofit/>
          </a:bodyPr>
          <a:lstStyle/>
          <a:p>
            <a:r>
              <a:rPr lang="en-US" altLang="zh-CN" sz="3200" b="1" dirty="0">
                <a:solidFill>
                  <a:srgbClr val="FF0000"/>
                </a:solidFill>
                <a:sym typeface="+mn-ea"/>
              </a:rPr>
              <a:t>2. Architecture of I/O ports in the IAP15W4K58S4 microcontroller</a:t>
            </a:r>
            <a:endParaRPr lang="zh-CN" altLang="en-US" sz="3200" b="1" dirty="0">
              <a:solidFill>
                <a:srgbClr val="FF0000"/>
              </a:solidFill>
            </a:endParaRPr>
          </a:p>
        </p:txBody>
      </p:sp>
      <p:sp>
        <p:nvSpPr>
          <p:cNvPr id="524291" name="Rectangle 3"/>
          <p:cNvSpPr>
            <a:spLocks noGrp="1" noChangeArrowheads="1"/>
          </p:cNvSpPr>
          <p:nvPr>
            <p:ph idx="1"/>
          </p:nvPr>
        </p:nvSpPr>
        <p:spPr>
          <a:xfrm>
            <a:off x="161290" y="1235531"/>
            <a:ext cx="8494713" cy="5055732"/>
          </a:xfrm>
        </p:spPr>
        <p:txBody>
          <a:bodyPr/>
          <a:lstStyle/>
          <a:p>
            <a:pPr marL="0" indent="0" eaLnBrk="1" hangingPunct="1">
              <a:buFontTx/>
              <a:buNone/>
              <a:defRPr/>
            </a:pPr>
            <a:r>
              <a:rPr lang="zh-CN" altLang="en-US" dirty="0">
                <a:solidFill>
                  <a:srgbClr val="FF00FF"/>
                </a:solidFill>
                <a:latin typeface="+mj-lt"/>
              </a:rPr>
              <a:t>(3) Structure for input-only (high-impedance) operation mode</a:t>
            </a:r>
          </a:p>
          <a:p>
            <a:pPr marL="0" indent="0" eaLnBrk="1" hangingPunct="1">
              <a:buFontTx/>
              <a:buNone/>
              <a:defRPr/>
            </a:pPr>
            <a:endParaRPr lang="zh-CN" altLang="en-US" dirty="0">
              <a:solidFill>
                <a:srgbClr val="FF00FF"/>
              </a:solidFill>
              <a:latin typeface="+mj-lt"/>
            </a:endParaRPr>
          </a:p>
          <a:p>
            <a:pPr marL="0" indent="0" eaLnBrk="1" hangingPunct="1">
              <a:buFontTx/>
              <a:buNone/>
              <a:defRPr/>
            </a:pPr>
            <a:endParaRPr lang="zh-CN" altLang="en-US" dirty="0">
              <a:solidFill>
                <a:srgbClr val="FF00FF"/>
              </a:solidFill>
              <a:latin typeface="+mj-lt"/>
            </a:endParaRPr>
          </a:p>
          <a:p>
            <a:pPr marL="0" indent="0" eaLnBrk="1" hangingPunct="1">
              <a:buFontTx/>
              <a:buNone/>
              <a:defRPr/>
            </a:pPr>
            <a:endParaRPr lang="zh-CN" altLang="en-US" dirty="0">
              <a:solidFill>
                <a:srgbClr val="FF00FF"/>
              </a:solidFill>
              <a:latin typeface="+mj-lt"/>
            </a:endParaRPr>
          </a:p>
          <a:p>
            <a:pPr marL="0" indent="0" eaLnBrk="1" hangingPunct="1">
              <a:buFontTx/>
              <a:buNone/>
              <a:defRPr/>
            </a:pPr>
            <a:endParaRPr lang="zh-CN" altLang="en-US" dirty="0">
              <a:solidFill>
                <a:srgbClr val="FF00FF"/>
              </a:solidFill>
              <a:latin typeface="+mj-lt"/>
            </a:endParaRPr>
          </a:p>
          <a:p>
            <a:pPr eaLnBrk="1" hangingPunct="1">
              <a:defRPr/>
            </a:pPr>
            <a:endParaRPr lang="zh-CN" altLang="en-US" dirty="0">
              <a:solidFill>
                <a:srgbClr val="CC3300"/>
              </a:solidFill>
            </a:endParaRPr>
          </a:p>
          <a:p>
            <a:pPr eaLnBrk="1" hangingPunct="1">
              <a:defRPr/>
            </a:pPr>
            <a:endParaRPr lang="zh-CN" altLang="en-US" dirty="0">
              <a:solidFill>
                <a:srgbClr val="CC3300"/>
              </a:solidFill>
            </a:endParaRPr>
          </a:p>
          <a:p>
            <a:pPr eaLnBrk="1" hangingPunct="1">
              <a:defRPr/>
            </a:pPr>
            <a:endParaRPr lang="zh-CN" altLang="en-US" dirty="0">
              <a:solidFill>
                <a:srgbClr val="CC3300"/>
              </a:solidFill>
            </a:endParaRPr>
          </a:p>
          <a:p>
            <a:pPr lvl="1" eaLnBrk="1" hangingPunct="1">
              <a:defRPr/>
            </a:pPr>
            <a:r>
              <a:rPr lang="zh-CN" altLang="en-US" dirty="0"/>
              <a:t>The input port has a Schmitt trigger input and an interference suppression circuit.</a:t>
            </a:r>
          </a:p>
          <a:p>
            <a:pPr lvl="1" eaLnBrk="1" hangingPunct="1">
              <a:defRPr/>
            </a:pPr>
            <a:r>
              <a:rPr lang="zh-CN" altLang="en-US" dirty="0"/>
              <a:t>Note: The I/O port does not support 20mA sink/drain current capability in input (high-impedance) mode only.</a:t>
            </a:r>
            <a:endParaRPr lang="zh-CN" altLang="en-US" dirty="0">
              <a:solidFill>
                <a:srgbClr val="FF0000"/>
              </a:solidFill>
            </a:endParaRPr>
          </a:p>
        </p:txBody>
      </p:sp>
      <p:sp>
        <p:nvSpPr>
          <p:cNvPr id="119813" name="Rectangle 5"/>
          <p:cNvSpPr>
            <a:spLocks noChangeArrowheads="1"/>
          </p:cNvSpPr>
          <p:nvPr/>
        </p:nvSpPr>
        <p:spPr bwMode="auto">
          <a:xfrm>
            <a:off x="-258763" y="3214688"/>
            <a:ext cx="9144001"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9814" name="Rectangle 8"/>
          <p:cNvSpPr>
            <a:spLocks noChangeArrowheads="1"/>
          </p:cNvSpPr>
          <p:nvPr/>
        </p:nvSpPr>
        <p:spPr bwMode="auto">
          <a:xfrm>
            <a:off x="-258763" y="3186113"/>
            <a:ext cx="9144001"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524295" name="Object 7"/>
          <p:cNvGraphicFramePr>
            <a:graphicFrameLocks noChangeAspect="1"/>
          </p:cNvGraphicFramePr>
          <p:nvPr/>
        </p:nvGraphicFramePr>
        <p:xfrm>
          <a:off x="160973" y="2174240"/>
          <a:ext cx="8031162" cy="1473200"/>
        </p:xfrm>
        <a:graphic>
          <a:graphicData uri="http://schemas.openxmlformats.org/presentationml/2006/ole">
            <mc:AlternateContent xmlns:mc="http://schemas.openxmlformats.org/markup-compatibility/2006">
              <mc:Choice xmlns:v="urn:schemas-microsoft-com:vml" Requires="v">
                <p:oleObj name="Visio" r:id="rId2" imgW="2856230" imgH="534035" progId="Visio.Drawing.11">
                  <p:embed/>
                </p:oleObj>
              </mc:Choice>
              <mc:Fallback>
                <p:oleObj name="Visio" r:id="rId2" imgW="2856230" imgH="534035" progId="Visio.Drawing.11">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973" y="2174240"/>
                        <a:ext cx="8031162" cy="147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4297" name="Rectangle 9"/>
          <p:cNvSpPr>
            <a:spLocks noChangeArrowheads="1"/>
          </p:cNvSpPr>
          <p:nvPr/>
        </p:nvSpPr>
        <p:spPr bwMode="auto">
          <a:xfrm>
            <a:off x="2231799" y="3973974"/>
            <a:ext cx="4756785" cy="36830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b="1" dirty="0">
                <a:solidFill>
                  <a:srgbClr val="990033"/>
                </a:solidFill>
              </a:rPr>
              <a:t>Input (high-impedance) mode I/O bit structure</a:t>
            </a:r>
          </a:p>
        </p:txBody>
      </p:sp>
      <p:sp>
        <p:nvSpPr>
          <p:cNvPr id="10" name="矩形 9"/>
          <p:cNvSpPr/>
          <p:nvPr/>
        </p:nvSpPr>
        <p:spPr>
          <a:xfrm>
            <a:off x="-190500" y="3261678"/>
            <a:ext cx="3157538" cy="219710"/>
          </a:xfrm>
          <a:prstGeom prst="rect">
            <a:avLst/>
          </a:prstGeom>
          <a:noFill/>
        </p:spPr>
        <p:txBody>
          <a:bodyPr lIns="0" tIns="36000" rIns="0" bIns="0" anchor="b">
            <a:spAutoFit/>
          </a:bodyPr>
          <a:lstStyle/>
          <a:p>
            <a:pPr algn="ctr" eaLnBrk="1" hangingPunct="1">
              <a:lnSpc>
                <a:spcPct val="75000"/>
              </a:lnSpc>
              <a:defRPr/>
            </a:pPr>
            <a:r>
              <a:rPr lang="en-US" altLang="zh-CN" sz="1600" b="1" kern="0" dirty="0">
                <a:solidFill>
                  <a:srgbClr val="FF0000"/>
                </a:solidFill>
                <a:cs typeface="Times New Roman" panose="02020603050405020304" pitchFamily="18" charset="0"/>
              </a:rPr>
              <a:t>CPU reads pin status data</a:t>
            </a:r>
            <a:endParaRPr lang="en-US" altLang="zh-CN" sz="1600" b="1" kern="0" dirty="0">
              <a:solidFill>
                <a:srgbClr val="FF0000"/>
              </a:solidFill>
              <a:ea typeface="宋体" panose="02010600030101010101" pitchFamily="2" charset="-122"/>
              <a:cs typeface="Times New Roman" panose="02020603050405020304" pitchFamily="18" charset="0"/>
            </a:endParaRPr>
          </a:p>
        </p:txBody>
      </p:sp>
      <p:grpSp>
        <p:nvGrpSpPr>
          <p:cNvPr id="15" name="组合 14"/>
          <p:cNvGrpSpPr/>
          <p:nvPr/>
        </p:nvGrpSpPr>
        <p:grpSpPr bwMode="auto">
          <a:xfrm>
            <a:off x="8022273" y="2782253"/>
            <a:ext cx="660400" cy="1844675"/>
            <a:chOff x="8339424" y="4627084"/>
            <a:chExt cx="661034" cy="1844320"/>
          </a:xfrm>
        </p:grpSpPr>
        <p:pic>
          <p:nvPicPr>
            <p:cNvPr id="119826" name="图片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39424" y="5326156"/>
              <a:ext cx="661034" cy="1145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9827" name="直接连接符 16"/>
            <p:cNvCxnSpPr>
              <a:cxnSpLocks noChangeShapeType="1"/>
            </p:cNvCxnSpPr>
            <p:nvPr/>
          </p:nvCxnSpPr>
          <p:spPr bwMode="auto">
            <a:xfrm flipV="1">
              <a:off x="8405208" y="4638101"/>
              <a:ext cx="242699" cy="11856"/>
            </a:xfrm>
            <a:prstGeom prst="line">
              <a:avLst/>
            </a:prstGeom>
            <a:noFill/>
            <a:ln w="28575" algn="ctr">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9828" name="直接连接符 17"/>
            <p:cNvCxnSpPr>
              <a:cxnSpLocks noChangeShapeType="1"/>
            </p:cNvCxnSpPr>
            <p:nvPr/>
          </p:nvCxnSpPr>
          <p:spPr bwMode="auto">
            <a:xfrm>
              <a:off x="8647907" y="4627084"/>
              <a:ext cx="0" cy="782198"/>
            </a:xfrm>
            <a:prstGeom prst="line">
              <a:avLst/>
            </a:prstGeom>
            <a:noFill/>
            <a:ln w="28575" algn="ctr">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9" name="矩形 18"/>
          <p:cNvSpPr/>
          <p:nvPr/>
        </p:nvSpPr>
        <p:spPr>
          <a:xfrm>
            <a:off x="6963410" y="1639253"/>
            <a:ext cx="1016000" cy="614362"/>
          </a:xfrm>
          <a:prstGeom prst="rect">
            <a:avLst/>
          </a:prstGeom>
          <a:noFill/>
        </p:spPr>
        <p:txBody>
          <a:bodyPr lIns="0" tIns="36000" rIns="0" bIns="0" anchor="b">
            <a:spAutoFit/>
          </a:bodyPr>
          <a:lstStyle/>
          <a:p>
            <a:pPr algn="ctr" eaLnBrk="1" hangingPunct="1">
              <a:lnSpc>
                <a:spcPct val="75000"/>
              </a:lnSpc>
              <a:defRPr/>
            </a:pPr>
            <a:r>
              <a:rPr lang="zh-CN" altLang="en-US" sz="1200" b="1" kern="0" dirty="0">
                <a:solidFill>
                  <a:srgbClr val="FF0000"/>
                </a:solidFill>
                <a:cs typeface="Times New Roman" panose="02020603050405020304" pitchFamily="18" charset="0"/>
              </a:rPr>
              <a:t>Example: P3.2</a:t>
            </a:r>
            <a:endParaRPr lang="en-US" altLang="zh-CN" sz="2400" b="1" dirty="0">
              <a:solidFill>
                <a:srgbClr val="FF0000"/>
              </a:solidFill>
              <a:ea typeface="宋体" panose="02010600030101010101" pitchFamily="2" charset="-122"/>
              <a:cs typeface="Times New Roman" panose="02020603050405020304" pitchFamily="18" charset="0"/>
            </a:endParaRPr>
          </a:p>
        </p:txBody>
      </p:sp>
      <p:grpSp>
        <p:nvGrpSpPr>
          <p:cNvPr id="20" name="组合 19"/>
          <p:cNvGrpSpPr/>
          <p:nvPr/>
        </p:nvGrpSpPr>
        <p:grpSpPr bwMode="auto">
          <a:xfrm>
            <a:off x="8125778" y="1393190"/>
            <a:ext cx="619125" cy="1412875"/>
            <a:chOff x="8466965" y="3220133"/>
            <a:chExt cx="620077" cy="1412460"/>
          </a:xfrm>
        </p:grpSpPr>
        <p:pic>
          <p:nvPicPr>
            <p:cNvPr id="119822" name="图片 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88415" y="3220133"/>
              <a:ext cx="598627" cy="119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9823" name="直接连接符 21"/>
            <p:cNvCxnSpPr>
              <a:cxnSpLocks noChangeShapeType="1"/>
            </p:cNvCxnSpPr>
            <p:nvPr/>
          </p:nvCxnSpPr>
          <p:spPr bwMode="auto">
            <a:xfrm flipV="1">
              <a:off x="8466965" y="4626889"/>
              <a:ext cx="286056" cy="912"/>
            </a:xfrm>
            <a:prstGeom prst="line">
              <a:avLst/>
            </a:prstGeom>
            <a:noFill/>
            <a:ln w="28575" algn="ctr">
              <a:solidFill>
                <a:srgbClr val="3333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9824" name="直接连接符 22"/>
            <p:cNvCxnSpPr>
              <a:cxnSpLocks noChangeShapeType="1"/>
            </p:cNvCxnSpPr>
            <p:nvPr/>
          </p:nvCxnSpPr>
          <p:spPr bwMode="auto">
            <a:xfrm flipV="1">
              <a:off x="8742004" y="4393765"/>
              <a:ext cx="4480" cy="238828"/>
            </a:xfrm>
            <a:prstGeom prst="line">
              <a:avLst/>
            </a:prstGeom>
            <a:noFill/>
            <a:ln w="28575" algn="ctr">
              <a:solidFill>
                <a:srgbClr val="3333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9825" name="直接连接符 62"/>
            <p:cNvCxnSpPr/>
            <p:nvPr/>
          </p:nvCxnSpPr>
          <p:spPr bwMode="auto">
            <a:xfrm rot="10800000">
              <a:off x="8702574" y="4055551"/>
              <a:ext cx="314299" cy="182805"/>
            </a:xfrm>
            <a:prstGeom prst="curvedConnector3">
              <a:avLst>
                <a:gd name="adj1" fmla="val 28125"/>
              </a:avLst>
            </a:prstGeom>
            <a:noFill/>
            <a:ln w="28575" algn="ctr">
              <a:solidFill>
                <a:srgbClr val="3333FF"/>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2" name="文本框 21"/>
          <p:cNvSpPr txBox="1"/>
          <p:nvPr/>
        </p:nvSpPr>
        <p:spPr>
          <a:xfrm>
            <a:off x="4300220" y="3481705"/>
            <a:ext cx="3125470" cy="337185"/>
          </a:xfrm>
          <a:prstGeom prst="rect">
            <a:avLst/>
          </a:prstGeom>
        </p:spPr>
        <p:txBody>
          <a:bodyPr wrap="square">
            <a:spAutoFit/>
          </a:bodyPr>
          <a:lstStyle/>
          <a:p>
            <a:r>
              <a:rPr lang="en-US" altLang="zh-CN" sz="1600"/>
              <a:t>Interference Suppression Filter</a:t>
            </a:r>
          </a:p>
        </p:txBody>
      </p:sp>
      <p:sp>
        <p:nvSpPr>
          <p:cNvPr id="24" name="文本框 23"/>
          <p:cNvSpPr txBox="1"/>
          <p:nvPr/>
        </p:nvSpPr>
        <p:spPr>
          <a:xfrm>
            <a:off x="311785" y="2913380"/>
            <a:ext cx="3048000" cy="385445"/>
          </a:xfrm>
          <a:prstGeom prst="rect">
            <a:avLst/>
          </a:prstGeom>
          <a:noFill/>
        </p:spPr>
        <p:txBody>
          <a:bodyPr wrap="square" rtlCol="0">
            <a:noAutofit/>
          </a:bodyPr>
          <a:lstStyle/>
          <a:p>
            <a:r>
              <a:rPr lang="en-US" altLang="zh-CN"/>
              <a:t>input data </a:t>
            </a:r>
          </a:p>
        </p:txBody>
      </p:sp>
      <p:sp>
        <p:nvSpPr>
          <p:cNvPr id="23" name="文本框 22"/>
          <p:cNvSpPr txBox="1"/>
          <p:nvPr/>
        </p:nvSpPr>
        <p:spPr>
          <a:xfrm>
            <a:off x="7205980" y="3182620"/>
            <a:ext cx="3048000" cy="368300"/>
          </a:xfrm>
          <a:prstGeom prst="rect">
            <a:avLst/>
          </a:prstGeom>
          <a:noFill/>
        </p:spPr>
        <p:txBody>
          <a:bodyPr wrap="square" rtlCol="0">
            <a:spAutoFit/>
          </a:bodyPr>
          <a:lstStyle/>
          <a:p>
            <a:r>
              <a:rPr lang="en-US" altLang="zh-CN"/>
              <a:t>Port Pin</a:t>
            </a:r>
          </a:p>
        </p:txBody>
      </p:sp>
      <p:sp>
        <p:nvSpPr>
          <p:cNvPr id="6" name="灯片编号占位符 5"/>
          <p:cNvSpPr>
            <a:spLocks noGrp="1"/>
          </p:cNvSpPr>
          <p:nvPr>
            <p:ph type="sldNum" sz="quarter" idx="12"/>
          </p:nvPr>
        </p:nvSpPr>
        <p:spPr/>
        <p:txBody>
          <a:bodyPr/>
          <a:lstStyle/>
          <a:p>
            <a:fld id="{22E77DEE-32E4-4009-988B-F2758F7B8AC2}" type="slidenum">
              <a:rPr lang="zh-CN" altLang="en-US" smtClean="0"/>
              <a:t>67</a:t>
            </a:fld>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834" name="图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3012" y="938548"/>
            <a:ext cx="4635500" cy="2066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835" name="Rectangle 2"/>
          <p:cNvSpPr>
            <a:spLocks noGrp="1" noChangeArrowheads="1"/>
          </p:cNvSpPr>
          <p:nvPr>
            <p:ph type="title" idx="4294967295"/>
          </p:nvPr>
        </p:nvSpPr>
        <p:spPr>
          <a:xfrm>
            <a:off x="259080" y="73660"/>
            <a:ext cx="9061450" cy="520700"/>
          </a:xfrm>
        </p:spPr>
        <p:txBody>
          <a:bodyPr vert="horz" lIns="91440" tIns="45720" rIns="91440" bIns="45720" rtlCol="0" anchor="b">
            <a:noAutofit/>
          </a:bodyPr>
          <a:lstStyle/>
          <a:p>
            <a:r>
              <a:rPr lang="zh-CN" altLang="en-US" sz="2400" dirty="0">
                <a:solidFill>
                  <a:srgbClr val="FF0000"/>
                </a:solidFill>
              </a:rPr>
              <a:t>External bus interface level conversion technology (supplement)</a:t>
            </a:r>
          </a:p>
        </p:txBody>
      </p:sp>
      <p:sp>
        <p:nvSpPr>
          <p:cNvPr id="120836" name="Rectangle 3"/>
          <p:cNvSpPr>
            <a:spLocks noGrp="1" noChangeArrowheads="1"/>
          </p:cNvSpPr>
          <p:nvPr>
            <p:ph type="body" idx="4294967295"/>
          </p:nvPr>
        </p:nvSpPr>
        <p:spPr>
          <a:xfrm>
            <a:off x="125186" y="619442"/>
            <a:ext cx="6645275" cy="366713"/>
          </a:xfrm>
        </p:spPr>
        <p:txBody>
          <a:bodyPr>
            <a:normAutofit/>
          </a:bodyPr>
          <a:lstStyle/>
          <a:p>
            <a:pPr eaLnBrk="1" hangingPunct="1">
              <a:lnSpc>
                <a:spcPct val="80000"/>
              </a:lnSpc>
              <a:buFontTx/>
              <a:buNone/>
            </a:pPr>
            <a:r>
              <a:rPr lang="zh-CN" altLang="en-US" sz="1400"/>
              <a:t>A Schmitt trigger composed of CMOS inverters</a:t>
            </a:r>
            <a:endParaRPr lang="zh-CN" altLang="en-US" sz="2800">
              <a:solidFill>
                <a:srgbClr val="FF0000"/>
              </a:solidFill>
            </a:endParaRPr>
          </a:p>
        </p:txBody>
      </p:sp>
      <p:pic>
        <p:nvPicPr>
          <p:cNvPr id="120838" name="图片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163" y="1390333"/>
            <a:ext cx="2079625" cy="131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839" name="图片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92900" y="4273233"/>
            <a:ext cx="2209800" cy="1306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840" name="图片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963" y="3225483"/>
            <a:ext cx="3078162" cy="296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841" name="图片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94100" y="3225483"/>
            <a:ext cx="3098800" cy="296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0842" name="组合 33"/>
          <p:cNvGrpSpPr/>
          <p:nvPr/>
        </p:nvGrpSpPr>
        <p:grpSpPr bwMode="auto">
          <a:xfrm>
            <a:off x="427038" y="3919220"/>
            <a:ext cx="1412875" cy="1731963"/>
            <a:chOff x="427420" y="4477406"/>
            <a:chExt cx="1411890" cy="1730704"/>
          </a:xfrm>
        </p:grpSpPr>
        <p:cxnSp>
          <p:nvCxnSpPr>
            <p:cNvPr id="120869" name="直接箭头连接符 3"/>
            <p:cNvCxnSpPr>
              <a:cxnSpLocks noChangeShapeType="1"/>
            </p:cNvCxnSpPr>
            <p:nvPr/>
          </p:nvCxnSpPr>
          <p:spPr bwMode="auto">
            <a:xfrm>
              <a:off x="427420" y="6197600"/>
              <a:ext cx="959945" cy="0"/>
            </a:xfrm>
            <a:prstGeom prst="straightConnector1">
              <a:avLst/>
            </a:prstGeom>
            <a:noFill/>
            <a:ln w="28575" algn="ctr">
              <a:solidFill>
                <a:srgbClr val="FF0000"/>
              </a:solidFill>
              <a:rou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70" name="直接箭头连接符 14"/>
            <p:cNvCxnSpPr>
              <a:cxnSpLocks noChangeShapeType="1"/>
            </p:cNvCxnSpPr>
            <p:nvPr/>
          </p:nvCxnSpPr>
          <p:spPr bwMode="auto">
            <a:xfrm flipV="1">
              <a:off x="1814785" y="5433848"/>
              <a:ext cx="0" cy="774262"/>
            </a:xfrm>
            <a:prstGeom prst="straightConnector1">
              <a:avLst/>
            </a:prstGeom>
            <a:noFill/>
            <a:ln w="28575" algn="ctr">
              <a:solidFill>
                <a:srgbClr val="FF0000"/>
              </a:solidFill>
              <a:rou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71" name="直接箭头连接符 18"/>
            <p:cNvCxnSpPr>
              <a:cxnSpLocks noChangeShapeType="1"/>
            </p:cNvCxnSpPr>
            <p:nvPr/>
          </p:nvCxnSpPr>
          <p:spPr bwMode="auto">
            <a:xfrm flipV="1">
              <a:off x="1825296" y="4477406"/>
              <a:ext cx="0" cy="1030015"/>
            </a:xfrm>
            <a:prstGeom prst="straightConnector1">
              <a:avLst/>
            </a:prstGeom>
            <a:noFill/>
            <a:ln w="28575" algn="ctr">
              <a:solidFill>
                <a:srgbClr val="FF0000"/>
              </a:solidFill>
              <a:rou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72" name="直接箭头连接符 20"/>
            <p:cNvCxnSpPr>
              <a:cxnSpLocks noChangeShapeType="1"/>
            </p:cNvCxnSpPr>
            <p:nvPr/>
          </p:nvCxnSpPr>
          <p:spPr bwMode="auto">
            <a:xfrm>
              <a:off x="1404882" y="6208110"/>
              <a:ext cx="434428" cy="0"/>
            </a:xfrm>
            <a:prstGeom prst="straightConnector1">
              <a:avLst/>
            </a:prstGeom>
            <a:noFill/>
            <a:ln w="28575" algn="ctr">
              <a:solidFill>
                <a:srgbClr val="FF0000"/>
              </a:solidFill>
              <a:rou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20843" name="组合 30"/>
          <p:cNvGrpSpPr/>
          <p:nvPr/>
        </p:nvGrpSpPr>
        <p:grpSpPr bwMode="auto">
          <a:xfrm>
            <a:off x="903288" y="3909695"/>
            <a:ext cx="1482725" cy="1733550"/>
            <a:chOff x="903890" y="4466897"/>
            <a:chExt cx="1481958" cy="1734206"/>
          </a:xfrm>
        </p:grpSpPr>
        <p:cxnSp>
          <p:nvCxnSpPr>
            <p:cNvPr id="120864" name="直接箭头连接符 22"/>
            <p:cNvCxnSpPr>
              <a:cxnSpLocks noChangeShapeType="1"/>
            </p:cNvCxnSpPr>
            <p:nvPr/>
          </p:nvCxnSpPr>
          <p:spPr bwMode="auto">
            <a:xfrm>
              <a:off x="1804275" y="4473903"/>
              <a:ext cx="581573" cy="0"/>
            </a:xfrm>
            <a:prstGeom prst="straightConnector1">
              <a:avLst/>
            </a:prstGeom>
            <a:noFill/>
            <a:ln w="28575" algn="ctr">
              <a:solidFill>
                <a:srgbClr val="0000FF"/>
              </a:solidFill>
              <a:rou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65" name="直接箭头连接符 24"/>
            <p:cNvCxnSpPr>
              <a:cxnSpLocks noChangeShapeType="1"/>
            </p:cNvCxnSpPr>
            <p:nvPr/>
          </p:nvCxnSpPr>
          <p:spPr bwMode="auto">
            <a:xfrm>
              <a:off x="931916" y="4466897"/>
              <a:ext cx="0" cy="935420"/>
            </a:xfrm>
            <a:prstGeom prst="straightConnector1">
              <a:avLst/>
            </a:prstGeom>
            <a:noFill/>
            <a:ln w="28575" algn="ctr">
              <a:solidFill>
                <a:srgbClr val="0000FF"/>
              </a:solidFill>
              <a:rou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66" name="直接箭头连接符 26"/>
            <p:cNvCxnSpPr>
              <a:cxnSpLocks noChangeShapeType="1"/>
            </p:cNvCxnSpPr>
            <p:nvPr/>
          </p:nvCxnSpPr>
          <p:spPr bwMode="auto">
            <a:xfrm>
              <a:off x="942426" y="5293710"/>
              <a:ext cx="0" cy="907393"/>
            </a:xfrm>
            <a:prstGeom prst="straightConnector1">
              <a:avLst/>
            </a:prstGeom>
            <a:noFill/>
            <a:ln w="28575" algn="ctr">
              <a:solidFill>
                <a:srgbClr val="0000FF"/>
              </a:solidFill>
              <a:rou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67" name="直接箭头连接符 27"/>
            <p:cNvCxnSpPr>
              <a:cxnSpLocks noChangeShapeType="1"/>
            </p:cNvCxnSpPr>
            <p:nvPr/>
          </p:nvCxnSpPr>
          <p:spPr bwMode="auto">
            <a:xfrm flipH="1">
              <a:off x="1334814" y="4473902"/>
              <a:ext cx="479971" cy="0"/>
            </a:xfrm>
            <a:prstGeom prst="straightConnector1">
              <a:avLst/>
            </a:prstGeom>
            <a:noFill/>
            <a:ln w="28575" algn="ctr">
              <a:solidFill>
                <a:srgbClr val="0000FF"/>
              </a:solidFill>
              <a:rou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68" name="直接箭头连接符 29"/>
            <p:cNvCxnSpPr>
              <a:cxnSpLocks noChangeShapeType="1"/>
            </p:cNvCxnSpPr>
            <p:nvPr/>
          </p:nvCxnSpPr>
          <p:spPr bwMode="auto">
            <a:xfrm flipH="1">
              <a:off x="903890" y="4484413"/>
              <a:ext cx="479971" cy="0"/>
            </a:xfrm>
            <a:prstGeom prst="straightConnector1">
              <a:avLst/>
            </a:prstGeom>
            <a:noFill/>
            <a:ln w="28575" algn="ctr">
              <a:solidFill>
                <a:srgbClr val="0000FF"/>
              </a:solidFill>
              <a:rou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2" name="Rectangle 3"/>
          <p:cNvSpPr txBox="1">
            <a:spLocks noChangeArrowheads="1"/>
          </p:cNvSpPr>
          <p:nvPr/>
        </p:nvSpPr>
        <p:spPr bwMode="auto">
          <a:xfrm>
            <a:off x="1571625" y="5797233"/>
            <a:ext cx="8143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spcBef>
                <a:spcPct val="20000"/>
              </a:spcBef>
              <a:spcAft>
                <a:spcPct val="0"/>
              </a:spcAft>
              <a:buBlip>
                <a:blip r:embed="rId7"/>
              </a:buBlip>
              <a:defRPr sz="32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8"/>
              </a:buBlip>
              <a:defRPr sz="2800" b="1">
                <a:solidFill>
                  <a:schemeClr val="tx1"/>
                </a:solidFill>
                <a:latin typeface="+mn-lt"/>
                <a:ea typeface="+mj-ea"/>
              </a:defRPr>
            </a:lvl2pPr>
            <a:lvl3pPr marL="1143000" indent="-228600" algn="just" rtl="0" fontAlgn="base">
              <a:spcBef>
                <a:spcPct val="20000"/>
              </a:spcBef>
              <a:spcAft>
                <a:spcPct val="0"/>
              </a:spcAft>
              <a:buChar char="•"/>
              <a:defRPr sz="2400">
                <a:solidFill>
                  <a:schemeClr val="tx1"/>
                </a:solidFill>
                <a:latin typeface="+mn-lt"/>
                <a:ea typeface="+mj-ea"/>
              </a:defRPr>
            </a:lvl3pPr>
            <a:lvl4pPr marL="1600200" indent="-228600" algn="just" rtl="0" fontAlgn="base">
              <a:spcBef>
                <a:spcPct val="20000"/>
              </a:spcBef>
              <a:spcAft>
                <a:spcPct val="0"/>
              </a:spcAft>
              <a:buChar char="–"/>
              <a:defRPr sz="2000">
                <a:solidFill>
                  <a:schemeClr val="tx1"/>
                </a:solidFill>
                <a:latin typeface="+mn-lt"/>
                <a:ea typeface="+mj-ea"/>
              </a:defRPr>
            </a:lvl4pPr>
            <a:lvl5pPr marL="2057400" indent="-228600" algn="just" rtl="0" fontAlgn="base">
              <a:spcBef>
                <a:spcPct val="20000"/>
              </a:spcBef>
              <a:spcAft>
                <a:spcPct val="0"/>
              </a:spcAft>
              <a:buChar char="»"/>
              <a:defRPr sz="2000">
                <a:solidFill>
                  <a:schemeClr val="tx1"/>
                </a:solidFill>
                <a:latin typeface="+mn-lt"/>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lnSpc>
                <a:spcPct val="80000"/>
              </a:lnSpc>
              <a:buFontTx/>
              <a:buNone/>
              <a:defRPr/>
            </a:pPr>
            <a:r>
              <a:rPr lang="en-US" altLang="zh-CN" sz="1200" kern="0" dirty="0">
                <a:solidFill>
                  <a:srgbClr val="FF0000"/>
                </a:solidFill>
                <a:latin typeface="Arial Black" panose="020B0A04020102020204" pitchFamily="34" charset="0"/>
              </a:rPr>
              <a:t>VT+</a:t>
            </a:r>
            <a:endParaRPr lang="zh-CN" altLang="en-US" sz="2400" kern="0" baseline="-25000" dirty="0">
              <a:solidFill>
                <a:srgbClr val="FF0000"/>
              </a:solidFill>
              <a:latin typeface="Arial Black" panose="020B0A04020102020204" pitchFamily="34" charset="0"/>
            </a:endParaRPr>
          </a:p>
        </p:txBody>
      </p:sp>
      <p:sp>
        <p:nvSpPr>
          <p:cNvPr id="33" name="Rectangle 3"/>
          <p:cNvSpPr txBox="1">
            <a:spLocks noChangeArrowheads="1"/>
          </p:cNvSpPr>
          <p:nvPr/>
        </p:nvSpPr>
        <p:spPr bwMode="auto">
          <a:xfrm>
            <a:off x="530225" y="5786120"/>
            <a:ext cx="8143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spcBef>
                <a:spcPct val="20000"/>
              </a:spcBef>
              <a:spcAft>
                <a:spcPct val="0"/>
              </a:spcAft>
              <a:buBlip>
                <a:blip r:embed="rId7"/>
              </a:buBlip>
              <a:defRPr sz="32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8"/>
              </a:buBlip>
              <a:defRPr sz="2800" b="1">
                <a:solidFill>
                  <a:schemeClr val="tx1"/>
                </a:solidFill>
                <a:latin typeface="+mn-lt"/>
                <a:ea typeface="+mj-ea"/>
              </a:defRPr>
            </a:lvl2pPr>
            <a:lvl3pPr marL="1143000" indent="-228600" algn="just" rtl="0" fontAlgn="base">
              <a:spcBef>
                <a:spcPct val="20000"/>
              </a:spcBef>
              <a:spcAft>
                <a:spcPct val="0"/>
              </a:spcAft>
              <a:buChar char="•"/>
              <a:defRPr sz="2400">
                <a:solidFill>
                  <a:schemeClr val="tx1"/>
                </a:solidFill>
                <a:latin typeface="+mn-lt"/>
                <a:ea typeface="+mj-ea"/>
              </a:defRPr>
            </a:lvl3pPr>
            <a:lvl4pPr marL="1600200" indent="-228600" algn="just" rtl="0" fontAlgn="base">
              <a:spcBef>
                <a:spcPct val="20000"/>
              </a:spcBef>
              <a:spcAft>
                <a:spcPct val="0"/>
              </a:spcAft>
              <a:buChar char="–"/>
              <a:defRPr sz="2000">
                <a:solidFill>
                  <a:schemeClr val="tx1"/>
                </a:solidFill>
                <a:latin typeface="+mn-lt"/>
                <a:ea typeface="+mj-ea"/>
              </a:defRPr>
            </a:lvl4pPr>
            <a:lvl5pPr marL="2057400" indent="-228600" algn="just" rtl="0" fontAlgn="base">
              <a:spcBef>
                <a:spcPct val="20000"/>
              </a:spcBef>
              <a:spcAft>
                <a:spcPct val="0"/>
              </a:spcAft>
              <a:buChar char="»"/>
              <a:defRPr sz="2000">
                <a:solidFill>
                  <a:schemeClr val="tx1"/>
                </a:solidFill>
                <a:latin typeface="+mn-lt"/>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lnSpc>
                <a:spcPct val="80000"/>
              </a:lnSpc>
              <a:buFontTx/>
              <a:buNone/>
              <a:defRPr/>
            </a:pPr>
            <a:r>
              <a:rPr lang="en-US" altLang="zh-CN" sz="1200" kern="0" dirty="0">
                <a:solidFill>
                  <a:srgbClr val="FF0000"/>
                </a:solidFill>
                <a:latin typeface="Arial Black" panose="020B0A04020102020204" pitchFamily="34" charset="0"/>
              </a:rPr>
              <a:t>VT-</a:t>
            </a:r>
            <a:endParaRPr lang="zh-CN" altLang="en-US" sz="2400" kern="0" baseline="-25000" dirty="0">
              <a:solidFill>
                <a:srgbClr val="FF0000"/>
              </a:solidFill>
              <a:latin typeface="Arial Black" panose="020B0A04020102020204" pitchFamily="34" charset="0"/>
            </a:endParaRPr>
          </a:p>
        </p:txBody>
      </p:sp>
      <p:grpSp>
        <p:nvGrpSpPr>
          <p:cNvPr id="120846" name="组合 36"/>
          <p:cNvGrpSpPr/>
          <p:nvPr/>
        </p:nvGrpSpPr>
        <p:grpSpPr bwMode="auto">
          <a:xfrm flipH="1">
            <a:off x="4508500" y="3941445"/>
            <a:ext cx="1416050" cy="1730375"/>
            <a:chOff x="427420" y="4477406"/>
            <a:chExt cx="1411890" cy="1730704"/>
          </a:xfrm>
        </p:grpSpPr>
        <p:cxnSp>
          <p:nvCxnSpPr>
            <p:cNvPr id="120860" name="直接箭头连接符 37"/>
            <p:cNvCxnSpPr>
              <a:cxnSpLocks noChangeShapeType="1"/>
            </p:cNvCxnSpPr>
            <p:nvPr/>
          </p:nvCxnSpPr>
          <p:spPr bwMode="auto">
            <a:xfrm>
              <a:off x="427420" y="6197600"/>
              <a:ext cx="959945" cy="0"/>
            </a:xfrm>
            <a:prstGeom prst="straightConnector1">
              <a:avLst/>
            </a:prstGeom>
            <a:noFill/>
            <a:ln w="28575" algn="ctr">
              <a:solidFill>
                <a:srgbClr val="FF0000"/>
              </a:solidFill>
              <a:rou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61" name="直接箭头连接符 38"/>
            <p:cNvCxnSpPr>
              <a:cxnSpLocks noChangeShapeType="1"/>
            </p:cNvCxnSpPr>
            <p:nvPr/>
          </p:nvCxnSpPr>
          <p:spPr bwMode="auto">
            <a:xfrm flipV="1">
              <a:off x="1814785" y="5433848"/>
              <a:ext cx="0" cy="774262"/>
            </a:xfrm>
            <a:prstGeom prst="straightConnector1">
              <a:avLst/>
            </a:prstGeom>
            <a:noFill/>
            <a:ln w="28575" algn="ctr">
              <a:solidFill>
                <a:srgbClr val="FF0000"/>
              </a:solidFill>
              <a:rou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62" name="直接箭头连接符 39"/>
            <p:cNvCxnSpPr>
              <a:cxnSpLocks noChangeShapeType="1"/>
            </p:cNvCxnSpPr>
            <p:nvPr/>
          </p:nvCxnSpPr>
          <p:spPr bwMode="auto">
            <a:xfrm flipV="1">
              <a:off x="1825296" y="4477406"/>
              <a:ext cx="0" cy="1030015"/>
            </a:xfrm>
            <a:prstGeom prst="straightConnector1">
              <a:avLst/>
            </a:prstGeom>
            <a:noFill/>
            <a:ln w="28575" algn="ctr">
              <a:solidFill>
                <a:srgbClr val="FF0000"/>
              </a:solidFill>
              <a:rou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63" name="直接箭头连接符 40"/>
            <p:cNvCxnSpPr>
              <a:cxnSpLocks noChangeShapeType="1"/>
            </p:cNvCxnSpPr>
            <p:nvPr/>
          </p:nvCxnSpPr>
          <p:spPr bwMode="auto">
            <a:xfrm>
              <a:off x="1404882" y="6208110"/>
              <a:ext cx="434428" cy="0"/>
            </a:xfrm>
            <a:prstGeom prst="straightConnector1">
              <a:avLst/>
            </a:prstGeom>
            <a:noFill/>
            <a:ln w="28575" algn="ctr">
              <a:solidFill>
                <a:srgbClr val="FF0000"/>
              </a:solidFill>
              <a:rou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20847" name="组合 41"/>
          <p:cNvGrpSpPr/>
          <p:nvPr/>
        </p:nvGrpSpPr>
        <p:grpSpPr bwMode="auto">
          <a:xfrm flipH="1">
            <a:off x="4014788" y="3977958"/>
            <a:ext cx="1408112" cy="1676400"/>
            <a:chOff x="903890" y="4466897"/>
            <a:chExt cx="1481958" cy="1676395"/>
          </a:xfrm>
        </p:grpSpPr>
        <p:cxnSp>
          <p:nvCxnSpPr>
            <p:cNvPr id="120855" name="直接箭头连接符 42"/>
            <p:cNvCxnSpPr>
              <a:cxnSpLocks noChangeShapeType="1"/>
            </p:cNvCxnSpPr>
            <p:nvPr/>
          </p:nvCxnSpPr>
          <p:spPr bwMode="auto">
            <a:xfrm>
              <a:off x="1804275" y="4473903"/>
              <a:ext cx="581573" cy="0"/>
            </a:xfrm>
            <a:prstGeom prst="straightConnector1">
              <a:avLst/>
            </a:prstGeom>
            <a:noFill/>
            <a:ln w="28575" algn="ctr">
              <a:solidFill>
                <a:srgbClr val="0000FF"/>
              </a:solidFill>
              <a:rou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56" name="直接箭头连接符 43"/>
            <p:cNvCxnSpPr>
              <a:cxnSpLocks noChangeShapeType="1"/>
            </p:cNvCxnSpPr>
            <p:nvPr/>
          </p:nvCxnSpPr>
          <p:spPr bwMode="auto">
            <a:xfrm>
              <a:off x="931916" y="4466897"/>
              <a:ext cx="0" cy="935420"/>
            </a:xfrm>
            <a:prstGeom prst="straightConnector1">
              <a:avLst/>
            </a:prstGeom>
            <a:noFill/>
            <a:ln w="28575" algn="ctr">
              <a:solidFill>
                <a:srgbClr val="0000FF"/>
              </a:solidFill>
              <a:rou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57" name="直接箭头连接符 44"/>
            <p:cNvCxnSpPr>
              <a:cxnSpLocks noChangeShapeType="1"/>
            </p:cNvCxnSpPr>
            <p:nvPr/>
          </p:nvCxnSpPr>
          <p:spPr bwMode="auto">
            <a:xfrm flipH="1">
              <a:off x="942426" y="5293710"/>
              <a:ext cx="0" cy="849582"/>
            </a:xfrm>
            <a:prstGeom prst="straightConnector1">
              <a:avLst/>
            </a:prstGeom>
            <a:noFill/>
            <a:ln w="28575" algn="ctr">
              <a:solidFill>
                <a:srgbClr val="0000FF"/>
              </a:solidFill>
              <a:rou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58" name="直接箭头连接符 45"/>
            <p:cNvCxnSpPr>
              <a:cxnSpLocks noChangeShapeType="1"/>
            </p:cNvCxnSpPr>
            <p:nvPr/>
          </p:nvCxnSpPr>
          <p:spPr bwMode="auto">
            <a:xfrm flipH="1">
              <a:off x="1334814" y="4473902"/>
              <a:ext cx="479971" cy="0"/>
            </a:xfrm>
            <a:prstGeom prst="straightConnector1">
              <a:avLst/>
            </a:prstGeom>
            <a:noFill/>
            <a:ln w="28575" algn="ctr">
              <a:solidFill>
                <a:srgbClr val="0000FF"/>
              </a:solidFill>
              <a:rou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59" name="直接箭头连接符 46"/>
            <p:cNvCxnSpPr>
              <a:cxnSpLocks noChangeShapeType="1"/>
            </p:cNvCxnSpPr>
            <p:nvPr/>
          </p:nvCxnSpPr>
          <p:spPr bwMode="auto">
            <a:xfrm flipH="1">
              <a:off x="903890" y="4484413"/>
              <a:ext cx="479971" cy="0"/>
            </a:xfrm>
            <a:prstGeom prst="straightConnector1">
              <a:avLst/>
            </a:prstGeom>
            <a:noFill/>
            <a:ln w="28575" algn="ctr">
              <a:solidFill>
                <a:srgbClr val="0000FF"/>
              </a:solidFill>
              <a:rou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9" name="Rectangle 3"/>
          <p:cNvSpPr txBox="1">
            <a:spLocks noChangeArrowheads="1"/>
          </p:cNvSpPr>
          <p:nvPr/>
        </p:nvSpPr>
        <p:spPr bwMode="auto">
          <a:xfrm>
            <a:off x="5186363" y="5838508"/>
            <a:ext cx="8143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spcBef>
                <a:spcPct val="20000"/>
              </a:spcBef>
              <a:spcAft>
                <a:spcPct val="0"/>
              </a:spcAft>
              <a:buBlip>
                <a:blip r:embed="rId7"/>
              </a:buBlip>
              <a:defRPr sz="32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8"/>
              </a:buBlip>
              <a:defRPr sz="2800" b="1">
                <a:solidFill>
                  <a:schemeClr val="tx1"/>
                </a:solidFill>
                <a:latin typeface="+mn-lt"/>
                <a:ea typeface="+mj-ea"/>
              </a:defRPr>
            </a:lvl2pPr>
            <a:lvl3pPr marL="1143000" indent="-228600" algn="just" rtl="0" fontAlgn="base">
              <a:spcBef>
                <a:spcPct val="20000"/>
              </a:spcBef>
              <a:spcAft>
                <a:spcPct val="0"/>
              </a:spcAft>
              <a:buChar char="•"/>
              <a:defRPr sz="2400">
                <a:solidFill>
                  <a:schemeClr val="tx1"/>
                </a:solidFill>
                <a:latin typeface="+mn-lt"/>
                <a:ea typeface="+mj-ea"/>
              </a:defRPr>
            </a:lvl3pPr>
            <a:lvl4pPr marL="1600200" indent="-228600" algn="just" rtl="0" fontAlgn="base">
              <a:spcBef>
                <a:spcPct val="20000"/>
              </a:spcBef>
              <a:spcAft>
                <a:spcPct val="0"/>
              </a:spcAft>
              <a:buChar char="–"/>
              <a:defRPr sz="2000">
                <a:solidFill>
                  <a:schemeClr val="tx1"/>
                </a:solidFill>
                <a:latin typeface="+mn-lt"/>
                <a:ea typeface="+mj-ea"/>
              </a:defRPr>
            </a:lvl4pPr>
            <a:lvl5pPr marL="2057400" indent="-228600" algn="just" rtl="0" fontAlgn="base">
              <a:spcBef>
                <a:spcPct val="20000"/>
              </a:spcBef>
              <a:spcAft>
                <a:spcPct val="0"/>
              </a:spcAft>
              <a:buChar char="»"/>
              <a:defRPr sz="2000">
                <a:solidFill>
                  <a:schemeClr val="tx1"/>
                </a:solidFill>
                <a:latin typeface="+mn-lt"/>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lnSpc>
                <a:spcPct val="80000"/>
              </a:lnSpc>
              <a:buFontTx/>
              <a:buNone/>
              <a:defRPr/>
            </a:pPr>
            <a:r>
              <a:rPr lang="en-US" altLang="zh-CN" sz="1200" kern="0" dirty="0">
                <a:solidFill>
                  <a:srgbClr val="FF0000"/>
                </a:solidFill>
                <a:latin typeface="Arial Black" panose="020B0A04020102020204" pitchFamily="34" charset="0"/>
              </a:rPr>
              <a:t>VT+</a:t>
            </a:r>
            <a:endParaRPr lang="zh-CN" altLang="en-US" sz="2400" kern="0" baseline="-25000" dirty="0">
              <a:solidFill>
                <a:srgbClr val="FF0000"/>
              </a:solidFill>
              <a:latin typeface="Arial Black" panose="020B0A04020102020204" pitchFamily="34" charset="0"/>
            </a:endParaRPr>
          </a:p>
        </p:txBody>
      </p:sp>
      <p:sp>
        <p:nvSpPr>
          <p:cNvPr id="50" name="Rectangle 3"/>
          <p:cNvSpPr txBox="1">
            <a:spLocks noChangeArrowheads="1"/>
          </p:cNvSpPr>
          <p:nvPr/>
        </p:nvSpPr>
        <p:spPr bwMode="auto">
          <a:xfrm>
            <a:off x="4219575" y="5828983"/>
            <a:ext cx="8143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spcBef>
                <a:spcPct val="20000"/>
              </a:spcBef>
              <a:spcAft>
                <a:spcPct val="0"/>
              </a:spcAft>
              <a:buBlip>
                <a:blip r:embed="rId7"/>
              </a:buBlip>
              <a:defRPr sz="32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8"/>
              </a:buBlip>
              <a:defRPr sz="2800" b="1">
                <a:solidFill>
                  <a:schemeClr val="tx1"/>
                </a:solidFill>
                <a:latin typeface="+mn-lt"/>
                <a:ea typeface="+mj-ea"/>
              </a:defRPr>
            </a:lvl2pPr>
            <a:lvl3pPr marL="1143000" indent="-228600" algn="just" rtl="0" fontAlgn="base">
              <a:spcBef>
                <a:spcPct val="20000"/>
              </a:spcBef>
              <a:spcAft>
                <a:spcPct val="0"/>
              </a:spcAft>
              <a:buChar char="•"/>
              <a:defRPr sz="2400">
                <a:solidFill>
                  <a:schemeClr val="tx1"/>
                </a:solidFill>
                <a:latin typeface="+mn-lt"/>
                <a:ea typeface="+mj-ea"/>
              </a:defRPr>
            </a:lvl3pPr>
            <a:lvl4pPr marL="1600200" indent="-228600" algn="just" rtl="0" fontAlgn="base">
              <a:spcBef>
                <a:spcPct val="20000"/>
              </a:spcBef>
              <a:spcAft>
                <a:spcPct val="0"/>
              </a:spcAft>
              <a:buChar char="–"/>
              <a:defRPr sz="2000">
                <a:solidFill>
                  <a:schemeClr val="tx1"/>
                </a:solidFill>
                <a:latin typeface="+mn-lt"/>
                <a:ea typeface="+mj-ea"/>
              </a:defRPr>
            </a:lvl4pPr>
            <a:lvl5pPr marL="2057400" indent="-228600" algn="just" rtl="0" fontAlgn="base">
              <a:spcBef>
                <a:spcPct val="20000"/>
              </a:spcBef>
              <a:spcAft>
                <a:spcPct val="0"/>
              </a:spcAft>
              <a:buChar char="»"/>
              <a:defRPr sz="2000">
                <a:solidFill>
                  <a:schemeClr val="tx1"/>
                </a:solidFill>
                <a:latin typeface="+mn-lt"/>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lnSpc>
                <a:spcPct val="80000"/>
              </a:lnSpc>
              <a:buFontTx/>
              <a:buNone/>
              <a:defRPr/>
            </a:pPr>
            <a:r>
              <a:rPr lang="en-US" altLang="zh-CN" sz="1200" kern="0" dirty="0">
                <a:solidFill>
                  <a:srgbClr val="FF0000"/>
                </a:solidFill>
                <a:latin typeface="Arial Black" panose="020B0A04020102020204" pitchFamily="34" charset="0"/>
              </a:rPr>
              <a:t>VT-</a:t>
            </a:r>
            <a:endParaRPr lang="zh-CN" altLang="en-US" sz="2400" kern="0" baseline="-25000" dirty="0">
              <a:solidFill>
                <a:srgbClr val="FF0000"/>
              </a:solidFill>
              <a:latin typeface="Arial Black" panose="020B0A04020102020204" pitchFamily="34" charset="0"/>
            </a:endParaRPr>
          </a:p>
        </p:txBody>
      </p:sp>
      <p:sp>
        <p:nvSpPr>
          <p:cNvPr id="120850" name="矩形 35"/>
          <p:cNvSpPr>
            <a:spLocks noChangeArrowheads="1"/>
          </p:cNvSpPr>
          <p:nvPr/>
        </p:nvSpPr>
        <p:spPr bwMode="auto">
          <a:xfrm>
            <a:off x="3594100" y="3163570"/>
            <a:ext cx="5454650" cy="3136900"/>
          </a:xfrm>
          <a:prstGeom prst="rect">
            <a:avLst/>
          </a:prstGeom>
          <a:noFill/>
          <a:ln w="19050" algn="ctr">
            <a:solidFill>
              <a:srgbClr val="FF00FF"/>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0851" name="矩形 51"/>
          <p:cNvSpPr>
            <a:spLocks noChangeArrowheads="1"/>
          </p:cNvSpPr>
          <p:nvPr/>
        </p:nvSpPr>
        <p:spPr bwMode="auto">
          <a:xfrm>
            <a:off x="95250" y="987108"/>
            <a:ext cx="3141663" cy="5224462"/>
          </a:xfrm>
          <a:prstGeom prst="rect">
            <a:avLst/>
          </a:prstGeom>
          <a:noFill/>
          <a:ln w="19050" algn="ctr">
            <a:solidFill>
              <a:srgbClr val="FF00FF"/>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0852" name="矩形 47"/>
          <p:cNvSpPr>
            <a:spLocks noChangeArrowheads="1"/>
          </p:cNvSpPr>
          <p:nvPr/>
        </p:nvSpPr>
        <p:spPr bwMode="auto">
          <a:xfrm>
            <a:off x="5673725" y="3254058"/>
            <a:ext cx="32623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a:solidFill>
                  <a:srgbClr val="FF0000"/>
                </a:solidFill>
                <a:latin typeface="Arial" panose="020B0604020202020204" pitchFamily="34" charset="0"/>
                <a:hlinkClick r:id="rId9" action="ppaction://hlinksldjump"/>
              </a:rPr>
              <a:t>Inverting Schmitt trigger</a:t>
            </a:r>
            <a:endParaRPr lang="zh-CN" altLang="en-US" sz="2400">
              <a:solidFill>
                <a:srgbClr val="FF0000"/>
              </a:solidFill>
            </a:endParaRPr>
          </a:p>
        </p:txBody>
      </p:sp>
      <p:sp>
        <p:nvSpPr>
          <p:cNvPr id="120853" name="矩形 53"/>
          <p:cNvSpPr>
            <a:spLocks noChangeArrowheads="1"/>
          </p:cNvSpPr>
          <p:nvPr/>
        </p:nvSpPr>
        <p:spPr bwMode="auto">
          <a:xfrm>
            <a:off x="60325" y="2687320"/>
            <a:ext cx="32623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dirty="0">
                <a:solidFill>
                  <a:srgbClr val="FF00FF"/>
                </a:solidFill>
                <a:latin typeface="Arial" panose="020B0604020202020204" pitchFamily="34" charset="0"/>
              </a:rPr>
              <a:t>Schmitt trigger with in-phase output</a:t>
            </a:r>
            <a:endParaRPr lang="zh-CN" altLang="en-US" sz="2400" dirty="0">
              <a:solidFill>
                <a:srgbClr val="FF00FF"/>
              </a:solidFill>
            </a:endParaRPr>
          </a:p>
        </p:txBody>
      </p:sp>
      <p:sp>
        <p:nvSpPr>
          <p:cNvPr id="120854" name="矩形 50"/>
          <p:cNvSpPr>
            <a:spLocks noChangeArrowheads="1"/>
          </p:cNvSpPr>
          <p:nvPr/>
        </p:nvSpPr>
        <p:spPr bwMode="auto">
          <a:xfrm>
            <a:off x="3228975" y="5930583"/>
            <a:ext cx="1108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b="1">
                <a:solidFill>
                  <a:srgbClr val="FF0000"/>
                </a:solidFill>
                <a:latin typeface="微软雅黑" panose="020B0503020204020204" charset="-122"/>
                <a:ea typeface="微软雅黑" panose="020B0503020204020204" charset="-122"/>
              </a:rPr>
              <a:t>Convert level</a:t>
            </a:r>
          </a:p>
        </p:txBody>
      </p:sp>
      <p:sp>
        <p:nvSpPr>
          <p:cNvPr id="3" name="灯片编号占位符 2"/>
          <p:cNvSpPr>
            <a:spLocks noGrp="1"/>
          </p:cNvSpPr>
          <p:nvPr>
            <p:ph type="sldNum" sz="quarter" idx="12"/>
          </p:nvPr>
        </p:nvSpPr>
        <p:spPr/>
        <p:txBody>
          <a:bodyPr/>
          <a:lstStyle/>
          <a:p>
            <a:fld id="{22E77DEE-32E4-4009-988B-F2758F7B8AC2}" type="slidenum">
              <a:rPr lang="zh-CN" altLang="en-US" smtClean="0"/>
              <a:t>68</a:t>
            </a:fld>
            <a:endParaRPr lang="zh-CN" altLang="en-US"/>
          </a:p>
        </p:txBody>
      </p:sp>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idx="4294967295"/>
          </p:nvPr>
        </p:nvSpPr>
        <p:spPr>
          <a:xfrm>
            <a:off x="123825" y="67945"/>
            <a:ext cx="9580880" cy="831215"/>
          </a:xfrm>
        </p:spPr>
        <p:txBody>
          <a:bodyPr vert="horz" lIns="91440" tIns="45720" rIns="91440" bIns="45720" rtlCol="0" anchor="b">
            <a:noAutofit/>
          </a:bodyPr>
          <a:lstStyle/>
          <a:p>
            <a:r>
              <a:rPr lang="zh-CN" altLang="en-US" sz="2800" dirty="0">
                <a:solidFill>
                  <a:srgbClr val="FF0000"/>
                </a:solidFill>
              </a:rPr>
              <a:t>External bus interface level conversion technology (supplement)</a:t>
            </a:r>
          </a:p>
        </p:txBody>
      </p:sp>
      <p:sp>
        <p:nvSpPr>
          <p:cNvPr id="121859" name="Rectangle 3"/>
          <p:cNvSpPr>
            <a:spLocks noGrp="1" noChangeArrowheads="1"/>
          </p:cNvSpPr>
          <p:nvPr>
            <p:ph type="body" idx="4294967295"/>
          </p:nvPr>
        </p:nvSpPr>
        <p:spPr>
          <a:xfrm>
            <a:off x="215583" y="925830"/>
            <a:ext cx="8340725" cy="509588"/>
          </a:xfrm>
        </p:spPr>
        <p:txBody>
          <a:bodyPr/>
          <a:lstStyle/>
          <a:p>
            <a:pPr eaLnBrk="1" hangingPunct="1">
              <a:lnSpc>
                <a:spcPct val="80000"/>
              </a:lnSpc>
              <a:buFontTx/>
              <a:buNone/>
            </a:pPr>
            <a:r>
              <a:rPr lang="zh-CN" altLang="en-US"/>
              <a:t>Common signal level conversion standards</a:t>
            </a:r>
          </a:p>
        </p:txBody>
      </p:sp>
      <p:sp>
        <p:nvSpPr>
          <p:cNvPr id="121860" name="Rectangle 5"/>
          <p:cNvSpPr>
            <a:spLocks noChangeArrowheads="1"/>
          </p:cNvSpPr>
          <p:nvPr/>
        </p:nvSpPr>
        <p:spPr bwMode="auto">
          <a:xfrm>
            <a:off x="123825" y="6114733"/>
            <a:ext cx="4303713" cy="449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pPr>
            <a:r>
              <a:rPr lang="zh-CN" altLang="en-US" sz="1200" b="1">
                <a:solidFill>
                  <a:srgbClr val="000000"/>
                </a:solidFill>
                <a:latin typeface="Arial" panose="020B0604020202020204" pitchFamily="34" charset="0"/>
              </a:rPr>
              <a:t>Figure Common signal level conversion standards</a:t>
            </a:r>
            <a:endParaRPr lang="zh-CN" altLang="en-US" sz="2400" b="1">
              <a:solidFill>
                <a:srgbClr val="FF0000"/>
              </a:solidFill>
              <a:latin typeface="Arial" panose="020B0604020202020204" pitchFamily="34" charset="0"/>
            </a:endParaRPr>
          </a:p>
        </p:txBody>
      </p:sp>
      <mc:AlternateContent xmlns:mc="http://schemas.openxmlformats.org/markup-compatibility/2006" xmlns:a14="http://schemas.microsoft.com/office/drawing/2010/main">
        <mc:Choice Requires="a14">
          <p:sp>
            <p:nvSpPr>
              <p:cNvPr id="6" name="Text Box 86"/>
              <p:cNvSpPr txBox="1">
                <a:spLocks noChangeArrowheads="1"/>
              </p:cNvSpPr>
              <p:nvPr/>
            </p:nvSpPr>
            <p:spPr bwMode="auto">
              <a:xfrm>
                <a:off x="4289425" y="1671955"/>
                <a:ext cx="4854575" cy="1714500"/>
              </a:xfrm>
              <a:prstGeom prst="rect">
                <a:avLst/>
              </a:prstGeom>
              <a:noFill/>
              <a:ln w="9525">
                <a:noFill/>
                <a:miter lim="800000"/>
              </a:ln>
              <a:effectLst>
                <a:outerShdw dist="35921" dir="2700000" algn="ctr" rotWithShape="0">
                  <a:srgbClr val="FFFFFF"/>
                </a:outerShdw>
              </a:effectLst>
            </p:spPr>
            <p:txBody>
              <a:bodyPr wrap="square" lIns="18000" rIns="18000">
                <a:spAutoFit/>
              </a:bodyPr>
              <a:lstStyle/>
              <a:p>
                <a:pPr algn="ctr" eaLnBrk="1" hangingPunct="1">
                  <a:lnSpc>
                    <a:spcPct val="110000"/>
                  </a:lnSpc>
                  <a:defRPr/>
                </a:pPr>
                <a14:m>
                  <m:oMath xmlns:m="http://schemas.openxmlformats.org/officeDocument/2006/math">
                    <m:sSub>
                      <m:sSubPr>
                        <m:ctrlPr>
                          <a:rPr lang="en-US" altLang="zh-CN" sz="1600" b="1" i="1">
                            <a:solidFill>
                              <a:srgbClr val="FF0000"/>
                            </a:solidFill>
                            <a:effectLst>
                              <a:outerShdw blurRad="38100" dist="38100" dir="2700000" algn="tl">
                                <a:srgbClr val="000000"/>
                              </a:outerShdw>
                            </a:effectLst>
                            <a:latin typeface="Cambria Math" panose="02040503050406030204" pitchFamily="18" charset="0"/>
                            <a:cs typeface="Cambria Math" panose="02040503050406030204" pitchFamily="18" charset="0"/>
                          </a:rPr>
                        </m:ctrlPr>
                      </m:sSubPr>
                      <m:e>
                        <m:r>
                          <a:rPr lang="en-US" altLang="zh-CN" sz="1600" b="1" i="1">
                            <a:solidFill>
                              <a:srgbClr val="FF0000"/>
                            </a:solidFill>
                            <a:effectLst>
                              <a:outerShdw blurRad="38100" dist="38100" dir="2700000" algn="tl">
                                <a:srgbClr val="000000"/>
                              </a:outerShdw>
                            </a:effectLst>
                            <a:latin typeface="Cambria Math" panose="02040503050406030204" pitchFamily="18" charset="0"/>
                            <a:cs typeface="Cambria Math" panose="02040503050406030204" pitchFamily="18" charset="0"/>
                          </a:rPr>
                          <m:t>𝑽</m:t>
                        </m:r>
                      </m:e>
                      <m:sub>
                        <m:r>
                          <a:rPr lang="en-US" altLang="zh-CN" sz="1600" b="1" i="1">
                            <a:solidFill>
                              <a:srgbClr val="FF0000"/>
                            </a:solidFill>
                            <a:effectLst>
                              <a:outerShdw blurRad="38100" dist="38100" dir="2700000" algn="tl">
                                <a:srgbClr val="000000"/>
                              </a:outerShdw>
                            </a:effectLst>
                            <a:latin typeface="Cambria Math" panose="02040503050406030204" pitchFamily="18" charset="0"/>
                            <a:cs typeface="Cambria Math" panose="02040503050406030204" pitchFamily="18" charset="0"/>
                          </a:rPr>
                          <m:t>𝑶𝑯</m:t>
                        </m:r>
                      </m:sub>
                    </m:sSub>
                  </m:oMath>
                </a14:m>
                <a:r>
                  <a:rPr lang="en-US" altLang="zh-CN" sz="1600" b="1" dirty="0">
                    <a:solidFill>
                      <a:srgbClr val="FF0000"/>
                    </a:solidFill>
                    <a:effectLst>
                      <a:outerShdw blurRad="38100" dist="38100" dir="2700000" algn="tl">
                        <a:srgbClr val="000000"/>
                      </a:outerShdw>
                    </a:effectLst>
                    <a:latin typeface="宋体" panose="02010600030101010101" pitchFamily="2" charset="-122"/>
                  </a:rPr>
                  <a:t>: The lower limit of the high-level output;</a:t>
                </a:r>
                <a:endParaRPr lang="zh-CN" altLang="en-US" sz="3200" b="1" dirty="0">
                  <a:solidFill>
                    <a:srgbClr val="FF00FF"/>
                  </a:solidFill>
                  <a:effectLst>
                    <a:outerShdw blurRad="38100" dist="38100" dir="2700000" algn="tl">
                      <a:srgbClr val="000000"/>
                    </a:outerShdw>
                  </a:effectLst>
                  <a:latin typeface="宋体" panose="02010600030101010101" pitchFamily="2" charset="-122"/>
                </a:endParaRPr>
              </a:p>
              <a:p>
                <a:pPr algn="l" eaLnBrk="1" hangingPunct="1">
                  <a:lnSpc>
                    <a:spcPct val="110000"/>
                  </a:lnSpc>
                  <a:defRPr/>
                </a:pPr>
                <a14:m>
                  <m:oMath xmlns:m="http://schemas.openxmlformats.org/officeDocument/2006/math">
                    <m:sSub>
                      <m:sSubPr>
                        <m:ctrlPr>
                          <a:rPr lang="en-US" altLang="zh-CN" sz="1600" b="1" i="1">
                            <a:solidFill>
                              <a:srgbClr val="FF0000"/>
                            </a:solidFill>
                            <a:effectLst>
                              <a:outerShdw blurRad="38100" dist="38100" dir="2700000" algn="tl">
                                <a:srgbClr val="000000"/>
                              </a:outerShdw>
                            </a:effectLst>
                            <a:latin typeface="Cambria Math" panose="02040503050406030204" pitchFamily="18" charset="0"/>
                            <a:cs typeface="Cambria Math" panose="02040503050406030204" pitchFamily="18" charset="0"/>
                          </a:rPr>
                        </m:ctrlPr>
                      </m:sSubPr>
                      <m:e>
                        <m:r>
                          <a:rPr lang="en-US" altLang="zh-CN" sz="1600" b="1" i="1">
                            <a:solidFill>
                              <a:srgbClr val="FF0000"/>
                            </a:solidFill>
                            <a:effectLst>
                              <a:outerShdw blurRad="38100" dist="38100" dir="2700000" algn="tl">
                                <a:srgbClr val="000000"/>
                              </a:outerShdw>
                            </a:effectLst>
                            <a:latin typeface="Cambria Math" panose="02040503050406030204" pitchFamily="18" charset="0"/>
                            <a:cs typeface="Cambria Math" panose="02040503050406030204" pitchFamily="18" charset="0"/>
                          </a:rPr>
                          <m:t>𝑽</m:t>
                        </m:r>
                      </m:e>
                      <m:sub>
                        <m:r>
                          <a:rPr lang="en-US" altLang="zh-CN" sz="1600" b="1" i="1">
                            <a:solidFill>
                              <a:srgbClr val="FF0000"/>
                            </a:solidFill>
                            <a:effectLst>
                              <a:outerShdw blurRad="38100" dist="38100" dir="2700000" algn="tl">
                                <a:srgbClr val="000000"/>
                              </a:outerShdw>
                            </a:effectLst>
                            <a:latin typeface="Cambria Math" panose="02040503050406030204" pitchFamily="18" charset="0"/>
                            <a:cs typeface="Cambria Math" panose="02040503050406030204" pitchFamily="18" charset="0"/>
                          </a:rPr>
                          <m:t>𝑶𝑳</m:t>
                        </m:r>
                      </m:sub>
                    </m:sSub>
                  </m:oMath>
                </a14:m>
                <a:r>
                  <a:rPr lang="en-US" altLang="zh-CN" sz="1600" b="1" dirty="0">
                    <a:solidFill>
                      <a:srgbClr val="FF0000"/>
                    </a:solidFill>
                    <a:effectLst>
                      <a:outerShdw blurRad="38100" dist="38100" dir="2700000" algn="tl">
                        <a:srgbClr val="000000"/>
                      </a:outerShdw>
                    </a:effectLst>
                    <a:latin typeface="宋体" panose="02010600030101010101" pitchFamily="2" charset="-122"/>
                  </a:rPr>
                  <a:t>: Upper limit of low-level output;</a:t>
                </a:r>
                <a:endParaRPr lang="zh-CN" altLang="en-US" sz="3200" b="1" dirty="0">
                  <a:solidFill>
                    <a:srgbClr val="FF00FF"/>
                  </a:solidFill>
                  <a:effectLst>
                    <a:outerShdw blurRad="38100" dist="38100" dir="2700000" algn="tl">
                      <a:srgbClr val="000000"/>
                    </a:outerShdw>
                  </a:effectLst>
                  <a:latin typeface="宋体" panose="02010600030101010101" pitchFamily="2" charset="-122"/>
                </a:endParaRPr>
              </a:p>
              <a:p>
                <a:pPr algn="l" eaLnBrk="1" hangingPunct="1">
                  <a:lnSpc>
                    <a:spcPct val="110000"/>
                  </a:lnSpc>
                  <a:defRPr/>
                </a:pPr>
                <a14:m>
                  <m:oMath xmlns:m="http://schemas.openxmlformats.org/officeDocument/2006/math">
                    <m:sSub>
                      <m:sSubPr>
                        <m:ctrlPr>
                          <a:rPr lang="en-US" altLang="zh-CN" sz="1600" b="1" i="1">
                            <a:solidFill>
                              <a:srgbClr val="FF0000"/>
                            </a:solidFill>
                            <a:effectLst>
                              <a:outerShdw blurRad="38100" dist="38100" dir="2700000" algn="tl">
                                <a:srgbClr val="000000"/>
                              </a:outerShdw>
                            </a:effectLst>
                            <a:latin typeface="Cambria Math" panose="02040503050406030204" pitchFamily="18" charset="0"/>
                            <a:cs typeface="Cambria Math" panose="02040503050406030204" pitchFamily="18" charset="0"/>
                          </a:rPr>
                        </m:ctrlPr>
                      </m:sSubPr>
                      <m:e>
                        <m:r>
                          <a:rPr lang="en-US" altLang="zh-CN" sz="1600" b="1" i="1">
                            <a:solidFill>
                              <a:srgbClr val="FF0000"/>
                            </a:solidFill>
                            <a:effectLst>
                              <a:outerShdw blurRad="38100" dist="38100" dir="2700000" algn="tl">
                                <a:srgbClr val="000000"/>
                              </a:outerShdw>
                            </a:effectLst>
                            <a:latin typeface="Cambria Math" panose="02040503050406030204" pitchFamily="18" charset="0"/>
                            <a:cs typeface="Cambria Math" panose="02040503050406030204" pitchFamily="18" charset="0"/>
                          </a:rPr>
                          <m:t>𝑽</m:t>
                        </m:r>
                      </m:e>
                      <m:sub>
                        <m:r>
                          <a:rPr lang="en-US" altLang="zh-CN" sz="1600" b="1" i="1">
                            <a:solidFill>
                              <a:srgbClr val="FF0000"/>
                            </a:solidFill>
                            <a:effectLst>
                              <a:outerShdw blurRad="38100" dist="38100" dir="2700000" algn="tl">
                                <a:srgbClr val="000000"/>
                              </a:outerShdw>
                            </a:effectLst>
                            <a:latin typeface="Cambria Math" panose="02040503050406030204" pitchFamily="18" charset="0"/>
                            <a:cs typeface="Cambria Math" panose="02040503050406030204" pitchFamily="18" charset="0"/>
                          </a:rPr>
                          <m:t>𝒊𝑯</m:t>
                        </m:r>
                      </m:sub>
                    </m:sSub>
                  </m:oMath>
                </a14:m>
                <a:r>
                  <a:rPr lang="en-US" altLang="zh-CN" sz="1600" b="1" dirty="0">
                    <a:solidFill>
                      <a:srgbClr val="FF0000"/>
                    </a:solidFill>
                    <a:effectLst>
                      <a:outerShdw blurRad="38100" dist="38100" dir="2700000" algn="tl">
                        <a:srgbClr val="000000"/>
                      </a:outerShdw>
                    </a:effectLst>
                    <a:latin typeface="宋体" panose="02010600030101010101" pitchFamily="2" charset="-122"/>
                  </a:rPr>
                  <a:t>: Enter the lower limit of the high level;</a:t>
                </a:r>
                <a:endParaRPr lang="zh-CN" altLang="en-US" sz="3200" b="1" dirty="0">
                  <a:solidFill>
                    <a:srgbClr val="FF00FF"/>
                  </a:solidFill>
                  <a:effectLst>
                    <a:outerShdw blurRad="38100" dist="38100" dir="2700000" algn="tl">
                      <a:srgbClr val="000000"/>
                    </a:outerShdw>
                  </a:effectLst>
                  <a:latin typeface="宋体" panose="02010600030101010101" pitchFamily="2" charset="-122"/>
                </a:endParaRPr>
              </a:p>
              <a:p>
                <a:pPr algn="l" eaLnBrk="1" hangingPunct="1">
                  <a:lnSpc>
                    <a:spcPct val="110000"/>
                  </a:lnSpc>
                  <a:defRPr/>
                </a:pPr>
                <a14:m>
                  <m:oMath xmlns:m="http://schemas.openxmlformats.org/officeDocument/2006/math">
                    <m:sSub>
                      <m:sSubPr>
                        <m:ctrlPr>
                          <a:rPr lang="en-US" altLang="zh-CN" sz="1600" b="1" i="1">
                            <a:solidFill>
                              <a:srgbClr val="FF0000"/>
                            </a:solidFill>
                            <a:effectLst>
                              <a:outerShdw blurRad="38100" dist="38100" dir="2700000" algn="tl">
                                <a:srgbClr val="000000"/>
                              </a:outerShdw>
                            </a:effectLst>
                            <a:latin typeface="Cambria Math" panose="02040503050406030204" pitchFamily="18" charset="0"/>
                            <a:cs typeface="Cambria Math" panose="02040503050406030204" pitchFamily="18" charset="0"/>
                          </a:rPr>
                        </m:ctrlPr>
                      </m:sSubPr>
                      <m:e>
                        <m:r>
                          <a:rPr lang="en-US" altLang="zh-CN" sz="1600" b="1" i="1">
                            <a:solidFill>
                              <a:srgbClr val="FF0000"/>
                            </a:solidFill>
                            <a:effectLst>
                              <a:outerShdw blurRad="38100" dist="38100" dir="2700000" algn="tl">
                                <a:srgbClr val="000000"/>
                              </a:outerShdw>
                            </a:effectLst>
                            <a:latin typeface="Cambria Math" panose="02040503050406030204" pitchFamily="18" charset="0"/>
                            <a:cs typeface="Cambria Math" panose="02040503050406030204" pitchFamily="18" charset="0"/>
                          </a:rPr>
                          <m:t>𝑽</m:t>
                        </m:r>
                      </m:e>
                      <m:sub>
                        <m:r>
                          <a:rPr lang="en-US" altLang="zh-CN" sz="1600" b="1" i="1">
                            <a:solidFill>
                              <a:srgbClr val="FF0000"/>
                            </a:solidFill>
                            <a:effectLst>
                              <a:outerShdw blurRad="38100" dist="38100" dir="2700000" algn="tl">
                                <a:srgbClr val="000000"/>
                              </a:outerShdw>
                            </a:effectLst>
                            <a:latin typeface="Cambria Math" panose="02040503050406030204" pitchFamily="18" charset="0"/>
                            <a:cs typeface="Cambria Math" panose="02040503050406030204" pitchFamily="18" charset="0"/>
                          </a:rPr>
                          <m:t>𝒊𝑳</m:t>
                        </m:r>
                      </m:sub>
                    </m:sSub>
                  </m:oMath>
                </a14:m>
                <a:r>
                  <a:rPr lang="en-US" altLang="zh-CN" sz="1600" b="1" dirty="0">
                    <a:solidFill>
                      <a:srgbClr val="FF0000"/>
                    </a:solidFill>
                    <a:effectLst>
                      <a:outerShdw blurRad="38100" dist="38100" dir="2700000" algn="tl">
                        <a:srgbClr val="000000"/>
                      </a:outerShdw>
                    </a:effectLst>
                    <a:latin typeface="宋体" panose="02010600030101010101" pitchFamily="2" charset="-122"/>
                  </a:rPr>
                  <a:t>: Set the upper limit for low-level input;</a:t>
                </a:r>
                <a:endParaRPr lang="en-US" altLang="zh-CN" sz="3200" b="1" dirty="0">
                  <a:solidFill>
                    <a:srgbClr val="FF00FF"/>
                  </a:solidFill>
                  <a:effectLst>
                    <a:outerShdw blurRad="38100" dist="38100" dir="2700000" algn="tl">
                      <a:srgbClr val="000000"/>
                    </a:outerShdw>
                  </a:effectLst>
                  <a:latin typeface="宋体" panose="02010600030101010101" pitchFamily="2" charset="-122"/>
                </a:endParaRPr>
              </a:p>
              <a:p>
                <a:pPr marL="625475" indent="-625475" algn="l" eaLnBrk="1" hangingPunct="1">
                  <a:lnSpc>
                    <a:spcPct val="110000"/>
                  </a:lnSpc>
                  <a:defRPr/>
                </a:pPr>
                <a14:m>
                  <m:oMath xmlns:m="http://schemas.openxmlformats.org/officeDocument/2006/math">
                    <m:sSub>
                      <m:sSubPr>
                        <m:ctrlPr>
                          <a:rPr lang="en-US" altLang="zh-CN" sz="1600" b="1" i="1">
                            <a:solidFill>
                              <a:srgbClr val="FF0000"/>
                            </a:solidFill>
                            <a:effectLst>
                              <a:outerShdw blurRad="38100" dist="38100" dir="2700000" algn="tl">
                                <a:srgbClr val="000000"/>
                              </a:outerShdw>
                            </a:effectLst>
                            <a:latin typeface="Cambria Math" panose="02040503050406030204" pitchFamily="18" charset="0"/>
                            <a:cs typeface="Cambria Math" panose="02040503050406030204" pitchFamily="18" charset="0"/>
                          </a:rPr>
                        </m:ctrlPr>
                      </m:sSubPr>
                      <m:e>
                        <m:r>
                          <a:rPr lang="en-US" altLang="zh-CN" sz="1600" b="1" i="1">
                            <a:solidFill>
                              <a:srgbClr val="FF0000"/>
                            </a:solidFill>
                            <a:effectLst>
                              <a:outerShdw blurRad="38100" dist="38100" dir="2700000" algn="tl">
                                <a:srgbClr val="000000"/>
                              </a:outerShdw>
                            </a:effectLst>
                            <a:latin typeface="Cambria Math" panose="02040503050406030204" pitchFamily="18" charset="0"/>
                            <a:cs typeface="Cambria Math" panose="02040503050406030204" pitchFamily="18" charset="0"/>
                          </a:rPr>
                          <m:t>𝑽</m:t>
                        </m:r>
                      </m:e>
                      <m:sub>
                        <m:r>
                          <a:rPr lang="en-US" altLang="zh-CN" sz="1600" b="1" i="1">
                            <a:solidFill>
                              <a:srgbClr val="FF0000"/>
                            </a:solidFill>
                            <a:effectLst>
                              <a:outerShdw blurRad="38100" dist="38100" dir="2700000" algn="tl">
                                <a:srgbClr val="000000"/>
                              </a:outerShdw>
                            </a:effectLst>
                            <a:latin typeface="Cambria Math" panose="02040503050406030204" pitchFamily="18" charset="0"/>
                            <a:cs typeface="Cambria Math" panose="02040503050406030204" pitchFamily="18" charset="0"/>
                          </a:rPr>
                          <m:t>𝑻</m:t>
                        </m:r>
                      </m:sub>
                    </m:sSub>
                  </m:oMath>
                </a14:m>
                <a:r>
                  <a:rPr lang="en-US" altLang="zh-CN" sz="1600" b="1" dirty="0">
                    <a:solidFill>
                      <a:srgbClr val="FF0000"/>
                    </a:solidFill>
                    <a:effectLst>
                      <a:outerShdw blurRad="38100" dist="38100" dir="2700000" algn="tl">
                        <a:srgbClr val="000000"/>
                      </a:outerShdw>
                    </a:effectLst>
                    <a:latin typeface="宋体" panose="02010600030101010101" pitchFamily="2" charset="-122"/>
                  </a:rPr>
                  <a:t>: Threshold voltage, the critical voltage between high and low levels.</a:t>
                </a:r>
              </a:p>
            </p:txBody>
          </p:sp>
        </mc:Choice>
        <mc:Fallback xmlns="">
          <p:sp>
            <p:nvSpPr>
              <p:cNvPr id="6" name="Text Box 86"/>
              <p:cNvSpPr txBox="1">
                <a:spLocks noRot="1" noChangeAspect="1" noMove="1" noResize="1" noEditPoints="1" noAdjustHandles="1" noChangeArrowheads="1" noChangeShapeType="1" noTextEdit="1"/>
              </p:cNvSpPr>
              <p:nvPr/>
            </p:nvSpPr>
            <p:spPr bwMode="auto">
              <a:xfrm>
                <a:off x="4289425" y="1671955"/>
                <a:ext cx="4854575" cy="1714500"/>
              </a:xfrm>
              <a:prstGeom prst="rect">
                <a:avLst/>
              </a:prstGeom>
              <a:blipFill rotWithShape="1">
                <a:blip r:embed="rId2"/>
                <a:stretch>
                  <a:fillRect r="-510" b="-1444"/>
                </a:stretch>
              </a:blipFill>
              <a:ln w="9525">
                <a:noFill/>
                <a:miter lim="800000"/>
              </a:ln>
              <a:effectLst>
                <a:outerShdw dist="35921" dir="2700000" algn="ctr" rotWithShape="0">
                  <a:srgbClr val="FFFFFF"/>
                </a:outerShdw>
              </a:effectLst>
            </p:spPr>
            <p:txBody>
              <a:bodyPr/>
              <a:lstStyle/>
              <a:p>
                <a:r>
                  <a:rPr lang="zh-CN" altLang="en-US">
                    <a:noFill/>
                  </a:rPr>
                  <a:t> </a:t>
                </a:r>
              </a:p>
            </p:txBody>
          </p:sp>
        </mc:Fallback>
      </mc:AlternateContent>
      <p:sp>
        <p:nvSpPr>
          <p:cNvPr id="7" name="Text Box 87"/>
          <p:cNvSpPr txBox="1">
            <a:spLocks noChangeArrowheads="1"/>
          </p:cNvSpPr>
          <p:nvPr/>
        </p:nvSpPr>
        <p:spPr bwMode="auto">
          <a:xfrm>
            <a:off x="3904615" y="4017010"/>
            <a:ext cx="5348605" cy="361950"/>
          </a:xfrm>
          <a:prstGeom prst="rect">
            <a:avLst/>
          </a:prstGeom>
          <a:noFill/>
          <a:ln w="9525">
            <a:noFill/>
            <a:miter lim="800000"/>
          </a:ln>
          <a:effectLst>
            <a:outerShdw dist="35921" dir="2700000" algn="ctr" rotWithShape="0">
              <a:srgbClr val="FFFFFF"/>
            </a:outerShdw>
          </a:effectLst>
        </p:spPr>
        <p:txBody>
          <a:bodyPr wrap="square" lIns="18000" rIns="18000">
            <a:spAutoFit/>
          </a:bodyPr>
          <a:lstStyle/>
          <a:p>
            <a:pPr algn="ctr" eaLnBrk="1" hangingPunct="1">
              <a:lnSpc>
                <a:spcPct val="110000"/>
              </a:lnSpc>
              <a:defRPr/>
            </a:pPr>
            <a:r>
              <a:rPr lang="zh-CN" altLang="en-US" sz="1600" b="1">
                <a:solidFill>
                  <a:srgbClr val="0000FF"/>
                </a:solidFill>
                <a:effectLst>
                  <a:outerShdw blurRad="38100" dist="38100" dir="2700000" algn="tl">
                    <a:srgbClr val="000000"/>
                  </a:outerShdw>
                </a:effectLst>
                <a:latin typeface="宋体" panose="02010600030101010101" pitchFamily="2" charset="-122"/>
              </a:rPr>
              <a:t>5 V TTL and 3.3 V TTL: </a:t>
            </a:r>
            <a:r>
              <a:rPr lang="zh-CN" altLang="en-US" sz="1600" b="1">
                <a:solidFill>
                  <a:srgbClr val="FF0000"/>
                </a:solidFill>
                <a:effectLst>
                  <a:outerShdw blurRad="38100" dist="38100" dir="2700000" algn="tl">
                    <a:srgbClr val="000000"/>
                  </a:outerShdw>
                </a:effectLst>
                <a:latin typeface="宋体" panose="02010600030101010101" pitchFamily="2" charset="-122"/>
              </a:rPr>
              <a:t>Same conversion standard</a:t>
            </a:r>
          </a:p>
        </p:txBody>
      </p:sp>
      <p:sp>
        <p:nvSpPr>
          <p:cNvPr id="8" name="Text Box 87"/>
          <p:cNvSpPr txBox="1">
            <a:spLocks noChangeArrowheads="1"/>
          </p:cNvSpPr>
          <p:nvPr/>
        </p:nvSpPr>
        <p:spPr bwMode="auto">
          <a:xfrm>
            <a:off x="4151630" y="4378960"/>
            <a:ext cx="4883785" cy="902970"/>
          </a:xfrm>
          <a:prstGeom prst="rect">
            <a:avLst/>
          </a:prstGeom>
          <a:noFill/>
          <a:ln w="9525">
            <a:noFill/>
            <a:miter lim="800000"/>
          </a:ln>
          <a:effectLst>
            <a:outerShdw dist="35921" dir="2700000" algn="ctr" rotWithShape="0">
              <a:srgbClr val="FFFFFF"/>
            </a:outerShdw>
          </a:effectLst>
        </p:spPr>
        <p:txBody>
          <a:bodyPr wrap="square" lIns="18000" rIns="18000">
            <a:spAutoFit/>
          </a:bodyPr>
          <a:lstStyle/>
          <a:p>
            <a:pPr algn="l" eaLnBrk="1" hangingPunct="1">
              <a:lnSpc>
                <a:spcPct val="110000"/>
              </a:lnSpc>
              <a:defRPr/>
            </a:pPr>
            <a:r>
              <a:rPr lang="zh-CN" altLang="en-US" sz="1600" b="1">
                <a:solidFill>
                  <a:srgbClr val="0000FF"/>
                </a:solidFill>
                <a:effectLst>
                  <a:outerShdw blurRad="38100" dist="38100" dir="2700000" algn="tl">
                    <a:srgbClr val="000000"/>
                  </a:outerShdw>
                </a:effectLst>
                <a:latin typeface="宋体" panose="02010600030101010101" pitchFamily="2" charset="-122"/>
              </a:rPr>
              <a:t>Interface problem: 3.3. Can TTL withstand higher input voltages than the power supply voltage?</a:t>
            </a:r>
          </a:p>
        </p:txBody>
      </p:sp>
      <p:pic>
        <p:nvPicPr>
          <p:cNvPr id="1904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875" y="2046288"/>
            <a:ext cx="1117600" cy="40687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046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8300" y="2046288"/>
            <a:ext cx="1047750" cy="4019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046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4008" y="2046605"/>
            <a:ext cx="1266825" cy="400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Text Box 87"/>
          <p:cNvSpPr txBox="1">
            <a:spLocks noChangeArrowheads="1"/>
          </p:cNvSpPr>
          <p:nvPr/>
        </p:nvSpPr>
        <p:spPr bwMode="auto">
          <a:xfrm>
            <a:off x="3965575" y="5344160"/>
            <a:ext cx="5069840" cy="632460"/>
          </a:xfrm>
          <a:prstGeom prst="rect">
            <a:avLst/>
          </a:prstGeom>
          <a:noFill/>
          <a:ln w="9525">
            <a:noFill/>
            <a:miter lim="800000"/>
          </a:ln>
          <a:effectLst>
            <a:outerShdw dist="35921" dir="2700000" algn="ctr" rotWithShape="0">
              <a:srgbClr val="FFFFFF"/>
            </a:outerShdw>
          </a:effectLst>
        </p:spPr>
        <p:txBody>
          <a:bodyPr wrap="square" lIns="18000" rIns="18000">
            <a:spAutoFit/>
          </a:bodyPr>
          <a:lstStyle/>
          <a:p>
            <a:pPr marL="2599055" indent="-2599055" algn="ctr" eaLnBrk="1" hangingPunct="1">
              <a:lnSpc>
                <a:spcPct val="110000"/>
              </a:lnSpc>
              <a:defRPr/>
            </a:pPr>
            <a:r>
              <a:rPr lang="zh-CN" altLang="en-US" sz="1600" b="1">
                <a:solidFill>
                  <a:srgbClr val="0000FF"/>
                </a:solidFill>
                <a:effectLst>
                  <a:outerShdw blurRad="38100" dist="38100" dir="2700000" algn="tl">
                    <a:srgbClr val="000000"/>
                  </a:outerShdw>
                </a:effectLst>
                <a:latin typeface="宋体" panose="02010600030101010101" pitchFamily="2" charset="-122"/>
              </a:rPr>
              <a:t>3 .3 V TTL and 5V CMOS: </a:t>
            </a:r>
            <a:r>
              <a:rPr lang="zh-CN" altLang="en-US" sz="1600" b="1">
                <a:solidFill>
                  <a:srgbClr val="FF0000"/>
                </a:solidFill>
                <a:effectLst>
                  <a:outerShdw blurRad="38100" dist="38100" dir="2700000" algn="tl">
                    <a:srgbClr val="000000"/>
                  </a:outerShdw>
                </a:effectLst>
                <a:latin typeface="宋体" panose="02010600030101010101" pitchFamily="2" charset="-122"/>
              </a:rPr>
              <a:t>Level matching issues exist</a:t>
            </a:r>
          </a:p>
        </p:txBody>
      </p:sp>
      <p:sp>
        <p:nvSpPr>
          <p:cNvPr id="3" name="灯片编号占位符 2"/>
          <p:cNvSpPr>
            <a:spLocks noGrp="1"/>
          </p:cNvSpPr>
          <p:nvPr>
            <p:ph type="sldNum" sz="quarter" idx="12"/>
          </p:nvPr>
        </p:nvSpPr>
        <p:spPr/>
        <p:txBody>
          <a:bodyPr/>
          <a:lstStyle/>
          <a:p>
            <a:fld id="{22E77DEE-32E4-4009-988B-F2758F7B8AC2}" type="slidenum">
              <a:rPr lang="zh-CN" altLang="en-US" smtClean="0"/>
              <a:t>69</a:t>
            </a:fld>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190468"/>
                                        </p:tgtEl>
                                        <p:attrNameLst>
                                          <p:attrName>style.visibility</p:attrName>
                                        </p:attrNameLst>
                                      </p:cBhvr>
                                      <p:to>
                                        <p:strVal val="visible"/>
                                      </p:to>
                                    </p:set>
                                    <p:animEffect transition="in" filter="wipe(up)">
                                      <p:cBhvr>
                                        <p:cTn id="7" dur="500"/>
                                        <p:tgtEl>
                                          <p:spTgt spid="19046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wipe(left)">
                                      <p:cBhvr>
                                        <p:cTn id="10" dur="500"/>
                                        <p:tgtEl>
                                          <p:spTgt spid="6">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wipe(left)">
                                      <p:cBhvr>
                                        <p:cTn id="15" dur="500"/>
                                        <p:tgtEl>
                                          <p:spTgt spid="6">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
                                            <p:txEl>
                                              <p:pRg st="2" end="2"/>
                                            </p:txEl>
                                          </p:spTgt>
                                        </p:tgtEl>
                                        <p:attrNameLst>
                                          <p:attrName>style.visibility</p:attrName>
                                        </p:attrNameLst>
                                      </p:cBhvr>
                                      <p:to>
                                        <p:strVal val="visible"/>
                                      </p:to>
                                    </p:set>
                                    <p:animEffect transition="in" filter="wipe(left)">
                                      <p:cBhvr>
                                        <p:cTn id="20" dur="500"/>
                                        <p:tgtEl>
                                          <p:spTgt spid="6">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Effect transition="in" filter="wipe(left)">
                                      <p:cBhvr>
                                        <p:cTn id="25" dur="500"/>
                                        <p:tgtEl>
                                          <p:spTgt spid="6">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6">
                                            <p:txEl>
                                              <p:pRg st="4" end="4"/>
                                            </p:txEl>
                                          </p:spTgt>
                                        </p:tgtEl>
                                        <p:attrNameLst>
                                          <p:attrName>style.visibility</p:attrName>
                                        </p:attrNameLst>
                                      </p:cBhvr>
                                      <p:to>
                                        <p:strVal val="visible"/>
                                      </p:to>
                                    </p:set>
                                    <p:animEffect transition="in" filter="wipe(left)">
                                      <p:cBhvr>
                                        <p:cTn id="30" dur="500"/>
                                        <p:tgtEl>
                                          <p:spTgt spid="6">
                                            <p:txEl>
                                              <p:pRg st="4" end="4"/>
                                            </p:txEl>
                                          </p:spTgt>
                                        </p:tgtEl>
                                      </p:cBhvr>
                                    </p:animEffect>
                                  </p:childTnLst>
                                </p:cTn>
                              </p:par>
                              <p:par>
                                <p:cTn id="31" presetID="22" presetClass="entr" presetSubtype="1" fill="hold" nodeType="withEffect">
                                  <p:stCondLst>
                                    <p:cond delay="0"/>
                                  </p:stCondLst>
                                  <p:childTnLst>
                                    <p:set>
                                      <p:cBhvr>
                                        <p:cTn id="32" dur="1" fill="hold">
                                          <p:stCondLst>
                                            <p:cond delay="0"/>
                                          </p:stCondLst>
                                        </p:cTn>
                                        <p:tgtEl>
                                          <p:spTgt spid="190467"/>
                                        </p:tgtEl>
                                        <p:attrNameLst>
                                          <p:attrName>style.visibility</p:attrName>
                                        </p:attrNameLst>
                                      </p:cBhvr>
                                      <p:to>
                                        <p:strVal val="visible"/>
                                      </p:to>
                                    </p:set>
                                    <p:animEffect transition="in" filter="wipe(up)">
                                      <p:cBhvr>
                                        <p:cTn id="33" dur="500"/>
                                        <p:tgtEl>
                                          <p:spTgt spid="190467"/>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7">
                                            <p:txEl>
                                              <p:pRg st="0" end="0"/>
                                            </p:txEl>
                                          </p:spTgt>
                                        </p:tgtEl>
                                        <p:attrNameLst>
                                          <p:attrName>style.visibility</p:attrName>
                                        </p:attrNameLst>
                                      </p:cBhvr>
                                      <p:to>
                                        <p:strVal val="visible"/>
                                      </p:to>
                                    </p:set>
                                    <p:animEffect transition="in" filter="wipe(left)">
                                      <p:cBhvr>
                                        <p:cTn id="36" dur="500"/>
                                        <p:tgtEl>
                                          <p:spTgt spid="7">
                                            <p:txEl>
                                              <p:pRg st="0" end="0"/>
                                            </p:txEl>
                                          </p:spTgt>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8">
                                            <p:txEl>
                                              <p:pRg st="0" end="0"/>
                                            </p:txEl>
                                          </p:spTgt>
                                        </p:tgtEl>
                                        <p:attrNameLst>
                                          <p:attrName>style.visibility</p:attrName>
                                        </p:attrNameLst>
                                      </p:cBhvr>
                                      <p:to>
                                        <p:strVal val="visible"/>
                                      </p:to>
                                    </p:set>
                                    <p:animEffect transition="in" filter="wipe(left)">
                                      <p:cBhvr>
                                        <p:cTn id="39" dur="500"/>
                                        <p:tgtEl>
                                          <p:spTgt spid="8">
                                            <p:txEl>
                                              <p:pRg st="0" end="0"/>
                                            </p:txEl>
                                          </p:spTgt>
                                        </p:tgtEl>
                                      </p:cBhvr>
                                    </p:animEffect>
                                  </p:childTnLst>
                                </p:cTn>
                              </p:par>
                              <p:par>
                                <p:cTn id="40" presetID="22" presetClass="entr" presetSubtype="1" fill="hold" nodeType="withEffect">
                                  <p:stCondLst>
                                    <p:cond delay="0"/>
                                  </p:stCondLst>
                                  <p:childTnLst>
                                    <p:set>
                                      <p:cBhvr>
                                        <p:cTn id="41" dur="1" fill="hold">
                                          <p:stCondLst>
                                            <p:cond delay="0"/>
                                          </p:stCondLst>
                                        </p:cTn>
                                        <p:tgtEl>
                                          <p:spTgt spid="190466"/>
                                        </p:tgtEl>
                                        <p:attrNameLst>
                                          <p:attrName>style.visibility</p:attrName>
                                        </p:attrNameLst>
                                      </p:cBhvr>
                                      <p:to>
                                        <p:strVal val="visible"/>
                                      </p:to>
                                    </p:set>
                                    <p:animEffect transition="in" filter="wipe(up)">
                                      <p:cBhvr>
                                        <p:cTn id="42" dur="500"/>
                                        <p:tgtEl>
                                          <p:spTgt spid="190466"/>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14">
                                            <p:txEl>
                                              <p:pRg st="0" end="0"/>
                                            </p:txEl>
                                          </p:spTgt>
                                        </p:tgtEl>
                                        <p:attrNameLst>
                                          <p:attrName>style.visibility</p:attrName>
                                        </p:attrNameLst>
                                      </p:cBhvr>
                                      <p:to>
                                        <p:strVal val="visible"/>
                                      </p:to>
                                    </p:set>
                                    <p:animEffect transition="in" filter="wipe(left)">
                                      <p:cBhvr>
                                        <p:cTn id="45"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build="p" autoUpdateAnimBg="0"/>
      <p:bldP spid="8" grpId="0" build="p" autoUpdateAnimBg="0"/>
      <p:bldP spid="14" grpId="0" build="p"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68313" y="630238"/>
            <a:ext cx="8229600" cy="504825"/>
          </a:xfrm>
        </p:spPr>
        <p:txBody>
          <a:bodyPr vert="horz" lIns="91440" tIns="45720" rIns="91440" bIns="45720" rtlCol="0" anchor="b">
            <a:noAutofit/>
          </a:bodyPr>
          <a:lstStyle/>
          <a:p>
            <a:r>
              <a:rPr lang="en-US" altLang="zh-CN" sz="3200" b="1" dirty="0">
                <a:solidFill>
                  <a:srgbClr val="FF0000"/>
                </a:solidFill>
                <a:sym typeface="+mn-ea"/>
              </a:rPr>
              <a:t>2. Architecture of I/O ports in the IAP15W4K58S4 microcontroller</a:t>
            </a:r>
            <a:endParaRPr lang="zh-CN" altLang="en-US" sz="3200" dirty="0">
              <a:solidFill>
                <a:srgbClr val="FF0000"/>
              </a:solidFill>
            </a:endParaRPr>
          </a:p>
        </p:txBody>
      </p:sp>
      <p:sp>
        <p:nvSpPr>
          <p:cNvPr id="526339" name="Rectangle 3"/>
          <p:cNvSpPr>
            <a:spLocks noGrp="1" noChangeArrowheads="1"/>
          </p:cNvSpPr>
          <p:nvPr>
            <p:ph idx="1"/>
          </p:nvPr>
        </p:nvSpPr>
        <p:spPr>
          <a:xfrm>
            <a:off x="250031" y="1274763"/>
            <a:ext cx="8229600" cy="701675"/>
          </a:xfrm>
        </p:spPr>
        <p:txBody>
          <a:bodyPr/>
          <a:lstStyle/>
          <a:p>
            <a:pPr marL="0" indent="0" eaLnBrk="1" hangingPunct="1">
              <a:buFontTx/>
              <a:buNone/>
              <a:defRPr/>
            </a:pPr>
            <a:r>
              <a:rPr lang="zh-CN" altLang="en-US" dirty="0">
                <a:solidFill>
                  <a:srgbClr val="FF00FF"/>
                </a:solidFill>
                <a:latin typeface="+mj-lt"/>
              </a:rPr>
              <a:t>(4) Structure of open drain output mode</a:t>
            </a:r>
          </a:p>
          <a:p>
            <a:pPr eaLnBrk="1" hangingPunct="1">
              <a:buFontTx/>
              <a:buNone/>
              <a:defRPr/>
            </a:pPr>
            <a:endParaRPr lang="en-US" altLang="zh-CN" dirty="0"/>
          </a:p>
        </p:txBody>
      </p:sp>
      <p:sp>
        <p:nvSpPr>
          <p:cNvPr id="123909" name="Rectangle 5"/>
          <p:cNvSpPr>
            <a:spLocks noChangeArrowheads="1"/>
          </p:cNvSpPr>
          <p:nvPr/>
        </p:nvSpPr>
        <p:spPr bwMode="auto">
          <a:xfrm>
            <a:off x="0" y="287655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3910" name="Rectangle 8"/>
          <p:cNvSpPr>
            <a:spLocks noChangeArrowheads="1"/>
          </p:cNvSpPr>
          <p:nvPr/>
        </p:nvSpPr>
        <p:spPr bwMode="auto">
          <a:xfrm>
            <a:off x="0" y="287655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3911" name="Rectangle 9"/>
          <p:cNvSpPr>
            <a:spLocks noChangeArrowheads="1"/>
          </p:cNvSpPr>
          <p:nvPr/>
        </p:nvSpPr>
        <p:spPr bwMode="auto">
          <a:xfrm>
            <a:off x="1631950" y="5799138"/>
            <a:ext cx="6323013" cy="52387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400" b="1">
                <a:solidFill>
                  <a:srgbClr val="990033"/>
                </a:solidFill>
                <a:latin typeface="宋体" panose="02010600030101010101" pitchFamily="2" charset="-122"/>
              </a:rPr>
              <a:t>Figure 3-18 I/O bit structure for open drain output mode</a:t>
            </a:r>
            <a:endParaRPr lang="zh-CN" altLang="en-US" sz="2800" b="1">
              <a:solidFill>
                <a:srgbClr val="990033"/>
              </a:solidFill>
              <a:latin typeface="宋体" panose="02010600030101010101" pitchFamily="2" charset="-122"/>
            </a:endParaRPr>
          </a:p>
        </p:txBody>
      </p:sp>
      <p:pic>
        <p:nvPicPr>
          <p:cNvPr id="123913" name="Picture 394" descr="D:\DOCUME~1\ADMINI~1\LOCALS~1\Temp\HS5ClipImage_56b0178b.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1088" y="2736850"/>
            <a:ext cx="6981825" cy="291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组合 9"/>
          <p:cNvGrpSpPr/>
          <p:nvPr/>
        </p:nvGrpSpPr>
        <p:grpSpPr bwMode="auto">
          <a:xfrm>
            <a:off x="4024313" y="1473200"/>
            <a:ext cx="681037" cy="1701800"/>
            <a:chOff x="8491946" y="2412238"/>
            <a:chExt cx="679994" cy="1944048"/>
          </a:xfrm>
        </p:grpSpPr>
        <p:sp>
          <p:nvSpPr>
            <p:cNvPr id="12" name="矩形 11"/>
            <p:cNvSpPr/>
            <p:nvPr/>
          </p:nvSpPr>
          <p:spPr bwMode="auto">
            <a:xfrm>
              <a:off x="8701175" y="3384262"/>
              <a:ext cx="160091" cy="507774"/>
            </a:xfrm>
            <a:prstGeom prst="rect">
              <a:avLst/>
            </a:prstGeom>
            <a:noFill/>
            <a:ln w="28575" cap="flat" cmpd="sng" algn="ctr">
              <a:solidFill>
                <a:schemeClr val="bg1">
                  <a:lumMod val="50000"/>
                </a:schemeClr>
              </a:solidFill>
              <a:prstDash val="sysDot"/>
              <a:round/>
              <a:headEnd type="none" w="med" len="med"/>
              <a:tailEnd type="none" w="med" len="med"/>
            </a:ln>
            <a:effectLst/>
          </p:spPr>
          <p:txBody>
            <a:bodyPr wrap="none" anchor="ctr"/>
            <a:lstStyle/>
            <a:p>
              <a:pPr algn="ctr" eaLnBrk="1" hangingPunct="1">
                <a:defRPr/>
              </a:pPr>
              <a:endParaRPr lang="zh-CN" altLang="en-US"/>
            </a:p>
          </p:txBody>
        </p:sp>
        <p:cxnSp>
          <p:nvCxnSpPr>
            <p:cNvPr id="13" name="直接连接符 12"/>
            <p:cNvCxnSpPr>
              <a:endCxn id="12" idx="0"/>
            </p:cNvCxnSpPr>
            <p:nvPr/>
          </p:nvCxnSpPr>
          <p:spPr bwMode="auto">
            <a:xfrm>
              <a:off x="8780429" y="2920012"/>
              <a:ext cx="0" cy="464250"/>
            </a:xfrm>
            <a:prstGeom prst="line">
              <a:avLst/>
            </a:prstGeom>
            <a:solidFill>
              <a:schemeClr val="accent1">
                <a:alpha val="50000"/>
              </a:schemeClr>
            </a:solidFill>
            <a:ln w="28575" cap="flat" cmpd="sng" algn="ctr">
              <a:solidFill>
                <a:schemeClr val="bg1">
                  <a:lumMod val="50000"/>
                </a:schemeClr>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连接符 13"/>
            <p:cNvCxnSpPr/>
            <p:nvPr/>
          </p:nvCxnSpPr>
          <p:spPr bwMode="auto">
            <a:xfrm>
              <a:off x="8780429" y="3892036"/>
              <a:ext cx="0" cy="464250"/>
            </a:xfrm>
            <a:prstGeom prst="line">
              <a:avLst/>
            </a:prstGeom>
            <a:solidFill>
              <a:schemeClr val="accent1">
                <a:alpha val="50000"/>
              </a:schemeClr>
            </a:solidFill>
            <a:ln w="28575" cap="flat" cmpd="sng" algn="ctr">
              <a:solidFill>
                <a:schemeClr val="bg1">
                  <a:lumMod val="50000"/>
                </a:schemeClr>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直接连接符 14"/>
            <p:cNvCxnSpPr/>
            <p:nvPr/>
          </p:nvCxnSpPr>
          <p:spPr bwMode="auto">
            <a:xfrm>
              <a:off x="8636187" y="2910945"/>
              <a:ext cx="282142" cy="0"/>
            </a:xfrm>
            <a:prstGeom prst="line">
              <a:avLst/>
            </a:prstGeom>
            <a:solidFill>
              <a:schemeClr val="accent1">
                <a:alpha val="50000"/>
              </a:schemeClr>
            </a:solidFill>
            <a:ln w="28575" cap="flat" cmpd="sng" algn="ctr">
              <a:solidFill>
                <a:schemeClr val="bg1">
                  <a:lumMod val="50000"/>
                </a:schemeClr>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3929" name="矩形 15"/>
            <p:cNvSpPr>
              <a:spLocks noChangeArrowheads="1"/>
            </p:cNvSpPr>
            <p:nvPr/>
          </p:nvSpPr>
          <p:spPr bwMode="auto">
            <a:xfrm>
              <a:off x="8491946" y="2412238"/>
              <a:ext cx="6799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a:t>Vcc</a:t>
              </a:r>
              <a:endParaRPr lang="zh-CN" altLang="en-US" sz="2400"/>
            </a:p>
          </p:txBody>
        </p:sp>
      </p:grpSp>
      <p:sp>
        <p:nvSpPr>
          <p:cNvPr id="5" name="矩形 4"/>
          <p:cNvSpPr>
            <a:spLocks noChangeArrowheads="1"/>
          </p:cNvSpPr>
          <p:nvPr/>
        </p:nvSpPr>
        <p:spPr bwMode="auto">
          <a:xfrm>
            <a:off x="1393825" y="2073275"/>
            <a:ext cx="26511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a:solidFill>
                  <a:srgbClr val="3333FF"/>
                </a:solidFill>
              </a:rPr>
              <a:t>No pull-up configuration for the positive power supply terminal</a:t>
            </a:r>
            <a:endParaRPr lang="zh-CN" altLang="en-US" sz="2400" b="1">
              <a:solidFill>
                <a:srgbClr val="3333FF"/>
              </a:solidFill>
            </a:endParaRPr>
          </a:p>
        </p:txBody>
      </p:sp>
      <p:sp>
        <p:nvSpPr>
          <p:cNvPr id="17" name="矩形 16"/>
          <p:cNvSpPr>
            <a:spLocks noChangeArrowheads="1"/>
          </p:cNvSpPr>
          <p:nvPr/>
        </p:nvSpPr>
        <p:spPr bwMode="auto">
          <a:xfrm>
            <a:off x="7307263" y="1150938"/>
            <a:ext cx="1785937"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a:solidFill>
                  <a:srgbClr val="3333FF"/>
                </a:solidFill>
              </a:rPr>
              <a:t>When outputting through the output line, </a:t>
            </a:r>
            <a:r>
              <a:rPr lang="zh-CN" altLang="en-US" sz="1200" b="1">
                <a:solidFill>
                  <a:srgbClr val="FF0000"/>
                </a:solidFill>
              </a:rPr>
              <a:t>the external circuit must be connected to the positive power supply via a pull-up resistor.</a:t>
            </a:r>
          </a:p>
        </p:txBody>
      </p:sp>
      <p:sp>
        <p:nvSpPr>
          <p:cNvPr id="18" name="矩形 17"/>
          <p:cNvSpPr/>
          <p:nvPr/>
        </p:nvSpPr>
        <p:spPr>
          <a:xfrm>
            <a:off x="6732588" y="3732213"/>
            <a:ext cx="1016000" cy="612775"/>
          </a:xfrm>
          <a:prstGeom prst="rect">
            <a:avLst/>
          </a:prstGeom>
          <a:noFill/>
        </p:spPr>
        <p:txBody>
          <a:bodyPr lIns="0" tIns="36000" rIns="0" bIns="0" anchor="b">
            <a:spAutoFit/>
          </a:bodyPr>
          <a:lstStyle/>
          <a:p>
            <a:pPr algn="ctr" eaLnBrk="1" hangingPunct="1">
              <a:lnSpc>
                <a:spcPct val="75000"/>
              </a:lnSpc>
              <a:defRPr/>
            </a:pPr>
            <a:r>
              <a:rPr lang="zh-CN" altLang="en-US" sz="1200" b="1" kern="0" dirty="0">
                <a:solidFill>
                  <a:srgbClr val="FF0000"/>
                </a:solidFill>
                <a:cs typeface="Times New Roman" panose="02020603050405020304" pitchFamily="18" charset="0"/>
              </a:rPr>
              <a:t>Example: P3.2</a:t>
            </a:r>
            <a:endParaRPr lang="en-US" altLang="zh-CN" sz="2400" b="1" dirty="0">
              <a:solidFill>
                <a:srgbClr val="FF0000"/>
              </a:solidFill>
              <a:ea typeface="宋体" panose="02010600030101010101" pitchFamily="2" charset="-122"/>
              <a:cs typeface="Times New Roman" panose="02020603050405020304" pitchFamily="18" charset="0"/>
            </a:endParaRPr>
          </a:p>
        </p:txBody>
      </p:sp>
      <p:sp>
        <p:nvSpPr>
          <p:cNvPr id="19" name="矩形 18"/>
          <p:cNvSpPr/>
          <p:nvPr/>
        </p:nvSpPr>
        <p:spPr>
          <a:xfrm>
            <a:off x="396875" y="3929063"/>
            <a:ext cx="1311275" cy="868362"/>
          </a:xfrm>
          <a:prstGeom prst="rect">
            <a:avLst/>
          </a:prstGeom>
          <a:noFill/>
        </p:spPr>
        <p:txBody>
          <a:bodyPr lIns="0" tIns="36000" rIns="0" bIns="0" anchor="b">
            <a:spAutoFit/>
          </a:bodyPr>
          <a:lstStyle/>
          <a:p>
            <a:pPr algn="ctr" eaLnBrk="1" hangingPunct="1">
              <a:lnSpc>
                <a:spcPct val="75000"/>
              </a:lnSpc>
              <a:defRPr/>
            </a:pPr>
            <a:r>
              <a:rPr lang="zh-CN" altLang="en-US" sz="1200" b="1" kern="0" dirty="0">
                <a:solidFill>
                  <a:srgbClr val="0000FF"/>
                </a:solidFill>
                <a:cs typeface="Times New Roman" panose="02020603050405020304" pitchFamily="18" charset="0"/>
              </a:rPr>
              <a:t>Example: latch bit of P3.2 line</a:t>
            </a:r>
            <a:endParaRPr lang="en-US" altLang="zh-CN" sz="2400" b="1" dirty="0">
              <a:solidFill>
                <a:srgbClr val="0000FF"/>
              </a:solidFill>
              <a:ea typeface="宋体" panose="02010600030101010101" pitchFamily="2" charset="-122"/>
              <a:cs typeface="Times New Roman" panose="02020603050405020304" pitchFamily="18" charset="0"/>
            </a:endParaRPr>
          </a:p>
        </p:txBody>
      </p:sp>
      <p:grpSp>
        <p:nvGrpSpPr>
          <p:cNvPr id="20" name="组合 19"/>
          <p:cNvGrpSpPr/>
          <p:nvPr/>
        </p:nvGrpSpPr>
        <p:grpSpPr bwMode="auto">
          <a:xfrm>
            <a:off x="6748463" y="1131888"/>
            <a:ext cx="679450" cy="1652587"/>
            <a:chOff x="8491946" y="2467219"/>
            <a:chExt cx="679994" cy="1889067"/>
          </a:xfrm>
        </p:grpSpPr>
        <p:sp>
          <p:nvSpPr>
            <p:cNvPr id="123920" name="矩形 20"/>
            <p:cNvSpPr>
              <a:spLocks noChangeArrowheads="1"/>
            </p:cNvSpPr>
            <p:nvPr/>
          </p:nvSpPr>
          <p:spPr bwMode="auto">
            <a:xfrm>
              <a:off x="8701314" y="3383829"/>
              <a:ext cx="159657" cy="508000"/>
            </a:xfrm>
            <a:prstGeom prst="rect">
              <a:avLst/>
            </a:prstGeom>
            <a:noFill/>
            <a:ln w="28575"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cxnSp>
          <p:nvCxnSpPr>
            <p:cNvPr id="123921" name="直接连接符 21"/>
            <p:cNvCxnSpPr>
              <a:cxnSpLocks noChangeShapeType="1"/>
              <a:endCxn id="123920" idx="0"/>
            </p:cNvCxnSpPr>
            <p:nvPr/>
          </p:nvCxnSpPr>
          <p:spPr bwMode="auto">
            <a:xfrm>
              <a:off x="8781142" y="2919372"/>
              <a:ext cx="1" cy="464457"/>
            </a:xfrm>
            <a:prstGeom prst="line">
              <a:avLst/>
            </a:prstGeom>
            <a:noFill/>
            <a:ln w="2857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22" name="直接连接符 22"/>
            <p:cNvCxnSpPr>
              <a:cxnSpLocks noChangeShapeType="1"/>
            </p:cNvCxnSpPr>
            <p:nvPr/>
          </p:nvCxnSpPr>
          <p:spPr bwMode="auto">
            <a:xfrm>
              <a:off x="8781143" y="3891829"/>
              <a:ext cx="1" cy="464457"/>
            </a:xfrm>
            <a:prstGeom prst="line">
              <a:avLst/>
            </a:prstGeom>
            <a:noFill/>
            <a:ln w="2857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23" name="直接连接符 23"/>
            <p:cNvCxnSpPr>
              <a:cxnSpLocks noChangeShapeType="1"/>
            </p:cNvCxnSpPr>
            <p:nvPr/>
          </p:nvCxnSpPr>
          <p:spPr bwMode="auto">
            <a:xfrm>
              <a:off x="8628744" y="2919372"/>
              <a:ext cx="283029" cy="0"/>
            </a:xfrm>
            <a:prstGeom prst="line">
              <a:avLst/>
            </a:prstGeom>
            <a:noFill/>
            <a:ln w="2857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3924" name="矩形 24"/>
            <p:cNvSpPr>
              <a:spLocks noChangeArrowheads="1"/>
            </p:cNvSpPr>
            <p:nvPr/>
          </p:nvSpPr>
          <p:spPr bwMode="auto">
            <a:xfrm>
              <a:off x="8491946" y="2467219"/>
              <a:ext cx="6799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a:t>Vcc</a:t>
              </a:r>
              <a:endParaRPr lang="zh-CN" altLang="en-US" sz="2400"/>
            </a:p>
          </p:txBody>
        </p:sp>
      </p:grpSp>
      <p:sp>
        <p:nvSpPr>
          <p:cNvPr id="7" name="文本框 6"/>
          <p:cNvSpPr txBox="1"/>
          <p:nvPr/>
        </p:nvSpPr>
        <p:spPr>
          <a:xfrm>
            <a:off x="1249045" y="3903980"/>
            <a:ext cx="2022475" cy="337185"/>
          </a:xfrm>
          <a:prstGeom prst="rect">
            <a:avLst/>
          </a:prstGeom>
        </p:spPr>
        <p:txBody>
          <a:bodyPr wrap="square">
            <a:spAutoFit/>
          </a:bodyPr>
          <a:lstStyle/>
          <a:p>
            <a:r>
              <a:rPr lang="en-US" altLang="zh-CN" sz="1600"/>
              <a:t>Port Data Latch</a:t>
            </a:r>
          </a:p>
        </p:txBody>
      </p:sp>
      <p:sp>
        <p:nvSpPr>
          <p:cNvPr id="22" name="文本框 21"/>
          <p:cNvSpPr txBox="1"/>
          <p:nvPr/>
        </p:nvSpPr>
        <p:spPr>
          <a:xfrm>
            <a:off x="5676900" y="5576570"/>
            <a:ext cx="3107690" cy="337185"/>
          </a:xfrm>
          <a:prstGeom prst="rect">
            <a:avLst/>
          </a:prstGeom>
        </p:spPr>
        <p:txBody>
          <a:bodyPr wrap="square">
            <a:spAutoFit/>
          </a:bodyPr>
          <a:lstStyle/>
          <a:p>
            <a:r>
              <a:rPr lang="en-US" altLang="zh-CN" sz="1600"/>
              <a:t>Interference Suppression Filter</a:t>
            </a:r>
          </a:p>
        </p:txBody>
      </p:sp>
      <p:sp>
        <p:nvSpPr>
          <p:cNvPr id="23" name="文本框 22"/>
          <p:cNvSpPr txBox="1"/>
          <p:nvPr/>
        </p:nvSpPr>
        <p:spPr>
          <a:xfrm>
            <a:off x="6628765" y="3550285"/>
            <a:ext cx="3048000" cy="368300"/>
          </a:xfrm>
          <a:prstGeom prst="rect">
            <a:avLst/>
          </a:prstGeom>
          <a:noFill/>
        </p:spPr>
        <p:txBody>
          <a:bodyPr wrap="square" rtlCol="0">
            <a:spAutoFit/>
          </a:bodyPr>
          <a:lstStyle/>
          <a:p>
            <a:r>
              <a:rPr lang="en-US" altLang="zh-CN"/>
              <a:t>Port Pin</a:t>
            </a:r>
          </a:p>
        </p:txBody>
      </p:sp>
      <p:sp>
        <p:nvSpPr>
          <p:cNvPr id="24" name="文本框 23"/>
          <p:cNvSpPr txBox="1"/>
          <p:nvPr/>
        </p:nvSpPr>
        <p:spPr>
          <a:xfrm>
            <a:off x="1654175" y="5340350"/>
            <a:ext cx="3048000" cy="368300"/>
          </a:xfrm>
          <a:prstGeom prst="rect">
            <a:avLst/>
          </a:prstGeom>
          <a:noFill/>
        </p:spPr>
        <p:txBody>
          <a:bodyPr wrap="square" rtlCol="0">
            <a:spAutoFit/>
          </a:bodyPr>
          <a:lstStyle/>
          <a:p>
            <a:r>
              <a:rPr lang="en-US" altLang="zh-CN"/>
              <a:t>input data </a:t>
            </a:r>
          </a:p>
        </p:txBody>
      </p:sp>
      <p:sp>
        <p:nvSpPr>
          <p:cNvPr id="8" name="灯片编号占位符 7"/>
          <p:cNvSpPr>
            <a:spLocks noGrp="1"/>
          </p:cNvSpPr>
          <p:nvPr>
            <p:ph type="sldNum" sz="quarter" idx="12"/>
          </p:nvPr>
        </p:nvSpPr>
        <p:spPr/>
        <p:txBody>
          <a:bodyPr/>
          <a:lstStyle/>
          <a:p>
            <a:fld id="{22E77DEE-32E4-4009-988B-F2758F7B8AC2}" type="slidenum">
              <a:rPr lang="zh-CN" altLang="en-US" smtClean="0"/>
              <a:t>70</a:t>
            </a:fld>
            <a:endParaRPr lang="zh-C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0" name="Picture 2" descr="D:\DOCUME~1\ADMINI~1\LOCALS~1\Temp\HS5ClipImage_56b0178b.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2000" y="3542983"/>
            <a:ext cx="6059488" cy="253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31" name="标题 3"/>
          <p:cNvSpPr>
            <a:spLocks noGrp="1" noChangeArrowheads="1"/>
          </p:cNvSpPr>
          <p:nvPr>
            <p:ph type="title"/>
          </p:nvPr>
        </p:nvSpPr>
        <p:spPr>
          <a:xfrm>
            <a:off x="200025" y="631190"/>
            <a:ext cx="8834120" cy="504825"/>
          </a:xfrm>
        </p:spPr>
        <p:txBody>
          <a:bodyPr>
            <a:noAutofit/>
          </a:bodyPr>
          <a:lstStyle/>
          <a:p>
            <a:pPr eaLnBrk="1" hangingPunct="1"/>
            <a:r>
              <a:rPr lang="zh-CN" altLang="en-US" sz="4000">
                <a:solidFill>
                  <a:srgbClr val="FF00FF"/>
                </a:solidFill>
              </a:rPr>
              <a:t>(4) Structure of open drain output mode</a:t>
            </a:r>
          </a:p>
        </p:txBody>
      </p:sp>
      <p:sp>
        <p:nvSpPr>
          <p:cNvPr id="527363" name="Rectangle 3"/>
          <p:cNvSpPr>
            <a:spLocks noGrp="1" noChangeArrowheads="1"/>
          </p:cNvSpPr>
          <p:nvPr>
            <p:ph idx="1"/>
          </p:nvPr>
        </p:nvSpPr>
        <p:spPr>
          <a:xfrm>
            <a:off x="285371" y="1126807"/>
            <a:ext cx="8748712" cy="2974975"/>
          </a:xfrm>
        </p:spPr>
        <p:txBody>
          <a:bodyPr/>
          <a:lstStyle/>
          <a:p>
            <a:pPr marL="262255" lvl="1" indent="-262255" eaLnBrk="1" hangingPunct="1">
              <a:defRPr/>
            </a:pPr>
            <a:r>
              <a:rPr lang="zh-CN" altLang="en-US" dirty="0"/>
              <a:t>This configuration requires an external pull-up resistor connected to Vcc. </a:t>
            </a:r>
            <a:r>
              <a:rPr lang="zh-CN" altLang="en-US" dirty="0">
                <a:solidFill>
                  <a:srgbClr val="FF0000"/>
                </a:solidFill>
              </a:rPr>
              <a:t>When the port latch is at 0, T2 is activated.</a:t>
            </a:r>
            <a:endParaRPr lang="en-US" altLang="zh-CN" dirty="0">
              <a:solidFill>
                <a:srgbClr val="FF0000"/>
              </a:solidFill>
            </a:endParaRPr>
          </a:p>
          <a:p>
            <a:pPr marL="262255" lvl="1" indent="-262255" eaLnBrk="1" hangingPunct="1">
              <a:defRPr/>
            </a:pPr>
            <a:r>
              <a:rPr lang="zh-CN" altLang="en-US" dirty="0"/>
              <a:t>This type of pull-down structure is the same as the pull-down structure in the quasi-dual-port mode.</a:t>
            </a:r>
          </a:p>
          <a:p>
            <a:pPr marL="262255" lvl="1" indent="-262255" eaLnBrk="1" hangingPunct="1">
              <a:defRPr/>
            </a:pPr>
            <a:r>
              <a:rPr lang="zh-CN" altLang="en-US" dirty="0"/>
              <a:t>The sink current can reach 20mA when the output is low.</a:t>
            </a:r>
            <a:endParaRPr lang="en-US" altLang="zh-CN" dirty="0"/>
          </a:p>
          <a:p>
            <a:pPr marL="262255" lvl="1" indent="-262255" eaLnBrk="1" hangingPunct="1">
              <a:defRPr/>
            </a:pPr>
            <a:r>
              <a:rPr lang="zh-CN" altLang="en-US" dirty="0">
                <a:solidFill>
                  <a:srgbClr val="FF0000"/>
                </a:solidFill>
              </a:rPr>
              <a:t>When the output is high, the drive current does not flow through the microcontroller, and there is no load limit.</a:t>
            </a:r>
            <a:endParaRPr lang="en-US" altLang="zh-CN" dirty="0">
              <a:solidFill>
                <a:srgbClr val="FF0000"/>
              </a:solidFill>
            </a:endParaRPr>
          </a:p>
          <a:p>
            <a:pPr marL="262255" lvl="1" indent="-262255" eaLnBrk="1" hangingPunct="1">
              <a:defRPr/>
            </a:pPr>
            <a:r>
              <a:rPr lang="zh-CN" altLang="en-US" dirty="0"/>
              <a:t>The open drain port has a Schmitt trigger input and an interference suppression circuit.</a:t>
            </a:r>
          </a:p>
        </p:txBody>
      </p:sp>
      <p:sp>
        <p:nvSpPr>
          <p:cNvPr id="7" name="矩形 6"/>
          <p:cNvSpPr>
            <a:spLocks noChangeArrowheads="1"/>
          </p:cNvSpPr>
          <p:nvPr/>
        </p:nvSpPr>
        <p:spPr bwMode="auto">
          <a:xfrm>
            <a:off x="4117816" y="4587558"/>
            <a:ext cx="2971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3333FF"/>
                </a:solidFill>
              </a:rPr>
              <a:t>1</a:t>
            </a:r>
          </a:p>
        </p:txBody>
      </p:sp>
      <p:sp>
        <p:nvSpPr>
          <p:cNvPr id="8" name="矩形 7"/>
          <p:cNvSpPr>
            <a:spLocks noChangeArrowheads="1"/>
          </p:cNvSpPr>
          <p:nvPr/>
        </p:nvSpPr>
        <p:spPr bwMode="auto">
          <a:xfrm>
            <a:off x="2922429" y="4812348"/>
            <a:ext cx="2971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3366FF"/>
                </a:solidFill>
              </a:rPr>
              <a:t>0</a:t>
            </a:r>
          </a:p>
        </p:txBody>
      </p:sp>
      <p:grpSp>
        <p:nvGrpSpPr>
          <p:cNvPr id="23" name="组合 22"/>
          <p:cNvGrpSpPr/>
          <p:nvPr/>
        </p:nvGrpSpPr>
        <p:grpSpPr bwMode="auto">
          <a:xfrm>
            <a:off x="7640638" y="2165033"/>
            <a:ext cx="1501775" cy="1860550"/>
            <a:chOff x="7670346" y="2506498"/>
            <a:chExt cx="1501594" cy="1859273"/>
          </a:xfrm>
        </p:grpSpPr>
        <p:cxnSp>
          <p:nvCxnSpPr>
            <p:cNvPr id="124956" name="直接连接符 5"/>
            <p:cNvCxnSpPr>
              <a:cxnSpLocks noChangeShapeType="1"/>
            </p:cNvCxnSpPr>
            <p:nvPr/>
          </p:nvCxnSpPr>
          <p:spPr bwMode="auto">
            <a:xfrm>
              <a:off x="7670346" y="4365771"/>
              <a:ext cx="1110798" cy="0"/>
            </a:xfrm>
            <a:prstGeom prst="line">
              <a:avLst/>
            </a:prstGeom>
            <a:noFill/>
            <a:ln w="2857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4957" name="矩形 8"/>
            <p:cNvSpPr>
              <a:spLocks noChangeArrowheads="1"/>
            </p:cNvSpPr>
            <p:nvPr/>
          </p:nvSpPr>
          <p:spPr bwMode="auto">
            <a:xfrm>
              <a:off x="8701314" y="3383829"/>
              <a:ext cx="159657" cy="508000"/>
            </a:xfrm>
            <a:prstGeom prst="rect">
              <a:avLst/>
            </a:prstGeom>
            <a:noFill/>
            <a:ln w="28575"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cxnSp>
          <p:nvCxnSpPr>
            <p:cNvPr id="124958" name="直接连接符 10"/>
            <p:cNvCxnSpPr>
              <a:cxnSpLocks noChangeShapeType="1"/>
              <a:endCxn id="124957" idx="0"/>
            </p:cNvCxnSpPr>
            <p:nvPr/>
          </p:nvCxnSpPr>
          <p:spPr bwMode="auto">
            <a:xfrm>
              <a:off x="8781142" y="2919372"/>
              <a:ext cx="1" cy="464457"/>
            </a:xfrm>
            <a:prstGeom prst="line">
              <a:avLst/>
            </a:prstGeom>
            <a:noFill/>
            <a:ln w="2857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959" name="直接连接符 13"/>
            <p:cNvCxnSpPr>
              <a:cxnSpLocks noChangeShapeType="1"/>
            </p:cNvCxnSpPr>
            <p:nvPr/>
          </p:nvCxnSpPr>
          <p:spPr bwMode="auto">
            <a:xfrm>
              <a:off x="8781143" y="3891829"/>
              <a:ext cx="1" cy="464457"/>
            </a:xfrm>
            <a:prstGeom prst="line">
              <a:avLst/>
            </a:prstGeom>
            <a:noFill/>
            <a:ln w="2857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960" name="直接连接符 18"/>
            <p:cNvCxnSpPr>
              <a:cxnSpLocks noChangeShapeType="1"/>
            </p:cNvCxnSpPr>
            <p:nvPr/>
          </p:nvCxnSpPr>
          <p:spPr bwMode="auto">
            <a:xfrm>
              <a:off x="8628744" y="2919372"/>
              <a:ext cx="283029" cy="0"/>
            </a:xfrm>
            <a:prstGeom prst="line">
              <a:avLst/>
            </a:prstGeom>
            <a:noFill/>
            <a:ln w="2857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4961" name="矩形 21"/>
            <p:cNvSpPr>
              <a:spLocks noChangeArrowheads="1"/>
            </p:cNvSpPr>
            <p:nvPr/>
          </p:nvSpPr>
          <p:spPr bwMode="auto">
            <a:xfrm>
              <a:off x="8491946" y="2506498"/>
              <a:ext cx="6799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a:t>Vcc</a:t>
              </a:r>
              <a:endParaRPr lang="zh-CN" altLang="en-US" sz="2400"/>
            </a:p>
          </p:txBody>
        </p:sp>
      </p:grpSp>
      <p:sp>
        <p:nvSpPr>
          <p:cNvPr id="26" name="矩形 25"/>
          <p:cNvSpPr>
            <a:spLocks noChangeArrowheads="1"/>
          </p:cNvSpPr>
          <p:nvPr/>
        </p:nvSpPr>
        <p:spPr bwMode="auto">
          <a:xfrm>
            <a:off x="4896486" y="4773613"/>
            <a:ext cx="4241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solidFill>
                  <a:srgbClr val="3333FF"/>
                </a:solidFill>
              </a:rPr>
              <a:t>o</a:t>
            </a:r>
            <a:r>
              <a:rPr lang="en-US" altLang="zh-CN" b="1">
                <a:solidFill>
                  <a:srgbClr val="3333FF"/>
                </a:solidFill>
              </a:rPr>
              <a:t>n</a:t>
            </a:r>
          </a:p>
        </p:txBody>
      </p:sp>
      <p:sp>
        <p:nvSpPr>
          <p:cNvPr id="27" name="矩形 26"/>
          <p:cNvSpPr>
            <a:spLocks noChangeArrowheads="1"/>
          </p:cNvSpPr>
          <p:nvPr/>
        </p:nvSpPr>
        <p:spPr bwMode="auto">
          <a:xfrm>
            <a:off x="6521450" y="4543108"/>
            <a:ext cx="1589088" cy="11080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a:solidFill>
                  <a:srgbClr val="3333FF"/>
                </a:solidFill>
              </a:rPr>
              <a:t>At low output, the maximum sink current is 20mA</a:t>
            </a:r>
            <a:endParaRPr lang="zh-CN" altLang="en-US" sz="2400" b="1">
              <a:solidFill>
                <a:srgbClr val="3333FF"/>
              </a:solidFill>
            </a:endParaRPr>
          </a:p>
        </p:txBody>
      </p:sp>
      <p:sp>
        <p:nvSpPr>
          <p:cNvPr id="28" name="任意多边形 27"/>
          <p:cNvSpPr/>
          <p:nvPr/>
        </p:nvSpPr>
        <p:spPr bwMode="auto">
          <a:xfrm rot="-195418">
            <a:off x="4914900" y="4165283"/>
            <a:ext cx="1836738" cy="566737"/>
          </a:xfrm>
          <a:custGeom>
            <a:avLst/>
            <a:gdLst>
              <a:gd name="T0" fmla="*/ 1837088 w 1941838"/>
              <a:gd name="T1" fmla="*/ 27428 h 732096"/>
              <a:gd name="T2" fmla="*/ 230523 w 1941838"/>
              <a:gd name="T3" fmla="*/ 61154 h 732096"/>
              <a:gd name="T4" fmla="*/ 10821 w 1941838"/>
              <a:gd name="T5" fmla="*/ 567058 h 732096"/>
              <a:gd name="T6" fmla="*/ 10821 w 1941838"/>
              <a:gd name="T7" fmla="*/ 567058 h 7320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41838" h="732096">
                <a:moveTo>
                  <a:pt x="1941838" y="35411"/>
                </a:moveTo>
                <a:cubicBezTo>
                  <a:pt x="1253619" y="-875"/>
                  <a:pt x="565400" y="-37161"/>
                  <a:pt x="243667" y="78953"/>
                </a:cubicBezTo>
                <a:cubicBezTo>
                  <a:pt x="-78066" y="195067"/>
                  <a:pt x="11438" y="732096"/>
                  <a:pt x="11438" y="732096"/>
                </a:cubicBezTo>
              </a:path>
            </a:pathLst>
          </a:custGeom>
          <a:noFill/>
          <a:ln w="19050" cap="flat" cmpd="sng" algn="ctr">
            <a:solidFill>
              <a:srgbClr val="3333FF"/>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矩形 19"/>
          <p:cNvSpPr>
            <a:spLocks noChangeArrowheads="1"/>
          </p:cNvSpPr>
          <p:nvPr/>
        </p:nvSpPr>
        <p:spPr bwMode="auto">
          <a:xfrm>
            <a:off x="2922429" y="3782695"/>
            <a:ext cx="2971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0000"/>
                </a:solidFill>
              </a:rPr>
              <a:t>1</a:t>
            </a:r>
          </a:p>
        </p:txBody>
      </p:sp>
      <p:sp>
        <p:nvSpPr>
          <p:cNvPr id="21" name="矩形 20"/>
          <p:cNvSpPr>
            <a:spLocks noChangeArrowheads="1"/>
          </p:cNvSpPr>
          <p:nvPr/>
        </p:nvSpPr>
        <p:spPr bwMode="auto">
          <a:xfrm>
            <a:off x="3957479" y="3882708"/>
            <a:ext cx="2971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0000"/>
                </a:solidFill>
              </a:rPr>
              <a:t>0</a:t>
            </a:r>
          </a:p>
        </p:txBody>
      </p:sp>
      <p:sp>
        <p:nvSpPr>
          <p:cNvPr id="24" name="矩形 23"/>
          <p:cNvSpPr>
            <a:spLocks noChangeArrowheads="1"/>
          </p:cNvSpPr>
          <p:nvPr/>
        </p:nvSpPr>
        <p:spPr bwMode="auto">
          <a:xfrm>
            <a:off x="4579621" y="4007485"/>
            <a:ext cx="538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rPr>
              <a:t>off</a:t>
            </a:r>
          </a:p>
        </p:txBody>
      </p:sp>
      <p:sp>
        <p:nvSpPr>
          <p:cNvPr id="25" name="矩形 24"/>
          <p:cNvSpPr>
            <a:spLocks noChangeArrowheads="1"/>
          </p:cNvSpPr>
          <p:nvPr/>
        </p:nvSpPr>
        <p:spPr bwMode="auto">
          <a:xfrm>
            <a:off x="6525261" y="4047808"/>
            <a:ext cx="2971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3366FF"/>
                </a:solidFill>
              </a:rPr>
              <a:t>0</a:t>
            </a:r>
          </a:p>
        </p:txBody>
      </p:sp>
      <p:sp>
        <p:nvSpPr>
          <p:cNvPr id="29" name="矩形 28"/>
          <p:cNvSpPr>
            <a:spLocks noChangeArrowheads="1"/>
          </p:cNvSpPr>
          <p:nvPr/>
        </p:nvSpPr>
        <p:spPr bwMode="auto">
          <a:xfrm>
            <a:off x="6525261" y="3552508"/>
            <a:ext cx="2971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0000"/>
                </a:solidFill>
              </a:rPr>
              <a:t>1</a:t>
            </a:r>
          </a:p>
        </p:txBody>
      </p:sp>
      <p:grpSp>
        <p:nvGrpSpPr>
          <p:cNvPr id="34" name="组合 33"/>
          <p:cNvGrpSpPr/>
          <p:nvPr/>
        </p:nvGrpSpPr>
        <p:grpSpPr bwMode="auto">
          <a:xfrm>
            <a:off x="7573963" y="2155508"/>
            <a:ext cx="1617662" cy="1866900"/>
            <a:chOff x="7577865" y="2764587"/>
            <a:chExt cx="1618095" cy="1868006"/>
          </a:xfrm>
        </p:grpSpPr>
        <p:pic>
          <p:nvPicPr>
            <p:cNvPr id="124953" name="图片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7982" y="2764587"/>
              <a:ext cx="717978" cy="1690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4954" name="直接连接符 35"/>
            <p:cNvCxnSpPr>
              <a:cxnSpLocks noChangeShapeType="1"/>
            </p:cNvCxnSpPr>
            <p:nvPr/>
          </p:nvCxnSpPr>
          <p:spPr bwMode="auto">
            <a:xfrm>
              <a:off x="7577865" y="4626889"/>
              <a:ext cx="1175156" cy="0"/>
            </a:xfrm>
            <a:prstGeom prst="line">
              <a:avLst/>
            </a:prstGeom>
            <a:noFill/>
            <a:ln w="28575" algn="ctr">
              <a:solidFill>
                <a:srgbClr val="3333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955" name="直接连接符 36"/>
            <p:cNvCxnSpPr>
              <a:cxnSpLocks noChangeShapeType="1"/>
            </p:cNvCxnSpPr>
            <p:nvPr/>
          </p:nvCxnSpPr>
          <p:spPr bwMode="auto">
            <a:xfrm flipV="1">
              <a:off x="8753021" y="4393765"/>
              <a:ext cx="4480" cy="238828"/>
            </a:xfrm>
            <a:prstGeom prst="line">
              <a:avLst/>
            </a:prstGeom>
            <a:noFill/>
            <a:ln w="28575" algn="ctr">
              <a:solidFill>
                <a:srgbClr val="3333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0" name="组合 29"/>
          <p:cNvGrpSpPr/>
          <p:nvPr/>
        </p:nvGrpSpPr>
        <p:grpSpPr bwMode="auto">
          <a:xfrm>
            <a:off x="7646988" y="4014470"/>
            <a:ext cx="1571625" cy="1844675"/>
            <a:chOff x="7540432" y="4627084"/>
            <a:chExt cx="1570736" cy="1844320"/>
          </a:xfrm>
        </p:grpSpPr>
        <p:pic>
          <p:nvPicPr>
            <p:cNvPr id="124950" name="图片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8715" y="5211550"/>
              <a:ext cx="882453" cy="1259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4951" name="直接连接符 31"/>
            <p:cNvCxnSpPr>
              <a:cxnSpLocks noChangeShapeType="1"/>
            </p:cNvCxnSpPr>
            <p:nvPr/>
          </p:nvCxnSpPr>
          <p:spPr bwMode="auto">
            <a:xfrm>
              <a:off x="7540432" y="4627084"/>
              <a:ext cx="1107475" cy="0"/>
            </a:xfrm>
            <a:prstGeom prst="line">
              <a:avLst/>
            </a:prstGeom>
            <a:noFill/>
            <a:ln w="28575" algn="ctr">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952" name="直接连接符 32"/>
            <p:cNvCxnSpPr>
              <a:cxnSpLocks noChangeShapeType="1"/>
            </p:cNvCxnSpPr>
            <p:nvPr/>
          </p:nvCxnSpPr>
          <p:spPr bwMode="auto">
            <a:xfrm>
              <a:off x="8647907" y="4627084"/>
              <a:ext cx="0" cy="782198"/>
            </a:xfrm>
            <a:prstGeom prst="line">
              <a:avLst/>
            </a:prstGeom>
            <a:noFill/>
            <a:ln w="28575" algn="ctr">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8" name="矩形 37"/>
          <p:cNvSpPr/>
          <p:nvPr/>
        </p:nvSpPr>
        <p:spPr>
          <a:xfrm>
            <a:off x="7573963" y="3622358"/>
            <a:ext cx="1106487" cy="738187"/>
          </a:xfrm>
          <a:prstGeom prst="rect">
            <a:avLst/>
          </a:prstGeom>
          <a:noFill/>
        </p:spPr>
        <p:txBody>
          <a:bodyPr lIns="0" tIns="36000" rIns="0" bIns="0" anchor="b">
            <a:spAutoFit/>
          </a:bodyPr>
          <a:lstStyle/>
          <a:p>
            <a:pPr algn="ctr" eaLnBrk="1" hangingPunct="1">
              <a:lnSpc>
                <a:spcPct val="95000"/>
              </a:lnSpc>
              <a:defRPr/>
            </a:pPr>
            <a:r>
              <a:rPr lang="zh-CN" altLang="en-US" sz="1200" b="1" kern="0" dirty="0">
                <a:solidFill>
                  <a:srgbClr val="FF0000"/>
                </a:solidFill>
                <a:cs typeface="Times New Roman" panose="02020603050405020304" pitchFamily="18" charset="0"/>
              </a:rPr>
              <a:t>Example: P3.2</a:t>
            </a:r>
            <a:endParaRPr lang="en-US" altLang="zh-CN" sz="2400" b="1" dirty="0">
              <a:solidFill>
                <a:srgbClr val="FF0000"/>
              </a:solidFill>
              <a:ea typeface="宋体" panose="02010600030101010101" pitchFamily="2" charset="-122"/>
              <a:cs typeface="Times New Roman" panose="02020603050405020304" pitchFamily="18" charset="0"/>
            </a:endParaRPr>
          </a:p>
        </p:txBody>
      </p:sp>
      <p:sp>
        <p:nvSpPr>
          <p:cNvPr id="39" name="矩形 38"/>
          <p:cNvSpPr/>
          <p:nvPr/>
        </p:nvSpPr>
        <p:spPr>
          <a:xfrm>
            <a:off x="471488" y="3946208"/>
            <a:ext cx="1311275" cy="868362"/>
          </a:xfrm>
          <a:prstGeom prst="rect">
            <a:avLst/>
          </a:prstGeom>
          <a:noFill/>
        </p:spPr>
        <p:txBody>
          <a:bodyPr lIns="0" tIns="36000" rIns="0" bIns="0" anchor="b">
            <a:spAutoFit/>
          </a:bodyPr>
          <a:lstStyle/>
          <a:p>
            <a:pPr algn="ctr" eaLnBrk="1" hangingPunct="1">
              <a:lnSpc>
                <a:spcPct val="75000"/>
              </a:lnSpc>
              <a:defRPr/>
            </a:pPr>
            <a:r>
              <a:rPr lang="zh-CN" altLang="en-US" sz="1200" b="1" kern="0" dirty="0">
                <a:solidFill>
                  <a:srgbClr val="0000FF"/>
                </a:solidFill>
                <a:cs typeface="Times New Roman" panose="02020603050405020304" pitchFamily="18" charset="0"/>
              </a:rPr>
              <a:t>Example: latch bit of P3.2 line</a:t>
            </a:r>
            <a:endParaRPr lang="en-US" altLang="zh-CN" sz="2400" b="1" dirty="0">
              <a:solidFill>
                <a:srgbClr val="0000FF"/>
              </a:solidFill>
              <a:ea typeface="宋体" panose="02010600030101010101" pitchFamily="2" charset="-122"/>
              <a:cs typeface="Times New Roman" panose="02020603050405020304" pitchFamily="18" charset="0"/>
            </a:endParaRPr>
          </a:p>
        </p:txBody>
      </p:sp>
      <p:sp>
        <p:nvSpPr>
          <p:cNvPr id="6" name="文本框 5"/>
          <p:cNvSpPr txBox="1"/>
          <p:nvPr/>
        </p:nvSpPr>
        <p:spPr>
          <a:xfrm>
            <a:off x="2032000" y="4509770"/>
            <a:ext cx="1527810" cy="337185"/>
          </a:xfrm>
          <a:prstGeom prst="rect">
            <a:avLst/>
          </a:prstGeom>
        </p:spPr>
        <p:txBody>
          <a:bodyPr wrap="square">
            <a:spAutoFit/>
          </a:bodyPr>
          <a:lstStyle/>
          <a:p>
            <a:r>
              <a:rPr lang="en-US" altLang="zh-CN" sz="1600"/>
              <a:t>Port Data Latch</a:t>
            </a:r>
          </a:p>
        </p:txBody>
      </p:sp>
      <p:sp>
        <p:nvSpPr>
          <p:cNvPr id="9" name="文本框 8"/>
          <p:cNvSpPr txBox="1"/>
          <p:nvPr/>
        </p:nvSpPr>
        <p:spPr>
          <a:xfrm>
            <a:off x="5877560" y="6042025"/>
            <a:ext cx="3004820" cy="337185"/>
          </a:xfrm>
          <a:prstGeom prst="rect">
            <a:avLst/>
          </a:prstGeom>
        </p:spPr>
        <p:txBody>
          <a:bodyPr wrap="square">
            <a:spAutoFit/>
          </a:bodyPr>
          <a:lstStyle/>
          <a:p>
            <a:r>
              <a:rPr lang="en-US" altLang="zh-CN" sz="1600"/>
              <a:t>Interference Suppression Filter</a:t>
            </a:r>
          </a:p>
        </p:txBody>
      </p:sp>
      <p:sp>
        <p:nvSpPr>
          <p:cNvPr id="10" name="文本框 9"/>
          <p:cNvSpPr txBox="1"/>
          <p:nvPr/>
        </p:nvSpPr>
        <p:spPr>
          <a:xfrm>
            <a:off x="6750050" y="4240530"/>
            <a:ext cx="3048000" cy="368300"/>
          </a:xfrm>
          <a:prstGeom prst="rect">
            <a:avLst/>
          </a:prstGeom>
          <a:noFill/>
        </p:spPr>
        <p:txBody>
          <a:bodyPr wrap="square" rtlCol="0">
            <a:spAutoFit/>
          </a:bodyPr>
          <a:lstStyle/>
          <a:p>
            <a:r>
              <a:rPr lang="en-US" altLang="zh-CN"/>
              <a:t>Port Pin</a:t>
            </a:r>
          </a:p>
        </p:txBody>
      </p:sp>
      <p:sp>
        <p:nvSpPr>
          <p:cNvPr id="11" name="文本框 10"/>
          <p:cNvSpPr txBox="1"/>
          <p:nvPr/>
        </p:nvSpPr>
        <p:spPr>
          <a:xfrm>
            <a:off x="2435225" y="5779135"/>
            <a:ext cx="3048000" cy="368300"/>
          </a:xfrm>
          <a:prstGeom prst="rect">
            <a:avLst/>
          </a:prstGeom>
          <a:noFill/>
        </p:spPr>
        <p:txBody>
          <a:bodyPr wrap="square" rtlCol="0">
            <a:spAutoFit/>
          </a:bodyPr>
          <a:lstStyle/>
          <a:p>
            <a:r>
              <a:rPr lang="en-US" altLang="zh-CN"/>
              <a:t>input data </a:t>
            </a:r>
          </a:p>
        </p:txBody>
      </p:sp>
      <p:sp>
        <p:nvSpPr>
          <p:cNvPr id="12" name="灯片编号占位符 11"/>
          <p:cNvSpPr>
            <a:spLocks noGrp="1"/>
          </p:cNvSpPr>
          <p:nvPr>
            <p:ph type="sldNum" sz="quarter" idx="12"/>
          </p:nvPr>
        </p:nvSpPr>
        <p:spPr/>
        <p:txBody>
          <a:bodyPr/>
          <a:lstStyle/>
          <a:p>
            <a:fld id="{22E77DEE-32E4-4009-988B-F2758F7B8AC2}" type="slidenum">
              <a:rPr lang="zh-CN" altLang="en-US" smtClean="0"/>
              <a:t>71</a:t>
            </a:fld>
            <a:endParaRPr lang="zh-CN"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5"/>
          <p:cNvSpPr>
            <a:spLocks noGrp="1" noChangeArrowheads="1"/>
          </p:cNvSpPr>
          <p:nvPr>
            <p:ph type="title"/>
          </p:nvPr>
        </p:nvSpPr>
        <p:spPr>
          <a:xfrm>
            <a:off x="261937" y="614589"/>
            <a:ext cx="8316913" cy="504825"/>
          </a:xfrm>
        </p:spPr>
        <p:txBody>
          <a:bodyPr>
            <a:noAutofit/>
          </a:bodyPr>
          <a:lstStyle/>
          <a:p>
            <a:pPr eaLnBrk="1" hangingPunct="1"/>
            <a:r>
              <a:rPr lang="en-US" altLang="zh-CN" sz="3600" dirty="0">
                <a:solidFill>
                  <a:schemeClr val="tx1"/>
                </a:solidFill>
                <a:latin typeface="Times New Roman" panose="02020603050405020304" pitchFamily="18" charset="0"/>
                <a:cs typeface="Times New Roman" panose="02020603050405020304" pitchFamily="18" charset="0"/>
              </a:rPr>
              <a:t>4. The use of I/O ports in </a:t>
            </a:r>
            <a:r>
              <a:rPr lang="en-US" altLang="zh-CN" sz="3600" dirty="0">
                <a:solidFill>
                  <a:srgbClr val="FF0000"/>
                </a:solidFill>
                <a:latin typeface="Times New Roman" panose="02020603050405020304" pitchFamily="18" charset="0"/>
                <a:cs typeface="Times New Roman" panose="02020603050405020304" pitchFamily="18" charset="0"/>
              </a:rPr>
              <a:t>IAP15W4K58S4</a:t>
            </a:r>
            <a:r>
              <a:rPr lang="en-US" altLang="zh-CN" sz="3600" dirty="0">
                <a:solidFill>
                  <a:schemeClr val="tx1"/>
                </a:solidFill>
                <a:latin typeface="Times New Roman" panose="02020603050405020304" pitchFamily="18" charset="0"/>
                <a:cs typeface="Times New Roman" panose="02020603050405020304" pitchFamily="18" charset="0"/>
              </a:rPr>
              <a:t> microcontroller</a:t>
            </a:r>
            <a:endParaRPr lang="zh-CN" altLang="en-US" sz="3600" dirty="0">
              <a:solidFill>
                <a:schemeClr val="tx1"/>
              </a:solidFill>
              <a:latin typeface="Times New Roman" panose="02020603050405020304" pitchFamily="18" charset="0"/>
              <a:cs typeface="Times New Roman" panose="02020603050405020304" pitchFamily="18" charset="0"/>
            </a:endParaRPr>
          </a:p>
        </p:txBody>
      </p:sp>
      <p:sp>
        <p:nvSpPr>
          <p:cNvPr id="185348" name="Rectangle 4"/>
          <p:cNvSpPr>
            <a:spLocks noGrp="1" noChangeArrowheads="1"/>
          </p:cNvSpPr>
          <p:nvPr>
            <p:ph idx="1"/>
          </p:nvPr>
        </p:nvSpPr>
        <p:spPr>
          <a:xfrm>
            <a:off x="261937" y="1119414"/>
            <a:ext cx="8605838" cy="1122816"/>
          </a:xfrm>
        </p:spPr>
        <p:txBody>
          <a:bodyPr>
            <a:noAutofit/>
          </a:bodyPr>
          <a:lstStyle/>
          <a:p>
            <a:pPr>
              <a:lnSpc>
                <a:spcPct val="100000"/>
              </a:lnSpc>
              <a:spcBef>
                <a:spcPct val="0"/>
              </a:spcBef>
              <a:buNone/>
            </a:pPr>
            <a:r>
              <a:rPr kumimoji="1" lang="en-US" altLang="zh-CN" sz="1800" dirty="0">
                <a:solidFill>
                  <a:srgbClr val="FF0000"/>
                </a:solidFill>
              </a:rPr>
              <a:t> (1) Use of P4 and P5 ports</a:t>
            </a:r>
          </a:p>
          <a:p>
            <a:pPr>
              <a:lnSpc>
                <a:spcPct val="100000"/>
              </a:lnSpc>
              <a:spcBef>
                <a:spcPct val="0"/>
              </a:spcBef>
              <a:buNone/>
            </a:pPr>
            <a:r>
              <a:rPr kumimoji="1" lang="en-US" altLang="zh-CN" sz="1800" dirty="0">
                <a:solidFill>
                  <a:schemeClr val="tx1"/>
                </a:solidFill>
              </a:rPr>
              <a:t>	The access to the </a:t>
            </a:r>
            <a:r>
              <a:rPr kumimoji="1" lang="en-US" altLang="zh-CN" sz="1800" dirty="0">
                <a:solidFill>
                  <a:srgbClr val="00B0F0"/>
                </a:solidFill>
              </a:rPr>
              <a:t>P4</a:t>
            </a:r>
            <a:r>
              <a:rPr kumimoji="1" lang="en-US" altLang="zh-CN" sz="1800" dirty="0">
                <a:solidFill>
                  <a:schemeClr val="tx1"/>
                </a:solidFill>
              </a:rPr>
              <a:t> and </a:t>
            </a:r>
            <a:r>
              <a:rPr kumimoji="1" lang="en-US" altLang="zh-CN" sz="1800" dirty="0">
                <a:solidFill>
                  <a:srgbClr val="00B0F0"/>
                </a:solidFill>
              </a:rPr>
              <a:t>P5</a:t>
            </a:r>
            <a:r>
              <a:rPr kumimoji="1" lang="en-US" altLang="zh-CN" sz="1800" dirty="0">
                <a:solidFill>
                  <a:schemeClr val="tx1"/>
                </a:solidFill>
              </a:rPr>
              <a:t> ports of the </a:t>
            </a:r>
            <a:r>
              <a:rPr kumimoji="1" lang="en-US" altLang="zh-CN" sz="1800" dirty="0">
                <a:solidFill>
                  <a:srgbClr val="00B0F0"/>
                </a:solidFill>
              </a:rPr>
              <a:t>IAP15W4K58S4</a:t>
            </a:r>
            <a:r>
              <a:rPr kumimoji="1" lang="en-US" altLang="zh-CN" sz="1800" dirty="0">
                <a:solidFill>
                  <a:schemeClr val="tx1"/>
                </a:solidFill>
              </a:rPr>
              <a:t> microcontroller is the same as accessing the regular P0/P1/P2/P3 ports, and </a:t>
            </a:r>
            <a:r>
              <a:rPr lang="en-US" altLang="zh-CN" sz="1800" dirty="0">
                <a:solidFill>
                  <a:srgbClr val="FF00FF"/>
                </a:solidFill>
              </a:rPr>
              <a:t>can be addressed bit by bit</a:t>
            </a:r>
            <a:r>
              <a:rPr kumimoji="1" lang="en-US" altLang="zh-CN" sz="1800" dirty="0">
                <a:solidFill>
                  <a:schemeClr val="tx1"/>
                </a:solidFill>
              </a:rPr>
              <a:t>. The address of the </a:t>
            </a:r>
            <a:r>
              <a:rPr lang="en-US" altLang="zh-CN" sz="1800" dirty="0">
                <a:solidFill>
                  <a:srgbClr val="FF00FF"/>
                </a:solidFill>
              </a:rPr>
              <a:t>P4 port</a:t>
            </a:r>
            <a:r>
              <a:rPr kumimoji="1" lang="en-US" altLang="zh-CN" sz="1800" dirty="0">
                <a:solidFill>
                  <a:schemeClr val="tx1"/>
                </a:solidFill>
              </a:rPr>
              <a:t> is </a:t>
            </a:r>
            <a:r>
              <a:rPr lang="en-US" altLang="zh-CN" sz="1800" dirty="0">
                <a:solidFill>
                  <a:srgbClr val="FF00FF"/>
                </a:solidFill>
              </a:rPr>
              <a:t>C0H</a:t>
            </a:r>
            <a:r>
              <a:rPr kumimoji="1" lang="en-US" altLang="zh-CN" sz="1800" dirty="0">
                <a:solidFill>
                  <a:schemeClr val="tx1"/>
                </a:solidFill>
              </a:rPr>
              <a:t>, and the address of the </a:t>
            </a:r>
            <a:r>
              <a:rPr lang="en-US" altLang="zh-CN" sz="1800" dirty="0">
                <a:solidFill>
                  <a:srgbClr val="FF00FF"/>
                </a:solidFill>
              </a:rPr>
              <a:t>P5 port</a:t>
            </a:r>
            <a:r>
              <a:rPr kumimoji="1" lang="en-US" altLang="zh-CN" sz="1800" dirty="0">
                <a:solidFill>
                  <a:schemeClr val="tx1"/>
                </a:solidFill>
              </a:rPr>
              <a:t> is </a:t>
            </a:r>
            <a:r>
              <a:rPr lang="en-US" altLang="zh-CN" sz="1800" dirty="0">
                <a:solidFill>
                  <a:srgbClr val="FF00FF"/>
                </a:solidFill>
              </a:rPr>
              <a:t>C8H</a:t>
            </a:r>
            <a:r>
              <a:rPr kumimoji="1" lang="en-US" altLang="zh-CN" sz="1800" dirty="0">
                <a:solidFill>
                  <a:schemeClr val="tx1"/>
                </a:solidFill>
              </a:rPr>
              <a:t>.</a:t>
            </a:r>
          </a:p>
        </p:txBody>
      </p:sp>
      <p:sp>
        <p:nvSpPr>
          <p:cNvPr id="6" name="Rectangle 3"/>
          <p:cNvSpPr txBox="1">
            <a:spLocks noChangeArrowheads="1"/>
          </p:cNvSpPr>
          <p:nvPr/>
        </p:nvSpPr>
        <p:spPr bwMode="auto">
          <a:xfrm>
            <a:off x="261937" y="2332945"/>
            <a:ext cx="5561013" cy="300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a:lnSpc>
                <a:spcPct val="100000"/>
              </a:lnSpc>
              <a:spcBef>
                <a:spcPts val="0"/>
              </a:spcBef>
              <a:buNone/>
              <a:defRPr/>
            </a:pPr>
            <a:r>
              <a:rPr kumimoji="1" lang="en-US" altLang="zh-CN" sz="1800" b="0" dirty="0">
                <a:solidFill>
                  <a:srgbClr val="FF0000"/>
                </a:solidFill>
                <a:latin typeface="+mn-lt"/>
                <a:ea typeface="+mn-ea"/>
              </a:rPr>
              <a:t>(2) Connection of pull-up resistor</a:t>
            </a:r>
          </a:p>
          <a:p>
            <a:pPr algn="l">
              <a:lnSpc>
                <a:spcPct val="100000"/>
              </a:lnSpc>
              <a:spcBef>
                <a:spcPts val="0"/>
              </a:spcBef>
              <a:buNone/>
              <a:defRPr/>
            </a:pPr>
            <a:r>
              <a:rPr kumimoji="1" lang="en-US" altLang="zh-CN" sz="1800" dirty="0">
                <a:solidFill>
                  <a:schemeClr val="tx1"/>
                </a:solidFill>
                <a:latin typeface="+mn-lt"/>
                <a:ea typeface="+mn-ea"/>
              </a:rPr>
              <a:t>	</a:t>
            </a:r>
            <a:r>
              <a:rPr kumimoji="1" lang="en-US" altLang="zh-CN" sz="1800" b="0" dirty="0">
                <a:solidFill>
                  <a:schemeClr val="tx1"/>
                </a:solidFill>
                <a:latin typeface="+mn-lt"/>
                <a:ea typeface="+mn-ea"/>
              </a:rPr>
              <a:t>Although a pull-up field-effect transistor is integrated inside the microcontroller when used as a </a:t>
            </a:r>
            <a:r>
              <a:rPr kumimoji="1" lang="en-US" altLang="zh-CN" sz="1800" b="0" dirty="0">
                <a:solidFill>
                  <a:srgbClr val="FF0000"/>
                </a:solidFill>
                <a:latin typeface="+mn-lt"/>
                <a:ea typeface="+mn-ea"/>
              </a:rPr>
              <a:t>quasi-bidirectional port</a:t>
            </a:r>
            <a:r>
              <a:rPr kumimoji="1" lang="en-US" altLang="zh-CN" sz="1800" b="0" dirty="0">
                <a:solidFill>
                  <a:schemeClr val="tx1"/>
                </a:solidFill>
                <a:latin typeface="+mn-lt"/>
                <a:ea typeface="+mn-ea"/>
              </a:rPr>
              <a:t>, in practical applications, for example, when an external circuit with open drain such as SPI/I2C is connected, it is generally </a:t>
            </a:r>
            <a:r>
              <a:rPr kumimoji="1" lang="en-US" altLang="zh-CN" sz="1800" b="0" dirty="0">
                <a:solidFill>
                  <a:srgbClr val="FF0000"/>
                </a:solidFill>
                <a:latin typeface="+mn-lt"/>
                <a:ea typeface="+mn-ea"/>
              </a:rPr>
              <a:t>better to connect an external pull-up resistor</a:t>
            </a:r>
            <a:r>
              <a:rPr kumimoji="1" lang="en-US" altLang="zh-CN" sz="1800" b="0" dirty="0">
                <a:solidFill>
                  <a:schemeClr val="tx1"/>
                </a:solidFill>
                <a:latin typeface="+mn-lt"/>
                <a:ea typeface="+mn-ea"/>
              </a:rPr>
              <a:t>.</a:t>
            </a:r>
          </a:p>
          <a:p>
            <a:pPr algn="l">
              <a:lnSpc>
                <a:spcPct val="100000"/>
              </a:lnSpc>
              <a:spcBef>
                <a:spcPts val="0"/>
              </a:spcBef>
              <a:buNone/>
              <a:defRPr/>
            </a:pPr>
            <a:r>
              <a:rPr kumimoji="1" lang="en-US" altLang="zh-CN" sz="1800" b="0" dirty="0">
                <a:solidFill>
                  <a:schemeClr val="tx1"/>
                </a:solidFill>
                <a:latin typeface="+mn-lt"/>
                <a:ea typeface="+mn-ea"/>
              </a:rPr>
              <a:t>	Taking </a:t>
            </a:r>
            <a:r>
              <a:rPr kumimoji="1" lang="en-US" altLang="zh-CN" sz="1800" b="0" dirty="0">
                <a:solidFill>
                  <a:srgbClr val="FF0000"/>
                </a:solidFill>
                <a:latin typeface="+mn-lt"/>
                <a:ea typeface="+mn-ea"/>
              </a:rPr>
              <a:t>P0.0</a:t>
            </a:r>
            <a:r>
              <a:rPr kumimoji="1" lang="en-US" altLang="zh-CN" sz="1800" b="0" dirty="0">
                <a:solidFill>
                  <a:schemeClr val="tx1"/>
                </a:solidFill>
                <a:latin typeface="+mn-lt"/>
                <a:ea typeface="+mn-ea"/>
              </a:rPr>
              <a:t> as an example, the circuit connection is shown in the figure. The typical pull-up resistor resistance is 5.1 KΩ or 10 KΩ.</a:t>
            </a:r>
            <a:endParaRPr kumimoji="1" lang="zh-CN" altLang="en-US" sz="1800" b="0" dirty="0">
              <a:solidFill>
                <a:schemeClr val="tx1"/>
              </a:solidFill>
              <a:latin typeface="+mn-lt"/>
              <a:ea typeface="+mn-ea"/>
            </a:endParaRPr>
          </a:p>
          <a:p>
            <a:pPr algn="l">
              <a:lnSpc>
                <a:spcPct val="100000"/>
              </a:lnSpc>
              <a:spcBef>
                <a:spcPts val="0"/>
              </a:spcBef>
              <a:buNone/>
              <a:defRPr/>
            </a:pPr>
            <a:endParaRPr kumimoji="1" lang="zh-CN" altLang="en-US" sz="1800" b="0" dirty="0">
              <a:solidFill>
                <a:schemeClr val="tx1"/>
              </a:solidFill>
              <a:latin typeface="+mn-lt"/>
              <a:ea typeface="+mn-ea"/>
            </a:endParaRPr>
          </a:p>
        </p:txBody>
      </p:sp>
      <p:pic>
        <p:nvPicPr>
          <p:cNvPr id="9" name="Picture 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97587" y="2479902"/>
            <a:ext cx="2481263"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p:txBody>
          <a:bodyPr/>
          <a:lstStyle/>
          <a:p>
            <a:fld id="{22E77DEE-32E4-4009-988B-F2758F7B8AC2}" type="slidenum">
              <a:rPr lang="zh-CN" altLang="en-US" smtClean="0"/>
              <a:t>72</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85348">
                                            <p:txEl>
                                              <p:pRg st="0" end="0"/>
                                            </p:txEl>
                                          </p:spTgt>
                                        </p:tgtEl>
                                        <p:attrNameLst>
                                          <p:attrName>style.visibility</p:attrName>
                                        </p:attrNameLst>
                                      </p:cBhvr>
                                      <p:to>
                                        <p:strVal val="visible"/>
                                      </p:to>
                                    </p:set>
                                    <p:animEffect transition="in" filter="fade">
                                      <p:cBhvr>
                                        <p:cTn id="7" dur="1000"/>
                                        <p:tgtEl>
                                          <p:spTgt spid="185348">
                                            <p:txEl>
                                              <p:pRg st="0" end="0"/>
                                            </p:txEl>
                                          </p:spTgt>
                                        </p:tgtEl>
                                      </p:cBhvr>
                                    </p:animEffect>
                                    <p:anim calcmode="lin" valueType="num">
                                      <p:cBhvr>
                                        <p:cTn id="8" dur="1000" fill="hold"/>
                                        <p:tgtEl>
                                          <p:spTgt spid="18534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85348">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85348">
                                            <p:txEl>
                                              <p:pRg st="1" end="1"/>
                                            </p:txEl>
                                          </p:spTgt>
                                        </p:tgtEl>
                                        <p:attrNameLst>
                                          <p:attrName>style.visibility</p:attrName>
                                        </p:attrNameLst>
                                      </p:cBhvr>
                                      <p:to>
                                        <p:strVal val="visible"/>
                                      </p:to>
                                    </p:set>
                                    <p:animEffect transition="in" filter="fade">
                                      <p:cBhvr>
                                        <p:cTn id="12" dur="1000"/>
                                        <p:tgtEl>
                                          <p:spTgt spid="185348">
                                            <p:txEl>
                                              <p:pRg st="1" end="1"/>
                                            </p:txEl>
                                          </p:spTgt>
                                        </p:tgtEl>
                                      </p:cBhvr>
                                    </p:animEffect>
                                    <p:anim calcmode="lin" valueType="num">
                                      <p:cBhvr>
                                        <p:cTn id="13" dur="1000" fill="hold"/>
                                        <p:tgtEl>
                                          <p:spTgt spid="185348">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85348">
                                            <p:txEl>
                                              <p:pRg st="1" end="1"/>
                                            </p:txEl>
                                          </p:spTgt>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2" presetClass="entr" presetSubtype="4" fill="hold"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down)">
                                      <p:cBhvr>
                                        <p:cTn id="18" dur="500"/>
                                        <p:tgtEl>
                                          <p:spTgt spid="9"/>
                                        </p:tgtEl>
                                      </p:cBhvr>
                                    </p:animEffect>
                                  </p:childTnLst>
                                </p:cTn>
                              </p:par>
                            </p:childTnLst>
                          </p:cTn>
                        </p:par>
                        <p:par>
                          <p:cTn id="19" fill="hold">
                            <p:stCondLst>
                              <p:cond delay="1500"/>
                            </p:stCondLst>
                            <p:childTnLst>
                              <p:par>
                                <p:cTn id="20" presetID="42" presetClass="entr" presetSubtype="0" fill="hold" nodeType="after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fade">
                                      <p:cBhvr>
                                        <p:cTn id="22" dur="1000"/>
                                        <p:tgtEl>
                                          <p:spTgt spid="6">
                                            <p:txEl>
                                              <p:pRg st="0" end="0"/>
                                            </p:txEl>
                                          </p:spTgt>
                                        </p:tgtEl>
                                      </p:cBhvr>
                                    </p:animEffect>
                                    <p:anim calcmode="lin" valueType="num">
                                      <p:cBhvr>
                                        <p:cTn id="2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4"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par>
                          <p:cTn id="25" fill="hold">
                            <p:stCondLst>
                              <p:cond delay="2500"/>
                            </p:stCondLst>
                            <p:childTnLst>
                              <p:par>
                                <p:cTn id="26" presetID="42" presetClass="entr" presetSubtype="0" fill="hold" nodeType="afterEffect">
                                  <p:stCondLst>
                                    <p:cond delay="0"/>
                                  </p:stCondLst>
                                  <p:childTnLst>
                                    <p:set>
                                      <p:cBhvr>
                                        <p:cTn id="27" dur="1" fill="hold">
                                          <p:stCondLst>
                                            <p:cond delay="0"/>
                                          </p:stCondLst>
                                        </p:cTn>
                                        <p:tgtEl>
                                          <p:spTgt spid="6">
                                            <p:txEl>
                                              <p:pRg st="1" end="1"/>
                                            </p:txEl>
                                          </p:spTgt>
                                        </p:tgtEl>
                                        <p:attrNameLst>
                                          <p:attrName>style.visibility</p:attrName>
                                        </p:attrNameLst>
                                      </p:cBhvr>
                                      <p:to>
                                        <p:strVal val="visible"/>
                                      </p:to>
                                    </p:set>
                                    <p:animEffect transition="in" filter="fade">
                                      <p:cBhvr>
                                        <p:cTn id="28" dur="1000"/>
                                        <p:tgtEl>
                                          <p:spTgt spid="6">
                                            <p:txEl>
                                              <p:pRg st="1" end="1"/>
                                            </p:txEl>
                                          </p:spTgt>
                                        </p:tgtEl>
                                      </p:cBhvr>
                                    </p:animEffect>
                                    <p:anim calcmode="lin" valueType="num">
                                      <p:cBhvr>
                                        <p:cTn id="29"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par>
                          <p:cTn id="31" fill="hold">
                            <p:stCondLst>
                              <p:cond delay="3500"/>
                            </p:stCondLst>
                            <p:childTnLst>
                              <p:par>
                                <p:cTn id="32" presetID="42" presetClass="entr" presetSubtype="0" fill="hold" nodeType="afterEffect">
                                  <p:stCondLst>
                                    <p:cond delay="0"/>
                                  </p:stCondLst>
                                  <p:childTnLst>
                                    <p:set>
                                      <p:cBhvr>
                                        <p:cTn id="33" dur="1" fill="hold">
                                          <p:stCondLst>
                                            <p:cond delay="0"/>
                                          </p:stCondLst>
                                        </p:cTn>
                                        <p:tgtEl>
                                          <p:spTgt spid="6">
                                            <p:txEl>
                                              <p:pRg st="2" end="2"/>
                                            </p:txEl>
                                          </p:spTgt>
                                        </p:tgtEl>
                                        <p:attrNameLst>
                                          <p:attrName>style.visibility</p:attrName>
                                        </p:attrNameLst>
                                      </p:cBhvr>
                                      <p:to>
                                        <p:strVal val="visible"/>
                                      </p:to>
                                    </p:set>
                                    <p:animEffect transition="in" filter="fade">
                                      <p:cBhvr>
                                        <p:cTn id="34" dur="1000"/>
                                        <p:tgtEl>
                                          <p:spTgt spid="6">
                                            <p:txEl>
                                              <p:pRg st="2" end="2"/>
                                            </p:txEl>
                                          </p:spTgt>
                                        </p:tgtEl>
                                      </p:cBhvr>
                                    </p:animEffect>
                                    <p:anim calcmode="lin" valueType="num">
                                      <p:cBhvr>
                                        <p:cTn id="35"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36"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标题 2"/>
          <p:cNvSpPr>
            <a:spLocks noGrp="1" noChangeArrowheads="1"/>
          </p:cNvSpPr>
          <p:nvPr>
            <p:ph type="title"/>
          </p:nvPr>
        </p:nvSpPr>
        <p:spPr>
          <a:xfrm>
            <a:off x="168502" y="631709"/>
            <a:ext cx="9024166" cy="504825"/>
          </a:xfrm>
        </p:spPr>
        <p:txBody>
          <a:bodyPr>
            <a:noAutofit/>
          </a:bodyPr>
          <a:lstStyle/>
          <a:p>
            <a:pPr eaLnBrk="1" hangingPunct="1"/>
            <a:r>
              <a:rPr kumimoji="1" lang="en-US" altLang="zh-CN" sz="3600" dirty="0">
                <a:solidFill>
                  <a:srgbClr val="FF0000"/>
                </a:solidFill>
              </a:rPr>
              <a:t>(3)  </a:t>
            </a:r>
            <a:r>
              <a:rPr lang="en-US" altLang="zh-CN" sz="3600" dirty="0"/>
              <a:t>Source Current Mode and Sink Current Mode</a:t>
            </a:r>
            <a:endParaRPr lang="zh-CN" altLang="en-US" sz="3600" dirty="0"/>
          </a:p>
        </p:txBody>
      </p:sp>
      <p:sp>
        <p:nvSpPr>
          <p:cNvPr id="533507" name="Rectangle 3"/>
          <p:cNvSpPr>
            <a:spLocks noGrp="1" noChangeArrowheads="1"/>
          </p:cNvSpPr>
          <p:nvPr>
            <p:ph idx="1"/>
          </p:nvPr>
        </p:nvSpPr>
        <p:spPr>
          <a:xfrm>
            <a:off x="324644" y="1314451"/>
            <a:ext cx="8310562" cy="1357312"/>
          </a:xfrm>
        </p:spPr>
        <p:txBody>
          <a:bodyPr>
            <a:normAutofit fontScale="92500"/>
          </a:bodyPr>
          <a:lstStyle/>
          <a:p>
            <a:r>
              <a:rPr lang="en-US" altLang="zh-CN" sz="1600" dirty="0"/>
              <a:t>The I/O port of IAP15W4K58S4 microcontroller can provide a driving capability of 20mA as output. </a:t>
            </a:r>
          </a:p>
          <a:p>
            <a:r>
              <a:rPr lang="en-US" altLang="zh-CN" sz="1600" dirty="0"/>
              <a:t>When in use, it can be </a:t>
            </a:r>
            <a:r>
              <a:rPr lang="en-US" altLang="zh-CN" sz="1600" dirty="0">
                <a:solidFill>
                  <a:srgbClr val="FF0000"/>
                </a:solidFill>
              </a:rPr>
              <a:t>source current</a:t>
            </a:r>
            <a:r>
              <a:rPr lang="en-US" altLang="zh-CN" sz="1600" dirty="0"/>
              <a:t> mode or </a:t>
            </a:r>
            <a:r>
              <a:rPr lang="en-US" altLang="zh-CN" sz="1600" dirty="0">
                <a:solidFill>
                  <a:srgbClr val="FF0000"/>
                </a:solidFill>
              </a:rPr>
              <a:t>sink current</a:t>
            </a:r>
            <a:r>
              <a:rPr lang="en-US" altLang="zh-CN" sz="1600" dirty="0"/>
              <a:t> mode. </a:t>
            </a:r>
          </a:p>
          <a:p>
            <a:r>
              <a:rPr lang="en-US" altLang="zh-CN" sz="1600" dirty="0"/>
              <a:t>Taking P0.0 control of the LED circuit as an example, the circuit connection is shown in the figure.</a:t>
            </a:r>
          </a:p>
        </p:txBody>
      </p:sp>
      <p:sp>
        <p:nvSpPr>
          <p:cNvPr id="142341" name="Rectangle 9"/>
          <p:cNvSpPr>
            <a:spLocks noChangeArrowheads="1"/>
          </p:cNvSpPr>
          <p:nvPr/>
        </p:nvSpPr>
        <p:spPr bwMode="auto">
          <a:xfrm>
            <a:off x="0" y="2519363"/>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33514" name="Rectangle 10"/>
          <p:cNvSpPr>
            <a:spLocks noChangeArrowheads="1"/>
          </p:cNvSpPr>
          <p:nvPr/>
        </p:nvSpPr>
        <p:spPr bwMode="auto">
          <a:xfrm>
            <a:off x="2757316" y="5885498"/>
            <a:ext cx="6386684"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r>
              <a:rPr lang="en-US" altLang="zh-CN" b="1" dirty="0">
                <a:solidFill>
                  <a:srgbClr val="990033"/>
                </a:solidFill>
                <a:latin typeface="宋体" panose="02010600030101010101" pitchFamily="2" charset="-122"/>
              </a:rPr>
              <a:t>Figure 3-20 </a:t>
            </a:r>
            <a:r>
              <a:rPr lang="fr-FR" altLang="zh-CN" b="1" dirty="0">
                <a:solidFill>
                  <a:srgbClr val="990033"/>
                </a:solidFill>
                <a:latin typeface="宋体" panose="02010600030101010101" pitchFamily="2" charset="-122"/>
              </a:rPr>
              <a:t>Source Current Mode and Sink Current Mode</a:t>
            </a:r>
            <a:endParaRPr lang="zh-CN" altLang="en-US" b="1" dirty="0">
              <a:solidFill>
                <a:srgbClr val="990033"/>
              </a:solidFill>
              <a:latin typeface="宋体" panose="02010600030101010101" pitchFamily="2" charset="-122"/>
            </a:endParaRPr>
          </a:p>
        </p:txBody>
      </p:sp>
      <p:sp>
        <p:nvSpPr>
          <p:cNvPr id="9" name="Rectangle 3"/>
          <p:cNvSpPr txBox="1">
            <a:spLocks noChangeArrowheads="1"/>
          </p:cNvSpPr>
          <p:nvPr/>
        </p:nvSpPr>
        <p:spPr bwMode="auto">
          <a:xfrm>
            <a:off x="419870" y="4098924"/>
            <a:ext cx="2524125" cy="186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algn="l" eaLnBrk="1" hangingPunct="1">
              <a:lnSpc>
                <a:spcPct val="100000"/>
              </a:lnSpc>
              <a:spcBef>
                <a:spcPts val="0"/>
              </a:spcBef>
              <a:spcAft>
                <a:spcPts val="0"/>
              </a:spcAft>
              <a:buNone/>
              <a:defRPr/>
            </a:pPr>
            <a:r>
              <a:rPr lang="en-US" altLang="zh-CN" sz="1800" kern="0" dirty="0">
                <a:solidFill>
                  <a:srgbClr val="3333FF"/>
                </a:solidFill>
                <a:latin typeface="+mn-lt"/>
              </a:rPr>
              <a:t>Note: </a:t>
            </a:r>
            <a:endParaRPr lang="zh-CN" altLang="en-US" sz="1800" kern="0" dirty="0">
              <a:solidFill>
                <a:srgbClr val="3333FF"/>
              </a:solidFill>
              <a:latin typeface="+mn-lt"/>
            </a:endParaRPr>
          </a:p>
          <a:p>
            <a:pPr marL="0" lvl="1" indent="0" algn="l">
              <a:spcBef>
                <a:spcPts val="0"/>
              </a:spcBef>
              <a:spcAft>
                <a:spcPts val="0"/>
              </a:spcAft>
              <a:buNone/>
              <a:defRPr/>
            </a:pPr>
            <a:r>
              <a:rPr lang="en-US" altLang="zh-CN" sz="1800" kern="0" dirty="0">
                <a:solidFill>
                  <a:srgbClr val="FF0000"/>
                </a:solidFill>
                <a:latin typeface="+mn-lt"/>
              </a:rPr>
              <a:t>The current limiting resistor</a:t>
            </a:r>
            <a:r>
              <a:rPr lang="en-US" altLang="zh-CN" sz="1800" kern="0" dirty="0">
                <a:latin typeface="+mn-lt"/>
              </a:rPr>
              <a:t> in the diagram </a:t>
            </a:r>
            <a:r>
              <a:rPr lang="en-US" altLang="zh-CN" sz="1800" kern="0" dirty="0">
                <a:solidFill>
                  <a:srgbClr val="FF0000"/>
                </a:solidFill>
                <a:latin typeface="+mn-lt"/>
              </a:rPr>
              <a:t>cannot be omitted</a:t>
            </a:r>
            <a:r>
              <a:rPr lang="en-US" altLang="zh-CN" sz="1800" kern="0" dirty="0">
                <a:latin typeface="+mn-lt"/>
              </a:rPr>
              <a:t>, otherwise it will damage the I/O port.</a:t>
            </a:r>
            <a:endParaRPr lang="zh-CN" altLang="en-US" sz="1800" kern="0" dirty="0">
              <a:latin typeface="+mn-lt"/>
            </a:endParaRPr>
          </a:p>
        </p:txBody>
      </p:sp>
      <p:sp>
        <p:nvSpPr>
          <p:cNvPr id="11" name="Rectangle 3"/>
          <p:cNvSpPr txBox="1">
            <a:spLocks noChangeArrowheads="1"/>
          </p:cNvSpPr>
          <p:nvPr/>
        </p:nvSpPr>
        <p:spPr bwMode="auto">
          <a:xfrm>
            <a:off x="329292" y="2757489"/>
            <a:ext cx="2716211" cy="1249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91440" indent="-91440" algn="l" defTabSz="914400">
              <a:lnSpc>
                <a:spcPct val="90000"/>
              </a:lnSpc>
              <a:spcBef>
                <a:spcPts val="1200"/>
              </a:spcBef>
              <a:spcAft>
                <a:spcPts val="200"/>
              </a:spcAft>
              <a:buClr>
                <a:schemeClr val="accent1"/>
              </a:buClr>
              <a:buSzPct val="100000"/>
              <a:buFont typeface="Arial" panose="020B0604020202020204" pitchFamily="34" charset="0"/>
              <a:buChar char=" "/>
              <a:defRPr/>
            </a:pPr>
            <a:r>
              <a:rPr lang="en-US" altLang="zh-CN" sz="2000" b="0" dirty="0">
                <a:solidFill>
                  <a:schemeClr val="tx1">
                    <a:lumMod val="75000"/>
                    <a:lumOff val="25000"/>
                  </a:schemeClr>
                </a:solidFill>
                <a:latin typeface="+mn-lt"/>
                <a:ea typeface="+mn-ea"/>
              </a:rPr>
              <a:t>The </a:t>
            </a:r>
            <a:r>
              <a:rPr lang="en-US" altLang="zh-CN" sz="2000" b="0" dirty="0">
                <a:solidFill>
                  <a:srgbClr val="FF0000"/>
                </a:solidFill>
                <a:latin typeface="+mn-lt"/>
                <a:ea typeface="+mn-ea"/>
              </a:rPr>
              <a:t>driving current</a:t>
            </a:r>
            <a:r>
              <a:rPr lang="en-US" altLang="zh-CN" sz="2000" b="0" dirty="0">
                <a:solidFill>
                  <a:schemeClr val="tx1">
                    <a:lumMod val="75000"/>
                    <a:lumOff val="25000"/>
                  </a:schemeClr>
                </a:solidFill>
                <a:latin typeface="+mn-lt"/>
                <a:ea typeface="+mn-ea"/>
              </a:rPr>
              <a:t> of the light-emitting diode is approximately </a:t>
            </a:r>
            <a:r>
              <a:rPr lang="en-US" altLang="zh-CN" sz="2000" b="0" dirty="0">
                <a:solidFill>
                  <a:srgbClr val="FF0000"/>
                </a:solidFill>
                <a:latin typeface="+mn-lt"/>
                <a:ea typeface="+mn-ea"/>
              </a:rPr>
              <a:t>several mA to 20mA</a:t>
            </a:r>
            <a:r>
              <a:rPr lang="en-US" altLang="zh-CN" sz="2000" b="0" dirty="0">
                <a:solidFill>
                  <a:schemeClr val="tx1">
                    <a:lumMod val="75000"/>
                    <a:lumOff val="25000"/>
                  </a:schemeClr>
                </a:solidFill>
                <a:latin typeface="+mn-lt"/>
                <a:ea typeface="+mn-ea"/>
              </a:rPr>
              <a:t>.</a:t>
            </a:r>
            <a:endParaRPr lang="zh-CN" altLang="en-US" sz="2000" b="0" dirty="0">
              <a:solidFill>
                <a:schemeClr val="tx1">
                  <a:lumMod val="75000"/>
                  <a:lumOff val="25000"/>
                </a:schemeClr>
              </a:solidFill>
              <a:latin typeface="+mn-lt"/>
              <a:ea typeface="+mn-ea"/>
            </a:endParaRPr>
          </a:p>
        </p:txBody>
      </p:sp>
      <p:pic>
        <p:nvPicPr>
          <p:cNvPr id="12" name="Picture 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30541" y="2849563"/>
            <a:ext cx="5437233" cy="3041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3"/>
          <p:cNvSpPr txBox="1">
            <a:spLocks noChangeArrowheads="1"/>
          </p:cNvSpPr>
          <p:nvPr/>
        </p:nvSpPr>
        <p:spPr bwMode="auto">
          <a:xfrm>
            <a:off x="3375703" y="3040856"/>
            <a:ext cx="1020037" cy="523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algn="ctr">
              <a:lnSpc>
                <a:spcPct val="100000"/>
              </a:lnSpc>
              <a:spcBef>
                <a:spcPts val="0"/>
              </a:spcBef>
              <a:spcAft>
                <a:spcPts val="0"/>
              </a:spcAft>
              <a:buNone/>
              <a:defRPr/>
            </a:pPr>
            <a:r>
              <a:rPr lang="en-US" altLang="zh-CN" sz="1600" b="0" kern="0" spc="-150" dirty="0">
                <a:solidFill>
                  <a:srgbClr val="FF00FF"/>
                </a:solidFill>
                <a:latin typeface="+mn-lt"/>
                <a:cs typeface="Times New Roman" panose="02020603050405020304" pitchFamily="18" charset="0"/>
              </a:rPr>
              <a:t>Output high-level light on</a:t>
            </a:r>
            <a:endParaRPr lang="zh-CN" altLang="en-US" sz="1600" b="0" kern="0" spc="-150" dirty="0">
              <a:solidFill>
                <a:srgbClr val="FF00FF"/>
              </a:solidFill>
              <a:latin typeface="+mn-lt"/>
              <a:cs typeface="Times New Roman" panose="02020603050405020304" pitchFamily="18" charset="0"/>
            </a:endParaRPr>
          </a:p>
        </p:txBody>
      </p:sp>
      <p:sp>
        <p:nvSpPr>
          <p:cNvPr id="14" name="Rectangle 3"/>
          <p:cNvSpPr txBox="1">
            <a:spLocks noChangeArrowheads="1"/>
          </p:cNvSpPr>
          <p:nvPr/>
        </p:nvSpPr>
        <p:spPr bwMode="auto">
          <a:xfrm>
            <a:off x="6459538" y="4772499"/>
            <a:ext cx="995361"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algn="l">
              <a:lnSpc>
                <a:spcPct val="100000"/>
              </a:lnSpc>
              <a:spcBef>
                <a:spcPts val="0"/>
              </a:spcBef>
              <a:spcAft>
                <a:spcPts val="0"/>
              </a:spcAft>
              <a:buNone/>
              <a:defRPr/>
            </a:pPr>
            <a:r>
              <a:rPr lang="en-US" altLang="zh-CN" sz="1600" b="0" kern="0" spc="-150" dirty="0">
                <a:solidFill>
                  <a:srgbClr val="FF00FF"/>
                </a:solidFill>
                <a:latin typeface="+mn-lt"/>
                <a:cs typeface="Times New Roman" panose="02020603050405020304" pitchFamily="18" charset="0"/>
              </a:rPr>
              <a:t>Output low-level light on</a:t>
            </a:r>
            <a:endParaRPr lang="zh-CN" altLang="en-US" sz="1600" b="0" kern="0" spc="-150" dirty="0">
              <a:solidFill>
                <a:srgbClr val="FF00FF"/>
              </a:solidFill>
              <a:latin typeface="+mn-lt"/>
              <a:cs typeface="Times New Roman" panose="02020603050405020304" pitchFamily="18" charset="0"/>
            </a:endParaRPr>
          </a:p>
        </p:txBody>
      </p:sp>
      <p:sp>
        <p:nvSpPr>
          <p:cNvPr id="30" name="Rectangle 3"/>
          <p:cNvSpPr txBox="1">
            <a:spLocks noChangeArrowheads="1"/>
          </p:cNvSpPr>
          <p:nvPr/>
        </p:nvSpPr>
        <p:spPr bwMode="auto">
          <a:xfrm>
            <a:off x="6459538" y="3046888"/>
            <a:ext cx="1249362" cy="137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lvl="1" indent="0" algn="l">
              <a:lnSpc>
                <a:spcPct val="105000"/>
              </a:lnSpc>
              <a:buNone/>
              <a:defRPr/>
            </a:pPr>
            <a:r>
              <a:rPr lang="en-US" altLang="zh-CN" sz="1600" b="0" kern="0" dirty="0">
                <a:solidFill>
                  <a:srgbClr val="3333FF"/>
                </a:solidFill>
                <a:latin typeface="+mn-lt"/>
              </a:rPr>
              <a:t>Weak pull-up/quasi-bidirectional port working mode</a:t>
            </a:r>
            <a:endParaRPr lang="zh-CN" altLang="en-US" sz="1600" b="0" kern="0" dirty="0">
              <a:latin typeface="+mn-lt"/>
            </a:endParaRPr>
          </a:p>
        </p:txBody>
      </p:sp>
      <p:sp>
        <p:nvSpPr>
          <p:cNvPr id="31" name="Rectangle 3"/>
          <p:cNvSpPr txBox="1">
            <a:spLocks noChangeArrowheads="1"/>
          </p:cNvSpPr>
          <p:nvPr/>
        </p:nvSpPr>
        <p:spPr bwMode="auto">
          <a:xfrm>
            <a:off x="3375703" y="4358556"/>
            <a:ext cx="1389109" cy="1027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lvl="1" indent="0" algn="l">
              <a:lnSpc>
                <a:spcPct val="105000"/>
              </a:lnSpc>
              <a:buNone/>
              <a:defRPr/>
            </a:pPr>
            <a:r>
              <a:rPr lang="en-US" altLang="zh-CN" sz="1600" b="0" kern="0" dirty="0">
                <a:solidFill>
                  <a:srgbClr val="3333FF"/>
                </a:solidFill>
                <a:latin typeface="+mn-lt"/>
              </a:rPr>
              <a:t>Push-pull output/strong pull-up working mode</a:t>
            </a:r>
            <a:endParaRPr lang="zh-CN" altLang="en-US" sz="1600" b="0" kern="0" dirty="0">
              <a:solidFill>
                <a:srgbClr val="3333FF"/>
              </a:solidFill>
              <a:latin typeface="+mn-lt"/>
            </a:endParaRPr>
          </a:p>
        </p:txBody>
      </p:sp>
      <p:sp>
        <p:nvSpPr>
          <p:cNvPr id="2" name="文本框 1"/>
          <p:cNvSpPr txBox="1"/>
          <p:nvPr/>
        </p:nvSpPr>
        <p:spPr>
          <a:xfrm>
            <a:off x="3045503" y="5601886"/>
            <a:ext cx="2505301" cy="369332"/>
          </a:xfrm>
          <a:prstGeom prst="rect">
            <a:avLst/>
          </a:prstGeom>
          <a:solidFill>
            <a:schemeClr val="bg1"/>
          </a:solidFill>
        </p:spPr>
        <p:txBody>
          <a:bodyPr wrap="none" rtlCol="0">
            <a:spAutoFit/>
          </a:bodyPr>
          <a:lstStyle/>
          <a:p>
            <a:r>
              <a:rPr lang="en-US" altLang="zh-CN" dirty="0"/>
              <a:t>(a) Source Current Mode</a:t>
            </a:r>
            <a:endParaRPr lang="zh-CN" altLang="en-US" dirty="0"/>
          </a:p>
        </p:txBody>
      </p:sp>
      <p:sp>
        <p:nvSpPr>
          <p:cNvPr id="3" name="文本框 2"/>
          <p:cNvSpPr txBox="1"/>
          <p:nvPr/>
        </p:nvSpPr>
        <p:spPr>
          <a:xfrm>
            <a:off x="6216483" y="5593317"/>
            <a:ext cx="2261838" cy="369332"/>
          </a:xfrm>
          <a:prstGeom prst="rect">
            <a:avLst/>
          </a:prstGeom>
          <a:solidFill>
            <a:schemeClr val="bg1"/>
          </a:solidFill>
        </p:spPr>
        <p:txBody>
          <a:bodyPr wrap="none" rtlCol="0">
            <a:spAutoFit/>
          </a:bodyPr>
          <a:lstStyle/>
          <a:p>
            <a:r>
              <a:rPr lang="en-US" altLang="zh-CN" dirty="0"/>
              <a:t>(b) Sink Current Mode</a:t>
            </a:r>
            <a:endParaRPr lang="zh-CN" altLang="en-US" dirty="0"/>
          </a:p>
        </p:txBody>
      </p:sp>
      <p:sp>
        <p:nvSpPr>
          <p:cNvPr id="5" name="灯片编号占位符 4"/>
          <p:cNvSpPr>
            <a:spLocks noGrp="1"/>
          </p:cNvSpPr>
          <p:nvPr>
            <p:ph type="sldNum" sz="quarter" idx="12"/>
          </p:nvPr>
        </p:nvSpPr>
        <p:spPr/>
        <p:txBody>
          <a:bodyPr/>
          <a:lstStyle/>
          <a:p>
            <a:fld id="{22E77DEE-32E4-4009-988B-F2758F7B8AC2}" type="slidenum">
              <a:rPr lang="zh-CN" altLang="en-US" smtClean="0"/>
              <a:t>73</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33507">
                                            <p:txEl>
                                              <p:pRg st="0" end="0"/>
                                            </p:txEl>
                                          </p:spTgt>
                                        </p:tgtEl>
                                        <p:attrNameLst>
                                          <p:attrName>style.visibility</p:attrName>
                                        </p:attrNameLst>
                                      </p:cBhvr>
                                      <p:to>
                                        <p:strVal val="visible"/>
                                      </p:to>
                                    </p:set>
                                    <p:animEffect transition="in" filter="fade">
                                      <p:cBhvr>
                                        <p:cTn id="7" dur="1000"/>
                                        <p:tgtEl>
                                          <p:spTgt spid="533507">
                                            <p:txEl>
                                              <p:pRg st="0" end="0"/>
                                            </p:txEl>
                                          </p:spTgt>
                                        </p:tgtEl>
                                      </p:cBhvr>
                                    </p:animEffect>
                                    <p:anim calcmode="lin" valueType="num">
                                      <p:cBhvr>
                                        <p:cTn id="8" dur="1000" fill="hold"/>
                                        <p:tgtEl>
                                          <p:spTgt spid="53350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3350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33507">
                                            <p:txEl>
                                              <p:pRg st="1" end="1"/>
                                            </p:txEl>
                                          </p:spTgt>
                                        </p:tgtEl>
                                        <p:attrNameLst>
                                          <p:attrName>style.visibility</p:attrName>
                                        </p:attrNameLst>
                                      </p:cBhvr>
                                      <p:to>
                                        <p:strVal val="visible"/>
                                      </p:to>
                                    </p:set>
                                    <p:animEffect transition="in" filter="fade">
                                      <p:cBhvr>
                                        <p:cTn id="12" dur="1000"/>
                                        <p:tgtEl>
                                          <p:spTgt spid="533507">
                                            <p:txEl>
                                              <p:pRg st="1" end="1"/>
                                            </p:txEl>
                                          </p:spTgt>
                                        </p:tgtEl>
                                      </p:cBhvr>
                                    </p:animEffect>
                                    <p:anim calcmode="lin" valueType="num">
                                      <p:cBhvr>
                                        <p:cTn id="13" dur="1000" fill="hold"/>
                                        <p:tgtEl>
                                          <p:spTgt spid="53350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33507">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33507">
                                            <p:txEl>
                                              <p:pRg st="2" end="2"/>
                                            </p:txEl>
                                          </p:spTgt>
                                        </p:tgtEl>
                                        <p:attrNameLst>
                                          <p:attrName>style.visibility</p:attrName>
                                        </p:attrNameLst>
                                      </p:cBhvr>
                                      <p:to>
                                        <p:strVal val="visible"/>
                                      </p:to>
                                    </p:set>
                                    <p:animEffect transition="in" filter="fade">
                                      <p:cBhvr>
                                        <p:cTn id="17" dur="1000"/>
                                        <p:tgtEl>
                                          <p:spTgt spid="533507">
                                            <p:txEl>
                                              <p:pRg st="2" end="2"/>
                                            </p:txEl>
                                          </p:spTgt>
                                        </p:tgtEl>
                                      </p:cBhvr>
                                    </p:animEffect>
                                    <p:anim calcmode="lin" valueType="num">
                                      <p:cBhvr>
                                        <p:cTn id="18" dur="1000" fill="hold"/>
                                        <p:tgtEl>
                                          <p:spTgt spid="533507">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533507">
                                            <p:txEl>
                                              <p:pRg st="2" end="2"/>
                                            </p:txEl>
                                          </p:spTgt>
                                        </p:tgtEl>
                                        <p:attrNameLst>
                                          <p:attrName>ppt_y</p:attrName>
                                        </p:attrNameLst>
                                      </p:cBhvr>
                                      <p:tavLst>
                                        <p:tav tm="0">
                                          <p:val>
                                            <p:strVal val="#ppt_y+.1"/>
                                          </p:val>
                                        </p:tav>
                                        <p:tav tm="100000">
                                          <p:val>
                                            <p:strVal val="#ppt_y"/>
                                          </p:val>
                                        </p:tav>
                                      </p:tavLst>
                                    </p:anim>
                                  </p:childTnLst>
                                </p:cTn>
                              </p:par>
                              <p:par>
                                <p:cTn id="20" presetID="22" presetClass="entr" presetSubtype="4"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childTnLst>
                          </p:cTn>
                        </p:par>
                        <p:par>
                          <p:cTn id="23" fill="hold">
                            <p:stCondLst>
                              <p:cond delay="1000"/>
                            </p:stCondLst>
                            <p:childTnLst>
                              <p:par>
                                <p:cTn id="24" presetID="22" presetClass="entr" presetSubtype="8" fill="hold" nodeType="afterEffect">
                                  <p:stCondLst>
                                    <p:cond delay="0"/>
                                  </p:stCondLst>
                                  <p:childTnLst>
                                    <p:set>
                                      <p:cBhvr>
                                        <p:cTn id="25" dur="1" fill="hold">
                                          <p:stCondLst>
                                            <p:cond delay="0"/>
                                          </p:stCondLst>
                                        </p:cTn>
                                        <p:tgtEl>
                                          <p:spTgt spid="13">
                                            <p:txEl>
                                              <p:pRg st="0" end="0"/>
                                            </p:txEl>
                                          </p:spTgt>
                                        </p:tgtEl>
                                        <p:attrNameLst>
                                          <p:attrName>style.visibility</p:attrName>
                                        </p:attrNameLst>
                                      </p:cBhvr>
                                      <p:to>
                                        <p:strVal val="visible"/>
                                      </p:to>
                                    </p:set>
                                    <p:animEffect transition="in" filter="wipe(left)">
                                      <p:cBhvr>
                                        <p:cTn id="26" dur="500"/>
                                        <p:tgtEl>
                                          <p:spTgt spid="13">
                                            <p:txEl>
                                              <p:pRg st="0" end="0"/>
                                            </p:txEl>
                                          </p:spTgt>
                                        </p:tgtEl>
                                      </p:cBhvr>
                                    </p:animEffect>
                                  </p:childTnLst>
                                </p:cTn>
                              </p:par>
                            </p:childTnLst>
                          </p:cTn>
                        </p:par>
                        <p:par>
                          <p:cTn id="27" fill="hold">
                            <p:stCondLst>
                              <p:cond delay="1500"/>
                            </p:stCondLst>
                            <p:childTnLst>
                              <p:par>
                                <p:cTn id="28" presetID="22" presetClass="entr" presetSubtype="8" fill="hold" nodeType="afterEffect">
                                  <p:stCondLst>
                                    <p:cond delay="0"/>
                                  </p:stCondLst>
                                  <p:childTnLst>
                                    <p:set>
                                      <p:cBhvr>
                                        <p:cTn id="29" dur="1" fill="hold">
                                          <p:stCondLst>
                                            <p:cond delay="0"/>
                                          </p:stCondLst>
                                        </p:cTn>
                                        <p:tgtEl>
                                          <p:spTgt spid="14">
                                            <p:txEl>
                                              <p:pRg st="0" end="0"/>
                                            </p:txEl>
                                          </p:spTgt>
                                        </p:tgtEl>
                                        <p:attrNameLst>
                                          <p:attrName>style.visibility</p:attrName>
                                        </p:attrNameLst>
                                      </p:cBhvr>
                                      <p:to>
                                        <p:strVal val="visible"/>
                                      </p:to>
                                    </p:set>
                                    <p:animEffect transition="in" filter="wipe(left)">
                                      <p:cBhvr>
                                        <p:cTn id="30" dur="500"/>
                                        <p:tgtEl>
                                          <p:spTgt spid="14">
                                            <p:txEl>
                                              <p:pRg st="0" end="0"/>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533514"/>
                                        </p:tgtEl>
                                        <p:attrNameLst>
                                          <p:attrName>style.visibility</p:attrName>
                                        </p:attrNameLst>
                                      </p:cBhvr>
                                      <p:to>
                                        <p:strVal val="visible"/>
                                      </p:to>
                                    </p:set>
                                    <p:animEffect transition="in" filter="blinds(horizontal)">
                                      <p:cBhvr>
                                        <p:cTn id="33" dur="500"/>
                                        <p:tgtEl>
                                          <p:spTgt spid="533514"/>
                                        </p:tgtEl>
                                      </p:cBhvr>
                                    </p:animEffect>
                                  </p:childTnLst>
                                </p:cTn>
                              </p:par>
                              <p:par>
                                <p:cTn id="34" presetID="12" presetClass="entr" presetSubtype="4" fill="hold" nodeType="withEffect">
                                  <p:stCondLst>
                                    <p:cond delay="0"/>
                                  </p:stCondLst>
                                  <p:childTnLst>
                                    <p:set>
                                      <p:cBhvr>
                                        <p:cTn id="35" dur="1" fill="hold">
                                          <p:stCondLst>
                                            <p:cond delay="0"/>
                                          </p:stCondLst>
                                        </p:cTn>
                                        <p:tgtEl>
                                          <p:spTgt spid="30">
                                            <p:txEl>
                                              <p:pRg st="0" end="0"/>
                                            </p:txEl>
                                          </p:spTgt>
                                        </p:tgtEl>
                                        <p:attrNameLst>
                                          <p:attrName>style.visibility</p:attrName>
                                        </p:attrNameLst>
                                      </p:cBhvr>
                                      <p:to>
                                        <p:strVal val="visible"/>
                                      </p:to>
                                    </p:set>
                                    <p:animEffect transition="in" filter="slide(fromBottom)">
                                      <p:cBhvr>
                                        <p:cTn id="36" dur="500"/>
                                        <p:tgtEl>
                                          <p:spTgt spid="30">
                                            <p:txEl>
                                              <p:pRg st="0" end="0"/>
                                            </p:txEl>
                                          </p:spTgt>
                                        </p:tgtEl>
                                      </p:cBhvr>
                                    </p:animEffect>
                                  </p:childTnLst>
                                </p:cTn>
                              </p:par>
                              <p:par>
                                <p:cTn id="37" presetID="12" presetClass="entr" presetSubtype="4" fill="hold" nodeType="withEffect">
                                  <p:stCondLst>
                                    <p:cond delay="0"/>
                                  </p:stCondLst>
                                  <p:childTnLst>
                                    <p:set>
                                      <p:cBhvr>
                                        <p:cTn id="38" dur="1" fill="hold">
                                          <p:stCondLst>
                                            <p:cond delay="0"/>
                                          </p:stCondLst>
                                        </p:cTn>
                                        <p:tgtEl>
                                          <p:spTgt spid="31">
                                            <p:txEl>
                                              <p:pRg st="0" end="0"/>
                                            </p:txEl>
                                          </p:spTgt>
                                        </p:tgtEl>
                                        <p:attrNameLst>
                                          <p:attrName>style.visibility</p:attrName>
                                        </p:attrNameLst>
                                      </p:cBhvr>
                                      <p:to>
                                        <p:strVal val="visible"/>
                                      </p:to>
                                    </p:set>
                                    <p:animEffect transition="in" filter="slide(fromBottom)">
                                      <p:cBhvr>
                                        <p:cTn id="39" dur="500"/>
                                        <p:tgtEl>
                                          <p:spTgt spid="31">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nodeType="clickEffect">
                                  <p:stCondLst>
                                    <p:cond delay="0"/>
                                  </p:stCondLst>
                                  <p:childTnLst>
                                    <p:set>
                                      <p:cBhvr>
                                        <p:cTn id="43" dur="1" fill="hold">
                                          <p:stCondLst>
                                            <p:cond delay="0"/>
                                          </p:stCondLst>
                                        </p:cTn>
                                        <p:tgtEl>
                                          <p:spTgt spid="11">
                                            <p:txEl>
                                              <p:pRg st="0" end="0"/>
                                            </p:txEl>
                                          </p:spTgt>
                                        </p:tgtEl>
                                        <p:attrNameLst>
                                          <p:attrName>style.visibility</p:attrName>
                                        </p:attrNameLst>
                                      </p:cBhvr>
                                      <p:to>
                                        <p:strVal val="visible"/>
                                      </p:to>
                                    </p:set>
                                    <p:animEffect transition="in" filter="slide(fromBottom)">
                                      <p:cBhvr>
                                        <p:cTn id="44" dur="500"/>
                                        <p:tgtEl>
                                          <p:spTgt spid="11">
                                            <p:txEl>
                                              <p:pRg st="0" end="0"/>
                                            </p:txEl>
                                          </p:spTgt>
                                        </p:tgtEl>
                                      </p:cBhvr>
                                    </p:animEffect>
                                  </p:childTnLst>
                                </p:cTn>
                              </p:par>
                            </p:childTnLst>
                          </p:cTn>
                        </p:par>
                        <p:par>
                          <p:cTn id="45" fill="hold">
                            <p:stCondLst>
                              <p:cond delay="500"/>
                            </p:stCondLst>
                            <p:childTnLst>
                              <p:par>
                                <p:cTn id="46" presetID="2" presetClass="entr" presetSubtype="1" fill="hold" nodeType="afterEffect">
                                  <p:stCondLst>
                                    <p:cond delay="0"/>
                                  </p:stCondLst>
                                  <p:childTnLst>
                                    <p:set>
                                      <p:cBhvr>
                                        <p:cTn id="47" dur="1" fill="hold">
                                          <p:stCondLst>
                                            <p:cond delay="0"/>
                                          </p:stCondLst>
                                        </p:cTn>
                                        <p:tgtEl>
                                          <p:spTgt spid="9">
                                            <p:txEl>
                                              <p:pRg st="0" end="0"/>
                                            </p:txEl>
                                          </p:spTgt>
                                        </p:tgtEl>
                                        <p:attrNameLst>
                                          <p:attrName>style.visibility</p:attrName>
                                        </p:attrNameLst>
                                      </p:cBhvr>
                                      <p:to>
                                        <p:strVal val="visible"/>
                                      </p:to>
                                    </p:set>
                                    <p:anim calcmode="lin" valueType="num">
                                      <p:cBhvr additive="base">
                                        <p:cTn id="48"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9">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514" grpId="0" bldLvl="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标题 3"/>
          <p:cNvSpPr>
            <a:spLocks noGrp="1" noChangeArrowheads="1"/>
          </p:cNvSpPr>
          <p:nvPr>
            <p:ph type="title"/>
          </p:nvPr>
        </p:nvSpPr>
        <p:spPr>
          <a:xfrm>
            <a:off x="230664" y="648587"/>
            <a:ext cx="8913812" cy="504825"/>
          </a:xfrm>
        </p:spPr>
        <p:txBody>
          <a:bodyPr>
            <a:noAutofit/>
          </a:bodyPr>
          <a:lstStyle/>
          <a:p>
            <a:r>
              <a:rPr kumimoji="1" lang="en-US" altLang="zh-CN" sz="3600" dirty="0">
                <a:solidFill>
                  <a:srgbClr val="FF0000"/>
                </a:solidFill>
              </a:rPr>
              <a:t>(3)  </a:t>
            </a:r>
            <a:r>
              <a:rPr lang="en-US" altLang="zh-CN" sz="3600" dirty="0"/>
              <a:t>Source Current Mode and Sink Current Mode</a:t>
            </a:r>
            <a:endParaRPr lang="zh-CN" altLang="en-US" sz="3600" dirty="0"/>
          </a:p>
        </p:txBody>
      </p:sp>
      <p:sp>
        <p:nvSpPr>
          <p:cNvPr id="624643" name="Rectangle 3"/>
          <p:cNvSpPr>
            <a:spLocks noGrp="1" noChangeArrowheads="1"/>
          </p:cNvSpPr>
          <p:nvPr>
            <p:ph idx="1"/>
          </p:nvPr>
        </p:nvSpPr>
        <p:spPr>
          <a:xfrm>
            <a:off x="327026" y="1549401"/>
            <a:ext cx="8564562" cy="1612900"/>
          </a:xfrm>
        </p:spPr>
        <p:txBody>
          <a:bodyPr>
            <a:normAutofit fontScale="92500" lnSpcReduction="20000"/>
          </a:bodyPr>
          <a:lstStyle/>
          <a:p>
            <a:pPr marL="262255" lvl="1" indent="-262255" eaLnBrk="1" hangingPunct="1">
              <a:lnSpc>
                <a:spcPct val="105000"/>
              </a:lnSpc>
              <a:defRPr/>
            </a:pPr>
            <a:r>
              <a:rPr lang="en-US" altLang="zh-CN" dirty="0"/>
              <a:t>When using the </a:t>
            </a:r>
            <a:r>
              <a:rPr lang="en-US" altLang="zh-CN" dirty="0">
                <a:solidFill>
                  <a:srgbClr val="3333FF"/>
                </a:solidFill>
              </a:rPr>
              <a:t>Sink Current Mode</a:t>
            </a:r>
            <a:r>
              <a:rPr lang="en-US" altLang="zh-CN" dirty="0"/>
              <a:t>, the I/O port of the microcontroller should be set to </a:t>
            </a:r>
            <a:r>
              <a:rPr lang="en-US" altLang="zh-CN" dirty="0">
                <a:solidFill>
                  <a:srgbClr val="3333FF"/>
                </a:solidFill>
              </a:rPr>
              <a:t>weak pull-up/quasi-bidirectional port working mode</a:t>
            </a:r>
            <a:r>
              <a:rPr lang="en-US" altLang="zh-CN" dirty="0"/>
              <a:t>;</a:t>
            </a:r>
          </a:p>
          <a:p>
            <a:pPr marL="262255" lvl="1" indent="-262255" eaLnBrk="1" hangingPunct="1">
              <a:lnSpc>
                <a:spcPct val="105000"/>
              </a:lnSpc>
              <a:defRPr/>
            </a:pPr>
            <a:r>
              <a:rPr lang="en-US" altLang="zh-CN" dirty="0"/>
              <a:t>When using the </a:t>
            </a:r>
            <a:r>
              <a:rPr lang="en-US" altLang="zh-CN" dirty="0">
                <a:solidFill>
                  <a:srgbClr val="3333FF"/>
                </a:solidFill>
              </a:rPr>
              <a:t>Source Current Mode</a:t>
            </a:r>
            <a:r>
              <a:rPr lang="en-US" altLang="zh-CN" dirty="0"/>
              <a:t>, the I/O port of the microcontroller should be set to </a:t>
            </a:r>
            <a:r>
              <a:rPr lang="en-US" altLang="zh-CN" dirty="0">
                <a:solidFill>
                  <a:srgbClr val="3333FF"/>
                </a:solidFill>
              </a:rPr>
              <a:t>push-pull output/strong pull-up working mode</a:t>
            </a:r>
            <a:r>
              <a:rPr lang="en-US" altLang="zh-CN" dirty="0"/>
              <a:t>.</a:t>
            </a:r>
          </a:p>
          <a:p>
            <a:pPr marL="262255" lvl="1" indent="-262255">
              <a:lnSpc>
                <a:spcPct val="105000"/>
              </a:lnSpc>
              <a:defRPr/>
            </a:pPr>
            <a:r>
              <a:rPr lang="en-US" altLang="zh-CN" dirty="0"/>
              <a:t>In practical use, the </a:t>
            </a:r>
            <a:r>
              <a:rPr lang="en-US" altLang="zh-CN" dirty="0">
                <a:solidFill>
                  <a:srgbClr val="FF0000"/>
                </a:solidFill>
              </a:rPr>
              <a:t>Sink Current Mode</a:t>
            </a:r>
            <a:r>
              <a:rPr lang="en-US" altLang="zh-CN" dirty="0"/>
              <a:t> should be used as much as possible to improve the load capacity and reliability of the system.</a:t>
            </a:r>
            <a:endParaRPr lang="zh-CN" altLang="en-US" dirty="0"/>
          </a:p>
        </p:txBody>
      </p:sp>
      <p:sp>
        <p:nvSpPr>
          <p:cNvPr id="6" name="Rectangle 3"/>
          <p:cNvSpPr txBox="1">
            <a:spLocks noChangeArrowheads="1"/>
          </p:cNvSpPr>
          <p:nvPr/>
        </p:nvSpPr>
        <p:spPr bwMode="auto">
          <a:xfrm>
            <a:off x="0" y="3326946"/>
            <a:ext cx="9013825" cy="2540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lnSpc>
                <a:spcPct val="105000"/>
              </a:lnSpc>
              <a:spcBef>
                <a:spcPts val="0"/>
              </a:spcBef>
              <a:defRPr/>
            </a:pPr>
            <a:r>
              <a:rPr lang="en-US" altLang="zh-CN" kern="0" dirty="0">
                <a:latin typeface="+mn-lt"/>
              </a:rPr>
              <a:t>Note: </a:t>
            </a:r>
            <a:r>
              <a:rPr lang="en-US" altLang="zh-CN" kern="0" dirty="0">
                <a:solidFill>
                  <a:srgbClr val="FF0000"/>
                </a:solidFill>
                <a:latin typeface="+mn-lt"/>
              </a:rPr>
              <a:t>Add a current limiting resistor</a:t>
            </a:r>
            <a:endParaRPr lang="zh-CN" altLang="en-US" kern="0" dirty="0">
              <a:solidFill>
                <a:srgbClr val="FF0000"/>
              </a:solidFill>
              <a:latin typeface="+mn-lt"/>
            </a:endParaRPr>
          </a:p>
          <a:p>
            <a:pPr marL="449580" lvl="1" indent="-274955" eaLnBrk="1" hangingPunct="1">
              <a:lnSpc>
                <a:spcPct val="105000"/>
              </a:lnSpc>
              <a:spcBef>
                <a:spcPts val="0"/>
              </a:spcBef>
              <a:spcAft>
                <a:spcPts val="600"/>
              </a:spcAft>
              <a:tabLst>
                <a:tab pos="363220" algn="l"/>
              </a:tabLst>
              <a:defRPr/>
            </a:pPr>
            <a:r>
              <a:rPr lang="en-US" altLang="zh-CN" sz="2400" dirty="0">
                <a:solidFill>
                  <a:schemeClr val="tx1">
                    <a:lumMod val="75000"/>
                    <a:lumOff val="25000"/>
                  </a:schemeClr>
                </a:solidFill>
                <a:latin typeface="+mn-lt"/>
                <a:ea typeface="+mn-ea"/>
              </a:rPr>
              <a:t>When </a:t>
            </a:r>
            <a:r>
              <a:rPr lang="en-US" altLang="zh-CN" sz="2400" dirty="0">
                <a:solidFill>
                  <a:srgbClr val="FF0000"/>
                </a:solidFill>
                <a:latin typeface="+mn-lt"/>
                <a:ea typeface="+mn-ea"/>
              </a:rPr>
              <a:t>designing a row column matrix key scanning circuit</a:t>
            </a:r>
            <a:r>
              <a:rPr lang="en-US" altLang="zh-CN" sz="2400" dirty="0">
                <a:solidFill>
                  <a:schemeClr val="tx1">
                    <a:lumMod val="75000"/>
                    <a:lumOff val="25000"/>
                  </a:schemeClr>
                </a:solidFill>
                <a:latin typeface="+mn-lt"/>
                <a:ea typeface="+mn-ea"/>
              </a:rPr>
              <a:t>, like the </a:t>
            </a:r>
            <a:r>
              <a:rPr lang="en-US" altLang="zh-CN" sz="2400" dirty="0">
                <a:solidFill>
                  <a:srgbClr val="00B0F0"/>
                </a:solidFill>
                <a:latin typeface="+mn-lt"/>
                <a:ea typeface="+mn-ea"/>
              </a:rPr>
              <a:t>I/O port line</a:t>
            </a:r>
            <a:r>
              <a:rPr lang="en-US" altLang="zh-CN" sz="2400" dirty="0">
                <a:solidFill>
                  <a:schemeClr val="tx1">
                    <a:lumMod val="75000"/>
                    <a:lumOff val="25000"/>
                  </a:schemeClr>
                </a:solidFill>
                <a:latin typeface="+mn-lt"/>
                <a:ea typeface="+mn-ea"/>
              </a:rPr>
              <a:t> driving indicator light above, </a:t>
            </a:r>
            <a:r>
              <a:rPr lang="en-US" altLang="zh-CN" sz="2400" dirty="0">
                <a:solidFill>
                  <a:srgbClr val="FF0000"/>
                </a:solidFill>
                <a:latin typeface="+mn-lt"/>
                <a:ea typeface="+mn-ea"/>
              </a:rPr>
              <a:t>a current limiting resistor needs to be added on both sides of the key scanning circuit, with a current limiting resistor of 300 Ω each</a:t>
            </a:r>
            <a:r>
              <a:rPr lang="en-US" altLang="zh-CN" sz="2400" dirty="0">
                <a:solidFill>
                  <a:schemeClr val="tx1">
                    <a:lumMod val="75000"/>
                    <a:lumOff val="25000"/>
                  </a:schemeClr>
                </a:solidFill>
                <a:latin typeface="+mn-lt"/>
                <a:ea typeface="+mn-ea"/>
              </a:rPr>
              <a:t>. Otherwise, the I/O port will be damaged.</a:t>
            </a:r>
            <a:endParaRPr lang="zh-CN" altLang="en-US" sz="2400" dirty="0">
              <a:solidFill>
                <a:schemeClr val="tx1">
                  <a:lumMod val="75000"/>
                  <a:lumOff val="25000"/>
                </a:schemeClr>
              </a:solidFill>
              <a:latin typeface="+mn-lt"/>
              <a:ea typeface="+mn-ea"/>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74</a:t>
            </a:fld>
            <a:endParaRPr lang="zh-CN"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4386" name="Picture 406" descr="D:\DOCUME~1\ADMINI~1\LOCALS~1\Temp\HS5ClipImage_56b04237.gif">
            <a:hlinkClick r:id="" action="ppaction://noaction"/>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966766" y="3959104"/>
            <a:ext cx="4248944" cy="1982379"/>
          </a:xfrm>
          <a:extLst>
            <a:ext uri="{909E8E84-426E-40DD-AFC4-6F175D3DCCD1}">
              <a14:hiddenFill xmlns:a14="http://schemas.microsoft.com/office/drawing/2010/main">
                <a:solidFill>
                  <a:srgbClr val="FFFFFF"/>
                </a:solidFill>
              </a14:hiddenFill>
            </a:ext>
          </a:extLst>
        </p:spPr>
      </p:pic>
      <p:sp>
        <p:nvSpPr>
          <p:cNvPr id="144387" name="标题 2"/>
          <p:cNvSpPr>
            <a:spLocks noGrp="1" noChangeArrowheads="1"/>
          </p:cNvSpPr>
          <p:nvPr>
            <p:ph type="title"/>
          </p:nvPr>
        </p:nvSpPr>
        <p:spPr>
          <a:xfrm>
            <a:off x="288925" y="326469"/>
            <a:ext cx="8229600" cy="504825"/>
          </a:xfrm>
        </p:spPr>
        <p:txBody>
          <a:bodyPr>
            <a:normAutofit fontScale="90000"/>
          </a:bodyPr>
          <a:lstStyle/>
          <a:p>
            <a:pPr eaLnBrk="1" hangingPunct="1"/>
            <a:r>
              <a:rPr kumimoji="1" lang="en-US" altLang="zh-CN" dirty="0">
                <a:solidFill>
                  <a:srgbClr val="FF0000"/>
                </a:solidFill>
              </a:rPr>
              <a:t>(4) </a:t>
            </a:r>
            <a:r>
              <a:rPr lang="en-US" altLang="zh-CN" dirty="0"/>
              <a:t>A Typical BJT Control Circuit</a:t>
            </a:r>
            <a:endParaRPr lang="zh-CN" altLang="en-US" dirty="0"/>
          </a:p>
        </p:txBody>
      </p:sp>
      <p:sp>
        <p:nvSpPr>
          <p:cNvPr id="536579" name="Rectangle 3"/>
          <p:cNvSpPr>
            <a:spLocks noGrp="1" noChangeArrowheads="1"/>
          </p:cNvSpPr>
          <p:nvPr>
            <p:ph type="body" sz="half" idx="4294967295"/>
          </p:nvPr>
        </p:nvSpPr>
        <p:spPr>
          <a:xfrm>
            <a:off x="156368" y="1100706"/>
            <a:ext cx="8831263" cy="1544638"/>
          </a:xfrm>
        </p:spPr>
        <p:txBody>
          <a:bodyPr>
            <a:normAutofit/>
          </a:bodyPr>
          <a:lstStyle/>
          <a:p>
            <a:pPr marL="0" indent="0" eaLnBrk="1" hangingPunct="1">
              <a:buNone/>
            </a:pPr>
            <a:r>
              <a:rPr lang="en-US" altLang="zh-CN" sz="2400" dirty="0"/>
              <a:t>The </a:t>
            </a:r>
            <a:r>
              <a:rPr lang="en-US" altLang="zh-CN" sz="2400" dirty="0">
                <a:solidFill>
                  <a:srgbClr val="FF0000"/>
                </a:solidFill>
              </a:rPr>
              <a:t>driving capability</a:t>
            </a:r>
            <a:r>
              <a:rPr lang="en-US" altLang="zh-CN" sz="2400" dirty="0"/>
              <a:t> of the microcontroller I/O pins is </a:t>
            </a:r>
            <a:r>
              <a:rPr lang="en-US" altLang="zh-CN" sz="2400" dirty="0">
                <a:solidFill>
                  <a:srgbClr val="FF0000"/>
                </a:solidFill>
              </a:rPr>
              <a:t>limited</a:t>
            </a:r>
            <a:r>
              <a:rPr lang="en-US" altLang="zh-CN" sz="2400" dirty="0"/>
              <a:t>. If high-power devices such as small relays or solid-state relays need to be driven, the </a:t>
            </a:r>
            <a:r>
              <a:rPr lang="en-US" altLang="zh-CN" sz="2400" dirty="0">
                <a:solidFill>
                  <a:srgbClr val="FF0000"/>
                </a:solidFill>
              </a:rPr>
              <a:t>microcontroller I/O pins can be used to control the BJT for output</a:t>
            </a:r>
            <a:r>
              <a:rPr lang="en-US" altLang="zh-CN" sz="2400" dirty="0"/>
              <a:t>. Taking P0.0 as an example.</a:t>
            </a:r>
            <a:endParaRPr lang="zh-CN" altLang="en-US" sz="2400" dirty="0"/>
          </a:p>
        </p:txBody>
      </p:sp>
      <p:sp>
        <p:nvSpPr>
          <p:cNvPr id="144390" name="Rectangle 7"/>
          <p:cNvSpPr>
            <a:spLocks noChangeArrowheads="1"/>
          </p:cNvSpPr>
          <p:nvPr/>
        </p:nvSpPr>
        <p:spPr bwMode="auto">
          <a:xfrm>
            <a:off x="3236977" y="5941483"/>
            <a:ext cx="5508238" cy="40011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r>
              <a:rPr lang="en-US" altLang="zh-CN" sz="2000" b="1" dirty="0">
                <a:solidFill>
                  <a:srgbClr val="990033"/>
                </a:solidFill>
                <a:latin typeface="宋体" panose="02010600030101010101" pitchFamily="2" charset="-122"/>
              </a:rPr>
              <a:t>Figure 3-21 </a:t>
            </a:r>
            <a:r>
              <a:rPr lang="fr-FR" altLang="zh-CN" sz="2000" b="1" dirty="0">
                <a:solidFill>
                  <a:srgbClr val="990033"/>
                </a:solidFill>
                <a:latin typeface="宋体" panose="02010600030101010101" pitchFamily="2" charset="-122"/>
              </a:rPr>
              <a:t>A Typical BJT Control Circuit</a:t>
            </a:r>
            <a:endParaRPr lang="zh-CN" altLang="en-US" sz="2000" b="1" dirty="0">
              <a:solidFill>
                <a:srgbClr val="990033"/>
              </a:solidFill>
              <a:latin typeface="宋体" panose="02010600030101010101" pitchFamily="2" charset="-122"/>
            </a:endParaRPr>
          </a:p>
        </p:txBody>
      </p:sp>
      <p:sp>
        <p:nvSpPr>
          <p:cNvPr id="16" name="Rectangle 3"/>
          <p:cNvSpPr txBox="1">
            <a:spLocks noChangeArrowheads="1"/>
          </p:cNvSpPr>
          <p:nvPr/>
        </p:nvSpPr>
        <p:spPr bwMode="auto">
          <a:xfrm>
            <a:off x="66675" y="2464601"/>
            <a:ext cx="8678540" cy="1607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3"/>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4"/>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lvl="1" indent="0" algn="l">
              <a:lnSpc>
                <a:spcPct val="90000"/>
              </a:lnSpc>
              <a:buNone/>
              <a:defRPr/>
            </a:pPr>
            <a:r>
              <a:rPr lang="en-US" altLang="zh-CN" sz="2400" b="0" dirty="0">
                <a:solidFill>
                  <a:schemeClr val="tx1">
                    <a:lumMod val="75000"/>
                    <a:lumOff val="25000"/>
                  </a:schemeClr>
                </a:solidFill>
                <a:latin typeface="+mn-lt"/>
                <a:ea typeface="+mn-ea"/>
                <a:cs typeface="Times New Roman" panose="02020603050405020304" pitchFamily="18" charset="0"/>
              </a:rPr>
              <a:t>If weak pull-up control is used, it is recommended to add a pull-up resistor </a:t>
            </a:r>
            <a:r>
              <a:rPr lang="en-US" altLang="zh-CN" sz="2400" b="0" dirty="0">
                <a:solidFill>
                  <a:srgbClr val="FF0000"/>
                </a:solidFill>
                <a:latin typeface="+mn-lt"/>
                <a:ea typeface="+mn-ea"/>
                <a:cs typeface="Times New Roman" panose="02020603050405020304" pitchFamily="18" charset="0"/>
              </a:rPr>
              <a:t>R1</a:t>
            </a:r>
            <a:r>
              <a:rPr lang="en-US" altLang="zh-CN" sz="2400" b="0" dirty="0">
                <a:solidFill>
                  <a:schemeClr val="tx1">
                    <a:lumMod val="75000"/>
                    <a:lumOff val="25000"/>
                  </a:schemeClr>
                </a:solidFill>
                <a:latin typeface="+mn-lt"/>
                <a:ea typeface="+mn-ea"/>
                <a:cs typeface="Times New Roman" panose="02020603050405020304" pitchFamily="18" charset="0"/>
              </a:rPr>
              <a:t>(3.3KΩ ~10KΩ).</a:t>
            </a:r>
          </a:p>
          <a:p>
            <a:pPr marL="0" lvl="1" indent="0" algn="l">
              <a:lnSpc>
                <a:spcPct val="90000"/>
              </a:lnSpc>
              <a:buNone/>
              <a:defRPr/>
            </a:pPr>
            <a:r>
              <a:rPr lang="en-US" altLang="zh-CN" sz="2400" b="0" dirty="0">
                <a:solidFill>
                  <a:schemeClr val="tx1">
                    <a:lumMod val="75000"/>
                    <a:lumOff val="25000"/>
                  </a:schemeClr>
                </a:solidFill>
                <a:latin typeface="+mn-lt"/>
                <a:ea typeface="+mn-ea"/>
                <a:cs typeface="Times New Roman" panose="02020603050405020304" pitchFamily="18" charset="0"/>
              </a:rPr>
              <a:t>If the resistor R1 is not added, it is recommended that the </a:t>
            </a:r>
            <a:r>
              <a:rPr lang="en-US" altLang="zh-CN" sz="2400" b="0" dirty="0">
                <a:solidFill>
                  <a:srgbClr val="FF0000"/>
                </a:solidFill>
                <a:latin typeface="+mn-lt"/>
                <a:ea typeface="+mn-ea"/>
                <a:cs typeface="Times New Roman" panose="02020603050405020304" pitchFamily="18" charset="0"/>
              </a:rPr>
              <a:t>R2</a:t>
            </a:r>
            <a:r>
              <a:rPr lang="en-US" altLang="zh-CN" sz="2400" b="0" dirty="0">
                <a:solidFill>
                  <a:schemeClr val="tx1">
                    <a:lumMod val="75000"/>
                    <a:lumOff val="25000"/>
                  </a:schemeClr>
                </a:solidFill>
                <a:latin typeface="+mn-lt"/>
                <a:ea typeface="+mn-ea"/>
                <a:cs typeface="Times New Roman" panose="02020603050405020304" pitchFamily="18" charset="0"/>
              </a:rPr>
              <a:t> value be above 15KΩ, or use strong push-pull output.</a:t>
            </a:r>
            <a:endParaRPr lang="zh-CN" altLang="en-US" sz="2400" b="0" dirty="0">
              <a:solidFill>
                <a:schemeClr val="tx1">
                  <a:lumMod val="75000"/>
                  <a:lumOff val="25000"/>
                </a:schemeClr>
              </a:solidFill>
              <a:latin typeface="+mn-lt"/>
              <a:ea typeface="+mn-ea"/>
              <a:cs typeface="Times New Roman" panose="02020603050405020304" pitchFamily="18" charset="0"/>
            </a:endParaRPr>
          </a:p>
        </p:txBody>
      </p:sp>
      <p:sp>
        <p:nvSpPr>
          <p:cNvPr id="5" name="矩形 4"/>
          <p:cNvSpPr>
            <a:spLocks noChangeArrowheads="1"/>
          </p:cNvSpPr>
          <p:nvPr/>
        </p:nvSpPr>
        <p:spPr bwMode="auto">
          <a:xfrm>
            <a:off x="288925" y="4512776"/>
            <a:ext cx="282892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a:r>
              <a:rPr lang="en-US" altLang="zh-CN" sz="2400" b="1" dirty="0"/>
              <a:t>The base current of a BJT I</a:t>
            </a:r>
            <a:r>
              <a:rPr lang="en-US" altLang="zh-CN" sz="2400" b="1" baseline="-25000" dirty="0"/>
              <a:t>B</a:t>
            </a:r>
            <a:r>
              <a:rPr lang="en-US" altLang="zh-CN" sz="2400" b="1" dirty="0"/>
              <a:t> is in the tens of </a:t>
            </a:r>
            <a:r>
              <a:rPr lang="en-US" altLang="zh-CN" sz="2400" b="1" dirty="0" err="1"/>
              <a:t>μA</a:t>
            </a:r>
            <a:r>
              <a:rPr lang="en-US" altLang="zh-CN" sz="2400" b="1" dirty="0"/>
              <a:t> range</a:t>
            </a:r>
            <a:endParaRPr lang="zh-CN" altLang="en-US" sz="2400" b="1" dirty="0"/>
          </a:p>
        </p:txBody>
      </p:sp>
      <p:sp>
        <p:nvSpPr>
          <p:cNvPr id="144394" name="矩形 5"/>
          <p:cNvSpPr>
            <a:spLocks noChangeArrowheads="1"/>
          </p:cNvSpPr>
          <p:nvPr/>
        </p:nvSpPr>
        <p:spPr bwMode="auto">
          <a:xfrm>
            <a:off x="3634833" y="3891450"/>
            <a:ext cx="1753685" cy="3077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dirty="0"/>
              <a:t>IAP15W4K58S4</a:t>
            </a:r>
            <a:endParaRPr lang="zh-CN" altLang="en-US" sz="2000" dirty="0"/>
          </a:p>
        </p:txBody>
      </p:sp>
      <p:sp>
        <p:nvSpPr>
          <p:cNvPr id="2" name="灯片编号占位符 1"/>
          <p:cNvSpPr>
            <a:spLocks noGrp="1"/>
          </p:cNvSpPr>
          <p:nvPr>
            <p:ph type="sldNum" sz="quarter" idx="12"/>
          </p:nvPr>
        </p:nvSpPr>
        <p:spPr/>
        <p:txBody>
          <a:bodyPr/>
          <a:lstStyle/>
          <a:p>
            <a:fld id="{22E77DEE-32E4-4009-988B-F2758F7B8AC2}" type="slidenum">
              <a:rPr lang="zh-CN" altLang="en-US" smtClean="0"/>
              <a:t>75</a:t>
            </a:fld>
            <a:endParaRPr lang="zh-CN"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标题 3"/>
          <p:cNvSpPr>
            <a:spLocks noGrp="1" noChangeArrowheads="1"/>
          </p:cNvSpPr>
          <p:nvPr>
            <p:ph type="title"/>
          </p:nvPr>
        </p:nvSpPr>
        <p:spPr>
          <a:xfrm>
            <a:off x="236538" y="371475"/>
            <a:ext cx="8229600" cy="504825"/>
          </a:xfrm>
        </p:spPr>
        <p:txBody>
          <a:bodyPr>
            <a:normAutofit fontScale="90000"/>
          </a:bodyPr>
          <a:lstStyle/>
          <a:p>
            <a:r>
              <a:rPr kumimoji="1" lang="en-US" altLang="zh-CN" dirty="0">
                <a:solidFill>
                  <a:srgbClr val="FF0000"/>
                </a:solidFill>
              </a:rPr>
              <a:t>(4) </a:t>
            </a:r>
            <a:r>
              <a:rPr lang="en-US" altLang="zh-CN" dirty="0"/>
              <a:t>A Typical BJT Control Circuit</a:t>
            </a:r>
            <a:endParaRPr lang="zh-CN" altLang="en-US" dirty="0"/>
          </a:p>
        </p:txBody>
      </p:sp>
      <p:pic>
        <p:nvPicPr>
          <p:cNvPr id="4710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8161" y="4147910"/>
            <a:ext cx="3717925" cy="17129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38627" name="Rectangle 3"/>
          <p:cNvSpPr>
            <a:spLocks noGrp="1" noChangeArrowheads="1"/>
          </p:cNvSpPr>
          <p:nvPr>
            <p:ph idx="1"/>
          </p:nvPr>
        </p:nvSpPr>
        <p:spPr>
          <a:xfrm>
            <a:off x="298314" y="1135743"/>
            <a:ext cx="8494622" cy="3483224"/>
          </a:xfrm>
        </p:spPr>
        <p:txBody>
          <a:bodyPr>
            <a:noAutofit/>
          </a:bodyPr>
          <a:lstStyle/>
          <a:p>
            <a:pPr marL="262255" lvl="1" indent="-262255" algn="l" eaLnBrk="1" hangingPunct="1">
              <a:lnSpc>
                <a:spcPct val="105000"/>
              </a:lnSpc>
              <a:spcBef>
                <a:spcPts val="0"/>
              </a:spcBef>
              <a:spcAft>
                <a:spcPts val="600"/>
              </a:spcAft>
              <a:defRPr/>
            </a:pPr>
            <a:r>
              <a:rPr lang="en-US" altLang="zh-CN" sz="1600" dirty="0"/>
              <a:t>When there are many power devices that need to be driven, it is recommended to use </a:t>
            </a:r>
            <a:r>
              <a:rPr lang="en-US" altLang="zh-CN" sz="1600" dirty="0">
                <a:solidFill>
                  <a:srgbClr val="FF0000"/>
                </a:solidFill>
              </a:rPr>
              <a:t>ULN2803 (18 pins, or 16 pins ULN2003, produced by companies such as TI and ST)</a:t>
            </a:r>
            <a:r>
              <a:rPr lang="en-US" altLang="zh-CN" sz="1600" dirty="0"/>
              <a:t>, it adopts a </a:t>
            </a:r>
            <a:r>
              <a:rPr lang="en-US" altLang="zh-CN" sz="1600" dirty="0">
                <a:solidFill>
                  <a:srgbClr val="FF0000"/>
                </a:solidFill>
              </a:rPr>
              <a:t>Darlington structure</a:t>
            </a:r>
            <a:r>
              <a:rPr lang="en-US" altLang="zh-CN" sz="1600" dirty="0"/>
              <a:t> internally and is a chip </a:t>
            </a:r>
            <a:r>
              <a:rPr lang="en-US" altLang="zh-CN" sz="1600" dirty="0">
                <a:solidFill>
                  <a:srgbClr val="FF0000"/>
                </a:solidFill>
              </a:rPr>
              <a:t>specifically used to drive relays</a:t>
            </a:r>
            <a:r>
              <a:rPr lang="en-US" altLang="zh-CN" sz="1600" dirty="0"/>
              <a:t>. Even a diode that eliminates the back electromotive force of the coil is made inside the chip.</a:t>
            </a:r>
          </a:p>
          <a:p>
            <a:pPr marL="262255" lvl="1" indent="-262255" algn="l" eaLnBrk="1" hangingPunct="1">
              <a:lnSpc>
                <a:spcPct val="105000"/>
              </a:lnSpc>
              <a:spcBef>
                <a:spcPts val="0"/>
              </a:spcBef>
              <a:spcAft>
                <a:spcPts val="600"/>
              </a:spcAft>
              <a:defRPr/>
            </a:pPr>
            <a:r>
              <a:rPr lang="en-US" altLang="zh-CN" sz="1600" dirty="0"/>
              <a:t>The output terminal of </a:t>
            </a:r>
            <a:r>
              <a:rPr lang="en-US" altLang="zh-CN" sz="1600" dirty="0">
                <a:solidFill>
                  <a:srgbClr val="FF0000"/>
                </a:solidFill>
              </a:rPr>
              <a:t>ULN2803</a:t>
            </a:r>
            <a:r>
              <a:rPr lang="en-US" altLang="zh-CN" sz="1600" dirty="0"/>
              <a:t> allows for an IC current of </a:t>
            </a:r>
            <a:r>
              <a:rPr lang="en-US" altLang="zh-CN" sz="1600" dirty="0">
                <a:solidFill>
                  <a:srgbClr val="FF00FF"/>
                </a:solidFill>
              </a:rPr>
              <a:t>600mA</a:t>
            </a:r>
            <a:r>
              <a:rPr lang="en-US" altLang="zh-CN" sz="1600" dirty="0"/>
              <a:t> and a withstand voltage BV</a:t>
            </a:r>
            <a:r>
              <a:rPr lang="en-US" altLang="zh-CN" sz="1600" baseline="-25000" dirty="0"/>
              <a:t>CEO</a:t>
            </a:r>
            <a:r>
              <a:rPr lang="en-US" altLang="zh-CN" sz="1600" dirty="0"/>
              <a:t> of approximately </a:t>
            </a:r>
            <a:r>
              <a:rPr lang="en-US" altLang="zh-CN" sz="1600" dirty="0">
                <a:solidFill>
                  <a:srgbClr val="FF0000"/>
                </a:solidFill>
              </a:rPr>
              <a:t>50V</a:t>
            </a:r>
            <a:r>
              <a:rPr lang="en-US" altLang="zh-CN" sz="1600" dirty="0"/>
              <a:t>.</a:t>
            </a:r>
          </a:p>
          <a:p>
            <a:pPr marL="262255" lvl="1" indent="-262255" algn="l" eaLnBrk="1" hangingPunct="1">
              <a:lnSpc>
                <a:spcPct val="105000"/>
              </a:lnSpc>
              <a:spcBef>
                <a:spcPts val="0"/>
              </a:spcBef>
              <a:spcAft>
                <a:spcPts val="600"/>
              </a:spcAft>
              <a:defRPr/>
            </a:pPr>
            <a:r>
              <a:rPr lang="en-US" altLang="zh-CN" sz="1600" dirty="0"/>
              <a:t>The output terminal of </a:t>
            </a:r>
            <a:r>
              <a:rPr lang="en-US" altLang="zh-CN" sz="1600" dirty="0">
                <a:solidFill>
                  <a:srgbClr val="FF0000"/>
                </a:solidFill>
              </a:rPr>
              <a:t>ULN2003</a:t>
            </a:r>
            <a:r>
              <a:rPr lang="en-US" altLang="zh-CN" sz="1600" dirty="0"/>
              <a:t> allows an IC current of </a:t>
            </a:r>
            <a:r>
              <a:rPr lang="en-US" altLang="zh-CN" sz="1600" dirty="0">
                <a:solidFill>
                  <a:srgbClr val="FF00FF"/>
                </a:solidFill>
              </a:rPr>
              <a:t>200mA (maximum 500mA)</a:t>
            </a:r>
            <a:r>
              <a:rPr lang="en-US" altLang="zh-CN" sz="1600" dirty="0"/>
              <a:t>, with a saturation voltage drop V</a:t>
            </a:r>
            <a:r>
              <a:rPr lang="en-US" altLang="zh-CN" sz="1600" baseline="-25000" dirty="0"/>
              <a:t>CE</a:t>
            </a:r>
            <a:r>
              <a:rPr lang="en-US" altLang="zh-CN" sz="1600" dirty="0"/>
              <a:t> of about 1V (</a:t>
            </a:r>
            <a:r>
              <a:rPr lang="en-US" altLang="zh-CN" sz="1600" dirty="0">
                <a:solidFill>
                  <a:srgbClr val="FF00FF"/>
                </a:solidFill>
              </a:rPr>
              <a:t>at 200mA</a:t>
            </a:r>
            <a:r>
              <a:rPr lang="en-US" altLang="zh-CN" sz="1600" dirty="0"/>
              <a:t>) and a withstand voltage BV</a:t>
            </a:r>
            <a:r>
              <a:rPr lang="en-US" altLang="zh-CN" sz="1600" baseline="-25000" dirty="0"/>
              <a:t>CEO</a:t>
            </a:r>
            <a:r>
              <a:rPr lang="en-US" altLang="zh-CN" sz="1600" dirty="0"/>
              <a:t> of about </a:t>
            </a:r>
            <a:r>
              <a:rPr lang="en-US" altLang="zh-CN" sz="1600" dirty="0">
                <a:solidFill>
                  <a:srgbClr val="FF0000"/>
                </a:solidFill>
              </a:rPr>
              <a:t>50V</a:t>
            </a:r>
            <a:r>
              <a:rPr lang="en-US" altLang="zh-CN" sz="1600" dirty="0"/>
              <a:t>.</a:t>
            </a:r>
          </a:p>
          <a:p>
            <a:pPr marL="262255" lvl="1" indent="-262255" algn="l" eaLnBrk="1" hangingPunct="1">
              <a:lnSpc>
                <a:spcPct val="105000"/>
              </a:lnSpc>
              <a:spcBef>
                <a:spcPts val="0"/>
              </a:spcBef>
              <a:spcAft>
                <a:spcPts val="600"/>
              </a:spcAft>
              <a:defRPr/>
            </a:pPr>
            <a:r>
              <a:rPr lang="en-US" altLang="zh-CN" sz="1600" dirty="0"/>
              <a:t>The external load of the output port can be estimated based on the above parameters. Adopting </a:t>
            </a:r>
            <a:r>
              <a:rPr lang="en-US" altLang="zh-CN" sz="1600" dirty="0">
                <a:solidFill>
                  <a:srgbClr val="00B0F0"/>
                </a:solidFill>
              </a:rPr>
              <a:t>open collector output</a:t>
            </a:r>
            <a:r>
              <a:rPr lang="en-US" altLang="zh-CN" sz="1600" dirty="0"/>
              <a:t> with high output current, it can directly drive relays or solid-state relays (SSR).</a:t>
            </a:r>
          </a:p>
          <a:p>
            <a:pPr marL="262255" lvl="1" indent="-262255" algn="l" eaLnBrk="1" hangingPunct="1">
              <a:lnSpc>
                <a:spcPct val="105000"/>
              </a:lnSpc>
              <a:spcBef>
                <a:spcPts val="0"/>
              </a:spcBef>
              <a:spcAft>
                <a:spcPts val="600"/>
              </a:spcAft>
              <a:defRPr/>
            </a:pPr>
            <a:r>
              <a:rPr lang="en-US" altLang="zh-CN" sz="1600" dirty="0">
                <a:solidFill>
                  <a:srgbClr val="FF0000"/>
                </a:solidFill>
              </a:rPr>
              <a:t>ULN2003 (ULN2803) can drive 7(8) relays.</a:t>
            </a:r>
            <a:endParaRPr lang="zh-CN" altLang="en-US" sz="1600" dirty="0">
              <a:solidFill>
                <a:srgbClr val="FF0000"/>
              </a:solidFill>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76</a:t>
            </a:fld>
            <a:endParaRPr lang="zh-CN"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4"/>
          <p:cNvGraphicFramePr>
            <a:graphicFrameLocks noChangeAspect="1"/>
          </p:cNvGraphicFramePr>
          <p:nvPr/>
        </p:nvGraphicFramePr>
        <p:xfrm>
          <a:off x="1409700" y="2526044"/>
          <a:ext cx="6083300" cy="3376912"/>
        </p:xfrm>
        <a:graphic>
          <a:graphicData uri="http://schemas.openxmlformats.org/presentationml/2006/ole">
            <mc:AlternateContent xmlns:mc="http://schemas.openxmlformats.org/markup-compatibility/2006">
              <mc:Choice xmlns:v="urn:schemas-microsoft-com:vml" Requires="v">
                <p:oleObj name="Visio" r:id="rId2" imgW="3007995" imgH="1668145" progId="Visio.Drawing.11">
                  <p:embed/>
                </p:oleObj>
              </mc:Choice>
              <mc:Fallback>
                <p:oleObj name="Visio" r:id="rId2" imgW="3007995" imgH="1668145" progId="Visio.Drawing.11">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9700" y="2526044"/>
                        <a:ext cx="6083300" cy="3376912"/>
                      </a:xfrm>
                      <a:prstGeom prst="rect">
                        <a:avLst/>
                      </a:prstGeom>
                      <a:noFill/>
                      <a:ln>
                        <a:noFill/>
                      </a:ln>
                    </p:spPr>
                  </p:pic>
                </p:oleObj>
              </mc:Fallback>
            </mc:AlternateContent>
          </a:graphicData>
        </a:graphic>
      </p:graphicFrame>
      <p:sp>
        <p:nvSpPr>
          <p:cNvPr id="153603" name="标题 2"/>
          <p:cNvSpPr>
            <a:spLocks noGrp="1" noChangeArrowheads="1"/>
          </p:cNvSpPr>
          <p:nvPr>
            <p:ph type="title"/>
          </p:nvPr>
        </p:nvSpPr>
        <p:spPr>
          <a:xfrm>
            <a:off x="691198" y="568643"/>
            <a:ext cx="8229600" cy="504825"/>
          </a:xfrm>
        </p:spPr>
        <p:txBody>
          <a:bodyPr>
            <a:noAutofit/>
          </a:bodyPr>
          <a:lstStyle/>
          <a:p>
            <a:pPr>
              <a:lnSpc>
                <a:spcPct val="104000"/>
              </a:lnSpc>
              <a:spcBef>
                <a:spcPts val="0"/>
              </a:spcBef>
              <a:defRPr/>
            </a:pPr>
            <a:r>
              <a:rPr lang="en-US" altLang="zh-CN" sz="2400" dirty="0">
                <a:solidFill>
                  <a:srgbClr val="FF0000"/>
                </a:solidFill>
                <a:latin typeface="+mn-lt"/>
              </a:rPr>
              <a:t>1. Minimum System Composition of Single Chip Microcomputer</a:t>
            </a:r>
            <a:endParaRPr lang="zh-CN" altLang="en-US" sz="2400" dirty="0">
              <a:solidFill>
                <a:srgbClr val="FF0000"/>
              </a:solidFill>
              <a:latin typeface="+mn-lt"/>
            </a:endParaRPr>
          </a:p>
        </p:txBody>
      </p:sp>
      <p:sp>
        <p:nvSpPr>
          <p:cNvPr id="553987" name="Rectangle 3"/>
          <p:cNvSpPr>
            <a:spLocks noGrp="1" noChangeArrowheads="1"/>
          </p:cNvSpPr>
          <p:nvPr>
            <p:ph type="body" sz="half" idx="4294967295"/>
          </p:nvPr>
        </p:nvSpPr>
        <p:spPr>
          <a:xfrm>
            <a:off x="80962" y="1150600"/>
            <a:ext cx="8982075" cy="1086857"/>
          </a:xfrm>
        </p:spPr>
        <p:txBody>
          <a:bodyPr>
            <a:normAutofit lnSpcReduction="10000"/>
          </a:bodyPr>
          <a:lstStyle/>
          <a:p>
            <a:pPr marL="262255" lvl="1" indent="-262255">
              <a:lnSpc>
                <a:spcPct val="95000"/>
              </a:lnSpc>
              <a:defRPr/>
            </a:pPr>
            <a:r>
              <a:rPr lang="en-US" altLang="zh-CN" dirty="0"/>
              <a:t>In order to download programs to the microcontroller, </a:t>
            </a:r>
            <a:r>
              <a:rPr lang="en-US" altLang="zh-CN" dirty="0">
                <a:solidFill>
                  <a:srgbClr val="FF0000"/>
                </a:solidFill>
              </a:rPr>
              <a:t>RS232 and TTL conversion circuits can be connected to the RXD and TXD pins</a:t>
            </a:r>
            <a:r>
              <a:rPr lang="en-US" altLang="zh-CN" dirty="0"/>
              <a:t>, which can be used to </a:t>
            </a:r>
            <a:r>
              <a:rPr lang="en-US" altLang="zh-CN" dirty="0">
                <a:solidFill>
                  <a:srgbClr val="FF0000"/>
                </a:solidFill>
              </a:rPr>
              <a:t>connect to a computer</a:t>
            </a:r>
            <a:r>
              <a:rPr lang="en-US" altLang="zh-CN" dirty="0"/>
              <a:t> and download user programs to the microcontroller through a download tool.</a:t>
            </a:r>
            <a:endParaRPr lang="zh-CN" altLang="en-US" dirty="0"/>
          </a:p>
        </p:txBody>
      </p:sp>
      <p:sp>
        <p:nvSpPr>
          <p:cNvPr id="553991" name="Rectangle 7"/>
          <p:cNvSpPr>
            <a:spLocks noChangeArrowheads="1"/>
          </p:cNvSpPr>
          <p:nvPr/>
        </p:nvSpPr>
        <p:spPr bwMode="auto">
          <a:xfrm>
            <a:off x="1908968" y="5845584"/>
            <a:ext cx="5326062"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tIns="0" bIns="0"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r>
              <a:rPr lang="en-US" altLang="zh-CN" b="1" dirty="0">
                <a:solidFill>
                  <a:srgbClr val="990033"/>
                </a:solidFill>
                <a:latin typeface="宋体" panose="02010600030101010101" pitchFamily="2" charset="-122"/>
              </a:rPr>
              <a:t>Figure 3-23 RS232 and TTL Conversion Circuit</a:t>
            </a:r>
            <a:endParaRPr lang="zh-CN" altLang="en-US" b="1" dirty="0">
              <a:solidFill>
                <a:srgbClr val="990033"/>
              </a:solidFill>
              <a:latin typeface="宋体" panose="02010600030101010101" pitchFamily="2" charset="-122"/>
            </a:endParaRPr>
          </a:p>
        </p:txBody>
      </p:sp>
      <p:sp>
        <p:nvSpPr>
          <p:cNvPr id="10" name="Rectangle 3"/>
          <p:cNvSpPr txBox="1">
            <a:spLocks noChangeArrowheads="1"/>
          </p:cNvSpPr>
          <p:nvPr/>
        </p:nvSpPr>
        <p:spPr bwMode="auto">
          <a:xfrm>
            <a:off x="228267" y="2164266"/>
            <a:ext cx="4172755" cy="867106"/>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342900" indent="-342900" algn="l" rtl="0" fontAlgn="base">
              <a:spcBef>
                <a:spcPct val="20000"/>
              </a:spcBef>
              <a:spcAft>
                <a:spcPct val="0"/>
              </a:spcAft>
              <a:buBlip>
                <a:blip r:embed="rId4"/>
              </a:buBlip>
              <a:defRPr sz="32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5"/>
              </a:buBlip>
              <a:defRPr sz="2800" b="1">
                <a:solidFill>
                  <a:schemeClr val="tx1"/>
                </a:solidFill>
                <a:latin typeface="+mn-lt"/>
                <a:ea typeface="+mj-ea"/>
              </a:defRPr>
            </a:lvl2pPr>
            <a:lvl3pPr marL="1143000" indent="-228600" algn="just" rtl="0" fontAlgn="base">
              <a:spcBef>
                <a:spcPct val="20000"/>
              </a:spcBef>
              <a:spcAft>
                <a:spcPct val="0"/>
              </a:spcAft>
              <a:buChar char="•"/>
              <a:defRPr sz="2400">
                <a:solidFill>
                  <a:schemeClr val="tx1"/>
                </a:solidFill>
                <a:latin typeface="+mn-lt"/>
                <a:ea typeface="+mj-ea"/>
              </a:defRPr>
            </a:lvl3pPr>
            <a:lvl4pPr marL="1600200" indent="-228600" algn="just" rtl="0" fontAlgn="base">
              <a:spcBef>
                <a:spcPct val="20000"/>
              </a:spcBef>
              <a:spcAft>
                <a:spcPct val="0"/>
              </a:spcAft>
              <a:buChar char="–"/>
              <a:defRPr sz="2000">
                <a:solidFill>
                  <a:schemeClr val="tx1"/>
                </a:solidFill>
                <a:latin typeface="+mn-lt"/>
                <a:ea typeface="+mj-ea"/>
              </a:defRPr>
            </a:lvl4pPr>
            <a:lvl5pPr marL="2057400" indent="-228600" algn="just" rtl="0" fontAlgn="base">
              <a:spcBef>
                <a:spcPct val="20000"/>
              </a:spcBef>
              <a:spcAft>
                <a:spcPct val="0"/>
              </a:spcAft>
              <a:buChar char="»"/>
              <a:defRPr sz="2000">
                <a:solidFill>
                  <a:schemeClr val="tx1"/>
                </a:solidFill>
                <a:latin typeface="+mn-lt"/>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lvl="1" indent="0" algn="l">
              <a:lnSpc>
                <a:spcPct val="90000"/>
              </a:lnSpc>
              <a:spcBef>
                <a:spcPts val="0"/>
              </a:spcBef>
              <a:buNone/>
              <a:defRPr/>
            </a:pPr>
            <a:r>
              <a:rPr lang="en-US" altLang="zh-CN" sz="1800" b="0" kern="0" dirty="0">
                <a:solidFill>
                  <a:srgbClr val="FF0000"/>
                </a:solidFill>
              </a:rPr>
              <a:t>RS232 serial port has a negative logic level</a:t>
            </a:r>
            <a:r>
              <a:rPr lang="en-US" altLang="zh-CN" sz="1800" b="0" kern="0" dirty="0"/>
              <a:t>: +5~+12V is a low level 0, while -12~-5V is a high level 1</a:t>
            </a:r>
            <a:endParaRPr lang="zh-CN" altLang="en-US" sz="1800" b="0" kern="0" dirty="0"/>
          </a:p>
        </p:txBody>
      </p:sp>
      <p:sp>
        <p:nvSpPr>
          <p:cNvPr id="11" name="Rectangle 3"/>
          <p:cNvSpPr txBox="1">
            <a:spLocks noChangeArrowheads="1"/>
          </p:cNvSpPr>
          <p:nvPr/>
        </p:nvSpPr>
        <p:spPr bwMode="auto">
          <a:xfrm>
            <a:off x="6432542" y="3450918"/>
            <a:ext cx="2381258" cy="936932"/>
          </a:xfrm>
          <a:prstGeom prst="rect">
            <a:avLst/>
          </a:prstGeom>
          <a:noFill/>
          <a:ln w="9525">
            <a:solidFill>
              <a:srgbClr val="FF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342900" indent="-342900" algn="l" rtl="0" fontAlgn="base">
              <a:spcBef>
                <a:spcPct val="20000"/>
              </a:spcBef>
              <a:spcAft>
                <a:spcPct val="0"/>
              </a:spcAft>
              <a:buBlip>
                <a:blip r:embed="rId4"/>
              </a:buBlip>
              <a:defRPr sz="32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5"/>
              </a:buBlip>
              <a:defRPr sz="2800" b="1">
                <a:solidFill>
                  <a:schemeClr val="tx1"/>
                </a:solidFill>
                <a:latin typeface="+mn-lt"/>
                <a:ea typeface="+mj-ea"/>
              </a:defRPr>
            </a:lvl2pPr>
            <a:lvl3pPr marL="1143000" indent="-228600" algn="just" rtl="0" fontAlgn="base">
              <a:spcBef>
                <a:spcPct val="20000"/>
              </a:spcBef>
              <a:spcAft>
                <a:spcPct val="0"/>
              </a:spcAft>
              <a:buChar char="•"/>
              <a:defRPr sz="2400">
                <a:solidFill>
                  <a:schemeClr val="tx1"/>
                </a:solidFill>
                <a:latin typeface="+mn-lt"/>
                <a:ea typeface="+mj-ea"/>
              </a:defRPr>
            </a:lvl3pPr>
            <a:lvl4pPr marL="1600200" indent="-228600" algn="just" rtl="0" fontAlgn="base">
              <a:spcBef>
                <a:spcPct val="20000"/>
              </a:spcBef>
              <a:spcAft>
                <a:spcPct val="0"/>
              </a:spcAft>
              <a:buChar char="–"/>
              <a:defRPr sz="2000">
                <a:solidFill>
                  <a:schemeClr val="tx1"/>
                </a:solidFill>
                <a:latin typeface="+mn-lt"/>
                <a:ea typeface="+mj-ea"/>
              </a:defRPr>
            </a:lvl4pPr>
            <a:lvl5pPr marL="2057400" indent="-228600" algn="just" rtl="0" fontAlgn="base">
              <a:spcBef>
                <a:spcPct val="20000"/>
              </a:spcBef>
              <a:spcAft>
                <a:spcPct val="0"/>
              </a:spcAft>
              <a:buChar char="»"/>
              <a:defRPr sz="2000">
                <a:solidFill>
                  <a:schemeClr val="tx1"/>
                </a:solidFill>
                <a:latin typeface="+mn-lt"/>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lvl="1" indent="0" algn="l">
              <a:lnSpc>
                <a:spcPct val="95000"/>
              </a:lnSpc>
              <a:buNone/>
              <a:defRPr/>
            </a:pPr>
            <a:r>
              <a:rPr lang="en-US" altLang="zh-CN" sz="2000" b="0" dirty="0">
                <a:solidFill>
                  <a:srgbClr val="FF00FF"/>
                </a:solidFill>
                <a:ea typeface="宋体" panose="02010600030101010101" pitchFamily="2" charset="-122"/>
              </a:rPr>
              <a:t>The serial port of the microcontroller is TTL level</a:t>
            </a:r>
            <a:endParaRPr lang="zh-CN" altLang="en-US" sz="2000" b="0" dirty="0">
              <a:solidFill>
                <a:srgbClr val="FF00FF"/>
              </a:solidFill>
              <a:ea typeface="宋体" panose="02010600030101010101" pitchFamily="2" charset="-122"/>
            </a:endParaRPr>
          </a:p>
        </p:txBody>
      </p:sp>
      <p:sp>
        <p:nvSpPr>
          <p:cNvPr id="5" name="Rectangle 3"/>
          <p:cNvSpPr txBox="1">
            <a:spLocks noChangeArrowheads="1"/>
          </p:cNvSpPr>
          <p:nvPr/>
        </p:nvSpPr>
        <p:spPr>
          <a:xfrm>
            <a:off x="6161513" y="2422895"/>
            <a:ext cx="2804687" cy="1086857"/>
          </a:xfrm>
          <a:prstGeom prst="rect">
            <a:avLst/>
          </a:prstGeom>
        </p:spPr>
        <p:txBody>
          <a:bodyPr vert="horz" lIns="0" tIns="45720" rIns="0" bIns="45720" rtlCol="0">
            <a:normAutofit fontScale="700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262255" lvl="1" indent="-262255">
              <a:lnSpc>
                <a:spcPct val="95000"/>
              </a:lnSpc>
              <a:defRPr/>
            </a:pPr>
            <a:r>
              <a:rPr lang="en-US" altLang="zh-CN" sz="2800" dirty="0">
                <a:solidFill>
                  <a:srgbClr val="FF00FF"/>
                </a:solidFill>
                <a:ea typeface="宋体" panose="02010600030101010101" pitchFamily="2" charset="-122"/>
              </a:rPr>
              <a:t>STC15W series supports direct download of programs via USB interface</a:t>
            </a:r>
            <a:endParaRPr lang="zh-CN" altLang="en-US" sz="2800" dirty="0">
              <a:solidFill>
                <a:srgbClr val="FF00FF"/>
              </a:solidFill>
              <a:ea typeface="宋体" panose="02010600030101010101" pitchFamily="2" charset="-122"/>
            </a:endParaRPr>
          </a:p>
          <a:p>
            <a:pPr marL="262255" lvl="1" indent="-262255">
              <a:lnSpc>
                <a:spcPct val="95000"/>
              </a:lnSpc>
              <a:defRPr/>
            </a:pPr>
            <a:endParaRPr lang="zh-CN" altLang="en-US" dirty="0"/>
          </a:p>
        </p:txBody>
      </p:sp>
      <p:sp>
        <p:nvSpPr>
          <p:cNvPr id="13" name="文本框 12"/>
          <p:cNvSpPr txBox="1"/>
          <p:nvPr/>
        </p:nvSpPr>
        <p:spPr>
          <a:xfrm>
            <a:off x="602456" y="3429000"/>
            <a:ext cx="2613023" cy="307777"/>
          </a:xfrm>
          <a:prstGeom prst="rect">
            <a:avLst/>
          </a:prstGeom>
          <a:solidFill>
            <a:schemeClr val="bg1"/>
          </a:solidFill>
        </p:spPr>
        <p:txBody>
          <a:bodyPr wrap="none" rtlCol="0">
            <a:spAutoFit/>
          </a:bodyPr>
          <a:lstStyle/>
          <a:p>
            <a:r>
              <a:rPr lang="en-US" altLang="zh-CN" sz="1400" dirty="0">
                <a:solidFill>
                  <a:srgbClr val="FF00FF"/>
                </a:solidFill>
                <a:ea typeface="宋体" panose="02010600030101010101" pitchFamily="2" charset="-122"/>
              </a:rPr>
              <a:t>Connect the computer serial port</a:t>
            </a:r>
            <a:endParaRPr lang="zh-CN" altLang="en-US" sz="1400" dirty="0">
              <a:solidFill>
                <a:srgbClr val="FF00FF"/>
              </a:solidFill>
              <a:ea typeface="宋体" panose="02010600030101010101" pitchFamily="2" charset="-122"/>
            </a:endParaRPr>
          </a:p>
        </p:txBody>
      </p:sp>
      <p:sp>
        <p:nvSpPr>
          <p:cNvPr id="14" name="文本框 13"/>
          <p:cNvSpPr txBox="1"/>
          <p:nvPr/>
        </p:nvSpPr>
        <p:spPr>
          <a:xfrm>
            <a:off x="6302371" y="4510049"/>
            <a:ext cx="2381258" cy="738664"/>
          </a:xfrm>
          <a:prstGeom prst="rect">
            <a:avLst/>
          </a:prstGeom>
          <a:solidFill>
            <a:schemeClr val="bg1"/>
          </a:solidFill>
        </p:spPr>
        <p:txBody>
          <a:bodyPr wrap="square" rtlCol="0">
            <a:spAutoFit/>
          </a:bodyPr>
          <a:lstStyle/>
          <a:p>
            <a:r>
              <a:rPr lang="en-US" altLang="zh-CN" sz="1400" dirty="0">
                <a:solidFill>
                  <a:srgbClr val="FF00FF"/>
                </a:solidFill>
                <a:ea typeface="宋体" panose="02010600030101010101" pitchFamily="2" charset="-122"/>
              </a:rPr>
              <a:t>Connect the P3.0 and P3.1 pins of the microcontroller separately</a:t>
            </a:r>
            <a:endParaRPr lang="zh-CN" altLang="en-US" sz="1400" dirty="0">
              <a:solidFill>
                <a:srgbClr val="FF00FF"/>
              </a:solidFill>
              <a:ea typeface="宋体" panose="02010600030101010101" pitchFamily="2" charset="-122"/>
            </a:endParaRPr>
          </a:p>
        </p:txBody>
      </p:sp>
      <p:sp>
        <p:nvSpPr>
          <p:cNvPr id="15" name="文本框 14"/>
          <p:cNvSpPr txBox="1"/>
          <p:nvPr/>
        </p:nvSpPr>
        <p:spPr>
          <a:xfrm>
            <a:off x="3848092" y="5318181"/>
            <a:ext cx="1993908" cy="584775"/>
          </a:xfrm>
          <a:prstGeom prst="rect">
            <a:avLst/>
          </a:prstGeom>
          <a:solidFill>
            <a:schemeClr val="bg1"/>
          </a:solidFill>
        </p:spPr>
        <p:txBody>
          <a:bodyPr wrap="square" rtlCol="0">
            <a:spAutoFit/>
          </a:bodyPr>
          <a:lstStyle/>
          <a:p>
            <a:pPr algn="ctr"/>
            <a:r>
              <a:rPr lang="en-US" altLang="zh-CN" sz="1600" dirty="0">
                <a:solidFill>
                  <a:srgbClr val="FF00FF"/>
                </a:solidFill>
                <a:latin typeface="Times New Roman" panose="02020603050405020304" pitchFamily="18" charset="0"/>
                <a:ea typeface="宋体" panose="02010600030101010101" pitchFamily="2" charset="-122"/>
                <a:cs typeface="Times New Roman" panose="02020603050405020304" pitchFamily="18" charset="0"/>
              </a:rPr>
              <a:t>MAX232, MAX3232,</a:t>
            </a:r>
          </a:p>
          <a:p>
            <a:pPr algn="ctr"/>
            <a:r>
              <a:rPr lang="en-US" altLang="zh-CN" sz="1600" dirty="0">
                <a:solidFill>
                  <a:srgbClr val="FF00FF"/>
                </a:solidFill>
                <a:latin typeface="Times New Roman" panose="02020603050405020304" pitchFamily="18" charset="0"/>
                <a:ea typeface="宋体" panose="02010600030101010101" pitchFamily="2" charset="-122"/>
                <a:cs typeface="Times New Roman" panose="02020603050405020304" pitchFamily="18" charset="0"/>
              </a:rPr>
              <a:t>SP232 or SP3232</a:t>
            </a:r>
            <a:endParaRPr lang="zh-CN" altLang="en-US" sz="1600" dirty="0">
              <a:solidFill>
                <a:srgbClr val="FF00F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灯片编号占位符 5"/>
          <p:cNvSpPr>
            <a:spLocks noGrp="1"/>
          </p:cNvSpPr>
          <p:nvPr>
            <p:ph type="sldNum" sz="quarter" idx="12"/>
          </p:nvPr>
        </p:nvSpPr>
        <p:spPr/>
        <p:txBody>
          <a:bodyPr/>
          <a:lstStyle/>
          <a:p>
            <a:fld id="{22E77DEE-32E4-4009-988B-F2758F7B8AC2}" type="slidenum">
              <a:rPr lang="zh-CN" altLang="en-US" smtClean="0"/>
              <a:t>77</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0">
                                            <p:bg/>
                                          </p:spTgt>
                                        </p:tgtEl>
                                        <p:attrNameLst>
                                          <p:attrName>style.visibility</p:attrName>
                                        </p:attrNameLst>
                                      </p:cBhvr>
                                      <p:to>
                                        <p:strVal val="visible"/>
                                      </p:to>
                                    </p:set>
                                    <p:animEffect transition="in" filter="slide(fromBottom)">
                                      <p:cBhvr>
                                        <p:cTn id="7" dur="500"/>
                                        <p:tgtEl>
                                          <p:spTgt spid="10">
                                            <p:bg/>
                                          </p:spTgt>
                                        </p:tgtEl>
                                      </p:cBhvr>
                                    </p:animEffect>
                                  </p:childTnLst>
                                </p:cTn>
                              </p:par>
                              <p:par>
                                <p:cTn id="8" presetID="12" presetClass="entr" presetSubtype="4" fill="hold" grpId="0" nodeType="withEffect">
                                  <p:stCondLst>
                                    <p:cond delay="0"/>
                                  </p:stCondLst>
                                  <p:childTnLst>
                                    <p:set>
                                      <p:cBhvr>
                                        <p:cTn id="9" dur="1" fill="hold">
                                          <p:stCondLst>
                                            <p:cond delay="0"/>
                                          </p:stCondLst>
                                        </p:cTn>
                                        <p:tgtEl>
                                          <p:spTgt spid="10">
                                            <p:txEl>
                                              <p:pRg st="0" end="0"/>
                                            </p:txEl>
                                          </p:spTgt>
                                        </p:tgtEl>
                                        <p:attrNameLst>
                                          <p:attrName>style.visibility</p:attrName>
                                        </p:attrNameLst>
                                      </p:cBhvr>
                                      <p:to>
                                        <p:strVal val="visible"/>
                                      </p:to>
                                    </p:set>
                                    <p:animEffect transition="in" filter="slide(fromBottom)">
                                      <p:cBhvr>
                                        <p:cTn id="10" dur="500"/>
                                        <p:tgtEl>
                                          <p:spTgt spid="10">
                                            <p:txEl>
                                              <p:pRg st="0" end="0"/>
                                            </p:txEl>
                                          </p:spTgt>
                                        </p:tgtEl>
                                      </p:cBhvr>
                                    </p:animEffect>
                                  </p:childTnLst>
                                </p:cTn>
                              </p:par>
                              <p:par>
                                <p:cTn id="11" presetID="12" presetClass="entr" presetSubtype="4" fill="hold" grpId="0" nodeType="withEffect">
                                  <p:stCondLst>
                                    <p:cond delay="0"/>
                                  </p:stCondLst>
                                  <p:childTnLst>
                                    <p:set>
                                      <p:cBhvr>
                                        <p:cTn id="12" dur="1" fill="hold">
                                          <p:stCondLst>
                                            <p:cond delay="0"/>
                                          </p:stCondLst>
                                        </p:cTn>
                                        <p:tgtEl>
                                          <p:spTgt spid="11">
                                            <p:bg/>
                                          </p:spTgt>
                                        </p:tgtEl>
                                        <p:attrNameLst>
                                          <p:attrName>style.visibility</p:attrName>
                                        </p:attrNameLst>
                                      </p:cBhvr>
                                      <p:to>
                                        <p:strVal val="visible"/>
                                      </p:to>
                                    </p:set>
                                    <p:animEffect transition="in" filter="slide(fromBottom)">
                                      <p:cBhvr>
                                        <p:cTn id="13" dur="500"/>
                                        <p:tgtEl>
                                          <p:spTgt spid="11">
                                            <p:bg/>
                                          </p:spTgt>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11">
                                            <p:txEl>
                                              <p:pRg st="0" end="0"/>
                                            </p:txEl>
                                          </p:spTgt>
                                        </p:tgtEl>
                                        <p:attrNameLst>
                                          <p:attrName>style.visibility</p:attrName>
                                        </p:attrNameLst>
                                      </p:cBhvr>
                                      <p:to>
                                        <p:strVal val="visible"/>
                                      </p:to>
                                    </p:set>
                                    <p:animEffect transition="in" filter="slide(fromBottom)">
                                      <p:cBhvr>
                                        <p:cTn id="16" dur="500"/>
                                        <p:tgtEl>
                                          <p:spTgt spid="11">
                                            <p:txEl>
                                              <p:pRg st="0" end="0"/>
                                            </p:txEl>
                                          </p:spTgt>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553987">
                                            <p:txEl>
                                              <p:pRg st="0" end="0"/>
                                            </p:txEl>
                                          </p:spTgt>
                                        </p:tgtEl>
                                        <p:attrNameLst>
                                          <p:attrName>style.visibility</p:attrName>
                                        </p:attrNameLst>
                                      </p:cBhvr>
                                      <p:to>
                                        <p:strVal val="visible"/>
                                      </p:to>
                                    </p:set>
                                    <p:animEffect transition="in" filter="slide(fromBottom)">
                                      <p:cBhvr>
                                        <p:cTn id="19" dur="500"/>
                                        <p:tgtEl>
                                          <p:spTgt spid="553987">
                                            <p:txEl>
                                              <p:pRg st="0" end="0"/>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553991"/>
                                        </p:tgtEl>
                                        <p:attrNameLst>
                                          <p:attrName>style.visibility</p:attrName>
                                        </p:attrNameLst>
                                      </p:cBhvr>
                                      <p:to>
                                        <p:strVal val="visible"/>
                                      </p:to>
                                    </p:set>
                                    <p:animEffect transition="in" filter="wipe(left)">
                                      <p:cBhvr>
                                        <p:cTn id="22" dur="500"/>
                                        <p:tgtEl>
                                          <p:spTgt spid="553991"/>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left)">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87" grpId="0" build="p"/>
      <p:bldP spid="553991" grpId="0" bldLvl="0" animBg="1"/>
      <p:bldP spid="10" grpId="0" build="p" animBg="1"/>
      <p:bldP spid="11" grpId="0" uiExpand="1" build="p" animBg="1"/>
    </p:bldLst>
  </p:timing>
</p:sld>
</file>

<file path=ppt/theme/theme1.xml><?xml version="1.0" encoding="utf-8"?>
<a:theme xmlns:a="http://schemas.openxmlformats.org/drawingml/2006/main" name="回顾">
  <a:themeElements>
    <a:clrScheme name="回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回顾">
      <a:majorFont>
        <a:latin typeface="Arial"/>
        <a:ea typeface=""/>
        <a:cs typeface=""/>
        <a:font script="Jpan" typeface="ＭＳ Ｐゴシック"/>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9068</Words>
  <Application>Microsoft Office PowerPoint</Application>
  <PresentationFormat>全屏显示(4:3)</PresentationFormat>
  <Paragraphs>995</Paragraphs>
  <Slides>77</Slides>
  <Notes>3</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77</vt:i4>
      </vt:variant>
    </vt:vector>
  </HeadingPairs>
  <TitlesOfParts>
    <vt:vector size="92" baseType="lpstr">
      <vt:lpstr>Monaco</vt:lpstr>
      <vt:lpstr>等线</vt:lpstr>
      <vt:lpstr>隶书</vt:lpstr>
      <vt:lpstr>宋体</vt:lpstr>
      <vt:lpstr>微软雅黑</vt:lpstr>
      <vt:lpstr>Arial</vt:lpstr>
      <vt:lpstr>Arial Black</vt:lpstr>
      <vt:lpstr>Calibri</vt:lpstr>
      <vt:lpstr>Cambria Math</vt:lpstr>
      <vt:lpstr>Times New Roman</vt:lpstr>
      <vt:lpstr>Wingdings</vt:lpstr>
      <vt:lpstr>回顾</vt:lpstr>
      <vt:lpstr>Visio</vt:lpstr>
      <vt:lpstr>公式</vt:lpstr>
      <vt:lpstr>Microsoft Drawing</vt:lpstr>
      <vt:lpstr> EE351 Microcomputer and Microsystems</vt:lpstr>
      <vt:lpstr>Chapter 4: Hardware Structure of Microcontrollers</vt:lpstr>
      <vt:lpstr>4.1 Structure and Operating Process of the Model Machine</vt:lpstr>
      <vt:lpstr>4.1.1Structural Overview of  the Prototype Machine</vt:lpstr>
      <vt:lpstr>4.1.1 Introduction to Structure of the Model Machine</vt:lpstr>
      <vt:lpstr>1、Components of the Central Processing Unit</vt:lpstr>
      <vt:lpstr>1、Components of the Central Processing Unit</vt:lpstr>
      <vt:lpstr>4.1.1 Introduction to Structure of the Model Machine</vt:lpstr>
      <vt:lpstr>Memory Access Process</vt:lpstr>
      <vt:lpstr>4.1.2 The Working Process of the Model Machine : Perform computational control functions by executing instructions</vt:lpstr>
      <vt:lpstr>For example，calculate 7+10=?，Put the results in A.</vt:lpstr>
      <vt:lpstr>Work Process: Read CommandAnalyze CommandExecute commandSave results</vt:lpstr>
      <vt:lpstr>Schematic diagram of reading the second byte of the first instruction (executing the instruction)</vt:lpstr>
      <vt:lpstr>Execute the second instruction “ADD A, #0AH”(machine code: 04H  0AH)</vt:lpstr>
      <vt:lpstr>Execute the second instruction “ADD A, #0AH”(machine code: 04H  0AH)</vt:lpstr>
      <vt:lpstr>4.1.3 GCC Workflow</vt:lpstr>
      <vt:lpstr>4.1.3 GCC Workflow</vt:lpstr>
      <vt:lpstr>4.2 Internal Structure of a Microcontroller</vt:lpstr>
      <vt:lpstr>4.2 Internal Structure of a Microcontroller</vt:lpstr>
      <vt:lpstr>4.2  Internal Structure of the IAP15W4K58S4 Microcontroller</vt:lpstr>
      <vt:lpstr>PowerPoint 演示文稿</vt:lpstr>
      <vt:lpstr>The IAP15W4K58S4 microcontroller integrates the following typical resources:</vt:lpstr>
      <vt:lpstr>The IAP15W4K58S4 microcontroller integrates the following typical resources：</vt:lpstr>
      <vt:lpstr>The central processing unit (CPU) consists of an arithmetic logic unit and a control unit</vt:lpstr>
      <vt:lpstr>Program Status Word (PSW) (8 bits)</vt:lpstr>
      <vt:lpstr>Program Status Word (PSW) (8 bits)</vt:lpstr>
      <vt:lpstr>Program Status Word (PSW) (8 bits)</vt:lpstr>
      <vt:lpstr>Controller</vt:lpstr>
      <vt:lpstr>Controller — Stack</vt:lpstr>
      <vt:lpstr>Broadcomm BCM2711</vt:lpstr>
      <vt:lpstr>4.3 Memory of IAP15W4K58S4 Microcontroller</vt:lpstr>
      <vt:lpstr>Data Memory</vt:lpstr>
      <vt:lpstr>Data Memory</vt:lpstr>
      <vt:lpstr>Working Register Banks</vt:lpstr>
      <vt:lpstr>User RAM and Stack Area</vt:lpstr>
      <vt:lpstr>Upper 128 Bytes of RAM and Special Function Registers</vt:lpstr>
      <vt:lpstr>Special Function Registers (SFRs)</vt:lpstr>
      <vt:lpstr> (2) on-chip expanded RAM(XRAM)</vt:lpstr>
      <vt:lpstr> (2) on-chip expanded RAM(XRAM)</vt:lpstr>
      <vt:lpstr> (2) on-chip expanded RAM(XRAM)</vt:lpstr>
      <vt:lpstr>4.4Microcontroller Pins</vt:lpstr>
      <vt:lpstr>4.4 Microcontroller Pins</vt:lpstr>
      <vt:lpstr>Microcontroller Pins and Functions</vt:lpstr>
      <vt:lpstr>Microcontroller Pins and Functions</vt:lpstr>
      <vt:lpstr>Broadcomm BCM2711</vt:lpstr>
      <vt:lpstr>Microcontroller Pins and Functions</vt:lpstr>
      <vt:lpstr>Minimum Functional Board</vt:lpstr>
      <vt:lpstr>Microcontroller Pins and Functions</vt:lpstr>
      <vt:lpstr>2. External Crystal Oscillator Pins</vt:lpstr>
      <vt:lpstr> 3. Control and Reset Pins</vt:lpstr>
      <vt:lpstr>(2) RST Pin</vt:lpstr>
      <vt:lpstr>Microcontroller Input/Output (I/O) Pins</vt:lpstr>
      <vt:lpstr>(1)Structure of the dual-directional (weak pull-up) working mode</vt:lpstr>
      <vt:lpstr>Structure of the dual-directional (weak pull-up) working mode</vt:lpstr>
      <vt:lpstr>Structure of the dual-directional (weak pull-up) working mode</vt:lpstr>
      <vt:lpstr>Structure of the dual-directional (weak pull-up) working mode</vt:lpstr>
      <vt:lpstr>Structure of the dual-directional (weak pull-up) working mode</vt:lpstr>
      <vt:lpstr>Structure of the dual-directional (weak pull-up) working mode</vt:lpstr>
      <vt:lpstr>Structure of the dual-directional (weak pull-up) working mode</vt:lpstr>
      <vt:lpstr>Structure of the dual-directional (weak pull-up) working mode</vt:lpstr>
      <vt:lpstr>Implementation of a simple keyboard interface</vt:lpstr>
      <vt:lpstr>PowerPoint 演示文稿</vt:lpstr>
      <vt:lpstr>(3) Pull current mode and push current mode</vt:lpstr>
      <vt:lpstr>(2) Architecture of push-pull output (strong pull-up output) operating mode</vt:lpstr>
      <vt:lpstr>(2) Architecture of push-pull output (strong pull-up output) operating mode</vt:lpstr>
      <vt:lpstr>(2) Architecture of push-pull output (strong pull-up output) operating mode</vt:lpstr>
      <vt:lpstr>2. Architecture of I/O ports in the IAP15W4K58S4 microcontroller</vt:lpstr>
      <vt:lpstr>External bus interface level conversion technology (supplement)</vt:lpstr>
      <vt:lpstr>External bus interface level conversion technology (supplement)</vt:lpstr>
      <vt:lpstr>2. Architecture of I/O ports in the IAP15W4K58S4 microcontroller</vt:lpstr>
      <vt:lpstr>(4) Structure of open drain output mode</vt:lpstr>
      <vt:lpstr>4. The use of I/O ports in IAP15W4K58S4 microcontroller</vt:lpstr>
      <vt:lpstr>(3)  Source Current Mode and Sink Current Mode</vt:lpstr>
      <vt:lpstr>(3)  Source Current Mode and Sink Current Mode</vt:lpstr>
      <vt:lpstr>(4) A Typical BJT Control Circuit</vt:lpstr>
      <vt:lpstr>(4) A Typical BJT Control Circuit</vt:lpstr>
      <vt:lpstr>1. Minimum System Composition of Single Chip Microcomputer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EE351 微机原理与微系统</dc:title>
  <dc:creator>Junmin JIANG</dc:creator>
  <cp:lastModifiedBy>Junmin Jiang</cp:lastModifiedBy>
  <cp:revision>185</cp:revision>
  <dcterms:created xsi:type="dcterms:W3CDTF">2021-09-01T03:33:00Z</dcterms:created>
  <dcterms:modified xsi:type="dcterms:W3CDTF">2025-11-11T16:34:33Z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9507AFEF0F4B4614AD9B4769E3EA59B4_13</vt:lpwstr>
  </property>
  <property fmtid="{D5CDD505-2E9C-101B-9397-08002B2CF9AE}" pid="3" name="KSOProductBuildVer">
    <vt:lpwstr>2052-12.1.0.23542</vt:lpwstr>
  </property>
</Properties>
</file>