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7"/>
  </p:notesMasterIdLst>
  <p:sldIdLst>
    <p:sldId id="891" r:id="rId2"/>
    <p:sldId id="710" r:id="rId3"/>
    <p:sldId id="338" r:id="rId4"/>
    <p:sldId id="824" r:id="rId5"/>
    <p:sldId id="823" r:id="rId6"/>
    <p:sldId id="360" r:id="rId7"/>
    <p:sldId id="364" r:id="rId8"/>
    <p:sldId id="365" r:id="rId9"/>
    <p:sldId id="679" r:id="rId10"/>
    <p:sldId id="366" r:id="rId11"/>
    <p:sldId id="722" r:id="rId12"/>
    <p:sldId id="723" r:id="rId13"/>
    <p:sldId id="890" r:id="rId14"/>
    <p:sldId id="889" r:id="rId15"/>
    <p:sldId id="367" r:id="rId16"/>
    <p:sldId id="368" r:id="rId17"/>
    <p:sldId id="369" r:id="rId18"/>
    <p:sldId id="681" r:id="rId19"/>
    <p:sldId id="371" r:id="rId20"/>
    <p:sldId id="682" r:id="rId21"/>
    <p:sldId id="713" r:id="rId22"/>
    <p:sldId id="373" r:id="rId23"/>
    <p:sldId id="375" r:id="rId24"/>
    <p:sldId id="376" r:id="rId25"/>
    <p:sldId id="378" r:id="rId26"/>
    <p:sldId id="379" r:id="rId27"/>
    <p:sldId id="807" r:id="rId28"/>
    <p:sldId id="381" r:id="rId29"/>
    <p:sldId id="383" r:id="rId30"/>
    <p:sldId id="384" r:id="rId31"/>
    <p:sldId id="385" r:id="rId32"/>
    <p:sldId id="386" r:id="rId33"/>
    <p:sldId id="388" r:id="rId34"/>
    <p:sldId id="389" r:id="rId35"/>
    <p:sldId id="390" r:id="rId36"/>
    <p:sldId id="354" r:id="rId37"/>
    <p:sldId id="391" r:id="rId38"/>
    <p:sldId id="393" r:id="rId39"/>
    <p:sldId id="394" r:id="rId40"/>
    <p:sldId id="396" r:id="rId41"/>
    <p:sldId id="397" r:id="rId42"/>
    <p:sldId id="398" r:id="rId43"/>
    <p:sldId id="399" r:id="rId44"/>
    <p:sldId id="808" r:id="rId45"/>
    <p:sldId id="352" r:id="rId46"/>
    <p:sldId id="355" r:id="rId47"/>
    <p:sldId id="883" r:id="rId48"/>
    <p:sldId id="512" r:id="rId49"/>
    <p:sldId id="514" r:id="rId50"/>
    <p:sldId id="516" r:id="rId51"/>
    <p:sldId id="864" r:id="rId52"/>
    <p:sldId id="863" r:id="rId53"/>
    <p:sldId id="517" r:id="rId54"/>
    <p:sldId id="520" r:id="rId55"/>
    <p:sldId id="862" r:id="rId56"/>
    <p:sldId id="521" r:id="rId57"/>
    <p:sldId id="693" r:id="rId58"/>
    <p:sldId id="694" r:id="rId59"/>
    <p:sldId id="526" r:id="rId60"/>
    <p:sldId id="527" r:id="rId61"/>
    <p:sldId id="528" r:id="rId62"/>
    <p:sldId id="530" r:id="rId63"/>
    <p:sldId id="532" r:id="rId64"/>
    <p:sldId id="357" r:id="rId65"/>
    <p:sldId id="885" r:id="rId66"/>
    <p:sldId id="535" r:id="rId67"/>
    <p:sldId id="536" r:id="rId68"/>
    <p:sldId id="537" r:id="rId69"/>
    <p:sldId id="699" r:id="rId70"/>
    <p:sldId id="700" r:id="rId71"/>
    <p:sldId id="697" r:id="rId72"/>
    <p:sldId id="886" r:id="rId73"/>
    <p:sldId id="544" r:id="rId74"/>
    <p:sldId id="702" r:id="rId75"/>
    <p:sldId id="887" r:id="rId76"/>
    <p:sldId id="547" r:id="rId77"/>
    <p:sldId id="548" r:id="rId78"/>
    <p:sldId id="551" r:id="rId79"/>
    <p:sldId id="554" r:id="rId80"/>
    <p:sldId id="860" r:id="rId81"/>
    <p:sldId id="826" r:id="rId82"/>
    <p:sldId id="827" r:id="rId83"/>
    <p:sldId id="829" r:id="rId84"/>
    <p:sldId id="888" r:id="rId85"/>
    <p:sldId id="358" r:id="rId8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刘 智杰" initials="刘" lastIdx="2" clrIdx="0"/>
  <p:cmAuthor id="2" name="Junmin JIANG" initials="JJ" lastIdx="1" clrIdx="1"/>
  <p:cmAuthor id="3" name="沛栋 曾" initials="沛曾"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9900CC"/>
    <a:srgbClr val="FF00FF"/>
    <a:srgbClr val="66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844" autoAdjust="0"/>
    <p:restoredTop sz="94660"/>
  </p:normalViewPr>
  <p:slideViewPr>
    <p:cSldViewPr snapToGrid="0">
      <p:cViewPr varScale="1">
        <p:scale>
          <a:sx n="88" d="100"/>
          <a:sy n="88" d="100"/>
        </p:scale>
        <p:origin x="66" y="14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628296-B209-4162-AF4A-E323FDC1A48F}" type="datetimeFigureOut">
              <a:rPr lang="zh-CN" altLang="en-US" smtClean="0"/>
              <a:t>2025/11/12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6006A0-4049-417E-9E0D-DFA905CF9D1E}"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ChangeArrowheads="1" noTextEdit="1"/>
          </p:cNvSpPr>
          <p:nvPr>
            <p:ph type="sldImg"/>
          </p:nvPr>
        </p:nvSpPr>
        <p:spPr/>
      </p:sp>
      <p:sp>
        <p:nvSpPr>
          <p:cNvPr id="358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584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a:fld id="{D8B65CEB-672A-40F3-8FD2-9B4AAC932D99}" type="slidenum">
              <a:rPr lang="en-US" altLang="zh-CN"/>
              <a:t>16</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4000" spc="-50" baseline="0">
                <a:solidFill>
                  <a:schemeClr val="tx1">
                    <a:lumMod val="85000"/>
                    <a:lumOff val="15000"/>
                  </a:schemeClr>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893A0FC-344A-4C12-857C-6C27CF4D5C67}" type="datetime1">
              <a:rPr lang="zh-CN" altLang="en-US" smtClean="0"/>
              <a:t>2025/11/12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2FA96756-D0E4-4CBD-89B7-6A6AA37382AC}" type="datetime1">
              <a:rPr lang="zh-CN" altLang="en-US" smtClean="0"/>
              <a:t>2025/11/12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4000" b="0">
                <a:solidFill>
                  <a:schemeClr val="tx1">
                    <a:lumMod val="85000"/>
                    <a:lumOff val="15000"/>
                  </a:schemeClr>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12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5CA94BD8-C20F-45DE-A952-55E0C10211D5}" type="datetime1">
              <a:rPr lang="zh-CN" altLang="en-US" smtClean="0"/>
              <a:t>2025/11/12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840145"/>
          </a:xfrm>
        </p:spPr>
        <p:txBody>
          <a:bodyPr/>
          <a:lstStyle/>
          <a:p>
            <a:r>
              <a:rPr lang="zh-CN" altLang="en-US" dirty="0"/>
              <a:t>单击此处编辑母版标题样式</a:t>
            </a:r>
            <a:endParaRPr lang="en-US" dirty="0"/>
          </a:p>
        </p:txBody>
      </p:sp>
      <p:sp>
        <p:nvSpPr>
          <p:cNvPr id="3" name="Content Placeholder 2"/>
          <p:cNvSpPr>
            <a:spLocks noGrp="1"/>
          </p:cNvSpPr>
          <p:nvPr>
            <p:ph sz="half" idx="1"/>
          </p:nvPr>
        </p:nvSpPr>
        <p:spPr>
          <a:xfrm>
            <a:off x="822960" y="1347765"/>
            <a:ext cx="3703320" cy="4521329"/>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Content Placeholder 3"/>
          <p:cNvSpPr>
            <a:spLocks noGrp="1"/>
          </p:cNvSpPr>
          <p:nvPr>
            <p:ph sz="half" idx="2"/>
          </p:nvPr>
        </p:nvSpPr>
        <p:spPr>
          <a:xfrm>
            <a:off x="4663440" y="1347766"/>
            <a:ext cx="3703320" cy="4521330"/>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5" name="Date Placeholder 4"/>
          <p:cNvSpPr>
            <a:spLocks noGrp="1"/>
          </p:cNvSpPr>
          <p:nvPr>
            <p:ph type="dt" sz="half" idx="10"/>
          </p:nvPr>
        </p:nvSpPr>
        <p:spPr/>
        <p:txBody>
          <a:bodyPr/>
          <a:lstStyle/>
          <a:p>
            <a:fld id="{902D9A2D-8619-46E9-B201-6E00D1E785FD}" type="datetime1">
              <a:rPr lang="zh-CN" altLang="en-US" smtClean="0"/>
              <a:t>2025/11/12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2E77DEE-32E4-4009-988B-F2758F7B8AC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1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22960" y="2582334"/>
            <a:ext cx="3703320" cy="32867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1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63440" y="2582334"/>
            <a:ext cx="3703320" cy="32867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38E14678-0F7B-4461-B47A-81865DB4C5F9}" type="datetime1">
              <a:rPr lang="zh-CN" altLang="en-US" smtClean="0"/>
              <a:t>2025/11/12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2E77DEE-32E4-4009-988B-F2758F7B8AC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7665745-4BBD-4180-AEF0-8A737271398F}" type="datetime1">
              <a:rPr lang="zh-CN" altLang="en-US" smtClean="0"/>
              <a:t>2025/11/12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2E77DEE-32E4-4009-988B-F2758F7B8AC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80D3160-ECCC-4956-873E-4C10FD69456C}" type="datetime1">
              <a:rPr lang="zh-CN" altLang="en-US" smtClean="0"/>
              <a:t>2025/11/12</a:t>
            </a:fld>
            <a:endParaRPr lang="zh-CN"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CN" altLang="en-US"/>
          </a:p>
        </p:txBody>
      </p:sp>
      <p:sp>
        <p:nvSpPr>
          <p:cNvPr id="9" name="Slide Number Placeholder 8"/>
          <p:cNvSpPr>
            <a:spLocks noGrp="1"/>
          </p:cNvSpPr>
          <p:nvPr>
            <p:ph type="sldNum" sz="quarter" idx="12"/>
          </p:nvPr>
        </p:nvSpPr>
        <p:spPr/>
        <p:txBody>
          <a:bodyPr/>
          <a:lstStyle/>
          <a:p>
            <a:fld id="{22E77DEE-32E4-4009-988B-F2758F7B8AC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1800" b="0">
                <a:solidFill>
                  <a:srgbClr val="FFFFFF"/>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75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3934C462-56A3-454B-B6E9-DEFC42ED9B28}" type="datetime1">
              <a:rPr lang="zh-CN" altLang="en-US" smtClean="0"/>
              <a:t>2025/11/12</a:t>
            </a:fld>
            <a:endParaRPr lang="zh-CN" alt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zh-CN"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2E77DEE-32E4-4009-988B-F2758F7B8AC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1800" b="0">
                <a:solidFill>
                  <a:srgbClr val="FFFFFF"/>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75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F5F86E84-0BB9-4B07-9FD0-366620EAA6E9}" type="datetime1">
              <a:rPr lang="zh-CN" altLang="en-US" smtClean="0"/>
              <a:t>2025/11/12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2E77DEE-32E4-4009-988B-F2758F7B8AC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D49D0D6-3A9D-42BE-878D-FC0788EE4957}" type="datetime1">
              <a:rPr lang="zh-CN" altLang="en-US" smtClean="0"/>
              <a:t>2025/11/12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DFB6206-8DBB-427A-973A-40D9982B27FA}" type="datetime1">
              <a:rPr lang="zh-CN" altLang="en-US" smtClean="0"/>
              <a:t>2025/11/12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Title Placeholder 1"/>
          <p:cNvSpPr>
            <a:spLocks noGrp="1"/>
          </p:cNvSpPr>
          <p:nvPr>
            <p:ph type="title"/>
          </p:nvPr>
        </p:nvSpPr>
        <p:spPr>
          <a:xfrm>
            <a:off x="822960" y="286605"/>
            <a:ext cx="7543800" cy="831478"/>
          </a:xfrm>
          <a:prstGeom prst="rect">
            <a:avLst/>
          </a:prstGeom>
        </p:spPr>
        <p:txBody>
          <a:bodyPr vert="horz" lIns="91440" tIns="45720" rIns="91440" bIns="45720" rtlCol="0" anchor="b">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22959" y="1230759"/>
            <a:ext cx="7543801" cy="4638335"/>
          </a:xfrm>
          <a:prstGeom prst="rect">
            <a:avLst/>
          </a:prstGeom>
        </p:spPr>
        <p:txBody>
          <a:bodyPr vert="horz" lIns="0" tIns="45720" rIns="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1B3A5F46-F82B-4EB4-AB00-15C2265F6BD6}" type="datetime1">
              <a:rPr lang="zh-CN" altLang="en-US" smtClean="0"/>
              <a:t>2025/11/12</a:t>
            </a:fld>
            <a:endParaRPr lang="zh-CN" alt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22E77DEE-32E4-4009-988B-F2758F7B8AC2}" type="slidenum">
              <a:rPr lang="zh-CN" altLang="en-US" smtClean="0"/>
              <a:t>‹#›</a:t>
            </a:fld>
            <a:endParaRPr lang="zh-CN" altLang="en-US"/>
          </a:p>
        </p:txBody>
      </p:sp>
      <p:cxnSp>
        <p:nvCxnSpPr>
          <p:cNvPr id="10" name="Straight Connector 9"/>
          <p:cNvCxnSpPr/>
          <p:nvPr/>
        </p:nvCxnSpPr>
        <p:spPr>
          <a:xfrm>
            <a:off x="834478" y="1126802"/>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slide" Target="slide5.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image" Target="../media/image8.tif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20.emf"/><Relationship Id="rId4" Type="http://schemas.openxmlformats.org/officeDocument/2006/relationships/oleObject" Target="../embeddings/oleObject2.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slide" Target="slide5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 Target="slide55.xml"/><Relationship Id="rId1" Type="http://schemas.openxmlformats.org/officeDocument/2006/relationships/slideLayout" Target="../slideLayouts/slideLayout2.xml"/><Relationship Id="rId4" Type="http://schemas.openxmlformats.org/officeDocument/2006/relationships/image" Target="../media/image22.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 Target="slide5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2.emf"/></Relationships>
</file>

<file path=ppt/slides/_rels/slide39.xml.rels><?xml version="1.0" encoding="UTF-8" standalone="yes"?>
<Relationships xmlns="http://schemas.openxmlformats.org/package/2006/relationships"><Relationship Id="rId2" Type="http://schemas.openxmlformats.org/officeDocument/2006/relationships/slide" Target="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 Target="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slide" Target="slide4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27.wmf"/><Relationship Id="rId4" Type="http://schemas.openxmlformats.org/officeDocument/2006/relationships/oleObject" Target="../embeddings/oleObject5.bin"/></Relationships>
</file>

<file path=ppt/slides/_rels/slide54.xml.rels><?xml version="1.0" encoding="UTF-8" standalone="yes"?>
<Relationships xmlns="http://schemas.openxmlformats.org/package/2006/relationships"><Relationship Id="rId2" Type="http://schemas.openxmlformats.org/officeDocument/2006/relationships/hyperlink" Target="http://www.stcmcu.com/"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2.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oleObject" Target="../embeddings/oleObject6.bin"/><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slide" Target="slide62.xml"/><Relationship Id="rId4" Type="http://schemas.openxmlformats.org/officeDocument/2006/relationships/image" Target="../media/image30.png"/></Relationships>
</file>

<file path=ppt/slides/_rels/slide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2.emf"/></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8.bin"/><Relationship Id="rId7" Type="http://schemas.openxmlformats.org/officeDocument/2006/relationships/slide" Target="slide43.xml"/><Relationship Id="rId2" Type="http://schemas.openxmlformats.org/officeDocument/2006/relationships/slide" Target="slide37.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33.emf"/></Relationships>
</file>

<file path=ppt/slides/_rels/slide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9.bin"/><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slide" Target="slide78.xml"/><Relationship Id="rId5" Type="http://schemas.openxmlformats.org/officeDocument/2006/relationships/slide" Target="slide77.xml"/><Relationship Id="rId4" Type="http://schemas.openxmlformats.org/officeDocument/2006/relationships/image" Target="../media/image35.png"/></Relationships>
</file>

<file path=ppt/slides/_rels/slide74.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image" Target="../media/image36.emf"/><Relationship Id="rId7" Type="http://schemas.openxmlformats.org/officeDocument/2006/relationships/image" Target="../media/image38.wmf"/><Relationship Id="rId2" Type="http://schemas.openxmlformats.org/officeDocument/2006/relationships/oleObject" Target="../embeddings/oleObject10.bin"/><Relationship Id="rId1" Type="http://schemas.openxmlformats.org/officeDocument/2006/relationships/slideLayout" Target="../slideLayouts/slideLayout2.xml"/><Relationship Id="rId6" Type="http://schemas.openxmlformats.org/officeDocument/2006/relationships/oleObject" Target="../embeddings/oleObject12.bin"/><Relationship Id="rId5" Type="http://schemas.openxmlformats.org/officeDocument/2006/relationships/image" Target="../media/image37.wmf"/><Relationship Id="rId4" Type="http://schemas.openxmlformats.org/officeDocument/2006/relationships/oleObject" Target="../embeddings/oleObject11.bin"/><Relationship Id="rId9" Type="http://schemas.openxmlformats.org/officeDocument/2006/relationships/image" Target="../media/image39.wmf"/></Relationships>
</file>

<file path=ppt/slides/_rels/slide7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8" Type="http://schemas.openxmlformats.org/officeDocument/2006/relationships/image" Target="../media/image41.emf"/><Relationship Id="rId3" Type="http://schemas.openxmlformats.org/officeDocument/2006/relationships/image" Target="../media/image4.png"/><Relationship Id="rId7" Type="http://schemas.openxmlformats.org/officeDocument/2006/relationships/oleObject" Target="../embeddings/oleObject14.bin"/><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slide" Target="slide78.xml"/><Relationship Id="rId5" Type="http://schemas.openxmlformats.org/officeDocument/2006/relationships/image" Target="../media/image42.wmf"/><Relationship Id="rId4" Type="http://schemas.openxmlformats.org/officeDocument/2006/relationships/oleObject" Target="../embeddings/oleObject15.bin"/></Relationships>
</file>

<file path=ppt/slides/_rels/slide78.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oleObject" Target="../embeddings/oleObject7.bin"/><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jpeg"/><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image" Target="../media/image45.wmf"/><Relationship Id="rId4" Type="http://schemas.openxmlformats.org/officeDocument/2006/relationships/oleObject" Target="../embeddings/oleObject16.bin"/></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8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2E77DEE-32E4-4009-988B-F2758F7B8AC2}" type="slidenum">
              <a:rPr lang="zh-CN" altLang="en-US" smtClean="0"/>
              <a:t>1</a:t>
            </a:fld>
            <a:endParaRPr lang="zh-CN" altLang="en-US"/>
          </a:p>
        </p:txBody>
      </p:sp>
      <p:sp>
        <p:nvSpPr>
          <p:cNvPr id="11" name="标题 10"/>
          <p:cNvSpPr>
            <a:spLocks noGrp="1"/>
          </p:cNvSpPr>
          <p:nvPr>
            <p:ph type="ctrTitle"/>
          </p:nvPr>
        </p:nvSpPr>
        <p:spPr>
          <a:xfrm>
            <a:off x="818515" y="1493647"/>
            <a:ext cx="7543800" cy="2569464"/>
          </a:xfrm>
        </p:spPr>
        <p:txBody>
          <a:bodyPr>
            <a:normAutofit fontScale="90000"/>
          </a:bodyPr>
          <a:lstStyle/>
          <a:p>
            <a:pPr algn="ctr"/>
            <a:br>
              <a:rPr lang="en-US" altLang="zh-CN" sz="6000" dirty="0"/>
            </a:br>
            <a:r>
              <a:rPr lang="en-US" altLang="zh-CN" sz="6000" dirty="0"/>
              <a:t>EE351</a:t>
            </a:r>
            <a:br>
              <a:rPr lang="en-US" altLang="zh-CN" sz="6000" dirty="0"/>
            </a:br>
            <a:r>
              <a:rPr lang="en-US" altLang="zh-CN" sz="6000" dirty="0"/>
              <a:t>Microcomputer and Microsystems</a:t>
            </a:r>
            <a:endParaRPr lang="zh-CN" altLang="en-US" sz="6000" dirty="0"/>
          </a:p>
        </p:txBody>
      </p:sp>
      <p:sp>
        <p:nvSpPr>
          <p:cNvPr id="12" name="副标题 11"/>
          <p:cNvSpPr>
            <a:spLocks noGrp="1"/>
          </p:cNvSpPr>
          <p:nvPr>
            <p:ph type="subTitle" idx="1"/>
          </p:nvPr>
        </p:nvSpPr>
        <p:spPr>
          <a:xfrm>
            <a:off x="915035" y="5257372"/>
            <a:ext cx="7543800" cy="1143000"/>
          </a:xfrm>
        </p:spPr>
        <p:txBody>
          <a:bodyPr>
            <a:normAutofit fontScale="92500" lnSpcReduction="10000"/>
          </a:bodyPr>
          <a:lstStyle/>
          <a:p>
            <a:pPr algn="ctr"/>
            <a:r>
              <a:rPr lang="en-US" altLang="zh-CN" dirty="0" err="1"/>
              <a:t>Junmin</a:t>
            </a:r>
            <a:r>
              <a:rPr lang="en-US" altLang="zh-CN" dirty="0"/>
              <a:t> Jiang</a:t>
            </a:r>
          </a:p>
          <a:p>
            <a:pPr algn="ctr"/>
            <a:r>
              <a:rPr lang="en-US" altLang="zh-CN" dirty="0"/>
              <a:t>Department</a:t>
            </a:r>
            <a:r>
              <a:rPr lang="zh-CN" altLang="en-US" dirty="0"/>
              <a:t> </a:t>
            </a:r>
            <a:r>
              <a:rPr lang="en-US" altLang="zh-CN" dirty="0"/>
              <a:t>of</a:t>
            </a:r>
            <a:r>
              <a:rPr lang="zh-CN" altLang="en-US" dirty="0"/>
              <a:t> </a:t>
            </a:r>
            <a:r>
              <a:rPr lang="en-US" altLang="zh-CN" dirty="0"/>
              <a:t>electronic</a:t>
            </a:r>
            <a:r>
              <a:rPr lang="zh-CN" altLang="en-US" dirty="0"/>
              <a:t> </a:t>
            </a:r>
            <a:r>
              <a:rPr lang="en-US" altLang="zh-CN" dirty="0"/>
              <a:t>and</a:t>
            </a:r>
            <a:r>
              <a:rPr lang="zh-CN" altLang="en-US" dirty="0"/>
              <a:t> </a:t>
            </a:r>
            <a:r>
              <a:rPr lang="en-US" altLang="zh-CN" dirty="0"/>
              <a:t>electrical</a:t>
            </a:r>
            <a:r>
              <a:rPr lang="zh-CN" altLang="en-US" dirty="0"/>
              <a:t> </a:t>
            </a:r>
            <a:r>
              <a:rPr lang="en-US" altLang="zh-CN" dirty="0"/>
              <a:t>engineering</a:t>
            </a:r>
            <a:endParaRPr lang="zh-CN" altLang="en-US" dirty="0"/>
          </a:p>
        </p:txBody>
      </p:sp>
      <p:sp>
        <p:nvSpPr>
          <p:cNvPr id="13" name="标题 1"/>
          <p:cNvSpPr>
            <a:spLocks noGrp="1"/>
          </p:cNvSpPr>
          <p:nvPr/>
        </p:nvSpPr>
        <p:spPr>
          <a:xfrm>
            <a:off x="743857" y="802786"/>
            <a:ext cx="7886700" cy="624911"/>
          </a:xfrm>
          <a:prstGeom prst="rect">
            <a:avLst/>
          </a:prstGeom>
        </p:spPr>
        <p:txBody>
          <a:bodyPr vert="horz" lIns="91440" tIns="45720" rIns="91440" bIns="45720" rtlCol="0" anchor="b">
            <a:normAutofit fontScale="95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altLang="zh-CN" sz="4000" dirty="0">
                <a:solidFill>
                  <a:schemeClr val="tx1">
                    <a:lumMod val="75000"/>
                    <a:lumOff val="25000"/>
                  </a:schemeClr>
                </a:solidFill>
                <a:latin typeface="+mj-ea"/>
                <a:cs typeface="+mj-cs"/>
              </a:rPr>
              <a:t>2025</a:t>
            </a:r>
            <a:r>
              <a:rPr lang="zh-CN" altLang="en-US" sz="4000" dirty="0">
                <a:solidFill>
                  <a:schemeClr val="tx1">
                    <a:lumMod val="75000"/>
                    <a:lumOff val="25000"/>
                  </a:schemeClr>
                </a:solidFill>
                <a:latin typeface="+mj-ea"/>
                <a:cs typeface="+mj-cs"/>
              </a:rPr>
              <a:t>秋 </a:t>
            </a:r>
            <a:r>
              <a:rPr lang="en-US" altLang="zh-CN" sz="4000" dirty="0">
                <a:solidFill>
                  <a:schemeClr val="tx1">
                    <a:lumMod val="75000"/>
                    <a:lumOff val="25000"/>
                  </a:schemeClr>
                </a:solidFill>
                <a:latin typeface="+mj-ea"/>
                <a:cs typeface="+mj-cs"/>
              </a:rPr>
              <a:t>EE351《</a:t>
            </a:r>
            <a:r>
              <a:rPr lang="zh-CN" altLang="en-US" sz="4000" dirty="0">
                <a:solidFill>
                  <a:schemeClr val="tx1">
                    <a:lumMod val="75000"/>
                    <a:lumOff val="25000"/>
                  </a:schemeClr>
                </a:solidFill>
                <a:latin typeface="+mj-ea"/>
                <a:cs typeface="+mj-cs"/>
              </a:rPr>
              <a:t>微机原理与微系统</a:t>
            </a:r>
            <a:r>
              <a:rPr lang="en-US" altLang="zh-CN" sz="4000" dirty="0">
                <a:solidFill>
                  <a:schemeClr val="tx1">
                    <a:lumMod val="75000"/>
                    <a:lumOff val="25000"/>
                  </a:schemeClr>
                </a:solidFill>
                <a:latin typeface="+mj-ea"/>
                <a:cs typeface="+mj-cs"/>
              </a:rPr>
              <a:t>》</a:t>
            </a:r>
          </a:p>
        </p:txBody>
      </p:sp>
      <p:sp>
        <p:nvSpPr>
          <p:cNvPr id="14" name="副标题 2"/>
          <p:cNvSpPr>
            <a:spLocks noGrp="1"/>
          </p:cNvSpPr>
          <p:nvPr/>
        </p:nvSpPr>
        <p:spPr>
          <a:xfrm>
            <a:off x="857885" y="4378532"/>
            <a:ext cx="7543800" cy="11430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anose="020F0502020204030204"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anose="020F0502020204030204"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anose="020F0502020204030204"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anose="020F0502020204030204"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anose="020F0502020204030204"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anose="020F0502020204030204"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anose="020F0502020204030204"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anose="020F0502020204030204" pitchFamily="34" charset="0"/>
              <a:buNone/>
              <a:defRPr sz="2000" kern="1200">
                <a:solidFill>
                  <a:schemeClr val="tx1">
                    <a:lumMod val="75000"/>
                    <a:lumOff val="25000"/>
                  </a:schemeClr>
                </a:solidFill>
                <a:latin typeface="+mn-lt"/>
                <a:ea typeface="+mn-ea"/>
                <a:cs typeface="+mn-cs"/>
              </a:defRPr>
            </a:lvl9pPr>
          </a:lstStyle>
          <a:p>
            <a:pPr algn="ctr"/>
            <a:r>
              <a:rPr lang="zh-CN" altLang="en-US" dirty="0"/>
              <a:t>姜俊敏</a:t>
            </a:r>
            <a:endParaRPr lang="en-US" altLang="zh-CN" dirty="0"/>
          </a:p>
          <a:p>
            <a:pPr algn="ctr"/>
            <a:r>
              <a:rPr lang="zh-CN" altLang="en-US" dirty="0"/>
              <a:t>电子与电子工程系</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2"/>
          <p:cNvSpPr>
            <a:spLocks noGrp="1" noChangeArrowheads="1"/>
          </p:cNvSpPr>
          <p:nvPr>
            <p:ph type="title"/>
          </p:nvPr>
        </p:nvSpPr>
        <p:spPr>
          <a:xfrm>
            <a:off x="625249" y="500064"/>
            <a:ext cx="8285421" cy="504825"/>
          </a:xfrm>
        </p:spPr>
        <p:txBody>
          <a:bodyPr vert="horz" lIns="91440" tIns="45720" rIns="91440" bIns="45720" rtlCol="0" anchor="b">
            <a:noAutofit/>
          </a:bodyPr>
          <a:lstStyle/>
          <a:p>
            <a:r>
              <a:rPr lang="zh-CN" altLang="en-US" sz="3600" dirty="0">
                <a:cs typeface="Arial" panose="020B0604020202020204" pitchFamily="34" charset="0"/>
              </a:rPr>
              <a:t>Chapter 5 Data Communication and Bus</a:t>
            </a:r>
          </a:p>
        </p:txBody>
      </p:sp>
      <p:sp>
        <p:nvSpPr>
          <p:cNvPr id="175107" name="Rectangle 3"/>
          <p:cNvSpPr>
            <a:spLocks noGrp="1" noChangeArrowheads="1"/>
          </p:cNvSpPr>
          <p:nvPr>
            <p:ph idx="1"/>
          </p:nvPr>
        </p:nvSpPr>
        <p:spPr>
          <a:xfrm>
            <a:off x="203200" y="1204913"/>
            <a:ext cx="8780463" cy="4730750"/>
          </a:xfrm>
        </p:spPr>
        <p:txBody>
          <a:bodyPr>
            <a:normAutofit/>
          </a:bodyPr>
          <a:lstStyle/>
          <a:p>
            <a:pPr algn="ctr" eaLnBrk="1" hangingPunct="1">
              <a:lnSpc>
                <a:spcPct val="124000"/>
              </a:lnSpc>
              <a:spcAft>
                <a:spcPts val="1800"/>
              </a:spcAft>
              <a:buFontTx/>
              <a:buNone/>
            </a:pPr>
            <a:r>
              <a:rPr lang="zh-CN" altLang="en-US" sz="2800" dirty="0">
                <a:cs typeface="Arial" panose="020B0604020202020204" pitchFamily="34" charset="0"/>
              </a:rPr>
              <a:t>Chapter Learning Objectives</a:t>
            </a:r>
          </a:p>
          <a:p>
            <a:pPr>
              <a:lnSpc>
                <a:spcPct val="124000"/>
              </a:lnSpc>
            </a:pPr>
            <a:r>
              <a:rPr lang="en-US" altLang="zh-CN" sz="2400" dirty="0">
                <a:cs typeface="Arial" panose="020B0604020202020204" pitchFamily="34" charset="0"/>
              </a:rPr>
              <a:t>5.1.1 Concepts relating to communications</a:t>
            </a:r>
          </a:p>
          <a:p>
            <a:pPr>
              <a:lnSpc>
                <a:spcPct val="124000"/>
              </a:lnSpc>
            </a:pPr>
            <a:r>
              <a:rPr lang="en-US" altLang="zh-CN" sz="2400" dirty="0">
                <a:cs typeface="Arial" panose="020B0604020202020204" pitchFamily="34" charset="0"/>
              </a:rPr>
              <a:t>5.2 Serial Interface</a:t>
            </a:r>
          </a:p>
          <a:p>
            <a:pPr>
              <a:lnSpc>
                <a:spcPct val="124000"/>
              </a:lnSpc>
            </a:pPr>
            <a:r>
              <a:rPr lang="en-US" altLang="zh-CN" sz="2400" dirty="0">
                <a:cs typeface="Arial" panose="020B0604020202020204" pitchFamily="34" charset="0"/>
              </a:rPr>
              <a:t>5.3 Using the Parallel Bus Interface</a:t>
            </a:r>
            <a:endParaRPr lang="zh-CN" altLang="en-US" sz="2400" dirty="0">
              <a:cs typeface="Arial" panose="020B0604020202020204" pitchFamily="34" charset="0"/>
            </a:endParaRPr>
          </a:p>
        </p:txBody>
      </p:sp>
      <p:sp>
        <p:nvSpPr>
          <p:cNvPr id="3" name="灯片编号占位符 2"/>
          <p:cNvSpPr>
            <a:spLocks noGrp="1"/>
          </p:cNvSpPr>
          <p:nvPr>
            <p:ph type="sldNum" sz="quarter" idx="12"/>
          </p:nvPr>
        </p:nvSpPr>
        <p:spPr/>
        <p:txBody>
          <a:bodyPr/>
          <a:lstStyle/>
          <a:p>
            <a:fld id="{22E77DEE-32E4-4009-988B-F2758F7B8AC2}" type="slidenum">
              <a:rPr lang="zh-CN" altLang="en-US" smtClean="0"/>
              <a:t>2</a:t>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6" descr="6t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454" y="3515998"/>
            <a:ext cx="7070235" cy="2563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1" name="Rectangle 2"/>
          <p:cNvSpPr>
            <a:spLocks noGrp="1" noChangeArrowheads="1"/>
          </p:cNvSpPr>
          <p:nvPr>
            <p:ph type="title"/>
          </p:nvPr>
        </p:nvSpPr>
        <p:spPr>
          <a:xfrm>
            <a:off x="822959" y="286605"/>
            <a:ext cx="7797625" cy="831478"/>
          </a:xfrm>
        </p:spPr>
        <p:txBody>
          <a:bodyPr>
            <a:noAutofit/>
          </a:bodyPr>
          <a:lstStyle/>
          <a:p>
            <a:pPr eaLnBrk="1" hangingPunct="1"/>
            <a:r>
              <a:rPr lang="en-US" altLang="zh-CN" sz="3600" b="0" dirty="0">
                <a:ea typeface="隶书" panose="02010509060101010101" pitchFamily="49" charset="-122"/>
              </a:rPr>
              <a:t>1</a:t>
            </a:r>
            <a:r>
              <a:rPr lang="en-US" altLang="zh-CN" sz="3600" dirty="0">
                <a:ea typeface="隶书" panose="02010509060101010101" pitchFamily="49" charset="-122"/>
                <a:cs typeface="Arial" panose="020B0604020202020204" pitchFamily="34" charset="0"/>
              </a:rPr>
              <a:t>.</a:t>
            </a:r>
            <a:r>
              <a:rPr lang="en-US" altLang="zh-CN" sz="3600" b="0" dirty="0">
                <a:ea typeface="隶书" panose="02010509060101010101" pitchFamily="49" charset="-122"/>
                <a:cs typeface="Arial" panose="020B0604020202020204" pitchFamily="34" charset="0"/>
              </a:rPr>
              <a:t>Concepts related to communication</a:t>
            </a:r>
            <a:endParaRPr lang="zh-CN" altLang="en-US" sz="3600" b="0" dirty="0">
              <a:ea typeface="隶书" panose="02010509060101010101" pitchFamily="49" charset="-122"/>
              <a:cs typeface="Arial" panose="020B0604020202020204" pitchFamily="34" charset="0"/>
            </a:endParaRPr>
          </a:p>
        </p:txBody>
      </p:sp>
      <p:sp>
        <p:nvSpPr>
          <p:cNvPr id="176131" name="Rectangle 3"/>
          <p:cNvSpPr>
            <a:spLocks noGrp="1" noChangeArrowheads="1"/>
          </p:cNvSpPr>
          <p:nvPr>
            <p:ph idx="1"/>
          </p:nvPr>
        </p:nvSpPr>
        <p:spPr>
          <a:xfrm>
            <a:off x="844723" y="1220437"/>
            <a:ext cx="8248477" cy="890587"/>
          </a:xfrm>
        </p:spPr>
        <p:txBody>
          <a:bodyPr>
            <a:normAutofit lnSpcReduction="10000"/>
          </a:bodyPr>
          <a:lstStyle/>
          <a:p>
            <a:pPr eaLnBrk="1" hangingPunct="1">
              <a:lnSpc>
                <a:spcPct val="101000"/>
              </a:lnSpc>
              <a:spcBef>
                <a:spcPct val="0"/>
              </a:spcBef>
              <a:spcAft>
                <a:spcPts val="200"/>
              </a:spcAft>
              <a:buFontTx/>
              <a:buNone/>
            </a:pPr>
            <a:r>
              <a:rPr lang="zh-CN" altLang="en-US" sz="1800" dirty="0">
                <a:solidFill>
                  <a:srgbClr val="FF0000"/>
                </a:solidFill>
                <a:cs typeface="Arial" panose="020B0604020202020204" pitchFamily="34" charset="0"/>
              </a:rPr>
              <a:t>Communication</a:t>
            </a:r>
            <a:r>
              <a:rPr lang="zh-CN" altLang="en-US" sz="1800" dirty="0">
                <a:cs typeface="Arial" panose="020B0604020202020204" pitchFamily="34" charset="0"/>
              </a:rPr>
              <a:t>: The exchange of information between the CPU and external devices, as well as between computers.</a:t>
            </a:r>
          </a:p>
          <a:p>
            <a:pPr eaLnBrk="1" hangingPunct="1">
              <a:lnSpc>
                <a:spcPct val="101000"/>
              </a:lnSpc>
              <a:spcBef>
                <a:spcPct val="0"/>
              </a:spcBef>
              <a:spcAft>
                <a:spcPts val="200"/>
              </a:spcAft>
              <a:buFontTx/>
              <a:buNone/>
            </a:pPr>
            <a:r>
              <a:rPr lang="zh-CN" altLang="en-US" sz="1800" dirty="0">
                <a:solidFill>
                  <a:srgbClr val="FF0000"/>
                </a:solidFill>
                <a:cs typeface="Arial" panose="020B0604020202020204" pitchFamily="34" charset="0"/>
              </a:rPr>
              <a:t>Communication types</a:t>
            </a:r>
            <a:r>
              <a:rPr lang="zh-CN" altLang="en-US" sz="1800" dirty="0">
                <a:cs typeface="Arial" panose="020B0604020202020204" pitchFamily="34" charset="0"/>
              </a:rPr>
              <a:t>: </a:t>
            </a:r>
            <a:r>
              <a:rPr lang="zh-CN" altLang="en-US" sz="1800" dirty="0">
                <a:solidFill>
                  <a:srgbClr val="3333FF"/>
                </a:solidFill>
                <a:cs typeface="Arial" panose="020B0604020202020204" pitchFamily="34" charset="0"/>
              </a:rPr>
              <a:t>parallel</a:t>
            </a:r>
            <a:r>
              <a:rPr lang="zh-CN" altLang="en-US" sz="900" dirty="0">
                <a:solidFill>
                  <a:srgbClr val="FF0000"/>
                </a:solidFill>
                <a:cs typeface="Arial" panose="020B0604020202020204" pitchFamily="34" charset="0"/>
              </a:rPr>
              <a:t> </a:t>
            </a:r>
            <a:r>
              <a:rPr lang="zh-CN" altLang="en-US" sz="1800" dirty="0">
                <a:cs typeface="Arial" panose="020B0604020202020204" pitchFamily="34" charset="0"/>
              </a:rPr>
              <a:t>and</a:t>
            </a:r>
            <a:r>
              <a:rPr lang="zh-CN" altLang="en-US" sz="900" dirty="0">
                <a:solidFill>
                  <a:srgbClr val="FF0000"/>
                </a:solidFill>
                <a:cs typeface="Arial" panose="020B0604020202020204" pitchFamily="34" charset="0"/>
              </a:rPr>
              <a:t> </a:t>
            </a:r>
            <a:r>
              <a:rPr lang="zh-CN" altLang="en-US" sz="1800" dirty="0">
                <a:solidFill>
                  <a:srgbClr val="3333FF"/>
                </a:solidFill>
                <a:cs typeface="Arial" panose="020B0604020202020204" pitchFamily="34" charset="0"/>
              </a:rPr>
              <a:t>serial</a:t>
            </a:r>
          </a:p>
        </p:txBody>
      </p:sp>
      <p:sp>
        <p:nvSpPr>
          <p:cNvPr id="5" name="Rectangle 3"/>
          <p:cNvSpPr txBox="1">
            <a:spLocks noChangeArrowheads="1"/>
          </p:cNvSpPr>
          <p:nvPr/>
        </p:nvSpPr>
        <p:spPr bwMode="auto">
          <a:xfrm>
            <a:off x="844724" y="2041656"/>
            <a:ext cx="8192071" cy="82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just" rtl="0" eaLnBrk="0" fontAlgn="base" hangingPunct="0">
              <a:spcBef>
                <a:spcPct val="20000"/>
              </a:spcBef>
              <a:spcAft>
                <a:spcPct val="0"/>
              </a:spcAft>
              <a:buBlip>
                <a:blip r:embed="rId3"/>
              </a:buBlip>
              <a:defRPr sz="2800" b="1">
                <a:solidFill>
                  <a:schemeClr val="accent2"/>
                </a:solidFill>
                <a:latin typeface="+mn-lt"/>
                <a:ea typeface="+mn-ea"/>
                <a:cs typeface="+mn-cs"/>
              </a:defRPr>
            </a:lvl1pPr>
            <a:lvl2pPr marL="263525" indent="-180975" algn="just" rtl="0" eaLnBrk="0" fontAlgn="base" hangingPunct="0">
              <a:spcBef>
                <a:spcPct val="20000"/>
              </a:spcBef>
              <a:spcAft>
                <a:spcPct val="0"/>
              </a:spcAft>
              <a:buBlip>
                <a:blip r:embed="rId4"/>
              </a:buBlip>
              <a:defRPr sz="2800" b="1">
                <a:solidFill>
                  <a:schemeClr val="tx1"/>
                </a:solidFill>
                <a:latin typeface="+mn-lt"/>
                <a:ea typeface="+mn-ea"/>
              </a:defRPr>
            </a:lvl2pPr>
            <a:lvl3pPr marL="1143000" indent="-228600" algn="just" rtl="0" eaLnBrk="0" fontAlgn="base" hangingPunct="0">
              <a:spcBef>
                <a:spcPct val="20000"/>
              </a:spcBef>
              <a:spcAft>
                <a:spcPct val="0"/>
              </a:spcAft>
              <a:buChar char="•"/>
              <a:defRPr sz="2400" b="1">
                <a:solidFill>
                  <a:schemeClr val="tx1"/>
                </a:solidFill>
                <a:latin typeface="+mn-lt"/>
                <a:ea typeface="+mn-ea"/>
              </a:defRPr>
            </a:lvl3pPr>
            <a:lvl4pPr marL="1600200" indent="-228600" algn="just" rtl="0" eaLnBrk="0" fontAlgn="base" hangingPunct="0">
              <a:spcBef>
                <a:spcPct val="20000"/>
              </a:spcBef>
              <a:spcAft>
                <a:spcPct val="0"/>
              </a:spcAft>
              <a:buChar char="–"/>
              <a:defRPr sz="2000" b="1">
                <a:solidFill>
                  <a:schemeClr val="tx1"/>
                </a:solidFill>
                <a:latin typeface="+mn-lt"/>
                <a:ea typeface="+mn-ea"/>
              </a:defRPr>
            </a:lvl4pPr>
            <a:lvl5pPr marL="2057400" indent="-228600" algn="just" rtl="0" eaLnBrk="0" fontAlgn="base" hangingPunct="0">
              <a:spcBef>
                <a:spcPct val="20000"/>
              </a:spcBef>
              <a:spcAft>
                <a:spcPct val="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eaLnBrk="1" hangingPunct="1">
              <a:spcBef>
                <a:spcPts val="0"/>
              </a:spcBef>
              <a:spcAft>
                <a:spcPts val="200"/>
              </a:spcAft>
              <a:defRPr/>
            </a:pPr>
            <a:r>
              <a:rPr lang="zh-CN" altLang="en-US" sz="1600" kern="0" dirty="0">
                <a:solidFill>
                  <a:srgbClr val="FF0000"/>
                </a:solidFill>
                <a:cs typeface="Arial" panose="020B0604020202020204" pitchFamily="34" charset="0"/>
              </a:rPr>
              <a:t>Parallel communication: </a:t>
            </a:r>
            <a:r>
              <a:rPr lang="zh-CN" altLang="en-US" sz="1600" kern="0" dirty="0">
                <a:solidFill>
                  <a:srgbClr val="9900CC"/>
                </a:solidFill>
                <a:cs typeface="Arial" panose="020B0604020202020204" pitchFamily="34" charset="0"/>
              </a:rPr>
              <a:t>Transmits data </a:t>
            </a:r>
            <a:r>
              <a:rPr lang="zh-CN" altLang="en-US" sz="1600" kern="0" dirty="0">
                <a:cs typeface="Arial" panose="020B0604020202020204" pitchFamily="34" charset="0"/>
              </a:rPr>
              <a:t>in </a:t>
            </a:r>
            <a:r>
              <a:rPr lang="zh-CN" altLang="en-US" sz="1600" kern="0" dirty="0">
                <a:solidFill>
                  <a:srgbClr val="9900CC"/>
                </a:solidFill>
                <a:cs typeface="Arial" panose="020B0604020202020204" pitchFamily="34" charset="0"/>
              </a:rPr>
              <a:t>units of bytes or multiples thereof</a:t>
            </a:r>
            <a:r>
              <a:rPr lang="zh-CN" altLang="en-US" sz="1600" kern="0" dirty="0">
                <a:cs typeface="Arial" panose="020B0604020202020204" pitchFamily="34" charset="0"/>
              </a:rPr>
              <a:t>；</a:t>
            </a:r>
          </a:p>
          <a:p>
            <a:pPr lvl="1" eaLnBrk="1" hangingPunct="1">
              <a:spcBef>
                <a:spcPts val="0"/>
              </a:spcBef>
              <a:spcAft>
                <a:spcPts val="200"/>
              </a:spcAft>
              <a:defRPr/>
            </a:pPr>
            <a:r>
              <a:rPr lang="zh-CN" altLang="en-US" sz="1600" kern="0" dirty="0">
                <a:cs typeface="Arial" panose="020B0604020202020204" pitchFamily="34" charset="0"/>
              </a:rPr>
              <a:t>Transmit one (or more) bytes of data in a single transmission, </a:t>
            </a:r>
            <a:r>
              <a:rPr lang="zh-CN" altLang="en-US" sz="1600" kern="0" dirty="0">
                <a:solidFill>
                  <a:srgbClr val="FF0000"/>
                </a:solidFill>
                <a:cs typeface="Arial" panose="020B0604020202020204" pitchFamily="34" charset="0"/>
              </a:rPr>
              <a:t>with all bits sent simultaneously</a:t>
            </a:r>
            <a:r>
              <a:rPr lang="zh-CN" altLang="en-US" sz="1600" kern="0" dirty="0">
                <a:cs typeface="Arial" panose="020B0604020202020204" pitchFamily="34" charset="0"/>
              </a:rPr>
              <a:t>；</a:t>
            </a:r>
          </a:p>
        </p:txBody>
      </p:sp>
      <p:sp>
        <p:nvSpPr>
          <p:cNvPr id="22535" name="矩形 7"/>
          <p:cNvSpPr>
            <a:spLocks noChangeArrowheads="1"/>
          </p:cNvSpPr>
          <p:nvPr/>
        </p:nvSpPr>
        <p:spPr bwMode="auto">
          <a:xfrm>
            <a:off x="1054454" y="5965676"/>
            <a:ext cx="736440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1400" b="1" dirty="0">
                <a:solidFill>
                  <a:srgbClr val="3333FF"/>
                </a:solidFill>
              </a:rPr>
              <a:t>Diagram of </a:t>
            </a:r>
            <a:r>
              <a:rPr lang="zh-CN" altLang="zh-CN" sz="1400" b="1" dirty="0">
                <a:solidFill>
                  <a:srgbClr val="FF0000"/>
                </a:solidFill>
              </a:rPr>
              <a:t>parallel</a:t>
            </a:r>
            <a:r>
              <a:rPr lang="zh-CN" altLang="zh-CN" sz="700" b="1" dirty="0">
                <a:solidFill>
                  <a:srgbClr val="FF0000"/>
                </a:solidFill>
              </a:rPr>
              <a:t> </a:t>
            </a:r>
            <a:r>
              <a:rPr lang="zh-CN" altLang="zh-CN" sz="1400" b="1" dirty="0">
                <a:solidFill>
                  <a:srgbClr val="3333FF"/>
                </a:solidFill>
              </a:rPr>
              <a:t>and</a:t>
            </a:r>
            <a:r>
              <a:rPr lang="zh-CN" altLang="zh-CN" sz="700" b="1" dirty="0">
                <a:solidFill>
                  <a:srgbClr val="FF0000"/>
                </a:solidFill>
              </a:rPr>
              <a:t> </a:t>
            </a:r>
            <a:r>
              <a:rPr lang="zh-CN" altLang="zh-CN" sz="1400" b="1" dirty="0">
                <a:solidFill>
                  <a:srgbClr val="FF00FF"/>
                </a:solidFill>
              </a:rPr>
              <a:t>serial</a:t>
            </a:r>
            <a:r>
              <a:rPr lang="zh-CN" altLang="zh-CN" sz="700" b="1" dirty="0">
                <a:solidFill>
                  <a:srgbClr val="FF0000"/>
                </a:solidFill>
              </a:rPr>
              <a:t> </a:t>
            </a:r>
            <a:r>
              <a:rPr lang="zh-CN" altLang="zh-CN" sz="1400" b="1" dirty="0">
                <a:solidFill>
                  <a:srgbClr val="3333FF"/>
                </a:solidFill>
              </a:rPr>
              <a:t>communication connections</a:t>
            </a:r>
            <a:endParaRPr lang="zh-CN" altLang="en-US" sz="1400" b="1" dirty="0">
              <a:solidFill>
                <a:srgbClr val="3333FF"/>
              </a:solidFill>
            </a:endParaRPr>
          </a:p>
        </p:txBody>
      </p:sp>
      <p:sp>
        <p:nvSpPr>
          <p:cNvPr id="9" name="Rectangle 3"/>
          <p:cNvSpPr txBox="1">
            <a:spLocks noChangeArrowheads="1"/>
          </p:cNvSpPr>
          <p:nvPr/>
        </p:nvSpPr>
        <p:spPr bwMode="auto">
          <a:xfrm>
            <a:off x="844724" y="2865752"/>
            <a:ext cx="8192071"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l" rtl="0" eaLnBrk="0" fontAlgn="base" hangingPunct="0">
              <a:lnSpc>
                <a:spcPct val="114000"/>
              </a:lnSpc>
              <a:spcBef>
                <a:spcPts val="0"/>
              </a:spcBef>
              <a:spcAft>
                <a:spcPts val="600"/>
              </a:spcAft>
              <a:buBlip>
                <a:blip r:embed="rId3"/>
              </a:buBlip>
              <a:defRPr sz="2800" b="1">
                <a:solidFill>
                  <a:schemeClr val="accent2"/>
                </a:solidFill>
                <a:latin typeface="+mn-lt"/>
                <a:ea typeface="+mn-ea"/>
                <a:cs typeface="+mn-cs"/>
              </a:defRPr>
            </a:lvl1pPr>
            <a:lvl2pPr marL="263525" indent="-180975" algn="l" rtl="0" eaLnBrk="0" fontAlgn="base" hangingPunct="0">
              <a:lnSpc>
                <a:spcPct val="114000"/>
              </a:lnSpc>
              <a:spcBef>
                <a:spcPts val="0"/>
              </a:spcBef>
              <a:spcAft>
                <a:spcPts val="600"/>
              </a:spcAft>
              <a:buBlip>
                <a:blip r:embed="rId4"/>
              </a:buBlip>
              <a:defRPr sz="2800" b="1">
                <a:solidFill>
                  <a:schemeClr val="tx1"/>
                </a:solidFill>
                <a:latin typeface="+mn-lt"/>
                <a:ea typeface="+mn-ea"/>
              </a:defRPr>
            </a:lvl2pPr>
            <a:lvl3pPr marL="1143000" indent="-228600" algn="l"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l"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l"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eaLnBrk="1" hangingPunct="1">
              <a:lnSpc>
                <a:spcPct val="101000"/>
              </a:lnSpc>
              <a:defRPr/>
            </a:pPr>
            <a:r>
              <a:rPr lang="zh-CN" altLang="en-US" sz="1600" kern="0" dirty="0">
                <a:solidFill>
                  <a:srgbClr val="FF0000"/>
                </a:solidFill>
                <a:cs typeface="Arial" panose="020B0604020202020204" pitchFamily="34" charset="0"/>
              </a:rPr>
              <a:t>Serial communication: connected by 2 (or 3) data signal lines</a:t>
            </a:r>
            <a:r>
              <a:rPr lang="zh-CN" altLang="en-US" sz="1600" kern="0" dirty="0">
                <a:cs typeface="Arial" panose="020B0604020202020204" pitchFamily="34" charset="0"/>
              </a:rPr>
              <a:t>, data </a:t>
            </a:r>
            <a:r>
              <a:rPr lang="zh-CN" altLang="en-US" sz="1600" kern="0" dirty="0">
                <a:solidFill>
                  <a:srgbClr val="FF0000"/>
                </a:solidFill>
                <a:cs typeface="Arial" panose="020B0604020202020204" pitchFamily="34" charset="0"/>
              </a:rPr>
              <a:t>is transmitted sequentially </a:t>
            </a:r>
            <a:r>
              <a:rPr lang="zh-CN" altLang="en-US" sz="1600" kern="0" dirty="0">
                <a:cs typeface="Arial" panose="020B0604020202020204" pitchFamily="34" charset="0"/>
              </a:rPr>
              <a:t>on one data signal line, each bit of data occupies a fixed time length.</a:t>
            </a:r>
          </a:p>
        </p:txBody>
      </p:sp>
      <p:sp>
        <p:nvSpPr>
          <p:cNvPr id="2" name="灯片编号占位符 1"/>
          <p:cNvSpPr>
            <a:spLocks noGrp="1"/>
          </p:cNvSpPr>
          <p:nvPr>
            <p:ph type="sldNum" sz="quarter" idx="12"/>
          </p:nvPr>
        </p:nvSpPr>
        <p:spPr/>
        <p:txBody>
          <a:bodyPr/>
          <a:lstStyle/>
          <a:p>
            <a:fld id="{22E77DEE-32E4-4009-988B-F2758F7B8AC2}" type="slidenum">
              <a:rPr lang="zh-CN" altLang="en-US" smtClean="0"/>
              <a:t>3</a:t>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822959" y="286605"/>
            <a:ext cx="7543800" cy="831478"/>
          </a:xfrm>
        </p:spPr>
        <p:txBody>
          <a:bodyPr vert="horz" lIns="91440" tIns="45720" rIns="91440" bIns="45720" rtlCol="0" anchor="b">
            <a:normAutofit/>
          </a:bodyPr>
          <a:lstStyle/>
          <a:p>
            <a:r>
              <a:rPr lang="en-US" altLang="zh-CN" sz="3600" b="0" dirty="0">
                <a:ea typeface="隶书" panose="02010509060101010101" pitchFamily="49" charset="-122"/>
              </a:rPr>
              <a:t>1. </a:t>
            </a:r>
            <a:r>
              <a:rPr lang="zh-CN" altLang="en-US" sz="3600" dirty="0">
                <a:ea typeface="隶书" panose="02010509060101010101" pitchFamily="49" charset="-122"/>
              </a:rPr>
              <a:t>Communication-related concepts</a:t>
            </a:r>
          </a:p>
        </p:txBody>
      </p:sp>
      <p:sp>
        <p:nvSpPr>
          <p:cNvPr id="2" name="内容占位符 1"/>
          <p:cNvSpPr>
            <a:spLocks noGrp="1" noChangeArrowheads="1"/>
          </p:cNvSpPr>
          <p:nvPr>
            <p:ph idx="1"/>
          </p:nvPr>
        </p:nvSpPr>
        <p:spPr>
          <a:xfrm>
            <a:off x="822959" y="1196068"/>
            <a:ext cx="8119241" cy="2090511"/>
          </a:xfrm>
        </p:spPr>
        <p:txBody>
          <a:bodyPr>
            <a:normAutofit lnSpcReduction="10000"/>
          </a:bodyPr>
          <a:lstStyle/>
          <a:p>
            <a:pPr>
              <a:lnSpc>
                <a:spcPct val="111000"/>
              </a:lnSpc>
              <a:spcBef>
                <a:spcPct val="0"/>
              </a:spcBef>
              <a:spcAft>
                <a:spcPct val="0"/>
              </a:spcAft>
            </a:pPr>
            <a:r>
              <a:rPr lang="zh-CN" altLang="en-US" dirty="0">
                <a:solidFill>
                  <a:srgbClr val="FF0000"/>
                </a:solidFill>
                <a:cs typeface="Arial" panose="020B0604020202020204" pitchFamily="34" charset="0"/>
              </a:rPr>
              <a:t>concurrent communication</a:t>
            </a:r>
          </a:p>
          <a:p>
            <a:pPr lvl="1" eaLnBrk="1" hangingPunct="1">
              <a:lnSpc>
                <a:spcPct val="101000"/>
              </a:lnSpc>
              <a:spcBef>
                <a:spcPct val="0"/>
              </a:spcBef>
            </a:pPr>
            <a:r>
              <a:rPr lang="zh-CN" altLang="en-US" dirty="0">
                <a:cs typeface="Arial" panose="020B0604020202020204" pitchFamily="34" charset="0"/>
              </a:rPr>
              <a:t>It is suitable for the exchange of information between external devices and microcomputers in a </a:t>
            </a:r>
            <a:r>
              <a:rPr lang="zh-CN" altLang="en-US" dirty="0">
                <a:solidFill>
                  <a:srgbClr val="FF0000"/>
                </a:solidFill>
                <a:cs typeface="Arial" panose="020B0604020202020204" pitchFamily="34" charset="0"/>
              </a:rPr>
              <a:t>short distance</a:t>
            </a:r>
            <a:r>
              <a:rPr lang="zh-CN" altLang="en-US" dirty="0">
                <a:cs typeface="Arial" panose="020B0604020202020204" pitchFamily="34" charset="0"/>
              </a:rPr>
              <a:t>, </a:t>
            </a:r>
            <a:r>
              <a:rPr lang="zh-CN" altLang="en-US" dirty="0">
                <a:solidFill>
                  <a:srgbClr val="FF0000"/>
                </a:solidFill>
                <a:cs typeface="Arial" panose="020B0604020202020204" pitchFamily="34" charset="0"/>
              </a:rPr>
              <a:t>large quantity </a:t>
            </a:r>
            <a:r>
              <a:rPr lang="zh-CN" altLang="en-US" dirty="0">
                <a:cs typeface="Arial" panose="020B0604020202020204" pitchFamily="34" charset="0"/>
              </a:rPr>
              <a:t>and </a:t>
            </a:r>
            <a:r>
              <a:rPr lang="zh-CN" altLang="en-US" dirty="0">
                <a:solidFill>
                  <a:srgbClr val="FF0000"/>
                </a:solidFill>
                <a:cs typeface="Arial" panose="020B0604020202020204" pitchFamily="34" charset="0"/>
              </a:rPr>
              <a:t>fast</a:t>
            </a:r>
            <a:r>
              <a:rPr lang="zh-CN" altLang="en-US" dirty="0">
                <a:cs typeface="Arial" panose="020B0604020202020204" pitchFamily="34" charset="0"/>
              </a:rPr>
              <a:t>. </a:t>
            </a:r>
            <a:r>
              <a:rPr lang="zh-CN" altLang="en-US" dirty="0">
                <a:solidFill>
                  <a:srgbClr val="FF00FF"/>
                </a:solidFill>
                <a:cs typeface="Arial" panose="020B0604020202020204" pitchFamily="34" charset="0"/>
              </a:rPr>
              <a:t>The internal bus of the computer transmits data</a:t>
            </a:r>
            <a:r>
              <a:rPr lang="zh-CN" altLang="en-US" dirty="0">
                <a:cs typeface="Arial" panose="020B0604020202020204" pitchFamily="34" charset="0"/>
              </a:rPr>
              <a:t> in a parallel way.</a:t>
            </a:r>
          </a:p>
          <a:p>
            <a:pPr lvl="1" eaLnBrk="1" hangingPunct="1">
              <a:lnSpc>
                <a:spcPct val="101000"/>
              </a:lnSpc>
              <a:spcBef>
                <a:spcPct val="0"/>
              </a:spcBef>
            </a:pPr>
            <a:r>
              <a:rPr lang="zh-CN" altLang="en-US" dirty="0">
                <a:solidFill>
                  <a:srgbClr val="CC3300"/>
                </a:solidFill>
                <a:cs typeface="Arial" panose="020B0604020202020204" pitchFamily="34" charset="0"/>
              </a:rPr>
              <a:t>The characteristic of parallel communication </a:t>
            </a:r>
            <a:r>
              <a:rPr lang="zh-CN" altLang="en-US" dirty="0">
                <a:cs typeface="Arial" panose="020B0604020202020204" pitchFamily="34" charset="0"/>
              </a:rPr>
              <a:t>is fast transmission speed, but when the distance is far and the number of bits is large, the communication line is complex and costly.</a:t>
            </a:r>
          </a:p>
        </p:txBody>
      </p:sp>
      <p:sp>
        <p:nvSpPr>
          <p:cNvPr id="7" name="Rectangle 3"/>
          <p:cNvSpPr txBox="1">
            <a:spLocks noChangeArrowheads="1"/>
          </p:cNvSpPr>
          <p:nvPr/>
        </p:nvSpPr>
        <p:spPr bwMode="auto">
          <a:xfrm>
            <a:off x="822960" y="3215619"/>
            <a:ext cx="8068792" cy="23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l" rtl="0" eaLnBrk="0" fontAlgn="base" hangingPunct="0">
              <a:lnSpc>
                <a:spcPct val="114000"/>
              </a:lnSpc>
              <a:spcBef>
                <a:spcPts val="0"/>
              </a:spcBef>
              <a:spcAft>
                <a:spcPts val="600"/>
              </a:spcAft>
              <a:buBlip>
                <a:blip r:embed="rId2"/>
              </a:buBlip>
              <a:defRPr sz="2800" b="1">
                <a:solidFill>
                  <a:schemeClr val="accent2"/>
                </a:solidFill>
                <a:latin typeface="+mn-lt"/>
                <a:ea typeface="+mn-ea"/>
                <a:cs typeface="+mn-cs"/>
              </a:defRPr>
            </a:lvl1pPr>
            <a:lvl2pPr marL="263525" indent="-180975" algn="l" rtl="0" eaLnBrk="0" fontAlgn="base" hangingPunct="0">
              <a:lnSpc>
                <a:spcPct val="114000"/>
              </a:lnSpc>
              <a:spcBef>
                <a:spcPts val="0"/>
              </a:spcBef>
              <a:spcAft>
                <a:spcPts val="600"/>
              </a:spcAft>
              <a:buBlip>
                <a:blip r:embed="rId3"/>
              </a:buBlip>
              <a:defRPr sz="2800" b="1">
                <a:solidFill>
                  <a:schemeClr val="tx1"/>
                </a:solidFill>
                <a:latin typeface="+mn-lt"/>
                <a:ea typeface="+mn-ea"/>
              </a:defRPr>
            </a:lvl2pPr>
            <a:lvl3pPr marL="1143000" indent="-228600" algn="l"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l"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l"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eaLnBrk="1" hangingPunct="1">
              <a:lnSpc>
                <a:spcPct val="101000"/>
              </a:lnSpc>
              <a:spcAft>
                <a:spcPts val="0"/>
              </a:spcAft>
              <a:defRPr/>
            </a:pPr>
            <a:r>
              <a:rPr lang="zh-CN" altLang="en-US" sz="1800" kern="0" dirty="0">
                <a:solidFill>
                  <a:srgbClr val="FF0000"/>
                </a:solidFill>
                <a:cs typeface="Arial" panose="020B0604020202020204" pitchFamily="34" charset="0"/>
              </a:rPr>
              <a:t>serial communication</a:t>
            </a:r>
          </a:p>
          <a:p>
            <a:pPr lvl="1" eaLnBrk="1" hangingPunct="1">
              <a:lnSpc>
                <a:spcPct val="101000"/>
              </a:lnSpc>
              <a:defRPr/>
            </a:pPr>
            <a:r>
              <a:rPr lang="zh-CN" altLang="en-US" sz="1800" kern="0" dirty="0">
                <a:cs typeface="Arial" panose="020B0604020202020204" pitchFamily="34" charset="0"/>
              </a:rPr>
              <a:t>Compared with parallel communication, the</a:t>
            </a:r>
            <a:r>
              <a:rPr lang="zh-CN" altLang="en-US" sz="900" kern="0" dirty="0">
                <a:cs typeface="Arial" panose="020B0604020202020204" pitchFamily="34" charset="0"/>
              </a:rPr>
              <a:t> </a:t>
            </a:r>
            <a:r>
              <a:rPr lang="zh-CN" altLang="en-US" sz="1800" kern="0" dirty="0">
                <a:solidFill>
                  <a:srgbClr val="FF0000"/>
                </a:solidFill>
                <a:cs typeface="Arial" panose="020B0604020202020204" pitchFamily="34" charset="0"/>
              </a:rPr>
              <a:t>advantages</a:t>
            </a:r>
            <a:r>
              <a:rPr lang="zh-CN" altLang="en-US" sz="900" kern="0" dirty="0">
                <a:cs typeface="Arial" panose="020B0604020202020204" pitchFamily="34" charset="0"/>
              </a:rPr>
              <a:t> </a:t>
            </a:r>
            <a:r>
              <a:rPr lang="zh-CN" altLang="en-US" sz="1800" kern="0" dirty="0">
                <a:cs typeface="Arial" panose="020B0604020202020204" pitchFamily="34" charset="0"/>
              </a:rPr>
              <a:t>of serial communication are</a:t>
            </a:r>
            <a:r>
              <a:rPr lang="zh-CN" altLang="en-US" sz="900" kern="0" dirty="0">
                <a:cs typeface="Arial" panose="020B0604020202020204" pitchFamily="34" charset="0"/>
              </a:rPr>
              <a:t> </a:t>
            </a:r>
            <a:r>
              <a:rPr lang="zh-CN" altLang="en-US" sz="1800" kern="0" dirty="0">
                <a:solidFill>
                  <a:srgbClr val="9900CC"/>
                </a:solidFill>
                <a:cs typeface="Arial" panose="020B0604020202020204" pitchFamily="34" charset="0"/>
              </a:rPr>
              <a:t>less transmission lines</a:t>
            </a:r>
            <a:r>
              <a:rPr lang="zh-CN" altLang="en-US" sz="1800" kern="0" dirty="0">
                <a:cs typeface="Arial" panose="020B0604020202020204" pitchFamily="34" charset="0"/>
              </a:rPr>
              <a:t>, low cost, </a:t>
            </a:r>
            <a:r>
              <a:rPr lang="zh-CN" altLang="en-US" sz="1800" kern="0" dirty="0">
                <a:solidFill>
                  <a:srgbClr val="9900CC"/>
                </a:solidFill>
                <a:cs typeface="Arial" panose="020B0604020202020204" pitchFamily="34" charset="0"/>
              </a:rPr>
              <a:t>suitable for long-distance transmission</a:t>
            </a:r>
            <a:r>
              <a:rPr lang="zh-CN" altLang="en-US" sz="900" kern="0" dirty="0">
                <a:cs typeface="Arial" panose="020B0604020202020204" pitchFamily="34" charset="0"/>
              </a:rPr>
              <a:t> </a:t>
            </a:r>
            <a:r>
              <a:rPr lang="zh-CN" altLang="en-US" sz="1800" kern="0" dirty="0">
                <a:cs typeface="Arial" panose="020B0604020202020204" pitchFamily="34" charset="0"/>
              </a:rPr>
              <a:t>and</a:t>
            </a:r>
            <a:r>
              <a:rPr lang="zh-CN" altLang="en-US" sz="900" kern="0" dirty="0">
                <a:cs typeface="Arial" panose="020B0604020202020204" pitchFamily="34" charset="0"/>
              </a:rPr>
              <a:t> </a:t>
            </a:r>
            <a:r>
              <a:rPr lang="zh-CN" altLang="en-US" sz="1800" kern="0" dirty="0">
                <a:cs typeface="Arial" panose="020B0604020202020204" pitchFamily="34" charset="0"/>
              </a:rPr>
              <a:t>easy</a:t>
            </a:r>
            <a:r>
              <a:rPr lang="zh-CN" altLang="en-US" sz="900" kern="0" dirty="0">
                <a:cs typeface="Arial" panose="020B0604020202020204" pitchFamily="34" charset="0"/>
              </a:rPr>
              <a:t> </a:t>
            </a:r>
            <a:r>
              <a:rPr lang="zh-CN" altLang="en-US" sz="1800" kern="0" dirty="0">
                <a:cs typeface="Arial" panose="020B0604020202020204" pitchFamily="34" charset="0"/>
              </a:rPr>
              <a:t>to expand. The </a:t>
            </a:r>
            <a:r>
              <a:rPr lang="zh-CN" altLang="en-US" sz="1800" kern="0" dirty="0">
                <a:solidFill>
                  <a:srgbClr val="FF0000"/>
                </a:solidFill>
                <a:cs typeface="Arial" panose="020B0604020202020204" pitchFamily="34" charset="0"/>
              </a:rPr>
              <a:t>disadvantages</a:t>
            </a:r>
            <a:r>
              <a:rPr lang="zh-CN" altLang="en-US" sz="900" kern="0" dirty="0">
                <a:cs typeface="Arial" panose="020B0604020202020204" pitchFamily="34" charset="0"/>
              </a:rPr>
              <a:t> </a:t>
            </a:r>
            <a:r>
              <a:rPr lang="zh-CN" altLang="en-US" sz="1800" kern="0" dirty="0">
                <a:cs typeface="Arial" panose="020B0604020202020204" pitchFamily="34" charset="0"/>
              </a:rPr>
              <a:t>are</a:t>
            </a:r>
            <a:r>
              <a:rPr lang="zh-CN" altLang="en-US" sz="900" kern="0" dirty="0">
                <a:cs typeface="Arial" panose="020B0604020202020204" pitchFamily="34" charset="0"/>
              </a:rPr>
              <a:t> </a:t>
            </a:r>
            <a:r>
              <a:rPr lang="zh-CN" altLang="en-US" sz="1800" kern="0" dirty="0">
                <a:solidFill>
                  <a:srgbClr val="9900CC"/>
                </a:solidFill>
                <a:cs typeface="Arial" panose="020B0604020202020204" pitchFamily="34" charset="0"/>
              </a:rPr>
              <a:t>slow speed</a:t>
            </a:r>
            <a:r>
              <a:rPr lang="zh-CN" altLang="en-US" sz="1800" kern="0" dirty="0">
                <a:cs typeface="Arial" panose="020B0604020202020204" pitchFamily="34" charset="0"/>
              </a:rPr>
              <a:t>, long transmission time and so on.</a:t>
            </a:r>
          </a:p>
          <a:p>
            <a:pPr lvl="1" eaLnBrk="1" hangingPunct="1">
              <a:lnSpc>
                <a:spcPct val="101000"/>
              </a:lnSpc>
              <a:defRPr/>
            </a:pPr>
            <a:r>
              <a:rPr lang="zh-CN" altLang="en-US" sz="1800" kern="0" dirty="0">
                <a:cs typeface="Arial" panose="020B0604020202020204" pitchFamily="34" charset="0"/>
              </a:rPr>
              <a:t>Serial communication is commonly used for devices such as </a:t>
            </a:r>
            <a:r>
              <a:rPr lang="en-US" altLang="zh-CN" sz="1800" kern="0" dirty="0">
                <a:cs typeface="Arial" panose="020B0604020202020204" pitchFamily="34" charset="0"/>
                <a:hlinkClick r:id="rId4" action="ppaction://hlinksldjump"/>
              </a:rPr>
              <a:t>COM port</a:t>
            </a:r>
            <a:r>
              <a:rPr lang="en-US" altLang="zh-CN" sz="1800" kern="0" dirty="0">
                <a:cs typeface="Arial" panose="020B0604020202020204" pitchFamily="34" charset="0"/>
              </a:rPr>
              <a:t> </a:t>
            </a:r>
            <a:r>
              <a:rPr lang="zh-CN" altLang="en-US" sz="1800" kern="0" dirty="0">
                <a:cs typeface="Arial" panose="020B0604020202020204" pitchFamily="34" charset="0"/>
              </a:rPr>
              <a:t>devices, </a:t>
            </a:r>
            <a:r>
              <a:rPr lang="zh-CN" altLang="en-US" sz="1800" kern="0" dirty="0">
                <a:solidFill>
                  <a:srgbClr val="3333FF"/>
                </a:solidFill>
                <a:cs typeface="Arial" panose="020B0604020202020204" pitchFamily="34" charset="0"/>
              </a:rPr>
              <a:t>USB devices</a:t>
            </a:r>
            <a:r>
              <a:rPr lang="zh-CN" altLang="en-US" sz="1800" kern="0" dirty="0">
                <a:cs typeface="Arial" panose="020B0604020202020204" pitchFamily="34" charset="0"/>
              </a:rPr>
              <a:t>, and </a:t>
            </a:r>
            <a:r>
              <a:rPr lang="zh-CN" altLang="en-US" sz="1800" kern="0" dirty="0">
                <a:solidFill>
                  <a:srgbClr val="3333FF"/>
                </a:solidFill>
                <a:cs typeface="Arial" panose="020B0604020202020204" pitchFamily="34" charset="0"/>
              </a:rPr>
              <a:t>network communication </a:t>
            </a:r>
            <a:r>
              <a:rPr lang="zh-CN" altLang="en-US" sz="1800" kern="0" dirty="0">
                <a:cs typeface="Arial" panose="020B0604020202020204" pitchFamily="34" charset="0"/>
              </a:rPr>
              <a:t>in computers.</a:t>
            </a:r>
          </a:p>
          <a:p>
            <a:pPr lvl="1" eaLnBrk="1" hangingPunct="1">
              <a:lnSpc>
                <a:spcPct val="101000"/>
              </a:lnSpc>
              <a:defRPr/>
            </a:pPr>
            <a:endParaRPr lang="en-US" altLang="zh-CN" sz="1800" kern="0" dirty="0">
              <a:cs typeface="Arial" panose="020B0604020202020204" pitchFamily="34" charset="0"/>
            </a:endParaRPr>
          </a:p>
        </p:txBody>
      </p:sp>
      <p:sp>
        <p:nvSpPr>
          <p:cNvPr id="3" name="灯片编号占位符 2"/>
          <p:cNvSpPr>
            <a:spLocks noGrp="1"/>
          </p:cNvSpPr>
          <p:nvPr>
            <p:ph type="sldNum" sz="quarter" idx="12"/>
          </p:nvPr>
        </p:nvSpPr>
        <p:spPr/>
        <p:txBody>
          <a:bodyPr/>
          <a:lstStyle/>
          <a:p>
            <a:fld id="{22E77DEE-32E4-4009-988B-F2758F7B8AC2}" type="slidenum">
              <a:rPr lang="zh-CN" altLang="en-US" smtClean="0"/>
              <a:t>4</a:t>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4" descr="http://www.9600169.net/u/cms/www/201212/18115345xu4c/2714d6.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9218" y="1384556"/>
            <a:ext cx="51816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8" name="Rectangle 2"/>
          <p:cNvSpPr>
            <a:spLocks noGrp="1" noChangeArrowheads="1"/>
          </p:cNvSpPr>
          <p:nvPr>
            <p:ph type="title"/>
          </p:nvPr>
        </p:nvSpPr>
        <p:spPr>
          <a:xfrm>
            <a:off x="822959" y="286605"/>
            <a:ext cx="8276897" cy="831478"/>
          </a:xfrm>
        </p:spPr>
        <p:txBody>
          <a:bodyPr vert="horz" lIns="91440" tIns="45720" rIns="91440" bIns="45720" rtlCol="0" anchor="b">
            <a:normAutofit/>
          </a:bodyPr>
          <a:lstStyle/>
          <a:p>
            <a:r>
              <a:rPr lang="en-US" altLang="zh-CN" sz="3600" dirty="0">
                <a:ea typeface="隶书" panose="02010509060101010101" pitchFamily="49" charset="-122"/>
              </a:rPr>
              <a:t>1. Concepts related to communication</a:t>
            </a:r>
            <a:endParaRPr lang="zh-CN" altLang="en-US" sz="3600" dirty="0">
              <a:ea typeface="隶书" panose="02010509060101010101" pitchFamily="49" charset="-122"/>
            </a:endParaRPr>
          </a:p>
        </p:txBody>
      </p:sp>
      <p:sp>
        <p:nvSpPr>
          <p:cNvPr id="24585" name="矩形 10"/>
          <p:cNvSpPr>
            <a:spLocks noChangeArrowheads="1"/>
          </p:cNvSpPr>
          <p:nvPr/>
        </p:nvSpPr>
        <p:spPr bwMode="auto">
          <a:xfrm>
            <a:off x="4931456" y="4446577"/>
            <a:ext cx="3771110" cy="55957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36000" rIns="0" bIns="0" anchor="b">
            <a:spAutoFit/>
          </a:bodyPr>
          <a:lstStyle/>
          <a:p>
            <a:pPr algn="ctr">
              <a:lnSpc>
                <a:spcPct val="85000"/>
              </a:lnSpc>
            </a:pPr>
            <a:r>
              <a:rPr lang="en-US" altLang="zh-CN" sz="2000" dirty="0">
                <a:solidFill>
                  <a:srgbClr val="FF0000"/>
                </a:solidFill>
                <a:ea typeface="宋体" panose="02010600030101010101" pitchFamily="2" charset="-122"/>
              </a:rPr>
              <a:t>DB25 Type LPT Parallel Printer Interface</a:t>
            </a:r>
            <a:endParaRPr lang="zh-CN" altLang="en-US" sz="2000" dirty="0">
              <a:solidFill>
                <a:srgbClr val="FF0000"/>
              </a:solidFill>
              <a:ea typeface="宋体" panose="02010600030101010101" pitchFamily="2" charset="-122"/>
            </a:endParaRPr>
          </a:p>
        </p:txBody>
      </p:sp>
      <p:sp>
        <p:nvSpPr>
          <p:cNvPr id="2" name="矩形 1"/>
          <p:cNvSpPr>
            <a:spLocks noChangeArrowheads="1"/>
          </p:cNvSpPr>
          <p:nvPr/>
        </p:nvSpPr>
        <p:spPr bwMode="auto">
          <a:xfrm>
            <a:off x="325887" y="4864687"/>
            <a:ext cx="5694824" cy="2979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36000" rIns="0" bIns="0" anchor="b">
            <a:spAutoFit/>
          </a:bodyPr>
          <a:lstStyle/>
          <a:p>
            <a:pPr algn="ctr">
              <a:lnSpc>
                <a:spcPct val="85000"/>
              </a:lnSpc>
            </a:pPr>
            <a:r>
              <a:rPr lang="en-US" altLang="zh-CN" sz="2000" dirty="0">
                <a:solidFill>
                  <a:srgbClr val="FF0000"/>
                </a:solidFill>
                <a:ea typeface="宋体" panose="02010600030101010101" pitchFamily="2" charset="-122"/>
              </a:rPr>
              <a:t>DB9 Type COM Serial Port </a:t>
            </a:r>
            <a:r>
              <a:rPr lang="en-US" altLang="zh-CN" sz="2000" dirty="0">
                <a:solidFill>
                  <a:srgbClr val="3333FF"/>
                </a:solidFill>
                <a:ea typeface="宋体" panose="02010600030101010101" pitchFamily="2" charset="-122"/>
              </a:rPr>
              <a:t>(RS232 Male)</a:t>
            </a:r>
            <a:endParaRPr lang="zh-CN" altLang="en-US" sz="2000" dirty="0">
              <a:solidFill>
                <a:srgbClr val="3333FF"/>
              </a:solidFill>
              <a:ea typeface="宋体" panose="02010600030101010101" pitchFamily="2" charset="-122"/>
            </a:endParaRPr>
          </a:p>
        </p:txBody>
      </p:sp>
      <p:cxnSp>
        <p:nvCxnSpPr>
          <p:cNvPr id="6" name="直接箭头连接符 5"/>
          <p:cNvCxnSpPr>
            <a:cxnSpLocks noChangeShapeType="1"/>
          </p:cNvCxnSpPr>
          <p:nvPr/>
        </p:nvCxnSpPr>
        <p:spPr bwMode="auto">
          <a:xfrm>
            <a:off x="2764639" y="3811628"/>
            <a:ext cx="239818" cy="879145"/>
          </a:xfrm>
          <a:prstGeom prst="straightConnector1">
            <a:avLst/>
          </a:prstGeom>
          <a:noFill/>
          <a:ln w="38100" algn="ctr">
            <a:solidFill>
              <a:srgbClr val="FF0000"/>
            </a:solidFill>
            <a:round/>
            <a:tailEnd type="arrow" w="med" len="med"/>
          </a:ln>
        </p:spPr>
      </p:cxnSp>
      <p:sp>
        <p:nvSpPr>
          <p:cNvPr id="28" name="矩形 27"/>
          <p:cNvSpPr>
            <a:spLocks noChangeArrowheads="1"/>
          </p:cNvSpPr>
          <p:nvPr/>
        </p:nvSpPr>
        <p:spPr bwMode="auto">
          <a:xfrm>
            <a:off x="6584043" y="3315936"/>
            <a:ext cx="1001713" cy="55957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36000" rIns="0" bIns="0" anchor="b">
            <a:spAutoFit/>
          </a:bodyPr>
          <a:lstStyle/>
          <a:p>
            <a:pPr algn="ctr">
              <a:lnSpc>
                <a:spcPct val="85000"/>
              </a:lnSpc>
            </a:pPr>
            <a:r>
              <a:rPr lang="en-US" altLang="zh-CN" sz="2000" dirty="0">
                <a:solidFill>
                  <a:srgbClr val="FF0000"/>
                </a:solidFill>
                <a:ea typeface="宋体" panose="02010600030101010101" pitchFamily="2" charset="-122"/>
              </a:rPr>
              <a:t>USB mouth</a:t>
            </a:r>
            <a:endParaRPr lang="zh-CN" altLang="en-US" sz="2000" dirty="0">
              <a:solidFill>
                <a:srgbClr val="FF0000"/>
              </a:solidFill>
              <a:ea typeface="宋体" panose="02010600030101010101" pitchFamily="2" charset="-122"/>
            </a:endParaRPr>
          </a:p>
        </p:txBody>
      </p:sp>
      <p:cxnSp>
        <p:nvCxnSpPr>
          <p:cNvPr id="29" name="直接箭头连接符 28"/>
          <p:cNvCxnSpPr>
            <a:cxnSpLocks noChangeShapeType="1"/>
          </p:cNvCxnSpPr>
          <p:nvPr/>
        </p:nvCxnSpPr>
        <p:spPr bwMode="auto">
          <a:xfrm>
            <a:off x="4894262" y="3373913"/>
            <a:ext cx="1608592" cy="301515"/>
          </a:xfrm>
          <a:prstGeom prst="straightConnector1">
            <a:avLst/>
          </a:prstGeom>
          <a:noFill/>
          <a:ln w="38100" algn="ctr">
            <a:solidFill>
              <a:srgbClr val="FF0000"/>
            </a:solidFill>
            <a:round/>
            <a:tailEnd type="arrow" w="med" len="med"/>
          </a:ln>
        </p:spPr>
      </p:cxnSp>
      <p:sp>
        <p:nvSpPr>
          <p:cNvPr id="12" name="灯片编号占位符 11"/>
          <p:cNvSpPr>
            <a:spLocks noGrp="1"/>
          </p:cNvSpPr>
          <p:nvPr>
            <p:ph type="sldNum" sz="quarter" idx="12"/>
          </p:nvPr>
        </p:nvSpPr>
        <p:spPr/>
        <p:txBody>
          <a:bodyPr/>
          <a:lstStyle/>
          <a:p>
            <a:fld id="{22E77DEE-32E4-4009-988B-F2758F7B8AC2}" type="slidenum">
              <a:rPr lang="zh-CN" altLang="en-US" smtClean="0"/>
              <a:t>5</a:t>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noChangeArrowheads="1"/>
          </p:cNvSpPr>
          <p:nvPr>
            <p:ph type="title"/>
          </p:nvPr>
        </p:nvSpPr>
        <p:spPr>
          <a:xfrm>
            <a:off x="822959" y="286605"/>
            <a:ext cx="7747681" cy="831478"/>
          </a:xfrm>
        </p:spPr>
        <p:txBody>
          <a:bodyPr vert="horz" lIns="91440" tIns="45720" rIns="91440" bIns="45720" rtlCol="0" anchor="b">
            <a:normAutofit fontScale="90000"/>
          </a:bodyPr>
          <a:lstStyle/>
          <a:p>
            <a:r>
              <a:rPr lang="en-US" altLang="zh-CN" sz="3600" dirty="0">
                <a:ea typeface="隶书" panose="02010509060101010101" pitchFamily="49" charset="-122"/>
              </a:rPr>
              <a:t>1 Concepts related to serial communication</a:t>
            </a:r>
            <a:endParaRPr lang="zh-CN" altLang="en-US" sz="3600" dirty="0">
              <a:ea typeface="隶书" panose="02010509060101010101" pitchFamily="49" charset="-122"/>
            </a:endParaRPr>
          </a:p>
        </p:txBody>
      </p:sp>
      <p:sp>
        <p:nvSpPr>
          <p:cNvPr id="448515" name="Rectangle 3"/>
          <p:cNvSpPr>
            <a:spLocks noGrp="1" noChangeArrowheads="1"/>
          </p:cNvSpPr>
          <p:nvPr>
            <p:ph idx="1"/>
          </p:nvPr>
        </p:nvSpPr>
        <p:spPr>
          <a:xfrm>
            <a:off x="881744" y="1205608"/>
            <a:ext cx="7527620" cy="1356405"/>
          </a:xfrm>
        </p:spPr>
        <p:txBody>
          <a:bodyPr>
            <a:normAutofit fontScale="92500" lnSpcReduction="10000"/>
          </a:bodyPr>
          <a:lstStyle/>
          <a:p>
            <a:pPr eaLnBrk="1" hangingPunct="1">
              <a:lnSpc>
                <a:spcPct val="110000"/>
              </a:lnSpc>
              <a:spcBef>
                <a:spcPct val="0"/>
              </a:spcBef>
              <a:buFontTx/>
              <a:buNone/>
            </a:pPr>
            <a:r>
              <a:rPr lang="en-US" altLang="zh-CN" dirty="0">
                <a:solidFill>
                  <a:srgbClr val="FF0000"/>
                </a:solidFill>
                <a:cs typeface="Arial" panose="020B0604020202020204" pitchFamily="34" charset="0"/>
              </a:rPr>
              <a:t>1. Classification of serial communication</a:t>
            </a:r>
          </a:p>
          <a:p>
            <a:pPr eaLnBrk="1" hangingPunct="1">
              <a:lnSpc>
                <a:spcPct val="110000"/>
              </a:lnSpc>
              <a:spcBef>
                <a:spcPct val="0"/>
              </a:spcBef>
              <a:buFontTx/>
              <a:buNone/>
            </a:pPr>
            <a:r>
              <a:rPr lang="zh-CN" altLang="en-US" dirty="0">
                <a:solidFill>
                  <a:srgbClr val="FF0000"/>
                </a:solidFill>
                <a:cs typeface="Arial" panose="020B0604020202020204" pitchFamily="34" charset="0"/>
              </a:rPr>
              <a:t>(1) Classification by serial data synchronization method</a:t>
            </a:r>
          </a:p>
          <a:p>
            <a:pPr eaLnBrk="1" hangingPunct="1">
              <a:lnSpc>
                <a:spcPct val="110000"/>
              </a:lnSpc>
              <a:spcBef>
                <a:spcPct val="0"/>
              </a:spcBef>
              <a:buFontTx/>
              <a:buNone/>
            </a:pPr>
            <a:r>
              <a:rPr lang="zh-CN" altLang="en-US" dirty="0">
                <a:cs typeface="Arial" panose="020B0604020202020204" pitchFamily="34" charset="0"/>
              </a:rPr>
              <a:t>Serial communication can be divided into two types: </a:t>
            </a:r>
            <a:r>
              <a:rPr lang="zh-CN" altLang="en-US" sz="2200" dirty="0">
                <a:solidFill>
                  <a:srgbClr val="CC3300"/>
                </a:solidFill>
                <a:cs typeface="Arial" panose="020B0604020202020204" pitchFamily="34" charset="0"/>
              </a:rPr>
              <a:t>synchronous communication</a:t>
            </a:r>
            <a:r>
              <a:rPr lang="zh-CN" altLang="en-US" dirty="0">
                <a:cs typeface="Arial" panose="020B0604020202020204" pitchFamily="34" charset="0"/>
              </a:rPr>
              <a:t> and </a:t>
            </a:r>
            <a:r>
              <a:rPr lang="zh-CN" altLang="en-US" sz="2200" dirty="0">
                <a:solidFill>
                  <a:srgbClr val="CC3300"/>
                </a:solidFill>
                <a:cs typeface="Arial" panose="020B0604020202020204" pitchFamily="34" charset="0"/>
              </a:rPr>
              <a:t>asynchronous communication</a:t>
            </a:r>
            <a:r>
              <a:rPr lang="zh-CN" altLang="en-US" dirty="0">
                <a:cs typeface="Arial" panose="020B0604020202020204" pitchFamily="34" charset="0"/>
              </a:rPr>
              <a:t>.</a:t>
            </a:r>
          </a:p>
        </p:txBody>
      </p:sp>
      <p:sp>
        <p:nvSpPr>
          <p:cNvPr id="5" name="Rectangle 3"/>
          <p:cNvSpPr txBox="1">
            <a:spLocks noChangeArrowheads="1"/>
          </p:cNvSpPr>
          <p:nvPr/>
        </p:nvSpPr>
        <p:spPr bwMode="auto">
          <a:xfrm>
            <a:off x="881744" y="2649537"/>
            <a:ext cx="7890190" cy="3423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just" rtl="0" eaLnBrk="0" fontAlgn="base" hangingPunct="0">
              <a:lnSpc>
                <a:spcPct val="114000"/>
              </a:lnSpc>
              <a:spcBef>
                <a:spcPts val="0"/>
              </a:spcBef>
              <a:spcAft>
                <a:spcPts val="600"/>
              </a:spcAft>
              <a:buBlip>
                <a:blip r:embed="rId2"/>
              </a:buBlip>
              <a:defRPr sz="2800" b="1">
                <a:solidFill>
                  <a:schemeClr val="accent2"/>
                </a:solidFill>
                <a:latin typeface="+mn-lt"/>
                <a:ea typeface="+mn-ea"/>
                <a:cs typeface="+mn-cs"/>
              </a:defRPr>
            </a:lvl1pPr>
            <a:lvl2pPr marL="263525" indent="-180975" algn="just" rtl="0" eaLnBrk="0" fontAlgn="base" hangingPunct="0">
              <a:lnSpc>
                <a:spcPct val="114000"/>
              </a:lnSpc>
              <a:spcBef>
                <a:spcPts val="0"/>
              </a:spcBef>
              <a:spcAft>
                <a:spcPts val="600"/>
              </a:spcAft>
              <a:buBlip>
                <a:blip r:embed="rId3"/>
              </a:buBlip>
              <a:defRPr sz="2800" b="1">
                <a:solidFill>
                  <a:schemeClr val="tx1"/>
                </a:solidFill>
                <a:latin typeface="+mn-lt"/>
                <a:ea typeface="+mn-ea"/>
              </a:defRPr>
            </a:lvl2pPr>
            <a:lvl3pPr marL="1143000" indent="-228600" algn="just"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just"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just"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marL="514350" indent="-158750" eaLnBrk="1" hangingPunct="1">
              <a:lnSpc>
                <a:spcPct val="110000"/>
              </a:lnSpc>
              <a:spcAft>
                <a:spcPts val="900"/>
              </a:spcAft>
              <a:buFont typeface="+mj-ea"/>
              <a:buAutoNum type="circleNumDbPlain"/>
              <a:defRPr/>
            </a:pPr>
            <a:r>
              <a:rPr lang="zh-CN" altLang="en-US" sz="1800" kern="0" dirty="0">
                <a:solidFill>
                  <a:srgbClr val="FF0000"/>
                </a:solidFill>
                <a:cs typeface="Arial" panose="020B0604020202020204" pitchFamily="34" charset="0"/>
              </a:rPr>
              <a:t>asynchronous communication</a:t>
            </a:r>
          </a:p>
          <a:p>
            <a:pPr eaLnBrk="1" hangingPunct="1">
              <a:lnSpc>
                <a:spcPct val="110000"/>
              </a:lnSpc>
              <a:spcAft>
                <a:spcPts val="900"/>
              </a:spcAft>
              <a:defRPr/>
            </a:pPr>
            <a:r>
              <a:rPr lang="zh-CN" altLang="en-US" sz="1800" kern="0" dirty="0">
                <a:cs typeface="Arial" panose="020B0604020202020204" pitchFamily="34" charset="0"/>
              </a:rPr>
              <a:t>In asynchronous communication, the receiver and transmitter operate independently </a:t>
            </a:r>
            <a:r>
              <a:rPr lang="zh-CN" altLang="en-US" sz="1800" kern="0" dirty="0">
                <a:solidFill>
                  <a:srgbClr val="FF00FF"/>
                </a:solidFill>
                <a:cs typeface="Arial" panose="020B0604020202020204" pitchFamily="34" charset="0"/>
              </a:rPr>
              <a:t>using their own clocks</a:t>
            </a:r>
            <a:r>
              <a:rPr lang="zh-CN" altLang="en-US" sz="1800" kern="0" dirty="0">
                <a:cs typeface="Arial" panose="020B0604020202020204" pitchFamily="34" charset="0"/>
              </a:rPr>
              <a:t>, functioning in a </a:t>
            </a:r>
            <a:r>
              <a:rPr lang="zh-CN" altLang="en-US" sz="1800" kern="0" dirty="0">
                <a:solidFill>
                  <a:srgbClr val="FF00FF"/>
                </a:solidFill>
                <a:cs typeface="Arial" panose="020B0604020202020204" pitchFamily="34" charset="0"/>
              </a:rPr>
              <a:t>non-synchronous </a:t>
            </a:r>
            <a:r>
              <a:rPr lang="zh-CN" altLang="en-US" sz="1800" kern="0" dirty="0">
                <a:cs typeface="Arial" panose="020B0604020202020204" pitchFamily="34" charset="0"/>
              </a:rPr>
              <a:t>manner.</a:t>
            </a:r>
            <a:endParaRPr lang="en-US" altLang="zh-CN" sz="4400" kern="0" dirty="0">
              <a:cs typeface="Arial" panose="020B0604020202020204" pitchFamily="34" charset="0"/>
            </a:endParaRPr>
          </a:p>
          <a:p>
            <a:pPr eaLnBrk="1" hangingPunct="1">
              <a:lnSpc>
                <a:spcPct val="110000"/>
              </a:lnSpc>
              <a:spcAft>
                <a:spcPts val="900"/>
              </a:spcAft>
              <a:defRPr/>
            </a:pPr>
            <a:r>
              <a:rPr lang="zh-CN" altLang="zh-CN" sz="1800" dirty="0">
                <a:cs typeface="Arial" panose="020B0604020202020204" pitchFamily="34" charset="0"/>
              </a:rPr>
              <a:t>Data transfer is carried out </a:t>
            </a:r>
            <a:r>
              <a:rPr lang="zh-CN" altLang="zh-CN" sz="1800" dirty="0">
                <a:solidFill>
                  <a:srgbClr val="3366FF"/>
                </a:solidFill>
                <a:cs typeface="Arial" panose="020B0604020202020204" pitchFamily="34" charset="0"/>
              </a:rPr>
              <a:t>in character units</a:t>
            </a:r>
            <a:r>
              <a:rPr lang="zh-CN" altLang="zh-CN" sz="1800" dirty="0">
                <a:cs typeface="Arial" panose="020B0604020202020204" pitchFamily="34" charset="0"/>
              </a:rPr>
              <a:t>. </a:t>
            </a:r>
            <a:r>
              <a:rPr lang="zh-CN" altLang="zh-CN" sz="1800" dirty="0">
                <a:solidFill>
                  <a:srgbClr val="FF00FF"/>
                </a:solidFill>
                <a:cs typeface="Arial" panose="020B0604020202020204" pitchFamily="34" charset="0"/>
              </a:rPr>
              <a:t>The transfer between characters is completely asynchronous</a:t>
            </a:r>
            <a:r>
              <a:rPr lang="zh-CN" altLang="zh-CN" sz="1800" dirty="0">
                <a:cs typeface="Arial" panose="020B0604020202020204" pitchFamily="34" charset="0"/>
              </a:rPr>
              <a:t>, </a:t>
            </a:r>
            <a:r>
              <a:rPr lang="zh-CN" altLang="zh-CN" sz="1800" dirty="0">
                <a:solidFill>
                  <a:srgbClr val="FF0000"/>
                </a:solidFill>
                <a:cs typeface="Arial" panose="020B0604020202020204" pitchFamily="34" charset="0"/>
              </a:rPr>
              <a:t>and the transfer between bits is basically synchronous</a:t>
            </a:r>
            <a:r>
              <a:rPr lang="zh-CN" altLang="zh-CN" sz="1800" dirty="0">
                <a:cs typeface="Arial" panose="020B0604020202020204" pitchFamily="34" charset="0"/>
              </a:rPr>
              <a:t>.</a:t>
            </a:r>
            <a:endParaRPr lang="zh-CN" altLang="en-US" sz="4400" kern="0" dirty="0">
              <a:cs typeface="Arial" panose="020B0604020202020204" pitchFamily="34" charset="0"/>
            </a:endParaRPr>
          </a:p>
          <a:p>
            <a:pPr eaLnBrk="1" hangingPunct="1">
              <a:lnSpc>
                <a:spcPct val="110000"/>
              </a:lnSpc>
              <a:spcAft>
                <a:spcPts val="900"/>
              </a:spcAft>
              <a:defRPr/>
            </a:pPr>
            <a:r>
              <a:rPr lang="zh-CN" altLang="en-US" sz="1800" kern="0" dirty="0">
                <a:cs typeface="Arial" panose="020B0604020202020204" pitchFamily="34" charset="0"/>
              </a:rPr>
              <a:t>In asynchronous transmission, each character uses </a:t>
            </a:r>
            <a:r>
              <a:rPr lang="zh-CN" altLang="en-US" sz="1800" kern="0" dirty="0">
                <a:solidFill>
                  <a:srgbClr val="FF0000"/>
                </a:solidFill>
                <a:cs typeface="Arial" panose="020B0604020202020204" pitchFamily="34" charset="0"/>
              </a:rPr>
              <a:t>start</a:t>
            </a:r>
            <a:r>
              <a:rPr lang="zh-CN" altLang="en-US" sz="1800" kern="0" dirty="0">
                <a:cs typeface="Arial" panose="020B0604020202020204" pitchFamily="34" charset="0"/>
              </a:rPr>
              <a:t> and </a:t>
            </a:r>
            <a:r>
              <a:rPr lang="zh-CN" altLang="en-US" sz="1800" kern="0" dirty="0">
                <a:solidFill>
                  <a:srgbClr val="FF0000"/>
                </a:solidFill>
                <a:cs typeface="Arial" panose="020B0604020202020204" pitchFamily="34" charset="0"/>
              </a:rPr>
              <a:t>stop bits </a:t>
            </a:r>
            <a:r>
              <a:rPr lang="zh-CN" altLang="en-US" sz="1800" kern="0" dirty="0">
                <a:cs typeface="Arial" panose="020B0604020202020204" pitchFamily="34" charset="0"/>
              </a:rPr>
              <a:t>as </a:t>
            </a:r>
            <a:r>
              <a:rPr lang="zh-CN" altLang="en-US" sz="1800" kern="0" dirty="0">
                <a:solidFill>
                  <a:srgbClr val="FF0000"/>
                </a:solidFill>
                <a:cs typeface="Arial" panose="020B0604020202020204" pitchFamily="34" charset="0"/>
              </a:rPr>
              <a:t>the beginning and end of the character</a:t>
            </a:r>
            <a:r>
              <a:rPr lang="zh-CN" altLang="en-US" sz="1800" kern="0" dirty="0">
                <a:cs typeface="Arial" panose="020B0604020202020204" pitchFamily="34" charset="0"/>
              </a:rPr>
              <a:t>, and is sent and received one character at a time.</a:t>
            </a:r>
          </a:p>
        </p:txBody>
      </p:sp>
      <p:sp>
        <p:nvSpPr>
          <p:cNvPr id="2" name="灯片编号占位符 1"/>
          <p:cNvSpPr>
            <a:spLocks noGrp="1"/>
          </p:cNvSpPr>
          <p:nvPr>
            <p:ph type="sldNum" sz="quarter" idx="12"/>
          </p:nvPr>
        </p:nvSpPr>
        <p:spPr/>
        <p:txBody>
          <a:bodyPr/>
          <a:lstStyle/>
          <a:p>
            <a:fld id="{22E77DEE-32E4-4009-988B-F2758F7B8AC2}" type="slidenum">
              <a:rPr lang="zh-CN" altLang="en-US" smtClean="0"/>
              <a:t>6</a:t>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noChangeArrowheads="1"/>
          </p:cNvSpPr>
          <p:nvPr>
            <p:ph type="title"/>
          </p:nvPr>
        </p:nvSpPr>
        <p:spPr/>
        <p:txBody>
          <a:bodyPr>
            <a:normAutofit/>
          </a:bodyPr>
          <a:lstStyle/>
          <a:p>
            <a:pPr marL="514350" indent="-514350">
              <a:buFont typeface="宋体" panose="02010600030101010101" pitchFamily="2" charset="-122"/>
              <a:buAutoNum type="circleNumDbPlain"/>
            </a:pPr>
            <a:r>
              <a:rPr lang="zh-CN" altLang="en-US" sz="3600" b="1" dirty="0">
                <a:solidFill>
                  <a:srgbClr val="FF0000"/>
                </a:solidFill>
                <a:cs typeface="Arial" panose="020B0604020202020204" pitchFamily="34" charset="0"/>
              </a:rPr>
              <a:t>asynchronous</a:t>
            </a:r>
            <a:r>
              <a:rPr lang="zh-CN" altLang="en-US" sz="2800" b="1" dirty="0">
                <a:solidFill>
                  <a:srgbClr val="FF0000"/>
                </a:solidFill>
                <a:cs typeface="Arial" panose="020B0604020202020204" pitchFamily="34" charset="0"/>
              </a:rPr>
              <a:t> communication</a:t>
            </a:r>
            <a:endParaRPr lang="zh-CN" altLang="en-US" b="1" dirty="0">
              <a:cs typeface="Arial" panose="020B0604020202020204" pitchFamily="34" charset="0"/>
            </a:endParaRPr>
          </a:p>
        </p:txBody>
      </p:sp>
      <p:sp>
        <p:nvSpPr>
          <p:cNvPr id="453635" name="Rectangle 3"/>
          <p:cNvSpPr>
            <a:spLocks noGrp="1" noChangeArrowheads="1"/>
          </p:cNvSpPr>
          <p:nvPr>
            <p:ph idx="1"/>
          </p:nvPr>
        </p:nvSpPr>
        <p:spPr>
          <a:xfrm>
            <a:off x="686707" y="1461406"/>
            <a:ext cx="7620454" cy="3015344"/>
          </a:xfrm>
        </p:spPr>
        <p:txBody>
          <a:bodyPr>
            <a:noAutofit/>
          </a:bodyPr>
          <a:lstStyle/>
          <a:p>
            <a:pPr eaLnBrk="1" hangingPunct="1">
              <a:spcBef>
                <a:spcPct val="0"/>
              </a:spcBef>
            </a:pPr>
            <a:r>
              <a:rPr lang="zh-CN" altLang="en-US" sz="1800" dirty="0"/>
              <a:t>Format for each character in asynchronous transfer</a:t>
            </a:r>
          </a:p>
          <a:p>
            <a:pPr lvl="1" eaLnBrk="1" hangingPunct="1">
              <a:spcBef>
                <a:spcPct val="0"/>
              </a:spcBef>
            </a:pPr>
            <a:r>
              <a:rPr lang="zh-CN" altLang="en-US" dirty="0"/>
              <a:t>First, a </a:t>
            </a:r>
            <a:r>
              <a:rPr lang="zh-CN" altLang="en-US" dirty="0">
                <a:solidFill>
                  <a:srgbClr val="FF0000"/>
                </a:solidFill>
              </a:rPr>
              <a:t>starting bit 0 </a:t>
            </a:r>
            <a:r>
              <a:rPr lang="zh-CN" altLang="en-US" dirty="0"/>
              <a:t>is used to indicate the </a:t>
            </a:r>
            <a:r>
              <a:rPr lang="zh-CN" altLang="en-US" dirty="0">
                <a:solidFill>
                  <a:srgbClr val="FF0000"/>
                </a:solidFill>
              </a:rPr>
              <a:t>beginning</a:t>
            </a:r>
            <a:r>
              <a:rPr lang="zh-CN" altLang="en-US" dirty="0"/>
              <a:t> of the character;</a:t>
            </a:r>
          </a:p>
          <a:p>
            <a:pPr lvl="1" eaLnBrk="1" hangingPunct="1">
              <a:spcBef>
                <a:spcPct val="0"/>
              </a:spcBef>
            </a:pPr>
            <a:r>
              <a:rPr lang="zh-CN" altLang="en-US" dirty="0">
                <a:solidFill>
                  <a:srgbClr val="FF0000"/>
                </a:solidFill>
              </a:rPr>
              <a:t>The character data word</a:t>
            </a:r>
            <a:r>
              <a:rPr lang="zh-CN" altLang="en-US" dirty="0"/>
              <a:t> follows immediately after, typically consisting of </a:t>
            </a:r>
            <a:r>
              <a:rPr lang="zh-CN" altLang="en-US" dirty="0">
                <a:solidFill>
                  <a:srgbClr val="3333FF"/>
                </a:solidFill>
              </a:rPr>
              <a:t>7 or 8 bits</a:t>
            </a:r>
            <a:r>
              <a:rPr lang="zh-CN" altLang="en-US" dirty="0"/>
              <a:t> (</a:t>
            </a:r>
            <a:r>
              <a:rPr lang="zh-CN" altLang="en-US" dirty="0">
                <a:solidFill>
                  <a:srgbClr val="FF0000"/>
                </a:solidFill>
              </a:rPr>
              <a:t>low bits first, high bits last: </a:t>
            </a:r>
            <a:r>
              <a:rPr lang="en-US" altLang="zh-CN" dirty="0">
                <a:solidFill>
                  <a:srgbClr val="FF0000"/>
                </a:solidFill>
              </a:rPr>
              <a:t>D0D1D2D3D4D5D6D7</a:t>
            </a:r>
            <a:r>
              <a:rPr lang="zh-CN" altLang="en-US" dirty="0"/>
              <a:t>). </a:t>
            </a:r>
            <a:r>
              <a:rPr lang="zh-CN" altLang="en-US" dirty="0">
                <a:solidFill>
                  <a:srgbClr val="FF0000"/>
                </a:solidFill>
              </a:rPr>
              <a:t>A parity bit </a:t>
            </a:r>
            <a:r>
              <a:rPr lang="zh-CN" altLang="en-US" dirty="0"/>
              <a:t>may be added to the data word as needed.</a:t>
            </a:r>
          </a:p>
          <a:p>
            <a:pPr lvl="1" eaLnBrk="1" hangingPunct="1">
              <a:spcBef>
                <a:spcPct val="0"/>
              </a:spcBef>
            </a:pPr>
            <a:r>
              <a:rPr lang="zh-CN" altLang="en-US" dirty="0"/>
              <a:t>The final </a:t>
            </a:r>
            <a:r>
              <a:rPr lang="zh-CN" altLang="en-US" dirty="0">
                <a:solidFill>
                  <a:srgbClr val="FF0000"/>
                </a:solidFill>
              </a:rPr>
              <a:t>stop bit </a:t>
            </a:r>
            <a:r>
              <a:rPr lang="en-US" altLang="zh-CN" dirty="0">
                <a:solidFill>
                  <a:srgbClr val="FF0000"/>
                </a:solidFill>
              </a:rPr>
              <a:t>1</a:t>
            </a:r>
            <a:r>
              <a:rPr lang="zh-CN" altLang="en-US" dirty="0"/>
              <a:t>, which can be either </a:t>
            </a:r>
            <a:r>
              <a:rPr lang="zh-CN" altLang="en-US" dirty="0">
                <a:solidFill>
                  <a:srgbClr val="FF0000"/>
                </a:solidFill>
              </a:rPr>
              <a:t>a single bit or two bits</a:t>
            </a:r>
            <a:r>
              <a:rPr lang="zh-CN" altLang="en-US" dirty="0"/>
              <a:t>, completes the frame. The serial data word, </a:t>
            </a:r>
            <a:r>
              <a:rPr lang="zh-CN" altLang="en-US" dirty="0">
                <a:solidFill>
                  <a:srgbClr val="9900CC"/>
                </a:solidFill>
              </a:rPr>
              <a:t>along with </a:t>
            </a:r>
            <a:r>
              <a:rPr lang="zh-CN" altLang="en-US" dirty="0">
                <a:solidFill>
                  <a:srgbClr val="FF00FF"/>
                </a:solidFill>
              </a:rPr>
              <a:t>the start and stop bits of the framing signal</a:t>
            </a:r>
            <a:r>
              <a:rPr lang="zh-CN" altLang="en-US" dirty="0"/>
              <a:t>, forms a complete </a:t>
            </a:r>
            <a:r>
              <a:rPr lang="zh-CN" altLang="en-US" dirty="0">
                <a:solidFill>
                  <a:srgbClr val="FF00FF"/>
                </a:solidFill>
              </a:rPr>
              <a:t>serial transmission frame </a:t>
            </a:r>
            <a:r>
              <a:rPr lang="zh-CN" altLang="en-US" dirty="0">
                <a:solidFill>
                  <a:srgbClr val="9900CC"/>
                </a:solidFill>
              </a:rPr>
              <a:t>(</a:t>
            </a:r>
            <a:r>
              <a:rPr lang="zh-CN" altLang="en-US" dirty="0">
                <a:solidFill>
                  <a:srgbClr val="FF0000"/>
                </a:solidFill>
              </a:rPr>
              <a:t>character frame</a:t>
            </a:r>
            <a:r>
              <a:rPr lang="zh-CN" altLang="en-US" dirty="0">
                <a:solidFill>
                  <a:srgbClr val="9900CC"/>
                </a:solidFill>
              </a:rPr>
              <a:t>)</a:t>
            </a:r>
            <a:r>
              <a:rPr lang="zh-CN" altLang="en-US" dirty="0"/>
              <a:t>.</a:t>
            </a:r>
          </a:p>
          <a:p>
            <a:pPr lvl="1" eaLnBrk="1" hangingPunct="1">
              <a:spcBef>
                <a:spcPct val="0"/>
              </a:spcBef>
            </a:pPr>
            <a:r>
              <a:rPr lang="zh-CN" altLang="en-US" dirty="0">
                <a:solidFill>
                  <a:srgbClr val="FF0000"/>
                </a:solidFill>
              </a:rPr>
              <a:t>The start bit </a:t>
            </a:r>
            <a:r>
              <a:rPr lang="zh-CN" altLang="en-US" dirty="0"/>
              <a:t>is represented by </a:t>
            </a:r>
            <a:r>
              <a:rPr lang="zh-CN" altLang="en-US" dirty="0">
                <a:solidFill>
                  <a:srgbClr val="FF0000"/>
                </a:solidFill>
              </a:rPr>
              <a:t>a low logic level </a:t>
            </a:r>
            <a:r>
              <a:rPr lang="en-US" altLang="zh-CN" dirty="0"/>
              <a:t>“</a:t>
            </a:r>
            <a:r>
              <a:rPr lang="zh-CN" altLang="en-US" dirty="0">
                <a:solidFill>
                  <a:srgbClr val="FF0000"/>
                </a:solidFill>
              </a:rPr>
              <a:t>0</a:t>
            </a:r>
            <a:r>
              <a:rPr lang="en-US" altLang="zh-CN" dirty="0"/>
              <a:t>”</a:t>
            </a:r>
            <a:r>
              <a:rPr lang="zh-CN" altLang="en-US" dirty="0"/>
              <a:t>, and </a:t>
            </a:r>
            <a:r>
              <a:rPr lang="zh-CN" altLang="en-US" dirty="0">
                <a:solidFill>
                  <a:srgbClr val="FF0000"/>
                </a:solidFill>
              </a:rPr>
              <a:t>the stop bit </a:t>
            </a:r>
            <a:r>
              <a:rPr lang="zh-CN" altLang="en-US" dirty="0"/>
              <a:t>by</a:t>
            </a:r>
            <a:r>
              <a:rPr lang="zh-CN" altLang="en-US" dirty="0">
                <a:solidFill>
                  <a:srgbClr val="FF0000"/>
                </a:solidFill>
              </a:rPr>
              <a:t> a high logic level </a:t>
            </a:r>
            <a:r>
              <a:rPr lang="en-US" altLang="zh-CN" dirty="0"/>
              <a:t>“</a:t>
            </a:r>
            <a:r>
              <a:rPr lang="zh-CN" altLang="en-US" dirty="0">
                <a:solidFill>
                  <a:srgbClr val="FF0000"/>
                </a:solidFill>
              </a:rPr>
              <a:t>1</a:t>
            </a:r>
            <a:r>
              <a:rPr lang="en-US" altLang="zh-CN" dirty="0"/>
              <a:t>”</a:t>
            </a:r>
            <a:r>
              <a:rPr lang="zh-CN" altLang="en-US" dirty="0"/>
              <a:t>.</a:t>
            </a:r>
          </a:p>
        </p:txBody>
      </p:sp>
      <p:sp>
        <p:nvSpPr>
          <p:cNvPr id="2" name="灯片编号占位符 1"/>
          <p:cNvSpPr>
            <a:spLocks noGrp="1"/>
          </p:cNvSpPr>
          <p:nvPr>
            <p:ph type="sldNum" sz="quarter" idx="12"/>
          </p:nvPr>
        </p:nvSpPr>
        <p:spPr/>
        <p:txBody>
          <a:bodyPr/>
          <a:lstStyle/>
          <a:p>
            <a:fld id="{22E77DEE-32E4-4009-988B-F2758F7B8AC2}" type="slidenum">
              <a:rPr lang="zh-CN" altLang="en-US" smtClean="0"/>
              <a:t>7</a:t>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noChangeArrowheads="1"/>
          </p:cNvSpPr>
          <p:nvPr>
            <p:ph type="title"/>
          </p:nvPr>
        </p:nvSpPr>
        <p:spPr/>
        <p:txBody>
          <a:bodyPr>
            <a:normAutofit/>
          </a:bodyPr>
          <a:lstStyle/>
          <a:p>
            <a:pPr marL="514350" indent="-514350">
              <a:buFont typeface="宋体" panose="02010600030101010101" pitchFamily="2" charset="-122"/>
              <a:buAutoNum type="circleNumDbPlain"/>
            </a:pPr>
            <a:r>
              <a:rPr lang="zh-CN" altLang="en-US" sz="3600" b="1" dirty="0">
                <a:solidFill>
                  <a:srgbClr val="FF0000"/>
                </a:solidFill>
                <a:cs typeface="Arial" panose="020B0604020202020204" pitchFamily="34" charset="0"/>
              </a:rPr>
              <a:t>asynchronous communication</a:t>
            </a:r>
            <a:endParaRPr lang="zh-CN" altLang="en-US" sz="3600" b="1" dirty="0">
              <a:cs typeface="Arial" panose="020B0604020202020204" pitchFamily="34" charset="0"/>
            </a:endParaRPr>
          </a:p>
        </p:txBody>
      </p:sp>
      <p:sp>
        <p:nvSpPr>
          <p:cNvPr id="454659" name="Rectangle 3"/>
          <p:cNvSpPr>
            <a:spLocks noGrp="1" noChangeArrowheads="1"/>
          </p:cNvSpPr>
          <p:nvPr>
            <p:ph idx="1"/>
          </p:nvPr>
        </p:nvSpPr>
        <p:spPr>
          <a:xfrm>
            <a:off x="777240" y="1469571"/>
            <a:ext cx="7415621" cy="1160117"/>
          </a:xfrm>
        </p:spPr>
        <p:txBody>
          <a:bodyPr>
            <a:noAutofit/>
          </a:bodyPr>
          <a:lstStyle/>
          <a:p>
            <a:pPr eaLnBrk="1" hangingPunct="1">
              <a:spcBef>
                <a:spcPct val="0"/>
              </a:spcBef>
            </a:pPr>
            <a:r>
              <a:rPr lang="zh-CN" altLang="en-US" dirty="0">
                <a:cs typeface="Arial" panose="020B0604020202020204" pitchFamily="34" charset="0"/>
              </a:rPr>
              <a:t>Figure a shows the </a:t>
            </a:r>
            <a:r>
              <a:rPr lang="zh-CN" altLang="en-US" dirty="0">
                <a:solidFill>
                  <a:srgbClr val="FF00FF"/>
                </a:solidFill>
                <a:cs typeface="Arial" panose="020B0604020202020204" pitchFamily="34" charset="0"/>
              </a:rPr>
              <a:t>7-bit </a:t>
            </a:r>
            <a:r>
              <a:rPr lang="zh-CN" altLang="en-US" dirty="0">
                <a:cs typeface="Arial" panose="020B0604020202020204" pitchFamily="34" charset="0"/>
              </a:rPr>
              <a:t>ASCII code for data characters, with </a:t>
            </a:r>
            <a:r>
              <a:rPr lang="zh-CN" altLang="en-US" dirty="0">
                <a:solidFill>
                  <a:srgbClr val="CC3300"/>
                </a:solidFill>
                <a:cs typeface="Arial" panose="020B0604020202020204" pitchFamily="34" charset="0"/>
              </a:rPr>
              <a:t>the 8th bit serving as the parity bit</a:t>
            </a:r>
            <a:r>
              <a:rPr lang="zh-CN" altLang="en-US" dirty="0">
                <a:cs typeface="Arial" panose="020B0604020202020204" pitchFamily="34" charset="0"/>
              </a:rPr>
              <a:t>. </a:t>
            </a:r>
            <a:r>
              <a:rPr lang="zh-CN" altLang="en-US" dirty="0">
                <a:solidFill>
                  <a:srgbClr val="CC3300"/>
                </a:solidFill>
                <a:cs typeface="Arial" panose="020B0604020202020204" pitchFamily="34" charset="0"/>
              </a:rPr>
              <a:t>Together with the start and stop bits</a:t>
            </a:r>
            <a:r>
              <a:rPr lang="zh-CN" altLang="en-US" dirty="0">
                <a:cs typeface="Arial" panose="020B0604020202020204" pitchFamily="34" charset="0"/>
              </a:rPr>
              <a:t>, this </a:t>
            </a:r>
            <a:r>
              <a:rPr lang="zh-CN" altLang="en-US" dirty="0">
                <a:solidFill>
                  <a:srgbClr val="FF0000"/>
                </a:solidFill>
                <a:cs typeface="Arial" panose="020B0604020202020204" pitchFamily="34" charset="0"/>
              </a:rPr>
              <a:t>forms</a:t>
            </a:r>
            <a:r>
              <a:rPr lang="zh-CN" altLang="en-US" dirty="0">
                <a:cs typeface="Arial" panose="020B0604020202020204" pitchFamily="34" charset="0"/>
              </a:rPr>
              <a:t> </a:t>
            </a:r>
            <a:r>
              <a:rPr lang="zh-CN" altLang="en-US" dirty="0">
                <a:solidFill>
                  <a:srgbClr val="FF00FF"/>
                </a:solidFill>
                <a:cs typeface="Arial" panose="020B0604020202020204" pitchFamily="34" charset="0"/>
              </a:rPr>
              <a:t>a 10-bit character frame</a:t>
            </a:r>
            <a:r>
              <a:rPr lang="zh-CN" altLang="en-US" dirty="0">
                <a:cs typeface="Arial" panose="020B0604020202020204" pitchFamily="34" charset="0"/>
              </a:rPr>
              <a:t>. Once the frame signal is established, characters are transmitted sequentially.</a:t>
            </a:r>
          </a:p>
          <a:p>
            <a:pPr eaLnBrk="1" hangingPunct="1">
              <a:spcBef>
                <a:spcPct val="0"/>
              </a:spcBef>
            </a:pPr>
            <a:endParaRPr lang="en-US" altLang="zh-CN" dirty="0">
              <a:cs typeface="Arial" panose="020B0604020202020204" pitchFamily="34" charset="0"/>
            </a:endParaRPr>
          </a:p>
        </p:txBody>
      </p:sp>
      <p:pic>
        <p:nvPicPr>
          <p:cNvPr id="28676" name="Picture 32" descr="D:\DOCUME~1\ADMINI~1\LOCALS~1\Temp\HS5ClipImage_5690a939.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75" y="3048000"/>
            <a:ext cx="9028113" cy="309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7"/>
          <p:cNvSpPr>
            <a:spLocks noChangeArrowheads="1"/>
          </p:cNvSpPr>
          <p:nvPr/>
        </p:nvSpPr>
        <p:spPr bwMode="auto">
          <a:xfrm>
            <a:off x="711889" y="5777191"/>
            <a:ext cx="7212222"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tIns="0" rIns="36000" bIns="0"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dirty="0">
                <a:solidFill>
                  <a:srgbClr val="FF0000"/>
                </a:solidFill>
                <a:latin typeface="+mn-lt"/>
              </a:rPr>
              <a:t>a) Communication format for 7-bit ASCII data characters</a:t>
            </a:r>
            <a:endParaRPr lang="zh-CN" altLang="en-US" sz="2400" b="1" dirty="0">
              <a:solidFill>
                <a:srgbClr val="FF0000"/>
              </a:solidFill>
              <a:latin typeface="+mn-lt"/>
            </a:endParaRPr>
          </a:p>
        </p:txBody>
      </p:sp>
      <p:sp>
        <p:nvSpPr>
          <p:cNvPr id="28679" name="矩形 7"/>
          <p:cNvSpPr>
            <a:spLocks noChangeArrowheads="1"/>
          </p:cNvSpPr>
          <p:nvPr/>
        </p:nvSpPr>
        <p:spPr bwMode="auto">
          <a:xfrm>
            <a:off x="2071688" y="4265613"/>
            <a:ext cx="3082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en-US" altLang="zh-CN">
                <a:solidFill>
                  <a:srgbClr val="FF0000"/>
                </a:solidFill>
              </a:rPr>
              <a:t>D0  D1  D2  D3  D4  D5  D6</a:t>
            </a:r>
            <a:endParaRPr lang="zh-CN" altLang="en-US"/>
          </a:p>
        </p:txBody>
      </p:sp>
      <p:sp>
        <p:nvSpPr>
          <p:cNvPr id="2" name="灯片编号占位符 1"/>
          <p:cNvSpPr>
            <a:spLocks noGrp="1"/>
          </p:cNvSpPr>
          <p:nvPr>
            <p:ph type="sldNum" sz="quarter" idx="12"/>
          </p:nvPr>
        </p:nvSpPr>
        <p:spPr/>
        <p:txBody>
          <a:bodyPr/>
          <a:lstStyle/>
          <a:p>
            <a:fld id="{22E77DEE-32E4-4009-988B-F2758F7B8AC2}" type="slidenum">
              <a:rPr lang="zh-CN" altLang="en-US" smtClean="0"/>
              <a:t>8</a:t>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noChangeArrowheads="1"/>
          </p:cNvSpPr>
          <p:nvPr>
            <p:ph type="title"/>
          </p:nvPr>
        </p:nvSpPr>
        <p:spPr>
          <a:xfrm>
            <a:off x="822959" y="286605"/>
            <a:ext cx="5968825" cy="831478"/>
          </a:xfrm>
        </p:spPr>
        <p:txBody>
          <a:bodyPr>
            <a:noAutofit/>
          </a:bodyPr>
          <a:lstStyle/>
          <a:p>
            <a:pPr marL="514350" indent="-514350">
              <a:buFont typeface="宋体" panose="02010600030101010101" pitchFamily="2" charset="-122"/>
              <a:buAutoNum type="circleNumDbPlain"/>
            </a:pPr>
            <a:r>
              <a:rPr lang="zh-CN" altLang="en-US" sz="3600" b="1" dirty="0">
                <a:solidFill>
                  <a:srgbClr val="FF0000"/>
                </a:solidFill>
                <a:cs typeface="Arial" panose="020B0604020202020204" pitchFamily="34" charset="0"/>
              </a:rPr>
              <a:t>asynchronous</a:t>
            </a:r>
            <a:r>
              <a:rPr lang="zh-CN" altLang="en-US" sz="3200" b="1" dirty="0">
                <a:solidFill>
                  <a:srgbClr val="FF0000"/>
                </a:solidFill>
                <a:cs typeface="Arial" panose="020B0604020202020204" pitchFamily="34" charset="0"/>
              </a:rPr>
              <a:t> communication</a:t>
            </a:r>
            <a:endParaRPr lang="zh-CN" altLang="en-US" sz="3200" b="1" dirty="0">
              <a:cs typeface="Arial" panose="020B0604020202020204" pitchFamily="34" charset="0"/>
            </a:endParaRPr>
          </a:p>
        </p:txBody>
      </p:sp>
      <p:sp>
        <p:nvSpPr>
          <p:cNvPr id="846851" name="Rectangle 3"/>
          <p:cNvSpPr>
            <a:spLocks noGrp="1" noChangeArrowheads="1"/>
          </p:cNvSpPr>
          <p:nvPr>
            <p:ph idx="1"/>
          </p:nvPr>
        </p:nvSpPr>
        <p:spPr>
          <a:xfrm>
            <a:off x="791633" y="1430867"/>
            <a:ext cx="7529407" cy="1298045"/>
          </a:xfrm>
        </p:spPr>
        <p:txBody>
          <a:bodyPr>
            <a:normAutofit/>
          </a:bodyPr>
          <a:lstStyle/>
          <a:p>
            <a:pPr eaLnBrk="1" hangingPunct="1">
              <a:spcBef>
                <a:spcPct val="0"/>
              </a:spcBef>
            </a:pPr>
            <a:r>
              <a:rPr lang="zh-CN" altLang="en-US" dirty="0">
                <a:cs typeface="Arial" panose="020B0604020202020204" pitchFamily="34" charset="0"/>
              </a:rPr>
              <a:t>In asynchronous transmission, </a:t>
            </a:r>
            <a:r>
              <a:rPr lang="zh-CN" altLang="en-US" dirty="0">
                <a:solidFill>
                  <a:srgbClr val="9900CC"/>
                </a:solidFill>
                <a:cs typeface="Arial" panose="020B0604020202020204" pitchFamily="34" charset="0"/>
              </a:rPr>
              <a:t>the character intervals are not fixed</a:t>
            </a:r>
            <a:r>
              <a:rPr lang="zh-CN" altLang="en-US" dirty="0">
                <a:cs typeface="Arial" panose="020B0604020202020204" pitchFamily="34" charset="0"/>
              </a:rPr>
              <a:t>. </a:t>
            </a:r>
            <a:r>
              <a:rPr lang="zh-CN" altLang="en-US" dirty="0">
                <a:solidFill>
                  <a:srgbClr val="FF0000"/>
                </a:solidFill>
                <a:cs typeface="Arial" panose="020B0604020202020204" pitchFamily="34" charset="0"/>
              </a:rPr>
              <a:t>Idle bits can be added after the stop bit</a:t>
            </a:r>
            <a:r>
              <a:rPr lang="zh-CN" altLang="en-US" dirty="0">
                <a:cs typeface="Arial" panose="020B0604020202020204" pitchFamily="34" charset="0"/>
              </a:rPr>
              <a:t>, which are represented by high level and used to wait for transmission. In this way, the receiving and sending can be carried out at any time without time limit.</a:t>
            </a:r>
          </a:p>
        </p:txBody>
      </p:sp>
      <p:sp>
        <p:nvSpPr>
          <p:cNvPr id="29700" name="Rectangle 5"/>
          <p:cNvSpPr>
            <a:spLocks noChangeArrowheads="1"/>
          </p:cNvSpPr>
          <p:nvPr/>
        </p:nvSpPr>
        <p:spPr bwMode="auto">
          <a:xfrm>
            <a:off x="0" y="2476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14000"/>
              </a:lnSpc>
              <a:spcAft>
                <a:spcPts val="600"/>
              </a:spcAft>
              <a:buBlip>
                <a:blip r:embed="rId2"/>
              </a:buBlip>
              <a:defRPr sz="2800" b="1">
                <a:solidFill>
                  <a:schemeClr val="accent2"/>
                </a:solidFill>
                <a:latin typeface="Times New Roman" panose="02020603050405020304" pitchFamily="18" charset="0"/>
                <a:ea typeface="宋体" panose="02010600030101010101" pitchFamily="2" charset="-122"/>
              </a:defRPr>
            </a:lvl1pPr>
            <a:lvl2pPr marL="742950" indent="-285750" algn="just">
              <a:lnSpc>
                <a:spcPct val="114000"/>
              </a:lnSpc>
              <a:spcAft>
                <a:spcPts val="600"/>
              </a:spcAft>
              <a:buBlip>
                <a:blip r:embed="rId3"/>
              </a:buBlip>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spcAft>
                <a:spcPct val="0"/>
              </a:spcAft>
              <a:buFontTx/>
              <a:buNone/>
            </a:pPr>
            <a:endParaRPr lang="zh-CN" altLang="en-US" sz="1800" b="0">
              <a:solidFill>
                <a:schemeClr val="tx1"/>
              </a:solidFill>
              <a:latin typeface="Arial" panose="020B0604020202020204" pitchFamily="34" charset="0"/>
            </a:endParaRPr>
          </a:p>
        </p:txBody>
      </p:sp>
      <p:pic>
        <p:nvPicPr>
          <p:cNvPr id="7" name="Picture 34" descr="D:\DOCUME~1\ADMINI~1\LOCALS~1\Temp\HS5ClipImage_5690a9d4.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413" y="3081338"/>
            <a:ext cx="8948737" cy="320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a:spLocks noChangeArrowheads="1"/>
          </p:cNvSpPr>
          <p:nvPr/>
        </p:nvSpPr>
        <p:spPr bwMode="auto">
          <a:xfrm>
            <a:off x="2418029" y="5917168"/>
            <a:ext cx="6555312"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tIns="0" rIns="36000" bIns="0"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dirty="0">
                <a:solidFill>
                  <a:srgbClr val="FF0000"/>
                </a:solidFill>
                <a:latin typeface="+mn-lt"/>
              </a:rPr>
              <a:t>b) Communication format when there is free space</a:t>
            </a:r>
            <a:endParaRPr lang="zh-CN" altLang="en-US" sz="2400" b="1" dirty="0">
              <a:solidFill>
                <a:srgbClr val="FF0000"/>
              </a:solidFill>
              <a:latin typeface="+mn-lt"/>
            </a:endParaRPr>
          </a:p>
        </p:txBody>
      </p:sp>
      <p:sp>
        <p:nvSpPr>
          <p:cNvPr id="9" name="矩形 8"/>
          <p:cNvSpPr>
            <a:spLocks noChangeArrowheads="1"/>
          </p:cNvSpPr>
          <p:nvPr/>
        </p:nvSpPr>
        <p:spPr bwMode="auto">
          <a:xfrm>
            <a:off x="1233488" y="4189413"/>
            <a:ext cx="3403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en-US" altLang="zh-CN">
                <a:solidFill>
                  <a:srgbClr val="FF0000"/>
                </a:solidFill>
              </a:rPr>
              <a:t>D0   D1  D2    D3   D4   D5   D6</a:t>
            </a:r>
            <a:endParaRPr lang="zh-CN" altLang="en-US"/>
          </a:p>
        </p:txBody>
      </p:sp>
      <p:sp>
        <p:nvSpPr>
          <p:cNvPr id="2" name="灯片编号占位符 1"/>
          <p:cNvSpPr>
            <a:spLocks noGrp="1"/>
          </p:cNvSpPr>
          <p:nvPr>
            <p:ph type="sldNum" sz="quarter" idx="12"/>
          </p:nvPr>
        </p:nvSpPr>
        <p:spPr/>
        <p:txBody>
          <a:bodyPr/>
          <a:lstStyle/>
          <a:p>
            <a:fld id="{22E77DEE-32E4-4009-988B-F2758F7B8AC2}" type="slidenum">
              <a:rPr lang="zh-CN" altLang="en-US" smtClean="0"/>
              <a:t>9</a:t>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noChangeArrowheads="1"/>
          </p:cNvSpPr>
          <p:nvPr>
            <p:ph type="title"/>
          </p:nvPr>
        </p:nvSpPr>
        <p:spPr/>
        <p:txBody>
          <a:bodyPr>
            <a:normAutofit/>
          </a:bodyPr>
          <a:lstStyle/>
          <a:p>
            <a:pPr marL="514350" indent="-514350">
              <a:buFont typeface="宋体" panose="02010600030101010101" pitchFamily="2" charset="-122"/>
              <a:buAutoNum type="circleNumDbPlain"/>
            </a:pPr>
            <a:r>
              <a:rPr lang="zh-CN" altLang="en-US" sz="3600" b="1" dirty="0">
                <a:solidFill>
                  <a:srgbClr val="FF0000"/>
                </a:solidFill>
                <a:cs typeface="Arial" panose="020B0604020202020204" pitchFamily="34" charset="0"/>
              </a:rPr>
              <a:t>asynchronous communication</a:t>
            </a:r>
            <a:endParaRPr lang="zh-CN" altLang="en-US" sz="3600" b="1" dirty="0">
              <a:cs typeface="Arial" panose="020B0604020202020204" pitchFamily="34" charset="0"/>
            </a:endParaRPr>
          </a:p>
        </p:txBody>
      </p:sp>
      <p:sp>
        <p:nvSpPr>
          <p:cNvPr id="455683" name="Rectangle 3"/>
          <p:cNvSpPr>
            <a:spLocks noGrp="1" noChangeArrowheads="1"/>
          </p:cNvSpPr>
          <p:nvPr>
            <p:ph idx="1"/>
          </p:nvPr>
        </p:nvSpPr>
        <p:spPr>
          <a:xfrm>
            <a:off x="822960" y="1430868"/>
            <a:ext cx="7393940" cy="3693582"/>
          </a:xfrm>
        </p:spPr>
        <p:txBody>
          <a:bodyPr>
            <a:noAutofit/>
          </a:bodyPr>
          <a:lstStyle/>
          <a:p>
            <a:pPr eaLnBrk="1" hangingPunct="1">
              <a:spcAft>
                <a:spcPts val="1500"/>
              </a:spcAft>
              <a:defRPr/>
            </a:pPr>
            <a:r>
              <a:rPr lang="zh-CN" altLang="en-US" sz="1800" dirty="0">
                <a:cs typeface="Arial" panose="020B0604020202020204" pitchFamily="34" charset="0"/>
              </a:rPr>
              <a:t>In asynchronous data transfer, the two parties must </a:t>
            </a:r>
            <a:r>
              <a:rPr lang="zh-CN" altLang="en-US" sz="1800" dirty="0">
                <a:solidFill>
                  <a:srgbClr val="FF00FF"/>
                </a:solidFill>
                <a:cs typeface="Arial" panose="020B0604020202020204" pitchFamily="34" charset="0"/>
              </a:rPr>
              <a:t>agree on two things</a:t>
            </a:r>
            <a:r>
              <a:rPr lang="zh-CN" altLang="en-US" sz="1800" dirty="0">
                <a:cs typeface="Arial" panose="020B0604020202020204" pitchFamily="34" charset="0"/>
              </a:rPr>
              <a:t>:</a:t>
            </a:r>
          </a:p>
          <a:p>
            <a:pPr lvl="1" eaLnBrk="1" hangingPunct="1">
              <a:spcAft>
                <a:spcPts val="1500"/>
              </a:spcAft>
              <a:defRPr/>
            </a:pPr>
            <a:r>
              <a:rPr lang="zh-CN" altLang="en-US" dirty="0">
                <a:solidFill>
                  <a:srgbClr val="FF00FF"/>
                </a:solidFill>
                <a:cs typeface="Arial" panose="020B0604020202020204" pitchFamily="34" charset="0"/>
              </a:rPr>
              <a:t>Character format</a:t>
            </a:r>
            <a:r>
              <a:rPr lang="zh-CN" altLang="en-US" dirty="0">
                <a:solidFill>
                  <a:srgbClr val="CC3300"/>
                </a:solidFill>
                <a:cs typeface="Arial" panose="020B0604020202020204" pitchFamily="34" charset="0"/>
              </a:rPr>
              <a:t>:</a:t>
            </a:r>
            <a:r>
              <a:rPr lang="zh-CN" altLang="en-US" dirty="0">
                <a:solidFill>
                  <a:srgbClr val="FF00FF"/>
                </a:solidFill>
                <a:cs typeface="Arial" panose="020B0604020202020204" pitchFamily="34" charset="0"/>
              </a:rPr>
              <a:t> </a:t>
            </a:r>
            <a:r>
              <a:rPr lang="zh-CN" altLang="en-US" dirty="0">
                <a:cs typeface="Arial" panose="020B0604020202020204" pitchFamily="34" charset="0"/>
              </a:rPr>
              <a:t>includes the </a:t>
            </a:r>
            <a:r>
              <a:rPr lang="zh-CN" altLang="en-US" dirty="0">
                <a:solidFill>
                  <a:srgbClr val="FF00FF"/>
                </a:solidFill>
                <a:cs typeface="Arial" panose="020B0604020202020204" pitchFamily="34" charset="0"/>
              </a:rPr>
              <a:t>encoding format of </a:t>
            </a:r>
            <a:r>
              <a:rPr lang="zh-CN" altLang="en-US" dirty="0">
                <a:cs typeface="Arial" panose="020B0604020202020204" pitchFamily="34" charset="0"/>
              </a:rPr>
              <a:t>characters,</a:t>
            </a:r>
            <a:r>
              <a:rPr lang="zh-CN" altLang="en-US" dirty="0">
                <a:solidFill>
                  <a:srgbClr val="FF00FF"/>
                </a:solidFill>
                <a:cs typeface="Arial" panose="020B0604020202020204" pitchFamily="34" charset="0"/>
              </a:rPr>
              <a:t> parity</a:t>
            </a:r>
            <a:r>
              <a:rPr lang="zh-CN" altLang="en-US" dirty="0">
                <a:cs typeface="Arial" panose="020B0604020202020204" pitchFamily="34" charset="0"/>
              </a:rPr>
              <a:t>,</a:t>
            </a:r>
            <a:r>
              <a:rPr lang="zh-CN" altLang="en-US" dirty="0">
                <a:solidFill>
                  <a:srgbClr val="FF00FF"/>
                </a:solidFill>
                <a:cs typeface="Arial" panose="020B0604020202020204" pitchFamily="34" charset="0"/>
              </a:rPr>
              <a:t> </a:t>
            </a:r>
            <a:r>
              <a:rPr lang="zh-CN" altLang="en-US" dirty="0">
                <a:cs typeface="Arial" panose="020B0604020202020204" pitchFamily="34" charset="0"/>
              </a:rPr>
              <a:t>and</a:t>
            </a:r>
            <a:r>
              <a:rPr lang="zh-CN" altLang="en-US" dirty="0">
                <a:solidFill>
                  <a:srgbClr val="FF00FF"/>
                </a:solidFill>
                <a:cs typeface="Arial" panose="020B0604020202020204" pitchFamily="34" charset="0"/>
              </a:rPr>
              <a:t> start </a:t>
            </a:r>
            <a:r>
              <a:rPr lang="zh-CN" altLang="en-US" dirty="0">
                <a:cs typeface="Arial" panose="020B0604020202020204" pitchFamily="34" charset="0"/>
              </a:rPr>
              <a:t>and </a:t>
            </a:r>
            <a:r>
              <a:rPr lang="zh-CN" altLang="en-US" dirty="0">
                <a:solidFill>
                  <a:srgbClr val="FF00FF"/>
                </a:solidFill>
                <a:cs typeface="Arial" panose="020B0604020202020204" pitchFamily="34" charset="0"/>
              </a:rPr>
              <a:t>stop bits</a:t>
            </a:r>
            <a:r>
              <a:rPr lang="zh-CN" altLang="en-US" dirty="0">
                <a:cs typeface="Arial" panose="020B0604020202020204" pitchFamily="34" charset="0"/>
              </a:rPr>
              <a:t>.</a:t>
            </a:r>
          </a:p>
          <a:p>
            <a:pPr lvl="1" eaLnBrk="1" hangingPunct="1">
              <a:spcAft>
                <a:spcPts val="1500"/>
              </a:spcAft>
              <a:defRPr/>
            </a:pPr>
            <a:r>
              <a:rPr lang="zh-CN" altLang="en-US" dirty="0">
                <a:solidFill>
                  <a:srgbClr val="FF00FF"/>
                </a:solidFill>
                <a:cs typeface="Arial" panose="020B0604020202020204" pitchFamily="34" charset="0"/>
              </a:rPr>
              <a:t>Communication rate</a:t>
            </a:r>
            <a:r>
              <a:rPr lang="zh-CN" altLang="en-US" dirty="0">
                <a:solidFill>
                  <a:srgbClr val="CC3300"/>
                </a:solidFill>
                <a:cs typeface="Arial" panose="020B0604020202020204" pitchFamily="34" charset="0"/>
              </a:rPr>
              <a:t>:</a:t>
            </a:r>
            <a:r>
              <a:rPr lang="zh-CN" altLang="en-US" dirty="0">
                <a:solidFill>
                  <a:srgbClr val="FF00FF"/>
                </a:solidFill>
                <a:cs typeface="Arial" panose="020B0604020202020204" pitchFamily="34" charset="0"/>
              </a:rPr>
              <a:t> </a:t>
            </a:r>
            <a:r>
              <a:rPr lang="zh-CN" altLang="en-US" dirty="0">
                <a:cs typeface="Arial" panose="020B0604020202020204" pitchFamily="34" charset="0"/>
              </a:rPr>
              <a:t>The communication rate is usually expressed in </a:t>
            </a:r>
            <a:r>
              <a:rPr lang="zh-CN" altLang="en-US" dirty="0">
                <a:solidFill>
                  <a:srgbClr val="FF00FF"/>
                </a:solidFill>
                <a:cs typeface="Arial" panose="020B0604020202020204" pitchFamily="34" charset="0"/>
              </a:rPr>
              <a:t>bits per second</a:t>
            </a:r>
            <a:r>
              <a:rPr lang="zh-CN" altLang="en-US" dirty="0">
                <a:cs typeface="Arial" panose="020B0604020202020204" pitchFamily="34" charset="0"/>
              </a:rPr>
              <a:t>.</a:t>
            </a:r>
            <a:endParaRPr lang="en-US" altLang="zh-CN" dirty="0">
              <a:cs typeface="Arial" panose="020B0604020202020204" pitchFamily="34" charset="0"/>
            </a:endParaRPr>
          </a:p>
          <a:p>
            <a:pPr marL="444500" lvl="1" indent="-177800" eaLnBrk="1" hangingPunct="1">
              <a:spcAft>
                <a:spcPts val="1500"/>
              </a:spcAft>
              <a:buClr>
                <a:srgbClr val="FF0000"/>
              </a:buClr>
              <a:buSzPct val="80000"/>
              <a:buFont typeface="Wingdings" panose="05000000000000000000" pitchFamily="2" charset="2"/>
              <a:buChar char="Ø"/>
              <a:defRPr/>
            </a:pPr>
            <a:r>
              <a:rPr lang="zh-CN" altLang="en-US" dirty="0">
                <a:solidFill>
                  <a:srgbClr val="FF00FF"/>
                </a:solidFill>
                <a:cs typeface="Arial" panose="020B0604020202020204" pitchFamily="34" charset="0"/>
              </a:rPr>
              <a:t>Bit rate </a:t>
            </a:r>
            <a:r>
              <a:rPr lang="zh-CN" altLang="en-US" dirty="0">
                <a:cs typeface="Arial" panose="020B0604020202020204" pitchFamily="34" charset="0"/>
              </a:rPr>
              <a:t>is</a:t>
            </a:r>
            <a:r>
              <a:rPr lang="zh-CN" altLang="en-US" dirty="0">
                <a:solidFill>
                  <a:srgbClr val="FF00FF"/>
                </a:solidFill>
                <a:cs typeface="Arial" panose="020B0604020202020204" pitchFamily="34" charset="0"/>
              </a:rPr>
              <a:t> </a:t>
            </a:r>
            <a:r>
              <a:rPr lang="zh-CN" altLang="en-US" dirty="0">
                <a:solidFill>
                  <a:srgbClr val="FF0000"/>
                </a:solidFill>
                <a:cs typeface="Arial" panose="020B0604020202020204" pitchFamily="34" charset="0"/>
              </a:rPr>
              <a:t>the transmission rate of a digital signal</a:t>
            </a:r>
            <a:r>
              <a:rPr lang="zh-CN" altLang="en-US" dirty="0">
                <a:solidFill>
                  <a:srgbClr val="FF00FF"/>
                </a:solidFill>
                <a:cs typeface="Arial" panose="020B0604020202020204" pitchFamily="34" charset="0"/>
              </a:rPr>
              <a:t>, which is expressed by </a:t>
            </a:r>
            <a:r>
              <a:rPr lang="zh-CN" altLang="en-US" dirty="0">
                <a:solidFill>
                  <a:srgbClr val="FF0000"/>
                </a:solidFill>
                <a:cs typeface="Arial" panose="020B0604020202020204" pitchFamily="34" charset="0"/>
              </a:rPr>
              <a:t>the number of valid bits (bits) of binary code transmitted per unit time</a:t>
            </a:r>
            <a:r>
              <a:rPr lang="zh-CN" altLang="en-US" dirty="0">
                <a:cs typeface="Arial" panose="020B0604020202020204" pitchFamily="34" charset="0"/>
              </a:rPr>
              <a:t>;</a:t>
            </a:r>
            <a:endParaRPr lang="en-US" altLang="zh-CN" dirty="0">
              <a:cs typeface="Arial" panose="020B0604020202020204" pitchFamily="34" charset="0"/>
            </a:endParaRPr>
          </a:p>
          <a:p>
            <a:pPr marL="444500" lvl="1" indent="-177800" eaLnBrk="1" hangingPunct="1">
              <a:spcAft>
                <a:spcPts val="1500"/>
              </a:spcAft>
              <a:buClr>
                <a:srgbClr val="FF0000"/>
              </a:buClr>
              <a:buSzPct val="80000"/>
              <a:buFont typeface="Wingdings" panose="05000000000000000000" pitchFamily="2" charset="2"/>
              <a:buChar char="Ø"/>
              <a:defRPr/>
            </a:pPr>
            <a:r>
              <a:rPr lang="zh-CN" altLang="en-US" dirty="0">
                <a:cs typeface="Arial" panose="020B0604020202020204" pitchFamily="34" charset="0"/>
              </a:rPr>
              <a:t>It is expressed in bits per second (</a:t>
            </a:r>
            <a:r>
              <a:rPr lang="zh-CN" altLang="en-US" dirty="0">
                <a:solidFill>
                  <a:srgbClr val="FF0000"/>
                </a:solidFill>
                <a:cs typeface="Arial" panose="020B0604020202020204" pitchFamily="34" charset="0"/>
              </a:rPr>
              <a:t>bit/s</a:t>
            </a:r>
            <a:r>
              <a:rPr lang="zh-CN" altLang="en-US" dirty="0">
                <a:cs typeface="Arial" panose="020B0604020202020204" pitchFamily="34" charset="0"/>
              </a:rPr>
              <a:t> or </a:t>
            </a:r>
            <a:r>
              <a:rPr lang="zh-CN" altLang="en-US" dirty="0">
                <a:solidFill>
                  <a:srgbClr val="FF0000"/>
                </a:solidFill>
                <a:cs typeface="Arial" panose="020B0604020202020204" pitchFamily="34" charset="0"/>
              </a:rPr>
              <a:t>bps</a:t>
            </a:r>
            <a:r>
              <a:rPr lang="zh-CN" altLang="en-US" dirty="0">
                <a:cs typeface="Arial" panose="020B0604020202020204" pitchFamily="34" charset="0"/>
              </a:rPr>
              <a:t>), kilobits per second (</a:t>
            </a:r>
            <a:r>
              <a:rPr lang="zh-CN" altLang="en-US" dirty="0">
                <a:solidFill>
                  <a:srgbClr val="FF0000"/>
                </a:solidFill>
                <a:cs typeface="Arial" panose="020B0604020202020204" pitchFamily="34" charset="0"/>
              </a:rPr>
              <a:t>Kbps</a:t>
            </a:r>
            <a:r>
              <a:rPr lang="zh-CN" altLang="en-US" dirty="0">
                <a:cs typeface="Arial" panose="020B0604020202020204" pitchFamily="34" charset="0"/>
              </a:rPr>
              <a:t>), or megabits per second (</a:t>
            </a:r>
            <a:r>
              <a:rPr lang="zh-CN" altLang="en-US" dirty="0">
                <a:solidFill>
                  <a:srgbClr val="FF0000"/>
                </a:solidFill>
                <a:cs typeface="Arial" panose="020B0604020202020204" pitchFamily="34" charset="0"/>
              </a:rPr>
              <a:t>Mbps</a:t>
            </a:r>
            <a:r>
              <a:rPr lang="zh-CN" altLang="en-US" dirty="0">
                <a:cs typeface="Arial" panose="020B0604020202020204" pitchFamily="34" charset="0"/>
              </a:rPr>
              <a:t>).</a:t>
            </a:r>
            <a:endParaRPr lang="en-US" altLang="zh-CN" dirty="0">
              <a:cs typeface="Arial" panose="020B0604020202020204" pitchFamily="34" charset="0"/>
            </a:endParaRPr>
          </a:p>
          <a:p>
            <a:pPr marL="266700" lvl="1" indent="0" eaLnBrk="1" hangingPunct="1">
              <a:lnSpc>
                <a:spcPct val="105000"/>
              </a:lnSpc>
              <a:spcAft>
                <a:spcPts val="1200"/>
              </a:spcAft>
              <a:buClr>
                <a:srgbClr val="FF0000"/>
              </a:buClr>
              <a:buSzPct val="80000"/>
              <a:buFontTx/>
              <a:buNone/>
              <a:defRPr/>
            </a:pPr>
            <a:r>
              <a:rPr lang="en-US" altLang="zh-CN" dirty="0">
                <a:solidFill>
                  <a:srgbClr val="FF0000"/>
                </a:solidFill>
                <a:cs typeface="Arial" panose="020B0604020202020204" pitchFamily="34" charset="0"/>
              </a:rPr>
              <a:t>bps： b</a:t>
            </a:r>
            <a:r>
              <a:rPr lang="en-US" altLang="zh-CN" dirty="0">
                <a:solidFill>
                  <a:srgbClr val="3333FF"/>
                </a:solidFill>
                <a:cs typeface="Arial" panose="020B0604020202020204" pitchFamily="34" charset="0"/>
              </a:rPr>
              <a:t>it</a:t>
            </a:r>
            <a:r>
              <a:rPr lang="en-US" altLang="zh-CN" dirty="0">
                <a:solidFill>
                  <a:srgbClr val="FF0000"/>
                </a:solidFill>
                <a:cs typeface="Arial" panose="020B0604020202020204" pitchFamily="34" charset="0"/>
              </a:rPr>
              <a:t> p</a:t>
            </a:r>
            <a:r>
              <a:rPr lang="en-US" altLang="zh-CN" dirty="0">
                <a:solidFill>
                  <a:srgbClr val="3333FF"/>
                </a:solidFill>
                <a:cs typeface="Arial" panose="020B0604020202020204" pitchFamily="34" charset="0"/>
              </a:rPr>
              <a:t>er</a:t>
            </a:r>
            <a:r>
              <a:rPr lang="en-US" altLang="zh-CN" dirty="0">
                <a:solidFill>
                  <a:srgbClr val="FF0000"/>
                </a:solidFill>
                <a:cs typeface="Arial" panose="020B0604020202020204" pitchFamily="34" charset="0"/>
              </a:rPr>
              <a:t> s</a:t>
            </a:r>
            <a:r>
              <a:rPr lang="en-US" altLang="zh-CN" dirty="0">
                <a:solidFill>
                  <a:srgbClr val="3333FF"/>
                </a:solidFill>
                <a:cs typeface="Arial" panose="020B0604020202020204" pitchFamily="34" charset="0"/>
              </a:rPr>
              <a:t>econd</a:t>
            </a:r>
            <a:endParaRPr lang="zh-CN" altLang="en-US" dirty="0">
              <a:solidFill>
                <a:srgbClr val="3333FF"/>
              </a:solidFill>
              <a:cs typeface="Arial" panose="020B0604020202020204" pitchFamily="34" charset="0"/>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10</a:t>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noChangeArrowheads="1"/>
          </p:cNvSpPr>
          <p:nvPr>
            <p:ph type="title"/>
          </p:nvPr>
        </p:nvSpPr>
        <p:spPr>
          <a:xfrm>
            <a:off x="822960" y="286605"/>
            <a:ext cx="7879606" cy="831478"/>
          </a:xfrm>
        </p:spPr>
        <p:txBody>
          <a:bodyPr vert="horz" lIns="91440" tIns="45720" rIns="91440" bIns="45720" rtlCol="0" anchor="b">
            <a:normAutofit/>
          </a:bodyPr>
          <a:lstStyle/>
          <a:p>
            <a:pPr marL="514350" indent="-514350">
              <a:buFont typeface="宋体" panose="02010600030101010101" pitchFamily="2" charset="-122"/>
              <a:buAutoNum type="circleNumDbPlain"/>
            </a:pPr>
            <a:r>
              <a:rPr lang="zh-CN" altLang="en-US" sz="3600" dirty="0">
                <a:solidFill>
                  <a:srgbClr val="FF0000"/>
                </a:solidFill>
                <a:latin typeface="Arial" panose="020B0604020202020204" pitchFamily="34" charset="0"/>
                <a:cs typeface="Arial" panose="020B0604020202020204" pitchFamily="34" charset="0"/>
              </a:rPr>
              <a:t>asynchronous communication</a:t>
            </a:r>
          </a:p>
        </p:txBody>
      </p:sp>
      <p:sp>
        <p:nvSpPr>
          <p:cNvPr id="336899" name="Rectangle 3"/>
          <p:cNvSpPr>
            <a:spLocks noGrp="1" noChangeArrowheads="1"/>
          </p:cNvSpPr>
          <p:nvPr>
            <p:ph idx="1"/>
          </p:nvPr>
        </p:nvSpPr>
        <p:spPr>
          <a:xfrm>
            <a:off x="876300" y="1439333"/>
            <a:ext cx="7450668" cy="4582055"/>
          </a:xfrm>
        </p:spPr>
        <p:txBody>
          <a:bodyPr>
            <a:normAutofit/>
          </a:bodyPr>
          <a:lstStyle/>
          <a:p>
            <a:pPr>
              <a:spcBef>
                <a:spcPct val="0"/>
              </a:spcBef>
            </a:pPr>
            <a:r>
              <a:rPr lang="en-US" altLang="zh-CN" sz="1800" dirty="0">
                <a:solidFill>
                  <a:srgbClr val="FF0000"/>
                </a:solidFill>
                <a:latin typeface="Arial" panose="020B0604020202020204" pitchFamily="34" charset="0"/>
                <a:cs typeface="Arial" panose="020B0604020202020204" pitchFamily="34" charset="0"/>
              </a:rPr>
              <a:t>Baud</a:t>
            </a:r>
            <a:r>
              <a:rPr lang="zh-CN" altLang="en-US" sz="1800" dirty="0">
                <a:solidFill>
                  <a:srgbClr val="FF0000"/>
                </a:solidFill>
                <a:latin typeface="Arial" panose="020B0604020202020204" pitchFamily="34" charset="0"/>
                <a:cs typeface="Arial" panose="020B0604020202020204" pitchFamily="34" charset="0"/>
              </a:rPr>
              <a:t> rate and bit rate</a:t>
            </a:r>
          </a:p>
          <a:p>
            <a:pPr lvl="1" eaLnBrk="1" hangingPunct="1">
              <a:spcBef>
                <a:spcPct val="0"/>
              </a:spcBef>
            </a:pPr>
            <a:r>
              <a:rPr lang="zh-CN" altLang="en-US" dirty="0">
                <a:latin typeface="Arial" panose="020B0604020202020204" pitchFamily="34" charset="0"/>
                <a:cs typeface="Arial" panose="020B0604020202020204" pitchFamily="34" charset="0"/>
              </a:rPr>
              <a:t>The baud rate refers to the modulation rate of the data signal on the carrier, which is expressed by </a:t>
            </a:r>
            <a:r>
              <a:rPr lang="zh-CN" altLang="en-US" dirty="0">
                <a:solidFill>
                  <a:srgbClr val="FF0000"/>
                </a:solidFill>
                <a:latin typeface="Arial" panose="020B0604020202020204" pitchFamily="34" charset="0"/>
                <a:cs typeface="Arial" panose="020B0604020202020204" pitchFamily="34" charset="0"/>
              </a:rPr>
              <a:t>the number of times the carrier modulation state changes per unit time</a:t>
            </a:r>
            <a:r>
              <a:rPr lang="zh-CN" altLang="en-US" dirty="0">
                <a:latin typeface="Arial" panose="020B0604020202020204" pitchFamily="34" charset="0"/>
                <a:cs typeface="Arial" panose="020B0604020202020204" pitchFamily="34" charset="0"/>
              </a:rPr>
              <a:t>, and its </a:t>
            </a:r>
            <a:r>
              <a:rPr lang="zh-CN" altLang="en-US" dirty="0">
                <a:solidFill>
                  <a:srgbClr val="FF00FF"/>
                </a:solidFill>
                <a:latin typeface="Arial" panose="020B0604020202020204" pitchFamily="34" charset="0"/>
                <a:cs typeface="Arial" panose="020B0604020202020204" pitchFamily="34" charset="0"/>
              </a:rPr>
              <a:t>unit</a:t>
            </a:r>
            <a:r>
              <a:rPr lang="zh-CN" altLang="en-US" dirty="0">
                <a:latin typeface="Arial" panose="020B0604020202020204" pitchFamily="34" charset="0"/>
                <a:cs typeface="Arial" panose="020B0604020202020204" pitchFamily="34" charset="0"/>
              </a:rPr>
              <a:t> is </a:t>
            </a:r>
            <a:r>
              <a:rPr lang="zh-CN" altLang="en-US" dirty="0">
                <a:solidFill>
                  <a:srgbClr val="FF00FF"/>
                </a:solidFill>
                <a:latin typeface="Arial" panose="020B0604020202020204" pitchFamily="34" charset="0"/>
                <a:cs typeface="Arial" panose="020B0604020202020204" pitchFamily="34" charset="0"/>
              </a:rPr>
              <a:t>baud (Baud)</a:t>
            </a:r>
            <a:r>
              <a:rPr lang="zh-CN" altLang="en-US" dirty="0">
                <a:latin typeface="Arial" panose="020B0604020202020204" pitchFamily="34" charset="0"/>
                <a:cs typeface="Arial" panose="020B0604020202020204" pitchFamily="34" charset="0"/>
              </a:rPr>
              <a:t>.</a:t>
            </a:r>
          </a:p>
          <a:p>
            <a:pPr lvl="1" eaLnBrk="1" hangingPunct="1">
              <a:spcBef>
                <a:spcPct val="0"/>
              </a:spcBef>
            </a:pPr>
            <a:r>
              <a:rPr lang="zh-CN" altLang="en-US" dirty="0">
                <a:solidFill>
                  <a:srgbClr val="FF0000"/>
                </a:solidFill>
                <a:latin typeface="Arial" panose="020B0604020202020204" pitchFamily="34" charset="0"/>
                <a:cs typeface="Arial" panose="020B0604020202020204" pitchFamily="34" charset="0"/>
              </a:rPr>
              <a:t>The relationship between baud rate and bit rate </a:t>
            </a:r>
            <a:r>
              <a:rPr lang="zh-CN" altLang="en-US" dirty="0">
                <a:latin typeface="Arial" panose="020B0604020202020204" pitchFamily="34" charset="0"/>
                <a:cs typeface="Arial" panose="020B0604020202020204" pitchFamily="34" charset="0"/>
              </a:rPr>
              <a:t>is</a:t>
            </a:r>
            <a:r>
              <a:rPr lang="zh-CN" altLang="en-US" dirty="0">
                <a:solidFill>
                  <a:srgbClr val="FF0000"/>
                </a:solidFill>
                <a:latin typeface="Arial" panose="020B0604020202020204" pitchFamily="34" charset="0"/>
                <a:cs typeface="Arial" panose="020B0604020202020204" pitchFamily="34" charset="0"/>
              </a:rPr>
              <a:t>: </a:t>
            </a:r>
            <a:r>
              <a:rPr lang="zh-CN" altLang="en-US" dirty="0">
                <a:solidFill>
                  <a:srgbClr val="FF00FF"/>
                </a:solidFill>
                <a:latin typeface="Arial" panose="020B0604020202020204" pitchFamily="34" charset="0"/>
                <a:cs typeface="Arial" panose="020B0604020202020204" pitchFamily="34" charset="0"/>
              </a:rPr>
              <a:t>bit rate </a:t>
            </a:r>
            <a:r>
              <a:rPr lang="zh-CN" altLang="en-US" dirty="0">
                <a:solidFill>
                  <a:srgbClr val="9900CC"/>
                </a:solidFill>
                <a:latin typeface="Arial" panose="020B0604020202020204" pitchFamily="34" charset="0"/>
                <a:cs typeface="Arial" panose="020B0604020202020204" pitchFamily="34" charset="0"/>
              </a:rPr>
              <a:t>=</a:t>
            </a:r>
            <a:r>
              <a:rPr lang="zh-CN" altLang="en-US" dirty="0">
                <a:solidFill>
                  <a:srgbClr val="FF0000"/>
                </a:solidFill>
                <a:latin typeface="Arial" panose="020B0604020202020204" pitchFamily="34" charset="0"/>
                <a:cs typeface="Arial" panose="020B0604020202020204" pitchFamily="34" charset="0"/>
              </a:rPr>
              <a:t> </a:t>
            </a:r>
            <a:r>
              <a:rPr lang="zh-CN" altLang="en-US" dirty="0">
                <a:solidFill>
                  <a:srgbClr val="FF00FF"/>
                </a:solidFill>
                <a:latin typeface="Arial" panose="020B0604020202020204" pitchFamily="34" charset="0"/>
                <a:cs typeface="Arial" panose="020B0604020202020204" pitchFamily="34" charset="0"/>
              </a:rPr>
              <a:t>baud rate </a:t>
            </a:r>
            <a:r>
              <a:rPr lang="zh-CN" altLang="en-US" dirty="0">
                <a:solidFill>
                  <a:srgbClr val="9900CC"/>
                </a:solidFill>
                <a:latin typeface="Arial" panose="020B0604020202020204" pitchFamily="34" charset="0"/>
                <a:cs typeface="Arial" panose="020B0604020202020204" pitchFamily="34" charset="0"/>
              </a:rPr>
              <a:t>× number of binary bits per modulation state</a:t>
            </a:r>
            <a:r>
              <a:rPr lang="zh-CN" altLang="en-US" dirty="0">
                <a:latin typeface="Arial" panose="020B0604020202020204" pitchFamily="34" charset="0"/>
                <a:cs typeface="Arial" panose="020B0604020202020204" pitchFamily="34" charset="0"/>
              </a:rPr>
              <a:t>.</a:t>
            </a:r>
          </a:p>
          <a:p>
            <a:pPr lvl="1" eaLnBrk="1" hangingPunct="1">
              <a:spcBef>
                <a:spcPct val="0"/>
              </a:spcBef>
            </a:pPr>
            <a:r>
              <a:rPr lang="zh-CN" altLang="en-US" dirty="0">
                <a:latin typeface="Arial" panose="020B0604020202020204" pitchFamily="34" charset="0"/>
                <a:cs typeface="Arial" panose="020B0604020202020204" pitchFamily="34" charset="0"/>
              </a:rPr>
              <a:t>In information transmission channels, the </a:t>
            </a:r>
            <a:r>
              <a:rPr lang="zh-CN" altLang="en-US" dirty="0">
                <a:solidFill>
                  <a:srgbClr val="FF0000"/>
                </a:solidFill>
                <a:latin typeface="Arial" panose="020B0604020202020204" pitchFamily="34" charset="0"/>
                <a:cs typeface="Arial" panose="020B0604020202020204" pitchFamily="34" charset="0"/>
              </a:rPr>
              <a:t>signal units </a:t>
            </a:r>
            <a:r>
              <a:rPr lang="zh-CN" altLang="en-US" dirty="0">
                <a:latin typeface="Arial" panose="020B0604020202020204" pitchFamily="34" charset="0"/>
                <a:cs typeface="Arial" panose="020B0604020202020204" pitchFamily="34" charset="0"/>
              </a:rPr>
              <a:t>carrying data are called </a:t>
            </a:r>
            <a:r>
              <a:rPr lang="zh-CN" altLang="en-US" dirty="0">
                <a:solidFill>
                  <a:srgbClr val="FF0000"/>
                </a:solidFill>
                <a:latin typeface="Arial" panose="020B0604020202020204" pitchFamily="34" charset="0"/>
                <a:cs typeface="Arial" panose="020B0604020202020204" pitchFamily="34" charset="0"/>
              </a:rPr>
              <a:t>code elements</a:t>
            </a:r>
            <a:r>
              <a:rPr lang="zh-CN" altLang="en-US" dirty="0">
                <a:latin typeface="Arial" panose="020B0604020202020204" pitchFamily="34" charset="0"/>
                <a:cs typeface="Arial" panose="020B0604020202020204" pitchFamily="34" charset="0"/>
              </a:rPr>
              <a:t>. </a:t>
            </a:r>
            <a:r>
              <a:rPr lang="zh-CN" altLang="en-US" dirty="0">
                <a:solidFill>
                  <a:srgbClr val="9900CC"/>
                </a:solidFill>
                <a:latin typeface="Arial" panose="020B0604020202020204" pitchFamily="34" charset="0"/>
                <a:cs typeface="Arial" panose="020B0604020202020204" pitchFamily="34" charset="0"/>
              </a:rPr>
              <a:t>The number of code elements transmitted per second through the channel </a:t>
            </a:r>
            <a:r>
              <a:rPr lang="zh-CN" altLang="en-US" dirty="0">
                <a:latin typeface="Arial" panose="020B0604020202020204" pitchFamily="34" charset="0"/>
                <a:cs typeface="Arial" panose="020B0604020202020204" pitchFamily="34" charset="0"/>
              </a:rPr>
              <a:t>is called </a:t>
            </a:r>
            <a:r>
              <a:rPr lang="zh-CN" altLang="en-US" dirty="0">
                <a:solidFill>
                  <a:srgbClr val="FF00FF"/>
                </a:solidFill>
                <a:latin typeface="Arial" panose="020B0604020202020204" pitchFamily="34" charset="0"/>
                <a:cs typeface="Arial" panose="020B0604020202020204" pitchFamily="34" charset="0"/>
              </a:rPr>
              <a:t>the code element transmission rate</a:t>
            </a:r>
            <a:r>
              <a:rPr lang="zh-CN" altLang="en-US" dirty="0">
                <a:latin typeface="Arial" panose="020B0604020202020204" pitchFamily="34" charset="0"/>
                <a:cs typeface="Arial" panose="020B0604020202020204" pitchFamily="34" charset="0"/>
              </a:rPr>
              <a:t>, or simply </a:t>
            </a:r>
            <a:r>
              <a:rPr lang="zh-CN" altLang="en-US" dirty="0">
                <a:solidFill>
                  <a:srgbClr val="FF00FF"/>
                </a:solidFill>
                <a:latin typeface="Arial" panose="020B0604020202020204" pitchFamily="34" charset="0"/>
                <a:cs typeface="Arial" panose="020B0604020202020204" pitchFamily="34" charset="0"/>
              </a:rPr>
              <a:t>the baud rate</a:t>
            </a:r>
            <a:r>
              <a:rPr lang="zh-CN" altLang="en-US" dirty="0">
                <a:latin typeface="Arial" panose="020B0604020202020204" pitchFamily="34" charset="0"/>
                <a:cs typeface="Arial" panose="020B0604020202020204" pitchFamily="34" charset="0"/>
              </a:rPr>
              <a:t>. The baud rate is an indicator of the transmission channels frequency band (bandwidth).</a:t>
            </a:r>
          </a:p>
          <a:p>
            <a:pPr>
              <a:spcBef>
                <a:spcPct val="0"/>
              </a:spcBef>
            </a:pPr>
            <a:endParaRPr lang="zh-CN" altLang="en-US" sz="1800" dirty="0">
              <a:latin typeface="Arial" panose="020B0604020202020204" pitchFamily="34" charset="0"/>
              <a:cs typeface="Arial" panose="020B0604020202020204" pitchFamily="34" charset="0"/>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11</a:t>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title"/>
          </p:nvPr>
        </p:nvSpPr>
        <p:spPr>
          <a:xfrm>
            <a:off x="734637" y="140891"/>
            <a:ext cx="6002338" cy="1022350"/>
          </a:xfrm>
        </p:spPr>
        <p:txBody>
          <a:bodyPr>
            <a:noAutofit/>
          </a:bodyPr>
          <a:lstStyle/>
          <a:p>
            <a:pPr eaLnBrk="1" hangingPunct="1"/>
            <a:r>
              <a:rPr lang="zh-CN" altLang="en-US" sz="3600" dirty="0">
                <a:solidFill>
                  <a:srgbClr val="FF0000"/>
                </a:solidFill>
                <a:cs typeface="Arial" panose="020B0604020202020204" pitchFamily="34" charset="0"/>
              </a:rPr>
              <a:t>(1) Classification by serial data synchronization method</a:t>
            </a:r>
          </a:p>
        </p:txBody>
      </p:sp>
      <p:sp>
        <p:nvSpPr>
          <p:cNvPr id="337923" name="Rectangle 3"/>
          <p:cNvSpPr>
            <a:spLocks noGrp="1" noChangeArrowheads="1"/>
          </p:cNvSpPr>
          <p:nvPr>
            <p:ph idx="1"/>
          </p:nvPr>
        </p:nvSpPr>
        <p:spPr>
          <a:xfrm>
            <a:off x="822961" y="1210204"/>
            <a:ext cx="7436273" cy="4657196"/>
          </a:xfrm>
        </p:spPr>
        <p:txBody>
          <a:bodyPr>
            <a:noAutofit/>
          </a:bodyPr>
          <a:lstStyle/>
          <a:p>
            <a:pPr>
              <a:lnSpc>
                <a:spcPct val="110000"/>
              </a:lnSpc>
              <a:spcAft>
                <a:spcPts val="1200"/>
              </a:spcAft>
              <a:defRPr/>
            </a:pPr>
            <a:r>
              <a:rPr lang="zh-CN" altLang="en-US" sz="1800" dirty="0">
                <a:solidFill>
                  <a:srgbClr val="FF0000"/>
                </a:solidFill>
                <a:cs typeface="Arial" panose="020B0604020202020204" pitchFamily="34" charset="0"/>
              </a:rPr>
              <a:t>Port rate and bit rate:</a:t>
            </a:r>
            <a:endParaRPr lang="en-US" altLang="zh-CN" sz="1800" spc="-150" dirty="0">
              <a:cs typeface="Arial" panose="020B0604020202020204" pitchFamily="34" charset="0"/>
            </a:endParaRPr>
          </a:p>
          <a:p>
            <a:pPr>
              <a:lnSpc>
                <a:spcPct val="110000"/>
              </a:lnSpc>
              <a:spcAft>
                <a:spcPts val="1200"/>
              </a:spcAft>
              <a:defRPr/>
            </a:pPr>
            <a:r>
              <a:rPr lang="en-US" altLang="zh-CN" sz="1800" dirty="0">
                <a:cs typeface="Arial" panose="020B0604020202020204" pitchFamily="34" charset="0"/>
              </a:rPr>
              <a:t>(Baidu Encyclopedia explanation of baud rate:) </a:t>
            </a:r>
            <a:r>
              <a:rPr lang="en-US" altLang="zh-CN" sz="1800" dirty="0">
                <a:solidFill>
                  <a:srgbClr val="FF0000"/>
                </a:solidFill>
                <a:cs typeface="Arial" panose="020B0604020202020204" pitchFamily="34" charset="0"/>
              </a:rPr>
              <a:t>Baud rate refers </a:t>
            </a:r>
            <a:r>
              <a:rPr lang="en-US" altLang="zh-CN" sz="1800" dirty="0">
                <a:cs typeface="Arial" panose="020B0604020202020204" pitchFamily="34" charset="0"/>
              </a:rPr>
              <a:t>to the transmission speed of a microcontroller or computer during serial communication. When data transmission speed </a:t>
            </a:r>
            <a:r>
              <a:rPr lang="en-US" altLang="zh-CN" sz="1800" dirty="0">
                <a:solidFill>
                  <a:srgbClr val="FF00FF"/>
                </a:solidFill>
                <a:cs typeface="Arial" panose="020B0604020202020204" pitchFamily="34" charset="0"/>
              </a:rPr>
              <a:t>is expressed in characters (frames) per second</a:t>
            </a:r>
            <a:r>
              <a:rPr lang="en-US" altLang="zh-CN" sz="1800" spc="-150" dirty="0">
                <a:cs typeface="Arial" panose="020B0604020202020204" pitchFamily="34" charset="0"/>
              </a:rPr>
              <a:t>, </a:t>
            </a:r>
            <a:r>
              <a:rPr lang="en-US" altLang="zh-CN" sz="1800" dirty="0">
                <a:solidFill>
                  <a:srgbClr val="FF00FF"/>
                </a:solidFill>
                <a:cs typeface="Arial" panose="020B0604020202020204" pitchFamily="34" charset="0"/>
              </a:rPr>
              <a:t>it </a:t>
            </a:r>
            <a:r>
              <a:rPr lang="en-US" altLang="zh-CN" sz="1800" dirty="0">
                <a:cs typeface="Arial" panose="020B0604020202020204" pitchFamily="34" charset="0"/>
              </a:rPr>
              <a:t>can be understood as </a:t>
            </a:r>
            <a:r>
              <a:rPr lang="en-US" altLang="zh-CN" sz="1800" dirty="0">
                <a:solidFill>
                  <a:srgbClr val="FF00FF"/>
                </a:solidFill>
                <a:cs typeface="Arial" panose="020B0604020202020204" pitchFamily="34" charset="0"/>
              </a:rPr>
              <a:t>the baud rate</a:t>
            </a:r>
            <a:r>
              <a:rPr lang="en-US" altLang="zh-CN" sz="1800" spc="-150" dirty="0">
                <a:cs typeface="Arial" panose="020B0604020202020204" pitchFamily="34" charset="0"/>
              </a:rPr>
              <a:t>.</a:t>
            </a:r>
          </a:p>
          <a:p>
            <a:pPr>
              <a:lnSpc>
                <a:spcPct val="110000"/>
              </a:lnSpc>
              <a:spcAft>
                <a:spcPts val="1200"/>
              </a:spcAft>
              <a:defRPr/>
            </a:pPr>
            <a:r>
              <a:rPr lang="zh-CN" altLang="en-US" sz="1800" dirty="0">
                <a:cs typeface="Arial" panose="020B0604020202020204" pitchFamily="34" charset="0"/>
              </a:rPr>
              <a:t>For example, the data transfer rate is </a:t>
            </a:r>
            <a:r>
              <a:rPr lang="zh-CN" altLang="en-US" sz="1800" dirty="0">
                <a:solidFill>
                  <a:srgbClr val="FF0000"/>
                </a:solidFill>
                <a:cs typeface="Arial" panose="020B0604020202020204" pitchFamily="34" charset="0"/>
              </a:rPr>
              <a:t>120 characters (frames) per second </a:t>
            </a:r>
            <a:r>
              <a:rPr lang="zh-CN" altLang="en-US" sz="1800" dirty="0">
                <a:cs typeface="Arial" panose="020B0604020202020204" pitchFamily="34" charset="0"/>
              </a:rPr>
              <a:t>(this rate is called </a:t>
            </a:r>
            <a:r>
              <a:rPr lang="zh-CN" altLang="en-US" sz="1800" dirty="0">
                <a:solidFill>
                  <a:srgbClr val="FF0000"/>
                </a:solidFill>
                <a:cs typeface="Arial" panose="020B0604020202020204" pitchFamily="34" charset="0"/>
              </a:rPr>
              <a:t>the baud rate, or 120 baud</a:t>
            </a:r>
            <a:r>
              <a:rPr lang="zh-CN" altLang="en-US" sz="1800" dirty="0">
                <a:cs typeface="Arial" panose="020B0604020202020204" pitchFamily="34" charset="0"/>
              </a:rPr>
              <a:t>).</a:t>
            </a:r>
          </a:p>
          <a:p>
            <a:pPr>
              <a:lnSpc>
                <a:spcPct val="110000"/>
              </a:lnSpc>
              <a:spcAft>
                <a:spcPts val="1200"/>
              </a:spcAft>
              <a:defRPr/>
            </a:pPr>
            <a:r>
              <a:rPr lang="zh-CN" altLang="en-US" sz="1800" dirty="0">
                <a:solidFill>
                  <a:srgbClr val="FF00FF"/>
                </a:solidFill>
                <a:cs typeface="Arial" panose="020B0604020202020204" pitchFamily="34" charset="0"/>
              </a:rPr>
              <a:t>Each character frame consists of 10 bits </a:t>
            </a:r>
            <a:r>
              <a:rPr lang="zh-CN" altLang="en-US" sz="1800" dirty="0">
                <a:cs typeface="Arial" panose="020B0604020202020204" pitchFamily="34" charset="0"/>
              </a:rPr>
              <a:t>(1 start bit, 1 stop bit, and 8 data bits), resulting in a transmission </a:t>
            </a:r>
            <a:r>
              <a:rPr lang="zh-CN" altLang="en-US" sz="1800" dirty="0">
                <a:solidFill>
                  <a:srgbClr val="FF0000"/>
                </a:solidFill>
                <a:cs typeface="Arial" panose="020B0604020202020204" pitchFamily="34" charset="0"/>
              </a:rPr>
              <a:t>rate</a:t>
            </a:r>
            <a:r>
              <a:rPr lang="zh-CN" altLang="en-US" sz="1800" dirty="0">
                <a:cs typeface="Arial" panose="020B0604020202020204" pitchFamily="34" charset="0"/>
              </a:rPr>
              <a:t> of 10×120=1200 bits/s (bps).</a:t>
            </a:r>
          </a:p>
          <a:p>
            <a:pPr>
              <a:lnSpc>
                <a:spcPct val="110000"/>
              </a:lnSpc>
              <a:spcAft>
                <a:spcPts val="1200"/>
              </a:spcAft>
              <a:defRPr/>
            </a:pPr>
            <a:r>
              <a:rPr lang="zh-CN" altLang="en-US" sz="1800" dirty="0">
                <a:cs typeface="Arial" panose="020B0604020202020204" pitchFamily="34" charset="0"/>
              </a:rPr>
              <a:t>In the following description, in order to adapt to the usual usage, the </a:t>
            </a:r>
            <a:r>
              <a:rPr lang="zh-CN" altLang="en-US" sz="1800" dirty="0">
                <a:solidFill>
                  <a:srgbClr val="FF00FF"/>
                </a:solidFill>
                <a:cs typeface="Arial" panose="020B0604020202020204" pitchFamily="34" charset="0"/>
              </a:rPr>
              <a:t>bit rate</a:t>
            </a:r>
            <a:r>
              <a:rPr lang="zh-CN" altLang="en-US" sz="1800" dirty="0">
                <a:cs typeface="Arial" panose="020B0604020202020204" pitchFamily="34" charset="0"/>
              </a:rPr>
              <a:t> </a:t>
            </a:r>
            <a:r>
              <a:rPr lang="zh-CN" altLang="en-US" sz="1800" dirty="0">
                <a:solidFill>
                  <a:srgbClr val="9900CC"/>
                </a:solidFill>
                <a:cs typeface="Arial" panose="020B0604020202020204" pitchFamily="34" charset="0"/>
              </a:rPr>
              <a:t>and</a:t>
            </a:r>
            <a:r>
              <a:rPr lang="zh-CN" altLang="en-US" sz="1800" dirty="0">
                <a:cs typeface="Arial" panose="020B0604020202020204" pitchFamily="34" charset="0"/>
              </a:rPr>
              <a:t> </a:t>
            </a:r>
            <a:r>
              <a:rPr lang="zh-CN" altLang="en-US" sz="1800" dirty="0">
                <a:solidFill>
                  <a:srgbClr val="FF00FF"/>
                </a:solidFill>
                <a:cs typeface="Arial" panose="020B0604020202020204" pitchFamily="34" charset="0"/>
              </a:rPr>
              <a:t>baud rate </a:t>
            </a:r>
            <a:r>
              <a:rPr lang="zh-CN" altLang="en-US" sz="1800" dirty="0">
                <a:solidFill>
                  <a:srgbClr val="9900CC"/>
                </a:solidFill>
                <a:cs typeface="Arial" panose="020B0604020202020204" pitchFamily="34" charset="0"/>
              </a:rPr>
              <a:t>are unified to </a:t>
            </a:r>
            <a:r>
              <a:rPr lang="zh-CN" altLang="en-US" sz="1800" dirty="0">
                <a:solidFill>
                  <a:srgbClr val="FF0000"/>
                </a:solidFill>
                <a:cs typeface="Arial" panose="020B0604020202020204" pitchFamily="34" charset="0"/>
              </a:rPr>
              <a:t>use the baud rate to represent</a:t>
            </a:r>
            <a:r>
              <a:rPr lang="zh-CN" altLang="en-US" sz="1800" dirty="0">
                <a:cs typeface="Arial" panose="020B0604020202020204" pitchFamily="34" charset="0"/>
              </a:rPr>
              <a:t>.</a:t>
            </a:r>
          </a:p>
        </p:txBody>
      </p:sp>
      <p:sp>
        <p:nvSpPr>
          <p:cNvPr id="6" name="标题 1"/>
          <p:cNvSpPr txBox="1"/>
          <p:nvPr/>
        </p:nvSpPr>
        <p:spPr bwMode="auto">
          <a:xfrm>
            <a:off x="6508375" y="423210"/>
            <a:ext cx="2718175" cy="728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200" b="1">
                <a:solidFill>
                  <a:srgbClr val="CC3300"/>
                </a:solidFill>
                <a:latin typeface="+mj-lt"/>
                <a:ea typeface="+mj-ea"/>
                <a:cs typeface="+mj-cs"/>
              </a:defRPr>
            </a:lvl1pPr>
            <a:lvl2pPr algn="l" rtl="0" eaLnBrk="0" fontAlgn="base" hangingPunct="0">
              <a:spcBef>
                <a:spcPct val="0"/>
              </a:spcBef>
              <a:spcAft>
                <a:spcPct val="0"/>
              </a:spcAft>
              <a:defRPr sz="2400" b="1">
                <a:solidFill>
                  <a:srgbClr val="CC3300"/>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rgbClr val="CC3300"/>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rgbClr val="CC3300"/>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rgbClr val="CC3300"/>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9pPr>
          </a:lstStyle>
          <a:p>
            <a:pPr>
              <a:buFont typeface="+mj-ea"/>
              <a:buAutoNum type="circleNumDbPlain"/>
              <a:defRPr/>
            </a:pPr>
            <a:r>
              <a:rPr lang="zh-CN" altLang="en-US" sz="2400" kern="0" dirty="0">
                <a:solidFill>
                  <a:srgbClr val="FF0000"/>
                </a:solidFill>
                <a:cs typeface="Arial" panose="020B0604020202020204" pitchFamily="34" charset="0"/>
              </a:rPr>
              <a:t>asynchronous      communication</a:t>
            </a:r>
            <a:endParaRPr lang="zh-CN" altLang="en-US" sz="2400" kern="0" dirty="0">
              <a:cs typeface="Arial" panose="020B0604020202020204" pitchFamily="34" charset="0"/>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12</a:t>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2E77DEE-32E4-4009-988B-F2758F7B8AC2}" type="slidenum">
              <a:rPr lang="zh-CN" altLang="en-US" smtClean="0"/>
              <a:t>13</a:t>
            </a:fld>
            <a:endParaRPr lang="zh-CN" altLang="en-US"/>
          </a:p>
        </p:txBody>
      </p:sp>
      <p:pic>
        <p:nvPicPr>
          <p:cNvPr id="7" name="Picture 2" descr="D:\project\paper\2016-Jiang-JSSC\figure\tiffs\F14.tif"/>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a:xfrm>
            <a:off x="1767254" y="330609"/>
            <a:ext cx="5447880" cy="3804981"/>
          </a:xfrm>
          <a:prstGeom prst="rect">
            <a:avLst/>
          </a:prstGeom>
          <a:noFill/>
          <a:ln>
            <a:noFill/>
          </a:ln>
        </p:spPr>
      </p:pic>
      <p:pic>
        <p:nvPicPr>
          <p:cNvPr id="8" name="Picture 7" descr="D:\project\paper\2016-Jiang-JSSC\figure\tiffs\FR2.t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928468" y="4135590"/>
            <a:ext cx="7543800" cy="188784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灯片编号占位符 3"/>
          <p:cNvSpPr>
            <a:spLocks noGrp="1"/>
          </p:cNvSpPr>
          <p:nvPr>
            <p:ph type="sldNum" sz="quarter" idx="12"/>
          </p:nvPr>
        </p:nvSpPr>
        <p:spPr/>
        <p:txBody>
          <a:bodyPr/>
          <a:lstStyle/>
          <a:p>
            <a:fld id="{22E77DEE-32E4-4009-988B-F2758F7B8AC2}" type="slidenum">
              <a:rPr lang="zh-CN" altLang="en-US" smtClean="0"/>
              <a:t>14</a:t>
            </a:fld>
            <a:endParaRPr lang="zh-CN" altLang="en-US"/>
          </a:p>
        </p:txBody>
      </p:sp>
      <p:pic>
        <p:nvPicPr>
          <p:cNvPr id="6" name="Picture 4" descr="D:\project\paper\2016-Jiang-JSSC\figure\tiffs\F21b.t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0" y="453659"/>
            <a:ext cx="9033147" cy="5275677"/>
          </a:xfrm>
          <a:prstGeom prst="rect">
            <a:avLst/>
          </a:prstGeom>
          <a:noFill/>
          <a:ln>
            <a:noFill/>
          </a:ln>
        </p:spPr>
      </p:pic>
      <p:sp>
        <p:nvSpPr>
          <p:cNvPr id="8" name="内容占位符 7"/>
          <p:cNvSpPr>
            <a:spLocks noGrp="1"/>
          </p:cNvSpPr>
          <p:nvPr>
            <p:ph idx="1"/>
          </p:nvPr>
        </p:nvSpPr>
        <p:spPr/>
        <p:txBody>
          <a:bodyPr/>
          <a:lstStyle/>
          <a:p>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noChangeArrowheads="1"/>
          </p:cNvSpPr>
          <p:nvPr>
            <p:ph type="title"/>
          </p:nvPr>
        </p:nvSpPr>
        <p:spPr>
          <a:xfrm>
            <a:off x="143510" y="286605"/>
            <a:ext cx="9356090" cy="831478"/>
          </a:xfrm>
        </p:spPr>
        <p:txBody>
          <a:bodyPr>
            <a:noAutofit/>
          </a:bodyPr>
          <a:lstStyle/>
          <a:p>
            <a:pPr eaLnBrk="1" hangingPunct="1"/>
            <a:r>
              <a:rPr lang="zh-CN" altLang="en-US" sz="3200" b="1" dirty="0">
                <a:solidFill>
                  <a:srgbClr val="FF0000"/>
                </a:solidFill>
                <a:cs typeface="Arial" panose="020B0604020202020204" pitchFamily="34" charset="0"/>
              </a:rPr>
              <a:t>(1) Classification by serial data synchronization method</a:t>
            </a:r>
          </a:p>
        </p:txBody>
      </p:sp>
      <p:sp>
        <p:nvSpPr>
          <p:cNvPr id="456707" name="Rectangle 3"/>
          <p:cNvSpPr>
            <a:spLocks noGrp="1" noChangeArrowheads="1"/>
          </p:cNvSpPr>
          <p:nvPr>
            <p:ph idx="1"/>
          </p:nvPr>
        </p:nvSpPr>
        <p:spPr>
          <a:xfrm>
            <a:off x="965729" y="1701800"/>
            <a:ext cx="7340072" cy="4470400"/>
          </a:xfrm>
        </p:spPr>
        <p:txBody>
          <a:bodyPr>
            <a:noAutofit/>
          </a:bodyPr>
          <a:lstStyle/>
          <a:p>
            <a:pPr marL="177800" indent="-177800" eaLnBrk="1" hangingPunct="1">
              <a:spcAft>
                <a:spcPts val="1200"/>
              </a:spcAft>
              <a:defRPr/>
            </a:pPr>
            <a:r>
              <a:rPr lang="en-US" altLang="zh-CN" sz="1800" dirty="0">
                <a:solidFill>
                  <a:srgbClr val="FF00FF"/>
                </a:solidFill>
                <a:cs typeface="Arial" panose="020B0604020202020204" pitchFamily="34" charset="0"/>
              </a:rPr>
              <a:t>Synchronous communication </a:t>
            </a:r>
            <a:r>
              <a:rPr lang="en-US" altLang="zh-CN" sz="1800" dirty="0">
                <a:cs typeface="Arial" panose="020B0604020202020204" pitchFamily="34" charset="0"/>
              </a:rPr>
              <a:t>is a method of </a:t>
            </a:r>
            <a:r>
              <a:rPr lang="en-US" altLang="zh-CN" sz="1800" dirty="0">
                <a:solidFill>
                  <a:srgbClr val="FF00FF"/>
                </a:solidFill>
                <a:cs typeface="Arial" panose="020B0604020202020204" pitchFamily="34" charset="0"/>
              </a:rPr>
              <a:t>transmitting data in a continuous serial stream, with only one frame of information transmitted per communication session</a:t>
            </a:r>
            <a:r>
              <a:rPr lang="en-US" altLang="zh-CN" sz="1800" dirty="0">
                <a:cs typeface="Arial" panose="020B0604020202020204" pitchFamily="34" charset="0"/>
              </a:rPr>
              <a:t>.</a:t>
            </a:r>
          </a:p>
          <a:p>
            <a:pPr marL="177800" indent="-177800" eaLnBrk="1" hangingPunct="1">
              <a:spcAft>
                <a:spcPts val="1200"/>
              </a:spcAft>
              <a:defRPr/>
            </a:pPr>
            <a:r>
              <a:rPr lang="zh-CN" altLang="fr-FR" sz="1800" dirty="0">
                <a:cs typeface="Arial" panose="020B0604020202020204" pitchFamily="34" charset="0"/>
              </a:rPr>
              <a:t>The </a:t>
            </a:r>
            <a:r>
              <a:rPr lang="zh-CN" altLang="fr-FR" sz="1800" dirty="0">
                <a:solidFill>
                  <a:srgbClr val="FF0000"/>
                </a:solidFill>
                <a:cs typeface="Arial" panose="020B0604020202020204" pitchFamily="34" charset="0"/>
              </a:rPr>
              <a:t>information frame </a:t>
            </a:r>
            <a:r>
              <a:rPr lang="zh-CN" altLang="fr-FR" sz="1800" dirty="0">
                <a:cs typeface="Arial" panose="020B0604020202020204" pitchFamily="34" charset="0"/>
              </a:rPr>
              <a:t>(</a:t>
            </a:r>
            <a:r>
              <a:rPr lang="zh-CN" altLang="fr-FR" sz="1800" dirty="0">
                <a:solidFill>
                  <a:srgbClr val="FF0000"/>
                </a:solidFill>
                <a:cs typeface="Arial" panose="020B0604020202020204" pitchFamily="34" charset="0"/>
              </a:rPr>
              <a:t>data block</a:t>
            </a:r>
            <a:r>
              <a:rPr lang="zh-CN" altLang="fr-FR" sz="1800" dirty="0">
                <a:cs typeface="Arial" panose="020B0604020202020204" pitchFamily="34" charset="0"/>
              </a:rPr>
              <a:t>) here differs from the </a:t>
            </a:r>
            <a:r>
              <a:rPr lang="zh-CN" altLang="fr-FR" sz="1800" dirty="0">
                <a:solidFill>
                  <a:srgbClr val="FF0000"/>
                </a:solidFill>
                <a:cs typeface="Arial" panose="020B0604020202020204" pitchFamily="34" charset="0"/>
              </a:rPr>
              <a:t>character frame </a:t>
            </a:r>
            <a:r>
              <a:rPr lang="zh-CN" altLang="fr-FR" sz="1800" dirty="0">
                <a:cs typeface="Arial" panose="020B0604020202020204" pitchFamily="34" charset="0"/>
              </a:rPr>
              <a:t>in asynchronous communication, typically containing </a:t>
            </a:r>
            <a:r>
              <a:rPr lang="zh-CN" altLang="fr-FR" sz="1800" dirty="0">
                <a:solidFill>
                  <a:srgbClr val="FF0000"/>
                </a:solidFill>
                <a:cs typeface="Arial" panose="020B0604020202020204" pitchFamily="34" charset="0"/>
              </a:rPr>
              <a:t>multiple data characters</a:t>
            </a:r>
            <a:r>
              <a:rPr lang="zh-CN" altLang="fr-FR" sz="1800" dirty="0">
                <a:cs typeface="Arial" panose="020B0604020202020204" pitchFamily="34" charset="0"/>
              </a:rPr>
              <a:t>.</a:t>
            </a:r>
          </a:p>
          <a:p>
            <a:pPr marL="177800" indent="-177800" eaLnBrk="1" hangingPunct="1">
              <a:spcAft>
                <a:spcPts val="1200"/>
              </a:spcAft>
              <a:defRPr/>
            </a:pPr>
            <a:r>
              <a:rPr lang="zh-CN" altLang="en-US" sz="1800" dirty="0">
                <a:cs typeface="Arial" panose="020B0604020202020204" pitchFamily="34" charset="0"/>
              </a:rPr>
              <a:t>That is, </a:t>
            </a:r>
            <a:r>
              <a:rPr lang="zh-CN" altLang="en-US" sz="1800" dirty="0">
                <a:solidFill>
                  <a:srgbClr val="FF00FF"/>
                </a:solidFill>
                <a:cs typeface="Arial" panose="020B0604020202020204" pitchFamily="34" charset="0"/>
              </a:rPr>
              <a:t>data transfer </a:t>
            </a:r>
            <a:r>
              <a:rPr lang="zh-CN" altLang="en-US" sz="1800" dirty="0">
                <a:cs typeface="Arial" panose="020B0604020202020204" pitchFamily="34" charset="0"/>
              </a:rPr>
              <a:t>is carried out in </a:t>
            </a:r>
            <a:r>
              <a:rPr lang="zh-CN" altLang="en-US" sz="1800" dirty="0">
                <a:solidFill>
                  <a:srgbClr val="FF0000"/>
                </a:solidFill>
                <a:cs typeface="Arial" panose="020B0604020202020204" pitchFamily="34" charset="0"/>
              </a:rPr>
              <a:t>blocks of data </a:t>
            </a:r>
            <a:r>
              <a:rPr lang="zh-CN" altLang="en-US" sz="1800" dirty="0">
                <a:cs typeface="Arial" panose="020B0604020202020204" pitchFamily="34" charset="0"/>
              </a:rPr>
              <a:t>(</a:t>
            </a:r>
            <a:r>
              <a:rPr lang="zh-CN" altLang="en-US" sz="1800" dirty="0">
                <a:solidFill>
                  <a:srgbClr val="3333FF"/>
                </a:solidFill>
                <a:cs typeface="Arial" panose="020B0604020202020204" pitchFamily="34" charset="0"/>
              </a:rPr>
              <a:t>a group of characters</a:t>
            </a:r>
            <a:r>
              <a:rPr lang="zh-CN" altLang="en-US" sz="1800" dirty="0">
                <a:cs typeface="Arial" panose="020B0604020202020204" pitchFamily="34" charset="0"/>
              </a:rPr>
              <a:t>), with </a:t>
            </a:r>
            <a:r>
              <a:rPr lang="zh-CN" altLang="en-US" sz="1800" dirty="0">
                <a:solidFill>
                  <a:srgbClr val="3333FF"/>
                </a:solidFill>
                <a:cs typeface="Arial" panose="020B0604020202020204" pitchFamily="34" charset="0"/>
              </a:rPr>
              <a:t>synchronization</a:t>
            </a:r>
            <a:r>
              <a:rPr lang="zh-CN" altLang="en-US" sz="1800" dirty="0">
                <a:cs typeface="Arial" panose="020B0604020202020204" pitchFamily="34" charset="0"/>
              </a:rPr>
              <a:t> between characters and between bits within characters</a:t>
            </a:r>
            <a:r>
              <a:rPr lang="zh-CN" altLang="en-US" sz="1800" dirty="0">
                <a:solidFill>
                  <a:srgbClr val="3333FF"/>
                </a:solidFill>
                <a:cs typeface="Arial" panose="020B0604020202020204" pitchFamily="34" charset="0"/>
              </a:rPr>
              <a:t>, without any interval</a:t>
            </a:r>
            <a:r>
              <a:rPr lang="zh-CN" altLang="en-US" sz="1800" dirty="0">
                <a:cs typeface="Arial" panose="020B0604020202020204" pitchFamily="34" charset="0"/>
              </a:rPr>
              <a:t>.</a:t>
            </a:r>
            <a:endParaRPr lang="en-US" altLang="zh-CN" sz="1800" dirty="0">
              <a:cs typeface="Arial" panose="020B0604020202020204" pitchFamily="34" charset="0"/>
            </a:endParaRPr>
          </a:p>
          <a:p>
            <a:pPr marL="177800" indent="-177800" eaLnBrk="1" hangingPunct="1">
              <a:spcAft>
                <a:spcPts val="1200"/>
              </a:spcAft>
              <a:defRPr/>
            </a:pPr>
            <a:r>
              <a:rPr lang="zh-CN" altLang="zh-CN" sz="1800" dirty="0">
                <a:solidFill>
                  <a:srgbClr val="FF00FF"/>
                </a:solidFill>
                <a:cs typeface="Arial" panose="020B0604020202020204" pitchFamily="34" charset="0"/>
              </a:rPr>
              <a:t>The receiving clock is strictly synchronized with the sending clock, and a synchronization clock is usually required.</a:t>
            </a:r>
            <a:endParaRPr lang="en-US" altLang="zh-CN" sz="1800" dirty="0">
              <a:solidFill>
                <a:srgbClr val="FF00FF"/>
              </a:solidFill>
              <a:cs typeface="Arial" panose="020B0604020202020204" pitchFamily="34" charset="0"/>
            </a:endParaRPr>
          </a:p>
          <a:p>
            <a:pPr marL="177800" indent="-177800" eaLnBrk="1" hangingPunct="1">
              <a:spcAft>
                <a:spcPts val="1200"/>
              </a:spcAft>
              <a:defRPr/>
            </a:pPr>
            <a:r>
              <a:rPr lang="zh-CN" altLang="fr-FR" sz="1800" dirty="0">
                <a:cs typeface="Arial" panose="020B0604020202020204" pitchFamily="34" charset="0"/>
              </a:rPr>
              <a:t>According to the control protocol, the data format is divided into </a:t>
            </a:r>
            <a:r>
              <a:rPr lang="zh-CN" altLang="fr-FR" sz="1800" dirty="0">
                <a:solidFill>
                  <a:srgbClr val="CC3300"/>
                </a:solidFill>
                <a:cs typeface="Arial" panose="020B0604020202020204" pitchFamily="34" charset="0"/>
              </a:rPr>
              <a:t>character-oriented </a:t>
            </a:r>
            <a:r>
              <a:rPr lang="zh-CN" altLang="fr-FR" sz="1800" dirty="0">
                <a:cs typeface="Arial" panose="020B0604020202020204" pitchFamily="34" charset="0"/>
              </a:rPr>
              <a:t>and </a:t>
            </a:r>
            <a:r>
              <a:rPr lang="zh-CN" altLang="fr-FR" sz="1800" dirty="0">
                <a:solidFill>
                  <a:srgbClr val="CC3300"/>
                </a:solidFill>
                <a:cs typeface="Arial" panose="020B0604020202020204" pitchFamily="34" charset="0"/>
              </a:rPr>
              <a:t>bit-oriented</a:t>
            </a:r>
            <a:r>
              <a:rPr lang="zh-CN" altLang="fr-FR" sz="1800" dirty="0">
                <a:cs typeface="Arial" panose="020B0604020202020204" pitchFamily="34" charset="0"/>
              </a:rPr>
              <a:t>.</a:t>
            </a:r>
            <a:endParaRPr lang="zh-CN" altLang="en-US" sz="1800" dirty="0">
              <a:cs typeface="Arial" panose="020B0604020202020204" pitchFamily="34" charset="0"/>
            </a:endParaRPr>
          </a:p>
        </p:txBody>
      </p:sp>
      <p:sp>
        <p:nvSpPr>
          <p:cNvPr id="6" name="标题 1"/>
          <p:cNvSpPr txBox="1"/>
          <p:nvPr/>
        </p:nvSpPr>
        <p:spPr bwMode="auto">
          <a:xfrm>
            <a:off x="965729" y="1118083"/>
            <a:ext cx="82296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200" b="1">
                <a:solidFill>
                  <a:srgbClr val="CC3300"/>
                </a:solidFill>
                <a:latin typeface="+mj-lt"/>
                <a:ea typeface="+mj-ea"/>
                <a:cs typeface="+mj-cs"/>
              </a:defRPr>
            </a:lvl1pPr>
            <a:lvl2pPr algn="l" rtl="0" eaLnBrk="0" fontAlgn="base" hangingPunct="0">
              <a:spcBef>
                <a:spcPct val="0"/>
              </a:spcBef>
              <a:spcAft>
                <a:spcPct val="0"/>
              </a:spcAft>
              <a:defRPr sz="2400" b="1">
                <a:solidFill>
                  <a:srgbClr val="CC3300"/>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rgbClr val="CC3300"/>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rgbClr val="CC3300"/>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rgbClr val="CC3300"/>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9pPr>
          </a:lstStyle>
          <a:p>
            <a:pPr marL="514350" indent="-514350">
              <a:buFont typeface="+mj-ea"/>
              <a:buAutoNum type="circleNumDbPlain" startAt="2"/>
              <a:defRPr/>
            </a:pPr>
            <a:r>
              <a:rPr lang="zh-CN" altLang="fr-FR" kern="0" dirty="0">
                <a:latin typeface="Arial" panose="020B0604020202020204" pitchFamily="34" charset="0"/>
                <a:cs typeface="Arial" panose="020B0604020202020204" pitchFamily="34" charset="0"/>
              </a:rPr>
              <a:t>SYCOM</a:t>
            </a:r>
            <a:endParaRPr lang="zh-CN" altLang="en-US" kern="0" dirty="0">
              <a:latin typeface="Arial" panose="020B0604020202020204" pitchFamily="34" charset="0"/>
              <a:cs typeface="Arial" panose="020B0604020202020204" pitchFamily="34" charset="0"/>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15</a:t>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noChangeArrowheads="1"/>
          </p:cNvSpPr>
          <p:nvPr>
            <p:ph type="title"/>
          </p:nvPr>
        </p:nvSpPr>
        <p:spPr/>
        <p:txBody>
          <a:bodyPr>
            <a:normAutofit/>
          </a:bodyPr>
          <a:lstStyle/>
          <a:p>
            <a:r>
              <a:rPr lang="en-US" altLang="zh-CN" sz="3600" dirty="0">
                <a:cs typeface="Arial" panose="020B0604020202020204" pitchFamily="34" charset="0"/>
              </a:rPr>
              <a:t>② SYCOM</a:t>
            </a:r>
            <a:endParaRPr lang="zh-CN" altLang="en-US" sz="3600" dirty="0">
              <a:cs typeface="Arial" panose="020B0604020202020204" pitchFamily="34" charset="0"/>
            </a:endParaRPr>
          </a:p>
        </p:txBody>
      </p:sp>
      <p:sp>
        <p:nvSpPr>
          <p:cNvPr id="457731" name="Rectangle 3"/>
          <p:cNvSpPr>
            <a:spLocks noGrp="1" noChangeArrowheads="1"/>
          </p:cNvSpPr>
          <p:nvPr>
            <p:ph idx="1"/>
          </p:nvPr>
        </p:nvSpPr>
        <p:spPr>
          <a:xfrm>
            <a:off x="867833" y="1194283"/>
            <a:ext cx="7498928" cy="977417"/>
          </a:xfrm>
        </p:spPr>
        <p:txBody>
          <a:bodyPr>
            <a:normAutofit fontScale="70000" lnSpcReduction="20000"/>
          </a:bodyPr>
          <a:lstStyle/>
          <a:p>
            <a:pPr eaLnBrk="1" hangingPunct="1">
              <a:lnSpc>
                <a:spcPct val="95000"/>
              </a:lnSpc>
              <a:spcBef>
                <a:spcPct val="0"/>
              </a:spcBef>
              <a:buFontTx/>
              <a:buNone/>
            </a:pPr>
            <a:r>
              <a:rPr lang="en-US" altLang="zh-CN" sz="3600" dirty="0">
                <a:solidFill>
                  <a:srgbClr val="FF0000"/>
                </a:solidFill>
                <a:latin typeface="Arial" panose="020B0604020202020204" pitchFamily="34" charset="0"/>
                <a:cs typeface="Arial" panose="020B0604020202020204" pitchFamily="34" charset="0"/>
              </a:rPr>
              <a:t>(a) Character-oriented data format</a:t>
            </a:r>
          </a:p>
          <a:p>
            <a:pPr eaLnBrk="1" hangingPunct="1">
              <a:lnSpc>
                <a:spcPct val="95000"/>
              </a:lnSpc>
              <a:spcBef>
                <a:spcPct val="0"/>
              </a:spcBef>
            </a:pPr>
            <a:r>
              <a:rPr lang="zh-CN" altLang="en-US" dirty="0">
                <a:latin typeface="Arial" panose="020B0604020202020204" pitchFamily="34" charset="0"/>
                <a:cs typeface="Arial" panose="020B0604020202020204" pitchFamily="34" charset="0"/>
              </a:rPr>
              <a:t>The character-oriented synchronous communication data format can adopt three data formats: </a:t>
            </a:r>
            <a:r>
              <a:rPr lang="zh-CN" altLang="en-US" sz="2100" dirty="0">
                <a:solidFill>
                  <a:srgbClr val="CC3300"/>
                </a:solidFill>
                <a:latin typeface="Arial" panose="020B0604020202020204" pitchFamily="34" charset="0"/>
                <a:cs typeface="Arial" panose="020B0604020202020204" pitchFamily="34" charset="0"/>
              </a:rPr>
              <a:t>single synchronization</a:t>
            </a:r>
            <a:r>
              <a:rPr lang="zh-CN" altLang="en-US" dirty="0">
                <a:latin typeface="Arial" panose="020B0604020202020204" pitchFamily="34" charset="0"/>
                <a:cs typeface="Arial" panose="020B0604020202020204" pitchFamily="34" charset="0"/>
              </a:rPr>
              <a:t>, </a:t>
            </a:r>
            <a:r>
              <a:rPr lang="zh-CN" altLang="en-US" sz="2100" dirty="0">
                <a:solidFill>
                  <a:srgbClr val="CC3300"/>
                </a:solidFill>
                <a:latin typeface="Arial" panose="020B0604020202020204" pitchFamily="34" charset="0"/>
                <a:cs typeface="Arial" panose="020B0604020202020204" pitchFamily="34" charset="0"/>
              </a:rPr>
              <a:t>double synchronization</a:t>
            </a:r>
            <a:r>
              <a:rPr lang="zh-CN" altLang="en-US" dirty="0">
                <a:latin typeface="Arial" panose="020B0604020202020204" pitchFamily="34" charset="0"/>
                <a:cs typeface="Arial" panose="020B0604020202020204" pitchFamily="34" charset="0"/>
              </a:rPr>
              <a:t>, and </a:t>
            </a:r>
            <a:r>
              <a:rPr lang="zh-CN" altLang="en-US" sz="2100" dirty="0">
                <a:solidFill>
                  <a:srgbClr val="CC3300"/>
                </a:solidFill>
                <a:latin typeface="Arial" panose="020B0604020202020204" pitchFamily="34" charset="0"/>
                <a:cs typeface="Arial" panose="020B0604020202020204" pitchFamily="34" charset="0"/>
              </a:rPr>
              <a:t>external synchronization</a:t>
            </a:r>
            <a:r>
              <a:rPr lang="zh-CN" altLang="en-US" dirty="0">
                <a:latin typeface="Arial" panose="020B0604020202020204" pitchFamily="34" charset="0"/>
                <a:cs typeface="Arial" panose="020B0604020202020204" pitchFamily="34" charset="0"/>
              </a:rPr>
              <a:t>, as shown in the figure.</a:t>
            </a:r>
          </a:p>
        </p:txBody>
      </p:sp>
      <p:sp>
        <p:nvSpPr>
          <p:cNvPr id="87046" name="Rectangle 6"/>
          <p:cNvSpPr>
            <a:spLocks noChangeArrowheads="1"/>
          </p:cNvSpPr>
          <p:nvPr/>
        </p:nvSpPr>
        <p:spPr bwMode="auto">
          <a:xfrm>
            <a:off x="2374096" y="6034037"/>
            <a:ext cx="5354351" cy="307777"/>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b="1" dirty="0">
                <a:solidFill>
                  <a:srgbClr val="FF00FF"/>
                </a:solidFill>
                <a:cs typeface="Arial" panose="020B0604020202020204" pitchFamily="34" charset="0"/>
              </a:rPr>
              <a:t>Character-oriented </a:t>
            </a:r>
            <a:r>
              <a:rPr lang="zh-CN" altLang="en-US" sz="1400" b="1" dirty="0">
                <a:solidFill>
                  <a:srgbClr val="800000"/>
                </a:solidFill>
                <a:cs typeface="Arial" panose="020B0604020202020204" pitchFamily="34" charset="0"/>
              </a:rPr>
              <a:t>synchronous communication data format</a:t>
            </a:r>
          </a:p>
        </p:txBody>
      </p:sp>
      <p:pic>
        <p:nvPicPr>
          <p:cNvPr id="40960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355" y="2197894"/>
            <a:ext cx="8355013" cy="1149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60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198" y="3470275"/>
            <a:ext cx="8315325" cy="11001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60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0847" y="4876676"/>
            <a:ext cx="8328025" cy="1158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矩形 2"/>
          <p:cNvSpPr>
            <a:spLocks noChangeArrowheads="1"/>
          </p:cNvSpPr>
          <p:nvPr/>
        </p:nvSpPr>
        <p:spPr bwMode="auto">
          <a:xfrm>
            <a:off x="6895861" y="3008313"/>
            <a:ext cx="1986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dirty="0">
                <a:solidFill>
                  <a:srgbClr val="CC3300"/>
                </a:solidFill>
                <a:cs typeface="Arial" panose="020B0604020202020204" pitchFamily="34" charset="0"/>
              </a:rPr>
              <a:t>check</a:t>
            </a:r>
            <a:r>
              <a:rPr lang="zh-CN" altLang="en-US" sz="1400" b="1" dirty="0">
                <a:solidFill>
                  <a:srgbClr val="CC3300"/>
                </a:solidFill>
              </a:rPr>
              <a:t> character CRC</a:t>
            </a:r>
            <a:endParaRPr lang="zh-CN" altLang="en-US" sz="2800" b="1" dirty="0"/>
          </a:p>
        </p:txBody>
      </p:sp>
      <p:sp>
        <p:nvSpPr>
          <p:cNvPr id="5" name="矩形 4"/>
          <p:cNvSpPr>
            <a:spLocks noChangeArrowheads="1"/>
          </p:cNvSpPr>
          <p:nvPr/>
        </p:nvSpPr>
        <p:spPr bwMode="auto">
          <a:xfrm>
            <a:off x="72230" y="2904347"/>
            <a:ext cx="2678113" cy="45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5000"/>
              </a:lnSpc>
            </a:pPr>
            <a:r>
              <a:rPr lang="zh-CN" altLang="en-US" sz="1400" b="1" dirty="0">
                <a:solidFill>
                  <a:srgbClr val="CC3300"/>
                </a:solidFill>
                <a:cs typeface="Arial" panose="020B0604020202020204" pitchFamily="34" charset="0"/>
              </a:rPr>
              <a:t>Sync only characters (e.g., </a:t>
            </a:r>
            <a:r>
              <a:rPr lang="zh-CN" altLang="en-US" sz="1400" b="1" dirty="0">
                <a:solidFill>
                  <a:srgbClr val="3333FF"/>
                </a:solidFill>
                <a:cs typeface="Arial" panose="020B0604020202020204" pitchFamily="34" charset="0"/>
              </a:rPr>
              <a:t>ASCII SYN code 16H</a:t>
            </a:r>
            <a:r>
              <a:rPr lang="zh-CN" altLang="en-US" sz="1400" b="1" dirty="0">
                <a:solidFill>
                  <a:srgbClr val="CC3300"/>
                </a:solidFill>
                <a:cs typeface="Arial" panose="020B0604020202020204" pitchFamily="34" charset="0"/>
              </a:rPr>
              <a:t>)</a:t>
            </a:r>
            <a:endParaRPr lang="zh-CN" altLang="en-US" sz="1400" b="1" dirty="0">
              <a:cs typeface="Arial" panose="020B0604020202020204" pitchFamily="34" charset="0"/>
            </a:endParaRPr>
          </a:p>
        </p:txBody>
      </p:sp>
      <p:sp>
        <p:nvSpPr>
          <p:cNvPr id="11" name="矩形 10"/>
          <p:cNvSpPr>
            <a:spLocks noChangeArrowheads="1"/>
          </p:cNvSpPr>
          <p:nvPr/>
        </p:nvSpPr>
        <p:spPr bwMode="auto">
          <a:xfrm>
            <a:off x="72230" y="4007999"/>
            <a:ext cx="2695575" cy="911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5000"/>
              </a:lnSpc>
            </a:pPr>
            <a:r>
              <a:rPr lang="zh-CN" altLang="en-US" sz="1400" b="1" dirty="0">
                <a:solidFill>
                  <a:srgbClr val="CC3300"/>
                </a:solidFill>
                <a:cs typeface="Arial" panose="020B0604020202020204" pitchFamily="34" charset="0"/>
              </a:rPr>
              <a:t>Dual synchronous character SYNC (such as the internationally recognized standard </a:t>
            </a:r>
            <a:r>
              <a:rPr lang="en-US" altLang="zh-CN" sz="1400" b="1" dirty="0">
                <a:solidFill>
                  <a:srgbClr val="3333FF"/>
                </a:solidFill>
                <a:cs typeface="Arial" panose="020B0604020202020204" pitchFamily="34" charset="0"/>
              </a:rPr>
              <a:t>EB90H</a:t>
            </a:r>
            <a:r>
              <a:rPr lang="zh-CN" altLang="en-US" sz="1400" b="1" dirty="0">
                <a:solidFill>
                  <a:srgbClr val="CC3300"/>
                </a:solidFill>
                <a:cs typeface="Arial" panose="020B0604020202020204" pitchFamily="34" charset="0"/>
              </a:rPr>
              <a:t>)</a:t>
            </a:r>
            <a:endParaRPr lang="zh-CN" altLang="en-US" sz="1400" b="1" dirty="0">
              <a:cs typeface="Arial" panose="020B0604020202020204" pitchFamily="34" charset="0"/>
            </a:endParaRPr>
          </a:p>
        </p:txBody>
      </p:sp>
      <p:sp>
        <p:nvSpPr>
          <p:cNvPr id="12" name="Rectangle 3"/>
          <p:cNvSpPr txBox="1">
            <a:spLocks noChangeArrowheads="1"/>
          </p:cNvSpPr>
          <p:nvPr/>
        </p:nvSpPr>
        <p:spPr bwMode="auto">
          <a:xfrm>
            <a:off x="145522" y="5610225"/>
            <a:ext cx="2402186"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l" rtl="0" eaLnBrk="0" fontAlgn="base" hangingPunct="0">
              <a:lnSpc>
                <a:spcPct val="114000"/>
              </a:lnSpc>
              <a:spcBef>
                <a:spcPts val="0"/>
              </a:spcBef>
              <a:spcAft>
                <a:spcPts val="600"/>
              </a:spcAft>
              <a:buBlip>
                <a:blip r:embed="rId6"/>
              </a:buBlip>
              <a:defRPr sz="2800" b="1">
                <a:solidFill>
                  <a:schemeClr val="accent2"/>
                </a:solidFill>
                <a:latin typeface="+mn-lt"/>
                <a:ea typeface="+mn-ea"/>
                <a:cs typeface="+mn-cs"/>
              </a:defRPr>
            </a:lvl1pPr>
            <a:lvl2pPr marL="263525" indent="-180975" algn="l" rtl="0" eaLnBrk="0" fontAlgn="base" hangingPunct="0">
              <a:lnSpc>
                <a:spcPct val="114000"/>
              </a:lnSpc>
              <a:spcBef>
                <a:spcPts val="0"/>
              </a:spcBef>
              <a:spcAft>
                <a:spcPts val="600"/>
              </a:spcAft>
              <a:buBlip>
                <a:blip r:embed="rId7"/>
              </a:buBlip>
              <a:defRPr sz="2800" b="1">
                <a:solidFill>
                  <a:schemeClr val="tx1"/>
                </a:solidFill>
                <a:latin typeface="+mn-lt"/>
                <a:ea typeface="+mn-ea"/>
              </a:defRPr>
            </a:lvl2pPr>
            <a:lvl3pPr marL="1143000" indent="-228600" algn="l"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l"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l"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marL="0" indent="0" eaLnBrk="1" hangingPunct="1">
              <a:lnSpc>
                <a:spcPct val="95000"/>
              </a:lnSpc>
              <a:spcAft>
                <a:spcPts val="900"/>
              </a:spcAft>
              <a:buFontTx/>
              <a:buNone/>
              <a:defRPr/>
            </a:pPr>
            <a:r>
              <a:rPr lang="zh-CN" altLang="en-US" sz="1400" kern="0" dirty="0">
                <a:latin typeface="Arial" panose="020B0604020202020204" pitchFamily="34" charset="0"/>
                <a:cs typeface="Arial" panose="020B0604020202020204" pitchFamily="34" charset="0"/>
              </a:rPr>
              <a:t>Use a </a:t>
            </a:r>
            <a:r>
              <a:rPr lang="zh-CN" altLang="en-US" sz="1400" kern="0" dirty="0">
                <a:solidFill>
                  <a:srgbClr val="FF0000"/>
                </a:solidFill>
                <a:latin typeface="Arial" panose="020B0604020202020204" pitchFamily="34" charset="0"/>
                <a:cs typeface="Arial" panose="020B0604020202020204" pitchFamily="34" charset="0"/>
              </a:rPr>
              <a:t>dedicated control line </a:t>
            </a:r>
            <a:r>
              <a:rPr lang="zh-CN" altLang="en-US" sz="1400" kern="0" dirty="0">
                <a:latin typeface="Arial" panose="020B0604020202020204" pitchFamily="34" charset="0"/>
                <a:cs typeface="Arial" panose="020B0604020202020204" pitchFamily="34" charset="0"/>
              </a:rPr>
              <a:t>to transmit the synchronization character</a:t>
            </a:r>
            <a:endParaRPr lang="en-US" altLang="zh-CN" sz="1400" kern="0" dirty="0">
              <a:latin typeface="Arial" panose="020B0604020202020204" pitchFamily="34" charset="0"/>
              <a:cs typeface="Arial" panose="020B0604020202020204" pitchFamily="34" charset="0"/>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16</a:t>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noChangeArrowheads="1"/>
          </p:cNvSpPr>
          <p:nvPr>
            <p:ph type="title"/>
          </p:nvPr>
        </p:nvSpPr>
        <p:spPr>
          <a:xfrm>
            <a:off x="822959" y="286605"/>
            <a:ext cx="8119241" cy="831478"/>
          </a:xfrm>
        </p:spPr>
        <p:txBody>
          <a:bodyPr>
            <a:normAutofit/>
          </a:bodyPr>
          <a:lstStyle/>
          <a:p>
            <a:r>
              <a:rPr lang="en-US" altLang="zh-CN" sz="2000" dirty="0">
                <a:latin typeface="Arial" panose="020B0604020202020204" pitchFamily="34" charset="0"/>
                <a:cs typeface="Arial" panose="020B0604020202020204" pitchFamily="34" charset="0"/>
              </a:rPr>
              <a:t>② Synchronous Communication</a:t>
            </a:r>
            <a:r>
              <a:rPr lang="en-US" altLang="zh-CN" sz="2400" dirty="0">
                <a:solidFill>
                  <a:srgbClr val="FF0000"/>
                </a:solidFill>
                <a:latin typeface="Arial" panose="020B0604020202020204" pitchFamily="34" charset="0"/>
                <a:cs typeface="Arial" panose="020B0604020202020204" pitchFamily="34" charset="0"/>
              </a:rPr>
              <a:t>(a) Character-oriented data format</a:t>
            </a:r>
            <a:endParaRPr lang="zh-CN" altLang="en-US" sz="2800" dirty="0">
              <a:solidFill>
                <a:srgbClr val="FF0000"/>
              </a:solidFill>
              <a:latin typeface="Arial" panose="020B0604020202020204" pitchFamily="34" charset="0"/>
              <a:cs typeface="Arial" panose="020B0604020202020204" pitchFamily="34" charset="0"/>
            </a:endParaRPr>
          </a:p>
        </p:txBody>
      </p:sp>
      <p:sp>
        <p:nvSpPr>
          <p:cNvPr id="458755" name="Rectangle 3"/>
          <p:cNvSpPr>
            <a:spLocks noGrp="1" noChangeArrowheads="1"/>
          </p:cNvSpPr>
          <p:nvPr>
            <p:ph idx="1"/>
          </p:nvPr>
        </p:nvSpPr>
        <p:spPr>
          <a:xfrm>
            <a:off x="352425" y="1212850"/>
            <a:ext cx="8524875" cy="1200150"/>
          </a:xfrm>
        </p:spPr>
        <p:txBody>
          <a:bodyPr/>
          <a:lstStyle/>
          <a:p>
            <a:pPr eaLnBrk="1" hangingPunct="1">
              <a:lnSpc>
                <a:spcPct val="95000"/>
              </a:lnSpc>
              <a:spcBef>
                <a:spcPct val="0"/>
              </a:spcBef>
            </a:pPr>
            <a:r>
              <a:rPr lang="zh-CN" altLang="en-US" sz="2400" dirty="0">
                <a:solidFill>
                  <a:srgbClr val="FF0000"/>
                </a:solidFill>
                <a:latin typeface="Arial" panose="020B0604020202020204" pitchFamily="34" charset="0"/>
                <a:cs typeface="Arial" panose="020B0604020202020204" pitchFamily="34" charset="0"/>
              </a:rPr>
              <a:t>Single synchronization, double synchronization</a:t>
            </a:r>
          </a:p>
          <a:p>
            <a:pPr lvl="1" eaLnBrk="1" hangingPunct="1">
              <a:lnSpc>
                <a:spcPct val="95000"/>
              </a:lnSpc>
              <a:spcBef>
                <a:spcPct val="0"/>
              </a:spcBef>
            </a:pPr>
            <a:r>
              <a:rPr lang="zh-CN" altLang="en-US" sz="1600" dirty="0">
                <a:latin typeface="Arial" panose="020B0604020202020204" pitchFamily="34" charset="0"/>
                <a:cs typeface="Arial" panose="020B0604020202020204" pitchFamily="34" charset="0"/>
              </a:rPr>
              <a:t>Both single and double synchronization consist of three components: </a:t>
            </a:r>
            <a:r>
              <a:rPr lang="zh-CN" altLang="en-US" sz="1600" dirty="0">
                <a:solidFill>
                  <a:srgbClr val="CC3300"/>
                </a:solidFill>
                <a:latin typeface="Arial" panose="020B0604020202020204" pitchFamily="34" charset="0"/>
                <a:cs typeface="Arial" panose="020B0604020202020204" pitchFamily="34" charset="0"/>
              </a:rPr>
              <a:t>synchronization characters</a:t>
            </a:r>
            <a:r>
              <a:rPr lang="zh-CN" altLang="en-US" sz="1600" dirty="0">
                <a:latin typeface="Arial" panose="020B0604020202020204" pitchFamily="34" charset="0"/>
                <a:cs typeface="Arial" panose="020B0604020202020204" pitchFamily="34" charset="0"/>
              </a:rPr>
              <a:t>, </a:t>
            </a:r>
            <a:r>
              <a:rPr lang="zh-CN" altLang="en-US" sz="1600" dirty="0">
                <a:solidFill>
                  <a:srgbClr val="CC3300"/>
                </a:solidFill>
                <a:latin typeface="Arial" panose="020B0604020202020204" pitchFamily="34" charset="0"/>
                <a:cs typeface="Arial" panose="020B0604020202020204" pitchFamily="34" charset="0"/>
              </a:rPr>
              <a:t>data characters</a:t>
            </a:r>
            <a:r>
              <a:rPr lang="zh-CN" altLang="en-US" sz="1600" dirty="0">
                <a:latin typeface="Arial" panose="020B0604020202020204" pitchFamily="34" charset="0"/>
                <a:cs typeface="Arial" panose="020B0604020202020204" pitchFamily="34" charset="0"/>
              </a:rPr>
              <a:t>, and </a:t>
            </a:r>
            <a:r>
              <a:rPr lang="zh-CN" altLang="en-US" sz="1600" dirty="0">
                <a:solidFill>
                  <a:srgbClr val="CC3300"/>
                </a:solidFill>
                <a:latin typeface="Arial" panose="020B0604020202020204" pitchFamily="34" charset="0"/>
                <a:cs typeface="Arial" panose="020B0604020202020204" pitchFamily="34" charset="0"/>
              </a:rPr>
              <a:t>CRC</a:t>
            </a:r>
            <a:r>
              <a:rPr lang="zh-CN" altLang="en-US" sz="1600" dirty="0">
                <a:latin typeface="Arial" panose="020B0604020202020204" pitchFamily="34" charset="0"/>
                <a:cs typeface="Arial" panose="020B0604020202020204" pitchFamily="34" charset="0"/>
              </a:rPr>
              <a:t> (</a:t>
            </a:r>
            <a:r>
              <a:rPr lang="zh-CN" altLang="en-US" sz="1600" dirty="0">
                <a:solidFill>
                  <a:srgbClr val="C00000"/>
                </a:solidFill>
                <a:latin typeface="Arial" panose="020B0604020202020204" pitchFamily="34" charset="0"/>
                <a:cs typeface="Arial" panose="020B0604020202020204" pitchFamily="34" charset="0"/>
              </a:rPr>
              <a:t>C</a:t>
            </a:r>
            <a:r>
              <a:rPr lang="zh-CN" altLang="en-US" sz="1600" dirty="0">
                <a:solidFill>
                  <a:srgbClr val="3333FF"/>
                </a:solidFill>
                <a:latin typeface="Arial" panose="020B0604020202020204" pitchFamily="34" charset="0"/>
                <a:cs typeface="Arial" panose="020B0604020202020204" pitchFamily="34" charset="0"/>
              </a:rPr>
              <a:t>yclic</a:t>
            </a:r>
            <a:r>
              <a:rPr lang="zh-CN" altLang="en-US" sz="1600" dirty="0">
                <a:latin typeface="Arial" panose="020B0604020202020204" pitchFamily="34" charset="0"/>
                <a:cs typeface="Arial" panose="020B0604020202020204" pitchFamily="34" charset="0"/>
              </a:rPr>
              <a:t> </a:t>
            </a:r>
            <a:r>
              <a:rPr lang="zh-CN" altLang="en-US" sz="1600" dirty="0">
                <a:solidFill>
                  <a:srgbClr val="C00000"/>
                </a:solidFill>
                <a:latin typeface="Arial" panose="020B0604020202020204" pitchFamily="34" charset="0"/>
                <a:cs typeface="Arial" panose="020B0604020202020204" pitchFamily="34" charset="0"/>
              </a:rPr>
              <a:t>R</a:t>
            </a:r>
            <a:r>
              <a:rPr lang="zh-CN" altLang="en-US" sz="1600" dirty="0">
                <a:solidFill>
                  <a:srgbClr val="3333FF"/>
                </a:solidFill>
                <a:latin typeface="Arial" panose="020B0604020202020204" pitchFamily="34" charset="0"/>
                <a:cs typeface="Arial" panose="020B0604020202020204" pitchFamily="34" charset="0"/>
              </a:rPr>
              <a:t>edundancy</a:t>
            </a:r>
            <a:r>
              <a:rPr lang="zh-CN" altLang="en-US" sz="1600" dirty="0">
                <a:latin typeface="Arial" panose="020B0604020202020204" pitchFamily="34" charset="0"/>
                <a:cs typeface="Arial" panose="020B0604020202020204" pitchFamily="34" charset="0"/>
              </a:rPr>
              <a:t> </a:t>
            </a:r>
            <a:r>
              <a:rPr lang="zh-CN" altLang="en-US" sz="1600" dirty="0">
                <a:solidFill>
                  <a:srgbClr val="C00000"/>
                </a:solidFill>
                <a:latin typeface="Arial" panose="020B0604020202020204" pitchFamily="34" charset="0"/>
                <a:cs typeface="Arial" panose="020B0604020202020204" pitchFamily="34" charset="0"/>
              </a:rPr>
              <a:t>C</a:t>
            </a:r>
            <a:r>
              <a:rPr lang="zh-CN" altLang="en-US" sz="1600" dirty="0">
                <a:solidFill>
                  <a:srgbClr val="3333FF"/>
                </a:solidFill>
                <a:latin typeface="Arial" panose="020B0604020202020204" pitchFamily="34" charset="0"/>
                <a:cs typeface="Arial" panose="020B0604020202020204" pitchFamily="34" charset="0"/>
              </a:rPr>
              <a:t>heck</a:t>
            </a:r>
            <a:r>
              <a:rPr lang="zh-CN" altLang="en-US" sz="1600" dirty="0">
                <a:latin typeface="Arial" panose="020B0604020202020204" pitchFamily="34" charset="0"/>
                <a:cs typeface="Arial" panose="020B0604020202020204" pitchFamily="34" charset="0"/>
              </a:rPr>
              <a:t>) verification characters.</a:t>
            </a:r>
          </a:p>
        </p:txBody>
      </p:sp>
      <p:pic>
        <p:nvPicPr>
          <p:cNvPr id="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850" y="2282825"/>
            <a:ext cx="8355013" cy="1149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3"/>
          <p:cNvSpPr txBox="1">
            <a:spLocks noChangeArrowheads="1"/>
          </p:cNvSpPr>
          <p:nvPr/>
        </p:nvSpPr>
        <p:spPr bwMode="auto">
          <a:xfrm>
            <a:off x="338137" y="3429000"/>
            <a:ext cx="8524875" cy="119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just" rtl="0" eaLnBrk="0" fontAlgn="base" hangingPunct="0">
              <a:lnSpc>
                <a:spcPct val="114000"/>
              </a:lnSpc>
              <a:spcBef>
                <a:spcPts val="0"/>
              </a:spcBef>
              <a:spcAft>
                <a:spcPts val="600"/>
              </a:spcAft>
              <a:buBlip>
                <a:blip r:embed="rId3"/>
              </a:buBlip>
              <a:defRPr sz="2800" b="1">
                <a:solidFill>
                  <a:schemeClr val="accent2"/>
                </a:solidFill>
                <a:latin typeface="+mn-lt"/>
                <a:ea typeface="+mn-ea"/>
                <a:cs typeface="+mn-cs"/>
              </a:defRPr>
            </a:lvl1pPr>
            <a:lvl2pPr marL="263525" indent="-180975" algn="just" rtl="0" eaLnBrk="0" fontAlgn="base" hangingPunct="0">
              <a:lnSpc>
                <a:spcPct val="114000"/>
              </a:lnSpc>
              <a:spcBef>
                <a:spcPts val="0"/>
              </a:spcBef>
              <a:spcAft>
                <a:spcPts val="600"/>
              </a:spcAft>
              <a:buBlip>
                <a:blip r:embed="rId4"/>
              </a:buBlip>
              <a:defRPr sz="2800" b="1">
                <a:solidFill>
                  <a:schemeClr val="tx1"/>
                </a:solidFill>
                <a:latin typeface="+mn-lt"/>
                <a:ea typeface="+mn-ea"/>
              </a:defRPr>
            </a:lvl2pPr>
            <a:lvl3pPr marL="1143000" indent="-228600" algn="just"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just"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just"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lvl="1" eaLnBrk="1" hangingPunct="1">
              <a:lnSpc>
                <a:spcPct val="95000"/>
              </a:lnSpc>
              <a:defRPr/>
            </a:pPr>
            <a:r>
              <a:rPr lang="zh-CN" altLang="en-US" sz="2000" kern="0" dirty="0"/>
              <a:t>Single synchronization involves transmitting a </a:t>
            </a:r>
            <a:r>
              <a:rPr lang="zh-CN" altLang="en-US" sz="2000" kern="0" dirty="0">
                <a:solidFill>
                  <a:srgbClr val="CC3300"/>
                </a:solidFill>
              </a:rPr>
              <a:t>single</a:t>
            </a:r>
            <a:r>
              <a:rPr lang="zh-CN" altLang="en-US" sz="2000" kern="0" dirty="0"/>
              <a:t> synchronization character SYNC before data, while double synchronization requires sending </a:t>
            </a:r>
            <a:r>
              <a:rPr lang="zh-CN" altLang="en-US" sz="2000" kern="0" dirty="0">
                <a:solidFill>
                  <a:srgbClr val="CC3300"/>
                </a:solidFill>
              </a:rPr>
              <a:t>two</a:t>
            </a:r>
            <a:r>
              <a:rPr lang="zh-CN" altLang="en-US" sz="2000" kern="0" dirty="0"/>
              <a:t> SYNC characters.</a:t>
            </a:r>
          </a:p>
        </p:txBody>
      </p:sp>
      <p:pic>
        <p:nvPicPr>
          <p:cNvPr id="1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2125" y="4421188"/>
            <a:ext cx="8313738" cy="1098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矩形 10"/>
          <p:cNvSpPr>
            <a:spLocks noChangeArrowheads="1"/>
          </p:cNvSpPr>
          <p:nvPr/>
        </p:nvSpPr>
        <p:spPr bwMode="auto">
          <a:xfrm>
            <a:off x="450850" y="5546058"/>
            <a:ext cx="86169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1200" b="1" dirty="0">
                <a:solidFill>
                  <a:srgbClr val="CC3300"/>
                </a:solidFill>
                <a:cs typeface="Arial" panose="020B0604020202020204" pitchFamily="34" charset="0"/>
              </a:rPr>
              <a:t>Synchronous characters may follow either a unified standard format or user-defined conventions. For </a:t>
            </a:r>
            <a:r>
              <a:rPr lang="zh-CN" altLang="en-US" sz="1200" b="1" dirty="0">
                <a:solidFill>
                  <a:srgbClr val="3333FF"/>
                </a:solidFill>
                <a:cs typeface="Arial" panose="020B0604020202020204" pitchFamily="34" charset="0"/>
              </a:rPr>
              <a:t>single-sync characters </a:t>
            </a:r>
            <a:r>
              <a:rPr lang="zh-CN" altLang="en-US" sz="1200" b="1" dirty="0">
                <a:solidFill>
                  <a:srgbClr val="CC3300"/>
                </a:solidFill>
                <a:cs typeface="Arial" panose="020B0604020202020204" pitchFamily="34" charset="0"/>
              </a:rPr>
              <a:t>(SYNC), the ASCII standards </a:t>
            </a:r>
            <a:r>
              <a:rPr lang="zh-CN" altLang="en-US" sz="1200" b="1" dirty="0">
                <a:solidFill>
                  <a:srgbClr val="3333FF"/>
                </a:solidFill>
                <a:cs typeface="Arial" panose="020B0604020202020204" pitchFamily="34" charset="0"/>
              </a:rPr>
              <a:t>SYN code </a:t>
            </a:r>
            <a:r>
              <a:rPr lang="zh-CN" altLang="en-US" sz="1200" b="1" dirty="0">
                <a:solidFill>
                  <a:srgbClr val="CC3300"/>
                </a:solidFill>
                <a:cs typeface="Arial" panose="020B0604020202020204" pitchFamily="34" charset="0"/>
              </a:rPr>
              <a:t>(</a:t>
            </a:r>
            <a:r>
              <a:rPr lang="zh-CN" altLang="en-US" sz="1200" b="1" dirty="0">
                <a:solidFill>
                  <a:srgbClr val="3333FF"/>
                </a:solidFill>
                <a:cs typeface="Arial" panose="020B0604020202020204" pitchFamily="34" charset="0"/>
              </a:rPr>
              <a:t>16H</a:t>
            </a:r>
            <a:r>
              <a:rPr lang="zh-CN" altLang="en-US" sz="1200" b="1" dirty="0">
                <a:solidFill>
                  <a:srgbClr val="CC3300"/>
                </a:solidFill>
                <a:cs typeface="Arial" panose="020B0604020202020204" pitchFamily="34" charset="0"/>
              </a:rPr>
              <a:t>) is commonly used, while </a:t>
            </a:r>
            <a:r>
              <a:rPr lang="zh-CN" altLang="en-US" sz="1200" b="1" dirty="0">
                <a:solidFill>
                  <a:srgbClr val="3333FF"/>
                </a:solidFill>
                <a:cs typeface="Arial" panose="020B0604020202020204" pitchFamily="34" charset="0"/>
              </a:rPr>
              <a:t>double-sync characters </a:t>
            </a:r>
            <a:r>
              <a:rPr lang="zh-CN" altLang="en-US" sz="1200" b="1" dirty="0">
                <a:solidFill>
                  <a:srgbClr val="CC3300"/>
                </a:solidFill>
                <a:cs typeface="Arial" panose="020B0604020202020204" pitchFamily="34" charset="0"/>
              </a:rPr>
              <a:t>(SYNC) typically employ the internationally recognized standard code </a:t>
            </a:r>
            <a:r>
              <a:rPr lang="zh-CN" altLang="en-US" sz="1200" b="1" dirty="0">
                <a:solidFill>
                  <a:srgbClr val="3333FF"/>
                </a:solidFill>
                <a:cs typeface="Arial" panose="020B0604020202020204" pitchFamily="34" charset="0"/>
              </a:rPr>
              <a:t>EB90H</a:t>
            </a:r>
            <a:r>
              <a:rPr lang="zh-CN" altLang="en-US" sz="1200" b="1" dirty="0">
                <a:solidFill>
                  <a:srgbClr val="CC3300"/>
                </a:solidFill>
                <a:cs typeface="Arial" panose="020B0604020202020204" pitchFamily="34" charset="0"/>
              </a:rPr>
              <a:t>.</a:t>
            </a:r>
            <a:endParaRPr lang="zh-CN" altLang="en-US" sz="1200" b="1" dirty="0">
              <a:cs typeface="Arial" panose="020B0604020202020204" pitchFamily="34" charset="0"/>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17</a:t>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noChangeArrowheads="1"/>
          </p:cNvSpPr>
          <p:nvPr>
            <p:ph type="title"/>
          </p:nvPr>
        </p:nvSpPr>
        <p:spPr>
          <a:xfrm>
            <a:off x="723901" y="597958"/>
            <a:ext cx="8229600" cy="504825"/>
          </a:xfrm>
        </p:spPr>
        <p:txBody>
          <a:bodyPr>
            <a:noAutofit/>
          </a:bodyPr>
          <a:lstStyle/>
          <a:p>
            <a:r>
              <a:rPr lang="en-US" altLang="zh-CN" sz="2400" dirty="0">
                <a:cs typeface="Arial" panose="020B0604020202020204" pitchFamily="34" charset="0"/>
              </a:rPr>
              <a:t>② Synchronous Communication </a:t>
            </a:r>
            <a:r>
              <a:rPr lang="en-US" altLang="zh-CN" sz="2400" dirty="0">
                <a:solidFill>
                  <a:srgbClr val="FF0000"/>
                </a:solidFill>
                <a:cs typeface="Arial" panose="020B0604020202020204" pitchFamily="34" charset="0"/>
              </a:rPr>
              <a:t>(a) Character-oriented data format</a:t>
            </a:r>
            <a:endParaRPr lang="zh-CN" altLang="en-US" sz="2400" dirty="0">
              <a:solidFill>
                <a:srgbClr val="FF0000"/>
              </a:solidFill>
              <a:cs typeface="Arial" panose="020B0604020202020204" pitchFamily="34" charset="0"/>
            </a:endParaRPr>
          </a:p>
        </p:txBody>
      </p:sp>
      <p:sp>
        <p:nvSpPr>
          <p:cNvPr id="848899" name="Rectangle 3"/>
          <p:cNvSpPr>
            <a:spLocks noGrp="1" noChangeArrowheads="1"/>
          </p:cNvSpPr>
          <p:nvPr>
            <p:ph idx="1"/>
          </p:nvPr>
        </p:nvSpPr>
        <p:spPr>
          <a:xfrm>
            <a:off x="723901" y="1290886"/>
            <a:ext cx="7539566" cy="2328333"/>
          </a:xfrm>
        </p:spPr>
        <p:txBody>
          <a:bodyPr>
            <a:normAutofit lnSpcReduction="10000"/>
          </a:bodyPr>
          <a:lstStyle/>
          <a:p>
            <a:pPr eaLnBrk="1" hangingPunct="1">
              <a:lnSpc>
                <a:spcPct val="134000"/>
              </a:lnSpc>
              <a:spcBef>
                <a:spcPct val="0"/>
              </a:spcBef>
              <a:spcAft>
                <a:spcPts val="900"/>
              </a:spcAft>
            </a:pPr>
            <a:r>
              <a:rPr lang="en-US" altLang="zh-CN" dirty="0">
                <a:solidFill>
                  <a:srgbClr val="FF0000"/>
                </a:solidFill>
                <a:latin typeface="Arial" panose="020B0604020202020204" pitchFamily="34" charset="0"/>
                <a:cs typeface="Arial" panose="020B0604020202020204" pitchFamily="34" charset="0"/>
              </a:rPr>
              <a:t>E</a:t>
            </a:r>
            <a:r>
              <a:rPr lang="zh-CN" altLang="en-US" dirty="0">
                <a:solidFill>
                  <a:srgbClr val="FF0000"/>
                </a:solidFill>
                <a:latin typeface="Arial" panose="020B0604020202020204" pitchFamily="34" charset="0"/>
                <a:cs typeface="Arial" panose="020B0604020202020204" pitchFamily="34" charset="0"/>
              </a:rPr>
              <a:t>xternal synchronization</a:t>
            </a:r>
          </a:p>
          <a:p>
            <a:pPr lvl="1" eaLnBrk="1" hangingPunct="1">
              <a:lnSpc>
                <a:spcPct val="134000"/>
              </a:lnSpc>
              <a:spcBef>
                <a:spcPct val="0"/>
              </a:spcBef>
              <a:spcAft>
                <a:spcPts val="900"/>
              </a:spcAft>
            </a:pPr>
            <a:r>
              <a:rPr lang="zh-CN" altLang="en-US" dirty="0">
                <a:latin typeface="Arial" panose="020B0604020202020204" pitchFamily="34" charset="0"/>
                <a:cs typeface="Arial" panose="020B0604020202020204" pitchFamily="34" charset="0"/>
              </a:rPr>
              <a:t>The external synchronous communication data format does not contain synchronization characters. Instead, </a:t>
            </a:r>
            <a:r>
              <a:rPr lang="zh-CN" altLang="en-US" dirty="0">
                <a:solidFill>
                  <a:srgbClr val="FF0000"/>
                </a:solidFill>
                <a:latin typeface="Arial" panose="020B0604020202020204" pitchFamily="34" charset="0"/>
                <a:cs typeface="Arial" panose="020B0604020202020204" pitchFamily="34" charset="0"/>
              </a:rPr>
              <a:t>a dedicated control line </a:t>
            </a:r>
            <a:r>
              <a:rPr lang="zh-CN" altLang="en-US" dirty="0">
                <a:latin typeface="Arial" panose="020B0604020202020204" pitchFamily="34" charset="0"/>
                <a:cs typeface="Arial" panose="020B0604020202020204" pitchFamily="34" charset="0"/>
              </a:rPr>
              <a:t>transmits </a:t>
            </a:r>
            <a:r>
              <a:rPr lang="zh-CN" altLang="en-US" dirty="0">
                <a:solidFill>
                  <a:srgbClr val="CC3300"/>
                </a:solidFill>
                <a:latin typeface="Arial" panose="020B0604020202020204" pitchFamily="34" charset="0"/>
                <a:cs typeface="Arial" panose="020B0604020202020204" pitchFamily="34" charset="0"/>
              </a:rPr>
              <a:t>synchronization characters </a:t>
            </a:r>
            <a:r>
              <a:rPr lang="zh-CN" altLang="en-US" dirty="0">
                <a:latin typeface="Arial" panose="020B0604020202020204" pitchFamily="34" charset="0"/>
                <a:cs typeface="Arial" panose="020B0604020202020204" pitchFamily="34" charset="0"/>
              </a:rPr>
              <a:t>to synchronize both the receiver and transmitter. Each frame ends with a two-byte cyclic redundancy check (CRC) code.</a:t>
            </a:r>
            <a:endParaRPr lang="en-US" altLang="zh-CN" dirty="0">
              <a:latin typeface="Arial" panose="020B0604020202020204" pitchFamily="34" charset="0"/>
              <a:cs typeface="Arial" panose="020B0604020202020204" pitchFamily="34" charset="0"/>
            </a:endParaRPr>
          </a:p>
        </p:txBody>
      </p:sp>
      <p:pic>
        <p:nvPicPr>
          <p:cNvPr id="8"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987" y="3849936"/>
            <a:ext cx="8328025" cy="12493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灯片编号占位符 1"/>
          <p:cNvSpPr>
            <a:spLocks noGrp="1"/>
          </p:cNvSpPr>
          <p:nvPr>
            <p:ph type="sldNum" sz="quarter" idx="12"/>
          </p:nvPr>
        </p:nvSpPr>
        <p:spPr/>
        <p:txBody>
          <a:bodyPr/>
          <a:lstStyle/>
          <a:p>
            <a:fld id="{22E77DEE-32E4-4009-988B-F2758F7B8AC2}" type="slidenum">
              <a:rPr lang="zh-CN" altLang="en-US" smtClean="0"/>
              <a:t>18</a:t>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noChangeArrowheads="1"/>
          </p:cNvSpPr>
          <p:nvPr>
            <p:ph type="title"/>
          </p:nvPr>
        </p:nvSpPr>
        <p:spPr>
          <a:xfrm>
            <a:off x="822959" y="286605"/>
            <a:ext cx="7986811" cy="831478"/>
          </a:xfrm>
        </p:spPr>
        <p:txBody>
          <a:bodyPr>
            <a:noAutofit/>
          </a:bodyPr>
          <a:lstStyle/>
          <a:p>
            <a:r>
              <a:rPr lang="en-US" altLang="zh-CN" sz="2400" dirty="0">
                <a:latin typeface="Arial" panose="020B0604020202020204" pitchFamily="34" charset="0"/>
                <a:cs typeface="Arial" panose="020B0604020202020204" pitchFamily="34" charset="0"/>
              </a:rPr>
              <a:t>② Synchronous Communication </a:t>
            </a:r>
            <a:r>
              <a:rPr lang="en-US" altLang="zh-CN" sz="2400" dirty="0">
                <a:solidFill>
                  <a:srgbClr val="FF0000"/>
                </a:solidFill>
                <a:latin typeface="Arial" panose="020B0604020202020204" pitchFamily="34" charset="0"/>
                <a:cs typeface="Arial" panose="020B0604020202020204" pitchFamily="34" charset="0"/>
              </a:rPr>
              <a:t>(b) Bit-oriented data format</a:t>
            </a:r>
            <a:endParaRPr lang="zh-CN" altLang="en-US" sz="3600" dirty="0">
              <a:solidFill>
                <a:srgbClr val="FF0000"/>
              </a:solidFill>
              <a:latin typeface="Arial" panose="020B0604020202020204" pitchFamily="34" charset="0"/>
              <a:cs typeface="Arial" panose="020B0604020202020204" pitchFamily="34" charset="0"/>
            </a:endParaRPr>
          </a:p>
        </p:txBody>
      </p:sp>
      <p:sp>
        <p:nvSpPr>
          <p:cNvPr id="460803" name="Rectangle 3"/>
          <p:cNvSpPr>
            <a:spLocks noGrp="1" noChangeArrowheads="1"/>
          </p:cNvSpPr>
          <p:nvPr>
            <p:ph idx="1"/>
          </p:nvPr>
        </p:nvSpPr>
        <p:spPr>
          <a:xfrm>
            <a:off x="766233" y="1405467"/>
            <a:ext cx="7600527" cy="3585633"/>
          </a:xfrm>
        </p:spPr>
        <p:txBody>
          <a:bodyPr>
            <a:normAutofit lnSpcReduction="10000"/>
          </a:bodyPr>
          <a:lstStyle/>
          <a:p>
            <a:pPr eaLnBrk="1" hangingPunct="1">
              <a:spcBef>
                <a:spcPct val="0"/>
              </a:spcBef>
              <a:spcAft>
                <a:spcPts val="1200"/>
              </a:spcAft>
            </a:pPr>
            <a:r>
              <a:rPr lang="zh-CN" altLang="en-US" dirty="0">
                <a:latin typeface="Arial" panose="020B0604020202020204" pitchFamily="34" charset="0"/>
                <a:cs typeface="Arial" panose="020B0604020202020204" pitchFamily="34" charset="0"/>
              </a:rPr>
              <a:t>According to the Synchronous Data Link Control (SDLC), each frame of </a:t>
            </a:r>
            <a:r>
              <a:rPr lang="zh-CN" altLang="en-US" dirty="0">
                <a:solidFill>
                  <a:srgbClr val="FF00FF"/>
                </a:solidFill>
                <a:latin typeface="Arial" panose="020B0604020202020204" pitchFamily="34" charset="0"/>
                <a:cs typeface="Arial" panose="020B0604020202020204" pitchFamily="34" charset="0"/>
              </a:rPr>
              <a:t>bit-oriented </a:t>
            </a:r>
            <a:r>
              <a:rPr lang="zh-CN" altLang="en-US" dirty="0">
                <a:latin typeface="Arial" panose="020B0604020202020204" pitchFamily="34" charset="0"/>
                <a:cs typeface="Arial" panose="020B0604020202020204" pitchFamily="34" charset="0"/>
              </a:rPr>
              <a:t>data consists of </a:t>
            </a:r>
            <a:r>
              <a:rPr lang="zh-CN" altLang="en-US" dirty="0">
                <a:solidFill>
                  <a:srgbClr val="FF00FF"/>
                </a:solidFill>
                <a:latin typeface="Arial" panose="020B0604020202020204" pitchFamily="34" charset="0"/>
                <a:cs typeface="Arial" panose="020B0604020202020204" pitchFamily="34" charset="0"/>
              </a:rPr>
              <a:t>six parts</a:t>
            </a:r>
            <a:r>
              <a:rPr lang="zh-CN" altLang="en-US" dirty="0">
                <a:latin typeface="Arial" panose="020B0604020202020204" pitchFamily="34" charset="0"/>
                <a:cs typeface="Arial" panose="020B0604020202020204" pitchFamily="34" charset="0"/>
              </a:rPr>
              <a:t>.</a:t>
            </a:r>
          </a:p>
          <a:p>
            <a:pPr lvl="1" eaLnBrk="1" hangingPunct="1">
              <a:spcBef>
                <a:spcPct val="0"/>
              </a:spcBef>
              <a:spcAft>
                <a:spcPts val="1200"/>
              </a:spcAft>
            </a:pPr>
            <a:r>
              <a:rPr lang="zh-CN" altLang="en-US" dirty="0">
                <a:latin typeface="Arial" panose="020B0604020202020204" pitchFamily="34" charset="0"/>
                <a:cs typeface="Arial" panose="020B0604020202020204" pitchFamily="34" charset="0"/>
              </a:rPr>
              <a:t>The first part is the </a:t>
            </a:r>
            <a:r>
              <a:rPr lang="zh-CN" altLang="en-US" dirty="0">
                <a:solidFill>
                  <a:srgbClr val="FF0000"/>
                </a:solidFill>
                <a:latin typeface="Arial" panose="020B0604020202020204" pitchFamily="34" charset="0"/>
                <a:cs typeface="Arial" panose="020B0604020202020204" pitchFamily="34" charset="0"/>
              </a:rPr>
              <a:t>start marker </a:t>
            </a:r>
            <a:r>
              <a:rPr lang="zh-CN" altLang="en-US" dirty="0">
                <a:latin typeface="Arial" panose="020B0604020202020204" pitchFamily="34" charset="0"/>
                <a:cs typeface="Arial" panose="020B0604020202020204" pitchFamily="34" charset="0"/>
              </a:rPr>
              <a:t>"</a:t>
            </a:r>
            <a:r>
              <a:rPr lang="zh-CN" altLang="en-US" dirty="0">
                <a:solidFill>
                  <a:srgbClr val="FF0000"/>
                </a:solidFill>
                <a:latin typeface="Arial" panose="020B0604020202020204" pitchFamily="34" charset="0"/>
                <a:cs typeface="Arial" panose="020B0604020202020204" pitchFamily="34" charset="0"/>
              </a:rPr>
              <a:t>7EH </a:t>
            </a:r>
            <a:r>
              <a:rPr lang="zh-CN" altLang="en-US" dirty="0">
                <a:latin typeface="Arial" panose="020B0604020202020204" pitchFamily="34" charset="0"/>
                <a:cs typeface="Arial" panose="020B0604020202020204" pitchFamily="34" charset="0"/>
              </a:rPr>
              <a:t>(</a:t>
            </a:r>
            <a:r>
              <a:rPr lang="zh-CN" altLang="en-US" dirty="0">
                <a:solidFill>
                  <a:srgbClr val="9900CC"/>
                </a:solidFill>
                <a:latin typeface="Arial" panose="020B0604020202020204" pitchFamily="34" charset="0"/>
                <a:cs typeface="Arial" panose="020B0604020202020204" pitchFamily="34" charset="0"/>
              </a:rPr>
              <a:t>0111 1110B</a:t>
            </a:r>
            <a:r>
              <a:rPr lang="zh-CN" altLang="en-US" dirty="0">
                <a:latin typeface="Arial" panose="020B0604020202020204" pitchFamily="34" charset="0"/>
                <a:cs typeface="Arial" panose="020B0604020202020204" pitchFamily="34" charset="0"/>
              </a:rPr>
              <a:t>)";</a:t>
            </a:r>
          </a:p>
          <a:p>
            <a:pPr lvl="1" eaLnBrk="1" hangingPunct="1">
              <a:spcBef>
                <a:spcPct val="0"/>
              </a:spcBef>
              <a:spcAft>
                <a:spcPts val="1200"/>
              </a:spcAft>
            </a:pPr>
            <a:r>
              <a:rPr lang="zh-CN" altLang="en-US" dirty="0">
                <a:latin typeface="Arial" panose="020B0604020202020204" pitchFamily="34" charset="0"/>
                <a:cs typeface="Arial" panose="020B0604020202020204" pitchFamily="34" charset="0"/>
              </a:rPr>
              <a:t>The second part is a one-byte </a:t>
            </a:r>
            <a:r>
              <a:rPr lang="zh-CN" altLang="en-US" dirty="0">
                <a:solidFill>
                  <a:srgbClr val="FF0000"/>
                </a:solidFill>
                <a:latin typeface="Arial" panose="020B0604020202020204" pitchFamily="34" charset="0"/>
                <a:cs typeface="Arial" panose="020B0604020202020204" pitchFamily="34" charset="0"/>
              </a:rPr>
              <a:t>address field</a:t>
            </a:r>
            <a:r>
              <a:rPr lang="zh-CN" altLang="en-US" dirty="0">
                <a:latin typeface="Arial" panose="020B0604020202020204" pitchFamily="34" charset="0"/>
                <a:cs typeface="Arial" panose="020B0604020202020204" pitchFamily="34" charset="0"/>
              </a:rPr>
              <a:t>;</a:t>
            </a:r>
          </a:p>
          <a:p>
            <a:pPr lvl="1" eaLnBrk="1" hangingPunct="1">
              <a:spcBef>
                <a:spcPct val="0"/>
              </a:spcBef>
              <a:spcAft>
                <a:spcPts val="1200"/>
              </a:spcAft>
            </a:pPr>
            <a:r>
              <a:rPr lang="zh-CN" altLang="en-US" dirty="0">
                <a:latin typeface="Arial" panose="020B0604020202020204" pitchFamily="34" charset="0"/>
                <a:cs typeface="Arial" panose="020B0604020202020204" pitchFamily="34" charset="0"/>
              </a:rPr>
              <a:t>The third part is a one-byte </a:t>
            </a:r>
            <a:r>
              <a:rPr lang="zh-CN" altLang="en-US" dirty="0">
                <a:solidFill>
                  <a:srgbClr val="FF0000"/>
                </a:solidFill>
                <a:latin typeface="Arial" panose="020B0604020202020204" pitchFamily="34" charset="0"/>
                <a:cs typeface="Arial" panose="020B0604020202020204" pitchFamily="34" charset="0"/>
              </a:rPr>
              <a:t>control field</a:t>
            </a:r>
            <a:r>
              <a:rPr lang="zh-CN" altLang="en-US" dirty="0">
                <a:latin typeface="Arial" panose="020B0604020202020204" pitchFamily="34" charset="0"/>
                <a:cs typeface="Arial" panose="020B0604020202020204" pitchFamily="34" charset="0"/>
              </a:rPr>
              <a:t>;</a:t>
            </a:r>
          </a:p>
          <a:p>
            <a:pPr lvl="1" eaLnBrk="1" hangingPunct="1">
              <a:spcBef>
                <a:spcPct val="0"/>
              </a:spcBef>
              <a:spcAft>
                <a:spcPts val="1200"/>
              </a:spcAft>
            </a:pPr>
            <a:r>
              <a:rPr lang="zh-CN" altLang="en-US" dirty="0">
                <a:latin typeface="Arial" panose="020B0604020202020204" pitchFamily="34" charset="0"/>
                <a:cs typeface="Arial" panose="020B0604020202020204" pitchFamily="34" charset="0"/>
              </a:rPr>
              <a:t>The fourth part contains </a:t>
            </a:r>
            <a:r>
              <a:rPr lang="zh-CN" altLang="en-US" dirty="0">
                <a:solidFill>
                  <a:srgbClr val="FF0000"/>
                </a:solidFill>
                <a:latin typeface="Arial" panose="020B0604020202020204" pitchFamily="34" charset="0"/>
                <a:cs typeface="Arial" panose="020B0604020202020204" pitchFamily="34" charset="0"/>
              </a:rPr>
              <a:t>the data to be transmitted</a:t>
            </a:r>
            <a:r>
              <a:rPr lang="zh-CN" altLang="en-US" dirty="0">
                <a:latin typeface="Arial" panose="020B0604020202020204" pitchFamily="34" charset="0"/>
                <a:cs typeface="Arial" panose="020B0604020202020204" pitchFamily="34" charset="0"/>
              </a:rPr>
              <a:t>, which </a:t>
            </a:r>
            <a:r>
              <a:rPr lang="zh-CN" altLang="en-US" dirty="0">
                <a:solidFill>
                  <a:srgbClr val="FF00FF"/>
                </a:solidFill>
                <a:latin typeface="Arial" panose="020B0604020202020204" pitchFamily="34" charset="0"/>
                <a:cs typeface="Arial" panose="020B0604020202020204" pitchFamily="34" charset="0"/>
              </a:rPr>
              <a:t>consists of bit sets</a:t>
            </a:r>
            <a:r>
              <a:rPr lang="zh-CN" altLang="en-US" dirty="0">
                <a:latin typeface="Arial" panose="020B0604020202020204" pitchFamily="34" charset="0"/>
                <a:cs typeface="Arial" panose="020B0604020202020204" pitchFamily="34" charset="0"/>
              </a:rPr>
              <a:t>.</a:t>
            </a:r>
          </a:p>
          <a:p>
            <a:pPr lvl="1" eaLnBrk="1" hangingPunct="1">
              <a:spcBef>
                <a:spcPct val="0"/>
              </a:spcBef>
              <a:spcAft>
                <a:spcPts val="1200"/>
              </a:spcAft>
            </a:pPr>
            <a:r>
              <a:rPr lang="zh-CN" altLang="en-US" dirty="0">
                <a:latin typeface="Arial" panose="020B0604020202020204" pitchFamily="34" charset="0"/>
                <a:cs typeface="Arial" panose="020B0604020202020204" pitchFamily="34" charset="0"/>
              </a:rPr>
              <a:t>The fifth section is a </a:t>
            </a:r>
            <a:r>
              <a:rPr lang="zh-CN" altLang="en-US" dirty="0">
                <a:solidFill>
                  <a:srgbClr val="FF0000"/>
                </a:solidFill>
                <a:latin typeface="Arial" panose="020B0604020202020204" pitchFamily="34" charset="0"/>
                <a:cs typeface="Arial" panose="020B0604020202020204" pitchFamily="34" charset="0"/>
              </a:rPr>
              <a:t>two-byte </a:t>
            </a:r>
            <a:r>
              <a:rPr lang="zh-CN" altLang="en-US" dirty="0">
                <a:latin typeface="Arial" panose="020B0604020202020204" pitchFamily="34" charset="0"/>
                <a:cs typeface="Arial" panose="020B0604020202020204" pitchFamily="34" charset="0"/>
              </a:rPr>
              <a:t>cyclic redundancy check (</a:t>
            </a:r>
            <a:r>
              <a:rPr lang="zh-CN" altLang="en-US" dirty="0">
                <a:solidFill>
                  <a:srgbClr val="FF0000"/>
                </a:solidFill>
                <a:latin typeface="Arial" panose="020B0604020202020204" pitchFamily="34" charset="0"/>
                <a:cs typeface="Arial" panose="020B0604020202020204" pitchFamily="34" charset="0"/>
              </a:rPr>
              <a:t>CRC</a:t>
            </a:r>
            <a:r>
              <a:rPr lang="zh-CN" altLang="en-US" dirty="0">
                <a:latin typeface="Arial" panose="020B0604020202020204" pitchFamily="34" charset="0"/>
                <a:cs typeface="Arial" panose="020B0604020202020204" pitchFamily="34" charset="0"/>
              </a:rPr>
              <a:t>) for loop control.</a:t>
            </a:r>
          </a:p>
          <a:p>
            <a:pPr lvl="1" eaLnBrk="1" hangingPunct="1">
              <a:spcBef>
                <a:spcPct val="0"/>
              </a:spcBef>
              <a:spcAft>
                <a:spcPts val="1200"/>
              </a:spcAft>
            </a:pPr>
            <a:r>
              <a:rPr lang="zh-CN" altLang="en-US" dirty="0">
                <a:latin typeface="Arial" panose="020B0604020202020204" pitchFamily="34" charset="0"/>
                <a:cs typeface="Arial" panose="020B0604020202020204" pitchFamily="34" charset="0"/>
              </a:rPr>
              <a:t>The final segment is </a:t>
            </a:r>
            <a:r>
              <a:rPr lang="zh-CN" altLang="en-US" dirty="0">
                <a:solidFill>
                  <a:srgbClr val="FF0000"/>
                </a:solidFill>
                <a:latin typeface="Arial" panose="020B0604020202020204" pitchFamily="34" charset="0"/>
                <a:cs typeface="Arial" panose="020B0604020202020204" pitchFamily="34" charset="0"/>
              </a:rPr>
              <a:t>7EH </a:t>
            </a:r>
            <a:r>
              <a:rPr lang="zh-CN" altLang="en-US" dirty="0">
                <a:latin typeface="Arial" panose="020B0604020202020204" pitchFamily="34" charset="0"/>
                <a:cs typeface="Arial" panose="020B0604020202020204" pitchFamily="34" charset="0"/>
              </a:rPr>
              <a:t>(</a:t>
            </a:r>
            <a:r>
              <a:rPr lang="zh-CN" altLang="en-US" dirty="0">
                <a:solidFill>
                  <a:srgbClr val="9900CC"/>
                </a:solidFill>
                <a:latin typeface="Arial" panose="020B0604020202020204" pitchFamily="34" charset="0"/>
                <a:cs typeface="Arial" panose="020B0604020202020204" pitchFamily="34" charset="0"/>
              </a:rPr>
              <a:t>0111 1110B</a:t>
            </a:r>
            <a:r>
              <a:rPr lang="zh-CN" altLang="en-US" dirty="0">
                <a:latin typeface="Arial" panose="020B0604020202020204" pitchFamily="34" charset="0"/>
                <a:cs typeface="Arial" panose="020B0604020202020204" pitchFamily="34" charset="0"/>
              </a:rPr>
              <a:t>), which serves as the </a:t>
            </a:r>
            <a:r>
              <a:rPr lang="zh-CN" altLang="en-US" dirty="0">
                <a:solidFill>
                  <a:srgbClr val="FF0000"/>
                </a:solidFill>
                <a:latin typeface="Arial" panose="020B0604020202020204" pitchFamily="34" charset="0"/>
                <a:cs typeface="Arial" panose="020B0604020202020204" pitchFamily="34" charset="0"/>
              </a:rPr>
              <a:t>end marker</a:t>
            </a:r>
            <a:r>
              <a:rPr lang="zh-CN" altLang="en-US" dirty="0">
                <a:latin typeface="Arial" panose="020B0604020202020204" pitchFamily="34" charset="0"/>
                <a:cs typeface="Arial" panose="020B0604020202020204" pitchFamily="34" charset="0"/>
              </a:rPr>
              <a:t>.</a:t>
            </a:r>
          </a:p>
        </p:txBody>
      </p:sp>
      <p:sp>
        <p:nvSpPr>
          <p:cNvPr id="2" name="灯片编号占位符 1"/>
          <p:cNvSpPr>
            <a:spLocks noGrp="1"/>
          </p:cNvSpPr>
          <p:nvPr>
            <p:ph type="sldNum" sz="quarter" idx="12"/>
          </p:nvPr>
        </p:nvSpPr>
        <p:spPr/>
        <p:txBody>
          <a:bodyPr/>
          <a:lstStyle/>
          <a:p>
            <a:fld id="{22E77DEE-32E4-4009-988B-F2758F7B8AC2}" type="slidenum">
              <a:rPr lang="zh-CN" altLang="en-US" smtClean="0"/>
              <a:t>19</a:t>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noChangeArrowheads="1"/>
          </p:cNvSpPr>
          <p:nvPr>
            <p:ph type="title"/>
          </p:nvPr>
        </p:nvSpPr>
        <p:spPr>
          <a:xfrm>
            <a:off x="822960" y="286605"/>
            <a:ext cx="7967892" cy="831478"/>
          </a:xfrm>
        </p:spPr>
        <p:txBody>
          <a:bodyPr>
            <a:noAutofit/>
          </a:bodyPr>
          <a:lstStyle/>
          <a:p>
            <a:r>
              <a:rPr lang="en-US" altLang="zh-CN" sz="2400" dirty="0">
                <a:latin typeface="Arial" panose="020B0604020202020204" pitchFamily="34" charset="0"/>
                <a:cs typeface="Arial" panose="020B0604020202020204" pitchFamily="34" charset="0"/>
              </a:rPr>
              <a:t>② Synchronous Communication </a:t>
            </a:r>
            <a:r>
              <a:rPr lang="en-US" altLang="zh-CN" sz="2400" dirty="0">
                <a:solidFill>
                  <a:srgbClr val="FF0000"/>
                </a:solidFill>
                <a:latin typeface="Arial" panose="020B0604020202020204" pitchFamily="34" charset="0"/>
                <a:cs typeface="Arial" panose="020B0604020202020204" pitchFamily="34" charset="0"/>
              </a:rPr>
              <a:t>(b) Bit-oriented data format</a:t>
            </a:r>
            <a:endParaRPr lang="zh-CN" altLang="en-US" sz="2400" dirty="0">
              <a:solidFill>
                <a:srgbClr val="FF0000"/>
              </a:solidFill>
              <a:latin typeface="Arial" panose="020B0604020202020204" pitchFamily="34" charset="0"/>
              <a:cs typeface="Arial" panose="020B0604020202020204" pitchFamily="34" charset="0"/>
            </a:endParaRPr>
          </a:p>
        </p:txBody>
      </p:sp>
      <p:sp>
        <p:nvSpPr>
          <p:cNvPr id="39939" name="Rectangle 3"/>
          <p:cNvSpPr>
            <a:spLocks noGrp="1" noChangeArrowheads="1"/>
          </p:cNvSpPr>
          <p:nvPr>
            <p:ph idx="1"/>
          </p:nvPr>
        </p:nvSpPr>
        <p:spPr>
          <a:xfrm>
            <a:off x="822960" y="1258115"/>
            <a:ext cx="7402407" cy="361219"/>
          </a:xfrm>
        </p:spPr>
        <p:txBody>
          <a:bodyPr>
            <a:normAutofit lnSpcReduction="10000"/>
          </a:bodyPr>
          <a:lstStyle/>
          <a:p>
            <a:pPr eaLnBrk="1" hangingPunct="1">
              <a:spcBef>
                <a:spcPct val="0"/>
              </a:spcBef>
            </a:pPr>
            <a:r>
              <a:rPr lang="en-US" altLang="zh-CN" dirty="0">
                <a:latin typeface="Arial" panose="020B0604020202020204" pitchFamily="34" charset="0"/>
                <a:cs typeface="Arial" panose="020B0604020202020204" pitchFamily="34" charset="0"/>
              </a:rPr>
              <a:t>The data format for </a:t>
            </a:r>
            <a:r>
              <a:rPr lang="en-US" altLang="zh-CN" dirty="0">
                <a:solidFill>
                  <a:srgbClr val="FF00FF"/>
                </a:solidFill>
                <a:latin typeface="Arial" panose="020B0604020202020204" pitchFamily="34" charset="0"/>
                <a:cs typeface="Arial" panose="020B0604020202020204" pitchFamily="34" charset="0"/>
              </a:rPr>
              <a:t>bit-oriented </a:t>
            </a:r>
            <a:r>
              <a:rPr lang="en-US" altLang="zh-CN" dirty="0">
                <a:latin typeface="Arial" panose="020B0604020202020204" pitchFamily="34" charset="0"/>
                <a:cs typeface="Arial" panose="020B0604020202020204" pitchFamily="34" charset="0"/>
              </a:rPr>
              <a:t>data is shown in the figure.</a:t>
            </a:r>
          </a:p>
        </p:txBody>
      </p:sp>
      <p:sp>
        <p:nvSpPr>
          <p:cNvPr id="91142" name="Rectangle 6"/>
          <p:cNvSpPr>
            <a:spLocks noChangeArrowheads="1"/>
          </p:cNvSpPr>
          <p:nvPr/>
        </p:nvSpPr>
        <p:spPr bwMode="auto">
          <a:xfrm>
            <a:off x="1189474" y="3352949"/>
            <a:ext cx="6528517" cy="46166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dirty="0">
                <a:solidFill>
                  <a:srgbClr val="FF00FF"/>
                </a:solidFill>
                <a:latin typeface="+mn-lt"/>
                <a:cs typeface="Arial" panose="020B0604020202020204" pitchFamily="34" charset="0"/>
              </a:rPr>
              <a:t>Bit-type </a:t>
            </a:r>
            <a:r>
              <a:rPr lang="zh-CN" altLang="en-US" sz="2400" b="1" dirty="0">
                <a:solidFill>
                  <a:srgbClr val="800000"/>
                </a:solidFill>
                <a:latin typeface="+mn-lt"/>
                <a:cs typeface="Arial" panose="020B0604020202020204" pitchFamily="34" charset="0"/>
              </a:rPr>
              <a:t>synchronous communication data format</a:t>
            </a:r>
          </a:p>
        </p:txBody>
      </p:sp>
      <p:sp>
        <p:nvSpPr>
          <p:cNvPr id="9" name="Rectangle 3"/>
          <p:cNvSpPr txBox="1">
            <a:spLocks noChangeArrowheads="1"/>
          </p:cNvSpPr>
          <p:nvPr/>
        </p:nvSpPr>
        <p:spPr bwMode="auto">
          <a:xfrm>
            <a:off x="211138" y="3894138"/>
            <a:ext cx="8693150" cy="2286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just" rtl="0" eaLnBrk="0" fontAlgn="base" hangingPunct="0">
              <a:lnSpc>
                <a:spcPct val="114000"/>
              </a:lnSpc>
              <a:spcBef>
                <a:spcPts val="0"/>
              </a:spcBef>
              <a:spcAft>
                <a:spcPts val="600"/>
              </a:spcAft>
              <a:buBlip>
                <a:blip r:embed="rId2"/>
              </a:buBlip>
              <a:defRPr sz="2800" b="1">
                <a:solidFill>
                  <a:schemeClr val="accent2"/>
                </a:solidFill>
                <a:latin typeface="+mn-lt"/>
                <a:ea typeface="+mn-ea"/>
                <a:cs typeface="+mn-cs"/>
              </a:defRPr>
            </a:lvl1pPr>
            <a:lvl2pPr marL="263525" indent="-180975" algn="just" rtl="0" eaLnBrk="0" fontAlgn="base" hangingPunct="0">
              <a:lnSpc>
                <a:spcPct val="114000"/>
              </a:lnSpc>
              <a:spcBef>
                <a:spcPts val="0"/>
              </a:spcBef>
              <a:spcAft>
                <a:spcPts val="600"/>
              </a:spcAft>
              <a:buBlip>
                <a:blip r:embed="rId3"/>
              </a:buBlip>
              <a:defRPr sz="2800" b="1">
                <a:solidFill>
                  <a:schemeClr val="tx1"/>
                </a:solidFill>
                <a:latin typeface="+mn-lt"/>
                <a:ea typeface="+mn-ea"/>
              </a:defRPr>
            </a:lvl2pPr>
            <a:lvl3pPr marL="1143000" indent="-228600" algn="just"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just"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just"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eaLnBrk="1" hangingPunct="1">
              <a:lnSpc>
                <a:spcPct val="110000"/>
              </a:lnSpc>
              <a:spcAft>
                <a:spcPts val="900"/>
              </a:spcAft>
              <a:defRPr/>
            </a:pPr>
            <a:r>
              <a:rPr lang="en-US" altLang="zh-CN" sz="1800" kern="0" dirty="0">
                <a:cs typeface="Arial" panose="020B0604020202020204" pitchFamily="34" charset="0"/>
              </a:rPr>
              <a:t>Note: The SDLC protocol </a:t>
            </a:r>
            <a:r>
              <a:rPr lang="en-US" altLang="zh-CN" sz="1800" kern="0" dirty="0">
                <a:solidFill>
                  <a:srgbClr val="FF00FF"/>
                </a:solidFill>
                <a:cs typeface="Arial" panose="020B0604020202020204" pitchFamily="34" charset="0"/>
              </a:rPr>
              <a:t>prohibits the occurrence of six consecutive “1”s</a:t>
            </a:r>
            <a:r>
              <a:rPr lang="en-US" altLang="zh-CN" sz="1800" kern="0" dirty="0">
                <a:cs typeface="Arial" panose="020B0604020202020204" pitchFamily="34" charset="0"/>
              </a:rPr>
              <a:t> in either the data segment or the CRC segment, as this would be mistaken for an end-of-segment marker.</a:t>
            </a:r>
          </a:p>
          <a:p>
            <a:pPr eaLnBrk="1" hangingPunct="1">
              <a:lnSpc>
                <a:spcPct val="110000"/>
              </a:lnSpc>
              <a:spcAft>
                <a:spcPts val="900"/>
              </a:spcAft>
              <a:defRPr/>
            </a:pPr>
            <a:r>
              <a:rPr lang="zh-CN" altLang="en-US" sz="1800" kern="0" dirty="0">
                <a:cs typeface="Arial" panose="020B0604020202020204" pitchFamily="34" charset="0"/>
              </a:rPr>
              <a:t>The sender is required to check. </a:t>
            </a:r>
            <a:r>
              <a:rPr lang="zh-CN" altLang="en-US" sz="1800" kern="0" dirty="0">
                <a:solidFill>
                  <a:srgbClr val="FF00FF"/>
                </a:solidFill>
                <a:cs typeface="Arial" panose="020B0604020202020204" pitchFamily="34" charset="0"/>
              </a:rPr>
              <a:t>When five consecutive "1" s appear, a "0" is inserted immediately. The receiver removes the inserted "0"</a:t>
            </a:r>
            <a:r>
              <a:rPr lang="zh-CN" altLang="en-US" sz="1800" kern="0" dirty="0">
                <a:cs typeface="Arial" panose="020B0604020202020204" pitchFamily="34" charset="0"/>
              </a:rPr>
              <a:t> to restore the original data and ensure the normal communication.</a:t>
            </a:r>
          </a:p>
        </p:txBody>
      </p:sp>
      <p:pic>
        <p:nvPicPr>
          <p:cNvPr id="3994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960" y="1647825"/>
            <a:ext cx="7271808" cy="15981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灯片编号占位符 1"/>
          <p:cNvSpPr>
            <a:spLocks noGrp="1"/>
          </p:cNvSpPr>
          <p:nvPr>
            <p:ph type="sldNum" sz="quarter" idx="12"/>
          </p:nvPr>
        </p:nvSpPr>
        <p:spPr/>
        <p:txBody>
          <a:bodyPr/>
          <a:lstStyle/>
          <a:p>
            <a:fld id="{22E77DEE-32E4-4009-988B-F2758F7B8AC2}" type="slidenum">
              <a:rPr lang="zh-CN" altLang="en-US" smtClean="0"/>
              <a:t>20</a:t>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noChangeArrowheads="1"/>
          </p:cNvSpPr>
          <p:nvPr>
            <p:ph type="title"/>
          </p:nvPr>
        </p:nvSpPr>
        <p:spPr/>
        <p:txBody>
          <a:bodyPr>
            <a:noAutofit/>
          </a:bodyPr>
          <a:lstStyle/>
          <a:p>
            <a:pPr eaLnBrk="1" hangingPunct="1"/>
            <a:r>
              <a:rPr lang="zh-CN" altLang="en-US" sz="2400" dirty="0">
                <a:solidFill>
                  <a:srgbClr val="FF0000"/>
                </a:solidFill>
                <a:latin typeface="Arial" panose="020B0604020202020204" pitchFamily="34" charset="0"/>
                <a:cs typeface="Arial" panose="020B0604020202020204" pitchFamily="34" charset="0"/>
              </a:rPr>
              <a:t>(1) Classification by serial data synchronization method</a:t>
            </a:r>
          </a:p>
        </p:txBody>
      </p:sp>
      <p:sp>
        <p:nvSpPr>
          <p:cNvPr id="908291" name="Rectangle 3"/>
          <p:cNvSpPr>
            <a:spLocks noGrp="1" noChangeArrowheads="1"/>
          </p:cNvSpPr>
          <p:nvPr>
            <p:ph idx="1"/>
          </p:nvPr>
        </p:nvSpPr>
        <p:spPr>
          <a:xfrm>
            <a:off x="664633" y="1704976"/>
            <a:ext cx="7702127" cy="3688292"/>
          </a:xfrm>
        </p:spPr>
        <p:txBody>
          <a:bodyPr>
            <a:noAutofit/>
          </a:bodyPr>
          <a:lstStyle/>
          <a:p>
            <a:pPr eaLnBrk="1" hangingPunct="1">
              <a:lnSpc>
                <a:spcPct val="150000"/>
              </a:lnSpc>
              <a:spcBef>
                <a:spcPct val="0"/>
              </a:spcBef>
            </a:pPr>
            <a:r>
              <a:rPr lang="zh-CN" altLang="en-US" dirty="0">
                <a:cs typeface="Arial" panose="020B0604020202020204" pitchFamily="34" charset="0"/>
              </a:rPr>
              <a:t>Synchronous communication advantages and disadvantages</a:t>
            </a:r>
          </a:p>
          <a:p>
            <a:pPr lvl="1" eaLnBrk="1" hangingPunct="1">
              <a:lnSpc>
                <a:spcPct val="150000"/>
              </a:lnSpc>
              <a:spcBef>
                <a:spcPct val="0"/>
              </a:spcBef>
            </a:pPr>
            <a:r>
              <a:rPr lang="zh-CN" altLang="en-US" sz="2000" dirty="0">
                <a:cs typeface="Arial" panose="020B0604020202020204" pitchFamily="34" charset="0"/>
              </a:rPr>
              <a:t>The data</a:t>
            </a:r>
            <a:r>
              <a:rPr lang="zh-CN" altLang="en-US" sz="2000" dirty="0">
                <a:solidFill>
                  <a:srgbClr val="FF00FF"/>
                </a:solidFill>
                <a:cs typeface="Arial" panose="020B0604020202020204" pitchFamily="34" charset="0"/>
              </a:rPr>
              <a:t> transmission rate is high</a:t>
            </a:r>
            <a:r>
              <a:rPr lang="zh-CN" altLang="en-US" sz="2000" dirty="0">
                <a:cs typeface="Arial" panose="020B0604020202020204" pitchFamily="34" charset="0"/>
              </a:rPr>
              <a:t>, usually up to 56000bps or higher, suitable for transmitting large amounts of information and high transmission rate systems.</a:t>
            </a:r>
          </a:p>
          <a:p>
            <a:pPr lvl="1" eaLnBrk="1" hangingPunct="1">
              <a:lnSpc>
                <a:spcPct val="150000"/>
              </a:lnSpc>
              <a:spcBef>
                <a:spcPct val="0"/>
              </a:spcBef>
            </a:pPr>
            <a:r>
              <a:rPr lang="zh-CN" altLang="en-US" sz="2000" dirty="0">
                <a:cs typeface="Arial" panose="020B0604020202020204" pitchFamily="34" charset="0"/>
              </a:rPr>
              <a:t>The disadvantage is that </a:t>
            </a:r>
            <a:r>
              <a:rPr lang="zh-CN" altLang="en-US" sz="2000" dirty="0">
                <a:solidFill>
                  <a:srgbClr val="FF0000"/>
                </a:solidFill>
                <a:cs typeface="Arial" panose="020B0604020202020204" pitchFamily="34" charset="0"/>
              </a:rPr>
              <a:t>the sending clock and the receiving clock must be kept strictly synchronized</a:t>
            </a:r>
            <a:r>
              <a:rPr lang="zh-CN" altLang="en-US" sz="2000" dirty="0">
                <a:cs typeface="Arial" panose="020B0604020202020204" pitchFamily="34" charset="0"/>
              </a:rPr>
              <a:t>. Therefore, the sending clock should not only be consistent with the sending baud rate, but also be transmitted to the receiving end at the same time.</a:t>
            </a:r>
          </a:p>
        </p:txBody>
      </p:sp>
      <p:sp>
        <p:nvSpPr>
          <p:cNvPr id="6" name="标题 1"/>
          <p:cNvSpPr txBox="1"/>
          <p:nvPr/>
        </p:nvSpPr>
        <p:spPr bwMode="auto">
          <a:xfrm>
            <a:off x="822960" y="1200150"/>
            <a:ext cx="741934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200" b="1">
                <a:solidFill>
                  <a:srgbClr val="CC3300"/>
                </a:solidFill>
                <a:latin typeface="+mj-lt"/>
                <a:ea typeface="+mj-ea"/>
                <a:cs typeface="+mj-cs"/>
              </a:defRPr>
            </a:lvl1pPr>
            <a:lvl2pPr algn="l" rtl="0" eaLnBrk="0" fontAlgn="base" hangingPunct="0">
              <a:spcBef>
                <a:spcPct val="0"/>
              </a:spcBef>
              <a:spcAft>
                <a:spcPct val="0"/>
              </a:spcAft>
              <a:defRPr sz="2400" b="1">
                <a:solidFill>
                  <a:srgbClr val="CC3300"/>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rgbClr val="CC3300"/>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rgbClr val="CC3300"/>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rgbClr val="CC3300"/>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9pPr>
          </a:lstStyle>
          <a:p>
            <a:pPr>
              <a:defRPr/>
            </a:pPr>
            <a:r>
              <a:rPr lang="en-US" altLang="zh-CN" kern="0" dirty="0">
                <a:latin typeface="Arial" panose="020B0604020202020204" pitchFamily="34" charset="0"/>
                <a:cs typeface="Arial" panose="020B0604020202020204" pitchFamily="34" charset="0"/>
              </a:rPr>
              <a:t>② SYCOM</a:t>
            </a:r>
            <a:endParaRPr lang="zh-CN" altLang="en-US" kern="0" dirty="0">
              <a:latin typeface="Arial" panose="020B0604020202020204" pitchFamily="34" charset="0"/>
              <a:cs typeface="Arial" panose="020B0604020202020204" pitchFamily="34" charset="0"/>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21</a:t>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noChangeArrowheads="1"/>
          </p:cNvSpPr>
          <p:nvPr>
            <p:ph type="title"/>
          </p:nvPr>
        </p:nvSpPr>
        <p:spPr>
          <a:xfrm>
            <a:off x="822960" y="286605"/>
            <a:ext cx="8081404" cy="831478"/>
          </a:xfrm>
        </p:spPr>
        <p:txBody>
          <a:bodyPr>
            <a:noAutofit/>
          </a:bodyPr>
          <a:lstStyle/>
          <a:p>
            <a:r>
              <a:rPr lang="en-US" altLang="zh-CN" sz="3600" dirty="0">
                <a:solidFill>
                  <a:srgbClr val="FF0000"/>
                </a:solidFill>
                <a:latin typeface="Arial" panose="020B0604020202020204" pitchFamily="34" charset="0"/>
                <a:cs typeface="Arial" panose="020B0604020202020204" pitchFamily="34" charset="0"/>
              </a:rPr>
              <a:t>1. Classification of serial communication</a:t>
            </a:r>
            <a:endParaRPr lang="zh-CN" altLang="en-US" sz="3600" dirty="0">
              <a:latin typeface="Arial" panose="020B0604020202020204" pitchFamily="34" charset="0"/>
              <a:cs typeface="Arial" panose="020B0604020202020204" pitchFamily="34" charset="0"/>
            </a:endParaRPr>
          </a:p>
        </p:txBody>
      </p:sp>
      <p:sp>
        <p:nvSpPr>
          <p:cNvPr id="462851" name="Rectangle 3"/>
          <p:cNvSpPr>
            <a:spLocks noGrp="1" noChangeArrowheads="1"/>
          </p:cNvSpPr>
          <p:nvPr>
            <p:ph idx="1"/>
          </p:nvPr>
        </p:nvSpPr>
        <p:spPr>
          <a:xfrm>
            <a:off x="607060" y="1233971"/>
            <a:ext cx="7759700" cy="987425"/>
          </a:xfrm>
        </p:spPr>
        <p:txBody>
          <a:bodyPr>
            <a:normAutofit/>
          </a:bodyPr>
          <a:lstStyle/>
          <a:p>
            <a:pPr eaLnBrk="1" hangingPunct="1">
              <a:spcBef>
                <a:spcPct val="0"/>
              </a:spcBef>
              <a:buFontTx/>
              <a:buNone/>
            </a:pPr>
            <a:r>
              <a:rPr lang="zh-CN" altLang="en-US" sz="2400" dirty="0">
                <a:solidFill>
                  <a:srgbClr val="FF0000"/>
                </a:solidFill>
                <a:latin typeface="Arial" panose="020B0604020202020204" pitchFamily="34" charset="0"/>
                <a:cs typeface="Arial" panose="020B0604020202020204" pitchFamily="34" charset="0"/>
              </a:rPr>
              <a:t>(2) Classification according to data transmission direction</a:t>
            </a:r>
          </a:p>
          <a:p>
            <a:pPr eaLnBrk="1" hangingPunct="1">
              <a:spcBef>
                <a:spcPct val="0"/>
              </a:spcBef>
            </a:pPr>
            <a:r>
              <a:rPr lang="zh-CN" altLang="en-US" sz="1800" dirty="0">
                <a:cs typeface="Arial" panose="020B0604020202020204" pitchFamily="34" charset="0"/>
              </a:rPr>
              <a:t>According to the direction of data transmission, serial communication can be divided into three modes: </a:t>
            </a:r>
            <a:r>
              <a:rPr lang="zh-CN" altLang="en-US" sz="1800" dirty="0">
                <a:solidFill>
                  <a:srgbClr val="CC3300"/>
                </a:solidFill>
                <a:cs typeface="Arial" panose="020B0604020202020204" pitchFamily="34" charset="0"/>
              </a:rPr>
              <a:t>simplex</a:t>
            </a:r>
            <a:r>
              <a:rPr lang="zh-CN" altLang="en-US" sz="1800" dirty="0">
                <a:cs typeface="Arial" panose="020B0604020202020204" pitchFamily="34" charset="0"/>
              </a:rPr>
              <a:t>, </a:t>
            </a:r>
            <a:r>
              <a:rPr lang="zh-CN" altLang="en-US" sz="1800" dirty="0">
                <a:solidFill>
                  <a:srgbClr val="CC3300"/>
                </a:solidFill>
                <a:cs typeface="Arial" panose="020B0604020202020204" pitchFamily="34" charset="0"/>
              </a:rPr>
              <a:t>half-duplex </a:t>
            </a:r>
            <a:r>
              <a:rPr lang="zh-CN" altLang="en-US" sz="1800" dirty="0">
                <a:cs typeface="Arial" panose="020B0604020202020204" pitchFamily="34" charset="0"/>
              </a:rPr>
              <a:t>and </a:t>
            </a:r>
            <a:r>
              <a:rPr lang="zh-CN" altLang="en-US" sz="1800" dirty="0">
                <a:solidFill>
                  <a:srgbClr val="CC3300"/>
                </a:solidFill>
                <a:cs typeface="Arial" panose="020B0604020202020204" pitchFamily="34" charset="0"/>
              </a:rPr>
              <a:t>full-duplex</a:t>
            </a:r>
            <a:r>
              <a:rPr lang="zh-CN" altLang="en-US" sz="1800" dirty="0">
                <a:cs typeface="Arial" panose="020B0604020202020204" pitchFamily="34" charset="0"/>
              </a:rPr>
              <a:t>.</a:t>
            </a:r>
          </a:p>
        </p:txBody>
      </p:sp>
      <p:graphicFrame>
        <p:nvGraphicFramePr>
          <p:cNvPr id="7" name="Object 4"/>
          <p:cNvGraphicFramePr>
            <a:graphicFrameLocks noChangeAspect="1"/>
          </p:cNvGraphicFramePr>
          <p:nvPr/>
        </p:nvGraphicFramePr>
        <p:xfrm>
          <a:off x="2504297" y="3729404"/>
          <a:ext cx="4371338" cy="1526200"/>
        </p:xfrm>
        <a:graphic>
          <a:graphicData uri="http://schemas.openxmlformats.org/presentationml/2006/ole">
            <mc:AlternateContent xmlns:mc="http://schemas.openxmlformats.org/markup-compatibility/2006">
              <mc:Choice xmlns:v="urn:schemas-microsoft-com:vml" Requires="v">
                <p:oleObj name="Microsoft Drawing" r:id="rId2" imgW="4140200" imgH="763905" progId="MSDraw">
                  <p:embed/>
                </p:oleObj>
              </mc:Choice>
              <mc:Fallback>
                <p:oleObj name="Microsoft Drawing" r:id="rId2" imgW="4140200" imgH="763905" progId="MSDraw">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r="66289"/>
                      <a:stretch>
                        <a:fillRect/>
                      </a:stretch>
                    </p:blipFill>
                    <p:spPr bwMode="auto">
                      <a:xfrm>
                        <a:off x="2504297" y="3729404"/>
                        <a:ext cx="4371338" cy="1526200"/>
                      </a:xfrm>
                      <a:prstGeom prst="rect">
                        <a:avLst/>
                      </a:prstGeom>
                      <a:noFill/>
                      <a:ln>
                        <a:noFill/>
                      </a:ln>
                    </p:spPr>
                  </p:pic>
                </p:oleObj>
              </mc:Fallback>
            </mc:AlternateContent>
          </a:graphicData>
        </a:graphic>
      </p:graphicFrame>
      <p:sp>
        <p:nvSpPr>
          <p:cNvPr id="8" name="Rectangle 3"/>
          <p:cNvSpPr txBox="1">
            <a:spLocks noChangeArrowheads="1"/>
          </p:cNvSpPr>
          <p:nvPr/>
        </p:nvSpPr>
        <p:spPr bwMode="auto">
          <a:xfrm>
            <a:off x="767078" y="2165022"/>
            <a:ext cx="7575127"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just" rtl="0" eaLnBrk="0" fontAlgn="base" hangingPunct="0">
              <a:lnSpc>
                <a:spcPct val="114000"/>
              </a:lnSpc>
              <a:spcBef>
                <a:spcPts val="0"/>
              </a:spcBef>
              <a:spcAft>
                <a:spcPts val="600"/>
              </a:spcAft>
              <a:buBlip>
                <a:blip r:embed="rId4"/>
              </a:buBlip>
              <a:defRPr sz="2800" b="1">
                <a:solidFill>
                  <a:schemeClr val="accent2"/>
                </a:solidFill>
                <a:latin typeface="+mn-lt"/>
                <a:ea typeface="+mn-ea"/>
                <a:cs typeface="+mn-cs"/>
              </a:defRPr>
            </a:lvl1pPr>
            <a:lvl2pPr marL="263525" indent="-180975" algn="just" rtl="0" eaLnBrk="0" fontAlgn="base" hangingPunct="0">
              <a:lnSpc>
                <a:spcPct val="114000"/>
              </a:lnSpc>
              <a:spcBef>
                <a:spcPts val="0"/>
              </a:spcBef>
              <a:spcAft>
                <a:spcPts val="600"/>
              </a:spcAft>
              <a:buBlip>
                <a:blip r:embed="rId5"/>
              </a:buBlip>
              <a:defRPr sz="2800" b="1">
                <a:solidFill>
                  <a:schemeClr val="tx1"/>
                </a:solidFill>
                <a:latin typeface="+mn-lt"/>
                <a:ea typeface="+mn-ea"/>
              </a:defRPr>
            </a:lvl2pPr>
            <a:lvl3pPr marL="1143000" indent="-228600" algn="just" rtl="0" eaLnBrk="0" fontAlgn="base" hangingPunct="0">
              <a:spcBef>
                <a:spcPct val="20000"/>
              </a:spcBef>
              <a:spcAft>
                <a:spcPct val="0"/>
              </a:spcAft>
              <a:buChar char="•"/>
              <a:defRPr sz="2400" b="1">
                <a:solidFill>
                  <a:schemeClr val="tx1"/>
                </a:solidFill>
                <a:latin typeface="+mn-lt"/>
                <a:ea typeface="+mn-ea"/>
              </a:defRPr>
            </a:lvl3pPr>
            <a:lvl4pPr marL="1600200" indent="-228600" algn="just" rtl="0" eaLnBrk="0" fontAlgn="base" hangingPunct="0">
              <a:spcBef>
                <a:spcPct val="20000"/>
              </a:spcBef>
              <a:spcAft>
                <a:spcPct val="0"/>
              </a:spcAft>
              <a:buChar char="–"/>
              <a:defRPr sz="2000" b="1">
                <a:solidFill>
                  <a:schemeClr val="tx1"/>
                </a:solidFill>
                <a:latin typeface="+mn-lt"/>
                <a:ea typeface="+mn-ea"/>
              </a:defRPr>
            </a:lvl4pPr>
            <a:lvl5pPr marL="2057400" indent="-228600" algn="just" rtl="0" eaLnBrk="0" fontAlgn="base" hangingPunct="0">
              <a:spcBef>
                <a:spcPct val="20000"/>
              </a:spcBef>
              <a:spcAft>
                <a:spcPct val="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eaLnBrk="1" hangingPunct="1">
              <a:defRPr/>
            </a:pPr>
            <a:r>
              <a:rPr lang="zh-CN" altLang="en-US" sz="1600" kern="0" dirty="0">
                <a:cs typeface="Arial" panose="020B0604020202020204" pitchFamily="34" charset="0"/>
              </a:rPr>
              <a:t>Figure a illustrates a simplex communication mode (</a:t>
            </a:r>
            <a:r>
              <a:rPr lang="zh-CN" altLang="en-US" sz="1600" kern="0" dirty="0">
                <a:solidFill>
                  <a:srgbClr val="FF00FF"/>
                </a:solidFill>
                <a:cs typeface="Arial" panose="020B0604020202020204" pitchFamily="34" charset="0"/>
              </a:rPr>
              <a:t>Simplex</a:t>
            </a:r>
            <a:r>
              <a:rPr lang="zh-CN" altLang="en-US" sz="1600" kern="0" dirty="0">
                <a:cs typeface="Arial" panose="020B0604020202020204" pitchFamily="34" charset="0"/>
              </a:rPr>
              <a:t>). Station A acts as the transmitter, while Station B serves as the receiver. Data transmission is unidirectional from A to B, but not vice versa.</a:t>
            </a:r>
          </a:p>
          <a:p>
            <a:pPr eaLnBrk="1" hangingPunct="1">
              <a:buFontTx/>
              <a:buNone/>
              <a:defRPr/>
            </a:pPr>
            <a:r>
              <a:rPr lang="zh-CN" altLang="en-US" sz="1600" kern="0" dirty="0">
                <a:solidFill>
                  <a:schemeClr val="tx1"/>
                </a:solidFill>
                <a:cs typeface="Arial" panose="020B0604020202020204" pitchFamily="34" charset="0"/>
              </a:rPr>
              <a:t>Simplex communication is similar to </a:t>
            </a:r>
            <a:r>
              <a:rPr lang="zh-CN" altLang="en-US" sz="1600" kern="0" dirty="0">
                <a:solidFill>
                  <a:srgbClr val="FF00FF"/>
                </a:solidFill>
                <a:cs typeface="Arial" panose="020B0604020202020204" pitchFamily="34" charset="0"/>
              </a:rPr>
              <a:t>radio broadcasting</a:t>
            </a:r>
            <a:r>
              <a:rPr lang="zh-CN" altLang="en-US" sz="1600" kern="0" dirty="0">
                <a:solidFill>
                  <a:schemeClr val="tx1"/>
                </a:solidFill>
                <a:cs typeface="Arial" panose="020B0604020202020204" pitchFamily="34" charset="0"/>
              </a:rPr>
              <a:t>. The radio station sends the signal, and the radio receives the signal. The radio can never send the signal.</a:t>
            </a:r>
            <a:endParaRPr lang="zh-CN" altLang="en-US" sz="1600" kern="0" dirty="0">
              <a:cs typeface="Arial" panose="020B0604020202020204" pitchFamily="34" charset="0"/>
            </a:endParaRPr>
          </a:p>
        </p:txBody>
      </p:sp>
      <p:sp>
        <p:nvSpPr>
          <p:cNvPr id="3" name="矩形 2"/>
          <p:cNvSpPr/>
          <p:nvPr/>
        </p:nvSpPr>
        <p:spPr>
          <a:xfrm>
            <a:off x="2474089" y="5336646"/>
            <a:ext cx="3552575" cy="584775"/>
          </a:xfrm>
          <a:prstGeom prst="rect">
            <a:avLst/>
          </a:prstGeom>
          <a:solidFill>
            <a:schemeClr val="bg1"/>
          </a:solidFill>
        </p:spPr>
        <p:txBody>
          <a:bodyPr wrap="none">
            <a:spAutoFit/>
          </a:bodyPr>
          <a:lstStyle/>
          <a:p>
            <a:pPr algn="ctr" eaLnBrk="1" hangingPunct="1">
              <a:defRPr/>
            </a:pPr>
            <a:r>
              <a:rPr lang="en-US" altLang="zh-CN" sz="1600" b="1" kern="0" dirty="0">
                <a:solidFill>
                  <a:srgbClr val="FF0000"/>
                </a:solidFill>
                <a:ea typeface="宋体" panose="02010600030101010101" pitchFamily="2" charset="-122"/>
                <a:cs typeface="Arial" panose="020B0604020202020204" pitchFamily="34" charset="0"/>
              </a:rPr>
              <a:t>a) </a:t>
            </a:r>
            <a:r>
              <a:rPr lang="zh-CN" altLang="en-US" sz="1600" b="1" kern="0" dirty="0">
                <a:solidFill>
                  <a:srgbClr val="FF0000"/>
                </a:solidFill>
                <a:ea typeface="宋体" panose="02010600030101010101" pitchFamily="2" charset="-122"/>
                <a:cs typeface="Arial" panose="020B0604020202020204" pitchFamily="34" charset="0"/>
              </a:rPr>
              <a:t>Single-channel communication mode</a:t>
            </a:r>
            <a:endParaRPr lang="en-US" altLang="zh-CN" sz="3200" b="1" kern="0" dirty="0">
              <a:solidFill>
                <a:srgbClr val="FF0000"/>
              </a:solidFill>
              <a:ea typeface="宋体" panose="02010600030101010101" pitchFamily="2" charset="-122"/>
              <a:cs typeface="Arial" panose="020B0604020202020204" pitchFamily="34" charset="0"/>
            </a:endParaRPr>
          </a:p>
          <a:p>
            <a:pPr algn="ctr" eaLnBrk="1" hangingPunct="1">
              <a:defRPr/>
            </a:pPr>
            <a:r>
              <a:rPr lang="zh-CN" altLang="en-US" sz="1600" b="1" dirty="0">
                <a:solidFill>
                  <a:srgbClr val="FF0000"/>
                </a:solidFill>
                <a:ea typeface="宋体" panose="02010600030101010101" pitchFamily="2" charset="-122"/>
                <a:cs typeface="Arial" panose="020B0604020202020204" pitchFamily="34" charset="0"/>
              </a:rPr>
              <a:t>Point-to-point communication mode</a:t>
            </a:r>
            <a:endParaRPr lang="zh-CN" altLang="en-US" sz="3200" b="1" dirty="0">
              <a:solidFill>
                <a:srgbClr val="FF0000"/>
              </a:solidFill>
              <a:ea typeface="宋体" panose="02010600030101010101" pitchFamily="2" charset="-122"/>
              <a:cs typeface="Arial" panose="020B0604020202020204" pitchFamily="34" charset="0"/>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22</a:t>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noChangeArrowheads="1"/>
          </p:cNvSpPr>
          <p:nvPr>
            <p:ph type="title"/>
          </p:nvPr>
        </p:nvSpPr>
        <p:spPr/>
        <p:txBody>
          <a:bodyPr>
            <a:normAutofit/>
          </a:bodyPr>
          <a:lstStyle/>
          <a:p>
            <a:pPr eaLnBrk="1" hangingPunct="1"/>
            <a:r>
              <a:rPr lang="zh-CN" altLang="en-US" sz="2400" dirty="0">
                <a:solidFill>
                  <a:srgbClr val="FF0000"/>
                </a:solidFill>
                <a:latin typeface="Arial" panose="020B0604020202020204" pitchFamily="34" charset="0"/>
                <a:cs typeface="Arial" panose="020B0604020202020204" pitchFamily="34" charset="0"/>
              </a:rPr>
              <a:t>(2) Classification according to data transmission direction</a:t>
            </a:r>
          </a:p>
        </p:txBody>
      </p:sp>
      <p:sp>
        <p:nvSpPr>
          <p:cNvPr id="464899" name="Rectangle 3"/>
          <p:cNvSpPr>
            <a:spLocks noGrp="1" noChangeArrowheads="1"/>
          </p:cNvSpPr>
          <p:nvPr>
            <p:ph type="body" sz="quarter" idx="4294967295"/>
          </p:nvPr>
        </p:nvSpPr>
        <p:spPr>
          <a:xfrm>
            <a:off x="832486" y="1195870"/>
            <a:ext cx="7412568" cy="3056560"/>
          </a:xfrm>
        </p:spPr>
        <p:txBody>
          <a:bodyPr>
            <a:noAutofit/>
          </a:bodyPr>
          <a:lstStyle/>
          <a:p>
            <a:pPr eaLnBrk="1" hangingPunct="1">
              <a:lnSpc>
                <a:spcPct val="105000"/>
              </a:lnSpc>
            </a:pPr>
            <a:r>
              <a:rPr lang="zh-CN" altLang="en-US" sz="1800" dirty="0">
                <a:cs typeface="Arial" panose="020B0604020202020204" pitchFamily="34" charset="0"/>
              </a:rPr>
              <a:t>Figure b illustrates the </a:t>
            </a:r>
            <a:r>
              <a:rPr lang="zh-CN" altLang="en-US" sz="1800" dirty="0">
                <a:solidFill>
                  <a:srgbClr val="FF00FF"/>
                </a:solidFill>
                <a:cs typeface="Arial" panose="020B0604020202020204" pitchFamily="34" charset="0"/>
              </a:rPr>
              <a:t>half-duplex communication mode</a:t>
            </a:r>
            <a:r>
              <a:rPr lang="en-US" altLang="zh-CN" sz="1800" dirty="0">
                <a:cs typeface="Arial" panose="020B0604020202020204" pitchFamily="34" charset="0"/>
              </a:rPr>
              <a:t>(</a:t>
            </a:r>
            <a:r>
              <a:rPr lang="en-US" altLang="zh-CN" sz="1800" dirty="0">
                <a:solidFill>
                  <a:srgbClr val="FF00FF"/>
                </a:solidFill>
                <a:cs typeface="Arial" panose="020B0604020202020204" pitchFamily="34" charset="0"/>
              </a:rPr>
              <a:t>Half Duplex</a:t>
            </a:r>
            <a:r>
              <a:rPr lang="en-US" altLang="zh-CN" sz="1800" dirty="0">
                <a:cs typeface="Arial" panose="020B0604020202020204" pitchFamily="34" charset="0"/>
              </a:rPr>
              <a:t>)</a:t>
            </a:r>
            <a:r>
              <a:rPr lang="zh-CN" altLang="en-US" sz="1800" dirty="0">
                <a:cs typeface="Arial" panose="020B0604020202020204" pitchFamily="34" charset="0"/>
              </a:rPr>
              <a:t>, where data can be transmitted from A to B or vice versa.</a:t>
            </a:r>
            <a:endParaRPr lang="en-US" altLang="zh-CN" sz="1800" dirty="0">
              <a:cs typeface="Arial" panose="020B0604020202020204" pitchFamily="34" charset="0"/>
            </a:endParaRPr>
          </a:p>
          <a:p>
            <a:pPr eaLnBrk="1" hangingPunct="1">
              <a:lnSpc>
                <a:spcPct val="105000"/>
              </a:lnSpc>
            </a:pPr>
            <a:r>
              <a:rPr lang="zh-CN" altLang="en-US" sz="1800" dirty="0">
                <a:cs typeface="Arial" panose="020B0604020202020204" pitchFamily="34" charset="0"/>
              </a:rPr>
              <a:t>However, because it is connected by </a:t>
            </a:r>
            <a:r>
              <a:rPr lang="zh-CN" altLang="en-US" sz="1800" dirty="0">
                <a:solidFill>
                  <a:srgbClr val="FF0000"/>
                </a:solidFill>
                <a:cs typeface="Arial" panose="020B0604020202020204" pitchFamily="34" charset="0"/>
              </a:rPr>
              <a:t>a single wire</a:t>
            </a:r>
            <a:r>
              <a:rPr lang="zh-CN" altLang="en-US" sz="1800" dirty="0">
                <a:cs typeface="Arial" panose="020B0604020202020204" pitchFamily="34" charset="0"/>
              </a:rPr>
              <a:t>, sending and receiving </a:t>
            </a:r>
            <a:r>
              <a:rPr lang="zh-CN" altLang="en-US" sz="1800" dirty="0">
                <a:solidFill>
                  <a:srgbClr val="FF0000"/>
                </a:solidFill>
                <a:cs typeface="Arial" panose="020B0604020202020204" pitchFamily="34" charset="0"/>
              </a:rPr>
              <a:t>cannot be done at the same time</a:t>
            </a:r>
            <a:r>
              <a:rPr lang="zh-CN" altLang="en-US" sz="1800" dirty="0">
                <a:cs typeface="Arial" panose="020B0604020202020204" pitchFamily="34" charset="0"/>
              </a:rPr>
              <a:t>, and only one direction of transmission can be done at the same time, and the direction of transmission is controlled by the transceiver control switch K.</a:t>
            </a:r>
            <a:endParaRPr lang="en-US" altLang="zh-CN" sz="1800" dirty="0">
              <a:cs typeface="Arial" panose="020B0604020202020204" pitchFamily="34" charset="0"/>
            </a:endParaRPr>
          </a:p>
          <a:p>
            <a:pPr eaLnBrk="1" hangingPunct="1">
              <a:lnSpc>
                <a:spcPct val="105000"/>
              </a:lnSpc>
            </a:pPr>
            <a:r>
              <a:rPr lang="zh-CN" altLang="en-US" sz="1800" dirty="0">
                <a:solidFill>
                  <a:schemeClr val="tx1"/>
                </a:solidFill>
                <a:cs typeface="Arial" panose="020B0604020202020204" pitchFamily="34" charset="0"/>
              </a:rPr>
              <a:t>The half-duplex communication mode </a:t>
            </a:r>
            <a:r>
              <a:rPr lang="zh-CN" altLang="en-US" sz="1800" dirty="0">
                <a:solidFill>
                  <a:srgbClr val="FF00FF"/>
                </a:solidFill>
                <a:cs typeface="Arial" panose="020B0604020202020204" pitchFamily="34" charset="0"/>
              </a:rPr>
              <a:t>is similar to a walkie-talkie</a:t>
            </a:r>
            <a:r>
              <a:rPr lang="zh-CN" altLang="en-US" sz="1800" dirty="0">
                <a:solidFill>
                  <a:schemeClr val="tx1"/>
                </a:solidFill>
                <a:cs typeface="Arial" panose="020B0604020202020204" pitchFamily="34" charset="0"/>
              </a:rPr>
              <a:t>. At any given time, A sends and B receives, while B sends and A receives. Both parties cannot send and receive at the same time.</a:t>
            </a:r>
            <a:endParaRPr lang="zh-CN" altLang="en-US" sz="1800" dirty="0">
              <a:cs typeface="Arial" panose="020B0604020202020204" pitchFamily="34" charset="0"/>
            </a:endParaRPr>
          </a:p>
        </p:txBody>
      </p:sp>
      <p:sp>
        <p:nvSpPr>
          <p:cNvPr id="6" name="矩形 5"/>
          <p:cNvSpPr/>
          <p:nvPr/>
        </p:nvSpPr>
        <p:spPr>
          <a:xfrm>
            <a:off x="2789224" y="5719187"/>
            <a:ext cx="3307316" cy="584775"/>
          </a:xfrm>
          <a:prstGeom prst="rect">
            <a:avLst/>
          </a:prstGeom>
          <a:solidFill>
            <a:schemeClr val="bg1"/>
          </a:solidFill>
        </p:spPr>
        <p:txBody>
          <a:bodyPr wrap="none">
            <a:spAutoFit/>
          </a:bodyPr>
          <a:lstStyle/>
          <a:p>
            <a:pPr algn="ctr" eaLnBrk="1" hangingPunct="1">
              <a:defRPr/>
            </a:pPr>
            <a:r>
              <a:rPr lang="en-US" altLang="zh-CN" sz="1600" b="1" kern="0" dirty="0">
                <a:solidFill>
                  <a:srgbClr val="FF0000"/>
                </a:solidFill>
                <a:ea typeface="宋体" panose="02010600030101010101" pitchFamily="2" charset="-122"/>
              </a:rPr>
              <a:t>b) </a:t>
            </a:r>
            <a:r>
              <a:rPr lang="zh-CN" altLang="en-US" sz="1600" b="1" kern="0" dirty="0">
                <a:solidFill>
                  <a:srgbClr val="FF0000"/>
                </a:solidFill>
                <a:ea typeface="宋体" panose="02010600030101010101" pitchFamily="2" charset="-122"/>
              </a:rPr>
              <a:t>Half-duplex communication mode</a:t>
            </a:r>
            <a:endParaRPr lang="en-US" altLang="zh-CN" sz="3200" b="1" kern="0" dirty="0">
              <a:solidFill>
                <a:srgbClr val="FF0000"/>
              </a:solidFill>
              <a:ea typeface="宋体" panose="02010600030101010101" pitchFamily="2" charset="-122"/>
            </a:endParaRPr>
          </a:p>
          <a:p>
            <a:pPr algn="ctr" eaLnBrk="1" hangingPunct="1">
              <a:defRPr/>
            </a:pPr>
            <a:r>
              <a:rPr lang="zh-CN" altLang="en-US" sz="1600" b="1" dirty="0">
                <a:solidFill>
                  <a:srgbClr val="FF0000"/>
                </a:solidFill>
                <a:ea typeface="宋体" panose="02010600030101010101" pitchFamily="2" charset="-122"/>
              </a:rPr>
              <a:t>Point-to-point communication mode</a:t>
            </a:r>
            <a:endParaRPr lang="zh-CN" altLang="en-US" sz="3200" b="1" dirty="0">
              <a:solidFill>
                <a:srgbClr val="FF0000"/>
              </a:solidFill>
              <a:ea typeface="宋体" panose="02010600030101010101" pitchFamily="2" charset="-122"/>
            </a:endParaRPr>
          </a:p>
        </p:txBody>
      </p:sp>
      <p:pic>
        <p:nvPicPr>
          <p:cNvPr id="10" name="图片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5696" y="4252430"/>
            <a:ext cx="3419475" cy="153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8829" y="4252430"/>
            <a:ext cx="3417887" cy="153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lstStyle/>
          <a:p>
            <a:fld id="{22E77DEE-32E4-4009-988B-F2758F7B8AC2}" type="slidenum">
              <a:rPr lang="zh-CN" altLang="en-US" smtClean="0"/>
              <a:t>23</a:t>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noChangeArrowheads="1"/>
          </p:cNvSpPr>
          <p:nvPr>
            <p:ph type="title"/>
          </p:nvPr>
        </p:nvSpPr>
        <p:spPr>
          <a:xfrm>
            <a:off x="759394" y="309123"/>
            <a:ext cx="7722453" cy="831478"/>
          </a:xfrm>
        </p:spPr>
        <p:txBody>
          <a:bodyPr>
            <a:noAutofit/>
          </a:bodyPr>
          <a:lstStyle/>
          <a:p>
            <a:r>
              <a:rPr lang="zh-CN" altLang="en-US" sz="2400" dirty="0">
                <a:solidFill>
                  <a:srgbClr val="FF0000"/>
                </a:solidFill>
                <a:latin typeface="Arial" panose="020B0604020202020204" pitchFamily="34" charset="0"/>
                <a:cs typeface="Arial" panose="020B0604020202020204" pitchFamily="34" charset="0"/>
              </a:rPr>
              <a:t>(2) Classification according to data transmission direction</a:t>
            </a:r>
            <a:endParaRPr lang="zh-CN" altLang="en-US" sz="2400" dirty="0">
              <a:latin typeface="Arial" panose="020B0604020202020204" pitchFamily="34" charset="0"/>
              <a:cs typeface="Arial" panose="020B0604020202020204" pitchFamily="34" charset="0"/>
            </a:endParaRPr>
          </a:p>
        </p:txBody>
      </p:sp>
      <p:graphicFrame>
        <p:nvGraphicFramePr>
          <p:cNvPr id="465924" name="Object 4"/>
          <p:cNvGraphicFramePr>
            <a:graphicFrameLocks noGrp="1" noChangeAspect="1"/>
          </p:cNvGraphicFramePr>
          <p:nvPr>
            <p:ph idx="1"/>
          </p:nvPr>
        </p:nvGraphicFramePr>
        <p:xfrm>
          <a:off x="2404934" y="3335866"/>
          <a:ext cx="4207003" cy="2102098"/>
        </p:xfrm>
        <a:graphic>
          <a:graphicData uri="http://schemas.openxmlformats.org/presentationml/2006/ole">
            <mc:AlternateContent xmlns:mc="http://schemas.openxmlformats.org/markup-compatibility/2006">
              <mc:Choice xmlns:v="urn:schemas-microsoft-com:vml" Requires="v">
                <p:oleObj name="Microsoft Drawing" r:id="rId2" imgW="4140200" imgH="763905" progId="MSDraw">
                  <p:embed/>
                </p:oleObj>
              </mc:Choice>
              <mc:Fallback>
                <p:oleObj name="Microsoft Drawing" r:id="rId2" imgW="4140200" imgH="763905" progId="MSDraw">
                  <p:embed/>
                  <p:pic>
                    <p:nvPicPr>
                      <p:cNvPr id="0" name="Object 4"/>
                      <p:cNvPicPr>
                        <a:picLocks noGrp="1" noChangeAspect="1" noChangeArrowheads="1"/>
                      </p:cNvPicPr>
                      <p:nvPr/>
                    </p:nvPicPr>
                    <p:blipFill>
                      <a:blip r:embed="rId3">
                        <a:extLst>
                          <a:ext uri="{28A0092B-C50C-407E-A947-70E740481C1C}">
                            <a14:useLocalDpi xmlns:a14="http://schemas.microsoft.com/office/drawing/2010/main" val="0"/>
                          </a:ext>
                        </a:extLst>
                      </a:blip>
                      <a:srcRect l="68553" r="-1224"/>
                      <a:stretch>
                        <a:fillRect/>
                      </a:stretch>
                    </p:blipFill>
                    <p:spPr bwMode="auto">
                      <a:xfrm>
                        <a:off x="2404934" y="3335866"/>
                        <a:ext cx="4207003" cy="2102098"/>
                      </a:xfrm>
                      <a:prstGeom prst="rect">
                        <a:avLst/>
                      </a:prstGeom>
                      <a:noFill/>
                      <a:ln>
                        <a:noFill/>
                      </a:ln>
                    </p:spPr>
                  </p:pic>
                </p:oleObj>
              </mc:Fallback>
            </mc:AlternateContent>
          </a:graphicData>
        </a:graphic>
      </p:graphicFrame>
      <p:sp>
        <p:nvSpPr>
          <p:cNvPr id="465923" name="Rectangle 3"/>
          <p:cNvSpPr>
            <a:spLocks noGrp="1" noChangeArrowheads="1"/>
          </p:cNvSpPr>
          <p:nvPr>
            <p:ph type="body" sz="quarter" idx="4294967295"/>
          </p:nvPr>
        </p:nvSpPr>
        <p:spPr>
          <a:xfrm>
            <a:off x="822959" y="1420036"/>
            <a:ext cx="7498080" cy="2147888"/>
          </a:xfrm>
        </p:spPr>
        <p:txBody>
          <a:bodyPr/>
          <a:lstStyle/>
          <a:p>
            <a:pPr eaLnBrk="1" hangingPunct="1">
              <a:spcAft>
                <a:spcPts val="1800"/>
              </a:spcAft>
            </a:pPr>
            <a:r>
              <a:rPr lang="zh-CN" altLang="en-US" dirty="0">
                <a:cs typeface="Arial" panose="020B0604020202020204" pitchFamily="34" charset="0"/>
              </a:rPr>
              <a:t>Figure c illustrates </a:t>
            </a:r>
            <a:r>
              <a:rPr lang="zh-CN" altLang="en-US" dirty="0">
                <a:solidFill>
                  <a:srgbClr val="CC3300"/>
                </a:solidFill>
                <a:cs typeface="Arial" panose="020B0604020202020204" pitchFamily="34" charset="0"/>
              </a:rPr>
              <a:t>the full-duplex communication mode </a:t>
            </a:r>
            <a:r>
              <a:rPr lang="zh-CN" altLang="en-US" dirty="0">
                <a:cs typeface="Arial" panose="020B0604020202020204" pitchFamily="34" charset="0"/>
              </a:rPr>
              <a:t>(</a:t>
            </a:r>
            <a:r>
              <a:rPr lang="zh-CN" altLang="en-US" dirty="0">
                <a:solidFill>
                  <a:srgbClr val="FF00FF"/>
                </a:solidFill>
                <a:cs typeface="Arial" panose="020B0604020202020204" pitchFamily="34" charset="0"/>
              </a:rPr>
              <a:t>Full Duplex</a:t>
            </a:r>
            <a:r>
              <a:rPr lang="zh-CN" altLang="en-US" dirty="0">
                <a:cs typeface="Arial" panose="020B0604020202020204" pitchFamily="34" charset="0"/>
              </a:rPr>
              <a:t>). In this configuration, two </a:t>
            </a:r>
            <a:r>
              <a:rPr lang="zh-CN" altLang="en-US" dirty="0">
                <a:solidFill>
                  <a:srgbClr val="FF0000"/>
                </a:solidFill>
                <a:cs typeface="Arial" panose="020B0604020202020204" pitchFamily="34" charset="0"/>
              </a:rPr>
              <a:t>separate transmission lines </a:t>
            </a:r>
            <a:r>
              <a:rPr lang="zh-CN" altLang="en-US" dirty="0">
                <a:cs typeface="Arial" panose="020B0604020202020204" pitchFamily="34" charset="0"/>
              </a:rPr>
              <a:t>connect the sender and receiver, allowing both A and B to</a:t>
            </a:r>
            <a:r>
              <a:rPr lang="zh-CN" altLang="en-US" dirty="0">
                <a:solidFill>
                  <a:srgbClr val="FF0000"/>
                </a:solidFill>
                <a:cs typeface="Arial" panose="020B0604020202020204" pitchFamily="34" charset="0"/>
              </a:rPr>
              <a:t> transmit </a:t>
            </a:r>
            <a:r>
              <a:rPr lang="zh-CN" altLang="en-US" dirty="0">
                <a:cs typeface="Arial" panose="020B0604020202020204" pitchFamily="34" charset="0"/>
              </a:rPr>
              <a:t>and </a:t>
            </a:r>
            <a:r>
              <a:rPr lang="zh-CN" altLang="en-US" dirty="0">
                <a:solidFill>
                  <a:srgbClr val="FF0000"/>
                </a:solidFill>
                <a:cs typeface="Arial" panose="020B0604020202020204" pitchFamily="34" charset="0"/>
              </a:rPr>
              <a:t>receive simultaneously</a:t>
            </a:r>
            <a:r>
              <a:rPr lang="zh-CN" altLang="en-US" dirty="0">
                <a:cs typeface="Arial" panose="020B0604020202020204" pitchFamily="34" charset="0"/>
              </a:rPr>
              <a:t>.</a:t>
            </a:r>
            <a:endParaRPr lang="en-US" altLang="zh-CN" dirty="0">
              <a:cs typeface="Arial" panose="020B0604020202020204" pitchFamily="34" charset="0"/>
            </a:endParaRPr>
          </a:p>
          <a:p>
            <a:pPr eaLnBrk="1" hangingPunct="1">
              <a:spcAft>
                <a:spcPts val="1800"/>
              </a:spcAft>
            </a:pPr>
            <a:r>
              <a:rPr lang="zh-CN" altLang="en-US" dirty="0">
                <a:solidFill>
                  <a:schemeClr val="tx1"/>
                </a:solidFill>
                <a:cs typeface="Arial" panose="020B0604020202020204" pitchFamily="34" charset="0"/>
              </a:rPr>
              <a:t>Full-duplex communication mode </a:t>
            </a:r>
            <a:r>
              <a:rPr lang="zh-CN" altLang="en-US" dirty="0">
                <a:solidFill>
                  <a:srgbClr val="FF00FF"/>
                </a:solidFill>
                <a:cs typeface="Arial" panose="020B0604020202020204" pitchFamily="34" charset="0"/>
              </a:rPr>
              <a:t>is similar to telephone</a:t>
            </a:r>
            <a:r>
              <a:rPr lang="zh-CN" altLang="en-US" dirty="0">
                <a:solidFill>
                  <a:schemeClr val="tx1"/>
                </a:solidFill>
                <a:cs typeface="Arial" panose="020B0604020202020204" pitchFamily="34" charset="0"/>
              </a:rPr>
              <a:t>, both parties can send and receive data at the same time.</a:t>
            </a:r>
          </a:p>
        </p:txBody>
      </p:sp>
      <p:sp>
        <p:nvSpPr>
          <p:cNvPr id="6" name="矩形 5"/>
          <p:cNvSpPr/>
          <p:nvPr/>
        </p:nvSpPr>
        <p:spPr>
          <a:xfrm>
            <a:off x="2465494" y="4989513"/>
            <a:ext cx="4213013" cy="584775"/>
          </a:xfrm>
          <a:prstGeom prst="rect">
            <a:avLst/>
          </a:prstGeom>
          <a:solidFill>
            <a:schemeClr val="bg1"/>
          </a:solidFill>
        </p:spPr>
        <p:txBody>
          <a:bodyPr wrap="none">
            <a:spAutoFit/>
          </a:bodyPr>
          <a:lstStyle/>
          <a:p>
            <a:pPr algn="ctr" eaLnBrk="1" hangingPunct="1">
              <a:defRPr/>
            </a:pPr>
            <a:r>
              <a:rPr lang="en-US" altLang="zh-CN" sz="1600" b="1" kern="0" dirty="0">
                <a:solidFill>
                  <a:srgbClr val="FF0000"/>
                </a:solidFill>
                <a:latin typeface="Arial" panose="020B0604020202020204" pitchFamily="34" charset="0"/>
                <a:ea typeface="宋体" panose="02010600030101010101" pitchFamily="2" charset="-122"/>
              </a:rPr>
              <a:t>c) </a:t>
            </a:r>
            <a:r>
              <a:rPr lang="zh-CN" altLang="en-US" sz="1600" b="1" kern="0" dirty="0">
                <a:solidFill>
                  <a:srgbClr val="FF0000"/>
                </a:solidFill>
                <a:latin typeface="Arial" panose="020B0604020202020204" pitchFamily="34" charset="0"/>
                <a:ea typeface="宋体" panose="02010600030101010101" pitchFamily="2" charset="-122"/>
              </a:rPr>
              <a:t>Full-duplex communication mode</a:t>
            </a:r>
            <a:endParaRPr lang="en-US" altLang="zh-CN" sz="3200" b="1" kern="0" dirty="0">
              <a:solidFill>
                <a:srgbClr val="FF0000"/>
              </a:solidFill>
              <a:latin typeface="Arial" panose="020B0604020202020204" pitchFamily="34" charset="0"/>
              <a:ea typeface="宋体" panose="02010600030101010101" pitchFamily="2" charset="-122"/>
            </a:endParaRPr>
          </a:p>
          <a:p>
            <a:pPr algn="ctr" eaLnBrk="1" hangingPunct="1">
              <a:defRPr/>
            </a:pPr>
            <a:r>
              <a:rPr lang="zh-CN" altLang="en-US" sz="1600" b="1" dirty="0">
                <a:solidFill>
                  <a:srgbClr val="FF0000"/>
                </a:solidFill>
                <a:latin typeface="Arial" panose="020B0604020202020204" pitchFamily="34" charset="0"/>
                <a:ea typeface="宋体" panose="02010600030101010101" pitchFamily="2" charset="-122"/>
              </a:rPr>
              <a:t>Figure 8-5: Point-to-point communication</a:t>
            </a:r>
            <a:endParaRPr lang="zh-CN" altLang="en-US" sz="3200" b="1" dirty="0">
              <a:solidFill>
                <a:srgbClr val="FF0000"/>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24</a:t>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noChangeArrowheads="1"/>
          </p:cNvSpPr>
          <p:nvPr>
            <p:ph type="title"/>
          </p:nvPr>
        </p:nvSpPr>
        <p:spPr>
          <a:xfrm>
            <a:off x="660400" y="255166"/>
            <a:ext cx="7543800" cy="831478"/>
          </a:xfrm>
        </p:spPr>
        <p:txBody>
          <a:bodyPr>
            <a:normAutofit/>
          </a:bodyPr>
          <a:lstStyle/>
          <a:p>
            <a:r>
              <a:rPr lang="zh-CN" altLang="en-US" sz="2400" dirty="0">
                <a:solidFill>
                  <a:srgbClr val="FF0000"/>
                </a:solidFill>
                <a:cs typeface="Arial" panose="020B0604020202020204" pitchFamily="34" charset="0"/>
              </a:rPr>
              <a:t>(2) Classification according to data transmission direction</a:t>
            </a:r>
            <a:endParaRPr lang="zh-CN" altLang="en-US" sz="2400" dirty="0">
              <a:cs typeface="Arial" panose="020B0604020202020204" pitchFamily="34" charset="0"/>
            </a:endParaRPr>
          </a:p>
        </p:txBody>
      </p:sp>
      <p:sp>
        <p:nvSpPr>
          <p:cNvPr id="467971" name="Rectangle 3"/>
          <p:cNvSpPr>
            <a:spLocks noGrp="1" noChangeArrowheads="1"/>
          </p:cNvSpPr>
          <p:nvPr>
            <p:ph idx="1"/>
          </p:nvPr>
        </p:nvSpPr>
        <p:spPr>
          <a:xfrm>
            <a:off x="674689" y="1294344"/>
            <a:ext cx="7692072" cy="1163108"/>
          </a:xfrm>
        </p:spPr>
        <p:txBody>
          <a:bodyPr>
            <a:noAutofit/>
          </a:bodyPr>
          <a:lstStyle/>
          <a:p>
            <a:pPr eaLnBrk="1" hangingPunct="1">
              <a:spcBef>
                <a:spcPct val="0"/>
              </a:spcBef>
            </a:pPr>
            <a:r>
              <a:rPr lang="zh-CN" altLang="en-US" sz="1600" dirty="0">
                <a:cs typeface="Arial" panose="020B0604020202020204" pitchFamily="34" charset="0"/>
              </a:rPr>
              <a:t>The diagram illustrates a </a:t>
            </a:r>
            <a:r>
              <a:rPr lang="zh-CN" altLang="en-US" sz="1600" dirty="0">
                <a:solidFill>
                  <a:srgbClr val="CC3300"/>
                </a:solidFill>
                <a:cs typeface="Arial" panose="020B0604020202020204" pitchFamily="34" charset="0"/>
              </a:rPr>
              <a:t>master-slave multi-terminal communication</a:t>
            </a:r>
            <a:r>
              <a:rPr lang="zh-CN" altLang="en-US" sz="1600" dirty="0">
                <a:cs typeface="Arial" panose="020B0604020202020204" pitchFamily="34" charset="0"/>
              </a:rPr>
              <a:t> system. Device A can send messages to multiple terminals (B, C, D, etc.). Under As authorization, it can control and manage terminals B, C, D, etc., enabling them to send messages to A at different times.</a:t>
            </a:r>
            <a:endParaRPr lang="en-US" altLang="zh-CN" sz="1600" dirty="0">
              <a:cs typeface="Arial" panose="020B0604020202020204" pitchFamily="34" charset="0"/>
            </a:endParaRPr>
          </a:p>
          <a:p>
            <a:pPr eaLnBrk="1" hangingPunct="1">
              <a:spcBef>
                <a:spcPct val="0"/>
              </a:spcBef>
            </a:pPr>
            <a:r>
              <a:rPr lang="zh-CN" altLang="en-US" sz="1600" dirty="0">
                <a:cs typeface="Arial" panose="020B0604020202020204" pitchFamily="34" charset="0"/>
              </a:rPr>
              <a:t>It is divided into </a:t>
            </a:r>
            <a:r>
              <a:rPr lang="zh-CN" altLang="en-US" sz="1600" dirty="0">
                <a:solidFill>
                  <a:srgbClr val="CC3300"/>
                </a:solidFill>
                <a:cs typeface="Arial" panose="020B0604020202020204" pitchFamily="34" charset="0"/>
              </a:rPr>
              <a:t>multi-terminal half-duplex communication </a:t>
            </a:r>
            <a:r>
              <a:rPr lang="zh-CN" altLang="en-US" sz="1600" dirty="0">
                <a:cs typeface="Arial" panose="020B0604020202020204" pitchFamily="34" charset="0"/>
              </a:rPr>
              <a:t>and </a:t>
            </a:r>
            <a:r>
              <a:rPr lang="zh-CN" altLang="en-US" sz="1600" dirty="0">
                <a:solidFill>
                  <a:srgbClr val="CC3300"/>
                </a:solidFill>
                <a:cs typeface="Arial" panose="020B0604020202020204" pitchFamily="34" charset="0"/>
              </a:rPr>
              <a:t>multi-terminal full-duplex communication</a:t>
            </a:r>
            <a:r>
              <a:rPr lang="zh-CN" altLang="en-US" sz="1600" dirty="0">
                <a:cs typeface="Arial" panose="020B0604020202020204" pitchFamily="34" charset="0"/>
              </a:rPr>
              <a:t>.</a:t>
            </a:r>
          </a:p>
        </p:txBody>
      </p:sp>
      <p:sp>
        <p:nvSpPr>
          <p:cNvPr id="45060" name="Rectangle 5"/>
          <p:cNvSpPr>
            <a:spLocks noChangeArrowheads="1"/>
          </p:cNvSpPr>
          <p:nvPr/>
        </p:nvSpPr>
        <p:spPr bwMode="auto">
          <a:xfrm>
            <a:off x="0" y="27670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14000"/>
              </a:lnSpc>
              <a:spcAft>
                <a:spcPts val="600"/>
              </a:spcAft>
              <a:buBlip>
                <a:blip r:embed="rId2"/>
              </a:buBlip>
              <a:defRPr sz="2800" b="1">
                <a:solidFill>
                  <a:schemeClr val="accent2"/>
                </a:solidFill>
                <a:latin typeface="Times New Roman" panose="02020603050405020304" pitchFamily="18" charset="0"/>
                <a:ea typeface="宋体" panose="02010600030101010101" pitchFamily="2" charset="-122"/>
              </a:defRPr>
            </a:lvl1pPr>
            <a:lvl2pPr marL="742950" indent="-285750" algn="just">
              <a:lnSpc>
                <a:spcPct val="114000"/>
              </a:lnSpc>
              <a:spcAft>
                <a:spcPts val="600"/>
              </a:spcAft>
              <a:buBlip>
                <a:blip r:embed="rId3"/>
              </a:buBlip>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spcAft>
                <a:spcPct val="0"/>
              </a:spcAft>
              <a:buFontTx/>
              <a:buNone/>
            </a:pPr>
            <a:endParaRPr lang="zh-CN" altLang="en-US" sz="1800" b="0">
              <a:solidFill>
                <a:schemeClr val="tx1"/>
              </a:solidFill>
              <a:latin typeface="Arial" panose="020B0604020202020204" pitchFamily="34" charset="0"/>
            </a:endParaRPr>
          </a:p>
        </p:txBody>
      </p:sp>
      <p:pic>
        <p:nvPicPr>
          <p:cNvPr id="8238" name="Picture 46" descr="D:\DOCUME~1\ADMINI~1\LOCALS~1\Temp\HS5ClipImage_5690fae9.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5567" y="2457452"/>
            <a:ext cx="3555473" cy="3415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40" name="Picture 48" descr="D:\DOCUME~1\ADMINI~1\LOCALS~1\Temp\HS5ClipImage_5690fb2f.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7239" y="2482107"/>
            <a:ext cx="3502025" cy="340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2059132" y="5911950"/>
            <a:ext cx="5025736" cy="338554"/>
          </a:xfrm>
          <a:prstGeom prst="rect">
            <a:avLst/>
          </a:prstGeom>
          <a:solidFill>
            <a:schemeClr val="bg1"/>
          </a:solidFill>
        </p:spPr>
        <p:txBody>
          <a:bodyPr wrap="none">
            <a:spAutoFit/>
          </a:bodyPr>
          <a:lstStyle/>
          <a:p>
            <a:pPr algn="ctr" eaLnBrk="1" hangingPunct="1">
              <a:defRPr/>
            </a:pPr>
            <a:r>
              <a:rPr lang="zh-CN" altLang="en-US" sz="1600" b="1" kern="0" dirty="0">
                <a:solidFill>
                  <a:srgbClr val="FF0000"/>
                </a:solidFill>
                <a:latin typeface="Arial" panose="020B0604020202020204" pitchFamily="34" charset="0"/>
                <a:ea typeface="宋体" panose="02010600030101010101" pitchFamily="2" charset="-122"/>
                <a:cs typeface="Arial" panose="020B0604020202020204" pitchFamily="34" charset="0"/>
              </a:rPr>
              <a:t>Master-slave multi-terminal communication mode</a:t>
            </a:r>
            <a:endParaRPr lang="zh-CN" altLang="en-US" sz="3200" b="1" dirty="0">
              <a:solidFill>
                <a:srgbClr val="FF0000"/>
              </a:solidFill>
              <a:latin typeface="Arial" panose="020B0604020202020204" pitchFamily="34" charset="0"/>
              <a:ea typeface="宋体" panose="02010600030101010101" pitchFamily="2" charset="-122"/>
              <a:cs typeface="Arial" panose="020B0604020202020204" pitchFamily="34" charset="0"/>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25</a:t>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noChangeArrowheads="1"/>
          </p:cNvSpPr>
          <p:nvPr>
            <p:ph type="title"/>
          </p:nvPr>
        </p:nvSpPr>
        <p:spPr>
          <a:xfrm>
            <a:off x="822959" y="286605"/>
            <a:ext cx="7816543" cy="831478"/>
          </a:xfrm>
        </p:spPr>
        <p:txBody>
          <a:bodyPr>
            <a:noAutofit/>
          </a:bodyPr>
          <a:lstStyle/>
          <a:p>
            <a:r>
              <a:rPr lang="en-US" altLang="zh-CN" sz="3200" dirty="0">
                <a:cs typeface="Arial" panose="020B0604020202020204" pitchFamily="34" charset="0"/>
              </a:rPr>
              <a:t>1 Concepts related to serial communication</a:t>
            </a:r>
            <a:endParaRPr lang="zh-CN" altLang="en-US" sz="3200" dirty="0">
              <a:cs typeface="Arial" panose="020B0604020202020204" pitchFamily="34" charset="0"/>
            </a:endParaRPr>
          </a:p>
        </p:txBody>
      </p:sp>
      <p:sp>
        <p:nvSpPr>
          <p:cNvPr id="468995" name="Rectangle 3"/>
          <p:cNvSpPr>
            <a:spLocks noGrp="1" noChangeArrowheads="1"/>
          </p:cNvSpPr>
          <p:nvPr>
            <p:ph idx="1"/>
          </p:nvPr>
        </p:nvSpPr>
        <p:spPr>
          <a:xfrm>
            <a:off x="822960" y="1303868"/>
            <a:ext cx="7474374" cy="3145366"/>
          </a:xfrm>
        </p:spPr>
        <p:txBody>
          <a:bodyPr>
            <a:normAutofit/>
          </a:bodyPr>
          <a:lstStyle/>
          <a:p>
            <a:pPr eaLnBrk="1" hangingPunct="1">
              <a:spcBef>
                <a:spcPct val="0"/>
              </a:spcBef>
              <a:buFontTx/>
              <a:buNone/>
            </a:pPr>
            <a:r>
              <a:rPr lang="en-US" altLang="zh-CN" sz="3200" dirty="0">
                <a:solidFill>
                  <a:srgbClr val="FF0000"/>
                </a:solidFill>
                <a:cs typeface="Arial" panose="020B0604020202020204" pitchFamily="34" charset="0"/>
              </a:rPr>
              <a:t>2. Serial interface</a:t>
            </a:r>
          </a:p>
          <a:p>
            <a:pPr eaLnBrk="1" hangingPunct="1">
              <a:spcBef>
                <a:spcPct val="0"/>
              </a:spcBef>
            </a:pPr>
            <a:r>
              <a:rPr lang="zh-CN" altLang="en-US" dirty="0">
                <a:solidFill>
                  <a:srgbClr val="CC3300"/>
                </a:solidFill>
                <a:cs typeface="Arial" panose="020B0604020202020204" pitchFamily="34" charset="0"/>
              </a:rPr>
              <a:t>Function: </a:t>
            </a:r>
            <a:r>
              <a:rPr lang="zh-CN" altLang="en-US" dirty="0">
                <a:cs typeface="Arial" panose="020B0604020202020204" pitchFamily="34" charset="0"/>
              </a:rPr>
              <a:t>In</a:t>
            </a:r>
            <a:r>
              <a:rPr lang="zh-CN" altLang="en-US" dirty="0">
                <a:solidFill>
                  <a:srgbClr val="CC3300"/>
                </a:solidFill>
                <a:cs typeface="Arial" panose="020B0604020202020204" pitchFamily="34" charset="0"/>
              </a:rPr>
              <a:t> </a:t>
            </a:r>
            <a:r>
              <a:rPr lang="zh-CN" altLang="en-US" dirty="0">
                <a:solidFill>
                  <a:srgbClr val="3333FF"/>
                </a:solidFill>
                <a:cs typeface="Arial" panose="020B0604020202020204" pitchFamily="34" charset="0"/>
              </a:rPr>
              <a:t>serial communication</a:t>
            </a:r>
            <a:r>
              <a:rPr lang="zh-CN" altLang="en-US" dirty="0">
                <a:cs typeface="Arial" panose="020B0604020202020204" pitchFamily="34" charset="0"/>
              </a:rPr>
              <a:t>, data is transmitted </a:t>
            </a:r>
            <a:r>
              <a:rPr lang="zh-CN" altLang="en-US" dirty="0">
                <a:solidFill>
                  <a:srgbClr val="3333FF"/>
                </a:solidFill>
                <a:cs typeface="Arial" panose="020B0604020202020204" pitchFamily="34" charset="0"/>
              </a:rPr>
              <a:t>bit by bit sequentially</a:t>
            </a:r>
            <a:r>
              <a:rPr lang="zh-CN" altLang="en-US" dirty="0">
                <a:cs typeface="Arial" panose="020B0604020202020204" pitchFamily="34" charset="0"/>
              </a:rPr>
              <a:t>, whereas </a:t>
            </a:r>
            <a:r>
              <a:rPr lang="zh-CN" altLang="en-US" dirty="0">
                <a:solidFill>
                  <a:srgbClr val="3333FF"/>
                </a:solidFill>
                <a:cs typeface="Arial" panose="020B0604020202020204" pitchFamily="34" charset="0"/>
              </a:rPr>
              <a:t>in computers</a:t>
            </a:r>
            <a:r>
              <a:rPr lang="zh-CN" altLang="en-US" dirty="0">
                <a:solidFill>
                  <a:srgbClr val="CC3300"/>
                </a:solidFill>
                <a:cs typeface="Arial" panose="020B0604020202020204" pitchFamily="34" charset="0"/>
              </a:rPr>
              <a:t>, </a:t>
            </a:r>
            <a:r>
              <a:rPr lang="zh-CN" altLang="en-US" dirty="0">
                <a:solidFill>
                  <a:srgbClr val="3333FF"/>
                </a:solidFill>
                <a:cs typeface="Arial" panose="020B0604020202020204" pitchFamily="34" charset="0"/>
              </a:rPr>
              <a:t>data is transmitted in parallel</a:t>
            </a:r>
            <a:r>
              <a:rPr lang="zh-CN" altLang="en-US" dirty="0">
                <a:cs typeface="Arial" panose="020B0604020202020204" pitchFamily="34" charset="0"/>
              </a:rPr>
              <a:t>.</a:t>
            </a:r>
            <a:r>
              <a:rPr lang="zh-CN" altLang="en-US" dirty="0">
                <a:solidFill>
                  <a:srgbClr val="CC3300"/>
                </a:solidFill>
                <a:cs typeface="Arial" panose="020B0604020202020204" pitchFamily="34" charset="0"/>
              </a:rPr>
              <a:t> </a:t>
            </a:r>
            <a:r>
              <a:rPr lang="zh-CN" altLang="en-US" dirty="0">
                <a:cs typeface="Arial" panose="020B0604020202020204" pitchFamily="34" charset="0"/>
              </a:rPr>
              <a:t>Therefore,</a:t>
            </a:r>
            <a:r>
              <a:rPr lang="zh-CN" altLang="en-US" dirty="0">
                <a:solidFill>
                  <a:srgbClr val="CC3300"/>
                </a:solidFill>
                <a:cs typeface="Arial" panose="020B0604020202020204" pitchFamily="34" charset="0"/>
              </a:rPr>
              <a:t> </a:t>
            </a:r>
            <a:r>
              <a:rPr lang="zh-CN" altLang="en-US" dirty="0">
                <a:solidFill>
                  <a:srgbClr val="FF0000"/>
                </a:solidFill>
                <a:cs typeface="Arial" panose="020B0604020202020204" pitchFamily="34" charset="0"/>
              </a:rPr>
              <a:t>the transmitter must convert parallel data into serial format </a:t>
            </a:r>
            <a:r>
              <a:rPr lang="zh-CN" altLang="en-US" dirty="0">
                <a:cs typeface="Arial" panose="020B0604020202020204" pitchFamily="34" charset="0"/>
              </a:rPr>
              <a:t>for transmission, and </a:t>
            </a:r>
            <a:r>
              <a:rPr lang="zh-CN" altLang="en-US" dirty="0">
                <a:solidFill>
                  <a:srgbClr val="FF00FF"/>
                </a:solidFill>
                <a:cs typeface="Arial" panose="020B0604020202020204" pitchFamily="34" charset="0"/>
              </a:rPr>
              <a:t>the serial data </a:t>
            </a:r>
            <a:r>
              <a:rPr lang="zh-CN" altLang="en-US" dirty="0">
                <a:cs typeface="Arial" panose="020B0604020202020204" pitchFamily="34" charset="0"/>
              </a:rPr>
              <a:t>received by the </a:t>
            </a:r>
            <a:r>
              <a:rPr lang="zh-CN" altLang="en-US" dirty="0">
                <a:solidFill>
                  <a:srgbClr val="FF00FF"/>
                </a:solidFill>
                <a:cs typeface="Arial" panose="020B0604020202020204" pitchFamily="34" charset="0"/>
              </a:rPr>
              <a:t>receiver must be converted back into parallel format</a:t>
            </a:r>
            <a:r>
              <a:rPr lang="zh-CN" altLang="en-US" dirty="0">
                <a:cs typeface="Arial" panose="020B0604020202020204" pitchFamily="34" charset="0"/>
              </a:rPr>
              <a:t> before being sent to the computer.</a:t>
            </a:r>
            <a:endParaRPr lang="en-US" altLang="zh-CN" dirty="0">
              <a:cs typeface="Arial" panose="020B0604020202020204" pitchFamily="34" charset="0"/>
            </a:endParaRPr>
          </a:p>
          <a:p>
            <a:pPr eaLnBrk="1" hangingPunct="1">
              <a:spcBef>
                <a:spcPct val="0"/>
              </a:spcBef>
            </a:pPr>
            <a:r>
              <a:rPr lang="zh-CN" altLang="en-US" dirty="0">
                <a:cs typeface="Arial" panose="020B0604020202020204" pitchFamily="34" charset="0"/>
              </a:rPr>
              <a:t>The conversion from </a:t>
            </a:r>
            <a:r>
              <a:rPr lang="en-US" altLang="zh-CN" dirty="0">
                <a:solidFill>
                  <a:srgbClr val="FF0000"/>
                </a:solidFill>
                <a:cs typeface="Arial" panose="020B0604020202020204" pitchFamily="34" charset="0"/>
              </a:rPr>
              <a:t>parallel</a:t>
            </a:r>
            <a:r>
              <a:rPr lang="zh-CN" altLang="en-US" dirty="0">
                <a:solidFill>
                  <a:srgbClr val="FF0000"/>
                </a:solidFill>
                <a:cs typeface="Arial" panose="020B0604020202020204" pitchFamily="34" charset="0"/>
              </a:rPr>
              <a:t> → </a:t>
            </a:r>
            <a:r>
              <a:rPr lang="en-US" altLang="zh-CN" dirty="0">
                <a:solidFill>
                  <a:srgbClr val="FF0000"/>
                </a:solidFill>
                <a:cs typeface="Arial" panose="020B0604020202020204" pitchFamily="34" charset="0"/>
              </a:rPr>
              <a:t>serial</a:t>
            </a:r>
            <a:r>
              <a:rPr lang="zh-CN" altLang="en-US" dirty="0">
                <a:solidFill>
                  <a:srgbClr val="FF0000"/>
                </a:solidFill>
                <a:cs typeface="Arial" panose="020B0604020202020204" pitchFamily="34" charset="0"/>
              </a:rPr>
              <a:t> </a:t>
            </a:r>
            <a:r>
              <a:rPr lang="zh-CN" altLang="en-US" dirty="0">
                <a:solidFill>
                  <a:srgbClr val="FF00FF"/>
                </a:solidFill>
                <a:cs typeface="Arial" panose="020B0604020202020204" pitchFamily="34" charset="0"/>
              </a:rPr>
              <a:t>→</a:t>
            </a:r>
            <a:r>
              <a:rPr lang="zh-CN" altLang="en-US" dirty="0">
                <a:cs typeface="Arial" panose="020B0604020202020204" pitchFamily="34" charset="0"/>
              </a:rPr>
              <a:t> from </a:t>
            </a:r>
            <a:r>
              <a:rPr lang="en-US" altLang="zh-CN" dirty="0">
                <a:solidFill>
                  <a:srgbClr val="FF00FF"/>
                </a:solidFill>
                <a:cs typeface="Arial" panose="020B0604020202020204" pitchFamily="34" charset="0"/>
              </a:rPr>
              <a:t>serial to parallel </a:t>
            </a:r>
            <a:r>
              <a:rPr lang="zh-CN" altLang="en-US" dirty="0">
                <a:cs typeface="Arial" panose="020B0604020202020204" pitchFamily="34" charset="0"/>
              </a:rPr>
              <a:t>can be implemented either in software or in hardware.</a:t>
            </a:r>
          </a:p>
          <a:p>
            <a:pPr eaLnBrk="1" hangingPunct="1">
              <a:spcBef>
                <a:spcPct val="0"/>
              </a:spcBef>
            </a:pPr>
            <a:r>
              <a:rPr lang="zh-CN" altLang="en-US" dirty="0">
                <a:cs typeface="Arial" panose="020B0604020202020204" pitchFamily="34" charset="0"/>
              </a:rPr>
              <a:t>Since software implementation increases the CPU load, </a:t>
            </a:r>
            <a:r>
              <a:rPr lang="zh-CN" altLang="en-US" dirty="0">
                <a:solidFill>
                  <a:srgbClr val="FF00FF"/>
                </a:solidFill>
                <a:cs typeface="Arial" panose="020B0604020202020204" pitchFamily="34" charset="0"/>
              </a:rPr>
              <a:t>hardware (serial interface) </a:t>
            </a:r>
            <a:r>
              <a:rPr lang="zh-CN" altLang="en-US" dirty="0">
                <a:cs typeface="Arial" panose="020B0604020202020204" pitchFamily="34" charset="0"/>
              </a:rPr>
              <a:t>is often used to </a:t>
            </a:r>
            <a:r>
              <a:rPr lang="zh-CN" altLang="en-US" dirty="0">
                <a:solidFill>
                  <a:srgbClr val="FF00FF"/>
                </a:solidFill>
                <a:cs typeface="Arial" panose="020B0604020202020204" pitchFamily="34" charset="0"/>
              </a:rPr>
              <a:t>complete this conversion</a:t>
            </a:r>
            <a:r>
              <a:rPr lang="zh-CN" altLang="en-US" dirty="0">
                <a:solidFill>
                  <a:srgbClr val="CC3300"/>
                </a:solidFill>
                <a:cs typeface="Arial" panose="020B0604020202020204" pitchFamily="34" charset="0"/>
              </a:rPr>
              <a:t>.</a:t>
            </a:r>
          </a:p>
        </p:txBody>
      </p:sp>
      <p:sp>
        <p:nvSpPr>
          <p:cNvPr id="2" name="灯片编号占位符 1"/>
          <p:cNvSpPr>
            <a:spLocks noGrp="1"/>
          </p:cNvSpPr>
          <p:nvPr>
            <p:ph type="sldNum" sz="quarter" idx="12"/>
          </p:nvPr>
        </p:nvSpPr>
        <p:spPr/>
        <p:txBody>
          <a:bodyPr/>
          <a:lstStyle/>
          <a:p>
            <a:fld id="{22E77DEE-32E4-4009-988B-F2758F7B8AC2}" type="slidenum">
              <a:rPr lang="zh-CN" altLang="en-US" smtClean="0"/>
              <a:t>26</a:t>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标题 1"/>
          <p:cNvSpPr>
            <a:spLocks noGrp="1" noChangeArrowheads="1"/>
          </p:cNvSpPr>
          <p:nvPr>
            <p:ph type="title"/>
          </p:nvPr>
        </p:nvSpPr>
        <p:spPr/>
        <p:txBody>
          <a:bodyPr>
            <a:normAutofit/>
          </a:bodyPr>
          <a:lstStyle/>
          <a:p>
            <a:pPr eaLnBrk="1" hangingPunct="1"/>
            <a:r>
              <a:rPr lang="en-US" altLang="zh-CN" sz="4000" dirty="0">
                <a:solidFill>
                  <a:srgbClr val="FF0000"/>
                </a:solidFill>
                <a:cs typeface="Arial" panose="020B0604020202020204" pitchFamily="34" charset="0"/>
              </a:rPr>
              <a:t>2. Serial interface</a:t>
            </a:r>
            <a:endParaRPr lang="zh-CN" altLang="en-US" sz="4000" dirty="0">
              <a:solidFill>
                <a:srgbClr val="FF0000"/>
              </a:solidFill>
              <a:cs typeface="Arial" panose="020B0604020202020204" pitchFamily="34" charset="0"/>
            </a:endParaRPr>
          </a:p>
        </p:txBody>
      </p:sp>
      <p:sp>
        <p:nvSpPr>
          <p:cNvPr id="47108" name="Rectangle 3"/>
          <p:cNvSpPr>
            <a:spLocks noGrp="1" noChangeArrowheads="1"/>
          </p:cNvSpPr>
          <p:nvPr>
            <p:ph idx="1"/>
          </p:nvPr>
        </p:nvSpPr>
        <p:spPr>
          <a:xfrm>
            <a:off x="822960" y="1282699"/>
            <a:ext cx="7461673" cy="404813"/>
          </a:xfrm>
        </p:spPr>
        <p:txBody>
          <a:bodyPr>
            <a:normAutofit/>
          </a:bodyPr>
          <a:lstStyle/>
          <a:p>
            <a:pPr eaLnBrk="1" hangingPunct="1">
              <a:spcBef>
                <a:spcPct val="0"/>
              </a:spcBef>
            </a:pPr>
            <a:r>
              <a:rPr lang="zh-CN" altLang="en-US" sz="1600" dirty="0">
                <a:cs typeface="Arial" panose="020B0604020202020204" pitchFamily="34" charset="0"/>
              </a:rPr>
              <a:t>The serial interface is connected to the CPU via the system bus, as shown in the figure.</a:t>
            </a:r>
            <a:endParaRPr lang="en-US" altLang="zh-CN" sz="1600" dirty="0">
              <a:cs typeface="Arial" panose="020B0604020202020204" pitchFamily="34" charset="0"/>
            </a:endParaRPr>
          </a:p>
        </p:txBody>
      </p:sp>
      <p:sp>
        <p:nvSpPr>
          <p:cNvPr id="47109" name="Rectangle 5"/>
          <p:cNvSpPr>
            <a:spLocks noChangeArrowheads="1"/>
          </p:cNvSpPr>
          <p:nvPr/>
        </p:nvSpPr>
        <p:spPr bwMode="auto">
          <a:xfrm>
            <a:off x="0" y="22336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14000"/>
              </a:lnSpc>
              <a:spcAft>
                <a:spcPts val="600"/>
              </a:spcAft>
              <a:buBlip>
                <a:blip r:embed="rId2"/>
              </a:buBlip>
              <a:defRPr sz="2800" b="1">
                <a:solidFill>
                  <a:schemeClr val="accent2"/>
                </a:solidFill>
                <a:latin typeface="Times New Roman" panose="02020603050405020304" pitchFamily="18" charset="0"/>
                <a:ea typeface="宋体" panose="02010600030101010101" pitchFamily="2" charset="-122"/>
              </a:defRPr>
            </a:lvl1pPr>
            <a:lvl2pPr marL="742950" indent="-285750" algn="just">
              <a:lnSpc>
                <a:spcPct val="114000"/>
              </a:lnSpc>
              <a:spcAft>
                <a:spcPts val="600"/>
              </a:spcAft>
              <a:buBlip>
                <a:blip r:embed="rId3"/>
              </a:buBlip>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spcAft>
                <a:spcPct val="0"/>
              </a:spcAft>
              <a:buFontTx/>
              <a:buNone/>
            </a:pPr>
            <a:endParaRPr lang="zh-CN" altLang="en-US" sz="1800" b="0">
              <a:solidFill>
                <a:schemeClr val="tx1"/>
              </a:solidFill>
              <a:latin typeface="Arial" panose="020B0604020202020204" pitchFamily="34" charset="0"/>
            </a:endParaRPr>
          </a:p>
        </p:txBody>
      </p:sp>
      <p:graphicFrame>
        <p:nvGraphicFramePr>
          <p:cNvPr id="470020" name="Object 4"/>
          <p:cNvGraphicFramePr>
            <a:graphicFrameLocks noChangeAspect="1"/>
          </p:cNvGraphicFramePr>
          <p:nvPr/>
        </p:nvGraphicFramePr>
        <p:xfrm>
          <a:off x="384705" y="1628775"/>
          <a:ext cx="8107362" cy="4637088"/>
        </p:xfrm>
        <a:graphic>
          <a:graphicData uri="http://schemas.openxmlformats.org/presentationml/2006/ole">
            <mc:AlternateContent xmlns:mc="http://schemas.openxmlformats.org/markup-compatibility/2006">
              <mc:Choice xmlns:v="urn:schemas-microsoft-com:vml" Requires="v">
                <p:oleObj name="Visio" r:id="rId4" imgW="3852545" imgH="1981200" progId="Visio.Drawing.11">
                  <p:embed/>
                </p:oleObj>
              </mc:Choice>
              <mc:Fallback>
                <p:oleObj name="Visio" r:id="rId4" imgW="3852545" imgH="1981200" progId="Visio.Drawing.11">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705" y="1628775"/>
                        <a:ext cx="8107362" cy="463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矩形 2"/>
          <p:cNvSpPr>
            <a:spLocks noChangeArrowheads="1"/>
          </p:cNvSpPr>
          <p:nvPr/>
        </p:nvSpPr>
        <p:spPr bwMode="auto">
          <a:xfrm flipH="1">
            <a:off x="4702705" y="5282505"/>
            <a:ext cx="1354667"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0000"/>
              </a:lnSpc>
            </a:pPr>
            <a:r>
              <a:rPr lang="zh-CN" altLang="en-US" sz="1200" b="1" dirty="0">
                <a:solidFill>
                  <a:srgbClr val="9900CC"/>
                </a:solidFill>
              </a:rPr>
              <a:t>Shift</a:t>
            </a:r>
            <a:endParaRPr lang="en-US" altLang="zh-CN" sz="2400" b="1" dirty="0">
              <a:solidFill>
                <a:srgbClr val="9900CC"/>
              </a:solidFill>
            </a:endParaRPr>
          </a:p>
          <a:p>
            <a:pPr eaLnBrk="1" hangingPunct="1">
              <a:lnSpc>
                <a:spcPct val="80000"/>
              </a:lnSpc>
            </a:pPr>
            <a:r>
              <a:rPr lang="zh-CN" altLang="en-US" sz="1200" b="1" dirty="0">
                <a:solidFill>
                  <a:srgbClr val="9900CC"/>
                </a:solidFill>
              </a:rPr>
              <a:t>register</a:t>
            </a:r>
          </a:p>
        </p:txBody>
      </p:sp>
      <p:sp>
        <p:nvSpPr>
          <p:cNvPr id="10" name="矩形 9"/>
          <p:cNvSpPr>
            <a:spLocks noChangeArrowheads="1"/>
          </p:cNvSpPr>
          <p:nvPr/>
        </p:nvSpPr>
        <p:spPr bwMode="auto">
          <a:xfrm flipH="1">
            <a:off x="5396972" y="2253146"/>
            <a:ext cx="660400" cy="125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5000"/>
              </a:lnSpc>
            </a:pPr>
            <a:r>
              <a:rPr lang="zh-CN" altLang="en-US" sz="1200" b="1" dirty="0">
                <a:solidFill>
                  <a:srgbClr val="9900CC"/>
                </a:solidFill>
              </a:rPr>
              <a:t>Receive Shift</a:t>
            </a:r>
            <a:endParaRPr lang="en-US" altLang="zh-CN" sz="2400" b="1" dirty="0">
              <a:solidFill>
                <a:srgbClr val="9900CC"/>
              </a:solidFill>
            </a:endParaRPr>
          </a:p>
          <a:p>
            <a:pPr eaLnBrk="1" hangingPunct="1">
              <a:lnSpc>
                <a:spcPct val="85000"/>
              </a:lnSpc>
            </a:pPr>
            <a:r>
              <a:rPr lang="zh-CN" altLang="en-US" sz="1200" b="1" dirty="0">
                <a:solidFill>
                  <a:srgbClr val="9900CC"/>
                </a:solidFill>
              </a:rPr>
              <a:t>deposit</a:t>
            </a:r>
            <a:endParaRPr lang="en-US" altLang="zh-CN" sz="2400" b="1" dirty="0">
              <a:solidFill>
                <a:srgbClr val="9900CC"/>
              </a:solidFill>
            </a:endParaRPr>
          </a:p>
          <a:p>
            <a:pPr eaLnBrk="1" hangingPunct="1">
              <a:lnSpc>
                <a:spcPct val="85000"/>
              </a:lnSpc>
            </a:pPr>
            <a:r>
              <a:rPr lang="zh-CN" altLang="en-US" sz="1200" b="1" dirty="0">
                <a:solidFill>
                  <a:srgbClr val="9900CC"/>
                </a:solidFill>
              </a:rPr>
              <a:t>implement</a:t>
            </a:r>
          </a:p>
        </p:txBody>
      </p:sp>
      <p:sp>
        <p:nvSpPr>
          <p:cNvPr id="2" name="灯片编号占位符 1"/>
          <p:cNvSpPr>
            <a:spLocks noGrp="1"/>
          </p:cNvSpPr>
          <p:nvPr>
            <p:ph type="sldNum" sz="quarter" idx="12"/>
          </p:nvPr>
        </p:nvSpPr>
        <p:spPr/>
        <p:txBody>
          <a:bodyPr/>
          <a:lstStyle/>
          <a:p>
            <a:fld id="{22E77DEE-32E4-4009-988B-F2758F7B8AC2}" type="slidenum">
              <a:rPr lang="zh-CN" altLang="en-US" smtClean="0"/>
              <a:t>27</a:t>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noChangeArrowheads="1"/>
          </p:cNvSpPr>
          <p:nvPr>
            <p:ph type="title"/>
          </p:nvPr>
        </p:nvSpPr>
        <p:spPr/>
        <p:txBody>
          <a:bodyPr>
            <a:normAutofit/>
          </a:bodyPr>
          <a:lstStyle/>
          <a:p>
            <a:r>
              <a:rPr lang="en-US" altLang="zh-CN" sz="3600" dirty="0">
                <a:solidFill>
                  <a:srgbClr val="FF0000"/>
                </a:solidFill>
                <a:cs typeface="Arial" panose="020B0604020202020204" pitchFamily="34" charset="0"/>
              </a:rPr>
              <a:t>2. Serial interface</a:t>
            </a:r>
            <a:endParaRPr lang="zh-CN" altLang="en-US" sz="3600" dirty="0">
              <a:cs typeface="Arial" panose="020B0604020202020204" pitchFamily="34" charset="0"/>
            </a:endParaRPr>
          </a:p>
        </p:txBody>
      </p:sp>
      <p:sp>
        <p:nvSpPr>
          <p:cNvPr id="471043" name="Rectangle 3"/>
          <p:cNvSpPr>
            <a:spLocks noGrp="1" noChangeArrowheads="1"/>
          </p:cNvSpPr>
          <p:nvPr>
            <p:ph idx="1"/>
          </p:nvPr>
        </p:nvSpPr>
        <p:spPr>
          <a:xfrm>
            <a:off x="822959" y="1308100"/>
            <a:ext cx="7465907" cy="2963334"/>
          </a:xfrm>
        </p:spPr>
        <p:txBody>
          <a:bodyPr>
            <a:noAutofit/>
          </a:bodyPr>
          <a:lstStyle/>
          <a:p>
            <a:pPr eaLnBrk="1" hangingPunct="1">
              <a:spcBef>
                <a:spcPct val="0"/>
              </a:spcBef>
            </a:pPr>
            <a:r>
              <a:rPr lang="zh-CN" altLang="en-US" sz="1800" dirty="0">
                <a:cs typeface="Arial" panose="020B0604020202020204" pitchFamily="34" charset="0"/>
              </a:rPr>
              <a:t>The serial interface consists of four main components</a:t>
            </a:r>
          </a:p>
          <a:p>
            <a:pPr lvl="1" eaLnBrk="1" hangingPunct="1">
              <a:spcBef>
                <a:spcPct val="0"/>
              </a:spcBef>
              <a:spcAft>
                <a:spcPts val="1800"/>
              </a:spcAft>
            </a:pPr>
            <a:r>
              <a:rPr lang="zh-CN" altLang="en-US" dirty="0">
                <a:solidFill>
                  <a:srgbClr val="FF0000"/>
                </a:solidFill>
                <a:cs typeface="Arial" panose="020B0604020202020204" pitchFamily="34" charset="0"/>
              </a:rPr>
              <a:t>Data input register</a:t>
            </a:r>
            <a:r>
              <a:rPr lang="zh-CN" altLang="en-US" dirty="0">
                <a:solidFill>
                  <a:srgbClr val="CC3300"/>
                </a:solidFill>
                <a:cs typeface="Arial" panose="020B0604020202020204" pitchFamily="34" charset="0"/>
              </a:rPr>
              <a:t>.</a:t>
            </a:r>
            <a:r>
              <a:rPr lang="zh-CN" altLang="en-US" dirty="0">
                <a:solidFill>
                  <a:srgbClr val="FF0000"/>
                </a:solidFill>
                <a:cs typeface="Arial" panose="020B0604020202020204" pitchFamily="34" charset="0"/>
              </a:rPr>
              <a:t> </a:t>
            </a:r>
            <a:r>
              <a:rPr lang="zh-CN" altLang="en-US" dirty="0">
                <a:cs typeface="Arial" panose="020B0604020202020204" pitchFamily="34" charset="0"/>
              </a:rPr>
              <a:t>During the input process, serial data enters the serial interfaces </a:t>
            </a:r>
            <a:r>
              <a:rPr lang="zh-CN" altLang="en-US" dirty="0">
                <a:solidFill>
                  <a:srgbClr val="9900CC"/>
                </a:solidFill>
                <a:cs typeface="Arial" panose="020B0604020202020204" pitchFamily="34" charset="0"/>
              </a:rPr>
              <a:t>receiving shift register </a:t>
            </a:r>
            <a:r>
              <a:rPr lang="zh-CN" altLang="en-US" dirty="0">
                <a:cs typeface="Arial" panose="020B0604020202020204" pitchFamily="34" charset="0"/>
              </a:rPr>
              <a:t>bit by bit through the transmission line. After conversion by the serial-to-parallel circuit, the data is transferred from the receiving shift register to the </a:t>
            </a:r>
            <a:r>
              <a:rPr lang="zh-CN" altLang="en-US" dirty="0">
                <a:solidFill>
                  <a:srgbClr val="FF0000"/>
                </a:solidFill>
                <a:cs typeface="Arial" panose="020B0604020202020204" pitchFamily="34" charset="0"/>
              </a:rPr>
              <a:t>data input buffer </a:t>
            </a:r>
            <a:r>
              <a:rPr lang="zh-CN" altLang="en-US" dirty="0">
                <a:cs typeface="Arial" panose="020B0604020202020204" pitchFamily="34" charset="0"/>
              </a:rPr>
              <a:t>upon completion of a character reception, awaiting CPU read access.</a:t>
            </a:r>
          </a:p>
          <a:p>
            <a:pPr lvl="1" eaLnBrk="1" hangingPunct="1">
              <a:spcBef>
                <a:spcPct val="0"/>
              </a:spcBef>
            </a:pPr>
            <a:r>
              <a:rPr lang="zh-CN" altLang="en-US" dirty="0">
                <a:solidFill>
                  <a:srgbClr val="FF0000"/>
                </a:solidFill>
                <a:cs typeface="Arial" panose="020B0604020202020204" pitchFamily="34" charset="0"/>
              </a:rPr>
              <a:t>Data output register</a:t>
            </a:r>
            <a:r>
              <a:rPr lang="zh-CN" altLang="en-US" dirty="0">
                <a:solidFill>
                  <a:srgbClr val="CC3300"/>
                </a:solidFill>
                <a:cs typeface="Arial" panose="020B0604020202020204" pitchFamily="34" charset="0"/>
              </a:rPr>
              <a:t>.</a:t>
            </a:r>
            <a:r>
              <a:rPr lang="zh-CN" altLang="en-US" dirty="0">
                <a:solidFill>
                  <a:srgbClr val="FF0000"/>
                </a:solidFill>
                <a:cs typeface="Arial" panose="020B0604020202020204" pitchFamily="34" charset="0"/>
              </a:rPr>
              <a:t> </a:t>
            </a:r>
            <a:r>
              <a:rPr lang="zh-CN" altLang="en-US" dirty="0">
                <a:cs typeface="Arial" panose="020B0604020202020204" pitchFamily="34" charset="0"/>
              </a:rPr>
              <a:t>When the CPU outputs data, it first goes to the </a:t>
            </a:r>
            <a:r>
              <a:rPr lang="zh-CN" altLang="en-US" dirty="0">
                <a:solidFill>
                  <a:srgbClr val="FF0000"/>
                </a:solidFill>
                <a:cs typeface="Arial" panose="020B0604020202020204" pitchFamily="34" charset="0"/>
              </a:rPr>
              <a:t>data output buffer</a:t>
            </a:r>
            <a:r>
              <a:rPr lang="zh-CN" altLang="en-US" dirty="0">
                <a:cs typeface="Arial" panose="020B0604020202020204" pitchFamily="34" charset="0"/>
              </a:rPr>
              <a:t>. Then, the data is transferred to the output register and sent to the </a:t>
            </a:r>
            <a:r>
              <a:rPr lang="en-US" altLang="zh-CN" dirty="0">
                <a:solidFill>
                  <a:srgbClr val="9900CC"/>
                </a:solidFill>
                <a:cs typeface="Arial" panose="020B0604020202020204" pitchFamily="34" charset="0"/>
              </a:rPr>
              <a:t>send </a:t>
            </a:r>
            <a:r>
              <a:rPr lang="zh-CN" altLang="en-US" dirty="0">
                <a:solidFill>
                  <a:srgbClr val="9900CC"/>
                </a:solidFill>
                <a:cs typeface="Arial" panose="020B0604020202020204" pitchFamily="34" charset="0"/>
              </a:rPr>
              <a:t>shift register</a:t>
            </a:r>
            <a:r>
              <a:rPr lang="zh-CN" altLang="en-US" dirty="0">
                <a:cs typeface="Arial" panose="020B0604020202020204" pitchFamily="34" charset="0"/>
              </a:rPr>
              <a:t>. After passing through the parallel-to-serial converter, the data is transmitted bit by bit through the output transmission line to the peripheral device.</a:t>
            </a:r>
          </a:p>
        </p:txBody>
      </p:sp>
      <p:sp>
        <p:nvSpPr>
          <p:cNvPr id="2" name="灯片编号占位符 1"/>
          <p:cNvSpPr>
            <a:spLocks noGrp="1"/>
          </p:cNvSpPr>
          <p:nvPr>
            <p:ph type="sldNum" sz="quarter" idx="12"/>
          </p:nvPr>
        </p:nvSpPr>
        <p:spPr/>
        <p:txBody>
          <a:bodyPr/>
          <a:lstStyle/>
          <a:p>
            <a:fld id="{22E77DEE-32E4-4009-988B-F2758F7B8AC2}" type="slidenum">
              <a:rPr lang="zh-CN" altLang="en-US" smtClean="0"/>
              <a:t>28</a:t>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noChangeArrowheads="1"/>
          </p:cNvSpPr>
          <p:nvPr>
            <p:ph type="title"/>
          </p:nvPr>
        </p:nvSpPr>
        <p:spPr/>
        <p:txBody>
          <a:bodyPr>
            <a:normAutofit/>
          </a:bodyPr>
          <a:lstStyle/>
          <a:p>
            <a:r>
              <a:rPr lang="en-US" altLang="zh-CN" sz="3600" dirty="0">
                <a:solidFill>
                  <a:srgbClr val="FF0000"/>
                </a:solidFill>
                <a:cs typeface="Arial" panose="020B0604020202020204" pitchFamily="34" charset="0"/>
              </a:rPr>
              <a:t>2. Serial interface</a:t>
            </a:r>
            <a:endParaRPr lang="zh-CN" altLang="en-US" sz="3600" dirty="0">
              <a:cs typeface="Arial" panose="020B0604020202020204" pitchFamily="34" charset="0"/>
            </a:endParaRPr>
          </a:p>
        </p:txBody>
      </p:sp>
      <p:sp>
        <p:nvSpPr>
          <p:cNvPr id="473091" name="Rectangle 3"/>
          <p:cNvSpPr>
            <a:spLocks noGrp="1" noChangeArrowheads="1"/>
          </p:cNvSpPr>
          <p:nvPr>
            <p:ph idx="1"/>
          </p:nvPr>
        </p:nvSpPr>
        <p:spPr>
          <a:xfrm>
            <a:off x="855133" y="1341967"/>
            <a:ext cx="7465907" cy="4893733"/>
          </a:xfrm>
        </p:spPr>
        <p:txBody>
          <a:bodyPr>
            <a:normAutofit/>
          </a:bodyPr>
          <a:lstStyle/>
          <a:p>
            <a:pPr eaLnBrk="1" hangingPunct="1">
              <a:lnSpc>
                <a:spcPct val="124000"/>
              </a:lnSpc>
              <a:defRPr/>
            </a:pPr>
            <a:r>
              <a:rPr lang="zh-CN" altLang="en-US" sz="1800" dirty="0">
                <a:cs typeface="Arial" panose="020B0604020202020204" pitchFamily="34" charset="0"/>
              </a:rPr>
              <a:t>The serial interface consists of four main components</a:t>
            </a:r>
          </a:p>
          <a:p>
            <a:pPr marL="384048" lvl="1">
              <a:lnSpc>
                <a:spcPct val="124000"/>
              </a:lnSpc>
              <a:spcAft>
                <a:spcPts val="1800"/>
              </a:spcAft>
              <a:defRPr/>
            </a:pPr>
            <a:r>
              <a:rPr lang="zh-CN" altLang="en-US" dirty="0">
                <a:solidFill>
                  <a:srgbClr val="FF0000"/>
                </a:solidFill>
                <a:cs typeface="Arial" panose="020B0604020202020204" pitchFamily="34" charset="0"/>
              </a:rPr>
              <a:t>Status register</a:t>
            </a:r>
            <a:r>
              <a:rPr lang="zh-CN" altLang="en-US" dirty="0">
                <a:solidFill>
                  <a:srgbClr val="CC3300"/>
                </a:solidFill>
                <a:cs typeface="Arial" panose="020B0604020202020204" pitchFamily="34" charset="0"/>
              </a:rPr>
              <a:t>.</a:t>
            </a:r>
            <a:r>
              <a:rPr lang="zh-CN" altLang="en-US" dirty="0">
                <a:solidFill>
                  <a:srgbClr val="FF0000"/>
                </a:solidFill>
                <a:cs typeface="Arial" panose="020B0604020202020204" pitchFamily="34" charset="0"/>
              </a:rPr>
              <a:t> </a:t>
            </a:r>
            <a:r>
              <a:rPr lang="zh-CN" altLang="en-US" dirty="0">
                <a:cs typeface="Arial" panose="020B0604020202020204" pitchFamily="34" charset="0"/>
              </a:rPr>
              <a:t>The status register </a:t>
            </a:r>
            <a:r>
              <a:rPr lang="zh-CN" altLang="en-US" dirty="0">
                <a:solidFill>
                  <a:srgbClr val="9900CC"/>
                </a:solidFill>
                <a:cs typeface="Arial" panose="020B0604020202020204" pitchFamily="34" charset="0"/>
              </a:rPr>
              <a:t>stores the operational status of peripherals</a:t>
            </a:r>
            <a:r>
              <a:rPr lang="zh-CN" altLang="en-US" dirty="0">
                <a:cs typeface="Arial" panose="020B0604020202020204" pitchFamily="34" charset="0"/>
              </a:rPr>
              <a:t>. The CPU accesses this register to monitor a peripherals status, enabling it to control the peripherals operations and facilitate data exchange.</a:t>
            </a:r>
          </a:p>
          <a:p>
            <a:pPr lvl="1" eaLnBrk="1" hangingPunct="1">
              <a:lnSpc>
                <a:spcPct val="124000"/>
              </a:lnSpc>
              <a:defRPr/>
            </a:pPr>
            <a:r>
              <a:rPr lang="zh-CN" altLang="en-US" dirty="0">
                <a:solidFill>
                  <a:srgbClr val="FF0000"/>
                </a:solidFill>
                <a:cs typeface="Arial" panose="020B0604020202020204" pitchFamily="34" charset="0"/>
              </a:rPr>
              <a:t>Control register</a:t>
            </a:r>
            <a:r>
              <a:rPr lang="zh-CN" altLang="en-US" dirty="0">
                <a:solidFill>
                  <a:srgbClr val="CC3300"/>
                </a:solidFill>
                <a:cs typeface="Arial" panose="020B0604020202020204" pitchFamily="34" charset="0"/>
              </a:rPr>
              <a:t>.</a:t>
            </a:r>
            <a:r>
              <a:rPr lang="zh-CN" altLang="en-US" dirty="0">
                <a:solidFill>
                  <a:srgbClr val="FF0000"/>
                </a:solidFill>
                <a:cs typeface="Arial" panose="020B0604020202020204" pitchFamily="34" charset="0"/>
              </a:rPr>
              <a:t> </a:t>
            </a:r>
            <a:r>
              <a:rPr lang="zh-CN" altLang="en-US" dirty="0">
                <a:solidFill>
                  <a:schemeClr val="accent2"/>
                </a:solidFill>
                <a:cs typeface="Arial" panose="020B0604020202020204" pitchFamily="34" charset="0"/>
              </a:rPr>
              <a:t>The serial interface contains a control register that </a:t>
            </a:r>
            <a:r>
              <a:rPr lang="zh-CN" altLang="en-US" dirty="0">
                <a:solidFill>
                  <a:srgbClr val="9900CC"/>
                </a:solidFill>
                <a:cs typeface="Arial" panose="020B0604020202020204" pitchFamily="34" charset="0"/>
              </a:rPr>
              <a:t>stores</a:t>
            </a:r>
            <a:r>
              <a:rPr lang="zh-CN" altLang="en-US" dirty="0">
                <a:solidFill>
                  <a:schemeClr val="accent2"/>
                </a:solidFill>
                <a:cs typeface="Arial" panose="020B0604020202020204" pitchFamily="34" charset="0"/>
              </a:rPr>
              <a:t> the</a:t>
            </a:r>
            <a:r>
              <a:rPr lang="zh-CN" altLang="en-US" dirty="0">
                <a:solidFill>
                  <a:srgbClr val="9900CC"/>
                </a:solidFill>
                <a:cs typeface="Arial" panose="020B0604020202020204" pitchFamily="34" charset="0"/>
              </a:rPr>
              <a:t> operating mode commands </a:t>
            </a:r>
            <a:r>
              <a:rPr lang="zh-CN" altLang="en-US" dirty="0">
                <a:solidFill>
                  <a:schemeClr val="accent2"/>
                </a:solidFill>
                <a:cs typeface="Arial" panose="020B0604020202020204" pitchFamily="34" charset="0"/>
              </a:rPr>
              <a:t>and </a:t>
            </a:r>
            <a:r>
              <a:rPr lang="zh-CN" altLang="en-US" dirty="0">
                <a:solidFill>
                  <a:srgbClr val="9900CC"/>
                </a:solidFill>
                <a:cs typeface="Arial" panose="020B0604020202020204" pitchFamily="34" charset="0"/>
              </a:rPr>
              <a:t>operation commands </a:t>
            </a:r>
            <a:r>
              <a:rPr lang="zh-CN" altLang="en-US" dirty="0">
                <a:solidFill>
                  <a:schemeClr val="accent2"/>
                </a:solidFill>
                <a:cs typeface="Arial" panose="020B0604020202020204" pitchFamily="34" charset="0"/>
              </a:rPr>
              <a:t>set by the CPU for the peripheral device. The peripheral device is controlled through this register.</a:t>
            </a:r>
          </a:p>
        </p:txBody>
      </p:sp>
      <p:sp>
        <p:nvSpPr>
          <p:cNvPr id="2" name="灯片编号占位符 1"/>
          <p:cNvSpPr>
            <a:spLocks noGrp="1"/>
          </p:cNvSpPr>
          <p:nvPr>
            <p:ph type="sldNum" sz="quarter" idx="12"/>
          </p:nvPr>
        </p:nvSpPr>
        <p:spPr/>
        <p:txBody>
          <a:bodyPr/>
          <a:lstStyle/>
          <a:p>
            <a:fld id="{22E77DEE-32E4-4009-988B-F2758F7B8AC2}" type="slidenum">
              <a:rPr lang="zh-CN" altLang="en-US" smtClean="0"/>
              <a:t>29</a:t>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noChangeArrowheads="1"/>
          </p:cNvSpPr>
          <p:nvPr>
            <p:ph type="title"/>
          </p:nvPr>
        </p:nvSpPr>
        <p:spPr/>
        <p:txBody>
          <a:bodyPr>
            <a:normAutofit/>
          </a:bodyPr>
          <a:lstStyle/>
          <a:p>
            <a:r>
              <a:rPr lang="en-US" altLang="zh-CN" sz="3600">
                <a:solidFill>
                  <a:srgbClr val="FF0000"/>
                </a:solidFill>
              </a:rPr>
              <a:t>2. Serial interface</a:t>
            </a:r>
            <a:endParaRPr lang="zh-CN" altLang="en-US" sz="3600"/>
          </a:p>
        </p:txBody>
      </p:sp>
      <p:sp>
        <p:nvSpPr>
          <p:cNvPr id="474115" name="Rectangle 3"/>
          <p:cNvSpPr>
            <a:spLocks noGrp="1" noChangeArrowheads="1"/>
          </p:cNvSpPr>
          <p:nvPr>
            <p:ph idx="1"/>
          </p:nvPr>
        </p:nvSpPr>
        <p:spPr>
          <a:xfrm>
            <a:off x="822960" y="1375834"/>
            <a:ext cx="7543800" cy="3924300"/>
          </a:xfrm>
        </p:spPr>
        <p:txBody>
          <a:bodyPr>
            <a:normAutofit/>
          </a:bodyPr>
          <a:lstStyle/>
          <a:p>
            <a:pPr eaLnBrk="1" hangingPunct="1">
              <a:lnSpc>
                <a:spcPct val="124000"/>
              </a:lnSpc>
              <a:spcBef>
                <a:spcPct val="0"/>
              </a:spcBef>
              <a:spcAft>
                <a:spcPts val="1200"/>
              </a:spcAft>
            </a:pPr>
            <a:r>
              <a:rPr lang="zh-CN" altLang="en-US" sz="1800" dirty="0"/>
              <a:t>Basic working principle of serial interface</a:t>
            </a:r>
          </a:p>
          <a:p>
            <a:pPr lvl="1" eaLnBrk="1" hangingPunct="1">
              <a:lnSpc>
                <a:spcPct val="124000"/>
              </a:lnSpc>
              <a:spcBef>
                <a:spcPct val="0"/>
              </a:spcBef>
              <a:spcAft>
                <a:spcPts val="1200"/>
              </a:spcAft>
            </a:pPr>
            <a:r>
              <a:rPr lang="zh-CN" altLang="en-US" dirty="0">
                <a:solidFill>
                  <a:srgbClr val="C00000"/>
                </a:solidFill>
              </a:rPr>
              <a:t>During serial transmission</a:t>
            </a:r>
            <a:r>
              <a:rPr lang="zh-CN" altLang="en-US" dirty="0">
                <a:solidFill>
                  <a:schemeClr val="tx1"/>
                </a:solidFill>
              </a:rPr>
              <a:t>, the CPU transfers 8-bit parallel data to the data output register via the data bus. </a:t>
            </a:r>
            <a:r>
              <a:rPr lang="zh-CN" altLang="en-US" dirty="0">
                <a:solidFill>
                  <a:srgbClr val="7030A0"/>
                </a:solidFill>
              </a:rPr>
              <a:t>This data is then routed to the parallel input/serial output shift register</a:t>
            </a:r>
            <a:r>
              <a:rPr lang="zh-CN" altLang="en-US" dirty="0">
                <a:solidFill>
                  <a:schemeClr val="tx1"/>
                </a:solidFill>
              </a:rPr>
              <a:t>. Under the control of the transmission clock and control circuit, the data is serially output bit by bit through the serial data output terminal.</a:t>
            </a:r>
            <a:endParaRPr lang="en-US" altLang="zh-CN" dirty="0">
              <a:solidFill>
                <a:schemeClr val="tx1"/>
              </a:solidFill>
            </a:endParaRPr>
          </a:p>
          <a:p>
            <a:pPr lvl="1" eaLnBrk="1" hangingPunct="1">
              <a:lnSpc>
                <a:spcPct val="124000"/>
              </a:lnSpc>
              <a:spcBef>
                <a:spcPct val="0"/>
              </a:spcBef>
              <a:spcAft>
                <a:spcPts val="1200"/>
              </a:spcAft>
            </a:pPr>
            <a:r>
              <a:rPr lang="zh-CN" altLang="en-US" dirty="0">
                <a:solidFill>
                  <a:srgbClr val="FF0000"/>
                </a:solidFill>
              </a:rPr>
              <a:t>The start and stop bits are automatically added by the serial interface during transmission</a:t>
            </a:r>
            <a:r>
              <a:rPr lang="zh-CN" altLang="en-US" dirty="0">
                <a:solidFill>
                  <a:schemeClr val="tx1"/>
                </a:solidFill>
              </a:rPr>
              <a:t>. After completing a frame, the serial interface generates an interrupt request, which the CPU can then process to send the next character to the transmit buffer.</a:t>
            </a:r>
          </a:p>
        </p:txBody>
      </p:sp>
      <p:sp>
        <p:nvSpPr>
          <p:cNvPr id="2" name="灯片编号占位符 1"/>
          <p:cNvSpPr>
            <a:spLocks noGrp="1"/>
          </p:cNvSpPr>
          <p:nvPr>
            <p:ph type="sldNum" sz="quarter" idx="12"/>
          </p:nvPr>
        </p:nvSpPr>
        <p:spPr/>
        <p:txBody>
          <a:bodyPr/>
          <a:lstStyle/>
          <a:p>
            <a:fld id="{22E77DEE-32E4-4009-988B-F2758F7B8AC2}" type="slidenum">
              <a:rPr lang="zh-CN" altLang="en-US" smtClean="0"/>
              <a:t>30</a:t>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noChangeArrowheads="1"/>
          </p:cNvSpPr>
          <p:nvPr>
            <p:ph type="title"/>
          </p:nvPr>
        </p:nvSpPr>
        <p:spPr/>
        <p:txBody>
          <a:bodyPr>
            <a:normAutofit/>
          </a:bodyPr>
          <a:lstStyle/>
          <a:p>
            <a:r>
              <a:rPr lang="en-US" altLang="zh-CN" sz="3600" dirty="0">
                <a:solidFill>
                  <a:srgbClr val="FF0000"/>
                </a:solidFill>
              </a:rPr>
              <a:t>2. Serial interface</a:t>
            </a:r>
            <a:endParaRPr lang="zh-CN" altLang="en-US" sz="3600" dirty="0"/>
          </a:p>
        </p:txBody>
      </p:sp>
      <p:sp>
        <p:nvSpPr>
          <p:cNvPr id="475139" name="Rectangle 3"/>
          <p:cNvSpPr>
            <a:spLocks noGrp="1" noChangeArrowheads="1"/>
          </p:cNvSpPr>
          <p:nvPr>
            <p:ph idx="1"/>
          </p:nvPr>
        </p:nvSpPr>
        <p:spPr>
          <a:xfrm>
            <a:off x="855133" y="1477433"/>
            <a:ext cx="7465908" cy="3678767"/>
          </a:xfrm>
        </p:spPr>
        <p:txBody>
          <a:bodyPr/>
          <a:lstStyle/>
          <a:p>
            <a:pPr eaLnBrk="1" hangingPunct="1">
              <a:lnSpc>
                <a:spcPct val="123000"/>
              </a:lnSpc>
              <a:spcBef>
                <a:spcPct val="0"/>
              </a:spcBef>
              <a:spcAft>
                <a:spcPts val="1200"/>
              </a:spcAft>
            </a:pPr>
            <a:r>
              <a:rPr lang="zh-CN" altLang="en-US" dirty="0"/>
              <a:t>Basic working principle of serial interface</a:t>
            </a:r>
          </a:p>
          <a:p>
            <a:pPr lvl="1" eaLnBrk="1" hangingPunct="1">
              <a:lnSpc>
                <a:spcPct val="123000"/>
              </a:lnSpc>
              <a:spcBef>
                <a:spcPct val="0"/>
              </a:spcBef>
              <a:spcAft>
                <a:spcPts val="1200"/>
              </a:spcAft>
            </a:pPr>
            <a:r>
              <a:rPr lang="zh-CN" altLang="en-US" dirty="0">
                <a:solidFill>
                  <a:srgbClr val="C00000"/>
                </a:solidFill>
              </a:rPr>
              <a:t>During serial reception</a:t>
            </a:r>
            <a:r>
              <a:rPr lang="zh-CN" altLang="en-US" dirty="0">
                <a:solidFill>
                  <a:schemeClr val="tx1"/>
                </a:solidFill>
              </a:rPr>
              <a:t>, the serial interface monitors the serial data input and </a:t>
            </a:r>
            <a:r>
              <a:rPr lang="zh-CN" altLang="en-US" dirty="0">
                <a:solidFill>
                  <a:srgbClr val="FF00FF"/>
                </a:solidFill>
              </a:rPr>
              <a:t>starts a new character reception process</a:t>
            </a:r>
            <a:r>
              <a:rPr lang="zh-CN" altLang="en-US" dirty="0">
                <a:solidFill>
                  <a:schemeClr val="tx1"/>
                </a:solidFill>
              </a:rPr>
              <a:t> </a:t>
            </a:r>
            <a:r>
              <a:rPr lang="zh-CN" altLang="en-US" dirty="0">
                <a:solidFill>
                  <a:srgbClr val="0000FF"/>
                </a:solidFill>
              </a:rPr>
              <a:t>when a low level (start bit) is detected.</a:t>
            </a:r>
            <a:endParaRPr lang="en-US" altLang="zh-CN" dirty="0">
              <a:solidFill>
                <a:srgbClr val="0000FF"/>
              </a:solidFill>
            </a:endParaRPr>
          </a:p>
          <a:p>
            <a:pPr lvl="1" eaLnBrk="1" hangingPunct="1">
              <a:lnSpc>
                <a:spcPct val="123000"/>
              </a:lnSpc>
              <a:spcBef>
                <a:spcPct val="0"/>
              </a:spcBef>
              <a:spcAft>
                <a:spcPts val="1200"/>
              </a:spcAft>
            </a:pPr>
            <a:r>
              <a:rPr lang="zh-CN" altLang="en-US" dirty="0">
                <a:solidFill>
                  <a:srgbClr val="9900CC"/>
                </a:solidFill>
              </a:rPr>
              <a:t>The serial interface shifts the shift register (i.e., the serial input-parallel output register) </a:t>
            </a:r>
            <a:r>
              <a:rPr lang="zh-CN" altLang="en-US" dirty="0">
                <a:solidFill>
                  <a:schemeClr val="tx1"/>
                </a:solidFill>
              </a:rPr>
              <a:t>left by one bit for each bit of binary data received.</a:t>
            </a:r>
          </a:p>
          <a:p>
            <a:pPr lvl="1" eaLnBrk="1" hangingPunct="1">
              <a:lnSpc>
                <a:spcPct val="123000"/>
              </a:lnSpc>
              <a:spcBef>
                <a:spcPct val="0"/>
              </a:spcBef>
              <a:spcAft>
                <a:spcPts val="1200"/>
              </a:spcAft>
            </a:pPr>
            <a:r>
              <a:rPr lang="zh-CN" altLang="en-US" dirty="0">
                <a:solidFill>
                  <a:schemeClr val="tx1"/>
                </a:solidFill>
              </a:rPr>
              <a:t>After receiving </a:t>
            </a:r>
            <a:r>
              <a:rPr lang="zh-CN" altLang="en-US" dirty="0">
                <a:solidFill>
                  <a:srgbClr val="9900CC"/>
                </a:solidFill>
              </a:rPr>
              <a:t>a character (byte)</a:t>
            </a:r>
            <a:r>
              <a:rPr lang="zh-CN" altLang="en-US" dirty="0">
                <a:solidFill>
                  <a:schemeClr val="tx1"/>
                </a:solidFill>
              </a:rPr>
              <a:t> in succession</a:t>
            </a:r>
            <a:r>
              <a:rPr lang="zh-CN" altLang="en-US" dirty="0">
                <a:solidFill>
                  <a:srgbClr val="9900CC"/>
                </a:solidFill>
              </a:rPr>
              <a:t>, it sends it in parallel to the data input register and triggers an interrupt</a:t>
            </a:r>
            <a:r>
              <a:rPr lang="zh-CN" altLang="en-US" dirty="0">
                <a:solidFill>
                  <a:schemeClr val="tx1"/>
                </a:solidFill>
              </a:rPr>
              <a:t>, prompting the CPU to retrieve the received character.</a:t>
            </a:r>
          </a:p>
        </p:txBody>
      </p:sp>
      <p:sp>
        <p:nvSpPr>
          <p:cNvPr id="2" name="灯片编号占位符 1"/>
          <p:cNvSpPr>
            <a:spLocks noGrp="1"/>
          </p:cNvSpPr>
          <p:nvPr>
            <p:ph type="sldNum" sz="quarter" idx="12"/>
          </p:nvPr>
        </p:nvSpPr>
        <p:spPr/>
        <p:txBody>
          <a:bodyPr/>
          <a:lstStyle/>
          <a:p>
            <a:fld id="{22E77DEE-32E4-4009-988B-F2758F7B8AC2}" type="slidenum">
              <a:rPr lang="zh-CN" altLang="en-US" smtClean="0"/>
              <a:t>31</a:t>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2"/>
          <p:cNvSpPr txBox="1"/>
          <p:nvPr/>
        </p:nvSpPr>
        <p:spPr bwMode="auto">
          <a:xfrm>
            <a:off x="313531" y="929149"/>
            <a:ext cx="8758237" cy="442411"/>
          </a:xfrm>
          <a:prstGeom prst="rect">
            <a:avLst/>
          </a:prstGeom>
          <a:solidFill>
            <a:schemeClr val="bg1"/>
          </a:solidFill>
          <a:ln>
            <a:noFill/>
          </a:ln>
        </p:spPr>
        <p:txBody>
          <a:bodyPr/>
          <a:lstStyle>
            <a:lvl1pPr marL="263525" indent="-263525" algn="just" rtl="0" eaLnBrk="0" fontAlgn="base" hangingPunct="0">
              <a:lnSpc>
                <a:spcPct val="114000"/>
              </a:lnSpc>
              <a:spcBef>
                <a:spcPts val="0"/>
              </a:spcBef>
              <a:spcAft>
                <a:spcPts val="600"/>
              </a:spcAft>
              <a:buBlip>
                <a:blip r:embed="rId2"/>
              </a:buBlip>
              <a:defRPr sz="2800" b="1">
                <a:solidFill>
                  <a:schemeClr val="accent2"/>
                </a:solidFill>
                <a:latin typeface="+mn-lt"/>
                <a:ea typeface="+mn-ea"/>
                <a:cs typeface="+mn-cs"/>
              </a:defRPr>
            </a:lvl1pPr>
            <a:lvl2pPr marL="263525" indent="-180975" algn="just" rtl="0" eaLnBrk="0" fontAlgn="base" hangingPunct="0">
              <a:lnSpc>
                <a:spcPct val="114000"/>
              </a:lnSpc>
              <a:spcBef>
                <a:spcPts val="0"/>
              </a:spcBef>
              <a:spcAft>
                <a:spcPts val="600"/>
              </a:spcAft>
              <a:buBlip>
                <a:blip r:embed="rId3"/>
              </a:buBlip>
              <a:defRPr sz="2800" b="1">
                <a:solidFill>
                  <a:schemeClr val="tx1"/>
                </a:solidFill>
                <a:latin typeface="+mn-lt"/>
                <a:ea typeface="+mn-ea"/>
              </a:defRPr>
            </a:lvl2pPr>
            <a:lvl3pPr marL="1143000" indent="-228600" algn="just"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just"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just"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algn="l">
              <a:lnSpc>
                <a:spcPct val="75000"/>
              </a:lnSpc>
              <a:spcAft>
                <a:spcPts val="0"/>
              </a:spcAft>
              <a:defRPr/>
            </a:pPr>
            <a:r>
              <a:rPr lang="en-US" altLang="zh-CN" sz="2400" kern="0" dirty="0">
                <a:solidFill>
                  <a:srgbClr val="FF0000"/>
                </a:solidFill>
              </a:rPr>
              <a:t>UART </a:t>
            </a:r>
            <a:r>
              <a:rPr lang="en-US" altLang="zh-CN" sz="2400" kern="0" dirty="0">
                <a:solidFill>
                  <a:srgbClr val="C00000"/>
                </a:solidFill>
              </a:rPr>
              <a:t>( </a:t>
            </a:r>
            <a:r>
              <a:rPr lang="en-US" altLang="zh-CN" sz="2400" kern="0" dirty="0">
                <a:solidFill>
                  <a:srgbClr val="FF0000"/>
                </a:solidFill>
              </a:rPr>
              <a:t>U</a:t>
            </a:r>
            <a:r>
              <a:rPr lang="en-US" altLang="zh-CN" sz="2400" kern="0" dirty="0">
                <a:solidFill>
                  <a:srgbClr val="C00000"/>
                </a:solidFill>
              </a:rPr>
              <a:t> </a:t>
            </a:r>
            <a:r>
              <a:rPr lang="en-US" altLang="zh-CN" sz="2400" kern="0" dirty="0" err="1">
                <a:solidFill>
                  <a:srgbClr val="C00000"/>
                </a:solidFill>
              </a:rPr>
              <a:t>niversal</a:t>
            </a:r>
            <a:r>
              <a:rPr lang="en-US" altLang="zh-CN" sz="2400" kern="0" dirty="0">
                <a:solidFill>
                  <a:srgbClr val="C00000"/>
                </a:solidFill>
              </a:rPr>
              <a:t>  </a:t>
            </a:r>
            <a:r>
              <a:rPr lang="en-US" altLang="zh-CN" sz="2400" kern="0" dirty="0">
                <a:solidFill>
                  <a:srgbClr val="FF0000"/>
                </a:solidFill>
              </a:rPr>
              <a:t>A</a:t>
            </a:r>
            <a:r>
              <a:rPr lang="en-US" altLang="zh-CN" sz="2400" kern="0" dirty="0">
                <a:solidFill>
                  <a:srgbClr val="C00000"/>
                </a:solidFill>
              </a:rPr>
              <a:t>synchronous  </a:t>
            </a:r>
            <a:r>
              <a:rPr lang="en-US" altLang="zh-CN" sz="2400" kern="0" dirty="0">
                <a:solidFill>
                  <a:srgbClr val="FF0000"/>
                </a:solidFill>
              </a:rPr>
              <a:t>R</a:t>
            </a:r>
            <a:r>
              <a:rPr lang="en-US" altLang="zh-CN" sz="2400" kern="0" dirty="0">
                <a:solidFill>
                  <a:srgbClr val="C00000"/>
                </a:solidFill>
              </a:rPr>
              <a:t>eceiver/ </a:t>
            </a:r>
            <a:r>
              <a:rPr lang="en-US" altLang="zh-CN" sz="2400" kern="0" dirty="0">
                <a:solidFill>
                  <a:srgbClr val="FF0000"/>
                </a:solidFill>
              </a:rPr>
              <a:t>T</a:t>
            </a:r>
            <a:r>
              <a:rPr lang="en-US" altLang="zh-CN" sz="2400" kern="0" dirty="0">
                <a:solidFill>
                  <a:srgbClr val="C00000"/>
                </a:solidFill>
              </a:rPr>
              <a:t>ransmitter</a:t>
            </a:r>
            <a:endParaRPr lang="zh-CN" altLang="en-US" sz="2400" kern="0" dirty="0">
              <a:solidFill>
                <a:srgbClr val="C00000"/>
              </a:solidFill>
            </a:endParaRPr>
          </a:p>
        </p:txBody>
      </p:sp>
      <p:sp>
        <p:nvSpPr>
          <p:cNvPr id="52227" name="标题 1"/>
          <p:cNvSpPr>
            <a:spLocks noGrp="1" noChangeArrowheads="1"/>
          </p:cNvSpPr>
          <p:nvPr>
            <p:ph type="title"/>
          </p:nvPr>
        </p:nvSpPr>
        <p:spPr>
          <a:xfrm>
            <a:off x="574675" y="416735"/>
            <a:ext cx="2111375" cy="364790"/>
          </a:xfrm>
        </p:spPr>
        <p:txBody>
          <a:bodyPr>
            <a:noAutofit/>
          </a:bodyPr>
          <a:lstStyle/>
          <a:p>
            <a:r>
              <a:rPr lang="en-US" altLang="zh-CN" sz="2000" dirty="0">
                <a:solidFill>
                  <a:srgbClr val="FF0000"/>
                </a:solidFill>
              </a:rPr>
              <a:t>2. Serial interface</a:t>
            </a:r>
            <a:endParaRPr lang="zh-CN" altLang="en-US" sz="2000" dirty="0"/>
          </a:p>
        </p:txBody>
      </p:sp>
      <p:sp>
        <p:nvSpPr>
          <p:cNvPr id="52229" name="内容占位符 2"/>
          <p:cNvSpPr>
            <a:spLocks noGrp="1" noChangeArrowheads="1"/>
          </p:cNvSpPr>
          <p:nvPr>
            <p:ph idx="1"/>
          </p:nvPr>
        </p:nvSpPr>
        <p:spPr>
          <a:xfrm>
            <a:off x="2424074" y="423495"/>
            <a:ext cx="5493279" cy="533400"/>
          </a:xfrm>
          <a:solidFill>
            <a:schemeClr val="bg1"/>
          </a:solidFill>
        </p:spPr>
        <p:txBody>
          <a:bodyPr>
            <a:normAutofit/>
          </a:bodyPr>
          <a:lstStyle/>
          <a:p>
            <a:pPr marL="0" indent="0">
              <a:spcBef>
                <a:spcPct val="0"/>
              </a:spcBef>
              <a:buFontTx/>
              <a:buNone/>
            </a:pPr>
            <a:r>
              <a:rPr lang="en-US" altLang="zh-CN" sz="1400" dirty="0"/>
              <a:t>—Common chip: </a:t>
            </a:r>
            <a:r>
              <a:rPr lang="en-US" altLang="zh-CN" sz="1400" dirty="0">
                <a:solidFill>
                  <a:srgbClr val="FF0000"/>
                </a:solidFill>
              </a:rPr>
              <a:t>Universal Asynchronous Receiver/Transmitter (UART)</a:t>
            </a:r>
            <a:endParaRPr lang="zh-CN" altLang="en-US" sz="1400" dirty="0">
              <a:solidFill>
                <a:srgbClr val="FF0000"/>
              </a:solidFill>
            </a:endParaRPr>
          </a:p>
        </p:txBody>
      </p:sp>
      <p:pic>
        <p:nvPicPr>
          <p:cNvPr id="10307" name="Picture 67">
            <a:hlinkClick r:id="rId4" action="ppaction://hlinksldjump"/>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6728" y="1307571"/>
            <a:ext cx="5645105" cy="44428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246" name="Rectangle 6"/>
          <p:cNvSpPr>
            <a:spLocks noChangeArrowheads="1"/>
          </p:cNvSpPr>
          <p:nvPr/>
        </p:nvSpPr>
        <p:spPr bwMode="auto">
          <a:xfrm>
            <a:off x="158749" y="5629167"/>
            <a:ext cx="2196571" cy="646331"/>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dirty="0">
                <a:solidFill>
                  <a:srgbClr val="800000"/>
                </a:solidFill>
                <a:latin typeface="+mn-lt"/>
              </a:rPr>
              <a:t>hardware</a:t>
            </a:r>
            <a:endParaRPr lang="en-US" altLang="zh-CN" b="1" dirty="0">
              <a:solidFill>
                <a:srgbClr val="800000"/>
              </a:solidFill>
              <a:latin typeface="+mn-lt"/>
            </a:endParaRPr>
          </a:p>
          <a:p>
            <a:r>
              <a:rPr lang="en-US" altLang="zh-CN" b="1" dirty="0">
                <a:solidFill>
                  <a:srgbClr val="800000"/>
                </a:solidFill>
                <a:latin typeface="+mn-lt"/>
              </a:rPr>
              <a:t>UART Structure</a:t>
            </a:r>
            <a:endParaRPr lang="zh-CN" altLang="en-US" b="1" dirty="0">
              <a:solidFill>
                <a:srgbClr val="800000"/>
              </a:solidFill>
              <a:latin typeface="+mn-lt"/>
            </a:endParaRPr>
          </a:p>
        </p:txBody>
      </p:sp>
      <p:sp>
        <p:nvSpPr>
          <p:cNvPr id="10" name="Rectangle 6"/>
          <p:cNvSpPr>
            <a:spLocks noChangeArrowheads="1"/>
          </p:cNvSpPr>
          <p:nvPr/>
        </p:nvSpPr>
        <p:spPr bwMode="auto">
          <a:xfrm>
            <a:off x="103188" y="3252788"/>
            <a:ext cx="942975" cy="522287"/>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400" b="1">
                <a:solidFill>
                  <a:srgbClr val="3333FF"/>
                </a:solidFill>
              </a:rPr>
              <a:t>CPU</a:t>
            </a:r>
            <a:endParaRPr lang="zh-CN" altLang="en-US" sz="2800" b="1">
              <a:solidFill>
                <a:srgbClr val="3333FF"/>
              </a:solidFill>
            </a:endParaRPr>
          </a:p>
        </p:txBody>
      </p:sp>
      <p:sp>
        <p:nvSpPr>
          <p:cNvPr id="6" name="左大括号 5"/>
          <p:cNvSpPr/>
          <p:nvPr/>
        </p:nvSpPr>
        <p:spPr bwMode="auto">
          <a:xfrm>
            <a:off x="992188" y="1855788"/>
            <a:ext cx="573087" cy="3346450"/>
          </a:xfrm>
          <a:prstGeom prst="leftBrace">
            <a:avLst>
              <a:gd name="adj1" fmla="val 8326"/>
              <a:gd name="adj2" fmla="val 50000"/>
            </a:avLst>
          </a:prstGeom>
          <a:solidFill>
            <a:schemeClr val="accent1">
              <a:alpha val="50195"/>
            </a:schemeClr>
          </a:solidFill>
          <a:ln w="9525" algn="ctr">
            <a:solidFill>
              <a:schemeClr val="tx1"/>
            </a:solidFill>
            <a:round/>
          </a:ln>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 name="灯片编号占位符 1"/>
          <p:cNvSpPr>
            <a:spLocks noGrp="1"/>
          </p:cNvSpPr>
          <p:nvPr>
            <p:ph type="sldNum" sz="quarter" idx="12"/>
          </p:nvPr>
        </p:nvSpPr>
        <p:spPr/>
        <p:txBody>
          <a:bodyPr/>
          <a:lstStyle/>
          <a:p>
            <a:fld id="{22E77DEE-32E4-4009-988B-F2758F7B8AC2}" type="slidenum">
              <a:rPr lang="zh-CN" altLang="en-US" smtClean="0"/>
              <a:t>32</a:t>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noChangeArrowheads="1"/>
          </p:cNvSpPr>
          <p:nvPr>
            <p:ph type="title"/>
          </p:nvPr>
        </p:nvSpPr>
        <p:spPr/>
        <p:txBody>
          <a:bodyPr>
            <a:normAutofit/>
          </a:bodyPr>
          <a:lstStyle/>
          <a:p>
            <a:r>
              <a:rPr lang="en-US" altLang="zh-CN" sz="3600" dirty="0">
                <a:solidFill>
                  <a:srgbClr val="C00000"/>
                </a:solidFill>
              </a:rPr>
              <a:t>2. Serial interface</a:t>
            </a:r>
            <a:endParaRPr lang="zh-CN" altLang="en-US" sz="3600" dirty="0">
              <a:solidFill>
                <a:srgbClr val="C00000"/>
              </a:solidFill>
            </a:endParaRPr>
          </a:p>
        </p:txBody>
      </p:sp>
      <p:sp>
        <p:nvSpPr>
          <p:cNvPr id="478211" name="Rectangle 3"/>
          <p:cNvSpPr>
            <a:spLocks noGrp="1" noChangeArrowheads="1"/>
          </p:cNvSpPr>
          <p:nvPr>
            <p:ph idx="1"/>
          </p:nvPr>
        </p:nvSpPr>
        <p:spPr>
          <a:xfrm>
            <a:off x="822959" y="1308101"/>
            <a:ext cx="7487073" cy="3479800"/>
          </a:xfrm>
        </p:spPr>
        <p:txBody>
          <a:bodyPr>
            <a:normAutofit/>
          </a:bodyPr>
          <a:lstStyle/>
          <a:p>
            <a:pPr eaLnBrk="1" hangingPunct="1">
              <a:spcBef>
                <a:spcPct val="0"/>
              </a:spcBef>
            </a:pPr>
            <a:r>
              <a:rPr lang="en-US" altLang="zh-CN" sz="1800" dirty="0"/>
              <a:t>UART has three error flags:</a:t>
            </a:r>
          </a:p>
          <a:p>
            <a:pPr eaLnBrk="1" hangingPunct="1">
              <a:spcBef>
                <a:spcPct val="0"/>
              </a:spcBef>
            </a:pPr>
            <a:r>
              <a:rPr lang="zh-CN" altLang="en-US" sz="1800" dirty="0">
                <a:solidFill>
                  <a:srgbClr val="FF00FF"/>
                </a:solidFill>
              </a:rPr>
              <a:t>Odd-even error, frame error, overflow (lost) error，</a:t>
            </a:r>
            <a:r>
              <a:rPr lang="en-US" altLang="zh-CN" sz="1800" dirty="0">
                <a:solidFill>
                  <a:srgbClr val="FF00FF"/>
                </a:solidFill>
              </a:rPr>
              <a:t>p</a:t>
            </a:r>
            <a:r>
              <a:rPr lang="zh-CN" altLang="en-US" sz="1800" dirty="0">
                <a:solidFill>
                  <a:srgbClr val="FF00FF"/>
                </a:solidFill>
              </a:rPr>
              <a:t>arity error. </a:t>
            </a:r>
            <a:endParaRPr lang="en-US" altLang="zh-CN" sz="1800" dirty="0">
              <a:solidFill>
                <a:srgbClr val="FF00FF"/>
              </a:solidFill>
            </a:endParaRPr>
          </a:p>
          <a:p>
            <a:pPr algn="just" eaLnBrk="1" hangingPunct="1">
              <a:spcBef>
                <a:spcPct val="0"/>
              </a:spcBef>
            </a:pPr>
            <a:r>
              <a:rPr lang="zh-CN" altLang="en-US" sz="1800" dirty="0">
                <a:solidFill>
                  <a:srgbClr val="FF00FF"/>
                </a:solidFill>
              </a:rPr>
              <a:t>To detect transmission errors</a:t>
            </a:r>
            <a:r>
              <a:rPr lang="zh-CN" altLang="en-US" sz="1800" dirty="0">
                <a:solidFill>
                  <a:schemeClr val="tx1"/>
                </a:solidFill>
              </a:rPr>
              <a:t>, UART checks the count of 1s in each character </a:t>
            </a:r>
            <a:r>
              <a:rPr lang="zh-CN" altLang="en-US" sz="1800" dirty="0">
                <a:solidFill>
                  <a:srgbClr val="FF0000"/>
                </a:solidFill>
              </a:rPr>
              <a:t>during transmission. It automatically adds a 1 or 0 to the parity bit </a:t>
            </a:r>
            <a:r>
              <a:rPr lang="zh-CN" altLang="en-US" sz="1800" dirty="0">
                <a:solidFill>
                  <a:schemeClr val="tx1"/>
                </a:solidFill>
              </a:rPr>
              <a:t>to ensure the total 1s (including the parity bit) </a:t>
            </a:r>
            <a:r>
              <a:rPr lang="zh-CN" altLang="en-US" sz="1800" dirty="0">
                <a:solidFill>
                  <a:srgbClr val="FF0000"/>
                </a:solidFill>
              </a:rPr>
              <a:t>equals an even number for even parity and an odd number for odd parity.</a:t>
            </a:r>
            <a:endParaRPr lang="en-US" altLang="zh-CN" sz="1800" dirty="0">
              <a:solidFill>
                <a:srgbClr val="FF0000"/>
              </a:solidFill>
            </a:endParaRPr>
          </a:p>
          <a:p>
            <a:pPr algn="just" eaLnBrk="1" hangingPunct="1">
              <a:spcBef>
                <a:spcPct val="0"/>
              </a:spcBef>
            </a:pPr>
            <a:endParaRPr lang="en-US" altLang="zh-CN" sz="1800" dirty="0"/>
          </a:p>
          <a:p>
            <a:pPr lvl="1" eaLnBrk="1" hangingPunct="1">
              <a:spcBef>
                <a:spcPct val="0"/>
              </a:spcBef>
            </a:pPr>
            <a:r>
              <a:rPr lang="en-US" altLang="zh-CN" dirty="0">
                <a:solidFill>
                  <a:srgbClr val="FF0000"/>
                </a:solidFill>
              </a:rPr>
              <a:t>During reception</a:t>
            </a:r>
            <a:r>
              <a:rPr lang="en-US" altLang="zh-CN" dirty="0">
                <a:solidFill>
                  <a:schemeClr val="tx1"/>
                </a:solidFill>
              </a:rPr>
              <a:t>, the UART </a:t>
            </a:r>
            <a:r>
              <a:rPr lang="en-US" altLang="zh-CN" dirty="0">
                <a:solidFill>
                  <a:srgbClr val="FF00FF"/>
                </a:solidFill>
              </a:rPr>
              <a:t>examines each bit of the character </a:t>
            </a:r>
            <a:r>
              <a:rPr lang="en-US" altLang="zh-CN" dirty="0">
                <a:solidFill>
                  <a:schemeClr val="tx1"/>
                </a:solidFill>
              </a:rPr>
              <a:t>(including the parity bit) and </a:t>
            </a:r>
            <a:r>
              <a:rPr lang="en-US" altLang="zh-CN" dirty="0">
                <a:solidFill>
                  <a:srgbClr val="FF00FF"/>
                </a:solidFill>
              </a:rPr>
              <a:t>verifies that the total count of 1s meets the parity check requirements </a:t>
            </a:r>
            <a:r>
              <a:rPr lang="en-US" altLang="zh-CN" dirty="0">
                <a:solidFill>
                  <a:srgbClr val="FF0000"/>
                </a:solidFill>
              </a:rPr>
              <a:t>to detect transmission errors.</a:t>
            </a:r>
            <a:endParaRPr lang="zh-CN" altLang="en-US" dirty="0">
              <a:solidFill>
                <a:srgbClr val="FF0000"/>
              </a:solidFill>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33</a:t>
            </a:fld>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noChangeArrowheads="1"/>
          </p:cNvSpPr>
          <p:nvPr>
            <p:ph type="title"/>
          </p:nvPr>
        </p:nvSpPr>
        <p:spPr/>
        <p:txBody>
          <a:bodyPr>
            <a:normAutofit/>
          </a:bodyPr>
          <a:lstStyle/>
          <a:p>
            <a:r>
              <a:rPr lang="en-US" altLang="zh-CN" sz="3600" dirty="0">
                <a:solidFill>
                  <a:srgbClr val="FF0000"/>
                </a:solidFill>
              </a:rPr>
              <a:t>2. Serial interface</a:t>
            </a:r>
            <a:endParaRPr lang="zh-CN" altLang="en-US" sz="3600" dirty="0"/>
          </a:p>
        </p:txBody>
      </p:sp>
      <p:sp>
        <p:nvSpPr>
          <p:cNvPr id="479235" name="Rectangle 3"/>
          <p:cNvSpPr>
            <a:spLocks noGrp="1" noChangeArrowheads="1"/>
          </p:cNvSpPr>
          <p:nvPr>
            <p:ph idx="1"/>
          </p:nvPr>
        </p:nvSpPr>
        <p:spPr>
          <a:xfrm>
            <a:off x="777240" y="1199045"/>
            <a:ext cx="7589520" cy="3411056"/>
          </a:xfrm>
        </p:spPr>
        <p:txBody>
          <a:bodyPr>
            <a:normAutofit/>
          </a:bodyPr>
          <a:lstStyle/>
          <a:p>
            <a:pPr eaLnBrk="1" hangingPunct="1">
              <a:lnSpc>
                <a:spcPct val="101000"/>
              </a:lnSpc>
              <a:spcBef>
                <a:spcPct val="0"/>
              </a:spcBef>
            </a:pPr>
            <a:r>
              <a:rPr lang="en-US" altLang="zh-CN" sz="1600" dirty="0"/>
              <a:t>UART has three error flags:</a:t>
            </a:r>
          </a:p>
          <a:p>
            <a:pPr lvl="1" eaLnBrk="1" hangingPunct="1">
              <a:lnSpc>
                <a:spcPct val="101000"/>
              </a:lnSpc>
              <a:spcBef>
                <a:spcPct val="0"/>
              </a:spcBef>
            </a:pPr>
            <a:r>
              <a:rPr lang="zh-CN" altLang="en-US" sz="1600" dirty="0">
                <a:solidFill>
                  <a:srgbClr val="C00000"/>
                </a:solidFill>
              </a:rPr>
              <a:t>Frame error </a:t>
            </a:r>
            <a:r>
              <a:rPr lang="zh-CN" altLang="en-US" sz="1600" dirty="0">
                <a:solidFill>
                  <a:schemeClr val="tx1"/>
                </a:solidFill>
              </a:rPr>
              <a:t>indicates that </a:t>
            </a:r>
            <a:r>
              <a:rPr lang="zh-CN" altLang="en-US" sz="1600" dirty="0">
                <a:solidFill>
                  <a:srgbClr val="FF0000"/>
                </a:solidFill>
              </a:rPr>
              <a:t>the character format does not comply with the specified requirements.</a:t>
            </a:r>
            <a:endParaRPr lang="en-US" altLang="zh-CN" sz="1600" dirty="0">
              <a:solidFill>
                <a:srgbClr val="FF0000"/>
              </a:solidFill>
            </a:endParaRPr>
          </a:p>
          <a:p>
            <a:pPr lvl="1" eaLnBrk="1" hangingPunct="1">
              <a:lnSpc>
                <a:spcPct val="101000"/>
              </a:lnSpc>
              <a:spcBef>
                <a:spcPct val="0"/>
              </a:spcBef>
            </a:pPr>
            <a:r>
              <a:rPr lang="zh-CN" altLang="en-US" sz="1600" dirty="0"/>
              <a:t>Although the clocks of the receiving and transmitting ends are not directly connected, </a:t>
            </a:r>
            <a:r>
              <a:rPr lang="zh-CN" altLang="en-US" sz="1600" dirty="0">
                <a:solidFill>
                  <a:srgbClr val="9900CC"/>
                </a:solidFill>
              </a:rPr>
              <a:t>the receiving end always repositions at the beginning bit of each character, so it is necessary to ensure that each sample corresponds to a data bit.</a:t>
            </a:r>
            <a:endParaRPr lang="en-US" altLang="zh-CN" sz="1600" dirty="0">
              <a:solidFill>
                <a:srgbClr val="9900CC"/>
              </a:solidFill>
            </a:endParaRPr>
          </a:p>
          <a:p>
            <a:pPr lvl="1" eaLnBrk="1" hangingPunct="1">
              <a:lnSpc>
                <a:spcPct val="101000"/>
              </a:lnSpc>
              <a:spcBef>
                <a:spcPct val="0"/>
              </a:spcBef>
            </a:pPr>
            <a:r>
              <a:rPr lang="zh-CN" altLang="en-US" sz="1600" dirty="0">
                <a:solidFill>
                  <a:srgbClr val="FF00FF"/>
                </a:solidFill>
              </a:rPr>
              <a:t>If the frequency difference between </a:t>
            </a:r>
            <a:r>
              <a:rPr lang="zh-CN" altLang="en-US" sz="1600" dirty="0">
                <a:solidFill>
                  <a:srgbClr val="FF0000"/>
                </a:solidFill>
              </a:rPr>
              <a:t>the receiving clock and the transmitting clock </a:t>
            </a:r>
            <a:r>
              <a:rPr lang="zh-CN" altLang="en-US" sz="1600" dirty="0">
                <a:solidFill>
                  <a:srgbClr val="FF00FF"/>
                </a:solidFill>
              </a:rPr>
              <a:t>is too large,</a:t>
            </a:r>
            <a:r>
              <a:rPr lang="zh-CN" altLang="en-US" sz="1600" dirty="0"/>
              <a:t> </a:t>
            </a:r>
            <a:r>
              <a:rPr lang="zh-CN" altLang="en-US" sz="1600" dirty="0">
                <a:solidFill>
                  <a:srgbClr val="9900CC"/>
                </a:solidFill>
              </a:rPr>
              <a:t>the sampling will be offset after a few samples after the start bit</a:t>
            </a:r>
            <a:r>
              <a:rPr lang="zh-CN" altLang="en-US" sz="1600" dirty="0"/>
              <a:t>, resulting in receiving errors caused by sampling.</a:t>
            </a:r>
            <a:endParaRPr lang="en-US" altLang="zh-CN" sz="1600" dirty="0"/>
          </a:p>
          <a:p>
            <a:pPr lvl="1" eaLnBrk="1" hangingPunct="1">
              <a:lnSpc>
                <a:spcPct val="101000"/>
              </a:lnSpc>
              <a:spcBef>
                <a:spcPct val="0"/>
              </a:spcBef>
            </a:pPr>
            <a:r>
              <a:rPr lang="zh-CN" altLang="en-US" sz="1600" dirty="0"/>
              <a:t>In such cases, </a:t>
            </a:r>
            <a:r>
              <a:rPr lang="zh-CN" altLang="en-US" sz="1600" dirty="0">
                <a:solidFill>
                  <a:srgbClr val="9900CC"/>
                </a:solidFill>
              </a:rPr>
              <a:t>the stop bit (</a:t>
            </a:r>
            <a:r>
              <a:rPr lang="zh-CN" altLang="en-US" sz="1600" dirty="0">
                <a:solidFill>
                  <a:srgbClr val="FF0000"/>
                </a:solidFill>
              </a:rPr>
              <a:t>which should be high according to the standard</a:t>
            </a:r>
            <a:r>
              <a:rPr lang="zh-CN" altLang="en-US" sz="1600" dirty="0">
                <a:solidFill>
                  <a:srgbClr val="9900CC"/>
                </a:solidFill>
              </a:rPr>
              <a:t>) may be low </a:t>
            </a:r>
            <a:r>
              <a:rPr lang="zh-CN" altLang="en-US" sz="1600" dirty="0"/>
              <a:t>(not every stop bit is necessarily low in this scenario), </a:t>
            </a:r>
            <a:r>
              <a:rPr lang="zh-CN" altLang="en-US" sz="1600" dirty="0">
                <a:solidFill>
                  <a:srgbClr val="FF0000"/>
                </a:solidFill>
              </a:rPr>
              <a:t>resulting in frame format errors and setting the frame error flag (FE).</a:t>
            </a:r>
          </a:p>
        </p:txBody>
      </p:sp>
      <p:graphicFrame>
        <p:nvGraphicFramePr>
          <p:cNvPr id="6" name="Group 129"/>
          <p:cNvGraphicFramePr/>
          <p:nvPr>
            <p:extLst>
              <p:ext uri="{D42A27DB-BD31-4B8C-83A1-F6EECF244321}">
                <p14:modId xmlns:p14="http://schemas.microsoft.com/office/powerpoint/2010/main" val="1518266015"/>
              </p:ext>
            </p:extLst>
          </p:nvPr>
        </p:nvGraphicFramePr>
        <p:xfrm>
          <a:off x="406400" y="5185305"/>
          <a:ext cx="7970200" cy="311150"/>
        </p:xfrm>
        <a:graphic>
          <a:graphicData uri="http://schemas.openxmlformats.org/drawingml/2006/table">
            <a:tbl>
              <a:tblPr/>
              <a:tblGrid>
                <a:gridCol w="748752">
                  <a:extLst>
                    <a:ext uri="{9D8B030D-6E8A-4147-A177-3AD203B41FA5}">
                      <a16:colId xmlns:a16="http://schemas.microsoft.com/office/drawing/2014/main" val="20000"/>
                    </a:ext>
                  </a:extLst>
                </a:gridCol>
                <a:gridCol w="741106">
                  <a:extLst>
                    <a:ext uri="{9D8B030D-6E8A-4147-A177-3AD203B41FA5}">
                      <a16:colId xmlns:a16="http://schemas.microsoft.com/office/drawing/2014/main" val="20001"/>
                    </a:ext>
                  </a:extLst>
                </a:gridCol>
                <a:gridCol w="742378">
                  <a:extLst>
                    <a:ext uri="{9D8B030D-6E8A-4147-A177-3AD203B41FA5}">
                      <a16:colId xmlns:a16="http://schemas.microsoft.com/office/drawing/2014/main" val="20002"/>
                    </a:ext>
                  </a:extLst>
                </a:gridCol>
                <a:gridCol w="710692">
                  <a:extLst>
                    <a:ext uri="{9D8B030D-6E8A-4147-A177-3AD203B41FA5}">
                      <a16:colId xmlns:a16="http://schemas.microsoft.com/office/drawing/2014/main" val="20003"/>
                    </a:ext>
                  </a:extLst>
                </a:gridCol>
                <a:gridCol w="627421">
                  <a:extLst>
                    <a:ext uri="{9D8B030D-6E8A-4147-A177-3AD203B41FA5}">
                      <a16:colId xmlns:a16="http://schemas.microsoft.com/office/drawing/2014/main" val="20004"/>
                    </a:ext>
                  </a:extLst>
                </a:gridCol>
                <a:gridCol w="738765">
                  <a:extLst>
                    <a:ext uri="{9D8B030D-6E8A-4147-A177-3AD203B41FA5}">
                      <a16:colId xmlns:a16="http://schemas.microsoft.com/office/drawing/2014/main" val="20005"/>
                    </a:ext>
                  </a:extLst>
                </a:gridCol>
                <a:gridCol w="689993">
                  <a:extLst>
                    <a:ext uri="{9D8B030D-6E8A-4147-A177-3AD203B41FA5}">
                      <a16:colId xmlns:a16="http://schemas.microsoft.com/office/drawing/2014/main" val="20006"/>
                    </a:ext>
                  </a:extLst>
                </a:gridCol>
                <a:gridCol w="696892">
                  <a:extLst>
                    <a:ext uri="{9D8B030D-6E8A-4147-A177-3AD203B41FA5}">
                      <a16:colId xmlns:a16="http://schemas.microsoft.com/office/drawing/2014/main" val="20007"/>
                    </a:ext>
                  </a:extLst>
                </a:gridCol>
                <a:gridCol w="765892">
                  <a:extLst>
                    <a:ext uri="{9D8B030D-6E8A-4147-A177-3AD203B41FA5}">
                      <a16:colId xmlns:a16="http://schemas.microsoft.com/office/drawing/2014/main" val="20008"/>
                    </a:ext>
                  </a:extLst>
                </a:gridCol>
                <a:gridCol w="786592">
                  <a:extLst>
                    <a:ext uri="{9D8B030D-6E8A-4147-A177-3AD203B41FA5}">
                      <a16:colId xmlns:a16="http://schemas.microsoft.com/office/drawing/2014/main" val="20009"/>
                    </a:ext>
                  </a:extLst>
                </a:gridCol>
                <a:gridCol w="721717">
                  <a:extLst>
                    <a:ext uri="{9D8B030D-6E8A-4147-A177-3AD203B41FA5}">
                      <a16:colId xmlns:a16="http://schemas.microsoft.com/office/drawing/2014/main" val="20010"/>
                    </a:ext>
                  </a:extLst>
                </a:gridCol>
              </a:tblGrid>
              <a:tr h="311150">
                <a:tc>
                  <a:txBody>
                    <a:bodyPr/>
                    <a:lstStyle>
                      <a:lvl1pPr marL="342900" indent="-342900" algn="just">
                        <a:spcBef>
                          <a:spcPct val="20000"/>
                        </a:spcBef>
                        <a:defRPr sz="2600" b="1">
                          <a:solidFill>
                            <a:schemeClr val="accent2"/>
                          </a:solidFill>
                          <a:latin typeface="Times New Roman" panose="02020603050405020304" pitchFamily="18" charset="0"/>
                          <a:ea typeface="宋体" panose="02010600030101010101" pitchFamily="2" charset="-122"/>
                        </a:defRPr>
                      </a:lvl1pPr>
                      <a:lvl2pPr marL="742950" indent="-285750" algn="just">
                        <a:spcBef>
                          <a:spcPct val="20000"/>
                        </a:spcBef>
                        <a:defRPr sz="24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85000"/>
                        </a:lnSpc>
                        <a:spcBef>
                          <a:spcPct val="0"/>
                        </a:spcBef>
                        <a:spcAft>
                          <a:spcPct val="0"/>
                        </a:spcAft>
                        <a:buClrTx/>
                        <a:buSzTx/>
                        <a:buFontTx/>
                        <a:buNone/>
                      </a:pPr>
                      <a:endParaRPr kumimoji="0" lang="zh-CN" altLang="en-US" sz="900" b="1" i="0" u="none" strike="noStrike" cap="none" spc="-150" normalizeH="0" baseline="0" dirty="0">
                        <a:ln>
                          <a:noFill/>
                        </a:ln>
                        <a:solidFill>
                          <a:schemeClr val="tx1"/>
                        </a:solidFill>
                        <a:effectLst/>
                        <a:latin typeface="+mn-ea"/>
                        <a:ea typeface="+mn-ea"/>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anose="02020603050405020304" pitchFamily="18" charset="0"/>
                          <a:ea typeface="宋体" panose="02010600030101010101" pitchFamily="2" charset="-122"/>
                        </a:defRPr>
                      </a:lvl1pPr>
                      <a:lvl2pPr marL="742950" indent="-285750" algn="just">
                        <a:spcBef>
                          <a:spcPct val="20000"/>
                        </a:spcBef>
                        <a:defRPr sz="24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spc="-150" normalizeH="0" baseline="0" dirty="0">
                          <a:ln>
                            <a:noFill/>
                          </a:ln>
                          <a:solidFill>
                            <a:srgbClr val="FF0000"/>
                          </a:solidFill>
                          <a:effectLst/>
                          <a:latin typeface="+mn-ea"/>
                          <a:ea typeface="+mn-ea"/>
                          <a:cs typeface="Times New Roman" panose="02020603050405020304"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anose="02020603050405020304" pitchFamily="18" charset="0"/>
                          <a:ea typeface="宋体" panose="02010600030101010101" pitchFamily="2" charset="-122"/>
                        </a:defRPr>
                      </a:lvl1pPr>
                      <a:lvl2pPr marL="742950" indent="-285750" algn="just">
                        <a:spcBef>
                          <a:spcPct val="20000"/>
                        </a:spcBef>
                        <a:defRPr sz="24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spc="-150" normalizeH="0" baseline="0" dirty="0">
                          <a:ln>
                            <a:noFill/>
                          </a:ln>
                          <a:solidFill>
                            <a:schemeClr val="tx1"/>
                          </a:solidFill>
                          <a:effectLst/>
                          <a:latin typeface="+mn-ea"/>
                          <a:ea typeface="+mn-ea"/>
                          <a:cs typeface="Times New Roman" panose="02020603050405020304" pitchFamily="18" charset="0"/>
                        </a:rPr>
                        <a:t>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anose="02020603050405020304" pitchFamily="18" charset="0"/>
                          <a:ea typeface="宋体" panose="02010600030101010101" pitchFamily="2" charset="-122"/>
                        </a:defRPr>
                      </a:lvl1pPr>
                      <a:lvl2pPr marL="742950" indent="-285750" algn="just">
                        <a:spcBef>
                          <a:spcPct val="20000"/>
                        </a:spcBef>
                        <a:defRPr sz="24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spc="-150" normalizeH="0" baseline="0" dirty="0">
                          <a:ln>
                            <a:noFill/>
                          </a:ln>
                          <a:solidFill>
                            <a:schemeClr val="tx1"/>
                          </a:solidFill>
                          <a:effectLst/>
                          <a:latin typeface="+mn-ea"/>
                          <a:ea typeface="+mn-ea"/>
                          <a:cs typeface="Times New Roman" panose="02020603050405020304"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spc="-150" normalizeH="0" baseline="0" dirty="0">
                          <a:ln>
                            <a:noFill/>
                          </a:ln>
                          <a:solidFill>
                            <a:schemeClr val="tx1"/>
                          </a:solidFill>
                          <a:effectLst/>
                          <a:latin typeface="+mn-ea"/>
                          <a:ea typeface="+mn-ea"/>
                          <a:cs typeface="Times New Roman" panose="02020603050405020304"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anose="02020603050405020304" pitchFamily="18" charset="0"/>
                          <a:ea typeface="宋体" panose="02010600030101010101" pitchFamily="2" charset="-122"/>
                        </a:defRPr>
                      </a:lvl1pPr>
                      <a:lvl2pPr marL="742950" indent="-285750" algn="just">
                        <a:spcBef>
                          <a:spcPct val="20000"/>
                        </a:spcBef>
                        <a:defRPr sz="24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spc="-150" normalizeH="0" baseline="0" dirty="0">
                          <a:ln>
                            <a:noFill/>
                          </a:ln>
                          <a:solidFill>
                            <a:schemeClr val="tx1"/>
                          </a:solidFill>
                          <a:effectLst/>
                          <a:latin typeface="+mn-ea"/>
                          <a:ea typeface="+mn-ea"/>
                          <a:cs typeface="Times New Roman" panose="02020603050405020304" pitchFamily="18" charset="0"/>
                        </a:rPr>
                        <a:t>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anose="02020603050405020304" pitchFamily="18" charset="0"/>
                          <a:ea typeface="宋体" panose="02010600030101010101" pitchFamily="2" charset="-122"/>
                        </a:defRPr>
                      </a:lvl1pPr>
                      <a:lvl2pPr marL="742950" indent="-285750" algn="just">
                        <a:spcBef>
                          <a:spcPct val="20000"/>
                        </a:spcBef>
                        <a:defRPr sz="24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spc="-150" normalizeH="0" baseline="0" dirty="0">
                          <a:ln>
                            <a:noFill/>
                          </a:ln>
                          <a:solidFill>
                            <a:schemeClr val="tx1"/>
                          </a:solidFill>
                          <a:effectLst/>
                          <a:latin typeface="+mn-ea"/>
                          <a:ea typeface="+mn-ea"/>
                          <a:cs typeface="Times New Roman" panose="02020603050405020304"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spc="-150" normalizeH="0" baseline="0" dirty="0">
                          <a:ln>
                            <a:noFill/>
                          </a:ln>
                          <a:solidFill>
                            <a:schemeClr val="tx1"/>
                          </a:solidFill>
                          <a:effectLst/>
                          <a:latin typeface="+mn-ea"/>
                          <a:ea typeface="+mn-ea"/>
                          <a:cs typeface="Times New Roman" panose="02020603050405020304"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anose="02020603050405020304" pitchFamily="18" charset="0"/>
                          <a:ea typeface="宋体" panose="02010600030101010101" pitchFamily="2" charset="-122"/>
                        </a:defRPr>
                      </a:lvl1pPr>
                      <a:lvl2pPr marL="742950" indent="-285750" algn="just">
                        <a:spcBef>
                          <a:spcPct val="20000"/>
                        </a:spcBef>
                        <a:defRPr sz="24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spc="-150" normalizeH="0" baseline="0" dirty="0">
                          <a:ln>
                            <a:noFill/>
                          </a:ln>
                          <a:solidFill>
                            <a:schemeClr val="tx1"/>
                          </a:solidFill>
                          <a:effectLst/>
                          <a:latin typeface="+mn-ea"/>
                          <a:ea typeface="+mn-ea"/>
                          <a:cs typeface="Times New Roman" panose="02020603050405020304"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anose="02020603050405020304" pitchFamily="18" charset="0"/>
                          <a:ea typeface="宋体" panose="02010600030101010101" pitchFamily="2" charset="-122"/>
                        </a:defRPr>
                      </a:lvl1pPr>
                      <a:lvl2pPr marL="742950" indent="-285750" algn="just">
                        <a:spcBef>
                          <a:spcPct val="20000"/>
                        </a:spcBef>
                        <a:defRPr sz="24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spc="-150" normalizeH="0" baseline="0" dirty="0">
                          <a:ln>
                            <a:noFill/>
                          </a:ln>
                          <a:solidFill>
                            <a:schemeClr val="tx1"/>
                          </a:solidFill>
                          <a:effectLst/>
                          <a:latin typeface="+mn-ea"/>
                          <a:ea typeface="+mn-ea"/>
                          <a:cs typeface="Times New Roman" panose="02020603050405020304"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anose="02020603050405020304" pitchFamily="18" charset="0"/>
                          <a:ea typeface="宋体" panose="02010600030101010101" pitchFamily="2" charset="-122"/>
                        </a:defRPr>
                      </a:lvl1pPr>
                      <a:lvl2pPr marL="742950" indent="-285750" algn="just">
                        <a:spcBef>
                          <a:spcPct val="20000"/>
                        </a:spcBef>
                        <a:defRPr sz="24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kern="1200" cap="none" spc="-150" normalizeH="0" baseline="0" dirty="0">
                          <a:ln>
                            <a:noFill/>
                          </a:ln>
                          <a:solidFill>
                            <a:srgbClr val="FF0000"/>
                          </a:solidFill>
                          <a:effectLst/>
                          <a:latin typeface="+mn-ea"/>
                          <a:ea typeface="+mn-ea"/>
                          <a:cs typeface="Times New Roman" panose="02020603050405020304" pitchFamily="18" charset="0"/>
                        </a:rPr>
                        <a:t>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3203807336"/>
              </p:ext>
            </p:extLst>
          </p:nvPr>
        </p:nvGraphicFramePr>
        <p:xfrm>
          <a:off x="406400" y="4801587"/>
          <a:ext cx="7127152" cy="311150"/>
        </p:xfrm>
        <a:graphic>
          <a:graphicData uri="http://schemas.openxmlformats.org/drawingml/2006/table">
            <a:tbl>
              <a:tblPr/>
              <a:tblGrid>
                <a:gridCol w="757119">
                  <a:extLst>
                    <a:ext uri="{9D8B030D-6E8A-4147-A177-3AD203B41FA5}">
                      <a16:colId xmlns:a16="http://schemas.microsoft.com/office/drawing/2014/main" val="20000"/>
                    </a:ext>
                  </a:extLst>
                </a:gridCol>
                <a:gridCol w="690726">
                  <a:extLst>
                    <a:ext uri="{9D8B030D-6E8A-4147-A177-3AD203B41FA5}">
                      <a16:colId xmlns:a16="http://schemas.microsoft.com/office/drawing/2014/main" val="20001"/>
                    </a:ext>
                  </a:extLst>
                </a:gridCol>
                <a:gridCol w="641888">
                  <a:extLst>
                    <a:ext uri="{9D8B030D-6E8A-4147-A177-3AD203B41FA5}">
                      <a16:colId xmlns:a16="http://schemas.microsoft.com/office/drawing/2014/main" val="20002"/>
                    </a:ext>
                  </a:extLst>
                </a:gridCol>
                <a:gridCol w="613978">
                  <a:extLst>
                    <a:ext uri="{9D8B030D-6E8A-4147-A177-3AD203B41FA5}">
                      <a16:colId xmlns:a16="http://schemas.microsoft.com/office/drawing/2014/main" val="20003"/>
                    </a:ext>
                  </a:extLst>
                </a:gridCol>
                <a:gridCol w="563995">
                  <a:extLst>
                    <a:ext uri="{9D8B030D-6E8A-4147-A177-3AD203B41FA5}">
                      <a16:colId xmlns:a16="http://schemas.microsoft.com/office/drawing/2014/main" val="20004"/>
                    </a:ext>
                  </a:extLst>
                </a:gridCol>
                <a:gridCol w="552330">
                  <a:extLst>
                    <a:ext uri="{9D8B030D-6E8A-4147-A177-3AD203B41FA5}">
                      <a16:colId xmlns:a16="http://schemas.microsoft.com/office/drawing/2014/main" val="20005"/>
                    </a:ext>
                  </a:extLst>
                </a:gridCol>
                <a:gridCol w="609559">
                  <a:extLst>
                    <a:ext uri="{9D8B030D-6E8A-4147-A177-3AD203B41FA5}">
                      <a16:colId xmlns:a16="http://schemas.microsoft.com/office/drawing/2014/main" val="20006"/>
                    </a:ext>
                  </a:extLst>
                </a:gridCol>
                <a:gridCol w="548629">
                  <a:extLst>
                    <a:ext uri="{9D8B030D-6E8A-4147-A177-3AD203B41FA5}">
                      <a16:colId xmlns:a16="http://schemas.microsoft.com/office/drawing/2014/main" val="20007"/>
                    </a:ext>
                  </a:extLst>
                </a:gridCol>
                <a:gridCol w="647098">
                  <a:extLst>
                    <a:ext uri="{9D8B030D-6E8A-4147-A177-3AD203B41FA5}">
                      <a16:colId xmlns:a16="http://schemas.microsoft.com/office/drawing/2014/main" val="20008"/>
                    </a:ext>
                  </a:extLst>
                </a:gridCol>
                <a:gridCol w="734357">
                  <a:extLst>
                    <a:ext uri="{9D8B030D-6E8A-4147-A177-3AD203B41FA5}">
                      <a16:colId xmlns:a16="http://schemas.microsoft.com/office/drawing/2014/main" val="20009"/>
                    </a:ext>
                  </a:extLst>
                </a:gridCol>
                <a:gridCol w="767473">
                  <a:extLst>
                    <a:ext uri="{9D8B030D-6E8A-4147-A177-3AD203B41FA5}">
                      <a16:colId xmlns:a16="http://schemas.microsoft.com/office/drawing/2014/main" val="20010"/>
                    </a:ext>
                  </a:extLst>
                </a:gridCol>
              </a:tblGrid>
              <a:tr h="311150">
                <a:tc>
                  <a:txBody>
                    <a:bodyPr/>
                    <a:lstStyle>
                      <a:lvl1pPr marL="342900" indent="-342900" algn="just">
                        <a:spcBef>
                          <a:spcPct val="20000"/>
                        </a:spcBef>
                        <a:defRPr sz="2600" b="1">
                          <a:solidFill>
                            <a:schemeClr val="accent2"/>
                          </a:solidFill>
                          <a:latin typeface="Times New Roman" panose="02020603050405020304" pitchFamily="18" charset="0"/>
                          <a:ea typeface="宋体" panose="02010600030101010101" pitchFamily="2" charset="-122"/>
                        </a:defRPr>
                      </a:lvl1pPr>
                      <a:lvl2pPr marL="742950" indent="-285750" algn="just">
                        <a:spcBef>
                          <a:spcPct val="20000"/>
                        </a:spcBef>
                        <a:defRPr sz="24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pPr>
                      <a:endParaRPr kumimoji="0" lang="zh-CN" altLang="en-US" sz="1800" b="1" i="0" u="none" strike="noStrike" cap="none" spc="-150" normalizeH="0" baseline="0" dirty="0">
                        <a:ln>
                          <a:noFill/>
                        </a:ln>
                        <a:solidFill>
                          <a:schemeClr val="tx1"/>
                        </a:solidFill>
                        <a:effectLst/>
                        <a:latin typeface="+mn-lt"/>
                        <a:ea typeface="+mn-ea"/>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anose="02020603050405020304" pitchFamily="18" charset="0"/>
                          <a:ea typeface="宋体" panose="02010600030101010101" pitchFamily="2" charset="-122"/>
                        </a:defRPr>
                      </a:lvl1pPr>
                      <a:lvl2pPr marL="742950" indent="-285750" algn="just">
                        <a:spcBef>
                          <a:spcPct val="20000"/>
                        </a:spcBef>
                        <a:defRPr sz="24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spc="-150" normalizeH="0" baseline="0" dirty="0">
                          <a:ln>
                            <a:noFill/>
                          </a:ln>
                          <a:solidFill>
                            <a:srgbClr val="FF0000"/>
                          </a:solidFill>
                          <a:effectLst/>
                          <a:latin typeface="+mn-ea"/>
                          <a:ea typeface="+mn-ea"/>
                          <a:cs typeface="Times New Roman" panose="02020603050405020304"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anose="02020603050405020304" pitchFamily="18" charset="0"/>
                          <a:ea typeface="宋体" panose="02010600030101010101" pitchFamily="2" charset="-122"/>
                        </a:defRPr>
                      </a:lvl1pPr>
                      <a:lvl2pPr marL="742950" indent="-285750" algn="just">
                        <a:spcBef>
                          <a:spcPct val="20000"/>
                        </a:spcBef>
                        <a:defRPr sz="24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spc="-150" normalizeH="0" baseline="0" dirty="0">
                          <a:ln>
                            <a:noFill/>
                          </a:ln>
                          <a:solidFill>
                            <a:schemeClr val="tx1"/>
                          </a:solidFill>
                          <a:effectLst/>
                          <a:latin typeface="+mn-ea"/>
                          <a:ea typeface="+mn-ea"/>
                          <a:cs typeface="Times New Roman" panose="02020603050405020304" pitchFamily="18" charset="0"/>
                        </a:rPr>
                        <a:t>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anose="02020603050405020304" pitchFamily="18" charset="0"/>
                          <a:ea typeface="宋体" panose="02010600030101010101" pitchFamily="2" charset="-122"/>
                        </a:defRPr>
                      </a:lvl1pPr>
                      <a:lvl2pPr marL="742950" indent="-285750" algn="just">
                        <a:spcBef>
                          <a:spcPct val="20000"/>
                        </a:spcBef>
                        <a:defRPr sz="24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spc="-150" normalizeH="0" baseline="0" dirty="0">
                          <a:ln>
                            <a:noFill/>
                          </a:ln>
                          <a:solidFill>
                            <a:schemeClr val="tx1"/>
                          </a:solidFill>
                          <a:effectLst/>
                          <a:latin typeface="+mn-ea"/>
                          <a:ea typeface="+mn-ea"/>
                          <a:cs typeface="Times New Roman" panose="02020603050405020304"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spc="-150" normalizeH="0" baseline="0" dirty="0">
                          <a:ln>
                            <a:noFill/>
                          </a:ln>
                          <a:solidFill>
                            <a:schemeClr val="tx1"/>
                          </a:solidFill>
                          <a:effectLst/>
                          <a:latin typeface="+mn-ea"/>
                          <a:ea typeface="+mn-ea"/>
                          <a:cs typeface="Times New Roman" panose="02020603050405020304"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anose="02020603050405020304" pitchFamily="18" charset="0"/>
                          <a:ea typeface="宋体" panose="02010600030101010101" pitchFamily="2" charset="-122"/>
                        </a:defRPr>
                      </a:lvl1pPr>
                      <a:lvl2pPr marL="742950" indent="-285750" algn="just">
                        <a:spcBef>
                          <a:spcPct val="20000"/>
                        </a:spcBef>
                        <a:defRPr sz="24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spc="-150" normalizeH="0" baseline="0" dirty="0">
                          <a:ln>
                            <a:noFill/>
                          </a:ln>
                          <a:solidFill>
                            <a:schemeClr val="tx1"/>
                          </a:solidFill>
                          <a:effectLst/>
                          <a:latin typeface="+mn-ea"/>
                          <a:ea typeface="+mn-ea"/>
                          <a:cs typeface="Times New Roman" panose="02020603050405020304"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anose="02020603050405020304" pitchFamily="18" charset="0"/>
                          <a:ea typeface="宋体" panose="02010600030101010101" pitchFamily="2" charset="-122"/>
                        </a:defRPr>
                      </a:lvl1pPr>
                      <a:lvl2pPr marL="742950" indent="-285750" algn="just">
                        <a:spcBef>
                          <a:spcPct val="20000"/>
                        </a:spcBef>
                        <a:defRPr sz="24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spc="-150" normalizeH="0" baseline="0" dirty="0">
                          <a:ln>
                            <a:noFill/>
                          </a:ln>
                          <a:solidFill>
                            <a:schemeClr val="tx1"/>
                          </a:solidFill>
                          <a:effectLst/>
                          <a:latin typeface="+mn-ea"/>
                          <a:ea typeface="+mn-ea"/>
                          <a:cs typeface="Times New Roman" panose="02020603050405020304" pitchFamily="18" charset="0"/>
                        </a:rPr>
                        <a:t>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spc="-150" normalizeH="0" baseline="0" dirty="0">
                          <a:ln>
                            <a:noFill/>
                          </a:ln>
                          <a:solidFill>
                            <a:schemeClr val="tx1"/>
                          </a:solidFill>
                          <a:effectLst/>
                          <a:latin typeface="+mn-ea"/>
                          <a:ea typeface="+mn-ea"/>
                          <a:cs typeface="Times New Roman" panose="02020603050405020304"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anose="02020603050405020304" pitchFamily="18" charset="0"/>
                          <a:ea typeface="宋体" panose="02010600030101010101" pitchFamily="2" charset="-122"/>
                        </a:defRPr>
                      </a:lvl1pPr>
                      <a:lvl2pPr marL="742950" indent="-285750" algn="just">
                        <a:spcBef>
                          <a:spcPct val="20000"/>
                        </a:spcBef>
                        <a:defRPr sz="24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spc="-150" normalizeH="0" baseline="0" dirty="0">
                          <a:ln>
                            <a:noFill/>
                          </a:ln>
                          <a:solidFill>
                            <a:schemeClr val="tx1"/>
                          </a:solidFill>
                          <a:effectLst/>
                          <a:latin typeface="+mn-ea"/>
                          <a:ea typeface="+mn-ea"/>
                          <a:cs typeface="Times New Roman" panose="02020603050405020304"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anose="02020603050405020304" pitchFamily="18" charset="0"/>
                          <a:ea typeface="宋体" panose="02010600030101010101" pitchFamily="2" charset="-122"/>
                        </a:defRPr>
                      </a:lvl1pPr>
                      <a:lvl2pPr marL="742950" indent="-285750" algn="just">
                        <a:spcBef>
                          <a:spcPct val="20000"/>
                        </a:spcBef>
                        <a:defRPr sz="24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spc="-150" normalizeH="0" baseline="0" dirty="0">
                          <a:ln>
                            <a:noFill/>
                          </a:ln>
                          <a:solidFill>
                            <a:schemeClr val="tx1"/>
                          </a:solidFill>
                          <a:effectLst/>
                          <a:latin typeface="+mn-ea"/>
                          <a:ea typeface="+mn-ea"/>
                          <a:cs typeface="Times New Roman" panose="02020603050405020304"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anose="02020603050405020304" pitchFamily="18" charset="0"/>
                          <a:ea typeface="宋体" panose="02010600030101010101" pitchFamily="2" charset="-122"/>
                        </a:defRPr>
                      </a:lvl1pPr>
                      <a:lvl2pPr marL="742950" indent="-285750" algn="just">
                        <a:spcBef>
                          <a:spcPct val="20000"/>
                        </a:spcBef>
                        <a:defRPr sz="24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spc="-150" normalizeH="0" baseline="0" dirty="0">
                          <a:ln>
                            <a:noFill/>
                          </a:ln>
                          <a:solidFill>
                            <a:srgbClr val="FF0000"/>
                          </a:solidFill>
                          <a:effectLst/>
                          <a:latin typeface="+mn-ea"/>
                          <a:ea typeface="+mn-ea"/>
                          <a:cs typeface="Times New Roman" panose="02020603050405020304"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sp>
        <p:nvSpPr>
          <p:cNvPr id="8" name="Rectangle 6"/>
          <p:cNvSpPr>
            <a:spLocks noChangeArrowheads="1"/>
          </p:cNvSpPr>
          <p:nvPr/>
        </p:nvSpPr>
        <p:spPr bwMode="auto">
          <a:xfrm>
            <a:off x="1013777" y="5504394"/>
            <a:ext cx="1112838" cy="46037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200" b="1" dirty="0">
                <a:solidFill>
                  <a:srgbClr val="FF0000"/>
                </a:solidFill>
              </a:rPr>
              <a:t>start bit</a:t>
            </a:r>
          </a:p>
        </p:txBody>
      </p:sp>
      <p:sp>
        <p:nvSpPr>
          <p:cNvPr id="9" name="Rectangle 6"/>
          <p:cNvSpPr>
            <a:spLocks noChangeArrowheads="1"/>
          </p:cNvSpPr>
          <p:nvPr/>
        </p:nvSpPr>
        <p:spPr bwMode="auto">
          <a:xfrm>
            <a:off x="7590702" y="5504394"/>
            <a:ext cx="926857" cy="338554"/>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b="1" dirty="0">
                <a:solidFill>
                  <a:srgbClr val="FF0000"/>
                </a:solidFill>
              </a:rPr>
              <a:t>stop bit</a:t>
            </a:r>
          </a:p>
        </p:txBody>
      </p:sp>
      <p:sp>
        <p:nvSpPr>
          <p:cNvPr id="10" name="Rectangle 6"/>
          <p:cNvSpPr>
            <a:spLocks noChangeArrowheads="1"/>
          </p:cNvSpPr>
          <p:nvPr/>
        </p:nvSpPr>
        <p:spPr bwMode="auto">
          <a:xfrm>
            <a:off x="7590701" y="4774183"/>
            <a:ext cx="926857" cy="338554"/>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b="1" dirty="0">
                <a:solidFill>
                  <a:srgbClr val="FF0000"/>
                </a:solidFill>
              </a:rPr>
              <a:t>stop bit</a:t>
            </a:r>
          </a:p>
        </p:txBody>
      </p:sp>
      <p:sp>
        <p:nvSpPr>
          <p:cNvPr id="2" name="灯片编号占位符 1"/>
          <p:cNvSpPr>
            <a:spLocks noGrp="1"/>
          </p:cNvSpPr>
          <p:nvPr>
            <p:ph type="sldNum" sz="quarter" idx="12"/>
          </p:nvPr>
        </p:nvSpPr>
        <p:spPr/>
        <p:txBody>
          <a:bodyPr/>
          <a:lstStyle/>
          <a:p>
            <a:fld id="{22E77DEE-32E4-4009-988B-F2758F7B8AC2}" type="slidenum">
              <a:rPr lang="zh-CN" altLang="en-US" smtClean="0"/>
              <a:t>34</a:t>
            </a:fld>
            <a:endParaRPr lang="zh-CN" altLang="en-US"/>
          </a:p>
        </p:txBody>
      </p:sp>
      <p:sp>
        <p:nvSpPr>
          <p:cNvPr id="7" name="Rectangle 6">
            <a:extLst>
              <a:ext uri="{FF2B5EF4-FFF2-40B4-BE49-F238E27FC236}">
                <a16:creationId xmlns:a16="http://schemas.microsoft.com/office/drawing/2014/main" id="{875F3FBA-3C38-70E5-4BCF-8C1209975BA4}"/>
              </a:ext>
            </a:extLst>
          </p:cNvPr>
          <p:cNvSpPr>
            <a:spLocks noChangeArrowheads="1"/>
          </p:cNvSpPr>
          <p:nvPr/>
        </p:nvSpPr>
        <p:spPr bwMode="auto">
          <a:xfrm>
            <a:off x="405450" y="4832491"/>
            <a:ext cx="712054" cy="46166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200" b="1" dirty="0"/>
              <a:t>receive</a:t>
            </a:r>
          </a:p>
          <a:p>
            <a:endParaRPr lang="zh-CN" altLang="en-US" sz="1200" b="1" dirty="0">
              <a:solidFill>
                <a:srgbClr val="FF0000"/>
              </a:solidFill>
            </a:endParaRPr>
          </a:p>
        </p:txBody>
      </p:sp>
      <p:sp>
        <p:nvSpPr>
          <p:cNvPr id="11" name="Rectangle 6">
            <a:extLst>
              <a:ext uri="{FF2B5EF4-FFF2-40B4-BE49-F238E27FC236}">
                <a16:creationId xmlns:a16="http://schemas.microsoft.com/office/drawing/2014/main" id="{F65095BB-058E-776F-6D9F-E6AD08F56A1A}"/>
              </a:ext>
            </a:extLst>
          </p:cNvPr>
          <p:cNvSpPr>
            <a:spLocks noChangeArrowheads="1"/>
          </p:cNvSpPr>
          <p:nvPr/>
        </p:nvSpPr>
        <p:spPr bwMode="auto">
          <a:xfrm>
            <a:off x="288027" y="5174205"/>
            <a:ext cx="1051824" cy="507831"/>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900" b="1" dirty="0"/>
              <a:t>transmit by radio</a:t>
            </a:r>
          </a:p>
          <a:p>
            <a:endParaRPr lang="zh-CN" altLang="en-US" sz="900" b="1"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a:spLocks noChangeArrowheads="1"/>
          </p:cNvSpPr>
          <p:nvPr/>
        </p:nvSpPr>
        <p:spPr bwMode="auto">
          <a:xfrm>
            <a:off x="1815306" y="1308497"/>
            <a:ext cx="5584826" cy="1527175"/>
          </a:xfrm>
          <a:prstGeom prst="rect">
            <a:avLst/>
          </a:prstGeom>
          <a:solidFill>
            <a:srgbClr val="FFFFFF"/>
          </a:solidFill>
          <a:ln w="9525" algn="ctr">
            <a:solidFill>
              <a:srgbClr val="FF00FF"/>
            </a:solidFill>
            <a:round/>
          </a:ln>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 name="矩形 5"/>
          <p:cNvSpPr>
            <a:spLocks noChangeArrowheads="1"/>
          </p:cNvSpPr>
          <p:nvPr/>
        </p:nvSpPr>
        <p:spPr bwMode="auto">
          <a:xfrm>
            <a:off x="2937668" y="1427560"/>
            <a:ext cx="3689350" cy="676275"/>
          </a:xfrm>
          <a:prstGeom prst="rect">
            <a:avLst/>
          </a:prstGeom>
          <a:solidFill>
            <a:srgbClr val="FFFFFF"/>
          </a:solidFill>
          <a:ln w="9525" algn="ctr">
            <a:solidFill>
              <a:srgbClr val="3333FF"/>
            </a:solidFill>
            <a:round/>
          </a:ln>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5300" name="标题 1"/>
          <p:cNvSpPr>
            <a:spLocks noGrp="1" noChangeArrowheads="1"/>
          </p:cNvSpPr>
          <p:nvPr>
            <p:ph type="title"/>
          </p:nvPr>
        </p:nvSpPr>
        <p:spPr/>
        <p:txBody>
          <a:bodyPr>
            <a:normAutofit/>
          </a:bodyPr>
          <a:lstStyle/>
          <a:p>
            <a:r>
              <a:rPr lang="en-US" altLang="zh-CN" sz="3600" dirty="0">
                <a:solidFill>
                  <a:srgbClr val="FF0000"/>
                </a:solidFill>
              </a:rPr>
              <a:t>2. Serial interface</a:t>
            </a:r>
            <a:endParaRPr lang="zh-CN" altLang="en-US" sz="3600" dirty="0"/>
          </a:p>
        </p:txBody>
      </p:sp>
      <p:sp>
        <p:nvSpPr>
          <p:cNvPr id="480259" name="Rectangle 3"/>
          <p:cNvSpPr>
            <a:spLocks noGrp="1" noChangeArrowheads="1"/>
          </p:cNvSpPr>
          <p:nvPr>
            <p:ph idx="1"/>
          </p:nvPr>
        </p:nvSpPr>
        <p:spPr>
          <a:xfrm>
            <a:off x="822960" y="3026086"/>
            <a:ext cx="7323665" cy="2847663"/>
          </a:xfrm>
        </p:spPr>
        <p:txBody>
          <a:bodyPr>
            <a:normAutofit/>
          </a:bodyPr>
          <a:lstStyle/>
          <a:p>
            <a:pPr eaLnBrk="1" hangingPunct="1">
              <a:spcBef>
                <a:spcPct val="0"/>
              </a:spcBef>
            </a:pPr>
            <a:r>
              <a:rPr lang="en-US" altLang="zh-CN" dirty="0"/>
              <a:t>Three error flags of UART:</a:t>
            </a:r>
          </a:p>
          <a:p>
            <a:pPr lvl="1" eaLnBrk="1" hangingPunct="1">
              <a:spcBef>
                <a:spcPct val="0"/>
              </a:spcBef>
            </a:pPr>
            <a:r>
              <a:rPr lang="zh-CN" altLang="en-US" dirty="0">
                <a:solidFill>
                  <a:srgbClr val="C00000"/>
                </a:solidFill>
              </a:rPr>
              <a:t>The Overrun error (also known as loss error) </a:t>
            </a:r>
            <a:r>
              <a:rPr lang="zh-CN" altLang="en-US" dirty="0">
                <a:solidFill>
                  <a:schemeClr val="tx1"/>
                </a:solidFill>
              </a:rPr>
              <a:t>occurs when the UARTs </a:t>
            </a:r>
            <a:r>
              <a:rPr lang="zh-CN" altLang="en-US" dirty="0">
                <a:solidFill>
                  <a:srgbClr val="9900CC"/>
                </a:solidFill>
              </a:rPr>
              <a:t>dual-buffer</a:t>
            </a:r>
            <a:r>
              <a:rPr lang="zh-CN" altLang="en-US" dirty="0">
                <a:solidFill>
                  <a:schemeClr val="tx1"/>
                </a:solidFill>
              </a:rPr>
              <a:t> structure fails to synchronize. </a:t>
            </a:r>
            <a:r>
              <a:rPr lang="zh-CN" altLang="en-US" dirty="0">
                <a:solidFill>
                  <a:srgbClr val="FF00FF"/>
                </a:solidFill>
              </a:rPr>
              <a:t>Upon detecting the first character</a:t>
            </a:r>
            <a:r>
              <a:rPr lang="zh-CN" altLang="en-US" dirty="0">
                <a:solidFill>
                  <a:schemeClr val="tx1"/>
                </a:solidFill>
              </a:rPr>
              <a:t>, the receiver immediately </a:t>
            </a:r>
            <a:r>
              <a:rPr lang="zh-CN" altLang="en-US" dirty="0">
                <a:solidFill>
                  <a:srgbClr val="9900CC"/>
                </a:solidFill>
              </a:rPr>
              <a:t>loads it into its data buffer </a:t>
            </a:r>
            <a:r>
              <a:rPr lang="zh-CN" altLang="en-US" dirty="0">
                <a:solidFill>
                  <a:schemeClr val="tx1"/>
                </a:solidFill>
              </a:rPr>
              <a:t>while simultaneously receiving the second character from the RXD line, while awaiting the CPU to retrieve the first character from the buffer.</a:t>
            </a:r>
            <a:endParaRPr lang="en-US" altLang="zh-CN" dirty="0">
              <a:solidFill>
                <a:schemeClr val="tx1"/>
              </a:solidFill>
            </a:endParaRPr>
          </a:p>
          <a:p>
            <a:pPr lvl="1" eaLnBrk="1" hangingPunct="1">
              <a:spcBef>
                <a:spcPct val="0"/>
              </a:spcBef>
            </a:pPr>
            <a:r>
              <a:rPr lang="zh-CN" altLang="en-US" dirty="0">
                <a:solidFill>
                  <a:srgbClr val="FF0000"/>
                </a:solidFill>
              </a:rPr>
              <a:t>If the CPU is too busy to retrieve the first character</a:t>
            </a:r>
            <a:r>
              <a:rPr lang="zh-CN" altLang="en-US" dirty="0">
                <a:solidFill>
                  <a:schemeClr val="tx1"/>
                </a:solidFill>
              </a:rPr>
              <a:t>, </a:t>
            </a:r>
            <a:r>
              <a:rPr lang="zh-CN" altLang="en-US" dirty="0">
                <a:solidFill>
                  <a:srgbClr val="9900CC"/>
                </a:solidFill>
              </a:rPr>
              <a:t>the second character received may enter the receiver buffer, causing the first character to be lost</a:t>
            </a:r>
            <a:r>
              <a:rPr lang="zh-CN" altLang="en-US" dirty="0">
                <a:solidFill>
                  <a:schemeClr val="tx1"/>
                </a:solidFill>
              </a:rPr>
              <a:t> and triggering an overflow error. In such cases, the UART automatically sets the overflow error flag (OE).</a:t>
            </a:r>
          </a:p>
        </p:txBody>
      </p:sp>
      <p:sp>
        <p:nvSpPr>
          <p:cNvPr id="3" name="矩形 2"/>
          <p:cNvSpPr>
            <a:spLocks noChangeArrowheads="1"/>
          </p:cNvSpPr>
          <p:nvPr/>
        </p:nvSpPr>
        <p:spPr bwMode="auto">
          <a:xfrm>
            <a:off x="3009106" y="1694260"/>
            <a:ext cx="26066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en-US" altLang="zh-CN" sz="1200" b="1" dirty="0">
                <a:solidFill>
                  <a:srgbClr val="9900CC"/>
                </a:solidFill>
              </a:rPr>
              <a:t>(Receive shift register)</a:t>
            </a:r>
            <a:endParaRPr lang="zh-CN" altLang="en-US" sz="2400" b="1" dirty="0"/>
          </a:p>
        </p:txBody>
      </p:sp>
      <p:sp>
        <p:nvSpPr>
          <p:cNvPr id="4" name="矩形 3"/>
          <p:cNvSpPr>
            <a:spLocks noChangeArrowheads="1"/>
          </p:cNvSpPr>
          <p:nvPr/>
        </p:nvSpPr>
        <p:spPr bwMode="auto">
          <a:xfrm>
            <a:off x="2937668" y="1371997"/>
            <a:ext cx="36893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200" b="1" dirty="0">
                <a:solidFill>
                  <a:srgbClr val="FF0000"/>
                </a:solidFill>
              </a:rPr>
              <a:t>Serial Input-Parallel Output Register</a:t>
            </a:r>
            <a:endParaRPr lang="zh-CN" altLang="en-US" sz="2400" b="1" dirty="0"/>
          </a:p>
        </p:txBody>
      </p:sp>
      <p:sp>
        <p:nvSpPr>
          <p:cNvPr id="8" name="矩形 7"/>
          <p:cNvSpPr>
            <a:spLocks noChangeArrowheads="1"/>
          </p:cNvSpPr>
          <p:nvPr/>
        </p:nvSpPr>
        <p:spPr bwMode="auto">
          <a:xfrm>
            <a:off x="3396456" y="2319735"/>
            <a:ext cx="2351087" cy="425450"/>
          </a:xfrm>
          <a:prstGeom prst="rect">
            <a:avLst/>
          </a:prstGeom>
          <a:noFill/>
          <a:ln w="9525">
            <a:solidFill>
              <a:srgbClr val="3333FF"/>
            </a:solidFill>
            <a:miter lim="800000"/>
          </a:ln>
          <a:extLst>
            <a:ext uri="{909E8E84-426E-40DD-AFC4-6F175D3DCCD1}">
              <a14:hiddenFill xmlns:a14="http://schemas.microsoft.com/office/drawing/2010/main">
                <a:solidFill>
                  <a:srgbClr val="FFFFFF"/>
                </a:solidFill>
              </a14:hiddenFill>
            </a:ext>
          </a:extLst>
        </p:spPr>
        <p:txBody>
          <a:bodyP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pPr>
            <a:r>
              <a:rPr lang="zh-CN" altLang="en-US" sz="1200" b="1">
                <a:solidFill>
                  <a:srgbClr val="FF0000"/>
                </a:solidFill>
              </a:rPr>
              <a:t>receive data buffer</a:t>
            </a:r>
          </a:p>
        </p:txBody>
      </p:sp>
      <p:cxnSp>
        <p:nvCxnSpPr>
          <p:cNvPr id="9" name="直接箭头连接符 8"/>
          <p:cNvCxnSpPr>
            <a:cxnSpLocks noChangeShapeType="1"/>
          </p:cNvCxnSpPr>
          <p:nvPr/>
        </p:nvCxnSpPr>
        <p:spPr bwMode="auto">
          <a:xfrm>
            <a:off x="4464843" y="2103835"/>
            <a:ext cx="0" cy="225425"/>
          </a:xfrm>
          <a:prstGeom prst="straightConnector1">
            <a:avLst/>
          </a:prstGeom>
          <a:noFill/>
          <a:ln w="28575" algn="ctr">
            <a:solidFill>
              <a:srgbClr val="3333FF"/>
            </a:solidFill>
            <a:round/>
            <a:tailEnd type="arrow" w="med" len="med"/>
          </a:ln>
        </p:spPr>
      </p:cxnSp>
      <p:cxnSp>
        <p:nvCxnSpPr>
          <p:cNvPr id="12" name="直接箭头连接符 11"/>
          <p:cNvCxnSpPr/>
          <p:nvPr/>
        </p:nvCxnSpPr>
        <p:spPr bwMode="auto">
          <a:xfrm>
            <a:off x="2521743" y="1719660"/>
            <a:ext cx="415925" cy="0"/>
          </a:xfrm>
          <a:prstGeom prst="straightConnector1">
            <a:avLst/>
          </a:prstGeom>
          <a:noFill/>
          <a:ln w="28575" algn="ctr">
            <a:solidFill>
              <a:srgbClr val="3333FF"/>
            </a:solidFill>
            <a:round/>
            <a:tailEnd type="arrow" w="med" len="med"/>
          </a:ln>
        </p:spPr>
      </p:cxnSp>
      <p:sp>
        <p:nvSpPr>
          <p:cNvPr id="14" name="矩形 13"/>
          <p:cNvSpPr>
            <a:spLocks noChangeArrowheads="1"/>
          </p:cNvSpPr>
          <p:nvPr/>
        </p:nvSpPr>
        <p:spPr bwMode="auto">
          <a:xfrm>
            <a:off x="1743868" y="1398985"/>
            <a:ext cx="893763"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5000"/>
              </a:lnSpc>
            </a:pPr>
            <a:r>
              <a:rPr lang="zh-CN" altLang="en-US" sz="1200" b="1">
                <a:solidFill>
                  <a:srgbClr val="FF0000"/>
                </a:solidFill>
              </a:rPr>
              <a:t>Receive Pin</a:t>
            </a:r>
          </a:p>
        </p:txBody>
      </p:sp>
      <p:cxnSp>
        <p:nvCxnSpPr>
          <p:cNvPr id="15" name="直接箭头连接符 14"/>
          <p:cNvCxnSpPr/>
          <p:nvPr/>
        </p:nvCxnSpPr>
        <p:spPr bwMode="auto">
          <a:xfrm>
            <a:off x="5747543" y="2532460"/>
            <a:ext cx="219075" cy="0"/>
          </a:xfrm>
          <a:prstGeom prst="straightConnector1">
            <a:avLst/>
          </a:prstGeom>
          <a:noFill/>
          <a:ln w="28575" algn="ctr">
            <a:solidFill>
              <a:srgbClr val="3333FF"/>
            </a:solidFill>
            <a:round/>
            <a:tailEnd type="arrow" w="med" len="med"/>
          </a:ln>
        </p:spPr>
      </p:cxnSp>
      <p:sp>
        <p:nvSpPr>
          <p:cNvPr id="16" name="矩形 15"/>
          <p:cNvSpPr>
            <a:spLocks noChangeArrowheads="1"/>
          </p:cNvSpPr>
          <p:nvPr/>
        </p:nvSpPr>
        <p:spPr bwMode="auto">
          <a:xfrm>
            <a:off x="5868589" y="2298078"/>
            <a:ext cx="151685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dirty="0">
                <a:solidFill>
                  <a:srgbClr val="FF0000"/>
                </a:solidFill>
              </a:rPr>
              <a:t>CPU a slight pause in reading</a:t>
            </a:r>
            <a:endParaRPr lang="zh-CN" altLang="en-US" sz="1200" b="1" dirty="0">
              <a:solidFill>
                <a:srgbClr val="FF0000"/>
              </a:solidFill>
            </a:endParaRPr>
          </a:p>
        </p:txBody>
      </p:sp>
      <p:sp>
        <p:nvSpPr>
          <p:cNvPr id="21" name="矩形 20"/>
          <p:cNvSpPr>
            <a:spLocks noChangeArrowheads="1"/>
          </p:cNvSpPr>
          <p:nvPr/>
        </p:nvSpPr>
        <p:spPr bwMode="auto">
          <a:xfrm>
            <a:off x="5480843" y="1749822"/>
            <a:ext cx="11017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000" b="1">
                <a:solidFill>
                  <a:srgbClr val="FF00FF"/>
                </a:solidFill>
              </a:rPr>
              <a:t>Character 2</a:t>
            </a:r>
          </a:p>
        </p:txBody>
      </p:sp>
      <p:sp>
        <p:nvSpPr>
          <p:cNvPr id="22" name="矩形 21"/>
          <p:cNvSpPr>
            <a:spLocks noChangeArrowheads="1"/>
          </p:cNvSpPr>
          <p:nvPr/>
        </p:nvSpPr>
        <p:spPr bwMode="auto">
          <a:xfrm>
            <a:off x="2294731" y="2328886"/>
            <a:ext cx="11017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000" b="1" dirty="0">
                <a:solidFill>
                  <a:srgbClr val="FF00FF"/>
                </a:solidFill>
              </a:rPr>
              <a:t>First character</a:t>
            </a:r>
          </a:p>
        </p:txBody>
      </p:sp>
      <p:sp>
        <p:nvSpPr>
          <p:cNvPr id="2" name="灯片编号占位符 1"/>
          <p:cNvSpPr>
            <a:spLocks noGrp="1"/>
          </p:cNvSpPr>
          <p:nvPr>
            <p:ph type="sldNum" sz="quarter" idx="12"/>
          </p:nvPr>
        </p:nvSpPr>
        <p:spPr/>
        <p:txBody>
          <a:bodyPr/>
          <a:lstStyle/>
          <a:p>
            <a:fld id="{22E77DEE-32E4-4009-988B-F2758F7B8AC2}" type="slidenum">
              <a:rPr lang="zh-CN" altLang="en-US" smtClean="0"/>
              <a:t>35</a:t>
            </a:fld>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noChangeArrowheads="1"/>
          </p:cNvSpPr>
          <p:nvPr>
            <p:ph type="title"/>
          </p:nvPr>
        </p:nvSpPr>
        <p:spPr>
          <a:xfrm>
            <a:off x="526934" y="210452"/>
            <a:ext cx="8090132" cy="831478"/>
          </a:xfrm>
        </p:spPr>
        <p:txBody>
          <a:bodyPr>
            <a:noAutofit/>
          </a:bodyPr>
          <a:lstStyle/>
          <a:p>
            <a:r>
              <a:rPr lang="en-US" altLang="zh-CN" sz="3200" dirty="0"/>
              <a:t>8.1.2 Related Concepts in </a:t>
            </a:r>
            <a:r>
              <a:rPr lang="en-US" altLang="zh-CN" sz="3200" dirty="0">
                <a:solidFill>
                  <a:srgbClr val="9900CC"/>
                </a:solidFill>
              </a:rPr>
              <a:t>Parallel</a:t>
            </a:r>
            <a:r>
              <a:rPr lang="en-US" altLang="zh-CN" sz="3200" dirty="0"/>
              <a:t> Communication</a:t>
            </a:r>
            <a:endParaRPr lang="zh-CN" altLang="en-US" sz="3200" dirty="0"/>
          </a:p>
        </p:txBody>
      </p:sp>
      <p:sp>
        <p:nvSpPr>
          <p:cNvPr id="442371" name="Rectangle 3"/>
          <p:cNvSpPr>
            <a:spLocks noGrp="1" noChangeArrowheads="1"/>
          </p:cNvSpPr>
          <p:nvPr>
            <p:ph idx="1"/>
          </p:nvPr>
        </p:nvSpPr>
        <p:spPr>
          <a:xfrm>
            <a:off x="822960" y="1265766"/>
            <a:ext cx="7402408" cy="2067983"/>
          </a:xfrm>
        </p:spPr>
        <p:txBody>
          <a:bodyPr>
            <a:noAutofit/>
          </a:bodyPr>
          <a:lstStyle/>
          <a:p>
            <a:pPr eaLnBrk="1" hangingPunct="1">
              <a:lnSpc>
                <a:spcPct val="100000"/>
              </a:lnSpc>
              <a:spcBef>
                <a:spcPct val="0"/>
              </a:spcBef>
              <a:buFontTx/>
              <a:buNone/>
            </a:pPr>
            <a:r>
              <a:rPr lang="en-US" altLang="zh-CN" sz="1800" dirty="0">
                <a:solidFill>
                  <a:srgbClr val="FF0000"/>
                </a:solidFill>
              </a:rPr>
              <a:t>1. Parallel interface</a:t>
            </a:r>
          </a:p>
          <a:p>
            <a:pPr eaLnBrk="1" hangingPunct="1">
              <a:lnSpc>
                <a:spcPct val="100000"/>
              </a:lnSpc>
              <a:spcBef>
                <a:spcPct val="0"/>
              </a:spcBef>
            </a:pPr>
            <a:r>
              <a:rPr lang="zh-CN" altLang="en-US" sz="1800" dirty="0">
                <a:solidFill>
                  <a:srgbClr val="CC3300"/>
                </a:solidFill>
              </a:rPr>
              <a:t>Definition: </a:t>
            </a:r>
            <a:r>
              <a:rPr lang="zh-CN" altLang="en-US" sz="1800" dirty="0">
                <a:solidFill>
                  <a:schemeClr val="tx1"/>
                </a:solidFill>
              </a:rPr>
              <a:t>An interface circuit for implementing parallel communication.</a:t>
            </a:r>
          </a:p>
          <a:p>
            <a:pPr eaLnBrk="1" hangingPunct="1">
              <a:lnSpc>
                <a:spcPct val="100000"/>
              </a:lnSpc>
              <a:spcBef>
                <a:spcPct val="0"/>
              </a:spcBef>
            </a:pPr>
            <a:r>
              <a:rPr lang="zh-CN" altLang="en-US" sz="1800" dirty="0">
                <a:solidFill>
                  <a:srgbClr val="CC3300"/>
                </a:solidFill>
              </a:rPr>
              <a:t>Category: </a:t>
            </a:r>
            <a:r>
              <a:rPr lang="zh-CN" altLang="en-US" sz="1800" dirty="0">
                <a:solidFill>
                  <a:schemeClr val="tx1"/>
                </a:solidFill>
              </a:rPr>
              <a:t>Input parallel interface, output parallel interface, and input/output parallel interface.</a:t>
            </a:r>
          </a:p>
          <a:p>
            <a:pPr eaLnBrk="1" hangingPunct="1">
              <a:lnSpc>
                <a:spcPct val="100000"/>
              </a:lnSpc>
              <a:spcBef>
                <a:spcPct val="0"/>
              </a:spcBef>
            </a:pPr>
            <a:r>
              <a:rPr lang="zh-CN" altLang="en-US" sz="1800" dirty="0">
                <a:solidFill>
                  <a:srgbClr val="0000FF"/>
                </a:solidFill>
              </a:rPr>
              <a:t>Parallel communication is transmitted in a synchronous manner</a:t>
            </a:r>
            <a:r>
              <a:rPr lang="zh-CN" altLang="en-US" sz="1800" dirty="0">
                <a:solidFill>
                  <a:schemeClr val="tx1"/>
                </a:solidFill>
              </a:rPr>
              <a:t>, which is characterized by fast transmission speed, large hardware overhead, and suitable for short-distance transmission.</a:t>
            </a:r>
          </a:p>
        </p:txBody>
      </p:sp>
      <p:graphicFrame>
        <p:nvGraphicFramePr>
          <p:cNvPr id="9" name="Object 4">
            <a:hlinkClick r:id="rId2" action="ppaction://hlinksldjump"/>
          </p:cNvPr>
          <p:cNvGraphicFramePr>
            <a:graphicFrameLocks noChangeAspect="1"/>
          </p:cNvGraphicFramePr>
          <p:nvPr>
            <p:extLst>
              <p:ext uri="{D42A27DB-BD31-4B8C-83A1-F6EECF244321}">
                <p14:modId xmlns:p14="http://schemas.microsoft.com/office/powerpoint/2010/main" val="3384305476"/>
              </p:ext>
            </p:extLst>
          </p:nvPr>
        </p:nvGraphicFramePr>
        <p:xfrm>
          <a:off x="60680" y="3049921"/>
          <a:ext cx="8556386" cy="3409865"/>
        </p:xfrm>
        <a:graphic>
          <a:graphicData uri="http://schemas.openxmlformats.org/presentationml/2006/ole">
            <mc:AlternateContent xmlns:mc="http://schemas.openxmlformats.org/markup-compatibility/2006">
              <mc:Choice xmlns:v="urn:schemas-microsoft-com:vml" Requires="v">
                <p:oleObj name="Visio" r:id="rId3" imgW="2975610" imgH="1684655" progId="Visio.Drawing.11">
                  <p:embed/>
                </p:oleObj>
              </mc:Choice>
              <mc:Fallback>
                <p:oleObj name="Visio" r:id="rId3" imgW="2975610" imgH="1684655" progId="Visio.Drawing.11">
                  <p:embed/>
                  <p:pic>
                    <p:nvPicPr>
                      <p:cNvPr id="9" name="Object 4">
                        <a:hlinkClick r:id="" action="ppaction://noaction"/>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80" y="3049921"/>
                        <a:ext cx="8556386" cy="3409865"/>
                      </a:xfrm>
                      <a:prstGeom prst="rect">
                        <a:avLst/>
                      </a:prstGeom>
                      <a:noFill/>
                      <a:ln>
                        <a:noFill/>
                      </a:ln>
                    </p:spPr>
                  </p:pic>
                </p:oleObj>
              </mc:Fallback>
            </mc:AlternateContent>
          </a:graphicData>
        </a:graphic>
      </p:graphicFrame>
      <p:sp>
        <p:nvSpPr>
          <p:cNvPr id="10" name="Rectangle 6"/>
          <p:cNvSpPr>
            <a:spLocks noChangeArrowheads="1"/>
          </p:cNvSpPr>
          <p:nvPr/>
        </p:nvSpPr>
        <p:spPr bwMode="auto">
          <a:xfrm>
            <a:off x="6135158" y="4127280"/>
            <a:ext cx="584200" cy="246221"/>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000" b="1" dirty="0">
                <a:solidFill>
                  <a:srgbClr val="FF0000"/>
                </a:solidFill>
              </a:rPr>
              <a:t>8-bit</a:t>
            </a:r>
            <a:endParaRPr lang="zh-CN" altLang="en-US" sz="1000" b="1" dirty="0">
              <a:solidFill>
                <a:srgbClr val="FF0000"/>
              </a:solidFill>
            </a:endParaRPr>
          </a:p>
        </p:txBody>
      </p:sp>
      <p:sp>
        <p:nvSpPr>
          <p:cNvPr id="11" name="Rectangle 6"/>
          <p:cNvSpPr>
            <a:spLocks noChangeArrowheads="1"/>
          </p:cNvSpPr>
          <p:nvPr/>
        </p:nvSpPr>
        <p:spPr bwMode="auto">
          <a:xfrm>
            <a:off x="6135158" y="4855026"/>
            <a:ext cx="584200" cy="40005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000" b="1" dirty="0">
                <a:solidFill>
                  <a:srgbClr val="FF0000"/>
                </a:solidFill>
              </a:rPr>
              <a:t>8-bit</a:t>
            </a:r>
            <a:endParaRPr lang="zh-CN" altLang="en-US" sz="1000" b="1" dirty="0">
              <a:solidFill>
                <a:srgbClr val="FF0000"/>
              </a:solidFill>
            </a:endParaRPr>
          </a:p>
        </p:txBody>
      </p:sp>
      <p:sp>
        <p:nvSpPr>
          <p:cNvPr id="3" name="灯片编号占位符 2"/>
          <p:cNvSpPr>
            <a:spLocks noGrp="1"/>
          </p:cNvSpPr>
          <p:nvPr>
            <p:ph type="sldNum" sz="quarter" idx="12"/>
          </p:nvPr>
        </p:nvSpPr>
        <p:spPr/>
        <p:txBody>
          <a:bodyPr/>
          <a:lstStyle/>
          <a:p>
            <a:fld id="{22E77DEE-32E4-4009-988B-F2758F7B8AC2}" type="slidenum">
              <a:rPr lang="zh-CN" altLang="en-US" smtClean="0"/>
              <a:t>36</a:t>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noChangeArrowheads="1"/>
          </p:cNvSpPr>
          <p:nvPr>
            <p:ph type="title"/>
          </p:nvPr>
        </p:nvSpPr>
        <p:spPr/>
        <p:txBody>
          <a:bodyPr>
            <a:normAutofit/>
          </a:bodyPr>
          <a:lstStyle/>
          <a:p>
            <a:r>
              <a:rPr lang="en-US" altLang="zh-CN" sz="3600" dirty="0">
                <a:solidFill>
                  <a:srgbClr val="FF0000"/>
                </a:solidFill>
              </a:rPr>
              <a:t>1. Parallel interface</a:t>
            </a:r>
            <a:endParaRPr lang="zh-CN" altLang="en-US" sz="3600" dirty="0"/>
          </a:p>
        </p:txBody>
      </p:sp>
      <p:sp>
        <p:nvSpPr>
          <p:cNvPr id="481283" name="Rectangle 3"/>
          <p:cNvSpPr>
            <a:spLocks noGrp="1" noChangeArrowheads="1"/>
          </p:cNvSpPr>
          <p:nvPr>
            <p:ph idx="1"/>
          </p:nvPr>
        </p:nvSpPr>
        <p:spPr>
          <a:xfrm>
            <a:off x="749300" y="1265767"/>
            <a:ext cx="7617460" cy="4645506"/>
          </a:xfrm>
        </p:spPr>
        <p:txBody>
          <a:bodyPr>
            <a:normAutofit/>
          </a:bodyPr>
          <a:lstStyle/>
          <a:p>
            <a:pPr eaLnBrk="1" hangingPunct="1">
              <a:lnSpc>
                <a:spcPct val="110000"/>
              </a:lnSpc>
              <a:spcBef>
                <a:spcPct val="0"/>
              </a:spcBef>
            </a:pPr>
            <a:r>
              <a:rPr lang="zh-CN" altLang="en-US" dirty="0">
                <a:solidFill>
                  <a:schemeClr val="tx1"/>
                </a:solidFill>
              </a:rPr>
              <a:t>The parallel interface transmits </a:t>
            </a:r>
            <a:r>
              <a:rPr lang="zh-CN" altLang="en-US" dirty="0">
                <a:solidFill>
                  <a:srgbClr val="C00000"/>
                </a:solidFill>
              </a:rPr>
              <a:t>status information, control information, and data information.</a:t>
            </a:r>
            <a:endParaRPr lang="zh-CN" altLang="en-US" sz="3200" dirty="0">
              <a:solidFill>
                <a:srgbClr val="C00000"/>
              </a:solidFill>
            </a:endParaRPr>
          </a:p>
          <a:p>
            <a:pPr lvl="1" eaLnBrk="1" hangingPunct="1">
              <a:lnSpc>
                <a:spcPct val="110000"/>
              </a:lnSpc>
              <a:spcBef>
                <a:spcPct val="0"/>
              </a:spcBef>
            </a:pPr>
            <a:r>
              <a:rPr lang="zh-CN" altLang="en-US" dirty="0">
                <a:solidFill>
                  <a:srgbClr val="C00000"/>
                </a:solidFill>
              </a:rPr>
              <a:t>Status information: </a:t>
            </a:r>
            <a:r>
              <a:rPr lang="zh-CN" altLang="en-US" dirty="0">
                <a:solidFill>
                  <a:srgbClr val="FF0000"/>
                </a:solidFill>
              </a:rPr>
              <a:t>This indicates the current operational state of a peripheral device.</a:t>
            </a:r>
            <a:r>
              <a:rPr lang="zh-CN" altLang="en-US" dirty="0">
                <a:solidFill>
                  <a:schemeClr val="tx1"/>
                </a:solidFill>
              </a:rPr>
              <a:t> For example, </a:t>
            </a:r>
            <a:r>
              <a:rPr lang="zh-CN" altLang="en-US" dirty="0">
                <a:solidFill>
                  <a:srgbClr val="9900CC"/>
                </a:solidFill>
              </a:rPr>
              <a:t>the READY signal (HIGH) </a:t>
            </a:r>
            <a:r>
              <a:rPr lang="zh-CN" altLang="en-US" dirty="0">
                <a:solidFill>
                  <a:schemeClr val="tx1"/>
                </a:solidFill>
              </a:rPr>
              <a:t>means the input interface is ready to exchange data with the CPU, while the </a:t>
            </a:r>
            <a:r>
              <a:rPr lang="zh-CN" altLang="en-US" dirty="0">
                <a:solidFill>
                  <a:srgbClr val="9900CC"/>
                </a:solidFill>
              </a:rPr>
              <a:t>BUSY signal (HIGH)</a:t>
            </a:r>
            <a:r>
              <a:rPr lang="zh-CN" altLang="en-US" dirty="0">
                <a:solidFill>
                  <a:schemeClr val="tx1"/>
                </a:solidFill>
              </a:rPr>
              <a:t> indicates the interface is transmitting data, requiring the CPU to wait.</a:t>
            </a:r>
            <a:endParaRPr lang="en-US" altLang="zh-CN" dirty="0">
              <a:solidFill>
                <a:schemeClr val="tx1"/>
              </a:solidFill>
            </a:endParaRPr>
          </a:p>
          <a:p>
            <a:pPr lvl="1" eaLnBrk="1" hangingPunct="1">
              <a:lnSpc>
                <a:spcPct val="110000"/>
              </a:lnSpc>
              <a:spcBef>
                <a:spcPct val="0"/>
              </a:spcBef>
            </a:pPr>
            <a:endParaRPr lang="zh-CN" altLang="en-US" dirty="0">
              <a:solidFill>
                <a:schemeClr val="tx1"/>
              </a:solidFill>
            </a:endParaRPr>
          </a:p>
          <a:p>
            <a:pPr lvl="1" eaLnBrk="1" hangingPunct="1">
              <a:lnSpc>
                <a:spcPct val="110000"/>
              </a:lnSpc>
              <a:spcBef>
                <a:spcPct val="0"/>
              </a:spcBef>
            </a:pPr>
            <a:r>
              <a:rPr lang="zh-CN" altLang="en-US" dirty="0">
                <a:solidFill>
                  <a:srgbClr val="C00000"/>
                </a:solidFill>
              </a:rPr>
              <a:t>Control information: </a:t>
            </a:r>
            <a:r>
              <a:rPr lang="zh-CN" altLang="en-US" dirty="0">
                <a:solidFill>
                  <a:schemeClr val="tx1"/>
                </a:solidFill>
              </a:rPr>
              <a:t>The control information is sent by the CPU to control the </a:t>
            </a:r>
            <a:r>
              <a:rPr lang="zh-CN" altLang="en-US" dirty="0">
                <a:solidFill>
                  <a:srgbClr val="9900CC"/>
                </a:solidFill>
              </a:rPr>
              <a:t>working mode of the peripheral interface and the startup and reset of the peripheral.</a:t>
            </a:r>
            <a:endParaRPr lang="en-US" altLang="zh-CN" dirty="0">
              <a:solidFill>
                <a:srgbClr val="9900CC"/>
              </a:solidFill>
            </a:endParaRPr>
          </a:p>
          <a:p>
            <a:pPr marL="201295" lvl="1" indent="0" eaLnBrk="1" hangingPunct="1">
              <a:lnSpc>
                <a:spcPct val="110000"/>
              </a:lnSpc>
              <a:spcBef>
                <a:spcPct val="0"/>
              </a:spcBef>
              <a:buNone/>
            </a:pPr>
            <a:endParaRPr lang="zh-CN" altLang="en-US" dirty="0">
              <a:solidFill>
                <a:schemeClr val="tx1"/>
              </a:solidFill>
            </a:endParaRPr>
          </a:p>
          <a:p>
            <a:pPr lvl="1" eaLnBrk="1" hangingPunct="1">
              <a:lnSpc>
                <a:spcPct val="110000"/>
              </a:lnSpc>
              <a:spcBef>
                <a:spcPct val="0"/>
              </a:spcBef>
            </a:pPr>
            <a:r>
              <a:rPr lang="zh-CN" altLang="en-US" dirty="0">
                <a:solidFill>
                  <a:srgbClr val="C00000"/>
                </a:solidFill>
              </a:rPr>
              <a:t>Data information:</a:t>
            </a:r>
            <a:r>
              <a:rPr lang="zh-CN" altLang="en-US" dirty="0">
                <a:solidFill>
                  <a:schemeClr val="tx1"/>
                </a:solidFill>
              </a:rPr>
              <a:t> The main content of the CPU and parallel interface exchange.</a:t>
            </a:r>
          </a:p>
        </p:txBody>
      </p:sp>
      <p:sp>
        <p:nvSpPr>
          <p:cNvPr id="2" name="灯片编号占位符 1"/>
          <p:cNvSpPr>
            <a:spLocks noGrp="1"/>
          </p:cNvSpPr>
          <p:nvPr>
            <p:ph type="sldNum" sz="quarter" idx="12"/>
          </p:nvPr>
        </p:nvSpPr>
        <p:spPr/>
        <p:txBody>
          <a:bodyPr/>
          <a:lstStyle/>
          <a:p>
            <a:fld id="{22E77DEE-32E4-4009-988B-F2758F7B8AC2}" type="slidenum">
              <a:rPr lang="zh-CN" altLang="en-US" smtClean="0"/>
              <a:t>37</a:t>
            </a:fld>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8372" name="Object 4">
            <a:hlinkClick r:id="rId2" action="ppaction://hlinksldjump"/>
          </p:cNvPr>
          <p:cNvGraphicFramePr>
            <a:graphicFrameLocks noChangeAspect="1"/>
          </p:cNvGraphicFramePr>
          <p:nvPr>
            <p:extLst>
              <p:ext uri="{D42A27DB-BD31-4B8C-83A1-F6EECF244321}">
                <p14:modId xmlns:p14="http://schemas.microsoft.com/office/powerpoint/2010/main" val="1561133354"/>
              </p:ext>
            </p:extLst>
          </p:nvPr>
        </p:nvGraphicFramePr>
        <p:xfrm>
          <a:off x="-714439" y="793750"/>
          <a:ext cx="9664700" cy="6026150"/>
        </p:xfrm>
        <a:graphic>
          <a:graphicData uri="http://schemas.openxmlformats.org/presentationml/2006/ole">
            <mc:AlternateContent xmlns:mc="http://schemas.openxmlformats.org/markup-compatibility/2006">
              <mc:Choice xmlns:v="urn:schemas-microsoft-com:vml" Requires="v">
                <p:oleObj name="Visio" r:id="rId3" imgW="2975610" imgH="1684655" progId="Visio.Drawing.11">
                  <p:embed/>
                </p:oleObj>
              </mc:Choice>
              <mc:Fallback>
                <p:oleObj name="Visio" r:id="rId3" imgW="2975610" imgH="1684655" progId="Visio.Drawing.11">
                  <p:embed/>
                  <p:pic>
                    <p:nvPicPr>
                      <p:cNvPr id="58372" name="Object 4">
                        <a:hlinkClick r:id="" action="ppaction://noaction"/>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439" y="793750"/>
                        <a:ext cx="9664700" cy="6026150"/>
                      </a:xfrm>
                      <a:prstGeom prst="rect">
                        <a:avLst/>
                      </a:prstGeom>
                      <a:noFill/>
                      <a:ln>
                        <a:noFill/>
                      </a:ln>
                    </p:spPr>
                  </p:pic>
                </p:oleObj>
              </mc:Fallback>
            </mc:AlternateContent>
          </a:graphicData>
        </a:graphic>
      </p:graphicFrame>
      <p:sp>
        <p:nvSpPr>
          <p:cNvPr id="58373" name="标题 1"/>
          <p:cNvSpPr>
            <a:spLocks noGrp="1" noChangeArrowheads="1"/>
          </p:cNvSpPr>
          <p:nvPr>
            <p:ph type="title"/>
          </p:nvPr>
        </p:nvSpPr>
        <p:spPr/>
        <p:txBody>
          <a:bodyPr>
            <a:normAutofit/>
          </a:bodyPr>
          <a:lstStyle/>
          <a:p>
            <a:r>
              <a:rPr lang="en-US" altLang="zh-CN" sz="3600" dirty="0">
                <a:solidFill>
                  <a:srgbClr val="FF0000"/>
                </a:solidFill>
              </a:rPr>
              <a:t>1. Parallel interface</a:t>
            </a:r>
            <a:endParaRPr lang="zh-CN" altLang="en-US" sz="3600" dirty="0"/>
          </a:p>
        </p:txBody>
      </p:sp>
      <p:sp>
        <p:nvSpPr>
          <p:cNvPr id="11268" name="Rectangle 3"/>
          <p:cNvSpPr>
            <a:spLocks noGrp="1" noChangeArrowheads="1"/>
          </p:cNvSpPr>
          <p:nvPr>
            <p:ph idx="1"/>
          </p:nvPr>
        </p:nvSpPr>
        <p:spPr>
          <a:xfrm>
            <a:off x="130176" y="1127372"/>
            <a:ext cx="7837487" cy="542925"/>
          </a:xfrm>
        </p:spPr>
        <p:txBody>
          <a:bodyPr>
            <a:normAutofit fontScale="92500" lnSpcReduction="20000"/>
          </a:bodyPr>
          <a:lstStyle/>
          <a:p>
            <a:pPr marL="177800" indent="-177800" eaLnBrk="1" hangingPunct="1">
              <a:defRPr/>
            </a:pPr>
            <a:r>
              <a:rPr lang="zh-CN" altLang="en-US" dirty="0"/>
              <a:t>The typical parallel interface and its connection to the CPU and peripherals are shown in the figure.</a:t>
            </a:r>
          </a:p>
        </p:txBody>
      </p:sp>
      <p:sp>
        <p:nvSpPr>
          <p:cNvPr id="58375" name="Rectangle 5"/>
          <p:cNvSpPr>
            <a:spLocks noChangeArrowheads="1"/>
          </p:cNvSpPr>
          <p:nvPr/>
        </p:nvSpPr>
        <p:spPr bwMode="auto">
          <a:xfrm>
            <a:off x="0" y="2362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14000"/>
              </a:lnSpc>
              <a:spcAft>
                <a:spcPts val="600"/>
              </a:spcAft>
              <a:buBlip>
                <a:blip r:embed="rId5"/>
              </a:buBlip>
              <a:defRPr sz="2800" b="1">
                <a:solidFill>
                  <a:schemeClr val="accent2"/>
                </a:solidFill>
                <a:latin typeface="Times New Roman" panose="02020603050405020304" pitchFamily="18" charset="0"/>
                <a:ea typeface="宋体" panose="02010600030101010101" pitchFamily="2" charset="-122"/>
              </a:defRPr>
            </a:lvl1pPr>
            <a:lvl2pPr marL="742950" indent="-285750" algn="just">
              <a:lnSpc>
                <a:spcPct val="114000"/>
              </a:lnSpc>
              <a:spcAft>
                <a:spcPts val="600"/>
              </a:spcAft>
              <a:buBlip>
                <a:blip r:embed="rId6"/>
              </a:buBlip>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spcAft>
                <a:spcPct val="0"/>
              </a:spcAft>
              <a:buFontTx/>
              <a:buNone/>
            </a:pPr>
            <a:endParaRPr lang="zh-CN" altLang="en-US" sz="1800" b="0">
              <a:solidFill>
                <a:schemeClr val="tx1"/>
              </a:solidFill>
              <a:latin typeface="Arial" panose="020B0604020202020204" pitchFamily="34" charset="0"/>
            </a:endParaRPr>
          </a:p>
        </p:txBody>
      </p:sp>
      <p:sp>
        <p:nvSpPr>
          <p:cNvPr id="58376" name="Rectangle 7"/>
          <p:cNvSpPr>
            <a:spLocks noChangeArrowheads="1"/>
          </p:cNvSpPr>
          <p:nvPr/>
        </p:nvSpPr>
        <p:spPr bwMode="auto">
          <a:xfrm>
            <a:off x="3110319" y="6358235"/>
            <a:ext cx="2969082" cy="46166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200" b="1" dirty="0">
                <a:solidFill>
                  <a:srgbClr val="800000"/>
                </a:solidFill>
              </a:rPr>
              <a:t>Typical parallel interface circuit diagram</a:t>
            </a:r>
          </a:p>
        </p:txBody>
      </p:sp>
      <p:sp>
        <p:nvSpPr>
          <p:cNvPr id="3" name="矩形 2"/>
          <p:cNvSpPr>
            <a:spLocks noChangeArrowheads="1"/>
          </p:cNvSpPr>
          <p:nvPr/>
        </p:nvSpPr>
        <p:spPr bwMode="auto">
          <a:xfrm>
            <a:off x="6341269" y="5137859"/>
            <a:ext cx="1799350" cy="27712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85000"/>
              </a:lnSpc>
            </a:pPr>
            <a:r>
              <a:rPr lang="zh-CN" altLang="en-US" sz="2100" b="1" dirty="0">
                <a:solidFill>
                  <a:srgbClr val="9900CC"/>
                </a:solidFill>
                <a:latin typeface="+mn-lt"/>
              </a:rPr>
              <a:t>Enable signal</a:t>
            </a:r>
          </a:p>
        </p:txBody>
      </p:sp>
      <p:sp>
        <p:nvSpPr>
          <p:cNvPr id="9" name="矩形 8"/>
          <p:cNvSpPr>
            <a:spLocks noChangeArrowheads="1"/>
          </p:cNvSpPr>
          <p:nvPr/>
        </p:nvSpPr>
        <p:spPr bwMode="auto">
          <a:xfrm>
            <a:off x="5870142" y="4647785"/>
            <a:ext cx="2496618" cy="27712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85000"/>
              </a:lnSpc>
            </a:pPr>
            <a:r>
              <a:rPr lang="zh-CN" altLang="en-US" sz="2100" b="1" dirty="0">
                <a:solidFill>
                  <a:srgbClr val="9900CC"/>
                </a:solidFill>
                <a:latin typeface="+mn-lt"/>
              </a:rPr>
              <a:t>Data output response</a:t>
            </a:r>
          </a:p>
        </p:txBody>
      </p:sp>
      <p:sp>
        <p:nvSpPr>
          <p:cNvPr id="5" name="矩形 4"/>
          <p:cNvSpPr>
            <a:spLocks noChangeArrowheads="1"/>
          </p:cNvSpPr>
          <p:nvPr/>
        </p:nvSpPr>
        <p:spPr bwMode="auto">
          <a:xfrm>
            <a:off x="7703877" y="1087784"/>
            <a:ext cx="111107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1600" b="1" dirty="0">
                <a:solidFill>
                  <a:srgbClr val="FF0000"/>
                </a:solidFill>
              </a:rPr>
              <a:t>cancel</a:t>
            </a:r>
          </a:p>
        </p:txBody>
      </p:sp>
      <p:sp>
        <p:nvSpPr>
          <p:cNvPr id="15" name="下弧形箭头 14"/>
          <p:cNvSpPr>
            <a:spLocks noChangeArrowheads="1"/>
          </p:cNvSpPr>
          <p:nvPr/>
        </p:nvSpPr>
        <p:spPr bwMode="auto">
          <a:xfrm rot="16200000">
            <a:off x="7960615" y="1644338"/>
            <a:ext cx="1184613" cy="390525"/>
          </a:xfrm>
          <a:prstGeom prst="curvedUpArrow">
            <a:avLst>
              <a:gd name="adj1" fmla="val 25043"/>
              <a:gd name="adj2" fmla="val 56239"/>
              <a:gd name="adj3" fmla="val 25000"/>
            </a:avLst>
          </a:prstGeom>
          <a:solidFill>
            <a:schemeClr val="accent1">
              <a:alpha val="50195"/>
            </a:schemeClr>
          </a:solidFill>
          <a:ln w="9525" algn="ctr">
            <a:solidFill>
              <a:srgbClr val="00B050"/>
            </a:solidFill>
            <a:round/>
          </a:ln>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8385" name="Rectangle 6"/>
          <p:cNvSpPr>
            <a:spLocks noChangeArrowheads="1"/>
          </p:cNvSpPr>
          <p:nvPr/>
        </p:nvSpPr>
        <p:spPr bwMode="auto">
          <a:xfrm>
            <a:off x="5991225" y="4127500"/>
            <a:ext cx="585788" cy="40005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000" b="1">
                <a:solidFill>
                  <a:srgbClr val="FF0000"/>
                </a:solidFill>
              </a:rPr>
              <a:t>8-bit</a:t>
            </a:r>
            <a:endParaRPr lang="zh-CN" altLang="en-US" sz="1000" b="1">
              <a:solidFill>
                <a:srgbClr val="FF0000"/>
              </a:solidFill>
            </a:endParaRPr>
          </a:p>
        </p:txBody>
      </p:sp>
      <p:sp>
        <p:nvSpPr>
          <p:cNvPr id="58386" name="Rectangle 6"/>
          <p:cNvSpPr>
            <a:spLocks noChangeArrowheads="1"/>
          </p:cNvSpPr>
          <p:nvPr/>
        </p:nvSpPr>
        <p:spPr bwMode="auto">
          <a:xfrm>
            <a:off x="6048375" y="2720975"/>
            <a:ext cx="585788" cy="40005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000" b="1" dirty="0">
                <a:solidFill>
                  <a:srgbClr val="FF0000"/>
                </a:solidFill>
              </a:rPr>
              <a:t>8-bit</a:t>
            </a:r>
            <a:endParaRPr lang="zh-CN" altLang="en-US" sz="1000" b="1" dirty="0">
              <a:solidFill>
                <a:srgbClr val="FF0000"/>
              </a:solidFill>
            </a:endParaRPr>
          </a:p>
        </p:txBody>
      </p:sp>
      <p:sp>
        <p:nvSpPr>
          <p:cNvPr id="10" name="箭头: 左 9"/>
          <p:cNvSpPr>
            <a:spLocks noChangeArrowheads="1"/>
          </p:cNvSpPr>
          <p:nvPr/>
        </p:nvSpPr>
        <p:spPr bwMode="auto">
          <a:xfrm>
            <a:off x="5534024" y="2750344"/>
            <a:ext cx="457200" cy="342900"/>
          </a:xfrm>
          <a:prstGeom prst="leftArrow">
            <a:avLst>
              <a:gd name="adj1" fmla="val 50000"/>
              <a:gd name="adj2" fmla="val 49877"/>
            </a:avLst>
          </a:prstGeom>
          <a:solidFill>
            <a:schemeClr val="accent1">
              <a:alpha val="50195"/>
            </a:schemeClr>
          </a:solidFill>
          <a:ln w="9525" algn="ctr">
            <a:solidFill>
              <a:srgbClr val="FF00FF"/>
            </a:solidFill>
            <a:round/>
          </a:ln>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 name="箭头: 左 21"/>
          <p:cNvSpPr>
            <a:spLocks noChangeArrowheads="1"/>
          </p:cNvSpPr>
          <p:nvPr/>
        </p:nvSpPr>
        <p:spPr bwMode="auto">
          <a:xfrm rot="10800000">
            <a:off x="2820988" y="4167188"/>
            <a:ext cx="457200" cy="342900"/>
          </a:xfrm>
          <a:prstGeom prst="leftArrow">
            <a:avLst>
              <a:gd name="adj1" fmla="val 50000"/>
              <a:gd name="adj2" fmla="val 49877"/>
            </a:avLst>
          </a:prstGeom>
          <a:solidFill>
            <a:schemeClr val="accent1">
              <a:alpha val="50195"/>
            </a:schemeClr>
          </a:solidFill>
          <a:ln w="9525" algn="ctr">
            <a:solidFill>
              <a:srgbClr val="FF00FF"/>
            </a:solidFill>
            <a:round/>
          </a:ln>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3" name="箭头: 左 22"/>
          <p:cNvSpPr>
            <a:spLocks noChangeArrowheads="1"/>
          </p:cNvSpPr>
          <p:nvPr/>
        </p:nvSpPr>
        <p:spPr bwMode="auto">
          <a:xfrm>
            <a:off x="8156575" y="2709863"/>
            <a:ext cx="458788" cy="342900"/>
          </a:xfrm>
          <a:prstGeom prst="leftArrow">
            <a:avLst>
              <a:gd name="adj1" fmla="val 50000"/>
              <a:gd name="adj2" fmla="val 50050"/>
            </a:avLst>
          </a:prstGeom>
          <a:solidFill>
            <a:schemeClr val="accent1">
              <a:alpha val="50195"/>
            </a:schemeClr>
          </a:solidFill>
          <a:ln w="9525" algn="ctr">
            <a:solidFill>
              <a:srgbClr val="FF00FF"/>
            </a:solidFill>
            <a:round/>
          </a:ln>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4" name="箭头: 左 23"/>
          <p:cNvSpPr>
            <a:spLocks noChangeArrowheads="1"/>
          </p:cNvSpPr>
          <p:nvPr/>
        </p:nvSpPr>
        <p:spPr bwMode="auto">
          <a:xfrm rot="2768556">
            <a:off x="2628107" y="2248693"/>
            <a:ext cx="598487" cy="227012"/>
          </a:xfrm>
          <a:prstGeom prst="leftArrow">
            <a:avLst>
              <a:gd name="adj1" fmla="val 50000"/>
              <a:gd name="adj2" fmla="val 49810"/>
            </a:avLst>
          </a:prstGeom>
          <a:solidFill>
            <a:schemeClr val="accent1">
              <a:alpha val="50195"/>
            </a:schemeClr>
          </a:solidFill>
          <a:ln w="9525" algn="ctr">
            <a:solidFill>
              <a:srgbClr val="FF00FF"/>
            </a:solidFill>
            <a:round/>
          </a:ln>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5" name="箭头: 左 24"/>
          <p:cNvSpPr>
            <a:spLocks noChangeArrowheads="1"/>
          </p:cNvSpPr>
          <p:nvPr/>
        </p:nvSpPr>
        <p:spPr bwMode="auto">
          <a:xfrm rot="10800000">
            <a:off x="5534025" y="4143375"/>
            <a:ext cx="457200" cy="342900"/>
          </a:xfrm>
          <a:prstGeom prst="leftArrow">
            <a:avLst>
              <a:gd name="adj1" fmla="val 50000"/>
              <a:gd name="adj2" fmla="val 49877"/>
            </a:avLst>
          </a:prstGeom>
          <a:solidFill>
            <a:schemeClr val="accent1">
              <a:alpha val="50195"/>
            </a:schemeClr>
          </a:solidFill>
          <a:ln w="9525" algn="ctr">
            <a:solidFill>
              <a:srgbClr val="FF00FF"/>
            </a:solidFill>
            <a:round/>
          </a:ln>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6" name="箭头: 左 25"/>
          <p:cNvSpPr>
            <a:spLocks noChangeArrowheads="1"/>
          </p:cNvSpPr>
          <p:nvPr/>
        </p:nvSpPr>
        <p:spPr bwMode="auto">
          <a:xfrm rot="10800000">
            <a:off x="7967663" y="4167188"/>
            <a:ext cx="458787" cy="342900"/>
          </a:xfrm>
          <a:prstGeom prst="leftArrow">
            <a:avLst>
              <a:gd name="adj1" fmla="val 50000"/>
              <a:gd name="adj2" fmla="val 50050"/>
            </a:avLst>
          </a:prstGeom>
          <a:solidFill>
            <a:schemeClr val="accent1">
              <a:alpha val="50195"/>
            </a:schemeClr>
          </a:solidFill>
          <a:ln w="9525" algn="ctr">
            <a:solidFill>
              <a:srgbClr val="FF00FF"/>
            </a:solidFill>
            <a:round/>
          </a:ln>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 name="矩形 1">
            <a:extLst>
              <a:ext uri="{FF2B5EF4-FFF2-40B4-BE49-F238E27FC236}">
                <a16:creationId xmlns:a16="http://schemas.microsoft.com/office/drawing/2014/main" id="{F79148EA-02A8-4539-1F93-340BAEB3EE73}"/>
              </a:ext>
            </a:extLst>
          </p:cNvPr>
          <p:cNvSpPr>
            <a:spLocks noChangeArrowheads="1"/>
          </p:cNvSpPr>
          <p:nvPr/>
        </p:nvSpPr>
        <p:spPr bwMode="auto">
          <a:xfrm>
            <a:off x="6229349" y="1380911"/>
            <a:ext cx="2121583" cy="52552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5000"/>
              </a:lnSpc>
            </a:pPr>
            <a:r>
              <a:rPr lang="en-US" altLang="zh-CN" sz="2000" b="1" dirty="0">
                <a:solidFill>
                  <a:srgbClr val="9900CC"/>
                </a:solidFill>
                <a:latin typeface="+mn-lt"/>
              </a:rPr>
              <a:t> </a:t>
            </a:r>
          </a:p>
          <a:p>
            <a:pPr eaLnBrk="1" hangingPunct="1">
              <a:lnSpc>
                <a:spcPct val="85000"/>
              </a:lnSpc>
            </a:pPr>
            <a:r>
              <a:rPr lang="en-US" altLang="zh-CN" sz="2000" b="1" dirty="0">
                <a:solidFill>
                  <a:srgbClr val="9900CC"/>
                </a:solidFill>
                <a:latin typeface="+mn-lt"/>
              </a:rPr>
              <a:t>Data input is ready</a:t>
            </a:r>
          </a:p>
        </p:txBody>
      </p:sp>
      <p:sp>
        <p:nvSpPr>
          <p:cNvPr id="4" name="灯片编号占位符 3"/>
          <p:cNvSpPr>
            <a:spLocks noGrp="1"/>
          </p:cNvSpPr>
          <p:nvPr>
            <p:ph type="sldNum" sz="quarter" idx="12"/>
          </p:nvPr>
        </p:nvSpPr>
        <p:spPr/>
        <p:txBody>
          <a:bodyPr/>
          <a:lstStyle/>
          <a:p>
            <a:fld id="{22E77DEE-32E4-4009-988B-F2758F7B8AC2}" type="slidenum">
              <a:rPr lang="zh-CN" altLang="en-US" smtClean="0"/>
              <a:t>38</a:t>
            </a:fld>
            <a:endParaRPr lang="zh-CN" altLang="en-US"/>
          </a:p>
        </p:txBody>
      </p:sp>
      <p:sp>
        <p:nvSpPr>
          <p:cNvPr id="6" name="矩形 5">
            <a:extLst>
              <a:ext uri="{FF2B5EF4-FFF2-40B4-BE49-F238E27FC236}">
                <a16:creationId xmlns:a16="http://schemas.microsoft.com/office/drawing/2014/main" id="{9269D112-682C-BB2D-4536-CB11827CA544}"/>
              </a:ext>
            </a:extLst>
          </p:cNvPr>
          <p:cNvSpPr>
            <a:spLocks noChangeArrowheads="1"/>
          </p:cNvSpPr>
          <p:nvPr/>
        </p:nvSpPr>
        <p:spPr bwMode="auto">
          <a:xfrm>
            <a:off x="6045043" y="2096776"/>
            <a:ext cx="2305889" cy="27712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85000"/>
              </a:lnSpc>
            </a:pPr>
            <a:r>
              <a:rPr lang="en-US" altLang="zh-CN" sz="2100" b="1" dirty="0">
                <a:solidFill>
                  <a:srgbClr val="9900CC"/>
                </a:solidFill>
                <a:latin typeface="+mn-lt"/>
              </a:rPr>
              <a:t>Data Entry Response</a:t>
            </a:r>
          </a:p>
        </p:txBody>
      </p:sp>
      <p:cxnSp>
        <p:nvCxnSpPr>
          <p:cNvPr id="7" name="直接箭头连接符 6"/>
          <p:cNvCxnSpPr>
            <a:cxnSpLocks noChangeShapeType="1"/>
          </p:cNvCxnSpPr>
          <p:nvPr/>
        </p:nvCxnSpPr>
        <p:spPr bwMode="auto">
          <a:xfrm flipH="1">
            <a:off x="7992598" y="1380254"/>
            <a:ext cx="65087" cy="158905"/>
          </a:xfrm>
          <a:prstGeom prst="straightConnector1">
            <a:avLst/>
          </a:prstGeom>
          <a:noFill/>
          <a:ln w="28575" algn="ctr">
            <a:solidFill>
              <a:srgbClr val="FF0000"/>
            </a:solidFill>
            <a:round/>
            <a:tailEnd type="arrow" w="med" len="med"/>
          </a:ln>
        </p:spPr>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noChangeArrowheads="1"/>
          </p:cNvSpPr>
          <p:nvPr>
            <p:ph type="title"/>
          </p:nvPr>
        </p:nvSpPr>
        <p:spPr>
          <a:xfrm>
            <a:off x="452582" y="240423"/>
            <a:ext cx="8386618" cy="831478"/>
          </a:xfrm>
        </p:spPr>
        <p:txBody>
          <a:bodyPr>
            <a:noAutofit/>
          </a:bodyPr>
          <a:lstStyle/>
          <a:p>
            <a:r>
              <a:rPr lang="en-US" altLang="zh-CN" sz="3600" dirty="0"/>
              <a:t>2. Related concepts in parallel communication</a:t>
            </a:r>
            <a:endParaRPr lang="zh-CN" altLang="en-US" sz="3600" dirty="0"/>
          </a:p>
        </p:txBody>
      </p:sp>
      <p:sp>
        <p:nvSpPr>
          <p:cNvPr id="484355" name="Rectangle 3"/>
          <p:cNvSpPr>
            <a:spLocks noGrp="1" noChangeArrowheads="1"/>
          </p:cNvSpPr>
          <p:nvPr>
            <p:ph idx="1"/>
          </p:nvPr>
        </p:nvSpPr>
        <p:spPr>
          <a:xfrm>
            <a:off x="895350" y="1155701"/>
            <a:ext cx="7353300" cy="4089400"/>
          </a:xfrm>
        </p:spPr>
        <p:txBody>
          <a:bodyPr/>
          <a:lstStyle/>
          <a:p>
            <a:pPr eaLnBrk="1" hangingPunct="1">
              <a:lnSpc>
                <a:spcPct val="124000"/>
              </a:lnSpc>
              <a:spcAft>
                <a:spcPts val="1800"/>
              </a:spcAft>
              <a:buFontTx/>
              <a:buNone/>
              <a:defRPr/>
            </a:pPr>
            <a:r>
              <a:rPr lang="en-US" altLang="zh-CN" dirty="0">
                <a:solidFill>
                  <a:srgbClr val="FF0000"/>
                </a:solidFill>
              </a:rPr>
              <a:t>2. Parallel interface circuit composition</a:t>
            </a:r>
          </a:p>
          <a:p>
            <a:pPr lvl="1" eaLnBrk="1" hangingPunct="1">
              <a:lnSpc>
                <a:spcPct val="124000"/>
              </a:lnSpc>
              <a:spcAft>
                <a:spcPts val="1800"/>
              </a:spcAft>
              <a:defRPr/>
            </a:pPr>
            <a:r>
              <a:rPr lang="zh-CN" altLang="en-US" dirty="0">
                <a:solidFill>
                  <a:srgbClr val="2998E3"/>
                </a:solidFill>
                <a:hlinkClick r:id="rId2" action="ppaction://hlinksldjump">
                  <a:extLst>
                    <a:ext uri="{A12FA001-AC4F-418D-AE19-62706E023703}">
                      <ahyp:hlinkClr xmlns:ahyp="http://schemas.microsoft.com/office/drawing/2018/hyperlinkcolor" val="tx"/>
                    </a:ext>
                  </a:extLst>
                </a:hlinkClick>
              </a:rPr>
              <a:t>Input buffer register</a:t>
            </a:r>
            <a:r>
              <a:rPr lang="zh-CN" altLang="en-US" dirty="0">
                <a:solidFill>
                  <a:schemeClr val="tx1"/>
                </a:solidFill>
                <a:hlinkClick r:id="rId2" action="ppaction://hlinksldjump">
                  <a:extLst>
                    <a:ext uri="{A12FA001-AC4F-418D-AE19-62706E023703}">
                      <ahyp:hlinkClr xmlns:ahyp="http://schemas.microsoft.com/office/drawing/2018/hyperlinkcolor" val="tx"/>
                    </a:ext>
                  </a:extLst>
                </a:hlinkClick>
              </a:rPr>
              <a:t>. The primary function of the input data buffer is to receive data from devices. The CPU performs a read operation by executing the </a:t>
            </a:r>
            <a:r>
              <a:rPr lang="zh-CN" altLang="en-US" dirty="0">
                <a:solidFill>
                  <a:srgbClr val="FF0000"/>
                </a:solidFill>
                <a:hlinkClick r:id="rId2" action="ppaction://hlinksldjump">
                  <a:extLst>
                    <a:ext uri="{A12FA001-AC4F-418D-AE19-62706E023703}">
                      <ahyp:hlinkClr xmlns:ahyp="http://schemas.microsoft.com/office/drawing/2018/hyperlinkcolor" val="tx"/>
                    </a:ext>
                  </a:extLst>
                </a:hlinkClick>
              </a:rPr>
              <a:t>IN MOVX A, @DPTR </a:t>
            </a:r>
            <a:r>
              <a:rPr lang="zh-CN" altLang="en-US" dirty="0">
                <a:solidFill>
                  <a:schemeClr val="tx1"/>
                </a:solidFill>
                <a:hlinkClick r:id="rId2" action="ppaction://hlinksldjump">
                  <a:extLst>
                    <a:ext uri="{A12FA001-AC4F-418D-AE19-62706E023703}">
                      <ahyp:hlinkClr xmlns:ahyp="http://schemas.microsoft.com/office/drawing/2018/hyperlinkcolor" val="tx"/>
                    </a:ext>
                  </a:extLst>
                </a:hlinkClick>
              </a:rPr>
              <a:t>instruction, which retrieves data from the input buffer.</a:t>
            </a:r>
            <a:endParaRPr lang="zh-CN" altLang="en-US" dirty="0">
              <a:solidFill>
                <a:schemeClr val="tx1"/>
              </a:solidFill>
            </a:endParaRPr>
          </a:p>
          <a:p>
            <a:pPr lvl="1" eaLnBrk="1" hangingPunct="1">
              <a:lnSpc>
                <a:spcPct val="124000"/>
              </a:lnSpc>
              <a:spcAft>
                <a:spcPts val="1800"/>
              </a:spcAft>
              <a:defRPr/>
            </a:pPr>
            <a:r>
              <a:rPr lang="zh-CN" altLang="en-US" dirty="0">
                <a:solidFill>
                  <a:srgbClr val="2998E3"/>
                </a:solidFill>
                <a:hlinkClick r:id="rId2" action="ppaction://hlinksldjump">
                  <a:extLst>
                    <a:ext uri="{A12FA001-AC4F-418D-AE19-62706E023703}">
                      <ahyp:hlinkClr xmlns:ahyp="http://schemas.microsoft.com/office/drawing/2018/hyperlinkcolor" val="tx"/>
                    </a:ext>
                  </a:extLst>
                </a:hlinkClick>
              </a:rPr>
              <a:t>Output buffer register. </a:t>
            </a:r>
            <a:r>
              <a:rPr lang="zh-CN" altLang="en-US" dirty="0">
                <a:solidFill>
                  <a:schemeClr val="tx1"/>
                </a:solidFill>
                <a:hlinkClick r:id="rId2" action="ppaction://hlinksldjump">
                  <a:extLst>
                    <a:ext uri="{A12FA001-AC4F-418D-AE19-62706E023703}">
                      <ahyp:hlinkClr xmlns:ahyp="http://schemas.microsoft.com/office/drawing/2018/hyperlinkcolor" val="tx"/>
                    </a:ext>
                  </a:extLst>
                </a:hlinkClick>
              </a:rPr>
              <a:t>The output data buffer is primarily responsible for receiving data from the CPU. When the device is idle, it retrieves data from the buffer and notifies the CPU for the next output operation.</a:t>
            </a:r>
            <a:endParaRPr lang="zh-CN" altLang="en-US" dirty="0">
              <a:solidFill>
                <a:schemeClr val="tx1"/>
              </a:solidFill>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39</a:t>
            </a:fld>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noChangeArrowheads="1"/>
          </p:cNvSpPr>
          <p:nvPr>
            <p:ph type="title"/>
          </p:nvPr>
        </p:nvSpPr>
        <p:spPr>
          <a:xfrm>
            <a:off x="341745" y="286605"/>
            <a:ext cx="8432800" cy="831478"/>
          </a:xfrm>
        </p:spPr>
        <p:txBody>
          <a:bodyPr>
            <a:noAutofit/>
          </a:bodyPr>
          <a:lstStyle/>
          <a:p>
            <a:r>
              <a:rPr lang="en-US" altLang="zh-CN" sz="3600" dirty="0"/>
              <a:t>2. Related concepts in parallel communication</a:t>
            </a:r>
            <a:endParaRPr lang="zh-CN" altLang="en-US" sz="3600" dirty="0"/>
          </a:p>
        </p:txBody>
      </p:sp>
      <p:sp>
        <p:nvSpPr>
          <p:cNvPr id="486403" name="Rectangle 3"/>
          <p:cNvSpPr>
            <a:spLocks noGrp="1" noChangeArrowheads="1"/>
          </p:cNvSpPr>
          <p:nvPr>
            <p:ph idx="1"/>
          </p:nvPr>
        </p:nvSpPr>
        <p:spPr>
          <a:xfrm>
            <a:off x="777240" y="1392767"/>
            <a:ext cx="7543800" cy="4121342"/>
          </a:xfrm>
        </p:spPr>
        <p:txBody>
          <a:bodyPr>
            <a:normAutofit/>
          </a:bodyPr>
          <a:lstStyle/>
          <a:p>
            <a:pPr eaLnBrk="1" hangingPunct="1">
              <a:spcBef>
                <a:spcPct val="0"/>
              </a:spcBef>
              <a:spcAft>
                <a:spcPts val="1800"/>
              </a:spcAft>
              <a:buFontTx/>
              <a:buNone/>
            </a:pPr>
            <a:r>
              <a:rPr lang="en-US" altLang="zh-CN" dirty="0">
                <a:solidFill>
                  <a:srgbClr val="FF0000"/>
                </a:solidFill>
              </a:rPr>
              <a:t>2. Parallel interface circuit composition</a:t>
            </a:r>
          </a:p>
          <a:p>
            <a:pPr lvl="1" eaLnBrk="1" hangingPunct="1">
              <a:spcBef>
                <a:spcPct val="0"/>
              </a:spcBef>
              <a:spcAft>
                <a:spcPts val="1800"/>
              </a:spcAft>
            </a:pPr>
            <a:r>
              <a:rPr lang="zh-CN" altLang="en-US" dirty="0">
                <a:solidFill>
                  <a:srgbClr val="2998E3"/>
                </a:solidFill>
                <a:hlinkClick r:id="rId2" action="ppaction://hlinksldjump">
                  <a:extLst>
                    <a:ext uri="{A12FA001-AC4F-418D-AE19-62706E023703}">
                      <ahyp:hlinkClr xmlns:ahyp="http://schemas.microsoft.com/office/drawing/2018/hyperlinkcolor" val="tx"/>
                    </a:ext>
                  </a:extLst>
                </a:hlinkClick>
              </a:rPr>
              <a:t>Status register. </a:t>
            </a:r>
            <a:r>
              <a:rPr lang="zh-CN" altLang="en-US" dirty="0">
                <a:solidFill>
                  <a:schemeClr val="tx1"/>
                </a:solidFill>
                <a:hlinkClick r:id="rId2" action="ppaction://hlinksldjump">
                  <a:extLst>
                    <a:ext uri="{A12FA001-AC4F-418D-AE19-62706E023703}">
                      <ahyp:hlinkClr xmlns:ahyp="http://schemas.microsoft.com/office/drawing/2018/hyperlinkcolor" val="tx"/>
                    </a:ext>
                  </a:extLst>
                </a:hlinkClick>
              </a:rPr>
              <a:t>The status register stores </a:t>
            </a:r>
            <a:r>
              <a:rPr lang="zh-CN" altLang="en-US" dirty="0">
                <a:solidFill>
                  <a:srgbClr val="9900CC"/>
                </a:solidFill>
                <a:hlinkClick r:id="rId2" action="ppaction://hlinksldjump">
                  <a:extLst>
                    <a:ext uri="{A12FA001-AC4F-418D-AE19-62706E023703}">
                      <ahyp:hlinkClr xmlns:ahyp="http://schemas.microsoft.com/office/drawing/2018/hyperlinkcolor" val="tx"/>
                    </a:ext>
                  </a:extLst>
                </a:hlinkClick>
              </a:rPr>
              <a:t>the operational status of peripherals</a:t>
            </a:r>
            <a:r>
              <a:rPr lang="zh-CN" altLang="en-US" dirty="0">
                <a:solidFill>
                  <a:schemeClr val="tx1"/>
                </a:solidFill>
                <a:hlinkClick r:id="rId2" action="ppaction://hlinksldjump">
                  <a:extLst>
                    <a:ext uri="{A12FA001-AC4F-418D-AE19-62706E023703}">
                      <ahyp:hlinkClr xmlns:ahyp="http://schemas.microsoft.com/office/drawing/2018/hyperlinkcolor" val="tx"/>
                    </a:ext>
                  </a:extLst>
                </a:hlinkClick>
              </a:rPr>
              <a:t>. The CPU accesses the status register to monitor peripheral status and control their operation.</a:t>
            </a:r>
            <a:endParaRPr lang="zh-CN" altLang="en-US" dirty="0">
              <a:solidFill>
                <a:schemeClr val="tx1"/>
              </a:solidFill>
            </a:endParaRPr>
          </a:p>
          <a:p>
            <a:pPr lvl="1" eaLnBrk="1" hangingPunct="1">
              <a:spcBef>
                <a:spcPct val="0"/>
              </a:spcBef>
              <a:spcAft>
                <a:spcPts val="1800"/>
              </a:spcAft>
            </a:pPr>
            <a:r>
              <a:rPr lang="zh-CN" altLang="en-US" dirty="0">
                <a:solidFill>
                  <a:srgbClr val="2998E3"/>
                </a:solidFill>
                <a:hlinkClick r:id="rId2" action="ppaction://hlinksldjump">
                  <a:extLst>
                    <a:ext uri="{A12FA001-AC4F-418D-AE19-62706E023703}">
                      <ahyp:hlinkClr xmlns:ahyp="http://schemas.microsoft.com/office/drawing/2018/hyperlinkcolor" val="tx"/>
                    </a:ext>
                  </a:extLst>
                </a:hlinkClick>
              </a:rPr>
              <a:t>Control register. </a:t>
            </a:r>
            <a:r>
              <a:rPr lang="zh-CN" altLang="en-US" dirty="0">
                <a:solidFill>
                  <a:schemeClr val="tx1"/>
                </a:solidFill>
                <a:hlinkClick r:id="rId2" action="ppaction://hlinksldjump">
                  <a:extLst>
                    <a:ext uri="{A12FA001-AC4F-418D-AE19-62706E023703}">
                      <ahyp:hlinkClr xmlns:ahyp="http://schemas.microsoft.com/office/drawing/2018/hyperlinkcolor" val="tx"/>
                    </a:ext>
                  </a:extLst>
                </a:hlinkClick>
              </a:rPr>
              <a:t>The parallel interface contains a control register that stores </a:t>
            </a:r>
            <a:r>
              <a:rPr lang="zh-CN" altLang="en-US" dirty="0">
                <a:solidFill>
                  <a:srgbClr val="9900CC"/>
                </a:solidFill>
                <a:hlinkClick r:id="rId2" action="ppaction://hlinksldjump">
                  <a:extLst>
                    <a:ext uri="{A12FA001-AC4F-418D-AE19-62706E023703}">
                      <ahyp:hlinkClr xmlns:ahyp="http://schemas.microsoft.com/office/drawing/2018/hyperlinkcolor" val="tx"/>
                    </a:ext>
                  </a:extLst>
                </a:hlinkClick>
              </a:rPr>
              <a:t>the working mode commands and operation commands set by the CPU for the peripheral device</a:t>
            </a:r>
            <a:r>
              <a:rPr lang="zh-CN" altLang="en-US" dirty="0">
                <a:solidFill>
                  <a:schemeClr val="tx1"/>
                </a:solidFill>
                <a:hlinkClick r:id="rId2" action="ppaction://hlinksldjump">
                  <a:extLst>
                    <a:ext uri="{A12FA001-AC4F-418D-AE19-62706E023703}">
                      <ahyp:hlinkClr xmlns:ahyp="http://schemas.microsoft.com/office/drawing/2018/hyperlinkcolor" val="tx"/>
                    </a:ext>
                  </a:extLst>
                </a:hlinkClick>
              </a:rPr>
              <a:t>. The peripheral devices operation is controlled through this register.</a:t>
            </a:r>
            <a:endParaRPr lang="zh-CN" altLang="en-US" dirty="0">
              <a:solidFill>
                <a:schemeClr val="tx1"/>
              </a:solidFill>
            </a:endParaRPr>
          </a:p>
          <a:p>
            <a:pPr lvl="1" eaLnBrk="1" hangingPunct="1">
              <a:spcBef>
                <a:spcPct val="0"/>
              </a:spcBef>
              <a:spcAft>
                <a:spcPts val="1800"/>
              </a:spcAft>
            </a:pPr>
            <a:r>
              <a:rPr lang="zh-CN" altLang="en-US" dirty="0">
                <a:solidFill>
                  <a:srgbClr val="CC3300"/>
                </a:solidFill>
              </a:rPr>
              <a:t>Data information. </a:t>
            </a:r>
            <a:r>
              <a:rPr lang="zh-CN" altLang="en-US" dirty="0">
                <a:solidFill>
                  <a:schemeClr val="tx1"/>
                </a:solidFill>
              </a:rPr>
              <a:t>The main content of the CPU and parallel interface exchange.</a:t>
            </a:r>
          </a:p>
          <a:p>
            <a:pPr lvl="1" eaLnBrk="1" hangingPunct="1">
              <a:spcBef>
                <a:spcPct val="0"/>
              </a:spcBef>
              <a:spcAft>
                <a:spcPts val="1800"/>
              </a:spcAft>
            </a:pPr>
            <a:endParaRPr lang="en-US" altLang="zh-CN" dirty="0"/>
          </a:p>
        </p:txBody>
      </p:sp>
      <p:sp>
        <p:nvSpPr>
          <p:cNvPr id="2" name="灯片编号占位符 1"/>
          <p:cNvSpPr>
            <a:spLocks noGrp="1"/>
          </p:cNvSpPr>
          <p:nvPr>
            <p:ph type="sldNum" sz="quarter" idx="12"/>
          </p:nvPr>
        </p:nvSpPr>
        <p:spPr/>
        <p:txBody>
          <a:bodyPr/>
          <a:lstStyle/>
          <a:p>
            <a:fld id="{22E77DEE-32E4-4009-988B-F2758F7B8AC2}" type="slidenum">
              <a:rPr lang="zh-CN" altLang="en-US" smtClean="0"/>
              <a:t>40</a:t>
            </a:fld>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7" name="Rectangle 3"/>
          <p:cNvSpPr>
            <a:spLocks noGrp="1" noChangeArrowheads="1"/>
          </p:cNvSpPr>
          <p:nvPr>
            <p:ph idx="1"/>
          </p:nvPr>
        </p:nvSpPr>
        <p:spPr>
          <a:xfrm>
            <a:off x="783167" y="1333499"/>
            <a:ext cx="7484534" cy="4540827"/>
          </a:xfrm>
        </p:spPr>
        <p:txBody>
          <a:bodyPr>
            <a:normAutofit/>
          </a:bodyPr>
          <a:lstStyle/>
          <a:p>
            <a:pPr eaLnBrk="1" hangingPunct="1">
              <a:lnSpc>
                <a:spcPct val="110000"/>
              </a:lnSpc>
              <a:spcBef>
                <a:spcPct val="0"/>
              </a:spcBef>
              <a:buFontTx/>
              <a:buNone/>
            </a:pPr>
            <a:r>
              <a:rPr lang="en-US" altLang="zh-CN" sz="1800" dirty="0">
                <a:solidFill>
                  <a:srgbClr val="FF0000"/>
                </a:solidFill>
              </a:rPr>
              <a:t>3. Basic input/output operation of parallel communication interface</a:t>
            </a:r>
          </a:p>
          <a:p>
            <a:pPr eaLnBrk="1" hangingPunct="1">
              <a:lnSpc>
                <a:spcPct val="110000"/>
              </a:lnSpc>
              <a:spcBef>
                <a:spcPct val="0"/>
              </a:spcBef>
              <a:buFontTx/>
              <a:buNone/>
            </a:pPr>
            <a:r>
              <a:rPr lang="zh-CN" altLang="en-US" sz="1800" dirty="0">
                <a:solidFill>
                  <a:srgbClr val="9900CC"/>
                </a:solidFill>
              </a:rPr>
              <a:t>(1) Input process</a:t>
            </a:r>
          </a:p>
          <a:p>
            <a:pPr lvl="1" eaLnBrk="1" hangingPunct="1">
              <a:lnSpc>
                <a:spcPct val="110000"/>
              </a:lnSpc>
              <a:spcBef>
                <a:spcPct val="0"/>
              </a:spcBef>
            </a:pPr>
            <a:r>
              <a:rPr lang="zh-CN" altLang="en-US" dirty="0"/>
              <a:t>The peripheral device first places the parallel data on the data bus between the peripheral device and the interface, </a:t>
            </a:r>
            <a:r>
              <a:rPr lang="zh-CN" altLang="en-US" dirty="0">
                <a:solidFill>
                  <a:srgbClr val="9900CC"/>
                </a:solidFill>
              </a:rPr>
              <a:t>and enables the </a:t>
            </a:r>
            <a:r>
              <a:rPr lang="zh-CN" altLang="en-US" dirty="0"/>
              <a:t>"</a:t>
            </a:r>
            <a:r>
              <a:rPr lang="zh-CN" altLang="en-US" dirty="0">
                <a:solidFill>
                  <a:srgbClr val="00B0F0"/>
                </a:solidFill>
              </a:rPr>
              <a:t>data input ready</a:t>
            </a:r>
            <a:r>
              <a:rPr lang="zh-CN" altLang="en-US" dirty="0"/>
              <a:t>" </a:t>
            </a:r>
            <a:r>
              <a:rPr lang="zh-CN" altLang="en-US" dirty="0">
                <a:solidFill>
                  <a:srgbClr val="9900CC"/>
                </a:solidFill>
              </a:rPr>
              <a:t>status select signal</a:t>
            </a:r>
            <a:r>
              <a:rPr lang="zh-CN" altLang="en-US" dirty="0"/>
              <a:t>, which enables the data to be input into the input data buffer of the interface.</a:t>
            </a:r>
            <a:endParaRPr lang="en-US" altLang="zh-CN" dirty="0"/>
          </a:p>
          <a:p>
            <a:pPr marL="201295" lvl="1" indent="0" eaLnBrk="1" hangingPunct="1">
              <a:lnSpc>
                <a:spcPct val="110000"/>
              </a:lnSpc>
              <a:spcBef>
                <a:spcPct val="0"/>
              </a:spcBef>
              <a:buNone/>
            </a:pPr>
            <a:endParaRPr lang="zh-CN" altLang="en-US" dirty="0"/>
          </a:p>
          <a:p>
            <a:pPr lvl="1" eaLnBrk="1" hangingPunct="1">
              <a:lnSpc>
                <a:spcPct val="110000"/>
              </a:lnSpc>
              <a:spcBef>
                <a:spcPct val="0"/>
              </a:spcBef>
            </a:pPr>
            <a:r>
              <a:rPr lang="zh-CN" altLang="en-US" dirty="0"/>
              <a:t>When data is written to the input data buffer, </a:t>
            </a:r>
            <a:r>
              <a:rPr lang="zh-CN" altLang="en-US" dirty="0">
                <a:solidFill>
                  <a:srgbClr val="FF0000"/>
                </a:solidFill>
              </a:rPr>
              <a:t>the interface activates </a:t>
            </a:r>
            <a:r>
              <a:rPr lang="zh-CN" altLang="en-US" dirty="0">
                <a:solidFill>
                  <a:srgbClr val="00B0F0"/>
                </a:solidFill>
              </a:rPr>
              <a:t>the Data Input Acknowledgment signal</a:t>
            </a:r>
            <a:r>
              <a:rPr lang="zh-CN" altLang="en-US" dirty="0"/>
              <a:t>, indicating that the peripheral data has been received, as a response to the peripheral input.</a:t>
            </a:r>
            <a:endParaRPr lang="en-US" altLang="zh-CN" dirty="0"/>
          </a:p>
          <a:p>
            <a:pPr marL="201295" lvl="1" indent="0" eaLnBrk="1" hangingPunct="1">
              <a:lnSpc>
                <a:spcPct val="110000"/>
              </a:lnSpc>
              <a:spcBef>
                <a:spcPct val="0"/>
              </a:spcBef>
              <a:buNone/>
            </a:pPr>
            <a:endParaRPr lang="zh-CN" altLang="en-US" dirty="0"/>
          </a:p>
          <a:p>
            <a:pPr lvl="1" eaLnBrk="1" hangingPunct="1">
              <a:lnSpc>
                <a:spcPct val="110000"/>
              </a:lnSpc>
              <a:spcBef>
                <a:spcPct val="0"/>
              </a:spcBef>
            </a:pPr>
            <a:r>
              <a:rPr lang="zh-CN" altLang="en-US" dirty="0"/>
              <a:t>After receiving this signal, </a:t>
            </a:r>
            <a:r>
              <a:rPr lang="zh-CN" altLang="en-US" dirty="0">
                <a:solidFill>
                  <a:srgbClr val="9900CC"/>
                </a:solidFill>
              </a:rPr>
              <a:t>the peripheral device cancels the input data </a:t>
            </a:r>
            <a:r>
              <a:rPr lang="zh-CN" altLang="en-US" dirty="0"/>
              <a:t>and </a:t>
            </a:r>
            <a:r>
              <a:rPr lang="zh-CN" altLang="en-US" dirty="0">
                <a:solidFill>
                  <a:srgbClr val="00B0F0"/>
                </a:solidFill>
              </a:rPr>
              <a:t>the "Data Input Ready" signal.</a:t>
            </a:r>
          </a:p>
        </p:txBody>
      </p:sp>
      <p:sp>
        <p:nvSpPr>
          <p:cNvPr id="2" name="灯片编号占位符 1"/>
          <p:cNvSpPr>
            <a:spLocks noGrp="1"/>
          </p:cNvSpPr>
          <p:nvPr>
            <p:ph type="sldNum" sz="quarter" idx="12"/>
          </p:nvPr>
        </p:nvSpPr>
        <p:spPr/>
        <p:txBody>
          <a:bodyPr/>
          <a:lstStyle/>
          <a:p>
            <a:fld id="{22E77DEE-32E4-4009-988B-F2758F7B8AC2}" type="slidenum">
              <a:rPr lang="zh-CN" altLang="en-US" smtClean="0"/>
              <a:t>41</a:t>
            </a:fld>
            <a:endParaRPr lang="zh-CN" altLang="en-US"/>
          </a:p>
        </p:txBody>
      </p:sp>
      <p:sp>
        <p:nvSpPr>
          <p:cNvPr id="5" name="标题 1">
            <a:extLst>
              <a:ext uri="{FF2B5EF4-FFF2-40B4-BE49-F238E27FC236}">
                <a16:creationId xmlns:a16="http://schemas.microsoft.com/office/drawing/2014/main" id="{52EC318B-5BC8-F9DF-D8F5-C79A039B1064}"/>
              </a:ext>
            </a:extLst>
          </p:cNvPr>
          <p:cNvSpPr>
            <a:spLocks noGrp="1" noChangeArrowheads="1"/>
          </p:cNvSpPr>
          <p:nvPr>
            <p:ph type="title"/>
          </p:nvPr>
        </p:nvSpPr>
        <p:spPr>
          <a:xfrm>
            <a:off x="350982" y="237332"/>
            <a:ext cx="8645236" cy="830262"/>
          </a:xfrm>
        </p:spPr>
        <p:txBody>
          <a:bodyPr>
            <a:noAutofit/>
          </a:bodyPr>
          <a:lstStyle/>
          <a:p>
            <a:r>
              <a:rPr lang="en-US" altLang="zh-CN" sz="3600" dirty="0"/>
              <a:t>2. Related concepts in parallel communication</a:t>
            </a:r>
            <a:endParaRPr lang="zh-CN" altLang="en-US" sz="3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noChangeArrowheads="1"/>
          </p:cNvSpPr>
          <p:nvPr>
            <p:ph type="title"/>
          </p:nvPr>
        </p:nvSpPr>
        <p:spPr/>
        <p:txBody>
          <a:bodyPr>
            <a:normAutofit/>
          </a:bodyPr>
          <a:lstStyle/>
          <a:p>
            <a:pPr eaLnBrk="1" hangingPunct="1"/>
            <a:r>
              <a:rPr lang="zh-CN" altLang="en-US" sz="3600" dirty="0">
                <a:solidFill>
                  <a:srgbClr val="9900CC"/>
                </a:solidFill>
              </a:rPr>
              <a:t>(1) Input process</a:t>
            </a:r>
          </a:p>
        </p:txBody>
      </p:sp>
      <p:sp>
        <p:nvSpPr>
          <p:cNvPr id="488451" name="Rectangle 3"/>
          <p:cNvSpPr>
            <a:spLocks noGrp="1" noChangeArrowheads="1"/>
          </p:cNvSpPr>
          <p:nvPr>
            <p:ph idx="1"/>
          </p:nvPr>
        </p:nvSpPr>
        <p:spPr>
          <a:xfrm>
            <a:off x="822960" y="1579033"/>
            <a:ext cx="7474373" cy="3981257"/>
          </a:xfrm>
        </p:spPr>
        <p:txBody>
          <a:bodyPr/>
          <a:lstStyle/>
          <a:p>
            <a:pPr lvl="1" eaLnBrk="1" hangingPunct="1">
              <a:spcBef>
                <a:spcPct val="0"/>
              </a:spcBef>
              <a:spcAft>
                <a:spcPts val="1800"/>
              </a:spcAft>
            </a:pPr>
            <a:r>
              <a:rPr lang="zh-CN" altLang="en-US" dirty="0"/>
              <a:t>When data arrives at the interface, it sets the </a:t>
            </a:r>
            <a:r>
              <a:rPr lang="zh-CN" altLang="en-US" dirty="0">
                <a:solidFill>
                  <a:srgbClr val="00B0F0"/>
                </a:solidFill>
              </a:rPr>
              <a:t>input ready status bit to </a:t>
            </a:r>
            <a:r>
              <a:rPr lang="zh-CN" altLang="en-US" dirty="0">
                <a:solidFill>
                  <a:srgbClr val="FF0000"/>
                </a:solidFill>
              </a:rPr>
              <a:t>1</a:t>
            </a:r>
            <a:r>
              <a:rPr lang="zh-CN" altLang="en-US" dirty="0">
                <a:solidFill>
                  <a:srgbClr val="00B0F0"/>
                </a:solidFill>
              </a:rPr>
              <a:t> </a:t>
            </a:r>
            <a:r>
              <a:rPr lang="zh-CN" altLang="en-US" dirty="0"/>
              <a:t>in </a:t>
            </a:r>
            <a:r>
              <a:rPr lang="zh-CN" altLang="en-US" dirty="0">
                <a:solidFill>
                  <a:srgbClr val="00B0F0"/>
                </a:solidFill>
              </a:rPr>
              <a:t>the status register </a:t>
            </a:r>
            <a:r>
              <a:rPr lang="zh-CN" altLang="en-US" dirty="0"/>
              <a:t>(</a:t>
            </a:r>
            <a:r>
              <a:rPr lang="zh-CN" altLang="en-US" dirty="0">
                <a:solidFill>
                  <a:srgbClr val="9900CC"/>
                </a:solidFill>
              </a:rPr>
              <a:t>indicating the input buffer is full</a:t>
            </a:r>
            <a:r>
              <a:rPr lang="zh-CN" altLang="en-US" dirty="0"/>
              <a:t>) for </a:t>
            </a:r>
            <a:r>
              <a:rPr lang="zh-CN" altLang="en-US" dirty="0">
                <a:solidFill>
                  <a:srgbClr val="9900CC"/>
                </a:solidFill>
              </a:rPr>
              <a:t>CPU polling</a:t>
            </a:r>
            <a:r>
              <a:rPr lang="zh-CN" altLang="en-US" dirty="0"/>
              <a:t>. The interface may also </a:t>
            </a:r>
            <a:r>
              <a:rPr lang="zh-CN" altLang="en-US" dirty="0">
                <a:solidFill>
                  <a:srgbClr val="9900CC"/>
                </a:solidFill>
              </a:rPr>
              <a:t>send an interrupt request to the CPU at this point, </a:t>
            </a:r>
            <a:r>
              <a:rPr lang="zh-CN" altLang="en-US" dirty="0"/>
              <a:t>signaling that data has been received.</a:t>
            </a:r>
          </a:p>
          <a:p>
            <a:pPr lvl="1" eaLnBrk="1" hangingPunct="1">
              <a:spcBef>
                <a:spcPct val="0"/>
              </a:spcBef>
              <a:spcAft>
                <a:spcPts val="1800"/>
              </a:spcAft>
            </a:pPr>
            <a:r>
              <a:rPr lang="en-US" altLang="zh-CN" dirty="0"/>
              <a:t>The CPU can access interface data either through query programs or program interrupts.</a:t>
            </a:r>
          </a:p>
          <a:p>
            <a:pPr lvl="1" eaLnBrk="1" hangingPunct="1">
              <a:spcBef>
                <a:spcPct val="0"/>
              </a:spcBef>
              <a:spcAft>
                <a:spcPts val="1800"/>
              </a:spcAft>
            </a:pPr>
            <a:r>
              <a:rPr lang="en-US" altLang="zh-CN" dirty="0">
                <a:solidFill>
                  <a:srgbClr val="9900CC"/>
                </a:solidFill>
              </a:rPr>
              <a:t>After the CPU reads data from the input buffer, </a:t>
            </a:r>
            <a:r>
              <a:rPr lang="en-US" altLang="zh-CN" dirty="0">
                <a:solidFill>
                  <a:srgbClr val="FF0000"/>
                </a:solidFill>
              </a:rPr>
              <a:t>the interface automatically clears the </a:t>
            </a:r>
            <a:r>
              <a:rPr lang="en-US" altLang="zh-CN" dirty="0">
                <a:solidFill>
                  <a:srgbClr val="00B0F0"/>
                </a:solidFill>
              </a:rPr>
              <a:t>input ready status bit </a:t>
            </a:r>
            <a:r>
              <a:rPr lang="en-US" altLang="zh-CN" dirty="0">
                <a:solidFill>
                  <a:srgbClr val="FF0000"/>
                </a:solidFill>
              </a:rPr>
              <a:t>in the status register to 0 </a:t>
            </a:r>
            <a:r>
              <a:rPr lang="en-US" altLang="zh-CN" dirty="0">
                <a:solidFill>
                  <a:srgbClr val="9900CC"/>
                </a:solidFill>
              </a:rPr>
              <a:t>(</a:t>
            </a:r>
            <a:r>
              <a:rPr lang="en-US" altLang="zh-CN" dirty="0">
                <a:solidFill>
                  <a:srgbClr val="00B0F0"/>
                </a:solidFill>
              </a:rPr>
              <a:t>indicating the input buffer is empty</a:t>
            </a:r>
            <a:r>
              <a:rPr lang="en-US" altLang="zh-CN" dirty="0">
                <a:solidFill>
                  <a:srgbClr val="9900CC"/>
                </a:solidFill>
              </a:rPr>
              <a:t>) </a:t>
            </a:r>
            <a:r>
              <a:rPr lang="en-US" altLang="zh-CN" dirty="0">
                <a:solidFill>
                  <a:schemeClr val="tx1"/>
                </a:solidFill>
              </a:rPr>
              <a:t>and sets the data bus to high-impedance state. This completes the data transfer.</a:t>
            </a:r>
            <a:endParaRPr lang="zh-CN" altLang="en-US" dirty="0">
              <a:solidFill>
                <a:schemeClr val="tx1"/>
              </a:solidFill>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42</a:t>
            </a:fld>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noChangeArrowheads="1"/>
          </p:cNvSpPr>
          <p:nvPr>
            <p:ph type="title"/>
          </p:nvPr>
        </p:nvSpPr>
        <p:spPr/>
        <p:txBody>
          <a:bodyPr>
            <a:noAutofit/>
          </a:bodyPr>
          <a:lstStyle/>
          <a:p>
            <a:r>
              <a:rPr lang="en-US" altLang="zh-CN" sz="3600" dirty="0">
                <a:solidFill>
                  <a:srgbClr val="FF0000"/>
                </a:solidFill>
              </a:rPr>
              <a:t>3. Basic input/output operation of parallel communication interface</a:t>
            </a:r>
            <a:endParaRPr lang="zh-CN" altLang="en-US" sz="3600" dirty="0"/>
          </a:p>
        </p:txBody>
      </p:sp>
      <p:sp>
        <p:nvSpPr>
          <p:cNvPr id="489475" name="Rectangle 3"/>
          <p:cNvSpPr>
            <a:spLocks noGrp="1" noChangeArrowheads="1"/>
          </p:cNvSpPr>
          <p:nvPr>
            <p:ph idx="1"/>
          </p:nvPr>
        </p:nvSpPr>
        <p:spPr>
          <a:xfrm>
            <a:off x="822960" y="1282700"/>
            <a:ext cx="7448974" cy="3818467"/>
          </a:xfrm>
        </p:spPr>
        <p:txBody>
          <a:bodyPr/>
          <a:lstStyle/>
          <a:p>
            <a:pPr eaLnBrk="1" hangingPunct="1">
              <a:lnSpc>
                <a:spcPct val="150000"/>
              </a:lnSpc>
              <a:spcBef>
                <a:spcPct val="0"/>
              </a:spcBef>
              <a:buFontTx/>
              <a:buNone/>
            </a:pPr>
            <a:r>
              <a:rPr lang="zh-CN" altLang="en-US" dirty="0">
                <a:solidFill>
                  <a:srgbClr val="FF0000"/>
                </a:solidFill>
              </a:rPr>
              <a:t>(2) Output process</a:t>
            </a:r>
          </a:p>
          <a:p>
            <a:pPr lvl="1" eaLnBrk="1" hangingPunct="1">
              <a:lnSpc>
                <a:spcPct val="150000"/>
              </a:lnSpc>
              <a:spcBef>
                <a:spcPct val="0"/>
              </a:spcBef>
              <a:spcAft>
                <a:spcPts val="1800"/>
              </a:spcAft>
            </a:pPr>
            <a:r>
              <a:rPr lang="zh-CN" altLang="en-US" dirty="0">
                <a:solidFill>
                  <a:srgbClr val="00B0F0"/>
                </a:solidFill>
              </a:rPr>
              <a:t>When a peripheral device retrieves data from the interfaces output buffer register, the interface sets the Output Ready status bit (1) in the status register. </a:t>
            </a:r>
            <a:r>
              <a:rPr lang="zh-CN" altLang="en-US" dirty="0"/>
              <a:t>This indicates that the CPU can now send data to the interface, and the CPU can check this status bit.</a:t>
            </a:r>
          </a:p>
          <a:p>
            <a:pPr lvl="1" eaLnBrk="1" hangingPunct="1">
              <a:lnSpc>
                <a:spcPct val="150000"/>
              </a:lnSpc>
              <a:spcBef>
                <a:spcPct val="0"/>
              </a:spcBef>
            </a:pPr>
            <a:r>
              <a:rPr lang="zh-CN" altLang="en-US" dirty="0"/>
              <a:t>The interface can also send interrupt requests to the CPU at this time. The CPU can output data to the interface either through a query program or a program interrupt.</a:t>
            </a:r>
          </a:p>
        </p:txBody>
      </p:sp>
      <p:sp>
        <p:nvSpPr>
          <p:cNvPr id="2" name="灯片编号占位符 1"/>
          <p:cNvSpPr>
            <a:spLocks noGrp="1"/>
          </p:cNvSpPr>
          <p:nvPr>
            <p:ph type="sldNum" sz="quarter" idx="12"/>
          </p:nvPr>
        </p:nvSpPr>
        <p:spPr/>
        <p:txBody>
          <a:bodyPr/>
          <a:lstStyle/>
          <a:p>
            <a:fld id="{22E77DEE-32E4-4009-988B-F2758F7B8AC2}" type="slidenum">
              <a:rPr lang="zh-CN" altLang="en-US" smtClean="0"/>
              <a:t>43</a:t>
            </a:fld>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5" name="Rectangle 3"/>
          <p:cNvSpPr>
            <a:spLocks noGrp="1" noChangeArrowheads="1"/>
          </p:cNvSpPr>
          <p:nvPr>
            <p:ph idx="1"/>
          </p:nvPr>
        </p:nvSpPr>
        <p:spPr>
          <a:xfrm>
            <a:off x="897467" y="1333499"/>
            <a:ext cx="7469293" cy="4406901"/>
          </a:xfrm>
        </p:spPr>
        <p:txBody>
          <a:bodyPr/>
          <a:lstStyle/>
          <a:p>
            <a:pPr eaLnBrk="1" hangingPunct="1">
              <a:lnSpc>
                <a:spcPct val="104000"/>
              </a:lnSpc>
              <a:spcBef>
                <a:spcPct val="0"/>
              </a:spcBef>
              <a:buFontTx/>
              <a:buNone/>
            </a:pPr>
            <a:r>
              <a:rPr lang="zh-CN" altLang="en-US" dirty="0">
                <a:solidFill>
                  <a:srgbClr val="FF0000"/>
                </a:solidFill>
              </a:rPr>
              <a:t>(2) Output process</a:t>
            </a:r>
          </a:p>
          <a:p>
            <a:pPr lvl="1" eaLnBrk="1" hangingPunct="1">
              <a:lnSpc>
                <a:spcPct val="104000"/>
              </a:lnSpc>
              <a:spcBef>
                <a:spcPct val="0"/>
              </a:spcBef>
              <a:spcAft>
                <a:spcPts val="1800"/>
              </a:spcAft>
            </a:pPr>
            <a:r>
              <a:rPr lang="zh-CN" altLang="en-US" dirty="0">
                <a:solidFill>
                  <a:srgbClr val="9900CC"/>
                </a:solidFill>
              </a:rPr>
              <a:t>When the CPU sends data to </a:t>
            </a:r>
            <a:r>
              <a:rPr lang="zh-CN" altLang="en-US" dirty="0">
                <a:solidFill>
                  <a:srgbClr val="00B0F0"/>
                </a:solidFill>
              </a:rPr>
              <a:t>the output buffer</a:t>
            </a:r>
            <a:r>
              <a:rPr lang="zh-CN" altLang="en-US" dirty="0">
                <a:solidFill>
                  <a:srgbClr val="9900CC"/>
                </a:solidFill>
              </a:rPr>
              <a:t>, </a:t>
            </a:r>
            <a:r>
              <a:rPr lang="zh-CN" altLang="en-US" dirty="0">
                <a:solidFill>
                  <a:srgbClr val="FF0000"/>
                </a:solidFill>
              </a:rPr>
              <a:t>the interface automatically clears </a:t>
            </a:r>
            <a:r>
              <a:rPr lang="zh-CN" altLang="en-US" dirty="0">
                <a:solidFill>
                  <a:srgbClr val="00B0F0"/>
                </a:solidFill>
              </a:rPr>
              <a:t>the output ready status bit</a:t>
            </a:r>
            <a:r>
              <a:rPr lang="zh-CN" altLang="en-US" dirty="0">
                <a:solidFill>
                  <a:srgbClr val="9900CC"/>
                </a:solidFill>
              </a:rPr>
              <a:t> </a:t>
            </a:r>
            <a:r>
              <a:rPr lang="zh-CN" altLang="en-US" dirty="0">
                <a:solidFill>
                  <a:srgbClr val="FF0000"/>
                </a:solidFill>
              </a:rPr>
              <a:t>to 0</a:t>
            </a:r>
            <a:r>
              <a:rPr lang="zh-CN" altLang="en-US" dirty="0">
                <a:solidFill>
                  <a:srgbClr val="9900CC"/>
                </a:solidFill>
              </a:rPr>
              <a:t> (indicating the buffer is full) </a:t>
            </a:r>
            <a:r>
              <a:rPr lang="zh-CN" altLang="en-US" dirty="0">
                <a:solidFill>
                  <a:schemeClr val="tx1"/>
                </a:solidFill>
              </a:rPr>
              <a:t>and transfers the data to the peripherals data line. Simultaneously, it sends </a:t>
            </a:r>
            <a:r>
              <a:rPr lang="zh-CN" altLang="en-US" dirty="0">
                <a:solidFill>
                  <a:srgbClr val="00B0F0"/>
                </a:solidFill>
              </a:rPr>
              <a:t>a start (select) signal </a:t>
            </a:r>
            <a:r>
              <a:rPr lang="zh-CN" altLang="en-US" dirty="0">
                <a:solidFill>
                  <a:schemeClr val="tx1"/>
                </a:solidFill>
              </a:rPr>
              <a:t>to activate the peripherals data reception.</a:t>
            </a:r>
          </a:p>
        </p:txBody>
      </p:sp>
      <p:sp>
        <p:nvSpPr>
          <p:cNvPr id="6" name="Rectangle 3"/>
          <p:cNvSpPr txBox="1">
            <a:spLocks noChangeArrowheads="1"/>
          </p:cNvSpPr>
          <p:nvPr/>
        </p:nvSpPr>
        <p:spPr bwMode="auto">
          <a:xfrm>
            <a:off x="897467" y="2974975"/>
            <a:ext cx="7338063" cy="276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just" rtl="0" eaLnBrk="0" fontAlgn="base" hangingPunct="0">
              <a:lnSpc>
                <a:spcPct val="114000"/>
              </a:lnSpc>
              <a:spcBef>
                <a:spcPts val="0"/>
              </a:spcBef>
              <a:spcAft>
                <a:spcPts val="600"/>
              </a:spcAft>
              <a:buBlip>
                <a:blip r:embed="rId2"/>
              </a:buBlip>
              <a:defRPr sz="2800" b="1">
                <a:solidFill>
                  <a:schemeClr val="accent2"/>
                </a:solidFill>
                <a:latin typeface="+mn-lt"/>
                <a:ea typeface="+mn-ea"/>
                <a:cs typeface="+mn-cs"/>
              </a:defRPr>
            </a:lvl1pPr>
            <a:lvl2pPr marL="263525" indent="-180975" algn="just" rtl="0" eaLnBrk="0" fontAlgn="base" hangingPunct="0">
              <a:lnSpc>
                <a:spcPct val="114000"/>
              </a:lnSpc>
              <a:spcBef>
                <a:spcPts val="0"/>
              </a:spcBef>
              <a:spcAft>
                <a:spcPts val="600"/>
              </a:spcAft>
              <a:buBlip>
                <a:blip r:embed="rId3"/>
              </a:buBlip>
              <a:defRPr sz="2800" b="1">
                <a:solidFill>
                  <a:schemeClr val="tx1"/>
                </a:solidFill>
                <a:latin typeface="+mn-lt"/>
                <a:ea typeface="+mn-ea"/>
              </a:defRPr>
            </a:lvl2pPr>
            <a:lvl3pPr marL="1143000" indent="-228600" algn="just"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just"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just"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lvl="1" eaLnBrk="1" hangingPunct="1">
              <a:lnSpc>
                <a:spcPct val="104000"/>
              </a:lnSpc>
              <a:spcAft>
                <a:spcPts val="1200"/>
              </a:spcAft>
              <a:defRPr/>
            </a:pPr>
            <a:r>
              <a:rPr lang="zh-CN" altLang="en-US" sz="1800" kern="0" dirty="0"/>
              <a:t>After the peripheral device starts, it begins receiving data and sends a </a:t>
            </a:r>
            <a:r>
              <a:rPr lang="zh-CN" altLang="en-US" sz="1800" kern="0" dirty="0">
                <a:solidFill>
                  <a:srgbClr val="00B0F0"/>
                </a:solidFill>
              </a:rPr>
              <a:t>data output response </a:t>
            </a:r>
            <a:r>
              <a:rPr lang="zh-CN" altLang="en-US" sz="1800" kern="0" dirty="0"/>
              <a:t>(</a:t>
            </a:r>
            <a:r>
              <a:rPr lang="zh-CN" altLang="en-US" sz="1800" kern="0" dirty="0">
                <a:solidFill>
                  <a:srgbClr val="FF0000"/>
                </a:solidFill>
              </a:rPr>
              <a:t>data ready</a:t>
            </a:r>
            <a:r>
              <a:rPr lang="zh-CN" altLang="en-US" sz="1800" kern="0" dirty="0"/>
              <a:t>) signal to the interface (</a:t>
            </a:r>
            <a:r>
              <a:rPr lang="zh-CN" altLang="en-US" sz="1800" kern="0" dirty="0">
                <a:solidFill>
                  <a:srgbClr val="9900CC"/>
                </a:solidFill>
              </a:rPr>
              <a:t>from the pin, indicating that the peripheral device has retrieved the data and the interface can transmit data to the peripheral device</a:t>
            </a:r>
            <a:r>
              <a:rPr lang="zh-CN" altLang="en-US" sz="1800" kern="0" dirty="0"/>
              <a:t>).</a:t>
            </a:r>
          </a:p>
          <a:p>
            <a:pPr lvl="1" eaLnBrk="1" hangingPunct="1">
              <a:lnSpc>
                <a:spcPct val="104000"/>
              </a:lnSpc>
              <a:spcAft>
                <a:spcPts val="1200"/>
              </a:spcAft>
              <a:defRPr/>
            </a:pPr>
            <a:r>
              <a:rPr lang="zh-CN" altLang="en-US" sz="1800" kern="0" dirty="0"/>
              <a:t>The interface receives this signal and </a:t>
            </a:r>
            <a:r>
              <a:rPr lang="zh-CN" altLang="en-US" sz="1800" kern="0" dirty="0">
                <a:solidFill>
                  <a:srgbClr val="00B0F0"/>
                </a:solidFill>
              </a:rPr>
              <a:t>sets the Output Ready status in the status register position 1</a:t>
            </a:r>
            <a:r>
              <a:rPr lang="zh-CN" altLang="en-US" sz="1800" kern="0" dirty="0">
                <a:solidFill>
                  <a:srgbClr val="9900CC"/>
                </a:solidFill>
              </a:rPr>
              <a:t>, (indicating the output buffer is empty</a:t>
            </a:r>
            <a:r>
              <a:rPr lang="zh-CN" altLang="en-US" sz="1800" kern="0" dirty="0"/>
              <a:t>), allowing the CPU to send </a:t>
            </a:r>
            <a:r>
              <a:rPr lang="zh-CN" altLang="en-US" sz="1800" kern="0" dirty="0">
                <a:solidFill>
                  <a:srgbClr val="00B0F0"/>
                </a:solidFill>
              </a:rPr>
              <a:t>the next data to the buffer.</a:t>
            </a:r>
          </a:p>
        </p:txBody>
      </p:sp>
      <p:sp>
        <p:nvSpPr>
          <p:cNvPr id="2" name="灯片编号占位符 1"/>
          <p:cNvSpPr>
            <a:spLocks noGrp="1"/>
          </p:cNvSpPr>
          <p:nvPr>
            <p:ph type="sldNum" sz="quarter" idx="12"/>
          </p:nvPr>
        </p:nvSpPr>
        <p:spPr/>
        <p:txBody>
          <a:bodyPr/>
          <a:lstStyle/>
          <a:p>
            <a:fld id="{22E77DEE-32E4-4009-988B-F2758F7B8AC2}" type="slidenum">
              <a:rPr lang="zh-CN" altLang="en-US" smtClean="0"/>
              <a:t>44</a:t>
            </a:fld>
            <a:endParaRPr lang="zh-CN" altLang="en-US"/>
          </a:p>
        </p:txBody>
      </p:sp>
      <p:sp>
        <p:nvSpPr>
          <p:cNvPr id="7" name="标题 1">
            <a:extLst>
              <a:ext uri="{FF2B5EF4-FFF2-40B4-BE49-F238E27FC236}">
                <a16:creationId xmlns:a16="http://schemas.microsoft.com/office/drawing/2014/main" id="{77FF6120-ACD5-59FA-476F-8840B86FE9FD}"/>
              </a:ext>
            </a:extLst>
          </p:cNvPr>
          <p:cNvSpPr>
            <a:spLocks noGrp="1" noChangeArrowheads="1"/>
          </p:cNvSpPr>
          <p:nvPr>
            <p:ph type="title"/>
          </p:nvPr>
        </p:nvSpPr>
        <p:spPr>
          <a:xfrm>
            <a:off x="822960" y="286605"/>
            <a:ext cx="7543800" cy="831478"/>
          </a:xfrm>
        </p:spPr>
        <p:txBody>
          <a:bodyPr>
            <a:noAutofit/>
          </a:bodyPr>
          <a:lstStyle/>
          <a:p>
            <a:r>
              <a:rPr lang="en-US" altLang="zh-CN" sz="3600" dirty="0">
                <a:solidFill>
                  <a:srgbClr val="FF0000"/>
                </a:solidFill>
              </a:rPr>
              <a:t>3. Basic input/output operation of parallel communication interface</a:t>
            </a:r>
            <a:endParaRPr lang="zh-CN" altLang="en-US" sz="3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105409" y="5300418"/>
            <a:ext cx="4466591" cy="553998"/>
          </a:xfrm>
          <a:prstGeom prst="rect">
            <a:avLst/>
          </a:prstGeom>
          <a:solidFill>
            <a:schemeClr val="bg1"/>
          </a:solidFill>
          <a:ln w="9525">
            <a:solidFill>
              <a:srgbClr val="FF00FF"/>
            </a:solidFill>
            <a:miter lim="800000"/>
          </a:ln>
        </p:spPr>
        <p:txBody>
          <a:bodyPr wrap="square" lIns="36000" tIns="0" rIns="3600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en-US" altLang="zh-CN" b="1" dirty="0" err="1">
                <a:solidFill>
                  <a:srgbClr val="3333FF"/>
                </a:solidFill>
                <a:latin typeface="+mn-lt"/>
              </a:rPr>
              <a:t>sfr</a:t>
            </a:r>
            <a:r>
              <a:rPr lang="en-US" altLang="zh-CN" b="1" dirty="0">
                <a:solidFill>
                  <a:srgbClr val="3333FF"/>
                </a:solidFill>
                <a:latin typeface="+mn-lt"/>
              </a:rPr>
              <a:t> </a:t>
            </a:r>
            <a:r>
              <a:rPr lang="en-US" altLang="zh-CN" b="1" dirty="0">
                <a:solidFill>
                  <a:srgbClr val="FF00FF"/>
                </a:solidFill>
                <a:latin typeface="+mn-lt"/>
              </a:rPr>
              <a:t>SBUF</a:t>
            </a:r>
            <a:r>
              <a:rPr lang="en-US" altLang="zh-CN" b="1" dirty="0">
                <a:solidFill>
                  <a:srgbClr val="3333FF"/>
                </a:solidFill>
                <a:latin typeface="+mn-lt"/>
              </a:rPr>
              <a:t> = 0x99; // Serial Port 1 Data Register</a:t>
            </a:r>
            <a:endParaRPr lang="zh-CN" altLang="en-US" b="1" dirty="0">
              <a:solidFill>
                <a:srgbClr val="3333FF"/>
              </a:solidFill>
              <a:latin typeface="+mn-lt"/>
            </a:endParaRPr>
          </a:p>
          <a:p>
            <a:pPr algn="l" eaLnBrk="1" hangingPunct="1"/>
            <a:r>
              <a:rPr lang="en-US" altLang="zh-CN" b="1" dirty="0" err="1">
                <a:solidFill>
                  <a:srgbClr val="3333FF"/>
                </a:solidFill>
                <a:latin typeface="+mn-lt"/>
              </a:rPr>
              <a:t>sfr</a:t>
            </a:r>
            <a:r>
              <a:rPr lang="en-US" altLang="zh-CN" b="1" dirty="0">
                <a:solidFill>
                  <a:srgbClr val="3333FF"/>
                </a:solidFill>
                <a:latin typeface="+mn-lt"/>
              </a:rPr>
              <a:t> </a:t>
            </a:r>
            <a:r>
              <a:rPr lang="en-US" altLang="zh-CN" b="1" dirty="0">
                <a:solidFill>
                  <a:srgbClr val="FF00FF"/>
                </a:solidFill>
                <a:latin typeface="+mn-lt"/>
              </a:rPr>
              <a:t>S2BUF</a:t>
            </a:r>
            <a:r>
              <a:rPr lang="en-US" altLang="zh-CN" b="1" dirty="0">
                <a:solidFill>
                  <a:srgbClr val="3333FF"/>
                </a:solidFill>
                <a:latin typeface="+mn-lt"/>
              </a:rPr>
              <a:t>=0x9B; // Serial Port 2 Data Register</a:t>
            </a:r>
            <a:endParaRPr lang="zh-CN" altLang="en-US" b="1" dirty="0">
              <a:solidFill>
                <a:srgbClr val="3333FF"/>
              </a:solidFill>
              <a:latin typeface="+mn-lt"/>
            </a:endParaRPr>
          </a:p>
        </p:txBody>
      </p:sp>
      <p:sp>
        <p:nvSpPr>
          <p:cNvPr id="65539" name="Rectangle 4"/>
          <p:cNvSpPr>
            <a:spLocks noGrp="1" noChangeArrowheads="1"/>
          </p:cNvSpPr>
          <p:nvPr>
            <p:ph type="title"/>
          </p:nvPr>
        </p:nvSpPr>
        <p:spPr/>
        <p:txBody>
          <a:bodyPr>
            <a:normAutofit/>
          </a:bodyPr>
          <a:lstStyle/>
          <a:p>
            <a:pPr eaLnBrk="1" hangingPunct="1"/>
            <a:r>
              <a:rPr lang="en-US" altLang="zh-CN" sz="3600" dirty="0"/>
              <a:t>2 Serial Interface</a:t>
            </a:r>
            <a:endParaRPr lang="zh-CN" altLang="en-US" sz="3600" dirty="0"/>
          </a:p>
        </p:txBody>
      </p:sp>
      <p:sp>
        <p:nvSpPr>
          <p:cNvPr id="190469" name="Rectangle 5"/>
          <p:cNvSpPr>
            <a:spLocks noGrp="1" noChangeArrowheads="1"/>
          </p:cNvSpPr>
          <p:nvPr>
            <p:ph idx="1"/>
          </p:nvPr>
        </p:nvSpPr>
        <p:spPr>
          <a:xfrm>
            <a:off x="800100" y="1280583"/>
            <a:ext cx="7543800" cy="2148417"/>
          </a:xfrm>
        </p:spPr>
        <p:txBody>
          <a:bodyPr/>
          <a:lstStyle/>
          <a:p>
            <a:pPr marL="609600" indent="-609600" eaLnBrk="1" hangingPunct="1">
              <a:lnSpc>
                <a:spcPct val="105000"/>
              </a:lnSpc>
              <a:buFontTx/>
              <a:buNone/>
              <a:defRPr/>
            </a:pPr>
            <a:r>
              <a:rPr lang="en-US" altLang="zh-CN" dirty="0">
                <a:solidFill>
                  <a:srgbClr val="FF0000"/>
                </a:solidFill>
              </a:rPr>
              <a:t>2.1 Microcontroller Serial Interface</a:t>
            </a:r>
          </a:p>
          <a:p>
            <a:pPr eaLnBrk="1" hangingPunct="1">
              <a:lnSpc>
                <a:spcPct val="105000"/>
              </a:lnSpc>
              <a:buFont typeface="Wingdings" panose="05000000000000000000" pitchFamily="2" charset="2"/>
              <a:buChar char="Ø"/>
              <a:defRPr/>
            </a:pPr>
            <a:r>
              <a:rPr lang="en-US" altLang="zh-CN" dirty="0"/>
              <a:t>The IAP15W4K58 S4 microcontroller features four full-duplex serial communication interfaces (</a:t>
            </a:r>
            <a:r>
              <a:rPr lang="en-US" altLang="zh-CN" dirty="0">
                <a:solidFill>
                  <a:srgbClr val="C00000"/>
                </a:solidFill>
              </a:rPr>
              <a:t>UART 1, UART 2, UART 3, and UART 4</a:t>
            </a:r>
            <a:r>
              <a:rPr lang="en-US" altLang="zh-CN" dirty="0"/>
              <a:t>).</a:t>
            </a:r>
          </a:p>
          <a:p>
            <a:pPr eaLnBrk="1" hangingPunct="1">
              <a:lnSpc>
                <a:spcPct val="105000"/>
              </a:lnSpc>
              <a:buFont typeface="Wingdings" panose="05000000000000000000" pitchFamily="2" charset="2"/>
              <a:buChar char="Ø"/>
              <a:defRPr/>
            </a:pPr>
            <a:r>
              <a:rPr lang="zh-CN" altLang="en-US" dirty="0"/>
              <a:t>Each serial port consists of </a:t>
            </a:r>
            <a:r>
              <a:rPr lang="zh-CN" altLang="en-US" dirty="0">
                <a:solidFill>
                  <a:srgbClr val="00B0F0"/>
                </a:solidFill>
              </a:rPr>
              <a:t>two data buffers, one (input) shift register</a:t>
            </a:r>
            <a:r>
              <a:rPr lang="zh-CN" altLang="en-US" dirty="0"/>
              <a:t>, </a:t>
            </a:r>
            <a:r>
              <a:rPr lang="zh-CN" altLang="en-US" dirty="0">
                <a:solidFill>
                  <a:srgbClr val="FF0000"/>
                </a:solidFill>
              </a:rPr>
              <a:t>one serial control register, and a baud rate generator.</a:t>
            </a:r>
          </a:p>
        </p:txBody>
      </p:sp>
      <p:sp>
        <p:nvSpPr>
          <p:cNvPr id="9" name="矩形 8"/>
          <p:cNvSpPr>
            <a:spLocks noChangeArrowheads="1"/>
          </p:cNvSpPr>
          <p:nvPr/>
        </p:nvSpPr>
        <p:spPr bwMode="auto">
          <a:xfrm>
            <a:off x="4624702" y="5300418"/>
            <a:ext cx="4466591" cy="553998"/>
          </a:xfrm>
          <a:prstGeom prst="rect">
            <a:avLst/>
          </a:prstGeom>
          <a:solidFill>
            <a:schemeClr val="bg1"/>
          </a:solidFill>
          <a:ln w="9525">
            <a:solidFill>
              <a:srgbClr val="FF00FF"/>
            </a:solidFill>
            <a:miter lim="800000"/>
          </a:ln>
        </p:spPr>
        <p:txBody>
          <a:bodyPr wrap="square" lIns="36000" tIns="0" rIns="3600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en-US" altLang="zh-CN" b="1" dirty="0" err="1">
                <a:solidFill>
                  <a:srgbClr val="3333FF"/>
                </a:solidFill>
                <a:latin typeface="+mn-lt"/>
              </a:rPr>
              <a:t>sfr</a:t>
            </a:r>
            <a:r>
              <a:rPr lang="en-US" altLang="zh-CN" b="1" dirty="0">
                <a:solidFill>
                  <a:srgbClr val="3333FF"/>
                </a:solidFill>
                <a:latin typeface="+mn-lt"/>
              </a:rPr>
              <a:t> </a:t>
            </a:r>
            <a:r>
              <a:rPr lang="en-US" altLang="zh-CN" b="1" dirty="0">
                <a:solidFill>
                  <a:srgbClr val="FF00FF"/>
                </a:solidFill>
                <a:latin typeface="+mn-lt"/>
              </a:rPr>
              <a:t>S3BUF</a:t>
            </a:r>
            <a:r>
              <a:rPr lang="en-US" altLang="zh-CN" b="1" dirty="0">
                <a:solidFill>
                  <a:srgbClr val="3333FF"/>
                </a:solidFill>
                <a:latin typeface="+mn-lt"/>
              </a:rPr>
              <a:t>=0xAD; // Serial Port 3 Data Register</a:t>
            </a:r>
          </a:p>
          <a:p>
            <a:pPr algn="l" eaLnBrk="1" hangingPunct="1"/>
            <a:r>
              <a:rPr lang="en-US" altLang="zh-CN" b="1" dirty="0" err="1">
                <a:solidFill>
                  <a:srgbClr val="3333FF"/>
                </a:solidFill>
                <a:latin typeface="+mn-lt"/>
              </a:rPr>
              <a:t>sfr</a:t>
            </a:r>
            <a:r>
              <a:rPr lang="en-US" altLang="zh-CN" b="1" dirty="0">
                <a:solidFill>
                  <a:srgbClr val="3333FF"/>
                </a:solidFill>
                <a:latin typeface="+mn-lt"/>
              </a:rPr>
              <a:t> </a:t>
            </a:r>
            <a:r>
              <a:rPr lang="en-US" altLang="zh-CN" b="1" dirty="0">
                <a:solidFill>
                  <a:srgbClr val="FF00FF"/>
                </a:solidFill>
                <a:latin typeface="+mn-lt"/>
              </a:rPr>
              <a:t>S4BUF</a:t>
            </a:r>
            <a:r>
              <a:rPr lang="en-US" altLang="zh-CN" b="1" dirty="0">
                <a:solidFill>
                  <a:srgbClr val="3333FF"/>
                </a:solidFill>
                <a:latin typeface="+mn-lt"/>
              </a:rPr>
              <a:t>=0x85; // Serial Port 4 Data Register</a:t>
            </a:r>
          </a:p>
        </p:txBody>
      </p:sp>
      <p:sp>
        <p:nvSpPr>
          <p:cNvPr id="8" name="Rectangle 3"/>
          <p:cNvSpPr txBox="1">
            <a:spLocks noChangeArrowheads="1"/>
          </p:cNvSpPr>
          <p:nvPr/>
        </p:nvSpPr>
        <p:spPr bwMode="auto">
          <a:xfrm>
            <a:off x="5641180" y="412750"/>
            <a:ext cx="2433637" cy="694592"/>
          </a:xfrm>
          <a:prstGeom prst="rect">
            <a:avLst/>
          </a:prstGeom>
          <a:solidFill>
            <a:schemeClr val="bg1"/>
          </a:solidFill>
          <a:ln w="9525">
            <a:solidFill>
              <a:srgbClr val="FF00FF"/>
            </a:solidFill>
            <a:miter lim="800000"/>
          </a:ln>
        </p:spPr>
        <p:txBody>
          <a:bodyPr lIns="36000" tIns="36000" rIns="0" bIns="0"/>
          <a:lstStyle>
            <a:lvl1pPr marL="263525" indent="-263525" algn="just">
              <a:lnSpc>
                <a:spcPct val="114000"/>
              </a:lnSpc>
              <a:spcAft>
                <a:spcPts val="600"/>
              </a:spcAft>
              <a:buBlip>
                <a:blip r:embed="rId2"/>
              </a:buBlip>
              <a:defRPr sz="2800" b="1">
                <a:solidFill>
                  <a:schemeClr val="accent2"/>
                </a:solidFill>
                <a:latin typeface="Times New Roman" panose="02020603050405020304" pitchFamily="18" charset="0"/>
                <a:ea typeface="宋体" panose="02010600030101010101" pitchFamily="2" charset="-122"/>
              </a:defRPr>
            </a:lvl1pPr>
            <a:lvl2pPr algn="just">
              <a:lnSpc>
                <a:spcPct val="114000"/>
              </a:lnSpc>
              <a:spcAft>
                <a:spcPts val="600"/>
              </a:spcAft>
              <a:buBlip>
                <a:blip r:embed="rId3"/>
              </a:buBlip>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9pPr>
          </a:lstStyle>
          <a:p>
            <a:pPr marL="0" lvl="1" algn="l" eaLnBrk="1" hangingPunct="1">
              <a:lnSpc>
                <a:spcPct val="95000"/>
              </a:lnSpc>
              <a:buFontTx/>
              <a:buNone/>
            </a:pPr>
            <a:r>
              <a:rPr lang="zh-CN" altLang="en-US" sz="1800" dirty="0">
                <a:solidFill>
                  <a:srgbClr val="0000FF"/>
                </a:solidFill>
                <a:hlinkClick r:id="rId4" action="ppaction://hlinksldjump">
                  <a:extLst>
                    <a:ext uri="{A12FA001-AC4F-418D-AE19-62706E023703}">
                      <ahyp:hlinkClr xmlns:ahyp="http://schemas.microsoft.com/office/drawing/2018/hyperlinkcolor" val="tx"/>
                    </a:ext>
                  </a:extLst>
                </a:hlinkClick>
              </a:rPr>
              <a:t>The buffer also acts as an </a:t>
            </a:r>
            <a:r>
              <a:rPr lang="zh-CN" altLang="en-US" sz="1800" dirty="0">
                <a:solidFill>
                  <a:srgbClr val="00B0F0"/>
                </a:solidFill>
                <a:hlinkClick r:id="rId4" action="ppaction://hlinksldjump">
                  <a:extLst>
                    <a:ext uri="{A12FA001-AC4F-418D-AE19-62706E023703}">
                      <ahyp:hlinkClr xmlns:ahyp="http://schemas.microsoft.com/office/drawing/2018/hyperlinkcolor" val="tx"/>
                    </a:ext>
                  </a:extLst>
                </a:hlinkClick>
              </a:rPr>
              <a:t>output shift register</a:t>
            </a:r>
            <a:endParaRPr lang="zh-CN" altLang="en-US" sz="1800" dirty="0">
              <a:solidFill>
                <a:srgbClr val="00B0F0"/>
              </a:solidFill>
            </a:endParaRPr>
          </a:p>
        </p:txBody>
      </p:sp>
      <p:sp>
        <p:nvSpPr>
          <p:cNvPr id="3" name="灯片编号占位符 2"/>
          <p:cNvSpPr>
            <a:spLocks noGrp="1"/>
          </p:cNvSpPr>
          <p:nvPr>
            <p:ph type="sldNum" sz="quarter" idx="12"/>
          </p:nvPr>
        </p:nvSpPr>
        <p:spPr/>
        <p:txBody>
          <a:bodyPr/>
          <a:lstStyle/>
          <a:p>
            <a:fld id="{22E77DEE-32E4-4009-988B-F2758F7B8AC2}" type="slidenum">
              <a:rPr lang="zh-CN" altLang="en-US" smtClean="0"/>
              <a:t>45</a:t>
            </a:fld>
            <a:endParaRPr lang="zh-CN" altLang="en-US"/>
          </a:p>
        </p:txBody>
      </p:sp>
      <p:sp>
        <p:nvSpPr>
          <p:cNvPr id="6" name="Rectangle 3">
            <a:extLst>
              <a:ext uri="{FF2B5EF4-FFF2-40B4-BE49-F238E27FC236}">
                <a16:creationId xmlns:a16="http://schemas.microsoft.com/office/drawing/2014/main" id="{D7355B73-0C76-AAAC-532F-0C997EB965D4}"/>
              </a:ext>
            </a:extLst>
          </p:cNvPr>
          <p:cNvSpPr txBox="1">
            <a:spLocks noChangeArrowheads="1"/>
          </p:cNvSpPr>
          <p:nvPr/>
        </p:nvSpPr>
        <p:spPr bwMode="auto">
          <a:xfrm>
            <a:off x="700403" y="3361633"/>
            <a:ext cx="7577667" cy="1705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just" rtl="0" eaLnBrk="0" fontAlgn="base" hangingPunct="0">
              <a:lnSpc>
                <a:spcPct val="114000"/>
              </a:lnSpc>
              <a:spcBef>
                <a:spcPts val="0"/>
              </a:spcBef>
              <a:spcAft>
                <a:spcPts val="600"/>
              </a:spcAft>
              <a:buBlip>
                <a:blip r:embed="rId2"/>
              </a:buBlip>
              <a:defRPr sz="2800" b="1">
                <a:solidFill>
                  <a:schemeClr val="accent2"/>
                </a:solidFill>
                <a:latin typeface="+mn-lt"/>
                <a:ea typeface="+mn-ea"/>
                <a:cs typeface="+mn-cs"/>
              </a:defRPr>
            </a:lvl1pPr>
            <a:lvl2pPr marL="263525" indent="-180975" algn="just" rtl="0" eaLnBrk="0" fontAlgn="base" hangingPunct="0">
              <a:lnSpc>
                <a:spcPct val="114000"/>
              </a:lnSpc>
              <a:spcBef>
                <a:spcPts val="0"/>
              </a:spcBef>
              <a:spcAft>
                <a:spcPts val="600"/>
              </a:spcAft>
              <a:buBlip>
                <a:blip r:embed="rId3"/>
              </a:buBlip>
              <a:defRPr sz="2800" b="1">
                <a:solidFill>
                  <a:schemeClr val="tx1"/>
                </a:solidFill>
                <a:latin typeface="+mn-lt"/>
                <a:ea typeface="+mn-ea"/>
              </a:defRPr>
            </a:lvl2pPr>
            <a:lvl3pPr marL="1143000" indent="-228600" algn="just"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just"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just"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lvl="1" eaLnBrk="1" hangingPunct="1">
              <a:lnSpc>
                <a:spcPct val="105000"/>
              </a:lnSpc>
              <a:defRPr/>
            </a:pPr>
            <a:r>
              <a:rPr lang="en-US" altLang="zh-CN" sz="1800" kern="0" dirty="0"/>
              <a:t>The data buffer of </a:t>
            </a:r>
            <a:r>
              <a:rPr lang="en-US" altLang="zh-CN" sz="1800" kern="0" dirty="0">
                <a:solidFill>
                  <a:srgbClr val="FF0000"/>
                </a:solidFill>
              </a:rPr>
              <a:t>each serial port consists of a serial receive buffer and a transmit buffer</a:t>
            </a:r>
            <a:r>
              <a:rPr lang="en-US" altLang="zh-CN" sz="1800" kern="0" dirty="0"/>
              <a:t>, which are physically independent and can receive and transmit data, and can transmit and receive data simultaneously.</a:t>
            </a:r>
            <a:endParaRPr lang="zh-CN" altLang="en-US" sz="1800" kern="0" dirty="0"/>
          </a:p>
          <a:p>
            <a:pPr lvl="1" eaLnBrk="1" hangingPunct="1">
              <a:lnSpc>
                <a:spcPct val="105000"/>
              </a:lnSpc>
              <a:defRPr/>
            </a:pPr>
            <a:r>
              <a:rPr lang="en-US" altLang="zh-CN" sz="1800" kern="0" dirty="0"/>
              <a:t>The receive buffer can only read, not write, while the send buffer can only write, not read. </a:t>
            </a:r>
            <a:r>
              <a:rPr lang="en-US" altLang="zh-CN" sz="1800" kern="0" dirty="0">
                <a:solidFill>
                  <a:srgbClr val="FF0000"/>
                </a:solidFill>
              </a:rPr>
              <a:t>They share the same address number.</a:t>
            </a:r>
          </a:p>
          <a:p>
            <a:pPr marL="82550" lvl="1" indent="0" eaLnBrk="1" hangingPunct="1">
              <a:lnSpc>
                <a:spcPct val="105000"/>
              </a:lnSpc>
              <a:buNone/>
              <a:defRPr/>
            </a:pPr>
            <a:endParaRPr lang="zh-CN" altLang="en-US" sz="1800" kern="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1"/>
          <p:cNvSpPr>
            <a:spLocks noGrp="1" noChangeArrowheads="1"/>
          </p:cNvSpPr>
          <p:nvPr>
            <p:ph type="title"/>
          </p:nvPr>
        </p:nvSpPr>
        <p:spPr>
          <a:xfrm>
            <a:off x="822960" y="286605"/>
            <a:ext cx="7822276" cy="831478"/>
          </a:xfrm>
        </p:spPr>
        <p:txBody>
          <a:bodyPr>
            <a:noAutofit/>
          </a:bodyPr>
          <a:lstStyle/>
          <a:p>
            <a:r>
              <a:rPr lang="en-US" altLang="zh-CN" sz="3600" dirty="0"/>
              <a:t>2.2 RS232 Serial Communication Interface</a:t>
            </a:r>
            <a:endParaRPr lang="zh-CN" altLang="en-US" sz="3600" dirty="0"/>
          </a:p>
        </p:txBody>
      </p:sp>
      <p:sp>
        <p:nvSpPr>
          <p:cNvPr id="443395" name="Rectangle 3"/>
          <p:cNvSpPr>
            <a:spLocks noGrp="1" noChangeArrowheads="1"/>
          </p:cNvSpPr>
          <p:nvPr>
            <p:ph idx="1"/>
          </p:nvPr>
        </p:nvSpPr>
        <p:spPr>
          <a:xfrm>
            <a:off x="626110" y="1340909"/>
            <a:ext cx="7937500" cy="4339455"/>
          </a:xfrm>
        </p:spPr>
        <p:txBody>
          <a:bodyPr>
            <a:normAutofit/>
          </a:bodyPr>
          <a:lstStyle/>
          <a:p>
            <a:pPr eaLnBrk="1" hangingPunct="1">
              <a:spcBef>
                <a:spcPct val="0"/>
              </a:spcBef>
              <a:spcAft>
                <a:spcPts val="1200"/>
              </a:spcAft>
              <a:buFont typeface="Wingdings" panose="05000000000000000000" pitchFamily="2" charset="2"/>
              <a:buChar char="Ø"/>
            </a:pPr>
            <a:r>
              <a:rPr lang="zh-CN" altLang="en-US" dirty="0"/>
              <a:t>In the computer-centered </a:t>
            </a:r>
            <a:r>
              <a:rPr lang="zh-CN" altLang="en-US" dirty="0">
                <a:solidFill>
                  <a:srgbClr val="FF0000"/>
                </a:solidFill>
              </a:rPr>
              <a:t>data acquisition and control system</a:t>
            </a:r>
            <a:r>
              <a:rPr lang="zh-CN" altLang="en-US" dirty="0"/>
              <a:t>, it is usually necessary to use </a:t>
            </a:r>
            <a:r>
              <a:rPr lang="zh-CN" altLang="en-US" dirty="0">
                <a:solidFill>
                  <a:srgbClr val="FF00FF"/>
                </a:solidFill>
              </a:rPr>
              <a:t>the microcontroller to collect data</a:t>
            </a:r>
            <a:r>
              <a:rPr lang="zh-CN" altLang="en-US" dirty="0"/>
              <a:t>, and then </a:t>
            </a:r>
            <a:r>
              <a:rPr lang="zh-CN" altLang="en-US" dirty="0">
                <a:solidFill>
                  <a:srgbClr val="FF00FF"/>
                </a:solidFill>
              </a:rPr>
              <a:t>send the data to the computer by asynchronous serial communication;</a:t>
            </a:r>
            <a:endParaRPr lang="en-US" altLang="zh-CN" dirty="0">
              <a:solidFill>
                <a:srgbClr val="FF00FF"/>
              </a:solidFill>
            </a:endParaRPr>
          </a:p>
          <a:p>
            <a:pPr eaLnBrk="1" hangingPunct="1">
              <a:spcBef>
                <a:spcPct val="0"/>
              </a:spcBef>
              <a:spcAft>
                <a:spcPts val="1200"/>
              </a:spcAft>
              <a:buFont typeface="Wingdings" panose="05000000000000000000" pitchFamily="2" charset="2"/>
              <a:buChar char="Ø"/>
            </a:pPr>
            <a:endParaRPr lang="en-US" altLang="zh-CN" dirty="0"/>
          </a:p>
          <a:p>
            <a:pPr eaLnBrk="1" hangingPunct="1">
              <a:spcBef>
                <a:spcPct val="0"/>
              </a:spcBef>
              <a:spcAft>
                <a:spcPts val="1200"/>
              </a:spcAft>
              <a:buFont typeface="Wingdings" panose="05000000000000000000" pitchFamily="2" charset="2"/>
              <a:buChar char="Ø"/>
            </a:pPr>
            <a:r>
              <a:rPr lang="zh-CN" altLang="en-US" dirty="0"/>
              <a:t>The control command to be completed is sent to the microcontroller by the computer through serial communication, and </a:t>
            </a:r>
            <a:r>
              <a:rPr lang="zh-CN" altLang="en-US" dirty="0">
                <a:solidFill>
                  <a:srgbClr val="FF00FF"/>
                </a:solidFill>
              </a:rPr>
              <a:t>the microcontroller controls it.</a:t>
            </a:r>
            <a:endParaRPr lang="en-US" altLang="zh-CN" dirty="0">
              <a:solidFill>
                <a:srgbClr val="FF00FF"/>
              </a:solidFill>
            </a:endParaRPr>
          </a:p>
          <a:p>
            <a:pPr eaLnBrk="1" hangingPunct="1">
              <a:spcBef>
                <a:spcPct val="0"/>
              </a:spcBef>
              <a:spcAft>
                <a:spcPts val="1200"/>
              </a:spcAft>
              <a:buFont typeface="Wingdings" panose="05000000000000000000" pitchFamily="2" charset="2"/>
              <a:buChar char="Ø"/>
            </a:pPr>
            <a:endParaRPr lang="zh-CN" altLang="en-US" dirty="0"/>
          </a:p>
          <a:p>
            <a:pPr eaLnBrk="1" hangingPunct="1">
              <a:spcBef>
                <a:spcPct val="0"/>
              </a:spcBef>
              <a:spcAft>
                <a:spcPts val="1200"/>
              </a:spcAft>
              <a:buFont typeface="Wingdings" panose="05000000000000000000" pitchFamily="2" charset="2"/>
              <a:buChar char="Ø"/>
            </a:pPr>
            <a:r>
              <a:rPr lang="zh-CN" altLang="en-US" dirty="0"/>
              <a:t>Serial communication between computers and microcontrollers typically utilizes </a:t>
            </a:r>
            <a:r>
              <a:rPr lang="zh-CN" altLang="en-US" dirty="0">
                <a:solidFill>
                  <a:srgbClr val="FF0000"/>
                </a:solidFill>
              </a:rPr>
              <a:t>RS-232 or RS-485 </a:t>
            </a:r>
            <a:r>
              <a:rPr lang="zh-CN" altLang="en-US" dirty="0"/>
              <a:t>bus standard interfaces. This article presents a design methodology for RS-232 interface serial communication.</a:t>
            </a:r>
          </a:p>
        </p:txBody>
      </p:sp>
      <p:sp>
        <p:nvSpPr>
          <p:cNvPr id="2" name="灯片编号占位符 1"/>
          <p:cNvSpPr>
            <a:spLocks noGrp="1"/>
          </p:cNvSpPr>
          <p:nvPr>
            <p:ph type="sldNum" sz="quarter" idx="12"/>
          </p:nvPr>
        </p:nvSpPr>
        <p:spPr/>
        <p:txBody>
          <a:bodyPr/>
          <a:lstStyle/>
          <a:p>
            <a:fld id="{22E77DEE-32E4-4009-988B-F2758F7B8AC2}" type="slidenum">
              <a:rPr lang="zh-CN" altLang="en-US" smtClean="0"/>
              <a:t>46</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43395">
                                            <p:txEl>
                                              <p:pRg st="0" end="0"/>
                                            </p:txEl>
                                          </p:spTgt>
                                        </p:tgtEl>
                                        <p:attrNameLst>
                                          <p:attrName>style.visibility</p:attrName>
                                        </p:attrNameLst>
                                      </p:cBhvr>
                                      <p:to>
                                        <p:strVal val="visible"/>
                                      </p:to>
                                    </p:set>
                                    <p:anim calcmode="lin" valueType="num">
                                      <p:cBhvr additive="base">
                                        <p:cTn id="7" dur="500" fill="hold"/>
                                        <p:tgtEl>
                                          <p:spTgt spid="4433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339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43395">
                                            <p:txEl>
                                              <p:pRg st="2" end="2"/>
                                            </p:txEl>
                                          </p:spTgt>
                                        </p:tgtEl>
                                        <p:attrNameLst>
                                          <p:attrName>style.visibility</p:attrName>
                                        </p:attrNameLst>
                                      </p:cBhvr>
                                      <p:to>
                                        <p:strVal val="visible"/>
                                      </p:to>
                                    </p:set>
                                    <p:anim calcmode="lin" valueType="num">
                                      <p:cBhvr additive="base">
                                        <p:cTn id="11" dur="500" fill="hold"/>
                                        <p:tgtEl>
                                          <p:spTgt spid="443395">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43395">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43395">
                                            <p:txEl>
                                              <p:pRg st="4" end="4"/>
                                            </p:txEl>
                                          </p:spTgt>
                                        </p:tgtEl>
                                        <p:attrNameLst>
                                          <p:attrName>style.visibility</p:attrName>
                                        </p:attrNameLst>
                                      </p:cBhvr>
                                      <p:to>
                                        <p:strVal val="visible"/>
                                      </p:to>
                                    </p:set>
                                    <p:anim calcmode="lin" valueType="num">
                                      <p:cBhvr additive="base">
                                        <p:cTn id="15" dur="500" fill="hold"/>
                                        <p:tgtEl>
                                          <p:spTgt spid="443395">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4339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5" name="灯片编号占位符 2"/>
          <p:cNvSpPr>
            <a:spLocks noGrp="1"/>
          </p:cNvSpPr>
          <p:nvPr>
            <p:ph type="sldNum" sz="quarter" idx="10"/>
          </p:nvPr>
        </p:nvSpPr>
        <p:spPr>
          <a:noFill/>
        </p:spPr>
        <p:txBody>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fld id="{D0B3BE7C-74B9-4D06-8E7E-8D5242D4F723}" type="slidenum">
              <a:rPr lang="zh-CN" altLang="en-US"/>
              <a:t>47</a:t>
            </a:fld>
            <a:endParaRPr lang="en-US" altLang="zh-CN"/>
          </a:p>
        </p:txBody>
      </p:sp>
      <p:pic>
        <p:nvPicPr>
          <p:cNvPr id="97286" name="Picture 4" descr="http://www.9600169.net/u/cms/www/201212/18115345xu4c/2714d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031" y="33089"/>
            <a:ext cx="8897938" cy="633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a:spLocks noChangeArrowheads="1"/>
          </p:cNvSpPr>
          <p:nvPr/>
        </p:nvSpPr>
        <p:spPr bwMode="auto">
          <a:xfrm>
            <a:off x="1691907" y="5910014"/>
            <a:ext cx="3805973" cy="3385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dirty="0">
                <a:solidFill>
                  <a:srgbClr val="FF0000"/>
                </a:solidFill>
              </a:rPr>
              <a:t>DB9 Type COM Serial Port </a:t>
            </a:r>
            <a:r>
              <a:rPr lang="en-US" altLang="zh-CN" sz="1600" dirty="0">
                <a:solidFill>
                  <a:srgbClr val="0000FF"/>
                </a:solidFill>
              </a:rPr>
              <a:t>(RS232 Male)</a:t>
            </a:r>
            <a:endParaRPr lang="zh-CN" altLang="en-US" sz="3200" dirty="0">
              <a:solidFill>
                <a:srgbClr val="0000FF"/>
              </a:solidFill>
            </a:endParaRPr>
          </a:p>
        </p:txBody>
      </p:sp>
      <p:sp>
        <p:nvSpPr>
          <p:cNvPr id="97289" name="矩形 10"/>
          <p:cNvSpPr>
            <a:spLocks noChangeArrowheads="1"/>
          </p:cNvSpPr>
          <p:nvPr/>
        </p:nvSpPr>
        <p:spPr bwMode="auto">
          <a:xfrm>
            <a:off x="6142038" y="5026928"/>
            <a:ext cx="2366962" cy="51090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rIns="3600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5000"/>
              </a:lnSpc>
            </a:pPr>
            <a:r>
              <a:rPr lang="en-US" altLang="zh-CN" sz="1600" dirty="0">
                <a:solidFill>
                  <a:srgbClr val="FF0000"/>
                </a:solidFill>
              </a:rPr>
              <a:t>DB25 Type LPT Parallel Printer Interface</a:t>
            </a:r>
            <a:endParaRPr lang="zh-CN" altLang="en-US" sz="1600" dirty="0">
              <a:solidFill>
                <a:srgbClr val="FF0000"/>
              </a:solidFill>
            </a:endParaRPr>
          </a:p>
        </p:txBody>
      </p:sp>
      <p:cxnSp>
        <p:nvCxnSpPr>
          <p:cNvPr id="6" name="直接箭头连接符 5"/>
          <p:cNvCxnSpPr>
            <a:cxnSpLocks noChangeShapeType="1"/>
          </p:cNvCxnSpPr>
          <p:nvPr/>
        </p:nvCxnSpPr>
        <p:spPr bwMode="auto">
          <a:xfrm>
            <a:off x="2835672" y="5508376"/>
            <a:ext cx="530225" cy="401638"/>
          </a:xfrm>
          <a:prstGeom prst="straightConnector1">
            <a:avLst/>
          </a:prstGeom>
          <a:noFill/>
          <a:ln w="38100" algn="ctr">
            <a:solidFill>
              <a:srgbClr val="FF0000"/>
            </a:solidFill>
            <a:round/>
            <a:tailEnd type="arrow" w="med" len="med"/>
          </a:ln>
        </p:spPr>
      </p:cxnSp>
      <p:sp>
        <p:nvSpPr>
          <p:cNvPr id="28" name="矩形 27"/>
          <p:cNvSpPr>
            <a:spLocks noChangeArrowheads="1"/>
          </p:cNvSpPr>
          <p:nvPr/>
        </p:nvSpPr>
        <p:spPr bwMode="auto">
          <a:xfrm>
            <a:off x="7874000" y="4518710"/>
            <a:ext cx="1001713" cy="45492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36000" rIns="0" bIns="0" anchor="b">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5000"/>
              </a:lnSpc>
            </a:pPr>
            <a:r>
              <a:rPr lang="en-US" altLang="zh-CN" sz="1600" dirty="0">
                <a:solidFill>
                  <a:srgbClr val="FF0000"/>
                </a:solidFill>
              </a:rPr>
              <a:t>USB mouth</a:t>
            </a:r>
            <a:endParaRPr lang="zh-CN" altLang="en-US" sz="1600" dirty="0">
              <a:solidFill>
                <a:srgbClr val="FF0000"/>
              </a:solidFill>
            </a:endParaRPr>
          </a:p>
        </p:txBody>
      </p:sp>
      <p:cxnSp>
        <p:nvCxnSpPr>
          <p:cNvPr id="29" name="直接箭头连接符 28"/>
          <p:cNvCxnSpPr>
            <a:cxnSpLocks noChangeShapeType="1"/>
            <a:endCxn id="28" idx="1"/>
          </p:cNvCxnSpPr>
          <p:nvPr/>
        </p:nvCxnSpPr>
        <p:spPr bwMode="auto">
          <a:xfrm>
            <a:off x="6873875" y="4572000"/>
            <a:ext cx="1000125" cy="174174"/>
          </a:xfrm>
          <a:prstGeom prst="straightConnector1">
            <a:avLst/>
          </a:prstGeom>
          <a:noFill/>
          <a:ln w="38100" algn="ctr">
            <a:solidFill>
              <a:srgbClr val="FF0000"/>
            </a:solidFill>
            <a:round/>
            <a:tailEnd type="arrow"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left)">
                                      <p:cBhvr>
                                        <p:cTn id="10" dur="500"/>
                                        <p:tgtEl>
                                          <p:spTgt spid="28"/>
                                        </p:tgtEl>
                                      </p:cBhvr>
                                    </p:animEffect>
                                  </p:childTnLst>
                                </p:cTn>
                              </p:par>
                              <p:par>
                                <p:cTn id="11" presetID="22" presetClass="entr" presetSubtype="8"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p:cNvSpPr>
            <a:spLocks noGrp="1" noChangeArrowheads="1"/>
          </p:cNvSpPr>
          <p:nvPr>
            <p:ph type="title"/>
          </p:nvPr>
        </p:nvSpPr>
        <p:spPr>
          <a:xfrm>
            <a:off x="783167" y="431939"/>
            <a:ext cx="8229600" cy="504825"/>
          </a:xfrm>
        </p:spPr>
        <p:txBody>
          <a:bodyPr>
            <a:noAutofit/>
          </a:bodyPr>
          <a:lstStyle/>
          <a:p>
            <a:r>
              <a:rPr lang="en-US" altLang="zh-CN" sz="3600" dirty="0"/>
              <a:t>2.2 RS232 Serial Communication Interface</a:t>
            </a:r>
            <a:endParaRPr lang="zh-CN" altLang="en-US" sz="3600" dirty="0"/>
          </a:p>
        </p:txBody>
      </p:sp>
      <p:sp>
        <p:nvSpPr>
          <p:cNvPr id="628739" name="Rectangle 3"/>
          <p:cNvSpPr>
            <a:spLocks noGrp="1" noChangeArrowheads="1"/>
          </p:cNvSpPr>
          <p:nvPr>
            <p:ph idx="1"/>
          </p:nvPr>
        </p:nvSpPr>
        <p:spPr>
          <a:xfrm>
            <a:off x="711200" y="1126596"/>
            <a:ext cx="7564966" cy="2302404"/>
          </a:xfrm>
        </p:spPr>
        <p:txBody>
          <a:bodyPr>
            <a:normAutofit lnSpcReduction="10000"/>
          </a:bodyPr>
          <a:lstStyle/>
          <a:p>
            <a:pPr eaLnBrk="1" hangingPunct="1">
              <a:lnSpc>
                <a:spcPct val="101000"/>
              </a:lnSpc>
              <a:spcBef>
                <a:spcPct val="0"/>
              </a:spcBef>
              <a:spcAft>
                <a:spcPct val="0"/>
              </a:spcAft>
            </a:pPr>
            <a:r>
              <a:rPr lang="en-US" altLang="zh-CN" dirty="0">
                <a:solidFill>
                  <a:srgbClr val="FF0000"/>
                </a:solidFill>
              </a:rPr>
              <a:t>RS-232</a:t>
            </a:r>
          </a:p>
          <a:p>
            <a:pPr marL="180975" lvl="1" eaLnBrk="1" hangingPunct="1">
              <a:lnSpc>
                <a:spcPct val="101000"/>
              </a:lnSpc>
              <a:spcBef>
                <a:spcPct val="0"/>
              </a:spcBef>
            </a:pPr>
            <a:r>
              <a:rPr lang="zh-CN" altLang="en-US" dirty="0"/>
              <a:t>It is an early standard for data communication in public telephone networks.</a:t>
            </a:r>
          </a:p>
          <a:p>
            <a:pPr marL="180975" lvl="1" eaLnBrk="1" hangingPunct="1">
              <a:lnSpc>
                <a:spcPct val="101000"/>
              </a:lnSpc>
              <a:spcBef>
                <a:spcPct val="0"/>
              </a:spcBef>
            </a:pPr>
            <a:r>
              <a:rPr lang="zh-CN" altLang="en-US" dirty="0"/>
              <a:t>Its logic levels differ entirely from those of TTL/CMOS. </a:t>
            </a:r>
            <a:r>
              <a:rPr lang="zh-CN" altLang="en-US" dirty="0">
                <a:solidFill>
                  <a:srgbClr val="FF0000"/>
                </a:solidFill>
              </a:rPr>
              <a:t>The logic 0 is defined as +5 to +15V,</a:t>
            </a:r>
            <a:r>
              <a:rPr lang="zh-CN" altLang="en-US" dirty="0"/>
              <a:t> </a:t>
            </a:r>
            <a:r>
              <a:rPr lang="zh-CN" altLang="en-US" dirty="0">
                <a:solidFill>
                  <a:srgbClr val="FF0000"/>
                </a:solidFill>
              </a:rPr>
              <a:t>while the logic 1 is defined as-5 to-15V.</a:t>
            </a:r>
          </a:p>
          <a:p>
            <a:pPr marL="180975" lvl="1" eaLnBrk="1" hangingPunct="1">
              <a:lnSpc>
                <a:spcPct val="101000"/>
              </a:lnSpc>
              <a:spcBef>
                <a:spcPct val="0"/>
              </a:spcBef>
            </a:pPr>
            <a:r>
              <a:rPr lang="zh-CN" altLang="en-US" dirty="0"/>
              <a:t>Because there is a common ground between RS-232 sending and receiving, and the transmission is in unbalanced mode, common mode noise is coupled into the signal system. The maximum communication distance recommended by the standard is 15 meters.</a:t>
            </a:r>
          </a:p>
        </p:txBody>
      </p:sp>
      <p:sp>
        <p:nvSpPr>
          <p:cNvPr id="98308" name="灯片编号占位符 4"/>
          <p:cNvSpPr>
            <a:spLocks noGrp="1"/>
          </p:cNvSpPr>
          <p:nvPr>
            <p:ph type="sldNum" sz="quarter" idx="10"/>
          </p:nvPr>
        </p:nvSpPr>
        <p:spPr>
          <a:noFill/>
        </p:spPr>
        <p:txBody>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fld id="{72620EC0-C708-4B14-A6FC-AAE14654CF32}" type="slidenum">
              <a:rPr lang="zh-CN" altLang="en-US"/>
              <a:t>48</a:t>
            </a:fld>
            <a:endParaRPr lang="en-US" altLang="zh-CN"/>
          </a:p>
        </p:txBody>
      </p:sp>
      <p:sp>
        <p:nvSpPr>
          <p:cNvPr id="6" name="标题 1"/>
          <p:cNvSpPr txBox="1"/>
          <p:nvPr/>
        </p:nvSpPr>
        <p:spPr bwMode="auto">
          <a:xfrm>
            <a:off x="867834" y="3329420"/>
            <a:ext cx="4586816" cy="32616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200" b="1">
                <a:solidFill>
                  <a:srgbClr val="CC3300"/>
                </a:solidFill>
                <a:latin typeface="+mj-lt"/>
                <a:ea typeface="+mj-ea"/>
                <a:cs typeface="+mj-cs"/>
              </a:defRPr>
            </a:lvl1pPr>
            <a:lvl2pPr algn="l" rtl="0" eaLnBrk="0" fontAlgn="base" hangingPunct="0">
              <a:spcBef>
                <a:spcPct val="0"/>
              </a:spcBef>
              <a:spcAft>
                <a:spcPct val="0"/>
              </a:spcAft>
              <a:defRPr sz="2400" b="1">
                <a:solidFill>
                  <a:srgbClr val="CC3300"/>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rgbClr val="CC3300"/>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rgbClr val="CC3300"/>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rgbClr val="CC3300"/>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9pPr>
          </a:lstStyle>
          <a:p>
            <a:pPr eaLnBrk="1" hangingPunct="1">
              <a:defRPr/>
            </a:pPr>
            <a:r>
              <a:rPr lang="en-US" altLang="zh-CN" sz="1800" kern="0" dirty="0">
                <a:solidFill>
                  <a:srgbClr val="FF0000"/>
                </a:solidFill>
              </a:rPr>
              <a:t>1. Hardware interface design</a:t>
            </a:r>
            <a:endParaRPr lang="zh-CN" altLang="en-US" sz="3600" kern="0" dirty="0"/>
          </a:p>
        </p:txBody>
      </p:sp>
      <p:sp>
        <p:nvSpPr>
          <p:cNvPr id="7" name="Rectangle 3"/>
          <p:cNvSpPr txBox="1">
            <a:spLocks noChangeArrowheads="1"/>
          </p:cNvSpPr>
          <p:nvPr/>
        </p:nvSpPr>
        <p:spPr bwMode="auto">
          <a:xfrm>
            <a:off x="592137" y="3715138"/>
            <a:ext cx="7803092" cy="196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l" rtl="0" eaLnBrk="0" fontAlgn="base" hangingPunct="0">
              <a:lnSpc>
                <a:spcPct val="114000"/>
              </a:lnSpc>
              <a:spcBef>
                <a:spcPts val="0"/>
              </a:spcBef>
              <a:spcAft>
                <a:spcPts val="600"/>
              </a:spcAft>
              <a:buBlip>
                <a:blip r:embed="rId2"/>
              </a:buBlip>
              <a:defRPr sz="2800" b="1">
                <a:solidFill>
                  <a:schemeClr val="accent2"/>
                </a:solidFill>
                <a:latin typeface="+mn-lt"/>
                <a:ea typeface="+mn-ea"/>
                <a:cs typeface="+mn-cs"/>
              </a:defRPr>
            </a:lvl1pPr>
            <a:lvl2pPr marL="263525" indent="-180975" algn="l" rtl="0" eaLnBrk="0" fontAlgn="base" hangingPunct="0">
              <a:lnSpc>
                <a:spcPct val="114000"/>
              </a:lnSpc>
              <a:spcBef>
                <a:spcPts val="0"/>
              </a:spcBef>
              <a:spcAft>
                <a:spcPts val="600"/>
              </a:spcAft>
              <a:buBlip>
                <a:blip r:embed="rId3"/>
              </a:buBlip>
              <a:defRPr sz="2800" b="1">
                <a:solidFill>
                  <a:schemeClr val="tx1"/>
                </a:solidFill>
                <a:latin typeface="+mn-lt"/>
                <a:ea typeface="+mn-ea"/>
              </a:defRPr>
            </a:lvl2pPr>
            <a:lvl3pPr marL="1143000" indent="-228600" algn="l"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l"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l"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eaLnBrk="1" hangingPunct="1">
              <a:lnSpc>
                <a:spcPct val="95000"/>
              </a:lnSpc>
              <a:spcAft>
                <a:spcPts val="900"/>
              </a:spcAft>
              <a:defRPr/>
            </a:pPr>
            <a:r>
              <a:rPr lang="zh-CN" altLang="en-US" sz="1800" kern="0" dirty="0"/>
              <a:t>The computer serial port operates at </a:t>
            </a:r>
            <a:r>
              <a:rPr lang="zh-CN" altLang="en-US" sz="1800" kern="0" dirty="0">
                <a:solidFill>
                  <a:srgbClr val="FF0000"/>
                </a:solidFill>
              </a:rPr>
              <a:t>RS-232 level</a:t>
            </a:r>
            <a:r>
              <a:rPr lang="zh-CN" altLang="en-US" sz="1800" kern="0" dirty="0"/>
              <a:t>, while the microcontroller serial port uses </a:t>
            </a:r>
            <a:r>
              <a:rPr lang="zh-CN" altLang="en-US" sz="1800" kern="0" dirty="0">
                <a:solidFill>
                  <a:srgbClr val="FF0000"/>
                </a:solidFill>
              </a:rPr>
              <a:t>TTL level</a:t>
            </a:r>
            <a:r>
              <a:rPr lang="zh-CN" altLang="en-US" sz="1800" kern="0" dirty="0"/>
              <a:t>. Therefore, a circuit is required to convert between TTL and RS-232 levels.</a:t>
            </a:r>
          </a:p>
          <a:p>
            <a:pPr eaLnBrk="1" hangingPunct="1">
              <a:lnSpc>
                <a:spcPct val="95000"/>
              </a:lnSpc>
              <a:spcAft>
                <a:spcPts val="900"/>
              </a:spcAft>
              <a:defRPr/>
            </a:pPr>
            <a:r>
              <a:rPr lang="zh-CN" altLang="en-US" sz="1800" kern="0" dirty="0"/>
              <a:t>The most widely used level conversion chip is </a:t>
            </a:r>
            <a:r>
              <a:rPr lang="zh-CN" altLang="en-US" sz="1800" kern="0" dirty="0">
                <a:solidFill>
                  <a:srgbClr val="FF0000"/>
                </a:solidFill>
              </a:rPr>
              <a:t>MAX232 </a:t>
            </a:r>
            <a:r>
              <a:rPr lang="zh-CN" altLang="en-US" sz="1800" kern="0" dirty="0"/>
              <a:t>(or compatible chips like </a:t>
            </a:r>
            <a:r>
              <a:rPr lang="zh-CN" altLang="en-US" sz="1800" kern="0" dirty="0">
                <a:solidFill>
                  <a:srgbClr val="FF0000"/>
                </a:solidFill>
              </a:rPr>
              <a:t>SP3232</a:t>
            </a:r>
            <a:r>
              <a:rPr lang="zh-CN" altLang="en-US" sz="1800" kern="0" dirty="0"/>
              <a:t>), which operates on </a:t>
            </a:r>
            <a:r>
              <a:rPr lang="zh-CN" altLang="en-US" sz="1800" kern="0" dirty="0">
                <a:solidFill>
                  <a:srgbClr val="FF0000"/>
                </a:solidFill>
              </a:rPr>
              <a:t>a single +5V power supply</a:t>
            </a:r>
            <a:r>
              <a:rPr lang="zh-CN" altLang="en-US" sz="1800" kern="0" dirty="0"/>
              <a:t>, </a:t>
            </a:r>
            <a:r>
              <a:rPr lang="zh-CN" altLang="en-US" sz="1800" kern="0" dirty="0">
                <a:solidFill>
                  <a:srgbClr val="FF00FF"/>
                </a:solidFill>
              </a:rPr>
              <a:t>with RS232 voltage generated by an internal charge pump.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28739">
                                            <p:txEl>
                                              <p:pRg st="1" end="1"/>
                                            </p:txEl>
                                          </p:spTgt>
                                        </p:tgtEl>
                                        <p:attrNameLst>
                                          <p:attrName>style.visibility</p:attrName>
                                        </p:attrNameLst>
                                      </p:cBhvr>
                                      <p:to>
                                        <p:strVal val="visible"/>
                                      </p:to>
                                    </p:set>
                                    <p:animEffect transition="in" filter="fade">
                                      <p:cBhvr>
                                        <p:cTn id="7" dur="1000"/>
                                        <p:tgtEl>
                                          <p:spTgt spid="628739">
                                            <p:txEl>
                                              <p:pRg st="1" end="1"/>
                                            </p:txEl>
                                          </p:spTgt>
                                        </p:tgtEl>
                                      </p:cBhvr>
                                    </p:animEffect>
                                    <p:anim calcmode="lin" valueType="num">
                                      <p:cBhvr>
                                        <p:cTn id="8" dur="1000" fill="hold"/>
                                        <p:tgtEl>
                                          <p:spTgt spid="62873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28739">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28739">
                                            <p:txEl>
                                              <p:pRg st="2" end="2"/>
                                            </p:txEl>
                                          </p:spTgt>
                                        </p:tgtEl>
                                        <p:attrNameLst>
                                          <p:attrName>style.visibility</p:attrName>
                                        </p:attrNameLst>
                                      </p:cBhvr>
                                      <p:to>
                                        <p:strVal val="visible"/>
                                      </p:to>
                                    </p:set>
                                    <p:animEffect transition="in" filter="fade">
                                      <p:cBhvr>
                                        <p:cTn id="12" dur="1000"/>
                                        <p:tgtEl>
                                          <p:spTgt spid="628739">
                                            <p:txEl>
                                              <p:pRg st="2" end="2"/>
                                            </p:txEl>
                                          </p:spTgt>
                                        </p:tgtEl>
                                      </p:cBhvr>
                                    </p:animEffect>
                                    <p:anim calcmode="lin" valueType="num">
                                      <p:cBhvr>
                                        <p:cTn id="13" dur="1000" fill="hold"/>
                                        <p:tgtEl>
                                          <p:spTgt spid="628739">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628739">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28739">
                                            <p:txEl>
                                              <p:pRg st="3" end="3"/>
                                            </p:txEl>
                                          </p:spTgt>
                                        </p:tgtEl>
                                        <p:attrNameLst>
                                          <p:attrName>style.visibility</p:attrName>
                                        </p:attrNameLst>
                                      </p:cBhvr>
                                      <p:to>
                                        <p:strVal val="visible"/>
                                      </p:to>
                                    </p:set>
                                    <p:animEffect transition="in" filter="fade">
                                      <p:cBhvr>
                                        <p:cTn id="17" dur="1000"/>
                                        <p:tgtEl>
                                          <p:spTgt spid="628739">
                                            <p:txEl>
                                              <p:pRg st="3" end="3"/>
                                            </p:txEl>
                                          </p:spTgt>
                                        </p:tgtEl>
                                      </p:cBhvr>
                                    </p:animEffect>
                                    <p:anim calcmode="lin" valueType="num">
                                      <p:cBhvr>
                                        <p:cTn id="18" dur="1000" fill="hold"/>
                                        <p:tgtEl>
                                          <p:spTgt spid="628739">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62873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anim calcmode="lin" valueType="num">
                                      <p:cBhvr>
                                        <p:cTn id="25" dur="500" fill="hold"/>
                                        <p:tgtEl>
                                          <p:spTgt spid="6"/>
                                        </p:tgtEl>
                                        <p:attrNameLst>
                                          <p:attrName>ppt_x</p:attrName>
                                        </p:attrNameLst>
                                      </p:cBhvr>
                                      <p:tavLst>
                                        <p:tav tm="0">
                                          <p:val>
                                            <p:strVal val="#ppt_x"/>
                                          </p:val>
                                        </p:tav>
                                        <p:tav tm="100000">
                                          <p:val>
                                            <p:strVal val="#ppt_x"/>
                                          </p:val>
                                        </p:tav>
                                      </p:tavLst>
                                    </p:anim>
                                    <p:anim calcmode="lin" valueType="num">
                                      <p:cBhvr>
                                        <p:cTn id="26" dur="500" fill="hold"/>
                                        <p:tgtEl>
                                          <p:spTgt spid="6"/>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7">
                                            <p:txEl>
                                              <p:pRg st="0" end="0"/>
                                            </p:txEl>
                                          </p:spTgt>
                                        </p:tgtEl>
                                        <p:attrNameLst>
                                          <p:attrName>style.visibility</p:attrName>
                                        </p:attrNameLst>
                                      </p:cBhvr>
                                      <p:to>
                                        <p:strVal val="visible"/>
                                      </p:to>
                                    </p:set>
                                    <p:animEffect transition="in" filter="fade">
                                      <p:cBhvr>
                                        <p:cTn id="29" dur="500"/>
                                        <p:tgtEl>
                                          <p:spTgt spid="7">
                                            <p:txEl>
                                              <p:pRg st="0" end="0"/>
                                            </p:txEl>
                                          </p:spTgt>
                                        </p:tgtEl>
                                      </p:cBhvr>
                                    </p:animEffect>
                                    <p:anim calcmode="lin" valueType="num">
                                      <p:cBhvr>
                                        <p:cTn id="30"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31" dur="500" fill="hold"/>
                                        <p:tgtEl>
                                          <p:spTgt spid="7">
                                            <p:txEl>
                                              <p:pRg st="0" end="0"/>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7">
                                            <p:txEl>
                                              <p:pRg st="1" end="1"/>
                                            </p:txEl>
                                          </p:spTgt>
                                        </p:tgtEl>
                                        <p:attrNameLst>
                                          <p:attrName>style.visibility</p:attrName>
                                        </p:attrNameLst>
                                      </p:cBhvr>
                                      <p:to>
                                        <p:strVal val="visible"/>
                                      </p:to>
                                    </p:set>
                                    <p:animEffect transition="in" filter="fade">
                                      <p:cBhvr>
                                        <p:cTn id="34" dur="500"/>
                                        <p:tgtEl>
                                          <p:spTgt spid="7">
                                            <p:txEl>
                                              <p:pRg st="1" end="1"/>
                                            </p:txEl>
                                          </p:spTgt>
                                        </p:tgtEl>
                                      </p:cBhvr>
                                    </p:animEffect>
                                    <p:anim calcmode="lin" valueType="num">
                                      <p:cBhvr>
                                        <p:cTn id="35"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36" dur="5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ChangeArrowheads="1"/>
          </p:cNvSpPr>
          <p:nvPr/>
        </p:nvSpPr>
        <p:spPr bwMode="auto">
          <a:xfrm>
            <a:off x="334433" y="5916474"/>
            <a:ext cx="7772400" cy="3385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b="1" dirty="0">
                <a:solidFill>
                  <a:srgbClr val="C00000"/>
                </a:solidFill>
              </a:rPr>
              <a:t>Hardware interface for RS-232 conversion </a:t>
            </a:r>
            <a:r>
              <a:rPr lang="en-US" altLang="zh-CN" sz="1600" b="1" dirty="0"/>
              <a:t>chip SP-3232 with microcontroller</a:t>
            </a:r>
            <a:endParaRPr lang="zh-CN" altLang="en-US" sz="1600" b="1" dirty="0">
              <a:solidFill>
                <a:srgbClr val="800000"/>
              </a:solidFill>
            </a:endParaRPr>
          </a:p>
        </p:txBody>
      </p:sp>
      <p:sp>
        <p:nvSpPr>
          <p:cNvPr id="99331" name="标题 1"/>
          <p:cNvSpPr>
            <a:spLocks noGrp="1" noChangeArrowheads="1"/>
          </p:cNvSpPr>
          <p:nvPr>
            <p:ph type="title"/>
          </p:nvPr>
        </p:nvSpPr>
        <p:spPr>
          <a:xfrm>
            <a:off x="515938" y="542062"/>
            <a:ext cx="7590895" cy="504825"/>
          </a:xfrm>
          <a:solidFill>
            <a:schemeClr val="bg1"/>
          </a:solidFill>
        </p:spPr>
        <p:txBody>
          <a:bodyPr>
            <a:noAutofit/>
          </a:bodyPr>
          <a:lstStyle/>
          <a:p>
            <a:pPr eaLnBrk="1" hangingPunct="1"/>
            <a:r>
              <a:rPr lang="en-US" altLang="zh-CN" sz="3200" dirty="0">
                <a:solidFill>
                  <a:srgbClr val="FF0000"/>
                </a:solidFill>
              </a:rPr>
              <a:t>1. Hardware interface design</a:t>
            </a:r>
            <a:endParaRPr lang="zh-CN" altLang="en-US" sz="3200" dirty="0"/>
          </a:p>
        </p:txBody>
      </p:sp>
      <p:sp>
        <p:nvSpPr>
          <p:cNvPr id="630787" name="Rectangle 3"/>
          <p:cNvSpPr>
            <a:spLocks noGrp="1" noChangeArrowheads="1"/>
          </p:cNvSpPr>
          <p:nvPr>
            <p:ph idx="1"/>
          </p:nvPr>
        </p:nvSpPr>
        <p:spPr>
          <a:xfrm>
            <a:off x="170923" y="1163109"/>
            <a:ext cx="8862242" cy="788988"/>
          </a:xfrm>
        </p:spPr>
        <p:txBody>
          <a:bodyPr>
            <a:normAutofit/>
          </a:bodyPr>
          <a:lstStyle/>
          <a:p>
            <a:pPr algn="just" eaLnBrk="1" hangingPunct="1">
              <a:lnSpc>
                <a:spcPct val="95000"/>
              </a:lnSpc>
              <a:spcBef>
                <a:spcPct val="0"/>
              </a:spcBef>
            </a:pPr>
            <a:r>
              <a:rPr lang="zh-CN" altLang="en-US" sz="1800" dirty="0"/>
              <a:t>    The </a:t>
            </a:r>
            <a:r>
              <a:rPr lang="zh-CN" altLang="en-US" sz="1800" dirty="0">
                <a:solidFill>
                  <a:srgbClr val="FF00FF"/>
                </a:solidFill>
              </a:rPr>
              <a:t>SP3232 </a:t>
            </a:r>
            <a:r>
              <a:rPr lang="zh-CN" altLang="en-US" sz="1800" dirty="0"/>
              <a:t>conversion chip converts the microcontrollers </a:t>
            </a:r>
            <a:r>
              <a:rPr lang="zh-CN" altLang="en-US" sz="1800" dirty="0">
                <a:solidFill>
                  <a:srgbClr val="FF00FF"/>
                </a:solidFill>
              </a:rPr>
              <a:t>two serial </a:t>
            </a:r>
            <a:r>
              <a:rPr lang="zh-CN" altLang="en-US" sz="1800" dirty="0"/>
              <a:t>ports into </a:t>
            </a:r>
            <a:r>
              <a:rPr lang="zh-CN" altLang="en-US" sz="1800" dirty="0">
                <a:solidFill>
                  <a:srgbClr val="FF00FF"/>
                </a:solidFill>
              </a:rPr>
              <a:t>two RS-232 interfaces,</a:t>
            </a:r>
            <a:r>
              <a:rPr lang="zh-CN" altLang="en-US" sz="1800" dirty="0"/>
              <a:t> enabling direct serial communication between the microcontroller and computers.</a:t>
            </a:r>
          </a:p>
        </p:txBody>
      </p:sp>
      <p:graphicFrame>
        <p:nvGraphicFramePr>
          <p:cNvPr id="99334" name="对象 3"/>
          <p:cNvGraphicFramePr>
            <a:graphicFrameLocks noChangeAspect="1"/>
          </p:cNvGraphicFramePr>
          <p:nvPr>
            <p:extLst>
              <p:ext uri="{D42A27DB-BD31-4B8C-83A1-F6EECF244321}">
                <p14:modId xmlns:p14="http://schemas.microsoft.com/office/powerpoint/2010/main" val="989004774"/>
              </p:ext>
            </p:extLst>
          </p:nvPr>
        </p:nvGraphicFramePr>
        <p:xfrm>
          <a:off x="801629" y="1786274"/>
          <a:ext cx="7305204" cy="4158247"/>
        </p:xfrm>
        <a:graphic>
          <a:graphicData uri="http://schemas.openxmlformats.org/presentationml/2006/ole">
            <mc:AlternateContent xmlns:mc="http://schemas.openxmlformats.org/markup-compatibility/2006">
              <mc:Choice xmlns:v="urn:schemas-microsoft-com:vml" Requires="v">
                <p:oleObj name="Visio" r:id="rId2" imgW="3850005" imgH="2221865" progId="Visio.Drawing.11">
                  <p:embed/>
                </p:oleObj>
              </mc:Choice>
              <mc:Fallback>
                <p:oleObj name="Visio" r:id="rId2" imgW="3850005" imgH="2221865" progId="Visio.Drawing.11">
                  <p:embed/>
                  <p:pic>
                    <p:nvPicPr>
                      <p:cNvPr id="99334"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629" y="1786274"/>
                        <a:ext cx="7305204" cy="4158247"/>
                      </a:xfrm>
                      <a:prstGeom prst="rect">
                        <a:avLst/>
                      </a:prstGeom>
                      <a:noFill/>
                      <a:ln>
                        <a:noFill/>
                      </a:ln>
                    </p:spPr>
                  </p:pic>
                </p:oleObj>
              </mc:Fallback>
            </mc:AlternateContent>
          </a:graphicData>
        </a:graphic>
      </p:graphicFrame>
      <p:sp>
        <p:nvSpPr>
          <p:cNvPr id="2" name="灯片编号占位符 1"/>
          <p:cNvSpPr>
            <a:spLocks noGrp="1"/>
          </p:cNvSpPr>
          <p:nvPr>
            <p:ph type="sldNum" sz="quarter" idx="12"/>
          </p:nvPr>
        </p:nvSpPr>
        <p:spPr/>
        <p:txBody>
          <a:bodyPr/>
          <a:lstStyle/>
          <a:p>
            <a:fld id="{22E77DEE-32E4-4009-988B-F2758F7B8AC2}" type="slidenum">
              <a:rPr lang="zh-CN" altLang="en-US" smtClean="0"/>
              <a:t>49</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30787">
                                            <p:txEl>
                                              <p:pRg st="0" end="0"/>
                                            </p:txEl>
                                          </p:spTgt>
                                        </p:tgtEl>
                                        <p:attrNameLst>
                                          <p:attrName>style.visibility</p:attrName>
                                        </p:attrNameLst>
                                      </p:cBhvr>
                                      <p:to>
                                        <p:strVal val="visible"/>
                                      </p:to>
                                    </p:set>
                                    <p:animEffect transition="in" filter="fade">
                                      <p:cBhvr>
                                        <p:cTn id="7" dur="1000"/>
                                        <p:tgtEl>
                                          <p:spTgt spid="630787">
                                            <p:txEl>
                                              <p:pRg st="0" end="0"/>
                                            </p:txEl>
                                          </p:spTgt>
                                        </p:tgtEl>
                                      </p:cBhvr>
                                    </p:animEffect>
                                    <p:anim calcmode="lin" valueType="num">
                                      <p:cBhvr>
                                        <p:cTn id="8" dur="1000" fill="hold"/>
                                        <p:tgtEl>
                                          <p:spTgt spid="63078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30787">
                                            <p:txEl>
                                              <p:pRg st="0" end="0"/>
                                            </p:txEl>
                                          </p:spTgt>
                                        </p:tgtEl>
                                        <p:attrNameLst>
                                          <p:attrName>ppt_y</p:attrName>
                                        </p:attrNameLst>
                                      </p:cBhvr>
                                      <p:tavLst>
                                        <p:tav tm="0">
                                          <p:val>
                                            <p:strVal val="#ppt_y+.1"/>
                                          </p:val>
                                        </p:tav>
                                        <p:tav tm="100000">
                                          <p:val>
                                            <p:strVal val="#ppt_y"/>
                                          </p:val>
                                        </p:tav>
                                      </p:tavLst>
                                    </p:anim>
                                  </p:childTnLst>
                                </p:cTn>
                              </p:par>
                              <p:par>
                                <p:cTn id="10" presetID="3" presetClass="entr" presetSubtype="1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标题 1"/>
          <p:cNvSpPr>
            <a:spLocks noGrp="1" noChangeArrowheads="1"/>
          </p:cNvSpPr>
          <p:nvPr>
            <p:ph type="title"/>
          </p:nvPr>
        </p:nvSpPr>
        <p:spPr/>
        <p:txBody>
          <a:bodyPr>
            <a:normAutofit/>
          </a:bodyPr>
          <a:lstStyle/>
          <a:p>
            <a:r>
              <a:rPr lang="en-US" altLang="zh-CN" sz="3600" dirty="0">
                <a:solidFill>
                  <a:srgbClr val="FF0000"/>
                </a:solidFill>
              </a:rPr>
              <a:t>1. Hardware interface design</a:t>
            </a:r>
            <a:endParaRPr lang="zh-CN" altLang="en-US" sz="3600" dirty="0"/>
          </a:p>
        </p:txBody>
      </p:sp>
      <p:sp>
        <p:nvSpPr>
          <p:cNvPr id="632835" name="Rectangle 3"/>
          <p:cNvSpPr>
            <a:spLocks noGrp="1" noChangeArrowheads="1"/>
          </p:cNvSpPr>
          <p:nvPr>
            <p:ph idx="1"/>
          </p:nvPr>
        </p:nvSpPr>
        <p:spPr>
          <a:xfrm>
            <a:off x="841163" y="1296762"/>
            <a:ext cx="7461673" cy="2492172"/>
          </a:xfrm>
        </p:spPr>
        <p:txBody>
          <a:bodyPr/>
          <a:lstStyle/>
          <a:p>
            <a:pPr eaLnBrk="1" hangingPunct="1">
              <a:spcBef>
                <a:spcPct val="0"/>
              </a:spcBef>
              <a:spcAft>
                <a:spcPts val="1200"/>
              </a:spcAft>
            </a:pPr>
            <a:r>
              <a:rPr lang="zh-CN" altLang="en-US" dirty="0"/>
              <a:t>Modern personal computers, especially laptops, no longer have DB9 serial ports, while USB ports are more prevalent. In such cases, we can use USB-to-serial converters to bridge the gap.</a:t>
            </a:r>
          </a:p>
          <a:p>
            <a:pPr eaLnBrk="1" hangingPunct="1">
              <a:spcBef>
                <a:spcPct val="0"/>
              </a:spcBef>
              <a:spcAft>
                <a:spcPts val="1200"/>
              </a:spcAft>
            </a:pPr>
            <a:r>
              <a:rPr lang="zh-CN" altLang="en-US" dirty="0"/>
              <a:t>Common USB-to-serial port chips include </a:t>
            </a:r>
            <a:r>
              <a:rPr lang="zh-CN" altLang="en-US" dirty="0">
                <a:solidFill>
                  <a:srgbClr val="FF0000"/>
                </a:solidFill>
              </a:rPr>
              <a:t>CH340T and CP210x</a:t>
            </a:r>
            <a:r>
              <a:rPr lang="zh-CN" altLang="en-US" dirty="0"/>
              <a:t>. The interface circuit between CH340 and the microcontroller is shown in Figure 4-28.</a:t>
            </a:r>
          </a:p>
          <a:p>
            <a:pPr eaLnBrk="1" hangingPunct="1">
              <a:spcBef>
                <a:spcPct val="0"/>
              </a:spcBef>
              <a:spcAft>
                <a:spcPts val="1200"/>
              </a:spcAft>
            </a:pPr>
            <a:endParaRPr lang="zh-CN" altLang="en-US" dirty="0"/>
          </a:p>
        </p:txBody>
      </p:sp>
      <p:sp>
        <p:nvSpPr>
          <p:cNvPr id="6" name="Rectangle 3"/>
          <p:cNvSpPr txBox="1">
            <a:spLocks noChangeArrowheads="1"/>
          </p:cNvSpPr>
          <p:nvPr/>
        </p:nvSpPr>
        <p:spPr bwMode="auto">
          <a:xfrm>
            <a:off x="739833" y="3692930"/>
            <a:ext cx="7415107" cy="2050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l" rtl="0" eaLnBrk="0" fontAlgn="base" hangingPunct="0">
              <a:lnSpc>
                <a:spcPct val="114000"/>
              </a:lnSpc>
              <a:spcBef>
                <a:spcPts val="0"/>
              </a:spcBef>
              <a:spcAft>
                <a:spcPts val="600"/>
              </a:spcAft>
              <a:buBlip>
                <a:blip r:embed="rId2"/>
              </a:buBlip>
              <a:defRPr sz="2800" b="1">
                <a:solidFill>
                  <a:schemeClr val="accent2"/>
                </a:solidFill>
                <a:latin typeface="+mn-lt"/>
                <a:ea typeface="+mn-ea"/>
                <a:cs typeface="+mn-cs"/>
              </a:defRPr>
            </a:lvl1pPr>
            <a:lvl2pPr marL="263525" indent="-180975" algn="l" rtl="0" eaLnBrk="0" fontAlgn="base" hangingPunct="0">
              <a:lnSpc>
                <a:spcPct val="114000"/>
              </a:lnSpc>
              <a:spcBef>
                <a:spcPts val="0"/>
              </a:spcBef>
              <a:spcAft>
                <a:spcPts val="600"/>
              </a:spcAft>
              <a:buBlip>
                <a:blip r:embed="rId3"/>
              </a:buBlip>
              <a:defRPr sz="2800" b="1">
                <a:solidFill>
                  <a:schemeClr val="tx1"/>
                </a:solidFill>
                <a:latin typeface="+mn-lt"/>
                <a:ea typeface="+mn-ea"/>
              </a:defRPr>
            </a:lvl2pPr>
            <a:lvl3pPr marL="1143000" indent="-228600" algn="l"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l"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l"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eaLnBrk="1" hangingPunct="1">
              <a:spcAft>
                <a:spcPts val="1200"/>
              </a:spcAft>
              <a:defRPr/>
            </a:pPr>
            <a:r>
              <a:rPr lang="en-US" altLang="zh-CN" sz="2000" kern="0" dirty="0">
                <a:solidFill>
                  <a:srgbClr val="3366FF"/>
                </a:solidFill>
              </a:rPr>
              <a:t>The USB-to-serial port circuit only converts between the USB and UART protocols. </a:t>
            </a:r>
            <a:r>
              <a:rPr lang="en-US" altLang="zh-CN" sz="2000" kern="0" dirty="0">
                <a:solidFill>
                  <a:srgbClr val="C00000"/>
                </a:solidFill>
              </a:rPr>
              <a:t>For users, </a:t>
            </a:r>
            <a:r>
              <a:rPr lang="en-US" altLang="zh-CN" sz="2000" kern="0" dirty="0">
                <a:solidFill>
                  <a:srgbClr val="FF00FF"/>
                </a:solidFill>
              </a:rPr>
              <a:t>there is no fundamental change in programming</a:t>
            </a:r>
            <a:r>
              <a:rPr lang="en-US" altLang="zh-CN" sz="2000" kern="0" dirty="0">
                <a:solidFill>
                  <a:srgbClr val="C00000"/>
                </a:solidFill>
              </a:rPr>
              <a:t>, as it functions like a standard serial port.</a:t>
            </a:r>
          </a:p>
          <a:p>
            <a:pPr eaLnBrk="1" hangingPunct="1">
              <a:spcAft>
                <a:spcPts val="1200"/>
              </a:spcAft>
              <a:defRPr/>
            </a:pPr>
            <a:r>
              <a:rPr lang="zh-CN" altLang="en-US" sz="2000" kern="0" dirty="0"/>
              <a:t>The only thing to note is that </a:t>
            </a:r>
            <a:r>
              <a:rPr lang="zh-CN" altLang="en-US" sz="2000" kern="0" dirty="0">
                <a:solidFill>
                  <a:srgbClr val="FF00FF"/>
                </a:solidFill>
              </a:rPr>
              <a:t>when programming a serial port on a computer, the serial port number should be selected correctly</a:t>
            </a:r>
            <a:r>
              <a:rPr lang="zh-CN" altLang="en-US" sz="1000" kern="0" dirty="0"/>
              <a:t>.</a:t>
            </a:r>
          </a:p>
        </p:txBody>
      </p:sp>
      <p:sp>
        <p:nvSpPr>
          <p:cNvPr id="2" name="灯片编号占位符 1"/>
          <p:cNvSpPr>
            <a:spLocks noGrp="1"/>
          </p:cNvSpPr>
          <p:nvPr>
            <p:ph type="sldNum" sz="quarter" idx="12"/>
          </p:nvPr>
        </p:nvSpPr>
        <p:spPr/>
        <p:txBody>
          <a:bodyPr/>
          <a:lstStyle/>
          <a:p>
            <a:fld id="{22E77DEE-32E4-4009-988B-F2758F7B8AC2}" type="slidenum">
              <a:rPr lang="zh-CN" altLang="en-US" smtClean="0"/>
              <a:t>50</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632835">
                                            <p:txEl>
                                              <p:pRg st="0" end="0"/>
                                            </p:txEl>
                                          </p:spTgt>
                                        </p:tgtEl>
                                        <p:attrNameLst>
                                          <p:attrName>style.visibility</p:attrName>
                                        </p:attrNameLst>
                                      </p:cBhvr>
                                      <p:to>
                                        <p:strVal val="visible"/>
                                      </p:to>
                                    </p:set>
                                    <p:animEffect transition="in" filter="slide(fromBottom)">
                                      <p:cBhvr>
                                        <p:cTn id="7" dur="500"/>
                                        <p:tgtEl>
                                          <p:spTgt spid="632835">
                                            <p:txEl>
                                              <p:pRg st="0" end="0"/>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632835">
                                            <p:txEl>
                                              <p:pRg st="1" end="1"/>
                                            </p:txEl>
                                          </p:spTgt>
                                        </p:tgtEl>
                                        <p:attrNameLst>
                                          <p:attrName>style.visibility</p:attrName>
                                        </p:attrNameLst>
                                      </p:cBhvr>
                                      <p:to>
                                        <p:strVal val="visible"/>
                                      </p:to>
                                    </p:set>
                                    <p:animEffect transition="in" filter="slide(fromBottom)">
                                      <p:cBhvr>
                                        <p:cTn id="10" dur="500"/>
                                        <p:tgtEl>
                                          <p:spTgt spid="63283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1000"/>
                                        <p:tgtEl>
                                          <p:spTgt spid="6">
                                            <p:txEl>
                                              <p:pRg st="0" end="0"/>
                                            </p:txEl>
                                          </p:spTgt>
                                        </p:tgtEl>
                                      </p:cBhvr>
                                    </p:animEffect>
                                    <p:anim calcmode="lin" valueType="num">
                                      <p:cBhvr>
                                        <p:cTn id="16"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1000"/>
                                        <p:tgtEl>
                                          <p:spTgt spid="6">
                                            <p:txEl>
                                              <p:pRg st="1" end="1"/>
                                            </p:txEl>
                                          </p:spTgt>
                                        </p:tgtEl>
                                      </p:cBhvr>
                                    </p:animEffect>
                                    <p:anim calcmode="lin" valueType="num">
                                      <p:cBhvr>
                                        <p:cTn id="21"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7830" y="2726796"/>
            <a:ext cx="6995278" cy="33422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1379" name="Rectangle 5"/>
          <p:cNvSpPr>
            <a:spLocks noChangeArrowheads="1"/>
          </p:cNvSpPr>
          <p:nvPr/>
        </p:nvSpPr>
        <p:spPr bwMode="auto">
          <a:xfrm>
            <a:off x="0" y="1897063"/>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 name="内容占位符 4"/>
          <p:cNvSpPr>
            <a:spLocks noGrp="1"/>
          </p:cNvSpPr>
          <p:nvPr>
            <p:ph idx="1"/>
          </p:nvPr>
        </p:nvSpPr>
        <p:spPr>
          <a:xfrm>
            <a:off x="482600" y="1274233"/>
            <a:ext cx="8301567" cy="1358131"/>
          </a:xfrm>
        </p:spPr>
        <p:txBody>
          <a:bodyPr>
            <a:normAutofit/>
          </a:bodyPr>
          <a:lstStyle/>
          <a:p>
            <a:pPr marL="360680" lvl="1" indent="-98425">
              <a:lnSpc>
                <a:spcPct val="85000"/>
              </a:lnSpc>
              <a:defRPr/>
            </a:pPr>
            <a:r>
              <a:rPr lang="en-US" altLang="zh-CN" dirty="0">
                <a:solidFill>
                  <a:srgbClr val="FF00FF"/>
                </a:solidFill>
              </a:rPr>
              <a:t>(1) Hardware configuration: </a:t>
            </a:r>
            <a:r>
              <a:rPr lang="en-US" altLang="zh-CN" dirty="0">
                <a:solidFill>
                  <a:schemeClr val="tx1"/>
                </a:solidFill>
              </a:rPr>
              <a:t>The system employs a single CPU for both processing and simulation. The computer connects to the microcontroller via a USB-to-UART interface. The integrated conversion circuitry is shown in Figure 4-28.</a:t>
            </a:r>
          </a:p>
          <a:p>
            <a:pPr marL="363855" lvl="1" indent="0">
              <a:lnSpc>
                <a:spcPct val="85000"/>
              </a:lnSpc>
              <a:buFontTx/>
              <a:buNone/>
              <a:defRPr/>
            </a:pPr>
            <a:r>
              <a:rPr lang="en-US" altLang="zh-CN" dirty="0">
                <a:solidFill>
                  <a:srgbClr val="FF00FF"/>
                </a:solidFill>
              </a:rPr>
              <a:t>CH340 converts USB to UART. </a:t>
            </a:r>
            <a:r>
              <a:rPr lang="en-US" altLang="zh-CN" dirty="0">
                <a:solidFill>
                  <a:schemeClr val="tx1"/>
                </a:solidFill>
              </a:rPr>
              <a:t>Connect the computers USB port using J4 or J6.</a:t>
            </a:r>
          </a:p>
          <a:p>
            <a:pPr>
              <a:lnSpc>
                <a:spcPct val="85000"/>
              </a:lnSpc>
              <a:defRPr/>
            </a:pPr>
            <a:endParaRPr lang="zh-CN" altLang="en-US" dirty="0"/>
          </a:p>
        </p:txBody>
      </p:sp>
      <p:sp>
        <p:nvSpPr>
          <p:cNvPr id="101383" name="矩形 8"/>
          <p:cNvSpPr>
            <a:spLocks noChangeArrowheads="1"/>
          </p:cNvSpPr>
          <p:nvPr/>
        </p:nvSpPr>
        <p:spPr bwMode="auto">
          <a:xfrm>
            <a:off x="221673" y="730494"/>
            <a:ext cx="8562494" cy="390107"/>
          </a:xfrm>
          <a:prstGeom prst="rect">
            <a:avLst/>
          </a:prstGeom>
          <a:solidFill>
            <a:schemeClr val="bg1"/>
          </a:solidFill>
          <a:ln w="9525">
            <a:solidFill>
              <a:schemeClr val="accent1"/>
            </a:solidFill>
            <a:miter lim="800000"/>
          </a:ln>
        </p:spPr>
        <p:txBody>
          <a:bodyPr wrap="squar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4000"/>
              </a:lnSpc>
            </a:pPr>
            <a:r>
              <a:rPr lang="en-US" altLang="zh-CN" b="1" dirty="0">
                <a:solidFill>
                  <a:srgbClr val="2E12FC"/>
                </a:solidFill>
                <a:latin typeface="+mj-lt"/>
              </a:rPr>
              <a:t>Schematic diagram of USB to serial port download, communication, and power supply circuit</a:t>
            </a:r>
            <a:endParaRPr lang="zh-CN" altLang="en-US" b="1" dirty="0">
              <a:solidFill>
                <a:srgbClr val="2E12FC"/>
              </a:solidFill>
              <a:latin typeface="+mj-lt"/>
            </a:endParaRPr>
          </a:p>
        </p:txBody>
      </p:sp>
      <p:sp>
        <p:nvSpPr>
          <p:cNvPr id="101385" name="矩形 5"/>
          <p:cNvSpPr>
            <a:spLocks noChangeArrowheads="1"/>
          </p:cNvSpPr>
          <p:nvPr/>
        </p:nvSpPr>
        <p:spPr bwMode="auto">
          <a:xfrm>
            <a:off x="5283777" y="2847347"/>
            <a:ext cx="32464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000" b="1" dirty="0">
                <a:solidFill>
                  <a:srgbClr val="3333FF"/>
                </a:solidFill>
                <a:latin typeface="PingFang SC"/>
              </a:rPr>
              <a:t>2SB1204: PNP High-current Switching Transistor</a:t>
            </a:r>
            <a:endParaRPr lang="zh-CN" altLang="en-US" sz="2000" b="1" dirty="0">
              <a:solidFill>
                <a:srgbClr val="3333FF"/>
              </a:solidFill>
            </a:endParaRPr>
          </a:p>
        </p:txBody>
      </p:sp>
      <p:sp>
        <p:nvSpPr>
          <p:cNvPr id="3" name="灯片编号占位符 2"/>
          <p:cNvSpPr>
            <a:spLocks noGrp="1"/>
          </p:cNvSpPr>
          <p:nvPr>
            <p:ph type="sldNum" sz="quarter" idx="12"/>
          </p:nvPr>
        </p:nvSpPr>
        <p:spPr/>
        <p:txBody>
          <a:bodyPr/>
          <a:lstStyle/>
          <a:p>
            <a:fld id="{22E77DEE-32E4-4009-988B-F2758F7B8AC2}" type="slidenum">
              <a:rPr lang="zh-CN" altLang="en-US" smtClean="0"/>
              <a:t>51</a:t>
            </a:fld>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1192"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5509" y="1497013"/>
            <a:ext cx="4902199" cy="5055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2403" name="标题 1"/>
          <p:cNvSpPr>
            <a:spLocks noGrp="1" noChangeArrowheads="1"/>
          </p:cNvSpPr>
          <p:nvPr>
            <p:ph type="title"/>
          </p:nvPr>
        </p:nvSpPr>
        <p:spPr>
          <a:xfrm>
            <a:off x="454555" y="533152"/>
            <a:ext cx="7114645" cy="504825"/>
          </a:xfrm>
          <a:solidFill>
            <a:schemeClr val="bg1"/>
          </a:solidFill>
        </p:spPr>
        <p:txBody>
          <a:bodyPr>
            <a:noAutofit/>
          </a:bodyPr>
          <a:lstStyle/>
          <a:p>
            <a:pPr eaLnBrk="1" hangingPunct="1"/>
            <a:r>
              <a:rPr lang="en-US" altLang="zh-CN" sz="3600" dirty="0">
                <a:solidFill>
                  <a:srgbClr val="FF0000"/>
                </a:solidFill>
              </a:rPr>
              <a:t>1. Hardware interface design</a:t>
            </a:r>
            <a:endParaRPr lang="zh-CN" altLang="en-US" sz="3600" dirty="0"/>
          </a:p>
        </p:txBody>
      </p:sp>
      <p:sp>
        <p:nvSpPr>
          <p:cNvPr id="630787" name="Rectangle 3"/>
          <p:cNvSpPr>
            <a:spLocks noGrp="1" noChangeArrowheads="1"/>
          </p:cNvSpPr>
          <p:nvPr>
            <p:ph idx="1"/>
          </p:nvPr>
        </p:nvSpPr>
        <p:spPr>
          <a:xfrm>
            <a:off x="338138" y="1092621"/>
            <a:ext cx="8801100" cy="449263"/>
          </a:xfrm>
        </p:spPr>
        <p:txBody>
          <a:bodyPr>
            <a:noAutofit/>
          </a:bodyPr>
          <a:lstStyle/>
          <a:p>
            <a:pPr eaLnBrk="1" hangingPunct="1">
              <a:lnSpc>
                <a:spcPct val="95000"/>
              </a:lnSpc>
              <a:spcBef>
                <a:spcPct val="0"/>
              </a:spcBef>
            </a:pPr>
            <a:r>
              <a:rPr lang="zh-CN" altLang="en-US" sz="1600" dirty="0">
                <a:solidFill>
                  <a:srgbClr val="FF00FF"/>
                </a:solidFill>
              </a:rPr>
              <a:t>When programming a serial port on a computer, the serial port number must be selected correctly.</a:t>
            </a:r>
          </a:p>
        </p:txBody>
      </p:sp>
      <p:sp>
        <p:nvSpPr>
          <p:cNvPr id="7" name="Rectangle 7"/>
          <p:cNvSpPr>
            <a:spLocks noChangeArrowheads="1"/>
          </p:cNvSpPr>
          <p:nvPr/>
        </p:nvSpPr>
        <p:spPr bwMode="auto">
          <a:xfrm>
            <a:off x="1371600" y="6378297"/>
            <a:ext cx="3860800" cy="276999"/>
          </a:xfrm>
          <a:prstGeom prst="rect">
            <a:avLst/>
          </a:prstGeom>
          <a:solidFill>
            <a:schemeClr val="bg1"/>
          </a:solidFill>
          <a:ln w="9525">
            <a:solidFill>
              <a:srgbClr val="FF0000"/>
            </a:solidFill>
            <a:miter lim="800000"/>
          </a:ln>
        </p:spPr>
        <p:txBody>
          <a:bodyPr wrap="square" lIns="0" tIns="0" rIns="0" bIns="0"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dirty="0">
                <a:latin typeface="+mn-lt"/>
              </a:rPr>
              <a:t>How to find a search port number</a:t>
            </a:r>
            <a:endParaRPr lang="zh-CN" altLang="en-US" sz="3600" b="1" dirty="0">
              <a:solidFill>
                <a:srgbClr val="800000"/>
              </a:solidFill>
              <a:latin typeface="+mn-lt"/>
            </a:endParaRPr>
          </a:p>
        </p:txBody>
      </p:sp>
      <p:sp>
        <p:nvSpPr>
          <p:cNvPr id="8" name="线形标注 2 7"/>
          <p:cNvSpPr/>
          <p:nvPr/>
        </p:nvSpPr>
        <p:spPr bwMode="auto">
          <a:xfrm>
            <a:off x="7117763" y="4270375"/>
            <a:ext cx="1599180" cy="350838"/>
          </a:xfrm>
          <a:prstGeom prst="borderCallout2">
            <a:avLst>
              <a:gd name="adj1" fmla="val 5708"/>
              <a:gd name="adj2" fmla="val 42333"/>
              <a:gd name="adj3" fmla="val 1361"/>
              <a:gd name="adj4" fmla="val 40667"/>
              <a:gd name="adj5" fmla="val -60079"/>
              <a:gd name="adj6" fmla="val 22667"/>
            </a:avLst>
          </a:prstGeom>
          <a:noFill/>
          <a:ln w="9525" algn="ctr">
            <a:solidFill>
              <a:srgbClr val="FF0000"/>
            </a:solidFill>
            <a:round/>
            <a:tailEnd type="arrow" w="med" len="me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solidFill>
                  <a:srgbClr val="FF0000"/>
                </a:solidFill>
              </a:rPr>
              <a:t>Serial number</a:t>
            </a:r>
            <a:endParaRPr lang="zh-CN" altLang="en-US" dirty="0">
              <a:solidFill>
                <a:srgbClr val="FF0000"/>
              </a:solidFill>
            </a:endParaRPr>
          </a:p>
        </p:txBody>
      </p:sp>
      <p:pic>
        <p:nvPicPr>
          <p:cNvPr id="102408"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138" y="1497013"/>
            <a:ext cx="3105150" cy="4670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灯片编号占位符 1"/>
          <p:cNvSpPr>
            <a:spLocks noGrp="1"/>
          </p:cNvSpPr>
          <p:nvPr>
            <p:ph type="sldNum" sz="quarter" idx="12"/>
          </p:nvPr>
        </p:nvSpPr>
        <p:spPr/>
        <p:txBody>
          <a:bodyPr/>
          <a:lstStyle/>
          <a:p>
            <a:fld id="{22E77DEE-32E4-4009-988B-F2758F7B8AC2}" type="slidenum">
              <a:rPr lang="zh-CN" altLang="en-US" smtClean="0"/>
              <a:t>52</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630787">
                                            <p:txEl>
                                              <p:pRg st="0" end="0"/>
                                            </p:txEl>
                                          </p:spTgt>
                                        </p:tgtEl>
                                        <p:attrNameLst>
                                          <p:attrName>style.visibility</p:attrName>
                                        </p:attrNameLst>
                                      </p:cBhvr>
                                      <p:to>
                                        <p:strVal val="visible"/>
                                      </p:to>
                                    </p:set>
                                    <p:animEffect transition="in" filter="wipe(left)">
                                      <p:cBhvr>
                                        <p:cTn id="7" dur="500"/>
                                        <p:tgtEl>
                                          <p:spTgt spid="630787">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221192"/>
                                        </p:tgtEl>
                                        <p:attrNameLst>
                                          <p:attrName>style.visibility</p:attrName>
                                        </p:attrNameLst>
                                      </p:cBhvr>
                                      <p:to>
                                        <p:strVal val="visible"/>
                                      </p:to>
                                    </p:set>
                                    <p:animEffect transition="in" filter="wipe(up)">
                                      <p:cBhvr>
                                        <p:cTn id="14" dur="500"/>
                                        <p:tgtEl>
                                          <p:spTgt spid="221192"/>
                                        </p:tgtEl>
                                      </p:cBhvr>
                                    </p:animEffect>
                                  </p:childTnLst>
                                </p:cTn>
                              </p:par>
                            </p:childTnLst>
                          </p:cTn>
                        </p:par>
                        <p:par>
                          <p:cTn id="15" fill="hold">
                            <p:stCondLst>
                              <p:cond delay="1000"/>
                            </p:stCondLst>
                            <p:childTnLst>
                              <p:par>
                                <p:cTn id="16" presetID="22" presetClass="entr" presetSubtype="4"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down)">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标题 1"/>
          <p:cNvSpPr>
            <a:spLocks noGrp="1" noChangeArrowheads="1"/>
          </p:cNvSpPr>
          <p:nvPr>
            <p:ph type="title"/>
          </p:nvPr>
        </p:nvSpPr>
        <p:spPr>
          <a:xfrm>
            <a:off x="673100" y="282563"/>
            <a:ext cx="7543800" cy="831478"/>
          </a:xfrm>
        </p:spPr>
        <p:txBody>
          <a:bodyPr>
            <a:normAutofit/>
          </a:bodyPr>
          <a:lstStyle/>
          <a:p>
            <a:r>
              <a:rPr lang="en-US" altLang="zh-CN" sz="1800" dirty="0"/>
              <a:t>The interface circuit between CH340T and the microcontroller is shown in the figure.</a:t>
            </a:r>
            <a:endParaRPr lang="zh-CN" altLang="en-US" sz="1800" dirty="0"/>
          </a:p>
        </p:txBody>
      </p:sp>
      <p:sp>
        <p:nvSpPr>
          <p:cNvPr id="103428" name="Rectangle 5"/>
          <p:cNvSpPr>
            <a:spLocks noChangeArrowheads="1"/>
          </p:cNvSpPr>
          <p:nvPr/>
        </p:nvSpPr>
        <p:spPr bwMode="auto">
          <a:xfrm>
            <a:off x="0" y="1828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14000"/>
              </a:lnSpc>
              <a:spcAft>
                <a:spcPts val="600"/>
              </a:spcAft>
              <a:buBlip>
                <a:blip r:embed="rId2"/>
              </a:buBlip>
              <a:defRPr sz="2800" b="1">
                <a:solidFill>
                  <a:schemeClr val="accent2"/>
                </a:solidFill>
                <a:latin typeface="Times New Roman" panose="02020603050405020304" pitchFamily="18" charset="0"/>
                <a:ea typeface="宋体" panose="02010600030101010101" pitchFamily="2" charset="-122"/>
              </a:defRPr>
            </a:lvl1pPr>
            <a:lvl2pPr marL="742950" indent="-285750" algn="just">
              <a:lnSpc>
                <a:spcPct val="114000"/>
              </a:lnSpc>
              <a:spcAft>
                <a:spcPts val="600"/>
              </a:spcAft>
              <a:buBlip>
                <a:blip r:embed="rId3"/>
              </a:buBlip>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spcAft>
                <a:spcPct val="0"/>
              </a:spcAft>
              <a:buFontTx/>
              <a:buNone/>
            </a:pPr>
            <a:endParaRPr lang="zh-CN" altLang="en-US" sz="1800" b="0">
              <a:solidFill>
                <a:schemeClr val="tx1"/>
              </a:solidFill>
              <a:latin typeface="Arial" panose="020B0604020202020204" pitchFamily="34" charset="0"/>
            </a:endParaRPr>
          </a:p>
        </p:txBody>
      </p:sp>
      <p:graphicFrame>
        <p:nvGraphicFramePr>
          <p:cNvPr id="633860" name="Object 4"/>
          <p:cNvGraphicFramePr>
            <a:graphicFrameLocks noChangeAspect="1"/>
          </p:cNvGraphicFramePr>
          <p:nvPr/>
        </p:nvGraphicFramePr>
        <p:xfrm>
          <a:off x="1128470" y="1264274"/>
          <a:ext cx="7037630" cy="4755525"/>
        </p:xfrm>
        <a:graphic>
          <a:graphicData uri="http://schemas.openxmlformats.org/presentationml/2006/ole">
            <mc:AlternateContent xmlns:mc="http://schemas.openxmlformats.org/markup-compatibility/2006">
              <mc:Choice xmlns:v="urn:schemas-microsoft-com:vml" Requires="v">
                <p:oleObj name="Microsoft Drawing" r:id="rId4" imgW="4371975" imgH="3200400" progId="MSDraw">
                  <p:embed/>
                </p:oleObj>
              </mc:Choice>
              <mc:Fallback>
                <p:oleObj name="Microsoft Drawing" r:id="rId4" imgW="4371975" imgH="3200400" progId="MSDraw">
                  <p:embed/>
                  <p:pic>
                    <p:nvPicPr>
                      <p:cNvPr id="63386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8470" y="1264274"/>
                        <a:ext cx="7037630" cy="4755525"/>
                      </a:xfrm>
                      <a:prstGeom prst="rect">
                        <a:avLst/>
                      </a:prstGeom>
                      <a:solidFill>
                        <a:schemeClr val="bg1"/>
                      </a:solidFill>
                      <a:ln>
                        <a:noFill/>
                      </a:ln>
                    </p:spPr>
                  </p:pic>
                </p:oleObj>
              </mc:Fallback>
            </mc:AlternateContent>
          </a:graphicData>
        </a:graphic>
      </p:graphicFrame>
      <p:sp>
        <p:nvSpPr>
          <p:cNvPr id="103430" name="Rectangle 7"/>
          <p:cNvSpPr>
            <a:spLocks noChangeArrowheads="1"/>
          </p:cNvSpPr>
          <p:nvPr/>
        </p:nvSpPr>
        <p:spPr bwMode="auto">
          <a:xfrm>
            <a:off x="4262770" y="5406472"/>
            <a:ext cx="4003660" cy="338554"/>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b="1" dirty="0">
                <a:solidFill>
                  <a:srgbClr val="800000"/>
                </a:solidFill>
                <a:latin typeface="+mn-lt"/>
              </a:rPr>
              <a:t>CH340T interface circuit with microcontroller</a:t>
            </a:r>
            <a:endParaRPr lang="zh-CN" altLang="en-US" sz="1600" b="1" dirty="0">
              <a:solidFill>
                <a:srgbClr val="800000"/>
              </a:solidFill>
              <a:latin typeface="+mn-lt"/>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53</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withEffect">
                                  <p:stCondLst>
                                    <p:cond delay="0"/>
                                  </p:stCondLst>
                                  <p:childTnLst>
                                    <p:set>
                                      <p:cBhvr>
                                        <p:cTn id="6" dur="1" fill="hold">
                                          <p:stCondLst>
                                            <p:cond delay="0"/>
                                          </p:stCondLst>
                                        </p:cTn>
                                        <p:tgtEl>
                                          <p:spTgt spid="633860"/>
                                        </p:tgtEl>
                                        <p:attrNameLst>
                                          <p:attrName>style.visibility</p:attrName>
                                        </p:attrNameLst>
                                      </p:cBhvr>
                                      <p:to>
                                        <p:strVal val="visible"/>
                                      </p:to>
                                    </p:set>
                                    <p:anim calcmode="lin" valueType="num">
                                      <p:cBhvr>
                                        <p:cTn id="7" dur="500" fill="hold"/>
                                        <p:tgtEl>
                                          <p:spTgt spid="633860"/>
                                        </p:tgtEl>
                                        <p:attrNameLst>
                                          <p:attrName>ppt_w</p:attrName>
                                        </p:attrNameLst>
                                      </p:cBhvr>
                                      <p:tavLst>
                                        <p:tav tm="0">
                                          <p:val>
                                            <p:fltVal val="0"/>
                                          </p:val>
                                        </p:tav>
                                        <p:tav tm="100000">
                                          <p:val>
                                            <p:strVal val="#ppt_w"/>
                                          </p:val>
                                        </p:tav>
                                      </p:tavLst>
                                    </p:anim>
                                    <p:anim calcmode="lin" valueType="num">
                                      <p:cBhvr>
                                        <p:cTn id="8" dur="500" fill="hold"/>
                                        <p:tgtEl>
                                          <p:spTgt spid="63386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1"/>
          <p:cNvSpPr>
            <a:spLocks noGrp="1" noChangeArrowheads="1"/>
          </p:cNvSpPr>
          <p:nvPr>
            <p:ph type="title"/>
          </p:nvPr>
        </p:nvSpPr>
        <p:spPr>
          <a:xfrm>
            <a:off x="619125" y="539750"/>
            <a:ext cx="7883525" cy="504825"/>
          </a:xfrm>
        </p:spPr>
        <p:txBody>
          <a:bodyPr>
            <a:noAutofit/>
          </a:bodyPr>
          <a:lstStyle/>
          <a:p>
            <a:r>
              <a:rPr lang="en-US" altLang="zh-CN" sz="3600" dirty="0"/>
              <a:t>2.2 RS232 Serial Communication Interface</a:t>
            </a:r>
            <a:endParaRPr lang="zh-CN" altLang="en-US" sz="3600" dirty="0"/>
          </a:p>
        </p:txBody>
      </p:sp>
      <p:sp>
        <p:nvSpPr>
          <p:cNvPr id="636931" name="Rectangle 3"/>
          <p:cNvSpPr>
            <a:spLocks noGrp="1" noChangeArrowheads="1"/>
          </p:cNvSpPr>
          <p:nvPr>
            <p:ph idx="1"/>
          </p:nvPr>
        </p:nvSpPr>
        <p:spPr>
          <a:xfrm>
            <a:off x="491066" y="2270934"/>
            <a:ext cx="8161867" cy="3894667"/>
          </a:xfrm>
        </p:spPr>
        <p:txBody>
          <a:bodyPr/>
          <a:lstStyle/>
          <a:p>
            <a:pPr eaLnBrk="1" hangingPunct="1">
              <a:spcBef>
                <a:spcPct val="0"/>
              </a:spcBef>
              <a:spcAft>
                <a:spcPts val="3000"/>
              </a:spcAft>
              <a:buFontTx/>
              <a:buNone/>
            </a:pPr>
            <a:r>
              <a:rPr lang="en-US" altLang="zh-CN" dirty="0"/>
              <a:t>2. Software Design</a:t>
            </a:r>
          </a:p>
          <a:p>
            <a:pPr algn="just" eaLnBrk="1" hangingPunct="1">
              <a:spcBef>
                <a:spcPct val="0"/>
              </a:spcBef>
            </a:pPr>
            <a:r>
              <a:rPr lang="zh-CN" altLang="en-US" sz="1800" dirty="0"/>
              <a:t>    Software design often varies according to the requirements of the application system. Software design is divided into two parts: </a:t>
            </a:r>
            <a:r>
              <a:rPr lang="zh-CN" altLang="en-US" sz="1800" dirty="0">
                <a:solidFill>
                  <a:srgbClr val="FF0000"/>
                </a:solidFill>
              </a:rPr>
              <a:t>supercomputer program design</a:t>
            </a:r>
            <a:r>
              <a:rPr lang="zh-CN" altLang="en-US" sz="1800" dirty="0"/>
              <a:t> and </a:t>
            </a:r>
            <a:r>
              <a:rPr lang="zh-CN" altLang="en-US" sz="1800" dirty="0">
                <a:solidFill>
                  <a:srgbClr val="FF0000"/>
                </a:solidFill>
              </a:rPr>
              <a:t>microcontroller program design</a:t>
            </a:r>
            <a:r>
              <a:rPr lang="zh-CN" altLang="en-US" sz="1800" dirty="0"/>
              <a:t>.</a:t>
            </a:r>
            <a:endParaRPr lang="en-US" altLang="zh-CN" sz="1800" dirty="0"/>
          </a:p>
          <a:p>
            <a:pPr algn="just" eaLnBrk="1" hangingPunct="1">
              <a:spcBef>
                <a:spcPct val="0"/>
              </a:spcBef>
            </a:pPr>
            <a:r>
              <a:rPr lang="zh-CN" altLang="en-US" sz="1800" dirty="0"/>
              <a:t>    If the sole purpose is to verify the serial port circuit connection and the correctness of the microcontroller communication program design, </a:t>
            </a:r>
            <a:r>
              <a:rPr lang="zh-CN" altLang="en-US" sz="1800" dirty="0">
                <a:solidFill>
                  <a:srgbClr val="FF00FF"/>
                </a:solidFill>
              </a:rPr>
              <a:t>the host computer program can directly utilize the ready-made STC-ISP serial port debugging assistant software.</a:t>
            </a:r>
            <a:endParaRPr lang="en-US" altLang="zh-CN" sz="1800" dirty="0">
              <a:solidFill>
                <a:srgbClr val="FF00FF"/>
              </a:solidFill>
            </a:endParaRPr>
          </a:p>
          <a:p>
            <a:pPr eaLnBrk="1" hangingPunct="1">
              <a:spcBef>
                <a:spcPct val="0"/>
              </a:spcBef>
            </a:pPr>
            <a:r>
              <a:rPr lang="en-US" altLang="zh-CN" sz="1800" dirty="0">
                <a:solidFill>
                  <a:srgbClr val="FF0000"/>
                </a:solidFill>
              </a:rPr>
              <a:t>    STC-ISP software is available for download from </a:t>
            </a:r>
            <a:r>
              <a:rPr lang="en-US" altLang="zh-CN" sz="1800" b="0" dirty="0">
                <a:ea typeface="隶书" panose="02010509060101010101" pitchFamily="49" charset="-122"/>
                <a:hlinkClick r:id="rId2"/>
              </a:rPr>
              <a:t>http://www.stcmcu.com</a:t>
            </a:r>
            <a:endParaRPr lang="en-US" altLang="zh-CN" sz="1800" dirty="0"/>
          </a:p>
          <a:p>
            <a:pPr algn="just" eaLnBrk="1" hangingPunct="1">
              <a:spcBef>
                <a:spcPct val="0"/>
              </a:spcBef>
            </a:pPr>
            <a:r>
              <a:rPr lang="zh-CN" altLang="en-US" sz="1800" dirty="0"/>
              <a:t>    Of course, you can also design it yourself using a visual development environment like Visual C++.</a:t>
            </a:r>
          </a:p>
          <a:p>
            <a:pPr eaLnBrk="1" hangingPunct="1">
              <a:spcBef>
                <a:spcPct val="0"/>
              </a:spcBef>
            </a:pPr>
            <a:endParaRPr lang="zh-CN" altLang="en-US" dirty="0"/>
          </a:p>
        </p:txBody>
      </p:sp>
      <p:grpSp>
        <p:nvGrpSpPr>
          <p:cNvPr id="106502" name="组合 8"/>
          <p:cNvGrpSpPr/>
          <p:nvPr/>
        </p:nvGrpSpPr>
        <p:grpSpPr bwMode="auto">
          <a:xfrm>
            <a:off x="4263447" y="1729378"/>
            <a:ext cx="3389685" cy="504825"/>
            <a:chOff x="4927037" y="281819"/>
            <a:chExt cx="3389672" cy="504809"/>
          </a:xfrm>
        </p:grpSpPr>
        <p:sp>
          <p:nvSpPr>
            <p:cNvPr id="6" name="标题 1"/>
            <p:cNvSpPr txBox="1"/>
            <p:nvPr/>
          </p:nvSpPr>
          <p:spPr bwMode="auto">
            <a:xfrm>
              <a:off x="6994326" y="281819"/>
              <a:ext cx="1322383" cy="504809"/>
            </a:xfrm>
            <a:prstGeom prst="rect">
              <a:avLst/>
            </a:prstGeom>
            <a:noFill/>
            <a:ln w="38100">
              <a:solidFill>
                <a:srgbClr val="FF0000"/>
              </a:solidFill>
              <a:miter lim="800000"/>
            </a:ln>
            <a:extLst>
              <a:ext uri="{909E8E84-426E-40DD-AFC4-6F175D3DCCD1}">
                <a14:hiddenFill xmlns:a14="http://schemas.microsoft.com/office/drawing/2010/main">
                  <a:solidFill>
                    <a:srgbClr val="FFFFFF"/>
                  </a:solidFill>
                </a14:hiddenFill>
              </a:ext>
            </a:extLst>
          </p:spPr>
          <p:txBody>
            <a:bodyPr anchor="ctr"/>
            <a:lstStyle>
              <a:lvl1pPr algn="l" rtl="0" eaLnBrk="0" fontAlgn="base" hangingPunct="0">
                <a:spcBef>
                  <a:spcPct val="0"/>
                </a:spcBef>
                <a:spcAft>
                  <a:spcPct val="0"/>
                </a:spcAft>
                <a:defRPr sz="3200" b="1">
                  <a:solidFill>
                    <a:srgbClr val="CC3300"/>
                  </a:solidFill>
                  <a:latin typeface="+mj-lt"/>
                  <a:ea typeface="+mj-ea"/>
                  <a:cs typeface="+mj-cs"/>
                </a:defRPr>
              </a:lvl1pPr>
              <a:lvl2pPr algn="l" rtl="0" eaLnBrk="0" fontAlgn="base" hangingPunct="0">
                <a:spcBef>
                  <a:spcPct val="0"/>
                </a:spcBef>
                <a:spcAft>
                  <a:spcPct val="0"/>
                </a:spcAft>
                <a:defRPr sz="2400" b="1">
                  <a:solidFill>
                    <a:srgbClr val="CC3300"/>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rgbClr val="CC3300"/>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rgbClr val="CC3300"/>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rgbClr val="CC3300"/>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9pPr>
            </a:lstStyle>
            <a:p>
              <a:pPr>
                <a:defRPr/>
              </a:pPr>
              <a:r>
                <a:rPr lang="zh-CN" altLang="en-US" sz="2000" kern="0" dirty="0"/>
                <a:t>singlechip</a:t>
              </a:r>
              <a:endParaRPr lang="zh-CN" altLang="en-US" sz="1400" kern="0" dirty="0"/>
            </a:p>
          </p:txBody>
        </p:sp>
        <p:sp>
          <p:nvSpPr>
            <p:cNvPr id="7" name="标题 1"/>
            <p:cNvSpPr txBox="1"/>
            <p:nvPr/>
          </p:nvSpPr>
          <p:spPr bwMode="auto">
            <a:xfrm>
              <a:off x="4927037" y="281819"/>
              <a:ext cx="1292220" cy="504809"/>
            </a:xfrm>
            <a:prstGeom prst="rect">
              <a:avLst/>
            </a:prstGeom>
            <a:noFill/>
            <a:ln w="38100">
              <a:solidFill>
                <a:srgbClr val="FF0000"/>
              </a:solidFill>
              <a:miter lim="800000"/>
            </a:ln>
            <a:extLst>
              <a:ext uri="{909E8E84-426E-40DD-AFC4-6F175D3DCCD1}">
                <a14:hiddenFill xmlns:a14="http://schemas.microsoft.com/office/drawing/2010/main">
                  <a:solidFill>
                    <a:srgbClr val="FFFFFF"/>
                  </a:solidFill>
                </a14:hiddenFill>
              </a:ext>
            </a:extLst>
          </p:spPr>
          <p:txBody>
            <a:bodyPr anchor="ctr"/>
            <a:lstStyle>
              <a:lvl1pPr algn="l" rtl="0" eaLnBrk="0" fontAlgn="base" hangingPunct="0">
                <a:spcBef>
                  <a:spcPct val="0"/>
                </a:spcBef>
                <a:spcAft>
                  <a:spcPct val="0"/>
                </a:spcAft>
                <a:defRPr sz="3200" b="1">
                  <a:solidFill>
                    <a:srgbClr val="CC3300"/>
                  </a:solidFill>
                  <a:latin typeface="+mj-lt"/>
                  <a:ea typeface="+mj-ea"/>
                  <a:cs typeface="+mj-cs"/>
                </a:defRPr>
              </a:lvl1pPr>
              <a:lvl2pPr algn="l" rtl="0" eaLnBrk="0" fontAlgn="base" hangingPunct="0">
                <a:spcBef>
                  <a:spcPct val="0"/>
                </a:spcBef>
                <a:spcAft>
                  <a:spcPct val="0"/>
                </a:spcAft>
                <a:defRPr sz="2400" b="1">
                  <a:solidFill>
                    <a:srgbClr val="CC3300"/>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rgbClr val="CC3300"/>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rgbClr val="CC3300"/>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rgbClr val="CC3300"/>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9pPr>
            </a:lstStyle>
            <a:p>
              <a:pPr>
                <a:defRPr/>
              </a:pPr>
              <a:r>
                <a:rPr lang="zh-CN" altLang="en-US" sz="2000" kern="0" dirty="0"/>
                <a:t>computer</a:t>
              </a:r>
            </a:p>
          </p:txBody>
        </p:sp>
        <p:cxnSp>
          <p:nvCxnSpPr>
            <p:cNvPr id="106507" name="直接箭头连接符 7"/>
            <p:cNvCxnSpPr>
              <a:cxnSpLocks noChangeShapeType="1"/>
            </p:cNvCxnSpPr>
            <p:nvPr/>
          </p:nvCxnSpPr>
          <p:spPr bwMode="auto">
            <a:xfrm>
              <a:off x="6250075" y="411982"/>
              <a:ext cx="713433" cy="0"/>
            </a:xfrm>
            <a:prstGeom prst="straightConnector1">
              <a:avLst/>
            </a:prstGeom>
            <a:noFill/>
            <a:ln w="38100" algn="ctr">
              <a:solidFill>
                <a:srgbClr val="3333FF"/>
              </a:solidFill>
              <a:round/>
              <a:tailEnd type="triangle" w="med" len="med"/>
            </a:ln>
          </p:spPr>
        </p:cxnSp>
        <p:cxnSp>
          <p:nvCxnSpPr>
            <p:cNvPr id="106508" name="直接箭头连接符 9"/>
            <p:cNvCxnSpPr>
              <a:cxnSpLocks noChangeShapeType="1"/>
            </p:cNvCxnSpPr>
            <p:nvPr/>
          </p:nvCxnSpPr>
          <p:spPr bwMode="auto">
            <a:xfrm>
              <a:off x="6250075" y="683287"/>
              <a:ext cx="713433" cy="0"/>
            </a:xfrm>
            <a:prstGeom prst="straightConnector1">
              <a:avLst/>
            </a:prstGeom>
            <a:noFill/>
            <a:ln w="38100" algn="ctr">
              <a:solidFill>
                <a:srgbClr val="3333FF"/>
              </a:solidFill>
              <a:round/>
              <a:headEnd type="triangle" w="med" len="med"/>
            </a:ln>
          </p:spPr>
        </p:cxnSp>
      </p:grpSp>
      <p:sp>
        <p:nvSpPr>
          <p:cNvPr id="12" name="Rectangle 7"/>
          <p:cNvSpPr>
            <a:spLocks noChangeArrowheads="1"/>
          </p:cNvSpPr>
          <p:nvPr/>
        </p:nvSpPr>
        <p:spPr bwMode="auto">
          <a:xfrm>
            <a:off x="4814310" y="1196866"/>
            <a:ext cx="2478088"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en-US" altLang="zh-CN" sz="1200" b="1" dirty="0"/>
              <a:t>RS-232 conversion interface</a:t>
            </a:r>
            <a:endParaRPr lang="zh-CN" altLang="en-US" sz="2400" b="1" dirty="0">
              <a:solidFill>
                <a:srgbClr val="800000"/>
              </a:solidFill>
            </a:endParaRPr>
          </a:p>
        </p:txBody>
      </p:sp>
      <p:sp>
        <p:nvSpPr>
          <p:cNvPr id="13" name="Rectangle 7"/>
          <p:cNvSpPr>
            <a:spLocks noChangeArrowheads="1"/>
          </p:cNvSpPr>
          <p:nvPr/>
        </p:nvSpPr>
        <p:spPr bwMode="auto">
          <a:xfrm>
            <a:off x="4909559" y="2342044"/>
            <a:ext cx="2459037"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zh-CN" altLang="en-US" sz="1200" b="1" dirty="0"/>
              <a:t>or USB conversion interface</a:t>
            </a:r>
            <a:endParaRPr lang="zh-CN" altLang="en-US" sz="2400" b="1" dirty="0">
              <a:solidFill>
                <a:srgbClr val="800000"/>
              </a:solidFill>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54</a:t>
            </a:fld>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标题 1"/>
          <p:cNvSpPr>
            <a:spLocks noGrp="1" noChangeArrowheads="1"/>
          </p:cNvSpPr>
          <p:nvPr>
            <p:ph type="title"/>
          </p:nvPr>
        </p:nvSpPr>
        <p:spPr>
          <a:xfrm>
            <a:off x="254001" y="286605"/>
            <a:ext cx="8511308" cy="831478"/>
          </a:xfrm>
        </p:spPr>
        <p:txBody>
          <a:bodyPr>
            <a:noAutofit/>
          </a:bodyPr>
          <a:lstStyle/>
          <a:p>
            <a:r>
              <a:rPr lang="en-US" altLang="zh-CN" sz="3200" dirty="0"/>
              <a:t>2.2 RS232 Serial Communication Interface </a:t>
            </a:r>
            <a:r>
              <a:rPr lang="en-US" altLang="zh-CN" sz="3200" dirty="0">
                <a:solidFill>
                  <a:srgbClr val="FF0000"/>
                </a:solidFill>
              </a:rPr>
              <a:t>[Example]</a:t>
            </a:r>
            <a:endParaRPr lang="zh-CN" altLang="en-US" sz="3200" dirty="0">
              <a:solidFill>
                <a:srgbClr val="FF0000"/>
              </a:solidFill>
            </a:endParaRPr>
          </a:p>
        </p:txBody>
      </p:sp>
      <p:sp>
        <p:nvSpPr>
          <p:cNvPr id="629763" name="Rectangle 3"/>
          <p:cNvSpPr>
            <a:spLocks noGrp="1" noChangeArrowheads="1"/>
          </p:cNvSpPr>
          <p:nvPr>
            <p:ph idx="1"/>
          </p:nvPr>
        </p:nvSpPr>
        <p:spPr>
          <a:xfrm>
            <a:off x="254000" y="1397000"/>
            <a:ext cx="8724900" cy="4279900"/>
          </a:xfrm>
        </p:spPr>
        <p:txBody>
          <a:bodyPr>
            <a:normAutofit fontScale="92500" lnSpcReduction="10000"/>
          </a:bodyPr>
          <a:lstStyle/>
          <a:p>
            <a:pPr marL="0" indent="0" eaLnBrk="1" hangingPunct="1">
              <a:lnSpc>
                <a:spcPct val="113000"/>
              </a:lnSpc>
              <a:spcAft>
                <a:spcPts val="1200"/>
              </a:spcAft>
              <a:buFontTx/>
              <a:buNone/>
              <a:defRPr/>
            </a:pPr>
            <a:r>
              <a:rPr lang="zh-CN" altLang="en-US" dirty="0"/>
              <a:t>This article demonstrates </a:t>
            </a:r>
            <a:r>
              <a:rPr lang="zh-CN" altLang="en-US" dirty="0">
                <a:solidFill>
                  <a:srgbClr val="00B0F0"/>
                </a:solidFill>
              </a:rPr>
              <a:t>the hardware interface design and software implementation for RS232 communication</a:t>
            </a:r>
            <a:r>
              <a:rPr lang="zh-CN" altLang="en-US" dirty="0"/>
              <a:t> between a computer and a microcontroller through a practical example.</a:t>
            </a:r>
            <a:endParaRPr lang="en-US" altLang="zh-CN" dirty="0">
              <a:solidFill>
                <a:srgbClr val="FF0000"/>
              </a:solidFill>
            </a:endParaRPr>
          </a:p>
          <a:p>
            <a:pPr marL="0" indent="0" eaLnBrk="1" hangingPunct="1">
              <a:lnSpc>
                <a:spcPct val="113000"/>
              </a:lnSpc>
              <a:spcAft>
                <a:spcPts val="1200"/>
              </a:spcAft>
              <a:buFontTx/>
              <a:buNone/>
              <a:defRPr/>
            </a:pPr>
            <a:r>
              <a:rPr lang="en-US" altLang="zh-CN" dirty="0">
                <a:solidFill>
                  <a:srgbClr val="FF0000"/>
                </a:solidFill>
              </a:rPr>
              <a:t>[Example] </a:t>
            </a:r>
            <a:r>
              <a:rPr lang="en-US" altLang="zh-CN" dirty="0">
                <a:solidFill>
                  <a:schemeClr val="tx1"/>
                </a:solidFill>
              </a:rPr>
              <a:t>The computer sends a data to the microcontroller. After receiving the data, the microcontroller takes the received data by bit inversion and sends it back to the computer.</a:t>
            </a:r>
          </a:p>
          <a:p>
            <a:pPr eaLnBrk="1" hangingPunct="1">
              <a:lnSpc>
                <a:spcPct val="113000"/>
              </a:lnSpc>
              <a:spcAft>
                <a:spcPts val="1200"/>
              </a:spcAft>
              <a:buFont typeface="Wingdings" panose="05000000000000000000" pitchFamily="2" charset="2"/>
              <a:buChar char="Ø"/>
              <a:defRPr/>
            </a:pPr>
            <a:r>
              <a:rPr lang="zh-CN" altLang="en-US" dirty="0">
                <a:solidFill>
                  <a:schemeClr val="tx1"/>
                </a:solidFill>
              </a:rPr>
              <a:t>Assuming the microcontrollers system clock is 11.0592MHz, the communication parameters are </a:t>
            </a:r>
            <a:r>
              <a:rPr lang="zh-CN" altLang="en-US" dirty="0">
                <a:solidFill>
                  <a:srgbClr val="FF0000"/>
                </a:solidFill>
              </a:rPr>
              <a:t>"9600, n, 8, 1" </a:t>
            </a:r>
            <a:r>
              <a:rPr lang="zh-CN" altLang="en-US" dirty="0">
                <a:solidFill>
                  <a:schemeClr val="tx1"/>
                </a:solidFill>
              </a:rPr>
              <a:t>(a common communication parameter format: </a:t>
            </a:r>
            <a:r>
              <a:rPr lang="zh-CN" altLang="en-US" dirty="0">
                <a:solidFill>
                  <a:srgbClr val="FF0000"/>
                </a:solidFill>
              </a:rPr>
              <a:t>baud rate </a:t>
            </a:r>
            <a:r>
              <a:rPr lang="zh-CN" altLang="en-US" dirty="0">
                <a:solidFill>
                  <a:schemeClr val="tx1"/>
                </a:solidFill>
              </a:rPr>
              <a:t>9600 bit/s, </a:t>
            </a:r>
            <a:r>
              <a:rPr lang="zh-CN" altLang="en-US" dirty="0">
                <a:solidFill>
                  <a:srgbClr val="FF0000"/>
                </a:solidFill>
              </a:rPr>
              <a:t>no parity </a:t>
            </a:r>
            <a:r>
              <a:rPr lang="zh-CN" altLang="en-US" dirty="0">
                <a:solidFill>
                  <a:schemeClr val="tx1"/>
                </a:solidFill>
              </a:rPr>
              <a:t>(n: none) (or E: Even, O: Odd</a:t>
            </a:r>
            <a:r>
              <a:rPr lang="zh-CN" altLang="en-US" dirty="0">
                <a:solidFill>
                  <a:srgbClr val="FF0000"/>
                </a:solidFill>
              </a:rPr>
              <a:t>), 8 data bits, 1 stop bit</a:t>
            </a:r>
            <a:r>
              <a:rPr lang="zh-CN" altLang="en-US" dirty="0">
                <a:solidFill>
                  <a:schemeClr val="tx1"/>
                </a:solidFill>
              </a:rPr>
              <a:t>).</a:t>
            </a:r>
            <a:endParaRPr lang="en-US" altLang="zh-CN" dirty="0">
              <a:solidFill>
                <a:schemeClr val="tx1"/>
              </a:solidFill>
            </a:endParaRPr>
          </a:p>
          <a:p>
            <a:pPr eaLnBrk="1" hangingPunct="1">
              <a:lnSpc>
                <a:spcPct val="113000"/>
              </a:lnSpc>
              <a:spcAft>
                <a:spcPts val="1200"/>
              </a:spcAft>
              <a:buFont typeface="Wingdings" panose="05000000000000000000" pitchFamily="2" charset="2"/>
              <a:buChar char="Ø"/>
              <a:defRPr/>
            </a:pPr>
            <a:r>
              <a:rPr lang="zh-CN" altLang="en-US" dirty="0">
                <a:solidFill>
                  <a:schemeClr val="tx1"/>
                </a:solidFill>
              </a:rPr>
              <a:t>Display data sent from a microcontroller on a computer. In this case, </a:t>
            </a:r>
            <a:r>
              <a:rPr lang="zh-CN" altLang="en-US" dirty="0">
                <a:solidFill>
                  <a:srgbClr val="0000FF"/>
                </a:solidFill>
              </a:rPr>
              <a:t>the computer is usually called a host computer.</a:t>
            </a:r>
          </a:p>
        </p:txBody>
      </p:sp>
      <p:sp>
        <p:nvSpPr>
          <p:cNvPr id="2" name="灯片编号占位符 1"/>
          <p:cNvSpPr>
            <a:spLocks noGrp="1"/>
          </p:cNvSpPr>
          <p:nvPr>
            <p:ph type="sldNum" sz="quarter" idx="12"/>
          </p:nvPr>
        </p:nvSpPr>
        <p:spPr/>
        <p:txBody>
          <a:bodyPr/>
          <a:lstStyle/>
          <a:p>
            <a:fld id="{22E77DEE-32E4-4009-988B-F2758F7B8AC2}" type="slidenum">
              <a:rPr lang="zh-CN" altLang="en-US" smtClean="0"/>
              <a:t>55</a:t>
            </a:fld>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
          <p:cNvSpPr>
            <a:spLocks noGrp="1" noChangeArrowheads="1"/>
          </p:cNvSpPr>
          <p:nvPr>
            <p:ph type="title"/>
          </p:nvPr>
        </p:nvSpPr>
        <p:spPr>
          <a:xfrm>
            <a:off x="247650" y="286605"/>
            <a:ext cx="8769350" cy="831478"/>
          </a:xfrm>
        </p:spPr>
        <p:txBody>
          <a:bodyPr>
            <a:normAutofit/>
          </a:bodyPr>
          <a:lstStyle/>
          <a:p>
            <a:r>
              <a:rPr lang="en-US" altLang="zh-CN" sz="2800" dirty="0"/>
              <a:t>[Example] The computer sends data to the microcontroller, which inverts the data and returns it to the computer.</a:t>
            </a:r>
            <a:endParaRPr lang="zh-CN" altLang="en-US" sz="2800" dirty="0"/>
          </a:p>
        </p:txBody>
      </p:sp>
      <p:sp>
        <p:nvSpPr>
          <p:cNvPr id="637955" name="Rectangle 3"/>
          <p:cNvSpPr>
            <a:spLocks noGrp="1" noChangeArrowheads="1"/>
          </p:cNvSpPr>
          <p:nvPr>
            <p:ph idx="1"/>
          </p:nvPr>
        </p:nvSpPr>
        <p:spPr>
          <a:xfrm>
            <a:off x="660399" y="1219200"/>
            <a:ext cx="8228013" cy="4761442"/>
          </a:xfrm>
        </p:spPr>
        <p:txBody>
          <a:bodyPr>
            <a:normAutofit/>
          </a:bodyPr>
          <a:lstStyle/>
          <a:p>
            <a:pPr eaLnBrk="1" hangingPunct="1">
              <a:lnSpc>
                <a:spcPct val="150000"/>
              </a:lnSpc>
              <a:spcBef>
                <a:spcPct val="0"/>
              </a:spcBef>
            </a:pPr>
            <a:r>
              <a:rPr lang="zh-CN" altLang="en-US" sz="2400" dirty="0"/>
              <a:t>In the following </a:t>
            </a:r>
            <a:r>
              <a:rPr lang="zh-CN" altLang="en-US" sz="2400" dirty="0">
                <a:solidFill>
                  <a:srgbClr val="FF00FF"/>
                </a:solidFill>
              </a:rPr>
              <a:t>microcontroller programming</a:t>
            </a:r>
            <a:r>
              <a:rPr lang="zh-CN" altLang="en-US" sz="2400" dirty="0"/>
              <a:t>, when communicating with a host computer through the </a:t>
            </a:r>
            <a:r>
              <a:rPr lang="zh-CN" altLang="en-US" sz="2400" dirty="0">
                <a:solidFill>
                  <a:srgbClr val="FF00FF"/>
                </a:solidFill>
              </a:rPr>
              <a:t>serial port 2 </a:t>
            </a:r>
            <a:r>
              <a:rPr lang="zh-CN" altLang="en-US" sz="2400" dirty="0"/>
              <a:t>of the IAP15W4K58S4 microcontroller, </a:t>
            </a:r>
            <a:r>
              <a:rPr lang="zh-CN" altLang="en-US" sz="2400" dirty="0">
                <a:solidFill>
                  <a:srgbClr val="FF00FF"/>
                </a:solidFill>
              </a:rPr>
              <a:t>Timer 2 must be selected as the baud rate generator.</a:t>
            </a:r>
          </a:p>
          <a:p>
            <a:pPr eaLnBrk="1" hangingPunct="1">
              <a:lnSpc>
                <a:spcPct val="150000"/>
              </a:lnSpc>
              <a:spcBef>
                <a:spcPct val="0"/>
              </a:spcBef>
            </a:pPr>
            <a:endParaRPr lang="en-US" altLang="zh-CN" sz="2400" dirty="0"/>
          </a:p>
          <a:p>
            <a:pPr eaLnBrk="1" hangingPunct="1">
              <a:lnSpc>
                <a:spcPct val="150000"/>
              </a:lnSpc>
              <a:spcBef>
                <a:spcPct val="0"/>
              </a:spcBef>
            </a:pPr>
            <a:r>
              <a:rPr lang="zh-CN" altLang="en-US" sz="2400" dirty="0"/>
              <a:t>If </a:t>
            </a:r>
            <a:r>
              <a:rPr lang="zh-CN" altLang="en-US" sz="2400" dirty="0">
                <a:solidFill>
                  <a:srgbClr val="C00000"/>
                </a:solidFill>
              </a:rPr>
              <a:t>serial port 1 </a:t>
            </a:r>
            <a:r>
              <a:rPr lang="zh-CN" altLang="en-US" sz="2400" dirty="0"/>
              <a:t>is used for communication, </a:t>
            </a:r>
            <a:r>
              <a:rPr lang="zh-CN" altLang="en-US" sz="2400" dirty="0">
                <a:solidFill>
                  <a:srgbClr val="C00000"/>
                </a:solidFill>
              </a:rPr>
              <a:t>you can choose timer 1 or timer 2 as the baud rate generator. </a:t>
            </a:r>
            <a:r>
              <a:rPr lang="zh-CN" altLang="en-US" sz="2400" dirty="0"/>
              <a:t>The program design method is similar, so readers can experiment on their own.</a:t>
            </a:r>
          </a:p>
        </p:txBody>
      </p:sp>
      <p:sp>
        <p:nvSpPr>
          <p:cNvPr id="2" name="灯片编号占位符 1"/>
          <p:cNvSpPr>
            <a:spLocks noGrp="1"/>
          </p:cNvSpPr>
          <p:nvPr>
            <p:ph type="sldNum" sz="quarter" idx="12"/>
          </p:nvPr>
        </p:nvSpPr>
        <p:spPr/>
        <p:txBody>
          <a:bodyPr/>
          <a:lstStyle/>
          <a:p>
            <a:fld id="{22E77DEE-32E4-4009-988B-F2758F7B8AC2}" type="slidenum">
              <a:rPr lang="zh-CN" altLang="en-US" smtClean="0"/>
              <a:t>56</a:t>
            </a:fld>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标题 1"/>
          <p:cNvSpPr>
            <a:spLocks noGrp="1" noChangeArrowheads="1"/>
          </p:cNvSpPr>
          <p:nvPr>
            <p:ph type="title"/>
          </p:nvPr>
        </p:nvSpPr>
        <p:spPr>
          <a:xfrm>
            <a:off x="355600" y="281888"/>
            <a:ext cx="8871526" cy="831478"/>
          </a:xfrm>
        </p:spPr>
        <p:txBody>
          <a:bodyPr>
            <a:normAutofit/>
          </a:bodyPr>
          <a:lstStyle/>
          <a:p>
            <a:r>
              <a:rPr lang="en-US" altLang="zh-CN" sz="3600" dirty="0"/>
              <a:t>2.3 RS485 serial communication interface</a:t>
            </a:r>
            <a:endParaRPr lang="zh-CN" altLang="en-US" sz="3600" dirty="0"/>
          </a:p>
        </p:txBody>
      </p:sp>
      <p:sp>
        <p:nvSpPr>
          <p:cNvPr id="865283" name="Rectangle 3"/>
          <p:cNvSpPr>
            <a:spLocks noGrp="1" noChangeArrowheads="1"/>
          </p:cNvSpPr>
          <p:nvPr>
            <p:ph idx="1"/>
          </p:nvPr>
        </p:nvSpPr>
        <p:spPr>
          <a:xfrm>
            <a:off x="355600" y="1303868"/>
            <a:ext cx="8483600" cy="4440766"/>
          </a:xfrm>
        </p:spPr>
        <p:txBody>
          <a:bodyPr>
            <a:normAutofit/>
          </a:bodyPr>
          <a:lstStyle/>
          <a:p>
            <a:pPr algn="just" eaLnBrk="1" hangingPunct="1">
              <a:spcBef>
                <a:spcPct val="0"/>
              </a:spcBef>
              <a:spcAft>
                <a:spcPts val="1200"/>
              </a:spcAft>
            </a:pPr>
            <a:r>
              <a:rPr lang="en-US" altLang="zh-CN" sz="2400" dirty="0">
                <a:solidFill>
                  <a:srgbClr val="FF0000"/>
                </a:solidFill>
              </a:rPr>
              <a:t>    The RS-485 serial data interface </a:t>
            </a:r>
            <a:r>
              <a:rPr lang="en-US" altLang="zh-CN" sz="2400" dirty="0">
                <a:solidFill>
                  <a:srgbClr val="FF00FF"/>
                </a:solidFill>
              </a:rPr>
              <a:t>was developed to overcome the limitations of RS-232, including its short communication range (15 meters) and low data rate.</a:t>
            </a:r>
          </a:p>
          <a:p>
            <a:pPr algn="just" eaLnBrk="1" hangingPunct="1">
              <a:spcBef>
                <a:spcPct val="0"/>
              </a:spcBef>
              <a:spcAft>
                <a:spcPts val="1200"/>
              </a:spcAft>
            </a:pPr>
            <a:r>
              <a:rPr lang="zh-CN" altLang="en-US" sz="2400" dirty="0"/>
              <a:t>    </a:t>
            </a:r>
            <a:r>
              <a:rPr lang="zh-CN" altLang="en-US" sz="2400" dirty="0">
                <a:solidFill>
                  <a:srgbClr val="0000FF"/>
                </a:solidFill>
              </a:rPr>
              <a:t>The standard based on RS-422</a:t>
            </a:r>
            <a:r>
              <a:rPr lang="zh-CN" altLang="en-US" sz="2400" dirty="0"/>
              <a:t> </a:t>
            </a:r>
            <a:r>
              <a:rPr lang="zh-CN" altLang="en-US" sz="2400" dirty="0">
                <a:solidFill>
                  <a:srgbClr val="0000FF"/>
                </a:solidFill>
              </a:rPr>
              <a:t>adds the ability of multi-point and two-way communication,</a:t>
            </a:r>
            <a:r>
              <a:rPr lang="zh-CN" altLang="en-US" sz="2400" dirty="0"/>
              <a:t> that is, allowing multiple transmitters to be connected to the same bus, and adding the drive capability and conflict protection characteristics of transmitters.</a:t>
            </a:r>
            <a:endParaRPr lang="en-US" altLang="zh-CN" sz="2400" dirty="0"/>
          </a:p>
          <a:p>
            <a:pPr algn="just" eaLnBrk="1" hangingPunct="1">
              <a:spcBef>
                <a:spcPct val="0"/>
              </a:spcBef>
              <a:spcAft>
                <a:spcPts val="1200"/>
              </a:spcAft>
            </a:pPr>
            <a:r>
              <a:rPr lang="en-US" altLang="zh-CN" sz="2400" dirty="0">
                <a:solidFill>
                  <a:srgbClr val="FF0000"/>
                </a:solidFill>
              </a:rPr>
              <a:t>    The RS-485 standard only specifies the electrical characteristics of the balanced transmitter and receiver, </a:t>
            </a:r>
            <a:r>
              <a:rPr lang="en-US" altLang="zh-CN" sz="2400" dirty="0">
                <a:solidFill>
                  <a:srgbClr val="0000FF"/>
                </a:solidFill>
              </a:rPr>
              <a:t>but does not specify the connector, transmission cable, and application layer communication protocol.</a:t>
            </a:r>
          </a:p>
        </p:txBody>
      </p:sp>
      <p:sp>
        <p:nvSpPr>
          <p:cNvPr id="2" name="灯片编号占位符 1"/>
          <p:cNvSpPr>
            <a:spLocks noGrp="1"/>
          </p:cNvSpPr>
          <p:nvPr>
            <p:ph type="sldNum" sz="quarter" idx="12"/>
          </p:nvPr>
        </p:nvSpPr>
        <p:spPr/>
        <p:txBody>
          <a:bodyPr/>
          <a:lstStyle/>
          <a:p>
            <a:fld id="{22E77DEE-32E4-4009-988B-F2758F7B8AC2}" type="slidenum">
              <a:rPr lang="zh-CN" altLang="en-US" smtClean="0"/>
              <a:t>57</a:t>
            </a:fld>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标题 1"/>
          <p:cNvSpPr>
            <a:spLocks noGrp="1" noChangeArrowheads="1"/>
          </p:cNvSpPr>
          <p:nvPr>
            <p:ph type="title"/>
          </p:nvPr>
        </p:nvSpPr>
        <p:spPr>
          <a:xfrm>
            <a:off x="279399" y="286605"/>
            <a:ext cx="8485909" cy="831478"/>
          </a:xfrm>
        </p:spPr>
        <p:txBody>
          <a:bodyPr>
            <a:noAutofit/>
          </a:bodyPr>
          <a:lstStyle/>
          <a:p>
            <a:r>
              <a:rPr lang="en-US" altLang="zh-CN" sz="3600" dirty="0"/>
              <a:t>2.3 RS485 serial communication interface</a:t>
            </a:r>
            <a:endParaRPr lang="zh-CN" altLang="en-US" sz="3600" dirty="0"/>
          </a:p>
        </p:txBody>
      </p:sp>
      <p:sp>
        <p:nvSpPr>
          <p:cNvPr id="866307" name="Rectangle 3"/>
          <p:cNvSpPr>
            <a:spLocks noGrp="1" noChangeArrowheads="1"/>
          </p:cNvSpPr>
          <p:nvPr>
            <p:ph idx="1"/>
          </p:nvPr>
        </p:nvSpPr>
        <p:spPr>
          <a:xfrm>
            <a:off x="279400" y="1346200"/>
            <a:ext cx="8559800" cy="4271433"/>
          </a:xfrm>
        </p:spPr>
        <p:txBody>
          <a:bodyPr>
            <a:normAutofit/>
          </a:bodyPr>
          <a:lstStyle/>
          <a:p>
            <a:pPr lvl="1" eaLnBrk="1" hangingPunct="1">
              <a:spcBef>
                <a:spcPct val="0"/>
              </a:spcBef>
              <a:spcAft>
                <a:spcPts val="1800"/>
              </a:spcAft>
            </a:pPr>
            <a:r>
              <a:rPr lang="en-US" altLang="zh-CN" sz="2400" dirty="0"/>
              <a:t>The RS-485 data </a:t>
            </a:r>
            <a:r>
              <a:rPr lang="en-US" altLang="zh-CN" sz="2400" dirty="0">
                <a:solidFill>
                  <a:srgbClr val="FF0000"/>
                </a:solidFill>
              </a:rPr>
              <a:t>signal employs differential transmission</a:t>
            </a:r>
            <a:r>
              <a:rPr lang="en-US" altLang="zh-CN" sz="2400" dirty="0"/>
              <a:t>, also </a:t>
            </a:r>
            <a:r>
              <a:rPr lang="en-US" altLang="zh-CN" sz="2400" dirty="0">
                <a:solidFill>
                  <a:srgbClr val="FF0000"/>
                </a:solidFill>
              </a:rPr>
              <a:t>known as balanced transmission</a:t>
            </a:r>
            <a:r>
              <a:rPr lang="en-US" altLang="zh-CN" sz="2400" dirty="0"/>
              <a:t>. It uses a pair of twisted wires, with one designated as A and the other as B.</a:t>
            </a:r>
          </a:p>
          <a:p>
            <a:pPr lvl="1" eaLnBrk="1" hangingPunct="1">
              <a:spcBef>
                <a:spcPct val="0"/>
              </a:spcBef>
              <a:spcAft>
                <a:spcPts val="1800"/>
              </a:spcAft>
            </a:pPr>
            <a:r>
              <a:rPr lang="en-US" altLang="zh-CN" sz="2400" dirty="0">
                <a:solidFill>
                  <a:srgbClr val="FF0000"/>
                </a:solidFill>
              </a:rPr>
              <a:t>The positive voltage range between A and B (A-B) is +2V to +6V</a:t>
            </a:r>
            <a:r>
              <a:rPr lang="en-US" altLang="zh-CN" sz="2400" dirty="0"/>
              <a:t>, representing the logic state </a:t>
            </a:r>
            <a:r>
              <a:rPr lang="en-US" altLang="zh-CN" sz="2400" dirty="0">
                <a:solidFill>
                  <a:srgbClr val="FF0000"/>
                </a:solidFill>
              </a:rPr>
              <a:t>1</a:t>
            </a:r>
            <a:r>
              <a:rPr lang="en-US" altLang="zh-CN" sz="2400" dirty="0"/>
              <a:t>; </a:t>
            </a:r>
            <a:r>
              <a:rPr lang="en-US" altLang="zh-CN" sz="2400" dirty="0">
                <a:solidFill>
                  <a:srgbClr val="FF00FF"/>
                </a:solidFill>
              </a:rPr>
              <a:t>the negative voltage range is-2V to-6V,</a:t>
            </a:r>
            <a:r>
              <a:rPr lang="en-US" altLang="zh-CN" sz="2400" dirty="0"/>
              <a:t> representing the logic state </a:t>
            </a:r>
            <a:r>
              <a:rPr lang="en-US" altLang="zh-CN" sz="2400" dirty="0">
                <a:solidFill>
                  <a:srgbClr val="FF00FF"/>
                </a:solidFill>
              </a:rPr>
              <a:t>0</a:t>
            </a:r>
            <a:r>
              <a:rPr lang="en-US" altLang="zh-CN" sz="2400" dirty="0"/>
              <a:t>.</a:t>
            </a:r>
          </a:p>
          <a:p>
            <a:pPr lvl="1" eaLnBrk="1" hangingPunct="1">
              <a:spcBef>
                <a:spcPct val="0"/>
              </a:spcBef>
              <a:spcAft>
                <a:spcPts val="1800"/>
              </a:spcAft>
            </a:pPr>
            <a:r>
              <a:rPr lang="en-US" altLang="zh-CN" sz="2400" dirty="0"/>
              <a:t>The RS-485 standard has a </a:t>
            </a:r>
            <a:r>
              <a:rPr lang="en-US" altLang="zh-CN" sz="2400" dirty="0">
                <a:solidFill>
                  <a:srgbClr val="FF00FF"/>
                </a:solidFill>
              </a:rPr>
              <a:t>maximum transmission distance of approximately 1200 meters </a:t>
            </a:r>
            <a:r>
              <a:rPr lang="en-US" altLang="zh-CN" sz="2400" dirty="0"/>
              <a:t>and a maximum transmission rate of 10Mbps.</a:t>
            </a:r>
            <a:endParaRPr lang="zh-CN" altLang="en-US" sz="2400" dirty="0"/>
          </a:p>
        </p:txBody>
      </p:sp>
      <p:sp>
        <p:nvSpPr>
          <p:cNvPr id="2" name="灯片编号占位符 1"/>
          <p:cNvSpPr>
            <a:spLocks noGrp="1"/>
          </p:cNvSpPr>
          <p:nvPr>
            <p:ph type="sldNum" sz="quarter" idx="12"/>
          </p:nvPr>
        </p:nvSpPr>
        <p:spPr/>
        <p:txBody>
          <a:bodyPr/>
          <a:lstStyle/>
          <a:p>
            <a:fld id="{22E77DEE-32E4-4009-988B-F2758F7B8AC2}" type="slidenum">
              <a:rPr lang="zh-CN" altLang="en-US" smtClean="0"/>
              <a:t>58</a:t>
            </a:fld>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标题 1"/>
          <p:cNvSpPr>
            <a:spLocks noGrp="1" noChangeArrowheads="1"/>
          </p:cNvSpPr>
          <p:nvPr>
            <p:ph type="title"/>
          </p:nvPr>
        </p:nvSpPr>
        <p:spPr>
          <a:xfrm>
            <a:off x="184726" y="332787"/>
            <a:ext cx="8513187" cy="831478"/>
          </a:xfrm>
        </p:spPr>
        <p:txBody>
          <a:bodyPr>
            <a:noAutofit/>
          </a:bodyPr>
          <a:lstStyle/>
          <a:p>
            <a:r>
              <a:rPr lang="en-US" altLang="zh-CN" sz="3600" dirty="0"/>
              <a:t>2.3 RS485 serial communication interface</a:t>
            </a:r>
            <a:endParaRPr lang="zh-CN" altLang="en-US" sz="3600" dirty="0"/>
          </a:p>
        </p:txBody>
      </p:sp>
      <p:sp>
        <p:nvSpPr>
          <p:cNvPr id="669699" name="Rectangle 3"/>
          <p:cNvSpPr>
            <a:spLocks noGrp="1" noChangeArrowheads="1"/>
          </p:cNvSpPr>
          <p:nvPr>
            <p:ph idx="1"/>
          </p:nvPr>
        </p:nvSpPr>
        <p:spPr>
          <a:xfrm>
            <a:off x="342900" y="1443568"/>
            <a:ext cx="8355013" cy="4072466"/>
          </a:xfrm>
        </p:spPr>
        <p:txBody>
          <a:bodyPr>
            <a:normAutofit/>
          </a:bodyPr>
          <a:lstStyle/>
          <a:p>
            <a:pPr lvl="1" algn="just" eaLnBrk="1" hangingPunct="1">
              <a:spcBef>
                <a:spcPct val="0"/>
              </a:spcBef>
            </a:pPr>
            <a:r>
              <a:rPr lang="en-US" altLang="zh-CN" sz="2400" dirty="0"/>
              <a:t>The RS-485 network uses balanced twisted pair as the transmission medium. </a:t>
            </a:r>
            <a:r>
              <a:rPr lang="en-US" altLang="zh-CN" sz="2400" dirty="0">
                <a:solidFill>
                  <a:srgbClr val="FF0000"/>
                </a:solidFill>
              </a:rPr>
              <a:t>The length of the balanced twisted pair is inversely proportional to the transmission rate</a:t>
            </a:r>
            <a:r>
              <a:rPr lang="en-US" altLang="zh-CN" sz="2400" dirty="0"/>
              <a:t>. Only when the rate is below 20 kbps can the specified maximum cable length be used. The maximum transmission rate can only be obtained at very short distances.</a:t>
            </a:r>
          </a:p>
          <a:p>
            <a:pPr lvl="1" algn="just" eaLnBrk="1" hangingPunct="1">
              <a:spcBef>
                <a:spcPct val="0"/>
              </a:spcBef>
            </a:pPr>
            <a:r>
              <a:rPr lang="zh-CN" altLang="en-US" sz="2400" dirty="0"/>
              <a:t>Generally, </a:t>
            </a:r>
            <a:r>
              <a:rPr lang="zh-CN" altLang="en-US" sz="2400" dirty="0">
                <a:solidFill>
                  <a:srgbClr val="FF0000"/>
                </a:solidFill>
              </a:rPr>
              <a:t>the maximum transmission rate of a 100-meter twisted pair cable is only 1Mbps. </a:t>
            </a:r>
            <a:r>
              <a:rPr lang="zh-CN" altLang="en-US" sz="2400" dirty="0"/>
              <a:t>If optical isolation is used, the communication rate is also limited by the response speed of the optical isolation device.</a:t>
            </a:r>
          </a:p>
          <a:p>
            <a:pPr lvl="1" eaLnBrk="1" hangingPunct="1">
              <a:spcBef>
                <a:spcPct val="0"/>
              </a:spcBef>
            </a:pPr>
            <a:endParaRPr lang="en-US" altLang="zh-CN" sz="3200" dirty="0"/>
          </a:p>
        </p:txBody>
      </p:sp>
      <p:sp>
        <p:nvSpPr>
          <p:cNvPr id="2" name="灯片编号占位符 1"/>
          <p:cNvSpPr>
            <a:spLocks noGrp="1"/>
          </p:cNvSpPr>
          <p:nvPr>
            <p:ph type="sldNum" sz="quarter" idx="12"/>
          </p:nvPr>
        </p:nvSpPr>
        <p:spPr/>
        <p:txBody>
          <a:bodyPr/>
          <a:lstStyle/>
          <a:p>
            <a:fld id="{22E77DEE-32E4-4009-988B-F2758F7B8AC2}" type="slidenum">
              <a:rPr lang="zh-CN" altLang="en-US" smtClean="0"/>
              <a:t>59</a:t>
            </a:fld>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标题 1"/>
          <p:cNvSpPr>
            <a:spLocks noGrp="1" noChangeArrowheads="1"/>
          </p:cNvSpPr>
          <p:nvPr>
            <p:ph type="title"/>
          </p:nvPr>
        </p:nvSpPr>
        <p:spPr>
          <a:xfrm>
            <a:off x="332509" y="286605"/>
            <a:ext cx="8497455" cy="831478"/>
          </a:xfrm>
        </p:spPr>
        <p:txBody>
          <a:bodyPr>
            <a:noAutofit/>
          </a:bodyPr>
          <a:lstStyle/>
          <a:p>
            <a:r>
              <a:rPr lang="en-US" altLang="zh-CN" sz="3600" dirty="0"/>
              <a:t>2.3 RS485 serial communication interface</a:t>
            </a:r>
            <a:endParaRPr lang="zh-CN" altLang="en-US" sz="3600" dirty="0"/>
          </a:p>
        </p:txBody>
      </p:sp>
      <p:sp>
        <p:nvSpPr>
          <p:cNvPr id="670723" name="Rectangle 3"/>
          <p:cNvSpPr>
            <a:spLocks noGrp="1" noChangeArrowheads="1"/>
          </p:cNvSpPr>
          <p:nvPr>
            <p:ph idx="1"/>
          </p:nvPr>
        </p:nvSpPr>
        <p:spPr>
          <a:xfrm>
            <a:off x="332509" y="1467908"/>
            <a:ext cx="8229600" cy="4438458"/>
          </a:xfrm>
        </p:spPr>
        <p:txBody>
          <a:bodyPr>
            <a:normAutofit/>
          </a:bodyPr>
          <a:lstStyle/>
          <a:p>
            <a:pPr lvl="1" algn="just" eaLnBrk="1" hangingPunct="1">
              <a:spcBef>
                <a:spcPct val="0"/>
              </a:spcBef>
              <a:spcAft>
                <a:spcPts val="1800"/>
              </a:spcAft>
            </a:pPr>
            <a:r>
              <a:rPr lang="zh-CN" altLang="en-US" sz="2400" dirty="0"/>
              <a:t>Using RS-485 standard, a relatively economical communication platform with </a:t>
            </a:r>
            <a:r>
              <a:rPr lang="zh-CN" altLang="en-US" sz="2400" dirty="0">
                <a:solidFill>
                  <a:srgbClr val="FF00FF"/>
                </a:solidFill>
              </a:rPr>
              <a:t>high noise suppression and high transmission rate can be established</a:t>
            </a:r>
            <a:r>
              <a:rPr lang="zh-CN" altLang="en-US" sz="2400" dirty="0"/>
              <a:t>, which has the advantages of </a:t>
            </a:r>
            <a:r>
              <a:rPr lang="zh-CN" altLang="en-US" sz="2400" dirty="0">
                <a:solidFill>
                  <a:srgbClr val="FF0000"/>
                </a:solidFill>
              </a:rPr>
              <a:t>long transmission distance</a:t>
            </a:r>
            <a:r>
              <a:rPr lang="zh-CN" altLang="en-US" sz="2400" dirty="0"/>
              <a:t>, </a:t>
            </a:r>
            <a:r>
              <a:rPr lang="zh-CN" altLang="en-US" sz="2400" dirty="0">
                <a:solidFill>
                  <a:srgbClr val="0000FF"/>
                </a:solidFill>
              </a:rPr>
              <a:t>wide common mode range and convenient control.</a:t>
            </a:r>
          </a:p>
          <a:p>
            <a:pPr lvl="1" algn="just" eaLnBrk="1" hangingPunct="1">
              <a:spcBef>
                <a:spcPct val="0"/>
              </a:spcBef>
              <a:spcAft>
                <a:spcPts val="1800"/>
              </a:spcAft>
            </a:pPr>
            <a:r>
              <a:rPr lang="zh-CN" altLang="en-US" sz="2400" dirty="0"/>
              <a:t>At present, RS-485 half-duplex asynchronous communication bus is widely used </a:t>
            </a:r>
            <a:r>
              <a:rPr lang="zh-CN" altLang="en-US" sz="2400" dirty="0">
                <a:solidFill>
                  <a:srgbClr val="FF0000"/>
                </a:solidFill>
              </a:rPr>
              <a:t>in the field network of engineering application</a:t>
            </a:r>
            <a:r>
              <a:rPr lang="zh-CN" altLang="en-US" sz="2400" dirty="0"/>
              <a:t> to communicate between centralized control hub and decentralized control unit.</a:t>
            </a:r>
          </a:p>
        </p:txBody>
      </p:sp>
      <p:sp>
        <p:nvSpPr>
          <p:cNvPr id="2" name="灯片编号占位符 1"/>
          <p:cNvSpPr>
            <a:spLocks noGrp="1"/>
          </p:cNvSpPr>
          <p:nvPr>
            <p:ph type="sldNum" sz="quarter" idx="12"/>
          </p:nvPr>
        </p:nvSpPr>
        <p:spPr/>
        <p:txBody>
          <a:bodyPr/>
          <a:lstStyle/>
          <a:p>
            <a:fld id="{22E77DEE-32E4-4009-988B-F2758F7B8AC2}" type="slidenum">
              <a:rPr lang="zh-CN" altLang="en-US" smtClean="0"/>
              <a:t>60</a:t>
            </a:fld>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786" name="Picture 33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677" y="1838372"/>
            <a:ext cx="7361406" cy="39015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8787" name="标题 1"/>
          <p:cNvSpPr>
            <a:spLocks noGrp="1" noChangeArrowheads="1"/>
          </p:cNvSpPr>
          <p:nvPr>
            <p:ph type="title"/>
          </p:nvPr>
        </p:nvSpPr>
        <p:spPr>
          <a:xfrm>
            <a:off x="314035" y="286605"/>
            <a:ext cx="8515929" cy="831478"/>
          </a:xfrm>
        </p:spPr>
        <p:txBody>
          <a:bodyPr>
            <a:noAutofit/>
          </a:bodyPr>
          <a:lstStyle/>
          <a:p>
            <a:r>
              <a:rPr lang="en-US" altLang="zh-CN" sz="3600" dirty="0"/>
              <a:t>2.3 RS485 serial communication interface</a:t>
            </a:r>
            <a:endParaRPr lang="zh-CN" altLang="en-US" sz="3600" dirty="0"/>
          </a:p>
        </p:txBody>
      </p:sp>
      <p:sp>
        <p:nvSpPr>
          <p:cNvPr id="118788" name="Rectangle 5"/>
          <p:cNvSpPr>
            <a:spLocks noChangeArrowheads="1"/>
          </p:cNvSpPr>
          <p:nvPr/>
        </p:nvSpPr>
        <p:spPr bwMode="auto">
          <a:xfrm>
            <a:off x="0" y="22764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14000"/>
              </a:lnSpc>
              <a:spcAft>
                <a:spcPts val="600"/>
              </a:spcAft>
              <a:buBlip>
                <a:blip r:embed="rId3"/>
              </a:buBlip>
              <a:defRPr sz="2800" b="1">
                <a:solidFill>
                  <a:schemeClr val="accent2"/>
                </a:solidFill>
                <a:latin typeface="Times New Roman" panose="02020603050405020304" pitchFamily="18" charset="0"/>
                <a:ea typeface="宋体" panose="02010600030101010101" pitchFamily="2" charset="-122"/>
              </a:defRPr>
            </a:lvl1pPr>
            <a:lvl2pPr marL="742950" indent="-285750" algn="just">
              <a:lnSpc>
                <a:spcPct val="114000"/>
              </a:lnSpc>
              <a:spcAft>
                <a:spcPts val="600"/>
              </a:spcAft>
              <a:buBlip>
                <a:blip r:embed="rId4"/>
              </a:buBlip>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spcAft>
                <a:spcPct val="0"/>
              </a:spcAft>
              <a:buFontTx/>
              <a:buNone/>
            </a:pPr>
            <a:endParaRPr lang="zh-CN" altLang="en-US" sz="1800" b="0">
              <a:solidFill>
                <a:schemeClr val="tx1"/>
              </a:solidFill>
              <a:latin typeface="Arial" panose="020B0604020202020204" pitchFamily="34" charset="0"/>
            </a:endParaRPr>
          </a:p>
        </p:txBody>
      </p:sp>
      <p:sp>
        <p:nvSpPr>
          <p:cNvPr id="27655" name="Rectangle 7"/>
          <p:cNvSpPr>
            <a:spLocks noChangeArrowheads="1"/>
          </p:cNvSpPr>
          <p:nvPr/>
        </p:nvSpPr>
        <p:spPr bwMode="auto">
          <a:xfrm>
            <a:off x="1938955" y="5839466"/>
            <a:ext cx="5365572" cy="338554"/>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b="1" dirty="0">
                <a:solidFill>
                  <a:srgbClr val="800000"/>
                </a:solidFill>
              </a:rPr>
              <a:t>Master-slave architecture diagram of RS-485 network</a:t>
            </a:r>
          </a:p>
        </p:txBody>
      </p:sp>
      <p:sp>
        <p:nvSpPr>
          <p:cNvPr id="118791" name="Rectangle 3"/>
          <p:cNvSpPr>
            <a:spLocks noGrp="1" noChangeArrowheads="1"/>
          </p:cNvSpPr>
          <p:nvPr>
            <p:ph idx="1"/>
          </p:nvPr>
        </p:nvSpPr>
        <p:spPr>
          <a:xfrm>
            <a:off x="560493" y="1165281"/>
            <a:ext cx="7806267" cy="625889"/>
          </a:xfrm>
        </p:spPr>
        <p:txBody>
          <a:bodyPr>
            <a:normAutofit fontScale="40000" lnSpcReduction="20000"/>
          </a:bodyPr>
          <a:lstStyle/>
          <a:p>
            <a:pPr eaLnBrk="1" hangingPunct="1">
              <a:lnSpc>
                <a:spcPct val="100000"/>
              </a:lnSpc>
              <a:spcBef>
                <a:spcPct val="0"/>
              </a:spcBef>
            </a:pPr>
            <a:r>
              <a:rPr lang="zh-CN" altLang="en-US" sz="4900" dirty="0"/>
              <a:t>The system architecture is shown in the figure, with a computer as the host and connected to the field control unit through RS-485.</a:t>
            </a:r>
          </a:p>
          <a:p>
            <a:pPr eaLnBrk="1" hangingPunct="1">
              <a:lnSpc>
                <a:spcPct val="100000"/>
              </a:lnSpc>
              <a:spcBef>
                <a:spcPct val="0"/>
              </a:spcBef>
            </a:pPr>
            <a:endParaRPr lang="en-US" altLang="zh-CN" dirty="0"/>
          </a:p>
        </p:txBody>
      </p:sp>
      <p:sp>
        <p:nvSpPr>
          <p:cNvPr id="2" name="灯片编号占位符 1"/>
          <p:cNvSpPr>
            <a:spLocks noGrp="1"/>
          </p:cNvSpPr>
          <p:nvPr>
            <p:ph type="sldNum" sz="quarter" idx="12"/>
          </p:nvPr>
        </p:nvSpPr>
        <p:spPr/>
        <p:txBody>
          <a:bodyPr/>
          <a:lstStyle/>
          <a:p>
            <a:fld id="{22E77DEE-32E4-4009-988B-F2758F7B8AC2}" type="slidenum">
              <a:rPr lang="zh-CN" altLang="en-US" smtClean="0"/>
              <a:t>61</a:t>
            </a:fld>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795" name="Rectangle 3"/>
          <p:cNvSpPr>
            <a:spLocks noGrp="1" noChangeArrowheads="1"/>
          </p:cNvSpPr>
          <p:nvPr>
            <p:ph idx="1"/>
          </p:nvPr>
        </p:nvSpPr>
        <p:spPr>
          <a:xfrm>
            <a:off x="749300" y="1163326"/>
            <a:ext cx="7205133" cy="1279525"/>
          </a:xfrm>
        </p:spPr>
        <p:txBody>
          <a:bodyPr>
            <a:normAutofit/>
          </a:bodyPr>
          <a:lstStyle/>
          <a:p>
            <a:pPr eaLnBrk="1" hangingPunct="1">
              <a:lnSpc>
                <a:spcPct val="85000"/>
              </a:lnSpc>
              <a:spcBef>
                <a:spcPct val="0"/>
              </a:spcBef>
            </a:pPr>
            <a:r>
              <a:rPr lang="en-US" altLang="zh-CN" sz="1800" dirty="0"/>
              <a:t>The RS-485 interface chip supports </a:t>
            </a:r>
            <a:r>
              <a:rPr lang="en-US" altLang="zh-CN" sz="1800" dirty="0">
                <a:solidFill>
                  <a:srgbClr val="FF0000"/>
                </a:solidFill>
              </a:rPr>
              <a:t>half-duplex transmission, such as the MAX3082 (or other RS-485 chips like MAX485 or MAX487).</a:t>
            </a:r>
          </a:p>
          <a:p>
            <a:pPr eaLnBrk="1" hangingPunct="1">
              <a:lnSpc>
                <a:spcPct val="85000"/>
              </a:lnSpc>
              <a:spcBef>
                <a:spcPct val="0"/>
              </a:spcBef>
            </a:pPr>
            <a:r>
              <a:rPr lang="en-US" altLang="zh-CN" sz="1800" dirty="0"/>
              <a:t>The MAX3082s architecture and a typical half-duplex communication circuit diagram are shown in the figure.</a:t>
            </a:r>
            <a:endParaRPr lang="zh-CN" altLang="en-US" sz="1800" dirty="0">
              <a:solidFill>
                <a:schemeClr val="tx1"/>
              </a:solidFill>
            </a:endParaRPr>
          </a:p>
        </p:txBody>
      </p:sp>
      <p:graphicFrame>
        <p:nvGraphicFramePr>
          <p:cNvPr id="673796" name="Object 4"/>
          <p:cNvGraphicFramePr>
            <a:graphicFrameLocks noChangeAspect="1"/>
          </p:cNvGraphicFramePr>
          <p:nvPr>
            <p:extLst>
              <p:ext uri="{D42A27DB-BD31-4B8C-83A1-F6EECF244321}">
                <p14:modId xmlns:p14="http://schemas.microsoft.com/office/powerpoint/2010/main" val="2158731916"/>
              </p:ext>
            </p:extLst>
          </p:nvPr>
        </p:nvGraphicFramePr>
        <p:xfrm>
          <a:off x="4680903" y="2343526"/>
          <a:ext cx="4951094" cy="3509963"/>
        </p:xfrm>
        <a:graphic>
          <a:graphicData uri="http://schemas.openxmlformats.org/presentationml/2006/ole">
            <mc:AlternateContent xmlns:mc="http://schemas.openxmlformats.org/markup-compatibility/2006">
              <mc:Choice xmlns:v="urn:schemas-microsoft-com:vml" Requires="v">
                <p:oleObj name="Visio" r:id="rId2" imgW="2510155" imgH="1362710" progId="Visio.Drawing.11">
                  <p:embed/>
                </p:oleObj>
              </mc:Choice>
              <mc:Fallback>
                <p:oleObj name="Visio" r:id="rId2" imgW="2510155" imgH="1362710" progId="Visio.Drawing.11">
                  <p:embed/>
                  <p:pic>
                    <p:nvPicPr>
                      <p:cNvPr id="67379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0903" y="2343526"/>
                        <a:ext cx="4951094" cy="3509963"/>
                      </a:xfrm>
                      <a:prstGeom prst="rect">
                        <a:avLst/>
                      </a:prstGeom>
                      <a:noFill/>
                      <a:ln>
                        <a:noFill/>
                      </a:ln>
                    </p:spPr>
                  </p:pic>
                </p:oleObj>
              </mc:Fallback>
            </mc:AlternateContent>
          </a:graphicData>
        </a:graphic>
      </p:graphicFrame>
      <p:sp>
        <p:nvSpPr>
          <p:cNvPr id="28678" name="Rectangle 6"/>
          <p:cNvSpPr>
            <a:spLocks noChangeArrowheads="1"/>
          </p:cNvSpPr>
          <p:nvPr/>
        </p:nvSpPr>
        <p:spPr bwMode="auto">
          <a:xfrm>
            <a:off x="4413250" y="5789642"/>
            <a:ext cx="4502150" cy="460191"/>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85000"/>
              </a:lnSpc>
            </a:pPr>
            <a:r>
              <a:rPr lang="en-US" altLang="zh-CN" sz="1400" b="1" dirty="0">
                <a:solidFill>
                  <a:srgbClr val="FF0000"/>
                </a:solidFill>
                <a:latin typeface="+mn-lt"/>
              </a:rPr>
              <a:t>The MAX3082s </a:t>
            </a:r>
            <a:r>
              <a:rPr lang="en-US" altLang="zh-CN" sz="1400" b="1" dirty="0">
                <a:solidFill>
                  <a:srgbClr val="C00000"/>
                </a:solidFill>
                <a:latin typeface="+mn-lt"/>
              </a:rPr>
              <a:t>architecture and a typical half-duplex communication circuit diagram</a:t>
            </a:r>
            <a:endParaRPr lang="zh-CN" altLang="en-US" sz="1400" b="1" dirty="0">
              <a:solidFill>
                <a:srgbClr val="C00000"/>
              </a:solidFill>
              <a:latin typeface="+mn-lt"/>
            </a:endParaRPr>
          </a:p>
        </p:txBody>
      </p:sp>
      <p:sp>
        <p:nvSpPr>
          <p:cNvPr id="7" name="Rectangle 3"/>
          <p:cNvSpPr txBox="1">
            <a:spLocks noChangeArrowheads="1"/>
          </p:cNvSpPr>
          <p:nvPr/>
        </p:nvSpPr>
        <p:spPr bwMode="auto">
          <a:xfrm>
            <a:off x="617643" y="2216695"/>
            <a:ext cx="7027757" cy="542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l" rtl="0" eaLnBrk="0" fontAlgn="base" hangingPunct="0">
              <a:lnSpc>
                <a:spcPct val="114000"/>
              </a:lnSpc>
              <a:spcBef>
                <a:spcPts val="0"/>
              </a:spcBef>
              <a:spcAft>
                <a:spcPts val="600"/>
              </a:spcAft>
              <a:buBlip>
                <a:blip r:embed="rId4"/>
              </a:buBlip>
              <a:defRPr sz="2800" b="1">
                <a:solidFill>
                  <a:schemeClr val="accent2"/>
                </a:solidFill>
                <a:latin typeface="+mn-lt"/>
                <a:ea typeface="+mn-ea"/>
                <a:cs typeface="+mn-cs"/>
              </a:defRPr>
            </a:lvl1pPr>
            <a:lvl2pPr marL="263525" indent="-180975" algn="l" rtl="0" eaLnBrk="0" fontAlgn="base" hangingPunct="0">
              <a:lnSpc>
                <a:spcPct val="114000"/>
              </a:lnSpc>
              <a:spcBef>
                <a:spcPts val="0"/>
              </a:spcBef>
              <a:spcAft>
                <a:spcPts val="600"/>
              </a:spcAft>
              <a:buBlip>
                <a:blip r:embed="rId5"/>
              </a:buBlip>
              <a:defRPr sz="2800" b="1">
                <a:solidFill>
                  <a:schemeClr val="tx1"/>
                </a:solidFill>
                <a:latin typeface="+mn-lt"/>
                <a:ea typeface="+mn-ea"/>
              </a:defRPr>
            </a:lvl2pPr>
            <a:lvl3pPr marL="1143000" indent="-228600" algn="l"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l"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l"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eaLnBrk="1" hangingPunct="1">
              <a:lnSpc>
                <a:spcPct val="100000"/>
              </a:lnSpc>
              <a:defRPr/>
            </a:pPr>
            <a:r>
              <a:rPr lang="zh-CN" altLang="en-US" sz="1600" kern="0" dirty="0">
                <a:solidFill>
                  <a:schemeClr val="tx1"/>
                </a:solidFill>
              </a:rPr>
              <a:t>When receiving data, the microcontroller should clear P1.0 to 0; when sending data, it should set P1.0 to 1.</a:t>
            </a:r>
          </a:p>
        </p:txBody>
      </p:sp>
      <p:sp>
        <p:nvSpPr>
          <p:cNvPr id="6" name="矩形 5"/>
          <p:cNvSpPr>
            <a:spLocks noChangeArrowheads="1"/>
          </p:cNvSpPr>
          <p:nvPr/>
        </p:nvSpPr>
        <p:spPr bwMode="auto">
          <a:xfrm>
            <a:off x="313002" y="2921261"/>
            <a:ext cx="4440344" cy="2354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spcAft>
                <a:spcPts val="600"/>
              </a:spcAft>
            </a:pPr>
            <a:r>
              <a:rPr lang="en-US" altLang="zh-CN" sz="1400" b="1" dirty="0">
                <a:solidFill>
                  <a:srgbClr val="0000CC"/>
                </a:solidFill>
                <a:latin typeface="+mn-lt"/>
              </a:rPr>
              <a:t>A: The positive terminal of the 485 differential signal;</a:t>
            </a:r>
          </a:p>
          <a:p>
            <a:pPr algn="l" eaLnBrk="1" hangingPunct="1">
              <a:spcAft>
                <a:spcPts val="600"/>
              </a:spcAft>
            </a:pPr>
            <a:r>
              <a:rPr lang="en-US" altLang="zh-CN" sz="1400" b="1" dirty="0">
                <a:solidFill>
                  <a:srgbClr val="0000CC"/>
                </a:solidFill>
                <a:latin typeface="+mn-lt"/>
              </a:rPr>
              <a:t>B: The reverse terminal of the 485 differential signal;</a:t>
            </a:r>
          </a:p>
          <a:p>
            <a:pPr algn="l" eaLnBrk="1" hangingPunct="1">
              <a:spcAft>
                <a:spcPts val="600"/>
              </a:spcAft>
            </a:pPr>
            <a:r>
              <a:rPr lang="en-US" altLang="zh-CN" sz="1400" b="1" dirty="0">
                <a:solidFill>
                  <a:srgbClr val="0000CC"/>
                </a:solidFill>
                <a:latin typeface="+mn-lt"/>
              </a:rPr>
              <a:t>VCC: Power supply terminal;</a:t>
            </a:r>
          </a:p>
          <a:p>
            <a:pPr algn="l" eaLnBrk="1" hangingPunct="1">
              <a:spcAft>
                <a:spcPts val="600"/>
              </a:spcAft>
            </a:pPr>
            <a:r>
              <a:rPr lang="en-US" altLang="zh-CN" sz="1400" b="1" dirty="0">
                <a:solidFill>
                  <a:srgbClr val="0000CC"/>
                </a:solidFill>
                <a:latin typeface="+mn-lt"/>
              </a:rPr>
              <a:t>GND: Ground terminal.</a:t>
            </a:r>
          </a:p>
          <a:p>
            <a:pPr algn="l" eaLnBrk="1" hangingPunct="1">
              <a:spcAft>
                <a:spcPts val="600"/>
              </a:spcAft>
            </a:pPr>
            <a:r>
              <a:rPr lang="en-US" altLang="zh-CN" sz="1400" b="1" dirty="0">
                <a:solidFill>
                  <a:srgbClr val="0000CC"/>
                </a:solidFill>
                <a:latin typeface="+mn-lt"/>
              </a:rPr>
              <a:t>RE: The receiving end is valid only at low level;</a:t>
            </a:r>
          </a:p>
          <a:p>
            <a:pPr algn="l" eaLnBrk="1" hangingPunct="1">
              <a:spcAft>
                <a:spcPts val="600"/>
              </a:spcAft>
            </a:pPr>
            <a:r>
              <a:rPr lang="en-US" altLang="zh-CN" sz="1400" b="1" dirty="0">
                <a:solidFill>
                  <a:srgbClr val="0000CC"/>
                </a:solidFill>
                <a:latin typeface="+mn-lt"/>
              </a:rPr>
              <a:t>DE: Send high-level signal to enable terminal;</a:t>
            </a:r>
          </a:p>
          <a:p>
            <a:pPr algn="l" eaLnBrk="1" hangingPunct="1">
              <a:spcAft>
                <a:spcPts val="600"/>
              </a:spcAft>
            </a:pPr>
            <a:r>
              <a:rPr lang="en-US" altLang="zh-CN" sz="1400" b="1" dirty="0">
                <a:solidFill>
                  <a:srgbClr val="0000CC"/>
                </a:solidFill>
                <a:latin typeface="+mn-lt"/>
              </a:rPr>
              <a:t>RO: TTL-level output for receiving data;</a:t>
            </a:r>
          </a:p>
          <a:p>
            <a:pPr algn="l" eaLnBrk="1" hangingPunct="1">
              <a:spcAft>
                <a:spcPts val="600"/>
              </a:spcAft>
            </a:pPr>
            <a:r>
              <a:rPr lang="en-US" altLang="zh-CN" sz="1400" b="1" dirty="0">
                <a:solidFill>
                  <a:srgbClr val="0000CC"/>
                </a:solidFill>
                <a:latin typeface="+mn-lt"/>
              </a:rPr>
              <a:t>DI: TTL-level data input terminal for data transmission;</a:t>
            </a:r>
            <a:endParaRPr lang="zh-CN" altLang="en-US" sz="1400" b="1" dirty="0">
              <a:solidFill>
                <a:srgbClr val="0000CC"/>
              </a:solidFill>
              <a:latin typeface="+mn-lt"/>
            </a:endParaRPr>
          </a:p>
        </p:txBody>
      </p:sp>
      <p:sp>
        <p:nvSpPr>
          <p:cNvPr id="8" name="矩形 7"/>
          <p:cNvSpPr>
            <a:spLocks noChangeArrowheads="1"/>
          </p:cNvSpPr>
          <p:nvPr/>
        </p:nvSpPr>
        <p:spPr bwMode="auto">
          <a:xfrm>
            <a:off x="4498975" y="2870867"/>
            <a:ext cx="22193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solidFill>
                  <a:srgbClr val="FF0000"/>
                </a:solidFill>
              </a:rPr>
              <a:t>(A-B)&gt;</a:t>
            </a:r>
            <a:r>
              <a:rPr lang="en-US" altLang="zh-CN" dirty="0">
                <a:solidFill>
                  <a:srgbClr val="0000FF"/>
                </a:solidFill>
              </a:rPr>
              <a:t>-0.05v</a:t>
            </a:r>
            <a:r>
              <a:rPr lang="en-US" altLang="zh-CN" dirty="0">
                <a:solidFill>
                  <a:srgbClr val="FF0000"/>
                </a:solidFill>
              </a:rPr>
              <a:t>, RO=1</a:t>
            </a:r>
          </a:p>
          <a:p>
            <a:pPr eaLnBrk="1" hangingPunct="1"/>
            <a:r>
              <a:rPr lang="en-US" altLang="zh-CN" dirty="0">
                <a:solidFill>
                  <a:srgbClr val="FF0000"/>
                </a:solidFill>
              </a:rPr>
              <a:t>(A-B)&lt;-0.2v, RO=0</a:t>
            </a:r>
          </a:p>
        </p:txBody>
      </p:sp>
      <p:sp>
        <p:nvSpPr>
          <p:cNvPr id="2" name="灯片编号占位符 1"/>
          <p:cNvSpPr>
            <a:spLocks noGrp="1"/>
          </p:cNvSpPr>
          <p:nvPr>
            <p:ph type="sldNum" sz="quarter" idx="12"/>
          </p:nvPr>
        </p:nvSpPr>
        <p:spPr/>
        <p:txBody>
          <a:bodyPr/>
          <a:lstStyle/>
          <a:p>
            <a:fld id="{22E77DEE-32E4-4009-988B-F2758F7B8AC2}" type="slidenum">
              <a:rPr lang="zh-CN" altLang="en-US" smtClean="0"/>
              <a:t>62</a:t>
            </a:fld>
            <a:endParaRPr lang="zh-CN" altLang="en-US"/>
          </a:p>
        </p:txBody>
      </p:sp>
      <p:sp>
        <p:nvSpPr>
          <p:cNvPr id="5" name="标题 1">
            <a:extLst>
              <a:ext uri="{FF2B5EF4-FFF2-40B4-BE49-F238E27FC236}">
                <a16:creationId xmlns:a16="http://schemas.microsoft.com/office/drawing/2014/main" id="{D352708F-5805-D7D8-ABE1-FDBDBFA0F1A8}"/>
              </a:ext>
            </a:extLst>
          </p:cNvPr>
          <p:cNvSpPr>
            <a:spLocks noGrp="1" noChangeArrowheads="1"/>
          </p:cNvSpPr>
          <p:nvPr>
            <p:ph type="title"/>
          </p:nvPr>
        </p:nvSpPr>
        <p:spPr>
          <a:xfrm>
            <a:off x="314035" y="286605"/>
            <a:ext cx="8515929" cy="831478"/>
          </a:xfrm>
        </p:spPr>
        <p:txBody>
          <a:bodyPr>
            <a:noAutofit/>
          </a:bodyPr>
          <a:lstStyle/>
          <a:p>
            <a:r>
              <a:rPr lang="en-US" altLang="zh-CN" sz="3600" dirty="0"/>
              <a:t>2.3 RS485 serial communication interface</a:t>
            </a:r>
            <a:endParaRPr lang="zh-CN" altLang="en-US" sz="36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Rectangle 3"/>
          <p:cNvSpPr>
            <a:spLocks noGrp="1" noChangeArrowheads="1"/>
          </p:cNvSpPr>
          <p:nvPr>
            <p:ph idx="1"/>
          </p:nvPr>
        </p:nvSpPr>
        <p:spPr>
          <a:xfrm>
            <a:off x="630766" y="1220786"/>
            <a:ext cx="8036984" cy="336551"/>
          </a:xfrm>
        </p:spPr>
        <p:txBody>
          <a:bodyPr>
            <a:noAutofit/>
          </a:bodyPr>
          <a:lstStyle/>
          <a:p>
            <a:pPr eaLnBrk="1" hangingPunct="1">
              <a:spcBef>
                <a:spcPct val="0"/>
              </a:spcBef>
            </a:pPr>
            <a:r>
              <a:rPr lang="zh-CN" altLang="en-US" sz="1800" dirty="0"/>
              <a:t>The computers RS-232 and RS-485 conversion circuitry is shown in the figure.</a:t>
            </a:r>
          </a:p>
        </p:txBody>
      </p:sp>
      <p:sp>
        <p:nvSpPr>
          <p:cNvPr id="120836" name="Rectangle 5"/>
          <p:cNvSpPr>
            <a:spLocks noChangeArrowheads="1"/>
          </p:cNvSpPr>
          <p:nvPr/>
        </p:nvSpPr>
        <p:spPr bwMode="auto">
          <a:xfrm>
            <a:off x="0" y="19716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14000"/>
              </a:lnSpc>
              <a:spcAft>
                <a:spcPts val="600"/>
              </a:spcAft>
              <a:buBlip>
                <a:blip r:embed="rId2"/>
              </a:buBlip>
              <a:defRPr sz="2800" b="1">
                <a:solidFill>
                  <a:schemeClr val="accent2"/>
                </a:solidFill>
                <a:latin typeface="Times New Roman" panose="02020603050405020304" pitchFamily="18" charset="0"/>
                <a:ea typeface="宋体" panose="02010600030101010101" pitchFamily="2" charset="-122"/>
              </a:defRPr>
            </a:lvl1pPr>
            <a:lvl2pPr marL="742950" indent="-285750" algn="just">
              <a:lnSpc>
                <a:spcPct val="114000"/>
              </a:lnSpc>
              <a:spcAft>
                <a:spcPts val="600"/>
              </a:spcAft>
              <a:buBlip>
                <a:blip r:embed="rId3"/>
              </a:buBlip>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spcAft>
                <a:spcPct val="0"/>
              </a:spcAft>
              <a:buFontTx/>
              <a:buNone/>
            </a:pPr>
            <a:endParaRPr lang="zh-CN" altLang="en-US" sz="1800" b="0">
              <a:solidFill>
                <a:schemeClr val="tx1"/>
              </a:solidFill>
              <a:latin typeface="Arial" panose="020B0604020202020204" pitchFamily="34" charset="0"/>
            </a:endParaRPr>
          </a:p>
        </p:txBody>
      </p:sp>
      <p:sp>
        <p:nvSpPr>
          <p:cNvPr id="29703" name="Rectangle 7"/>
          <p:cNvSpPr>
            <a:spLocks noChangeArrowheads="1"/>
          </p:cNvSpPr>
          <p:nvPr/>
        </p:nvSpPr>
        <p:spPr bwMode="auto">
          <a:xfrm>
            <a:off x="281167" y="5820707"/>
            <a:ext cx="6189836"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dirty="0">
                <a:solidFill>
                  <a:srgbClr val="800000"/>
                </a:solidFill>
                <a:latin typeface="+mn-lt"/>
              </a:rPr>
              <a:t>RS-232 and RS-485 conversion circuit for connecting computers</a:t>
            </a:r>
          </a:p>
        </p:txBody>
      </p:sp>
      <p:pic>
        <p:nvPicPr>
          <p:cNvPr id="120839" name="Picture 3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0707" y="1673473"/>
            <a:ext cx="7292775" cy="41174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p:cNvSpPr>
            <a:spLocks noChangeArrowheads="1"/>
          </p:cNvSpPr>
          <p:nvPr/>
        </p:nvSpPr>
        <p:spPr bwMode="auto">
          <a:xfrm>
            <a:off x="6381742" y="2252506"/>
            <a:ext cx="183646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solidFill>
                  <a:srgbClr val="FF0000"/>
                </a:solidFill>
                <a:latin typeface="+mn-lt"/>
              </a:rPr>
              <a:t>(A-B)&gt; </a:t>
            </a:r>
            <a:r>
              <a:rPr lang="en-US" altLang="zh-CN" dirty="0">
                <a:solidFill>
                  <a:srgbClr val="0000FF"/>
                </a:solidFill>
                <a:latin typeface="+mn-lt"/>
              </a:rPr>
              <a:t>0.2v,</a:t>
            </a:r>
            <a:r>
              <a:rPr lang="en-US" altLang="zh-CN" dirty="0">
                <a:solidFill>
                  <a:srgbClr val="FF0000"/>
                </a:solidFill>
                <a:latin typeface="+mn-lt"/>
              </a:rPr>
              <a:t> RO=1</a:t>
            </a:r>
          </a:p>
          <a:p>
            <a:pPr eaLnBrk="1" hangingPunct="1"/>
            <a:r>
              <a:rPr lang="en-US" altLang="zh-CN" dirty="0">
                <a:solidFill>
                  <a:srgbClr val="FF0000"/>
                </a:solidFill>
                <a:latin typeface="+mn-lt"/>
              </a:rPr>
              <a:t>(A-B)&lt;-0.2v, RO=0</a:t>
            </a:r>
          </a:p>
        </p:txBody>
      </p:sp>
      <p:sp>
        <p:nvSpPr>
          <p:cNvPr id="120841" name="矩形 2">
            <a:hlinkClick r:id="rId5" action="ppaction://hlinksldjump"/>
          </p:cNvPr>
          <p:cNvSpPr>
            <a:spLocks noChangeArrowheads="1"/>
          </p:cNvSpPr>
          <p:nvPr/>
        </p:nvSpPr>
        <p:spPr bwMode="auto">
          <a:xfrm>
            <a:off x="5468938" y="1606550"/>
            <a:ext cx="367506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solidFill>
                  <a:srgbClr val="FF0000"/>
                </a:solidFill>
                <a:latin typeface="+mn-lt"/>
              </a:rPr>
              <a:t>The pins of the 8-pin MAX485 are identical to those of the MAX3082.</a:t>
            </a:r>
            <a:endParaRPr lang="zh-CN" altLang="en-US" dirty="0">
              <a:latin typeface="+mn-lt"/>
            </a:endParaRPr>
          </a:p>
        </p:txBody>
      </p:sp>
      <p:sp>
        <p:nvSpPr>
          <p:cNvPr id="120842" name="矩形 4"/>
          <p:cNvSpPr>
            <a:spLocks noChangeArrowheads="1"/>
          </p:cNvSpPr>
          <p:nvPr/>
        </p:nvSpPr>
        <p:spPr bwMode="auto">
          <a:xfrm>
            <a:off x="6529606" y="5783375"/>
            <a:ext cx="1069524"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solidFill>
                  <a:srgbClr val="FF0000"/>
                </a:solidFill>
              </a:rPr>
              <a:t>MAX485</a:t>
            </a:r>
            <a:endParaRPr lang="zh-CN" altLang="en-US" sz="3600" dirty="0"/>
          </a:p>
        </p:txBody>
      </p:sp>
      <p:sp>
        <p:nvSpPr>
          <p:cNvPr id="2" name="灯片编号占位符 1"/>
          <p:cNvSpPr>
            <a:spLocks noGrp="1"/>
          </p:cNvSpPr>
          <p:nvPr>
            <p:ph type="sldNum" sz="quarter" idx="12"/>
          </p:nvPr>
        </p:nvSpPr>
        <p:spPr/>
        <p:txBody>
          <a:bodyPr/>
          <a:lstStyle/>
          <a:p>
            <a:fld id="{22E77DEE-32E4-4009-988B-F2758F7B8AC2}" type="slidenum">
              <a:rPr lang="zh-CN" altLang="en-US" smtClean="0"/>
              <a:t>63</a:t>
            </a:fld>
            <a:endParaRPr lang="zh-CN" altLang="en-US"/>
          </a:p>
        </p:txBody>
      </p:sp>
      <p:sp>
        <p:nvSpPr>
          <p:cNvPr id="5" name="标题 1">
            <a:extLst>
              <a:ext uri="{FF2B5EF4-FFF2-40B4-BE49-F238E27FC236}">
                <a16:creationId xmlns:a16="http://schemas.microsoft.com/office/drawing/2014/main" id="{5F6B1F42-70D9-765D-6C94-956CA1CF07EC}"/>
              </a:ext>
            </a:extLst>
          </p:cNvPr>
          <p:cNvSpPr>
            <a:spLocks noGrp="1" noChangeArrowheads="1"/>
          </p:cNvSpPr>
          <p:nvPr>
            <p:ph type="title"/>
          </p:nvPr>
        </p:nvSpPr>
        <p:spPr>
          <a:xfrm>
            <a:off x="314035" y="286605"/>
            <a:ext cx="8515929" cy="831478"/>
          </a:xfrm>
        </p:spPr>
        <p:txBody>
          <a:bodyPr>
            <a:noAutofit/>
          </a:bodyPr>
          <a:lstStyle/>
          <a:p>
            <a:r>
              <a:rPr lang="en-US" altLang="zh-CN" sz="3600" dirty="0"/>
              <a:t>2.3 RS485 serial communication interface</a:t>
            </a:r>
            <a:endParaRPr lang="zh-CN" altLang="en-US" sz="36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noChangeArrowheads="1"/>
          </p:cNvSpPr>
          <p:nvPr>
            <p:ph type="title"/>
          </p:nvPr>
        </p:nvSpPr>
        <p:spPr/>
        <p:txBody>
          <a:bodyPr>
            <a:normAutofit/>
          </a:bodyPr>
          <a:lstStyle/>
          <a:p>
            <a:r>
              <a:rPr lang="en-US" altLang="zh-CN" sz="3600" dirty="0"/>
              <a:t>2.4 SPI Communication Interface</a:t>
            </a:r>
            <a:endParaRPr lang="zh-CN" altLang="en-US" sz="3600" dirty="0"/>
          </a:p>
        </p:txBody>
      </p:sp>
      <p:sp>
        <p:nvSpPr>
          <p:cNvPr id="445442" name="Rectangle 2"/>
          <p:cNvSpPr>
            <a:spLocks noGrp="1" noChangeArrowheads="1"/>
          </p:cNvSpPr>
          <p:nvPr>
            <p:ph idx="1"/>
          </p:nvPr>
        </p:nvSpPr>
        <p:spPr>
          <a:xfrm>
            <a:off x="822960" y="1276350"/>
            <a:ext cx="7453207" cy="3927475"/>
          </a:xfrm>
        </p:spPr>
        <p:txBody>
          <a:bodyPr>
            <a:normAutofit/>
          </a:bodyPr>
          <a:lstStyle/>
          <a:p>
            <a:pPr marL="609600" indent="-609600" eaLnBrk="1" hangingPunct="1">
              <a:spcAft>
                <a:spcPts val="2400"/>
              </a:spcAft>
              <a:buFontTx/>
              <a:buNone/>
              <a:defRPr/>
            </a:pPr>
            <a:r>
              <a:rPr lang="en-US" altLang="zh-CN" sz="1800" dirty="0">
                <a:solidFill>
                  <a:srgbClr val="FF0000"/>
                </a:solidFill>
              </a:rPr>
              <a:t>1. Introduction to SPI Interface</a:t>
            </a:r>
          </a:p>
          <a:p>
            <a:pPr marL="266700" indent="-266700" eaLnBrk="1" hangingPunct="1">
              <a:spcAft>
                <a:spcPts val="2400"/>
              </a:spcAft>
              <a:defRPr/>
            </a:pPr>
            <a:r>
              <a:rPr lang="en-US" altLang="zh-CN" dirty="0"/>
              <a:t>The IAP15W4K58S4 incorporates a S erial P eripheral I nterface (</a:t>
            </a:r>
            <a:r>
              <a:rPr lang="en-US" altLang="zh-CN" dirty="0">
                <a:solidFill>
                  <a:srgbClr val="FF0000"/>
                </a:solidFill>
              </a:rPr>
              <a:t>SPI</a:t>
            </a:r>
            <a:r>
              <a:rPr lang="en-US" altLang="zh-CN" dirty="0"/>
              <a:t>).</a:t>
            </a:r>
          </a:p>
          <a:p>
            <a:pPr marL="266700" indent="-266700" eaLnBrk="1" hangingPunct="1">
              <a:spcAft>
                <a:spcPts val="2400"/>
              </a:spcAft>
              <a:defRPr/>
            </a:pPr>
            <a:r>
              <a:rPr lang="en-US" altLang="zh-CN" dirty="0"/>
              <a:t>The SPI interface supports both communication with other </a:t>
            </a:r>
            <a:r>
              <a:rPr lang="en-US" altLang="zh-CN" dirty="0">
                <a:solidFill>
                  <a:srgbClr val="0000FF"/>
                </a:solidFill>
              </a:rPr>
              <a:t>microprocessors</a:t>
            </a:r>
            <a:r>
              <a:rPr lang="en-US" altLang="zh-CN" dirty="0"/>
              <a:t> and synchronous interaction with </a:t>
            </a:r>
            <a:r>
              <a:rPr lang="en-US" altLang="zh-CN" dirty="0">
                <a:solidFill>
                  <a:srgbClr val="0000FF"/>
                </a:solidFill>
              </a:rPr>
              <a:t>SPI-compatible devices</a:t>
            </a:r>
            <a:r>
              <a:rPr lang="en-US" altLang="zh-CN" dirty="0"/>
              <a:t> such as memory modules, A/D converters, D/A converters, LED drivers, and </a:t>
            </a:r>
            <a:r>
              <a:rPr lang="en-US" altLang="zh-CN" dirty="0">
                <a:solidFill>
                  <a:srgbClr val="0000FF"/>
                </a:solidFill>
              </a:rPr>
              <a:t>LCD drivers.</a:t>
            </a:r>
          </a:p>
          <a:p>
            <a:pPr marL="266700" indent="-266700" eaLnBrk="1" hangingPunct="1">
              <a:spcAft>
                <a:spcPts val="2400"/>
              </a:spcAft>
              <a:defRPr/>
            </a:pPr>
            <a:endParaRPr lang="zh-CN" altLang="en-US" sz="2800" dirty="0"/>
          </a:p>
          <a:p>
            <a:pPr marL="609600" indent="-609600" eaLnBrk="1" hangingPunct="1">
              <a:spcAft>
                <a:spcPts val="2400"/>
              </a:spcAft>
              <a:buFontTx/>
              <a:buNone/>
              <a:defRPr/>
            </a:pPr>
            <a:endParaRPr lang="en-US" altLang="zh-CN" sz="2800" dirty="0"/>
          </a:p>
        </p:txBody>
      </p:sp>
      <p:sp>
        <p:nvSpPr>
          <p:cNvPr id="6" name="Rectangle 3"/>
          <p:cNvSpPr txBox="1">
            <a:spLocks noChangeArrowheads="1"/>
          </p:cNvSpPr>
          <p:nvPr/>
        </p:nvSpPr>
        <p:spPr bwMode="auto">
          <a:xfrm>
            <a:off x="933981" y="4233909"/>
            <a:ext cx="738706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l" rtl="0" eaLnBrk="0" fontAlgn="base" hangingPunct="0">
              <a:lnSpc>
                <a:spcPct val="114000"/>
              </a:lnSpc>
              <a:spcBef>
                <a:spcPts val="0"/>
              </a:spcBef>
              <a:spcAft>
                <a:spcPts val="600"/>
              </a:spcAft>
              <a:buBlip>
                <a:blip r:embed="rId2"/>
              </a:buBlip>
              <a:defRPr sz="2800" b="1">
                <a:solidFill>
                  <a:schemeClr val="accent2"/>
                </a:solidFill>
                <a:latin typeface="+mn-lt"/>
                <a:ea typeface="+mn-ea"/>
                <a:cs typeface="+mn-cs"/>
              </a:defRPr>
            </a:lvl1pPr>
            <a:lvl2pPr marL="263525" indent="-180975" algn="l" rtl="0" eaLnBrk="0" fontAlgn="base" hangingPunct="0">
              <a:lnSpc>
                <a:spcPct val="114000"/>
              </a:lnSpc>
              <a:spcBef>
                <a:spcPts val="0"/>
              </a:spcBef>
              <a:spcAft>
                <a:spcPts val="600"/>
              </a:spcAft>
              <a:buBlip>
                <a:blip r:embed="rId3"/>
              </a:buBlip>
              <a:defRPr sz="2800" b="1">
                <a:solidFill>
                  <a:schemeClr val="tx1"/>
                </a:solidFill>
                <a:latin typeface="+mn-lt"/>
                <a:ea typeface="+mn-ea"/>
              </a:defRPr>
            </a:lvl2pPr>
            <a:lvl3pPr marL="1143000" indent="-228600" algn="l"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l"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l"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eaLnBrk="1" hangingPunct="1">
              <a:defRPr/>
            </a:pPr>
            <a:r>
              <a:rPr lang="en-US" altLang="zh-CN" dirty="0">
                <a:latin typeface="+mn-ea"/>
              </a:rPr>
              <a:t>SPI interface has two operating modes: </a:t>
            </a:r>
            <a:r>
              <a:rPr lang="en-US" altLang="zh-CN" dirty="0">
                <a:solidFill>
                  <a:srgbClr val="FF00FF"/>
                </a:solidFill>
                <a:latin typeface="+mn-ea"/>
              </a:rPr>
              <a:t>master mode and slave mode</a:t>
            </a:r>
            <a:endParaRPr lang="zh-CN" altLang="en-US" dirty="0">
              <a:solidFill>
                <a:srgbClr val="FF00FF"/>
              </a:solidFill>
              <a:latin typeface="+mn-ea"/>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64</a:t>
            </a:fld>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noChangeArrowheads="1"/>
          </p:cNvSpPr>
          <p:nvPr>
            <p:ph type="title"/>
          </p:nvPr>
        </p:nvSpPr>
        <p:spPr>
          <a:xfrm>
            <a:off x="822961" y="335826"/>
            <a:ext cx="7543800" cy="831478"/>
          </a:xfrm>
        </p:spPr>
        <p:txBody>
          <a:bodyPr>
            <a:normAutofit/>
          </a:bodyPr>
          <a:lstStyle/>
          <a:p>
            <a:r>
              <a:rPr lang="en-US" altLang="zh-CN" sz="3600" dirty="0"/>
              <a:t>3. SPI interface data communication</a:t>
            </a:r>
            <a:endParaRPr lang="zh-CN" altLang="en-US" sz="3600" dirty="0"/>
          </a:p>
        </p:txBody>
      </p:sp>
      <p:sp>
        <p:nvSpPr>
          <p:cNvPr id="24580" name="灯片编号占位符 4"/>
          <p:cNvSpPr>
            <a:spLocks noGrp="1"/>
          </p:cNvSpPr>
          <p:nvPr>
            <p:ph type="sldNum" sz="quarter" idx="10"/>
          </p:nvPr>
        </p:nvSpPr>
        <p:spPr>
          <a:noFill/>
        </p:spPr>
        <p:txBody>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fld id="{6D1B4255-7CC7-417D-BFBD-060AAA684D6D}" type="slidenum">
              <a:rPr lang="zh-CN" altLang="en-US"/>
              <a:t>65</a:t>
            </a:fld>
            <a:endParaRPr lang="en-US" altLang="zh-CN"/>
          </a:p>
        </p:txBody>
      </p:sp>
      <p:grpSp>
        <p:nvGrpSpPr>
          <p:cNvPr id="3" name="组合 2"/>
          <p:cNvGrpSpPr/>
          <p:nvPr/>
        </p:nvGrpSpPr>
        <p:grpSpPr bwMode="auto">
          <a:xfrm>
            <a:off x="123234" y="3610311"/>
            <a:ext cx="8578243" cy="2849475"/>
            <a:chOff x="55084" y="5627207"/>
            <a:chExt cx="9044848" cy="3424853"/>
          </a:xfrm>
        </p:grpSpPr>
        <p:pic>
          <p:nvPicPr>
            <p:cNvPr id="2458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84" y="5627207"/>
              <a:ext cx="9044848" cy="3370746"/>
            </a:xfrm>
            <a:prstGeom prst="rect">
              <a:avLst/>
            </a:prstGeom>
            <a:noFill/>
            <a:ln w="9525">
              <a:solidFill>
                <a:srgbClr val="FF00FF"/>
              </a:solidFill>
              <a:miter lim="800000"/>
              <a:headEnd/>
              <a:tailEnd/>
            </a:ln>
            <a:extLst>
              <a:ext uri="{909E8E84-426E-40DD-AFC4-6F175D3DCCD1}">
                <a14:hiddenFill xmlns:a14="http://schemas.microsoft.com/office/drawing/2010/main">
                  <a:solidFill>
                    <a:schemeClr val="accent1"/>
                  </a:solidFill>
                </a14:hiddenFill>
              </a:ext>
            </a:extLst>
          </p:spPr>
        </p:pic>
        <p:sp>
          <p:nvSpPr>
            <p:cNvPr id="7" name="标题 1"/>
            <p:cNvSpPr txBox="1"/>
            <p:nvPr/>
          </p:nvSpPr>
          <p:spPr bwMode="auto">
            <a:xfrm>
              <a:off x="3359190" y="8546619"/>
              <a:ext cx="4924775" cy="505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200" b="1">
                  <a:solidFill>
                    <a:srgbClr val="CC3300"/>
                  </a:solidFill>
                  <a:latin typeface="+mj-lt"/>
                  <a:ea typeface="+mj-ea"/>
                  <a:cs typeface="+mj-cs"/>
                </a:defRPr>
              </a:lvl1pPr>
              <a:lvl2pPr algn="l" rtl="0" eaLnBrk="0" fontAlgn="base" hangingPunct="0">
                <a:spcBef>
                  <a:spcPct val="0"/>
                </a:spcBef>
                <a:spcAft>
                  <a:spcPct val="0"/>
                </a:spcAft>
                <a:defRPr sz="2400" b="1">
                  <a:solidFill>
                    <a:srgbClr val="CC3300"/>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rgbClr val="CC3300"/>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rgbClr val="CC3300"/>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rgbClr val="CC3300"/>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9pPr>
            </a:lstStyle>
            <a:p>
              <a:pPr>
                <a:defRPr/>
              </a:pPr>
              <a:r>
                <a:rPr lang="zh-CN" altLang="en-US" sz="1800" kern="0" dirty="0">
                  <a:solidFill>
                    <a:srgbClr val="FF0000"/>
                  </a:solidFill>
                  <a:latin typeface="+mn-lt"/>
                </a:rPr>
                <a:t>data format</a:t>
              </a:r>
              <a:endParaRPr lang="zh-CN" altLang="en-US" sz="4400" kern="0" dirty="0">
                <a:latin typeface="+mn-lt"/>
              </a:endParaRPr>
            </a:p>
          </p:txBody>
        </p:sp>
        <p:grpSp>
          <p:nvGrpSpPr>
            <p:cNvPr id="9" name="组合 8"/>
            <p:cNvGrpSpPr/>
            <p:nvPr/>
          </p:nvGrpSpPr>
          <p:grpSpPr>
            <a:xfrm>
              <a:off x="104058" y="7690543"/>
              <a:ext cx="1533985" cy="1141086"/>
              <a:chOff x="-489723" y="3658386"/>
              <a:chExt cx="1533985" cy="1141086"/>
            </a:xfrm>
            <a:noFill/>
          </p:grpSpPr>
          <p:sp>
            <p:nvSpPr>
              <p:cNvPr id="10" name="矩形 9"/>
              <p:cNvSpPr/>
              <p:nvPr/>
            </p:nvSpPr>
            <p:spPr>
              <a:xfrm>
                <a:off x="-209203" y="3658386"/>
                <a:ext cx="1202252" cy="258947"/>
              </a:xfrm>
              <a:prstGeom prst="rect">
                <a:avLst/>
              </a:prstGeom>
              <a:grpFill/>
            </p:spPr>
            <p:txBody>
              <a:bodyPr wrap="square" lIns="0" tIns="0" rIns="0" bIns="0">
                <a:spAutoFit/>
              </a:bodyPr>
              <a:lstStyle/>
              <a:p>
                <a:pPr algn="ctr" eaLnBrk="1" hangingPunct="1">
                  <a:defRPr/>
                </a:pPr>
                <a:r>
                  <a:rPr lang="en-US" altLang="zh-CN" sz="1400" b="1" dirty="0">
                    <a:solidFill>
                      <a:srgbClr val="FF00FF"/>
                    </a:solidFill>
                    <a:latin typeface="Arial" panose="020B0604020202020204" pitchFamily="34" charset="0"/>
                    <a:ea typeface="宋体" panose="02010600030101010101" pitchFamily="2" charset="-122"/>
                  </a:rPr>
                  <a:t>(Host output)</a:t>
                </a:r>
                <a:endParaRPr lang="zh-CN" altLang="en-US" sz="3600" b="1" dirty="0">
                  <a:solidFill>
                    <a:srgbClr val="FF00FF"/>
                  </a:solidFill>
                  <a:latin typeface="Arial" panose="020B0604020202020204" pitchFamily="34" charset="0"/>
                  <a:ea typeface="宋体" panose="02010600030101010101" pitchFamily="2" charset="-122"/>
                </a:endParaRPr>
              </a:p>
            </p:txBody>
          </p:sp>
          <p:sp>
            <p:nvSpPr>
              <p:cNvPr id="12" name="矩形 11"/>
              <p:cNvSpPr/>
              <p:nvPr/>
            </p:nvSpPr>
            <p:spPr>
              <a:xfrm>
                <a:off x="-489723" y="4281579"/>
                <a:ext cx="1533985" cy="517893"/>
              </a:xfrm>
              <a:prstGeom prst="rect">
                <a:avLst/>
              </a:prstGeom>
              <a:grpFill/>
            </p:spPr>
            <p:txBody>
              <a:bodyPr wrap="square" lIns="0" tIns="0" rIns="0" bIns="0">
                <a:spAutoFit/>
              </a:bodyPr>
              <a:lstStyle/>
              <a:p>
                <a:pPr algn="ctr" eaLnBrk="1" hangingPunct="1">
                  <a:defRPr/>
                </a:pPr>
                <a:r>
                  <a:rPr lang="en-US" altLang="zh-CN" sz="1400" b="1" dirty="0">
                    <a:solidFill>
                      <a:srgbClr val="FF00FF"/>
                    </a:solidFill>
                    <a:ea typeface="宋体" panose="02010600030101010101" pitchFamily="2" charset="-122"/>
                  </a:rPr>
                  <a:t>(From the slave input)</a:t>
                </a:r>
                <a:endParaRPr lang="zh-CN" altLang="en-US" sz="3600" b="1" dirty="0">
                  <a:solidFill>
                    <a:srgbClr val="FF00FF"/>
                  </a:solidFill>
                  <a:ea typeface="宋体" panose="02010600030101010101" pitchFamily="2" charset="-122"/>
                </a:endParaRPr>
              </a:p>
            </p:txBody>
          </p:sp>
          <p:sp>
            <p:nvSpPr>
              <p:cNvPr id="13" name="矩形 12"/>
              <p:cNvSpPr/>
              <p:nvPr/>
            </p:nvSpPr>
            <p:spPr>
              <a:xfrm>
                <a:off x="100108" y="3969982"/>
                <a:ext cx="517529" cy="258947"/>
              </a:xfrm>
              <a:prstGeom prst="rect">
                <a:avLst/>
              </a:prstGeom>
              <a:solidFill>
                <a:schemeClr val="bg1"/>
              </a:solidFill>
            </p:spPr>
            <p:txBody>
              <a:bodyPr wrap="none" lIns="0" tIns="0" rIns="0" bIns="0">
                <a:spAutoFit/>
              </a:bodyPr>
              <a:lstStyle/>
              <a:p>
                <a:pPr algn="ctr" eaLnBrk="1" hangingPunct="1">
                  <a:defRPr/>
                </a:pPr>
                <a:r>
                  <a:rPr lang="en-US" altLang="zh-CN" sz="1400" b="1" dirty="0">
                    <a:solidFill>
                      <a:srgbClr val="FF00FF"/>
                    </a:solidFill>
                    <a:latin typeface="Arial" panose="020B0604020202020204" pitchFamily="34" charset="0"/>
                    <a:ea typeface="宋体" panose="02010600030101010101" pitchFamily="2" charset="-122"/>
                  </a:rPr>
                  <a:t>MOSI</a:t>
                </a:r>
                <a:endParaRPr lang="zh-CN" altLang="en-US" sz="2800" b="1" dirty="0">
                  <a:solidFill>
                    <a:srgbClr val="FF00FF"/>
                  </a:solidFill>
                  <a:latin typeface="Arial" panose="020B0604020202020204" pitchFamily="34" charset="0"/>
                  <a:ea typeface="宋体" panose="02010600030101010101" pitchFamily="2" charset="-122"/>
                </a:endParaRPr>
              </a:p>
            </p:txBody>
          </p:sp>
        </p:grpSp>
      </p:grpSp>
      <p:graphicFrame>
        <p:nvGraphicFramePr>
          <p:cNvPr id="20" name="内容占位符 19"/>
          <p:cNvGraphicFramePr>
            <a:graphicFrameLocks noGrp="1" noChangeAspect="1"/>
          </p:cNvGraphicFramePr>
          <p:nvPr>
            <p:ph idx="1"/>
          </p:nvPr>
        </p:nvGraphicFramePr>
        <p:xfrm>
          <a:off x="2127888" y="1118083"/>
          <a:ext cx="4568936" cy="2554616"/>
        </p:xfrm>
        <a:graphic>
          <a:graphicData uri="http://schemas.openxmlformats.org/presentationml/2006/ole">
            <mc:AlternateContent xmlns:mc="http://schemas.openxmlformats.org/markup-compatibility/2006">
              <mc:Choice xmlns:v="urn:schemas-microsoft-com:vml" Requires="v">
                <p:oleObj name="Visio" r:id="rId3" imgW="3774440" imgH="2115820" progId="Visio.Drawing.11">
                  <p:embed/>
                </p:oleObj>
              </mc:Choice>
              <mc:Fallback>
                <p:oleObj name="Visio" r:id="rId3" imgW="3774440" imgH="2115820" progId="Visio.Drawing.11">
                  <p:embed/>
                  <p:pic>
                    <p:nvPicPr>
                      <p:cNvPr id="20" name="内容占位符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7888" y="1118083"/>
                        <a:ext cx="4568936" cy="2554616"/>
                      </a:xfrm>
                      <a:prstGeom prst="rect">
                        <a:avLst/>
                      </a:prstGeom>
                      <a:solidFill>
                        <a:schemeClr val="bg1"/>
                      </a:solidFill>
                      <a:ln>
                        <a:noFill/>
                      </a:ln>
                    </p:spPr>
                  </p:pic>
                </p:oleObj>
              </mc:Fallback>
            </mc:AlternateContent>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noChangeArrowheads="1"/>
          </p:cNvSpPr>
          <p:nvPr>
            <p:ph type="title"/>
          </p:nvPr>
        </p:nvSpPr>
        <p:spPr>
          <a:xfrm>
            <a:off x="309563" y="301625"/>
            <a:ext cx="8229600" cy="504825"/>
          </a:xfrm>
        </p:spPr>
        <p:txBody>
          <a:bodyPr>
            <a:normAutofit fontScale="90000"/>
          </a:bodyPr>
          <a:lstStyle/>
          <a:p>
            <a:r>
              <a:rPr lang="en-US" altLang="zh-CN" sz="2400" dirty="0"/>
              <a:t>2. Architecture of the SPI interface in the IAP15W4K58S4 microcontroller</a:t>
            </a:r>
            <a:endParaRPr lang="zh-CN" altLang="en-US" sz="2400" dirty="0"/>
          </a:p>
        </p:txBody>
      </p:sp>
      <p:sp>
        <p:nvSpPr>
          <p:cNvPr id="22533" name="Rectangle 8"/>
          <p:cNvSpPr>
            <a:spLocks noChangeArrowheads="1"/>
          </p:cNvSpPr>
          <p:nvPr/>
        </p:nvSpPr>
        <p:spPr bwMode="auto">
          <a:xfrm>
            <a:off x="88900" y="1685925"/>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0727" name="Object 7">
            <a:hlinkClick r:id="rId2" action="ppaction://hlinksldjump"/>
          </p:cNvPr>
          <p:cNvGraphicFramePr>
            <a:graphicFrameLocks noChangeAspect="1"/>
          </p:cNvGraphicFramePr>
          <p:nvPr>
            <p:extLst>
              <p:ext uri="{D42A27DB-BD31-4B8C-83A1-F6EECF244321}">
                <p14:modId xmlns:p14="http://schemas.microsoft.com/office/powerpoint/2010/main" val="3804654987"/>
              </p:ext>
            </p:extLst>
          </p:nvPr>
        </p:nvGraphicFramePr>
        <p:xfrm>
          <a:off x="592138" y="865188"/>
          <a:ext cx="8367712" cy="5495925"/>
        </p:xfrm>
        <a:graphic>
          <a:graphicData uri="http://schemas.openxmlformats.org/presentationml/2006/ole">
            <mc:AlternateContent xmlns:mc="http://schemas.openxmlformats.org/markup-compatibility/2006">
              <mc:Choice xmlns:v="urn:schemas-microsoft-com:vml" Requires="v">
                <p:oleObj name="Visio" r:id="rId3" imgW="3737610" imgH="2462530" progId="Visio.Drawing.11">
                  <p:embed/>
                </p:oleObj>
              </mc:Choice>
              <mc:Fallback>
                <p:oleObj name="Visio" r:id="rId3" imgW="3737610" imgH="2462530" progId="Visio.Drawing.11">
                  <p:embed/>
                  <p:pic>
                    <p:nvPicPr>
                      <p:cNvPr id="30727" name="Object 7">
                        <a:hlinkClick r:id="" action="ppaction://noaction"/>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2138" y="865188"/>
                        <a:ext cx="8367712" cy="5495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 name="组合 4"/>
          <p:cNvGrpSpPr/>
          <p:nvPr/>
        </p:nvGrpSpPr>
        <p:grpSpPr bwMode="auto">
          <a:xfrm>
            <a:off x="7398020" y="961413"/>
            <a:ext cx="411972" cy="1195655"/>
            <a:chOff x="7223554" y="1127900"/>
            <a:chExt cx="411985" cy="1195701"/>
          </a:xfrm>
        </p:grpSpPr>
        <p:sp>
          <p:nvSpPr>
            <p:cNvPr id="3" name="矩形 2"/>
            <p:cNvSpPr/>
            <p:nvPr/>
          </p:nvSpPr>
          <p:spPr>
            <a:xfrm>
              <a:off x="7226759" y="1435722"/>
              <a:ext cx="317406" cy="277010"/>
            </a:xfrm>
            <a:prstGeom prst="rect">
              <a:avLst/>
            </a:prstGeom>
          </p:spPr>
          <p:txBody>
            <a:bodyPr wrap="none" lIns="0" tIns="0" rIns="0" bIns="0">
              <a:spAutoFit/>
            </a:bodyPr>
            <a:lstStyle/>
            <a:p>
              <a:pPr algn="ctr" eaLnBrk="1" hangingPunct="1">
                <a:defRPr/>
              </a:pPr>
              <a:r>
                <a:rPr lang="en-US" altLang="zh-CN" kern="0" dirty="0">
                  <a:solidFill>
                    <a:srgbClr val="FF00FF"/>
                  </a:solidFill>
                  <a:ea typeface="宋体" panose="02010600030101010101" pitchFamily="2" charset="-122"/>
                </a:rPr>
                <a:t>:MI</a:t>
              </a:r>
              <a:endParaRPr lang="zh-CN" altLang="en-US" kern="0" dirty="0">
                <a:solidFill>
                  <a:srgbClr val="FF00FF"/>
                </a:solidFill>
                <a:ea typeface="宋体" panose="02010600030101010101" pitchFamily="2" charset="-122"/>
              </a:endParaRPr>
            </a:p>
          </p:txBody>
        </p:sp>
        <p:sp>
          <p:nvSpPr>
            <p:cNvPr id="10" name="矩形 9"/>
            <p:cNvSpPr/>
            <p:nvPr/>
          </p:nvSpPr>
          <p:spPr>
            <a:xfrm>
              <a:off x="7223554" y="1127900"/>
              <a:ext cx="320611" cy="277010"/>
            </a:xfrm>
            <a:prstGeom prst="rect">
              <a:avLst/>
            </a:prstGeom>
          </p:spPr>
          <p:txBody>
            <a:bodyPr wrap="none" lIns="0" tIns="0" rIns="0" bIns="0">
              <a:spAutoFit/>
            </a:bodyPr>
            <a:lstStyle/>
            <a:p>
              <a:pPr algn="ctr" eaLnBrk="1" hangingPunct="1">
                <a:defRPr/>
              </a:pPr>
              <a:r>
                <a:rPr lang="en-US" altLang="zh-CN" kern="0" dirty="0">
                  <a:solidFill>
                    <a:srgbClr val="FF00FF"/>
                  </a:solidFill>
                  <a:ea typeface="宋体" panose="02010600030101010101" pitchFamily="2" charset="-122"/>
                </a:rPr>
                <a:t>:SO</a:t>
              </a:r>
              <a:endParaRPr lang="zh-CN" altLang="en-US" sz="4400" dirty="0">
                <a:ea typeface="宋体" panose="02010600030101010101" pitchFamily="2" charset="-122"/>
              </a:endParaRPr>
            </a:p>
          </p:txBody>
        </p:sp>
        <p:sp>
          <p:nvSpPr>
            <p:cNvPr id="11" name="矩形 10"/>
            <p:cNvSpPr/>
            <p:nvPr/>
          </p:nvSpPr>
          <p:spPr>
            <a:xfrm>
              <a:off x="7223554" y="1751308"/>
              <a:ext cx="411985" cy="277010"/>
            </a:xfrm>
            <a:prstGeom prst="rect">
              <a:avLst/>
            </a:prstGeom>
          </p:spPr>
          <p:txBody>
            <a:bodyPr wrap="none" lIns="0" tIns="0" rIns="0" bIns="0">
              <a:spAutoFit/>
            </a:bodyPr>
            <a:lstStyle/>
            <a:p>
              <a:pPr algn="ctr" eaLnBrk="1" hangingPunct="1">
                <a:defRPr/>
              </a:pPr>
              <a:r>
                <a:rPr lang="en-US" altLang="zh-CN" kern="0" dirty="0">
                  <a:solidFill>
                    <a:srgbClr val="FF00FF"/>
                  </a:solidFill>
                  <a:ea typeface="宋体" panose="02010600030101010101" pitchFamily="2" charset="-122"/>
                </a:rPr>
                <a:t>:MO</a:t>
              </a:r>
              <a:endParaRPr lang="zh-CN" altLang="en-US" kern="0" dirty="0">
                <a:solidFill>
                  <a:srgbClr val="FF00FF"/>
                </a:solidFill>
                <a:ea typeface="宋体" panose="02010600030101010101" pitchFamily="2" charset="-122"/>
              </a:endParaRPr>
            </a:p>
          </p:txBody>
        </p:sp>
        <p:sp>
          <p:nvSpPr>
            <p:cNvPr id="12" name="矩形 11"/>
            <p:cNvSpPr/>
            <p:nvPr/>
          </p:nvSpPr>
          <p:spPr>
            <a:xfrm>
              <a:off x="7223554" y="2046591"/>
              <a:ext cx="226031" cy="277010"/>
            </a:xfrm>
            <a:prstGeom prst="rect">
              <a:avLst/>
            </a:prstGeom>
          </p:spPr>
          <p:txBody>
            <a:bodyPr wrap="none" lIns="0" tIns="0" rIns="0" bIns="0">
              <a:spAutoFit/>
            </a:bodyPr>
            <a:lstStyle/>
            <a:p>
              <a:pPr algn="ctr" eaLnBrk="1" hangingPunct="1">
                <a:defRPr/>
              </a:pPr>
              <a:r>
                <a:rPr lang="en-US" altLang="zh-CN" kern="0" dirty="0">
                  <a:solidFill>
                    <a:srgbClr val="FF00FF"/>
                  </a:solidFill>
                  <a:ea typeface="宋体" panose="02010600030101010101" pitchFamily="2" charset="-122"/>
                </a:rPr>
                <a:t>:SI</a:t>
              </a:r>
              <a:endParaRPr lang="zh-CN" altLang="en-US" kern="0" dirty="0">
                <a:solidFill>
                  <a:srgbClr val="FF00FF"/>
                </a:solidFill>
                <a:ea typeface="宋体" panose="02010600030101010101" pitchFamily="2" charset="-122"/>
              </a:endParaRPr>
            </a:p>
          </p:txBody>
        </p:sp>
      </p:grpSp>
      <p:sp>
        <p:nvSpPr>
          <p:cNvPr id="14" name="矩形 13"/>
          <p:cNvSpPr/>
          <p:nvPr/>
        </p:nvSpPr>
        <p:spPr>
          <a:xfrm>
            <a:off x="7094537" y="4287065"/>
            <a:ext cx="808038" cy="553998"/>
          </a:xfrm>
          <a:prstGeom prst="rect">
            <a:avLst/>
          </a:prstGeom>
          <a:solidFill>
            <a:schemeClr val="bg1"/>
          </a:solidFill>
        </p:spPr>
        <p:txBody>
          <a:bodyPr wrap="square" lIns="0" tIns="0" rIns="0" bIns="0">
            <a:spAutoFit/>
          </a:bodyPr>
          <a:lstStyle/>
          <a:p>
            <a:pPr algn="ctr" eaLnBrk="1" hangingPunct="1">
              <a:defRPr/>
            </a:pPr>
            <a:r>
              <a:rPr lang="en-US" altLang="zh-CN" kern="0" dirty="0">
                <a:solidFill>
                  <a:srgbClr val="FF00FF"/>
                </a:solidFill>
                <a:latin typeface="Arial" panose="020B0604020202020204" pitchFamily="34" charset="0"/>
                <a:ea typeface="宋体" panose="02010600030101010101" pitchFamily="2" charset="-122"/>
              </a:rPr>
              <a:t>SPI permit</a:t>
            </a:r>
            <a:endParaRPr lang="zh-CN" altLang="en-US" sz="4400" dirty="0">
              <a:latin typeface="Arial" panose="020B0604020202020204" pitchFamily="34" charset="0"/>
              <a:ea typeface="宋体" panose="02010600030101010101" pitchFamily="2" charset="-122"/>
            </a:endParaRPr>
          </a:p>
        </p:txBody>
      </p:sp>
      <p:sp>
        <p:nvSpPr>
          <p:cNvPr id="6" name="矩形 5">
            <a:hlinkClick r:id="" action="ppaction://noaction"/>
          </p:cNvPr>
          <p:cNvSpPr>
            <a:spLocks noChangeArrowheads="1"/>
          </p:cNvSpPr>
          <p:nvPr/>
        </p:nvSpPr>
        <p:spPr bwMode="auto">
          <a:xfrm>
            <a:off x="6989112" y="5047090"/>
            <a:ext cx="17543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solidFill>
                  <a:srgbClr val="FF00FF"/>
                </a:solidFill>
                <a:latin typeface="+mn-lt"/>
              </a:rPr>
              <a:t>/SS: S</a:t>
            </a:r>
            <a:r>
              <a:rPr lang="en-US" altLang="zh-CN" dirty="0">
                <a:latin typeface="+mn-lt"/>
              </a:rPr>
              <a:t>lave</a:t>
            </a:r>
            <a:r>
              <a:rPr lang="en-US" altLang="zh-CN" dirty="0">
                <a:solidFill>
                  <a:srgbClr val="FF00FF"/>
                </a:solidFill>
                <a:latin typeface="+mn-lt"/>
              </a:rPr>
              <a:t>  </a:t>
            </a:r>
            <a:r>
              <a:rPr lang="en-US" altLang="zh-CN" dirty="0">
                <a:latin typeface="+mn-lt"/>
              </a:rPr>
              <a:t>Select</a:t>
            </a:r>
            <a:endParaRPr lang="zh-CN" altLang="en-US" sz="4400" dirty="0">
              <a:latin typeface="+mn-lt"/>
            </a:endParaRPr>
          </a:p>
        </p:txBody>
      </p:sp>
      <p:sp>
        <p:nvSpPr>
          <p:cNvPr id="18" name="Rectangle 31"/>
          <p:cNvSpPr>
            <a:spLocks noChangeArrowheads="1"/>
          </p:cNvSpPr>
          <p:nvPr/>
        </p:nvSpPr>
        <p:spPr bwMode="auto">
          <a:xfrm>
            <a:off x="89246" y="1281410"/>
            <a:ext cx="2733676" cy="92333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just">
              <a:lnSpc>
                <a:spcPct val="114000"/>
              </a:lnSpc>
              <a:spcAft>
                <a:spcPts val="600"/>
              </a:spcAft>
              <a:buBlip>
                <a:blip r:embed="rId5"/>
              </a:buBlip>
              <a:tabLst>
                <a:tab pos="549275" algn="l"/>
              </a:tabLst>
              <a:defRPr sz="2800" b="1">
                <a:solidFill>
                  <a:schemeClr val="accent2"/>
                </a:solidFill>
                <a:latin typeface="Times New Roman" panose="02020603050405020304" pitchFamily="18" charset="0"/>
                <a:ea typeface="宋体" panose="02010600030101010101" pitchFamily="2" charset="-122"/>
              </a:defRPr>
            </a:lvl1pPr>
            <a:lvl2pPr marL="263525" indent="-180975" algn="just">
              <a:lnSpc>
                <a:spcPct val="114000"/>
              </a:lnSpc>
              <a:spcAft>
                <a:spcPts val="600"/>
              </a:spcAft>
              <a:buBlip>
                <a:blip r:embed="rId6"/>
              </a:buBlip>
              <a:tabLst>
                <a:tab pos="549275" algn="l"/>
              </a:tabLst>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tabLst>
                <a:tab pos="549275" algn="l"/>
              </a:tabLst>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tabLst>
                <a:tab pos="549275" algn="l"/>
              </a:tabLst>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tabLst>
                <a:tab pos="549275" algn="l"/>
              </a:tabLst>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tabLst>
                <a:tab pos="549275" algn="l"/>
              </a:tabLst>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tabLst>
                <a:tab pos="549275" algn="l"/>
              </a:tabLst>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tabLst>
                <a:tab pos="549275" algn="l"/>
              </a:tabLst>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tabLst>
                <a:tab pos="549275" algn="l"/>
              </a:tabLst>
              <a:defRPr sz="2000" b="1">
                <a:solidFill>
                  <a:schemeClr val="tx1"/>
                </a:solidFill>
                <a:latin typeface="Times New Roman" panose="02020603050405020304" pitchFamily="18" charset="0"/>
                <a:ea typeface="宋体" panose="02010600030101010101" pitchFamily="2" charset="-122"/>
              </a:defRPr>
            </a:lvl9pPr>
          </a:lstStyle>
          <a:p>
            <a:pPr algn="l">
              <a:lnSpc>
                <a:spcPct val="100000"/>
              </a:lnSpc>
              <a:spcAft>
                <a:spcPct val="0"/>
              </a:spcAft>
              <a:buFontTx/>
              <a:buNone/>
            </a:pPr>
            <a:r>
              <a:rPr lang="en-US" altLang="zh-CN" sz="1800" dirty="0">
                <a:solidFill>
                  <a:srgbClr val="FF00FF"/>
                </a:solidFill>
                <a:latin typeface="+mn-lt"/>
              </a:rPr>
              <a:t>(STC15W:4,8,16,32 )</a:t>
            </a:r>
          </a:p>
          <a:p>
            <a:pPr algn="l">
              <a:lnSpc>
                <a:spcPct val="100000"/>
              </a:lnSpc>
              <a:spcAft>
                <a:spcPct val="0"/>
              </a:spcAft>
              <a:buNone/>
            </a:pPr>
            <a:r>
              <a:rPr lang="en-US" altLang="zh-CN" sz="1800" dirty="0">
                <a:solidFill>
                  <a:srgbClr val="FF00FF"/>
                </a:solidFill>
                <a:latin typeface="+mn-lt"/>
              </a:rPr>
              <a:t> STC15F/L</a:t>
            </a:r>
            <a:endParaRPr lang="zh-CN" altLang="en-US" sz="1800" dirty="0">
              <a:solidFill>
                <a:srgbClr val="800000"/>
              </a:solidFill>
              <a:latin typeface="+mn-lt"/>
            </a:endParaRPr>
          </a:p>
          <a:p>
            <a:pPr algn="l">
              <a:lnSpc>
                <a:spcPct val="100000"/>
              </a:lnSpc>
              <a:spcAft>
                <a:spcPct val="0"/>
              </a:spcAft>
              <a:buFontTx/>
              <a:buNone/>
            </a:pPr>
            <a:endParaRPr lang="zh-CN" altLang="en-US" sz="1800" dirty="0">
              <a:solidFill>
                <a:srgbClr val="800000"/>
              </a:solidFill>
              <a:latin typeface="+mn-lt"/>
            </a:endParaRPr>
          </a:p>
        </p:txBody>
      </p:sp>
      <p:grpSp>
        <p:nvGrpSpPr>
          <p:cNvPr id="23" name="组合 22"/>
          <p:cNvGrpSpPr/>
          <p:nvPr/>
        </p:nvGrpSpPr>
        <p:grpSpPr bwMode="auto">
          <a:xfrm>
            <a:off x="88052" y="1187450"/>
            <a:ext cx="6430014" cy="5124509"/>
            <a:chOff x="88393" y="1186934"/>
            <a:chExt cx="6429247" cy="5125094"/>
          </a:xfrm>
        </p:grpSpPr>
        <p:sp>
          <p:nvSpPr>
            <p:cNvPr id="22544" name="矩形 6"/>
            <p:cNvSpPr>
              <a:spLocks noChangeArrowheads="1"/>
            </p:cNvSpPr>
            <p:nvPr/>
          </p:nvSpPr>
          <p:spPr bwMode="auto">
            <a:xfrm>
              <a:off x="3120836" y="2145187"/>
              <a:ext cx="765055" cy="2770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dirty="0">
                  <a:solidFill>
                    <a:srgbClr val="FF0000"/>
                  </a:solidFill>
                </a:rPr>
                <a:t>SPDAT</a:t>
              </a:r>
              <a:endParaRPr lang="zh-CN" altLang="en-US" sz="4400" b="1" dirty="0">
                <a:solidFill>
                  <a:srgbClr val="FF0000"/>
                </a:solidFill>
              </a:endParaRPr>
            </a:p>
          </p:txBody>
        </p:sp>
        <p:sp>
          <p:nvSpPr>
            <p:cNvPr id="8" name="矩形 7">
              <a:hlinkClick r:id="rId7" action="ppaction://hlinksldjump"/>
            </p:cNvPr>
            <p:cNvSpPr/>
            <p:nvPr/>
          </p:nvSpPr>
          <p:spPr>
            <a:xfrm>
              <a:off x="5489918" y="5911872"/>
              <a:ext cx="1027722" cy="400156"/>
            </a:xfrm>
            <a:prstGeom prst="rect">
              <a:avLst/>
            </a:prstGeom>
          </p:spPr>
          <p:txBody>
            <a:bodyPr wrap="none">
              <a:spAutoFit/>
            </a:bodyPr>
            <a:lstStyle/>
            <a:p>
              <a:pPr algn="ctr" eaLnBrk="1" hangingPunct="1">
                <a:defRPr/>
              </a:pPr>
              <a:r>
                <a:rPr lang="en-US" altLang="zh-CN" sz="2000" b="1" kern="0" dirty="0">
                  <a:solidFill>
                    <a:srgbClr val="FF0000"/>
                  </a:solidFill>
                  <a:latin typeface="Arial" panose="020B0604020202020204" pitchFamily="34" charset="0"/>
                  <a:ea typeface="宋体" panose="02010600030101010101" pitchFamily="2" charset="-122"/>
                </a:rPr>
                <a:t>SPCTL</a:t>
              </a:r>
              <a:endParaRPr lang="zh-CN" altLang="en-US" sz="4000" b="1" dirty="0">
                <a:solidFill>
                  <a:srgbClr val="FF0000"/>
                </a:solidFill>
                <a:latin typeface="Arial" panose="020B0604020202020204" pitchFamily="34" charset="0"/>
                <a:ea typeface="宋体" panose="02010600030101010101" pitchFamily="2" charset="-122"/>
              </a:endParaRPr>
            </a:p>
          </p:txBody>
        </p:sp>
        <p:sp>
          <p:nvSpPr>
            <p:cNvPr id="9" name="矩形 8">
              <a:hlinkClick r:id="rId7" action="ppaction://hlinksldjump"/>
            </p:cNvPr>
            <p:cNvSpPr/>
            <p:nvPr/>
          </p:nvSpPr>
          <p:spPr>
            <a:xfrm>
              <a:off x="88393" y="5295852"/>
              <a:ext cx="1022338" cy="369374"/>
            </a:xfrm>
            <a:prstGeom prst="rect">
              <a:avLst/>
            </a:prstGeom>
          </p:spPr>
          <p:txBody>
            <a:bodyPr wrap="none">
              <a:spAutoFit/>
            </a:bodyPr>
            <a:lstStyle/>
            <a:p>
              <a:pPr algn="ctr" eaLnBrk="1" hangingPunct="1">
                <a:defRPr/>
              </a:pPr>
              <a:r>
                <a:rPr lang="en-US" altLang="zh-CN" b="1" kern="100">
                  <a:solidFill>
                    <a:srgbClr val="FF0000"/>
                  </a:solidFill>
                  <a:latin typeface="Times New Roman" panose="02020603050405020304"/>
                  <a:ea typeface="宋体" panose="02010600030101010101" pitchFamily="2" charset="-122"/>
                  <a:cs typeface="Times New Roman" panose="02020603050405020304"/>
                </a:rPr>
                <a:t>SPSTAT</a:t>
              </a:r>
              <a:endParaRPr lang="zh-CN" altLang="en-US" sz="3600">
                <a:latin typeface="Arial" panose="020B0604020202020204" pitchFamily="34" charset="0"/>
                <a:ea typeface="宋体" panose="02010600030101010101" pitchFamily="2" charset="-122"/>
              </a:endParaRPr>
            </a:p>
          </p:txBody>
        </p:sp>
        <p:sp>
          <p:nvSpPr>
            <p:cNvPr id="22547" name="矩形 20">
              <a:hlinkClick r:id="" action="ppaction://noaction"/>
            </p:cNvPr>
            <p:cNvSpPr>
              <a:spLocks noChangeArrowheads="1"/>
            </p:cNvSpPr>
            <p:nvPr/>
          </p:nvSpPr>
          <p:spPr bwMode="auto">
            <a:xfrm>
              <a:off x="1816975" y="4953368"/>
              <a:ext cx="480180" cy="684335"/>
            </a:xfrm>
            <a:prstGeom prst="rect">
              <a:avLst/>
            </a:prstGeom>
            <a:solidFill>
              <a:srgbClr val="BBE0E3">
                <a:alpha val="20000"/>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48" name="矩形 14"/>
            <p:cNvSpPr>
              <a:spLocks noChangeArrowheads="1"/>
            </p:cNvSpPr>
            <p:nvPr/>
          </p:nvSpPr>
          <p:spPr bwMode="auto">
            <a:xfrm>
              <a:off x="2797322" y="1186934"/>
              <a:ext cx="3206456" cy="646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solidFill>
                    <a:srgbClr val="FF00FF"/>
                  </a:solidFill>
                </a:rPr>
                <a:t>Send buffer register </a:t>
              </a:r>
              <a:r>
                <a:rPr lang="zh-CN" altLang="en-US" b="1" dirty="0">
                  <a:solidFill>
                    <a:srgbClr val="FF0000"/>
                  </a:solidFill>
                </a:rPr>
                <a:t>SPDAT</a:t>
              </a:r>
            </a:p>
            <a:p>
              <a:pPr eaLnBrk="1" hangingPunct="1"/>
              <a:endParaRPr lang="zh-CN" altLang="en-US" dirty="0">
                <a:solidFill>
                  <a:srgbClr val="FF00FF"/>
                </a:solidFill>
              </a:endParaRPr>
            </a:p>
          </p:txBody>
        </p:sp>
        <p:cxnSp>
          <p:nvCxnSpPr>
            <p:cNvPr id="22549" name="直接箭头连接符 16"/>
            <p:cNvCxnSpPr/>
            <p:nvPr/>
          </p:nvCxnSpPr>
          <p:spPr bwMode="auto">
            <a:xfrm flipH="1">
              <a:off x="5562600" y="1457325"/>
              <a:ext cx="1" cy="514350"/>
            </a:xfrm>
            <a:prstGeom prst="straightConnector1">
              <a:avLst/>
            </a:prstGeom>
            <a:noFill/>
            <a:ln w="19050" algn="ctr">
              <a:solidFill>
                <a:srgbClr val="FF00FF"/>
              </a:solidFill>
              <a:round/>
              <a:tailEnd type="triangle" w="med" len="med"/>
            </a:ln>
          </p:spPr>
        </p:cxnSp>
      </p:grpSp>
      <p:sp>
        <p:nvSpPr>
          <p:cNvPr id="4" name="灯片编号占位符 3"/>
          <p:cNvSpPr>
            <a:spLocks noGrp="1"/>
          </p:cNvSpPr>
          <p:nvPr>
            <p:ph type="sldNum" sz="quarter" idx="12"/>
          </p:nvPr>
        </p:nvSpPr>
        <p:spPr/>
        <p:txBody>
          <a:bodyPr/>
          <a:lstStyle/>
          <a:p>
            <a:fld id="{22E77DEE-32E4-4009-988B-F2758F7B8AC2}" type="slidenum">
              <a:rPr lang="zh-CN" altLang="en-US" smtClean="0"/>
              <a:t>66</a:t>
            </a:fld>
            <a:endParaRPr lang="zh-C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noChangeArrowheads="1"/>
          </p:cNvSpPr>
          <p:nvPr>
            <p:ph type="title"/>
          </p:nvPr>
        </p:nvSpPr>
        <p:spPr>
          <a:xfrm>
            <a:off x="272473" y="164866"/>
            <a:ext cx="8599054" cy="831478"/>
          </a:xfrm>
        </p:spPr>
        <p:txBody>
          <a:bodyPr>
            <a:normAutofit/>
          </a:bodyPr>
          <a:lstStyle/>
          <a:p>
            <a:r>
              <a:rPr lang="en-US" altLang="zh-CN" sz="2000" dirty="0"/>
              <a:t>Technical specifications for the SPI interface of the IAP15W4K58S4 microcontroller</a:t>
            </a:r>
            <a:endParaRPr lang="zh-CN" altLang="en-US" sz="2000" dirty="0">
              <a:solidFill>
                <a:srgbClr val="3D41D1"/>
              </a:solidFill>
            </a:endParaRPr>
          </a:p>
        </p:txBody>
      </p:sp>
      <p:sp>
        <p:nvSpPr>
          <p:cNvPr id="683011" name="Rectangle 3"/>
          <p:cNvSpPr>
            <a:spLocks noGrp="1" noChangeArrowheads="1"/>
          </p:cNvSpPr>
          <p:nvPr>
            <p:ph idx="1"/>
          </p:nvPr>
        </p:nvSpPr>
        <p:spPr>
          <a:xfrm>
            <a:off x="683260" y="1251746"/>
            <a:ext cx="7289801" cy="4685145"/>
          </a:xfrm>
        </p:spPr>
        <p:txBody>
          <a:bodyPr>
            <a:normAutofit/>
          </a:bodyPr>
          <a:lstStyle/>
          <a:p>
            <a:pPr lvl="1" algn="just" eaLnBrk="1" hangingPunct="1">
              <a:lnSpc>
                <a:spcPct val="104000"/>
              </a:lnSpc>
              <a:spcBef>
                <a:spcPct val="0"/>
              </a:spcBef>
            </a:pPr>
            <a:r>
              <a:rPr lang="en-US" altLang="zh-CN" sz="2000" dirty="0">
                <a:solidFill>
                  <a:srgbClr val="FF00FF"/>
                </a:solidFill>
              </a:rPr>
              <a:t>The SPI core consists of an 8-bit shift register and a data buffer, </a:t>
            </a:r>
            <a:r>
              <a:rPr lang="en-US" altLang="zh-CN" sz="2000" dirty="0">
                <a:solidFill>
                  <a:schemeClr val="tx1"/>
                </a:solidFill>
              </a:rPr>
              <a:t>enabling simultaneous data transmission and reception. During SPI data transfer, both transmitted and received data are stored in the buffer.</a:t>
            </a:r>
          </a:p>
          <a:p>
            <a:pPr lvl="1" algn="just" eaLnBrk="1" hangingPunct="1">
              <a:lnSpc>
                <a:spcPct val="104000"/>
              </a:lnSpc>
              <a:spcBef>
                <a:spcPct val="0"/>
              </a:spcBef>
              <a:spcAft>
                <a:spcPts val="1000"/>
              </a:spcAft>
            </a:pPr>
            <a:r>
              <a:rPr lang="zh-CN" altLang="en-US" sz="2000" dirty="0">
                <a:solidFill>
                  <a:srgbClr val="FF0000"/>
                </a:solidFill>
              </a:rPr>
              <a:t>In master mode, </a:t>
            </a:r>
            <a:r>
              <a:rPr lang="zh-CN" altLang="en-US" sz="2000" dirty="0">
                <a:solidFill>
                  <a:srgbClr val="0000FF"/>
                </a:solidFill>
              </a:rPr>
              <a:t>to send a byte of data, simply write the data to the </a:t>
            </a:r>
            <a:r>
              <a:rPr lang="zh-CN" altLang="en-US" sz="2000" dirty="0">
                <a:solidFill>
                  <a:srgbClr val="FF00FF"/>
                </a:solidFill>
              </a:rPr>
              <a:t>SPDAT</a:t>
            </a:r>
            <a:r>
              <a:rPr lang="zh-CN" altLang="en-US" sz="2000" dirty="0">
                <a:solidFill>
                  <a:srgbClr val="0000FF"/>
                </a:solidFill>
              </a:rPr>
              <a:t> register</a:t>
            </a:r>
            <a:r>
              <a:rPr lang="zh-CN" altLang="en-US" sz="2000" dirty="0">
                <a:solidFill>
                  <a:schemeClr val="tx1"/>
                </a:solidFill>
              </a:rPr>
              <a:t>. The /SS signal is not required in master mode.</a:t>
            </a:r>
          </a:p>
          <a:p>
            <a:pPr lvl="1" algn="just" eaLnBrk="1" hangingPunct="1">
              <a:lnSpc>
                <a:spcPct val="104000"/>
              </a:lnSpc>
              <a:spcBef>
                <a:spcPct val="0"/>
              </a:spcBef>
            </a:pPr>
            <a:r>
              <a:rPr lang="zh-CN" altLang="en-US" sz="2000" dirty="0">
                <a:solidFill>
                  <a:srgbClr val="FF0000"/>
                </a:solidFill>
              </a:rPr>
              <a:t>In slave mode, </a:t>
            </a:r>
            <a:r>
              <a:rPr lang="zh-CN" altLang="en-US" sz="2000" dirty="0">
                <a:solidFill>
                  <a:srgbClr val="0000FF"/>
                </a:solidFill>
              </a:rPr>
              <a:t>data transmission can only occur after the /SS signal becomes active and receives a valid clock signal.</a:t>
            </a:r>
            <a:r>
              <a:rPr lang="zh-CN" altLang="en-US" sz="2000" dirty="0">
                <a:solidFill>
                  <a:schemeClr val="tx1"/>
                </a:solidFill>
              </a:rPr>
              <a:t> </a:t>
            </a:r>
            <a:r>
              <a:rPr lang="zh-CN" altLang="en-US" sz="2000" dirty="0">
                <a:solidFill>
                  <a:srgbClr val="0000FF"/>
                </a:solidFill>
              </a:rPr>
              <a:t>When a byte is transmitted, if the /SS signal transitions to high level</a:t>
            </a:r>
            <a:r>
              <a:rPr lang="zh-CN" altLang="en-US" sz="2000" dirty="0">
                <a:solidFill>
                  <a:schemeClr val="tx1"/>
                </a:solidFill>
              </a:rPr>
              <a:t>, the hardware logic immediately marks the byte as received and prepares the SPI interface for the next data reception.</a:t>
            </a:r>
            <a:endParaRPr lang="en-US" altLang="zh-CN" sz="2000" dirty="0">
              <a:solidFill>
                <a:schemeClr val="tx1"/>
              </a:solidFill>
            </a:endParaRPr>
          </a:p>
          <a:p>
            <a:pPr lvl="1" algn="just" eaLnBrk="1" hangingPunct="1">
              <a:lnSpc>
                <a:spcPct val="104000"/>
              </a:lnSpc>
              <a:spcBef>
                <a:spcPct val="0"/>
              </a:spcBef>
            </a:pPr>
            <a:r>
              <a:rPr lang="zh-CN" altLang="en-US" sz="2000" dirty="0">
                <a:solidFill>
                  <a:schemeClr val="tx1"/>
                </a:solidFill>
              </a:rPr>
              <a:t>Any change to the SPI control register will </a:t>
            </a:r>
            <a:r>
              <a:rPr lang="zh-CN" altLang="en-US" sz="2000" dirty="0">
                <a:solidFill>
                  <a:srgbClr val="0000FF"/>
                </a:solidFill>
              </a:rPr>
              <a:t>reset the SPI interface </a:t>
            </a:r>
            <a:r>
              <a:rPr lang="zh-CN" altLang="en-US" sz="2000" dirty="0">
                <a:solidFill>
                  <a:schemeClr val="tx1"/>
                </a:solidFill>
              </a:rPr>
              <a:t>and clear the relevant registers.</a:t>
            </a:r>
            <a:endParaRPr lang="en-US" altLang="zh-CN" sz="2000" dirty="0">
              <a:solidFill>
                <a:schemeClr val="tx1"/>
              </a:solidFill>
            </a:endParaRPr>
          </a:p>
        </p:txBody>
      </p:sp>
      <p:sp>
        <p:nvSpPr>
          <p:cNvPr id="23556" name="Rectangle 5"/>
          <p:cNvSpPr>
            <a:spLocks noChangeArrowheads="1"/>
          </p:cNvSpPr>
          <p:nvPr/>
        </p:nvSpPr>
        <p:spPr bwMode="auto">
          <a:xfrm>
            <a:off x="0" y="15192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14000"/>
              </a:lnSpc>
              <a:spcAft>
                <a:spcPts val="600"/>
              </a:spcAft>
              <a:buBlip>
                <a:blip r:embed="rId2"/>
              </a:buBlip>
              <a:defRPr sz="2800" b="1">
                <a:solidFill>
                  <a:schemeClr val="accent2"/>
                </a:solidFill>
                <a:latin typeface="Times New Roman" panose="02020603050405020304" pitchFamily="18" charset="0"/>
                <a:ea typeface="宋体" panose="02010600030101010101" pitchFamily="2" charset="-122"/>
              </a:defRPr>
            </a:lvl1pPr>
            <a:lvl2pPr marL="742950" indent="-285750" algn="just">
              <a:lnSpc>
                <a:spcPct val="114000"/>
              </a:lnSpc>
              <a:spcAft>
                <a:spcPts val="600"/>
              </a:spcAft>
              <a:buBlip>
                <a:blip r:embed="rId3"/>
              </a:buBlip>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spcAft>
                <a:spcPct val="0"/>
              </a:spcAft>
              <a:buFontTx/>
              <a:buNone/>
            </a:pPr>
            <a:endParaRPr lang="zh-CN" altLang="en-US" sz="1800" b="0">
              <a:solidFill>
                <a:schemeClr val="tx1"/>
              </a:solidFill>
              <a:latin typeface="Arial" panose="020B0604020202020204" pitchFamily="34" charset="0"/>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67</a:t>
            </a:fld>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noChangeArrowheads="1"/>
          </p:cNvSpPr>
          <p:nvPr>
            <p:ph type="title"/>
          </p:nvPr>
        </p:nvSpPr>
        <p:spPr>
          <a:xfrm>
            <a:off x="461818" y="286605"/>
            <a:ext cx="7904942" cy="831478"/>
          </a:xfrm>
        </p:spPr>
        <p:txBody>
          <a:bodyPr>
            <a:normAutofit/>
          </a:bodyPr>
          <a:lstStyle/>
          <a:p>
            <a:r>
              <a:rPr lang="en-US" altLang="zh-CN" sz="3600" dirty="0"/>
              <a:t>3. SPI interface data communication</a:t>
            </a:r>
            <a:endParaRPr lang="zh-CN" altLang="en-US" sz="3600" dirty="0"/>
          </a:p>
        </p:txBody>
      </p:sp>
      <p:sp>
        <p:nvSpPr>
          <p:cNvPr id="684035" name="Rectangle 3"/>
          <p:cNvSpPr>
            <a:spLocks noGrp="1" noChangeArrowheads="1"/>
          </p:cNvSpPr>
          <p:nvPr>
            <p:ph idx="1"/>
          </p:nvPr>
        </p:nvSpPr>
        <p:spPr>
          <a:xfrm>
            <a:off x="993910" y="1202785"/>
            <a:ext cx="7228069" cy="889232"/>
          </a:xfrm>
        </p:spPr>
        <p:txBody>
          <a:bodyPr>
            <a:noAutofit/>
          </a:bodyPr>
          <a:lstStyle/>
          <a:p>
            <a:pPr eaLnBrk="1" hangingPunct="1">
              <a:lnSpc>
                <a:spcPct val="95000"/>
              </a:lnSpc>
              <a:spcBef>
                <a:spcPct val="0"/>
              </a:spcBef>
              <a:buFontTx/>
              <a:buNone/>
            </a:pPr>
            <a:r>
              <a:rPr lang="zh-CN" altLang="en-US" dirty="0">
                <a:solidFill>
                  <a:srgbClr val="FF0000"/>
                </a:solidFill>
              </a:rPr>
              <a:t>(1) SPI interface signal</a:t>
            </a:r>
            <a:endParaRPr lang="zh-CN" altLang="en-US" dirty="0"/>
          </a:p>
          <a:p>
            <a:pPr eaLnBrk="1" hangingPunct="1">
              <a:lnSpc>
                <a:spcPct val="95000"/>
              </a:lnSpc>
              <a:spcBef>
                <a:spcPct val="0"/>
              </a:spcBef>
              <a:buFontTx/>
              <a:buNone/>
            </a:pPr>
            <a:r>
              <a:rPr lang="en-US" altLang="zh-CN" dirty="0">
                <a:solidFill>
                  <a:srgbClr val="FF0000"/>
                </a:solidFill>
              </a:rPr>
              <a:t>The</a:t>
            </a:r>
            <a:r>
              <a:rPr lang="en-US" altLang="zh-CN" dirty="0">
                <a:solidFill>
                  <a:schemeClr val="tx1"/>
                </a:solidFill>
              </a:rPr>
              <a:t> </a:t>
            </a:r>
            <a:r>
              <a:rPr lang="en-US" altLang="zh-CN" dirty="0">
                <a:solidFill>
                  <a:srgbClr val="FF0000"/>
                </a:solidFill>
              </a:rPr>
              <a:t>SPI interface </a:t>
            </a:r>
            <a:r>
              <a:rPr lang="en-US" altLang="zh-CN" dirty="0">
                <a:solidFill>
                  <a:srgbClr val="FF00FF"/>
                </a:solidFill>
              </a:rPr>
              <a:t>consists of four signal lines: MISO/P1.4, MOSI/P1.3, SCLK/P1.5, and /SS/P1.2. </a:t>
            </a:r>
            <a:r>
              <a:rPr lang="en-US" altLang="zh-CN" dirty="0">
                <a:solidFill>
                  <a:schemeClr val="tx1"/>
                </a:solidFill>
              </a:rPr>
              <a:t>The SPI interface pins can be switched.</a:t>
            </a:r>
          </a:p>
        </p:txBody>
      </p:sp>
      <p:sp>
        <p:nvSpPr>
          <p:cNvPr id="6" name="Rectangle 3"/>
          <p:cNvSpPr txBox="1">
            <a:spLocks noChangeArrowheads="1"/>
          </p:cNvSpPr>
          <p:nvPr/>
        </p:nvSpPr>
        <p:spPr bwMode="auto">
          <a:xfrm>
            <a:off x="849131" y="2140153"/>
            <a:ext cx="7517629" cy="3435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just">
              <a:lnSpc>
                <a:spcPct val="114000"/>
              </a:lnSpc>
              <a:spcAft>
                <a:spcPts val="600"/>
              </a:spcAft>
              <a:buBlip>
                <a:blip r:embed="rId2"/>
              </a:buBlip>
              <a:defRPr sz="2800" b="1">
                <a:solidFill>
                  <a:schemeClr val="accent2"/>
                </a:solidFill>
                <a:latin typeface="Times New Roman" panose="02020603050405020304" pitchFamily="18" charset="0"/>
                <a:ea typeface="宋体" panose="02010600030101010101" pitchFamily="2" charset="-122"/>
              </a:defRPr>
            </a:lvl1pPr>
            <a:lvl2pPr marL="263525" indent="-180975" algn="just">
              <a:lnSpc>
                <a:spcPct val="114000"/>
              </a:lnSpc>
              <a:spcAft>
                <a:spcPts val="600"/>
              </a:spcAft>
              <a:buBlip>
                <a:blip r:embed="rId3"/>
              </a:buBlip>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9pPr>
          </a:lstStyle>
          <a:p>
            <a:pPr algn="l" eaLnBrk="1" hangingPunct="1">
              <a:lnSpc>
                <a:spcPct val="95000"/>
              </a:lnSpc>
              <a:spcAft>
                <a:spcPts val="400"/>
              </a:spcAft>
            </a:pPr>
            <a:r>
              <a:rPr lang="en-US" altLang="zh-CN" sz="2400" dirty="0">
                <a:solidFill>
                  <a:srgbClr val="FF00FF"/>
                </a:solidFill>
                <a:latin typeface="+mn-lt"/>
              </a:rPr>
              <a:t>MOSI </a:t>
            </a:r>
            <a:r>
              <a:rPr lang="en-US" altLang="zh-CN" sz="2400" dirty="0">
                <a:solidFill>
                  <a:srgbClr val="C00000"/>
                </a:solidFill>
                <a:latin typeface="+mn-lt"/>
              </a:rPr>
              <a:t>(</a:t>
            </a:r>
            <a:r>
              <a:rPr lang="en-US" altLang="zh-CN" sz="2400" dirty="0">
                <a:solidFill>
                  <a:srgbClr val="FF00FF"/>
                </a:solidFill>
                <a:latin typeface="+mn-lt"/>
              </a:rPr>
              <a:t>M</a:t>
            </a:r>
            <a:r>
              <a:rPr lang="en-US" altLang="zh-CN" sz="2400" dirty="0">
                <a:solidFill>
                  <a:srgbClr val="C00000"/>
                </a:solidFill>
                <a:latin typeface="+mn-lt"/>
              </a:rPr>
              <a:t>aster </a:t>
            </a:r>
            <a:r>
              <a:rPr lang="en-US" altLang="zh-CN" sz="2400" dirty="0">
                <a:solidFill>
                  <a:srgbClr val="FF00FF"/>
                </a:solidFill>
                <a:latin typeface="+mn-lt"/>
              </a:rPr>
              <a:t>O</a:t>
            </a:r>
            <a:r>
              <a:rPr lang="en-US" altLang="zh-CN" sz="2400" dirty="0">
                <a:solidFill>
                  <a:srgbClr val="C00000"/>
                </a:solidFill>
                <a:latin typeface="+mn-lt"/>
              </a:rPr>
              <a:t>ut </a:t>
            </a:r>
            <a:r>
              <a:rPr lang="en-US" altLang="zh-CN" sz="2400" dirty="0">
                <a:solidFill>
                  <a:srgbClr val="FF00FF"/>
                </a:solidFill>
                <a:latin typeface="+mn-lt"/>
              </a:rPr>
              <a:t>S</a:t>
            </a:r>
            <a:r>
              <a:rPr lang="en-US" altLang="zh-CN" sz="2400" dirty="0">
                <a:solidFill>
                  <a:srgbClr val="C00000"/>
                </a:solidFill>
                <a:latin typeface="+mn-lt"/>
              </a:rPr>
              <a:t>lave </a:t>
            </a:r>
            <a:r>
              <a:rPr lang="en-US" altLang="zh-CN" sz="2400" dirty="0">
                <a:solidFill>
                  <a:srgbClr val="FF00FF"/>
                </a:solidFill>
                <a:latin typeface="+mn-lt"/>
              </a:rPr>
              <a:t>I</a:t>
            </a:r>
            <a:r>
              <a:rPr lang="en-US" altLang="zh-CN" sz="2400" dirty="0">
                <a:solidFill>
                  <a:srgbClr val="C00000"/>
                </a:solidFill>
                <a:latin typeface="+mn-lt"/>
              </a:rPr>
              <a:t>n, master output slave input)</a:t>
            </a:r>
          </a:p>
          <a:p>
            <a:pPr lvl="1" algn="l" eaLnBrk="1" hangingPunct="1">
              <a:lnSpc>
                <a:spcPct val="95000"/>
              </a:lnSpc>
              <a:spcAft>
                <a:spcPts val="400"/>
              </a:spcAft>
            </a:pPr>
            <a:r>
              <a:rPr lang="zh-CN" altLang="en-US" sz="2400" dirty="0">
                <a:solidFill>
                  <a:srgbClr val="FF00FF"/>
                </a:solidFill>
                <a:latin typeface="+mn-lt"/>
              </a:rPr>
              <a:t>The output of the master device and the input of the slave device </a:t>
            </a:r>
            <a:r>
              <a:rPr lang="zh-CN" altLang="en-US" sz="2400" dirty="0">
                <a:latin typeface="+mn-lt"/>
              </a:rPr>
              <a:t>are used for serial data transmission from the master device to the slave device.</a:t>
            </a:r>
          </a:p>
          <a:p>
            <a:pPr lvl="1" algn="l" eaLnBrk="1" hangingPunct="1">
              <a:lnSpc>
                <a:spcPct val="95000"/>
              </a:lnSpc>
              <a:spcAft>
                <a:spcPts val="400"/>
              </a:spcAft>
            </a:pPr>
            <a:r>
              <a:rPr lang="zh-CN" altLang="en-US" sz="2400" dirty="0">
                <a:latin typeface="+mn-lt"/>
              </a:rPr>
              <a:t>According to the SPI specification, </a:t>
            </a:r>
            <a:r>
              <a:rPr lang="zh-CN" altLang="en-US" sz="2400" dirty="0">
                <a:solidFill>
                  <a:srgbClr val="FF0000"/>
                </a:solidFill>
                <a:latin typeface="+mn-lt"/>
              </a:rPr>
              <a:t>multiple slaves share a MOSI signal line.</a:t>
            </a:r>
            <a:endParaRPr lang="en-US" altLang="zh-CN" sz="2400" dirty="0">
              <a:solidFill>
                <a:srgbClr val="FF0000"/>
              </a:solidFill>
              <a:latin typeface="+mn-lt"/>
            </a:endParaRPr>
          </a:p>
          <a:p>
            <a:pPr lvl="1" algn="l" eaLnBrk="1" hangingPunct="1">
              <a:lnSpc>
                <a:spcPct val="95000"/>
              </a:lnSpc>
              <a:spcAft>
                <a:spcPts val="400"/>
              </a:spcAft>
            </a:pPr>
            <a:r>
              <a:rPr lang="zh-CN" altLang="en-US" sz="2400" dirty="0">
                <a:solidFill>
                  <a:srgbClr val="00B0F0"/>
                </a:solidFill>
                <a:latin typeface="+mn-lt"/>
              </a:rPr>
              <a:t>During the first half of the clock cycle</a:t>
            </a:r>
            <a:r>
              <a:rPr lang="zh-CN" altLang="en-US" sz="2400" dirty="0">
                <a:latin typeface="+mn-lt"/>
              </a:rPr>
              <a:t>, the master places data on the MOSI line, </a:t>
            </a:r>
            <a:r>
              <a:rPr lang="zh-CN" altLang="en-US" sz="2400" dirty="0">
                <a:solidFill>
                  <a:srgbClr val="00B0F0"/>
                </a:solidFill>
                <a:latin typeface="+mn-lt"/>
              </a:rPr>
              <a:t>and the slave retrieves it at this boundary.</a:t>
            </a:r>
            <a:endParaRPr lang="en-US" altLang="zh-CN" sz="2400" dirty="0">
              <a:solidFill>
                <a:srgbClr val="00B0F0"/>
              </a:solidFill>
              <a:latin typeface="+mn-lt"/>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68</a:t>
            </a:fld>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noChangeArrowheads="1"/>
          </p:cNvSpPr>
          <p:nvPr>
            <p:ph type="title"/>
          </p:nvPr>
        </p:nvSpPr>
        <p:spPr/>
        <p:txBody>
          <a:bodyPr>
            <a:normAutofit/>
          </a:bodyPr>
          <a:lstStyle/>
          <a:p>
            <a:r>
              <a:rPr lang="zh-CN" altLang="en-US" sz="3600" dirty="0">
                <a:solidFill>
                  <a:srgbClr val="FF0000"/>
                </a:solidFill>
              </a:rPr>
              <a:t>(1) SPI interface signal</a:t>
            </a:r>
            <a:endParaRPr lang="zh-CN" altLang="en-US" sz="3600" dirty="0"/>
          </a:p>
        </p:txBody>
      </p:sp>
      <p:sp>
        <p:nvSpPr>
          <p:cNvPr id="871427" name="Rectangle 3"/>
          <p:cNvSpPr>
            <a:spLocks noGrp="1" noChangeArrowheads="1"/>
          </p:cNvSpPr>
          <p:nvPr>
            <p:ph idx="1"/>
          </p:nvPr>
        </p:nvSpPr>
        <p:spPr>
          <a:xfrm>
            <a:off x="709931" y="1371600"/>
            <a:ext cx="7748270" cy="2050658"/>
          </a:xfrm>
        </p:spPr>
        <p:txBody>
          <a:bodyPr>
            <a:normAutofit/>
          </a:bodyPr>
          <a:lstStyle/>
          <a:p>
            <a:pPr eaLnBrk="1" hangingPunct="1">
              <a:lnSpc>
                <a:spcPct val="95000"/>
              </a:lnSpc>
              <a:defRPr/>
            </a:pPr>
            <a:r>
              <a:rPr lang="en-US" altLang="zh-CN" dirty="0">
                <a:solidFill>
                  <a:srgbClr val="FF00FF"/>
                </a:solidFill>
              </a:rPr>
              <a:t>MISO </a:t>
            </a:r>
            <a:r>
              <a:rPr lang="en-US" altLang="zh-CN" dirty="0">
                <a:solidFill>
                  <a:schemeClr val="tx1"/>
                </a:solidFill>
              </a:rPr>
              <a:t>(</a:t>
            </a:r>
            <a:r>
              <a:rPr lang="en-US" altLang="zh-CN" dirty="0">
                <a:solidFill>
                  <a:srgbClr val="FF00FF"/>
                </a:solidFill>
              </a:rPr>
              <a:t>M</a:t>
            </a:r>
            <a:r>
              <a:rPr lang="en-US" altLang="zh-CN" dirty="0">
                <a:solidFill>
                  <a:schemeClr val="tx1"/>
                </a:solidFill>
              </a:rPr>
              <a:t>aster </a:t>
            </a:r>
            <a:r>
              <a:rPr lang="en-US" altLang="zh-CN" dirty="0">
                <a:solidFill>
                  <a:srgbClr val="FF00FF"/>
                </a:solidFill>
              </a:rPr>
              <a:t>I</a:t>
            </a:r>
            <a:r>
              <a:rPr lang="en-US" altLang="zh-CN" dirty="0">
                <a:solidFill>
                  <a:schemeClr val="tx1"/>
                </a:solidFill>
              </a:rPr>
              <a:t>n </a:t>
            </a:r>
            <a:r>
              <a:rPr lang="en-US" altLang="zh-CN" dirty="0">
                <a:solidFill>
                  <a:srgbClr val="FF00FF"/>
                </a:solidFill>
              </a:rPr>
              <a:t>S</a:t>
            </a:r>
            <a:r>
              <a:rPr lang="en-US" altLang="zh-CN" dirty="0">
                <a:solidFill>
                  <a:schemeClr val="tx1"/>
                </a:solidFill>
              </a:rPr>
              <a:t>lave </a:t>
            </a:r>
            <a:r>
              <a:rPr lang="en-US" altLang="zh-CN" dirty="0">
                <a:solidFill>
                  <a:srgbClr val="FF00FF"/>
                </a:solidFill>
              </a:rPr>
              <a:t>O</a:t>
            </a:r>
            <a:r>
              <a:rPr lang="en-US" altLang="zh-CN" dirty="0">
                <a:solidFill>
                  <a:schemeClr val="tx1"/>
                </a:solidFill>
              </a:rPr>
              <a:t>ut, </a:t>
            </a:r>
            <a:r>
              <a:rPr lang="en-US" altLang="zh-CN" dirty="0">
                <a:solidFill>
                  <a:srgbClr val="FF00FF"/>
                </a:solidFill>
              </a:rPr>
              <a:t>Master Input Slave Output</a:t>
            </a:r>
            <a:r>
              <a:rPr lang="en-US" altLang="zh-CN" dirty="0">
                <a:solidFill>
                  <a:schemeClr val="tx1"/>
                </a:solidFill>
              </a:rPr>
              <a:t>)</a:t>
            </a:r>
          </a:p>
          <a:p>
            <a:pPr lvl="1" eaLnBrk="1" hangingPunct="1">
              <a:lnSpc>
                <a:spcPct val="95000"/>
              </a:lnSpc>
              <a:defRPr/>
            </a:pPr>
            <a:r>
              <a:rPr lang="zh-CN" altLang="en-US" sz="1600" dirty="0">
                <a:solidFill>
                  <a:srgbClr val="FF00FF"/>
                </a:solidFill>
              </a:rPr>
              <a:t>From the slave device to the master device. </a:t>
            </a:r>
            <a:r>
              <a:rPr lang="zh-CN" altLang="en-US" sz="1600" dirty="0">
                <a:solidFill>
                  <a:schemeClr val="tx1"/>
                </a:solidFill>
              </a:rPr>
              <a:t>Used to transfer data from the slave device to the master device.</a:t>
            </a:r>
          </a:p>
          <a:p>
            <a:pPr lvl="1" eaLnBrk="1" hangingPunct="1">
              <a:lnSpc>
                <a:spcPct val="95000"/>
              </a:lnSpc>
              <a:defRPr/>
            </a:pPr>
            <a:r>
              <a:rPr lang="en-US" altLang="zh-CN" sz="1600" dirty="0"/>
              <a:t>In the SPI standard, a host can connect to multiple slaves. Therefore, </a:t>
            </a:r>
            <a:r>
              <a:rPr lang="en-US" altLang="zh-CN" sz="1600" dirty="0">
                <a:solidFill>
                  <a:srgbClr val="FF0000"/>
                </a:solidFill>
              </a:rPr>
              <a:t>the hosts MISO signal line is shared among these slaves</a:t>
            </a:r>
            <a:r>
              <a:rPr lang="en-US" altLang="zh-CN" sz="1600" dirty="0"/>
              <a:t>, meaning they all use the same MISO line.</a:t>
            </a:r>
          </a:p>
          <a:p>
            <a:pPr lvl="1" eaLnBrk="1" hangingPunct="1">
              <a:lnSpc>
                <a:spcPct val="95000"/>
              </a:lnSpc>
              <a:defRPr/>
            </a:pPr>
            <a:r>
              <a:rPr lang="zh-CN" altLang="en-US" sz="1600" dirty="0">
                <a:solidFill>
                  <a:srgbClr val="3333FF"/>
                </a:solidFill>
              </a:rPr>
              <a:t>When the master communicates with a slave, the other slaves should drive their MISO pins to a high-impedance state.</a:t>
            </a:r>
            <a:endParaRPr lang="zh-CN" altLang="en-US" sz="1600" dirty="0"/>
          </a:p>
        </p:txBody>
      </p:sp>
      <p:grpSp>
        <p:nvGrpSpPr>
          <p:cNvPr id="4" name="组合 3"/>
          <p:cNvGrpSpPr/>
          <p:nvPr/>
        </p:nvGrpSpPr>
        <p:grpSpPr>
          <a:xfrm>
            <a:off x="928188" y="3435742"/>
            <a:ext cx="7438572" cy="2668052"/>
            <a:chOff x="553867" y="2350612"/>
            <a:chExt cx="8215401" cy="4560867"/>
          </a:xfrm>
          <a:solidFill>
            <a:schemeClr val="bg1"/>
          </a:solidFill>
        </p:grpSpPr>
        <p:graphicFrame>
          <p:nvGraphicFramePr>
            <p:cNvPr id="7" name="对象 6"/>
            <p:cNvGraphicFramePr>
              <a:graphicFrameLocks noChangeAspect="1"/>
            </p:cNvGraphicFramePr>
            <p:nvPr/>
          </p:nvGraphicFramePr>
          <p:xfrm>
            <a:off x="553867" y="2350612"/>
            <a:ext cx="8215401" cy="4560867"/>
          </p:xfrm>
          <a:graphic>
            <a:graphicData uri="http://schemas.openxmlformats.org/presentationml/2006/ole">
              <mc:AlternateContent xmlns:mc="http://schemas.openxmlformats.org/markup-compatibility/2006">
                <mc:Choice xmlns:v="urn:schemas-microsoft-com:vml" Requires="v">
                  <p:oleObj name="Visio" r:id="rId2" imgW="3774440" imgH="2115820" progId="Visio.Drawing.11">
                    <p:embed/>
                  </p:oleObj>
                </mc:Choice>
                <mc:Fallback>
                  <p:oleObj name="Visio" r:id="rId2" imgW="3774440" imgH="2115820" progId="Visio.Drawing.11">
                    <p:embed/>
                    <p:pic>
                      <p:nvPicPr>
                        <p:cNvPr id="7" name="对象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867" y="2350612"/>
                          <a:ext cx="8215401" cy="4560867"/>
                        </a:xfrm>
                        <a:prstGeom prst="rect">
                          <a:avLst/>
                        </a:prstGeom>
                        <a:solidFill>
                          <a:schemeClr val="bg1"/>
                        </a:solidFill>
                        <a:ln>
                          <a:noFill/>
                        </a:ln>
                      </p:spPr>
                    </p:pic>
                  </p:oleObj>
                </mc:Fallback>
              </mc:AlternateContent>
            </a:graphicData>
          </a:graphic>
        </p:graphicFrame>
        <p:sp>
          <p:nvSpPr>
            <p:cNvPr id="8" name="矩形 7"/>
            <p:cNvSpPr/>
            <p:nvPr/>
          </p:nvSpPr>
          <p:spPr>
            <a:xfrm>
              <a:off x="6931919" y="3581183"/>
              <a:ext cx="1138839" cy="631350"/>
            </a:xfrm>
            <a:prstGeom prst="rect">
              <a:avLst/>
            </a:prstGeom>
            <a:grpFill/>
          </p:spPr>
          <p:txBody>
            <a:bodyPr wrap="square">
              <a:spAutoFit/>
            </a:bodyPr>
            <a:lstStyle/>
            <a:p>
              <a:pPr algn="ctr" eaLnBrk="1" hangingPunct="1">
                <a:defRPr/>
              </a:pPr>
              <a:r>
                <a:rPr lang="en-US" altLang="zh-CN" dirty="0">
                  <a:solidFill>
                    <a:srgbClr val="FF00FF"/>
                  </a:solidFill>
                  <a:latin typeface="Arial" panose="020B0604020202020204" pitchFamily="34" charset="0"/>
                  <a:ea typeface="宋体" panose="02010600030101010101" pitchFamily="2" charset="-122"/>
                </a:rPr>
                <a:t>SSIG=0</a:t>
              </a:r>
              <a:endParaRPr lang="zh-CN" altLang="en-US" dirty="0">
                <a:solidFill>
                  <a:srgbClr val="FF00FF"/>
                </a:solidFill>
                <a:latin typeface="Arial" panose="020B0604020202020204" pitchFamily="34" charset="0"/>
                <a:ea typeface="宋体" panose="02010600030101010101" pitchFamily="2" charset="-122"/>
              </a:endParaRPr>
            </a:p>
          </p:txBody>
        </p:sp>
        <p:sp>
          <p:nvSpPr>
            <p:cNvPr id="9" name="矩形 8"/>
            <p:cNvSpPr/>
            <p:nvPr/>
          </p:nvSpPr>
          <p:spPr>
            <a:xfrm>
              <a:off x="6866648" y="5947589"/>
              <a:ext cx="1269378" cy="631350"/>
            </a:xfrm>
            <a:prstGeom prst="rect">
              <a:avLst/>
            </a:prstGeom>
            <a:grpFill/>
          </p:spPr>
          <p:txBody>
            <a:bodyPr wrap="square">
              <a:spAutoFit/>
            </a:bodyPr>
            <a:lstStyle/>
            <a:p>
              <a:pPr algn="ctr" eaLnBrk="1" hangingPunct="1">
                <a:defRPr/>
              </a:pPr>
              <a:r>
                <a:rPr lang="en-US" altLang="zh-CN" dirty="0">
                  <a:solidFill>
                    <a:srgbClr val="FF00FF"/>
                  </a:solidFill>
                  <a:latin typeface="Arial" panose="020B0604020202020204" pitchFamily="34" charset="0"/>
                  <a:ea typeface="宋体" panose="02010600030101010101" pitchFamily="2" charset="-122"/>
                </a:rPr>
                <a:t>SSIG=0</a:t>
              </a:r>
              <a:endParaRPr lang="zh-CN" altLang="en-US" dirty="0">
                <a:solidFill>
                  <a:srgbClr val="FF00FF"/>
                </a:solidFill>
                <a:latin typeface="Arial" panose="020B0604020202020204" pitchFamily="34" charset="0"/>
                <a:ea typeface="宋体" panose="02010600030101010101" pitchFamily="2" charset="-122"/>
              </a:endParaRPr>
            </a:p>
          </p:txBody>
        </p:sp>
      </p:grpSp>
      <p:sp>
        <p:nvSpPr>
          <p:cNvPr id="2" name="灯片编号占位符 1"/>
          <p:cNvSpPr>
            <a:spLocks noGrp="1"/>
          </p:cNvSpPr>
          <p:nvPr>
            <p:ph type="sldNum" sz="quarter" idx="12"/>
          </p:nvPr>
        </p:nvSpPr>
        <p:spPr/>
        <p:txBody>
          <a:bodyPr/>
          <a:lstStyle/>
          <a:p>
            <a:fld id="{22E77DEE-32E4-4009-988B-F2758F7B8AC2}" type="slidenum">
              <a:rPr lang="zh-CN" altLang="en-US" smtClean="0"/>
              <a:t>69</a:t>
            </a:fld>
            <a:endParaRPr lang="zh-CN" altLang="en-US"/>
          </a:p>
        </p:txBody>
      </p:sp>
      <p:grpSp>
        <p:nvGrpSpPr>
          <p:cNvPr id="12" name="组合 11">
            <a:extLst>
              <a:ext uri="{FF2B5EF4-FFF2-40B4-BE49-F238E27FC236}">
                <a16:creationId xmlns:a16="http://schemas.microsoft.com/office/drawing/2014/main" id="{AD11AAAA-9B0C-0619-67A3-5264AC5A8DD4}"/>
              </a:ext>
            </a:extLst>
          </p:cNvPr>
          <p:cNvGrpSpPr/>
          <p:nvPr/>
        </p:nvGrpSpPr>
        <p:grpSpPr>
          <a:xfrm>
            <a:off x="1155358" y="4524943"/>
            <a:ext cx="1828117" cy="696838"/>
            <a:chOff x="1136308" y="4463887"/>
            <a:chExt cx="1828117" cy="696838"/>
          </a:xfrm>
        </p:grpSpPr>
        <p:sp>
          <p:nvSpPr>
            <p:cNvPr id="3" name="矩形 2">
              <a:extLst>
                <a:ext uri="{FF2B5EF4-FFF2-40B4-BE49-F238E27FC236}">
                  <a16:creationId xmlns:a16="http://schemas.microsoft.com/office/drawing/2014/main" id="{9EC996F2-92DE-9321-0F98-9CCBA207CA56}"/>
                </a:ext>
              </a:extLst>
            </p:cNvPr>
            <p:cNvSpPr/>
            <p:nvPr/>
          </p:nvSpPr>
          <p:spPr>
            <a:xfrm>
              <a:off x="1136308" y="4463887"/>
              <a:ext cx="1828116" cy="338554"/>
            </a:xfrm>
            <a:prstGeom prst="rect">
              <a:avLst/>
            </a:prstGeom>
            <a:solidFill>
              <a:schemeClr val="bg1"/>
            </a:solidFill>
            <a:ln>
              <a:solidFill>
                <a:schemeClr val="tx1"/>
              </a:solidFill>
            </a:ln>
          </p:spPr>
          <p:txBody>
            <a:bodyPr wrap="square">
              <a:spAutoFit/>
            </a:bodyPr>
            <a:lstStyle/>
            <a:p>
              <a:pPr algn="ctr" eaLnBrk="1" hangingPunct="1">
                <a:defRPr/>
              </a:pPr>
              <a:r>
                <a:rPr lang="en-US" altLang="zh-CN" sz="1600" dirty="0"/>
                <a:t>(8-bit shift register)</a:t>
              </a:r>
              <a:endParaRPr lang="zh-CN" altLang="en-US" sz="1600" dirty="0">
                <a:solidFill>
                  <a:srgbClr val="FF00FF"/>
                </a:solidFill>
                <a:latin typeface="Arial" panose="020B0604020202020204" pitchFamily="34" charset="0"/>
                <a:ea typeface="宋体" panose="02010600030101010101" pitchFamily="2" charset="-122"/>
              </a:endParaRPr>
            </a:p>
          </p:txBody>
        </p:sp>
        <p:sp>
          <p:nvSpPr>
            <p:cNvPr id="10" name="矩形 9">
              <a:extLst>
                <a:ext uri="{FF2B5EF4-FFF2-40B4-BE49-F238E27FC236}">
                  <a16:creationId xmlns:a16="http://schemas.microsoft.com/office/drawing/2014/main" id="{109CDC6B-C0D3-D7F3-CC16-BE916458BBAD}"/>
                </a:ext>
              </a:extLst>
            </p:cNvPr>
            <p:cNvSpPr/>
            <p:nvPr/>
          </p:nvSpPr>
          <p:spPr>
            <a:xfrm>
              <a:off x="1136308" y="4822171"/>
              <a:ext cx="1828117" cy="338554"/>
            </a:xfrm>
            <a:prstGeom prst="rect">
              <a:avLst/>
            </a:prstGeom>
            <a:solidFill>
              <a:schemeClr val="bg1"/>
            </a:solidFill>
            <a:ln>
              <a:solidFill>
                <a:schemeClr val="tx1"/>
              </a:solidFill>
            </a:ln>
          </p:spPr>
          <p:txBody>
            <a:bodyPr wrap="square">
              <a:spAutoFit/>
            </a:bodyPr>
            <a:lstStyle/>
            <a:p>
              <a:pPr algn="ctr" eaLnBrk="1" hangingPunct="1">
                <a:defRPr/>
              </a:pPr>
              <a:r>
                <a:rPr lang="en-US" altLang="zh-CN" sz="1600" dirty="0"/>
                <a:t>(SPI clock generator)</a:t>
              </a:r>
              <a:endParaRPr lang="zh-CN" altLang="en-US" sz="1600" dirty="0">
                <a:solidFill>
                  <a:srgbClr val="FF00FF"/>
                </a:solidFill>
                <a:latin typeface="Arial" panose="020B0604020202020204" pitchFamily="34" charset="0"/>
                <a:ea typeface="宋体" panose="02010600030101010101" pitchFamily="2" charset="-122"/>
              </a:endParaRPr>
            </a:p>
          </p:txBody>
        </p:sp>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noChangeArrowheads="1"/>
          </p:cNvSpPr>
          <p:nvPr>
            <p:ph type="title"/>
          </p:nvPr>
        </p:nvSpPr>
        <p:spPr/>
        <p:txBody>
          <a:bodyPr>
            <a:normAutofit/>
          </a:bodyPr>
          <a:lstStyle/>
          <a:p>
            <a:r>
              <a:rPr lang="zh-CN" altLang="en-US" sz="3600" dirty="0">
                <a:solidFill>
                  <a:srgbClr val="FF0000"/>
                </a:solidFill>
              </a:rPr>
              <a:t>(1) SPI interface signal</a:t>
            </a:r>
            <a:endParaRPr lang="zh-CN" altLang="en-US" sz="3600" dirty="0"/>
          </a:p>
        </p:txBody>
      </p:sp>
      <p:sp>
        <p:nvSpPr>
          <p:cNvPr id="872451" name="Rectangle 3"/>
          <p:cNvSpPr>
            <a:spLocks noGrp="1" noChangeArrowheads="1"/>
          </p:cNvSpPr>
          <p:nvPr>
            <p:ph idx="1"/>
          </p:nvPr>
        </p:nvSpPr>
        <p:spPr>
          <a:xfrm>
            <a:off x="822960" y="1242259"/>
            <a:ext cx="7396309" cy="2391119"/>
          </a:xfrm>
        </p:spPr>
        <p:txBody>
          <a:bodyPr>
            <a:noAutofit/>
          </a:bodyPr>
          <a:lstStyle/>
          <a:p>
            <a:pPr eaLnBrk="1" hangingPunct="1">
              <a:lnSpc>
                <a:spcPct val="95000"/>
              </a:lnSpc>
              <a:spcAft>
                <a:spcPts val="300"/>
              </a:spcAft>
              <a:defRPr/>
            </a:pPr>
            <a:r>
              <a:rPr lang="en-US" altLang="zh-CN" sz="1800" dirty="0">
                <a:solidFill>
                  <a:srgbClr val="FF00FF"/>
                </a:solidFill>
              </a:rPr>
              <a:t>SCLK </a:t>
            </a:r>
            <a:r>
              <a:rPr lang="en-US" altLang="zh-CN" sz="1800" dirty="0">
                <a:solidFill>
                  <a:schemeClr val="tx1"/>
                </a:solidFill>
              </a:rPr>
              <a:t>(</a:t>
            </a:r>
            <a:r>
              <a:rPr lang="en-US" altLang="zh-CN" sz="1800" dirty="0">
                <a:solidFill>
                  <a:srgbClr val="FF00FF"/>
                </a:solidFill>
              </a:rPr>
              <a:t>S</a:t>
            </a:r>
            <a:r>
              <a:rPr lang="en-US" altLang="zh-CN" sz="1800" dirty="0">
                <a:solidFill>
                  <a:schemeClr val="tx1"/>
                </a:solidFill>
              </a:rPr>
              <a:t>PI </a:t>
            </a:r>
            <a:r>
              <a:rPr lang="en-US" altLang="zh-CN" sz="1800" dirty="0">
                <a:solidFill>
                  <a:srgbClr val="FF00FF"/>
                </a:solidFill>
              </a:rPr>
              <a:t>C</a:t>
            </a:r>
            <a:r>
              <a:rPr lang="en-US" altLang="zh-CN" sz="1800" dirty="0">
                <a:solidFill>
                  <a:schemeClr val="tx1"/>
                </a:solidFill>
              </a:rPr>
              <a:t>loc</a:t>
            </a:r>
            <a:r>
              <a:rPr lang="en-US" altLang="zh-CN" sz="1800" dirty="0">
                <a:solidFill>
                  <a:srgbClr val="FF00FF"/>
                </a:solidFill>
              </a:rPr>
              <a:t>k</a:t>
            </a:r>
            <a:r>
              <a:rPr lang="en-US" altLang="zh-CN" sz="1800" dirty="0">
                <a:solidFill>
                  <a:schemeClr val="tx1"/>
                </a:solidFill>
              </a:rPr>
              <a:t>, </a:t>
            </a:r>
            <a:r>
              <a:rPr lang="en-US" altLang="zh-CN" sz="1800" dirty="0">
                <a:solidFill>
                  <a:srgbClr val="FF00FF"/>
                </a:solidFill>
              </a:rPr>
              <a:t>Serial Clock Signal</a:t>
            </a:r>
            <a:r>
              <a:rPr lang="en-US" altLang="zh-CN" sz="1800" dirty="0">
                <a:solidFill>
                  <a:schemeClr val="tx1"/>
                </a:solidFill>
              </a:rPr>
              <a:t>)</a:t>
            </a:r>
          </a:p>
          <a:p>
            <a:pPr lvl="1" eaLnBrk="1" hangingPunct="1">
              <a:lnSpc>
                <a:spcPct val="95000"/>
              </a:lnSpc>
              <a:spcAft>
                <a:spcPts val="300"/>
              </a:spcAft>
              <a:defRPr/>
            </a:pPr>
            <a:r>
              <a:rPr lang="zh-CN" altLang="en-US" dirty="0">
                <a:solidFill>
                  <a:srgbClr val="FF00FF"/>
                </a:solidFill>
                <a:cs typeface="+mn-cs"/>
              </a:rPr>
              <a:t>The serial clock signal serves as the output of the master device and the input of the slave device,</a:t>
            </a:r>
            <a:r>
              <a:rPr lang="zh-CN" altLang="en-US" dirty="0">
                <a:solidFill>
                  <a:schemeClr val="tx1"/>
                </a:solidFill>
                <a:cs typeface="+mn-cs"/>
              </a:rPr>
              <a:t> synchronizing serial data transfer between them over the MOSI and MISO lines.</a:t>
            </a:r>
          </a:p>
          <a:p>
            <a:pPr lvl="1" eaLnBrk="1" hangingPunct="1">
              <a:lnSpc>
                <a:spcPct val="95000"/>
              </a:lnSpc>
              <a:spcAft>
                <a:spcPts val="300"/>
              </a:spcAft>
              <a:defRPr/>
            </a:pPr>
            <a:r>
              <a:rPr lang="zh-CN" altLang="en-US" dirty="0">
                <a:solidFill>
                  <a:srgbClr val="FF0000"/>
                </a:solidFill>
              </a:rPr>
              <a:t>When the master device initiates a data transfer, it automatically generates 8 SCLK clock cycles to the slave device.</a:t>
            </a:r>
            <a:r>
              <a:rPr lang="zh-CN" altLang="en-US" dirty="0">
                <a:solidFill>
                  <a:schemeClr val="tx1"/>
                </a:solidFill>
              </a:rPr>
              <a:t> Each SCLK transition (rising or falling edge) carries out one bit of data.</a:t>
            </a:r>
          </a:p>
          <a:p>
            <a:pPr lvl="1" eaLnBrk="1" hangingPunct="1">
              <a:lnSpc>
                <a:spcPct val="95000"/>
              </a:lnSpc>
              <a:spcAft>
                <a:spcPts val="300"/>
              </a:spcAft>
              <a:defRPr/>
            </a:pPr>
            <a:r>
              <a:rPr lang="zh-CN" altLang="en-US" dirty="0">
                <a:solidFill>
                  <a:srgbClr val="3333FF"/>
                </a:solidFill>
              </a:rPr>
              <a:t>One byte of data can be transferred in a single data transfer.</a:t>
            </a:r>
          </a:p>
          <a:p>
            <a:pPr lvl="1" eaLnBrk="1" hangingPunct="1">
              <a:lnSpc>
                <a:spcPct val="95000"/>
              </a:lnSpc>
              <a:spcAft>
                <a:spcPts val="300"/>
              </a:spcAft>
              <a:buFontTx/>
              <a:buNone/>
              <a:defRPr/>
            </a:pPr>
            <a:endParaRPr lang="en-US" altLang="zh-CN" dirty="0"/>
          </a:p>
        </p:txBody>
      </p:sp>
      <p:grpSp>
        <p:nvGrpSpPr>
          <p:cNvPr id="7" name="组合 6"/>
          <p:cNvGrpSpPr/>
          <p:nvPr/>
        </p:nvGrpSpPr>
        <p:grpSpPr>
          <a:xfrm>
            <a:off x="675287" y="3740150"/>
            <a:ext cx="7438572" cy="2530166"/>
            <a:chOff x="418613" y="2583622"/>
            <a:chExt cx="8215401" cy="4560867"/>
          </a:xfrm>
          <a:solidFill>
            <a:schemeClr val="bg1"/>
          </a:solidFill>
        </p:grpSpPr>
        <p:graphicFrame>
          <p:nvGraphicFramePr>
            <p:cNvPr id="8" name="对象 7"/>
            <p:cNvGraphicFramePr>
              <a:graphicFrameLocks noChangeAspect="1"/>
            </p:cNvGraphicFramePr>
            <p:nvPr>
              <p:extLst>
                <p:ext uri="{D42A27DB-BD31-4B8C-83A1-F6EECF244321}">
                  <p14:modId xmlns:p14="http://schemas.microsoft.com/office/powerpoint/2010/main" val="3376012564"/>
                </p:ext>
              </p:extLst>
            </p:nvPr>
          </p:nvGraphicFramePr>
          <p:xfrm>
            <a:off x="418613" y="2583622"/>
            <a:ext cx="8215401" cy="4560867"/>
          </p:xfrm>
          <a:graphic>
            <a:graphicData uri="http://schemas.openxmlformats.org/presentationml/2006/ole">
              <mc:AlternateContent xmlns:mc="http://schemas.openxmlformats.org/markup-compatibility/2006">
                <mc:Choice xmlns:v="urn:schemas-microsoft-com:vml" Requires="v">
                  <p:oleObj name="Visio" r:id="rId2" imgW="3774440" imgH="2115820" progId="Visio.Drawing.11">
                    <p:embed/>
                  </p:oleObj>
                </mc:Choice>
                <mc:Fallback>
                  <p:oleObj name="Visio" r:id="rId2" imgW="3774440" imgH="2115820" progId="Visio.Drawing.11">
                    <p:embed/>
                    <p:pic>
                      <p:nvPicPr>
                        <p:cNvPr id="8" name="对象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613" y="2583622"/>
                          <a:ext cx="8215401" cy="4560867"/>
                        </a:xfrm>
                        <a:prstGeom prst="rect">
                          <a:avLst/>
                        </a:prstGeom>
                        <a:solidFill>
                          <a:schemeClr val="bg1"/>
                        </a:solidFill>
                        <a:ln>
                          <a:noFill/>
                        </a:ln>
                      </p:spPr>
                    </p:pic>
                  </p:oleObj>
                </mc:Fallback>
              </mc:AlternateContent>
            </a:graphicData>
          </a:graphic>
        </p:graphicFrame>
        <p:sp>
          <p:nvSpPr>
            <p:cNvPr id="9" name="矩形 8"/>
            <p:cNvSpPr/>
            <p:nvPr/>
          </p:nvSpPr>
          <p:spPr>
            <a:xfrm>
              <a:off x="6826723" y="3798579"/>
              <a:ext cx="998992" cy="369332"/>
            </a:xfrm>
            <a:prstGeom prst="rect">
              <a:avLst/>
            </a:prstGeom>
            <a:grpFill/>
          </p:spPr>
          <p:txBody>
            <a:bodyPr wrap="none">
              <a:spAutoFit/>
            </a:bodyPr>
            <a:lstStyle/>
            <a:p>
              <a:pPr algn="ctr" eaLnBrk="1" hangingPunct="1">
                <a:defRPr/>
              </a:pPr>
              <a:r>
                <a:rPr lang="en-US" altLang="zh-CN" dirty="0">
                  <a:solidFill>
                    <a:srgbClr val="FF00FF"/>
                  </a:solidFill>
                  <a:latin typeface="Arial" panose="020B0604020202020204" pitchFamily="34" charset="0"/>
                  <a:ea typeface="宋体" panose="02010600030101010101" pitchFamily="2" charset="-122"/>
                </a:rPr>
                <a:t>SSIG=0</a:t>
              </a:r>
              <a:endParaRPr lang="zh-CN" altLang="en-US" dirty="0">
                <a:solidFill>
                  <a:srgbClr val="FF00FF"/>
                </a:solidFill>
                <a:latin typeface="Arial" panose="020B0604020202020204" pitchFamily="34" charset="0"/>
                <a:ea typeface="宋体" panose="02010600030101010101" pitchFamily="2" charset="-122"/>
              </a:endParaRPr>
            </a:p>
          </p:txBody>
        </p:sp>
        <p:sp>
          <p:nvSpPr>
            <p:cNvPr id="10" name="矩形 9"/>
            <p:cNvSpPr/>
            <p:nvPr/>
          </p:nvSpPr>
          <p:spPr>
            <a:xfrm>
              <a:off x="6826723" y="6129936"/>
              <a:ext cx="998992" cy="369332"/>
            </a:xfrm>
            <a:prstGeom prst="rect">
              <a:avLst/>
            </a:prstGeom>
            <a:grpFill/>
          </p:spPr>
          <p:txBody>
            <a:bodyPr wrap="none">
              <a:spAutoFit/>
            </a:bodyPr>
            <a:lstStyle/>
            <a:p>
              <a:pPr algn="ctr" eaLnBrk="1" hangingPunct="1">
                <a:defRPr/>
              </a:pPr>
              <a:r>
                <a:rPr lang="en-US" altLang="zh-CN" dirty="0">
                  <a:solidFill>
                    <a:srgbClr val="FF00FF"/>
                  </a:solidFill>
                  <a:latin typeface="Arial" panose="020B0604020202020204" pitchFamily="34" charset="0"/>
                  <a:ea typeface="宋体" panose="02010600030101010101" pitchFamily="2" charset="-122"/>
                </a:rPr>
                <a:t>SSIG=0</a:t>
              </a:r>
              <a:endParaRPr lang="zh-CN" altLang="en-US" dirty="0">
                <a:solidFill>
                  <a:srgbClr val="FF00FF"/>
                </a:solidFill>
                <a:latin typeface="Arial" panose="020B0604020202020204" pitchFamily="34" charset="0"/>
                <a:ea typeface="宋体" panose="02010600030101010101" pitchFamily="2" charset="-122"/>
              </a:endParaRPr>
            </a:p>
          </p:txBody>
        </p:sp>
      </p:grpSp>
      <p:sp>
        <p:nvSpPr>
          <p:cNvPr id="2" name="灯片编号占位符 1"/>
          <p:cNvSpPr>
            <a:spLocks noGrp="1"/>
          </p:cNvSpPr>
          <p:nvPr>
            <p:ph type="sldNum" sz="quarter" idx="12"/>
          </p:nvPr>
        </p:nvSpPr>
        <p:spPr/>
        <p:txBody>
          <a:bodyPr/>
          <a:lstStyle/>
          <a:p>
            <a:fld id="{22E77DEE-32E4-4009-988B-F2758F7B8AC2}" type="slidenum">
              <a:rPr lang="zh-CN" altLang="en-US" smtClean="0"/>
              <a:t>70</a:t>
            </a:fld>
            <a:endParaRPr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noChangeArrowheads="1"/>
          </p:cNvSpPr>
          <p:nvPr>
            <p:ph type="title"/>
          </p:nvPr>
        </p:nvSpPr>
        <p:spPr/>
        <p:txBody>
          <a:bodyPr>
            <a:normAutofit/>
          </a:bodyPr>
          <a:lstStyle/>
          <a:p>
            <a:r>
              <a:rPr lang="zh-CN" altLang="en-US" sz="3600" dirty="0">
                <a:solidFill>
                  <a:srgbClr val="FF0000"/>
                </a:solidFill>
              </a:rPr>
              <a:t>(1) SPI interface signal</a:t>
            </a:r>
            <a:endParaRPr lang="zh-CN" altLang="en-US" sz="3600" dirty="0"/>
          </a:p>
        </p:txBody>
      </p:sp>
      <p:sp>
        <p:nvSpPr>
          <p:cNvPr id="869379" name="Rectangle 3"/>
          <p:cNvSpPr>
            <a:spLocks noGrp="1" noChangeArrowheads="1"/>
          </p:cNvSpPr>
          <p:nvPr>
            <p:ph idx="1"/>
          </p:nvPr>
        </p:nvSpPr>
        <p:spPr>
          <a:xfrm>
            <a:off x="490538" y="1412239"/>
            <a:ext cx="7915275" cy="1635761"/>
          </a:xfrm>
        </p:spPr>
        <p:txBody>
          <a:bodyPr>
            <a:normAutofit lnSpcReduction="10000"/>
          </a:bodyPr>
          <a:lstStyle/>
          <a:p>
            <a:pPr marL="363855" indent="-281305" eaLnBrk="1" hangingPunct="1">
              <a:spcAft>
                <a:spcPts val="1200"/>
              </a:spcAft>
              <a:defRPr/>
            </a:pPr>
            <a:r>
              <a:rPr lang="en-US" altLang="zh-CN" dirty="0">
                <a:solidFill>
                  <a:srgbClr val="FF00FF"/>
                </a:solidFill>
              </a:rPr>
              <a:t>SCLK, MOSI, and MISO </a:t>
            </a:r>
            <a:r>
              <a:rPr lang="en-US" altLang="zh-CN" dirty="0">
                <a:solidFill>
                  <a:srgbClr val="0000FF"/>
                </a:solidFill>
              </a:rPr>
              <a:t>are typically used to connect two or more SPI devices.</a:t>
            </a:r>
          </a:p>
          <a:p>
            <a:pPr marL="363855" lvl="1" indent="-281305" eaLnBrk="1" hangingPunct="1">
              <a:spcAft>
                <a:spcPts val="1200"/>
              </a:spcAft>
              <a:defRPr/>
            </a:pPr>
            <a:r>
              <a:rPr lang="zh-CN" altLang="en-US" dirty="0"/>
              <a:t>Data is transmitted from the host to the slave via </a:t>
            </a:r>
            <a:r>
              <a:rPr lang="zh-CN" altLang="en-US" dirty="0">
                <a:solidFill>
                  <a:srgbClr val="FF00FF"/>
                </a:solidFill>
              </a:rPr>
              <a:t>MOSI</a:t>
            </a:r>
            <a:r>
              <a:rPr lang="zh-CN" altLang="en-US" dirty="0"/>
              <a:t> and from the slave to the host via </a:t>
            </a:r>
            <a:r>
              <a:rPr lang="zh-CN" altLang="en-US" dirty="0">
                <a:solidFill>
                  <a:srgbClr val="FF00FF"/>
                </a:solidFill>
              </a:rPr>
              <a:t>MISO.</a:t>
            </a:r>
          </a:p>
          <a:p>
            <a:pPr marL="363855" lvl="1" indent="-281305" eaLnBrk="1" hangingPunct="1">
              <a:spcAft>
                <a:spcPts val="1200"/>
              </a:spcAft>
              <a:defRPr/>
            </a:pPr>
            <a:r>
              <a:rPr lang="en-US" altLang="zh-CN" dirty="0">
                <a:solidFill>
                  <a:srgbClr val="FF00FF"/>
                </a:solidFill>
                <a:cs typeface="+mn-cs"/>
              </a:rPr>
              <a:t>The SCLK signal </a:t>
            </a:r>
            <a:r>
              <a:rPr lang="en-US" altLang="zh-CN" dirty="0">
                <a:solidFill>
                  <a:schemeClr val="tx1"/>
                </a:solidFill>
                <a:cs typeface="+mn-cs"/>
              </a:rPr>
              <a:t>is an output in master mode and an input in slave mode.</a:t>
            </a:r>
            <a:endParaRPr lang="zh-CN" altLang="en-US" dirty="0">
              <a:solidFill>
                <a:schemeClr val="tx1"/>
              </a:solidFill>
            </a:endParaRPr>
          </a:p>
        </p:txBody>
      </p:sp>
      <p:sp>
        <p:nvSpPr>
          <p:cNvPr id="6" name="Rectangle 3"/>
          <p:cNvSpPr txBox="1">
            <a:spLocks noChangeArrowheads="1"/>
          </p:cNvSpPr>
          <p:nvPr/>
        </p:nvSpPr>
        <p:spPr bwMode="auto">
          <a:xfrm>
            <a:off x="490538" y="3585210"/>
            <a:ext cx="8002588" cy="150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l" rtl="0" eaLnBrk="0" fontAlgn="base" hangingPunct="0">
              <a:lnSpc>
                <a:spcPct val="114000"/>
              </a:lnSpc>
              <a:spcBef>
                <a:spcPts val="0"/>
              </a:spcBef>
              <a:spcAft>
                <a:spcPts val="600"/>
              </a:spcAft>
              <a:buBlip>
                <a:blip r:embed="rId2"/>
              </a:buBlip>
              <a:defRPr sz="2800" b="1">
                <a:solidFill>
                  <a:schemeClr val="accent2"/>
                </a:solidFill>
                <a:latin typeface="+mn-lt"/>
                <a:ea typeface="+mn-ea"/>
                <a:cs typeface="+mn-cs"/>
              </a:defRPr>
            </a:lvl1pPr>
            <a:lvl2pPr marL="263525" indent="-180975" algn="l" rtl="0" eaLnBrk="0" fontAlgn="base" hangingPunct="0">
              <a:lnSpc>
                <a:spcPct val="114000"/>
              </a:lnSpc>
              <a:spcBef>
                <a:spcPts val="0"/>
              </a:spcBef>
              <a:spcAft>
                <a:spcPts val="600"/>
              </a:spcAft>
              <a:buBlip>
                <a:blip r:embed="rId3"/>
              </a:buBlip>
              <a:defRPr sz="2800" b="1">
                <a:solidFill>
                  <a:schemeClr val="tx1"/>
                </a:solidFill>
                <a:latin typeface="+mn-lt"/>
                <a:ea typeface="+mn-ea"/>
              </a:defRPr>
            </a:lvl2pPr>
            <a:lvl3pPr marL="1143000" indent="-228600" algn="l"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l"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l"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marL="363855" lvl="1" indent="-281305" eaLnBrk="1" hangingPunct="1">
              <a:spcAft>
                <a:spcPts val="1200"/>
              </a:spcAft>
              <a:defRPr/>
            </a:pPr>
            <a:r>
              <a:rPr lang="zh-CN" altLang="en-US" kern="0" dirty="0"/>
              <a:t>When </a:t>
            </a:r>
            <a:r>
              <a:rPr lang="zh-CN" altLang="en-US" kern="0" dirty="0">
                <a:solidFill>
                  <a:srgbClr val="0000FF"/>
                </a:solidFill>
              </a:rPr>
              <a:t>the SPI interface is disabled </a:t>
            </a:r>
            <a:r>
              <a:rPr lang="zh-CN" altLang="en-US" kern="0" dirty="0"/>
              <a:t>(i.e., </a:t>
            </a:r>
            <a:r>
              <a:rPr lang="zh-CN" altLang="en-US" kern="0" dirty="0">
                <a:solidFill>
                  <a:srgbClr val="00B0F0"/>
                </a:solidFill>
              </a:rPr>
              <a:t>SPCTLs </a:t>
            </a:r>
            <a:r>
              <a:rPr lang="zh-CN" altLang="en-US" kern="0" dirty="0">
                <a:solidFill>
                  <a:srgbClr val="0000FF"/>
                </a:solidFill>
              </a:rPr>
              <a:t>SPEN register is set to 0</a:t>
            </a:r>
            <a:r>
              <a:rPr lang="zh-CN" altLang="en-US" kern="0" dirty="0"/>
              <a:t>), these pins can be used as I/O ports.</a:t>
            </a:r>
          </a:p>
        </p:txBody>
      </p:sp>
      <p:sp>
        <p:nvSpPr>
          <p:cNvPr id="2" name="灯片编号占位符 1"/>
          <p:cNvSpPr>
            <a:spLocks noGrp="1"/>
          </p:cNvSpPr>
          <p:nvPr>
            <p:ph type="sldNum" sz="quarter" idx="12"/>
          </p:nvPr>
        </p:nvSpPr>
        <p:spPr/>
        <p:txBody>
          <a:bodyPr/>
          <a:lstStyle/>
          <a:p>
            <a:fld id="{22E77DEE-32E4-4009-988B-F2758F7B8AC2}" type="slidenum">
              <a:rPr lang="zh-CN" altLang="en-US" smtClean="0"/>
              <a:t>71</a:t>
            </a:fld>
            <a:endParaRPr lang="zh-CN"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noChangeArrowheads="1"/>
          </p:cNvSpPr>
          <p:nvPr>
            <p:ph type="title"/>
          </p:nvPr>
        </p:nvSpPr>
        <p:spPr/>
        <p:txBody>
          <a:bodyPr>
            <a:normAutofit/>
          </a:bodyPr>
          <a:lstStyle/>
          <a:p>
            <a:r>
              <a:rPr lang="zh-CN" altLang="en-US" sz="3600" dirty="0">
                <a:solidFill>
                  <a:srgbClr val="FF0000"/>
                </a:solidFill>
              </a:rPr>
              <a:t>(1) SPI interface signal</a:t>
            </a:r>
            <a:endParaRPr lang="zh-CN" altLang="en-US" sz="3600" dirty="0"/>
          </a:p>
        </p:txBody>
      </p:sp>
      <p:sp>
        <p:nvSpPr>
          <p:cNvPr id="873475" name="Rectangle 3"/>
          <p:cNvSpPr>
            <a:spLocks noGrp="1" noChangeArrowheads="1"/>
          </p:cNvSpPr>
          <p:nvPr>
            <p:ph idx="1"/>
          </p:nvPr>
        </p:nvSpPr>
        <p:spPr>
          <a:xfrm>
            <a:off x="537902" y="1179381"/>
            <a:ext cx="7871461" cy="4794568"/>
          </a:xfrm>
        </p:spPr>
        <p:txBody>
          <a:bodyPr/>
          <a:lstStyle/>
          <a:p>
            <a:pPr eaLnBrk="1" hangingPunct="1">
              <a:lnSpc>
                <a:spcPct val="100000"/>
              </a:lnSpc>
              <a:spcBef>
                <a:spcPct val="0"/>
              </a:spcBef>
            </a:pPr>
            <a:r>
              <a:rPr lang="zh-CN" altLang="en-US" dirty="0"/>
              <a:t>(</a:t>
            </a:r>
            <a:r>
              <a:rPr lang="zh-CN" altLang="en-US" dirty="0">
                <a:solidFill>
                  <a:srgbClr val="FF00FF"/>
                </a:solidFill>
              </a:rPr>
              <a:t>S</a:t>
            </a:r>
            <a:r>
              <a:rPr lang="zh-CN" altLang="en-US" dirty="0"/>
              <a:t>lave </a:t>
            </a:r>
            <a:r>
              <a:rPr lang="zh-CN" altLang="en-US" dirty="0">
                <a:solidFill>
                  <a:srgbClr val="FF00FF"/>
                </a:solidFill>
              </a:rPr>
              <a:t>S</a:t>
            </a:r>
            <a:r>
              <a:rPr lang="zh-CN" altLang="en-US" dirty="0"/>
              <a:t>elect, </a:t>
            </a:r>
            <a:r>
              <a:rPr lang="zh-CN" altLang="en-US" dirty="0">
                <a:solidFill>
                  <a:srgbClr val="FF00FF"/>
                </a:solidFill>
              </a:rPr>
              <a:t>slave device selection signal</a:t>
            </a:r>
            <a:r>
              <a:rPr lang="zh-CN" altLang="en-US" dirty="0"/>
              <a:t>)</a:t>
            </a:r>
          </a:p>
          <a:p>
            <a:pPr lvl="1" eaLnBrk="1" hangingPunct="1">
              <a:lnSpc>
                <a:spcPct val="100000"/>
              </a:lnSpc>
              <a:spcBef>
                <a:spcPct val="0"/>
              </a:spcBef>
            </a:pPr>
            <a:r>
              <a:rPr lang="zh-CN" altLang="en-US" sz="1600" dirty="0">
                <a:solidFill>
                  <a:srgbClr val="FF00FF"/>
                </a:solidFill>
              </a:rPr>
              <a:t>This is an input signal used by the master device to select the SPI module in slave mode.</a:t>
            </a:r>
          </a:p>
          <a:p>
            <a:pPr lvl="1" eaLnBrk="1" hangingPunct="1">
              <a:lnSpc>
                <a:spcPct val="100000"/>
              </a:lnSpc>
              <a:spcBef>
                <a:spcPct val="0"/>
              </a:spcBef>
            </a:pPr>
            <a:r>
              <a:rPr lang="zh-CN" altLang="en-US" sz="1600" dirty="0">
                <a:solidFill>
                  <a:srgbClr val="FF0000"/>
                </a:solidFill>
              </a:rPr>
              <a:t>In master mode</a:t>
            </a:r>
            <a:r>
              <a:rPr lang="zh-CN" altLang="en-US" sz="1600" dirty="0">
                <a:solidFill>
                  <a:schemeClr val="tx1"/>
                </a:solidFill>
              </a:rPr>
              <a:t>, the SPI interface functions as a single host (only one host is permitted), eliminating the need for host selection. </a:t>
            </a:r>
            <a:r>
              <a:rPr lang="zh-CN" altLang="en-US" sz="1600" dirty="0">
                <a:solidFill>
                  <a:srgbClr val="FF00FF"/>
                </a:solidFill>
              </a:rPr>
              <a:t>The /SS pin </a:t>
            </a:r>
            <a:r>
              <a:rPr lang="zh-CN" altLang="en-US" sz="1600" dirty="0">
                <a:solidFill>
                  <a:srgbClr val="0000FF"/>
                </a:solidFill>
              </a:rPr>
              <a:t>is not required in this mode</a:t>
            </a:r>
            <a:r>
              <a:rPr lang="zh-CN" altLang="en-US" sz="1600" dirty="0">
                <a:solidFill>
                  <a:srgbClr val="FF00FF"/>
                </a:solidFill>
              </a:rPr>
              <a:t>. </a:t>
            </a:r>
            <a:r>
              <a:rPr lang="zh-CN" altLang="en-US" sz="1600" dirty="0">
                <a:solidFill>
                  <a:schemeClr val="tx1"/>
                </a:solidFill>
              </a:rPr>
              <a:t>Typically, </a:t>
            </a:r>
            <a:r>
              <a:rPr lang="zh-CN" altLang="en-US" sz="1600" dirty="0">
                <a:solidFill>
                  <a:srgbClr val="0000FF"/>
                </a:solidFill>
              </a:rPr>
              <a:t>the hosts </a:t>
            </a:r>
            <a:r>
              <a:rPr lang="zh-CN" altLang="en-US" sz="1600" dirty="0">
                <a:solidFill>
                  <a:srgbClr val="FF00FF"/>
                </a:solidFill>
              </a:rPr>
              <a:t>/SS pin </a:t>
            </a:r>
            <a:r>
              <a:rPr lang="zh-CN" altLang="en-US" sz="1600" dirty="0">
                <a:solidFill>
                  <a:srgbClr val="0000FF"/>
                </a:solidFill>
              </a:rPr>
              <a:t>is pulled up to a high level through a 10kΩ resistor. Each slaves /SS pin connects to the hosts I/O port, </a:t>
            </a:r>
            <a:r>
              <a:rPr lang="zh-CN" altLang="en-US" sz="1600" dirty="0">
                <a:solidFill>
                  <a:schemeClr val="tx1"/>
                </a:solidFill>
              </a:rPr>
              <a:t>with the host controlling the pins voltage level </a:t>
            </a:r>
            <a:r>
              <a:rPr lang="zh-CN" altLang="en-US" sz="1600" dirty="0">
                <a:solidFill>
                  <a:srgbClr val="FF00FF"/>
                </a:solidFill>
              </a:rPr>
              <a:t>to select the slave.</a:t>
            </a:r>
          </a:p>
          <a:p>
            <a:pPr lvl="1" eaLnBrk="1" hangingPunct="1">
              <a:lnSpc>
                <a:spcPct val="100000"/>
              </a:lnSpc>
              <a:spcBef>
                <a:spcPct val="0"/>
              </a:spcBef>
            </a:pPr>
            <a:r>
              <a:rPr lang="zh-CN" altLang="en-US" sz="1600" dirty="0">
                <a:solidFill>
                  <a:srgbClr val="FF0000"/>
                </a:solidFill>
              </a:rPr>
              <a:t>In slave mode</a:t>
            </a:r>
            <a:r>
              <a:rPr lang="zh-CN" altLang="en-US" sz="1600" dirty="0">
                <a:solidFill>
                  <a:schemeClr val="tx1"/>
                </a:solidFill>
              </a:rPr>
              <a:t>, </a:t>
            </a:r>
            <a:r>
              <a:rPr lang="zh-CN" altLang="en-US" sz="1600" dirty="0">
                <a:solidFill>
                  <a:srgbClr val="FF00FF"/>
                </a:solidFill>
              </a:rPr>
              <a:t>the /SS</a:t>
            </a:r>
            <a:r>
              <a:rPr lang="zh-CN" altLang="en-US" sz="1600" dirty="0">
                <a:solidFill>
                  <a:srgbClr val="0000FF"/>
                </a:solidFill>
              </a:rPr>
              <a:t> signal must be active</a:t>
            </a:r>
            <a:r>
              <a:rPr lang="zh-CN" altLang="en-US" sz="1600" dirty="0">
                <a:solidFill>
                  <a:schemeClr val="tx1"/>
                </a:solidFill>
              </a:rPr>
              <a:t> for both sending and receiving. Therefore, the /SS signal must be pulled low before initiating data transfer. </a:t>
            </a:r>
            <a:r>
              <a:rPr lang="zh-CN" altLang="en-US" sz="1600" dirty="0">
                <a:solidFill>
                  <a:srgbClr val="0000FF"/>
                </a:solidFill>
              </a:rPr>
              <a:t>The SPI master can select a SPI device </a:t>
            </a:r>
            <a:r>
              <a:rPr lang="zh-CN" altLang="en-US" sz="1600" dirty="0">
                <a:solidFill>
                  <a:srgbClr val="FF00FF"/>
                </a:solidFill>
              </a:rPr>
              <a:t>(set /SS=0) </a:t>
            </a:r>
            <a:r>
              <a:rPr lang="zh-CN" altLang="en-US" sz="1600" dirty="0">
                <a:solidFill>
                  <a:srgbClr val="0000FF"/>
                </a:solidFill>
              </a:rPr>
              <a:t>as the current slave through its I/O port.</a:t>
            </a:r>
          </a:p>
        </p:txBody>
      </p:sp>
      <p:graphicFrame>
        <p:nvGraphicFramePr>
          <p:cNvPr id="873482" name="Object 10"/>
          <p:cNvGraphicFramePr>
            <a:graphicFrameLocks noChangeAspect="1"/>
          </p:cNvGraphicFramePr>
          <p:nvPr>
            <p:extLst>
              <p:ext uri="{D42A27DB-BD31-4B8C-83A1-F6EECF244321}">
                <p14:modId xmlns:p14="http://schemas.microsoft.com/office/powerpoint/2010/main" val="3184974744"/>
              </p:ext>
            </p:extLst>
          </p:nvPr>
        </p:nvGraphicFramePr>
        <p:xfrm>
          <a:off x="4932363" y="541852"/>
          <a:ext cx="523875" cy="546100"/>
        </p:xfrm>
        <a:graphic>
          <a:graphicData uri="http://schemas.openxmlformats.org/presentationml/2006/ole">
            <mc:AlternateContent xmlns:mc="http://schemas.openxmlformats.org/markup-compatibility/2006">
              <mc:Choice xmlns:v="urn:schemas-microsoft-com:vml" Requires="v">
                <p:oleObj name="Equation" r:id="rId2" imgW="203200" imgH="215900" progId="Equation.DSMT4">
                  <p:embed/>
                </p:oleObj>
              </mc:Choice>
              <mc:Fallback>
                <p:oleObj name="Equation" r:id="rId2" imgW="203200" imgH="215900" progId="Equation.DSMT4">
                  <p:embed/>
                  <p:pic>
                    <p:nvPicPr>
                      <p:cNvPr id="873482"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363" y="541852"/>
                        <a:ext cx="523875"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4" name="Picture 6" descr="D:\DOCUME~1\ADMINI~1\LOCALS~1\Temp\HS5ClipImage_5697eeab.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0194" y="4010242"/>
            <a:ext cx="6746875" cy="22066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12"/>
          </p:nvPr>
        </p:nvSpPr>
        <p:spPr/>
        <p:txBody>
          <a:bodyPr/>
          <a:lstStyle/>
          <a:p>
            <a:fld id="{22E77DEE-32E4-4009-988B-F2758F7B8AC2}" type="slidenum">
              <a:rPr lang="zh-CN" altLang="en-US" smtClean="0"/>
              <a:t>72</a:t>
            </a:fld>
            <a:endParaRPr lang="zh-CN"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noChangeArrowheads="1"/>
          </p:cNvSpPr>
          <p:nvPr>
            <p:ph type="title"/>
          </p:nvPr>
        </p:nvSpPr>
        <p:spPr>
          <a:xfrm>
            <a:off x="554182" y="286605"/>
            <a:ext cx="8081818" cy="831478"/>
          </a:xfrm>
        </p:spPr>
        <p:txBody>
          <a:bodyPr>
            <a:normAutofit/>
          </a:bodyPr>
          <a:lstStyle/>
          <a:p>
            <a:r>
              <a:rPr lang="en-US" altLang="zh-CN" sz="3600" dirty="0"/>
              <a:t>3. SPI interface data communication</a:t>
            </a:r>
            <a:endParaRPr lang="zh-CN" altLang="en-US" sz="3600" dirty="0"/>
          </a:p>
        </p:txBody>
      </p:sp>
      <p:sp>
        <p:nvSpPr>
          <p:cNvPr id="691203" name="Rectangle 3"/>
          <p:cNvSpPr>
            <a:spLocks noGrp="1" noChangeArrowheads="1"/>
          </p:cNvSpPr>
          <p:nvPr>
            <p:ph idx="1"/>
          </p:nvPr>
        </p:nvSpPr>
        <p:spPr>
          <a:xfrm>
            <a:off x="808037" y="1238002"/>
            <a:ext cx="7527925" cy="2190998"/>
          </a:xfrm>
        </p:spPr>
        <p:txBody>
          <a:bodyPr>
            <a:normAutofit lnSpcReduction="10000"/>
          </a:bodyPr>
          <a:lstStyle/>
          <a:p>
            <a:pPr eaLnBrk="1" hangingPunct="1">
              <a:lnSpc>
                <a:spcPct val="110000"/>
              </a:lnSpc>
              <a:spcAft>
                <a:spcPts val="0"/>
              </a:spcAft>
              <a:buFontTx/>
              <a:buNone/>
              <a:defRPr/>
            </a:pPr>
            <a:r>
              <a:rPr lang="zh-CN" altLang="en-US" dirty="0">
                <a:solidFill>
                  <a:srgbClr val="FF0000"/>
                </a:solidFill>
              </a:rPr>
              <a:t>(2) SPI interface data communication method</a:t>
            </a:r>
          </a:p>
          <a:p>
            <a:pPr eaLnBrk="1" hangingPunct="1">
              <a:lnSpc>
                <a:spcPct val="110000"/>
              </a:lnSpc>
              <a:spcAft>
                <a:spcPts val="0"/>
              </a:spcAft>
              <a:defRPr/>
            </a:pPr>
            <a:r>
              <a:rPr lang="en-US" altLang="zh-CN" dirty="0"/>
              <a:t>The IAP15W4K58S4 microcontroller </a:t>
            </a:r>
            <a:r>
              <a:rPr lang="en-US" altLang="zh-CN" dirty="0">
                <a:solidFill>
                  <a:srgbClr val="0000FF"/>
                </a:solidFill>
              </a:rPr>
              <a:t>supports three SPI interface data communication modes:</a:t>
            </a:r>
          </a:p>
          <a:p>
            <a:pPr lvl="1" eaLnBrk="1" hangingPunct="1">
              <a:lnSpc>
                <a:spcPct val="110000"/>
              </a:lnSpc>
              <a:spcAft>
                <a:spcPts val="0"/>
              </a:spcAft>
              <a:defRPr/>
            </a:pPr>
            <a:r>
              <a:rPr lang="zh-CN" altLang="en-US" dirty="0">
                <a:solidFill>
                  <a:srgbClr val="3333FF"/>
                </a:solidFill>
              </a:rPr>
              <a:t>Single master-single slave</a:t>
            </a:r>
          </a:p>
          <a:p>
            <a:pPr lvl="1" eaLnBrk="1" hangingPunct="1">
              <a:lnSpc>
                <a:spcPct val="110000"/>
              </a:lnSpc>
              <a:spcAft>
                <a:spcPts val="0"/>
              </a:spcAft>
              <a:defRPr/>
            </a:pPr>
            <a:r>
              <a:rPr lang="zh-CN" altLang="en-US" dirty="0">
                <a:solidFill>
                  <a:srgbClr val="3333FF"/>
                </a:solidFill>
                <a:cs typeface="+mn-cs"/>
              </a:rPr>
              <a:t>Dual-device mode (devices can act as hosts or slaves)</a:t>
            </a:r>
          </a:p>
          <a:p>
            <a:pPr lvl="1" eaLnBrk="1" hangingPunct="1">
              <a:lnSpc>
                <a:spcPct val="110000"/>
              </a:lnSpc>
              <a:spcAft>
                <a:spcPts val="0"/>
              </a:spcAft>
              <a:defRPr/>
            </a:pPr>
            <a:r>
              <a:rPr lang="zh-CN" altLang="en-US" dirty="0">
                <a:solidFill>
                  <a:srgbClr val="3333FF"/>
                </a:solidFill>
                <a:cs typeface="+mn-cs"/>
              </a:rPr>
              <a:t>Single master, multiple slaves.</a:t>
            </a:r>
            <a:endParaRPr lang="zh-CN" altLang="en-US" dirty="0"/>
          </a:p>
        </p:txBody>
      </p:sp>
      <p:sp>
        <p:nvSpPr>
          <p:cNvPr id="6" name="Rectangle 3"/>
          <p:cNvSpPr txBox="1">
            <a:spLocks noChangeArrowheads="1"/>
          </p:cNvSpPr>
          <p:nvPr/>
        </p:nvSpPr>
        <p:spPr bwMode="auto">
          <a:xfrm>
            <a:off x="91282" y="3294063"/>
            <a:ext cx="5319712"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just">
              <a:lnSpc>
                <a:spcPct val="114000"/>
              </a:lnSpc>
              <a:spcAft>
                <a:spcPts val="600"/>
              </a:spcAft>
              <a:buBlip>
                <a:blip r:embed="rId2"/>
              </a:buBlip>
              <a:defRPr sz="2800" b="1">
                <a:solidFill>
                  <a:schemeClr val="accent2"/>
                </a:solidFill>
                <a:latin typeface="Times New Roman" panose="02020603050405020304" pitchFamily="18" charset="0"/>
                <a:ea typeface="宋体" panose="02010600030101010101" pitchFamily="2" charset="-122"/>
              </a:defRPr>
            </a:lvl1pPr>
            <a:lvl2pPr marL="263525" indent="-180975" algn="just">
              <a:lnSpc>
                <a:spcPct val="114000"/>
              </a:lnSpc>
              <a:spcAft>
                <a:spcPts val="600"/>
              </a:spcAft>
              <a:buBlip>
                <a:blip r:embed="rId3"/>
              </a:buBlip>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9pPr>
          </a:lstStyle>
          <a:p>
            <a:pPr algn="l" eaLnBrk="1" hangingPunct="1">
              <a:buFontTx/>
              <a:buNone/>
            </a:pPr>
            <a:r>
              <a:rPr lang="en-US" altLang="zh-CN" sz="2400" dirty="0">
                <a:solidFill>
                  <a:srgbClr val="FF0000"/>
                </a:solidFill>
                <a:latin typeface="+mn-lt"/>
              </a:rPr>
              <a:t>1) Single master-slave configuration</a:t>
            </a:r>
          </a:p>
        </p:txBody>
      </p:sp>
      <p:sp>
        <p:nvSpPr>
          <p:cNvPr id="8" name="Rectangle 3"/>
          <p:cNvSpPr txBox="1">
            <a:spLocks noChangeArrowheads="1"/>
          </p:cNvSpPr>
          <p:nvPr/>
        </p:nvSpPr>
        <p:spPr bwMode="auto">
          <a:xfrm>
            <a:off x="5410994" y="3281363"/>
            <a:ext cx="2844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just">
              <a:lnSpc>
                <a:spcPct val="114000"/>
              </a:lnSpc>
              <a:spcAft>
                <a:spcPts val="600"/>
              </a:spcAft>
              <a:buBlip>
                <a:blip r:embed="rId2"/>
              </a:buBlip>
              <a:defRPr sz="2800" b="1">
                <a:solidFill>
                  <a:schemeClr val="accent2"/>
                </a:solidFill>
                <a:latin typeface="Times New Roman" panose="02020603050405020304" pitchFamily="18" charset="0"/>
                <a:ea typeface="宋体" panose="02010600030101010101" pitchFamily="2" charset="-122"/>
              </a:defRPr>
            </a:lvl1pPr>
            <a:lvl2pPr marL="263525" indent="-180975" algn="just">
              <a:lnSpc>
                <a:spcPct val="114000"/>
              </a:lnSpc>
              <a:spcAft>
                <a:spcPts val="600"/>
              </a:spcAft>
              <a:buBlip>
                <a:blip r:embed="rId3"/>
              </a:buBlip>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dirty="0">
                <a:latin typeface="+mn-lt"/>
              </a:rPr>
              <a:t>The connection is shown in the figure.</a:t>
            </a:r>
          </a:p>
          <a:p>
            <a:pPr algn="l" eaLnBrk="1" hangingPunct="1"/>
            <a:endParaRPr lang="en-US" altLang="zh-CN" dirty="0">
              <a:latin typeface="+mn-lt"/>
            </a:endParaRPr>
          </a:p>
        </p:txBody>
      </p:sp>
      <p:pic>
        <p:nvPicPr>
          <p:cNvPr id="409606" name="Picture 6" descr="D:\DOCUME~1\ADMINI~1\LOCALS~1\Temp\HS5ClipImage_5697eeab.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1063" y="3821113"/>
            <a:ext cx="7527925" cy="246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9" name="矩形 9">
            <a:hlinkClick r:id="rId5" action="ppaction://hlinksldjump"/>
          </p:cNvPr>
          <p:cNvSpPr>
            <a:spLocks noChangeArrowheads="1"/>
          </p:cNvSpPr>
          <p:nvPr/>
        </p:nvSpPr>
        <p:spPr bwMode="auto">
          <a:xfrm>
            <a:off x="458788" y="2441575"/>
            <a:ext cx="6153150" cy="317500"/>
          </a:xfrm>
          <a:prstGeom prst="rect">
            <a:avLst/>
          </a:prstGeom>
          <a:solidFill>
            <a:srgbClr val="00FFCC">
              <a:alpha val="3137"/>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0730" name="矩形 10">
            <a:hlinkClick r:id="rId6" action="ppaction://hlinksldjump"/>
          </p:cNvPr>
          <p:cNvSpPr>
            <a:spLocks noChangeArrowheads="1"/>
          </p:cNvSpPr>
          <p:nvPr/>
        </p:nvSpPr>
        <p:spPr bwMode="auto">
          <a:xfrm>
            <a:off x="458788" y="2900363"/>
            <a:ext cx="3321050" cy="317500"/>
          </a:xfrm>
          <a:prstGeom prst="rect">
            <a:avLst/>
          </a:prstGeom>
          <a:solidFill>
            <a:srgbClr val="00FFCC">
              <a:alpha val="3137"/>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 name="灯片编号占位符 1"/>
          <p:cNvSpPr>
            <a:spLocks noGrp="1"/>
          </p:cNvSpPr>
          <p:nvPr>
            <p:ph type="sldNum" sz="quarter" idx="12"/>
          </p:nvPr>
        </p:nvSpPr>
        <p:spPr/>
        <p:txBody>
          <a:bodyPr/>
          <a:lstStyle/>
          <a:p>
            <a:fld id="{22E77DEE-32E4-4009-988B-F2758F7B8AC2}" type="slidenum">
              <a:rPr lang="zh-CN" altLang="en-US" smtClean="0"/>
              <a:t>73</a:t>
            </a:fld>
            <a:endParaRPr lang="zh-CN"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noChangeArrowheads="1"/>
          </p:cNvSpPr>
          <p:nvPr>
            <p:ph type="title"/>
          </p:nvPr>
        </p:nvSpPr>
        <p:spPr>
          <a:xfrm>
            <a:off x="822960" y="286605"/>
            <a:ext cx="7822276" cy="831478"/>
          </a:xfrm>
        </p:spPr>
        <p:txBody>
          <a:bodyPr>
            <a:normAutofit/>
          </a:bodyPr>
          <a:lstStyle/>
          <a:p>
            <a:pPr eaLnBrk="1" hangingPunct="1"/>
            <a:r>
              <a:rPr lang="en-US" altLang="zh-CN" sz="3600" dirty="0">
                <a:solidFill>
                  <a:srgbClr val="FF0000"/>
                </a:solidFill>
              </a:rPr>
              <a:t>1) Single master-slave configuration</a:t>
            </a:r>
          </a:p>
        </p:txBody>
      </p:sp>
      <p:sp>
        <p:nvSpPr>
          <p:cNvPr id="877571" name="Rectangle 3"/>
          <p:cNvSpPr>
            <a:spLocks noGrp="1" noChangeArrowheads="1"/>
          </p:cNvSpPr>
          <p:nvPr>
            <p:ph idx="1"/>
          </p:nvPr>
        </p:nvSpPr>
        <p:spPr>
          <a:xfrm>
            <a:off x="533401" y="1271105"/>
            <a:ext cx="8677276" cy="1181100"/>
          </a:xfrm>
        </p:spPr>
        <p:txBody>
          <a:bodyPr>
            <a:normAutofit/>
          </a:bodyPr>
          <a:lstStyle/>
          <a:p>
            <a:pPr marL="176530" indent="-176530" eaLnBrk="1" hangingPunct="1">
              <a:spcBef>
                <a:spcPct val="0"/>
              </a:spcBef>
              <a:buSzPct val="60000"/>
            </a:pPr>
            <a:r>
              <a:rPr lang="zh-CN" altLang="en-US" dirty="0"/>
              <a:t>In the diagram, </a:t>
            </a:r>
            <a:r>
              <a:rPr lang="zh-CN" altLang="en-US" dirty="0">
                <a:solidFill>
                  <a:srgbClr val="00B0F0"/>
                </a:solidFill>
              </a:rPr>
              <a:t>the slave SSIG</a:t>
            </a:r>
            <a:r>
              <a:rPr lang="zh-CN" altLang="en-US" dirty="0">
                <a:solidFill>
                  <a:srgbClr val="0000FF"/>
                </a:solidFill>
              </a:rPr>
              <a:t> (SPCTL.7) is set to 0 </a:t>
            </a:r>
            <a:r>
              <a:rPr lang="zh-CN" altLang="en-US" dirty="0"/>
              <a:t>and not ignored        , which is used to select the slave.</a:t>
            </a:r>
          </a:p>
          <a:p>
            <a:pPr marL="176530" indent="-176530" eaLnBrk="1" hangingPunct="1">
              <a:spcBef>
                <a:spcPct val="0"/>
              </a:spcBef>
              <a:buSzPct val="60000"/>
            </a:pPr>
            <a:r>
              <a:rPr lang="en-US" altLang="zh-CN" dirty="0"/>
              <a:t>The SPI host can control the slaves       pins using any port bit </a:t>
            </a:r>
            <a:r>
              <a:rPr lang="en-US" altLang="zh-CN" dirty="0">
                <a:solidFill>
                  <a:srgbClr val="FF00FF"/>
                </a:solidFill>
              </a:rPr>
              <a:t>(including P1.2/      ).</a:t>
            </a:r>
            <a:endParaRPr lang="zh-CN" altLang="en-US" dirty="0">
              <a:solidFill>
                <a:srgbClr val="FF00FF"/>
              </a:solidFill>
            </a:endParaRPr>
          </a:p>
        </p:txBody>
      </p:sp>
      <p:graphicFrame>
        <p:nvGraphicFramePr>
          <p:cNvPr id="877581" name="Object 13"/>
          <p:cNvGraphicFramePr>
            <a:graphicFrameLocks noChangeAspect="1"/>
          </p:cNvGraphicFramePr>
          <p:nvPr/>
        </p:nvGraphicFramePr>
        <p:xfrm>
          <a:off x="280988" y="2093730"/>
          <a:ext cx="8677275" cy="3328958"/>
        </p:xfrm>
        <a:graphic>
          <a:graphicData uri="http://schemas.openxmlformats.org/presentationml/2006/ole">
            <mc:AlternateContent xmlns:mc="http://schemas.openxmlformats.org/markup-compatibility/2006">
              <mc:Choice xmlns:v="urn:schemas-microsoft-com:vml" Requires="v">
                <p:oleObj name="Visio" r:id="rId2" imgW="3406775" imgH="1308735" progId="Visio.Drawing.11">
                  <p:embed/>
                </p:oleObj>
              </mc:Choice>
              <mc:Fallback>
                <p:oleObj name="Visio" r:id="rId2" imgW="3406775" imgH="1308735" progId="Visio.Drawing.11">
                  <p:embed/>
                  <p:pic>
                    <p:nvPicPr>
                      <p:cNvPr id="877581"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988" y="2093730"/>
                        <a:ext cx="8677275" cy="3328958"/>
                      </a:xfrm>
                      <a:prstGeom prst="rect">
                        <a:avLst/>
                      </a:prstGeom>
                      <a:noFill/>
                      <a:ln>
                        <a:noFill/>
                      </a:ln>
                    </p:spPr>
                  </p:pic>
                </p:oleObj>
              </mc:Fallback>
            </mc:AlternateContent>
          </a:graphicData>
        </a:graphic>
      </p:graphicFrame>
      <p:graphicFrame>
        <p:nvGraphicFramePr>
          <p:cNvPr id="33796" name="Object 18"/>
          <p:cNvGraphicFramePr>
            <a:graphicFrameLocks noChangeAspect="1"/>
          </p:cNvGraphicFramePr>
          <p:nvPr>
            <p:extLst>
              <p:ext uri="{D42A27DB-BD31-4B8C-83A1-F6EECF244321}">
                <p14:modId xmlns:p14="http://schemas.microsoft.com/office/powerpoint/2010/main" val="291738845"/>
              </p:ext>
            </p:extLst>
          </p:nvPr>
        </p:nvGraphicFramePr>
        <p:xfrm>
          <a:off x="7605461" y="1258653"/>
          <a:ext cx="311892" cy="325591"/>
        </p:xfrm>
        <a:graphic>
          <a:graphicData uri="http://schemas.openxmlformats.org/presentationml/2006/ole">
            <mc:AlternateContent xmlns:mc="http://schemas.openxmlformats.org/markup-compatibility/2006">
              <mc:Choice xmlns:v="urn:schemas-microsoft-com:vml" Requires="v">
                <p:oleObj name="Equation" r:id="rId4" imgW="203200" imgH="215900" progId="Equation.DSMT4">
                  <p:embed/>
                </p:oleObj>
              </mc:Choice>
              <mc:Fallback>
                <p:oleObj name="Equation" r:id="rId4" imgW="203200" imgH="215900" progId="Equation.DSMT4">
                  <p:embed/>
                  <p:pic>
                    <p:nvPicPr>
                      <p:cNvPr id="33796"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05461" y="1258653"/>
                        <a:ext cx="311892" cy="325591"/>
                      </a:xfrm>
                      <a:prstGeom prst="rect">
                        <a:avLst/>
                      </a:prstGeom>
                      <a:noFill/>
                      <a:ln>
                        <a:noFill/>
                      </a:ln>
                    </p:spPr>
                  </p:pic>
                </p:oleObj>
              </mc:Fallback>
            </mc:AlternateContent>
          </a:graphicData>
        </a:graphic>
      </p:graphicFrame>
      <p:sp>
        <p:nvSpPr>
          <p:cNvPr id="33800" name="Rectangle 8"/>
          <p:cNvSpPr>
            <a:spLocks noChangeArrowheads="1"/>
          </p:cNvSpPr>
          <p:nvPr/>
        </p:nvSpPr>
        <p:spPr bwMode="auto">
          <a:xfrm>
            <a:off x="2718537" y="2126103"/>
            <a:ext cx="3909275" cy="338554"/>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b="1" dirty="0">
                <a:solidFill>
                  <a:srgbClr val="800000"/>
                </a:solidFill>
                <a:latin typeface="+mn-lt"/>
              </a:rPr>
              <a:t>SPI interface single master-slave connection</a:t>
            </a:r>
            <a:endParaRPr lang="zh-CN" altLang="en-US" sz="1600" b="1" dirty="0">
              <a:solidFill>
                <a:srgbClr val="FF00FF"/>
              </a:solidFill>
              <a:latin typeface="+mn-lt"/>
            </a:endParaRPr>
          </a:p>
        </p:txBody>
      </p:sp>
      <p:graphicFrame>
        <p:nvGraphicFramePr>
          <p:cNvPr id="9" name="Object 18"/>
          <p:cNvGraphicFramePr>
            <a:graphicFrameLocks noChangeAspect="1"/>
          </p:cNvGraphicFramePr>
          <p:nvPr>
            <p:extLst>
              <p:ext uri="{D42A27DB-BD31-4B8C-83A1-F6EECF244321}">
                <p14:modId xmlns:p14="http://schemas.microsoft.com/office/powerpoint/2010/main" val="464109695"/>
              </p:ext>
            </p:extLst>
          </p:nvPr>
        </p:nvGraphicFramePr>
        <p:xfrm>
          <a:off x="4295177" y="1815879"/>
          <a:ext cx="324448" cy="338554"/>
        </p:xfrm>
        <a:graphic>
          <a:graphicData uri="http://schemas.openxmlformats.org/presentationml/2006/ole">
            <mc:AlternateContent xmlns:mc="http://schemas.openxmlformats.org/markup-compatibility/2006">
              <mc:Choice xmlns:v="urn:schemas-microsoft-com:vml" Requires="v">
                <p:oleObj name="Equation" r:id="rId6" imgW="203200" imgH="215900" progId="Equation.DSMT4">
                  <p:embed/>
                </p:oleObj>
              </mc:Choice>
              <mc:Fallback>
                <p:oleObj name="Equation" r:id="rId6" imgW="203200" imgH="215900" progId="Equation.DSMT4">
                  <p:embed/>
                  <p:pic>
                    <p:nvPicPr>
                      <p:cNvPr id="9" name="Object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95177" y="1815879"/>
                        <a:ext cx="324448" cy="338554"/>
                      </a:xfrm>
                      <a:prstGeom prst="rect">
                        <a:avLst/>
                      </a:prstGeom>
                      <a:noFill/>
                      <a:ln>
                        <a:noFill/>
                      </a:ln>
                    </p:spPr>
                  </p:pic>
                </p:oleObj>
              </mc:Fallback>
            </mc:AlternateContent>
          </a:graphicData>
        </a:graphic>
      </p:graphicFrame>
      <p:sp>
        <p:nvSpPr>
          <p:cNvPr id="12" name="Rectangle 8"/>
          <p:cNvSpPr>
            <a:spLocks noChangeArrowheads="1"/>
          </p:cNvSpPr>
          <p:nvPr/>
        </p:nvSpPr>
        <p:spPr bwMode="auto">
          <a:xfrm>
            <a:off x="325877" y="4821029"/>
            <a:ext cx="2502608" cy="338554"/>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dirty="0">
                <a:solidFill>
                  <a:srgbClr val="FF00FF"/>
                </a:solidFill>
              </a:rPr>
              <a:t>Set as output mode P1.2/</a:t>
            </a:r>
            <a:endParaRPr lang="zh-CN" altLang="en-US" sz="1600" b="1" dirty="0">
              <a:solidFill>
                <a:srgbClr val="800000"/>
              </a:solidFill>
            </a:endParaRPr>
          </a:p>
        </p:txBody>
      </p:sp>
      <p:graphicFrame>
        <p:nvGraphicFramePr>
          <p:cNvPr id="13" name="Object 17"/>
          <p:cNvGraphicFramePr>
            <a:graphicFrameLocks noChangeAspect="1"/>
          </p:cNvGraphicFramePr>
          <p:nvPr>
            <p:extLst>
              <p:ext uri="{D42A27DB-BD31-4B8C-83A1-F6EECF244321}">
                <p14:modId xmlns:p14="http://schemas.microsoft.com/office/powerpoint/2010/main" val="2186825059"/>
              </p:ext>
            </p:extLst>
          </p:nvPr>
        </p:nvGraphicFramePr>
        <p:xfrm>
          <a:off x="2702826" y="4805153"/>
          <a:ext cx="341096" cy="355809"/>
        </p:xfrm>
        <a:graphic>
          <a:graphicData uri="http://schemas.openxmlformats.org/presentationml/2006/ole">
            <mc:AlternateContent xmlns:mc="http://schemas.openxmlformats.org/markup-compatibility/2006">
              <mc:Choice xmlns:v="urn:schemas-microsoft-com:vml" Requires="v">
                <p:oleObj name="Equation" r:id="rId8" imgW="203200" imgH="215900" progId="Equation.DSMT4">
                  <p:embed/>
                </p:oleObj>
              </mc:Choice>
              <mc:Fallback>
                <p:oleObj name="Equation" r:id="rId8" imgW="203200" imgH="215900" progId="Equation.DSMT4">
                  <p:embed/>
                  <p:pic>
                    <p:nvPicPr>
                      <p:cNvPr id="13" name="Object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02826" y="4805153"/>
                        <a:ext cx="341096" cy="355809"/>
                      </a:xfrm>
                      <a:prstGeom prst="rect">
                        <a:avLst/>
                      </a:prstGeom>
                      <a:noFill/>
                      <a:ln>
                        <a:noFill/>
                      </a:ln>
                    </p:spPr>
                  </p:pic>
                </p:oleObj>
              </mc:Fallback>
            </mc:AlternateContent>
          </a:graphicData>
        </a:graphic>
      </p:graphicFrame>
      <p:sp>
        <p:nvSpPr>
          <p:cNvPr id="14" name="Rectangle 8"/>
          <p:cNvSpPr>
            <a:spLocks noChangeArrowheads="1"/>
          </p:cNvSpPr>
          <p:nvPr/>
        </p:nvSpPr>
        <p:spPr bwMode="auto">
          <a:xfrm>
            <a:off x="1689897" y="5074027"/>
            <a:ext cx="1279517" cy="338554"/>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dirty="0">
                <a:solidFill>
                  <a:srgbClr val="FF00FF"/>
                </a:solidFill>
              </a:rPr>
              <a:t>or P1.5 pins</a:t>
            </a:r>
            <a:endParaRPr lang="zh-CN" altLang="en-US" sz="1600" b="1" dirty="0">
              <a:solidFill>
                <a:srgbClr val="800000"/>
              </a:solidFill>
            </a:endParaRPr>
          </a:p>
        </p:txBody>
      </p:sp>
      <p:graphicFrame>
        <p:nvGraphicFramePr>
          <p:cNvPr id="15" name="Group 232"/>
          <p:cNvGraphicFramePr>
            <a:graphicFrameLocks noGrp="1"/>
          </p:cNvGraphicFramePr>
          <p:nvPr>
            <p:extLst>
              <p:ext uri="{D42A27DB-BD31-4B8C-83A1-F6EECF244321}">
                <p14:modId xmlns:p14="http://schemas.microsoft.com/office/powerpoint/2010/main" val="1381773974"/>
              </p:ext>
            </p:extLst>
          </p:nvPr>
        </p:nvGraphicFramePr>
        <p:xfrm>
          <a:off x="146684" y="5655053"/>
          <a:ext cx="8896352" cy="622618"/>
        </p:xfrm>
        <a:graphic>
          <a:graphicData uri="http://schemas.openxmlformats.org/drawingml/2006/table">
            <a:tbl>
              <a:tblPr/>
              <a:tblGrid>
                <a:gridCol w="1017053">
                  <a:extLst>
                    <a:ext uri="{9D8B030D-6E8A-4147-A177-3AD203B41FA5}">
                      <a16:colId xmlns:a16="http://schemas.microsoft.com/office/drawing/2014/main" val="20000"/>
                    </a:ext>
                  </a:extLst>
                </a:gridCol>
                <a:gridCol w="899242">
                  <a:extLst>
                    <a:ext uri="{9D8B030D-6E8A-4147-A177-3AD203B41FA5}">
                      <a16:colId xmlns:a16="http://schemas.microsoft.com/office/drawing/2014/main" val="20001"/>
                    </a:ext>
                  </a:extLst>
                </a:gridCol>
                <a:gridCol w="950536">
                  <a:extLst>
                    <a:ext uri="{9D8B030D-6E8A-4147-A177-3AD203B41FA5}">
                      <a16:colId xmlns:a16="http://schemas.microsoft.com/office/drawing/2014/main" val="20002"/>
                    </a:ext>
                  </a:extLst>
                </a:gridCol>
                <a:gridCol w="1106595">
                  <a:extLst>
                    <a:ext uri="{9D8B030D-6E8A-4147-A177-3AD203B41FA5}">
                      <a16:colId xmlns:a16="http://schemas.microsoft.com/office/drawing/2014/main" val="20003"/>
                    </a:ext>
                  </a:extLst>
                </a:gridCol>
                <a:gridCol w="1049846">
                  <a:extLst>
                    <a:ext uri="{9D8B030D-6E8A-4147-A177-3AD203B41FA5}">
                      <a16:colId xmlns:a16="http://schemas.microsoft.com/office/drawing/2014/main" val="20004"/>
                    </a:ext>
                  </a:extLst>
                </a:gridCol>
                <a:gridCol w="1007284">
                  <a:extLst>
                    <a:ext uri="{9D8B030D-6E8A-4147-A177-3AD203B41FA5}">
                      <a16:colId xmlns:a16="http://schemas.microsoft.com/office/drawing/2014/main" val="20005"/>
                    </a:ext>
                  </a:extLst>
                </a:gridCol>
                <a:gridCol w="1049847">
                  <a:extLst>
                    <a:ext uri="{9D8B030D-6E8A-4147-A177-3AD203B41FA5}">
                      <a16:colId xmlns:a16="http://schemas.microsoft.com/office/drawing/2014/main" val="20006"/>
                    </a:ext>
                  </a:extLst>
                </a:gridCol>
                <a:gridCol w="893787">
                  <a:extLst>
                    <a:ext uri="{9D8B030D-6E8A-4147-A177-3AD203B41FA5}">
                      <a16:colId xmlns:a16="http://schemas.microsoft.com/office/drawing/2014/main" val="20007"/>
                    </a:ext>
                  </a:extLst>
                </a:gridCol>
                <a:gridCol w="922162">
                  <a:extLst>
                    <a:ext uri="{9D8B030D-6E8A-4147-A177-3AD203B41FA5}">
                      <a16:colId xmlns:a16="http://schemas.microsoft.com/office/drawing/2014/main" val="20008"/>
                    </a:ext>
                  </a:extLst>
                </a:gridCol>
              </a:tblGrid>
              <a:tr h="310357">
                <a:tc rowSpan="2">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lang="en-US" altLang="zh-CN" sz="2400" b="1" dirty="0">
                          <a:solidFill>
                            <a:srgbClr val="FF00FF"/>
                          </a:solidFill>
                        </a:rPr>
                        <a:t>SPCTL register</a:t>
                      </a:r>
                      <a:endParaRPr kumimoji="0" lang="zh-CN" altLang="en-US" sz="4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D7</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D6</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D5</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D4</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D3</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D2</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0357">
                <a:tc vMerge="1">
                  <a:txBody>
                    <a:bodyPr/>
                    <a:lstStyle/>
                    <a:p>
                      <a:endParaRPr lang="zh-CN"/>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18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SSIG</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1800" b="1" i="0" u="none" strike="noStrike" cap="none" normalizeH="0" baseline="0" dirty="0">
                          <a:ln>
                            <a:noFill/>
                          </a:ln>
                          <a:solidFill>
                            <a:srgbClr val="FF00FF"/>
                          </a:solidFill>
                          <a:effectLst/>
                          <a:latin typeface="Times New Roman" panose="02020603050405020304" pitchFamily="18" charset="0"/>
                          <a:ea typeface="宋体" panose="02010600030101010101" pitchFamily="2" charset="-122"/>
                          <a:cs typeface="Times New Roman" panose="02020603050405020304" pitchFamily="18" charset="0"/>
                        </a:rPr>
                        <a:t>SPEN</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DORD</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18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MSTR</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CPOL</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CPHA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SPR1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SPR0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6" name="灯片编号占位符 5"/>
          <p:cNvSpPr>
            <a:spLocks noGrp="1"/>
          </p:cNvSpPr>
          <p:nvPr>
            <p:ph type="sldNum" sz="quarter" idx="12"/>
          </p:nvPr>
        </p:nvSpPr>
        <p:spPr/>
        <p:txBody>
          <a:bodyPr/>
          <a:lstStyle/>
          <a:p>
            <a:fld id="{22E77DEE-32E4-4009-988B-F2758F7B8AC2}" type="slidenum">
              <a:rPr lang="zh-CN" altLang="en-US" smtClean="0"/>
              <a:t>74</a:t>
            </a:fld>
            <a:endParaRPr lang="zh-CN" altLang="en-US"/>
          </a:p>
        </p:txBody>
      </p:sp>
      <p:graphicFrame>
        <p:nvGraphicFramePr>
          <p:cNvPr id="2" name="Object 18">
            <a:extLst>
              <a:ext uri="{FF2B5EF4-FFF2-40B4-BE49-F238E27FC236}">
                <a16:creationId xmlns:a16="http://schemas.microsoft.com/office/drawing/2014/main" id="{2B4E6C13-1037-DF1C-A2C1-C875F56B4E9E}"/>
              </a:ext>
            </a:extLst>
          </p:cNvPr>
          <p:cNvGraphicFramePr>
            <a:graphicFrameLocks noChangeAspect="1"/>
          </p:cNvGraphicFramePr>
          <p:nvPr>
            <p:extLst>
              <p:ext uri="{D42A27DB-BD31-4B8C-83A1-F6EECF244321}">
                <p14:modId xmlns:p14="http://schemas.microsoft.com/office/powerpoint/2010/main" val="2080045727"/>
              </p:ext>
            </p:extLst>
          </p:nvPr>
        </p:nvGraphicFramePr>
        <p:xfrm>
          <a:off x="8610599" y="1815879"/>
          <a:ext cx="324448" cy="338554"/>
        </p:xfrm>
        <a:graphic>
          <a:graphicData uri="http://schemas.openxmlformats.org/presentationml/2006/ole">
            <mc:AlternateContent xmlns:mc="http://schemas.openxmlformats.org/markup-compatibility/2006">
              <mc:Choice xmlns:v="urn:schemas-microsoft-com:vml" Requires="v">
                <p:oleObj name="Equation" r:id="rId4" imgW="203200" imgH="215900" progId="Equation.DSMT4">
                  <p:embed/>
                </p:oleObj>
              </mc:Choice>
              <mc:Fallback>
                <p:oleObj name="Equation" r:id="rId4" imgW="203200" imgH="215900" progId="Equation.DSMT4">
                  <p:embed/>
                  <p:pic>
                    <p:nvPicPr>
                      <p:cNvPr id="33796"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10599" y="1815879"/>
                        <a:ext cx="324448" cy="338554"/>
                      </a:xfrm>
                      <a:prstGeom prst="rect">
                        <a:avLst/>
                      </a:prstGeom>
                      <a:noFill/>
                      <a:ln>
                        <a:noFill/>
                      </a:ln>
                    </p:spPr>
                  </p:pic>
                </p:oleObj>
              </mc:Fallback>
            </mc:AlternateContent>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title"/>
          </p:nvPr>
        </p:nvSpPr>
        <p:spPr>
          <a:xfrm>
            <a:off x="822959" y="286605"/>
            <a:ext cx="7933203" cy="831478"/>
          </a:xfrm>
        </p:spPr>
        <p:txBody>
          <a:bodyPr>
            <a:normAutofit/>
          </a:bodyPr>
          <a:lstStyle/>
          <a:p>
            <a:pPr eaLnBrk="1" hangingPunct="1"/>
            <a:r>
              <a:rPr lang="en-US" altLang="zh-CN" sz="3600" dirty="0">
                <a:solidFill>
                  <a:srgbClr val="FF0000"/>
                </a:solidFill>
              </a:rPr>
              <a:t>1) Single master-slave configuration</a:t>
            </a:r>
          </a:p>
        </p:txBody>
      </p:sp>
      <p:sp>
        <p:nvSpPr>
          <p:cNvPr id="693251" name="Rectangle 3"/>
          <p:cNvSpPr>
            <a:spLocks noGrp="1" noChangeArrowheads="1"/>
          </p:cNvSpPr>
          <p:nvPr>
            <p:ph idx="1"/>
          </p:nvPr>
        </p:nvSpPr>
        <p:spPr>
          <a:xfrm>
            <a:off x="704606" y="1166122"/>
            <a:ext cx="7933203" cy="2904696"/>
          </a:xfrm>
        </p:spPr>
        <p:txBody>
          <a:bodyPr>
            <a:normAutofit/>
          </a:bodyPr>
          <a:lstStyle/>
          <a:p>
            <a:pPr eaLnBrk="1" hangingPunct="1">
              <a:lnSpc>
                <a:spcPct val="95000"/>
              </a:lnSpc>
              <a:spcBef>
                <a:spcPct val="0"/>
              </a:spcBef>
            </a:pPr>
            <a:r>
              <a:rPr lang="zh-CN" altLang="en-US" sz="1800" dirty="0">
                <a:solidFill>
                  <a:schemeClr val="tx1"/>
                </a:solidFill>
              </a:rPr>
              <a:t>The 8-bit shift registers of the master SPI and slave SPI are interconnected to form </a:t>
            </a:r>
            <a:r>
              <a:rPr lang="zh-CN" altLang="en-US" sz="1800" dirty="0">
                <a:solidFill>
                  <a:srgbClr val="FF0000"/>
                </a:solidFill>
              </a:rPr>
              <a:t>a 16-bit shift register.</a:t>
            </a:r>
          </a:p>
          <a:p>
            <a:pPr eaLnBrk="1" hangingPunct="1">
              <a:lnSpc>
                <a:spcPct val="95000"/>
              </a:lnSpc>
              <a:spcBef>
                <a:spcPct val="0"/>
              </a:spcBef>
            </a:pPr>
            <a:r>
              <a:rPr lang="zh-CN" altLang="en-US" sz="1800" dirty="0">
                <a:solidFill>
                  <a:srgbClr val="FF00FF"/>
                </a:solidFill>
              </a:rPr>
              <a:t>When the host writes a byte to </a:t>
            </a:r>
            <a:r>
              <a:rPr lang="zh-CN" altLang="en-US" sz="1800" dirty="0">
                <a:solidFill>
                  <a:srgbClr val="FF0000"/>
                </a:solidFill>
              </a:rPr>
              <a:t>SPDAT,</a:t>
            </a:r>
            <a:r>
              <a:rPr lang="zh-CN" altLang="en-US" sz="1800" dirty="0">
                <a:solidFill>
                  <a:schemeClr val="tx1"/>
                </a:solidFill>
              </a:rPr>
              <a:t> </a:t>
            </a:r>
            <a:r>
              <a:rPr lang="zh-CN" altLang="en-US" sz="1800" dirty="0">
                <a:solidFill>
                  <a:srgbClr val="FF00FF"/>
                </a:solidFill>
              </a:rPr>
              <a:t>it initiates an 8-bit shift communication process: </a:t>
            </a:r>
            <a:r>
              <a:rPr lang="zh-CN" altLang="en-US" sz="1800" dirty="0">
                <a:solidFill>
                  <a:schemeClr val="tx1"/>
                </a:solidFill>
              </a:rPr>
              <a:t>The hosts SCLK pin sends a series of pulses to the slaves SCLK pin. </a:t>
            </a:r>
            <a:r>
              <a:rPr lang="zh-CN" altLang="en-US" sz="1800" dirty="0">
                <a:solidFill>
                  <a:srgbClr val="0000FF"/>
                </a:solidFill>
              </a:rPr>
              <a:t>Under the pulse-driven operation, data from the hosts SPI 8-bit shift register is transferred to the slaves SPI 8-bit shift register, while data from the slaves SPI 8-bit shift register is transferred to the hosts SPI 8-bit shift register. </a:t>
            </a:r>
            <a:r>
              <a:rPr lang="zh-CN" altLang="en-US" sz="1800" dirty="0">
                <a:solidFill>
                  <a:schemeClr val="tx1"/>
                </a:solidFill>
              </a:rPr>
              <a:t>This enables the host to both send data to the slave and read data from the slave.</a:t>
            </a:r>
          </a:p>
        </p:txBody>
      </p:sp>
      <p:pic>
        <p:nvPicPr>
          <p:cNvPr id="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963" y="3380461"/>
            <a:ext cx="7939088" cy="217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表格 3"/>
          <p:cNvGraphicFramePr>
            <a:graphicFrameLocks noGrp="1"/>
          </p:cNvGraphicFramePr>
          <p:nvPr>
            <p:extLst>
              <p:ext uri="{D42A27DB-BD31-4B8C-83A1-F6EECF244321}">
                <p14:modId xmlns:p14="http://schemas.microsoft.com/office/powerpoint/2010/main" val="588778885"/>
              </p:ext>
            </p:extLst>
          </p:nvPr>
        </p:nvGraphicFramePr>
        <p:xfrm>
          <a:off x="771877" y="3981953"/>
          <a:ext cx="2753033" cy="481781"/>
        </p:xfrm>
        <a:graphic>
          <a:graphicData uri="http://schemas.openxmlformats.org/drawingml/2006/table">
            <a:tbl>
              <a:tblPr/>
              <a:tblGrid>
                <a:gridCol w="366351">
                  <a:extLst>
                    <a:ext uri="{9D8B030D-6E8A-4147-A177-3AD203B41FA5}">
                      <a16:colId xmlns:a16="http://schemas.microsoft.com/office/drawing/2014/main" val="20000"/>
                    </a:ext>
                  </a:extLst>
                </a:gridCol>
                <a:gridCol w="323954">
                  <a:extLst>
                    <a:ext uri="{9D8B030D-6E8A-4147-A177-3AD203B41FA5}">
                      <a16:colId xmlns:a16="http://schemas.microsoft.com/office/drawing/2014/main" val="20001"/>
                    </a:ext>
                  </a:extLst>
                </a:gridCol>
                <a:gridCol w="347371">
                  <a:extLst>
                    <a:ext uri="{9D8B030D-6E8A-4147-A177-3AD203B41FA5}">
                      <a16:colId xmlns:a16="http://schemas.microsoft.com/office/drawing/2014/main" val="20002"/>
                    </a:ext>
                  </a:extLst>
                </a:gridCol>
                <a:gridCol w="335792">
                  <a:extLst>
                    <a:ext uri="{9D8B030D-6E8A-4147-A177-3AD203B41FA5}">
                      <a16:colId xmlns:a16="http://schemas.microsoft.com/office/drawing/2014/main" val="20003"/>
                    </a:ext>
                  </a:extLst>
                </a:gridCol>
                <a:gridCol w="330003">
                  <a:extLst>
                    <a:ext uri="{9D8B030D-6E8A-4147-A177-3AD203B41FA5}">
                      <a16:colId xmlns:a16="http://schemas.microsoft.com/office/drawing/2014/main" val="20004"/>
                    </a:ext>
                  </a:extLst>
                </a:gridCol>
                <a:gridCol w="358950">
                  <a:extLst>
                    <a:ext uri="{9D8B030D-6E8A-4147-A177-3AD203B41FA5}">
                      <a16:colId xmlns:a16="http://schemas.microsoft.com/office/drawing/2014/main" val="20005"/>
                    </a:ext>
                  </a:extLst>
                </a:gridCol>
                <a:gridCol w="364740">
                  <a:extLst>
                    <a:ext uri="{9D8B030D-6E8A-4147-A177-3AD203B41FA5}">
                      <a16:colId xmlns:a16="http://schemas.microsoft.com/office/drawing/2014/main" val="20006"/>
                    </a:ext>
                  </a:extLst>
                </a:gridCol>
                <a:gridCol w="325872">
                  <a:extLst>
                    <a:ext uri="{9D8B030D-6E8A-4147-A177-3AD203B41FA5}">
                      <a16:colId xmlns:a16="http://schemas.microsoft.com/office/drawing/2014/main" val="20007"/>
                    </a:ext>
                  </a:extLst>
                </a:gridCol>
              </a:tblGrid>
              <a:tr h="481781">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6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D7</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6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D6</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6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D5</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6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D4</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6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D3</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6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D2</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6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6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645267948"/>
              </p:ext>
            </p:extLst>
          </p:nvPr>
        </p:nvGraphicFramePr>
        <p:xfrm>
          <a:off x="5875978" y="3981953"/>
          <a:ext cx="2740160" cy="483564"/>
        </p:xfrm>
        <a:graphic>
          <a:graphicData uri="http://schemas.openxmlformats.org/drawingml/2006/table">
            <a:tbl>
              <a:tblPr/>
              <a:tblGrid>
                <a:gridCol w="364638">
                  <a:extLst>
                    <a:ext uri="{9D8B030D-6E8A-4147-A177-3AD203B41FA5}">
                      <a16:colId xmlns:a16="http://schemas.microsoft.com/office/drawing/2014/main" val="20000"/>
                    </a:ext>
                  </a:extLst>
                </a:gridCol>
                <a:gridCol w="322439">
                  <a:extLst>
                    <a:ext uri="{9D8B030D-6E8A-4147-A177-3AD203B41FA5}">
                      <a16:colId xmlns:a16="http://schemas.microsoft.com/office/drawing/2014/main" val="20001"/>
                    </a:ext>
                  </a:extLst>
                </a:gridCol>
                <a:gridCol w="345747">
                  <a:extLst>
                    <a:ext uri="{9D8B030D-6E8A-4147-A177-3AD203B41FA5}">
                      <a16:colId xmlns:a16="http://schemas.microsoft.com/office/drawing/2014/main" val="20002"/>
                    </a:ext>
                  </a:extLst>
                </a:gridCol>
                <a:gridCol w="334222">
                  <a:extLst>
                    <a:ext uri="{9D8B030D-6E8A-4147-A177-3AD203B41FA5}">
                      <a16:colId xmlns:a16="http://schemas.microsoft.com/office/drawing/2014/main" val="20003"/>
                    </a:ext>
                  </a:extLst>
                </a:gridCol>
                <a:gridCol w="328460">
                  <a:extLst>
                    <a:ext uri="{9D8B030D-6E8A-4147-A177-3AD203B41FA5}">
                      <a16:colId xmlns:a16="http://schemas.microsoft.com/office/drawing/2014/main" val="20004"/>
                    </a:ext>
                  </a:extLst>
                </a:gridCol>
                <a:gridCol w="357272">
                  <a:extLst>
                    <a:ext uri="{9D8B030D-6E8A-4147-A177-3AD203B41FA5}">
                      <a16:colId xmlns:a16="http://schemas.microsoft.com/office/drawing/2014/main" val="20005"/>
                    </a:ext>
                  </a:extLst>
                </a:gridCol>
                <a:gridCol w="363034">
                  <a:extLst>
                    <a:ext uri="{9D8B030D-6E8A-4147-A177-3AD203B41FA5}">
                      <a16:colId xmlns:a16="http://schemas.microsoft.com/office/drawing/2014/main" val="20006"/>
                    </a:ext>
                  </a:extLst>
                </a:gridCol>
                <a:gridCol w="324348">
                  <a:extLst>
                    <a:ext uri="{9D8B030D-6E8A-4147-A177-3AD203B41FA5}">
                      <a16:colId xmlns:a16="http://schemas.microsoft.com/office/drawing/2014/main" val="20007"/>
                    </a:ext>
                  </a:extLst>
                </a:gridCol>
              </a:tblGrid>
              <a:tr h="483564">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8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D7</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8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D6</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8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D5</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8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D4</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8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D3</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8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D2</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8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8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pSp>
        <p:nvGrpSpPr>
          <p:cNvPr id="31" name="组合 30"/>
          <p:cNvGrpSpPr/>
          <p:nvPr/>
        </p:nvGrpSpPr>
        <p:grpSpPr bwMode="auto">
          <a:xfrm>
            <a:off x="421788" y="3923386"/>
            <a:ext cx="8334375" cy="392112"/>
            <a:chOff x="504252" y="4925962"/>
            <a:chExt cx="8334948" cy="391415"/>
          </a:xfrm>
        </p:grpSpPr>
        <p:cxnSp>
          <p:nvCxnSpPr>
            <p:cNvPr id="32778" name="直接箭头连接符 9"/>
            <p:cNvCxnSpPr/>
            <p:nvPr/>
          </p:nvCxnSpPr>
          <p:spPr bwMode="auto">
            <a:xfrm flipV="1">
              <a:off x="3569108" y="5298606"/>
              <a:ext cx="2261418" cy="18771"/>
            </a:xfrm>
            <a:prstGeom prst="straightConnector1">
              <a:avLst/>
            </a:prstGeom>
            <a:noFill/>
            <a:ln w="57150" algn="ctr">
              <a:solidFill>
                <a:srgbClr val="FF0000"/>
              </a:solidFill>
              <a:round/>
              <a:headEnd type="triangle" w="med" len="med"/>
            </a:ln>
          </p:spPr>
        </p:cxnSp>
        <p:cxnSp>
          <p:nvCxnSpPr>
            <p:cNvPr id="32779" name="直接箭头连接符 13"/>
            <p:cNvCxnSpPr/>
            <p:nvPr/>
          </p:nvCxnSpPr>
          <p:spPr bwMode="auto">
            <a:xfrm flipV="1">
              <a:off x="516196" y="4935794"/>
              <a:ext cx="8323004" cy="4919"/>
            </a:xfrm>
            <a:prstGeom prst="straightConnector1">
              <a:avLst/>
            </a:prstGeom>
            <a:noFill/>
            <a:ln w="57150" algn="ctr">
              <a:solidFill>
                <a:srgbClr val="FF0000"/>
              </a:solidFill>
              <a:round/>
              <a:tailEnd type="stealth" w="med" len="med"/>
            </a:ln>
          </p:spPr>
        </p:cxnSp>
        <p:cxnSp>
          <p:nvCxnSpPr>
            <p:cNvPr id="32780" name="直接箭头连接符 17"/>
            <p:cNvCxnSpPr/>
            <p:nvPr/>
          </p:nvCxnSpPr>
          <p:spPr bwMode="auto">
            <a:xfrm>
              <a:off x="8583561" y="5299588"/>
              <a:ext cx="245808" cy="0"/>
            </a:xfrm>
            <a:prstGeom prst="straightConnector1">
              <a:avLst/>
            </a:prstGeom>
            <a:noFill/>
            <a:ln w="57150" algn="ctr">
              <a:solidFill>
                <a:srgbClr val="FF0000"/>
              </a:solidFill>
              <a:round/>
              <a:headEnd type="stealth" w="med" len="med"/>
            </a:ln>
          </p:spPr>
        </p:cxnSp>
        <p:cxnSp>
          <p:nvCxnSpPr>
            <p:cNvPr id="32781" name="直接箭头连接符 19"/>
            <p:cNvCxnSpPr/>
            <p:nvPr/>
          </p:nvCxnSpPr>
          <p:spPr bwMode="auto">
            <a:xfrm flipV="1">
              <a:off x="8829369" y="4925962"/>
              <a:ext cx="0" cy="389265"/>
            </a:xfrm>
            <a:prstGeom prst="straightConnector1">
              <a:avLst/>
            </a:prstGeom>
            <a:noFill/>
            <a:ln w="57150" algn="ctr">
              <a:solidFill>
                <a:srgbClr val="FF0000"/>
              </a:solidFill>
              <a:round/>
              <a:headEnd type="stealth" w="med" len="med"/>
            </a:ln>
          </p:spPr>
        </p:cxnSp>
        <p:cxnSp>
          <p:nvCxnSpPr>
            <p:cNvPr id="32782" name="直接箭头连接符 26"/>
            <p:cNvCxnSpPr/>
            <p:nvPr/>
          </p:nvCxnSpPr>
          <p:spPr bwMode="auto">
            <a:xfrm flipV="1">
              <a:off x="504252" y="5297247"/>
              <a:ext cx="324468" cy="10723"/>
            </a:xfrm>
            <a:prstGeom prst="straightConnector1">
              <a:avLst/>
            </a:prstGeom>
            <a:noFill/>
            <a:ln w="57150" algn="ctr">
              <a:solidFill>
                <a:srgbClr val="FF0000"/>
              </a:solidFill>
              <a:round/>
              <a:headEnd type="stealth" w="med" len="med"/>
              <a:tailEnd type="none" w="sm" len="med"/>
            </a:ln>
          </p:spPr>
        </p:cxnSp>
        <p:cxnSp>
          <p:nvCxnSpPr>
            <p:cNvPr id="32783" name="直接箭头连接符 27"/>
            <p:cNvCxnSpPr/>
            <p:nvPr/>
          </p:nvCxnSpPr>
          <p:spPr bwMode="auto">
            <a:xfrm>
              <a:off x="516196" y="4940713"/>
              <a:ext cx="0" cy="356534"/>
            </a:xfrm>
            <a:prstGeom prst="straightConnector1">
              <a:avLst/>
            </a:prstGeom>
            <a:noFill/>
            <a:ln w="57150" algn="ctr">
              <a:solidFill>
                <a:srgbClr val="FF0000"/>
              </a:solidFill>
              <a:round/>
              <a:headEnd type="stealth" w="med" len="med"/>
            </a:ln>
          </p:spPr>
        </p:cxnSp>
        <p:cxnSp>
          <p:nvCxnSpPr>
            <p:cNvPr id="32784" name="直接箭头连接符 25"/>
            <p:cNvCxnSpPr/>
            <p:nvPr/>
          </p:nvCxnSpPr>
          <p:spPr bwMode="auto">
            <a:xfrm>
              <a:off x="3595642" y="4932346"/>
              <a:ext cx="2413272" cy="18771"/>
            </a:xfrm>
            <a:prstGeom prst="straightConnector1">
              <a:avLst/>
            </a:prstGeom>
            <a:noFill/>
            <a:ln w="57150" algn="ctr">
              <a:solidFill>
                <a:srgbClr val="FF0000"/>
              </a:solidFill>
              <a:round/>
              <a:tailEnd type="stealth" w="med" len="lg"/>
            </a:ln>
          </p:spPr>
        </p:cxnSp>
      </p:grpSp>
      <p:sp>
        <p:nvSpPr>
          <p:cNvPr id="2" name="灯片编号占位符 1"/>
          <p:cNvSpPr>
            <a:spLocks noGrp="1"/>
          </p:cNvSpPr>
          <p:nvPr>
            <p:ph type="sldNum" sz="quarter" idx="12"/>
          </p:nvPr>
        </p:nvSpPr>
        <p:spPr/>
        <p:txBody>
          <a:bodyPr/>
          <a:lstStyle/>
          <a:p>
            <a:fld id="{22E77DEE-32E4-4009-988B-F2758F7B8AC2}" type="slidenum">
              <a:rPr lang="zh-CN" altLang="en-US" smtClean="0"/>
              <a:t>75</a:t>
            </a:fld>
            <a:endParaRPr lang="zh-CN"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noChangeArrowheads="1"/>
          </p:cNvSpPr>
          <p:nvPr>
            <p:ph type="title"/>
          </p:nvPr>
        </p:nvSpPr>
        <p:spPr>
          <a:xfrm>
            <a:off x="341745" y="286605"/>
            <a:ext cx="8405092" cy="831478"/>
          </a:xfrm>
        </p:spPr>
        <p:txBody>
          <a:bodyPr>
            <a:noAutofit/>
          </a:bodyPr>
          <a:lstStyle/>
          <a:p>
            <a:r>
              <a:rPr lang="zh-CN" altLang="en-US" sz="3600" dirty="0">
                <a:solidFill>
                  <a:srgbClr val="FF0000"/>
                </a:solidFill>
              </a:rPr>
              <a:t>(2) SPI interface data communication method</a:t>
            </a:r>
            <a:endParaRPr lang="zh-CN" altLang="en-US" sz="3600" dirty="0"/>
          </a:p>
        </p:txBody>
      </p:sp>
      <p:sp>
        <p:nvSpPr>
          <p:cNvPr id="35846" name="Rectangle 6"/>
          <p:cNvSpPr>
            <a:spLocks noChangeArrowheads="1"/>
          </p:cNvSpPr>
          <p:nvPr/>
        </p:nvSpPr>
        <p:spPr bwMode="auto">
          <a:xfrm>
            <a:off x="2981174" y="5791349"/>
            <a:ext cx="3773789" cy="46166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200" b="1" dirty="0">
                <a:solidFill>
                  <a:srgbClr val="800000"/>
                </a:solidFill>
              </a:rPr>
              <a:t>SPI interface dual-device connection</a:t>
            </a:r>
            <a:endParaRPr lang="zh-CN" altLang="en-US" sz="1200" b="1" dirty="0">
              <a:solidFill>
                <a:srgbClr val="800000"/>
              </a:solidFill>
            </a:endParaRPr>
          </a:p>
        </p:txBody>
      </p:sp>
      <p:sp>
        <p:nvSpPr>
          <p:cNvPr id="33797" name="内容占位符 2"/>
          <p:cNvSpPr>
            <a:spLocks noGrp="1" noChangeArrowheads="1"/>
          </p:cNvSpPr>
          <p:nvPr>
            <p:ph idx="1"/>
          </p:nvPr>
        </p:nvSpPr>
        <p:spPr>
          <a:xfrm>
            <a:off x="984250" y="1228602"/>
            <a:ext cx="6819900" cy="1193800"/>
          </a:xfrm>
        </p:spPr>
        <p:txBody>
          <a:bodyPr>
            <a:normAutofit lnSpcReduction="10000"/>
          </a:bodyPr>
          <a:lstStyle/>
          <a:p>
            <a:pPr eaLnBrk="1" hangingPunct="1">
              <a:lnSpc>
                <a:spcPct val="124000"/>
              </a:lnSpc>
              <a:spcBef>
                <a:spcPct val="0"/>
              </a:spcBef>
              <a:buFontTx/>
              <a:buNone/>
            </a:pPr>
            <a:r>
              <a:rPr lang="en-US" altLang="zh-CN" dirty="0">
                <a:solidFill>
                  <a:srgbClr val="FF0000"/>
                </a:solidFill>
              </a:rPr>
              <a:t>2) Dual device mode</a:t>
            </a:r>
          </a:p>
          <a:p>
            <a:pPr eaLnBrk="1" hangingPunct="1">
              <a:lnSpc>
                <a:spcPct val="124000"/>
              </a:lnSpc>
              <a:spcBef>
                <a:spcPct val="0"/>
              </a:spcBef>
            </a:pPr>
            <a:r>
              <a:rPr lang="zh-CN" altLang="en-US" dirty="0"/>
              <a:t>The two-device mode, </a:t>
            </a:r>
            <a:r>
              <a:rPr lang="zh-CN" altLang="en-US" dirty="0">
                <a:solidFill>
                  <a:srgbClr val="FF00FF"/>
                </a:solidFill>
              </a:rPr>
              <a:t>also known as the master-slave mode,</a:t>
            </a:r>
            <a:r>
              <a:rPr lang="zh-CN" altLang="en-US" dirty="0"/>
              <a:t> is connected as shown in the figure.</a:t>
            </a:r>
          </a:p>
          <a:p>
            <a:pPr>
              <a:lnSpc>
                <a:spcPct val="124000"/>
              </a:lnSpc>
              <a:spcBef>
                <a:spcPct val="0"/>
              </a:spcBef>
            </a:pPr>
            <a:endParaRPr lang="zh-CN" altLang="en-US" dirty="0"/>
          </a:p>
        </p:txBody>
      </p:sp>
      <p:graphicFrame>
        <p:nvGraphicFramePr>
          <p:cNvPr id="5" name="对象 4"/>
          <p:cNvGraphicFramePr>
            <a:graphicFrameLocks noGrp="1" noChangeAspect="1"/>
          </p:cNvGraphicFramePr>
          <p:nvPr/>
        </p:nvGraphicFramePr>
        <p:xfrm>
          <a:off x="28575" y="2525713"/>
          <a:ext cx="8939213" cy="3463925"/>
        </p:xfrm>
        <a:graphic>
          <a:graphicData uri="http://schemas.openxmlformats.org/presentationml/2006/ole">
            <mc:AlternateContent xmlns:mc="http://schemas.openxmlformats.org/markup-compatibility/2006">
              <mc:Choice xmlns:v="urn:schemas-microsoft-com:vml" Requires="v">
                <p:oleObj name="Visio" r:id="rId2" imgW="2949575" imgH="1147445" progId="Visio.Drawing.11">
                  <p:embed/>
                </p:oleObj>
              </mc:Choice>
              <mc:Fallback>
                <p:oleObj name="Visio" r:id="rId2" imgW="2949575" imgH="1147445" progId="Visio.Drawing.11">
                  <p:embed/>
                  <p:pic>
                    <p:nvPicPr>
                      <p:cNvPr id="5" name="对象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5" y="2525713"/>
                        <a:ext cx="8939213" cy="346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灯片编号占位符 1"/>
          <p:cNvSpPr>
            <a:spLocks noGrp="1"/>
          </p:cNvSpPr>
          <p:nvPr>
            <p:ph type="sldNum" sz="quarter" idx="12"/>
          </p:nvPr>
        </p:nvSpPr>
        <p:spPr/>
        <p:txBody>
          <a:bodyPr/>
          <a:lstStyle/>
          <a:p>
            <a:fld id="{22E77DEE-32E4-4009-988B-F2758F7B8AC2}" type="slidenum">
              <a:rPr lang="zh-CN" altLang="en-US" smtClean="0"/>
              <a:t>76</a:t>
            </a:fld>
            <a:endParaRPr lang="zh-CN"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noChangeArrowheads="1"/>
          </p:cNvSpPr>
          <p:nvPr>
            <p:ph type="title"/>
          </p:nvPr>
        </p:nvSpPr>
        <p:spPr/>
        <p:txBody>
          <a:bodyPr>
            <a:normAutofit/>
          </a:bodyPr>
          <a:lstStyle/>
          <a:p>
            <a:pPr eaLnBrk="1" hangingPunct="1"/>
            <a:r>
              <a:rPr lang="en-US" altLang="zh-CN" sz="3600" dirty="0">
                <a:solidFill>
                  <a:srgbClr val="FF0000"/>
                </a:solidFill>
              </a:rPr>
              <a:t>2) Dual device mode</a:t>
            </a:r>
            <a:endParaRPr lang="zh-CN" altLang="en-US" sz="3600" dirty="0">
              <a:solidFill>
                <a:srgbClr val="FF0000"/>
              </a:solidFill>
            </a:endParaRPr>
          </a:p>
        </p:txBody>
      </p:sp>
      <p:sp>
        <p:nvSpPr>
          <p:cNvPr id="695299" name="Rectangle 3"/>
          <p:cNvSpPr>
            <a:spLocks noGrp="1" noChangeArrowheads="1"/>
          </p:cNvSpPr>
          <p:nvPr>
            <p:ph idx="1"/>
          </p:nvPr>
        </p:nvSpPr>
        <p:spPr>
          <a:xfrm>
            <a:off x="723901" y="1308101"/>
            <a:ext cx="7810500" cy="2247899"/>
          </a:xfrm>
        </p:spPr>
        <p:txBody>
          <a:bodyPr/>
          <a:lstStyle/>
          <a:p>
            <a:pPr eaLnBrk="1" hangingPunct="1">
              <a:lnSpc>
                <a:spcPct val="113000"/>
              </a:lnSpc>
              <a:spcBef>
                <a:spcPct val="0"/>
              </a:spcBef>
            </a:pPr>
            <a:r>
              <a:rPr lang="zh-CN" altLang="en-US" dirty="0"/>
              <a:t>In the diagram, the two devices can function as master-slave pairs. When no SPI operation is active, </a:t>
            </a:r>
            <a:r>
              <a:rPr lang="zh-CN" altLang="en-US" dirty="0">
                <a:solidFill>
                  <a:srgbClr val="00B0F0"/>
                </a:solidFill>
              </a:rPr>
              <a:t>both devices can be configured as masters </a:t>
            </a:r>
            <a:r>
              <a:rPr lang="zh-CN" altLang="en-US" dirty="0">
                <a:solidFill>
                  <a:srgbClr val="FF00FF"/>
                </a:solidFill>
              </a:rPr>
              <a:t>(MSTR=1), with SSIG cleared and P1.2 </a:t>
            </a:r>
            <a:r>
              <a:rPr lang="en-US" altLang="zh-CN" dirty="0">
                <a:solidFill>
                  <a:srgbClr val="FF00FF"/>
                </a:solidFill>
              </a:rPr>
              <a:t>(</a:t>
            </a:r>
            <a:r>
              <a:rPr lang="zh-CN" altLang="en-US" dirty="0">
                <a:solidFill>
                  <a:srgbClr val="FF00FF"/>
                </a:solidFill>
              </a:rPr>
              <a:t>      </a:t>
            </a:r>
            <a:r>
              <a:rPr lang="en-US" altLang="zh-CN" dirty="0">
                <a:solidFill>
                  <a:srgbClr val="FF00FF"/>
                </a:solidFill>
              </a:rPr>
              <a:t>) </a:t>
            </a:r>
            <a:r>
              <a:rPr lang="zh-CN" altLang="en-US" dirty="0">
                <a:solidFill>
                  <a:srgbClr val="FF00FF"/>
                </a:solidFill>
              </a:rPr>
              <a:t>set to either quasi-dual mode or input mode. </a:t>
            </a:r>
            <a:r>
              <a:rPr lang="zh-CN" altLang="en-US" dirty="0">
                <a:solidFill>
                  <a:srgbClr val="0000FF"/>
                </a:solidFill>
              </a:rPr>
              <a:t>When one device initiates transmission, P1.2 can be configured as an output and driven to a low level, </a:t>
            </a:r>
            <a:r>
              <a:rPr lang="zh-CN" altLang="en-US" dirty="0"/>
              <a:t>thereby forcing the other device to become a slave.</a:t>
            </a:r>
          </a:p>
        </p:txBody>
      </p:sp>
      <p:sp>
        <p:nvSpPr>
          <p:cNvPr id="34820" name="Rectangle 5"/>
          <p:cNvSpPr>
            <a:spLocks noChangeArrowheads="1"/>
          </p:cNvSpPr>
          <p:nvPr/>
        </p:nvSpPr>
        <p:spPr bwMode="auto">
          <a:xfrm>
            <a:off x="0" y="2690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14000"/>
              </a:lnSpc>
              <a:spcAft>
                <a:spcPts val="600"/>
              </a:spcAft>
              <a:buBlip>
                <a:blip r:embed="rId2"/>
              </a:buBlip>
              <a:defRPr sz="2800" b="1">
                <a:solidFill>
                  <a:schemeClr val="accent2"/>
                </a:solidFill>
                <a:latin typeface="Times New Roman" panose="02020603050405020304" pitchFamily="18" charset="0"/>
                <a:ea typeface="宋体" panose="02010600030101010101" pitchFamily="2" charset="-122"/>
              </a:defRPr>
            </a:lvl1pPr>
            <a:lvl2pPr marL="742950" indent="-285750" algn="just">
              <a:lnSpc>
                <a:spcPct val="114000"/>
              </a:lnSpc>
              <a:spcAft>
                <a:spcPts val="600"/>
              </a:spcAft>
              <a:buBlip>
                <a:blip r:embed="rId3"/>
              </a:buBlip>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spcAft>
                <a:spcPct val="0"/>
              </a:spcAft>
              <a:buFontTx/>
              <a:buNone/>
            </a:pPr>
            <a:endParaRPr lang="zh-CN" altLang="en-US" sz="1800" b="0">
              <a:solidFill>
                <a:schemeClr val="tx1"/>
              </a:solidFill>
              <a:latin typeface="Arial" panose="020B0604020202020204" pitchFamily="34" charset="0"/>
            </a:endParaRPr>
          </a:p>
        </p:txBody>
      </p:sp>
      <p:graphicFrame>
        <p:nvGraphicFramePr>
          <p:cNvPr id="695309" name="Object 13"/>
          <p:cNvGraphicFramePr>
            <a:graphicFrameLocks noChangeAspect="1"/>
          </p:cNvGraphicFramePr>
          <p:nvPr>
            <p:extLst>
              <p:ext uri="{D42A27DB-BD31-4B8C-83A1-F6EECF244321}">
                <p14:modId xmlns:p14="http://schemas.microsoft.com/office/powerpoint/2010/main" val="3137193639"/>
              </p:ext>
            </p:extLst>
          </p:nvPr>
        </p:nvGraphicFramePr>
        <p:xfrm>
          <a:off x="4845050" y="2030685"/>
          <a:ext cx="361373" cy="375231"/>
        </p:xfrm>
        <a:graphic>
          <a:graphicData uri="http://schemas.openxmlformats.org/presentationml/2006/ole">
            <mc:AlternateContent xmlns:mc="http://schemas.openxmlformats.org/markup-compatibility/2006">
              <mc:Choice xmlns:v="urn:schemas-microsoft-com:vml" Requires="v">
                <p:oleObj name="Equation" r:id="rId4" imgW="203200" imgH="215900" progId="Equation.DSMT4">
                  <p:embed/>
                </p:oleObj>
              </mc:Choice>
              <mc:Fallback>
                <p:oleObj name="Equation" r:id="rId4" imgW="203200" imgH="215900" progId="Equation.DSMT4">
                  <p:embed/>
                  <p:pic>
                    <p:nvPicPr>
                      <p:cNvPr id="695309"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45050" y="2030685"/>
                        <a:ext cx="361373" cy="375231"/>
                      </a:xfrm>
                      <a:prstGeom prst="rect">
                        <a:avLst/>
                      </a:prstGeom>
                      <a:noFill/>
                      <a:ln>
                        <a:noFill/>
                      </a:ln>
                    </p:spPr>
                  </p:pic>
                </p:oleObj>
              </mc:Fallback>
            </mc:AlternateContent>
          </a:graphicData>
        </a:graphic>
      </p:graphicFrame>
      <p:graphicFrame>
        <p:nvGraphicFramePr>
          <p:cNvPr id="3" name="对象 2">
            <a:hlinkClick r:id="rId6" action="ppaction://hlinksldjump" highlightClick="1"/>
          </p:cNvPr>
          <p:cNvGraphicFramePr>
            <a:graphicFrameLocks noGrp="1" noChangeAspect="1"/>
          </p:cNvGraphicFramePr>
          <p:nvPr/>
        </p:nvGraphicFramePr>
        <p:xfrm>
          <a:off x="102393" y="3345656"/>
          <a:ext cx="8939213" cy="3186112"/>
        </p:xfrm>
        <a:graphic>
          <a:graphicData uri="http://schemas.openxmlformats.org/presentationml/2006/ole">
            <mc:AlternateContent xmlns:mc="http://schemas.openxmlformats.org/markup-compatibility/2006">
              <mc:Choice xmlns:v="urn:schemas-microsoft-com:vml" Requires="v">
                <p:oleObj name="Visio" r:id="rId7" imgW="2949575" imgH="1147445" progId="Visio.Drawing.11">
                  <p:embed/>
                </p:oleObj>
              </mc:Choice>
              <mc:Fallback>
                <p:oleObj name="Visio" r:id="rId7" imgW="2949575" imgH="1147445" progId="Visio.Drawing.11">
                  <p:embed/>
                  <p:pic>
                    <p:nvPicPr>
                      <p:cNvPr id="3" name="对象 2">
                        <a:hlinkClick r:id="" action="ppaction://noaction" highlightClick="1"/>
                      </p:cNvPr>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393" y="3345656"/>
                        <a:ext cx="8939213" cy="318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灯片编号占位符 3"/>
          <p:cNvSpPr>
            <a:spLocks noGrp="1"/>
          </p:cNvSpPr>
          <p:nvPr>
            <p:ph type="sldNum" sz="quarter" idx="12"/>
          </p:nvPr>
        </p:nvSpPr>
        <p:spPr/>
        <p:txBody>
          <a:bodyPr/>
          <a:lstStyle/>
          <a:p>
            <a:fld id="{22E77DEE-32E4-4009-988B-F2758F7B8AC2}" type="slidenum">
              <a:rPr lang="zh-CN" altLang="en-US" smtClean="0"/>
              <a:t>77</a:t>
            </a:fld>
            <a:endParaRPr lang="zh-CN"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noChangeArrowheads="1"/>
          </p:cNvSpPr>
          <p:nvPr>
            <p:ph type="title"/>
          </p:nvPr>
        </p:nvSpPr>
        <p:spPr>
          <a:xfrm>
            <a:off x="111916" y="523478"/>
            <a:ext cx="5578764" cy="504825"/>
          </a:xfrm>
        </p:spPr>
        <p:txBody>
          <a:bodyPr>
            <a:noAutofit/>
          </a:bodyPr>
          <a:lstStyle/>
          <a:p>
            <a:r>
              <a:rPr lang="zh-CN" altLang="en-US" sz="2400" dirty="0">
                <a:solidFill>
                  <a:srgbClr val="002060"/>
                </a:solidFill>
              </a:rPr>
              <a:t>(2) SPI interface data communication method</a:t>
            </a:r>
          </a:p>
        </p:txBody>
      </p:sp>
      <p:sp>
        <p:nvSpPr>
          <p:cNvPr id="699395" name="Rectangle 3"/>
          <p:cNvSpPr>
            <a:spLocks noGrp="1" noChangeArrowheads="1"/>
          </p:cNvSpPr>
          <p:nvPr>
            <p:ph idx="1"/>
          </p:nvPr>
        </p:nvSpPr>
        <p:spPr>
          <a:xfrm>
            <a:off x="220663" y="1209675"/>
            <a:ext cx="8923337" cy="727075"/>
          </a:xfrm>
        </p:spPr>
        <p:txBody>
          <a:bodyPr>
            <a:normAutofit fontScale="85000" lnSpcReduction="20000"/>
          </a:bodyPr>
          <a:lstStyle/>
          <a:p>
            <a:pPr eaLnBrk="1" hangingPunct="1">
              <a:lnSpc>
                <a:spcPct val="95000"/>
              </a:lnSpc>
              <a:spcBef>
                <a:spcPct val="0"/>
              </a:spcBef>
            </a:pPr>
            <a:r>
              <a:rPr lang="zh-CN" altLang="en-US" dirty="0"/>
              <a:t>In the diagram, </a:t>
            </a:r>
            <a:r>
              <a:rPr lang="zh-CN" altLang="en-US" dirty="0">
                <a:solidFill>
                  <a:srgbClr val="FF00FF"/>
                </a:solidFill>
              </a:rPr>
              <a:t>the slaves SSIG (</a:t>
            </a:r>
            <a:r>
              <a:rPr lang="zh-CN" altLang="en-US" dirty="0">
                <a:solidFill>
                  <a:srgbClr val="00B0F0"/>
                </a:solidFill>
              </a:rPr>
              <a:t>SPCTL</a:t>
            </a:r>
            <a:r>
              <a:rPr lang="zh-CN" altLang="en-US" dirty="0">
                <a:solidFill>
                  <a:srgbClr val="FF00FF"/>
                </a:solidFill>
              </a:rPr>
              <a:t>.7) is set to 0,</a:t>
            </a:r>
            <a:r>
              <a:rPr lang="zh-CN" altLang="en-US" dirty="0"/>
              <a:t> enabling the slave to be selected via the corresponding /SS signal. The SPI master can control the slaves /SS using any port bit (including P1.2/SS).</a:t>
            </a:r>
          </a:p>
        </p:txBody>
      </p:sp>
      <p:graphicFrame>
        <p:nvGraphicFramePr>
          <p:cNvPr id="3" name="对象 2"/>
          <p:cNvGraphicFramePr>
            <a:graphicFrameLocks noChangeAspect="1"/>
          </p:cNvGraphicFramePr>
          <p:nvPr/>
        </p:nvGraphicFramePr>
        <p:xfrm>
          <a:off x="464343" y="1635125"/>
          <a:ext cx="8215313" cy="4560888"/>
        </p:xfrm>
        <a:graphic>
          <a:graphicData uri="http://schemas.openxmlformats.org/presentationml/2006/ole">
            <mc:AlternateContent xmlns:mc="http://schemas.openxmlformats.org/markup-compatibility/2006">
              <mc:Choice xmlns:v="urn:schemas-microsoft-com:vml" Requires="v">
                <p:oleObj name="Visio" r:id="rId2" imgW="3774440" imgH="2115820" progId="Visio.Drawing.11">
                  <p:embed/>
                </p:oleObj>
              </mc:Choice>
              <mc:Fallback>
                <p:oleObj name="Visio" r:id="rId2" imgW="3774440" imgH="2115820" progId="Visio.Drawing.11">
                  <p:embed/>
                  <p:pic>
                    <p:nvPicPr>
                      <p:cNvPr id="3" name="对象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343" y="1635125"/>
                        <a:ext cx="8215313" cy="456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Rectangle 3"/>
          <p:cNvSpPr txBox="1">
            <a:spLocks noChangeArrowheads="1"/>
          </p:cNvSpPr>
          <p:nvPr/>
        </p:nvSpPr>
        <p:spPr bwMode="auto">
          <a:xfrm>
            <a:off x="5438768" y="560239"/>
            <a:ext cx="4241006"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l" rtl="0" eaLnBrk="0" fontAlgn="base" hangingPunct="0">
              <a:lnSpc>
                <a:spcPct val="114000"/>
              </a:lnSpc>
              <a:spcBef>
                <a:spcPts val="0"/>
              </a:spcBef>
              <a:spcAft>
                <a:spcPts val="600"/>
              </a:spcAft>
              <a:buBlip>
                <a:blip r:embed="rId4"/>
              </a:buBlip>
              <a:defRPr sz="2800" b="1">
                <a:solidFill>
                  <a:schemeClr val="accent2"/>
                </a:solidFill>
                <a:latin typeface="+mn-lt"/>
                <a:ea typeface="+mn-ea"/>
                <a:cs typeface="+mn-cs"/>
              </a:defRPr>
            </a:lvl1pPr>
            <a:lvl2pPr marL="263525" indent="-180975" algn="l" rtl="0" eaLnBrk="0" fontAlgn="base" hangingPunct="0">
              <a:lnSpc>
                <a:spcPct val="114000"/>
              </a:lnSpc>
              <a:spcBef>
                <a:spcPts val="0"/>
              </a:spcBef>
              <a:spcAft>
                <a:spcPts val="600"/>
              </a:spcAft>
              <a:buBlip>
                <a:blip r:embed="rId5"/>
              </a:buBlip>
              <a:defRPr sz="2800" b="1">
                <a:solidFill>
                  <a:schemeClr val="tx1"/>
                </a:solidFill>
                <a:latin typeface="+mn-lt"/>
                <a:ea typeface="+mn-ea"/>
              </a:defRPr>
            </a:lvl2pPr>
            <a:lvl3pPr marL="1143000" indent="-228600" algn="l"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l"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l"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eaLnBrk="1" hangingPunct="1">
              <a:buFontTx/>
              <a:buNone/>
              <a:defRPr/>
            </a:pPr>
            <a:r>
              <a:rPr lang="en-US" altLang="zh-CN" sz="2000" kern="0" dirty="0">
                <a:solidFill>
                  <a:srgbClr val="FF0000"/>
                </a:solidFill>
              </a:rPr>
              <a:t>3) Single master-multiple slaves</a:t>
            </a:r>
            <a:endParaRPr lang="zh-CN" altLang="en-US" sz="2000" kern="0" dirty="0"/>
          </a:p>
        </p:txBody>
      </p:sp>
      <p:sp>
        <p:nvSpPr>
          <p:cNvPr id="7" name="Rectangle 7"/>
          <p:cNvSpPr>
            <a:spLocks noChangeArrowheads="1"/>
          </p:cNvSpPr>
          <p:nvPr/>
        </p:nvSpPr>
        <p:spPr bwMode="auto">
          <a:xfrm>
            <a:off x="2123330" y="5915720"/>
            <a:ext cx="4804520" cy="46166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200" b="1" dirty="0">
                <a:solidFill>
                  <a:srgbClr val="800000"/>
                </a:solidFill>
              </a:rPr>
              <a:t>SPI interface single master multi slave connection</a:t>
            </a:r>
            <a:endParaRPr lang="zh-CN" altLang="en-US" sz="1200" b="1" dirty="0">
              <a:solidFill>
                <a:srgbClr val="800000"/>
              </a:solidFill>
            </a:endParaRPr>
          </a:p>
        </p:txBody>
      </p:sp>
      <p:sp>
        <p:nvSpPr>
          <p:cNvPr id="4" name="矩形 3"/>
          <p:cNvSpPr>
            <a:spLocks noChangeArrowheads="1"/>
          </p:cNvSpPr>
          <p:nvPr/>
        </p:nvSpPr>
        <p:spPr bwMode="auto">
          <a:xfrm>
            <a:off x="6927850" y="3144838"/>
            <a:ext cx="1000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solidFill>
                  <a:srgbClr val="FF00FF"/>
                </a:solidFill>
              </a:rPr>
              <a:t>SSIG=0</a:t>
            </a:r>
            <a:endParaRPr lang="zh-CN" altLang="en-US" dirty="0">
              <a:solidFill>
                <a:srgbClr val="FF00FF"/>
              </a:solidFill>
            </a:endParaRPr>
          </a:p>
        </p:txBody>
      </p:sp>
      <p:sp>
        <p:nvSpPr>
          <p:cNvPr id="9" name="矩形 8"/>
          <p:cNvSpPr>
            <a:spLocks noChangeArrowheads="1"/>
          </p:cNvSpPr>
          <p:nvPr/>
        </p:nvSpPr>
        <p:spPr bwMode="auto">
          <a:xfrm>
            <a:off x="6927850" y="5463381"/>
            <a:ext cx="1000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solidFill>
                  <a:srgbClr val="FF00FF"/>
                </a:solidFill>
              </a:rPr>
              <a:t>SSIG=0</a:t>
            </a:r>
            <a:endParaRPr lang="zh-CN" altLang="en-US">
              <a:solidFill>
                <a:srgbClr val="FF00FF"/>
              </a:solidFill>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78</a:t>
            </a:fld>
            <a:endParaRPr lang="zh-CN"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noChangeArrowheads="1"/>
          </p:cNvSpPr>
          <p:nvPr>
            <p:ph type="title"/>
          </p:nvPr>
        </p:nvSpPr>
        <p:spPr>
          <a:xfrm>
            <a:off x="225812" y="325712"/>
            <a:ext cx="9171723" cy="831478"/>
          </a:xfrm>
        </p:spPr>
        <p:txBody>
          <a:bodyPr>
            <a:noAutofit/>
          </a:bodyPr>
          <a:lstStyle/>
          <a:p>
            <a:r>
              <a:rPr lang="zh-CN" altLang="en-US" sz="3600" dirty="0"/>
              <a:t>(3) SPI interface data communication process</a:t>
            </a:r>
          </a:p>
        </p:txBody>
      </p:sp>
      <p:sp>
        <p:nvSpPr>
          <p:cNvPr id="702467" name="Rectangle 3"/>
          <p:cNvSpPr>
            <a:spLocks noGrp="1" noChangeArrowheads="1"/>
          </p:cNvSpPr>
          <p:nvPr>
            <p:ph idx="1"/>
          </p:nvPr>
        </p:nvSpPr>
        <p:spPr>
          <a:xfrm>
            <a:off x="711201" y="1196455"/>
            <a:ext cx="7499349" cy="3702874"/>
          </a:xfrm>
        </p:spPr>
        <p:txBody>
          <a:bodyPr/>
          <a:lstStyle/>
          <a:p>
            <a:pPr lvl="1" eaLnBrk="1" hangingPunct="1">
              <a:lnSpc>
                <a:spcPct val="101000"/>
              </a:lnSpc>
              <a:spcBef>
                <a:spcPct val="0"/>
              </a:spcBef>
            </a:pPr>
            <a:r>
              <a:rPr lang="zh-CN" altLang="en-US" dirty="0">
                <a:solidFill>
                  <a:schemeClr val="tx1"/>
                </a:solidFill>
              </a:rPr>
              <a:t>In SPI communication, </a:t>
            </a:r>
            <a:r>
              <a:rPr lang="zh-CN" altLang="en-US" dirty="0">
                <a:solidFill>
                  <a:srgbClr val="FF0000"/>
                </a:solidFill>
              </a:rPr>
              <a:t>data transmission is always initiated by the host. When SPI is enabled (SPEN=1), </a:t>
            </a:r>
            <a:r>
              <a:rPr lang="zh-CN" altLang="en-US" dirty="0">
                <a:solidFill>
                  <a:srgbClr val="0000FF"/>
                </a:solidFill>
              </a:rPr>
              <a:t>the hosts write operation to the SPI data register </a:t>
            </a:r>
            <a:r>
              <a:rPr lang="zh-CN" altLang="en-US" dirty="0">
                <a:solidFill>
                  <a:srgbClr val="FF00FF"/>
                </a:solidFill>
              </a:rPr>
              <a:t>activates the SPI clock generator and data transfer</a:t>
            </a:r>
            <a:r>
              <a:rPr lang="zh-CN" altLang="en-US" dirty="0">
                <a:solidFill>
                  <a:srgbClr val="0000FF"/>
                </a:solidFill>
              </a:rPr>
              <a:t>.</a:t>
            </a:r>
            <a:r>
              <a:rPr lang="zh-CN" altLang="en-US" dirty="0">
                <a:solidFill>
                  <a:schemeClr val="tx1"/>
                </a:solidFill>
              </a:rPr>
              <a:t> Half to one SPI bit time after the data is written to SPDAT, the data appears on the MOSI pin.</a:t>
            </a:r>
          </a:p>
          <a:p>
            <a:pPr lvl="1" eaLnBrk="1" hangingPunct="1">
              <a:lnSpc>
                <a:spcPct val="101000"/>
              </a:lnSpc>
              <a:spcBef>
                <a:spcPct val="0"/>
              </a:spcBef>
            </a:pPr>
            <a:r>
              <a:rPr lang="zh-CN" altLang="en-US" dirty="0">
                <a:solidFill>
                  <a:srgbClr val="C00000"/>
                </a:solidFill>
              </a:rPr>
              <a:t>Note that</a:t>
            </a:r>
            <a:r>
              <a:rPr lang="zh-CN" altLang="en-US" dirty="0">
                <a:solidFill>
                  <a:schemeClr val="tx1"/>
                </a:solidFill>
              </a:rPr>
              <a:t> </a:t>
            </a:r>
            <a:r>
              <a:rPr lang="zh-CN" altLang="en-US" dirty="0">
                <a:solidFill>
                  <a:srgbClr val="0000FF"/>
                </a:solidFill>
              </a:rPr>
              <a:t>the host</a:t>
            </a:r>
            <a:r>
              <a:rPr lang="zh-CN" altLang="en-US" dirty="0">
                <a:solidFill>
                  <a:schemeClr val="tx1"/>
                </a:solidFill>
              </a:rPr>
              <a:t> can communicate with the slave by </a:t>
            </a:r>
            <a:r>
              <a:rPr lang="zh-CN" altLang="en-US" dirty="0">
                <a:solidFill>
                  <a:srgbClr val="0000FF"/>
                </a:solidFill>
              </a:rPr>
              <a:t>driving the corresponding devices /SS pin to a low level</a:t>
            </a:r>
            <a:r>
              <a:rPr lang="zh-CN" altLang="en-US" dirty="0">
                <a:solidFill>
                  <a:schemeClr val="tx1"/>
                </a:solidFill>
              </a:rPr>
              <a:t>. Data written to the </a:t>
            </a:r>
            <a:r>
              <a:rPr lang="zh-CN" altLang="en-US" dirty="0">
                <a:solidFill>
                  <a:srgbClr val="0000FF"/>
                </a:solidFill>
              </a:rPr>
              <a:t>hosts </a:t>
            </a:r>
            <a:r>
              <a:rPr lang="zh-CN" altLang="en-US" dirty="0">
                <a:solidFill>
                  <a:srgbClr val="FF00FF"/>
                </a:solidFill>
              </a:rPr>
              <a:t>SPDAT </a:t>
            </a:r>
            <a:r>
              <a:rPr lang="zh-CN" altLang="en-US" dirty="0">
                <a:solidFill>
                  <a:schemeClr val="tx1"/>
                </a:solidFill>
              </a:rPr>
              <a:t>register is transferred from the MOSI pin to the slaves MOSI pin, while data from </a:t>
            </a:r>
            <a:r>
              <a:rPr lang="zh-CN" altLang="en-US" dirty="0">
                <a:solidFill>
                  <a:srgbClr val="0000FF"/>
                </a:solidFill>
              </a:rPr>
              <a:t>the slaves </a:t>
            </a:r>
            <a:r>
              <a:rPr lang="zh-CN" altLang="en-US" dirty="0">
                <a:solidFill>
                  <a:srgbClr val="FF00FF"/>
                </a:solidFill>
              </a:rPr>
              <a:t>SPDAT</a:t>
            </a:r>
            <a:r>
              <a:rPr lang="zh-CN" altLang="en-US" dirty="0">
                <a:solidFill>
                  <a:srgbClr val="0000FF"/>
                </a:solidFill>
              </a:rPr>
              <a:t> </a:t>
            </a:r>
            <a:r>
              <a:rPr lang="zh-CN" altLang="en-US" dirty="0">
                <a:solidFill>
                  <a:schemeClr val="tx1"/>
                </a:solidFill>
              </a:rPr>
              <a:t>register is sent from the MISO pin to the hosts MISO pin.</a:t>
            </a:r>
          </a:p>
        </p:txBody>
      </p:sp>
      <p:sp>
        <p:nvSpPr>
          <p:cNvPr id="29" name="Rectangle 3"/>
          <p:cNvSpPr txBox="1">
            <a:spLocks noChangeArrowheads="1"/>
          </p:cNvSpPr>
          <p:nvPr/>
        </p:nvSpPr>
        <p:spPr bwMode="auto">
          <a:xfrm>
            <a:off x="425450" y="4588291"/>
            <a:ext cx="8477250" cy="1550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l" rtl="0" eaLnBrk="0" fontAlgn="base" hangingPunct="0">
              <a:lnSpc>
                <a:spcPct val="114000"/>
              </a:lnSpc>
              <a:spcBef>
                <a:spcPts val="0"/>
              </a:spcBef>
              <a:spcAft>
                <a:spcPts val="600"/>
              </a:spcAft>
              <a:buBlip>
                <a:blip r:embed="rId2"/>
              </a:buBlip>
              <a:defRPr sz="2800" b="1">
                <a:solidFill>
                  <a:schemeClr val="accent2"/>
                </a:solidFill>
                <a:latin typeface="+mn-lt"/>
                <a:ea typeface="+mn-ea"/>
                <a:cs typeface="+mn-cs"/>
              </a:defRPr>
            </a:lvl1pPr>
            <a:lvl2pPr marL="263525" indent="-180975" algn="l" rtl="0" eaLnBrk="0" fontAlgn="base" hangingPunct="0">
              <a:lnSpc>
                <a:spcPct val="114000"/>
              </a:lnSpc>
              <a:spcBef>
                <a:spcPts val="0"/>
              </a:spcBef>
              <a:spcAft>
                <a:spcPts val="600"/>
              </a:spcAft>
              <a:buBlip>
                <a:blip r:embed="rId3"/>
              </a:buBlip>
              <a:defRPr sz="2800" b="1">
                <a:solidFill>
                  <a:schemeClr val="tx1"/>
                </a:solidFill>
                <a:latin typeface="+mn-lt"/>
                <a:ea typeface="+mn-ea"/>
              </a:defRPr>
            </a:lvl2pPr>
            <a:lvl3pPr marL="1143000" indent="-228600" algn="l"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l"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l"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lvl="1" eaLnBrk="1" hangingPunct="1">
              <a:lnSpc>
                <a:spcPct val="101000"/>
              </a:lnSpc>
              <a:spcAft>
                <a:spcPts val="1800"/>
              </a:spcAft>
              <a:defRPr/>
            </a:pPr>
            <a:r>
              <a:rPr lang="zh-CN" altLang="en-US" sz="1800" kern="0" dirty="0">
                <a:solidFill>
                  <a:srgbClr val="3333FF"/>
                </a:solidFill>
              </a:rPr>
              <a:t>The two shift registers in the host and slave CPUs can be viewed as a 16-bit cyclic shift register. </a:t>
            </a:r>
            <a:r>
              <a:rPr lang="zh-CN" altLang="en-US" sz="1800" kern="0" dirty="0"/>
              <a:t>As data shifts from the host to the slave, it simultaneously enters in the opposite direction. This means that during one shift cycle, the data between the host and slave are exchanged.</a:t>
            </a:r>
          </a:p>
        </p:txBody>
      </p:sp>
      <p:graphicFrame>
        <p:nvGraphicFramePr>
          <p:cNvPr id="33" name="表格 32"/>
          <p:cNvGraphicFramePr>
            <a:graphicFrameLocks noGrp="1"/>
          </p:cNvGraphicFramePr>
          <p:nvPr>
            <p:extLst>
              <p:ext uri="{D42A27DB-BD31-4B8C-83A1-F6EECF244321}">
                <p14:modId xmlns:p14="http://schemas.microsoft.com/office/powerpoint/2010/main" val="2183456969"/>
              </p:ext>
            </p:extLst>
          </p:nvPr>
        </p:nvGraphicFramePr>
        <p:xfrm>
          <a:off x="569534" y="4026133"/>
          <a:ext cx="2929511" cy="481781"/>
        </p:xfrm>
        <a:graphic>
          <a:graphicData uri="http://schemas.openxmlformats.org/drawingml/2006/table">
            <a:tbl>
              <a:tblPr/>
              <a:tblGrid>
                <a:gridCol w="389835">
                  <a:extLst>
                    <a:ext uri="{9D8B030D-6E8A-4147-A177-3AD203B41FA5}">
                      <a16:colId xmlns:a16="http://schemas.microsoft.com/office/drawing/2014/main" val="20000"/>
                    </a:ext>
                  </a:extLst>
                </a:gridCol>
                <a:gridCol w="344721">
                  <a:extLst>
                    <a:ext uri="{9D8B030D-6E8A-4147-A177-3AD203B41FA5}">
                      <a16:colId xmlns:a16="http://schemas.microsoft.com/office/drawing/2014/main" val="20001"/>
                    </a:ext>
                  </a:extLst>
                </a:gridCol>
                <a:gridCol w="369639">
                  <a:extLst>
                    <a:ext uri="{9D8B030D-6E8A-4147-A177-3AD203B41FA5}">
                      <a16:colId xmlns:a16="http://schemas.microsoft.com/office/drawing/2014/main" val="20002"/>
                    </a:ext>
                  </a:extLst>
                </a:gridCol>
                <a:gridCol w="357317">
                  <a:extLst>
                    <a:ext uri="{9D8B030D-6E8A-4147-A177-3AD203B41FA5}">
                      <a16:colId xmlns:a16="http://schemas.microsoft.com/office/drawing/2014/main" val="20003"/>
                    </a:ext>
                  </a:extLst>
                </a:gridCol>
                <a:gridCol w="351157">
                  <a:extLst>
                    <a:ext uri="{9D8B030D-6E8A-4147-A177-3AD203B41FA5}">
                      <a16:colId xmlns:a16="http://schemas.microsoft.com/office/drawing/2014/main" val="20004"/>
                    </a:ext>
                  </a:extLst>
                </a:gridCol>
                <a:gridCol w="381960">
                  <a:extLst>
                    <a:ext uri="{9D8B030D-6E8A-4147-A177-3AD203B41FA5}">
                      <a16:colId xmlns:a16="http://schemas.microsoft.com/office/drawing/2014/main" val="20005"/>
                    </a:ext>
                  </a:extLst>
                </a:gridCol>
                <a:gridCol w="388121">
                  <a:extLst>
                    <a:ext uri="{9D8B030D-6E8A-4147-A177-3AD203B41FA5}">
                      <a16:colId xmlns:a16="http://schemas.microsoft.com/office/drawing/2014/main" val="20006"/>
                    </a:ext>
                  </a:extLst>
                </a:gridCol>
                <a:gridCol w="346761">
                  <a:extLst>
                    <a:ext uri="{9D8B030D-6E8A-4147-A177-3AD203B41FA5}">
                      <a16:colId xmlns:a16="http://schemas.microsoft.com/office/drawing/2014/main" val="20007"/>
                    </a:ext>
                  </a:extLst>
                </a:gridCol>
              </a:tblGrid>
              <a:tr h="481781">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6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D7</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6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D6</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6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D5</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6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D4</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6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D3</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6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D2</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6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6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34" name="表格 33"/>
          <p:cNvGraphicFramePr>
            <a:graphicFrameLocks noGrp="1"/>
          </p:cNvGraphicFramePr>
          <p:nvPr>
            <p:extLst>
              <p:ext uri="{D42A27DB-BD31-4B8C-83A1-F6EECF244321}">
                <p14:modId xmlns:p14="http://schemas.microsoft.com/office/powerpoint/2010/main" val="270888450"/>
              </p:ext>
            </p:extLst>
          </p:nvPr>
        </p:nvGraphicFramePr>
        <p:xfrm>
          <a:off x="5878952" y="4065462"/>
          <a:ext cx="2929511" cy="483564"/>
        </p:xfrm>
        <a:graphic>
          <a:graphicData uri="http://schemas.openxmlformats.org/drawingml/2006/table">
            <a:tbl>
              <a:tblPr/>
              <a:tblGrid>
                <a:gridCol w="389835">
                  <a:extLst>
                    <a:ext uri="{9D8B030D-6E8A-4147-A177-3AD203B41FA5}">
                      <a16:colId xmlns:a16="http://schemas.microsoft.com/office/drawing/2014/main" val="20000"/>
                    </a:ext>
                  </a:extLst>
                </a:gridCol>
                <a:gridCol w="344721">
                  <a:extLst>
                    <a:ext uri="{9D8B030D-6E8A-4147-A177-3AD203B41FA5}">
                      <a16:colId xmlns:a16="http://schemas.microsoft.com/office/drawing/2014/main" val="20001"/>
                    </a:ext>
                  </a:extLst>
                </a:gridCol>
                <a:gridCol w="369639">
                  <a:extLst>
                    <a:ext uri="{9D8B030D-6E8A-4147-A177-3AD203B41FA5}">
                      <a16:colId xmlns:a16="http://schemas.microsoft.com/office/drawing/2014/main" val="20002"/>
                    </a:ext>
                  </a:extLst>
                </a:gridCol>
                <a:gridCol w="357317">
                  <a:extLst>
                    <a:ext uri="{9D8B030D-6E8A-4147-A177-3AD203B41FA5}">
                      <a16:colId xmlns:a16="http://schemas.microsoft.com/office/drawing/2014/main" val="20003"/>
                    </a:ext>
                  </a:extLst>
                </a:gridCol>
                <a:gridCol w="351157">
                  <a:extLst>
                    <a:ext uri="{9D8B030D-6E8A-4147-A177-3AD203B41FA5}">
                      <a16:colId xmlns:a16="http://schemas.microsoft.com/office/drawing/2014/main" val="20004"/>
                    </a:ext>
                  </a:extLst>
                </a:gridCol>
                <a:gridCol w="381960">
                  <a:extLst>
                    <a:ext uri="{9D8B030D-6E8A-4147-A177-3AD203B41FA5}">
                      <a16:colId xmlns:a16="http://schemas.microsoft.com/office/drawing/2014/main" val="20005"/>
                    </a:ext>
                  </a:extLst>
                </a:gridCol>
                <a:gridCol w="388121">
                  <a:extLst>
                    <a:ext uri="{9D8B030D-6E8A-4147-A177-3AD203B41FA5}">
                      <a16:colId xmlns:a16="http://schemas.microsoft.com/office/drawing/2014/main" val="20006"/>
                    </a:ext>
                  </a:extLst>
                </a:gridCol>
                <a:gridCol w="346761">
                  <a:extLst>
                    <a:ext uri="{9D8B030D-6E8A-4147-A177-3AD203B41FA5}">
                      <a16:colId xmlns:a16="http://schemas.microsoft.com/office/drawing/2014/main" val="20007"/>
                    </a:ext>
                  </a:extLst>
                </a:gridCol>
              </a:tblGrid>
              <a:tr h="483564">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6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D7</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6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D6</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6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D5</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6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D4</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6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D3</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6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D2</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6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anose="02020603050405020304" pitchFamily="18" charset="0"/>
                          <a:ea typeface="宋体" panose="02010600030101010101" pitchFamily="2" charset="-122"/>
                        </a:defRPr>
                      </a:lvl1pPr>
                      <a:lvl2pPr marL="742950" indent="-285750" algn="just" eaLnBrk="0" hangingPunct="0">
                        <a:spcBef>
                          <a:spcPct val="20000"/>
                        </a:spcBef>
                        <a:tabLst>
                          <a:tab pos="549275" algn="l"/>
                        </a:tabLst>
                        <a:defRPr sz="2400" b="1">
                          <a:solidFill>
                            <a:schemeClr val="tx1"/>
                          </a:solidFill>
                          <a:latin typeface="Times New Roman" panose="02020603050405020304" pitchFamily="18" charset="0"/>
                          <a:ea typeface="宋体" panose="02010600030101010101" pitchFamily="2" charset="-122"/>
                        </a:defRPr>
                      </a:lvl2pPr>
                      <a:lvl3pPr marL="1143000" indent="-228600" algn="just" eaLnBrk="0" hangingPunct="0">
                        <a:spcBef>
                          <a:spcPct val="20000"/>
                        </a:spcBef>
                        <a:tabLst>
                          <a:tab pos="549275" algn="l"/>
                        </a:tabLst>
                        <a:defRPr sz="2000" b="1">
                          <a:solidFill>
                            <a:schemeClr val="tx1"/>
                          </a:solidFill>
                          <a:latin typeface="Times New Roman" panose="02020603050405020304" pitchFamily="18" charset="0"/>
                          <a:ea typeface="宋体" panose="02010600030101010101" pitchFamily="2" charset="-122"/>
                        </a:defRPr>
                      </a:lvl3pPr>
                      <a:lvl4pPr marL="16002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4pPr>
                      <a:lvl5pPr marL="2057400" indent="-228600" algn="just" eaLnBrk="0" hangingPunct="0">
                        <a:spcBef>
                          <a:spcPct val="20000"/>
                        </a:spcBef>
                        <a:tabLst>
                          <a:tab pos="549275" algn="l"/>
                        </a:tabLst>
                        <a:defRPr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1600" b="1" i="0" u="none" strike="noStrike" cap="none" normalizeH="0" baseline="0" dirty="0">
                          <a:ln>
                            <a:solidFill>
                              <a:srgbClr val="FF3300"/>
                            </a:solid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pSp>
        <p:nvGrpSpPr>
          <p:cNvPr id="35" name="组合 34"/>
          <p:cNvGrpSpPr/>
          <p:nvPr/>
        </p:nvGrpSpPr>
        <p:grpSpPr bwMode="auto">
          <a:xfrm>
            <a:off x="168275" y="3917926"/>
            <a:ext cx="8975725" cy="506413"/>
            <a:chOff x="471948" y="4925962"/>
            <a:chExt cx="8436078" cy="505798"/>
          </a:xfrm>
        </p:grpSpPr>
        <p:cxnSp>
          <p:nvCxnSpPr>
            <p:cNvPr id="38924" name="直接箭头连接符 35"/>
            <p:cNvCxnSpPr/>
            <p:nvPr/>
          </p:nvCxnSpPr>
          <p:spPr bwMode="auto">
            <a:xfrm>
              <a:off x="3602743" y="5431760"/>
              <a:ext cx="2281591" cy="0"/>
            </a:xfrm>
            <a:prstGeom prst="straightConnector1">
              <a:avLst/>
            </a:prstGeom>
            <a:noFill/>
            <a:ln w="76200" algn="ctr">
              <a:solidFill>
                <a:srgbClr val="FF0000"/>
              </a:solidFill>
              <a:round/>
              <a:tailEnd type="triangle" w="med" len="med"/>
            </a:ln>
          </p:spPr>
        </p:cxnSp>
        <p:cxnSp>
          <p:nvCxnSpPr>
            <p:cNvPr id="38925" name="直接箭头连接符 36"/>
            <p:cNvCxnSpPr/>
            <p:nvPr/>
          </p:nvCxnSpPr>
          <p:spPr bwMode="auto">
            <a:xfrm>
              <a:off x="471948" y="4935794"/>
              <a:ext cx="8367252" cy="0"/>
            </a:xfrm>
            <a:prstGeom prst="straightConnector1">
              <a:avLst/>
            </a:prstGeom>
            <a:noFill/>
            <a:ln w="76200" algn="ctr">
              <a:solidFill>
                <a:srgbClr val="FF0000"/>
              </a:solidFill>
              <a:round/>
              <a:headEnd type="triangle" w="med" len="med"/>
            </a:ln>
          </p:spPr>
        </p:cxnSp>
        <p:cxnSp>
          <p:nvCxnSpPr>
            <p:cNvPr id="38926" name="直接箭头连接符 37"/>
            <p:cNvCxnSpPr/>
            <p:nvPr/>
          </p:nvCxnSpPr>
          <p:spPr bwMode="auto">
            <a:xfrm>
              <a:off x="8583561" y="5358580"/>
              <a:ext cx="324465" cy="0"/>
            </a:xfrm>
            <a:prstGeom prst="straightConnector1">
              <a:avLst/>
            </a:prstGeom>
            <a:noFill/>
            <a:ln w="76200" algn="ctr">
              <a:solidFill>
                <a:srgbClr val="FF0000"/>
              </a:solidFill>
              <a:round/>
              <a:tailEnd type="triangle" w="med" len="med"/>
            </a:ln>
          </p:spPr>
        </p:cxnSp>
        <p:cxnSp>
          <p:nvCxnSpPr>
            <p:cNvPr id="38927" name="直接箭头连接符 38"/>
            <p:cNvCxnSpPr/>
            <p:nvPr/>
          </p:nvCxnSpPr>
          <p:spPr bwMode="auto">
            <a:xfrm flipV="1">
              <a:off x="8829369" y="4925962"/>
              <a:ext cx="0" cy="432618"/>
            </a:xfrm>
            <a:prstGeom prst="straightConnector1">
              <a:avLst/>
            </a:prstGeom>
            <a:noFill/>
            <a:ln w="76200" algn="ctr">
              <a:solidFill>
                <a:srgbClr val="FF0000"/>
              </a:solidFill>
              <a:round/>
              <a:tailEnd type="triangle" w="med" len="med"/>
            </a:ln>
          </p:spPr>
        </p:cxnSp>
        <p:cxnSp>
          <p:nvCxnSpPr>
            <p:cNvPr id="38928" name="直接箭头连接符 39"/>
            <p:cNvCxnSpPr/>
            <p:nvPr/>
          </p:nvCxnSpPr>
          <p:spPr bwMode="auto">
            <a:xfrm>
              <a:off x="526026" y="5353664"/>
              <a:ext cx="324465" cy="0"/>
            </a:xfrm>
            <a:prstGeom prst="straightConnector1">
              <a:avLst/>
            </a:prstGeom>
            <a:noFill/>
            <a:ln w="76200" algn="ctr">
              <a:solidFill>
                <a:srgbClr val="FF0000"/>
              </a:solidFill>
              <a:round/>
              <a:tailEnd type="triangle" w="med" len="med"/>
            </a:ln>
          </p:spPr>
        </p:cxnSp>
        <p:cxnSp>
          <p:nvCxnSpPr>
            <p:cNvPr id="38929" name="直接箭头连接符 40"/>
            <p:cNvCxnSpPr/>
            <p:nvPr/>
          </p:nvCxnSpPr>
          <p:spPr bwMode="auto">
            <a:xfrm>
              <a:off x="516196" y="4940713"/>
              <a:ext cx="0" cy="408036"/>
            </a:xfrm>
            <a:prstGeom prst="straightConnector1">
              <a:avLst/>
            </a:prstGeom>
            <a:noFill/>
            <a:ln w="76200" algn="ctr">
              <a:solidFill>
                <a:srgbClr val="FF0000"/>
              </a:solidFill>
              <a:round/>
              <a:tailEnd type="triangle" w="med" len="med"/>
            </a:ln>
          </p:spPr>
        </p:cxnSp>
        <p:cxnSp>
          <p:nvCxnSpPr>
            <p:cNvPr id="38930" name="直接箭头连接符 42"/>
            <p:cNvCxnSpPr/>
            <p:nvPr/>
          </p:nvCxnSpPr>
          <p:spPr bwMode="auto">
            <a:xfrm>
              <a:off x="3467070" y="4931515"/>
              <a:ext cx="2281591" cy="0"/>
            </a:xfrm>
            <a:prstGeom prst="straightConnector1">
              <a:avLst/>
            </a:prstGeom>
            <a:noFill/>
            <a:ln w="76200" algn="ctr">
              <a:solidFill>
                <a:srgbClr val="FF0000"/>
              </a:solidFill>
              <a:round/>
              <a:headEnd type="triangle" w="med" len="med"/>
            </a:ln>
          </p:spPr>
        </p:cxnSp>
      </p:grpSp>
      <p:sp>
        <p:nvSpPr>
          <p:cNvPr id="2" name="灯片编号占位符 1"/>
          <p:cNvSpPr>
            <a:spLocks noGrp="1"/>
          </p:cNvSpPr>
          <p:nvPr>
            <p:ph type="sldNum" sz="quarter" idx="12"/>
          </p:nvPr>
        </p:nvSpPr>
        <p:spPr/>
        <p:txBody>
          <a:bodyPr/>
          <a:lstStyle/>
          <a:p>
            <a:fld id="{22E77DEE-32E4-4009-988B-F2758F7B8AC2}" type="slidenum">
              <a:rPr lang="zh-CN" altLang="en-US" smtClean="0"/>
              <a:t>79</a:t>
            </a:fld>
            <a:endParaRPr lang="zh-CN"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8" name="Picture 4" descr="http://gtb.baidu.com/HttpService/get?p=dHlwZT1pbWFnZS9qcGVnJm49dmlzJnQ9YWRpbWdfdGImYz10YjppZyZyPTIwMzcwNzUxOTUsMzgxNzYwODA4NwAAA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3591" y="237719"/>
            <a:ext cx="2046759" cy="1625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3" name="标题 1"/>
          <p:cNvSpPr>
            <a:spLocks noGrp="1" noChangeArrowheads="1"/>
          </p:cNvSpPr>
          <p:nvPr>
            <p:ph type="title"/>
          </p:nvPr>
        </p:nvSpPr>
        <p:spPr>
          <a:xfrm>
            <a:off x="400050" y="643067"/>
            <a:ext cx="8072581" cy="504825"/>
          </a:xfrm>
        </p:spPr>
        <p:txBody>
          <a:bodyPr>
            <a:noAutofit/>
          </a:bodyPr>
          <a:lstStyle/>
          <a:p>
            <a:r>
              <a:rPr lang="en-US" altLang="zh-CN" sz="3600" dirty="0"/>
              <a:t>74HC595 interface and its application</a:t>
            </a:r>
            <a:endParaRPr lang="zh-CN" altLang="en-US" sz="3600" dirty="0"/>
          </a:p>
        </p:txBody>
      </p:sp>
      <p:sp>
        <p:nvSpPr>
          <p:cNvPr id="447490" name="Rectangle 2"/>
          <p:cNvSpPr>
            <a:spLocks noGrp="1" noChangeArrowheads="1"/>
          </p:cNvSpPr>
          <p:nvPr>
            <p:ph idx="1"/>
          </p:nvPr>
        </p:nvSpPr>
        <p:spPr>
          <a:xfrm>
            <a:off x="668298" y="1177226"/>
            <a:ext cx="7404100" cy="3895725"/>
          </a:xfrm>
        </p:spPr>
        <p:txBody>
          <a:bodyPr/>
          <a:lstStyle/>
          <a:p>
            <a:pPr marL="176530" indent="-176530" eaLnBrk="1" hangingPunct="1">
              <a:spcBef>
                <a:spcPct val="0"/>
              </a:spcBef>
              <a:buSzPct val="70000"/>
              <a:buFont typeface="Wingdings" panose="05000000000000000000" pitchFamily="2" charset="2"/>
              <a:buChar char="Ø"/>
            </a:pPr>
            <a:r>
              <a:rPr lang="zh-CN" altLang="en-US" dirty="0"/>
              <a:t>The following example demonstrates SPI interface usage with </a:t>
            </a:r>
            <a:r>
              <a:rPr lang="zh-CN" altLang="en-US" dirty="0">
                <a:solidFill>
                  <a:srgbClr val="FF00FF"/>
                </a:solidFill>
              </a:rPr>
              <a:t>a master-slave communication configuration</a:t>
            </a:r>
            <a:r>
              <a:rPr lang="zh-CN" altLang="en-US" dirty="0"/>
              <a:t>. </a:t>
            </a:r>
            <a:r>
              <a:rPr lang="zh-CN" altLang="en-US" dirty="0">
                <a:solidFill>
                  <a:srgbClr val="0000FF"/>
                </a:solidFill>
              </a:rPr>
              <a:t>The IAP15W4K58S4 microcontroller sends data to the 74HC595 shift register, driving the LED display.</a:t>
            </a:r>
            <a:endParaRPr lang="en-US" altLang="zh-CN" dirty="0">
              <a:solidFill>
                <a:srgbClr val="0000FF"/>
              </a:solidFill>
            </a:endParaRPr>
          </a:p>
          <a:p>
            <a:pPr marL="176530" indent="-176530" eaLnBrk="1" hangingPunct="1">
              <a:spcBef>
                <a:spcPct val="0"/>
              </a:spcBef>
              <a:buSzPct val="70000"/>
              <a:buFont typeface="Wingdings" panose="05000000000000000000" pitchFamily="2" charset="2"/>
              <a:buChar char="Ø"/>
            </a:pPr>
            <a:r>
              <a:rPr lang="en-US" altLang="zh-CN" dirty="0"/>
              <a:t>The 74HC595 </a:t>
            </a:r>
            <a:r>
              <a:rPr lang="en-US" altLang="zh-CN" dirty="0">
                <a:solidFill>
                  <a:srgbClr val="FF00FF"/>
                </a:solidFill>
              </a:rPr>
              <a:t>is a serial-to-parallel converter (</a:t>
            </a:r>
            <a:r>
              <a:rPr lang="en-US" altLang="zh-CN" dirty="0">
                <a:solidFill>
                  <a:srgbClr val="0000FF"/>
                </a:solidFill>
              </a:rPr>
              <a:t>8-bit tri-state shift register/output latch</a:t>
            </a:r>
            <a:r>
              <a:rPr lang="en-US" altLang="zh-CN" dirty="0">
                <a:solidFill>
                  <a:srgbClr val="FF00FF"/>
                </a:solidFill>
              </a:rPr>
              <a:t>) developed for Motorolas SPI bus.</a:t>
            </a:r>
          </a:p>
          <a:p>
            <a:pPr marL="176530" indent="-176530" eaLnBrk="1" hangingPunct="1">
              <a:spcBef>
                <a:spcPct val="0"/>
              </a:spcBef>
              <a:buSzPct val="70000"/>
              <a:buFont typeface="Wingdings" panose="05000000000000000000" pitchFamily="2" charset="2"/>
              <a:buChar char="Ø"/>
            </a:pPr>
            <a:r>
              <a:rPr lang="zh-CN" altLang="en-US" dirty="0"/>
              <a:t>The 74HC595 is </a:t>
            </a:r>
            <a:r>
              <a:rPr lang="zh-CN" altLang="en-US" dirty="0">
                <a:solidFill>
                  <a:srgbClr val="C00000"/>
                </a:solidFill>
              </a:rPr>
              <a:t>widely used for I/O port expansion in MCUs (microcontrollers) and MPUs (microprocessors)</a:t>
            </a:r>
            <a:r>
              <a:rPr lang="zh-CN" altLang="en-US" dirty="0"/>
              <a:t> due to its compatibility with TTL, NMOS, and CMOS input/output levels, </a:t>
            </a:r>
            <a:r>
              <a:rPr lang="zh-CN" altLang="en-US" dirty="0">
                <a:solidFill>
                  <a:srgbClr val="FF00FF"/>
                </a:solidFill>
              </a:rPr>
              <a:t>as well as its strong output load capacity.</a:t>
            </a:r>
          </a:p>
        </p:txBody>
      </p:sp>
      <p:grpSp>
        <p:nvGrpSpPr>
          <p:cNvPr id="8" name="组合 7"/>
          <p:cNvGrpSpPr/>
          <p:nvPr/>
        </p:nvGrpSpPr>
        <p:grpSpPr bwMode="auto">
          <a:xfrm>
            <a:off x="677903" y="4341168"/>
            <a:ext cx="8067779" cy="1939884"/>
            <a:chOff x="9225643" y="-83369"/>
            <a:chExt cx="9144000" cy="2438403"/>
          </a:xfrm>
        </p:grpSpPr>
        <p:pic>
          <p:nvPicPr>
            <p:cNvPr id="66569" name="图片 8">
              <a:hlinkClick r:id="" action="ppaction://noaction"/>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5643" y="-83369"/>
              <a:ext cx="9144000" cy="2438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6570" name="组合 9"/>
            <p:cNvGrpSpPr/>
            <p:nvPr/>
          </p:nvGrpSpPr>
          <p:grpSpPr bwMode="auto">
            <a:xfrm>
              <a:off x="10947161" y="-50317"/>
              <a:ext cx="7194516" cy="2220670"/>
              <a:chOff x="10849190" y="450425"/>
              <a:chExt cx="7194516" cy="2220670"/>
            </a:xfrm>
          </p:grpSpPr>
          <p:sp>
            <p:nvSpPr>
              <p:cNvPr id="66571" name="Rectangle 8"/>
              <p:cNvSpPr>
                <a:spLocks noChangeArrowheads="1"/>
              </p:cNvSpPr>
              <p:nvPr/>
            </p:nvSpPr>
            <p:spPr bwMode="auto">
              <a:xfrm>
                <a:off x="13210865" y="591587"/>
                <a:ext cx="950349" cy="5029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dirty="0">
                    <a:solidFill>
                      <a:srgbClr val="FF00FF"/>
                    </a:solidFill>
                  </a:rPr>
                  <a:t>//</a:t>
                </a:r>
                <a:endParaRPr lang="zh-CN" altLang="en-US" sz="4000" b="1" dirty="0">
                  <a:solidFill>
                    <a:srgbClr val="800000"/>
                  </a:solidFill>
                </a:endParaRPr>
              </a:p>
            </p:txBody>
          </p:sp>
          <p:graphicFrame>
            <p:nvGraphicFramePr>
              <p:cNvPr id="66572" name="Object 17"/>
              <p:cNvGraphicFramePr>
                <a:graphicFrameLocks noChangeAspect="1"/>
              </p:cNvGraphicFramePr>
              <p:nvPr>
                <p:extLst>
                  <p:ext uri="{D42A27DB-BD31-4B8C-83A1-F6EECF244321}">
                    <p14:modId xmlns:p14="http://schemas.microsoft.com/office/powerpoint/2010/main" val="3648540665"/>
                  </p:ext>
                </p:extLst>
              </p:nvPr>
            </p:nvGraphicFramePr>
            <p:xfrm>
              <a:off x="10849190" y="2132432"/>
              <a:ext cx="457199" cy="500744"/>
            </p:xfrm>
            <a:graphic>
              <a:graphicData uri="http://schemas.openxmlformats.org/presentationml/2006/ole">
                <mc:AlternateContent xmlns:mc="http://schemas.openxmlformats.org/markup-compatibility/2006">
                  <mc:Choice xmlns:v="urn:schemas-microsoft-com:vml" Requires="v">
                    <p:oleObj name="Equation" r:id="rId4" imgW="203200" imgH="215900" progId="Equation.DSMT4">
                      <p:embed/>
                    </p:oleObj>
                  </mc:Choice>
                  <mc:Fallback>
                    <p:oleObj name="Equation" r:id="rId4" imgW="203200" imgH="215900" progId="Equation.DSMT4">
                      <p:embed/>
                      <p:pic>
                        <p:nvPicPr>
                          <p:cNvPr id="66572" name="Object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49190" y="2132432"/>
                            <a:ext cx="457199" cy="500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Rectangle 8"/>
              <p:cNvSpPr>
                <a:spLocks noChangeArrowheads="1"/>
              </p:cNvSpPr>
              <p:nvPr/>
            </p:nvSpPr>
            <p:spPr bwMode="auto">
              <a:xfrm>
                <a:off x="15019230" y="1612079"/>
                <a:ext cx="3024476" cy="104454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defRPr/>
                </a:pPr>
                <a:r>
                  <a:rPr lang="zh-CN" altLang="en-US" sz="1200" kern="0" dirty="0">
                    <a:solidFill>
                      <a:srgbClr val="3333FF"/>
                    </a:solidFill>
                    <a:ea typeface="宋体" panose="02010600030101010101" pitchFamily="2" charset="-122"/>
                  </a:rPr>
                  <a:t>Two shift registers can be thought of as</a:t>
                </a:r>
                <a:endParaRPr lang="en-US" altLang="zh-CN" sz="3200" kern="0" dirty="0">
                  <a:solidFill>
                    <a:srgbClr val="3333FF"/>
                  </a:solidFill>
                  <a:ea typeface="宋体" panose="02010600030101010101" pitchFamily="2" charset="-122"/>
                </a:endParaRPr>
              </a:p>
              <a:p>
                <a:pPr algn="ctr">
                  <a:defRPr/>
                </a:pPr>
                <a:r>
                  <a:rPr lang="zh-CN" altLang="en-US" sz="1200" kern="0" dirty="0">
                    <a:solidFill>
                      <a:srgbClr val="3333FF"/>
                    </a:solidFill>
                    <a:ea typeface="宋体" panose="02010600030101010101" pitchFamily="2" charset="-122"/>
                  </a:rPr>
                  <a:t>A 16-bit cyclic shift register</a:t>
                </a:r>
                <a:endParaRPr lang="en-US" altLang="zh-CN" sz="3200" kern="0" dirty="0">
                  <a:solidFill>
                    <a:srgbClr val="3333FF"/>
                  </a:solidFill>
                  <a:ea typeface="宋体" panose="02010600030101010101" pitchFamily="2" charset="-122"/>
                </a:endParaRPr>
              </a:p>
              <a:p>
                <a:pPr algn="ctr">
                  <a:defRPr/>
                </a:pPr>
                <a:r>
                  <a:rPr lang="en-US" altLang="zh-CN" sz="1200" dirty="0">
                    <a:solidFill>
                      <a:srgbClr val="FF00FF"/>
                    </a:solidFill>
                    <a:ea typeface="宋体" panose="02010600030101010101" pitchFamily="2" charset="-122"/>
                  </a:rPr>
                  <a:t>The 74HC595 does not need to send data to the host</a:t>
                </a:r>
                <a:endParaRPr lang="zh-CN" altLang="en-US" sz="3200" b="1" dirty="0">
                  <a:solidFill>
                    <a:srgbClr val="FF00FF"/>
                  </a:solidFill>
                  <a:ea typeface="宋体" panose="02010600030101010101" pitchFamily="2" charset="-122"/>
                </a:endParaRPr>
              </a:p>
            </p:txBody>
          </p:sp>
          <p:sp>
            <p:nvSpPr>
              <p:cNvPr id="66574" name="Rectangle 8">
                <a:hlinkClick r:id="rId6" action="ppaction://hlinksldjump"/>
              </p:cNvPr>
              <p:cNvSpPr>
                <a:spLocks noChangeArrowheads="1"/>
              </p:cNvSpPr>
              <p:nvPr/>
            </p:nvSpPr>
            <p:spPr bwMode="auto">
              <a:xfrm>
                <a:off x="11464774" y="1516657"/>
                <a:ext cx="950349" cy="4255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dirty="0">
                    <a:solidFill>
                      <a:srgbClr val="FF00FF"/>
                    </a:solidFill>
                  </a:rPr>
                  <a:t>P4.3</a:t>
                </a:r>
                <a:endParaRPr lang="zh-CN" altLang="en-US" sz="3200" b="1" dirty="0">
                  <a:solidFill>
                    <a:srgbClr val="800000"/>
                  </a:solidFill>
                </a:endParaRPr>
              </a:p>
            </p:txBody>
          </p:sp>
          <p:sp>
            <p:nvSpPr>
              <p:cNvPr id="16" name="Rectangle 8"/>
              <p:cNvSpPr>
                <a:spLocks noChangeArrowheads="1"/>
              </p:cNvSpPr>
              <p:nvPr/>
            </p:nvSpPr>
            <p:spPr bwMode="auto">
              <a:xfrm>
                <a:off x="11415939" y="1009256"/>
                <a:ext cx="950818" cy="425557"/>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defRPr/>
                </a:pPr>
                <a:r>
                  <a:rPr lang="en-US" altLang="zh-CN" sz="1600" spc="-150" dirty="0">
                    <a:solidFill>
                      <a:srgbClr val="FF00FF"/>
                    </a:solidFill>
                    <a:latin typeface="Arial" panose="020B0604020202020204" pitchFamily="34" charset="0"/>
                    <a:ea typeface="宋体" panose="02010600030101010101" pitchFamily="2" charset="-122"/>
                  </a:rPr>
                  <a:t>P4.0</a:t>
                </a:r>
                <a:endParaRPr lang="zh-CN" altLang="en-US" sz="3200" b="1" spc="-150" dirty="0">
                  <a:solidFill>
                    <a:srgbClr val="800000"/>
                  </a:solidFill>
                  <a:latin typeface="Arial" panose="020B0604020202020204" pitchFamily="34" charset="0"/>
                  <a:ea typeface="宋体" panose="02010600030101010101" pitchFamily="2" charset="-122"/>
                </a:endParaRPr>
              </a:p>
            </p:txBody>
          </p:sp>
          <p:sp>
            <p:nvSpPr>
              <p:cNvPr id="66576" name="Rectangle 8"/>
              <p:cNvSpPr>
                <a:spLocks noChangeArrowheads="1"/>
              </p:cNvSpPr>
              <p:nvPr/>
            </p:nvSpPr>
            <p:spPr bwMode="auto">
              <a:xfrm>
                <a:off x="13973964" y="450425"/>
                <a:ext cx="950349" cy="369332"/>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b="1">
                  <a:solidFill>
                    <a:srgbClr val="800000"/>
                  </a:solidFill>
                </a:endParaRPr>
              </a:p>
            </p:txBody>
          </p:sp>
          <p:sp>
            <p:nvSpPr>
              <p:cNvPr id="66577" name="Rectangle 8"/>
              <p:cNvSpPr>
                <a:spLocks noChangeArrowheads="1"/>
              </p:cNvSpPr>
              <p:nvPr/>
            </p:nvSpPr>
            <p:spPr bwMode="auto">
              <a:xfrm>
                <a:off x="13973963" y="958245"/>
                <a:ext cx="831883" cy="425557"/>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b="1" dirty="0">
                    <a:solidFill>
                      <a:srgbClr val="FF00FF"/>
                    </a:solidFill>
                    <a:latin typeface="+mn-lt"/>
                  </a:rPr>
                  <a:t>SI</a:t>
                </a:r>
                <a:endParaRPr lang="zh-CN" altLang="en-US" sz="3200" b="1" dirty="0">
                  <a:solidFill>
                    <a:srgbClr val="FF00FF"/>
                  </a:solidFill>
                  <a:latin typeface="+mn-lt"/>
                </a:endParaRPr>
              </a:p>
            </p:txBody>
          </p:sp>
          <p:sp>
            <p:nvSpPr>
              <p:cNvPr id="66578" name="Rectangle 8"/>
              <p:cNvSpPr>
                <a:spLocks noChangeArrowheads="1"/>
              </p:cNvSpPr>
              <p:nvPr/>
            </p:nvSpPr>
            <p:spPr bwMode="auto">
              <a:xfrm>
                <a:off x="13810764" y="1481454"/>
                <a:ext cx="968828" cy="425557"/>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b="1" dirty="0">
                    <a:solidFill>
                      <a:srgbClr val="FF00FF"/>
                    </a:solidFill>
                    <a:latin typeface="+mn-lt"/>
                  </a:rPr>
                  <a:t>SCK</a:t>
                </a:r>
                <a:endParaRPr lang="zh-CN" altLang="en-US" sz="3200" b="1" dirty="0">
                  <a:solidFill>
                    <a:srgbClr val="800000"/>
                  </a:solidFill>
                  <a:latin typeface="+mn-lt"/>
                </a:endParaRPr>
              </a:p>
            </p:txBody>
          </p:sp>
          <p:sp>
            <p:nvSpPr>
              <p:cNvPr id="66579" name="Rectangle 8"/>
              <p:cNvSpPr>
                <a:spLocks noChangeArrowheads="1"/>
              </p:cNvSpPr>
              <p:nvPr/>
            </p:nvSpPr>
            <p:spPr bwMode="auto">
              <a:xfrm>
                <a:off x="13905490" y="2101236"/>
                <a:ext cx="968828" cy="425557"/>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dirty="0">
                    <a:solidFill>
                      <a:srgbClr val="FF00FF"/>
                    </a:solidFill>
                  </a:rPr>
                  <a:t>RCK</a:t>
                </a:r>
                <a:endParaRPr lang="zh-CN" altLang="en-US" sz="3200" b="1" dirty="0">
                  <a:solidFill>
                    <a:srgbClr val="800000"/>
                  </a:solidFill>
                </a:endParaRPr>
              </a:p>
            </p:txBody>
          </p:sp>
          <p:sp>
            <p:nvSpPr>
              <p:cNvPr id="66580" name="Rectangle 8">
                <a:hlinkClick r:id="rId6" action="ppaction://hlinksldjump"/>
              </p:cNvPr>
              <p:cNvSpPr>
                <a:spLocks noChangeArrowheads="1"/>
              </p:cNvSpPr>
              <p:nvPr/>
            </p:nvSpPr>
            <p:spPr bwMode="auto">
              <a:xfrm>
                <a:off x="11125199" y="2168163"/>
                <a:ext cx="1102749" cy="5029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dirty="0">
                    <a:solidFill>
                      <a:srgbClr val="FF00FF"/>
                    </a:solidFill>
                  </a:rPr>
                  <a:t>/ P5.4</a:t>
                </a:r>
                <a:endParaRPr lang="zh-CN" altLang="en-US" sz="4000" b="1" dirty="0">
                  <a:solidFill>
                    <a:srgbClr val="800000"/>
                  </a:solidFill>
                </a:endParaRPr>
              </a:p>
            </p:txBody>
          </p:sp>
        </p:gr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noChangeArrowheads="1"/>
          </p:cNvSpPr>
          <p:nvPr>
            <p:ph type="title"/>
          </p:nvPr>
        </p:nvSpPr>
        <p:spPr>
          <a:xfrm>
            <a:off x="914401" y="295213"/>
            <a:ext cx="8922326" cy="831478"/>
          </a:xfrm>
        </p:spPr>
        <p:txBody>
          <a:bodyPr>
            <a:normAutofit/>
          </a:bodyPr>
          <a:lstStyle/>
          <a:p>
            <a:r>
              <a:rPr lang="en-US" altLang="zh-CN" sz="3600" dirty="0"/>
              <a:t>74HC595 Interface and Its Applications</a:t>
            </a:r>
            <a:endParaRPr lang="zh-CN" altLang="en-US" sz="3600" dirty="0"/>
          </a:p>
        </p:txBody>
      </p:sp>
      <p:sp>
        <p:nvSpPr>
          <p:cNvPr id="829443" name="Rectangle 3"/>
          <p:cNvSpPr>
            <a:spLocks noGrp="1" noChangeArrowheads="1"/>
          </p:cNvSpPr>
          <p:nvPr>
            <p:ph idx="1"/>
          </p:nvPr>
        </p:nvSpPr>
        <p:spPr>
          <a:xfrm>
            <a:off x="398463" y="1093788"/>
            <a:ext cx="8229600" cy="4983162"/>
          </a:xfrm>
        </p:spPr>
        <p:txBody>
          <a:bodyPr>
            <a:normAutofit/>
          </a:bodyPr>
          <a:lstStyle/>
          <a:p>
            <a:pPr eaLnBrk="1" hangingPunct="1">
              <a:lnSpc>
                <a:spcPct val="124000"/>
              </a:lnSpc>
              <a:spcBef>
                <a:spcPct val="0"/>
              </a:spcBef>
              <a:spcAft>
                <a:spcPts val="1800"/>
              </a:spcAft>
            </a:pPr>
            <a:r>
              <a:rPr lang="en-US" altLang="zh-CN" dirty="0">
                <a:solidFill>
                  <a:srgbClr val="FF0000"/>
                </a:solidFill>
              </a:rPr>
              <a:t>The 74HC595 operates at 30MHz clock speed with 5V power supply, and each parallel output port can handle 20mA sink and source currents. </a:t>
            </a:r>
            <a:r>
              <a:rPr lang="en-US" altLang="zh-CN" dirty="0">
                <a:solidFill>
                  <a:schemeClr val="tx1"/>
                </a:solidFill>
              </a:rPr>
              <a:t>This feature </a:t>
            </a:r>
            <a:r>
              <a:rPr lang="en-US" altLang="zh-CN" dirty="0">
                <a:solidFill>
                  <a:srgbClr val="FF0000"/>
                </a:solidFill>
              </a:rPr>
              <a:t>enables easy LED driving</a:t>
            </a:r>
            <a:r>
              <a:rPr lang="en-US" altLang="zh-CN" dirty="0">
                <a:solidFill>
                  <a:schemeClr val="tx1"/>
                </a:solidFill>
              </a:rPr>
              <a:t> without requiring additional current amplification circuits.</a:t>
            </a:r>
          </a:p>
          <a:p>
            <a:pPr eaLnBrk="1" hangingPunct="1">
              <a:lnSpc>
                <a:spcPct val="124000"/>
              </a:lnSpc>
              <a:spcBef>
                <a:spcPct val="0"/>
              </a:spcBef>
              <a:spcAft>
                <a:spcPts val="1800"/>
              </a:spcAft>
            </a:pPr>
            <a:r>
              <a:rPr lang="zh-CN" altLang="en-US" dirty="0"/>
              <a:t>Its input terminal </a:t>
            </a:r>
            <a:r>
              <a:rPr lang="zh-CN" altLang="en-US" dirty="0">
                <a:solidFill>
                  <a:srgbClr val="0000FF"/>
                </a:solidFill>
              </a:rPr>
              <a:t>allows 500nS rising (falling) time</a:t>
            </a:r>
            <a:r>
              <a:rPr lang="zh-CN" altLang="en-US" dirty="0"/>
              <a:t>, and can still detect severely distorted clock pulses.</a:t>
            </a:r>
          </a:p>
          <a:p>
            <a:pPr eaLnBrk="1" hangingPunct="1">
              <a:lnSpc>
                <a:spcPct val="124000"/>
              </a:lnSpc>
              <a:spcBef>
                <a:spcPct val="0"/>
              </a:spcBef>
              <a:spcAft>
                <a:spcPts val="1800"/>
              </a:spcAft>
            </a:pPr>
            <a:r>
              <a:rPr lang="zh-CN" altLang="en-US" dirty="0"/>
              <a:t>In this way, the larger transmission line capacitance to ground can be accommodated, </a:t>
            </a:r>
            <a:r>
              <a:rPr lang="zh-CN" altLang="en-US" dirty="0">
                <a:solidFill>
                  <a:srgbClr val="0000FF"/>
                </a:solidFill>
              </a:rPr>
              <a:t>so that the systems anti-interference ability is enhanced.</a:t>
            </a:r>
          </a:p>
        </p:txBody>
      </p:sp>
      <p:sp>
        <p:nvSpPr>
          <p:cNvPr id="67588" name="灯片编号占位符 4"/>
          <p:cNvSpPr>
            <a:spLocks noGrp="1"/>
          </p:cNvSpPr>
          <p:nvPr>
            <p:ph type="sldNum" sz="quarter" idx="10"/>
          </p:nvPr>
        </p:nvSpPr>
        <p:spPr>
          <a:noFill/>
        </p:spPr>
        <p:txBody>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fld id="{01B05FAD-DBDE-4D3C-AEBB-630C3E1DE603}" type="slidenum">
              <a:rPr lang="zh-CN" altLang="en-US"/>
              <a:t>81</a:t>
            </a:fld>
            <a:endParaRPr lang="en-US" altLang="zh-CN"/>
          </a:p>
        </p:txBody>
      </p:sp>
      <p:sp>
        <p:nvSpPr>
          <p:cNvPr id="3" name="日期占位符 2"/>
          <p:cNvSpPr>
            <a:spLocks noGrp="1"/>
          </p:cNvSpPr>
          <p:nvPr>
            <p:ph type="dt" sz="quarter" idx="11"/>
          </p:nvPr>
        </p:nvSpPr>
        <p:spPr/>
        <p:txBody>
          <a:bodyPr/>
          <a:lstStyle/>
          <a:p>
            <a:pPr>
              <a:defRPr/>
            </a:pPr>
            <a:fld id="{F39FCC5F-09EB-4584-8787-8B772103FF88}" type="datetime11">
              <a:rPr lang="zh-CN" altLang="en-US"/>
              <a:t>00:34:51</a:t>
            </a:fld>
            <a:endParaRPr lang="zh-CN" alt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noChangeArrowheads="1"/>
          </p:cNvSpPr>
          <p:nvPr>
            <p:ph type="title"/>
          </p:nvPr>
        </p:nvSpPr>
        <p:spPr>
          <a:xfrm>
            <a:off x="468313" y="304685"/>
            <a:ext cx="8302105" cy="831478"/>
          </a:xfrm>
        </p:spPr>
        <p:txBody>
          <a:bodyPr>
            <a:noAutofit/>
          </a:bodyPr>
          <a:lstStyle/>
          <a:p>
            <a:r>
              <a:rPr lang="en-US" altLang="zh-CN" sz="3600" dirty="0"/>
              <a:t>74HC595 Interface and Its Applications</a:t>
            </a:r>
            <a:endParaRPr lang="zh-CN" altLang="en-US" sz="3600" dirty="0"/>
          </a:p>
        </p:txBody>
      </p:sp>
      <p:sp>
        <p:nvSpPr>
          <p:cNvPr id="73734" name="Rectangle 6"/>
          <p:cNvSpPr>
            <a:spLocks noChangeArrowheads="1"/>
          </p:cNvSpPr>
          <p:nvPr/>
        </p:nvSpPr>
        <p:spPr bwMode="auto">
          <a:xfrm>
            <a:off x="2232025" y="6243638"/>
            <a:ext cx="3429000" cy="46196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200" b="1">
                <a:solidFill>
                  <a:srgbClr val="800000"/>
                </a:solidFill>
              </a:rPr>
              <a:t>74HC595 logic circuit diagram</a:t>
            </a:r>
            <a:endParaRPr lang="zh-CN" altLang="en-US" sz="1200" b="1">
              <a:solidFill>
                <a:srgbClr val="800000"/>
              </a:solidFill>
            </a:endParaRPr>
          </a:p>
        </p:txBody>
      </p:sp>
      <p:pic>
        <p:nvPicPr>
          <p:cNvPr id="686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23511"/>
            <a:ext cx="8542469" cy="45602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8617" name="组合 15"/>
          <p:cNvGrpSpPr/>
          <p:nvPr/>
        </p:nvGrpSpPr>
        <p:grpSpPr bwMode="auto">
          <a:xfrm>
            <a:off x="468313" y="4257675"/>
            <a:ext cx="903287" cy="266700"/>
            <a:chOff x="229820" y="8486775"/>
            <a:chExt cx="903655" cy="266704"/>
          </a:xfrm>
        </p:grpSpPr>
        <p:cxnSp>
          <p:nvCxnSpPr>
            <p:cNvPr id="68629" name="直接箭头连接符 8"/>
            <p:cNvCxnSpPr/>
            <p:nvPr/>
          </p:nvCxnSpPr>
          <p:spPr bwMode="auto">
            <a:xfrm flipV="1">
              <a:off x="229820" y="8734426"/>
              <a:ext cx="341680" cy="2"/>
            </a:xfrm>
            <a:prstGeom prst="straightConnector1">
              <a:avLst/>
            </a:prstGeom>
            <a:noFill/>
            <a:ln w="9525" algn="ctr">
              <a:solidFill>
                <a:srgbClr val="FF00FF"/>
              </a:solidFill>
              <a:round/>
            </a:ln>
          </p:spPr>
        </p:cxnSp>
        <p:cxnSp>
          <p:nvCxnSpPr>
            <p:cNvPr id="68630" name="直接箭头连接符 9"/>
            <p:cNvCxnSpPr/>
            <p:nvPr/>
          </p:nvCxnSpPr>
          <p:spPr bwMode="auto">
            <a:xfrm flipV="1">
              <a:off x="553670" y="8515350"/>
              <a:ext cx="0" cy="228604"/>
            </a:xfrm>
            <a:prstGeom prst="straightConnector1">
              <a:avLst/>
            </a:prstGeom>
            <a:noFill/>
            <a:ln w="9525" algn="ctr">
              <a:solidFill>
                <a:srgbClr val="FF00FF"/>
              </a:solidFill>
              <a:round/>
            </a:ln>
          </p:spPr>
        </p:cxnSp>
        <p:cxnSp>
          <p:nvCxnSpPr>
            <p:cNvPr id="68631" name="直接箭头连接符 10"/>
            <p:cNvCxnSpPr/>
            <p:nvPr/>
          </p:nvCxnSpPr>
          <p:spPr bwMode="auto">
            <a:xfrm flipV="1">
              <a:off x="553670" y="8524877"/>
              <a:ext cx="246430" cy="2"/>
            </a:xfrm>
            <a:prstGeom prst="straightConnector1">
              <a:avLst/>
            </a:prstGeom>
            <a:noFill/>
            <a:ln w="9525" algn="ctr">
              <a:solidFill>
                <a:srgbClr val="FF00FF"/>
              </a:solidFill>
              <a:round/>
            </a:ln>
          </p:spPr>
        </p:cxnSp>
        <p:cxnSp>
          <p:nvCxnSpPr>
            <p:cNvPr id="68632" name="直接箭头连接符 11"/>
            <p:cNvCxnSpPr/>
            <p:nvPr/>
          </p:nvCxnSpPr>
          <p:spPr bwMode="auto">
            <a:xfrm flipV="1">
              <a:off x="782270" y="8486775"/>
              <a:ext cx="0" cy="266704"/>
            </a:xfrm>
            <a:prstGeom prst="straightConnector1">
              <a:avLst/>
            </a:prstGeom>
            <a:noFill/>
            <a:ln w="9525" algn="ctr">
              <a:solidFill>
                <a:srgbClr val="FF00FF"/>
              </a:solidFill>
              <a:round/>
            </a:ln>
          </p:spPr>
        </p:cxnSp>
        <p:cxnSp>
          <p:nvCxnSpPr>
            <p:cNvPr id="68633" name="直接箭头连接符 12"/>
            <p:cNvCxnSpPr/>
            <p:nvPr/>
          </p:nvCxnSpPr>
          <p:spPr bwMode="auto">
            <a:xfrm flipV="1">
              <a:off x="791795" y="8734426"/>
              <a:ext cx="341680" cy="2"/>
            </a:xfrm>
            <a:prstGeom prst="straightConnector1">
              <a:avLst/>
            </a:prstGeom>
            <a:noFill/>
            <a:ln w="9525" algn="ctr">
              <a:solidFill>
                <a:srgbClr val="FF00FF"/>
              </a:solidFill>
              <a:round/>
            </a:ln>
          </p:spPr>
        </p:cxnSp>
      </p:grpSp>
      <p:grpSp>
        <p:nvGrpSpPr>
          <p:cNvPr id="68618" name="组合 19"/>
          <p:cNvGrpSpPr/>
          <p:nvPr/>
        </p:nvGrpSpPr>
        <p:grpSpPr bwMode="auto">
          <a:xfrm>
            <a:off x="277813" y="2724150"/>
            <a:ext cx="903287" cy="266700"/>
            <a:chOff x="229820" y="8486775"/>
            <a:chExt cx="903655" cy="266704"/>
          </a:xfrm>
        </p:grpSpPr>
        <p:cxnSp>
          <p:nvCxnSpPr>
            <p:cNvPr id="68624" name="直接箭头连接符 20"/>
            <p:cNvCxnSpPr/>
            <p:nvPr/>
          </p:nvCxnSpPr>
          <p:spPr bwMode="auto">
            <a:xfrm flipV="1">
              <a:off x="229820" y="8734426"/>
              <a:ext cx="341680" cy="2"/>
            </a:xfrm>
            <a:prstGeom prst="straightConnector1">
              <a:avLst/>
            </a:prstGeom>
            <a:noFill/>
            <a:ln w="9525" algn="ctr">
              <a:solidFill>
                <a:srgbClr val="FF00FF"/>
              </a:solidFill>
              <a:round/>
            </a:ln>
          </p:spPr>
        </p:cxnSp>
        <p:cxnSp>
          <p:nvCxnSpPr>
            <p:cNvPr id="68625" name="直接箭头连接符 21"/>
            <p:cNvCxnSpPr/>
            <p:nvPr/>
          </p:nvCxnSpPr>
          <p:spPr bwMode="auto">
            <a:xfrm flipV="1">
              <a:off x="553670" y="8515350"/>
              <a:ext cx="0" cy="228604"/>
            </a:xfrm>
            <a:prstGeom prst="straightConnector1">
              <a:avLst/>
            </a:prstGeom>
            <a:noFill/>
            <a:ln w="9525" algn="ctr">
              <a:solidFill>
                <a:srgbClr val="FF00FF"/>
              </a:solidFill>
              <a:round/>
            </a:ln>
          </p:spPr>
        </p:cxnSp>
        <p:cxnSp>
          <p:nvCxnSpPr>
            <p:cNvPr id="68626" name="直接箭头连接符 22"/>
            <p:cNvCxnSpPr/>
            <p:nvPr/>
          </p:nvCxnSpPr>
          <p:spPr bwMode="auto">
            <a:xfrm flipV="1">
              <a:off x="553670" y="8524877"/>
              <a:ext cx="246430" cy="2"/>
            </a:xfrm>
            <a:prstGeom prst="straightConnector1">
              <a:avLst/>
            </a:prstGeom>
            <a:noFill/>
            <a:ln w="9525" algn="ctr">
              <a:solidFill>
                <a:srgbClr val="FF00FF"/>
              </a:solidFill>
              <a:round/>
            </a:ln>
          </p:spPr>
        </p:cxnSp>
        <p:cxnSp>
          <p:nvCxnSpPr>
            <p:cNvPr id="68627" name="直接箭头连接符 23"/>
            <p:cNvCxnSpPr/>
            <p:nvPr/>
          </p:nvCxnSpPr>
          <p:spPr bwMode="auto">
            <a:xfrm flipV="1">
              <a:off x="782270" y="8486775"/>
              <a:ext cx="0" cy="266704"/>
            </a:xfrm>
            <a:prstGeom prst="straightConnector1">
              <a:avLst/>
            </a:prstGeom>
            <a:noFill/>
            <a:ln w="9525" algn="ctr">
              <a:solidFill>
                <a:srgbClr val="FF00FF"/>
              </a:solidFill>
              <a:round/>
            </a:ln>
          </p:spPr>
        </p:cxnSp>
        <p:cxnSp>
          <p:nvCxnSpPr>
            <p:cNvPr id="68628" name="直接箭头连接符 24"/>
            <p:cNvCxnSpPr/>
            <p:nvPr/>
          </p:nvCxnSpPr>
          <p:spPr bwMode="auto">
            <a:xfrm flipV="1">
              <a:off x="791795" y="8734426"/>
              <a:ext cx="341680" cy="2"/>
            </a:xfrm>
            <a:prstGeom prst="straightConnector1">
              <a:avLst/>
            </a:prstGeom>
            <a:noFill/>
            <a:ln w="9525" algn="ctr">
              <a:solidFill>
                <a:srgbClr val="FF00FF"/>
              </a:solidFill>
              <a:round/>
            </a:ln>
          </p:spPr>
        </p:cxnSp>
      </p:grpSp>
      <p:sp>
        <p:nvSpPr>
          <p:cNvPr id="26" name="Rectangle 6"/>
          <p:cNvSpPr>
            <a:spLocks noChangeArrowheads="1"/>
          </p:cNvSpPr>
          <p:nvPr/>
        </p:nvSpPr>
        <p:spPr bwMode="auto">
          <a:xfrm>
            <a:off x="1701533" y="2984984"/>
            <a:ext cx="803810"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dirty="0">
                <a:solidFill>
                  <a:srgbClr val="FF00FF"/>
                </a:solidFill>
                <a:latin typeface="+mn-lt"/>
              </a:rPr>
              <a:t>shifter</a:t>
            </a:r>
          </a:p>
        </p:txBody>
      </p:sp>
      <p:sp>
        <p:nvSpPr>
          <p:cNvPr id="27" name="Rectangle 6"/>
          <p:cNvSpPr>
            <a:spLocks noChangeArrowheads="1"/>
          </p:cNvSpPr>
          <p:nvPr/>
        </p:nvSpPr>
        <p:spPr bwMode="auto">
          <a:xfrm>
            <a:off x="1735035" y="3855830"/>
            <a:ext cx="598434" cy="338554"/>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b="1" dirty="0">
                <a:solidFill>
                  <a:srgbClr val="FF00FF"/>
                </a:solidFill>
                <a:latin typeface="+mn-lt"/>
              </a:rPr>
              <a:t>latch</a:t>
            </a:r>
          </a:p>
        </p:txBody>
      </p:sp>
      <p:sp>
        <p:nvSpPr>
          <p:cNvPr id="28" name="Rectangle 6"/>
          <p:cNvSpPr>
            <a:spLocks noChangeArrowheads="1"/>
          </p:cNvSpPr>
          <p:nvPr/>
        </p:nvSpPr>
        <p:spPr bwMode="auto">
          <a:xfrm>
            <a:off x="-33624" y="5682153"/>
            <a:ext cx="2429448" cy="338554"/>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b="1" dirty="0">
                <a:solidFill>
                  <a:srgbClr val="FF00FF"/>
                </a:solidFill>
                <a:latin typeface="+mn-lt"/>
              </a:rPr>
              <a:t>Control three-state output</a:t>
            </a:r>
          </a:p>
        </p:txBody>
      </p:sp>
      <p:sp>
        <p:nvSpPr>
          <p:cNvPr id="29" name="Rectangle 6"/>
          <p:cNvSpPr>
            <a:spLocks noChangeArrowheads="1"/>
          </p:cNvSpPr>
          <p:nvPr/>
        </p:nvSpPr>
        <p:spPr bwMode="auto">
          <a:xfrm>
            <a:off x="89798" y="3957222"/>
            <a:ext cx="1098570" cy="338554"/>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b="1" dirty="0">
                <a:solidFill>
                  <a:srgbClr val="FF00FF"/>
                </a:solidFill>
                <a:latin typeface="+mn-lt"/>
              </a:rPr>
              <a:t>Clock latch</a:t>
            </a:r>
          </a:p>
        </p:txBody>
      </p:sp>
      <p:sp>
        <p:nvSpPr>
          <p:cNvPr id="30" name="Rectangle 6"/>
          <p:cNvSpPr>
            <a:spLocks noChangeArrowheads="1"/>
          </p:cNvSpPr>
          <p:nvPr/>
        </p:nvSpPr>
        <p:spPr bwMode="auto">
          <a:xfrm>
            <a:off x="53360" y="3433555"/>
            <a:ext cx="1079142" cy="338554"/>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b="1" dirty="0">
                <a:solidFill>
                  <a:srgbClr val="FF00FF"/>
                </a:solidFill>
                <a:latin typeface="+mn-lt"/>
              </a:rPr>
              <a:t>Shift Clock</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noChangeArrowheads="1"/>
          </p:cNvSpPr>
          <p:nvPr>
            <p:ph type="title"/>
          </p:nvPr>
        </p:nvSpPr>
        <p:spPr>
          <a:xfrm>
            <a:off x="754928" y="271623"/>
            <a:ext cx="8455545" cy="831478"/>
          </a:xfrm>
        </p:spPr>
        <p:txBody>
          <a:bodyPr>
            <a:normAutofit/>
          </a:bodyPr>
          <a:lstStyle/>
          <a:p>
            <a:r>
              <a:rPr lang="en-US" altLang="zh-CN" sz="3600" dirty="0"/>
              <a:t>74HC595 Interface and Its Applications</a:t>
            </a:r>
            <a:endParaRPr lang="zh-CN" altLang="en-US" sz="3600" dirty="0"/>
          </a:p>
        </p:txBody>
      </p:sp>
      <p:sp>
        <p:nvSpPr>
          <p:cNvPr id="6" name="Rectangle 3"/>
          <p:cNvSpPr txBox="1">
            <a:spLocks noChangeArrowheads="1"/>
          </p:cNvSpPr>
          <p:nvPr/>
        </p:nvSpPr>
        <p:spPr bwMode="auto">
          <a:xfrm>
            <a:off x="142542" y="1270865"/>
            <a:ext cx="5481637" cy="2616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l" rtl="0" eaLnBrk="0" fontAlgn="base" hangingPunct="0">
              <a:lnSpc>
                <a:spcPct val="114000"/>
              </a:lnSpc>
              <a:spcBef>
                <a:spcPts val="0"/>
              </a:spcBef>
              <a:spcAft>
                <a:spcPts val="600"/>
              </a:spcAft>
              <a:buBlip>
                <a:blip r:embed="rId2"/>
              </a:buBlip>
              <a:defRPr sz="2800" b="1">
                <a:solidFill>
                  <a:schemeClr val="accent2"/>
                </a:solidFill>
                <a:latin typeface="+mn-lt"/>
                <a:ea typeface="+mn-ea"/>
                <a:cs typeface="+mn-cs"/>
              </a:defRPr>
            </a:lvl1pPr>
            <a:lvl2pPr marL="263525" indent="-180975" algn="l" rtl="0" eaLnBrk="0" fontAlgn="base" hangingPunct="0">
              <a:lnSpc>
                <a:spcPct val="114000"/>
              </a:lnSpc>
              <a:spcBef>
                <a:spcPts val="0"/>
              </a:spcBef>
              <a:spcAft>
                <a:spcPts val="600"/>
              </a:spcAft>
              <a:buBlip>
                <a:blip r:embed="rId3"/>
              </a:buBlip>
              <a:defRPr sz="2800" b="1">
                <a:solidFill>
                  <a:schemeClr val="tx1"/>
                </a:solidFill>
                <a:latin typeface="+mn-lt"/>
                <a:ea typeface="+mn-ea"/>
              </a:defRPr>
            </a:lvl2pPr>
            <a:lvl3pPr marL="1143000" indent="-228600" algn="l"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l"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l"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lvl="1" eaLnBrk="1" hangingPunct="1">
              <a:defRPr/>
            </a:pPr>
            <a:r>
              <a:rPr lang="en-US" altLang="zh-CN" sz="2000" dirty="0"/>
              <a:t>The pin functions of the 74HC595 are described as follows:</a:t>
            </a:r>
          </a:p>
          <a:p>
            <a:pPr lvl="1" eaLnBrk="1" hangingPunct="1">
              <a:defRPr/>
            </a:pPr>
            <a:r>
              <a:rPr lang="en-US" altLang="zh-CN" sz="2000" kern="0" dirty="0">
                <a:solidFill>
                  <a:srgbClr val="FF0000"/>
                </a:solidFill>
              </a:rPr>
              <a:t>SI: </a:t>
            </a:r>
            <a:r>
              <a:rPr lang="en-US" altLang="zh-CN" sz="2000" kern="0" dirty="0">
                <a:solidFill>
                  <a:srgbClr val="9900CC"/>
                </a:solidFill>
              </a:rPr>
              <a:t>Serial data input</a:t>
            </a:r>
            <a:r>
              <a:rPr lang="en-US" altLang="zh-CN" sz="2000" kern="0" dirty="0"/>
              <a:t>, where data is transferred from this pin to the internal 8-bit serial shift register.</a:t>
            </a:r>
            <a:endParaRPr lang="zh-CN" altLang="en-US" sz="2000" kern="0" dirty="0"/>
          </a:p>
        </p:txBody>
      </p:sp>
      <p:sp>
        <p:nvSpPr>
          <p:cNvPr id="13" name="Rectangle 3"/>
          <p:cNvSpPr>
            <a:spLocks noGrp="1" noChangeArrowheads="1"/>
          </p:cNvSpPr>
          <p:nvPr>
            <p:ph idx="1"/>
          </p:nvPr>
        </p:nvSpPr>
        <p:spPr>
          <a:xfrm>
            <a:off x="74945" y="3639127"/>
            <a:ext cx="8926513" cy="2616199"/>
          </a:xfrm>
        </p:spPr>
        <p:txBody>
          <a:bodyPr/>
          <a:lstStyle/>
          <a:p>
            <a:pPr lvl="1" eaLnBrk="1" hangingPunct="1">
              <a:lnSpc>
                <a:spcPct val="95000"/>
              </a:lnSpc>
              <a:spcAft>
                <a:spcPts val="800"/>
              </a:spcAft>
              <a:defRPr/>
            </a:pPr>
            <a:r>
              <a:rPr lang="en-US" altLang="zh-CN" dirty="0">
                <a:solidFill>
                  <a:srgbClr val="FF0000"/>
                </a:solidFill>
                <a:cs typeface="+mn-cs"/>
              </a:rPr>
              <a:t>SCK: </a:t>
            </a:r>
            <a:r>
              <a:rPr lang="en-US" altLang="zh-CN" dirty="0">
                <a:solidFill>
                  <a:srgbClr val="9900CC"/>
                </a:solidFill>
                <a:cs typeface="+mn-cs"/>
              </a:rPr>
              <a:t>Shift register clock input: </a:t>
            </a:r>
            <a:r>
              <a:rPr lang="en-US" altLang="zh-CN" dirty="0">
                <a:solidFill>
                  <a:srgbClr val="FF0000"/>
                </a:solidFill>
                <a:cs typeface="+mn-cs"/>
              </a:rPr>
              <a:t>rising edge. Data shifts from </a:t>
            </a:r>
            <a:r>
              <a:rPr lang="en-US" altLang="zh-CN" dirty="0">
                <a:solidFill>
                  <a:schemeClr val="tx1"/>
                </a:solidFill>
                <a:cs typeface="+mn-cs"/>
              </a:rPr>
              <a:t>QA to QB, then QC, and so on to QH. </a:t>
            </a:r>
            <a:r>
              <a:rPr lang="en-US" altLang="zh-CN" dirty="0">
                <a:solidFill>
                  <a:srgbClr val="0000FF"/>
                </a:solidFill>
                <a:cs typeface="+mn-cs"/>
              </a:rPr>
              <a:t>The register data remains unchanged during the falling edge.</a:t>
            </a:r>
            <a:endParaRPr lang="en-US" altLang="zh-CN" dirty="0">
              <a:solidFill>
                <a:srgbClr val="0000FF"/>
              </a:solidFill>
            </a:endParaRPr>
          </a:p>
          <a:p>
            <a:pPr marL="82550" lvl="1" indent="0" eaLnBrk="1" hangingPunct="1">
              <a:lnSpc>
                <a:spcPct val="95000"/>
              </a:lnSpc>
              <a:spcAft>
                <a:spcPts val="800"/>
              </a:spcAft>
              <a:buFontTx/>
              <a:buNone/>
              <a:defRPr/>
            </a:pPr>
            <a:r>
              <a:rPr lang="en-US" altLang="zh-CN" dirty="0">
                <a:solidFill>
                  <a:schemeClr val="tx1"/>
                </a:solidFill>
              </a:rPr>
              <a:t>(Pulse width: greater than tens of nanoseconds is sufficient at 5V.)</a:t>
            </a:r>
          </a:p>
          <a:p>
            <a:pPr lvl="1" eaLnBrk="1" hangingPunct="1">
              <a:lnSpc>
                <a:spcPct val="95000"/>
              </a:lnSpc>
              <a:spcAft>
                <a:spcPts val="800"/>
              </a:spcAft>
              <a:defRPr/>
            </a:pPr>
            <a:r>
              <a:rPr lang="en-US" altLang="zh-CN" dirty="0">
                <a:solidFill>
                  <a:srgbClr val="FF0000"/>
                </a:solidFill>
              </a:rPr>
              <a:t>QH</a:t>
            </a:r>
            <a:r>
              <a:rPr lang="en-US" altLang="zh-CN" dirty="0">
                <a:solidFill>
                  <a:srgbClr val="9900CC"/>
                </a:solidFill>
              </a:rPr>
              <a:t>: Serial data output for cascading. </a:t>
            </a:r>
            <a:r>
              <a:rPr lang="en-US" altLang="zh-CN" dirty="0">
                <a:solidFill>
                  <a:schemeClr val="tx1"/>
                </a:solidFill>
              </a:rPr>
              <a:t>No three-state output function.</a:t>
            </a:r>
          </a:p>
          <a:p>
            <a:pPr lvl="1" eaLnBrk="1" hangingPunct="1">
              <a:lnSpc>
                <a:spcPct val="95000"/>
              </a:lnSpc>
              <a:spcAft>
                <a:spcPts val="800"/>
              </a:spcAft>
              <a:defRPr/>
            </a:pPr>
            <a:r>
              <a:rPr lang="en-US" altLang="zh-CN" dirty="0">
                <a:solidFill>
                  <a:srgbClr val="FF0000"/>
                </a:solidFill>
              </a:rPr>
              <a:t>QA~QH: </a:t>
            </a:r>
            <a:r>
              <a:rPr lang="en-US" altLang="zh-CN" dirty="0">
                <a:solidFill>
                  <a:srgbClr val="9900CC"/>
                </a:solidFill>
              </a:rPr>
              <a:t>Latch parallel data output</a:t>
            </a:r>
            <a:r>
              <a:rPr lang="en-US" altLang="zh-CN" dirty="0">
                <a:solidFill>
                  <a:schemeClr val="tx1"/>
                </a:solidFill>
              </a:rPr>
              <a:t>, three states</a:t>
            </a:r>
          </a:p>
          <a:p>
            <a:pPr lvl="1" eaLnBrk="1" hangingPunct="1">
              <a:lnSpc>
                <a:spcPct val="95000"/>
              </a:lnSpc>
              <a:spcAft>
                <a:spcPts val="800"/>
              </a:spcAft>
              <a:defRPr/>
            </a:pPr>
            <a:r>
              <a:rPr lang="en-US" altLang="zh-CN" dirty="0">
                <a:solidFill>
                  <a:srgbClr val="FF0000"/>
                </a:solidFill>
              </a:rPr>
              <a:t>/G: </a:t>
            </a:r>
            <a:r>
              <a:rPr lang="en-US" altLang="zh-CN" dirty="0">
                <a:solidFill>
                  <a:srgbClr val="9900CC"/>
                </a:solidFill>
              </a:rPr>
              <a:t>Output enable control terminal. </a:t>
            </a:r>
            <a:r>
              <a:rPr lang="en-US" altLang="zh-CN" dirty="0">
                <a:solidFill>
                  <a:schemeClr val="tx1"/>
                </a:solidFill>
              </a:rPr>
              <a:t>Low level active, maps the latch output to the output parallel port (QA-QH). </a:t>
            </a:r>
            <a:r>
              <a:rPr lang="en-US" altLang="zh-CN" dirty="0">
                <a:solidFill>
                  <a:srgbClr val="0000FF"/>
                </a:solidFill>
              </a:rPr>
              <a:t>When the input is high, it is in high-impedance state.</a:t>
            </a:r>
          </a:p>
          <a:p>
            <a:pPr marL="82550" lvl="1" indent="0" eaLnBrk="1" hangingPunct="1">
              <a:lnSpc>
                <a:spcPct val="95000"/>
              </a:lnSpc>
              <a:spcAft>
                <a:spcPts val="800"/>
              </a:spcAft>
              <a:buFontTx/>
              <a:buNone/>
              <a:defRPr/>
            </a:pPr>
            <a:endParaRPr lang="zh-CN" altLang="en-US" dirty="0"/>
          </a:p>
        </p:txBody>
      </p:sp>
      <p:pic>
        <p:nvPicPr>
          <p:cNvPr id="69642" name="图片 1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78757" y="1270865"/>
            <a:ext cx="2438669" cy="2262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noChangeArrowheads="1"/>
          </p:cNvSpPr>
          <p:nvPr>
            <p:ph type="title"/>
          </p:nvPr>
        </p:nvSpPr>
        <p:spPr>
          <a:xfrm>
            <a:off x="675840" y="320181"/>
            <a:ext cx="8638011" cy="831478"/>
          </a:xfrm>
        </p:spPr>
        <p:txBody>
          <a:bodyPr>
            <a:normAutofit/>
          </a:bodyPr>
          <a:lstStyle/>
          <a:p>
            <a:r>
              <a:rPr lang="en-US" altLang="zh-CN" sz="3600" dirty="0"/>
              <a:t>74HC595 Interface and Its Applications</a:t>
            </a:r>
            <a:endParaRPr lang="zh-CN" altLang="en-US" sz="3600" dirty="0"/>
          </a:p>
        </p:txBody>
      </p:sp>
      <p:sp>
        <p:nvSpPr>
          <p:cNvPr id="15" name="Rectangle 3"/>
          <p:cNvSpPr>
            <a:spLocks noGrp="1" noChangeArrowheads="1"/>
          </p:cNvSpPr>
          <p:nvPr>
            <p:ph idx="1"/>
          </p:nvPr>
        </p:nvSpPr>
        <p:spPr>
          <a:xfrm>
            <a:off x="152643" y="1151659"/>
            <a:ext cx="8875712" cy="1225826"/>
          </a:xfrm>
        </p:spPr>
        <p:txBody>
          <a:bodyPr>
            <a:noAutofit/>
          </a:bodyPr>
          <a:lstStyle/>
          <a:p>
            <a:pPr lvl="1" eaLnBrk="1" hangingPunct="1">
              <a:defRPr/>
            </a:pPr>
            <a:r>
              <a:rPr lang="en-US" altLang="zh-CN" sz="1600" dirty="0">
                <a:solidFill>
                  <a:srgbClr val="FF0000"/>
                </a:solidFill>
                <a:cs typeface="+mn-cs"/>
              </a:rPr>
              <a:t>RCK: The data from the shift register enters the data latch register (</a:t>
            </a:r>
            <a:r>
              <a:rPr lang="en-US" altLang="zh-CN" sz="1600" dirty="0">
                <a:solidFill>
                  <a:srgbClr val="9900CC"/>
                </a:solidFill>
                <a:cs typeface="+mn-cs"/>
              </a:rPr>
              <a:t>latch</a:t>
            </a:r>
            <a:r>
              <a:rPr lang="en-US" altLang="zh-CN" sz="1600" dirty="0">
                <a:solidFill>
                  <a:srgbClr val="FF0000"/>
                </a:solidFill>
                <a:cs typeface="+mn-cs"/>
              </a:rPr>
              <a:t>) during the rising edge of the clock input. </a:t>
            </a:r>
            <a:r>
              <a:rPr lang="en-US" altLang="zh-CN" sz="1600" dirty="0">
                <a:solidFill>
                  <a:schemeClr val="tx1"/>
                </a:solidFill>
                <a:cs typeface="+mn-cs"/>
              </a:rPr>
              <a:t>The latch register data remains unchanged during the falling edge. </a:t>
            </a:r>
            <a:r>
              <a:rPr lang="en-US" altLang="zh-CN" sz="1600" dirty="0">
                <a:solidFill>
                  <a:srgbClr val="0000FF"/>
                </a:solidFill>
                <a:cs typeface="+mn-cs"/>
              </a:rPr>
              <a:t>Typically, RCK is set to a low level.</a:t>
            </a:r>
            <a:endParaRPr lang="en-US" altLang="zh-CN" sz="1600" dirty="0">
              <a:solidFill>
                <a:srgbClr val="0000FF"/>
              </a:solidFill>
            </a:endParaRPr>
          </a:p>
          <a:p>
            <a:pPr lvl="1" eaLnBrk="1" hangingPunct="1">
              <a:defRPr/>
            </a:pPr>
            <a:r>
              <a:rPr lang="zh-CN" altLang="en-US" sz="1600" dirty="0">
                <a:solidFill>
                  <a:schemeClr val="tx1"/>
                </a:solidFill>
              </a:rPr>
              <a:t>After the shift is complete, </a:t>
            </a:r>
            <a:r>
              <a:rPr lang="zh-CN" altLang="en-US" sz="1600" dirty="0">
                <a:solidFill>
                  <a:srgbClr val="0000FF"/>
                </a:solidFill>
              </a:rPr>
              <a:t>a positive pulse is generated at the RCK terminal</a:t>
            </a:r>
            <a:r>
              <a:rPr lang="zh-CN" altLang="en-US" sz="1600" dirty="0">
                <a:solidFill>
                  <a:schemeClr val="tx1"/>
                </a:solidFill>
              </a:rPr>
              <a:t> (when powered by 5V, a pulse duration of tens of nanoseconds or more is sufficient) to update the output data.</a:t>
            </a:r>
          </a:p>
        </p:txBody>
      </p:sp>
      <p:sp>
        <p:nvSpPr>
          <p:cNvPr id="16" name="Rectangle 3"/>
          <p:cNvSpPr txBox="1">
            <a:spLocks noChangeArrowheads="1"/>
          </p:cNvSpPr>
          <p:nvPr/>
        </p:nvSpPr>
        <p:spPr bwMode="auto">
          <a:xfrm>
            <a:off x="152643" y="2358248"/>
            <a:ext cx="8931275" cy="1294908"/>
          </a:xfrm>
          <a:prstGeom prst="rect">
            <a:avLst/>
          </a:prstGeom>
        </p:spPr>
        <p:txBody>
          <a:bodyPr vert="horz" lIns="0" tIns="45720" rIns="0" bIns="45720" rtlCol="0">
            <a:noAutofit/>
          </a:bodyPr>
          <a:lstStyle>
            <a:lvl1pPr marL="91440" indent="-91440" defTabSz="914400">
              <a:lnSpc>
                <a:spcPct val="90000"/>
              </a:lnSpc>
              <a:spcBef>
                <a:spcPts val="1200"/>
              </a:spcBef>
              <a:spcAft>
                <a:spcPts val="200"/>
              </a:spcAft>
              <a:buClr>
                <a:schemeClr val="accent1"/>
              </a:buClr>
              <a:buSzPct val="100000"/>
              <a:buFont typeface="Calibri" panose="020F0502020204030204" pitchFamily="34" charset="0"/>
              <a:buChar char=" "/>
              <a:defRPr sz="2000">
                <a:solidFill>
                  <a:schemeClr val="tx1">
                    <a:lumMod val="75000"/>
                    <a:lumOff val="25000"/>
                  </a:schemeClr>
                </a:solidFill>
              </a:defRPr>
            </a:lvl1pPr>
            <a:lvl2pPr marL="384175" lvl="1" indent="-182880" defTabSz="914400">
              <a:lnSpc>
                <a:spcPct val="90000"/>
              </a:lnSpc>
              <a:spcBef>
                <a:spcPts val="200"/>
              </a:spcBef>
              <a:spcAft>
                <a:spcPts val="400"/>
              </a:spcAft>
              <a:buClr>
                <a:schemeClr val="accent1"/>
              </a:buClr>
              <a:buFont typeface="Calibri" panose="020F0502020204030204" pitchFamily="34" charset="0"/>
              <a:buChar char="◦"/>
              <a:defRPr>
                <a:solidFill>
                  <a:srgbClr val="FF0000"/>
                </a:solidFill>
              </a:defRPr>
            </a:lvl2pPr>
            <a:lvl3pPr marL="567055" indent="-182880" defTabSz="914400">
              <a:lnSpc>
                <a:spcPct val="90000"/>
              </a:lnSpc>
              <a:spcBef>
                <a:spcPts val="200"/>
              </a:spcBef>
              <a:spcAft>
                <a:spcPts val="400"/>
              </a:spcAft>
              <a:buClr>
                <a:schemeClr val="accent1"/>
              </a:buClr>
              <a:buFont typeface="Calibri" panose="020F0502020204030204" pitchFamily="34" charset="0"/>
              <a:buChar char="◦"/>
              <a:defRPr sz="1400">
                <a:solidFill>
                  <a:schemeClr val="tx1">
                    <a:lumMod val="75000"/>
                    <a:lumOff val="25000"/>
                  </a:schemeClr>
                </a:solidFill>
              </a:defRPr>
            </a:lvl3pPr>
            <a:lvl4pPr marL="749935" indent="-182880" defTabSz="914400">
              <a:lnSpc>
                <a:spcPct val="90000"/>
              </a:lnSpc>
              <a:spcBef>
                <a:spcPts val="200"/>
              </a:spcBef>
              <a:spcAft>
                <a:spcPts val="400"/>
              </a:spcAft>
              <a:buClr>
                <a:schemeClr val="accent1"/>
              </a:buClr>
              <a:buFont typeface="Calibri" panose="020F0502020204030204" pitchFamily="34" charset="0"/>
              <a:buChar char="◦"/>
              <a:defRPr sz="1400">
                <a:solidFill>
                  <a:schemeClr val="tx1">
                    <a:lumMod val="75000"/>
                    <a:lumOff val="25000"/>
                  </a:schemeClr>
                </a:solidFill>
              </a:defRPr>
            </a:lvl4pPr>
            <a:lvl5pPr marL="932815" indent="-182880" defTabSz="914400">
              <a:lnSpc>
                <a:spcPct val="90000"/>
              </a:lnSpc>
              <a:spcBef>
                <a:spcPts val="200"/>
              </a:spcBef>
              <a:spcAft>
                <a:spcPts val="400"/>
              </a:spcAft>
              <a:buClr>
                <a:schemeClr val="accent1"/>
              </a:buClr>
              <a:buFont typeface="Calibri" panose="020F0502020204030204" pitchFamily="34" charset="0"/>
              <a:buChar char="◦"/>
              <a:defRPr sz="1400">
                <a:solidFill>
                  <a:schemeClr val="tx1">
                    <a:lumMod val="75000"/>
                    <a:lumOff val="25000"/>
                  </a:schemeClr>
                </a:solidFill>
              </a:defRPr>
            </a:lvl5pPr>
            <a:lvl6pPr marL="1099820" indent="-228600" defTabSz="914400">
              <a:lnSpc>
                <a:spcPct val="90000"/>
              </a:lnSpc>
              <a:spcBef>
                <a:spcPts val="200"/>
              </a:spcBef>
              <a:spcAft>
                <a:spcPts val="400"/>
              </a:spcAft>
              <a:buClr>
                <a:schemeClr val="accent1"/>
              </a:buClr>
              <a:buFont typeface="Calibri" panose="020F0502020204030204" pitchFamily="34" charset="0"/>
              <a:buChar char="◦"/>
              <a:defRPr sz="1400">
                <a:solidFill>
                  <a:schemeClr val="tx1">
                    <a:lumMod val="75000"/>
                    <a:lumOff val="25000"/>
                  </a:schemeClr>
                </a:solidFill>
              </a:defRPr>
            </a:lvl6pPr>
            <a:lvl7pPr marL="1299845" indent="-228600" defTabSz="914400">
              <a:lnSpc>
                <a:spcPct val="90000"/>
              </a:lnSpc>
              <a:spcBef>
                <a:spcPts val="200"/>
              </a:spcBef>
              <a:spcAft>
                <a:spcPts val="400"/>
              </a:spcAft>
              <a:buClr>
                <a:schemeClr val="accent1"/>
              </a:buClr>
              <a:buFont typeface="Calibri" panose="020F0502020204030204" pitchFamily="34" charset="0"/>
              <a:buChar char="◦"/>
              <a:defRPr sz="1400">
                <a:solidFill>
                  <a:schemeClr val="tx1">
                    <a:lumMod val="75000"/>
                    <a:lumOff val="25000"/>
                  </a:schemeClr>
                </a:solidFill>
              </a:defRPr>
            </a:lvl7pPr>
            <a:lvl8pPr marL="1499870" indent="-228600" defTabSz="914400">
              <a:lnSpc>
                <a:spcPct val="90000"/>
              </a:lnSpc>
              <a:spcBef>
                <a:spcPts val="200"/>
              </a:spcBef>
              <a:spcAft>
                <a:spcPts val="400"/>
              </a:spcAft>
              <a:buClr>
                <a:schemeClr val="accent1"/>
              </a:buClr>
              <a:buFont typeface="Calibri" panose="020F0502020204030204" pitchFamily="34" charset="0"/>
              <a:buChar char="◦"/>
              <a:defRPr sz="1400">
                <a:solidFill>
                  <a:schemeClr val="tx1">
                    <a:lumMod val="75000"/>
                    <a:lumOff val="25000"/>
                  </a:schemeClr>
                </a:solidFill>
              </a:defRPr>
            </a:lvl8pPr>
            <a:lvl9pPr marL="1699895" indent="-228600" defTabSz="914400">
              <a:lnSpc>
                <a:spcPct val="90000"/>
              </a:lnSpc>
              <a:spcBef>
                <a:spcPts val="200"/>
              </a:spcBef>
              <a:spcAft>
                <a:spcPts val="400"/>
              </a:spcAft>
              <a:buClr>
                <a:schemeClr val="accent1"/>
              </a:buClr>
              <a:buFont typeface="Calibri" panose="020F0502020204030204" pitchFamily="34" charset="0"/>
              <a:buChar char="◦"/>
              <a:defRPr sz="1400">
                <a:solidFill>
                  <a:schemeClr val="tx1">
                    <a:lumMod val="75000"/>
                    <a:lumOff val="25000"/>
                  </a:schemeClr>
                </a:solidFill>
              </a:defRPr>
            </a:lvl9pPr>
          </a:lstStyle>
          <a:p>
            <a:pPr lvl="1"/>
            <a:r>
              <a:rPr lang="en-US" altLang="zh-CN" sz="1600" dirty="0"/>
              <a:t>SCLR: Shift register reset input. Low level effective. When this pin is low, it resets the internal shift register (clear 0), but does not affect the 8-bit latch value. Typically, it can be connected to Vcc during operation.</a:t>
            </a:r>
          </a:p>
          <a:p>
            <a:pPr lvl="1"/>
            <a:r>
              <a:rPr lang="en-US" altLang="zh-CN" sz="1600" dirty="0"/>
              <a:t>GND: Ground</a:t>
            </a:r>
          </a:p>
          <a:p>
            <a:pPr lvl="1"/>
            <a:r>
              <a:rPr lang="en-US" altLang="zh-CN" sz="1600" dirty="0"/>
              <a:t>VCC: Power supply positive, typically 5VDC.</a:t>
            </a:r>
            <a:endParaRPr lang="zh-CN" altLang="en-US" sz="1600" dirty="0"/>
          </a:p>
        </p:txBody>
      </p:sp>
      <p:grpSp>
        <p:nvGrpSpPr>
          <p:cNvPr id="17" name="组合 16"/>
          <p:cNvGrpSpPr/>
          <p:nvPr/>
        </p:nvGrpSpPr>
        <p:grpSpPr bwMode="auto">
          <a:xfrm>
            <a:off x="473228" y="3733651"/>
            <a:ext cx="7878129" cy="2575865"/>
            <a:chOff x="88136" y="6810376"/>
            <a:chExt cx="9055864" cy="3048000"/>
          </a:xfrm>
        </p:grpSpPr>
        <p:pic>
          <p:nvPicPr>
            <p:cNvPr id="706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136" y="6810376"/>
              <a:ext cx="9055864" cy="3048000"/>
            </a:xfrm>
            <a:prstGeom prst="rect">
              <a:avLst/>
            </a:prstGeom>
            <a:noFill/>
            <a:ln w="9525">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sp>
          <p:nvSpPr>
            <p:cNvPr id="70667" name="矩形 18"/>
            <p:cNvSpPr>
              <a:spLocks noChangeArrowheads="1"/>
            </p:cNvSpPr>
            <p:nvPr/>
          </p:nvSpPr>
          <p:spPr bwMode="auto">
            <a:xfrm>
              <a:off x="835427" y="8073509"/>
              <a:ext cx="14670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000" b="1">
                  <a:solidFill>
                    <a:srgbClr val="FF00FF"/>
                  </a:solidFill>
                </a:rPr>
                <a:t>MOS shift register</a:t>
              </a:r>
            </a:p>
          </p:txBody>
        </p:sp>
        <p:cxnSp>
          <p:nvCxnSpPr>
            <p:cNvPr id="70668" name="直接箭头连接符 19"/>
            <p:cNvCxnSpPr/>
            <p:nvPr/>
          </p:nvCxnSpPr>
          <p:spPr bwMode="auto">
            <a:xfrm flipV="1">
              <a:off x="1971675" y="7896225"/>
              <a:ext cx="180975" cy="266701"/>
            </a:xfrm>
            <a:prstGeom prst="straightConnector1">
              <a:avLst/>
            </a:prstGeom>
            <a:noFill/>
            <a:ln w="9525" algn="ctr">
              <a:solidFill>
                <a:srgbClr val="FF00FF"/>
              </a:solidFill>
              <a:round/>
              <a:tailEnd type="triangle" w="med" len="med"/>
            </a:ln>
          </p:spPr>
        </p:cxnSp>
        <p:sp>
          <p:nvSpPr>
            <p:cNvPr id="70669" name="矩形 20"/>
            <p:cNvSpPr>
              <a:spLocks noChangeArrowheads="1"/>
            </p:cNvSpPr>
            <p:nvPr/>
          </p:nvSpPr>
          <p:spPr bwMode="auto">
            <a:xfrm>
              <a:off x="1168107" y="8349734"/>
              <a:ext cx="10321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000" b="1">
                  <a:solidFill>
                    <a:srgbClr val="3333FF"/>
                  </a:solidFill>
                </a:rPr>
                <a:t>latch</a:t>
              </a:r>
            </a:p>
          </p:txBody>
        </p:sp>
        <p:cxnSp>
          <p:nvCxnSpPr>
            <p:cNvPr id="70670" name="直接箭头连接符 21"/>
            <p:cNvCxnSpPr/>
            <p:nvPr/>
          </p:nvCxnSpPr>
          <p:spPr bwMode="auto">
            <a:xfrm flipV="1">
              <a:off x="2066925" y="8515351"/>
              <a:ext cx="304800" cy="1"/>
            </a:xfrm>
            <a:prstGeom prst="straightConnector1">
              <a:avLst/>
            </a:prstGeom>
            <a:noFill/>
            <a:ln w="9525" algn="ctr">
              <a:solidFill>
                <a:srgbClr val="3333FF"/>
              </a:solidFill>
              <a:round/>
              <a:tailEnd type="triangle" w="med" len="med"/>
            </a:ln>
          </p:spPr>
        </p:cxnSp>
        <p:sp>
          <p:nvSpPr>
            <p:cNvPr id="70671" name="矩形 22"/>
            <p:cNvSpPr>
              <a:spLocks noChangeArrowheads="1"/>
            </p:cNvSpPr>
            <p:nvPr/>
          </p:nvSpPr>
          <p:spPr bwMode="auto">
            <a:xfrm>
              <a:off x="1968990" y="6924675"/>
              <a:ext cx="601023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en-US" altLang="zh-CN" sz="1000">
                  <a:solidFill>
                    <a:srgbClr val="FF0000"/>
                  </a:solidFill>
                </a:rPr>
                <a:t>QA    QB      QC      QD      QE      QF      QG     QH</a:t>
              </a:r>
              <a:endParaRPr lang="zh-CN" altLang="en-US" sz="2000" b="1">
                <a:solidFill>
                  <a:srgbClr val="FF00FF"/>
                </a:solidFill>
              </a:endParaRPr>
            </a:p>
          </p:txBody>
        </p:sp>
        <p:sp>
          <p:nvSpPr>
            <p:cNvPr id="70672" name="矩形 23"/>
            <p:cNvSpPr>
              <a:spLocks noChangeArrowheads="1"/>
            </p:cNvSpPr>
            <p:nvPr/>
          </p:nvSpPr>
          <p:spPr bwMode="auto">
            <a:xfrm>
              <a:off x="2883390" y="9382125"/>
              <a:ext cx="62218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en-US" altLang="zh-CN" sz="1000">
                  <a:solidFill>
                    <a:srgbClr val="FF0000"/>
                  </a:solidFill>
                </a:rPr>
                <a:t>QA      QB      QC      QD     QE      QF      QG      QH</a:t>
              </a:r>
              <a:endParaRPr lang="zh-CN" altLang="en-US" sz="2000" b="1">
                <a:solidFill>
                  <a:srgbClr val="FF00FF"/>
                </a:solidFill>
              </a:endParaRPr>
            </a:p>
          </p:txBody>
        </p:sp>
        <p:cxnSp>
          <p:nvCxnSpPr>
            <p:cNvPr id="70673" name="直接箭头连接符 24"/>
            <p:cNvCxnSpPr/>
            <p:nvPr/>
          </p:nvCxnSpPr>
          <p:spPr bwMode="auto">
            <a:xfrm flipV="1">
              <a:off x="221558" y="8734426"/>
              <a:ext cx="344945" cy="1"/>
            </a:xfrm>
            <a:prstGeom prst="straightConnector1">
              <a:avLst/>
            </a:prstGeom>
            <a:noFill/>
            <a:ln w="9525" algn="ctr">
              <a:solidFill>
                <a:srgbClr val="FF00FF"/>
              </a:solidFill>
              <a:round/>
            </a:ln>
          </p:spPr>
        </p:cxnSp>
        <p:cxnSp>
          <p:nvCxnSpPr>
            <p:cNvPr id="70674" name="直接箭头连接符 25"/>
            <p:cNvCxnSpPr/>
            <p:nvPr/>
          </p:nvCxnSpPr>
          <p:spPr bwMode="auto">
            <a:xfrm flipV="1">
              <a:off x="548503" y="8515350"/>
              <a:ext cx="0" cy="228604"/>
            </a:xfrm>
            <a:prstGeom prst="straightConnector1">
              <a:avLst/>
            </a:prstGeom>
            <a:noFill/>
            <a:ln w="9525" algn="ctr">
              <a:solidFill>
                <a:srgbClr val="FF00FF"/>
              </a:solidFill>
              <a:round/>
            </a:ln>
          </p:spPr>
        </p:cxnSp>
        <p:cxnSp>
          <p:nvCxnSpPr>
            <p:cNvPr id="70675" name="直接箭头连接符 26"/>
            <p:cNvCxnSpPr/>
            <p:nvPr/>
          </p:nvCxnSpPr>
          <p:spPr bwMode="auto">
            <a:xfrm flipV="1">
              <a:off x="548503" y="8524877"/>
              <a:ext cx="248785" cy="1"/>
            </a:xfrm>
            <a:prstGeom prst="straightConnector1">
              <a:avLst/>
            </a:prstGeom>
            <a:noFill/>
            <a:ln w="9525" algn="ctr">
              <a:solidFill>
                <a:srgbClr val="FF00FF"/>
              </a:solidFill>
              <a:round/>
            </a:ln>
          </p:spPr>
        </p:cxnSp>
        <p:cxnSp>
          <p:nvCxnSpPr>
            <p:cNvPr id="70676" name="直接箭头连接符 29"/>
            <p:cNvCxnSpPr/>
            <p:nvPr/>
          </p:nvCxnSpPr>
          <p:spPr bwMode="auto">
            <a:xfrm flipV="1">
              <a:off x="779288" y="8524875"/>
              <a:ext cx="0" cy="228604"/>
            </a:xfrm>
            <a:prstGeom prst="straightConnector1">
              <a:avLst/>
            </a:prstGeom>
            <a:noFill/>
            <a:ln w="9525" algn="ctr">
              <a:solidFill>
                <a:srgbClr val="FF00FF"/>
              </a:solidFill>
              <a:round/>
            </a:ln>
          </p:spPr>
        </p:cxnSp>
        <p:cxnSp>
          <p:nvCxnSpPr>
            <p:cNvPr id="70677" name="直接箭头连接符 30"/>
            <p:cNvCxnSpPr/>
            <p:nvPr/>
          </p:nvCxnSpPr>
          <p:spPr bwMode="auto">
            <a:xfrm flipV="1">
              <a:off x="788904" y="8734426"/>
              <a:ext cx="344945" cy="1"/>
            </a:xfrm>
            <a:prstGeom prst="straightConnector1">
              <a:avLst/>
            </a:prstGeom>
            <a:noFill/>
            <a:ln w="9525" algn="ctr">
              <a:solidFill>
                <a:srgbClr val="FF00FF"/>
              </a:solidFill>
              <a:round/>
            </a:ln>
          </p:spPr>
        </p:cxnSp>
      </p:gr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noChangeArrowheads="1"/>
          </p:cNvSpPr>
          <p:nvPr>
            <p:ph type="title"/>
          </p:nvPr>
        </p:nvSpPr>
        <p:spPr>
          <a:xfrm>
            <a:off x="956310" y="261205"/>
            <a:ext cx="7543800" cy="831478"/>
          </a:xfrm>
        </p:spPr>
        <p:txBody>
          <a:bodyPr>
            <a:normAutofit/>
          </a:bodyPr>
          <a:lstStyle/>
          <a:p>
            <a:r>
              <a:rPr lang="en-US" altLang="zh-CN" sz="3600" dirty="0"/>
              <a:t>2.5  I </a:t>
            </a:r>
            <a:r>
              <a:rPr lang="en-US" altLang="zh-CN" sz="3600" baseline="30000" dirty="0"/>
              <a:t>2</a:t>
            </a:r>
            <a:r>
              <a:rPr lang="en-US" altLang="zh-CN" sz="3600" dirty="0"/>
              <a:t> C Communication Interface</a:t>
            </a:r>
            <a:endParaRPr lang="zh-CN" altLang="en-US" sz="3600" dirty="0"/>
          </a:p>
        </p:txBody>
      </p:sp>
      <p:sp>
        <p:nvSpPr>
          <p:cNvPr id="446466" name="Rectangle 2"/>
          <p:cNvSpPr>
            <a:spLocks noGrp="1" noChangeArrowheads="1"/>
          </p:cNvSpPr>
          <p:nvPr>
            <p:ph idx="1"/>
          </p:nvPr>
        </p:nvSpPr>
        <p:spPr>
          <a:xfrm>
            <a:off x="698863" y="1428750"/>
            <a:ext cx="7746274" cy="4664982"/>
          </a:xfrm>
        </p:spPr>
        <p:txBody>
          <a:bodyPr/>
          <a:lstStyle/>
          <a:p>
            <a:pPr marL="609600" indent="-609600" eaLnBrk="1" hangingPunct="1">
              <a:spcBef>
                <a:spcPct val="0"/>
              </a:spcBef>
              <a:buFontTx/>
              <a:buNone/>
            </a:pPr>
            <a:r>
              <a:rPr lang="nb-NO" altLang="zh-CN" dirty="0">
                <a:solidFill>
                  <a:srgbClr val="FF0000"/>
                </a:solidFill>
              </a:rPr>
              <a:t>1. Introduction to I2C Bus</a:t>
            </a:r>
          </a:p>
          <a:p>
            <a:pPr marL="609600" indent="-609600" eaLnBrk="1" hangingPunct="1">
              <a:spcBef>
                <a:spcPct val="0"/>
              </a:spcBef>
            </a:pPr>
            <a:r>
              <a:rPr lang="en-US" altLang="zh-CN" dirty="0"/>
              <a:t>The I2C (Inter-Integrated Circuit) bus is a serial bus developed by PHILIPS for connecting microcontrollers and their peripheral devices.</a:t>
            </a:r>
          </a:p>
          <a:p>
            <a:pPr marL="609600" indent="-609600" eaLnBrk="1" hangingPunct="1">
              <a:spcBef>
                <a:spcPct val="0"/>
              </a:spcBef>
            </a:pPr>
            <a:r>
              <a:rPr lang="en-US" altLang="zh-CN" dirty="0"/>
              <a:t>The I2C bus was developed in the 1980s for audio and video devices and is now primarily used in server management, including communication of individual component states.</a:t>
            </a:r>
          </a:p>
          <a:p>
            <a:pPr marL="609600" indent="-609600" eaLnBrk="1" hangingPunct="1">
              <a:spcBef>
                <a:spcPct val="0"/>
              </a:spcBef>
            </a:pPr>
            <a:endParaRPr lang="en-US" altLang="zh-CN" dirty="0"/>
          </a:p>
          <a:p>
            <a:pPr marL="609600" indent="-609600" eaLnBrk="1" hangingPunct="1">
              <a:spcBef>
                <a:spcPct val="0"/>
              </a:spcBef>
            </a:pPr>
            <a:r>
              <a:rPr lang="zh-CN" altLang="en-US" dirty="0"/>
              <a:t>For example, administrators can query each component to manage system configuration or monitor component status, such as power supply and system fan. They can monitor multiple parameters such as memory, hard disk, network, and system temperature at any time, which increases system security and facilitates management.</a:t>
            </a:r>
          </a:p>
          <a:p>
            <a:pPr marL="609600" indent="-609600" eaLnBrk="1" hangingPunct="1">
              <a:spcBef>
                <a:spcPct val="0"/>
              </a:spcBef>
              <a:buFontTx/>
              <a:buNone/>
            </a:pPr>
            <a:endParaRPr lang="en-US" altLang="zh-CN" dirty="0"/>
          </a:p>
        </p:txBody>
      </p:sp>
    </p:spTree>
  </p:cSld>
  <p:clrMapOvr>
    <a:masterClrMapping/>
  </p:clrMapOvr>
</p:sld>
</file>

<file path=ppt/theme/theme1.xml><?xml version="1.0" encoding="utf-8"?>
<a:theme xmlns:a="http://schemas.openxmlformats.org/drawingml/2006/main" name="回顾">
  <a:themeElements>
    <a:clrScheme name="回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顾">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416</TotalTime>
  <Words>8480</Words>
  <Application>Microsoft Office PowerPoint</Application>
  <PresentationFormat>全屏显示(4:3)</PresentationFormat>
  <Paragraphs>649</Paragraphs>
  <Slides>85</Slides>
  <Notes>1</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3</vt:i4>
      </vt:variant>
      <vt:variant>
        <vt:lpstr>幻灯片标题</vt:lpstr>
      </vt:variant>
      <vt:variant>
        <vt:i4>85</vt:i4>
      </vt:variant>
    </vt:vector>
  </HeadingPairs>
  <TitlesOfParts>
    <vt:vector size="98" baseType="lpstr">
      <vt:lpstr>PingFang SC</vt:lpstr>
      <vt:lpstr>等线</vt:lpstr>
      <vt:lpstr>隶书</vt:lpstr>
      <vt:lpstr>宋体</vt:lpstr>
      <vt:lpstr>Arial</vt:lpstr>
      <vt:lpstr>Calibri</vt:lpstr>
      <vt:lpstr>Calibri Light</vt:lpstr>
      <vt:lpstr>Times New Roman</vt:lpstr>
      <vt:lpstr>Wingdings</vt:lpstr>
      <vt:lpstr>回顾</vt:lpstr>
      <vt:lpstr>Microsoft Drawing</vt:lpstr>
      <vt:lpstr>Visio</vt:lpstr>
      <vt:lpstr>Equation</vt:lpstr>
      <vt:lpstr> EE351 Microcomputer and Microsystems</vt:lpstr>
      <vt:lpstr>Chapter 5 Data Communication and Bus</vt:lpstr>
      <vt:lpstr>1.Concepts related to communication</vt:lpstr>
      <vt:lpstr>1. Communication-related concepts</vt:lpstr>
      <vt:lpstr>1. Concepts related to communication</vt:lpstr>
      <vt:lpstr>1 Concepts related to serial communication</vt:lpstr>
      <vt:lpstr>asynchronous communication</vt:lpstr>
      <vt:lpstr>asynchronous communication</vt:lpstr>
      <vt:lpstr>asynchronous communication</vt:lpstr>
      <vt:lpstr>asynchronous communication</vt:lpstr>
      <vt:lpstr>asynchronous communication</vt:lpstr>
      <vt:lpstr>(1) Classification by serial data synchronization method</vt:lpstr>
      <vt:lpstr>PowerPoint 演示文稿</vt:lpstr>
      <vt:lpstr>PowerPoint 演示文稿</vt:lpstr>
      <vt:lpstr>(1) Classification by serial data synchronization method</vt:lpstr>
      <vt:lpstr>② SYCOM</vt:lpstr>
      <vt:lpstr>② Synchronous Communication(a) Character-oriented data format</vt:lpstr>
      <vt:lpstr>② Synchronous Communication (a) Character-oriented data format</vt:lpstr>
      <vt:lpstr>② Synchronous Communication (b) Bit-oriented data format</vt:lpstr>
      <vt:lpstr>② Synchronous Communication (b) Bit-oriented data format</vt:lpstr>
      <vt:lpstr>(1) Classification by serial data synchronization method</vt:lpstr>
      <vt:lpstr>1. Classification of serial communication</vt:lpstr>
      <vt:lpstr>(2) Classification according to data transmission direction</vt:lpstr>
      <vt:lpstr>(2) Classification according to data transmission direction</vt:lpstr>
      <vt:lpstr>(2) Classification according to data transmission direction</vt:lpstr>
      <vt:lpstr>1 Concepts related to serial communication</vt:lpstr>
      <vt:lpstr>2. Serial interface</vt:lpstr>
      <vt:lpstr>2. Serial interface</vt:lpstr>
      <vt:lpstr>2. Serial interface</vt:lpstr>
      <vt:lpstr>2. Serial interface</vt:lpstr>
      <vt:lpstr>2. Serial interface</vt:lpstr>
      <vt:lpstr>2. Serial interface</vt:lpstr>
      <vt:lpstr>2. Serial interface</vt:lpstr>
      <vt:lpstr>2. Serial interface</vt:lpstr>
      <vt:lpstr>2. Serial interface</vt:lpstr>
      <vt:lpstr>8.1.2 Related Concepts in Parallel Communication</vt:lpstr>
      <vt:lpstr>1. Parallel interface</vt:lpstr>
      <vt:lpstr>1. Parallel interface</vt:lpstr>
      <vt:lpstr>2. Related concepts in parallel communication</vt:lpstr>
      <vt:lpstr>2. Related concepts in parallel communication</vt:lpstr>
      <vt:lpstr>2. Related concepts in parallel communication</vt:lpstr>
      <vt:lpstr>(1) Input process</vt:lpstr>
      <vt:lpstr>3. Basic input/output operation of parallel communication interface</vt:lpstr>
      <vt:lpstr>3. Basic input/output operation of parallel communication interface</vt:lpstr>
      <vt:lpstr>2 Serial Interface</vt:lpstr>
      <vt:lpstr>2.2 RS232 Serial Communication Interface</vt:lpstr>
      <vt:lpstr>PowerPoint 演示文稿</vt:lpstr>
      <vt:lpstr>2.2 RS232 Serial Communication Interface</vt:lpstr>
      <vt:lpstr>1. Hardware interface design</vt:lpstr>
      <vt:lpstr>1. Hardware interface design</vt:lpstr>
      <vt:lpstr>PowerPoint 演示文稿</vt:lpstr>
      <vt:lpstr>1. Hardware interface design</vt:lpstr>
      <vt:lpstr>The interface circuit between CH340T and the microcontroller is shown in the figure.</vt:lpstr>
      <vt:lpstr>2.2 RS232 Serial Communication Interface</vt:lpstr>
      <vt:lpstr>2.2 RS232 Serial Communication Interface [Example]</vt:lpstr>
      <vt:lpstr>[Example] The computer sends data to the microcontroller, which inverts the data and returns it to the computer.</vt:lpstr>
      <vt:lpstr>2.3 RS485 serial communication interface</vt:lpstr>
      <vt:lpstr>2.3 RS485 serial communication interface</vt:lpstr>
      <vt:lpstr>2.3 RS485 serial communication interface</vt:lpstr>
      <vt:lpstr>2.3 RS485 serial communication interface</vt:lpstr>
      <vt:lpstr>2.3 RS485 serial communication interface</vt:lpstr>
      <vt:lpstr>2.3 RS485 serial communication interface</vt:lpstr>
      <vt:lpstr>2.3 RS485 serial communication interface</vt:lpstr>
      <vt:lpstr>2.4 SPI Communication Interface</vt:lpstr>
      <vt:lpstr>3. SPI interface data communication</vt:lpstr>
      <vt:lpstr>2. Architecture of the SPI interface in the IAP15W4K58S4 microcontroller</vt:lpstr>
      <vt:lpstr>Technical specifications for the SPI interface of the IAP15W4K58S4 microcontroller</vt:lpstr>
      <vt:lpstr>3. SPI interface data communication</vt:lpstr>
      <vt:lpstr>(1) SPI interface signal</vt:lpstr>
      <vt:lpstr>(1) SPI interface signal</vt:lpstr>
      <vt:lpstr>(1) SPI interface signal</vt:lpstr>
      <vt:lpstr>(1) SPI interface signal</vt:lpstr>
      <vt:lpstr>3. SPI interface data communication</vt:lpstr>
      <vt:lpstr>1) Single master-slave configuration</vt:lpstr>
      <vt:lpstr>1) Single master-slave configuration</vt:lpstr>
      <vt:lpstr>(2) SPI interface data communication method</vt:lpstr>
      <vt:lpstr>2) Dual device mode</vt:lpstr>
      <vt:lpstr>(2) SPI interface data communication method</vt:lpstr>
      <vt:lpstr>(3) SPI interface data communication process</vt:lpstr>
      <vt:lpstr>74HC595 interface and its application</vt:lpstr>
      <vt:lpstr>74HC595 Interface and Its Applications</vt:lpstr>
      <vt:lpstr>74HC595 Interface and Its Applications</vt:lpstr>
      <vt:lpstr>74HC595 Interface and Its Applications</vt:lpstr>
      <vt:lpstr>74HC595 Interface and Its Applications</vt:lpstr>
      <vt:lpstr>2.5  I 2 C Communication Interface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EE351 微机原理与微系统</dc:title>
  <dc:creator>Junmin JIANG</dc:creator>
  <cp:lastModifiedBy>Junmin Jiang</cp:lastModifiedBy>
  <cp:revision>137</cp:revision>
  <dcterms:created xsi:type="dcterms:W3CDTF">2021-09-01T03:33:00Z</dcterms:created>
  <dcterms:modified xsi:type="dcterms:W3CDTF">2025-11-11T16:37:09Z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FCC90E5455104C4B9C4B00FC65DB4EF0_13</vt:lpwstr>
  </property>
  <property fmtid="{D5CDD505-2E9C-101B-9397-08002B2CF9AE}" pid="3" name="KSOProductBuildVer">
    <vt:lpwstr>2052-12.1.0.23122</vt:lpwstr>
  </property>
</Properties>
</file>