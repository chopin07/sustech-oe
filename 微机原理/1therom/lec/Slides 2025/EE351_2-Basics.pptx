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94"/>
  </p:notesMasterIdLst>
  <p:handoutMasterIdLst>
    <p:handoutMasterId r:id="rId95"/>
  </p:handoutMasterIdLst>
  <p:sldIdLst>
    <p:sldId id="301" r:id="rId3"/>
    <p:sldId id="258" r:id="rId4"/>
    <p:sldId id="259" r:id="rId5"/>
    <p:sldId id="260" r:id="rId6"/>
    <p:sldId id="424" r:id="rId7"/>
    <p:sldId id="261" r:id="rId8"/>
    <p:sldId id="262" r:id="rId9"/>
    <p:sldId id="263" r:id="rId10"/>
    <p:sldId id="264" r:id="rId11"/>
    <p:sldId id="265" r:id="rId12"/>
    <p:sldId id="266" r:id="rId13"/>
    <p:sldId id="302" r:id="rId14"/>
    <p:sldId id="267" r:id="rId15"/>
    <p:sldId id="268" r:id="rId16"/>
    <p:sldId id="269" r:id="rId17"/>
    <p:sldId id="270" r:id="rId18"/>
    <p:sldId id="271" r:id="rId19"/>
    <p:sldId id="272" r:id="rId20"/>
    <p:sldId id="273" r:id="rId21"/>
    <p:sldId id="290" r:id="rId22"/>
    <p:sldId id="291" r:id="rId23"/>
    <p:sldId id="292" r:id="rId24"/>
    <p:sldId id="370" r:id="rId25"/>
    <p:sldId id="371" r:id="rId26"/>
    <p:sldId id="372" r:id="rId27"/>
    <p:sldId id="373" r:id="rId28"/>
    <p:sldId id="374" r:id="rId29"/>
    <p:sldId id="375" r:id="rId30"/>
    <p:sldId id="380" r:id="rId31"/>
    <p:sldId id="381" r:id="rId32"/>
    <p:sldId id="382" r:id="rId33"/>
    <p:sldId id="383" r:id="rId34"/>
    <p:sldId id="384" r:id="rId35"/>
    <p:sldId id="385" r:id="rId36"/>
    <p:sldId id="386" r:id="rId37"/>
    <p:sldId id="387" r:id="rId38"/>
    <p:sldId id="388" r:id="rId39"/>
    <p:sldId id="389" r:id="rId40"/>
    <p:sldId id="391" r:id="rId41"/>
    <p:sldId id="392" r:id="rId42"/>
    <p:sldId id="394" r:id="rId43"/>
    <p:sldId id="395" r:id="rId44"/>
    <p:sldId id="396" r:id="rId45"/>
    <p:sldId id="401" r:id="rId46"/>
    <p:sldId id="402" r:id="rId47"/>
    <p:sldId id="403" r:id="rId48"/>
    <p:sldId id="404" r:id="rId49"/>
    <p:sldId id="407" r:id="rId50"/>
    <p:sldId id="408" r:id="rId51"/>
    <p:sldId id="409" r:id="rId52"/>
    <p:sldId id="410" r:id="rId53"/>
    <p:sldId id="411" r:id="rId54"/>
    <p:sldId id="412" r:id="rId55"/>
    <p:sldId id="413" r:id="rId56"/>
    <p:sldId id="414" r:id="rId57"/>
    <p:sldId id="415" r:id="rId58"/>
    <p:sldId id="416" r:id="rId59"/>
    <p:sldId id="417" r:id="rId60"/>
    <p:sldId id="418" r:id="rId61"/>
    <p:sldId id="419" r:id="rId62"/>
    <p:sldId id="420" r:id="rId63"/>
    <p:sldId id="421" r:id="rId64"/>
    <p:sldId id="422" r:id="rId65"/>
    <p:sldId id="423" r:id="rId66"/>
    <p:sldId id="324" r:id="rId67"/>
    <p:sldId id="325" r:id="rId68"/>
    <p:sldId id="326" r:id="rId69"/>
    <p:sldId id="327" r:id="rId70"/>
    <p:sldId id="328" r:id="rId71"/>
    <p:sldId id="329" r:id="rId72"/>
    <p:sldId id="330" r:id="rId73"/>
    <p:sldId id="331" r:id="rId74"/>
    <p:sldId id="332" r:id="rId75"/>
    <p:sldId id="333" r:id="rId76"/>
    <p:sldId id="334" r:id="rId77"/>
    <p:sldId id="337" r:id="rId78"/>
    <p:sldId id="338" r:id="rId79"/>
    <p:sldId id="339" r:id="rId80"/>
    <p:sldId id="340" r:id="rId81"/>
    <p:sldId id="341" r:id="rId82"/>
    <p:sldId id="342" r:id="rId83"/>
    <p:sldId id="343" r:id="rId84"/>
    <p:sldId id="344" r:id="rId85"/>
    <p:sldId id="345" r:id="rId86"/>
    <p:sldId id="346" r:id="rId87"/>
    <p:sldId id="347" r:id="rId88"/>
    <p:sldId id="348" r:id="rId89"/>
    <p:sldId id="349" r:id="rId90"/>
    <p:sldId id="350" r:id="rId91"/>
    <p:sldId id="351" r:id="rId92"/>
    <p:sldId id="352" r:id="rId9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0" userDrawn="1">
          <p15:clr>
            <a:srgbClr val="A4A3A4"/>
          </p15:clr>
        </p15:guide>
        <p15:guide id="2" pos="374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0000"/>
    <a:srgbClr val="BD582C"/>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104" d="100"/>
          <a:sy n="104" d="100"/>
        </p:scale>
        <p:origin x="138" y="1326"/>
      </p:cViewPr>
      <p:guideLst>
        <p:guide orient="horz" pos="2080"/>
        <p:guide pos="374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handoutMaster" Target="handoutMasters/handout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2025/9/30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2025/9/30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6006A0-4049-417E-9E0D-DFA905CF9D1E}"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6006A0-4049-417E-9E0D-DFA905CF9D1E}"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664E5-1AAC-6F36-847D-406156DB351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572231-4C33-FA84-54AC-03D9160BA03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A0AE3BC-3292-2780-2165-0D173E9A221F}"/>
              </a:ext>
            </a:extLst>
          </p:cNvPr>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3662070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E6006A0-4049-417E-9E0D-DFA905CF9D1E}" type="slidenum">
              <a:rPr lang="zh-CN" altLang="en-US" smtClean="0"/>
              <a:t>24</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ChangeArrowheads="1" noTextEdit="1"/>
          </p:cNvSpPr>
          <p:nvPr>
            <p:ph type="sldImg"/>
          </p:nvPr>
        </p:nvSpPr>
        <p:spPr/>
      </p:sp>
      <p:sp>
        <p:nvSpPr>
          <p:cNvPr id="75779"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75780"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43CE4DA2-AA49-4A23-8D48-6B49AF0BC3F6}" type="slidenum">
              <a:rPr lang="en-US" altLang="zh-CN" smtClean="0">
                <a:latin typeface="Arial" panose="020B0604020202020204" pitchFamily="34" charset="0"/>
              </a:rPr>
              <a:t>25</a:t>
            </a:fld>
            <a:endParaRPr lang="en-US"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E6006A0-4049-417E-9E0D-DFA905CF9D1E}"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ChangeArrowheads="1" noTextEdit="1"/>
          </p:cNvSpPr>
          <p:nvPr>
            <p:ph type="sldImg"/>
          </p:nvPr>
        </p:nvSpPr>
        <p:spPr/>
      </p:sp>
      <p:sp>
        <p:nvSpPr>
          <p:cNvPr id="143363"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143364"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BB23C261-72C9-4E26-B1F4-B6070D573D2D}" type="slidenum">
              <a:rPr lang="en-US" altLang="zh-CN">
                <a:latin typeface="Arial" panose="020B0604020202020204" pitchFamily="34" charset="0"/>
              </a:rPr>
              <a:t>83</a:t>
            </a:fld>
            <a:endParaRPr lang="en-US"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幻灯片图像占位符 1"/>
          <p:cNvSpPr>
            <a:spLocks noGrp="1" noRot="1" noChangeAspect="1" noChangeArrowheads="1" noTextEdit="1"/>
          </p:cNvSpPr>
          <p:nvPr>
            <p:ph type="sldImg"/>
          </p:nvPr>
        </p:nvSpPr>
        <p:spPr/>
      </p:sp>
      <p:sp>
        <p:nvSpPr>
          <p:cNvPr id="150531" name="备注占位符 2"/>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150532" name="灯片编号占位符 3"/>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3AD314B4-A0B0-4FCC-B295-3F59B1D89354}" type="slidenum">
              <a:rPr lang="en-US" altLang="zh-CN">
                <a:latin typeface="Arial" panose="020B0604020202020204" pitchFamily="34" charset="0"/>
              </a:rPr>
              <a:t>89</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2025/9/30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2025/9/30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2025/9/30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2025/9/30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2025/9/30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2025/9/30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2025/9/30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2025/9/30</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2025/9/30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2025/9/30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2025/9/30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3176"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7844E74-5CF6-4BAC-9748-BD91ADC378F9}" type="datetime1">
              <a:rPr lang="zh-CN" altLang="en-US" smtClean="0"/>
              <a:t>2025/9/30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75511AC1-9023-45A9-A02C-CF1FFA184473}" type="datetime1">
              <a:rPr lang="zh-CN" altLang="en-US" smtClean="0"/>
              <a:t>2025/9/30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6"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05D5F94D-3F96-4AFA-B199-ACA77E268F0C}" type="datetime1">
              <a:rPr lang="zh-CN" altLang="en-US" smtClean="0"/>
              <a:t>2025/9/30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4"/>
            <a:ext cx="10058400" cy="840145"/>
          </a:xfrm>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1097280" y="1347765"/>
            <a:ext cx="4937760" cy="452132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6217920" y="1347766"/>
            <a:ext cx="4937760" cy="452133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75D8BB06-FEBB-4DFF-8569-C129C6DE1284}" type="datetime1">
              <a:rPr lang="zh-CN" altLang="en-US" smtClean="0"/>
              <a:t>2025/9/30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4"/>
            <a:ext cx="100584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97280" y="2582334"/>
            <a:ext cx="493776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17920" y="2582334"/>
            <a:ext cx="493776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9A3F7D9-34BC-4180-AF55-35F5DBF699F5}" type="datetime1">
              <a:rPr lang="zh-CN" altLang="en-US" smtClean="0"/>
              <a:t>2025/9/30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4278CA6-8C48-41C2-9D2C-550A644F5437}" type="datetime1">
              <a:rPr lang="zh-CN" altLang="en-US" smtClean="0"/>
              <a:t>2025/9/30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6"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B98213-2CC3-411B-8866-55F42F145661}" type="datetime1">
              <a:rPr lang="zh-CN" altLang="en-US" smtClean="0"/>
              <a:t>2025/9/30</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7"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4613649" y="731520"/>
            <a:ext cx="6679191"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465512" y="6459786"/>
            <a:ext cx="2618511" cy="365125"/>
          </a:xfrm>
        </p:spPr>
        <p:txBody>
          <a:bodyPr/>
          <a:lstStyle>
            <a:lvl1pPr algn="l">
              <a:defRPr/>
            </a:lvl1pPr>
          </a:lstStyle>
          <a:p>
            <a:fld id="{D3DEB89B-5847-4C4D-BA19-9130492F02EC}" type="datetime1">
              <a:rPr lang="zh-CN" altLang="en-US" smtClean="0"/>
              <a:t>2025/9/30</a:t>
            </a:fld>
            <a:endParaRPr lang="zh-CN" altLang="en-US"/>
          </a:p>
        </p:txBody>
      </p:sp>
      <p:sp>
        <p:nvSpPr>
          <p:cNvPr id="6" name="Footer Placeholder 5"/>
          <p:cNvSpPr>
            <a:spLocks noGrp="1"/>
          </p:cNvSpPr>
          <p:nvPr>
            <p:ph type="ftr" sz="quarter" idx="11"/>
          </p:nvPr>
        </p:nvSpPr>
        <p:spPr>
          <a:xfrm>
            <a:off x="4800600" y="6459786"/>
            <a:ext cx="464820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77DEE-32E4-4009-988B-F2758F7B8AC2}"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6"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097279"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8F795AB-7EF2-414B-BA82-B89A9251249A}" type="datetime1">
              <a:rPr lang="zh-CN" altLang="en-US" smtClean="0"/>
              <a:t>2025/9/30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FE1975-0134-40F0-8FDE-1F3333C04892}" type="datetime1">
              <a:rPr lang="zh-CN" altLang="en-US" smtClean="0"/>
              <a:t>2025/9/30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3176"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9"/>
            <a:ext cx="2628900"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414779"/>
            <a:ext cx="7734300"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6883598-9F01-44E4-B4F1-FF504925DFCE}" type="datetime1">
              <a:rPr lang="zh-CN" altLang="en-US" smtClean="0"/>
              <a:t>2025/9/30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2025/9/30</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12192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12192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5"/>
            <a:ext cx="10058400" cy="83147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097279" y="1230759"/>
            <a:ext cx="10058401" cy="4638335"/>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097281" y="6459786"/>
            <a:ext cx="2472271" cy="365125"/>
          </a:xfrm>
          <a:prstGeom prst="rect">
            <a:avLst/>
          </a:prstGeom>
        </p:spPr>
        <p:txBody>
          <a:bodyPr vert="horz" lIns="91440" tIns="45720" rIns="91440" bIns="45720" rtlCol="0" anchor="ctr"/>
          <a:lstStyle>
            <a:lvl1pPr algn="l">
              <a:defRPr sz="900">
                <a:solidFill>
                  <a:srgbClr val="FFFFFF"/>
                </a:solidFill>
              </a:defRPr>
            </a:lvl1pPr>
          </a:lstStyle>
          <a:p>
            <a:fld id="{8C16AA7E-DFA3-403F-B5BD-ED716A9B4937}" type="datetime1">
              <a:rPr lang="zh-CN" altLang="en-US" smtClean="0"/>
              <a:t>2025/9/30</a:t>
            </a:fld>
            <a:endParaRPr lang="zh-CN" altLang="en-US"/>
          </a:p>
        </p:txBody>
      </p:sp>
      <p:sp>
        <p:nvSpPr>
          <p:cNvPr id="5" name="Footer Placeholder 4"/>
          <p:cNvSpPr>
            <a:spLocks noGrp="1"/>
          </p:cNvSpPr>
          <p:nvPr>
            <p:ph type="ftr" sz="quarter" idx="3"/>
          </p:nvPr>
        </p:nvSpPr>
        <p:spPr>
          <a:xfrm>
            <a:off x="3686185" y="6459786"/>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9900459" y="6459786"/>
            <a:ext cx="1312025" cy="365125"/>
          </a:xfrm>
          <a:prstGeom prst="rect">
            <a:avLst/>
          </a:prstGeom>
        </p:spPr>
        <p:txBody>
          <a:bodyPr vert="horz" lIns="91440" tIns="45720" rIns="91440" bIns="45720" rtlCol="0" anchor="ctr"/>
          <a:lstStyle>
            <a:lvl1pPr algn="r">
              <a:defRPr sz="1050">
                <a:solidFill>
                  <a:srgbClr val="FFFFFF"/>
                </a:solidFill>
              </a:defRPr>
            </a:lvl1pPr>
          </a:lstStyle>
          <a:p>
            <a:fld id="{22E77DEE-32E4-4009-988B-F2758F7B8AC2}" type="slidenum">
              <a:rPr lang="zh-CN" altLang="en-US" smtClean="0"/>
              <a:t>‹#›</a:t>
            </a:fld>
            <a:endParaRPr lang="zh-CN" altLang="en-US"/>
          </a:p>
        </p:txBody>
      </p:sp>
      <p:cxnSp>
        <p:nvCxnSpPr>
          <p:cNvPr id="10" name="Straight Connector 9"/>
          <p:cNvCxnSpPr/>
          <p:nvPr/>
        </p:nvCxnSpPr>
        <p:spPr>
          <a:xfrm>
            <a:off x="1112637" y="1126802"/>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jpeg"/><Relationship Id="rId1" Type="http://schemas.openxmlformats.org/officeDocument/2006/relationships/slideLayout" Target="../slideLayouts/slideLayout13.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6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13.xml"/><Relationship Id="rId1" Type="http://schemas.openxmlformats.org/officeDocument/2006/relationships/tags" Target="../tags/tag64.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 Id="rId4" Type="http://schemas.openxmlformats.org/officeDocument/2006/relationships/slide" Target="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image" Target="../media/image14.jpeg"/><Relationship Id="rId1" Type="http://schemas.openxmlformats.org/officeDocument/2006/relationships/slideLayout" Target="../slideLayouts/slideLayout13.xml"/><Relationship Id="rId4" Type="http://schemas.openxmlformats.org/officeDocument/2006/relationships/image" Target="../media/image15.jpe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oleObject" Target="../embeddings/oleObject4.bin"/><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19.jpeg"/></Relationships>
</file>

<file path=ppt/slides/_rels/slide4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7.png"/><Relationship Id="rId4" Type="http://schemas.openxmlformats.org/officeDocument/2006/relationships/image" Target="../media/image4.jpe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5.wmf"/><Relationship Id="rId7" Type="http://schemas.openxmlformats.org/officeDocument/2006/relationships/image" Target="../media/image7.png"/><Relationship Id="rId2" Type="http://schemas.openxmlformats.org/officeDocument/2006/relationships/oleObject" Target="../embeddings/oleObject5.bin"/><Relationship Id="rId1" Type="http://schemas.openxmlformats.org/officeDocument/2006/relationships/slideLayout" Target="../slideLayouts/slideLayout17.xml"/><Relationship Id="rId6" Type="http://schemas.openxmlformats.org/officeDocument/2006/relationships/image" Target="../media/image4.jpeg"/><Relationship Id="rId5" Type="http://schemas.openxmlformats.org/officeDocument/2006/relationships/image" Target="../media/image26.wmf"/><Relationship Id="rId4" Type="http://schemas.openxmlformats.org/officeDocument/2006/relationships/oleObject" Target="../embeddings/oleObject6.bin"/><Relationship Id="rId9" Type="http://schemas.openxmlformats.org/officeDocument/2006/relationships/image" Target="../media/image28.png"/></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oleObject" Target="../embeddings/oleObject7.bin"/><Relationship Id="rId7" Type="http://schemas.openxmlformats.org/officeDocument/2006/relationships/image" Target="../media/image31.png"/><Relationship Id="rId2"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7.png"/><Relationship Id="rId4" Type="http://schemas.openxmlformats.org/officeDocument/2006/relationships/image" Target="../media/image29.wmf"/><Relationship Id="rId9" Type="http://schemas.openxmlformats.org/officeDocument/2006/relationships/image" Target="../media/image32.wmf"/></Relationships>
</file>

<file path=ppt/slides/_rels/slide5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3.wmf"/><Relationship Id="rId7" Type="http://schemas.openxmlformats.org/officeDocument/2006/relationships/image" Target="../media/image4.jpeg"/><Relationship Id="rId2" Type="http://schemas.openxmlformats.org/officeDocument/2006/relationships/oleObject" Target="../embeddings/oleObject9.bin"/><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7.png"/><Relationship Id="rId3" Type="http://schemas.openxmlformats.org/officeDocument/2006/relationships/image" Target="../media/image37.wmf"/><Relationship Id="rId7" Type="http://schemas.openxmlformats.org/officeDocument/2006/relationships/image" Target="../media/image39.wmf"/><Relationship Id="rId12" Type="http://schemas.openxmlformats.org/officeDocument/2006/relationships/image" Target="../media/image4.jpeg"/><Relationship Id="rId2" Type="http://schemas.openxmlformats.org/officeDocument/2006/relationships/oleObject" Target="../embeddings/oleObject10.bin"/><Relationship Id="rId16" Type="http://schemas.openxmlformats.org/officeDocument/2006/relationships/image" Target="../media/image46.png"/><Relationship Id="rId1" Type="http://schemas.openxmlformats.org/officeDocument/2006/relationships/slideLayout" Target="../slideLayouts/slideLayout13.xml"/><Relationship Id="rId6" Type="http://schemas.openxmlformats.org/officeDocument/2006/relationships/oleObject" Target="../embeddings/oleObject12.bin"/><Relationship Id="rId11" Type="http://schemas.openxmlformats.org/officeDocument/2006/relationships/image" Target="../media/image43.png"/><Relationship Id="rId5" Type="http://schemas.openxmlformats.org/officeDocument/2006/relationships/image" Target="../media/image38.wmf"/><Relationship Id="rId15" Type="http://schemas.openxmlformats.org/officeDocument/2006/relationships/image" Target="../media/image45.png"/><Relationship Id="rId10" Type="http://schemas.openxmlformats.org/officeDocument/2006/relationships/image" Target="../media/image42.png"/><Relationship Id="rId4" Type="http://schemas.openxmlformats.org/officeDocument/2006/relationships/oleObject" Target="../embeddings/oleObject11.bin"/><Relationship Id="rId9" Type="http://schemas.openxmlformats.org/officeDocument/2006/relationships/image" Target="../media/image41.png"/><Relationship Id="rId14" Type="http://schemas.openxmlformats.org/officeDocument/2006/relationships/image" Target="../media/image44.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microsoft.com/office/2007/relationships/hdphoto" Target="../media/image53.png"/><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oleObject" Target="../embeddings/oleObject13.bin"/><Relationship Id="rId1" Type="http://schemas.openxmlformats.org/officeDocument/2006/relationships/slideLayout" Target="../slideLayouts/slideLayout13.xml"/><Relationship Id="rId4" Type="http://schemas.openxmlformats.org/officeDocument/2006/relationships/image" Target="../media/image53.jpeg"/></Relationships>
</file>

<file path=ppt/slides/_rels/slide58.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14.bin"/><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tags" Target="../tags/tag67.xml"/><Relationship Id="rId7" Type="http://schemas.openxmlformats.org/officeDocument/2006/relationships/slideLayout" Target="../slideLayouts/slideLayout13.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s>
</file>

<file path=ppt/slides/_rels/slide6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64.png"/></Relationships>
</file>

<file path=ppt/slides/_rels/slide8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353310" y="1571752"/>
            <a:ext cx="7543800" cy="2569464"/>
          </a:xfrm>
        </p:spPr>
        <p:txBody>
          <a:bodyPr>
            <a:normAutofit fontScale="90000"/>
          </a:bodyPr>
          <a:lstStyle/>
          <a:p>
            <a:pPr algn="ctr"/>
            <a:br>
              <a:rPr lang="en-US" altLang="zh-CN" sz="6000" dirty="0"/>
            </a:br>
            <a:r>
              <a:rPr lang="en-US" altLang="zh-CN" sz="6000" dirty="0"/>
              <a:t>EE351</a:t>
            </a:r>
            <a:br>
              <a:rPr lang="en-US" altLang="zh-CN" sz="6000" dirty="0"/>
            </a:br>
            <a:r>
              <a:rPr lang="en-US" altLang="zh-CN" sz="6000" dirty="0"/>
              <a:t>Microcomputer and Microsystems</a:t>
            </a:r>
            <a:endParaRPr lang="zh-CN" altLang="en-US" sz="6000" dirty="0"/>
          </a:p>
        </p:txBody>
      </p:sp>
      <p:sp>
        <p:nvSpPr>
          <p:cNvPr id="3" name="副标题 2"/>
          <p:cNvSpPr>
            <a:spLocks noGrp="1"/>
          </p:cNvSpPr>
          <p:nvPr>
            <p:ph type="subTitle" idx="1"/>
          </p:nvPr>
        </p:nvSpPr>
        <p:spPr>
          <a:xfrm>
            <a:off x="2346960" y="5247847"/>
            <a:ext cx="7543800" cy="1143000"/>
          </a:xfrm>
        </p:spPr>
        <p:txBody>
          <a:bodyPr>
            <a:normAutofit fontScale="92500" lnSpcReduction="10000"/>
          </a:bodyPr>
          <a:lstStyle/>
          <a:p>
            <a:pPr algn="ctr"/>
            <a:r>
              <a:rPr lang="en-US" altLang="zh-CN" dirty="0" err="1"/>
              <a:t>Junmin</a:t>
            </a:r>
            <a:r>
              <a:rPr lang="en-US" altLang="zh-CN" dirty="0"/>
              <a:t> Jiang</a:t>
            </a:r>
          </a:p>
          <a:p>
            <a:pPr algn="ctr"/>
            <a:r>
              <a:rPr lang="en-US" altLang="zh-CN" dirty="0"/>
              <a:t>Department</a:t>
            </a:r>
            <a:r>
              <a:rPr lang="zh-CN" altLang="en-US" dirty="0"/>
              <a:t> </a:t>
            </a:r>
            <a:r>
              <a:rPr lang="en-US" altLang="zh-CN" dirty="0"/>
              <a:t>of</a:t>
            </a:r>
            <a:r>
              <a:rPr lang="zh-CN" altLang="en-US" dirty="0"/>
              <a:t> </a:t>
            </a:r>
            <a:r>
              <a:rPr lang="en-US" altLang="zh-CN" dirty="0"/>
              <a:t>electronic</a:t>
            </a:r>
            <a:r>
              <a:rPr lang="zh-CN" altLang="en-US" dirty="0"/>
              <a:t> </a:t>
            </a:r>
            <a:r>
              <a:rPr lang="en-US" altLang="zh-CN" dirty="0"/>
              <a:t>and</a:t>
            </a:r>
            <a:r>
              <a:rPr lang="zh-CN" altLang="en-US" dirty="0"/>
              <a:t> </a:t>
            </a:r>
            <a:r>
              <a:rPr lang="en-US" altLang="zh-CN" dirty="0"/>
              <a:t>electrical</a:t>
            </a:r>
            <a:r>
              <a:rPr lang="zh-CN" altLang="en-US" dirty="0"/>
              <a:t> </a:t>
            </a:r>
            <a:r>
              <a:rPr lang="en-US" altLang="zh-CN" dirty="0"/>
              <a:t>engineering</a:t>
            </a:r>
            <a:endParaRPr lang="zh-CN" altLang="en-US" dirty="0"/>
          </a:p>
        </p:txBody>
      </p:sp>
      <p:sp>
        <p:nvSpPr>
          <p:cNvPr id="4" name="灯片编号占位符 3"/>
          <p:cNvSpPr>
            <a:spLocks noGrp="1"/>
          </p:cNvSpPr>
          <p:nvPr>
            <p:ph type="sldNum" sz="quarter" idx="12"/>
          </p:nvPr>
        </p:nvSpPr>
        <p:spPr/>
        <p:txBody>
          <a:bodyPr/>
          <a:lstStyle/>
          <a:p>
            <a:fld id="{22E77DEE-32E4-4009-988B-F2758F7B8AC2}" type="slidenum">
              <a:rPr lang="zh-CN" altLang="en-US" smtClean="0"/>
              <a:t>1</a:t>
            </a:fld>
            <a:endParaRPr lang="zh-CN" altLang="en-US"/>
          </a:p>
        </p:txBody>
      </p:sp>
      <p:sp>
        <p:nvSpPr>
          <p:cNvPr id="6" name="标题 1"/>
          <p:cNvSpPr>
            <a:spLocks noGrp="1"/>
          </p:cNvSpPr>
          <p:nvPr/>
        </p:nvSpPr>
        <p:spPr>
          <a:xfrm>
            <a:off x="2278652" y="880891"/>
            <a:ext cx="7886700" cy="624911"/>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4000" dirty="0">
                <a:solidFill>
                  <a:schemeClr val="tx1">
                    <a:lumMod val="75000"/>
                    <a:lumOff val="25000"/>
                  </a:schemeClr>
                </a:solidFill>
                <a:latin typeface="+mj-ea"/>
                <a:cs typeface="+mj-cs"/>
              </a:rPr>
              <a:t>2025</a:t>
            </a:r>
            <a:r>
              <a:rPr lang="zh-CN" altLang="en-US" sz="4000" dirty="0">
                <a:solidFill>
                  <a:schemeClr val="tx1">
                    <a:lumMod val="75000"/>
                    <a:lumOff val="25000"/>
                  </a:schemeClr>
                </a:solidFill>
                <a:latin typeface="+mj-ea"/>
                <a:cs typeface="+mj-cs"/>
              </a:rPr>
              <a:t>秋 </a:t>
            </a:r>
            <a:r>
              <a:rPr lang="en-US" altLang="zh-CN" sz="4000" dirty="0">
                <a:solidFill>
                  <a:schemeClr val="tx1">
                    <a:lumMod val="75000"/>
                    <a:lumOff val="25000"/>
                  </a:schemeClr>
                </a:solidFill>
                <a:latin typeface="+mj-ea"/>
                <a:cs typeface="+mj-cs"/>
              </a:rPr>
              <a:t>EE351《</a:t>
            </a:r>
            <a:r>
              <a:rPr lang="zh-CN" altLang="en-US" sz="4000" dirty="0">
                <a:solidFill>
                  <a:schemeClr val="tx1">
                    <a:lumMod val="75000"/>
                    <a:lumOff val="25000"/>
                  </a:schemeClr>
                </a:solidFill>
                <a:latin typeface="+mj-ea"/>
                <a:cs typeface="+mj-cs"/>
              </a:rPr>
              <a:t>微机原理与微系统</a:t>
            </a:r>
            <a:r>
              <a:rPr lang="en-US" altLang="zh-CN" sz="4000" dirty="0">
                <a:solidFill>
                  <a:schemeClr val="tx1">
                    <a:lumMod val="75000"/>
                    <a:lumOff val="25000"/>
                  </a:schemeClr>
                </a:solidFill>
                <a:latin typeface="+mj-ea"/>
                <a:cs typeface="+mj-cs"/>
              </a:rPr>
              <a:t>》</a:t>
            </a:r>
          </a:p>
        </p:txBody>
      </p:sp>
      <p:sp>
        <p:nvSpPr>
          <p:cNvPr id="7" name="副标题 2"/>
          <p:cNvSpPr>
            <a:spLocks noGrp="1"/>
          </p:cNvSpPr>
          <p:nvPr/>
        </p:nvSpPr>
        <p:spPr>
          <a:xfrm>
            <a:off x="2289810" y="4346147"/>
            <a:ext cx="7543800" cy="1143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anose="020F0502020204030204" charset="0"/>
              <a:buNone/>
              <a:defRPr sz="2000" kern="1200">
                <a:solidFill>
                  <a:schemeClr val="tx1">
                    <a:lumMod val="75000"/>
                    <a:lumOff val="25000"/>
                  </a:schemeClr>
                </a:solidFill>
                <a:latin typeface="+mn-lt"/>
                <a:ea typeface="+mn-ea"/>
                <a:cs typeface="+mn-cs"/>
              </a:defRPr>
            </a:lvl9pPr>
          </a:lstStyle>
          <a:p>
            <a:pPr algn="ctr"/>
            <a:r>
              <a:rPr lang="zh-CN" altLang="en-US" dirty="0"/>
              <a:t>姜俊敏</a:t>
            </a:r>
            <a:endParaRPr lang="en-US" altLang="zh-CN" dirty="0"/>
          </a:p>
          <a:p>
            <a:pPr algn="ctr"/>
            <a:r>
              <a:rPr lang="zh-CN" altLang="en-US" dirty="0"/>
              <a:t>电子与电子工程系</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noChangeArrowheads="1"/>
          </p:cNvSpPr>
          <p:nvPr>
            <p:ph type="title"/>
          </p:nvPr>
        </p:nvSpPr>
        <p:spPr>
          <a:xfrm>
            <a:off x="1154084" y="154258"/>
            <a:ext cx="10058400" cy="496198"/>
          </a:xfrm>
        </p:spPr>
        <p:txBody>
          <a:bodyPr vert="horz" lIns="91440" tIns="45720" rIns="91440" bIns="45720" rtlCol="0" anchor="b">
            <a:normAutofit fontScale="90000"/>
          </a:bodyPr>
          <a:lstStyle/>
          <a:p>
            <a:r>
              <a:rPr lang="zh-CN" altLang="en-US" sz="3200" dirty="0">
                <a:latin typeface="+mj-ea"/>
              </a:rPr>
              <a:t>第二章   微型计算机基础知识</a:t>
            </a:r>
          </a:p>
        </p:txBody>
      </p:sp>
      <p:sp>
        <p:nvSpPr>
          <p:cNvPr id="175107" name="Rectangle 3"/>
          <p:cNvSpPr>
            <a:spLocks noGrp="1" noChangeArrowheads="1"/>
          </p:cNvSpPr>
          <p:nvPr>
            <p:ph idx="1"/>
          </p:nvPr>
        </p:nvSpPr>
        <p:spPr>
          <a:xfrm>
            <a:off x="1066800" y="1267879"/>
            <a:ext cx="9557084" cy="3821480"/>
          </a:xfrm>
        </p:spPr>
        <p:txBody>
          <a:bodyPr vert="horz" lIns="0" tIns="45720" rIns="0" bIns="45720" rtlCol="0">
            <a:normAutofit/>
          </a:bodyPr>
          <a:lstStyle/>
          <a:p>
            <a:pPr>
              <a:buFont typeface="Wingdings" panose="05000000000000000000" pitchFamily="2" charset="2"/>
              <a:buChar char="l"/>
            </a:pPr>
            <a:r>
              <a:rPr lang="zh-CN" altLang="en-US" b="1" dirty="0">
                <a:latin typeface="+mn-ea"/>
              </a:rPr>
              <a:t>本章学习目标：</a:t>
            </a:r>
          </a:p>
          <a:p>
            <a:pPr marL="0" indent="0">
              <a:buFont typeface="Wingdings" panose="05000000000000000000" pitchFamily="2" charset="2"/>
              <a:buNone/>
            </a:pPr>
            <a:r>
              <a:rPr lang="en-US" altLang="zh-CN" b="1" dirty="0">
                <a:latin typeface="+mn-ea"/>
                <a:sym typeface="+mn-ea"/>
              </a:rPr>
              <a:t> </a:t>
            </a:r>
            <a:r>
              <a:rPr lang="zh-CN" altLang="en-US" b="1" dirty="0">
                <a:latin typeface="+mn-ea"/>
                <a:sym typeface="+mn-ea"/>
              </a:rPr>
              <a:t>Learning objectives of this chapter:</a:t>
            </a:r>
            <a:endParaRPr lang="zh-CN" altLang="en-US" b="1" dirty="0">
              <a:latin typeface="+mn-ea"/>
            </a:endParaRPr>
          </a:p>
          <a:p>
            <a:pPr>
              <a:buFont typeface="Wingdings" panose="05000000000000000000" pitchFamily="2" charset="2"/>
              <a:buChar char="l"/>
            </a:pPr>
            <a:endParaRPr lang="en-US" altLang="zh-CN" b="1" dirty="0">
              <a:latin typeface="+mn-ea"/>
            </a:endParaRPr>
          </a:p>
          <a:p>
            <a:pPr>
              <a:buFont typeface="Wingdings" panose="05000000000000000000" pitchFamily="2" charset="2"/>
              <a:buChar char="l"/>
            </a:pPr>
            <a:r>
              <a:rPr lang="en-US" altLang="zh-CN" b="1" dirty="0">
                <a:latin typeface="+mn-ea"/>
              </a:rPr>
              <a:t>1. </a:t>
            </a:r>
            <a:r>
              <a:rPr lang="zh-CN" altLang="en-US" b="1" dirty="0">
                <a:latin typeface="+mn-ea"/>
              </a:rPr>
              <a:t>掌握微型计算机中的数制及其编码 </a:t>
            </a:r>
            <a:br>
              <a:rPr lang="zh-CN" altLang="en-US" b="1" dirty="0">
                <a:latin typeface="+mn-ea"/>
              </a:rPr>
            </a:br>
            <a:r>
              <a:rPr lang="en-US" altLang="zh-CN" b="1" dirty="0">
                <a:latin typeface="+mn-ea"/>
              </a:rPr>
              <a:t> </a:t>
            </a:r>
            <a:r>
              <a:rPr lang="zh-CN" altLang="en-US" b="1" dirty="0">
                <a:latin typeface="+mn-ea"/>
                <a:sym typeface="+mn-ea"/>
              </a:rPr>
              <a:t>Master the number system and its code in microcomputer</a:t>
            </a:r>
            <a:endParaRPr lang="zh-CN" altLang="en-US" b="1" dirty="0">
              <a:latin typeface="+mn-ea"/>
            </a:endParaRPr>
          </a:p>
          <a:p>
            <a:pPr>
              <a:buFont typeface="Wingdings" panose="05000000000000000000" pitchFamily="2" charset="2"/>
              <a:buChar char="l"/>
            </a:pPr>
            <a:r>
              <a:rPr lang="en-US" altLang="zh-CN" b="1" dirty="0">
                <a:latin typeface="+mn-ea"/>
              </a:rPr>
              <a:t>2. </a:t>
            </a:r>
            <a:r>
              <a:rPr lang="zh-CN" altLang="en-US" b="1" dirty="0">
                <a:latin typeface="+mn-ea"/>
              </a:rPr>
              <a:t>掌握布尔代数和常见逻辑电路 </a:t>
            </a:r>
            <a:br>
              <a:rPr lang="zh-CN" altLang="en-US" b="1" dirty="0">
                <a:latin typeface="+mn-ea"/>
              </a:rPr>
            </a:br>
            <a:r>
              <a:rPr lang="en-US" altLang="zh-CN" b="1" dirty="0">
                <a:latin typeface="+mn-ea"/>
              </a:rPr>
              <a:t> </a:t>
            </a:r>
            <a:r>
              <a:rPr lang="zh-CN" altLang="en-US" b="1" dirty="0">
                <a:latin typeface="+mn-ea"/>
                <a:sym typeface="+mn-ea"/>
              </a:rPr>
              <a:t>Master Boolean algebra and common logic circuits</a:t>
            </a:r>
            <a:endParaRPr lang="zh-CN" altLang="en-US" b="1" dirty="0">
              <a:latin typeface="+mn-ea"/>
            </a:endParaRPr>
          </a:p>
          <a:p>
            <a:pPr>
              <a:buFont typeface="Wingdings" panose="05000000000000000000" pitchFamily="2" charset="2"/>
              <a:buChar char="l"/>
            </a:pPr>
            <a:r>
              <a:rPr lang="en-US" altLang="zh-CN" b="1" dirty="0">
                <a:latin typeface="+mn-ea"/>
              </a:rPr>
              <a:t>3. </a:t>
            </a:r>
            <a:r>
              <a:rPr lang="zh-CN" altLang="en-US" b="1" dirty="0">
                <a:latin typeface="+mn-ea"/>
              </a:rPr>
              <a:t>了解微型计算机的常用技术术语和技术</a:t>
            </a:r>
            <a:br>
              <a:rPr lang="zh-CN" altLang="en-US" b="1" dirty="0">
                <a:latin typeface="+mn-ea"/>
              </a:rPr>
            </a:br>
            <a:r>
              <a:rPr lang="zh-CN" altLang="en-US" b="1" dirty="0">
                <a:latin typeface="+mn-ea"/>
                <a:sym typeface="+mn-ea"/>
              </a:rPr>
              <a:t>Understand common technical terms and techniques for microcomputers</a:t>
            </a:r>
            <a:endParaRPr lang="zh-CN" altLang="en-US" b="1" dirty="0">
              <a:latin typeface="+mn-ea"/>
            </a:endParaRPr>
          </a:p>
          <a:p>
            <a:pPr>
              <a:buFont typeface="Wingdings" panose="05000000000000000000" pitchFamily="2" charset="2"/>
              <a:buChar char="l"/>
            </a:pPr>
            <a:endParaRPr lang="zh-CN" altLang="en-US" b="1" dirty="0">
              <a:latin typeface="+mn-ea"/>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2</a:t>
            </a:fld>
            <a:endParaRPr lang="zh-CN" altLang="en-US"/>
          </a:p>
        </p:txBody>
      </p:sp>
      <p:sp>
        <p:nvSpPr>
          <p:cNvPr id="4" name="标题 1"/>
          <p:cNvSpPr>
            <a:spLocks noGrp="1" noChangeArrowheads="1"/>
          </p:cNvSpPr>
          <p:nvPr/>
        </p:nvSpPr>
        <p:spPr>
          <a:xfrm>
            <a:off x="1066800" y="234717"/>
            <a:ext cx="10058400" cy="83147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400" b="1" dirty="0">
                <a:latin typeface="+mj-ea"/>
              </a:rPr>
              <a:t>Chapter 2 Basic knowledge of microcomputer</a:t>
            </a:r>
            <a:endParaRPr lang="zh-CN" altLang="en-US" sz="4400" b="1" dirty="0">
              <a:latin typeface="+mj-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7" name="Rectangle 3"/>
          <p:cNvSpPr>
            <a:spLocks noGrp="1" noChangeArrowheads="1"/>
          </p:cNvSpPr>
          <p:nvPr>
            <p:ph idx="1"/>
          </p:nvPr>
        </p:nvSpPr>
        <p:spPr>
          <a:xfrm>
            <a:off x="997385" y="1267594"/>
            <a:ext cx="10487660" cy="4953000"/>
          </a:xfrm>
        </p:spPr>
        <p:txBody>
          <a:bodyPr vert="horz" lIns="0" tIns="45720" rIns="0" bIns="45720" rtlCol="0">
            <a:normAutofit fontScale="92500" lnSpcReduction="20000"/>
          </a:bodyPr>
          <a:lstStyle/>
          <a:p>
            <a:pPr>
              <a:buFont typeface="Wingdings" panose="05000000000000000000" pitchFamily="2" charset="2"/>
              <a:buChar char="l"/>
            </a:pPr>
            <a:r>
              <a:rPr lang="en-US" altLang="zh-CN" dirty="0">
                <a:solidFill>
                  <a:schemeClr val="tx1"/>
                </a:solidFill>
                <a:latin typeface="+mn-ea"/>
              </a:rPr>
              <a:t>2.1 </a:t>
            </a:r>
            <a:r>
              <a:rPr lang="zh-CN" altLang="en-US" dirty="0">
                <a:solidFill>
                  <a:schemeClr val="tx1"/>
                </a:solidFill>
                <a:latin typeface="+mn-ea"/>
              </a:rPr>
              <a:t>微型机中的数制及其编码</a:t>
            </a:r>
            <a:br>
              <a:rPr lang="zh-CN" altLang="en-US" dirty="0">
                <a:solidFill>
                  <a:schemeClr val="tx1"/>
                </a:solidFill>
                <a:latin typeface="+mn-ea"/>
              </a:rPr>
            </a:br>
            <a:r>
              <a:rPr lang="en-US" altLang="zh-CN" dirty="0">
                <a:solidFill>
                  <a:schemeClr val="tx1"/>
                </a:solidFill>
                <a:latin typeface="+mn-ea"/>
                <a:sym typeface="+mn-ea"/>
              </a:rPr>
              <a:t>Number system and coding in microcomputer</a:t>
            </a:r>
            <a:endParaRPr lang="en-US" altLang="zh-CN" dirty="0">
              <a:solidFill>
                <a:schemeClr val="tx1"/>
              </a:solidFill>
              <a:latin typeface="+mn-ea"/>
            </a:endParaRPr>
          </a:p>
          <a:p>
            <a:pPr lvl="1"/>
            <a:r>
              <a:rPr lang="en-US" altLang="zh-CN" dirty="0">
                <a:solidFill>
                  <a:schemeClr val="tx1"/>
                </a:solidFill>
              </a:rPr>
              <a:t>2.1.1  </a:t>
            </a:r>
            <a:r>
              <a:rPr lang="zh-CN" altLang="en-US" dirty="0">
                <a:solidFill>
                  <a:schemeClr val="tx1"/>
                </a:solidFill>
              </a:rPr>
              <a:t>数与数制</a:t>
            </a:r>
            <a:br>
              <a:rPr lang="en-US" altLang="zh-CN" dirty="0">
                <a:solidFill>
                  <a:schemeClr val="tx1"/>
                </a:solidFill>
              </a:rPr>
            </a:br>
            <a:r>
              <a:rPr lang="en-US" altLang="zh-CN" dirty="0">
                <a:solidFill>
                  <a:schemeClr val="tx1"/>
                </a:solidFill>
              </a:rPr>
              <a:t>Numbers and Number Systems</a:t>
            </a:r>
          </a:p>
          <a:p>
            <a:pPr lvl="1"/>
            <a:r>
              <a:rPr lang="en-US" altLang="zh-CN" dirty="0">
                <a:solidFill>
                  <a:schemeClr val="tx1"/>
                </a:solidFill>
              </a:rPr>
              <a:t>2.1.2  </a:t>
            </a:r>
            <a:r>
              <a:rPr lang="zh-CN" altLang="en-US" dirty="0">
                <a:solidFill>
                  <a:schemeClr val="tx1"/>
                </a:solidFill>
              </a:rPr>
              <a:t>不同数制之间的转换</a:t>
            </a:r>
            <a:r>
              <a:rPr lang="en-US" altLang="zh-CN" dirty="0">
                <a:solidFill>
                  <a:schemeClr val="tx1"/>
                </a:solidFill>
              </a:rPr>
              <a:t> </a:t>
            </a:r>
            <a:br>
              <a:rPr lang="en-US" altLang="zh-CN" dirty="0">
                <a:solidFill>
                  <a:schemeClr val="tx1"/>
                </a:solidFill>
              </a:rPr>
            </a:br>
            <a:r>
              <a:rPr lang="en-US" altLang="zh-CN" dirty="0">
                <a:solidFill>
                  <a:schemeClr val="tx1"/>
                </a:solidFill>
              </a:rPr>
              <a:t>Conversion between different number systems</a:t>
            </a:r>
          </a:p>
          <a:p>
            <a:pPr marL="0" lvl="1"/>
            <a:r>
              <a:rPr lang="en-US" altLang="zh-CN" dirty="0">
                <a:solidFill>
                  <a:schemeClr val="tx1"/>
                </a:solidFill>
              </a:rPr>
              <a:t>2.1.3  </a:t>
            </a:r>
            <a:r>
              <a:rPr lang="zh-CN" altLang="en-US" dirty="0">
                <a:solidFill>
                  <a:schemeClr val="tx1"/>
                </a:solidFill>
              </a:rPr>
              <a:t>数制数据的编码及其运算 </a:t>
            </a:r>
            <a:br>
              <a:rPr lang="zh-CN" altLang="en-US" dirty="0">
                <a:solidFill>
                  <a:schemeClr val="tx1"/>
                </a:solidFill>
              </a:rPr>
            </a:br>
            <a:r>
              <a:rPr lang="zh-CN" altLang="en-US" dirty="0">
                <a:solidFill>
                  <a:schemeClr val="tx1"/>
                </a:solidFill>
              </a:rPr>
              <a:t> </a:t>
            </a:r>
            <a:r>
              <a:rPr lang="en-US" altLang="zh-CN" dirty="0">
                <a:solidFill>
                  <a:schemeClr val="tx1"/>
                </a:solidFill>
              </a:rPr>
              <a:t>      </a:t>
            </a:r>
            <a:r>
              <a:rPr lang="en-US" altLang="zh-CN" dirty="0">
                <a:solidFill>
                  <a:schemeClr val="tx1"/>
                </a:solidFill>
                <a:sym typeface="+mn-ea"/>
              </a:rPr>
              <a:t>Number data encoding and its operation</a:t>
            </a:r>
            <a:endParaRPr lang="en-US" altLang="zh-CN" dirty="0">
              <a:solidFill>
                <a:schemeClr val="tx1"/>
              </a:solidFill>
            </a:endParaRPr>
          </a:p>
          <a:p>
            <a:pPr lvl="2"/>
            <a:r>
              <a:rPr lang="en-US" altLang="zh-CN" dirty="0">
                <a:solidFill>
                  <a:schemeClr val="tx1"/>
                </a:solidFill>
              </a:rPr>
              <a:t>1.</a:t>
            </a:r>
            <a:r>
              <a:rPr lang="zh-CN" altLang="en-US" dirty="0">
                <a:solidFill>
                  <a:schemeClr val="tx1"/>
                </a:solidFill>
              </a:rPr>
              <a:t>原码</a:t>
            </a:r>
            <a:r>
              <a:rPr lang="en-US" altLang="zh-CN" dirty="0">
                <a:solidFill>
                  <a:schemeClr val="tx1"/>
                </a:solidFill>
              </a:rPr>
              <a:t>  2.</a:t>
            </a:r>
            <a:r>
              <a:rPr lang="zh-CN" altLang="en-US" dirty="0">
                <a:solidFill>
                  <a:schemeClr val="tx1"/>
                </a:solidFill>
              </a:rPr>
              <a:t>反码</a:t>
            </a:r>
            <a:r>
              <a:rPr lang="en-US" altLang="zh-CN" dirty="0">
                <a:solidFill>
                  <a:schemeClr val="tx1"/>
                </a:solidFill>
              </a:rPr>
              <a:t>; 3.</a:t>
            </a:r>
            <a:r>
              <a:rPr lang="zh-CN" altLang="en-US" dirty="0">
                <a:solidFill>
                  <a:schemeClr val="tx1"/>
                </a:solidFill>
              </a:rPr>
              <a:t>补码</a:t>
            </a:r>
            <a:r>
              <a:rPr lang="en-US" altLang="zh-CN" dirty="0">
                <a:solidFill>
                  <a:schemeClr val="tx1"/>
                </a:solidFill>
              </a:rPr>
              <a:t>;    4.</a:t>
            </a:r>
            <a:r>
              <a:rPr lang="zh-CN" altLang="en-US" dirty="0">
                <a:solidFill>
                  <a:schemeClr val="tx1"/>
                </a:solidFill>
              </a:rPr>
              <a:t>十进制数的编码</a:t>
            </a:r>
            <a:r>
              <a:rPr lang="en-US" altLang="zh-CN" dirty="0">
                <a:solidFill>
                  <a:schemeClr val="tx1"/>
                </a:solidFill>
              </a:rPr>
              <a:t>((</a:t>
            </a:r>
            <a:r>
              <a:rPr lang="zh-CN" altLang="en-US" dirty="0">
                <a:solidFill>
                  <a:schemeClr val="tx1"/>
                </a:solidFill>
              </a:rPr>
              <a:t>非</a:t>
            </a:r>
            <a:r>
              <a:rPr lang="en-US" altLang="zh-CN" dirty="0">
                <a:solidFill>
                  <a:schemeClr val="tx1"/>
                </a:solidFill>
              </a:rPr>
              <a:t>)</a:t>
            </a:r>
            <a:r>
              <a:rPr lang="zh-CN" altLang="en-US" dirty="0">
                <a:solidFill>
                  <a:schemeClr val="tx1"/>
                </a:solidFill>
              </a:rPr>
              <a:t>压缩</a:t>
            </a:r>
            <a:r>
              <a:rPr lang="en-US" altLang="zh-CN" dirty="0">
                <a:solidFill>
                  <a:schemeClr val="tx1"/>
                </a:solidFill>
              </a:rPr>
              <a:t>BCD</a:t>
            </a:r>
            <a:r>
              <a:rPr lang="zh-CN" altLang="en-US" dirty="0">
                <a:solidFill>
                  <a:schemeClr val="tx1"/>
                </a:solidFill>
              </a:rPr>
              <a:t>码</a:t>
            </a:r>
            <a:r>
              <a:rPr lang="en-US" altLang="zh-CN" dirty="0">
                <a:solidFill>
                  <a:schemeClr val="tx1"/>
                </a:solidFill>
              </a:rPr>
              <a:t>)</a:t>
            </a:r>
            <a:br>
              <a:rPr lang="en-US" altLang="zh-CN" dirty="0">
                <a:solidFill>
                  <a:schemeClr val="tx1"/>
                </a:solidFill>
              </a:rPr>
            </a:br>
            <a:r>
              <a:rPr lang="en-US" altLang="zh-CN" dirty="0">
                <a:solidFill>
                  <a:schemeClr val="tx1"/>
                </a:solidFill>
              </a:rPr>
              <a:t>1.true form; 2.Inverse code; 3.two's complement; 4.Coding of decimal numbers (non-compression BCD code)</a:t>
            </a:r>
          </a:p>
          <a:p>
            <a:pPr lvl="2"/>
            <a:r>
              <a:rPr lang="en-US" altLang="zh-CN" dirty="0">
                <a:solidFill>
                  <a:schemeClr val="tx1"/>
                </a:solidFill>
              </a:rPr>
              <a:t>2.1.4  </a:t>
            </a:r>
            <a:r>
              <a:rPr lang="zh-CN" altLang="en-US" dirty="0">
                <a:solidFill>
                  <a:schemeClr val="tx1"/>
                </a:solidFill>
              </a:rPr>
              <a:t>非数值数据的编码 </a:t>
            </a:r>
            <a:r>
              <a:rPr lang="en-US" altLang="zh-CN" dirty="0">
                <a:solidFill>
                  <a:schemeClr val="tx1"/>
                </a:solidFill>
              </a:rPr>
              <a:t>(ASCII</a:t>
            </a:r>
            <a:r>
              <a:rPr lang="zh-CN" altLang="en-US" dirty="0">
                <a:solidFill>
                  <a:schemeClr val="tx1"/>
                </a:solidFill>
              </a:rPr>
              <a:t>码</a:t>
            </a:r>
            <a:r>
              <a:rPr lang="en-US" altLang="zh-CN" dirty="0">
                <a:solidFill>
                  <a:schemeClr val="tx1"/>
                </a:solidFill>
              </a:rPr>
              <a:t>, </a:t>
            </a:r>
            <a:r>
              <a:rPr lang="zh-CN" altLang="en-US" dirty="0">
                <a:solidFill>
                  <a:schemeClr val="tx1"/>
                </a:solidFill>
              </a:rPr>
              <a:t>汉字编码</a:t>
            </a:r>
            <a:r>
              <a:rPr lang="en-US" altLang="zh-CN" dirty="0">
                <a:solidFill>
                  <a:schemeClr val="tx1"/>
                </a:solidFill>
              </a:rPr>
              <a:t>)</a:t>
            </a:r>
            <a:br>
              <a:rPr lang="en-US" altLang="zh-CN" dirty="0">
                <a:solidFill>
                  <a:schemeClr val="tx1"/>
                </a:solidFill>
              </a:rPr>
            </a:br>
            <a:r>
              <a:rPr lang="en-US" altLang="zh-CN" dirty="0">
                <a:solidFill>
                  <a:schemeClr val="tx1"/>
                </a:solidFill>
                <a:sym typeface="+mn-ea"/>
              </a:rPr>
              <a:t>Non-numeric data encoding (ASCII code, Chinese character encoding)</a:t>
            </a:r>
            <a:endParaRPr lang="en-US" altLang="zh-CN" dirty="0">
              <a:solidFill>
                <a:schemeClr val="tx1"/>
              </a:solidFill>
            </a:endParaRPr>
          </a:p>
          <a:p>
            <a:pPr>
              <a:buFont typeface="Wingdings" panose="05000000000000000000" pitchFamily="2" charset="2"/>
              <a:buChar char="l"/>
            </a:pPr>
            <a:r>
              <a:rPr lang="en-US" altLang="zh-CN" dirty="0">
                <a:solidFill>
                  <a:schemeClr val="tx1"/>
                </a:solidFill>
                <a:latin typeface="+mn-ea"/>
              </a:rPr>
              <a:t>2.2 </a:t>
            </a:r>
            <a:r>
              <a:rPr lang="zh-CN" altLang="en-US" dirty="0">
                <a:solidFill>
                  <a:schemeClr val="tx1"/>
                </a:solidFill>
                <a:latin typeface="+mn-ea"/>
              </a:rPr>
              <a:t>布尔代数和常见逻辑电路</a:t>
            </a:r>
            <a:br>
              <a:rPr lang="zh-CN" altLang="en-US" dirty="0">
                <a:solidFill>
                  <a:schemeClr val="tx1"/>
                </a:solidFill>
                <a:latin typeface="+mn-ea"/>
              </a:rPr>
            </a:br>
            <a:r>
              <a:rPr lang="en-US" altLang="zh-CN" dirty="0">
                <a:solidFill>
                  <a:schemeClr val="tx1"/>
                </a:solidFill>
                <a:latin typeface="+mn-ea"/>
                <a:sym typeface="+mn-ea"/>
              </a:rPr>
              <a:t>Boolean algebra and common logic circuits</a:t>
            </a:r>
            <a:endParaRPr lang="en-US" altLang="zh-CN" dirty="0">
              <a:solidFill>
                <a:schemeClr val="tx1"/>
              </a:solidFill>
              <a:latin typeface="+mn-ea"/>
            </a:endParaRPr>
          </a:p>
          <a:p>
            <a:pPr>
              <a:buFont typeface="Wingdings" panose="05000000000000000000" pitchFamily="2" charset="2"/>
              <a:buChar char="l"/>
            </a:pPr>
            <a:r>
              <a:rPr lang="en-US" altLang="zh-CN" dirty="0">
                <a:solidFill>
                  <a:schemeClr val="tx1"/>
                </a:solidFill>
                <a:latin typeface="+mn-ea"/>
              </a:rPr>
              <a:t>2.3 </a:t>
            </a:r>
            <a:r>
              <a:rPr lang="zh-CN" altLang="en-US" dirty="0">
                <a:solidFill>
                  <a:schemeClr val="tx1"/>
                </a:solidFill>
                <a:latin typeface="+mn-ea"/>
              </a:rPr>
              <a:t>微型计算机的常用技术术语和技术</a:t>
            </a:r>
            <a:br>
              <a:rPr lang="zh-CN" altLang="en-US" dirty="0">
                <a:solidFill>
                  <a:schemeClr val="tx1"/>
                </a:solidFill>
                <a:latin typeface="+mn-ea"/>
              </a:rPr>
            </a:br>
            <a:r>
              <a:rPr lang="en-US" altLang="zh-CN" dirty="0">
                <a:solidFill>
                  <a:schemeClr val="tx1"/>
                </a:solidFill>
                <a:latin typeface="+mn-ea"/>
                <a:sym typeface="+mn-ea"/>
              </a:rPr>
              <a:t>Common technical terms and techniques of microcomputer</a:t>
            </a:r>
            <a:endParaRPr lang="en-US" altLang="zh-CN" dirty="0">
              <a:solidFill>
                <a:schemeClr val="tx1"/>
              </a:solidFill>
              <a:latin typeface="+mn-ea"/>
            </a:endParaRPr>
          </a:p>
          <a:p>
            <a:pPr lvl="1"/>
            <a:r>
              <a:rPr lang="en-US" altLang="zh-CN" dirty="0">
                <a:solidFill>
                  <a:schemeClr val="tx1"/>
                </a:solidFill>
              </a:rPr>
              <a:t>2.3.1  </a:t>
            </a:r>
            <a:r>
              <a:rPr lang="zh-CN" altLang="en-US" dirty="0">
                <a:solidFill>
                  <a:schemeClr val="tx1"/>
                </a:solidFill>
              </a:rPr>
              <a:t>常用单位及术语</a:t>
            </a:r>
            <a:r>
              <a:rPr lang="en-US" altLang="zh-CN" dirty="0">
                <a:solidFill>
                  <a:schemeClr val="tx1"/>
                </a:solidFill>
              </a:rPr>
              <a:t>;  </a:t>
            </a:r>
            <a:br>
              <a:rPr lang="en-US" altLang="zh-CN" dirty="0">
                <a:solidFill>
                  <a:schemeClr val="tx1"/>
                </a:solidFill>
              </a:rPr>
            </a:br>
            <a:r>
              <a:rPr lang="en-US" altLang="zh-CN" dirty="0">
                <a:solidFill>
                  <a:schemeClr val="tx1"/>
                </a:solidFill>
              </a:rPr>
              <a:t>Common units and terms;</a:t>
            </a:r>
          </a:p>
          <a:p>
            <a:pPr lvl="1"/>
            <a:r>
              <a:rPr lang="en-US" altLang="zh-CN" dirty="0">
                <a:solidFill>
                  <a:schemeClr val="tx1"/>
                </a:solidFill>
              </a:rPr>
              <a:t>2.3.2  </a:t>
            </a:r>
            <a:r>
              <a:rPr lang="zh-CN" altLang="en-US" dirty="0">
                <a:solidFill>
                  <a:schemeClr val="tx1"/>
                </a:solidFill>
              </a:rPr>
              <a:t>常见技术</a:t>
            </a:r>
            <a:br>
              <a:rPr lang="zh-CN" altLang="en-US" dirty="0">
                <a:solidFill>
                  <a:schemeClr val="tx1"/>
                </a:solidFill>
              </a:rPr>
            </a:br>
            <a:r>
              <a:rPr lang="en-US" altLang="zh-CN" dirty="0">
                <a:solidFill>
                  <a:schemeClr val="tx1"/>
                </a:solidFill>
              </a:rPr>
              <a:t>Common techniques</a:t>
            </a:r>
          </a:p>
          <a:p>
            <a:pPr lvl="1"/>
            <a:endParaRPr lang="en-US" altLang="zh-CN" dirty="0">
              <a:solidFill>
                <a:schemeClr val="tx1"/>
              </a:solidFill>
            </a:endParaRPr>
          </a:p>
        </p:txBody>
      </p:sp>
      <p:sp>
        <p:nvSpPr>
          <p:cNvPr id="2" name="灯片编号占位符 1"/>
          <p:cNvSpPr>
            <a:spLocks noGrp="1"/>
          </p:cNvSpPr>
          <p:nvPr>
            <p:ph type="sldNum" sz="quarter" idx="12"/>
          </p:nvPr>
        </p:nvSpPr>
        <p:spPr/>
        <p:txBody>
          <a:bodyPr/>
          <a:lstStyle/>
          <a:p>
            <a:fld id="{22E77DEE-32E4-4009-988B-F2758F7B8AC2}" type="slidenum">
              <a:rPr lang="zh-CN" altLang="en-US" smtClean="0"/>
              <a:t>3</a:t>
            </a:fld>
            <a:endParaRPr lang="zh-CN" altLang="en-US"/>
          </a:p>
        </p:txBody>
      </p:sp>
      <p:sp>
        <p:nvSpPr>
          <p:cNvPr id="6" name="标题 1"/>
          <p:cNvSpPr>
            <a:spLocks noGrp="1" noChangeArrowheads="1"/>
          </p:cNvSpPr>
          <p:nvPr>
            <p:ph type="title"/>
          </p:nvPr>
        </p:nvSpPr>
        <p:spPr>
          <a:xfrm>
            <a:off x="1153795" y="-48675"/>
            <a:ext cx="10058400" cy="831478"/>
          </a:xfrm>
        </p:spPr>
        <p:txBody>
          <a:bodyPr vert="horz" lIns="91440" tIns="45720" rIns="91440" bIns="45720" rtlCol="0" anchor="b">
            <a:normAutofit/>
          </a:bodyPr>
          <a:lstStyle/>
          <a:p>
            <a:r>
              <a:rPr lang="zh-CN" altLang="en-US" sz="4000" dirty="0">
                <a:latin typeface="+mj-ea"/>
              </a:rPr>
              <a:t>第二章   微型计算机基础知识</a:t>
            </a:r>
          </a:p>
        </p:txBody>
      </p:sp>
      <p:sp>
        <p:nvSpPr>
          <p:cNvPr id="7" name="标题 1"/>
          <p:cNvSpPr>
            <a:spLocks noGrp="1" noChangeArrowheads="1"/>
          </p:cNvSpPr>
          <p:nvPr/>
        </p:nvSpPr>
        <p:spPr>
          <a:xfrm>
            <a:off x="1362710" y="286605"/>
            <a:ext cx="10058400" cy="831478"/>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zh-CN" altLang="en-US" sz="2000" dirty="0">
                <a:latin typeface="+mj-ea"/>
              </a:rPr>
              <a:t>Chapter 2 Basic knowledge of microcomputer</a:t>
            </a:r>
            <a:endParaRPr lang="zh-CN" altLang="en-US" sz="4000" dirty="0">
              <a:latin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311400" y="708978"/>
            <a:ext cx="7664450" cy="504825"/>
          </a:xfrm>
        </p:spPr>
        <p:txBody>
          <a:bodyPr vert="horz" lIns="91440" tIns="45720" rIns="91440" bIns="45720" rtlCol="0" anchor="b">
            <a:normAutofit fontScale="90000"/>
          </a:bodyPr>
          <a:lstStyle/>
          <a:p>
            <a:r>
              <a:rPr lang="en-US" altLang="zh-CN" sz="4000" b="1" dirty="0">
                <a:latin typeface="+mj-ea"/>
              </a:rPr>
              <a:t>2.1	</a:t>
            </a:r>
            <a:r>
              <a:rPr lang="zh-CN" altLang="en-US" sz="4000" b="1" dirty="0">
                <a:latin typeface="+mj-ea"/>
              </a:rPr>
              <a:t>微型机中的数制及其编码</a:t>
            </a:r>
            <a:br>
              <a:rPr lang="zh-CN" altLang="en-US" sz="4000" b="1" dirty="0">
                <a:latin typeface="+mj-ea"/>
              </a:rPr>
            </a:br>
            <a:r>
              <a:rPr lang="en-US" altLang="zh-CN" sz="4000" b="1" dirty="0">
                <a:latin typeface="+mj-ea"/>
              </a:rPr>
              <a:t>    </a:t>
            </a:r>
            <a:r>
              <a:rPr lang="en-US" altLang="zh-CN" sz="2000" b="1" dirty="0">
                <a:latin typeface="+mj-ea"/>
                <a:sym typeface="+mn-ea"/>
              </a:rPr>
              <a:t>Number system and coding in microcomputer</a:t>
            </a:r>
            <a:endParaRPr lang="zh-CN" altLang="en-US" sz="4000" b="1" dirty="0">
              <a:latin typeface="+mj-ea"/>
            </a:endParaRPr>
          </a:p>
        </p:txBody>
      </p:sp>
      <p:sp>
        <p:nvSpPr>
          <p:cNvPr id="176131" name="Rectangle 3"/>
          <p:cNvSpPr>
            <a:spLocks noGrp="1" noChangeArrowheads="1"/>
          </p:cNvSpPr>
          <p:nvPr>
            <p:ph type="body" idx="1"/>
          </p:nvPr>
        </p:nvSpPr>
        <p:spPr>
          <a:xfrm>
            <a:off x="350982" y="1213803"/>
            <a:ext cx="10763424" cy="5354320"/>
          </a:xfrm>
        </p:spPr>
        <p:txBody>
          <a:bodyPr>
            <a:normAutofit fontScale="92500" lnSpcReduction="20000"/>
          </a:bodyPr>
          <a:lstStyle/>
          <a:p>
            <a:pPr eaLnBrk="1" hangingPunct="1">
              <a:lnSpc>
                <a:spcPct val="90000"/>
              </a:lnSpc>
              <a:buFontTx/>
              <a:buNone/>
              <a:defRPr/>
            </a:pPr>
            <a:r>
              <a:rPr lang="zh-CN" altLang="en-US" b="1" dirty="0">
                <a:solidFill>
                  <a:srgbClr val="FF0000"/>
                </a:solidFill>
                <a:latin typeface="宋体" panose="02010600030101010101" pitchFamily="2" charset="-122"/>
                <a:ea typeface="宋体" panose="02010600030101010101" pitchFamily="2" charset="-122"/>
              </a:rPr>
              <a:t> </a:t>
            </a:r>
            <a:r>
              <a:rPr lang="en-US" altLang="zh-CN" b="1" dirty="0">
                <a:solidFill>
                  <a:srgbClr val="FF0000"/>
                </a:solidFill>
                <a:latin typeface="宋体" panose="02010600030101010101" pitchFamily="2" charset="-122"/>
                <a:ea typeface="宋体" panose="02010600030101010101" pitchFamily="2" charset="-122"/>
              </a:rPr>
              <a:t>2.1.1  </a:t>
            </a:r>
            <a:r>
              <a:rPr lang="zh-CN" altLang="en-US" b="1" dirty="0">
                <a:solidFill>
                  <a:srgbClr val="FF0000"/>
                </a:solidFill>
                <a:latin typeface="宋体" panose="02010600030101010101" pitchFamily="2" charset="-122"/>
                <a:ea typeface="宋体" panose="02010600030101010101" pitchFamily="2" charset="-122"/>
              </a:rPr>
              <a:t>数与数制</a:t>
            </a:r>
            <a:br>
              <a:rPr lang="zh-CN" altLang="en-US" b="1" dirty="0">
                <a:solidFill>
                  <a:srgbClr val="FF0000"/>
                </a:solidFill>
                <a:latin typeface="宋体" panose="02010600030101010101" pitchFamily="2" charset="-122"/>
                <a:ea typeface="宋体" panose="02010600030101010101" pitchFamily="2" charset="-122"/>
              </a:rPr>
            </a:br>
            <a:r>
              <a:rPr lang="en-US" altLang="zh-CN" b="1" dirty="0">
                <a:solidFill>
                  <a:srgbClr val="FF0000"/>
                </a:solidFill>
                <a:latin typeface="宋体" panose="02010600030101010101" pitchFamily="2" charset="-122"/>
                <a:ea typeface="宋体" panose="02010600030101010101" pitchFamily="2" charset="-122"/>
                <a:sym typeface="+mn-ea"/>
              </a:rPr>
              <a:t>Numbers and Number Systems</a:t>
            </a:r>
            <a:endParaRPr lang="zh-CN" altLang="en-US" b="1" dirty="0">
              <a:solidFill>
                <a:srgbClr val="FF0000"/>
              </a:solidFill>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zh-CN" altLang="en-US" b="1" dirty="0">
                <a:latin typeface="宋体" panose="02010600030101010101" pitchFamily="2" charset="-122"/>
                <a:ea typeface="宋体" panose="02010600030101010101" pitchFamily="2" charset="-122"/>
              </a:rPr>
              <a:t>进位计数制</a:t>
            </a:r>
            <a:r>
              <a:rPr kumimoji="1" lang="en-US" altLang="zh-CN" b="1" dirty="0">
                <a:latin typeface="宋体" panose="02010600030101010101" pitchFamily="2" charset="-122"/>
                <a:ea typeface="宋体" panose="02010600030101010101" pitchFamily="2" charset="-122"/>
              </a:rPr>
              <a:t>, </a:t>
            </a:r>
            <a:r>
              <a:rPr kumimoji="1" lang="zh-CN" altLang="en-US" b="1" dirty="0">
                <a:latin typeface="宋体" panose="02010600030101010101" pitchFamily="2" charset="-122"/>
                <a:ea typeface="宋体" panose="02010600030101010101" pitchFamily="2" charset="-122"/>
              </a:rPr>
              <a:t>简称数制。</a:t>
            </a:r>
            <a:r>
              <a:rPr kumimoji="1" lang="en-US" altLang="zh-CN" b="1" dirty="0">
                <a:latin typeface="宋体" panose="02010600030101010101" pitchFamily="2" charset="-122"/>
                <a:ea typeface="宋体" panose="02010600030101010101" pitchFamily="2" charset="-122"/>
                <a:sym typeface="+mn-ea"/>
              </a:rPr>
              <a:t>system of numeration</a:t>
            </a:r>
            <a:r>
              <a:rPr kumimoji="1" lang="zh-CN" altLang="en-US" b="1" dirty="0">
                <a:latin typeface="宋体" panose="02010600030101010101" pitchFamily="2" charset="-122"/>
                <a:ea typeface="宋体" panose="02010600030101010101" pitchFamily="2" charset="-122"/>
                <a:sym typeface="+mn-ea"/>
              </a:rPr>
              <a:t>, abbreviated as number system.</a:t>
            </a:r>
            <a:endParaRPr kumimoji="1" lang="zh-CN" altLang="en-US" b="1" dirty="0">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zh-CN" altLang="en-US" b="1" dirty="0">
                <a:latin typeface="宋体" panose="02010600030101010101" pitchFamily="2" charset="-122"/>
                <a:ea typeface="宋体" panose="02010600030101010101" pitchFamily="2" charset="-122"/>
              </a:rPr>
              <a:t>十进制：人们习惯采用的计数制是十进制。</a:t>
            </a:r>
            <a:br>
              <a:rPr kumimoji="1" lang="zh-CN" altLang="en-US" b="1" dirty="0">
                <a:latin typeface="宋体" panose="02010600030101010101" pitchFamily="2" charset="-122"/>
                <a:ea typeface="宋体" panose="02010600030101010101" pitchFamily="2" charset="-122"/>
              </a:rPr>
            </a:br>
            <a:r>
              <a:rPr kumimoji="1" lang="en-US" altLang="zh-CN" b="1" dirty="0">
                <a:latin typeface="宋体" panose="02010600030101010101" pitchFamily="2" charset="-122"/>
                <a:ea typeface="宋体" panose="02010600030101010101" pitchFamily="2" charset="-122"/>
                <a:sym typeface="+mn-ea"/>
              </a:rPr>
              <a:t>Decimal</a:t>
            </a:r>
            <a:r>
              <a:rPr kumimoji="1" lang="zh-CN" altLang="en-US" b="1" dirty="0">
                <a:latin typeface="宋体" panose="02010600030101010101" pitchFamily="2" charset="-122"/>
                <a:ea typeface="宋体" panose="02010600030101010101" pitchFamily="2" charset="-122"/>
                <a:sym typeface="+mn-ea"/>
              </a:rPr>
              <a:t>: The number system that people are used to is the decimal system.</a:t>
            </a:r>
            <a:endParaRPr kumimoji="1" lang="zh-CN" altLang="en-US" b="1" dirty="0">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en-US" altLang="zh-CN" b="1" dirty="0">
                <a:latin typeface="宋体" panose="02010600030101010101" pitchFamily="2" charset="-122"/>
                <a:ea typeface="宋体" panose="02010600030101010101" pitchFamily="2" charset="-122"/>
              </a:rPr>
              <a:t>0—9 </a:t>
            </a:r>
            <a:r>
              <a:rPr kumimoji="1" lang="zh-CN" altLang="en-US" b="1" dirty="0">
                <a:latin typeface="宋体" panose="02010600030101010101" pitchFamily="2" charset="-122"/>
                <a:ea typeface="宋体" panose="02010600030101010101" pitchFamily="2" charset="-122"/>
              </a:rPr>
              <a:t>十个不同的基数，逢十进一。</a:t>
            </a:r>
            <a:br>
              <a:rPr kumimoji="1" lang="zh-CN" altLang="en-US" b="1" dirty="0">
                <a:latin typeface="宋体" panose="02010600030101010101" pitchFamily="2" charset="-122"/>
                <a:ea typeface="宋体" panose="02010600030101010101" pitchFamily="2" charset="-122"/>
              </a:rPr>
            </a:br>
            <a:r>
              <a:rPr kumimoji="1" lang="en-US" altLang="zh-CN" b="1" dirty="0">
                <a:latin typeface="宋体" panose="02010600030101010101" pitchFamily="2" charset="-122"/>
                <a:ea typeface="宋体" panose="02010600030101010101" pitchFamily="2" charset="-122"/>
                <a:sym typeface="+mn-ea"/>
              </a:rPr>
              <a:t>0-9 ten different bases, with a carry of 1 for every ten.</a:t>
            </a:r>
            <a:endParaRPr kumimoji="1" lang="zh-CN" altLang="en-US" b="1" dirty="0">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zh-CN" altLang="en-US" b="1" dirty="0">
                <a:solidFill>
                  <a:srgbClr val="C00000"/>
                </a:solidFill>
                <a:latin typeface="宋体" panose="02010600030101010101" pitchFamily="2" charset="-122"/>
                <a:ea typeface="宋体" panose="02010600030101010101" pitchFamily="2" charset="-122"/>
              </a:rPr>
              <a:t>用</a:t>
            </a:r>
            <a:r>
              <a:rPr kumimoji="1" lang="en-US" altLang="zh-CN" b="1" dirty="0">
                <a:solidFill>
                  <a:srgbClr val="C00000"/>
                </a:solidFill>
                <a:latin typeface="宋体" panose="02010600030101010101" pitchFamily="2" charset="-122"/>
                <a:ea typeface="宋体" panose="02010600030101010101" pitchFamily="2" charset="-122"/>
              </a:rPr>
              <a:t>D(</a:t>
            </a:r>
            <a:r>
              <a:rPr lang="en-US" altLang="zh-CN" b="1" dirty="0">
                <a:solidFill>
                  <a:srgbClr val="C00000"/>
                </a:solidFill>
                <a:latin typeface="宋体" panose="02010600030101010101" pitchFamily="2" charset="-122"/>
                <a:ea typeface="宋体" panose="02010600030101010101" pitchFamily="2" charset="-122"/>
              </a:rPr>
              <a:t>Decimal</a:t>
            </a:r>
            <a:r>
              <a:rPr kumimoji="1" lang="en-US" altLang="zh-CN" b="1" dirty="0">
                <a:solidFill>
                  <a:srgbClr val="C00000"/>
                </a:solidFill>
                <a:latin typeface="宋体" panose="02010600030101010101" pitchFamily="2" charset="-122"/>
                <a:ea typeface="宋体" panose="02010600030101010101" pitchFamily="2" charset="-122"/>
              </a:rPr>
              <a:t>)</a:t>
            </a:r>
            <a:r>
              <a:rPr kumimoji="1" lang="zh-CN" altLang="en-US" b="1" dirty="0">
                <a:solidFill>
                  <a:srgbClr val="C00000"/>
                </a:solidFill>
                <a:latin typeface="宋体" panose="02010600030101010101" pitchFamily="2" charset="-122"/>
                <a:ea typeface="宋体" panose="02010600030101010101" pitchFamily="2" charset="-122"/>
              </a:rPr>
              <a:t>表示或省略</a:t>
            </a:r>
            <a:r>
              <a:rPr kumimoji="1" lang="zh-CN" altLang="en-US" b="1" dirty="0">
                <a:latin typeface="宋体" panose="02010600030101010101" pitchFamily="2" charset="-122"/>
                <a:ea typeface="宋体" panose="02010600030101010101" pitchFamily="2" charset="-122"/>
              </a:rPr>
              <a:t>。</a:t>
            </a:r>
            <a:br>
              <a:rPr kumimoji="1" lang="zh-CN" altLang="en-US" b="1" dirty="0">
                <a:latin typeface="宋体" panose="02010600030101010101" pitchFamily="2" charset="-122"/>
                <a:ea typeface="宋体" panose="02010600030101010101" pitchFamily="2" charset="-122"/>
              </a:rPr>
            </a:br>
            <a:r>
              <a:rPr kumimoji="1" lang="zh-CN" altLang="en-US" b="1" dirty="0">
                <a:solidFill>
                  <a:srgbClr val="C00000"/>
                </a:solidFill>
                <a:latin typeface="宋体" panose="02010600030101010101" pitchFamily="2" charset="-122"/>
                <a:ea typeface="宋体" panose="02010600030101010101" pitchFamily="2" charset="-122"/>
                <a:sym typeface="+mn-ea"/>
              </a:rPr>
              <a:t>Use D (Decimal) to indicate or omit.</a:t>
            </a:r>
            <a:endParaRPr kumimoji="1" lang="zh-CN" altLang="en-US" b="1" dirty="0">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zh-CN" altLang="en-US" b="1" dirty="0">
                <a:latin typeface="宋体" panose="02010600030101010101" pitchFamily="2" charset="-122"/>
                <a:ea typeface="宋体" panose="02010600030101010101" pitchFamily="2" charset="-122"/>
              </a:rPr>
              <a:t>二进制</a:t>
            </a:r>
            <a:r>
              <a:rPr kumimoji="1" lang="en-US" altLang="zh-CN" b="1" dirty="0">
                <a:latin typeface="宋体" panose="02010600030101010101" pitchFamily="2" charset="-122"/>
                <a:ea typeface="宋体" panose="02010600030101010101" pitchFamily="2" charset="-122"/>
              </a:rPr>
              <a:t>: </a:t>
            </a:r>
            <a:r>
              <a:rPr kumimoji="1" lang="zh-CN" altLang="en-US" b="1" dirty="0">
                <a:latin typeface="宋体" panose="02010600030101010101" pitchFamily="2" charset="-122"/>
                <a:ea typeface="宋体" panose="02010600030101010101" pitchFamily="2" charset="-122"/>
              </a:rPr>
              <a:t>计算机所采用的计数制是二进制。</a:t>
            </a:r>
            <a:br>
              <a:rPr kumimoji="1" lang="zh-CN" altLang="en-US" b="1" dirty="0">
                <a:latin typeface="宋体" panose="02010600030101010101" pitchFamily="2" charset="-122"/>
                <a:ea typeface="宋体" panose="02010600030101010101" pitchFamily="2" charset="-122"/>
              </a:rPr>
            </a:br>
            <a:r>
              <a:rPr kumimoji="1" lang="zh-CN" altLang="en-US" b="1" dirty="0">
                <a:latin typeface="宋体" panose="02010600030101010101" pitchFamily="2" charset="-122"/>
                <a:ea typeface="宋体" panose="02010600030101010101" pitchFamily="2" charset="-122"/>
                <a:sym typeface="+mn-ea"/>
              </a:rPr>
              <a:t>Binary: The counting system used by computers is binary.</a:t>
            </a:r>
            <a:endParaRPr kumimoji="1" lang="zh-CN" altLang="en-US" b="1" dirty="0">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zh-CN" altLang="en-US" b="1" dirty="0">
                <a:latin typeface="宋体" panose="02010600030101010101" pitchFamily="2" charset="-122"/>
                <a:ea typeface="宋体" panose="02010600030101010101" pitchFamily="2" charset="-122"/>
              </a:rPr>
              <a:t>只有</a:t>
            </a:r>
            <a:r>
              <a:rPr kumimoji="1" lang="en-US" altLang="zh-CN" b="1" dirty="0">
                <a:latin typeface="宋体" panose="02010600030101010101" pitchFamily="2" charset="-122"/>
                <a:ea typeface="宋体" panose="02010600030101010101" pitchFamily="2" charset="-122"/>
              </a:rPr>
              <a:t>0</a:t>
            </a:r>
            <a:r>
              <a:rPr kumimoji="1" lang="zh-CN" altLang="en-US" b="1" dirty="0">
                <a:latin typeface="宋体" panose="02010600030101010101" pitchFamily="2" charset="-122"/>
                <a:ea typeface="宋体" panose="02010600030101010101" pitchFamily="2" charset="-122"/>
              </a:rPr>
              <a:t>、</a:t>
            </a:r>
            <a:r>
              <a:rPr kumimoji="1" lang="en-US" altLang="zh-CN" b="1" dirty="0">
                <a:latin typeface="宋体" panose="02010600030101010101" pitchFamily="2" charset="-122"/>
                <a:ea typeface="宋体" panose="02010600030101010101" pitchFamily="2" charset="-122"/>
              </a:rPr>
              <a:t>1</a:t>
            </a:r>
            <a:r>
              <a:rPr kumimoji="1" lang="zh-CN" altLang="en-US" b="1" dirty="0">
                <a:latin typeface="宋体" panose="02010600030101010101" pitchFamily="2" charset="-122"/>
                <a:ea typeface="宋体" panose="02010600030101010101" pitchFamily="2" charset="-122"/>
              </a:rPr>
              <a:t>两个不同的基数，逢二进一。</a:t>
            </a:r>
            <a:br>
              <a:rPr kumimoji="1" lang="zh-CN" altLang="en-US" b="1" dirty="0">
                <a:latin typeface="宋体" panose="02010600030101010101" pitchFamily="2" charset="-122"/>
                <a:ea typeface="宋体" panose="02010600030101010101" pitchFamily="2" charset="-122"/>
              </a:rPr>
            </a:br>
            <a:r>
              <a:rPr kumimoji="1" lang="zh-CN" altLang="en-US" b="1" dirty="0">
                <a:latin typeface="宋体" panose="02010600030101010101" pitchFamily="2" charset="-122"/>
                <a:ea typeface="宋体" panose="02010600030101010101" pitchFamily="2" charset="-122"/>
                <a:sym typeface="+mn-ea"/>
              </a:rPr>
              <a:t>There are only two different bases, 0 and 1, and you carry over when you get to two.</a:t>
            </a:r>
            <a:endParaRPr kumimoji="1" lang="zh-CN" altLang="en-US" b="1" dirty="0">
              <a:latin typeface="宋体" panose="02010600030101010101" pitchFamily="2" charset="-122"/>
              <a:ea typeface="宋体" panose="02010600030101010101" pitchFamily="2" charset="-122"/>
            </a:endParaRPr>
          </a:p>
          <a:p>
            <a:pPr eaLnBrk="1" hangingPunct="1">
              <a:lnSpc>
                <a:spcPct val="90000"/>
              </a:lnSpc>
              <a:buFont typeface="Wingdings" panose="05000000000000000000" pitchFamily="2" charset="2"/>
              <a:buNone/>
              <a:defRPr/>
            </a:pPr>
            <a:r>
              <a:rPr kumimoji="1" lang="zh-CN" altLang="en-US" b="1" dirty="0">
                <a:solidFill>
                  <a:srgbClr val="C00000"/>
                </a:solidFill>
                <a:latin typeface="宋体" panose="02010600030101010101" pitchFamily="2" charset="-122"/>
                <a:ea typeface="宋体" panose="02010600030101010101" pitchFamily="2" charset="-122"/>
              </a:rPr>
              <a:t>用</a:t>
            </a:r>
            <a:r>
              <a:rPr kumimoji="1" lang="en-US" altLang="zh-CN" b="1" dirty="0">
                <a:solidFill>
                  <a:srgbClr val="C00000"/>
                </a:solidFill>
                <a:latin typeface="宋体" panose="02010600030101010101" pitchFamily="2" charset="-122"/>
                <a:ea typeface="宋体" panose="02010600030101010101" pitchFamily="2" charset="-122"/>
              </a:rPr>
              <a:t>B(</a:t>
            </a:r>
            <a:r>
              <a:rPr lang="en-US" altLang="zh-CN" b="1" dirty="0">
                <a:solidFill>
                  <a:srgbClr val="C00000"/>
                </a:solidFill>
                <a:latin typeface="宋体" panose="02010600030101010101" pitchFamily="2" charset="-122"/>
                <a:ea typeface="宋体" panose="02010600030101010101" pitchFamily="2" charset="-122"/>
              </a:rPr>
              <a:t>Binary</a:t>
            </a:r>
            <a:r>
              <a:rPr kumimoji="1" lang="en-US" altLang="zh-CN" b="1" dirty="0">
                <a:solidFill>
                  <a:srgbClr val="C00000"/>
                </a:solidFill>
                <a:latin typeface="宋体" panose="02010600030101010101" pitchFamily="2" charset="-122"/>
                <a:ea typeface="宋体" panose="02010600030101010101" pitchFamily="2" charset="-122"/>
              </a:rPr>
              <a:t>)</a:t>
            </a:r>
            <a:r>
              <a:rPr kumimoji="1" lang="zh-CN" altLang="en-US" b="1" dirty="0">
                <a:solidFill>
                  <a:srgbClr val="C00000"/>
                </a:solidFill>
                <a:latin typeface="宋体" panose="02010600030101010101" pitchFamily="2" charset="-122"/>
                <a:ea typeface="宋体" panose="02010600030101010101" pitchFamily="2" charset="-122"/>
              </a:rPr>
              <a:t>表示</a:t>
            </a:r>
            <a:r>
              <a:rPr kumimoji="1" lang="zh-CN" altLang="en-US" b="1" dirty="0">
                <a:latin typeface="宋体" panose="02010600030101010101" pitchFamily="2" charset="-122"/>
                <a:ea typeface="宋体" panose="02010600030101010101" pitchFamily="2" charset="-122"/>
              </a:rPr>
              <a:t>。 </a:t>
            </a:r>
            <a:r>
              <a:rPr kumimoji="1" lang="zh-CN" altLang="en-US" b="1" dirty="0">
                <a:solidFill>
                  <a:srgbClr val="C00000"/>
                </a:solidFill>
                <a:latin typeface="宋体" panose="02010600030101010101" pitchFamily="2" charset="-122"/>
                <a:ea typeface="宋体" panose="02010600030101010101" pitchFamily="2" charset="-122"/>
                <a:sym typeface="+mn-ea"/>
              </a:rPr>
              <a:t>Using B (Binary).</a:t>
            </a:r>
            <a:endParaRPr kumimoji="1" lang="zh-CN" altLang="en-US" b="1" dirty="0">
              <a:latin typeface="宋体" panose="02010600030101010101" pitchFamily="2" charset="-122"/>
              <a:ea typeface="宋体" panose="02010600030101010101" pitchFamily="2" charset="-122"/>
            </a:endParaRPr>
          </a:p>
          <a:p>
            <a:pPr marL="1428750" indent="-1428750" eaLnBrk="1" hangingPunct="1">
              <a:buFontTx/>
              <a:buNone/>
              <a:defRPr/>
            </a:pPr>
            <a:r>
              <a:rPr kumimoji="1" lang="zh-CN" altLang="en-US" b="1" dirty="0">
                <a:latin typeface="宋体" panose="02010600030101010101" pitchFamily="2" charset="-122"/>
                <a:ea typeface="宋体" panose="02010600030101010101" pitchFamily="2" charset="-122"/>
              </a:rPr>
              <a:t>因为计算机用晶体管</a:t>
            </a:r>
            <a:r>
              <a:rPr kumimoji="1" lang="zh-CN" altLang="en-US" b="1" dirty="0">
                <a:solidFill>
                  <a:srgbClr val="C00000"/>
                </a:solidFill>
                <a:latin typeface="宋体" panose="02010600030101010101" pitchFamily="2" charset="-122"/>
                <a:ea typeface="宋体" panose="02010600030101010101" pitchFamily="2" charset="-122"/>
              </a:rPr>
              <a:t>截止</a:t>
            </a:r>
            <a:r>
              <a:rPr kumimoji="1" lang="zh-CN" altLang="en-US" b="1" dirty="0">
                <a:latin typeface="宋体" panose="02010600030101010101" pitchFamily="2" charset="-122"/>
                <a:ea typeface="宋体" panose="02010600030101010101" pitchFamily="2" charset="-122"/>
              </a:rPr>
              <a:t>、</a:t>
            </a:r>
            <a:r>
              <a:rPr kumimoji="1" lang="zh-CN" altLang="en-US" b="1" dirty="0">
                <a:solidFill>
                  <a:srgbClr val="C00000"/>
                </a:solidFill>
                <a:latin typeface="宋体" panose="02010600030101010101" pitchFamily="2" charset="-122"/>
                <a:ea typeface="宋体" panose="02010600030101010101" pitchFamily="2" charset="-122"/>
              </a:rPr>
              <a:t>饱和</a:t>
            </a:r>
            <a:r>
              <a:rPr kumimoji="1" lang="zh-CN" altLang="en-US" b="1" dirty="0">
                <a:latin typeface="宋体" panose="02010600030101010101" pitchFamily="2" charset="-122"/>
                <a:ea typeface="宋体" panose="02010600030101010101" pitchFamily="2" charset="-122"/>
              </a:rPr>
              <a:t>两个态下的输出电平</a:t>
            </a:r>
            <a:r>
              <a:rPr kumimoji="1" lang="en-US" altLang="zh-CN" b="1" dirty="0">
                <a:solidFill>
                  <a:srgbClr val="C00000"/>
                </a:solidFill>
                <a:latin typeface="宋体" panose="02010600030101010101" pitchFamily="2" charset="-122"/>
                <a:ea typeface="宋体" panose="02010600030101010101" pitchFamily="2" charset="-122"/>
              </a:rPr>
              <a:t>1</a:t>
            </a:r>
            <a:r>
              <a:rPr kumimoji="1" lang="zh-CN" altLang="en-US" b="1" dirty="0">
                <a:solidFill>
                  <a:srgbClr val="C00000"/>
                </a:solidFill>
                <a:latin typeface="宋体" panose="02010600030101010101" pitchFamily="2" charset="-122"/>
                <a:ea typeface="宋体" panose="02010600030101010101" pitchFamily="2" charset="-122"/>
              </a:rPr>
              <a:t>、</a:t>
            </a:r>
            <a:r>
              <a:rPr kumimoji="1" lang="en-US" altLang="zh-CN" b="1" dirty="0">
                <a:solidFill>
                  <a:srgbClr val="C00000"/>
                </a:solidFill>
                <a:latin typeface="宋体" panose="02010600030101010101" pitchFamily="2" charset="-122"/>
                <a:ea typeface="宋体" panose="02010600030101010101" pitchFamily="2" charset="-122"/>
              </a:rPr>
              <a:t>0</a:t>
            </a:r>
            <a:r>
              <a:rPr kumimoji="1" lang="zh-CN" altLang="en-US" b="1" dirty="0">
                <a:latin typeface="宋体" panose="02010600030101010101" pitchFamily="2" charset="-122"/>
                <a:ea typeface="宋体" panose="02010600030101010101" pitchFamily="2" charset="-122"/>
              </a:rPr>
              <a:t>表示数字。</a:t>
            </a:r>
          </a:p>
          <a:p>
            <a:pPr marL="1428750" indent="-1428750" eaLnBrk="1" hangingPunct="1">
              <a:buFontTx/>
              <a:buNone/>
              <a:defRPr/>
            </a:pPr>
            <a:r>
              <a:rPr kumimoji="1" lang="zh-CN" altLang="en-US" b="1" dirty="0">
                <a:latin typeface="宋体" panose="02010600030101010101" pitchFamily="2" charset="-122"/>
                <a:ea typeface="宋体" panose="02010600030101010101" pitchFamily="2" charset="-122"/>
                <a:sym typeface="+mn-ea"/>
              </a:rPr>
              <a:t>Because the output level of a computer transistor in the cutoff and saturation states is 1 and 0 to represent a number.</a:t>
            </a:r>
            <a:endParaRPr kumimoji="1" lang="zh-CN" altLang="en-US" b="1" dirty="0">
              <a:latin typeface="宋体" panose="02010600030101010101" pitchFamily="2" charset="-122"/>
              <a:ea typeface="宋体" panose="02010600030101010101" pitchFamily="2" charset="-122"/>
            </a:endParaRPr>
          </a:p>
          <a:p>
            <a:pPr marL="1428750" indent="-1428750" eaLnBrk="1" hangingPunct="1">
              <a:buFontTx/>
              <a:buNone/>
              <a:defRPr/>
            </a:pPr>
            <a:endParaRPr kumimoji="1" lang="en-US" altLang="zh-CN" b="1" dirty="0">
              <a:latin typeface="宋体" panose="02010600030101010101" pitchFamily="2" charset="-122"/>
              <a:ea typeface="宋体" panose="02010600030101010101" pitchFamily="2" charset="-122"/>
            </a:endParaRPr>
          </a:p>
        </p:txBody>
      </p:sp>
      <p:pic>
        <p:nvPicPr>
          <p:cNvPr id="1026" name="Picture 2" descr="Virtual lab">
            <a:extLst>
              <a:ext uri="{FF2B5EF4-FFF2-40B4-BE49-F238E27FC236}">
                <a16:creationId xmlns:a16="http://schemas.microsoft.com/office/drawing/2014/main" id="{95E4F436-364E-2862-DA83-EB5894416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7163" y="2833007"/>
            <a:ext cx="3431166" cy="16994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C3AA-C60D-48EF-6E90-6CDD33BD142F}"/>
            </a:ext>
          </a:extLst>
        </p:cNvPr>
        <p:cNvGrpSpPr/>
        <p:nvPr/>
      </p:nvGrpSpPr>
      <p:grpSpPr>
        <a:xfrm>
          <a:off x="0" y="0"/>
          <a:ext cx="0" cy="0"/>
          <a:chOff x="0" y="0"/>
          <a:chExt cx="0" cy="0"/>
        </a:xfrm>
      </p:grpSpPr>
      <p:sp>
        <p:nvSpPr>
          <p:cNvPr id="21506" name="Rectangle 2">
            <a:extLst>
              <a:ext uri="{FF2B5EF4-FFF2-40B4-BE49-F238E27FC236}">
                <a16:creationId xmlns:a16="http://schemas.microsoft.com/office/drawing/2014/main" id="{35950375-4770-16FE-9494-09FA50EAEEC9}"/>
              </a:ext>
            </a:extLst>
          </p:cNvPr>
          <p:cNvSpPr>
            <a:spLocks noGrp="1" noChangeArrowheads="1"/>
          </p:cNvSpPr>
          <p:nvPr>
            <p:ph type="title"/>
          </p:nvPr>
        </p:nvSpPr>
        <p:spPr>
          <a:xfrm>
            <a:off x="2311400" y="708978"/>
            <a:ext cx="7664450" cy="504825"/>
          </a:xfrm>
        </p:spPr>
        <p:txBody>
          <a:bodyPr vert="horz" lIns="91440" tIns="45720" rIns="91440" bIns="45720" rtlCol="0" anchor="b">
            <a:normAutofit fontScale="90000"/>
          </a:bodyPr>
          <a:lstStyle/>
          <a:p>
            <a:r>
              <a:rPr lang="en-US" altLang="zh-CN" sz="4000" b="1" dirty="0">
                <a:latin typeface="+mj-ea"/>
              </a:rPr>
              <a:t>2.1	</a:t>
            </a:r>
            <a:r>
              <a:rPr lang="zh-CN" altLang="en-US" sz="4000" b="1" dirty="0">
                <a:latin typeface="+mj-ea"/>
              </a:rPr>
              <a:t>微型机中的数制及其编码</a:t>
            </a:r>
            <a:br>
              <a:rPr lang="zh-CN" altLang="en-US" sz="4000" b="1" dirty="0">
                <a:latin typeface="+mj-ea"/>
              </a:rPr>
            </a:br>
            <a:r>
              <a:rPr lang="en-US" altLang="zh-CN" sz="4000" b="1" dirty="0">
                <a:latin typeface="+mj-ea"/>
              </a:rPr>
              <a:t>    </a:t>
            </a:r>
            <a:r>
              <a:rPr lang="en-US" altLang="zh-CN" sz="2000" b="1" dirty="0">
                <a:latin typeface="+mj-ea"/>
                <a:sym typeface="+mn-ea"/>
              </a:rPr>
              <a:t>Number system and coding in microcomputer</a:t>
            </a:r>
            <a:endParaRPr lang="zh-CN" altLang="en-US" sz="4000" b="1" dirty="0">
              <a:latin typeface="+mj-ea"/>
            </a:endParaRPr>
          </a:p>
        </p:txBody>
      </p:sp>
      <p:sp>
        <p:nvSpPr>
          <p:cNvPr id="176131" name="Rectangle 3">
            <a:extLst>
              <a:ext uri="{FF2B5EF4-FFF2-40B4-BE49-F238E27FC236}">
                <a16:creationId xmlns:a16="http://schemas.microsoft.com/office/drawing/2014/main" id="{0D9AE4AF-9032-0FE0-8455-1B364CAEFBB1}"/>
              </a:ext>
            </a:extLst>
          </p:cNvPr>
          <p:cNvSpPr>
            <a:spLocks noGrp="1" noChangeArrowheads="1"/>
          </p:cNvSpPr>
          <p:nvPr>
            <p:ph type="body" idx="1"/>
          </p:nvPr>
        </p:nvSpPr>
        <p:spPr>
          <a:xfrm>
            <a:off x="897082" y="4537042"/>
            <a:ext cx="10763424" cy="1511114"/>
          </a:xfrm>
        </p:spPr>
        <p:txBody>
          <a:bodyPr>
            <a:normAutofit/>
          </a:bodyPr>
          <a:lstStyle/>
          <a:p>
            <a:pPr>
              <a:buNone/>
              <a:defRPr/>
            </a:pPr>
            <a:r>
              <a:rPr kumimoji="1" lang="en-US" altLang="zh-CN" b="1" dirty="0">
                <a:solidFill>
                  <a:srgbClr val="FF0000"/>
                </a:solidFill>
                <a:latin typeface="宋体" panose="02010600030101010101" pitchFamily="2" charset="-122"/>
                <a:ea typeface="宋体" panose="02010600030101010101" pitchFamily="2" charset="-122"/>
              </a:rPr>
              <a:t>PAM (</a:t>
            </a:r>
            <a:r>
              <a:rPr lang="en-US" altLang="zh-CN" b="1" dirty="0"/>
              <a:t>P</a:t>
            </a:r>
            <a:r>
              <a:rPr lang="en-US" altLang="zh-CN" dirty="0"/>
              <a:t>ulse-</a:t>
            </a:r>
            <a:r>
              <a:rPr lang="en-US" altLang="zh-CN" b="1" dirty="0"/>
              <a:t>A</a:t>
            </a:r>
            <a:r>
              <a:rPr lang="en-US" altLang="zh-CN" dirty="0"/>
              <a:t>mplitude </a:t>
            </a:r>
            <a:r>
              <a:rPr lang="en-US" altLang="zh-CN" b="1" dirty="0"/>
              <a:t>M</a:t>
            </a:r>
            <a:r>
              <a:rPr lang="en-US" altLang="zh-CN" dirty="0"/>
              <a:t>odulation)</a:t>
            </a:r>
            <a:r>
              <a:rPr kumimoji="1" lang="en-US" altLang="zh-CN" b="1" dirty="0">
                <a:solidFill>
                  <a:srgbClr val="FF0000"/>
                </a:solidFill>
                <a:latin typeface="宋体" panose="02010600030101010101" pitchFamily="2" charset="-122"/>
                <a:ea typeface="宋体" panose="02010600030101010101" pitchFamily="2" charset="-122"/>
              </a:rPr>
              <a:t> </a:t>
            </a:r>
          </a:p>
          <a:p>
            <a:pPr>
              <a:buNone/>
              <a:defRPr/>
            </a:pPr>
            <a:r>
              <a:rPr kumimoji="1" lang="en-US" altLang="zh-CN" b="1" dirty="0">
                <a:solidFill>
                  <a:srgbClr val="FF0000"/>
                </a:solidFill>
                <a:latin typeface="宋体" panose="02010600030101010101" pitchFamily="2" charset="-122"/>
                <a:ea typeface="宋体" panose="02010600030101010101" pitchFamily="2" charset="-122"/>
              </a:rPr>
              <a:t>Binary: PAM 2</a:t>
            </a:r>
          </a:p>
          <a:p>
            <a:pPr>
              <a:buNone/>
              <a:defRPr/>
            </a:pPr>
            <a:r>
              <a:rPr kumimoji="1" lang="en-US" altLang="zh-CN" b="1" dirty="0">
                <a:solidFill>
                  <a:srgbClr val="FF0000"/>
                </a:solidFill>
                <a:latin typeface="宋体" panose="02010600030101010101" pitchFamily="2" charset="-122"/>
                <a:ea typeface="宋体" panose="02010600030101010101" pitchFamily="2" charset="-122"/>
              </a:rPr>
              <a:t>PMA 4: 00, 01, 11, 11 2bits</a:t>
            </a:r>
            <a:endParaRPr kumimoji="1" lang="en-US" altLang="zh-CN" b="1" dirty="0">
              <a:latin typeface="宋体" panose="02010600030101010101" pitchFamily="2" charset="-122"/>
              <a:ea typeface="宋体" panose="02010600030101010101" pitchFamily="2" charset="-122"/>
            </a:endParaRPr>
          </a:p>
        </p:txBody>
      </p:sp>
      <p:pic>
        <p:nvPicPr>
          <p:cNvPr id="1026" name="Picture 2" descr="Virtual lab">
            <a:extLst>
              <a:ext uri="{FF2B5EF4-FFF2-40B4-BE49-F238E27FC236}">
                <a16:creationId xmlns:a16="http://schemas.microsoft.com/office/drawing/2014/main" id="{BA95BB62-14D9-AFA3-ED43-FAB97437F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981" y="1332214"/>
            <a:ext cx="4620333" cy="22884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1B7E6EA-0BCB-BCE8-A838-C5EABF34D2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0536" y="1265856"/>
            <a:ext cx="6019800" cy="3152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717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4"/>
          <p:cNvSpPr>
            <a:spLocks noGrp="1" noChangeArrowheads="1"/>
          </p:cNvSpPr>
          <p:nvPr>
            <p:ph type="title"/>
          </p:nvPr>
        </p:nvSpPr>
        <p:spPr>
          <a:xfrm>
            <a:off x="997527" y="608331"/>
            <a:ext cx="8571923" cy="504825"/>
          </a:xfrm>
        </p:spPr>
        <p:txBody>
          <a:bodyPr vert="horz" lIns="91440" tIns="45720" rIns="91440" bIns="45720" rtlCol="0" anchor="b">
            <a:normAutofit fontScale="90000"/>
          </a:bodyPr>
          <a:lstStyle/>
          <a:p>
            <a:r>
              <a:rPr lang="zh-CN" altLang="en-US" sz="4000" dirty="0">
                <a:latin typeface="+mj-ea"/>
              </a:rPr>
              <a:t> </a:t>
            </a:r>
            <a:r>
              <a:rPr lang="en-US" altLang="zh-CN" sz="4000" dirty="0">
                <a:latin typeface="+mj-ea"/>
              </a:rPr>
              <a:t>2.1.1  </a:t>
            </a:r>
            <a:r>
              <a:rPr lang="zh-CN" altLang="en-US" sz="4000" dirty="0">
                <a:latin typeface="+mj-ea"/>
              </a:rPr>
              <a:t>数与数制</a:t>
            </a:r>
            <a:br>
              <a:rPr lang="zh-CN" altLang="en-US" sz="4000" dirty="0">
                <a:latin typeface="+mj-ea"/>
              </a:rPr>
            </a:br>
            <a:r>
              <a:rPr lang="en-US" altLang="zh-CN" sz="4000" dirty="0">
                <a:latin typeface="+mj-ea"/>
                <a:sym typeface="+mn-ea"/>
              </a:rPr>
              <a:t>Numbers and Number Systems</a:t>
            </a:r>
            <a:endParaRPr lang="zh-CN" altLang="en-US" sz="4000" dirty="0">
              <a:latin typeface="+mj-ea"/>
            </a:endParaRPr>
          </a:p>
        </p:txBody>
      </p:sp>
      <p:sp>
        <p:nvSpPr>
          <p:cNvPr id="293891" name="Rectangle 3"/>
          <p:cNvSpPr>
            <a:spLocks noGrp="1" noChangeArrowheads="1"/>
          </p:cNvSpPr>
          <p:nvPr>
            <p:ph idx="1"/>
          </p:nvPr>
        </p:nvSpPr>
        <p:spPr>
          <a:xfrm>
            <a:off x="785091" y="1857375"/>
            <a:ext cx="11065163" cy="4316095"/>
          </a:xfrm>
        </p:spPr>
        <p:txBody>
          <a:bodyPr>
            <a:normAutofit fontScale="90000"/>
          </a:bodyPr>
          <a:lstStyle/>
          <a:p>
            <a:pPr eaLnBrk="1" hangingPunct="1">
              <a:lnSpc>
                <a:spcPct val="150000"/>
              </a:lnSpc>
              <a:defRPr/>
            </a:pPr>
            <a:r>
              <a:rPr lang="zh-CN" altLang="en-US" dirty="0">
                <a:solidFill>
                  <a:srgbClr val="9900CC"/>
                </a:solidFill>
              </a:rPr>
              <a:t>人机交互时采用十进制</a:t>
            </a:r>
            <a:r>
              <a:rPr lang="zh-CN" altLang="en-US" dirty="0"/>
              <a:t>，</a:t>
            </a:r>
            <a:r>
              <a:rPr lang="zh-CN" altLang="en-US" dirty="0">
                <a:solidFill>
                  <a:srgbClr val="9900CC"/>
                </a:solidFill>
              </a:rPr>
              <a:t>计算机内</a:t>
            </a:r>
            <a:r>
              <a:rPr lang="zh-CN" altLang="en-US" dirty="0"/>
              <a:t>数据存储、计算、处理</a:t>
            </a:r>
            <a:r>
              <a:rPr lang="zh-CN" altLang="en-US" dirty="0">
                <a:solidFill>
                  <a:srgbClr val="9900CC"/>
                </a:solidFill>
              </a:rPr>
              <a:t>用二进制</a:t>
            </a:r>
            <a:r>
              <a:rPr lang="zh-CN" altLang="en-US" dirty="0"/>
              <a:t>，需要进行转换。在计算机中的解决方法是，利用</a:t>
            </a:r>
            <a:r>
              <a:rPr lang="zh-CN" altLang="en-US" dirty="0">
                <a:solidFill>
                  <a:srgbClr val="CC3300"/>
                </a:solidFill>
              </a:rPr>
              <a:t>接口技术</a:t>
            </a:r>
            <a:r>
              <a:rPr lang="zh-CN" altLang="en-US" dirty="0"/>
              <a:t>作转换。</a:t>
            </a:r>
            <a:br>
              <a:rPr lang="zh-CN" altLang="en-US" dirty="0"/>
            </a:br>
            <a:r>
              <a:rPr lang="zh-CN" altLang="en-US" sz="2000" dirty="0">
                <a:solidFill>
                  <a:srgbClr val="9900CC"/>
                </a:solidFill>
              </a:rPr>
              <a:t>Human-computer interaction adopts decimal, and the data storage, calculation and processing in the computer are binary</a:t>
            </a:r>
            <a:r>
              <a:rPr lang="en-US" altLang="zh-CN" sz="1800" dirty="0"/>
              <a:t>, which need to be converted. The solution in the computer is to use</a:t>
            </a:r>
            <a:r>
              <a:rPr lang="zh-CN" altLang="en-US" sz="2000" dirty="0">
                <a:solidFill>
                  <a:srgbClr val="CC3300"/>
                </a:solidFill>
              </a:rPr>
              <a:t> interface technology </a:t>
            </a:r>
            <a:r>
              <a:rPr lang="en-US" altLang="zh-CN" sz="1800" dirty="0"/>
              <a:t>for conversion.</a:t>
            </a:r>
            <a:endParaRPr lang="en-US" altLang="zh-CN" dirty="0"/>
          </a:p>
          <a:p>
            <a:pPr marL="0" lvl="1" indent="-342900" eaLnBrk="1" hangingPunct="1">
              <a:lnSpc>
                <a:spcPct val="150000"/>
              </a:lnSpc>
              <a:buFontTx/>
              <a:buBlip>
                <a:blip r:embed="rId2"/>
              </a:buBlip>
              <a:defRPr/>
            </a:pPr>
            <a:r>
              <a:rPr lang="zh-CN" altLang="en-US" dirty="0">
                <a:solidFill>
                  <a:schemeClr val="accent2"/>
                </a:solidFill>
                <a:cs typeface="+mn-cs"/>
              </a:rPr>
              <a:t>如：用键盘输入数据时使用十进制数，即输入电路使用的键盘是十进制数，</a:t>
            </a:r>
            <a:r>
              <a:rPr lang="zh-CN" altLang="en-US" dirty="0">
                <a:solidFill>
                  <a:srgbClr val="C00000"/>
                </a:solidFill>
                <a:cs typeface="+mn-cs"/>
              </a:rPr>
              <a:t>输入接口电路</a:t>
            </a:r>
            <a:r>
              <a:rPr lang="zh-CN" altLang="en-US" dirty="0">
                <a:solidFill>
                  <a:schemeClr val="accent2"/>
                </a:solidFill>
                <a:cs typeface="+mn-cs"/>
              </a:rPr>
              <a:t>将十进制数转换为二进制数后送到机器内部。</a:t>
            </a:r>
            <a:br>
              <a:rPr lang="zh-CN" altLang="en-US" dirty="0">
                <a:solidFill>
                  <a:schemeClr val="accent2"/>
                </a:solidFill>
                <a:cs typeface="+mn-cs"/>
              </a:rPr>
            </a:br>
            <a:r>
              <a:rPr lang="zh-CN" altLang="en-US" dirty="0">
                <a:solidFill>
                  <a:schemeClr val="accent2"/>
                </a:solidFill>
                <a:sym typeface="+mn-ea"/>
              </a:rPr>
              <a:t>For example, when the data is input by the keyboard in decimal number, that is, the keyboard used by the input circuit is decimal number, and the input interface circuit converts the decimal number to binary number and sends it to the machine.</a:t>
            </a:r>
            <a:endParaRPr lang="en-US" altLang="zh-CN" dirty="0">
              <a:solidFill>
                <a:schemeClr val="accent2"/>
              </a:solidFill>
            </a:endParaRPr>
          </a:p>
          <a:p>
            <a:pPr marL="0" lvl="1" indent="-342900" eaLnBrk="1" hangingPunct="1">
              <a:lnSpc>
                <a:spcPct val="150000"/>
              </a:lnSpc>
              <a:buFontTx/>
              <a:buBlip>
                <a:blip r:embed="rId2"/>
              </a:buBlip>
              <a:defRPr/>
            </a:pPr>
            <a:r>
              <a:rPr lang="zh-CN" altLang="en-US" dirty="0">
                <a:solidFill>
                  <a:schemeClr val="accent2"/>
                </a:solidFill>
                <a:cs typeface="+mn-cs"/>
              </a:rPr>
              <a:t>显示器显示十进制，输入显示器的数据为二进制</a:t>
            </a:r>
            <a:r>
              <a:rPr lang="en-US" altLang="zh-CN" dirty="0">
                <a:solidFill>
                  <a:schemeClr val="accent2"/>
                </a:solidFill>
                <a:cs typeface="+mn-cs"/>
              </a:rPr>
              <a:t>/</a:t>
            </a:r>
            <a:r>
              <a:rPr lang="zh-CN" altLang="en-US" dirty="0">
                <a:solidFill>
                  <a:schemeClr val="accent2"/>
                </a:solidFill>
                <a:cs typeface="+mn-cs"/>
              </a:rPr>
              <a:t>十六进制。</a:t>
            </a:r>
            <a:br>
              <a:rPr lang="zh-CN" altLang="en-US" dirty="0">
                <a:solidFill>
                  <a:schemeClr val="accent2"/>
                </a:solidFill>
                <a:cs typeface="+mn-cs"/>
              </a:rPr>
            </a:br>
            <a:r>
              <a:rPr lang="zh-CN" altLang="en-US" dirty="0">
                <a:solidFill>
                  <a:schemeClr val="accent2"/>
                </a:solidFill>
                <a:sym typeface="+mn-ea"/>
              </a:rPr>
              <a:t>The display shows decimal and inputs data to the display in binary/hexadecimal.</a:t>
            </a:r>
            <a:endParaRPr lang="en-US" altLang="zh-CN" dirty="0">
              <a:solidFill>
                <a:schemeClr val="accent2"/>
              </a:solidFill>
              <a:cs typeface="+mn-cs"/>
            </a:endParaRPr>
          </a:p>
          <a:p>
            <a:pPr marL="342900" lvl="1" indent="-342900" eaLnBrk="1" hangingPunct="1">
              <a:lnSpc>
                <a:spcPct val="150000"/>
              </a:lnSpc>
              <a:buFontTx/>
              <a:buBlip>
                <a:blip r:embed="rId2"/>
              </a:buBlip>
              <a:defRPr/>
            </a:pPr>
            <a:endParaRPr lang="en-US" altLang="zh-CN" dirty="0">
              <a:solidFill>
                <a:schemeClr val="accent2"/>
              </a:solidFill>
              <a:cs typeface="+mn-cs"/>
            </a:endParaRPr>
          </a:p>
        </p:txBody>
      </p:sp>
      <p:graphicFrame>
        <p:nvGraphicFramePr>
          <p:cNvPr id="22534" name="Object 4"/>
          <p:cNvGraphicFramePr>
            <a:graphicFrameLocks noChangeAspect="1"/>
          </p:cNvGraphicFramePr>
          <p:nvPr/>
        </p:nvGraphicFramePr>
        <p:xfrm>
          <a:off x="6629400" y="2400300"/>
          <a:ext cx="914400" cy="198438"/>
        </p:xfrm>
        <a:graphic>
          <a:graphicData uri="http://schemas.openxmlformats.org/presentationml/2006/ole">
            <mc:AlternateContent xmlns:mc="http://schemas.openxmlformats.org/markup-compatibility/2006">
              <mc:Choice xmlns:v="urn:schemas-microsoft-com:vml" Requires="v">
                <p:oleObj name="Equation" r:id="rId3" imgW="434975" imgH="676910" progId="Equation.DSMT4">
                  <p:embed/>
                </p:oleObj>
              </mc:Choice>
              <mc:Fallback>
                <p:oleObj name="Equation" r:id="rId3" imgW="434975" imgH="67691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4003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标题 4"/>
          <p:cNvSpPr txBox="1"/>
          <p:nvPr/>
        </p:nvSpPr>
        <p:spPr bwMode="auto">
          <a:xfrm>
            <a:off x="895927" y="1296670"/>
            <a:ext cx="978731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fontAlgn="base">
              <a:spcBef>
                <a:spcPct val="0"/>
              </a:spcBef>
              <a:spcAft>
                <a:spcPct val="0"/>
              </a:spcAft>
              <a:defRPr sz="3200" b="1">
                <a:solidFill>
                  <a:srgbClr val="CC3300"/>
                </a:solidFill>
                <a:latin typeface="+mj-lt"/>
                <a:ea typeface="+mj-ea"/>
                <a:cs typeface="+mj-cs"/>
              </a:defRPr>
            </a:lvl1pPr>
            <a:lvl2pPr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2pPr>
            <a:lvl3pPr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3pPr>
            <a:lvl4pPr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4pPr>
            <a:lvl5pPr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2400" b="1">
                <a:solidFill>
                  <a:srgbClr val="CC3300"/>
                </a:solidFill>
                <a:latin typeface="Arial" panose="020B0604020202020204" pitchFamily="34" charset="0"/>
                <a:ea typeface="宋体" panose="02010600030101010101" pitchFamily="2" charset="-122"/>
              </a:defRPr>
            </a:lvl9pPr>
          </a:lstStyle>
          <a:p>
            <a:pPr eaLnBrk="1" hangingPunct="1">
              <a:defRPr/>
            </a:pPr>
            <a:r>
              <a:rPr kumimoji="1" lang="zh-CN" altLang="en-US" sz="2400" kern="0" dirty="0">
                <a:latin typeface="宋体" panose="02010600030101010101" pitchFamily="2" charset="-122"/>
              </a:rPr>
              <a:t>十进制与二进制转换</a:t>
            </a:r>
            <a:br>
              <a:rPr kumimoji="1" lang="zh-CN" altLang="en-US" sz="2400" kern="0" dirty="0">
                <a:latin typeface="宋体" panose="02010600030101010101" pitchFamily="2" charset="-122"/>
              </a:rPr>
            </a:br>
            <a:r>
              <a:rPr kumimoji="1" lang="zh-CN" altLang="en-US" sz="2400" kern="0" dirty="0">
                <a:latin typeface="宋体" panose="02010600030101010101" pitchFamily="2" charset="-122"/>
                <a:sym typeface="+mn-ea"/>
              </a:rPr>
              <a:t>Conversion between decimal and binary</a:t>
            </a:r>
            <a:endParaRPr lang="zh-CN" altLang="en-US" sz="2400" kern="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4"/>
          <p:cNvSpPr>
            <a:spLocks noGrp="1" noChangeArrowheads="1"/>
          </p:cNvSpPr>
          <p:nvPr>
            <p:ph type="title"/>
          </p:nvPr>
        </p:nvSpPr>
        <p:spPr>
          <a:xfrm>
            <a:off x="544946" y="83128"/>
            <a:ext cx="9330546" cy="965288"/>
          </a:xfrm>
        </p:spPr>
        <p:txBody>
          <a:bodyPr vert="horz" lIns="91440" tIns="45720" rIns="91440" bIns="45720" rtlCol="0" anchor="b">
            <a:noAutofit/>
          </a:bodyPr>
          <a:lstStyle/>
          <a:p>
            <a:r>
              <a:rPr lang="zh-CN" altLang="en-US" sz="2800" b="1" dirty="0">
                <a:latin typeface="+mj-ea"/>
              </a:rPr>
              <a:t> </a:t>
            </a:r>
            <a:r>
              <a:rPr lang="en-US" altLang="zh-CN" sz="2800" b="1" dirty="0">
                <a:latin typeface="+mj-ea"/>
              </a:rPr>
              <a:t>2.1.2  </a:t>
            </a:r>
            <a:r>
              <a:rPr lang="zh-CN" altLang="en-US" sz="2800" b="1" dirty="0">
                <a:latin typeface="+mj-ea"/>
              </a:rPr>
              <a:t>不同数制之间的转换</a:t>
            </a:r>
            <a:br>
              <a:rPr lang="zh-CN" altLang="en-US" sz="2800" b="1" dirty="0">
                <a:latin typeface="+mj-ea"/>
              </a:rPr>
            </a:br>
            <a:r>
              <a:rPr lang="en-US" altLang="zh-CN" sz="2800" b="1" dirty="0">
                <a:latin typeface="+mj-ea"/>
              </a:rPr>
              <a:t> </a:t>
            </a:r>
            <a:r>
              <a:rPr lang="en-US" altLang="zh-CN" sz="2800" b="1" dirty="0">
                <a:latin typeface="+mj-ea"/>
                <a:sym typeface="+mn-ea"/>
              </a:rPr>
              <a:t>Conversion between different number systems</a:t>
            </a:r>
            <a:endParaRPr lang="zh-CN" altLang="en-US" sz="2800" b="1" dirty="0">
              <a:latin typeface="+mj-ea"/>
            </a:endParaRPr>
          </a:p>
        </p:txBody>
      </p:sp>
      <p:sp>
        <p:nvSpPr>
          <p:cNvPr id="177155" name="Rectangle 3"/>
          <p:cNvSpPr>
            <a:spLocks noGrp="1" noChangeArrowheads="1"/>
          </p:cNvSpPr>
          <p:nvPr>
            <p:ph idx="1"/>
          </p:nvPr>
        </p:nvSpPr>
        <p:spPr>
          <a:xfrm>
            <a:off x="544946" y="1311563"/>
            <a:ext cx="11252200" cy="5191760"/>
          </a:xfrm>
        </p:spPr>
        <p:txBody>
          <a:bodyPr>
            <a:noAutofit/>
          </a:bodyPr>
          <a:lstStyle/>
          <a:p>
            <a:pPr eaLnBrk="1" hangingPunct="1">
              <a:buFontTx/>
              <a:buNone/>
              <a:defRPr/>
            </a:pPr>
            <a:r>
              <a:rPr kumimoji="1" lang="en-US" altLang="zh-CN" sz="2400" dirty="0">
                <a:solidFill>
                  <a:srgbClr val="FF0000"/>
                </a:solidFill>
              </a:rPr>
              <a:t>1</a:t>
            </a:r>
            <a:r>
              <a:rPr kumimoji="1" lang="zh-CN" altLang="en-US" sz="2400" dirty="0">
                <a:solidFill>
                  <a:srgbClr val="FF0000"/>
                </a:solidFill>
              </a:rPr>
              <a:t>、十进制数转换为二进制数</a:t>
            </a:r>
            <a:br>
              <a:rPr kumimoji="1" lang="zh-CN" altLang="en-US" sz="2400" dirty="0">
                <a:solidFill>
                  <a:srgbClr val="FF0000"/>
                </a:solidFill>
              </a:rPr>
            </a:br>
            <a:r>
              <a:rPr kumimoji="1" lang="en-US" altLang="zh-CN" sz="2400" dirty="0">
                <a:solidFill>
                  <a:srgbClr val="FF0000"/>
                </a:solidFill>
                <a:sym typeface="+mn-ea"/>
              </a:rPr>
              <a:t>Convert decimal numbers to binary numbers</a:t>
            </a:r>
            <a:endParaRPr kumimoji="1" lang="zh-CN" altLang="en-US" sz="2400" dirty="0">
              <a:solidFill>
                <a:srgbClr val="FF0000"/>
              </a:solidFill>
            </a:endParaRPr>
          </a:p>
          <a:p>
            <a:pPr eaLnBrk="1" hangingPunct="1">
              <a:defRPr/>
            </a:pPr>
            <a:r>
              <a:rPr kumimoji="1" lang="zh-CN" altLang="en-US" sz="2400" dirty="0"/>
              <a:t>十进制数转换为二进制数的方法</a:t>
            </a:r>
            <a:br>
              <a:rPr kumimoji="1" lang="zh-CN" altLang="en-US" sz="2400" dirty="0"/>
            </a:br>
            <a:r>
              <a:rPr kumimoji="1" lang="zh-CN" altLang="en-US" sz="2400" dirty="0">
                <a:sym typeface="+mn-ea"/>
              </a:rPr>
              <a:t>The method of converting a decimal number to a binary number</a:t>
            </a:r>
            <a:endParaRPr kumimoji="1" lang="zh-CN" altLang="en-US" sz="2400" dirty="0"/>
          </a:p>
          <a:p>
            <a:pPr marL="0" lvl="1" eaLnBrk="1" hangingPunct="1">
              <a:defRPr/>
            </a:pPr>
            <a:r>
              <a:rPr kumimoji="1" lang="zh-CN" altLang="en-US" sz="2000" dirty="0">
                <a:solidFill>
                  <a:srgbClr val="CC3300"/>
                </a:solidFill>
              </a:rPr>
              <a:t>整数部分转换方法</a:t>
            </a:r>
            <a:r>
              <a:rPr kumimoji="1" lang="zh-CN" altLang="en-US" sz="2000" dirty="0"/>
              <a:t>：</a:t>
            </a:r>
            <a:r>
              <a:rPr lang="en-US" altLang="zh-CN" sz="2000" dirty="0">
                <a:solidFill>
                  <a:srgbClr val="3366FF"/>
                </a:solidFill>
              </a:rPr>
              <a:t>"</a:t>
            </a:r>
            <a:r>
              <a:rPr lang="zh-CN" altLang="en-US" sz="2000" dirty="0">
                <a:solidFill>
                  <a:srgbClr val="3366FF"/>
                </a:solidFill>
              </a:rPr>
              <a:t>除</a:t>
            </a:r>
            <a:r>
              <a:rPr lang="en-US" altLang="zh-CN" sz="2000" dirty="0">
                <a:solidFill>
                  <a:srgbClr val="3366FF"/>
                </a:solidFill>
              </a:rPr>
              <a:t>2</a:t>
            </a:r>
            <a:r>
              <a:rPr lang="zh-CN" altLang="en-US" sz="2000" dirty="0">
                <a:solidFill>
                  <a:srgbClr val="3366FF"/>
                </a:solidFill>
              </a:rPr>
              <a:t>取余，逆序排列</a:t>
            </a:r>
            <a:r>
              <a:rPr lang="en-US" altLang="zh-CN" sz="2000" dirty="0">
                <a:solidFill>
                  <a:srgbClr val="3366FF"/>
                </a:solidFill>
              </a:rPr>
              <a:t>"</a:t>
            </a:r>
            <a:br>
              <a:rPr lang="en-US" altLang="zh-CN" sz="2000" dirty="0">
                <a:solidFill>
                  <a:srgbClr val="3366FF"/>
                </a:solidFill>
              </a:rPr>
            </a:br>
            <a:r>
              <a:rPr kumimoji="1" lang="zh-CN" altLang="en-US" sz="2400" dirty="0">
                <a:solidFill>
                  <a:srgbClr val="CC3300"/>
                </a:solidFill>
                <a:sym typeface="+mn-ea"/>
              </a:rPr>
              <a:t>Integers conversion method: "</a:t>
            </a:r>
            <a:r>
              <a:rPr lang="zh-CN" altLang="en-US" sz="2000" dirty="0">
                <a:solidFill>
                  <a:srgbClr val="3366FF"/>
                </a:solidFill>
                <a:sym typeface="+mn-ea"/>
              </a:rPr>
              <a:t>Divide by 2 and reverse order</a:t>
            </a:r>
            <a:r>
              <a:rPr kumimoji="1" lang="zh-CN" altLang="en-US" sz="2400" dirty="0">
                <a:solidFill>
                  <a:srgbClr val="CC3300"/>
                </a:solidFill>
                <a:sym typeface="+mn-ea"/>
              </a:rPr>
              <a:t>"</a:t>
            </a:r>
            <a:endParaRPr kumimoji="1" lang="en-US" altLang="zh-CN" sz="2400" dirty="0"/>
          </a:p>
          <a:p>
            <a:pPr marL="0" lvl="1" eaLnBrk="1" hangingPunct="1">
              <a:defRPr/>
            </a:pPr>
            <a:r>
              <a:rPr kumimoji="1" lang="zh-CN" altLang="en-US" sz="2000" dirty="0"/>
              <a:t>整数</a:t>
            </a:r>
            <a:r>
              <a:rPr kumimoji="1" lang="en-US" altLang="zh-CN" sz="2000" dirty="0"/>
              <a:t>(</a:t>
            </a:r>
            <a:r>
              <a:rPr kumimoji="1" lang="zh-CN" altLang="en-US" sz="2000" dirty="0"/>
              <a:t>及商</a:t>
            </a:r>
            <a:r>
              <a:rPr kumimoji="1" lang="en-US" altLang="zh-CN" sz="2000" dirty="0"/>
              <a:t>)</a:t>
            </a:r>
            <a:r>
              <a:rPr kumimoji="1" lang="zh-CN" altLang="en-US" sz="2000" dirty="0"/>
              <a:t>除以</a:t>
            </a:r>
            <a:r>
              <a:rPr kumimoji="1" lang="en-US" altLang="zh-CN" sz="2000" dirty="0"/>
              <a:t>2</a:t>
            </a:r>
            <a:r>
              <a:rPr kumimoji="1" lang="zh-CN" altLang="en-US" sz="2000" dirty="0"/>
              <a:t>取余，直到商为</a:t>
            </a:r>
            <a:r>
              <a:rPr kumimoji="1" lang="en-US" altLang="zh-CN" sz="2000" dirty="0"/>
              <a:t>0</a:t>
            </a:r>
            <a:r>
              <a:rPr kumimoji="1" lang="zh-CN" altLang="en-US" sz="2000" dirty="0"/>
              <a:t>为止。最后将所有余数倒序排列，得到转换结果。</a:t>
            </a:r>
          </a:p>
          <a:p>
            <a:pPr marL="0" lvl="1" indent="0" eaLnBrk="1" hangingPunct="1">
              <a:buNone/>
              <a:defRPr/>
            </a:pPr>
            <a:r>
              <a:rPr kumimoji="1" lang="en-US" altLang="zh-CN" sz="2400" dirty="0">
                <a:sym typeface="+mn-ea"/>
              </a:rPr>
              <a:t>    </a:t>
            </a:r>
            <a:r>
              <a:rPr kumimoji="1" lang="zh-CN" altLang="en-US" sz="2400" dirty="0">
                <a:sym typeface="+mn-ea"/>
              </a:rPr>
              <a:t>The integer (and quotient) is divided by 2 and taken as a remainder until the quotient is 0. Finally, all the remainders are arranged in reverse order to get the conversion result.</a:t>
            </a:r>
            <a:endParaRPr kumimoji="1" lang="zh-CN" altLang="en-US" sz="2400" dirty="0"/>
          </a:p>
          <a:p>
            <a:pPr marL="0" lvl="1" eaLnBrk="1" hangingPunct="1">
              <a:defRPr/>
            </a:pPr>
            <a:r>
              <a:rPr kumimoji="1" lang="zh-CN" altLang="en-US" sz="2000" dirty="0">
                <a:solidFill>
                  <a:srgbClr val="CC3300"/>
                </a:solidFill>
              </a:rPr>
              <a:t>小数部分转换方法</a:t>
            </a:r>
            <a:r>
              <a:rPr kumimoji="1" lang="zh-CN" altLang="en-US" sz="2000" dirty="0"/>
              <a:t>：</a:t>
            </a:r>
            <a:r>
              <a:rPr lang="en-US" altLang="zh-CN" sz="2000" dirty="0">
                <a:solidFill>
                  <a:srgbClr val="3366FF"/>
                </a:solidFill>
              </a:rPr>
              <a:t>"</a:t>
            </a:r>
            <a:r>
              <a:rPr lang="zh-CN" altLang="en-US" sz="2000" dirty="0">
                <a:solidFill>
                  <a:srgbClr val="3366FF"/>
                </a:solidFill>
              </a:rPr>
              <a:t>乘</a:t>
            </a:r>
            <a:r>
              <a:rPr lang="en-US" altLang="zh-CN" sz="2000" dirty="0">
                <a:solidFill>
                  <a:srgbClr val="3366FF"/>
                </a:solidFill>
              </a:rPr>
              <a:t>2</a:t>
            </a:r>
            <a:r>
              <a:rPr lang="zh-CN" altLang="en-US" sz="2000" dirty="0">
                <a:solidFill>
                  <a:srgbClr val="3366FF"/>
                </a:solidFill>
              </a:rPr>
              <a:t>取整，顺序排列</a:t>
            </a:r>
            <a:r>
              <a:rPr lang="en-US" altLang="zh-CN" sz="2000" dirty="0">
                <a:solidFill>
                  <a:srgbClr val="3366FF"/>
                </a:solidFill>
              </a:rPr>
              <a:t>”</a:t>
            </a:r>
            <a:br>
              <a:rPr lang="en-US" altLang="zh-CN" sz="2000" dirty="0">
                <a:solidFill>
                  <a:srgbClr val="3366FF"/>
                </a:solidFill>
              </a:rPr>
            </a:br>
            <a:r>
              <a:rPr kumimoji="1" lang="zh-CN" altLang="en-US" sz="2400" dirty="0">
                <a:solidFill>
                  <a:srgbClr val="CC3300"/>
                </a:solidFill>
                <a:sym typeface="+mn-ea"/>
              </a:rPr>
              <a:t>The decimal conversion method is: "</a:t>
            </a:r>
            <a:r>
              <a:rPr lang="zh-CN" altLang="en-US" sz="2000" dirty="0">
                <a:solidFill>
                  <a:srgbClr val="3366FF"/>
                </a:solidFill>
                <a:sym typeface="+mn-ea"/>
              </a:rPr>
              <a:t>Multiply by 2 and take the integer, arrange the order.</a:t>
            </a:r>
            <a:r>
              <a:rPr kumimoji="1" lang="zh-CN" altLang="en-US" sz="2400" dirty="0">
                <a:solidFill>
                  <a:srgbClr val="CC3300"/>
                </a:solidFill>
                <a:sym typeface="+mn-ea"/>
              </a:rPr>
              <a:t>"</a:t>
            </a:r>
            <a:endParaRPr lang="en-US" altLang="zh-CN" sz="2400" dirty="0">
              <a:solidFill>
                <a:srgbClr val="3366FF"/>
              </a:solidFill>
            </a:endParaRPr>
          </a:p>
          <a:p>
            <a:pPr marL="0" lvl="1" eaLnBrk="1" hangingPunct="1">
              <a:defRPr/>
            </a:pPr>
            <a:r>
              <a:rPr kumimoji="1" lang="zh-CN" altLang="en-US" sz="2000" dirty="0"/>
              <a:t>乘以</a:t>
            </a:r>
            <a:r>
              <a:rPr kumimoji="1" lang="en-US" altLang="zh-CN" sz="2000" dirty="0"/>
              <a:t>2</a:t>
            </a:r>
            <a:r>
              <a:rPr kumimoji="1" lang="zh-CN" altLang="en-US" sz="2000" dirty="0"/>
              <a:t>取整，直到满足精度要求为止。</a:t>
            </a:r>
            <a:br>
              <a:rPr kumimoji="1" lang="zh-CN" altLang="en-US" sz="2000" dirty="0"/>
            </a:br>
            <a:r>
              <a:rPr kumimoji="1" lang="zh-CN" altLang="en-US" sz="2400" dirty="0">
                <a:sym typeface="+mn-ea"/>
              </a:rPr>
              <a:t>Take the integer of 2 until the desired accuracy is achieved.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3" name="Rectangle 3"/>
          <p:cNvSpPr>
            <a:spLocks noGrp="1" noChangeArrowheads="1"/>
          </p:cNvSpPr>
          <p:nvPr>
            <p:ph type="body" idx="1"/>
          </p:nvPr>
        </p:nvSpPr>
        <p:spPr>
          <a:xfrm>
            <a:off x="902335" y="355600"/>
            <a:ext cx="10708640" cy="676275"/>
          </a:xfrm>
        </p:spPr>
        <p:txBody>
          <a:bodyPr vert="horz" lIns="91440" tIns="45720" rIns="91440" bIns="45720" rtlCol="0" anchor="b">
            <a:noAutofit/>
          </a:bodyPr>
          <a:lstStyle/>
          <a:p>
            <a:pPr>
              <a:lnSpc>
                <a:spcPct val="85000"/>
              </a:lnSpc>
              <a:spcBef>
                <a:spcPct val="0"/>
              </a:spcBef>
              <a:buNone/>
            </a:pPr>
            <a:r>
              <a:rPr lang="zh-CN" altLang="en-US" sz="2800" spc="-50">
                <a:latin typeface="+mj-ea"/>
                <a:ea typeface="+mj-ea"/>
                <a:cs typeface="+mj-cs"/>
              </a:rPr>
              <a:t>例</a:t>
            </a:r>
            <a:r>
              <a:rPr lang="en-US" altLang="zh-CN" sz="2800" spc="-50">
                <a:latin typeface="+mj-ea"/>
                <a:ea typeface="+mj-ea"/>
                <a:cs typeface="+mj-cs"/>
              </a:rPr>
              <a:t>1</a:t>
            </a:r>
            <a:r>
              <a:rPr lang="zh-CN" altLang="en-US" sz="2800" spc="-50">
                <a:latin typeface="+mj-ea"/>
                <a:ea typeface="+mj-ea"/>
                <a:cs typeface="+mj-cs"/>
              </a:rPr>
              <a:t>：将十进制数</a:t>
            </a:r>
            <a:r>
              <a:rPr lang="en-US" altLang="zh-CN" sz="2800" spc="-50">
                <a:latin typeface="+mj-ea"/>
                <a:ea typeface="+mj-ea"/>
                <a:cs typeface="+mj-cs"/>
              </a:rPr>
              <a:t>100</a:t>
            </a:r>
            <a:r>
              <a:rPr lang="zh-CN" altLang="en-US" sz="2800" spc="-50">
                <a:latin typeface="+mj-ea"/>
                <a:ea typeface="+mj-ea"/>
                <a:cs typeface="+mj-cs"/>
              </a:rPr>
              <a:t>转换为二进制数</a:t>
            </a:r>
          </a:p>
          <a:p>
            <a:pPr>
              <a:lnSpc>
                <a:spcPct val="85000"/>
              </a:lnSpc>
              <a:spcBef>
                <a:spcPct val="0"/>
              </a:spcBef>
              <a:buNone/>
            </a:pPr>
            <a:r>
              <a:rPr lang="zh-CN" altLang="en-US" sz="2800" spc="-50">
                <a:latin typeface="+mj-ea"/>
                <a:ea typeface="+mj-ea"/>
                <a:cs typeface="+mj-cs"/>
                <a:sym typeface="+mn-ea"/>
              </a:rPr>
              <a:t>Example 1: Convert the decimal number 100 to a binary number</a:t>
            </a:r>
          </a:p>
        </p:txBody>
      </p:sp>
      <p:sp>
        <p:nvSpPr>
          <p:cNvPr id="24579" name="Rectangle 5"/>
          <p:cNvSpPr>
            <a:spLocks noChangeArrowheads="1"/>
          </p:cNvSpPr>
          <p:nvPr/>
        </p:nvSpPr>
        <p:spPr bwMode="auto">
          <a:xfrm>
            <a:off x="5941060" y="-184150"/>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302084" name="Object 4"/>
          <p:cNvGraphicFramePr>
            <a:graphicFrameLocks noChangeAspect="1"/>
          </p:cNvGraphicFramePr>
          <p:nvPr/>
        </p:nvGraphicFramePr>
        <p:xfrm>
          <a:off x="2083737" y="1381125"/>
          <a:ext cx="4005913" cy="4932363"/>
        </p:xfrm>
        <a:graphic>
          <a:graphicData uri="http://schemas.openxmlformats.org/presentationml/2006/ole">
            <mc:AlternateContent xmlns:mc="http://schemas.openxmlformats.org/markup-compatibility/2006">
              <mc:Choice xmlns:v="urn:schemas-microsoft-com:vml" Requires="v">
                <p:oleObj name="Microsoft Drawing" r:id="rId2" imgW="1492250" imgH="1870075" progId="MSDraw">
                  <p:embed/>
                </p:oleObj>
              </mc:Choice>
              <mc:Fallback>
                <p:oleObj name="Microsoft Drawing" r:id="rId2" imgW="1492250" imgH="1870075" progId="MSDraw">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3737" y="1381125"/>
                        <a:ext cx="4005913" cy="4932363"/>
                      </a:xfrm>
                      <a:prstGeom prst="rect">
                        <a:avLst/>
                      </a:prstGeom>
                      <a:noFill/>
                      <a:ln>
                        <a:noFill/>
                      </a:ln>
                    </p:spPr>
                  </p:pic>
                </p:oleObj>
              </mc:Fallback>
            </mc:AlternateContent>
          </a:graphicData>
        </a:graphic>
      </p:graphicFrame>
      <p:sp>
        <p:nvSpPr>
          <p:cNvPr id="302086" name="Rectangle 6"/>
          <p:cNvSpPr>
            <a:spLocks noChangeArrowheads="1"/>
          </p:cNvSpPr>
          <p:nvPr/>
        </p:nvSpPr>
        <p:spPr bwMode="auto">
          <a:xfrm>
            <a:off x="5836920" y="3178970"/>
            <a:ext cx="4470400" cy="5835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l" eaLnBrk="1" hangingPunct="1"/>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=(01100100)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8" name="Rectangle 6"/>
          <p:cNvSpPr>
            <a:spLocks noChangeArrowheads="1"/>
          </p:cNvSpPr>
          <p:nvPr/>
        </p:nvSpPr>
        <p:spPr bwMode="auto">
          <a:xfrm>
            <a:off x="6296183" y="3890328"/>
            <a:ext cx="4386262" cy="156845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kumimoji="1" lang="zh-CN" altLang="en-US" sz="3200" b="1" dirty="0">
                <a:latin typeface="Arial" panose="020B0604020202020204" pitchFamily="34" charset="0"/>
              </a:rPr>
              <a:t>      或者表示为：  </a:t>
            </a:r>
            <a:br>
              <a:rPr kumimoji="1" lang="zh-CN" altLang="en-US" sz="3200" b="1" dirty="0">
                <a:latin typeface="Arial" panose="020B0604020202020204" pitchFamily="34" charset="0"/>
              </a:rPr>
            </a:br>
            <a:r>
              <a:rPr kumimoji="1" lang="en-US" altLang="zh-CN" sz="3200" b="1" dirty="0">
                <a:latin typeface="Arial" panose="020B0604020202020204" pitchFamily="34" charset="0"/>
              </a:rPr>
              <a:t>       </a:t>
            </a:r>
            <a:r>
              <a:rPr kumimoji="1" lang="en-US" altLang="zh-CN" b="1" dirty="0">
                <a:latin typeface="Arial" panose="020B0604020202020204" pitchFamily="34" charset="0"/>
              </a:rPr>
              <a:t>Or expressed as:</a:t>
            </a:r>
            <a:endParaRPr kumimoji="1" lang="en-US" altLang="zh-CN" sz="3200" b="1" dirty="0">
              <a:latin typeface="Arial" panose="020B0604020202020204" pitchFamily="34" charset="0"/>
            </a:endParaRPr>
          </a:p>
          <a:p>
            <a:pPr algn="l" eaLnBrk="1" hangingPunct="1"/>
            <a:r>
              <a:rPr kumimoji="1" lang="zh-CN" altLang="en-US" sz="3200" b="1" dirty="0">
                <a:latin typeface="Arial" panose="020B0604020202020204" pitchFamily="34" charset="0"/>
              </a:rPr>
              <a:t>    </a:t>
            </a:r>
            <a:r>
              <a:rPr kumimoji="1" lang="en-US" altLang="zh-CN" sz="3200" b="1" dirty="0">
                <a:latin typeface="Arial" panose="020B0604020202020204" pitchFamily="34" charset="0"/>
              </a:rPr>
              <a:t>100D=01100100B</a:t>
            </a:r>
          </a:p>
        </p:txBody>
      </p:sp>
      <p:sp>
        <p:nvSpPr>
          <p:cNvPr id="9" name="Rectangle 3"/>
          <p:cNvSpPr txBox="1">
            <a:spLocks noChangeArrowheads="1"/>
          </p:cNvSpPr>
          <p:nvPr/>
        </p:nvSpPr>
        <p:spPr bwMode="auto">
          <a:xfrm>
            <a:off x="6643687" y="1577182"/>
            <a:ext cx="3152775" cy="979487"/>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a:lstStyle>
            <a:lvl1pPr marL="342900" indent="-342900" algn="l"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5"/>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eaLnBrk="1" hangingPunct="1">
              <a:spcBef>
                <a:spcPts val="0"/>
              </a:spcBef>
              <a:buFontTx/>
              <a:buNone/>
              <a:defRPr/>
            </a:pPr>
            <a:r>
              <a:rPr kumimoji="1" lang="zh-CN" altLang="en-US" kern="0" dirty="0">
                <a:solidFill>
                  <a:srgbClr val="FF0000"/>
                </a:solidFill>
              </a:rPr>
              <a:t>整数部分转换方法：</a:t>
            </a:r>
            <a:endParaRPr kumimoji="1" lang="en-US" altLang="zh-CN" kern="0" dirty="0">
              <a:solidFill>
                <a:srgbClr val="FF0000"/>
              </a:solidFill>
            </a:endParaRPr>
          </a:p>
          <a:p>
            <a:pPr marL="0" lvl="1" indent="0" algn="just" eaLnBrk="1" hangingPunct="1">
              <a:spcBef>
                <a:spcPts val="0"/>
              </a:spcBef>
              <a:buFontTx/>
              <a:buNone/>
              <a:defRPr/>
            </a:pPr>
            <a:r>
              <a:rPr lang="zh-CN" altLang="en-US" kern="0" dirty="0">
                <a:solidFill>
                  <a:srgbClr val="FF0000"/>
                </a:solidFill>
              </a:rPr>
              <a:t>除</a:t>
            </a:r>
            <a:r>
              <a:rPr lang="en-US" altLang="zh-CN" kern="0" dirty="0">
                <a:solidFill>
                  <a:srgbClr val="FF0000"/>
                </a:solidFill>
              </a:rPr>
              <a:t>2</a:t>
            </a:r>
            <a:r>
              <a:rPr lang="zh-CN" altLang="en-US" kern="0" dirty="0">
                <a:solidFill>
                  <a:srgbClr val="FF0000"/>
                </a:solidFill>
              </a:rPr>
              <a:t>取余</a:t>
            </a:r>
            <a:r>
              <a:rPr lang="en-US" altLang="zh-CN" kern="0" dirty="0">
                <a:solidFill>
                  <a:srgbClr val="FF0000"/>
                </a:solidFill>
              </a:rPr>
              <a:t>,</a:t>
            </a:r>
            <a:r>
              <a:rPr lang="zh-CN" altLang="en-US" kern="0" dirty="0">
                <a:solidFill>
                  <a:srgbClr val="FF0000"/>
                </a:solidFill>
              </a:rPr>
              <a:t>逆序排列</a:t>
            </a:r>
            <a:endParaRPr lang="en-US" altLang="zh-CN" kern="0" dirty="0">
              <a:solidFill>
                <a:srgbClr val="FF0000"/>
              </a:solidFill>
            </a:endParaRPr>
          </a:p>
        </p:txBody>
      </p:sp>
      <p:sp>
        <p:nvSpPr>
          <p:cNvPr id="2" name="文本框 1"/>
          <p:cNvSpPr txBox="1"/>
          <p:nvPr/>
        </p:nvSpPr>
        <p:spPr>
          <a:xfrm>
            <a:off x="6446520" y="2556510"/>
            <a:ext cx="6096000" cy="645160"/>
          </a:xfrm>
          <a:prstGeom prst="rect">
            <a:avLst/>
          </a:prstGeom>
          <a:noFill/>
        </p:spPr>
        <p:txBody>
          <a:bodyPr wrap="square" rtlCol="0" anchor="t">
            <a:spAutoFit/>
          </a:bodyPr>
          <a:lstStyle/>
          <a:p>
            <a:pPr marL="0" lvl="1" indent="0" eaLnBrk="1" hangingPunct="1">
              <a:spcBef>
                <a:spcPts val="0"/>
              </a:spcBef>
              <a:buFontTx/>
              <a:buNone/>
              <a:defRPr/>
            </a:pPr>
            <a:r>
              <a:rPr kumimoji="1" lang="zh-CN" altLang="en-US" kern="0" dirty="0">
                <a:solidFill>
                  <a:srgbClr val="FF0000"/>
                </a:solidFill>
                <a:sym typeface="+mn-ea"/>
              </a:rPr>
              <a:t>Whole number conversion method:</a:t>
            </a:r>
            <a:endParaRPr kumimoji="1" lang="en-US" altLang="zh-CN" kern="0" dirty="0">
              <a:solidFill>
                <a:srgbClr val="FF0000"/>
              </a:solidFill>
            </a:endParaRPr>
          </a:p>
          <a:p>
            <a:pPr marL="0" lvl="1" indent="0" algn="just" eaLnBrk="1" hangingPunct="1">
              <a:spcBef>
                <a:spcPts val="0"/>
              </a:spcBef>
              <a:buFontTx/>
              <a:buNone/>
              <a:defRPr/>
            </a:pPr>
            <a:r>
              <a:rPr lang="en-US" altLang="zh-CN" kern="0" dirty="0">
                <a:solidFill>
                  <a:srgbClr val="FF0000"/>
                </a:solidFill>
                <a:sym typeface="+mn-ea"/>
              </a:rPr>
              <a:t>Take the remainder modulo 2, then reverse the order.</a:t>
            </a:r>
          </a:p>
        </p:txBody>
      </p:sp>
      <p:sp>
        <p:nvSpPr>
          <p:cNvPr id="3" name="文本框 2"/>
          <p:cNvSpPr txBox="1"/>
          <p:nvPr/>
        </p:nvSpPr>
        <p:spPr>
          <a:xfrm>
            <a:off x="4401185" y="1398270"/>
            <a:ext cx="6096000" cy="368300"/>
          </a:xfrm>
          <a:prstGeom prst="rect">
            <a:avLst/>
          </a:prstGeom>
          <a:noFill/>
        </p:spPr>
        <p:txBody>
          <a:bodyPr wrap="square" rtlCol="0" anchor="t">
            <a:spAutoFit/>
          </a:bodyPr>
          <a:lstStyle/>
          <a:p>
            <a:r>
              <a:rPr lang="en-US" altLang="zh-CN" kern="0" dirty="0">
                <a:solidFill>
                  <a:schemeClr val="tx1"/>
                </a:solidFill>
                <a:sym typeface="+mn-ea"/>
              </a:rPr>
              <a:t>remainder</a:t>
            </a:r>
          </a:p>
        </p:txBody>
      </p:sp>
      <p:sp>
        <p:nvSpPr>
          <p:cNvPr id="4" name="文本框 3"/>
          <p:cNvSpPr txBox="1"/>
          <p:nvPr/>
        </p:nvSpPr>
        <p:spPr>
          <a:xfrm>
            <a:off x="5311775" y="1954530"/>
            <a:ext cx="6096000" cy="368300"/>
          </a:xfrm>
          <a:prstGeom prst="rect">
            <a:avLst/>
          </a:prstGeom>
          <a:noFill/>
        </p:spPr>
        <p:txBody>
          <a:bodyPr wrap="square" rtlCol="0" anchor="t">
            <a:spAutoFit/>
          </a:bodyPr>
          <a:lstStyle/>
          <a:p>
            <a:r>
              <a:rPr lang="en-US" altLang="zh-CN" kern="0" dirty="0">
                <a:solidFill>
                  <a:schemeClr val="tx1"/>
                </a:solidFill>
                <a:sym typeface="+mn-ea"/>
              </a:rPr>
              <a:t>Low bit</a:t>
            </a:r>
          </a:p>
        </p:txBody>
      </p:sp>
      <p:sp>
        <p:nvSpPr>
          <p:cNvPr id="5" name="文本框 4"/>
          <p:cNvSpPr txBox="1"/>
          <p:nvPr/>
        </p:nvSpPr>
        <p:spPr>
          <a:xfrm>
            <a:off x="5269865" y="5575935"/>
            <a:ext cx="6096000" cy="368300"/>
          </a:xfrm>
          <a:prstGeom prst="rect">
            <a:avLst/>
          </a:prstGeom>
          <a:noFill/>
        </p:spPr>
        <p:txBody>
          <a:bodyPr wrap="square" rtlCol="0" anchor="t">
            <a:spAutoFit/>
          </a:bodyPr>
          <a:lstStyle/>
          <a:p>
            <a:r>
              <a:rPr lang="en-US" altLang="zh-CN" kern="0" dirty="0">
                <a:solidFill>
                  <a:schemeClr val="tx1"/>
                </a:solidFill>
                <a:sym typeface="+mn-ea"/>
              </a:rPr>
              <a:t>High bit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3"/>
          <p:cNvSpPr>
            <a:spLocks noGrp="1" noChangeArrowheads="1"/>
          </p:cNvSpPr>
          <p:nvPr>
            <p:ph type="title"/>
          </p:nvPr>
        </p:nvSpPr>
        <p:spPr>
          <a:xfrm>
            <a:off x="1992313" y="501968"/>
            <a:ext cx="8229600" cy="504825"/>
          </a:xfrm>
        </p:spPr>
        <p:txBody>
          <a:bodyPr vert="horz" lIns="91440" tIns="45720" rIns="91440" bIns="45720" rtlCol="0" anchor="b">
            <a:normAutofit fontScale="90000"/>
          </a:bodyPr>
          <a:lstStyle/>
          <a:p>
            <a:r>
              <a:rPr lang="zh-CN" altLang="en-US" sz="4000">
                <a:latin typeface="+mj-ea"/>
              </a:rPr>
              <a:t>例</a:t>
            </a:r>
            <a:r>
              <a:rPr lang="en-US" altLang="zh-CN" sz="4000">
                <a:latin typeface="+mj-ea"/>
              </a:rPr>
              <a:t>2</a:t>
            </a:r>
            <a:r>
              <a:rPr lang="zh-CN" altLang="en-US" sz="4000">
                <a:latin typeface="+mj-ea"/>
              </a:rPr>
              <a:t>：将十进制数</a:t>
            </a:r>
            <a:r>
              <a:rPr lang="en-US" altLang="zh-CN" sz="4000">
                <a:latin typeface="+mj-ea"/>
              </a:rPr>
              <a:t>45.613</a:t>
            </a:r>
            <a:r>
              <a:rPr lang="zh-CN" altLang="en-US" sz="4000">
                <a:latin typeface="+mj-ea"/>
              </a:rPr>
              <a:t>转换成二进制数</a:t>
            </a:r>
            <a:br>
              <a:rPr lang="zh-CN" altLang="en-US" sz="4000">
                <a:latin typeface="+mj-ea"/>
              </a:rPr>
            </a:br>
            <a:r>
              <a:rPr lang="zh-CN" altLang="en-US" sz="2700">
                <a:latin typeface="+mj-ea"/>
                <a:sym typeface="+mn-ea"/>
              </a:rPr>
              <a:t>Example 2: Convert the decimal number 45.613 to binary</a:t>
            </a:r>
          </a:p>
        </p:txBody>
      </p:sp>
      <p:sp>
        <p:nvSpPr>
          <p:cNvPr id="303111" name="Rectangle 7"/>
          <p:cNvSpPr>
            <a:spLocks noChangeArrowheads="1"/>
          </p:cNvSpPr>
          <p:nvPr/>
        </p:nvSpPr>
        <p:spPr bwMode="auto">
          <a:xfrm>
            <a:off x="1524000" y="4887294"/>
            <a:ext cx="4478338" cy="52197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dirty="0">
                <a:solidFill>
                  <a:srgbClr val="0000CC"/>
                </a:solidFill>
                <a:latin typeface="Arial" panose="020B0604020202020204" pitchFamily="34" charset="0"/>
              </a:rPr>
              <a:t>            </a:t>
            </a:r>
            <a:r>
              <a:rPr lang="en-US" altLang="zh-CN" sz="2800" b="1" dirty="0">
                <a:solidFill>
                  <a:srgbClr val="0000CC"/>
                </a:solidFill>
              </a:rPr>
              <a:t>≈</a:t>
            </a:r>
            <a:r>
              <a:rPr lang="en-US" altLang="zh-CN" sz="2800" dirty="0">
                <a:solidFill>
                  <a:srgbClr val="0000CC"/>
                </a:solidFill>
              </a:rPr>
              <a:t> </a:t>
            </a:r>
            <a:r>
              <a:rPr lang="en-US" altLang="zh-CN" sz="2800" b="1" dirty="0">
                <a:solidFill>
                  <a:srgbClr val="0000CC"/>
                </a:solidFill>
                <a:latin typeface="Arial" panose="020B0604020202020204" pitchFamily="34" charset="0"/>
              </a:rPr>
              <a:t>(101101.100111)</a:t>
            </a:r>
            <a:r>
              <a:rPr lang="en-US" altLang="zh-CN" sz="2800" b="1" baseline="-25000" dirty="0">
                <a:solidFill>
                  <a:srgbClr val="0000CC"/>
                </a:solidFill>
                <a:latin typeface="Arial" panose="020B0604020202020204" pitchFamily="34" charset="0"/>
              </a:rPr>
              <a:t>2</a:t>
            </a:r>
            <a:endParaRPr lang="en-US" altLang="zh-CN" sz="2800" b="1" dirty="0">
              <a:solidFill>
                <a:srgbClr val="0000CC"/>
              </a:solidFill>
              <a:latin typeface="Arial" panose="020B0604020202020204" pitchFamily="34" charset="0"/>
            </a:endParaRPr>
          </a:p>
        </p:txBody>
      </p:sp>
      <p:sp>
        <p:nvSpPr>
          <p:cNvPr id="25607" name="Rectangle 10"/>
          <p:cNvSpPr>
            <a:spLocks noChangeArrowheads="1"/>
          </p:cNvSpPr>
          <p:nvPr/>
        </p:nvSpPr>
        <p:spPr bwMode="auto">
          <a:xfrm>
            <a:off x="5941060" y="2278063"/>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25608"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0823" y="1212007"/>
            <a:ext cx="2637709" cy="3384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3139"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338" y="1179919"/>
            <a:ext cx="3808344" cy="34177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ectangle 7"/>
          <p:cNvSpPr>
            <a:spLocks noChangeArrowheads="1"/>
          </p:cNvSpPr>
          <p:nvPr/>
        </p:nvSpPr>
        <p:spPr bwMode="auto">
          <a:xfrm>
            <a:off x="5824538" y="4883289"/>
            <a:ext cx="4843462" cy="52197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dirty="0">
                <a:solidFill>
                  <a:schemeClr val="tx2"/>
                </a:solidFill>
                <a:latin typeface="Arial" panose="020B0604020202020204" pitchFamily="34" charset="0"/>
              </a:rPr>
              <a:t>或</a:t>
            </a:r>
            <a:r>
              <a:rPr lang="en-US" altLang="zh-CN" sz="2800" b="1" dirty="0">
                <a:solidFill>
                  <a:schemeClr val="tx2"/>
                </a:solidFill>
                <a:latin typeface="Arial" panose="020B0604020202020204" pitchFamily="34" charset="0"/>
              </a:rPr>
              <a:t>45.613D</a:t>
            </a:r>
            <a:r>
              <a:rPr lang="en-US" altLang="zh-CN" sz="2800" b="1" dirty="0"/>
              <a:t>≈</a:t>
            </a:r>
            <a:r>
              <a:rPr lang="en-US" altLang="zh-CN" sz="2800" b="1" dirty="0">
                <a:solidFill>
                  <a:schemeClr val="tx2"/>
                </a:solidFill>
                <a:latin typeface="Arial" panose="020B0604020202020204" pitchFamily="34" charset="0"/>
              </a:rPr>
              <a:t>101101.100111B</a:t>
            </a:r>
          </a:p>
        </p:txBody>
      </p:sp>
      <p:grpSp>
        <p:nvGrpSpPr>
          <p:cNvPr id="13" name="组合 12"/>
          <p:cNvGrpSpPr/>
          <p:nvPr/>
        </p:nvGrpSpPr>
        <p:grpSpPr bwMode="auto">
          <a:xfrm>
            <a:off x="3198495" y="3931285"/>
            <a:ext cx="1005840" cy="1002030"/>
            <a:chOff x="1627098" y="4994440"/>
            <a:chExt cx="1075761" cy="871435"/>
          </a:xfrm>
        </p:grpSpPr>
        <p:cxnSp>
          <p:nvCxnSpPr>
            <p:cNvPr id="25617" name="直接箭头连接符 7"/>
            <p:cNvCxnSpPr>
              <a:stCxn id="25618" idx="1"/>
            </p:cNvCxnSpPr>
            <p:nvPr/>
          </p:nvCxnSpPr>
          <p:spPr bwMode="auto">
            <a:xfrm flipV="1">
              <a:off x="2164979" y="4994440"/>
              <a:ext cx="408836" cy="713308"/>
            </a:xfrm>
            <a:prstGeom prst="straightConnector1">
              <a:avLst/>
            </a:prstGeom>
            <a:noFill/>
            <a:ln w="952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18" name="右大括号 11"/>
            <p:cNvSpPr/>
            <p:nvPr/>
          </p:nvSpPr>
          <p:spPr bwMode="auto">
            <a:xfrm rot="-5400000">
              <a:off x="2085915" y="5248931"/>
              <a:ext cx="158127" cy="1075761"/>
            </a:xfrm>
            <a:prstGeom prst="rightBrace">
              <a:avLst>
                <a:gd name="adj1" fmla="val 8346"/>
                <a:gd name="adj2" fmla="val 50000"/>
              </a:avLst>
            </a:prstGeom>
            <a:noFill/>
            <a:ln w="9525" algn="ctr">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7" name="组合 26"/>
          <p:cNvGrpSpPr/>
          <p:nvPr/>
        </p:nvGrpSpPr>
        <p:grpSpPr bwMode="auto">
          <a:xfrm>
            <a:off x="4577080" y="4038600"/>
            <a:ext cx="4246880" cy="897890"/>
            <a:chOff x="1478971" y="4954695"/>
            <a:chExt cx="4695850" cy="911178"/>
          </a:xfrm>
        </p:grpSpPr>
        <p:cxnSp>
          <p:nvCxnSpPr>
            <p:cNvPr id="25615" name="直接箭头连接符 27"/>
            <p:cNvCxnSpPr>
              <a:stCxn id="25616" idx="1"/>
            </p:cNvCxnSpPr>
            <p:nvPr/>
          </p:nvCxnSpPr>
          <p:spPr bwMode="auto">
            <a:xfrm flipV="1">
              <a:off x="2035080" y="4954695"/>
              <a:ext cx="4139741" cy="753053"/>
            </a:xfrm>
            <a:prstGeom prst="straightConnector1">
              <a:avLst/>
            </a:prstGeom>
            <a:noFill/>
            <a:ln w="952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616" name="右大括号 28"/>
            <p:cNvSpPr/>
            <p:nvPr/>
          </p:nvSpPr>
          <p:spPr bwMode="auto">
            <a:xfrm rot="16200000">
              <a:off x="1956018" y="5230701"/>
              <a:ext cx="158125" cy="1112220"/>
            </a:xfrm>
            <a:prstGeom prst="rightBrace">
              <a:avLst>
                <a:gd name="adj1" fmla="val 8327"/>
                <a:gd name="adj2" fmla="val 50000"/>
              </a:avLst>
            </a:prstGeom>
            <a:noFill/>
            <a:ln w="9525" algn="ctr">
              <a:solidFill>
                <a:srgbClr val="FF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8" name="矩形 17"/>
          <p:cNvSpPr>
            <a:spLocks noChangeArrowheads="1"/>
          </p:cNvSpPr>
          <p:nvPr/>
        </p:nvSpPr>
        <p:spPr bwMode="auto">
          <a:xfrm>
            <a:off x="1092410" y="4823628"/>
            <a:ext cx="17621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dirty="0">
                <a:solidFill>
                  <a:srgbClr val="0000CC"/>
                </a:solidFill>
                <a:latin typeface="Arial" panose="020B0604020202020204" pitchFamily="34" charset="0"/>
              </a:rPr>
              <a:t>(</a:t>
            </a:r>
            <a:r>
              <a:rPr lang="en-US" altLang="zh-CN" sz="2800" b="1" dirty="0">
                <a:solidFill>
                  <a:srgbClr val="0000CC"/>
                </a:solidFill>
                <a:latin typeface="Arial" panose="020B0604020202020204" pitchFamily="34" charset="0"/>
              </a:rPr>
              <a:t>45.613</a:t>
            </a:r>
            <a:r>
              <a:rPr kumimoji="1" lang="en-US" altLang="zh-CN" sz="2800" b="1" dirty="0">
                <a:solidFill>
                  <a:srgbClr val="0000CC"/>
                </a:solidFill>
                <a:latin typeface="Arial" panose="020B0604020202020204" pitchFamily="34" charset="0"/>
              </a:rPr>
              <a:t>)</a:t>
            </a:r>
            <a:r>
              <a:rPr kumimoji="1" lang="en-US" altLang="zh-CN" sz="2800" b="1" baseline="-25000" dirty="0">
                <a:solidFill>
                  <a:srgbClr val="0000CC"/>
                </a:solidFill>
                <a:latin typeface="Arial" panose="020B0604020202020204" pitchFamily="34" charset="0"/>
              </a:rPr>
              <a:t>10</a:t>
            </a:r>
          </a:p>
        </p:txBody>
      </p:sp>
      <p:sp>
        <p:nvSpPr>
          <p:cNvPr id="19" name="Rectangle 3"/>
          <p:cNvSpPr txBox="1">
            <a:spLocks noChangeArrowheads="1"/>
          </p:cNvSpPr>
          <p:nvPr/>
        </p:nvSpPr>
        <p:spPr bwMode="auto">
          <a:xfrm>
            <a:off x="166370" y="5405109"/>
            <a:ext cx="5402263" cy="885825"/>
          </a:xfrm>
          <a:prstGeom prst="rect">
            <a:avLst/>
          </a:prstGeom>
          <a:noFill/>
          <a:ln w="9525">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bIns="0"/>
          <a:lstStyle>
            <a:lvl1pPr marL="342900" indent="-342900" algn="l"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5"/>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eaLnBrk="1" hangingPunct="1">
              <a:spcBef>
                <a:spcPts val="0"/>
              </a:spcBef>
              <a:buFontTx/>
              <a:buNone/>
              <a:defRPr/>
            </a:pPr>
            <a:r>
              <a:rPr kumimoji="1" lang="zh-CN" altLang="en-US" kern="0" dirty="0">
                <a:solidFill>
                  <a:srgbClr val="FF0000"/>
                </a:solidFill>
              </a:rPr>
              <a:t>整数部分转换</a:t>
            </a:r>
            <a:r>
              <a:rPr kumimoji="1" lang="en-US" altLang="zh-CN" kern="0" dirty="0">
                <a:solidFill>
                  <a:srgbClr val="FF0000"/>
                </a:solidFill>
              </a:rPr>
              <a:t>:</a:t>
            </a:r>
            <a:r>
              <a:rPr lang="zh-CN" altLang="en-US" kern="0" dirty="0">
                <a:solidFill>
                  <a:srgbClr val="FF0000"/>
                </a:solidFill>
              </a:rPr>
              <a:t>除</a:t>
            </a:r>
            <a:r>
              <a:rPr lang="en-US" altLang="zh-CN" kern="0" dirty="0">
                <a:solidFill>
                  <a:srgbClr val="FF0000"/>
                </a:solidFill>
              </a:rPr>
              <a:t>2</a:t>
            </a:r>
            <a:r>
              <a:rPr lang="zh-CN" altLang="en-US" kern="0" dirty="0">
                <a:solidFill>
                  <a:srgbClr val="FF0000"/>
                </a:solidFill>
              </a:rPr>
              <a:t>取余</a:t>
            </a:r>
            <a:r>
              <a:rPr lang="en-US" altLang="zh-CN" kern="0" dirty="0">
                <a:solidFill>
                  <a:srgbClr val="FF0000"/>
                </a:solidFill>
              </a:rPr>
              <a:t>,</a:t>
            </a:r>
            <a:r>
              <a:rPr lang="zh-CN" altLang="en-US" kern="0" dirty="0">
                <a:solidFill>
                  <a:srgbClr val="FF0000"/>
                </a:solidFill>
              </a:rPr>
              <a:t>逆序排列</a:t>
            </a:r>
            <a:endParaRPr lang="en-US" altLang="zh-CN" kern="0" dirty="0">
              <a:solidFill>
                <a:srgbClr val="FF0000"/>
              </a:solidFill>
            </a:endParaRPr>
          </a:p>
          <a:p>
            <a:pPr marL="0" lvl="1" indent="0" eaLnBrk="1" hangingPunct="1">
              <a:spcBef>
                <a:spcPts val="0"/>
              </a:spcBef>
              <a:buFontTx/>
              <a:buNone/>
              <a:defRPr/>
            </a:pPr>
            <a:r>
              <a:rPr kumimoji="1" lang="zh-CN" altLang="en-US" dirty="0">
                <a:solidFill>
                  <a:srgbClr val="0000FF"/>
                </a:solidFill>
              </a:rPr>
              <a:t>小数部分转换</a:t>
            </a:r>
            <a:r>
              <a:rPr kumimoji="1" lang="en-US" altLang="zh-CN" dirty="0">
                <a:solidFill>
                  <a:srgbClr val="0000FF"/>
                </a:solidFill>
              </a:rPr>
              <a:t>:</a:t>
            </a:r>
            <a:r>
              <a:rPr lang="zh-CN" altLang="en-US" dirty="0">
                <a:solidFill>
                  <a:srgbClr val="0000FF"/>
                </a:solidFill>
              </a:rPr>
              <a:t>乘</a:t>
            </a:r>
            <a:r>
              <a:rPr lang="en-US" altLang="zh-CN" dirty="0">
                <a:solidFill>
                  <a:srgbClr val="0000FF"/>
                </a:solidFill>
              </a:rPr>
              <a:t>2</a:t>
            </a:r>
            <a:r>
              <a:rPr lang="zh-CN" altLang="en-US" dirty="0">
                <a:solidFill>
                  <a:srgbClr val="0000FF"/>
                </a:solidFill>
              </a:rPr>
              <a:t>取整</a:t>
            </a:r>
            <a:r>
              <a:rPr lang="en-US" altLang="zh-CN" dirty="0">
                <a:solidFill>
                  <a:srgbClr val="0000FF"/>
                </a:solidFill>
              </a:rPr>
              <a:t>,</a:t>
            </a:r>
            <a:r>
              <a:rPr lang="zh-CN" altLang="en-US" dirty="0">
                <a:solidFill>
                  <a:srgbClr val="0000FF"/>
                </a:solidFill>
              </a:rPr>
              <a:t>顺序排列</a:t>
            </a:r>
            <a:endParaRPr lang="en-US" altLang="zh-CN" kern="0" dirty="0">
              <a:solidFill>
                <a:srgbClr val="0000FF"/>
              </a:solidFill>
            </a:endParaRPr>
          </a:p>
        </p:txBody>
      </p:sp>
      <p:sp>
        <p:nvSpPr>
          <p:cNvPr id="2" name="文本框 1"/>
          <p:cNvSpPr txBox="1"/>
          <p:nvPr/>
        </p:nvSpPr>
        <p:spPr>
          <a:xfrm>
            <a:off x="4229100" y="1150620"/>
            <a:ext cx="6096000" cy="368300"/>
          </a:xfrm>
          <a:prstGeom prst="rect">
            <a:avLst/>
          </a:prstGeom>
          <a:noFill/>
        </p:spPr>
        <p:txBody>
          <a:bodyPr wrap="square" rtlCol="0" anchor="t">
            <a:spAutoFit/>
          </a:bodyPr>
          <a:lstStyle/>
          <a:p>
            <a:r>
              <a:rPr lang="en-US" altLang="zh-CN" kern="0" dirty="0">
                <a:solidFill>
                  <a:schemeClr val="tx1"/>
                </a:solidFill>
                <a:sym typeface="+mn-ea"/>
              </a:rPr>
              <a:t>remainder</a:t>
            </a:r>
          </a:p>
        </p:txBody>
      </p:sp>
      <p:sp>
        <p:nvSpPr>
          <p:cNvPr id="6" name="文本框 5"/>
          <p:cNvSpPr txBox="1"/>
          <p:nvPr/>
        </p:nvSpPr>
        <p:spPr>
          <a:xfrm>
            <a:off x="4941570" y="1395730"/>
            <a:ext cx="6096000" cy="368300"/>
          </a:xfrm>
          <a:prstGeom prst="rect">
            <a:avLst/>
          </a:prstGeom>
          <a:noFill/>
        </p:spPr>
        <p:txBody>
          <a:bodyPr wrap="square" rtlCol="0" anchor="t">
            <a:spAutoFit/>
          </a:bodyPr>
          <a:lstStyle/>
          <a:p>
            <a:r>
              <a:rPr lang="en-US" altLang="zh-CN" kern="0" dirty="0">
                <a:solidFill>
                  <a:schemeClr val="tx1"/>
                </a:solidFill>
                <a:sym typeface="+mn-ea"/>
              </a:rPr>
              <a:t>Low bit</a:t>
            </a:r>
          </a:p>
        </p:txBody>
      </p:sp>
      <p:sp>
        <p:nvSpPr>
          <p:cNvPr id="7" name="文本框 6"/>
          <p:cNvSpPr txBox="1"/>
          <p:nvPr/>
        </p:nvSpPr>
        <p:spPr>
          <a:xfrm>
            <a:off x="4899660" y="3562985"/>
            <a:ext cx="6096000" cy="368300"/>
          </a:xfrm>
          <a:prstGeom prst="rect">
            <a:avLst/>
          </a:prstGeom>
          <a:noFill/>
        </p:spPr>
        <p:txBody>
          <a:bodyPr wrap="square" rtlCol="0" anchor="t">
            <a:spAutoFit/>
          </a:bodyPr>
          <a:lstStyle/>
          <a:p>
            <a:r>
              <a:rPr lang="en-US" altLang="zh-CN" kern="0" dirty="0">
                <a:solidFill>
                  <a:schemeClr val="tx1"/>
                </a:solidFill>
                <a:sym typeface="+mn-ea"/>
              </a:rPr>
              <a:t>High bit</a:t>
            </a:r>
          </a:p>
        </p:txBody>
      </p:sp>
      <p:sp>
        <p:nvSpPr>
          <p:cNvPr id="8" name="文本框 7"/>
          <p:cNvSpPr txBox="1"/>
          <p:nvPr/>
        </p:nvSpPr>
        <p:spPr>
          <a:xfrm>
            <a:off x="9730740" y="1150620"/>
            <a:ext cx="6096000" cy="368300"/>
          </a:xfrm>
          <a:prstGeom prst="rect">
            <a:avLst/>
          </a:prstGeom>
          <a:noFill/>
        </p:spPr>
        <p:txBody>
          <a:bodyPr wrap="square" rtlCol="0" anchor="t">
            <a:spAutoFit/>
          </a:bodyPr>
          <a:lstStyle/>
          <a:p>
            <a:r>
              <a:rPr lang="en-US" altLang="zh-CN" kern="0" dirty="0">
                <a:solidFill>
                  <a:schemeClr val="tx1"/>
                </a:solidFill>
                <a:sym typeface="+mn-ea"/>
              </a:rPr>
              <a:t>High bit</a:t>
            </a:r>
          </a:p>
        </p:txBody>
      </p:sp>
      <p:sp>
        <p:nvSpPr>
          <p:cNvPr id="9" name="文本框 8"/>
          <p:cNvSpPr txBox="1"/>
          <p:nvPr/>
        </p:nvSpPr>
        <p:spPr>
          <a:xfrm>
            <a:off x="9591675" y="3847465"/>
            <a:ext cx="6096000" cy="368300"/>
          </a:xfrm>
          <a:prstGeom prst="rect">
            <a:avLst/>
          </a:prstGeom>
          <a:noFill/>
        </p:spPr>
        <p:txBody>
          <a:bodyPr wrap="square" rtlCol="0" anchor="t">
            <a:spAutoFit/>
          </a:bodyPr>
          <a:lstStyle/>
          <a:p>
            <a:r>
              <a:rPr lang="en-US" altLang="zh-CN" kern="0" dirty="0">
                <a:solidFill>
                  <a:schemeClr val="tx1"/>
                </a:solidFill>
                <a:sym typeface="+mn-ea"/>
              </a:rPr>
              <a:t>Low bit</a:t>
            </a:r>
          </a:p>
        </p:txBody>
      </p:sp>
      <p:sp>
        <p:nvSpPr>
          <p:cNvPr id="10" name="文本框 9"/>
          <p:cNvSpPr txBox="1"/>
          <p:nvPr/>
        </p:nvSpPr>
        <p:spPr>
          <a:xfrm>
            <a:off x="5704840" y="1115060"/>
            <a:ext cx="3498850" cy="337185"/>
          </a:xfrm>
          <a:prstGeom prst="rect">
            <a:avLst/>
          </a:prstGeom>
        </p:spPr>
        <p:txBody>
          <a:bodyPr wrap="square">
            <a:spAutoFit/>
          </a:bodyPr>
          <a:lstStyle/>
          <a:p>
            <a:r>
              <a:rPr lang="en-US" altLang="zh-CN" sz="1600"/>
              <a:t>Round to the nearest integer</a:t>
            </a:r>
          </a:p>
        </p:txBody>
      </p:sp>
      <p:sp>
        <p:nvSpPr>
          <p:cNvPr id="11" name="文本框 10"/>
          <p:cNvSpPr txBox="1"/>
          <p:nvPr/>
        </p:nvSpPr>
        <p:spPr>
          <a:xfrm>
            <a:off x="2164715" y="4470718"/>
            <a:ext cx="5080000" cy="337185"/>
          </a:xfrm>
          <a:prstGeom prst="rect">
            <a:avLst/>
          </a:prstGeom>
        </p:spPr>
        <p:txBody>
          <a:bodyPr>
            <a:spAutoFit/>
          </a:bodyPr>
          <a:lstStyle/>
          <a:p>
            <a:r>
              <a:rPr lang="en-US" altLang="zh-CN" sz="1600"/>
              <a:t>Diagram of Integer Part Conversion</a:t>
            </a:r>
          </a:p>
        </p:txBody>
      </p:sp>
      <p:sp>
        <p:nvSpPr>
          <p:cNvPr id="12" name="文本框 11"/>
          <p:cNvSpPr txBox="1"/>
          <p:nvPr/>
        </p:nvSpPr>
        <p:spPr>
          <a:xfrm>
            <a:off x="6250940" y="4550093"/>
            <a:ext cx="5080000" cy="337185"/>
          </a:xfrm>
          <a:prstGeom prst="rect">
            <a:avLst/>
          </a:prstGeom>
        </p:spPr>
        <p:txBody>
          <a:bodyPr>
            <a:spAutoFit/>
          </a:bodyPr>
          <a:lstStyle/>
          <a:p>
            <a:r>
              <a:rPr lang="en-US" altLang="zh-CN" sz="1600"/>
              <a:t>Diagram of Decimal Conversion</a:t>
            </a:r>
          </a:p>
        </p:txBody>
      </p:sp>
      <p:sp>
        <p:nvSpPr>
          <p:cNvPr id="16" name="文本框 15"/>
          <p:cNvSpPr txBox="1"/>
          <p:nvPr/>
        </p:nvSpPr>
        <p:spPr>
          <a:xfrm>
            <a:off x="5742940" y="5237480"/>
            <a:ext cx="6096000" cy="1198880"/>
          </a:xfrm>
          <a:prstGeom prst="rect">
            <a:avLst/>
          </a:prstGeom>
          <a:noFill/>
        </p:spPr>
        <p:txBody>
          <a:bodyPr wrap="square" rtlCol="0" anchor="t">
            <a:spAutoFit/>
          </a:bodyPr>
          <a:lstStyle/>
          <a:p>
            <a:pPr marL="0" lvl="1" indent="0" eaLnBrk="1" hangingPunct="1">
              <a:spcBef>
                <a:spcPts val="0"/>
              </a:spcBef>
              <a:buFontTx/>
              <a:buNone/>
              <a:defRPr/>
            </a:pPr>
            <a:r>
              <a:rPr kumimoji="1" lang="zh-CN" altLang="en-US" kern="0" dirty="0">
                <a:solidFill>
                  <a:srgbClr val="FF0000"/>
                </a:solidFill>
                <a:sym typeface="+mn-ea"/>
              </a:rPr>
              <a:t>Whole number conversion: divide by 2 and take the remainder, then reverse the order</a:t>
            </a:r>
            <a:endParaRPr lang="en-US" altLang="zh-CN" kern="0" dirty="0">
              <a:solidFill>
                <a:srgbClr val="FF0000"/>
              </a:solidFill>
            </a:endParaRPr>
          </a:p>
          <a:p>
            <a:pPr marL="0" lvl="1" indent="0" eaLnBrk="1" hangingPunct="1">
              <a:spcBef>
                <a:spcPts val="0"/>
              </a:spcBef>
              <a:buFontTx/>
              <a:buNone/>
              <a:defRPr/>
            </a:pPr>
            <a:r>
              <a:rPr kumimoji="1" lang="zh-CN" altLang="en-US" dirty="0">
                <a:solidFill>
                  <a:srgbClr val="0000FF"/>
                </a:solidFill>
                <a:sym typeface="+mn-ea"/>
              </a:rPr>
              <a:t>Conversion of decimal part: multiply by 2 and take the integer, in order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3"/>
          <p:cNvSpPr>
            <a:spLocks noGrp="1" noChangeArrowheads="1"/>
          </p:cNvSpPr>
          <p:nvPr>
            <p:ph type="title"/>
          </p:nvPr>
        </p:nvSpPr>
        <p:spPr>
          <a:xfrm>
            <a:off x="969529" y="210670"/>
            <a:ext cx="6613525" cy="869624"/>
          </a:xfrm>
        </p:spPr>
        <p:txBody>
          <a:bodyPr vert="horz" lIns="91440" tIns="45720" rIns="91440" bIns="45720" rtlCol="0" anchor="b">
            <a:normAutofit fontScale="90000"/>
          </a:bodyPr>
          <a:lstStyle/>
          <a:p>
            <a:r>
              <a:rPr lang="en-US" altLang="zh-CN" sz="4000" dirty="0">
                <a:latin typeface="+mj-ea"/>
              </a:rPr>
              <a:t>2</a:t>
            </a:r>
            <a:r>
              <a:rPr lang="zh-CN" altLang="en-US" sz="4000" dirty="0">
                <a:latin typeface="+mj-ea"/>
              </a:rPr>
              <a:t>、二进制数转换为十进制数</a:t>
            </a:r>
            <a:br>
              <a:rPr lang="zh-CN" altLang="en-US" sz="4000" dirty="0">
                <a:latin typeface="+mj-ea"/>
              </a:rPr>
            </a:br>
            <a:r>
              <a:rPr lang="en-US" altLang="zh-CN" sz="2700" dirty="0">
                <a:latin typeface="+mj-ea"/>
                <a:sym typeface="+mn-ea"/>
              </a:rPr>
              <a:t>Convert binary numbers to decimal numbers</a:t>
            </a:r>
          </a:p>
        </p:txBody>
      </p:sp>
      <p:sp>
        <p:nvSpPr>
          <p:cNvPr id="306179" name="Rectangle 3"/>
          <p:cNvSpPr>
            <a:spLocks noGrp="1" noChangeArrowheads="1"/>
          </p:cNvSpPr>
          <p:nvPr>
            <p:ph idx="1"/>
          </p:nvPr>
        </p:nvSpPr>
        <p:spPr>
          <a:xfrm>
            <a:off x="360217" y="1224356"/>
            <a:ext cx="11619347" cy="2735580"/>
          </a:xfrm>
        </p:spPr>
        <p:txBody>
          <a:bodyPr>
            <a:normAutofit fontScale="85000" lnSpcReduction="20000"/>
          </a:bodyPr>
          <a:lstStyle/>
          <a:p>
            <a:pPr eaLnBrk="1" hangingPunct="1">
              <a:defRPr/>
            </a:pPr>
            <a:r>
              <a:rPr lang="zh-CN" altLang="en-US" sz="3200" dirty="0">
                <a:solidFill>
                  <a:srgbClr val="FF0000"/>
                </a:solidFill>
              </a:rPr>
              <a:t>转换方法：按权展开相加。</a:t>
            </a:r>
            <a:br>
              <a:rPr lang="zh-CN" altLang="en-US" sz="3200" dirty="0">
                <a:solidFill>
                  <a:srgbClr val="FF0000"/>
                </a:solidFill>
              </a:rPr>
            </a:br>
            <a:r>
              <a:rPr lang="zh-CN" altLang="en-US" sz="3200" dirty="0">
                <a:solidFill>
                  <a:srgbClr val="FF0000"/>
                </a:solidFill>
                <a:sym typeface="+mn-ea"/>
              </a:rPr>
              <a:t>Conversion method: expand and add according to the power.</a:t>
            </a:r>
            <a:endParaRPr lang="zh-CN" altLang="en-US" sz="3200" dirty="0">
              <a:solidFill>
                <a:srgbClr val="FF0000"/>
              </a:solidFill>
            </a:endParaRPr>
          </a:p>
          <a:p>
            <a:pPr eaLnBrk="1" hangingPunct="1">
              <a:buFontTx/>
              <a:buNone/>
              <a:defRPr/>
            </a:pPr>
            <a:r>
              <a:rPr lang="zh-CN" altLang="en-US" sz="3200" dirty="0"/>
              <a:t>  例如，一个</a:t>
            </a:r>
            <a:r>
              <a:rPr lang="en-US" altLang="zh-CN" sz="3200" dirty="0"/>
              <a:t>8</a:t>
            </a:r>
            <a:r>
              <a:rPr lang="zh-CN" altLang="en-US" sz="3200" dirty="0"/>
              <a:t>位二进制数</a:t>
            </a:r>
            <a:r>
              <a:rPr lang="en-US" altLang="zh-CN" sz="3200" dirty="0"/>
              <a:t>1111</a:t>
            </a:r>
            <a:r>
              <a:rPr lang="en-US" altLang="zh-CN" sz="2000" spc="-300" dirty="0"/>
              <a:t> </a:t>
            </a:r>
            <a:r>
              <a:rPr lang="en-US" altLang="zh-CN" sz="3200" dirty="0"/>
              <a:t>1111B</a:t>
            </a:r>
            <a:r>
              <a:rPr lang="zh-CN" altLang="en-US" sz="3200" dirty="0"/>
              <a:t>的各位的权值依次是</a:t>
            </a:r>
            <a:r>
              <a:rPr lang="en-US" altLang="zh-CN" sz="3200" dirty="0">
                <a:solidFill>
                  <a:srgbClr val="FF0000"/>
                </a:solidFill>
              </a:rPr>
              <a:t>2</a:t>
            </a:r>
            <a:r>
              <a:rPr lang="en-US" altLang="zh-CN" sz="3200" baseline="30000" dirty="0">
                <a:solidFill>
                  <a:srgbClr val="FF0000"/>
                </a:solidFill>
              </a:rPr>
              <a:t>7</a:t>
            </a:r>
            <a:r>
              <a:rPr lang="zh-CN" altLang="en-US" sz="3200" dirty="0">
                <a:solidFill>
                  <a:srgbClr val="FF0000"/>
                </a:solidFill>
              </a:rPr>
              <a:t>、</a:t>
            </a:r>
            <a:r>
              <a:rPr lang="zh-CN" altLang="en-US" sz="3200" baseline="30000" dirty="0">
                <a:solidFill>
                  <a:srgbClr val="FF0000"/>
                </a:solidFill>
              </a:rPr>
              <a:t> </a:t>
            </a:r>
            <a:r>
              <a:rPr lang="en-US" altLang="zh-CN" sz="3200" dirty="0">
                <a:solidFill>
                  <a:srgbClr val="FF0000"/>
                </a:solidFill>
              </a:rPr>
              <a:t>2</a:t>
            </a:r>
            <a:r>
              <a:rPr lang="en-US" altLang="zh-CN" sz="3200" baseline="30000" dirty="0">
                <a:solidFill>
                  <a:srgbClr val="FF0000"/>
                </a:solidFill>
              </a:rPr>
              <a:t>6 </a:t>
            </a:r>
            <a:r>
              <a:rPr lang="zh-CN" altLang="en-US" sz="3200" dirty="0">
                <a:solidFill>
                  <a:srgbClr val="FF0000"/>
                </a:solidFill>
              </a:rPr>
              <a:t>、 </a:t>
            </a:r>
            <a:r>
              <a:rPr lang="en-US" altLang="zh-CN" sz="3200" dirty="0">
                <a:solidFill>
                  <a:srgbClr val="FF0000"/>
                </a:solidFill>
              </a:rPr>
              <a:t>2</a:t>
            </a:r>
            <a:r>
              <a:rPr lang="en-US" altLang="zh-CN" sz="3200" baseline="30000" dirty="0">
                <a:solidFill>
                  <a:srgbClr val="FF0000"/>
                </a:solidFill>
              </a:rPr>
              <a:t>5</a:t>
            </a:r>
            <a:r>
              <a:rPr lang="en-US" altLang="zh-CN" sz="3200" dirty="0">
                <a:solidFill>
                  <a:srgbClr val="FF0000"/>
                </a:solidFill>
              </a:rPr>
              <a:t> </a:t>
            </a:r>
            <a:r>
              <a:rPr lang="zh-CN" altLang="en-US" sz="3200" dirty="0">
                <a:solidFill>
                  <a:srgbClr val="FF0000"/>
                </a:solidFill>
              </a:rPr>
              <a:t>、</a:t>
            </a:r>
            <a:r>
              <a:rPr lang="en-US" altLang="zh-CN" sz="3200" dirty="0">
                <a:solidFill>
                  <a:srgbClr val="FF0000"/>
                </a:solidFill>
              </a:rPr>
              <a:t>… </a:t>
            </a:r>
            <a:r>
              <a:rPr lang="zh-CN" altLang="en-US" sz="3200" dirty="0">
                <a:solidFill>
                  <a:srgbClr val="FF0000"/>
                </a:solidFill>
              </a:rPr>
              <a:t>、</a:t>
            </a:r>
            <a:r>
              <a:rPr lang="en-US" altLang="zh-CN" sz="3200" dirty="0">
                <a:solidFill>
                  <a:srgbClr val="FF0000"/>
                </a:solidFill>
              </a:rPr>
              <a:t>2</a:t>
            </a:r>
            <a:r>
              <a:rPr lang="en-US" altLang="zh-CN" sz="3200" baseline="30000" dirty="0">
                <a:solidFill>
                  <a:srgbClr val="FF0000"/>
                </a:solidFill>
              </a:rPr>
              <a:t>0</a:t>
            </a:r>
            <a:r>
              <a:rPr lang="en-US" altLang="zh-CN" sz="3200" dirty="0">
                <a:solidFill>
                  <a:srgbClr val="FF0000"/>
                </a:solidFill>
              </a:rPr>
              <a:t> </a:t>
            </a:r>
            <a:r>
              <a:rPr lang="zh-CN" altLang="en-US" sz="3200" dirty="0"/>
              <a:t>。</a:t>
            </a:r>
            <a:br>
              <a:rPr lang="zh-CN" altLang="en-US" sz="3200" dirty="0"/>
            </a:br>
            <a:r>
              <a:rPr lang="zh-CN" altLang="en-US" sz="3200" dirty="0">
                <a:sym typeface="+mn-ea"/>
              </a:rPr>
              <a:t>For example, the weights of the bits in an 8-bit binary number 1111 1111B are </a:t>
            </a:r>
            <a:r>
              <a:rPr lang="en-US" altLang="zh-CN" sz="3200" dirty="0">
                <a:solidFill>
                  <a:srgbClr val="FF0000"/>
                </a:solidFill>
                <a:sym typeface="+mn-ea"/>
              </a:rPr>
              <a:t>2</a:t>
            </a:r>
            <a:r>
              <a:rPr lang="en-US" altLang="zh-CN" sz="3200" baseline="30000" dirty="0">
                <a:solidFill>
                  <a:srgbClr val="FF0000"/>
                </a:solidFill>
                <a:sym typeface="+mn-ea"/>
              </a:rPr>
              <a:t>7</a:t>
            </a:r>
            <a:r>
              <a:rPr lang="zh-CN" altLang="en-US" sz="3200" dirty="0">
                <a:solidFill>
                  <a:srgbClr val="FF0000"/>
                </a:solidFill>
                <a:sym typeface="+mn-ea"/>
              </a:rPr>
              <a:t>、</a:t>
            </a:r>
            <a:r>
              <a:rPr lang="zh-CN" altLang="en-US" sz="3200" baseline="30000" dirty="0">
                <a:solidFill>
                  <a:srgbClr val="FF0000"/>
                </a:solidFill>
                <a:sym typeface="+mn-ea"/>
              </a:rPr>
              <a:t> </a:t>
            </a:r>
            <a:r>
              <a:rPr lang="en-US" altLang="zh-CN" sz="3200" dirty="0">
                <a:solidFill>
                  <a:srgbClr val="FF0000"/>
                </a:solidFill>
                <a:sym typeface="+mn-ea"/>
              </a:rPr>
              <a:t>2</a:t>
            </a:r>
            <a:r>
              <a:rPr lang="en-US" altLang="zh-CN" sz="3200" baseline="30000" dirty="0">
                <a:solidFill>
                  <a:srgbClr val="FF0000"/>
                </a:solidFill>
                <a:sym typeface="+mn-ea"/>
              </a:rPr>
              <a:t>6 </a:t>
            </a:r>
            <a:r>
              <a:rPr lang="zh-CN" altLang="en-US" sz="3200" dirty="0">
                <a:solidFill>
                  <a:srgbClr val="FF0000"/>
                </a:solidFill>
                <a:sym typeface="+mn-ea"/>
              </a:rPr>
              <a:t>、 </a:t>
            </a:r>
            <a:r>
              <a:rPr lang="en-US" altLang="zh-CN" sz="3200" dirty="0">
                <a:solidFill>
                  <a:srgbClr val="FF0000"/>
                </a:solidFill>
                <a:sym typeface="+mn-ea"/>
              </a:rPr>
              <a:t>2</a:t>
            </a:r>
            <a:r>
              <a:rPr lang="en-US" altLang="zh-CN" sz="3200" baseline="30000" dirty="0">
                <a:solidFill>
                  <a:srgbClr val="FF0000"/>
                </a:solidFill>
                <a:sym typeface="+mn-ea"/>
              </a:rPr>
              <a:t>5</a:t>
            </a:r>
            <a:r>
              <a:rPr lang="en-US" altLang="zh-CN" sz="3200" dirty="0">
                <a:solidFill>
                  <a:srgbClr val="FF0000"/>
                </a:solidFill>
                <a:sym typeface="+mn-ea"/>
              </a:rPr>
              <a:t> </a:t>
            </a:r>
            <a:r>
              <a:rPr lang="zh-CN" altLang="en-US" sz="3200" dirty="0">
                <a:solidFill>
                  <a:srgbClr val="FF0000"/>
                </a:solidFill>
                <a:sym typeface="+mn-ea"/>
              </a:rPr>
              <a:t>、</a:t>
            </a:r>
            <a:r>
              <a:rPr lang="en-US" altLang="zh-CN" sz="3200" dirty="0">
                <a:solidFill>
                  <a:srgbClr val="FF0000"/>
                </a:solidFill>
                <a:sym typeface="+mn-ea"/>
              </a:rPr>
              <a:t>… </a:t>
            </a:r>
            <a:r>
              <a:rPr lang="zh-CN" altLang="en-US" sz="3200" dirty="0">
                <a:solidFill>
                  <a:srgbClr val="FF0000"/>
                </a:solidFill>
                <a:sym typeface="+mn-ea"/>
              </a:rPr>
              <a:t>、</a:t>
            </a:r>
            <a:r>
              <a:rPr lang="en-US" altLang="zh-CN" sz="3200" dirty="0">
                <a:solidFill>
                  <a:srgbClr val="FF0000"/>
                </a:solidFill>
                <a:sym typeface="+mn-ea"/>
              </a:rPr>
              <a:t>2</a:t>
            </a:r>
            <a:r>
              <a:rPr lang="en-US" altLang="zh-CN" sz="3200" baseline="30000" dirty="0">
                <a:solidFill>
                  <a:srgbClr val="FF0000"/>
                </a:solidFill>
                <a:sym typeface="+mn-ea"/>
              </a:rPr>
              <a:t>0</a:t>
            </a:r>
            <a:r>
              <a:rPr lang="en-US" altLang="zh-CN" sz="3200" dirty="0">
                <a:solidFill>
                  <a:srgbClr val="FF0000"/>
                </a:solidFill>
                <a:sym typeface="+mn-ea"/>
              </a:rPr>
              <a:t> </a:t>
            </a:r>
            <a:r>
              <a:rPr lang="zh-CN" altLang="en-US" sz="3200" dirty="0">
                <a:sym typeface="+mn-ea"/>
              </a:rPr>
              <a:t> , respectively.</a:t>
            </a:r>
            <a:endParaRPr lang="zh-CN" altLang="en-US" sz="3200" dirty="0"/>
          </a:p>
          <a:p>
            <a:pPr eaLnBrk="1" hangingPunct="1">
              <a:defRPr/>
            </a:pPr>
            <a:r>
              <a:rPr lang="zh-CN" altLang="en-US" sz="3200" dirty="0"/>
              <a:t>  如将</a:t>
            </a:r>
            <a:r>
              <a:rPr lang="en-US" altLang="zh-CN" sz="3200" dirty="0"/>
              <a:t>1011</a:t>
            </a:r>
            <a:r>
              <a:rPr lang="en-US" altLang="zh-CN" sz="3200" spc="-300" dirty="0"/>
              <a:t> </a:t>
            </a:r>
            <a:r>
              <a:rPr lang="en-US" altLang="zh-CN" sz="3200" dirty="0"/>
              <a:t>0110B</a:t>
            </a:r>
            <a:r>
              <a:rPr lang="zh-CN" altLang="en-US" sz="3200" dirty="0"/>
              <a:t>转换为十进制数的方法是：</a:t>
            </a:r>
            <a:br>
              <a:rPr lang="zh-CN" altLang="en-US" sz="3200" dirty="0"/>
            </a:br>
            <a:r>
              <a:rPr lang="zh-CN" altLang="en-US" sz="3200" dirty="0">
                <a:sym typeface="+mn-ea"/>
              </a:rPr>
              <a:t>The method of converting 1011 0110B to a decimal number is:</a:t>
            </a:r>
            <a:endParaRPr lang="zh-CN" altLang="en-US" sz="3200" dirty="0"/>
          </a:p>
        </p:txBody>
      </p:sp>
      <p:sp>
        <p:nvSpPr>
          <p:cNvPr id="26630" name="Rectangle 5"/>
          <p:cNvSpPr>
            <a:spLocks noChangeArrowheads="1"/>
          </p:cNvSpPr>
          <p:nvPr/>
        </p:nvSpPr>
        <p:spPr bwMode="auto">
          <a:xfrm>
            <a:off x="5941060" y="-184150"/>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6192" name="Rectangle 16"/>
          <p:cNvSpPr>
            <a:spLocks noChangeArrowheads="1"/>
          </p:cNvSpPr>
          <p:nvPr/>
        </p:nvSpPr>
        <p:spPr bwMode="auto">
          <a:xfrm>
            <a:off x="2566194" y="4393724"/>
            <a:ext cx="6677025" cy="141033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124000"/>
              </a:lnSpc>
              <a:spcBef>
                <a:spcPct val="20000"/>
              </a:spcBef>
            </a:pPr>
            <a:r>
              <a:rPr lang="en-US" altLang="zh-CN" sz="3200" b="1" dirty="0">
                <a:solidFill>
                  <a:schemeClr val="accent2"/>
                </a:solidFill>
                <a:latin typeface="Arial" panose="020B0604020202020204" pitchFamily="34" charset="0"/>
              </a:rPr>
              <a:t>  </a:t>
            </a:r>
            <a:r>
              <a:rPr lang="zh-CN" altLang="en-US" sz="3200" b="1" dirty="0">
                <a:solidFill>
                  <a:schemeClr val="accent2"/>
                </a:solidFill>
                <a:latin typeface="Arial" panose="020B0604020202020204" pitchFamily="34" charset="0"/>
              </a:rPr>
              <a:t>即</a:t>
            </a:r>
            <a:r>
              <a:rPr lang="en-US" altLang="zh-CN" sz="3200" b="1" dirty="0">
                <a:solidFill>
                  <a:schemeClr val="accent2"/>
                </a:solidFill>
                <a:latin typeface="Arial" panose="020B0604020202020204" pitchFamily="34" charset="0"/>
              </a:rPr>
              <a:t>,</a:t>
            </a:r>
            <a:r>
              <a:rPr lang="zh-CN" altLang="en-US" sz="3200" b="1" dirty="0">
                <a:solidFill>
                  <a:schemeClr val="accent2"/>
                </a:solidFill>
                <a:latin typeface="Arial" panose="020B0604020202020204" pitchFamily="34" charset="0"/>
              </a:rPr>
              <a:t>  </a:t>
            </a:r>
            <a:r>
              <a:rPr lang="en-US" altLang="zh-CN" sz="3200" b="1" dirty="0">
                <a:solidFill>
                  <a:schemeClr val="accent2"/>
                </a:solidFill>
                <a:latin typeface="Arial" panose="020B0604020202020204" pitchFamily="34" charset="0"/>
              </a:rPr>
              <a:t>(10110110)</a:t>
            </a:r>
            <a:r>
              <a:rPr lang="en-US" altLang="zh-CN" sz="3200" b="1" baseline="-25000" dirty="0">
                <a:solidFill>
                  <a:srgbClr val="0000FF"/>
                </a:solidFill>
                <a:latin typeface="Arial" panose="020B0604020202020204" pitchFamily="34" charset="0"/>
              </a:rPr>
              <a:t>2</a:t>
            </a:r>
            <a:r>
              <a:rPr lang="en-US" altLang="zh-CN" sz="3200" b="1" dirty="0">
                <a:solidFill>
                  <a:schemeClr val="accent2"/>
                </a:solidFill>
                <a:latin typeface="Arial" panose="020B0604020202020204" pitchFamily="34" charset="0"/>
              </a:rPr>
              <a:t> =(182)</a:t>
            </a:r>
            <a:r>
              <a:rPr lang="en-US" altLang="zh-CN" sz="3200" b="1" baseline="-25000" dirty="0">
                <a:solidFill>
                  <a:srgbClr val="0000FF"/>
                </a:solidFill>
                <a:latin typeface="Arial" panose="020B0604020202020204" pitchFamily="34" charset="0"/>
              </a:rPr>
              <a:t>10</a:t>
            </a:r>
          </a:p>
          <a:p>
            <a:pPr algn="l" eaLnBrk="1" hangingPunct="1">
              <a:lnSpc>
                <a:spcPct val="124000"/>
              </a:lnSpc>
              <a:spcBef>
                <a:spcPct val="20000"/>
              </a:spcBef>
            </a:pPr>
            <a:r>
              <a:rPr lang="zh-CN" altLang="en-US" sz="3200" b="1" dirty="0">
                <a:solidFill>
                  <a:schemeClr val="accent2"/>
                </a:solidFill>
                <a:latin typeface="Arial" panose="020B0604020202020204" pitchFamily="34" charset="0"/>
              </a:rPr>
              <a:t>  或表示为</a:t>
            </a:r>
            <a:r>
              <a:rPr lang="en-US" altLang="zh-CN" sz="3200" b="1" dirty="0">
                <a:solidFill>
                  <a:schemeClr val="accent2"/>
                </a:solidFill>
                <a:latin typeface="Arial" panose="020B0604020202020204" pitchFamily="34" charset="0"/>
              </a:rPr>
              <a:t>:</a:t>
            </a:r>
            <a:r>
              <a:rPr lang="zh-CN" altLang="en-US" sz="3200" b="1" dirty="0">
                <a:solidFill>
                  <a:schemeClr val="accent2"/>
                </a:solidFill>
                <a:latin typeface="Arial" panose="020B0604020202020204" pitchFamily="34" charset="0"/>
              </a:rPr>
              <a:t>  </a:t>
            </a:r>
            <a:r>
              <a:rPr lang="en-US" altLang="zh-CN" sz="3200" b="1" dirty="0">
                <a:solidFill>
                  <a:schemeClr val="accent2"/>
                </a:solidFill>
                <a:latin typeface="Arial" panose="020B0604020202020204" pitchFamily="34" charset="0"/>
              </a:rPr>
              <a:t>10110110</a:t>
            </a:r>
            <a:r>
              <a:rPr lang="en-US" altLang="zh-CN" sz="3200" b="1" dirty="0">
                <a:solidFill>
                  <a:srgbClr val="0000FF"/>
                </a:solidFill>
                <a:latin typeface="Arial" panose="020B0604020202020204" pitchFamily="34" charset="0"/>
              </a:rPr>
              <a:t>B</a:t>
            </a:r>
            <a:r>
              <a:rPr lang="en-US" altLang="zh-CN" sz="3200" b="1" dirty="0">
                <a:solidFill>
                  <a:schemeClr val="accent2"/>
                </a:solidFill>
                <a:latin typeface="Arial" panose="020B0604020202020204" pitchFamily="34" charset="0"/>
              </a:rPr>
              <a:t>=182</a:t>
            </a:r>
            <a:r>
              <a:rPr lang="en-US" altLang="zh-CN" sz="3200" b="1" dirty="0">
                <a:solidFill>
                  <a:srgbClr val="0000FF"/>
                </a:solidFill>
                <a:latin typeface="Arial" panose="020B0604020202020204" pitchFamily="34" charset="0"/>
              </a:rPr>
              <a:t>D</a:t>
            </a:r>
            <a:r>
              <a:rPr lang="en-US" altLang="zh-CN" sz="3200" b="1" dirty="0">
                <a:solidFill>
                  <a:schemeClr val="accent2"/>
                </a:solidFill>
                <a:latin typeface="Arial" panose="020B0604020202020204" pitchFamily="34" charset="0"/>
              </a:rPr>
              <a:t>=182</a:t>
            </a:r>
            <a:r>
              <a:rPr lang="en-US" altLang="zh-CN" sz="3200" dirty="0">
                <a:latin typeface="Arial" panose="020B0604020202020204" pitchFamily="34" charset="0"/>
              </a:rPr>
              <a:t> </a:t>
            </a:r>
          </a:p>
        </p:txBody>
      </p:sp>
      <p:grpSp>
        <p:nvGrpSpPr>
          <p:cNvPr id="5" name="组合 4"/>
          <p:cNvGrpSpPr/>
          <p:nvPr/>
        </p:nvGrpSpPr>
        <p:grpSpPr bwMode="auto">
          <a:xfrm>
            <a:off x="1142452" y="3844528"/>
            <a:ext cx="8266112" cy="512763"/>
            <a:chOff x="219072" y="3474943"/>
            <a:chExt cx="8839200" cy="536032"/>
          </a:xfrm>
        </p:grpSpPr>
        <p:pic>
          <p:nvPicPr>
            <p:cNvPr id="26634"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722" y="3486734"/>
              <a:ext cx="4400550" cy="509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35" name="Picture 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2" y="3474943"/>
              <a:ext cx="4424362" cy="536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aphicFrame>
        <p:nvGraphicFramePr>
          <p:cNvPr id="6" name="对象 5"/>
          <p:cNvGraphicFramePr>
            <a:graphicFrameLocks noChangeAspect="1"/>
          </p:cNvGraphicFramePr>
          <p:nvPr>
            <p:extLst>
              <p:ext uri="{D42A27DB-BD31-4B8C-83A1-F6EECF244321}">
                <p14:modId xmlns:p14="http://schemas.microsoft.com/office/powerpoint/2010/main" val="3536337943"/>
              </p:ext>
            </p:extLst>
          </p:nvPr>
        </p:nvGraphicFramePr>
        <p:xfrm>
          <a:off x="9590434" y="3806428"/>
          <a:ext cx="1217612" cy="550863"/>
        </p:xfrm>
        <a:graphic>
          <a:graphicData uri="http://schemas.openxmlformats.org/presentationml/2006/ole">
            <mc:AlternateContent xmlns:mc="http://schemas.openxmlformats.org/markup-compatibility/2006">
              <mc:Choice xmlns:v="urn:schemas-microsoft-com:vml" Requires="v">
                <p:oleObj name="Equation" r:id="rId4" imgW="380365" imgH="177800" progId="Equation.DSMT4">
                  <p:embed/>
                </p:oleObj>
              </mc:Choice>
              <mc:Fallback>
                <p:oleObj name="Equation" r:id="rId4" imgW="380365" imgH="1778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90434" y="3806428"/>
                        <a:ext cx="1217612"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文本框 1"/>
          <p:cNvSpPr txBox="1"/>
          <p:nvPr/>
        </p:nvSpPr>
        <p:spPr>
          <a:xfrm>
            <a:off x="2758440" y="4740275"/>
            <a:ext cx="6096000" cy="583565"/>
          </a:xfrm>
          <a:prstGeom prst="rect">
            <a:avLst/>
          </a:prstGeom>
          <a:noFill/>
        </p:spPr>
        <p:txBody>
          <a:bodyPr wrap="square" rtlCol="0" anchor="t">
            <a:spAutoFit/>
          </a:bodyPr>
          <a:lstStyle/>
          <a:p>
            <a:r>
              <a:rPr lang="en-US" altLang="zh-CN" sz="1600" b="1" dirty="0">
                <a:solidFill>
                  <a:schemeClr val="accent2"/>
                </a:solidFill>
                <a:latin typeface="Arial" panose="020B0604020202020204" pitchFamily="34" charset="0"/>
                <a:sym typeface="+mn-ea"/>
              </a:rPr>
              <a:t>That is, </a:t>
            </a:r>
            <a:r>
              <a:rPr lang="zh-CN" altLang="en-US" sz="3200" b="1" dirty="0">
                <a:solidFill>
                  <a:schemeClr val="accent2"/>
                </a:solidFill>
                <a:latin typeface="Arial" panose="020B0604020202020204" pitchFamily="34" charset="0"/>
                <a:sym typeface="+mn-ea"/>
              </a:rPr>
              <a:t> </a:t>
            </a:r>
          </a:p>
        </p:txBody>
      </p:sp>
      <p:sp>
        <p:nvSpPr>
          <p:cNvPr id="3" name="文本框 2"/>
          <p:cNvSpPr txBox="1"/>
          <p:nvPr/>
        </p:nvSpPr>
        <p:spPr>
          <a:xfrm>
            <a:off x="2835275" y="5672455"/>
            <a:ext cx="6096000" cy="337185"/>
          </a:xfrm>
          <a:prstGeom prst="rect">
            <a:avLst/>
          </a:prstGeom>
          <a:noFill/>
        </p:spPr>
        <p:txBody>
          <a:bodyPr wrap="square" rtlCol="0" anchor="t">
            <a:spAutoFit/>
          </a:bodyPr>
          <a:lstStyle/>
          <a:p>
            <a:r>
              <a:rPr lang="zh-CN" altLang="en-US" sz="1600" b="1" dirty="0">
                <a:solidFill>
                  <a:schemeClr val="accent2"/>
                </a:solidFill>
                <a:latin typeface="Arial" panose="020B0604020202020204" pitchFamily="34" charset="0"/>
                <a:sym typeface="+mn-ea"/>
              </a:rPr>
              <a:t>or expressed as: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
          <p:cNvSpPr>
            <a:spLocks noGrp="1" noChangeArrowheads="1"/>
          </p:cNvSpPr>
          <p:nvPr>
            <p:ph type="title"/>
          </p:nvPr>
        </p:nvSpPr>
        <p:spPr>
          <a:xfrm>
            <a:off x="1108364" y="595313"/>
            <a:ext cx="8213436" cy="504825"/>
          </a:xfrm>
        </p:spPr>
        <p:txBody>
          <a:bodyPr vert="horz" lIns="91440" tIns="45720" rIns="91440" bIns="45720" rtlCol="0" anchor="b">
            <a:normAutofit fontScale="90000"/>
          </a:bodyPr>
          <a:lstStyle/>
          <a:p>
            <a:r>
              <a:rPr lang="en-US" altLang="zh-CN" sz="4000" dirty="0">
                <a:latin typeface="+mj-ea"/>
              </a:rPr>
              <a:t>3</a:t>
            </a:r>
            <a:r>
              <a:rPr lang="zh-CN" altLang="en-US" sz="4000" dirty="0">
                <a:latin typeface="+mj-ea"/>
              </a:rPr>
              <a:t>、十六进制数</a:t>
            </a:r>
            <a:br>
              <a:rPr lang="zh-CN" altLang="en-US" sz="4000" dirty="0">
                <a:latin typeface="+mj-ea"/>
              </a:rPr>
            </a:br>
            <a:r>
              <a:rPr lang="en-US" altLang="zh-CN" sz="4000" dirty="0">
                <a:latin typeface="+mj-ea"/>
                <a:sym typeface="+mn-ea"/>
              </a:rPr>
              <a:t>Hexadecimal numbers</a:t>
            </a:r>
            <a:endParaRPr lang="zh-CN" altLang="en-US" sz="4000" dirty="0">
              <a:latin typeface="+mj-ea"/>
            </a:endParaRPr>
          </a:p>
        </p:txBody>
      </p:sp>
      <p:sp>
        <p:nvSpPr>
          <p:cNvPr id="9" name="Rectangle 3"/>
          <p:cNvSpPr>
            <a:spLocks noGrp="1" noChangeArrowheads="1"/>
          </p:cNvSpPr>
          <p:nvPr>
            <p:ph idx="1"/>
          </p:nvPr>
        </p:nvSpPr>
        <p:spPr>
          <a:xfrm>
            <a:off x="766618" y="1328420"/>
            <a:ext cx="10861963" cy="2100580"/>
          </a:xfrm>
        </p:spPr>
        <p:txBody>
          <a:bodyPr>
            <a:noAutofit/>
          </a:bodyPr>
          <a:lstStyle/>
          <a:p>
            <a:pPr eaLnBrk="1" hangingPunct="1">
              <a:spcBef>
                <a:spcPts val="0"/>
              </a:spcBef>
              <a:spcAft>
                <a:spcPts val="0"/>
              </a:spcAft>
              <a:defRPr/>
            </a:pPr>
            <a:r>
              <a:rPr lang="zh-CN" altLang="en-US" sz="3200" dirty="0">
                <a:solidFill>
                  <a:srgbClr val="CC3300"/>
                </a:solidFill>
              </a:rPr>
              <a:t>优点</a:t>
            </a:r>
            <a:r>
              <a:rPr lang="zh-CN" altLang="en-US" sz="3200" dirty="0"/>
              <a:t>：二进制数位数较多时，读写不方便。</a:t>
            </a:r>
          </a:p>
          <a:p>
            <a:pPr eaLnBrk="1" hangingPunct="1">
              <a:spcBef>
                <a:spcPts val="0"/>
              </a:spcBef>
              <a:spcAft>
                <a:spcPts val="0"/>
              </a:spcAft>
              <a:defRPr/>
            </a:pPr>
            <a:r>
              <a:rPr lang="zh-CN" altLang="en-US" sz="3200" dirty="0"/>
              <a:t>而使用十六进制表示简明。</a:t>
            </a:r>
            <a:br>
              <a:rPr lang="zh-CN" altLang="en-US" sz="3200" dirty="0"/>
            </a:br>
            <a:r>
              <a:rPr lang="zh-CN" altLang="en-US" sz="3200" dirty="0">
                <a:solidFill>
                  <a:srgbClr val="CC3300"/>
                </a:solidFill>
                <a:sym typeface="+mn-ea"/>
              </a:rPr>
              <a:t>Advantages: It is not convenient to read and write when the number of binary digits is large. However, hexadecimal is concise.</a:t>
            </a:r>
            <a:endParaRPr lang="zh-CN" altLang="en-US" sz="3200" dirty="0"/>
          </a:p>
          <a:p>
            <a:pPr eaLnBrk="1" hangingPunct="1">
              <a:spcBef>
                <a:spcPts val="0"/>
              </a:spcBef>
              <a:spcAft>
                <a:spcPts val="0"/>
              </a:spcAft>
              <a:defRPr/>
            </a:pPr>
            <a:endParaRPr lang="zh-CN" altLang="en-US" sz="3200" dirty="0"/>
          </a:p>
          <a:p>
            <a:pPr eaLnBrk="1" hangingPunct="1">
              <a:spcBef>
                <a:spcPts val="0"/>
              </a:spcBef>
              <a:spcAft>
                <a:spcPts val="0"/>
              </a:spcAft>
              <a:defRPr/>
            </a:pPr>
            <a:r>
              <a:rPr lang="zh-CN" altLang="en-US" sz="3200" dirty="0"/>
              <a:t>十六进制数表示：</a:t>
            </a:r>
          </a:p>
          <a:p>
            <a:pPr eaLnBrk="1" hangingPunct="1">
              <a:spcBef>
                <a:spcPts val="0"/>
              </a:spcBef>
              <a:spcAft>
                <a:spcPts val="0"/>
              </a:spcAft>
              <a:buFontTx/>
              <a:buNone/>
              <a:defRPr/>
            </a:pPr>
            <a:r>
              <a:rPr lang="zh-CN" altLang="en-US" sz="3200" dirty="0"/>
              <a:t>   </a:t>
            </a:r>
            <a:r>
              <a:rPr lang="en-US" altLang="zh-CN" sz="3200" dirty="0">
                <a:solidFill>
                  <a:srgbClr val="FF0000"/>
                </a:solidFill>
              </a:rPr>
              <a:t>0~9</a:t>
            </a:r>
            <a:r>
              <a:rPr lang="zh-CN" altLang="en-US" sz="3200" dirty="0">
                <a:solidFill>
                  <a:srgbClr val="FF0000"/>
                </a:solidFill>
              </a:rPr>
              <a:t>、</a:t>
            </a:r>
            <a:r>
              <a:rPr lang="en-US" altLang="zh-CN" sz="3200" dirty="0">
                <a:solidFill>
                  <a:srgbClr val="FF0000"/>
                </a:solidFill>
              </a:rPr>
              <a:t>A</a:t>
            </a:r>
            <a:r>
              <a:rPr lang="zh-CN" altLang="en-US" sz="3200" dirty="0">
                <a:solidFill>
                  <a:srgbClr val="FF0000"/>
                </a:solidFill>
              </a:rPr>
              <a:t>、</a:t>
            </a:r>
            <a:r>
              <a:rPr lang="en-US" altLang="zh-CN" sz="3200" dirty="0">
                <a:solidFill>
                  <a:srgbClr val="FF0000"/>
                </a:solidFill>
              </a:rPr>
              <a:t>B</a:t>
            </a:r>
            <a:r>
              <a:rPr lang="zh-CN" altLang="en-US" sz="3200" dirty="0">
                <a:solidFill>
                  <a:srgbClr val="FF0000"/>
                </a:solidFill>
              </a:rPr>
              <a:t>、</a:t>
            </a:r>
            <a:r>
              <a:rPr lang="en-US" altLang="zh-CN" sz="3200" dirty="0">
                <a:solidFill>
                  <a:srgbClr val="FF0000"/>
                </a:solidFill>
              </a:rPr>
              <a:t>C</a:t>
            </a:r>
            <a:r>
              <a:rPr lang="zh-CN" altLang="en-US" sz="3200" dirty="0">
                <a:solidFill>
                  <a:srgbClr val="FF0000"/>
                </a:solidFill>
              </a:rPr>
              <a:t>、</a:t>
            </a:r>
            <a:r>
              <a:rPr lang="en-US" altLang="zh-CN" sz="3200" dirty="0">
                <a:solidFill>
                  <a:srgbClr val="FF0000"/>
                </a:solidFill>
              </a:rPr>
              <a:t>D</a:t>
            </a:r>
            <a:r>
              <a:rPr lang="zh-CN" altLang="en-US" sz="3200" dirty="0">
                <a:solidFill>
                  <a:srgbClr val="FF0000"/>
                </a:solidFill>
              </a:rPr>
              <a:t>、</a:t>
            </a:r>
            <a:r>
              <a:rPr lang="en-US" altLang="zh-CN" sz="3200" dirty="0">
                <a:solidFill>
                  <a:srgbClr val="FF0000"/>
                </a:solidFill>
              </a:rPr>
              <a:t>E</a:t>
            </a:r>
            <a:r>
              <a:rPr lang="zh-CN" altLang="en-US" sz="3200" dirty="0">
                <a:solidFill>
                  <a:srgbClr val="FF0000"/>
                </a:solidFill>
              </a:rPr>
              <a:t>、</a:t>
            </a:r>
            <a:r>
              <a:rPr lang="en-US" altLang="zh-CN" sz="3200" dirty="0">
                <a:solidFill>
                  <a:srgbClr val="FF0000"/>
                </a:solidFill>
              </a:rPr>
              <a:t>F</a:t>
            </a:r>
            <a:r>
              <a:rPr lang="zh-CN" altLang="en-US" sz="3200" dirty="0"/>
              <a:t>十六个不同的基数   </a:t>
            </a:r>
            <a:br>
              <a:rPr lang="zh-CN" altLang="en-US" sz="3200" dirty="0"/>
            </a:br>
            <a:r>
              <a:rPr lang="en-US" altLang="zh-CN" sz="3200" dirty="0"/>
              <a:t> </a:t>
            </a:r>
            <a:r>
              <a:rPr lang="en-US" altLang="zh-CN" sz="3200" dirty="0">
                <a:solidFill>
                  <a:srgbClr val="FF0000"/>
                </a:solidFill>
                <a:sym typeface="+mn-ea"/>
              </a:rPr>
              <a:t>0~9, A, B, C, D, E, F sixteen different bases  </a:t>
            </a:r>
            <a:endParaRPr lang="zh-CN" altLang="en-US" sz="3200" dirty="0"/>
          </a:p>
          <a:p>
            <a:pPr eaLnBrk="1" hangingPunct="1">
              <a:spcBef>
                <a:spcPts val="0"/>
              </a:spcBef>
              <a:spcAft>
                <a:spcPts val="0"/>
              </a:spcAft>
              <a:buFontTx/>
              <a:buNone/>
              <a:defRPr/>
            </a:pPr>
            <a:r>
              <a:rPr lang="zh-CN" altLang="en-US" sz="3200" dirty="0"/>
              <a:t>   </a:t>
            </a:r>
            <a:r>
              <a:rPr lang="zh-CN" altLang="en-US" sz="3200" dirty="0">
                <a:solidFill>
                  <a:srgbClr val="FF0000"/>
                </a:solidFill>
              </a:rPr>
              <a:t>逢十六进一 </a:t>
            </a:r>
            <a:r>
              <a:rPr lang="en-US" altLang="zh-CN" sz="3200" dirty="0">
                <a:solidFill>
                  <a:srgbClr val="FF0000"/>
                </a:solidFill>
              </a:rPr>
              <a:t>,</a:t>
            </a:r>
            <a:r>
              <a:rPr lang="zh-CN" altLang="en-US" sz="3200" dirty="0">
                <a:solidFill>
                  <a:srgbClr val="FF0000"/>
                </a:solidFill>
              </a:rPr>
              <a:t> </a:t>
            </a:r>
            <a:r>
              <a:rPr lang="zh-CN" altLang="en-US" sz="3200" dirty="0">
                <a:solidFill>
                  <a:srgbClr val="FF00FF"/>
                </a:solidFill>
              </a:rPr>
              <a:t>用</a:t>
            </a:r>
            <a:r>
              <a:rPr lang="en-US" altLang="zh-CN" sz="3200" dirty="0">
                <a:solidFill>
                  <a:srgbClr val="FF00FF"/>
                </a:solidFill>
              </a:rPr>
              <a:t>H</a:t>
            </a:r>
            <a:r>
              <a:rPr lang="zh-CN" altLang="en-US" sz="3200" dirty="0"/>
              <a:t>（</a:t>
            </a:r>
            <a:r>
              <a:rPr lang="en-US" altLang="zh-CN" sz="3200" dirty="0"/>
              <a:t> Hexadecimal </a:t>
            </a:r>
            <a:r>
              <a:rPr lang="zh-CN" altLang="en-US" sz="3200" dirty="0"/>
              <a:t>）</a:t>
            </a:r>
            <a:r>
              <a:rPr lang="zh-CN" altLang="en-US" sz="3200" dirty="0">
                <a:solidFill>
                  <a:srgbClr val="FF00FF"/>
                </a:solidFill>
              </a:rPr>
              <a:t>表示</a:t>
            </a:r>
            <a:r>
              <a:rPr lang="zh-CN" altLang="en-US" sz="3200" dirty="0"/>
              <a:t>。</a:t>
            </a:r>
            <a:br>
              <a:rPr lang="zh-CN" altLang="en-US" sz="3200" dirty="0"/>
            </a:br>
            <a:r>
              <a:rPr lang="zh-CN" altLang="en-US" sz="3200" dirty="0">
                <a:solidFill>
                  <a:srgbClr val="FF0000"/>
                </a:solidFill>
                <a:sym typeface="+mn-ea"/>
              </a:rPr>
              <a:t>In case of sixteen bits, </a:t>
            </a:r>
            <a:r>
              <a:rPr lang="zh-CN" altLang="en-US" sz="3200" dirty="0">
                <a:solidFill>
                  <a:srgbClr val="FF00FF"/>
                </a:solidFill>
                <a:sym typeface="+mn-ea"/>
              </a:rPr>
              <a:t>use H (Hexadecimal).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2"/>
          <p:cNvSpPr>
            <a:spLocks noGrp="1" noChangeArrowheads="1"/>
          </p:cNvSpPr>
          <p:nvPr>
            <p:ph type="title"/>
          </p:nvPr>
        </p:nvSpPr>
        <p:spPr>
          <a:xfrm>
            <a:off x="853642" y="83127"/>
            <a:ext cx="7008812" cy="995103"/>
          </a:xfrm>
        </p:spPr>
        <p:txBody>
          <a:bodyPr vert="horz" lIns="91440" tIns="45720" rIns="91440" bIns="45720" rtlCol="0" anchor="b">
            <a:normAutofit fontScale="90000"/>
          </a:bodyPr>
          <a:lstStyle/>
          <a:p>
            <a:r>
              <a:rPr lang="en-US" altLang="zh-CN" sz="4000" dirty="0">
                <a:latin typeface="+mj-ea"/>
              </a:rPr>
              <a:t>3</a:t>
            </a:r>
            <a:r>
              <a:rPr lang="zh-CN" altLang="en-US" sz="4000" dirty="0">
                <a:latin typeface="+mj-ea"/>
              </a:rPr>
              <a:t>、十六进制数</a:t>
            </a:r>
            <a:br>
              <a:rPr lang="zh-CN" altLang="en-US" sz="4000" dirty="0">
                <a:latin typeface="+mj-ea"/>
              </a:rPr>
            </a:br>
            <a:r>
              <a:rPr lang="en-US" altLang="zh-CN" sz="4000" dirty="0">
                <a:latin typeface="+mj-ea"/>
                <a:sym typeface="+mn-ea"/>
              </a:rPr>
              <a:t>Hexadecimal numbers</a:t>
            </a:r>
            <a:endParaRPr lang="zh-CN" altLang="en-US" sz="4000" dirty="0">
              <a:latin typeface="+mj-ea"/>
            </a:endParaRPr>
          </a:p>
        </p:txBody>
      </p:sp>
      <p:sp>
        <p:nvSpPr>
          <p:cNvPr id="6" name="Rectangle 3"/>
          <p:cNvSpPr txBox="1">
            <a:spLocks noChangeArrowheads="1"/>
          </p:cNvSpPr>
          <p:nvPr/>
        </p:nvSpPr>
        <p:spPr bwMode="auto">
          <a:xfrm>
            <a:off x="508000" y="1229995"/>
            <a:ext cx="10763885" cy="297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lstStyle>
            <a:lvl1pPr marL="342900" indent="-342900" algn="just" rtl="0" fontAlgn="base">
              <a:lnSpc>
                <a:spcPct val="114000"/>
              </a:lnSpc>
              <a:spcBef>
                <a:spcPct val="20000"/>
              </a:spcBef>
              <a:spcAft>
                <a:spcPts val="600"/>
              </a:spcAft>
              <a:buBlip>
                <a:blip r:embed="rId2"/>
              </a:buBlip>
              <a:defRPr sz="2800" b="1">
                <a:solidFill>
                  <a:schemeClr val="accent2"/>
                </a:solidFill>
                <a:latin typeface="+mn-lt"/>
                <a:ea typeface="+mn-ea"/>
                <a:cs typeface="+mn-cs"/>
              </a:defRPr>
            </a:lvl1pPr>
            <a:lvl2pPr marL="742950" indent="-285750" algn="just" rtl="0" fontAlgn="base">
              <a:spcBef>
                <a:spcPct val="20000"/>
              </a:spcBef>
              <a:spcAft>
                <a:spcPct val="0"/>
              </a:spcAft>
              <a:buBlip>
                <a:blip r:embed="rId3"/>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600"/>
              </a:spcBef>
              <a:spcAft>
                <a:spcPts val="0"/>
              </a:spcAft>
              <a:defRPr/>
            </a:pPr>
            <a:r>
              <a:rPr lang="zh-CN" altLang="en-US" sz="2400" kern="0" dirty="0">
                <a:solidFill>
                  <a:srgbClr val="FF0000"/>
                </a:solidFill>
                <a:latin typeface="宋体" panose="02010600030101010101" pitchFamily="2" charset="-122"/>
                <a:ea typeface="宋体" panose="02010600030101010101" pitchFamily="2" charset="-122"/>
              </a:rPr>
              <a:t>二进制数转换为十六进制数</a:t>
            </a:r>
          </a:p>
          <a:p>
            <a:pPr marL="0" indent="457200" eaLnBrk="1" hangingPunct="1">
              <a:spcBef>
                <a:spcPts val="600"/>
              </a:spcBef>
              <a:spcAft>
                <a:spcPts val="0"/>
              </a:spcAft>
              <a:buNone/>
              <a:defRPr/>
            </a:pPr>
            <a:r>
              <a:rPr lang="zh-CN" altLang="en-US" sz="2400" kern="0" dirty="0">
                <a:solidFill>
                  <a:srgbClr val="FF0000"/>
                </a:solidFill>
                <a:latin typeface="宋体" panose="02010600030101010101" pitchFamily="2" charset="-122"/>
                <a:ea typeface="宋体" panose="02010600030101010101" pitchFamily="2" charset="-122"/>
                <a:sym typeface="+mn-ea"/>
              </a:rPr>
              <a:t>Binary number to hexadecimal number</a:t>
            </a:r>
            <a:endParaRPr lang="zh-CN" altLang="en-US" sz="2400" kern="0" dirty="0">
              <a:solidFill>
                <a:srgbClr val="FF0000"/>
              </a:solidFill>
              <a:latin typeface="宋体" panose="02010600030101010101" pitchFamily="2" charset="-122"/>
              <a:ea typeface="宋体" panose="02010600030101010101" pitchFamily="2" charset="-122"/>
            </a:endParaRPr>
          </a:p>
          <a:p>
            <a:pPr eaLnBrk="1" hangingPunct="1">
              <a:spcBef>
                <a:spcPts val="600"/>
              </a:spcBef>
              <a:buFontTx/>
              <a:buNone/>
              <a:defRPr/>
            </a:pPr>
            <a:r>
              <a:rPr lang="zh-CN" altLang="en-US" sz="2400" kern="0" dirty="0">
                <a:solidFill>
                  <a:srgbClr val="CC3300"/>
                </a:solidFill>
                <a:latin typeface="宋体" panose="02010600030101010101" pitchFamily="2" charset="-122"/>
                <a:ea typeface="宋体" panose="02010600030101010101" pitchFamily="2" charset="-122"/>
              </a:rPr>
              <a:t>  原理：</a:t>
            </a:r>
            <a:r>
              <a:rPr lang="zh-CN" altLang="en-US" sz="2400" kern="0" dirty="0">
                <a:latin typeface="宋体" panose="02010600030101010101" pitchFamily="2" charset="-122"/>
                <a:ea typeface="宋体" panose="02010600030101010101" pitchFamily="2" charset="-122"/>
              </a:rPr>
              <a:t>四位二进制数对应一位十六进制，所以二进制整数转换为</a:t>
            </a:r>
            <a:r>
              <a:rPr lang="en-US" altLang="zh-CN" sz="2400" kern="0" dirty="0">
                <a:latin typeface="宋体" panose="02010600030101010101" pitchFamily="2" charset="-122"/>
                <a:ea typeface="宋体" panose="02010600030101010101" pitchFamily="2" charset="-122"/>
              </a:rPr>
              <a:t>16</a:t>
            </a:r>
            <a:r>
              <a:rPr lang="zh-CN" altLang="en-US" sz="2400" kern="0" dirty="0">
                <a:latin typeface="宋体" panose="02010600030101010101" pitchFamily="2" charset="-122"/>
                <a:ea typeface="宋体" panose="02010600030101010101" pitchFamily="2" charset="-122"/>
              </a:rPr>
              <a:t>进制时，从最低位开始，每四位一组 </a:t>
            </a:r>
            <a:r>
              <a:rPr lang="en-US" altLang="zh-CN" sz="2400" kern="0" dirty="0">
                <a:latin typeface="宋体" panose="02010600030101010101" pitchFamily="2" charset="-122"/>
                <a:ea typeface="宋体" panose="02010600030101010101" pitchFamily="2" charset="-122"/>
              </a:rPr>
              <a:t>(</a:t>
            </a:r>
            <a:r>
              <a:rPr lang="zh-CN" altLang="en-US" sz="2400" kern="0" dirty="0">
                <a:latin typeface="宋体" panose="02010600030101010101" pitchFamily="2" charset="-122"/>
                <a:ea typeface="宋体" panose="02010600030101010101" pitchFamily="2" charset="-122"/>
              </a:rPr>
              <a:t>不足四位时高位补</a:t>
            </a:r>
            <a:r>
              <a:rPr lang="en-US" altLang="zh-CN" sz="2400" kern="0" dirty="0">
                <a:latin typeface="宋体" panose="02010600030101010101" pitchFamily="2" charset="-122"/>
                <a:ea typeface="宋体" panose="02010600030101010101" pitchFamily="2" charset="-122"/>
              </a:rPr>
              <a:t>0) </a:t>
            </a:r>
            <a:r>
              <a:rPr lang="zh-CN" altLang="en-US" sz="2400" kern="0" dirty="0">
                <a:latin typeface="宋体" panose="02010600030101010101" pitchFamily="2" charset="-122"/>
                <a:ea typeface="宋体" panose="02010600030101010101" pitchFamily="2" charset="-122"/>
              </a:rPr>
              <a:t>转换成一位十六进制数据即可。</a:t>
            </a:r>
            <a:r>
              <a:rPr lang="zh-CN" altLang="en-US" sz="2400" kern="0" dirty="0">
                <a:latin typeface="宋体" panose="02010600030101010101" pitchFamily="2" charset="-122"/>
                <a:ea typeface="宋体" panose="02010600030101010101" pitchFamily="2" charset="-122"/>
                <a:sym typeface="+mn-ea"/>
              </a:rPr>
              <a:t>例如：</a:t>
            </a:r>
            <a:r>
              <a:rPr lang="en-US" altLang="zh-CN" sz="2400" kern="0" dirty="0">
                <a:solidFill>
                  <a:srgbClr val="9900CC"/>
                </a:solidFill>
                <a:latin typeface="宋体" panose="02010600030101010101" pitchFamily="2" charset="-122"/>
                <a:ea typeface="宋体" panose="02010600030101010101" pitchFamily="2" charset="-122"/>
                <a:sym typeface="+mn-ea"/>
              </a:rPr>
              <a:t>1011 </a:t>
            </a:r>
            <a:r>
              <a:rPr lang="en-US" altLang="zh-CN" sz="2400" kern="0" dirty="0">
                <a:solidFill>
                  <a:srgbClr val="FF0000"/>
                </a:solidFill>
                <a:latin typeface="宋体" panose="02010600030101010101" pitchFamily="2" charset="-122"/>
                <a:ea typeface="宋体" panose="02010600030101010101" pitchFamily="2" charset="-122"/>
                <a:sym typeface="+mn-ea"/>
              </a:rPr>
              <a:t>0110</a:t>
            </a:r>
            <a:r>
              <a:rPr lang="en-US" altLang="zh-CN" sz="2400" kern="0" dirty="0">
                <a:latin typeface="宋体" panose="02010600030101010101" pitchFamily="2" charset="-122"/>
                <a:ea typeface="宋体" panose="02010600030101010101" pitchFamily="2" charset="-122"/>
                <a:sym typeface="+mn-ea"/>
              </a:rPr>
              <a:t>B=</a:t>
            </a:r>
            <a:r>
              <a:rPr lang="en-US" altLang="zh-CN" sz="2400" kern="0" dirty="0">
                <a:solidFill>
                  <a:srgbClr val="9900CC"/>
                </a:solidFill>
                <a:latin typeface="宋体" panose="02010600030101010101" pitchFamily="2" charset="-122"/>
                <a:ea typeface="宋体" panose="02010600030101010101" pitchFamily="2" charset="-122"/>
                <a:sym typeface="+mn-ea"/>
              </a:rPr>
              <a:t>B</a:t>
            </a:r>
            <a:r>
              <a:rPr lang="en-US" altLang="zh-CN" sz="2400" kern="0" dirty="0">
                <a:solidFill>
                  <a:srgbClr val="FF0000"/>
                </a:solidFill>
                <a:latin typeface="宋体" panose="02010600030101010101" pitchFamily="2" charset="-122"/>
                <a:ea typeface="宋体" panose="02010600030101010101" pitchFamily="2" charset="-122"/>
                <a:sym typeface="+mn-ea"/>
              </a:rPr>
              <a:t>6</a:t>
            </a:r>
            <a:r>
              <a:rPr lang="en-US" altLang="zh-CN" sz="2400" kern="0" dirty="0">
                <a:latin typeface="宋体" panose="02010600030101010101" pitchFamily="2" charset="-122"/>
                <a:ea typeface="宋体" panose="02010600030101010101" pitchFamily="2" charset="-122"/>
                <a:sym typeface="+mn-ea"/>
              </a:rPr>
              <a:t>H</a:t>
            </a:r>
            <a:r>
              <a:rPr lang="zh-CN" altLang="en-US" sz="2400" kern="0" dirty="0">
                <a:latin typeface="宋体" panose="02010600030101010101" pitchFamily="2" charset="-122"/>
                <a:ea typeface="宋体" panose="02010600030101010101" pitchFamily="2" charset="-122"/>
                <a:sym typeface="+mn-ea"/>
              </a:rPr>
              <a:t>；</a:t>
            </a:r>
            <a:r>
              <a:rPr lang="zh-CN" altLang="en-US" sz="2400" kern="0" dirty="0">
                <a:latin typeface="宋体" panose="02010600030101010101" pitchFamily="2" charset="-122"/>
                <a:ea typeface="宋体" panose="02010600030101010101" pitchFamily="2" charset="-122"/>
              </a:rPr>
              <a:t> </a:t>
            </a:r>
          </a:p>
        </p:txBody>
      </p:sp>
      <p:sp>
        <p:nvSpPr>
          <p:cNvPr id="5" name="矩形 4"/>
          <p:cNvSpPr/>
          <p:nvPr/>
        </p:nvSpPr>
        <p:spPr>
          <a:xfrm>
            <a:off x="6892290" y="3089910"/>
            <a:ext cx="2640330" cy="460375"/>
          </a:xfrm>
          <a:prstGeom prst="rect">
            <a:avLst/>
          </a:prstGeom>
        </p:spPr>
        <p:txBody>
          <a:bodyPr wrap="none">
            <a:spAutoFit/>
          </a:bodyPr>
          <a:lstStyle/>
          <a:p>
            <a:pPr algn="ctr" eaLnBrk="1" hangingPunct="1">
              <a:spcBef>
                <a:spcPts val="0"/>
              </a:spcBef>
              <a:spcAft>
                <a:spcPts val="0"/>
              </a:spcAft>
              <a:defRPr/>
            </a:pPr>
            <a:r>
              <a:rPr lang="en-US" altLang="zh-CN" sz="2400" b="1" kern="0" dirty="0">
                <a:solidFill>
                  <a:srgbClr val="9900CC"/>
                </a:solidFill>
                <a:latin typeface="宋体" panose="02010600030101010101" pitchFamily="2" charset="-122"/>
                <a:ea typeface="宋体" panose="02010600030101010101" pitchFamily="2" charset="-122"/>
                <a:sym typeface="+mn-ea"/>
              </a:rPr>
              <a:t>1011 </a:t>
            </a:r>
            <a:r>
              <a:rPr lang="en-US" altLang="zh-CN" sz="2400" b="1" kern="0" dirty="0">
                <a:solidFill>
                  <a:srgbClr val="FF0000"/>
                </a:solidFill>
                <a:latin typeface="宋体" panose="02010600030101010101" pitchFamily="2" charset="-122"/>
                <a:ea typeface="宋体" panose="02010600030101010101" pitchFamily="2" charset="-122"/>
                <a:sym typeface="+mn-ea"/>
              </a:rPr>
              <a:t>0110</a:t>
            </a:r>
            <a:r>
              <a:rPr lang="en-US" altLang="zh-CN" sz="2400" b="1" kern="0" dirty="0">
                <a:latin typeface="宋体" panose="02010600030101010101" pitchFamily="2" charset="-122"/>
                <a:ea typeface="宋体" panose="02010600030101010101" pitchFamily="2" charset="-122"/>
                <a:sym typeface="+mn-ea"/>
              </a:rPr>
              <a:t>B=</a:t>
            </a:r>
            <a:r>
              <a:rPr lang="en-US" altLang="zh-CN" sz="2400" b="1" kern="0" dirty="0">
                <a:solidFill>
                  <a:srgbClr val="9900CC"/>
                </a:solidFill>
                <a:latin typeface="宋体" panose="02010600030101010101" pitchFamily="2" charset="-122"/>
                <a:ea typeface="宋体" panose="02010600030101010101" pitchFamily="2" charset="-122"/>
                <a:sym typeface="+mn-ea"/>
              </a:rPr>
              <a:t>B</a:t>
            </a:r>
            <a:r>
              <a:rPr lang="en-US" altLang="zh-CN" sz="2400" b="1" kern="0" dirty="0">
                <a:solidFill>
                  <a:srgbClr val="FF0000"/>
                </a:solidFill>
                <a:latin typeface="宋体" panose="02010600030101010101" pitchFamily="2" charset="-122"/>
                <a:ea typeface="宋体" panose="02010600030101010101" pitchFamily="2" charset="-122"/>
                <a:sym typeface="+mn-ea"/>
              </a:rPr>
              <a:t>6</a:t>
            </a:r>
            <a:r>
              <a:rPr lang="en-US" altLang="zh-CN" sz="2400" b="1" kern="0" dirty="0">
                <a:latin typeface="宋体" panose="02010600030101010101" pitchFamily="2" charset="-122"/>
                <a:ea typeface="宋体" panose="02010600030101010101" pitchFamily="2" charset="-122"/>
                <a:sym typeface="+mn-ea"/>
              </a:rPr>
              <a:t>H</a:t>
            </a:r>
            <a:r>
              <a:rPr lang="zh-CN" altLang="en-US" sz="2400" b="1" dirty="0">
                <a:cs typeface="Times New Roman" panose="02020603050405020304" pitchFamily="18" charset="0"/>
              </a:rPr>
              <a:t>。</a:t>
            </a:r>
            <a:endParaRPr lang="zh-CN" altLang="en-US" sz="2400" b="1" kern="0" dirty="0">
              <a:cs typeface="Times New Roman" panose="02020603050405020304" pitchFamily="18" charset="0"/>
            </a:endParaRPr>
          </a:p>
        </p:txBody>
      </p:sp>
      <p:sp>
        <p:nvSpPr>
          <p:cNvPr id="7" name="Rectangle 3"/>
          <p:cNvSpPr txBox="1">
            <a:spLocks noChangeArrowheads="1"/>
          </p:cNvSpPr>
          <p:nvPr/>
        </p:nvSpPr>
        <p:spPr bwMode="auto">
          <a:xfrm>
            <a:off x="581891" y="3429000"/>
            <a:ext cx="10689994" cy="297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lstStyle>
            <a:lvl1pPr marL="342900" indent="-342900" algn="just" rtl="0" fontAlgn="base">
              <a:lnSpc>
                <a:spcPct val="114000"/>
              </a:lnSpc>
              <a:spcBef>
                <a:spcPct val="20000"/>
              </a:spcBef>
              <a:spcAft>
                <a:spcPts val="600"/>
              </a:spcAft>
              <a:buBlip>
                <a:blip r:embed="rId2"/>
              </a:buBlip>
              <a:defRPr sz="2800" b="1">
                <a:solidFill>
                  <a:schemeClr val="accent2"/>
                </a:solidFill>
                <a:latin typeface="+mn-lt"/>
                <a:ea typeface="+mn-ea"/>
                <a:cs typeface="+mn-cs"/>
              </a:defRPr>
            </a:lvl1pPr>
            <a:lvl2pPr marL="742950" indent="-285750" algn="just" rtl="0" fontAlgn="base">
              <a:spcBef>
                <a:spcPct val="20000"/>
              </a:spcBef>
              <a:spcAft>
                <a:spcPct val="0"/>
              </a:spcAft>
              <a:buBlip>
                <a:blip r:embed="rId3"/>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600"/>
              </a:spcBef>
              <a:spcAft>
                <a:spcPts val="0"/>
              </a:spcAft>
              <a:defRPr/>
            </a:pPr>
            <a:endParaRPr lang="zh-CN" altLang="en-US" sz="2000" kern="0" dirty="0">
              <a:solidFill>
                <a:srgbClr val="FF0000"/>
              </a:solidFill>
              <a:latin typeface="宋体" panose="02010600030101010101" pitchFamily="2" charset="-122"/>
              <a:ea typeface="宋体" panose="02010600030101010101" pitchFamily="2" charset="-122"/>
            </a:endParaRPr>
          </a:p>
          <a:p>
            <a:pPr eaLnBrk="1" hangingPunct="1">
              <a:spcBef>
                <a:spcPts val="600"/>
              </a:spcBef>
              <a:spcAft>
                <a:spcPts val="0"/>
              </a:spcAft>
              <a:defRPr/>
            </a:pPr>
            <a:r>
              <a:rPr lang="zh-CN" altLang="en-US" sz="2000" kern="0" dirty="0">
                <a:solidFill>
                  <a:srgbClr val="FF0000"/>
                </a:solidFill>
                <a:latin typeface="宋体" panose="02010600030101010101" pitchFamily="2" charset="-122"/>
                <a:ea typeface="宋体" panose="02010600030101010101" pitchFamily="2" charset="-122"/>
              </a:rPr>
              <a:t>Binary number to hexadecimal number</a:t>
            </a:r>
          </a:p>
          <a:p>
            <a:pPr eaLnBrk="1" hangingPunct="1">
              <a:spcBef>
                <a:spcPts val="600"/>
              </a:spcBef>
              <a:buFontTx/>
              <a:buNone/>
              <a:defRPr/>
            </a:pPr>
            <a:r>
              <a:rPr lang="zh-CN" altLang="en-US" sz="2000" kern="0" dirty="0">
                <a:solidFill>
                  <a:srgbClr val="CC3300"/>
                </a:solidFill>
                <a:latin typeface="宋体" panose="02010600030101010101" pitchFamily="2" charset="-122"/>
                <a:ea typeface="宋体" panose="02010600030101010101" pitchFamily="2" charset="-122"/>
              </a:rPr>
              <a:t>Principle: Four binary numbers correspond to one hexadecimal number. Therefore, when a binary integer is converted to hexadecimal, it is converted into one hexadecimal data from the lowest bit, with each four groups (if less than four bits, 0 is added to the higher bit).</a:t>
            </a:r>
            <a:endParaRPr lang="zh-CN" altLang="en-US" sz="2000" kern="0" dirty="0">
              <a:latin typeface="宋体" panose="02010600030101010101" pitchFamily="2" charset="-122"/>
              <a:ea typeface="宋体" panose="02010600030101010101" pitchFamily="2" charset="-122"/>
            </a:endParaRPr>
          </a:p>
          <a:p>
            <a:pPr eaLnBrk="1" hangingPunct="1">
              <a:spcBef>
                <a:spcPts val="600"/>
              </a:spcBef>
              <a:spcAft>
                <a:spcPts val="0"/>
              </a:spcAft>
              <a:buFontTx/>
              <a:buNone/>
              <a:defRPr/>
            </a:pPr>
            <a:r>
              <a:rPr lang="zh-CN" altLang="en-US" sz="2000" kern="0" dirty="0">
                <a:latin typeface="宋体" panose="02010600030101010101" pitchFamily="2" charset="-122"/>
                <a:ea typeface="宋体" panose="02010600030101010101" pitchFamily="2" charset="-122"/>
              </a:rPr>
              <a:t>For example: </a:t>
            </a:r>
            <a:r>
              <a:rPr lang="en-US" altLang="zh-CN" sz="2000" kern="0" dirty="0">
                <a:solidFill>
                  <a:srgbClr val="9900CC"/>
                </a:solidFill>
                <a:latin typeface="宋体" panose="02010600030101010101" pitchFamily="2" charset="-122"/>
                <a:ea typeface="宋体" panose="02010600030101010101" pitchFamily="2" charset="-122"/>
                <a:sym typeface="+mn-ea"/>
              </a:rPr>
              <a:t>1011 </a:t>
            </a:r>
            <a:r>
              <a:rPr lang="en-US" altLang="zh-CN" sz="2000" kern="0" dirty="0">
                <a:solidFill>
                  <a:srgbClr val="FF0000"/>
                </a:solidFill>
                <a:latin typeface="宋体" panose="02010600030101010101" pitchFamily="2" charset="-122"/>
                <a:ea typeface="宋体" panose="02010600030101010101" pitchFamily="2" charset="-122"/>
                <a:sym typeface="+mn-ea"/>
              </a:rPr>
              <a:t>0110</a:t>
            </a:r>
            <a:r>
              <a:rPr lang="en-US" altLang="zh-CN" sz="2000" kern="0" dirty="0">
                <a:latin typeface="宋体" panose="02010600030101010101" pitchFamily="2" charset="-122"/>
                <a:ea typeface="宋体" panose="02010600030101010101" pitchFamily="2" charset="-122"/>
                <a:sym typeface="+mn-ea"/>
              </a:rPr>
              <a:t>B=</a:t>
            </a:r>
            <a:r>
              <a:rPr lang="en-US" altLang="zh-CN" sz="2000" kern="0" dirty="0">
                <a:solidFill>
                  <a:srgbClr val="9900CC"/>
                </a:solidFill>
                <a:latin typeface="宋体" panose="02010600030101010101" pitchFamily="2" charset="-122"/>
                <a:ea typeface="宋体" panose="02010600030101010101" pitchFamily="2" charset="-122"/>
                <a:sym typeface="+mn-ea"/>
              </a:rPr>
              <a:t>B</a:t>
            </a:r>
            <a:r>
              <a:rPr lang="en-US" altLang="zh-CN" sz="2000" kern="0" dirty="0">
                <a:solidFill>
                  <a:srgbClr val="FF0000"/>
                </a:solidFill>
                <a:latin typeface="宋体" panose="02010600030101010101" pitchFamily="2" charset="-122"/>
                <a:ea typeface="宋体" panose="02010600030101010101" pitchFamily="2" charset="-122"/>
                <a:sym typeface="+mn-ea"/>
              </a:rPr>
              <a:t>6</a:t>
            </a:r>
            <a:r>
              <a:rPr lang="en-US" altLang="zh-CN" sz="2000" kern="0" dirty="0">
                <a:latin typeface="宋体" panose="02010600030101010101" pitchFamily="2" charset="-122"/>
                <a:ea typeface="宋体" panose="02010600030101010101" pitchFamily="2" charset="-122"/>
                <a:sym typeface="+mn-ea"/>
              </a:rPr>
              <a:t>H</a:t>
            </a:r>
            <a:r>
              <a:rPr lang="zh-CN" altLang="en-US" sz="2000" kern="0" dirty="0">
                <a:latin typeface="宋体" panose="02010600030101010101" pitchFamily="2" charset="-122"/>
                <a:ea typeface="宋体" panose="02010600030101010101" pitchFamily="2" charset="-122"/>
              </a:rPr>
              <a:t>;</a:t>
            </a:r>
            <a:r>
              <a:rPr lang="en-US" altLang="zh-CN" sz="2000" kern="0" dirty="0">
                <a:latin typeface="宋体" panose="02010600030101010101" pitchFamily="2" charset="-122"/>
                <a:ea typeface="宋体" panose="02010600030101010101" pitchFamily="2" charset="-122"/>
              </a:rPr>
              <a:t> </a:t>
            </a:r>
            <a:r>
              <a:rPr lang="en-US" altLang="zh-CN" sz="2000" kern="0" dirty="0">
                <a:solidFill>
                  <a:srgbClr val="9900CC"/>
                </a:solidFill>
                <a:latin typeface="宋体" panose="02010600030101010101" pitchFamily="2" charset="-122"/>
                <a:ea typeface="宋体" panose="02010600030101010101" pitchFamily="2" charset="-122"/>
                <a:sym typeface="+mn-ea"/>
              </a:rPr>
              <a:t>1011 </a:t>
            </a:r>
            <a:r>
              <a:rPr lang="en-US" altLang="zh-CN" sz="2000" kern="0" dirty="0">
                <a:solidFill>
                  <a:srgbClr val="FF0000"/>
                </a:solidFill>
                <a:latin typeface="宋体" panose="02010600030101010101" pitchFamily="2" charset="-122"/>
                <a:ea typeface="宋体" panose="02010600030101010101" pitchFamily="2" charset="-122"/>
                <a:sym typeface="+mn-ea"/>
              </a:rPr>
              <a:t>0110</a:t>
            </a:r>
            <a:r>
              <a:rPr lang="en-US" altLang="zh-CN" sz="2000" kern="0" dirty="0">
                <a:latin typeface="宋体" panose="02010600030101010101" pitchFamily="2" charset="-122"/>
                <a:ea typeface="宋体" panose="02010600030101010101" pitchFamily="2" charset="-122"/>
                <a:sym typeface="+mn-ea"/>
              </a:rPr>
              <a:t>B=</a:t>
            </a:r>
            <a:r>
              <a:rPr lang="en-US" altLang="zh-CN" sz="2000" kern="0" dirty="0">
                <a:solidFill>
                  <a:srgbClr val="9900CC"/>
                </a:solidFill>
                <a:latin typeface="宋体" panose="02010600030101010101" pitchFamily="2" charset="-122"/>
                <a:ea typeface="宋体" panose="02010600030101010101" pitchFamily="2" charset="-122"/>
                <a:sym typeface="+mn-ea"/>
              </a:rPr>
              <a:t>B</a:t>
            </a:r>
            <a:r>
              <a:rPr lang="en-US" altLang="zh-CN" sz="2000" kern="0" dirty="0">
                <a:solidFill>
                  <a:srgbClr val="FF0000"/>
                </a:solidFill>
                <a:latin typeface="宋体" panose="02010600030101010101" pitchFamily="2" charset="-122"/>
                <a:ea typeface="宋体" panose="02010600030101010101" pitchFamily="2" charset="-122"/>
                <a:sym typeface="+mn-ea"/>
              </a:rPr>
              <a:t>6</a:t>
            </a:r>
            <a:r>
              <a:rPr lang="en-US" altLang="zh-CN" sz="2000" kern="0" dirty="0">
                <a:latin typeface="宋体" panose="02010600030101010101" pitchFamily="2" charset="-122"/>
                <a:ea typeface="宋体" panose="02010600030101010101" pitchFamily="2" charset="-122"/>
                <a:sym typeface="+mn-ea"/>
              </a:rPr>
              <a:t>H</a:t>
            </a:r>
            <a:endParaRPr lang="en-US" altLang="zh-CN" sz="2000" kern="0" dirty="0">
              <a:latin typeface="宋体" panose="02010600030101010101" pitchFamily="2" charset="-122"/>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
          <p:cNvSpPr>
            <a:spLocks noGrp="1" noChangeArrowheads="1"/>
          </p:cNvSpPr>
          <p:nvPr>
            <p:ph type="title"/>
          </p:nvPr>
        </p:nvSpPr>
        <p:spPr>
          <a:xfrm>
            <a:off x="526473" y="626745"/>
            <a:ext cx="8379402" cy="504825"/>
          </a:xfrm>
        </p:spPr>
        <p:txBody>
          <a:bodyPr vert="horz" lIns="91440" tIns="45720" rIns="91440" bIns="45720" rtlCol="0" anchor="b">
            <a:normAutofit fontScale="90000"/>
          </a:bodyPr>
          <a:lstStyle/>
          <a:p>
            <a:r>
              <a:rPr lang="zh-CN" altLang="en-US" sz="4000" dirty="0">
                <a:latin typeface="+mj-ea"/>
              </a:rPr>
              <a:t>十六进制数转换为二进制数</a:t>
            </a:r>
            <a:br>
              <a:rPr lang="zh-CN" altLang="en-US" sz="4000" dirty="0">
                <a:latin typeface="+mj-ea"/>
              </a:rPr>
            </a:br>
            <a:r>
              <a:rPr lang="zh-CN" altLang="en-US" sz="4000" dirty="0">
                <a:latin typeface="+mj-ea"/>
                <a:sym typeface="+mn-ea"/>
              </a:rPr>
              <a:t>Hex number to binary number</a:t>
            </a:r>
            <a:endParaRPr lang="zh-CN" altLang="en-US" sz="4000" dirty="0">
              <a:latin typeface="+mj-ea"/>
            </a:endParaRPr>
          </a:p>
        </p:txBody>
      </p:sp>
      <p:sp>
        <p:nvSpPr>
          <p:cNvPr id="5" name="内容占位符 4"/>
          <p:cNvSpPr>
            <a:spLocks noGrp="1"/>
          </p:cNvSpPr>
          <p:nvPr>
            <p:ph idx="1"/>
          </p:nvPr>
        </p:nvSpPr>
        <p:spPr>
          <a:xfrm>
            <a:off x="365125" y="1144905"/>
            <a:ext cx="12192635" cy="796925"/>
          </a:xfrm>
        </p:spPr>
        <p:txBody>
          <a:bodyPr/>
          <a:lstStyle/>
          <a:p>
            <a:pPr eaLnBrk="1" hangingPunct="1">
              <a:lnSpc>
                <a:spcPct val="100000"/>
              </a:lnSpc>
              <a:spcBef>
                <a:spcPts val="0"/>
              </a:spcBef>
              <a:defRPr/>
            </a:pPr>
            <a:r>
              <a:rPr lang="zh-CN" altLang="en-US" dirty="0"/>
              <a:t>十六进制数据转换为二进制数据时，把每一位十六进制数据直接写成四位二进制数。</a:t>
            </a:r>
          </a:p>
        </p:txBody>
      </p:sp>
      <p:sp>
        <p:nvSpPr>
          <p:cNvPr id="7" name="Rectangle 3"/>
          <p:cNvSpPr txBox="1">
            <a:spLocks noChangeArrowheads="1"/>
          </p:cNvSpPr>
          <p:nvPr/>
        </p:nvSpPr>
        <p:spPr bwMode="auto">
          <a:xfrm>
            <a:off x="1611730" y="2002790"/>
            <a:ext cx="8469313"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2600" dirty="0">
                <a:solidFill>
                  <a:srgbClr val="800000"/>
                </a:solidFill>
                <a:latin typeface="Arial" panose="020B0604020202020204" pitchFamily="34" charset="0"/>
              </a:rPr>
              <a:t>表</a:t>
            </a:r>
            <a:r>
              <a:rPr lang="en-US" altLang="zh-CN" sz="2600" dirty="0">
                <a:solidFill>
                  <a:srgbClr val="800000"/>
                </a:solidFill>
                <a:latin typeface="Arial" panose="020B0604020202020204" pitchFamily="34" charset="0"/>
              </a:rPr>
              <a:t>2-1 </a:t>
            </a:r>
            <a:r>
              <a:rPr lang="en-US" altLang="zh-CN" sz="2600" kern="0" dirty="0"/>
              <a:t>4</a:t>
            </a:r>
            <a:r>
              <a:rPr lang="zh-CN" altLang="en-US" sz="2600" kern="0" dirty="0"/>
              <a:t>位二进制数和一位十六进制数具有一一对应关系</a:t>
            </a:r>
          </a:p>
        </p:txBody>
      </p:sp>
      <p:graphicFrame>
        <p:nvGraphicFramePr>
          <p:cNvPr id="8" name="Group 64"/>
          <p:cNvGraphicFramePr/>
          <p:nvPr>
            <p:custDataLst>
              <p:tags r:id="rId1"/>
            </p:custDataLst>
            <p:extLst>
              <p:ext uri="{D42A27DB-BD31-4B8C-83A1-F6EECF244321}">
                <p14:modId xmlns:p14="http://schemas.microsoft.com/office/powerpoint/2010/main" val="3241768791"/>
              </p:ext>
            </p:extLst>
          </p:nvPr>
        </p:nvGraphicFramePr>
        <p:xfrm>
          <a:off x="1136073" y="3144461"/>
          <a:ext cx="9610321" cy="2983925"/>
        </p:xfrm>
        <a:graphic>
          <a:graphicData uri="http://schemas.openxmlformats.org/drawingml/2006/table">
            <a:tbl>
              <a:tblPr/>
              <a:tblGrid>
                <a:gridCol w="3020432">
                  <a:extLst>
                    <a:ext uri="{9D8B030D-6E8A-4147-A177-3AD203B41FA5}">
                      <a16:colId xmlns:a16="http://schemas.microsoft.com/office/drawing/2014/main" val="20000"/>
                    </a:ext>
                  </a:extLst>
                </a:gridCol>
                <a:gridCol w="1970467">
                  <a:extLst>
                    <a:ext uri="{9D8B030D-6E8A-4147-A177-3AD203B41FA5}">
                      <a16:colId xmlns:a16="http://schemas.microsoft.com/office/drawing/2014/main" val="20001"/>
                    </a:ext>
                  </a:extLst>
                </a:gridCol>
                <a:gridCol w="2784758">
                  <a:extLst>
                    <a:ext uri="{9D8B030D-6E8A-4147-A177-3AD203B41FA5}">
                      <a16:colId xmlns:a16="http://schemas.microsoft.com/office/drawing/2014/main" val="20002"/>
                    </a:ext>
                  </a:extLst>
                </a:gridCol>
                <a:gridCol w="1834664">
                  <a:extLst>
                    <a:ext uri="{9D8B030D-6E8A-4147-A177-3AD203B41FA5}">
                      <a16:colId xmlns:a16="http://schemas.microsoft.com/office/drawing/2014/main" val="20003"/>
                    </a:ext>
                  </a:extLst>
                </a:gridCol>
              </a:tblGrid>
              <a:tr h="42451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十六进制</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hexadecimal</a:t>
                      </a: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91429" marR="9142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二进制</a:t>
                      </a: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binary </a:t>
                      </a: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十六进制</a:t>
                      </a:r>
                      <a:r>
                        <a:rPr lang="en-US" altLang="zh-CN"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h</a:t>
                      </a:r>
                      <a:r>
                        <a:rPr lang="zh-CN" altLang="en-US"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exadecimal</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lang="zh-CN" altLang="en-US"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二进制</a:t>
                      </a:r>
                      <a:r>
                        <a:rPr lang="en-US" altLang="zh-CN"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 </a:t>
                      </a:r>
                      <a:r>
                        <a:rPr lang="zh-CN" altLang="en-US" sz="1800" b="1" dirty="0">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binary</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0010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0011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1011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0100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0101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1101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1110</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19926">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0111</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1111</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0" marB="0"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sp>
        <p:nvSpPr>
          <p:cNvPr id="2" name="文本框 1"/>
          <p:cNvSpPr txBox="1"/>
          <p:nvPr/>
        </p:nvSpPr>
        <p:spPr>
          <a:xfrm>
            <a:off x="395605" y="1450975"/>
            <a:ext cx="12101195" cy="645160"/>
          </a:xfrm>
          <a:prstGeom prst="rect">
            <a:avLst/>
          </a:prstGeom>
          <a:noFill/>
        </p:spPr>
        <p:txBody>
          <a:bodyPr wrap="square" rtlCol="0" anchor="t">
            <a:spAutoFit/>
          </a:bodyPr>
          <a:lstStyle/>
          <a:p>
            <a:pPr eaLnBrk="1" hangingPunct="1">
              <a:lnSpc>
                <a:spcPct val="100000"/>
              </a:lnSpc>
              <a:spcBef>
                <a:spcPts val="0"/>
              </a:spcBef>
              <a:defRPr/>
            </a:pPr>
            <a:r>
              <a:rPr lang="zh-CN" altLang="en-US" dirty="0">
                <a:sym typeface="+mn-ea"/>
              </a:rPr>
              <a:t>When hexadecimal data is converted to binary data, each hexadecimal data bit is written directly as a four-bit binary number. </a:t>
            </a:r>
          </a:p>
          <a:p>
            <a:pPr eaLnBrk="1" hangingPunct="1">
              <a:lnSpc>
                <a:spcPct val="100000"/>
              </a:lnSpc>
              <a:spcBef>
                <a:spcPts val="0"/>
              </a:spcBef>
              <a:defRPr/>
            </a:pPr>
            <a:r>
              <a:rPr lang="zh-CN" altLang="en-US" dirty="0">
                <a:sym typeface="+mn-ea"/>
              </a:rPr>
              <a:t>例如：</a:t>
            </a:r>
            <a:r>
              <a:rPr lang="en-US" altLang="zh-CN" dirty="0">
                <a:sym typeface="+mn-ea"/>
              </a:rPr>
              <a:t>64H=0110 0100B     </a:t>
            </a:r>
            <a:r>
              <a:rPr lang="zh-CN" altLang="en-US" dirty="0">
                <a:sym typeface="+mn-ea"/>
              </a:rPr>
              <a:t>For example: 64H=0110 0100B</a:t>
            </a:r>
          </a:p>
        </p:txBody>
      </p:sp>
      <p:sp>
        <p:nvSpPr>
          <p:cNvPr id="3" name="Rectangle 3"/>
          <p:cNvSpPr txBox="1">
            <a:spLocks noChangeArrowheads="1"/>
          </p:cNvSpPr>
          <p:nvPr/>
        </p:nvSpPr>
        <p:spPr bwMode="auto">
          <a:xfrm>
            <a:off x="912149" y="2449195"/>
            <a:ext cx="1006983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1800" dirty="0">
                <a:solidFill>
                  <a:srgbClr val="800000"/>
                </a:solidFill>
                <a:latin typeface="Arial" panose="020B0604020202020204" pitchFamily="34" charset="0"/>
              </a:rPr>
              <a:t>Table 2-1 </a:t>
            </a:r>
            <a:r>
              <a:rPr lang="en-US" altLang="zh-CN" sz="1800" dirty="0">
                <a:solidFill>
                  <a:srgbClr val="800000"/>
                </a:solidFill>
                <a:latin typeface="Arial" panose="020B0604020202020204" pitchFamily="34" charset="0"/>
              </a:rPr>
              <a:t>O</a:t>
            </a:r>
            <a:r>
              <a:rPr lang="zh-CN" altLang="en-US" sz="1800" dirty="0">
                <a:solidFill>
                  <a:srgbClr val="800000"/>
                </a:solidFill>
                <a:latin typeface="Arial" panose="020B0604020202020204" pitchFamily="34" charset="0"/>
              </a:rPr>
              <a:t>ne-to-one correspondence between 4-bit binary numbers and one hexadecimal number</a:t>
            </a:r>
            <a:endParaRPr lang="zh-CN" altLang="en-US" sz="3600" kern="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
          <p:cNvSpPr>
            <a:spLocks noGrp="1" noChangeArrowheads="1"/>
          </p:cNvSpPr>
          <p:nvPr>
            <p:ph type="title"/>
          </p:nvPr>
        </p:nvSpPr>
        <p:spPr>
          <a:xfrm>
            <a:off x="507365" y="221673"/>
            <a:ext cx="8229600" cy="885681"/>
          </a:xfrm>
        </p:spPr>
        <p:txBody>
          <a:bodyPr vert="horz" lIns="91440" tIns="45720" rIns="91440" bIns="45720" rtlCol="0" anchor="b">
            <a:normAutofit fontScale="90000"/>
          </a:bodyPr>
          <a:lstStyle/>
          <a:p>
            <a:r>
              <a:rPr lang="zh-CN" altLang="en-US" sz="4000" dirty="0">
                <a:latin typeface="+mj-ea"/>
              </a:rPr>
              <a:t>十六进制数据和十进制数据之间的转换</a:t>
            </a:r>
            <a:br>
              <a:rPr lang="zh-CN" altLang="en-US" sz="4000" dirty="0">
                <a:latin typeface="+mj-ea"/>
              </a:rPr>
            </a:br>
            <a:r>
              <a:rPr lang="zh-CN" altLang="en-US" sz="2700" dirty="0">
                <a:latin typeface="+mj-ea"/>
                <a:sym typeface="+mn-ea"/>
              </a:rPr>
              <a:t>Conversion between hexadecimal data and decimal data</a:t>
            </a:r>
          </a:p>
        </p:txBody>
      </p:sp>
      <p:sp>
        <p:nvSpPr>
          <p:cNvPr id="311299" name="Rectangle 3"/>
          <p:cNvSpPr>
            <a:spLocks noGrp="1" noChangeArrowheads="1"/>
          </p:cNvSpPr>
          <p:nvPr>
            <p:ph idx="1"/>
          </p:nvPr>
        </p:nvSpPr>
        <p:spPr>
          <a:xfrm>
            <a:off x="304165" y="1145540"/>
            <a:ext cx="12199620" cy="5712460"/>
          </a:xfrm>
        </p:spPr>
        <p:txBody>
          <a:bodyPr>
            <a:normAutofit/>
          </a:bodyPr>
          <a:lstStyle/>
          <a:p>
            <a:pPr lvl="1" eaLnBrk="1" hangingPunct="1">
              <a:lnSpc>
                <a:spcPct val="125000"/>
              </a:lnSpc>
              <a:spcAft>
                <a:spcPts val="600"/>
              </a:spcAft>
              <a:defRPr/>
            </a:pPr>
            <a:r>
              <a:rPr lang="zh-CN" altLang="en-US" sz="2000" dirty="0">
                <a:solidFill>
                  <a:srgbClr val="FF0000"/>
                </a:solidFill>
              </a:rPr>
              <a:t>通过二进制进行相互转换</a:t>
            </a:r>
            <a:r>
              <a:rPr lang="zh-CN" altLang="en-US" sz="2000" dirty="0"/>
              <a:t>；</a:t>
            </a:r>
            <a:br>
              <a:rPr lang="zh-CN" altLang="en-US" sz="2000" dirty="0"/>
            </a:br>
            <a:r>
              <a:rPr lang="zh-CN" altLang="en-US" sz="2000" dirty="0">
                <a:solidFill>
                  <a:srgbClr val="FF0000"/>
                </a:solidFill>
              </a:rPr>
              <a:t>Interconvert between binary;</a:t>
            </a:r>
            <a:endParaRPr lang="en-US" altLang="zh-CN" sz="2000" dirty="0"/>
          </a:p>
          <a:p>
            <a:pPr marL="0" lvl="1" eaLnBrk="1" hangingPunct="1">
              <a:lnSpc>
                <a:spcPct val="125000"/>
              </a:lnSpc>
              <a:spcAft>
                <a:spcPts val="600"/>
              </a:spcAft>
              <a:defRPr/>
            </a:pPr>
            <a:r>
              <a:rPr lang="zh-CN" altLang="en-US" sz="2000" dirty="0">
                <a:solidFill>
                  <a:srgbClr val="C00000"/>
                </a:solidFill>
              </a:rPr>
              <a:t>十进制数转换成十六进制：</a:t>
            </a:r>
            <a:br>
              <a:rPr lang="en-US" altLang="zh-CN" sz="2000" dirty="0">
                <a:solidFill>
                  <a:srgbClr val="C00000"/>
                </a:solidFill>
              </a:rPr>
            </a:br>
            <a:r>
              <a:rPr lang="en-US" altLang="zh-CN" sz="2000" dirty="0">
                <a:solidFill>
                  <a:srgbClr val="C00000"/>
                </a:solidFill>
              </a:rPr>
              <a:t>    </a:t>
            </a:r>
            <a:r>
              <a:rPr lang="zh-CN" altLang="en-US" sz="2000" dirty="0">
                <a:solidFill>
                  <a:srgbClr val="C00000"/>
                </a:solidFill>
                <a:sym typeface="+mn-ea"/>
              </a:rPr>
              <a:t>Converting decimal numbers to hexadecimal:</a:t>
            </a:r>
            <a:endParaRPr lang="en-US" altLang="zh-CN" sz="2000" dirty="0">
              <a:solidFill>
                <a:srgbClr val="C00000"/>
              </a:solidFill>
            </a:endParaRPr>
          </a:p>
          <a:p>
            <a:pPr marL="201295" lvl="1" indent="0" eaLnBrk="1" hangingPunct="1">
              <a:lnSpc>
                <a:spcPct val="125000"/>
              </a:lnSpc>
              <a:spcAft>
                <a:spcPts val="600"/>
              </a:spcAft>
              <a:buNone/>
              <a:defRPr/>
            </a:pPr>
            <a:r>
              <a:rPr lang="zh-CN" altLang="en-US" sz="2000" dirty="0"/>
              <a:t>  将十进制整数除以十六取余，小数部分乘以十六取整，可直接转换为十六进制数；</a:t>
            </a:r>
            <a:br>
              <a:rPr lang="zh-CN" altLang="en-US" sz="2000" dirty="0"/>
            </a:br>
            <a:r>
              <a:rPr lang="en-US" altLang="zh-CN" sz="2000" dirty="0"/>
              <a:t>Divide a decimal integer by 16 and take the remainder, multiply the decimal part by 16 and take the integer, </a:t>
            </a:r>
            <a:br>
              <a:rPr lang="en-US" altLang="zh-CN" sz="2000" dirty="0"/>
            </a:br>
            <a:r>
              <a:rPr lang="en-US" altLang="zh-CN" sz="2000" dirty="0"/>
              <a:t>which can be directly converted into a hexadecimal number;</a:t>
            </a:r>
          </a:p>
          <a:p>
            <a:pPr marL="0" lvl="1" eaLnBrk="1" hangingPunct="1">
              <a:lnSpc>
                <a:spcPct val="125000"/>
              </a:lnSpc>
              <a:spcAft>
                <a:spcPts val="600"/>
              </a:spcAft>
              <a:defRPr/>
            </a:pPr>
            <a:r>
              <a:rPr lang="zh-CN" altLang="en-US" sz="2000" dirty="0">
                <a:solidFill>
                  <a:srgbClr val="C00000"/>
                </a:solidFill>
              </a:rPr>
              <a:t>十六进制数转换成十进制：</a:t>
            </a:r>
            <a:br>
              <a:rPr lang="zh-CN" altLang="en-US" sz="2000" dirty="0">
                <a:solidFill>
                  <a:srgbClr val="C00000"/>
                </a:solidFill>
              </a:rPr>
            </a:br>
            <a:r>
              <a:rPr lang="zh-CN" altLang="en-US" sz="2000" dirty="0">
                <a:solidFill>
                  <a:srgbClr val="C00000"/>
                </a:solidFill>
                <a:sym typeface="+mn-ea"/>
              </a:rPr>
              <a:t>Converting hexadecimal numbers to decimal:</a:t>
            </a:r>
          </a:p>
          <a:p>
            <a:pPr marL="0" lvl="1" indent="0" eaLnBrk="1" hangingPunct="1">
              <a:lnSpc>
                <a:spcPct val="125000"/>
              </a:lnSpc>
              <a:spcAft>
                <a:spcPts val="600"/>
              </a:spcAft>
              <a:buNone/>
              <a:defRPr/>
            </a:pPr>
            <a:r>
              <a:rPr lang="zh-CN" altLang="en-US" sz="2000" dirty="0"/>
              <a:t>将十六进制数按权展开相加得到十进制数。</a:t>
            </a:r>
            <a:br>
              <a:rPr lang="zh-CN" altLang="en-US" sz="2000" dirty="0"/>
            </a:br>
            <a:r>
              <a:rPr lang="zh-CN" altLang="en-US" sz="2000" dirty="0">
                <a:sym typeface="+mn-ea"/>
              </a:rPr>
              <a:t>Add the hexadecimal numbers in power form to get the decimal number. </a:t>
            </a:r>
          </a:p>
          <a:p>
            <a:pPr marL="0" lvl="1" indent="0" eaLnBrk="1" hangingPunct="1">
              <a:lnSpc>
                <a:spcPct val="125000"/>
              </a:lnSpc>
              <a:spcAft>
                <a:spcPts val="600"/>
              </a:spcAft>
              <a:buNone/>
              <a:defRPr/>
            </a:pPr>
            <a:r>
              <a:rPr lang="zh-CN" altLang="en-US" sz="2000" dirty="0"/>
              <a:t>  </a:t>
            </a:r>
            <a:r>
              <a:rPr lang="en-US" altLang="zh-CN" sz="2000" dirty="0"/>
              <a:t>n+1</a:t>
            </a:r>
            <a:r>
              <a:rPr lang="zh-CN" altLang="en-US" sz="2000" dirty="0"/>
              <a:t>位十六进制数的权值分别为</a:t>
            </a:r>
            <a:r>
              <a:rPr lang="en-US" altLang="zh-CN" sz="2000" dirty="0"/>
              <a:t>16</a:t>
            </a:r>
            <a:r>
              <a:rPr lang="en-US" altLang="zh-CN" sz="2000" baseline="30000" dirty="0"/>
              <a:t>n</a:t>
            </a:r>
            <a:r>
              <a:rPr lang="zh-CN" altLang="en-US" sz="2000" dirty="0"/>
              <a:t>、</a:t>
            </a:r>
            <a:r>
              <a:rPr lang="en-US" altLang="zh-CN" sz="2000" dirty="0"/>
              <a:t>16</a:t>
            </a:r>
            <a:r>
              <a:rPr lang="en-US" altLang="zh-CN" sz="2000" baseline="30000" dirty="0"/>
              <a:t>n-1</a:t>
            </a:r>
            <a:r>
              <a:rPr lang="zh-CN" altLang="en-US" sz="2000" dirty="0"/>
              <a:t>、</a:t>
            </a:r>
            <a:r>
              <a:rPr lang="en-US" altLang="zh-CN" sz="2000" dirty="0"/>
              <a:t>…</a:t>
            </a:r>
            <a:r>
              <a:rPr lang="zh-CN" altLang="en-US" sz="2000" dirty="0"/>
              <a:t>、</a:t>
            </a:r>
            <a:r>
              <a:rPr lang="en-US" altLang="zh-CN" sz="2000" dirty="0"/>
              <a:t>16</a:t>
            </a:r>
            <a:r>
              <a:rPr lang="en-US" altLang="zh-CN" sz="2000" baseline="30000" dirty="0"/>
              <a:t>2</a:t>
            </a:r>
            <a:r>
              <a:rPr lang="zh-CN" altLang="en-US" sz="2000" dirty="0"/>
              <a:t>、</a:t>
            </a:r>
            <a:r>
              <a:rPr lang="en-US" altLang="zh-CN" sz="2000" dirty="0"/>
              <a:t>16</a:t>
            </a:r>
            <a:r>
              <a:rPr lang="en-US" altLang="zh-CN" sz="2000" baseline="30000" dirty="0"/>
              <a:t>1</a:t>
            </a:r>
            <a:r>
              <a:rPr lang="zh-CN" altLang="en-US" sz="2000" dirty="0"/>
              <a:t>、</a:t>
            </a:r>
            <a:r>
              <a:rPr lang="en-US" altLang="zh-CN" sz="2000" dirty="0"/>
              <a:t>16</a:t>
            </a:r>
            <a:r>
              <a:rPr lang="en-US" altLang="zh-CN" sz="2000" baseline="30000" dirty="0"/>
              <a:t>0</a:t>
            </a:r>
            <a:br>
              <a:rPr lang="zh-CN" altLang="en-US" sz="2000" dirty="0">
                <a:sym typeface="+mn-ea"/>
              </a:rPr>
            </a:br>
            <a:r>
              <a:rPr lang="zh-CN" altLang="en-US" sz="2000" dirty="0">
                <a:sym typeface="+mn-ea"/>
              </a:rPr>
              <a:t>The weights of the n+1 hexadecimal numbers are </a:t>
            </a:r>
            <a:r>
              <a:rPr lang="en-US" altLang="zh-CN" sz="2000" dirty="0">
                <a:sym typeface="+mn-ea"/>
              </a:rPr>
              <a:t>16</a:t>
            </a:r>
            <a:r>
              <a:rPr lang="en-US" altLang="zh-CN" sz="2000" baseline="30000" dirty="0">
                <a:sym typeface="+mn-ea"/>
              </a:rPr>
              <a:t>n</a:t>
            </a:r>
            <a:r>
              <a:rPr lang="zh-CN" altLang="en-US" sz="2000" dirty="0">
                <a:sym typeface="+mn-ea"/>
              </a:rPr>
              <a:t>、</a:t>
            </a:r>
            <a:r>
              <a:rPr lang="en-US" altLang="zh-CN" sz="2000" dirty="0">
                <a:sym typeface="+mn-ea"/>
              </a:rPr>
              <a:t>16</a:t>
            </a:r>
            <a:r>
              <a:rPr lang="en-US" altLang="zh-CN" sz="2000" baseline="30000" dirty="0">
                <a:sym typeface="+mn-ea"/>
              </a:rPr>
              <a:t>n-1</a:t>
            </a:r>
            <a:r>
              <a:rPr lang="zh-CN" altLang="en-US" sz="2000" dirty="0">
                <a:sym typeface="+mn-ea"/>
              </a:rPr>
              <a:t>、</a:t>
            </a:r>
            <a:r>
              <a:rPr lang="en-US" altLang="zh-CN" sz="2000" dirty="0">
                <a:sym typeface="+mn-ea"/>
              </a:rPr>
              <a:t>…</a:t>
            </a:r>
            <a:r>
              <a:rPr lang="zh-CN" altLang="en-US" sz="2000" dirty="0">
                <a:sym typeface="+mn-ea"/>
              </a:rPr>
              <a:t>、</a:t>
            </a:r>
            <a:r>
              <a:rPr lang="en-US" altLang="zh-CN" sz="2000" dirty="0">
                <a:sym typeface="+mn-ea"/>
              </a:rPr>
              <a:t>16</a:t>
            </a:r>
            <a:r>
              <a:rPr lang="en-US" altLang="zh-CN" sz="2000" baseline="30000" dirty="0">
                <a:sym typeface="+mn-ea"/>
              </a:rPr>
              <a:t>2</a:t>
            </a:r>
            <a:r>
              <a:rPr lang="zh-CN" altLang="en-US" sz="2000" dirty="0">
                <a:sym typeface="+mn-ea"/>
              </a:rPr>
              <a:t>、</a:t>
            </a:r>
            <a:r>
              <a:rPr lang="en-US" altLang="zh-CN" sz="2000" dirty="0">
                <a:sym typeface="+mn-ea"/>
              </a:rPr>
              <a:t>16</a:t>
            </a:r>
            <a:r>
              <a:rPr lang="en-US" altLang="zh-CN" sz="2000" baseline="30000" dirty="0">
                <a:sym typeface="+mn-ea"/>
              </a:rPr>
              <a:t>1</a:t>
            </a:r>
            <a:r>
              <a:rPr lang="zh-CN" altLang="en-US" sz="2000" dirty="0">
                <a:sym typeface="+mn-ea"/>
              </a:rPr>
              <a:t>、</a:t>
            </a:r>
            <a:r>
              <a:rPr lang="en-US" altLang="zh-CN" sz="2000" dirty="0">
                <a:sym typeface="+mn-ea"/>
              </a:rPr>
              <a:t>16</a:t>
            </a:r>
            <a:r>
              <a:rPr lang="en-US" altLang="zh-CN" sz="2000" baseline="30000" dirty="0">
                <a:sym typeface="+mn-ea"/>
              </a:rPr>
              <a:t>0</a:t>
            </a:r>
            <a:endParaRPr lang="en-US" altLang="zh-CN" sz="2000" baseline="30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47553" y="582511"/>
            <a:ext cx="8229600" cy="504825"/>
          </a:xfrm>
        </p:spPr>
        <p:txBody>
          <a:bodyPr vert="horz" lIns="91440" tIns="45720" rIns="91440" bIns="45720" rtlCol="0" anchor="b">
            <a:normAutofit fontScale="90000"/>
          </a:bodyPr>
          <a:lstStyle/>
          <a:p>
            <a:r>
              <a:rPr lang="zh-CN" altLang="en-US" sz="4000" dirty="0">
                <a:latin typeface="+mj-ea"/>
              </a:rPr>
              <a:t> </a:t>
            </a:r>
            <a:r>
              <a:rPr lang="en-US" altLang="zh-CN" sz="4000" dirty="0">
                <a:latin typeface="+mj-ea"/>
              </a:rPr>
              <a:t>2.1.3  </a:t>
            </a:r>
            <a:r>
              <a:rPr lang="zh-CN" altLang="en-US" sz="4000" dirty="0">
                <a:latin typeface="+mj-ea"/>
              </a:rPr>
              <a:t>数制数据的编码及其运算</a:t>
            </a:r>
            <a:br>
              <a:rPr lang="zh-CN" altLang="en-US" sz="4000" dirty="0">
                <a:latin typeface="+mj-ea"/>
              </a:rPr>
            </a:br>
            <a:r>
              <a:rPr lang="en-US" altLang="zh-CN" sz="4000" dirty="0">
                <a:latin typeface="+mj-ea"/>
              </a:rPr>
              <a:t>		</a:t>
            </a:r>
            <a:r>
              <a:rPr lang="en-US" altLang="zh-CN" sz="2700" dirty="0">
                <a:latin typeface="+mj-ea"/>
                <a:sym typeface="+mn-ea"/>
              </a:rPr>
              <a:t>Number data encoding and its operation</a:t>
            </a:r>
          </a:p>
        </p:txBody>
      </p:sp>
      <p:sp>
        <p:nvSpPr>
          <p:cNvPr id="207875" name="Rectangle 3"/>
          <p:cNvSpPr>
            <a:spLocks noGrp="1" noChangeArrowheads="1"/>
          </p:cNvSpPr>
          <p:nvPr>
            <p:ph idx="1"/>
          </p:nvPr>
        </p:nvSpPr>
        <p:spPr>
          <a:xfrm>
            <a:off x="927100" y="1157605"/>
            <a:ext cx="10781030" cy="4441825"/>
          </a:xfrm>
        </p:spPr>
        <p:txBody>
          <a:bodyPr>
            <a:normAutofit lnSpcReduction="10000"/>
          </a:bodyPr>
          <a:lstStyle/>
          <a:p>
            <a:pPr eaLnBrk="1" hangingPunct="1">
              <a:lnSpc>
                <a:spcPct val="124000"/>
              </a:lnSpc>
              <a:spcBef>
                <a:spcPts val="0"/>
              </a:spcBef>
              <a:buFontTx/>
              <a:buNone/>
              <a:defRPr/>
            </a:pPr>
            <a:r>
              <a:rPr lang="zh-CN" altLang="en-US" dirty="0"/>
              <a:t>在计算机中，数据分</a:t>
            </a:r>
            <a:r>
              <a:rPr lang="zh-CN" altLang="en-US" dirty="0">
                <a:solidFill>
                  <a:srgbClr val="CC3300"/>
                </a:solidFill>
              </a:rPr>
              <a:t>无符号数</a:t>
            </a:r>
            <a:r>
              <a:rPr lang="zh-CN" altLang="en-US" dirty="0"/>
              <a:t>和</a:t>
            </a:r>
            <a:r>
              <a:rPr lang="zh-CN" altLang="en-US" dirty="0">
                <a:solidFill>
                  <a:srgbClr val="CC3300"/>
                </a:solidFill>
              </a:rPr>
              <a:t>带符号数</a:t>
            </a:r>
            <a:r>
              <a:rPr lang="zh-CN" altLang="en-US" dirty="0"/>
              <a:t>。</a:t>
            </a:r>
            <a:br>
              <a:rPr lang="zh-CN" altLang="en-US" dirty="0"/>
            </a:br>
            <a:r>
              <a:rPr lang="zh-CN" altLang="en-US" dirty="0">
                <a:sym typeface="+mn-ea"/>
              </a:rPr>
              <a:t>In a computer, data is divided into unsigned and signed numbers.</a:t>
            </a:r>
            <a:endParaRPr lang="zh-CN" altLang="en-US" dirty="0"/>
          </a:p>
          <a:p>
            <a:pPr eaLnBrk="1" hangingPunct="1">
              <a:lnSpc>
                <a:spcPct val="124000"/>
              </a:lnSpc>
              <a:spcBef>
                <a:spcPts val="0"/>
              </a:spcBef>
              <a:buFontTx/>
              <a:buNone/>
              <a:defRPr/>
            </a:pPr>
            <a:r>
              <a:rPr lang="zh-CN" altLang="en-US" dirty="0"/>
              <a:t>无符号数用整个</a:t>
            </a:r>
            <a:r>
              <a:rPr lang="zh-CN" altLang="en-US" dirty="0">
                <a:solidFill>
                  <a:srgbClr val="9900CC"/>
                </a:solidFill>
              </a:rPr>
              <a:t>机器字长</a:t>
            </a:r>
            <a:r>
              <a:rPr lang="zh-CN" altLang="en-US" dirty="0"/>
              <a:t>的全部二进制位表示数值位</a:t>
            </a:r>
            <a:r>
              <a:rPr lang="en-US" altLang="zh-CN" dirty="0"/>
              <a:t>, </a:t>
            </a:r>
            <a:r>
              <a:rPr lang="zh-CN" altLang="en-US" dirty="0"/>
              <a:t>无符号位；</a:t>
            </a:r>
            <a:br>
              <a:rPr lang="zh-CN" altLang="en-US" dirty="0"/>
            </a:br>
            <a:r>
              <a:rPr lang="zh-CN" altLang="en-US" dirty="0">
                <a:sym typeface="+mn-ea"/>
              </a:rPr>
              <a:t>An unsigned number uses all the binary bits of the entire machine word to represent the value, an unsigned bit;</a:t>
            </a:r>
            <a:endParaRPr lang="zh-CN" altLang="en-US" dirty="0"/>
          </a:p>
          <a:p>
            <a:pPr eaLnBrk="1" hangingPunct="1">
              <a:lnSpc>
                <a:spcPct val="124000"/>
              </a:lnSpc>
              <a:spcBef>
                <a:spcPts val="0"/>
              </a:spcBef>
              <a:buFontTx/>
              <a:buNone/>
              <a:defRPr/>
            </a:pPr>
            <a:r>
              <a:rPr lang="zh-CN" altLang="en-US" dirty="0"/>
              <a:t>带符号数用</a:t>
            </a:r>
            <a:r>
              <a:rPr lang="zh-CN" altLang="en-US" dirty="0">
                <a:solidFill>
                  <a:srgbClr val="CC3300"/>
                </a:solidFill>
              </a:rPr>
              <a:t>最高位</a:t>
            </a:r>
            <a:r>
              <a:rPr lang="zh-CN" altLang="en-US" dirty="0"/>
              <a:t>表示该数的</a:t>
            </a:r>
            <a:r>
              <a:rPr lang="zh-CN" altLang="en-US" dirty="0">
                <a:solidFill>
                  <a:srgbClr val="CC3300"/>
                </a:solidFill>
              </a:rPr>
              <a:t>符号位</a:t>
            </a:r>
            <a:r>
              <a:rPr lang="zh-CN" altLang="en-US" dirty="0"/>
              <a:t>。</a:t>
            </a:r>
            <a:br>
              <a:rPr lang="zh-CN" altLang="en-US" dirty="0"/>
            </a:br>
            <a:r>
              <a:rPr lang="zh-CN" altLang="en-US" dirty="0">
                <a:sym typeface="+mn-ea"/>
              </a:rPr>
              <a:t>The highest bit is used to represent the sign of the number.</a:t>
            </a:r>
            <a:endParaRPr lang="zh-CN" altLang="en-US" dirty="0"/>
          </a:p>
          <a:p>
            <a:pPr eaLnBrk="1" hangingPunct="1">
              <a:lnSpc>
                <a:spcPct val="124000"/>
              </a:lnSpc>
              <a:spcBef>
                <a:spcPts val="0"/>
              </a:spcBef>
              <a:spcAft>
                <a:spcPts val="4800"/>
              </a:spcAft>
              <a:buFontTx/>
              <a:buNone/>
              <a:defRPr/>
            </a:pPr>
            <a:r>
              <a:rPr lang="zh-CN" altLang="en-US" dirty="0"/>
              <a:t>  </a:t>
            </a:r>
            <a:endParaRPr lang="en-US" altLang="zh-CN" dirty="0"/>
          </a:p>
          <a:p>
            <a:pPr indent="100330" eaLnBrk="1" hangingPunct="1">
              <a:lnSpc>
                <a:spcPct val="124000"/>
              </a:lnSpc>
              <a:spcBef>
                <a:spcPts val="0"/>
              </a:spcBef>
              <a:buFontTx/>
              <a:buNone/>
              <a:defRPr/>
            </a:pPr>
            <a:r>
              <a:rPr lang="zh-CN" altLang="en-US" dirty="0"/>
              <a:t>带符号数又有</a:t>
            </a:r>
            <a:r>
              <a:rPr lang="zh-CN" altLang="en-US" dirty="0">
                <a:solidFill>
                  <a:srgbClr val="CC3300"/>
                </a:solidFill>
              </a:rPr>
              <a:t>原码</a:t>
            </a:r>
            <a:r>
              <a:rPr lang="zh-CN" altLang="en-US" dirty="0"/>
              <a:t>、</a:t>
            </a:r>
            <a:r>
              <a:rPr lang="zh-CN" altLang="en-US" dirty="0">
                <a:solidFill>
                  <a:srgbClr val="CC3300"/>
                </a:solidFill>
              </a:rPr>
              <a:t>补码</a:t>
            </a:r>
            <a:r>
              <a:rPr lang="zh-CN" altLang="en-US" dirty="0"/>
              <a:t>和</a:t>
            </a:r>
            <a:r>
              <a:rPr lang="zh-CN" altLang="en-US" dirty="0">
                <a:solidFill>
                  <a:srgbClr val="CC3300"/>
                </a:solidFill>
              </a:rPr>
              <a:t>反码</a:t>
            </a:r>
            <a:r>
              <a:rPr lang="zh-CN" altLang="en-US" dirty="0"/>
              <a:t>三种形式。</a:t>
            </a:r>
            <a:br>
              <a:rPr lang="zh-CN" altLang="en-US" dirty="0"/>
            </a:br>
            <a:r>
              <a:rPr lang="zh-CN" altLang="en-US" dirty="0">
                <a:sym typeface="+mn-ea"/>
              </a:rPr>
              <a:t>The number is represented in three forms: true form, two's complement code and inverse code.</a:t>
            </a:r>
            <a:endParaRPr lang="zh-CN" altLang="en-US" dirty="0"/>
          </a:p>
          <a:p>
            <a:pPr indent="100330" eaLnBrk="1" hangingPunct="1">
              <a:lnSpc>
                <a:spcPct val="124000"/>
              </a:lnSpc>
              <a:spcBef>
                <a:spcPts val="0"/>
              </a:spcBef>
              <a:buFontTx/>
              <a:buNone/>
              <a:defRPr/>
            </a:pPr>
            <a:endParaRPr lang="zh-CN" altLang="en-US" dirty="0"/>
          </a:p>
        </p:txBody>
      </p:sp>
      <p:sp>
        <p:nvSpPr>
          <p:cNvPr id="7" name="Rectangle 6"/>
          <p:cNvSpPr>
            <a:spLocks noChangeArrowheads="1"/>
          </p:cNvSpPr>
          <p:nvPr/>
        </p:nvSpPr>
        <p:spPr bwMode="auto">
          <a:xfrm>
            <a:off x="6739255" y="2662555"/>
            <a:ext cx="4878070" cy="713105"/>
          </a:xfrm>
          <a:prstGeom prst="rect">
            <a:avLst/>
          </a:prstGeom>
          <a:noFill/>
          <a:ln w="9525" algn="ctr">
            <a:solidFill>
              <a:schemeClr val="accent1"/>
            </a:solidFill>
            <a:miter lim="800000"/>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o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=(01100100)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8" name="Rectangle 6"/>
          <p:cNvSpPr>
            <a:spLocks noChangeArrowheads="1"/>
          </p:cNvSpPr>
          <p:nvPr/>
        </p:nvSpPr>
        <p:spPr bwMode="auto">
          <a:xfrm>
            <a:off x="459501" y="3882708"/>
            <a:ext cx="5849938" cy="5835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a:t>
            </a:r>
            <a:r>
              <a:rPr lang="zh-CN" altLang="en-US" sz="3200" dirty="0">
                <a:solidFill>
                  <a:srgbClr val="9900CC"/>
                </a:solidFill>
                <a:latin typeface="宋体" panose="02010600030101010101" pitchFamily="2" charset="-122"/>
              </a:rPr>
              <a:t>字长</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a:t>
            </a:r>
            <a:r>
              <a:rPr kumimoji="1" lang="en-US" altLang="zh-CN" sz="3200" b="1" dirty="0">
                <a:solidFill>
                  <a:srgbClr val="FF0000"/>
                </a:solidFill>
                <a:latin typeface="Arial" panose="020B0604020202020204" pitchFamily="34" charset="0"/>
              </a:rPr>
              <a:t>1</a:t>
            </a:r>
            <a:r>
              <a:rPr kumimoji="1" lang="en-US" altLang="zh-CN" sz="3200" b="1" dirty="0">
                <a:solidFill>
                  <a:srgbClr val="0000CC"/>
                </a:solidFill>
                <a:latin typeface="Arial" panose="020B0604020202020204" pitchFamily="34" charset="0"/>
              </a:rPr>
              <a:t>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9" name="Rectangle 6"/>
          <p:cNvSpPr>
            <a:spLocks noChangeArrowheads="1"/>
          </p:cNvSpPr>
          <p:nvPr/>
        </p:nvSpPr>
        <p:spPr bwMode="auto">
          <a:xfrm>
            <a:off x="6356270" y="3883229"/>
            <a:ext cx="5835650" cy="5835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eaLnBrk="1" hangingPunct="1"/>
            <a:r>
              <a:rPr kumimoji="1" lang="en-US" altLang="zh-CN" sz="3200" b="1" dirty="0">
                <a:solidFill>
                  <a:srgbClr val="9900CC"/>
                </a:solidFill>
                <a:latin typeface="Arial" panose="020B0604020202020204" pitchFamily="34" charset="0"/>
              </a:rPr>
              <a:t>8</a:t>
            </a:r>
            <a:r>
              <a:rPr kumimoji="1" lang="zh-CN" altLang="en-US" sz="3200" b="1" dirty="0">
                <a:solidFill>
                  <a:srgbClr val="9900CC"/>
                </a:solidFill>
                <a:latin typeface="Arial" panose="020B0604020202020204" pitchFamily="34" charset="0"/>
              </a:rPr>
              <a:t>位</a:t>
            </a:r>
            <a:r>
              <a:rPr lang="zh-CN" altLang="en-US" sz="3200" dirty="0">
                <a:solidFill>
                  <a:srgbClr val="9900CC"/>
                </a:solidFill>
                <a:latin typeface="宋体" panose="02010600030101010101" pitchFamily="2" charset="-122"/>
              </a:rPr>
              <a:t>字长</a:t>
            </a:r>
            <a:r>
              <a:rPr kumimoji="1" lang="en-US" altLang="zh-CN" sz="3200" b="1" dirty="0">
                <a:solidFill>
                  <a:srgbClr val="9900CC"/>
                </a:solidFill>
                <a:latin typeface="Arial" panose="020B0604020202020204" pitchFamily="34" charset="0"/>
              </a:rPr>
              <a:t>: </a:t>
            </a:r>
            <a:r>
              <a:rPr kumimoji="1" lang="en-US" altLang="zh-CN" sz="3200" b="1" dirty="0">
                <a:solidFill>
                  <a:srgbClr val="0000CC"/>
                </a:solidFill>
                <a:latin typeface="Arial" panose="020B0604020202020204" pitchFamily="34" charset="0"/>
              </a:rPr>
              <a:t>(+100)</a:t>
            </a:r>
            <a:r>
              <a:rPr kumimoji="1" lang="en-US" altLang="zh-CN" sz="3200" b="1" baseline="-25000" dirty="0">
                <a:solidFill>
                  <a:srgbClr val="0000CC"/>
                </a:solidFill>
                <a:latin typeface="Arial" panose="020B0604020202020204" pitchFamily="34" charset="0"/>
              </a:rPr>
              <a:t>10</a:t>
            </a:r>
            <a:r>
              <a:rPr kumimoji="1" lang="en-US" altLang="zh-CN" sz="3200" b="1" dirty="0">
                <a:solidFill>
                  <a:srgbClr val="0000CC"/>
                </a:solidFill>
                <a:latin typeface="Arial" panose="020B0604020202020204" pitchFamily="34" charset="0"/>
              </a:rPr>
              <a:t>=(</a:t>
            </a:r>
            <a:r>
              <a:rPr kumimoji="1" lang="en-US" altLang="zh-CN" sz="3200" b="1" dirty="0">
                <a:solidFill>
                  <a:srgbClr val="FF0000"/>
                </a:solidFill>
                <a:latin typeface="Arial" panose="020B0604020202020204" pitchFamily="34" charset="0"/>
              </a:rPr>
              <a:t>0</a:t>
            </a:r>
            <a:r>
              <a:rPr kumimoji="1" lang="en-US" altLang="zh-CN" sz="3200" b="1" dirty="0">
                <a:solidFill>
                  <a:srgbClr val="0000CC"/>
                </a:solidFill>
                <a:latin typeface="Arial" panose="020B0604020202020204" pitchFamily="34" charset="0"/>
              </a:rPr>
              <a:t>1100100)</a:t>
            </a:r>
            <a:r>
              <a:rPr kumimoji="1" lang="en-US" altLang="zh-CN" sz="3200" b="1" baseline="-25000" dirty="0">
                <a:solidFill>
                  <a:srgbClr val="0000CC"/>
                </a:solidFill>
                <a:latin typeface="Arial" panose="020B0604020202020204" pitchFamily="34" charset="0"/>
              </a:rPr>
              <a:t>2</a:t>
            </a:r>
            <a:endParaRPr kumimoji="1" lang="en-US" altLang="zh-CN" sz="3200" b="1" dirty="0">
              <a:solidFill>
                <a:srgbClr val="0000CC"/>
              </a:solidFill>
              <a:latin typeface="Arial" panose="020B0604020202020204" pitchFamily="34" charset="0"/>
            </a:endParaRPr>
          </a:p>
        </p:txBody>
      </p:sp>
      <p:sp>
        <p:nvSpPr>
          <p:cNvPr id="2" name="文本框 1"/>
          <p:cNvSpPr txBox="1"/>
          <p:nvPr/>
        </p:nvSpPr>
        <p:spPr>
          <a:xfrm>
            <a:off x="6850380" y="3097530"/>
            <a:ext cx="6096000" cy="240030"/>
          </a:xfrm>
          <a:prstGeom prst="rect">
            <a:avLst/>
          </a:prstGeom>
          <a:noFill/>
        </p:spPr>
        <p:txBody>
          <a:bodyPr wrap="square" rtlCol="0" anchor="t">
            <a:noAutofit/>
          </a:bodyPr>
          <a:lstStyle/>
          <a:p>
            <a:r>
              <a:rPr kumimoji="1" lang="en-US" altLang="zh-CN" sz="1600" b="1" dirty="0">
                <a:solidFill>
                  <a:srgbClr val="9900CC"/>
                </a:solidFill>
                <a:latin typeface="Arial" panose="020B0604020202020204" pitchFamily="34" charset="0"/>
                <a:sym typeface="+mn-ea"/>
              </a:rPr>
              <a:t>8-bit: </a:t>
            </a:r>
          </a:p>
        </p:txBody>
      </p:sp>
      <p:sp>
        <p:nvSpPr>
          <p:cNvPr id="6" name="矩形 5"/>
          <p:cNvSpPr/>
          <p:nvPr/>
        </p:nvSpPr>
        <p:spPr>
          <a:xfrm>
            <a:off x="66675" y="5425572"/>
            <a:ext cx="12125325" cy="893386"/>
          </a:xfrm>
          <a:prstGeom prst="rect">
            <a:avLst/>
          </a:prstGeom>
        </p:spPr>
        <p:txBody>
          <a:bodyPr wrap="square">
            <a:spAutoFit/>
          </a:bodyPr>
          <a:lstStyle/>
          <a:p>
            <a:pPr marL="88900" lvl="2" eaLnBrk="1" hangingPunct="1">
              <a:lnSpc>
                <a:spcPct val="104000"/>
              </a:lnSpc>
              <a:spcBef>
                <a:spcPts val="0"/>
              </a:spcBef>
              <a:spcAft>
                <a:spcPts val="600"/>
              </a:spcAft>
              <a:buSzPct val="60000"/>
              <a:buFont typeface="Wingdings" panose="05000000000000000000" pitchFamily="2" charset="2"/>
              <a:buChar char="Ø"/>
              <a:defRPr/>
            </a:pPr>
            <a:r>
              <a:rPr lang="zh-CN" altLang="en-US" sz="2400" b="1" dirty="0">
                <a:solidFill>
                  <a:srgbClr val="0000CC"/>
                </a:solidFill>
                <a:latin typeface="+mn-ea"/>
              </a:rPr>
              <a:t>本小节介绍</a:t>
            </a:r>
            <a:r>
              <a:rPr lang="en-US" altLang="zh-CN" sz="2400" b="1" dirty="0">
                <a:solidFill>
                  <a:srgbClr val="0000CC"/>
                </a:solidFill>
                <a:latin typeface="+mn-ea"/>
              </a:rPr>
              <a:t>:</a:t>
            </a:r>
            <a:r>
              <a:rPr lang="zh-CN" altLang="en-US" sz="2400" b="1" dirty="0">
                <a:solidFill>
                  <a:srgbClr val="0000CC"/>
                </a:solidFill>
                <a:latin typeface="+mn-ea"/>
              </a:rPr>
              <a:t> </a:t>
            </a:r>
            <a:r>
              <a:rPr lang="en-US" altLang="zh-CN" sz="2400" b="1" dirty="0">
                <a:latin typeface="+mn-ea"/>
              </a:rPr>
              <a:t>1.</a:t>
            </a:r>
            <a:r>
              <a:rPr lang="zh-CN" altLang="en-US" sz="2400" b="1" dirty="0">
                <a:latin typeface="+mn-ea"/>
              </a:rPr>
              <a:t>原码</a:t>
            </a:r>
            <a:r>
              <a:rPr lang="en-US" altLang="zh-CN" sz="2400" b="1" dirty="0">
                <a:latin typeface="+mn-ea"/>
              </a:rPr>
              <a:t>;2.</a:t>
            </a:r>
            <a:r>
              <a:rPr lang="zh-CN" altLang="en-US" sz="2400" b="1" dirty="0">
                <a:latin typeface="+mn-ea"/>
              </a:rPr>
              <a:t>反码</a:t>
            </a:r>
            <a:r>
              <a:rPr lang="en-US" altLang="zh-CN" sz="2400" b="1" dirty="0">
                <a:latin typeface="+mn-ea"/>
              </a:rPr>
              <a:t>; 3.</a:t>
            </a:r>
            <a:r>
              <a:rPr lang="zh-CN" altLang="en-US" sz="2400" b="1" dirty="0">
                <a:latin typeface="+mn-ea"/>
              </a:rPr>
              <a:t>补码</a:t>
            </a:r>
            <a:r>
              <a:rPr lang="en-US" altLang="zh-CN" sz="2400" b="1" dirty="0">
                <a:latin typeface="+mn-ea"/>
              </a:rPr>
              <a:t>; 4.</a:t>
            </a:r>
            <a:r>
              <a:rPr lang="zh-CN" altLang="en-US" sz="2400" b="1" dirty="0">
                <a:latin typeface="+mn-ea"/>
              </a:rPr>
              <a:t>十进制数的编码</a:t>
            </a:r>
            <a:r>
              <a:rPr lang="en-US" altLang="zh-CN" sz="2400" b="1" dirty="0">
                <a:solidFill>
                  <a:srgbClr val="0000CC"/>
                </a:solidFill>
                <a:latin typeface="+mn-ea"/>
              </a:rPr>
              <a:t>((</a:t>
            </a:r>
            <a:r>
              <a:rPr lang="zh-CN" altLang="en-US" sz="2400" b="1" dirty="0">
                <a:solidFill>
                  <a:srgbClr val="0000CC"/>
                </a:solidFill>
                <a:latin typeface="+mn-ea"/>
                <a:cs typeface="Times New Roman" panose="02020603050405020304" pitchFamily="18" charset="0"/>
              </a:rPr>
              <a:t>非</a:t>
            </a:r>
            <a:r>
              <a:rPr lang="en-US" altLang="zh-CN" sz="2400" b="1" dirty="0">
                <a:solidFill>
                  <a:srgbClr val="0000CC"/>
                </a:solidFill>
                <a:latin typeface="+mn-ea"/>
                <a:cs typeface="Times New Roman" panose="02020603050405020304" pitchFamily="18" charset="0"/>
              </a:rPr>
              <a:t>)</a:t>
            </a:r>
            <a:r>
              <a:rPr lang="zh-CN" altLang="en-US" sz="2400" b="1" dirty="0">
                <a:solidFill>
                  <a:srgbClr val="0000CC"/>
                </a:solidFill>
                <a:latin typeface="+mn-ea"/>
                <a:cs typeface="Times New Roman" panose="02020603050405020304" pitchFamily="18" charset="0"/>
              </a:rPr>
              <a:t>压缩</a:t>
            </a:r>
            <a:r>
              <a:rPr lang="en-US" altLang="zh-CN" sz="2400" b="1" dirty="0">
                <a:solidFill>
                  <a:srgbClr val="0000CC"/>
                </a:solidFill>
                <a:latin typeface="+mn-ea"/>
                <a:cs typeface="Times New Roman" panose="02020603050405020304" pitchFamily="18" charset="0"/>
              </a:rPr>
              <a:t>BCD</a:t>
            </a:r>
            <a:r>
              <a:rPr lang="zh-CN" altLang="en-US" sz="2400" b="1" dirty="0">
                <a:solidFill>
                  <a:srgbClr val="0000CC"/>
                </a:solidFill>
                <a:latin typeface="+mn-ea"/>
                <a:cs typeface="Times New Roman" panose="02020603050405020304" pitchFamily="18" charset="0"/>
              </a:rPr>
              <a:t>码</a:t>
            </a:r>
            <a:r>
              <a:rPr lang="en-US" altLang="zh-CN" sz="2400" b="1" dirty="0">
                <a:solidFill>
                  <a:srgbClr val="0000CC"/>
                </a:solidFill>
                <a:latin typeface="+mn-ea"/>
              </a:rPr>
              <a:t>)</a:t>
            </a:r>
          </a:p>
          <a:p>
            <a:pPr marL="0" lvl="2" indent="0" eaLnBrk="1" hangingPunct="1">
              <a:lnSpc>
                <a:spcPct val="104000"/>
              </a:lnSpc>
              <a:spcBef>
                <a:spcPts val="0"/>
              </a:spcBef>
              <a:spcAft>
                <a:spcPts val="600"/>
              </a:spcAft>
              <a:buSzPct val="60000"/>
              <a:buFont typeface="Wingdings" panose="05000000000000000000" pitchFamily="2" charset="2"/>
              <a:buNone/>
              <a:defRPr/>
            </a:pPr>
            <a:r>
              <a:rPr lang="en-US" altLang="zh-CN" b="1" dirty="0">
                <a:solidFill>
                  <a:srgbClr val="0000CC"/>
                </a:solidFill>
                <a:latin typeface="+mn-ea"/>
              </a:rPr>
              <a:t> </a:t>
            </a:r>
            <a:r>
              <a:rPr lang="zh-CN" altLang="en-US" b="1" dirty="0">
                <a:solidFill>
                  <a:srgbClr val="0000CC"/>
                </a:solidFill>
                <a:latin typeface="+mn-ea"/>
                <a:sym typeface="+mn-ea"/>
              </a:rPr>
              <a:t>This section introduces: 1.</a:t>
            </a:r>
            <a:r>
              <a:rPr lang="en-US" altLang="zh-CN" b="1" dirty="0">
                <a:latin typeface="+mn-ea"/>
                <a:sym typeface="+mn-ea"/>
              </a:rPr>
              <a:t>T</a:t>
            </a:r>
            <a:r>
              <a:rPr lang="zh-CN" altLang="en-US" b="1" dirty="0">
                <a:latin typeface="+mn-ea"/>
                <a:sym typeface="+mn-ea"/>
              </a:rPr>
              <a:t>rue form; 2.Inverse code; 3.</a:t>
            </a:r>
            <a:r>
              <a:rPr lang="en-US" altLang="zh-CN" b="1" dirty="0">
                <a:latin typeface="+mn-ea"/>
                <a:sym typeface="+mn-ea"/>
              </a:rPr>
              <a:t>T</a:t>
            </a:r>
            <a:r>
              <a:rPr lang="zh-CN" altLang="en-US" b="1" dirty="0">
                <a:latin typeface="+mn-ea"/>
                <a:sym typeface="+mn-ea"/>
              </a:rPr>
              <a:t>wo's complement; 4.Coding of decimal numbers</a:t>
            </a:r>
            <a:r>
              <a:rPr lang="en-US" altLang="zh-CN" sz="2400" b="1" dirty="0">
                <a:solidFill>
                  <a:srgbClr val="0000CC"/>
                </a:solidFill>
                <a:latin typeface="+mn-ea"/>
              </a:rPr>
              <a:t>        </a:t>
            </a:r>
            <a:endParaRPr lang="en-US" altLang="zh-CN" sz="2400" b="1" dirty="0">
              <a:latin typeface="+mn-ea"/>
            </a:endParaRPr>
          </a:p>
        </p:txBody>
      </p:sp>
      <p:sp>
        <p:nvSpPr>
          <p:cNvPr id="10" name="文本框 9"/>
          <p:cNvSpPr txBox="1"/>
          <p:nvPr/>
        </p:nvSpPr>
        <p:spPr>
          <a:xfrm>
            <a:off x="6403340" y="4366260"/>
            <a:ext cx="6096000" cy="337185"/>
          </a:xfrm>
          <a:prstGeom prst="rect">
            <a:avLst/>
          </a:prstGeom>
          <a:noFill/>
        </p:spPr>
        <p:txBody>
          <a:bodyPr wrap="square" rtlCol="0" anchor="t">
            <a:spAutoFit/>
          </a:bodyPr>
          <a:lstStyle/>
          <a:p>
            <a:r>
              <a:rPr kumimoji="1" lang="en-US" altLang="zh-CN" sz="1600" b="1" dirty="0">
                <a:solidFill>
                  <a:srgbClr val="9900CC"/>
                </a:solidFill>
                <a:latin typeface="Arial" panose="020B0604020202020204" pitchFamily="34" charset="0"/>
                <a:sym typeface="+mn-ea"/>
              </a:rPr>
              <a:t>8-bit word length:</a:t>
            </a:r>
          </a:p>
        </p:txBody>
      </p:sp>
      <p:sp>
        <p:nvSpPr>
          <p:cNvPr id="11" name="文本框 10"/>
          <p:cNvSpPr txBox="1"/>
          <p:nvPr/>
        </p:nvSpPr>
        <p:spPr>
          <a:xfrm>
            <a:off x="567055" y="4358640"/>
            <a:ext cx="6096000" cy="337185"/>
          </a:xfrm>
          <a:prstGeom prst="rect">
            <a:avLst/>
          </a:prstGeom>
          <a:noFill/>
        </p:spPr>
        <p:txBody>
          <a:bodyPr wrap="square" rtlCol="0" anchor="t">
            <a:spAutoFit/>
          </a:bodyPr>
          <a:lstStyle/>
          <a:p>
            <a:r>
              <a:rPr kumimoji="1" lang="en-US" altLang="zh-CN" sz="1600" b="1" dirty="0">
                <a:solidFill>
                  <a:srgbClr val="9900CC"/>
                </a:solidFill>
                <a:latin typeface="Arial" panose="020B0604020202020204" pitchFamily="34" charset="0"/>
                <a:sym typeface="+mn-ea"/>
              </a:rPr>
              <a:t>8-bit word length: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
          <p:cNvSpPr>
            <a:spLocks noGrp="1" noChangeArrowheads="1"/>
          </p:cNvSpPr>
          <p:nvPr>
            <p:ph type="title"/>
          </p:nvPr>
        </p:nvSpPr>
        <p:spPr>
          <a:xfrm>
            <a:off x="623570" y="334889"/>
            <a:ext cx="7591425" cy="747713"/>
          </a:xfrm>
        </p:spPr>
        <p:txBody>
          <a:bodyPr>
            <a:normAutofit fontScale="90000"/>
          </a:bodyPr>
          <a:lstStyle/>
          <a:p>
            <a:pPr eaLnBrk="1" hangingPunct="1"/>
            <a:r>
              <a:rPr lang="en-US" altLang="zh-CN" sz="4000" dirty="0">
                <a:latin typeface="宋体" panose="02010600030101010101" pitchFamily="2" charset="-122"/>
              </a:rPr>
              <a:t>1</a:t>
            </a:r>
            <a:r>
              <a:rPr lang="zh-CN" altLang="en-US" sz="4000" dirty="0">
                <a:latin typeface="宋体" panose="02010600030101010101" pitchFamily="2" charset="-122"/>
              </a:rPr>
              <a:t>、原码表示法</a:t>
            </a:r>
            <a:br>
              <a:rPr lang="zh-CN" altLang="en-US" sz="4000" dirty="0">
                <a:latin typeface="宋体" panose="02010600030101010101" pitchFamily="2" charset="-122"/>
              </a:rPr>
            </a:br>
            <a:r>
              <a:rPr lang="en-US" altLang="zh-CN" sz="4000" dirty="0">
                <a:latin typeface="宋体" panose="02010600030101010101" pitchFamily="2" charset="-122"/>
                <a:sym typeface="+mn-ea"/>
              </a:rPr>
              <a:t>True form representation</a:t>
            </a:r>
            <a:endParaRPr lang="zh-CN" altLang="en-US" sz="4000" dirty="0"/>
          </a:p>
        </p:txBody>
      </p:sp>
      <p:sp>
        <p:nvSpPr>
          <p:cNvPr id="317443" name="Rectangle 3"/>
          <p:cNvSpPr>
            <a:spLocks noGrp="1" noChangeArrowheads="1"/>
          </p:cNvSpPr>
          <p:nvPr>
            <p:ph idx="1"/>
          </p:nvPr>
        </p:nvSpPr>
        <p:spPr>
          <a:xfrm>
            <a:off x="623570" y="1185191"/>
            <a:ext cx="10699750" cy="2476500"/>
          </a:xfrm>
        </p:spPr>
        <p:txBody>
          <a:bodyPr>
            <a:normAutofit fontScale="90000"/>
          </a:bodyPr>
          <a:lstStyle/>
          <a:p>
            <a:pPr eaLnBrk="1" hangingPunct="1">
              <a:lnSpc>
                <a:spcPct val="110000"/>
              </a:lnSpc>
              <a:spcBef>
                <a:spcPct val="0"/>
              </a:spcBef>
            </a:pPr>
            <a:r>
              <a:rPr lang="zh-CN" altLang="en-US" dirty="0"/>
              <a:t>由于计算机中只能有</a:t>
            </a:r>
            <a:r>
              <a:rPr lang="en-US" altLang="zh-CN" dirty="0"/>
              <a:t>0</a:t>
            </a:r>
            <a:r>
              <a:rPr lang="zh-CN" altLang="en-US" dirty="0"/>
              <a:t>、</a:t>
            </a:r>
            <a:r>
              <a:rPr lang="en-US" altLang="zh-CN" dirty="0"/>
              <a:t>1</a:t>
            </a:r>
            <a:r>
              <a:rPr lang="zh-CN" altLang="en-US" dirty="0"/>
              <a:t>两种数，不仅数的数值部分在计算机中用</a:t>
            </a:r>
            <a:r>
              <a:rPr lang="en-US" altLang="zh-CN" dirty="0"/>
              <a:t>0</a:t>
            </a:r>
            <a:r>
              <a:rPr lang="zh-CN" altLang="en-US" dirty="0"/>
              <a:t>、</a:t>
            </a:r>
            <a:r>
              <a:rPr lang="en-US" altLang="zh-CN" dirty="0"/>
              <a:t>1</a:t>
            </a:r>
            <a:r>
              <a:rPr lang="zh-CN" altLang="en-US" dirty="0"/>
              <a:t>编码的形式表示，</a:t>
            </a:r>
            <a:r>
              <a:rPr lang="zh-CN" altLang="en-US" dirty="0">
                <a:solidFill>
                  <a:srgbClr val="FF0000"/>
                </a:solidFill>
              </a:rPr>
              <a:t>正、负号也只能用</a:t>
            </a:r>
            <a:r>
              <a:rPr lang="en-US" altLang="zh-CN" dirty="0">
                <a:solidFill>
                  <a:srgbClr val="FF0000"/>
                </a:solidFill>
              </a:rPr>
              <a:t>0</a:t>
            </a:r>
            <a:r>
              <a:rPr lang="zh-CN" altLang="en-US" dirty="0">
                <a:solidFill>
                  <a:srgbClr val="FF0000"/>
                </a:solidFill>
              </a:rPr>
              <a:t>、</a:t>
            </a:r>
            <a:r>
              <a:rPr lang="en-US" altLang="zh-CN" dirty="0">
                <a:solidFill>
                  <a:srgbClr val="FF0000"/>
                </a:solidFill>
              </a:rPr>
              <a:t>1</a:t>
            </a:r>
            <a:r>
              <a:rPr lang="zh-CN" altLang="en-US" dirty="0">
                <a:solidFill>
                  <a:srgbClr val="FF0000"/>
                </a:solidFill>
              </a:rPr>
              <a:t>编码表示</a:t>
            </a:r>
            <a:r>
              <a:rPr lang="zh-CN" altLang="en-US" dirty="0"/>
              <a:t>。</a:t>
            </a:r>
            <a:br>
              <a:rPr lang="zh-CN" altLang="en-US" dirty="0"/>
            </a:br>
            <a:r>
              <a:rPr lang="zh-CN" altLang="en-US" dirty="0">
                <a:sym typeface="+mn-ea"/>
              </a:rPr>
              <a:t>Because there are only 0 and 1 numbers in a computer, not only the numerical part of the number is represented by 0 and 1 codes in the computer, but also </a:t>
            </a:r>
            <a:r>
              <a:rPr lang="zh-CN" altLang="en-US" dirty="0">
                <a:solidFill>
                  <a:srgbClr val="FF0000"/>
                </a:solidFill>
                <a:sym typeface="+mn-ea"/>
              </a:rPr>
              <a:t>the positive and negative signs can only be represented by 0 and 1 codes.</a:t>
            </a:r>
            <a:endParaRPr lang="zh-CN" altLang="en-US" dirty="0"/>
          </a:p>
          <a:p>
            <a:pPr eaLnBrk="1" hangingPunct="1">
              <a:lnSpc>
                <a:spcPct val="110000"/>
              </a:lnSpc>
              <a:spcBef>
                <a:spcPct val="0"/>
              </a:spcBef>
            </a:pPr>
            <a:r>
              <a:rPr lang="zh-CN" altLang="en-US" dirty="0"/>
              <a:t>一般用数的</a:t>
            </a:r>
            <a:r>
              <a:rPr lang="zh-CN" altLang="en-US" dirty="0">
                <a:solidFill>
                  <a:srgbClr val="CC3300"/>
                </a:solidFill>
              </a:rPr>
              <a:t>最高位</a:t>
            </a:r>
            <a:r>
              <a:rPr lang="en-US" altLang="zh-CN" dirty="0"/>
              <a:t>(</a:t>
            </a:r>
            <a:r>
              <a:rPr lang="en-US" altLang="zh-CN" dirty="0">
                <a:latin typeface="Times New Roman" panose="02020603050405020304" pitchFamily="18" charset="0"/>
                <a:cs typeface="Times New Roman" panose="02020603050405020304" pitchFamily="18" charset="0"/>
              </a:rPr>
              <a:t>Most Significant Bit, MSB</a:t>
            </a:r>
            <a:r>
              <a:rPr lang="en-US" altLang="zh-CN" dirty="0"/>
              <a:t>)</a:t>
            </a:r>
            <a:r>
              <a:rPr lang="zh-CN" altLang="en-US" dirty="0">
                <a:solidFill>
                  <a:srgbClr val="FF0000"/>
                </a:solidFill>
              </a:rPr>
              <a:t>表示数的正负符号</a:t>
            </a:r>
            <a:r>
              <a:rPr lang="zh-CN" altLang="en-US" dirty="0"/>
              <a:t>。</a:t>
            </a:r>
            <a:br>
              <a:rPr lang="zh-CN" altLang="en-US" dirty="0"/>
            </a:br>
            <a:r>
              <a:rPr lang="zh-CN" altLang="en-US" dirty="0">
                <a:solidFill>
                  <a:srgbClr val="CC3300"/>
                </a:solidFill>
                <a:sym typeface="+mn-ea"/>
              </a:rPr>
              <a:t>The most significant bit (MSB) </a:t>
            </a:r>
            <a:r>
              <a:rPr lang="zh-CN" altLang="en-US" dirty="0">
                <a:sym typeface="+mn-ea"/>
              </a:rPr>
              <a:t>of a number generally </a:t>
            </a:r>
            <a:r>
              <a:rPr lang="zh-CN" altLang="en-US" dirty="0">
                <a:solidFill>
                  <a:srgbClr val="FF0000"/>
                </a:solidFill>
                <a:sym typeface="+mn-ea"/>
              </a:rPr>
              <a:t>indicates the positive or negative sign of the number.</a:t>
            </a:r>
            <a:endParaRPr lang="zh-CN" altLang="en-US" dirty="0"/>
          </a:p>
          <a:p>
            <a:pPr eaLnBrk="1" hangingPunct="1">
              <a:lnSpc>
                <a:spcPct val="110000"/>
              </a:lnSpc>
              <a:spcBef>
                <a:spcPct val="0"/>
              </a:spcBef>
            </a:pPr>
            <a:endParaRPr lang="zh-CN" altLang="en-US" dirty="0"/>
          </a:p>
        </p:txBody>
      </p:sp>
      <p:sp>
        <p:nvSpPr>
          <p:cNvPr id="6" name="Rectangle 3"/>
          <p:cNvSpPr txBox="1">
            <a:spLocks noChangeArrowheads="1"/>
          </p:cNvSpPr>
          <p:nvPr/>
        </p:nvSpPr>
        <p:spPr bwMode="auto">
          <a:xfrm>
            <a:off x="623570" y="3764280"/>
            <a:ext cx="10944860" cy="1903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110000"/>
              </a:lnSpc>
              <a:spcBef>
                <a:spcPts val="0"/>
              </a:spcBef>
              <a:buFontTx/>
              <a:buNone/>
              <a:defRPr/>
            </a:pPr>
            <a:r>
              <a:rPr lang="zh-CN" altLang="en-US" sz="1800" kern="0" dirty="0"/>
              <a:t>   例如，若用</a:t>
            </a:r>
            <a:r>
              <a:rPr lang="en-US" altLang="zh-CN" sz="1800" kern="0" dirty="0">
                <a:solidFill>
                  <a:srgbClr val="FF0000"/>
                </a:solidFill>
              </a:rPr>
              <a:t>5</a:t>
            </a:r>
            <a:r>
              <a:rPr lang="zh-CN" altLang="en-US" sz="1800" kern="0" dirty="0">
                <a:solidFill>
                  <a:srgbClr val="FF0000"/>
                </a:solidFill>
              </a:rPr>
              <a:t>位二进制数</a:t>
            </a:r>
            <a:r>
              <a:rPr lang="zh-CN" altLang="en-US" sz="1800" kern="0" dirty="0"/>
              <a:t>表示数据时，</a:t>
            </a:r>
            <a:r>
              <a:rPr lang="zh-CN" altLang="en-US" sz="1800" kern="0" dirty="0">
                <a:solidFill>
                  <a:srgbClr val="990033"/>
                </a:solidFill>
              </a:rPr>
              <a:t>最高位表示符号</a:t>
            </a:r>
            <a:r>
              <a:rPr lang="zh-CN" altLang="en-US" sz="1800" kern="0" dirty="0"/>
              <a:t>，</a:t>
            </a:r>
            <a:r>
              <a:rPr lang="en-US" altLang="zh-CN" sz="1800" kern="0" dirty="0"/>
              <a:t>0</a:t>
            </a:r>
            <a:r>
              <a:rPr lang="zh-CN" altLang="en-US" sz="1800" kern="0" dirty="0"/>
              <a:t>表示正数，</a:t>
            </a:r>
            <a:r>
              <a:rPr lang="en-US" altLang="zh-CN" sz="1800" kern="0" dirty="0"/>
              <a:t>1</a:t>
            </a:r>
            <a:r>
              <a:rPr lang="zh-CN" altLang="en-US" sz="1800" kern="0" dirty="0"/>
              <a:t>表示负数，余下的</a:t>
            </a:r>
            <a:r>
              <a:rPr lang="zh-CN" altLang="en-US" sz="1800" kern="0" dirty="0">
                <a:solidFill>
                  <a:srgbClr val="FF00FF"/>
                </a:solidFill>
              </a:rPr>
              <a:t>四位表示数据</a:t>
            </a:r>
            <a:r>
              <a:rPr lang="zh-CN" altLang="en-US" sz="1800" kern="0" dirty="0"/>
              <a:t>：</a:t>
            </a:r>
          </a:p>
          <a:p>
            <a:pPr marL="0" indent="0" eaLnBrk="1" hangingPunct="1">
              <a:lnSpc>
                <a:spcPct val="110000"/>
              </a:lnSpc>
              <a:spcBef>
                <a:spcPts val="0"/>
              </a:spcBef>
              <a:buFontTx/>
              <a:buNone/>
              <a:defRPr/>
            </a:pPr>
            <a:r>
              <a:rPr lang="zh-CN" altLang="en-US" sz="1200" kern="0" dirty="0">
                <a:sym typeface="+mn-ea"/>
              </a:rPr>
              <a:t>For example, if a 5-bit binary number is used to represent data, the highest bit represents the sign, 0 for a positive number and 1 for a negative number, and the remaining four bits represent the data:</a:t>
            </a:r>
            <a:endParaRPr lang="zh-CN" altLang="en-US" sz="2000" kern="0" dirty="0"/>
          </a:p>
          <a:p>
            <a:pPr marL="0" indent="0" eaLnBrk="1" hangingPunct="1">
              <a:lnSpc>
                <a:spcPct val="110000"/>
              </a:lnSpc>
              <a:spcBef>
                <a:spcPts val="0"/>
              </a:spcBef>
              <a:buFontTx/>
              <a:buNone/>
              <a:defRPr/>
            </a:pPr>
            <a:r>
              <a:rPr lang="en-US" altLang="zh-CN" sz="2000" kern="0" dirty="0">
                <a:solidFill>
                  <a:srgbClr val="FF0000"/>
                </a:solidFill>
              </a:rPr>
              <a:t>MSB=0</a:t>
            </a:r>
            <a:r>
              <a:rPr lang="zh-CN" altLang="en-US" sz="2000" kern="0" dirty="0">
                <a:solidFill>
                  <a:srgbClr val="FF0000"/>
                </a:solidFill>
              </a:rPr>
              <a:t>表示正数</a:t>
            </a:r>
            <a:r>
              <a:rPr lang="zh-CN" altLang="en-US" sz="2000" kern="0" dirty="0"/>
              <a:t>，如</a:t>
            </a:r>
            <a:r>
              <a:rPr lang="zh-CN" altLang="en-US" sz="2000" kern="0" dirty="0">
                <a:solidFill>
                  <a:srgbClr val="FF0000"/>
                </a:solidFill>
              </a:rPr>
              <a:t>＋</a:t>
            </a:r>
            <a:r>
              <a:rPr lang="en-US" altLang="zh-CN" sz="2000" kern="0" dirty="0">
                <a:solidFill>
                  <a:srgbClr val="FF00FF"/>
                </a:solidFill>
              </a:rPr>
              <a:t>1011</a:t>
            </a:r>
            <a:r>
              <a:rPr lang="en-US" altLang="zh-CN" sz="2000" kern="0" dirty="0"/>
              <a:t>B</a:t>
            </a:r>
            <a:r>
              <a:rPr lang="zh-CN" altLang="en-US" sz="2000" kern="0" dirty="0"/>
              <a:t>表示为</a:t>
            </a:r>
            <a:r>
              <a:rPr lang="en-US" altLang="zh-CN" sz="2000" kern="0" dirty="0">
                <a:solidFill>
                  <a:srgbClr val="FF0000"/>
                </a:solidFill>
              </a:rPr>
              <a:t>0</a:t>
            </a:r>
            <a:r>
              <a:rPr lang="en-US" altLang="zh-CN" sz="2000" kern="0" dirty="0">
                <a:solidFill>
                  <a:srgbClr val="FF00FF"/>
                </a:solidFill>
              </a:rPr>
              <a:t>1011</a:t>
            </a:r>
            <a:r>
              <a:rPr lang="en-US" altLang="zh-CN" sz="2000" kern="0" dirty="0"/>
              <a:t>B</a:t>
            </a:r>
            <a:r>
              <a:rPr lang="zh-CN" altLang="en-US" sz="2000" kern="0" dirty="0"/>
              <a:t>；</a:t>
            </a:r>
          </a:p>
          <a:p>
            <a:pPr marL="0" indent="0" eaLnBrk="1" hangingPunct="1">
              <a:lnSpc>
                <a:spcPct val="110000"/>
              </a:lnSpc>
              <a:spcBef>
                <a:spcPts val="0"/>
              </a:spcBef>
              <a:buFontTx/>
              <a:buNone/>
              <a:defRPr/>
            </a:pPr>
            <a:r>
              <a:rPr lang="en-US" altLang="zh-CN" sz="2000" kern="0" dirty="0">
                <a:solidFill>
                  <a:srgbClr val="FF0000"/>
                </a:solidFill>
                <a:sym typeface="+mn-ea"/>
              </a:rPr>
              <a:t>MSB=0 represents a positive number, such as + 1011 B is represented as 0 1011  B;</a:t>
            </a:r>
            <a:endParaRPr lang="zh-CN" altLang="en-US" sz="2000" kern="0" dirty="0"/>
          </a:p>
          <a:p>
            <a:pPr marL="0" indent="0" eaLnBrk="1" hangingPunct="1">
              <a:lnSpc>
                <a:spcPct val="110000"/>
              </a:lnSpc>
              <a:spcBef>
                <a:spcPts val="0"/>
              </a:spcBef>
              <a:buFontTx/>
              <a:buNone/>
              <a:defRPr/>
            </a:pPr>
            <a:r>
              <a:rPr lang="en-US" altLang="zh-CN" sz="2000" kern="0" dirty="0">
                <a:solidFill>
                  <a:srgbClr val="FF0000"/>
                </a:solidFill>
              </a:rPr>
              <a:t>MSB=1</a:t>
            </a:r>
            <a:r>
              <a:rPr lang="zh-CN" altLang="en-US" sz="2000" kern="0" dirty="0">
                <a:solidFill>
                  <a:srgbClr val="FF0000"/>
                </a:solidFill>
              </a:rPr>
              <a:t>表示负数</a:t>
            </a:r>
            <a:r>
              <a:rPr lang="zh-CN" altLang="en-US" sz="2000" kern="0" dirty="0"/>
              <a:t>，如</a:t>
            </a:r>
            <a:r>
              <a:rPr lang="zh-CN" altLang="en-US" sz="2000" kern="0" dirty="0">
                <a:solidFill>
                  <a:srgbClr val="FF0000"/>
                </a:solidFill>
              </a:rPr>
              <a:t>－</a:t>
            </a:r>
            <a:r>
              <a:rPr lang="en-US" altLang="zh-CN" sz="2000" kern="0" dirty="0">
                <a:solidFill>
                  <a:srgbClr val="FF00FF"/>
                </a:solidFill>
              </a:rPr>
              <a:t>1011</a:t>
            </a:r>
            <a:r>
              <a:rPr lang="en-US" altLang="zh-CN" sz="2000" kern="0" dirty="0"/>
              <a:t>B</a:t>
            </a:r>
            <a:r>
              <a:rPr lang="zh-CN" altLang="en-US" sz="2000" kern="0" dirty="0"/>
              <a:t>表示为</a:t>
            </a:r>
            <a:r>
              <a:rPr lang="en-US" altLang="zh-CN" sz="2000" kern="0" dirty="0">
                <a:solidFill>
                  <a:srgbClr val="FF0000"/>
                </a:solidFill>
              </a:rPr>
              <a:t>1</a:t>
            </a:r>
            <a:r>
              <a:rPr lang="en-US" altLang="zh-CN" sz="2000" kern="0" dirty="0">
                <a:solidFill>
                  <a:srgbClr val="FF00FF"/>
                </a:solidFill>
              </a:rPr>
              <a:t>1011</a:t>
            </a:r>
            <a:r>
              <a:rPr lang="en-US" altLang="zh-CN" sz="2000" kern="0" dirty="0"/>
              <a:t>B</a:t>
            </a:r>
            <a:r>
              <a:rPr lang="zh-CN" altLang="en-US" sz="2000" kern="0" dirty="0"/>
              <a:t>。</a:t>
            </a:r>
          </a:p>
          <a:p>
            <a:pPr marL="0" indent="0" eaLnBrk="1" hangingPunct="1">
              <a:lnSpc>
                <a:spcPct val="110000"/>
              </a:lnSpc>
              <a:spcBef>
                <a:spcPts val="0"/>
              </a:spcBef>
              <a:buFontTx/>
              <a:buNone/>
              <a:defRPr/>
            </a:pPr>
            <a:r>
              <a:rPr lang="en-US" altLang="zh-CN" sz="2000" kern="0" dirty="0">
                <a:solidFill>
                  <a:srgbClr val="FF0000"/>
                </a:solidFill>
                <a:sym typeface="+mn-ea"/>
              </a:rPr>
              <a:t>MSB=1 represents a negative number, such as-1011 B is represented as 1 1011  B.</a:t>
            </a:r>
            <a:endParaRPr lang="zh-CN" altLang="en-US" sz="2000" kern="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
          <p:cNvSpPr>
            <a:spLocks noGrp="1" noChangeArrowheads="1"/>
          </p:cNvSpPr>
          <p:nvPr>
            <p:ph type="title"/>
          </p:nvPr>
        </p:nvSpPr>
        <p:spPr>
          <a:xfrm>
            <a:off x="638234" y="326449"/>
            <a:ext cx="7504112" cy="723900"/>
          </a:xfrm>
        </p:spPr>
        <p:txBody>
          <a:bodyPr>
            <a:normAutofit fontScale="90000"/>
          </a:bodyPr>
          <a:lstStyle/>
          <a:p>
            <a:pPr eaLnBrk="1" hangingPunct="1"/>
            <a:r>
              <a:rPr lang="zh-CN" altLang="en-US" sz="4000" dirty="0">
                <a:latin typeface="宋体" panose="02010600030101010101" pitchFamily="2" charset="-122"/>
              </a:rPr>
              <a:t>机器数和真值</a:t>
            </a:r>
            <a:br>
              <a:rPr lang="zh-CN" altLang="en-US" sz="4000" dirty="0">
                <a:latin typeface="宋体" panose="02010600030101010101" pitchFamily="2" charset="-122"/>
              </a:rPr>
            </a:br>
            <a:r>
              <a:rPr lang="zh-CN" altLang="en-US" sz="3600" dirty="0">
                <a:latin typeface="宋体" panose="02010600030101010101" pitchFamily="2" charset="-122"/>
                <a:sym typeface="+mn-ea"/>
              </a:rPr>
              <a:t>Number of machines and truth values</a:t>
            </a:r>
          </a:p>
        </p:txBody>
      </p:sp>
      <p:sp>
        <p:nvSpPr>
          <p:cNvPr id="318467" name="Rectangle 3"/>
          <p:cNvSpPr>
            <a:spLocks noGrp="1" noChangeArrowheads="1"/>
          </p:cNvSpPr>
          <p:nvPr>
            <p:ph idx="1"/>
          </p:nvPr>
        </p:nvSpPr>
        <p:spPr>
          <a:xfrm>
            <a:off x="546100" y="1210945"/>
            <a:ext cx="11087100" cy="2280285"/>
          </a:xfrm>
        </p:spPr>
        <p:txBody>
          <a:bodyPr>
            <a:normAutofit/>
          </a:bodyPr>
          <a:lstStyle/>
          <a:p>
            <a:pPr lvl="1" algn="l" eaLnBrk="1" hangingPunct="1">
              <a:spcBef>
                <a:spcPts val="600"/>
              </a:spcBef>
            </a:pPr>
            <a:r>
              <a:rPr lang="zh-CN" altLang="en-US" dirty="0"/>
              <a:t>把一个数</a:t>
            </a:r>
            <a:r>
              <a:rPr lang="zh-CN" altLang="en-US" dirty="0">
                <a:solidFill>
                  <a:srgbClr val="0000CC"/>
                </a:solidFill>
              </a:rPr>
              <a:t>在机器内的二进制形式称为</a:t>
            </a:r>
            <a:r>
              <a:rPr lang="zh-CN" altLang="en-US" dirty="0">
                <a:solidFill>
                  <a:srgbClr val="FF0000"/>
                </a:solidFill>
              </a:rPr>
              <a:t>机器数</a:t>
            </a:r>
            <a:r>
              <a:rPr lang="zh-CN" altLang="en-US" dirty="0"/>
              <a:t>。</a:t>
            </a:r>
            <a:br>
              <a:rPr lang="zh-CN" altLang="en-US" dirty="0"/>
            </a:br>
            <a:r>
              <a:rPr lang="zh-CN" altLang="en-US" dirty="0">
                <a:sym typeface="+mn-ea"/>
              </a:rPr>
              <a:t>The binary form of a number in a machine is called a </a:t>
            </a:r>
            <a:r>
              <a:rPr lang="zh-CN" altLang="en-US" dirty="0">
                <a:solidFill>
                  <a:srgbClr val="FF0000"/>
                </a:solidFill>
                <a:sym typeface="+mn-ea"/>
              </a:rPr>
              <a:t>machine number</a:t>
            </a:r>
            <a:r>
              <a:rPr lang="zh-CN" altLang="en-US" dirty="0">
                <a:sym typeface="+mn-ea"/>
              </a:rPr>
              <a:t>.</a:t>
            </a:r>
            <a:endParaRPr lang="zh-CN" altLang="en-US" dirty="0"/>
          </a:p>
          <a:p>
            <a:pPr lvl="1" eaLnBrk="1" hangingPunct="1">
              <a:spcBef>
                <a:spcPts val="600"/>
              </a:spcBef>
            </a:pPr>
            <a:r>
              <a:rPr lang="zh-CN" altLang="en-US" dirty="0"/>
              <a:t>把这个</a:t>
            </a:r>
            <a:r>
              <a:rPr lang="zh-CN" altLang="en-US" dirty="0">
                <a:solidFill>
                  <a:srgbClr val="0000CC"/>
                </a:solidFill>
              </a:rPr>
              <a:t>数本身称为该机器数</a:t>
            </a:r>
            <a:r>
              <a:rPr lang="zh-CN" altLang="en-US" dirty="0"/>
              <a:t>的</a:t>
            </a:r>
            <a:r>
              <a:rPr lang="zh-CN" altLang="en-US" dirty="0">
                <a:solidFill>
                  <a:srgbClr val="FF0000"/>
                </a:solidFill>
              </a:rPr>
              <a:t>真值</a:t>
            </a:r>
            <a:r>
              <a:rPr lang="zh-CN" altLang="en-US" dirty="0"/>
              <a:t>。</a:t>
            </a:r>
            <a:br>
              <a:rPr lang="zh-CN" altLang="en-US" dirty="0"/>
            </a:br>
            <a:r>
              <a:rPr lang="en-US" altLang="zh-CN" dirty="0"/>
              <a:t>Call this number itself the true value of the </a:t>
            </a:r>
            <a:r>
              <a:rPr lang="zh-CN" altLang="en-US" dirty="0">
                <a:solidFill>
                  <a:srgbClr val="FF0000"/>
                </a:solidFill>
              </a:rPr>
              <a:t>machine number</a:t>
            </a:r>
            <a:r>
              <a:rPr lang="en-US" altLang="zh-CN" dirty="0"/>
              <a:t>.</a:t>
            </a:r>
          </a:p>
          <a:p>
            <a:pPr marL="0" lvl="1" eaLnBrk="1" hangingPunct="1">
              <a:spcBef>
                <a:spcPts val="600"/>
              </a:spcBef>
            </a:pPr>
            <a:r>
              <a:rPr lang="zh-CN" altLang="en-US" sz="2200" dirty="0">
                <a:solidFill>
                  <a:schemeClr val="accent2"/>
                </a:solidFill>
              </a:rPr>
              <a:t>前面</a:t>
            </a:r>
            <a:r>
              <a:rPr lang="en-US" altLang="zh-CN" sz="2200" dirty="0">
                <a:solidFill>
                  <a:srgbClr val="FF0000"/>
                </a:solidFill>
                <a:latin typeface="Times New Roman" panose="02020603050405020304" pitchFamily="18" charset="0"/>
                <a:cs typeface="Times New Roman" panose="02020603050405020304" pitchFamily="18" charset="0"/>
              </a:rPr>
              <a:t> </a:t>
            </a:r>
            <a:r>
              <a:rPr lang="en-US" altLang="zh-CN" sz="2200" dirty="0">
                <a:solidFill>
                  <a:schemeClr val="accent2"/>
                </a:solidFill>
                <a:latin typeface="Times New Roman" panose="02020603050405020304" pitchFamily="18" charset="0"/>
                <a:cs typeface="Times New Roman" panose="02020603050405020304" pitchFamily="18" charset="0"/>
              </a:rPr>
              <a:t>“</a:t>
            </a:r>
            <a:r>
              <a:rPr lang="en-US" altLang="zh-CN" sz="2200" dirty="0">
                <a:solidFill>
                  <a:srgbClr val="FF0000"/>
                </a:solidFill>
                <a:latin typeface="Times New Roman" panose="02020603050405020304" pitchFamily="18" charset="0"/>
                <a:cs typeface="Times New Roman" panose="02020603050405020304" pitchFamily="18" charset="0"/>
              </a:rPr>
              <a:t>0</a:t>
            </a:r>
            <a:r>
              <a:rPr lang="en-US" altLang="zh-CN" sz="2200" dirty="0">
                <a:solidFill>
                  <a:srgbClr val="FF00FF"/>
                </a:solidFill>
                <a:latin typeface="Times New Roman" panose="02020603050405020304" pitchFamily="18" charset="0"/>
                <a:cs typeface="Times New Roman" panose="02020603050405020304" pitchFamily="18" charset="0"/>
              </a:rPr>
              <a:t>1011</a:t>
            </a:r>
            <a:r>
              <a:rPr lang="en-US" altLang="zh-CN" sz="2200" dirty="0">
                <a:solidFill>
                  <a:schemeClr val="accent2"/>
                </a:solidFill>
                <a:latin typeface="Times New Roman" panose="02020603050405020304" pitchFamily="18" charset="0"/>
                <a:cs typeface="Times New Roman" panose="02020603050405020304" pitchFamily="18" charset="0"/>
              </a:rPr>
              <a:t>B” </a:t>
            </a:r>
            <a:r>
              <a:rPr lang="zh-CN" altLang="en-US" sz="2200" dirty="0">
                <a:solidFill>
                  <a:schemeClr val="accent2"/>
                </a:solidFill>
                <a:latin typeface="Times New Roman" panose="02020603050405020304" pitchFamily="18" charset="0"/>
                <a:cs typeface="Times New Roman" panose="02020603050405020304" pitchFamily="18" charset="0"/>
              </a:rPr>
              <a:t>和</a:t>
            </a:r>
            <a:r>
              <a:rPr lang="en-US" altLang="zh-CN" sz="2200" dirty="0">
                <a:solidFill>
                  <a:schemeClr val="accent2"/>
                </a:solidFill>
                <a:latin typeface="Times New Roman" panose="02020603050405020304" pitchFamily="18" charset="0"/>
                <a:cs typeface="Times New Roman" panose="02020603050405020304" pitchFamily="18" charset="0"/>
              </a:rPr>
              <a:t>“</a:t>
            </a:r>
            <a:r>
              <a:rPr lang="en-US" altLang="zh-CN" sz="2200" dirty="0">
                <a:solidFill>
                  <a:srgbClr val="FF0000"/>
                </a:solidFill>
                <a:latin typeface="Times New Roman" panose="02020603050405020304" pitchFamily="18" charset="0"/>
                <a:cs typeface="Times New Roman" panose="02020603050405020304" pitchFamily="18" charset="0"/>
              </a:rPr>
              <a:t>1</a:t>
            </a:r>
            <a:r>
              <a:rPr lang="en-US" altLang="zh-CN" sz="2200" dirty="0">
                <a:solidFill>
                  <a:srgbClr val="FF00FF"/>
                </a:solidFill>
                <a:latin typeface="Times New Roman" panose="02020603050405020304" pitchFamily="18" charset="0"/>
                <a:cs typeface="Times New Roman" panose="02020603050405020304" pitchFamily="18" charset="0"/>
              </a:rPr>
              <a:t>1011</a:t>
            </a:r>
            <a:r>
              <a:rPr lang="en-US" altLang="zh-CN" sz="2200" dirty="0">
                <a:solidFill>
                  <a:schemeClr val="accent2"/>
                </a:solidFill>
              </a:rPr>
              <a:t>B</a:t>
            </a:r>
            <a:r>
              <a:rPr lang="en-US" altLang="zh-CN" sz="2200" dirty="0">
                <a:solidFill>
                  <a:schemeClr val="accent2"/>
                </a:solidFill>
                <a:latin typeface="Times New Roman" panose="02020603050405020304" pitchFamily="18" charset="0"/>
                <a:cs typeface="Times New Roman" panose="02020603050405020304" pitchFamily="18" charset="0"/>
              </a:rPr>
              <a:t>”</a:t>
            </a:r>
            <a:r>
              <a:rPr lang="zh-CN" altLang="en-US" sz="2200" dirty="0">
                <a:solidFill>
                  <a:schemeClr val="accent2"/>
                </a:solidFill>
              </a:rPr>
              <a:t>就是两个机器数。</a:t>
            </a:r>
            <a:r>
              <a:rPr lang="zh-CN" altLang="en-US" sz="2200" dirty="0">
                <a:solidFill>
                  <a:schemeClr val="accent2"/>
                </a:solidFill>
                <a:sym typeface="+mn-ea"/>
              </a:rPr>
              <a:t>它们的真值分别为</a:t>
            </a:r>
            <a:r>
              <a:rPr lang="zh-CN" altLang="en-US" sz="2200" dirty="0">
                <a:solidFill>
                  <a:srgbClr val="FF0000"/>
                </a:solidFill>
                <a:sym typeface="+mn-ea"/>
              </a:rPr>
              <a:t>＋</a:t>
            </a:r>
            <a:r>
              <a:rPr lang="en-US" altLang="zh-CN" sz="2200" dirty="0">
                <a:solidFill>
                  <a:srgbClr val="FF00FF"/>
                </a:solidFill>
                <a:latin typeface="Times New Roman" panose="02020603050405020304" pitchFamily="18" charset="0"/>
                <a:cs typeface="Times New Roman" panose="02020603050405020304" pitchFamily="18" charset="0"/>
                <a:sym typeface="+mn-ea"/>
              </a:rPr>
              <a:t>1011</a:t>
            </a:r>
            <a:r>
              <a:rPr lang="en-US" altLang="zh-CN" sz="2200" dirty="0">
                <a:solidFill>
                  <a:schemeClr val="accent2"/>
                </a:solidFill>
                <a:sym typeface="+mn-ea"/>
              </a:rPr>
              <a:t>B</a:t>
            </a:r>
            <a:r>
              <a:rPr lang="zh-CN" altLang="en-US" sz="2200" dirty="0">
                <a:solidFill>
                  <a:schemeClr val="accent2"/>
                </a:solidFill>
                <a:sym typeface="+mn-ea"/>
              </a:rPr>
              <a:t>和</a:t>
            </a:r>
            <a:r>
              <a:rPr lang="en-US" altLang="zh-CN" sz="2200" dirty="0">
                <a:solidFill>
                  <a:srgbClr val="FF0000"/>
                </a:solidFill>
                <a:sym typeface="+mn-ea"/>
              </a:rPr>
              <a:t>-</a:t>
            </a:r>
            <a:r>
              <a:rPr lang="en-US" altLang="zh-CN" sz="2200" dirty="0">
                <a:solidFill>
                  <a:srgbClr val="FF00FF"/>
                </a:solidFill>
                <a:latin typeface="Times New Roman" panose="02020603050405020304" pitchFamily="18" charset="0"/>
                <a:cs typeface="Times New Roman" panose="02020603050405020304" pitchFamily="18" charset="0"/>
                <a:sym typeface="+mn-ea"/>
              </a:rPr>
              <a:t>1011</a:t>
            </a:r>
            <a:r>
              <a:rPr lang="en-US" altLang="zh-CN" sz="2200" dirty="0">
                <a:solidFill>
                  <a:schemeClr val="accent2"/>
                </a:solidFill>
                <a:sym typeface="+mn-ea"/>
              </a:rPr>
              <a:t>B</a:t>
            </a:r>
            <a:r>
              <a:rPr lang="zh-CN" altLang="en-US" sz="2200" dirty="0">
                <a:solidFill>
                  <a:schemeClr val="accent2"/>
                </a:solidFill>
                <a:sym typeface="+mn-ea"/>
              </a:rPr>
              <a:t>。</a:t>
            </a:r>
            <a:br>
              <a:rPr lang="zh-CN" altLang="en-US" sz="2200" dirty="0">
                <a:solidFill>
                  <a:schemeClr val="accent2"/>
                </a:solidFill>
              </a:rPr>
            </a:br>
            <a:r>
              <a:rPr lang="zh-CN" altLang="en-US" sz="2200" dirty="0">
                <a:solidFill>
                  <a:schemeClr val="accent2"/>
                </a:solidFill>
                <a:sym typeface="+mn-ea"/>
              </a:rPr>
              <a:t>The previous "0 1011B" and "1 1011  B" are two machine numbers.Their true values are + 1011 B and-1011 B respectively.</a:t>
            </a:r>
          </a:p>
        </p:txBody>
      </p:sp>
      <p:sp>
        <p:nvSpPr>
          <p:cNvPr id="6" name="Rectangle 3"/>
          <p:cNvSpPr txBox="1">
            <a:spLocks noChangeArrowheads="1"/>
          </p:cNvSpPr>
          <p:nvPr/>
        </p:nvSpPr>
        <p:spPr bwMode="auto">
          <a:xfrm>
            <a:off x="309245" y="3345180"/>
            <a:ext cx="11846560" cy="2593975"/>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Aft>
                <a:spcPts val="0"/>
              </a:spcAft>
              <a:defRPr/>
            </a:pPr>
            <a:r>
              <a:rPr lang="zh-CN" altLang="en-US" sz="2000" kern="0" dirty="0">
                <a:solidFill>
                  <a:srgbClr val="FF0000"/>
                </a:solidFill>
              </a:rPr>
              <a:t>真值为纯小数时</a:t>
            </a:r>
            <a:r>
              <a:rPr lang="zh-CN" altLang="en-US" sz="2000" kern="0" dirty="0"/>
              <a:t>，其原码形式为</a:t>
            </a:r>
            <a:r>
              <a:rPr lang="en-US" altLang="zh-CN" sz="2000" kern="0" dirty="0">
                <a:solidFill>
                  <a:srgbClr val="FF0000"/>
                </a:solidFill>
              </a:rPr>
              <a:t>X</a:t>
            </a:r>
            <a:r>
              <a:rPr lang="en-US" altLang="zh-CN" sz="2000" kern="0" baseline="-25000" dirty="0">
                <a:solidFill>
                  <a:srgbClr val="FF0000"/>
                </a:solidFill>
              </a:rPr>
              <a:t>S.</a:t>
            </a:r>
            <a:r>
              <a:rPr lang="en-US" altLang="zh-CN" sz="2000" kern="0" dirty="0"/>
              <a:t>X</a:t>
            </a:r>
            <a:r>
              <a:rPr lang="en-US" altLang="zh-CN" sz="2000" kern="0" baseline="-25000" dirty="0"/>
              <a:t>1</a:t>
            </a:r>
            <a:r>
              <a:rPr lang="en-US" altLang="zh-CN" sz="2000" kern="0" dirty="0"/>
              <a:t>X</a:t>
            </a:r>
            <a:r>
              <a:rPr lang="en-US" altLang="zh-CN" sz="2000" kern="0" baseline="-25000" dirty="0"/>
              <a:t>2</a:t>
            </a:r>
            <a:r>
              <a:rPr lang="en-US" altLang="zh-CN" sz="2000" kern="0" dirty="0"/>
              <a:t>…</a:t>
            </a:r>
            <a:r>
              <a:rPr lang="en-US" altLang="zh-CN" sz="2000" kern="0" dirty="0" err="1"/>
              <a:t>X</a:t>
            </a:r>
            <a:r>
              <a:rPr lang="en-US" altLang="zh-CN" sz="2000" kern="0" baseline="-25000" dirty="0" err="1"/>
              <a:t>n</a:t>
            </a:r>
            <a:r>
              <a:rPr lang="zh-CN" altLang="en-US" sz="2000" kern="0" dirty="0"/>
              <a:t>，其中</a:t>
            </a:r>
            <a:r>
              <a:rPr lang="en-US" altLang="zh-CN" sz="2000" kern="0" dirty="0">
                <a:solidFill>
                  <a:srgbClr val="FF0000"/>
                </a:solidFill>
              </a:rPr>
              <a:t>X</a:t>
            </a:r>
            <a:r>
              <a:rPr lang="en-US" altLang="zh-CN" sz="2000" kern="0" baseline="-25000" dirty="0">
                <a:solidFill>
                  <a:srgbClr val="FF0000"/>
                </a:solidFill>
              </a:rPr>
              <a:t>S</a:t>
            </a:r>
            <a:r>
              <a:rPr lang="zh-CN" altLang="en-US" sz="2000" kern="0" dirty="0">
                <a:solidFill>
                  <a:srgbClr val="FF0000"/>
                </a:solidFill>
              </a:rPr>
              <a:t>表示符号位</a:t>
            </a:r>
            <a:r>
              <a:rPr lang="zh-CN" altLang="en-US" sz="2000" kern="0" dirty="0"/>
              <a:t>。例如，</a:t>
            </a:r>
          </a:p>
          <a:p>
            <a:pPr marL="0" indent="0" eaLnBrk="1" hangingPunct="1">
              <a:spcAft>
                <a:spcPts val="0"/>
              </a:spcAft>
              <a:buNone/>
              <a:defRPr/>
            </a:pPr>
            <a:r>
              <a:rPr lang="zh-CN" altLang="en-US" sz="2000" kern="0" dirty="0">
                <a:solidFill>
                  <a:srgbClr val="FF0000"/>
                </a:solidFill>
                <a:sym typeface="+mn-ea"/>
              </a:rPr>
              <a:t>When the true value is a pure decimal, its true form form is</a:t>
            </a:r>
            <a:r>
              <a:rPr lang="en-US" altLang="zh-CN" sz="2000" kern="0" dirty="0">
                <a:solidFill>
                  <a:srgbClr val="FF0000"/>
                </a:solidFill>
                <a:sym typeface="+mn-ea"/>
              </a:rPr>
              <a:t>X</a:t>
            </a:r>
            <a:r>
              <a:rPr lang="en-US" altLang="zh-CN" sz="2000" kern="0" baseline="-25000" dirty="0">
                <a:solidFill>
                  <a:srgbClr val="FF0000"/>
                </a:solidFill>
                <a:sym typeface="+mn-ea"/>
              </a:rPr>
              <a:t>S.</a:t>
            </a:r>
            <a:r>
              <a:rPr lang="en-US" altLang="zh-CN" sz="2000" kern="0" dirty="0">
                <a:sym typeface="+mn-ea"/>
              </a:rPr>
              <a:t>X</a:t>
            </a:r>
            <a:r>
              <a:rPr lang="en-US" altLang="zh-CN" sz="2000" kern="0" baseline="-25000" dirty="0">
                <a:sym typeface="+mn-ea"/>
              </a:rPr>
              <a:t>1</a:t>
            </a:r>
            <a:r>
              <a:rPr lang="en-US" altLang="zh-CN" sz="2000" kern="0" dirty="0">
                <a:sym typeface="+mn-ea"/>
              </a:rPr>
              <a:t>X</a:t>
            </a:r>
            <a:r>
              <a:rPr lang="en-US" altLang="zh-CN" sz="2000" kern="0" baseline="-25000" dirty="0">
                <a:sym typeface="+mn-ea"/>
              </a:rPr>
              <a:t>2</a:t>
            </a:r>
            <a:r>
              <a:rPr lang="en-US" altLang="zh-CN" sz="2000" kern="0" dirty="0">
                <a:sym typeface="+mn-ea"/>
              </a:rPr>
              <a:t>…</a:t>
            </a:r>
            <a:r>
              <a:rPr lang="en-US" altLang="zh-CN" sz="2000" kern="0" dirty="0" err="1">
                <a:sym typeface="+mn-ea"/>
              </a:rPr>
              <a:t>X</a:t>
            </a:r>
            <a:r>
              <a:rPr lang="en-US" altLang="zh-CN" sz="2000" kern="0" baseline="-25000" dirty="0" err="1">
                <a:sym typeface="+mn-ea"/>
              </a:rPr>
              <a:t>n</a:t>
            </a:r>
            <a:r>
              <a:rPr lang="en-US" altLang="zh-CN" sz="2000" kern="0" dirty="0">
                <a:sym typeface="+mn-ea"/>
              </a:rPr>
              <a:t>, where </a:t>
            </a:r>
            <a:r>
              <a:rPr lang="en-US" altLang="zh-CN" sz="2000" kern="0" dirty="0">
                <a:solidFill>
                  <a:srgbClr val="FF0000"/>
                </a:solidFill>
                <a:sym typeface="+mn-ea"/>
              </a:rPr>
              <a:t>X</a:t>
            </a:r>
            <a:r>
              <a:rPr lang="en-US" altLang="zh-CN" sz="2000" kern="0" baseline="-25000" dirty="0">
                <a:solidFill>
                  <a:srgbClr val="FF0000"/>
                </a:solidFill>
                <a:sym typeface="+mn-ea"/>
              </a:rPr>
              <a:t>S </a:t>
            </a:r>
            <a:r>
              <a:rPr lang="en-US" altLang="zh-CN" sz="2000" kern="0" dirty="0">
                <a:sym typeface="+mn-ea"/>
              </a:rPr>
              <a:t>represents the sign bit. For example,</a:t>
            </a:r>
            <a:endParaRPr lang="zh-CN" altLang="en-US" sz="2000" kern="0" dirty="0"/>
          </a:p>
          <a:p>
            <a:pPr eaLnBrk="1" hangingPunct="1">
              <a:spcAft>
                <a:spcPts val="0"/>
              </a:spcAft>
              <a:defRPr/>
            </a:pPr>
            <a:r>
              <a:rPr lang="zh-CN" altLang="en-US" sz="2000" kern="0" dirty="0"/>
              <a:t>若</a:t>
            </a:r>
            <a:r>
              <a:rPr lang="en-US" altLang="zh-CN" sz="2000" kern="0" dirty="0"/>
              <a:t>X</a:t>
            </a:r>
            <a:r>
              <a:rPr lang="zh-CN" altLang="en-US" sz="2000" kern="0" dirty="0"/>
              <a:t>＝</a:t>
            </a:r>
            <a:r>
              <a:rPr lang="en-US" altLang="zh-CN" sz="2000" kern="0" dirty="0">
                <a:solidFill>
                  <a:srgbClr val="FF0000"/>
                </a:solidFill>
              </a:rPr>
              <a:t>+</a:t>
            </a:r>
            <a:r>
              <a:rPr lang="en-US" altLang="zh-CN" sz="2000" kern="0" dirty="0"/>
              <a:t>0.0110</a:t>
            </a:r>
            <a:r>
              <a:rPr lang="en-US" altLang="zh-CN" sz="2000" dirty="0">
                <a:solidFill>
                  <a:schemeClr val="tx2"/>
                </a:solidFill>
                <a:latin typeface="Arial" panose="020B0604020202020204" pitchFamily="34" charset="0"/>
              </a:rPr>
              <a:t>B</a:t>
            </a:r>
            <a:r>
              <a:rPr lang="zh-CN" altLang="en-US" sz="2000" kern="0" dirty="0"/>
              <a:t>，则</a:t>
            </a:r>
            <a:r>
              <a:rPr lang="en-US" altLang="zh-CN" sz="2000" kern="0" dirty="0">
                <a:solidFill>
                  <a:srgbClr val="3D41D1"/>
                </a:solidFill>
              </a:rPr>
              <a:t>[X]</a:t>
            </a:r>
            <a:r>
              <a:rPr lang="zh-CN" altLang="en-US" sz="2000" kern="0" baseline="-25000" dirty="0">
                <a:solidFill>
                  <a:srgbClr val="3D41D1"/>
                </a:solidFill>
              </a:rPr>
              <a:t>原</a:t>
            </a:r>
            <a:r>
              <a:rPr lang="zh-CN" altLang="en-US" sz="2000" kern="0" dirty="0"/>
              <a:t>＝</a:t>
            </a:r>
            <a:r>
              <a:rPr lang="en-US" altLang="zh-CN" sz="2000" kern="0" dirty="0">
                <a:solidFill>
                  <a:srgbClr val="FF0000"/>
                </a:solidFill>
              </a:rPr>
              <a:t>0</a:t>
            </a:r>
            <a:r>
              <a:rPr lang="en-US" altLang="zh-CN" sz="2000" kern="0" dirty="0"/>
              <a:t>.0110</a:t>
            </a:r>
            <a:r>
              <a:rPr lang="en-US" altLang="zh-CN" sz="2000" dirty="0">
                <a:solidFill>
                  <a:schemeClr val="tx2"/>
                </a:solidFill>
                <a:latin typeface="Arial" panose="020B0604020202020204" pitchFamily="34" charset="0"/>
              </a:rPr>
              <a:t>B</a:t>
            </a:r>
            <a:r>
              <a:rPr lang="zh-CN" altLang="en-US" sz="2000" kern="0" dirty="0"/>
              <a:t>；若</a:t>
            </a:r>
            <a:r>
              <a:rPr lang="en-US" altLang="zh-CN" sz="2000" kern="0" dirty="0"/>
              <a:t>X</a:t>
            </a:r>
            <a:r>
              <a:rPr lang="zh-CN" altLang="en-US" sz="2000" kern="0" dirty="0"/>
              <a:t>＝</a:t>
            </a:r>
            <a:r>
              <a:rPr lang="en-US" altLang="zh-CN" sz="2000" kern="0" dirty="0">
                <a:solidFill>
                  <a:srgbClr val="FF0000"/>
                </a:solidFill>
              </a:rPr>
              <a:t>-</a:t>
            </a:r>
            <a:r>
              <a:rPr lang="en-US" altLang="zh-CN" sz="2000" kern="0" dirty="0"/>
              <a:t>0.0110</a:t>
            </a:r>
            <a:r>
              <a:rPr lang="en-US" altLang="zh-CN" sz="2000" dirty="0">
                <a:solidFill>
                  <a:schemeClr val="tx2"/>
                </a:solidFill>
                <a:latin typeface="Arial" panose="020B0604020202020204" pitchFamily="34" charset="0"/>
              </a:rPr>
              <a:t>B</a:t>
            </a:r>
            <a:r>
              <a:rPr lang="zh-CN" altLang="en-US" sz="2000" kern="0" dirty="0"/>
              <a:t>，则</a:t>
            </a:r>
            <a:r>
              <a:rPr lang="en-US" altLang="zh-CN" sz="2000" kern="0" dirty="0">
                <a:solidFill>
                  <a:srgbClr val="3D41D1"/>
                </a:solidFill>
              </a:rPr>
              <a:t>[X]</a:t>
            </a:r>
            <a:r>
              <a:rPr lang="zh-CN" altLang="en-US" sz="2000" kern="0" baseline="-25000" dirty="0">
                <a:solidFill>
                  <a:srgbClr val="3D41D1"/>
                </a:solidFill>
              </a:rPr>
              <a:t>原</a:t>
            </a:r>
            <a:r>
              <a:rPr lang="zh-CN" altLang="en-US" sz="2000" kern="0" dirty="0"/>
              <a:t>＝</a:t>
            </a:r>
            <a:r>
              <a:rPr lang="en-US" altLang="zh-CN" sz="2000" kern="0" dirty="0">
                <a:solidFill>
                  <a:srgbClr val="FF0000"/>
                </a:solidFill>
              </a:rPr>
              <a:t>1</a:t>
            </a:r>
            <a:r>
              <a:rPr lang="en-US" altLang="zh-CN" sz="2000" kern="0" dirty="0"/>
              <a:t>.0110</a:t>
            </a:r>
            <a:r>
              <a:rPr lang="en-US" altLang="zh-CN" sz="2000" dirty="0">
                <a:solidFill>
                  <a:schemeClr val="tx2"/>
                </a:solidFill>
                <a:latin typeface="Arial" panose="020B0604020202020204" pitchFamily="34" charset="0"/>
              </a:rPr>
              <a:t>B</a:t>
            </a:r>
          </a:p>
          <a:p>
            <a:pPr indent="14605" eaLnBrk="1" hangingPunct="1">
              <a:spcAft>
                <a:spcPts val="0"/>
              </a:spcAft>
              <a:buFontTx/>
              <a:buNone/>
              <a:defRPr/>
            </a:pPr>
            <a:r>
              <a:rPr lang="zh-CN" altLang="en-US" sz="1800" kern="0" dirty="0">
                <a:sym typeface="+mn-ea"/>
              </a:rPr>
              <a:t>If X = + 0.0110 B, then [X] original = 0.0110 B;If X = -0.0110 B, then [X] original = 1.0110 B</a:t>
            </a:r>
            <a:endParaRPr lang="en-US" altLang="zh-CN" sz="1800" kern="0" dirty="0"/>
          </a:p>
          <a:p>
            <a:pPr eaLnBrk="1" hangingPunct="1">
              <a:spcAft>
                <a:spcPts val="0"/>
              </a:spcAft>
              <a:defRPr/>
            </a:pPr>
            <a:r>
              <a:rPr lang="zh-CN" altLang="en-US" sz="1800" kern="0" dirty="0">
                <a:solidFill>
                  <a:srgbClr val="FF0000"/>
                </a:solidFill>
              </a:rPr>
              <a:t>真值为纯整数时</a:t>
            </a:r>
            <a:r>
              <a:rPr lang="zh-CN" altLang="en-US" sz="1800" kern="0" dirty="0"/>
              <a:t>，其原码形式为</a:t>
            </a:r>
            <a:r>
              <a:rPr lang="en-US" altLang="zh-CN" sz="1800" kern="0" dirty="0">
                <a:solidFill>
                  <a:srgbClr val="FF0000"/>
                </a:solidFill>
              </a:rPr>
              <a:t>X</a:t>
            </a:r>
            <a:r>
              <a:rPr lang="en-US" altLang="zh-CN" sz="1800" kern="0" baseline="-25000" dirty="0">
                <a:solidFill>
                  <a:srgbClr val="FF0000"/>
                </a:solidFill>
              </a:rPr>
              <a:t>S</a:t>
            </a:r>
            <a:r>
              <a:rPr lang="en-US" altLang="zh-CN" sz="1800" kern="0" dirty="0"/>
              <a:t>X</a:t>
            </a:r>
            <a:r>
              <a:rPr lang="en-US" altLang="zh-CN" sz="1800" kern="0" baseline="-25000" dirty="0"/>
              <a:t>n</a:t>
            </a:r>
            <a:r>
              <a:rPr lang="en-US" altLang="zh-CN" sz="1800" kern="0" dirty="0"/>
              <a:t>X</a:t>
            </a:r>
            <a:r>
              <a:rPr lang="en-US" altLang="zh-CN" sz="1800" kern="0" baseline="-25000" dirty="0"/>
              <a:t>n-1</a:t>
            </a:r>
            <a:r>
              <a:rPr lang="en-US" altLang="zh-CN" sz="1800" kern="0" dirty="0"/>
              <a:t>…X</a:t>
            </a:r>
            <a:r>
              <a:rPr lang="en-US" altLang="zh-CN" sz="1800" kern="0" baseline="-25000" dirty="0"/>
              <a:t>2</a:t>
            </a:r>
            <a:r>
              <a:rPr lang="en-US" altLang="zh-CN" sz="1800" kern="0" dirty="0"/>
              <a:t>X</a:t>
            </a:r>
            <a:r>
              <a:rPr lang="en-US" altLang="zh-CN" sz="1800" kern="0" baseline="-25000" dirty="0"/>
              <a:t>1</a:t>
            </a:r>
            <a:r>
              <a:rPr lang="zh-CN" altLang="en-US" sz="1800" kern="0" dirty="0"/>
              <a:t>，其中</a:t>
            </a:r>
            <a:r>
              <a:rPr lang="en-US" altLang="zh-CN" sz="1800" kern="0" dirty="0">
                <a:solidFill>
                  <a:srgbClr val="FF0000"/>
                </a:solidFill>
              </a:rPr>
              <a:t>X</a:t>
            </a:r>
            <a:r>
              <a:rPr lang="en-US" altLang="zh-CN" sz="1800" kern="0" baseline="-25000" dirty="0">
                <a:solidFill>
                  <a:srgbClr val="FF0000"/>
                </a:solidFill>
              </a:rPr>
              <a:t>S</a:t>
            </a:r>
            <a:r>
              <a:rPr lang="zh-CN" altLang="en-US" sz="1800" kern="0" dirty="0">
                <a:solidFill>
                  <a:srgbClr val="FF0000"/>
                </a:solidFill>
              </a:rPr>
              <a:t>表示符号位</a:t>
            </a:r>
            <a:r>
              <a:rPr lang="zh-CN" altLang="en-US" sz="1800" kern="0" dirty="0"/>
              <a:t>。</a:t>
            </a:r>
            <a:r>
              <a:rPr lang="en-US" altLang="zh-CN" sz="1800" kern="0" dirty="0">
                <a:solidFill>
                  <a:srgbClr val="3D41D1"/>
                </a:solidFill>
              </a:rPr>
              <a:t> </a:t>
            </a:r>
            <a:r>
              <a:rPr lang="zh-CN" altLang="en-US" sz="1800" kern="0" dirty="0">
                <a:solidFill>
                  <a:srgbClr val="3D41D1"/>
                </a:solidFill>
              </a:rPr>
              <a:t>例</a:t>
            </a:r>
            <a:r>
              <a:rPr lang="en-US" altLang="zh-CN" sz="1800" kern="0" dirty="0">
                <a:solidFill>
                  <a:srgbClr val="3D41D1"/>
                </a:solidFill>
              </a:rPr>
              <a:t>[X]</a:t>
            </a:r>
            <a:r>
              <a:rPr lang="zh-CN" altLang="en-US" sz="1800" kern="0" baseline="-25000" dirty="0">
                <a:solidFill>
                  <a:srgbClr val="3D41D1"/>
                </a:solidFill>
              </a:rPr>
              <a:t>原</a:t>
            </a:r>
            <a:r>
              <a:rPr lang="zh-CN" altLang="en-US" sz="1800" kern="0" dirty="0"/>
              <a:t>＝</a:t>
            </a:r>
            <a:r>
              <a:rPr lang="en-US" altLang="zh-CN" sz="1800" kern="0" dirty="0">
                <a:solidFill>
                  <a:srgbClr val="FF0000"/>
                </a:solidFill>
              </a:rPr>
              <a:t>0</a:t>
            </a:r>
            <a:r>
              <a:rPr lang="en-US" altLang="zh-CN" sz="1800" kern="0" dirty="0"/>
              <a:t>0110</a:t>
            </a:r>
            <a:r>
              <a:rPr lang="en-US" altLang="zh-CN" sz="1800" dirty="0">
                <a:solidFill>
                  <a:schemeClr val="tx2"/>
                </a:solidFill>
                <a:latin typeface="Arial" panose="020B0604020202020204" pitchFamily="34" charset="0"/>
              </a:rPr>
              <a:t>B;</a:t>
            </a:r>
            <a:r>
              <a:rPr lang="zh-CN" altLang="en-US" sz="1800" kern="0" dirty="0"/>
              <a:t> </a:t>
            </a:r>
            <a:r>
              <a:rPr lang="en-US" altLang="zh-CN" sz="1800" kern="0" dirty="0">
                <a:solidFill>
                  <a:srgbClr val="3D41D1"/>
                </a:solidFill>
              </a:rPr>
              <a:t>[X]</a:t>
            </a:r>
            <a:r>
              <a:rPr lang="zh-CN" altLang="en-US" sz="1800" kern="0" baseline="-25000" dirty="0">
                <a:solidFill>
                  <a:srgbClr val="3D41D1"/>
                </a:solidFill>
              </a:rPr>
              <a:t>原</a:t>
            </a:r>
            <a:r>
              <a:rPr lang="zh-CN" altLang="en-US" sz="1800" kern="0" dirty="0"/>
              <a:t>＝</a:t>
            </a:r>
            <a:r>
              <a:rPr lang="en-US" altLang="zh-CN" sz="1800" kern="0" dirty="0">
                <a:solidFill>
                  <a:srgbClr val="FF0000"/>
                </a:solidFill>
              </a:rPr>
              <a:t>1</a:t>
            </a:r>
            <a:r>
              <a:rPr lang="en-US" altLang="zh-CN" sz="1800" kern="0" dirty="0"/>
              <a:t>0110</a:t>
            </a:r>
            <a:r>
              <a:rPr lang="en-US" altLang="zh-CN" sz="1800" dirty="0">
                <a:solidFill>
                  <a:schemeClr val="tx2"/>
                </a:solidFill>
                <a:latin typeface="Arial" panose="020B0604020202020204" pitchFamily="34" charset="0"/>
              </a:rPr>
              <a:t>B</a:t>
            </a:r>
          </a:p>
          <a:p>
            <a:pPr eaLnBrk="1" hangingPunct="1">
              <a:spcAft>
                <a:spcPts val="0"/>
              </a:spcAft>
              <a:defRPr/>
            </a:pPr>
            <a:r>
              <a:rPr lang="zh-CN" altLang="en-US" sz="1800" kern="0" dirty="0">
                <a:solidFill>
                  <a:srgbClr val="FF0000"/>
                </a:solidFill>
                <a:sym typeface="+mn-ea"/>
              </a:rPr>
              <a:t>When the true value is a pure integer, its true form form is X S X n Xn-1...X 2 X 1, where X S represents the sign bit. Example: [X] original = 0 0110 B; [X] original = 1 0110 B</a:t>
            </a:r>
            <a:endParaRPr lang="zh-CN" altLang="en-US" sz="1800" kern="0" dirty="0"/>
          </a:p>
          <a:p>
            <a:pPr eaLnBrk="1" hangingPunct="1">
              <a:spcAft>
                <a:spcPts val="0"/>
              </a:spcAft>
              <a:defRPr/>
            </a:pPr>
            <a:endParaRPr lang="zh-CN" altLang="en-US" sz="1800" kern="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noChangeArrowheads="1"/>
          </p:cNvSpPr>
          <p:nvPr>
            <p:ph type="title"/>
          </p:nvPr>
        </p:nvSpPr>
        <p:spPr>
          <a:xfrm>
            <a:off x="721361" y="346998"/>
            <a:ext cx="7608252" cy="766763"/>
          </a:xfrm>
        </p:spPr>
        <p:txBody>
          <a:bodyPr>
            <a:normAutofit fontScale="90000"/>
          </a:bodyPr>
          <a:lstStyle/>
          <a:p>
            <a:pPr eaLnBrk="1" hangingPunct="1"/>
            <a:r>
              <a:rPr lang="en-US" altLang="zh-CN" sz="4000" dirty="0">
                <a:latin typeface="宋体" panose="02010600030101010101" pitchFamily="2" charset="-122"/>
              </a:rPr>
              <a:t>1</a:t>
            </a:r>
            <a:r>
              <a:rPr lang="zh-CN" altLang="en-US" sz="4000" dirty="0">
                <a:latin typeface="宋体" panose="02010600030101010101" pitchFamily="2" charset="-122"/>
              </a:rPr>
              <a:t>、原码表示法</a:t>
            </a:r>
            <a:br>
              <a:rPr lang="zh-CN" altLang="en-US" sz="4000" dirty="0">
                <a:latin typeface="宋体" panose="02010600030101010101" pitchFamily="2" charset="-122"/>
              </a:rPr>
            </a:br>
            <a:r>
              <a:rPr lang="en-US" altLang="zh-CN" sz="4000" dirty="0">
                <a:latin typeface="宋体" panose="02010600030101010101" pitchFamily="2" charset="-122"/>
                <a:sym typeface="+mn-ea"/>
              </a:rPr>
              <a:t>true form representation</a:t>
            </a:r>
            <a:endParaRPr lang="zh-CN" altLang="en-US" sz="4000" dirty="0"/>
          </a:p>
        </p:txBody>
      </p:sp>
      <p:sp>
        <p:nvSpPr>
          <p:cNvPr id="320515" name="Rectangle 3"/>
          <p:cNvSpPr>
            <a:spLocks noGrp="1" noChangeArrowheads="1"/>
          </p:cNvSpPr>
          <p:nvPr>
            <p:ph idx="1"/>
          </p:nvPr>
        </p:nvSpPr>
        <p:spPr>
          <a:xfrm>
            <a:off x="2346960" y="1301750"/>
            <a:ext cx="8484870" cy="4565650"/>
          </a:xfrm>
        </p:spPr>
        <p:txBody>
          <a:bodyPr>
            <a:normAutofit lnSpcReduction="10000"/>
          </a:bodyPr>
          <a:lstStyle/>
          <a:p>
            <a:pPr eaLnBrk="1" hangingPunct="1">
              <a:spcAft>
                <a:spcPts val="1800"/>
              </a:spcAft>
              <a:buFontTx/>
              <a:buNone/>
              <a:defRPr/>
            </a:pPr>
            <a:r>
              <a:rPr lang="en-US" altLang="zh-CN" dirty="0">
                <a:solidFill>
                  <a:srgbClr val="FF0000"/>
                </a:solidFill>
                <a:latin typeface="Times New Roman" panose="02020603050405020304" pitchFamily="18" charset="0"/>
              </a:rPr>
              <a:t>8</a:t>
            </a:r>
            <a:r>
              <a:rPr lang="zh-CN" altLang="en-US" dirty="0">
                <a:solidFill>
                  <a:srgbClr val="FF0000"/>
                </a:solidFill>
                <a:latin typeface="Times New Roman" panose="02020603050405020304" pitchFamily="18" charset="0"/>
              </a:rPr>
              <a:t>位二进制原码的表示范围为</a:t>
            </a:r>
            <a:r>
              <a:rPr lang="en-US" altLang="zh-CN" dirty="0">
                <a:solidFill>
                  <a:srgbClr val="002060"/>
                </a:solidFill>
                <a:latin typeface="Times New Roman" panose="02020603050405020304" pitchFamily="18" charset="0"/>
              </a:rPr>
              <a:t>-2</a:t>
            </a:r>
            <a:r>
              <a:rPr lang="en-US" altLang="zh-CN" baseline="30000" dirty="0">
                <a:solidFill>
                  <a:srgbClr val="002060"/>
                </a:solidFill>
                <a:latin typeface="Times New Roman" panose="02020603050405020304" pitchFamily="18" charset="0"/>
              </a:rPr>
              <a:t>7 </a:t>
            </a:r>
            <a:r>
              <a:rPr lang="en-US" altLang="zh-CN" dirty="0">
                <a:solidFill>
                  <a:srgbClr val="002060"/>
                </a:solidFill>
                <a:latin typeface="Times New Roman" panose="02020603050405020304" pitchFamily="18" charset="0"/>
              </a:rPr>
              <a:t>-1~ +2</a:t>
            </a:r>
            <a:r>
              <a:rPr lang="en-US" altLang="zh-CN" baseline="30000" dirty="0">
                <a:solidFill>
                  <a:srgbClr val="002060"/>
                </a:solidFill>
                <a:latin typeface="Times New Roman" panose="02020603050405020304" pitchFamily="18" charset="0"/>
              </a:rPr>
              <a:t>7</a:t>
            </a:r>
            <a:r>
              <a:rPr lang="en-US" altLang="zh-CN" dirty="0">
                <a:solidFill>
                  <a:srgbClr val="00206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br>
              <a:rPr lang="zh-CN" altLang="en-US" dirty="0">
                <a:solidFill>
                  <a:srgbClr val="FF0000"/>
                </a:solidFill>
                <a:latin typeface="Times New Roman" panose="02020603050405020304" pitchFamily="18" charset="0"/>
              </a:rPr>
            </a:br>
            <a:r>
              <a:rPr lang="en-US" altLang="zh-CN" dirty="0">
                <a:solidFill>
                  <a:srgbClr val="FF0000"/>
                </a:solidFill>
                <a:latin typeface="Times New Roman" panose="02020603050405020304" pitchFamily="18" charset="0"/>
                <a:sym typeface="+mn-ea"/>
              </a:rPr>
              <a:t>The representation range of 8-bit binary true form is</a:t>
            </a:r>
            <a:r>
              <a:rPr lang="en-US" altLang="zh-CN" dirty="0">
                <a:solidFill>
                  <a:srgbClr val="002060"/>
                </a:solidFill>
                <a:latin typeface="Times New Roman" panose="02020603050405020304" pitchFamily="18" charset="0"/>
                <a:sym typeface="+mn-ea"/>
              </a:rPr>
              <a:t>-2</a:t>
            </a:r>
            <a:r>
              <a:rPr lang="en-US" altLang="zh-CN" baseline="30000" dirty="0">
                <a:solidFill>
                  <a:srgbClr val="002060"/>
                </a:solidFill>
                <a:latin typeface="Times New Roman" panose="02020603050405020304" pitchFamily="18" charset="0"/>
                <a:sym typeface="+mn-ea"/>
              </a:rPr>
              <a:t>7 </a:t>
            </a:r>
            <a:r>
              <a:rPr lang="en-US" altLang="zh-CN" dirty="0">
                <a:solidFill>
                  <a:srgbClr val="002060"/>
                </a:solidFill>
                <a:latin typeface="Times New Roman" panose="02020603050405020304" pitchFamily="18" charset="0"/>
                <a:sym typeface="+mn-ea"/>
              </a:rPr>
              <a:t>-1~ +2</a:t>
            </a:r>
            <a:r>
              <a:rPr lang="en-US" altLang="zh-CN" baseline="30000" dirty="0">
                <a:solidFill>
                  <a:srgbClr val="002060"/>
                </a:solidFill>
                <a:latin typeface="Times New Roman" panose="02020603050405020304" pitchFamily="18" charset="0"/>
                <a:sym typeface="+mn-ea"/>
              </a:rPr>
              <a:t>7</a:t>
            </a:r>
            <a:r>
              <a:rPr lang="en-US" altLang="zh-CN" dirty="0">
                <a:solidFill>
                  <a:srgbClr val="002060"/>
                </a:solidFill>
                <a:latin typeface="Times New Roman" panose="02020603050405020304" pitchFamily="18" charset="0"/>
                <a:sym typeface="+mn-ea"/>
              </a:rPr>
              <a:t>-1</a:t>
            </a:r>
            <a:r>
              <a:rPr lang="en-US" altLang="zh-CN" dirty="0">
                <a:solidFill>
                  <a:srgbClr val="FF0000"/>
                </a:solidFill>
                <a:latin typeface="Times New Roman" panose="02020603050405020304" pitchFamily="18" charset="0"/>
                <a:sym typeface="+mn-ea"/>
              </a:rPr>
              <a:t>:</a:t>
            </a:r>
            <a:endParaRPr lang="zh-CN" altLang="en-US" dirty="0">
              <a:solidFill>
                <a:srgbClr val="FF0000"/>
              </a:solidFill>
              <a:latin typeface="Times New Roman" panose="02020603050405020304" pitchFamily="18" charset="0"/>
            </a:endParaRPr>
          </a:p>
          <a:p>
            <a:pPr eaLnBrk="1" hangingPunct="1">
              <a:spcAft>
                <a:spcPts val="1800"/>
              </a:spcAft>
              <a:buFontTx/>
              <a:buNone/>
              <a:defRPr/>
            </a:pPr>
            <a:r>
              <a:rPr lang="zh-CN" altLang="en-US" dirty="0">
                <a:latin typeface="Times New Roman" panose="02020603050405020304" pitchFamily="18" charset="0"/>
              </a:rPr>
              <a:t>        </a:t>
            </a:r>
            <a:r>
              <a:rPr lang="en-US" altLang="zh-CN" dirty="0">
                <a:latin typeface="Times New Roman" panose="02020603050405020304" pitchFamily="18" charset="0"/>
              </a:rPr>
              <a:t>-127~ </a:t>
            </a:r>
            <a:r>
              <a:rPr lang="en-US" altLang="zh-CN" dirty="0">
                <a:solidFill>
                  <a:srgbClr val="FF00FF"/>
                </a:solidFill>
                <a:latin typeface="Times New Roman" panose="02020603050405020304" pitchFamily="18" charset="0"/>
              </a:rPr>
              <a:t>-0</a:t>
            </a:r>
            <a:r>
              <a:rPr lang="en-US" altLang="zh-CN" dirty="0">
                <a:latin typeface="Times New Roman" panose="02020603050405020304" pitchFamily="18" charset="0"/>
              </a:rPr>
              <a:t>  ~  </a:t>
            </a:r>
            <a:r>
              <a:rPr lang="en-US" altLang="zh-CN" dirty="0">
                <a:solidFill>
                  <a:srgbClr val="FF00FF"/>
                </a:solidFill>
                <a:latin typeface="Times New Roman" panose="02020603050405020304" pitchFamily="18" charset="0"/>
              </a:rPr>
              <a:t>+0</a:t>
            </a:r>
            <a:r>
              <a:rPr lang="en-US" altLang="zh-CN" dirty="0">
                <a:latin typeface="Times New Roman" panose="02020603050405020304" pitchFamily="18" charset="0"/>
              </a:rPr>
              <a:t>~+127</a:t>
            </a:r>
          </a:p>
          <a:p>
            <a:pPr eaLnBrk="1" hangingPunct="1">
              <a:spcAft>
                <a:spcPts val="1800"/>
              </a:spcAft>
              <a:buFontTx/>
              <a:buNone/>
              <a:defRPr/>
            </a:pPr>
            <a:r>
              <a:rPr lang="en-US" altLang="zh-CN" dirty="0">
                <a:solidFill>
                  <a:srgbClr val="FF0000"/>
                </a:solidFill>
                <a:latin typeface="Times New Roman" panose="02020603050405020304" pitchFamily="18" charset="0"/>
              </a:rPr>
              <a:t>16</a:t>
            </a:r>
            <a:r>
              <a:rPr lang="zh-CN" altLang="en-US" dirty="0">
                <a:solidFill>
                  <a:srgbClr val="FF0000"/>
                </a:solidFill>
                <a:latin typeface="Times New Roman" panose="02020603050405020304" pitchFamily="18" charset="0"/>
              </a:rPr>
              <a:t>位二进制原码的表示范围为</a:t>
            </a:r>
            <a:r>
              <a:rPr lang="en-US" altLang="zh-CN" dirty="0">
                <a:solidFill>
                  <a:srgbClr val="002060"/>
                </a:solidFill>
                <a:latin typeface="Times New Roman" panose="02020603050405020304" pitchFamily="18" charset="0"/>
              </a:rPr>
              <a:t>-2</a:t>
            </a:r>
            <a:r>
              <a:rPr lang="en-US" altLang="zh-CN" baseline="30000" dirty="0">
                <a:solidFill>
                  <a:srgbClr val="002060"/>
                </a:solidFill>
                <a:latin typeface="Times New Roman" panose="02020603050405020304" pitchFamily="18" charset="0"/>
              </a:rPr>
              <a:t>15</a:t>
            </a:r>
            <a:r>
              <a:rPr lang="en-US" altLang="zh-CN" dirty="0">
                <a:solidFill>
                  <a:srgbClr val="002060"/>
                </a:solidFill>
                <a:latin typeface="Times New Roman" panose="02020603050405020304" pitchFamily="18" charset="0"/>
              </a:rPr>
              <a:t>-1</a:t>
            </a:r>
            <a:r>
              <a:rPr lang="en-US" altLang="zh-CN" baseline="30000" dirty="0">
                <a:solidFill>
                  <a:srgbClr val="002060"/>
                </a:solidFill>
                <a:latin typeface="Times New Roman" panose="02020603050405020304" pitchFamily="18" charset="0"/>
              </a:rPr>
              <a:t> </a:t>
            </a:r>
            <a:r>
              <a:rPr lang="en-US" altLang="zh-CN" dirty="0">
                <a:solidFill>
                  <a:srgbClr val="002060"/>
                </a:solidFill>
                <a:latin typeface="Times New Roman" panose="02020603050405020304" pitchFamily="18" charset="0"/>
              </a:rPr>
              <a:t>~ +2</a:t>
            </a:r>
            <a:r>
              <a:rPr lang="en-US" altLang="zh-CN" baseline="30000" dirty="0">
                <a:solidFill>
                  <a:srgbClr val="002060"/>
                </a:solidFill>
                <a:latin typeface="Times New Roman" panose="02020603050405020304" pitchFamily="18" charset="0"/>
              </a:rPr>
              <a:t>15</a:t>
            </a:r>
            <a:r>
              <a:rPr lang="en-US" altLang="zh-CN" dirty="0">
                <a:solidFill>
                  <a:srgbClr val="00206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br>
              <a:rPr lang="zh-CN" altLang="en-US" dirty="0">
                <a:solidFill>
                  <a:srgbClr val="FF0000"/>
                </a:solidFill>
                <a:latin typeface="Times New Roman" panose="02020603050405020304" pitchFamily="18" charset="0"/>
              </a:rPr>
            </a:br>
            <a:r>
              <a:rPr lang="en-US" altLang="zh-CN" dirty="0">
                <a:solidFill>
                  <a:srgbClr val="FF0000"/>
                </a:solidFill>
                <a:latin typeface="Times New Roman" panose="02020603050405020304" pitchFamily="18" charset="0"/>
                <a:sym typeface="+mn-ea"/>
              </a:rPr>
              <a:t>The representation range of 16-bit binary true form is </a:t>
            </a:r>
            <a:r>
              <a:rPr lang="en-US" altLang="zh-CN" dirty="0">
                <a:solidFill>
                  <a:srgbClr val="002060"/>
                </a:solidFill>
                <a:latin typeface="Times New Roman" panose="02020603050405020304" pitchFamily="18" charset="0"/>
                <a:sym typeface="+mn-ea"/>
              </a:rPr>
              <a:t>-2</a:t>
            </a:r>
            <a:r>
              <a:rPr lang="en-US" altLang="zh-CN" baseline="30000" dirty="0">
                <a:solidFill>
                  <a:srgbClr val="002060"/>
                </a:solidFill>
                <a:latin typeface="Times New Roman" panose="02020603050405020304" pitchFamily="18" charset="0"/>
                <a:sym typeface="+mn-ea"/>
              </a:rPr>
              <a:t>15</a:t>
            </a:r>
            <a:r>
              <a:rPr lang="en-US" altLang="zh-CN" dirty="0">
                <a:solidFill>
                  <a:srgbClr val="002060"/>
                </a:solidFill>
                <a:latin typeface="Times New Roman" panose="02020603050405020304" pitchFamily="18" charset="0"/>
                <a:sym typeface="+mn-ea"/>
              </a:rPr>
              <a:t>-1</a:t>
            </a:r>
            <a:r>
              <a:rPr lang="en-US" altLang="zh-CN" baseline="30000" dirty="0">
                <a:solidFill>
                  <a:srgbClr val="002060"/>
                </a:solidFill>
                <a:latin typeface="Times New Roman" panose="02020603050405020304" pitchFamily="18" charset="0"/>
                <a:sym typeface="+mn-ea"/>
              </a:rPr>
              <a:t> </a:t>
            </a:r>
            <a:r>
              <a:rPr lang="en-US" altLang="zh-CN" dirty="0">
                <a:solidFill>
                  <a:srgbClr val="002060"/>
                </a:solidFill>
                <a:latin typeface="Times New Roman" panose="02020603050405020304" pitchFamily="18" charset="0"/>
                <a:sym typeface="+mn-ea"/>
              </a:rPr>
              <a:t>~ +2</a:t>
            </a:r>
            <a:r>
              <a:rPr lang="en-US" altLang="zh-CN" baseline="30000" dirty="0">
                <a:solidFill>
                  <a:srgbClr val="002060"/>
                </a:solidFill>
                <a:latin typeface="Times New Roman" panose="02020603050405020304" pitchFamily="18" charset="0"/>
                <a:sym typeface="+mn-ea"/>
              </a:rPr>
              <a:t>15</a:t>
            </a:r>
            <a:r>
              <a:rPr lang="en-US" altLang="zh-CN" dirty="0">
                <a:solidFill>
                  <a:srgbClr val="002060"/>
                </a:solidFill>
                <a:latin typeface="Times New Roman" panose="02020603050405020304" pitchFamily="18" charset="0"/>
                <a:sym typeface="+mn-ea"/>
              </a:rPr>
              <a:t>-1</a:t>
            </a:r>
            <a:r>
              <a:rPr lang="en-US" altLang="zh-CN" dirty="0">
                <a:solidFill>
                  <a:srgbClr val="FF0000"/>
                </a:solidFill>
                <a:latin typeface="Times New Roman" panose="02020603050405020304" pitchFamily="18" charset="0"/>
                <a:sym typeface="+mn-ea"/>
              </a:rPr>
              <a:t>:</a:t>
            </a:r>
            <a:endParaRPr lang="zh-CN" altLang="en-US" dirty="0">
              <a:solidFill>
                <a:srgbClr val="FF0000"/>
              </a:solidFill>
              <a:latin typeface="Times New Roman" panose="02020603050405020304" pitchFamily="18" charset="0"/>
            </a:endParaRPr>
          </a:p>
          <a:p>
            <a:pPr eaLnBrk="1" hangingPunct="1">
              <a:spcAft>
                <a:spcPts val="1800"/>
              </a:spcAft>
              <a:buFontTx/>
              <a:buNone/>
              <a:defRPr/>
            </a:pPr>
            <a:r>
              <a:rPr lang="zh-CN" altLang="en-US" dirty="0">
                <a:latin typeface="Times New Roman" panose="02020603050405020304" pitchFamily="18" charset="0"/>
              </a:rPr>
              <a:t>       </a:t>
            </a:r>
            <a:r>
              <a:rPr lang="en-US" altLang="zh-CN" dirty="0">
                <a:latin typeface="Times New Roman" panose="02020603050405020304" pitchFamily="18" charset="0"/>
              </a:rPr>
              <a:t>-32767~ </a:t>
            </a:r>
            <a:r>
              <a:rPr lang="en-US" altLang="zh-CN" dirty="0">
                <a:solidFill>
                  <a:srgbClr val="FF00FF"/>
                </a:solidFill>
                <a:latin typeface="Times New Roman" panose="02020603050405020304" pitchFamily="18" charset="0"/>
              </a:rPr>
              <a:t>-0  </a:t>
            </a:r>
            <a:r>
              <a:rPr lang="en-US" altLang="zh-CN" dirty="0">
                <a:latin typeface="Times New Roman" panose="02020603050405020304" pitchFamily="18" charset="0"/>
              </a:rPr>
              <a:t>~  </a:t>
            </a:r>
            <a:r>
              <a:rPr lang="en-US" altLang="zh-CN" dirty="0">
                <a:solidFill>
                  <a:srgbClr val="FF00FF"/>
                </a:solidFill>
                <a:latin typeface="Times New Roman" panose="02020603050405020304" pitchFamily="18" charset="0"/>
              </a:rPr>
              <a:t>+0</a:t>
            </a:r>
            <a:r>
              <a:rPr lang="en-US" altLang="zh-CN" dirty="0">
                <a:latin typeface="Times New Roman" panose="02020603050405020304" pitchFamily="18" charset="0"/>
              </a:rPr>
              <a:t>~+32767</a:t>
            </a:r>
          </a:p>
          <a:p>
            <a:pPr eaLnBrk="1" hangingPunct="1">
              <a:spcAft>
                <a:spcPts val="1800"/>
              </a:spcAft>
              <a:buFontTx/>
              <a:buNone/>
              <a:defRPr/>
            </a:pPr>
            <a:r>
              <a:rPr lang="zh-CN" altLang="en-US" dirty="0">
                <a:solidFill>
                  <a:srgbClr val="FF0000"/>
                </a:solidFill>
                <a:latin typeface="Times New Roman" panose="02020603050405020304" pitchFamily="18" charset="0"/>
              </a:rPr>
              <a:t>原码表示中</a:t>
            </a:r>
            <a:r>
              <a:rPr lang="en-US" altLang="zh-CN" dirty="0">
                <a:solidFill>
                  <a:srgbClr val="FF0000"/>
                </a:solidFill>
                <a:latin typeface="Times New Roman" panose="02020603050405020304" pitchFamily="18" charset="0"/>
              </a:rPr>
              <a:t>, </a:t>
            </a:r>
            <a:r>
              <a:rPr lang="zh-CN" altLang="en-US" dirty="0">
                <a:solidFill>
                  <a:srgbClr val="FF0000"/>
                </a:solidFill>
                <a:latin typeface="Times New Roman" panose="02020603050405020304" pitchFamily="18" charset="0"/>
              </a:rPr>
              <a:t>真值</a:t>
            </a:r>
            <a:r>
              <a:rPr lang="en-US" altLang="zh-CN" dirty="0">
                <a:solidFill>
                  <a:srgbClr val="FF0000"/>
                </a:solidFill>
                <a:latin typeface="Times New Roman" panose="02020603050405020304" pitchFamily="18" charset="0"/>
              </a:rPr>
              <a:t>0</a:t>
            </a:r>
            <a:r>
              <a:rPr lang="zh-CN" altLang="en-US" dirty="0">
                <a:solidFill>
                  <a:srgbClr val="FF0000"/>
                </a:solidFill>
                <a:latin typeface="Times New Roman" panose="02020603050405020304" pitchFamily="18" charset="0"/>
              </a:rPr>
              <a:t>有两种不同的表示形式</a:t>
            </a:r>
            <a:r>
              <a:rPr lang="en-US" altLang="zh-CN" dirty="0">
                <a:solidFill>
                  <a:srgbClr val="FF0000"/>
                </a:solidFill>
                <a:latin typeface="Times New Roman" panose="02020603050405020304" pitchFamily="18" charset="0"/>
              </a:rPr>
              <a:t>(8</a:t>
            </a:r>
            <a:r>
              <a:rPr lang="zh-CN" altLang="en-US" dirty="0">
                <a:solidFill>
                  <a:srgbClr val="FF0000"/>
                </a:solidFill>
                <a:latin typeface="Times New Roman" panose="02020603050405020304" pitchFamily="18" charset="0"/>
              </a:rPr>
              <a:t>位字长</a:t>
            </a:r>
            <a:r>
              <a:rPr lang="en-US" altLang="zh-CN" dirty="0">
                <a:solidFill>
                  <a:srgbClr val="FF0000"/>
                </a:solidFill>
                <a:latin typeface="Times New Roman" panose="02020603050405020304" pitchFamily="18" charset="0"/>
              </a:rPr>
              <a:t>):</a:t>
            </a:r>
            <a:br>
              <a:rPr lang="en-US" altLang="zh-CN" dirty="0">
                <a:solidFill>
                  <a:srgbClr val="FF0000"/>
                </a:solidFill>
                <a:latin typeface="Times New Roman" panose="02020603050405020304" pitchFamily="18" charset="0"/>
              </a:rPr>
            </a:br>
            <a:r>
              <a:rPr lang="zh-CN" altLang="en-US" dirty="0">
                <a:solidFill>
                  <a:srgbClr val="FF0000"/>
                </a:solidFill>
                <a:latin typeface="Times New Roman" panose="02020603050405020304" pitchFamily="18" charset="0"/>
                <a:sym typeface="+mn-ea"/>
              </a:rPr>
              <a:t>In the true form representation, there are two different representations for true value 0 (8-bit word length):</a:t>
            </a:r>
          </a:p>
          <a:p>
            <a:pPr eaLnBrk="1" hangingPunct="1">
              <a:spcAft>
                <a:spcPts val="1800"/>
              </a:spcAft>
              <a:buFontTx/>
              <a:buNone/>
              <a:defRPr/>
            </a:pPr>
            <a:r>
              <a:rPr lang="zh-CN" altLang="en-US" dirty="0">
                <a:latin typeface="Times New Roman" panose="02020603050405020304" pitchFamily="18" charset="0"/>
              </a:rPr>
              <a:t>  </a:t>
            </a:r>
            <a:r>
              <a:rPr lang="en-US" altLang="zh-CN" dirty="0">
                <a:latin typeface="Times New Roman" panose="02020603050405020304" pitchFamily="18" charset="0"/>
              </a:rPr>
              <a:t>[</a:t>
            </a:r>
            <a:r>
              <a:rPr lang="zh-CN" altLang="en-US" dirty="0">
                <a:solidFill>
                  <a:srgbClr val="FF0000"/>
                </a:solidFill>
                <a:latin typeface="Times New Roman" panose="02020603050405020304" pitchFamily="18" charset="0"/>
              </a:rPr>
              <a:t>＋</a:t>
            </a:r>
            <a:r>
              <a:rPr lang="en-US" altLang="zh-CN" dirty="0">
                <a:latin typeface="Times New Roman" panose="02020603050405020304" pitchFamily="18" charset="0"/>
              </a:rPr>
              <a:t>0]</a:t>
            </a:r>
            <a:r>
              <a:rPr lang="zh-CN" altLang="en-US" baseline="-25000" dirty="0">
                <a:latin typeface="Times New Roman" panose="02020603050405020304" pitchFamily="18" charset="0"/>
              </a:rPr>
              <a:t>原</a:t>
            </a:r>
            <a:r>
              <a:rPr lang="zh-CN" altLang="en-US" dirty="0">
                <a:latin typeface="Times New Roman" panose="02020603050405020304" pitchFamily="18" charset="0"/>
              </a:rPr>
              <a:t>＝</a:t>
            </a:r>
            <a:r>
              <a:rPr lang="en-US" altLang="zh-CN" dirty="0">
                <a:solidFill>
                  <a:srgbClr val="FF0000"/>
                </a:solidFill>
                <a:latin typeface="Times New Roman" panose="02020603050405020304" pitchFamily="18" charset="0"/>
              </a:rPr>
              <a:t>0</a:t>
            </a:r>
            <a:r>
              <a:rPr lang="en-US" altLang="zh-CN" dirty="0">
                <a:latin typeface="Times New Roman" panose="02020603050405020304" pitchFamily="18" charset="0"/>
              </a:rPr>
              <a:t>000 0000</a:t>
            </a:r>
            <a:r>
              <a:rPr lang="en-US" altLang="zh-CN" dirty="0">
                <a:solidFill>
                  <a:schemeClr val="tx2"/>
                </a:solidFill>
                <a:latin typeface="Arial" panose="020B0604020202020204" pitchFamily="34" charset="0"/>
              </a:rPr>
              <a:t>B</a:t>
            </a:r>
            <a:r>
              <a:rPr lang="zh-CN" altLang="en-US" dirty="0">
                <a:latin typeface="Times New Roman" panose="02020603050405020304" pitchFamily="18" charset="0"/>
              </a:rPr>
              <a:t>，  </a:t>
            </a:r>
            <a:r>
              <a:rPr lang="en-US" altLang="zh-CN" dirty="0">
                <a:latin typeface="Times New Roman" panose="02020603050405020304" pitchFamily="18" charset="0"/>
              </a:rPr>
              <a:t>[</a:t>
            </a:r>
            <a:r>
              <a:rPr lang="zh-CN" altLang="en-US" dirty="0">
                <a:solidFill>
                  <a:srgbClr val="FF0000"/>
                </a:solidFill>
                <a:latin typeface="Times New Roman" panose="02020603050405020304" pitchFamily="18" charset="0"/>
              </a:rPr>
              <a:t>－</a:t>
            </a:r>
            <a:r>
              <a:rPr lang="en-US" altLang="zh-CN" dirty="0">
                <a:latin typeface="Times New Roman" panose="02020603050405020304" pitchFamily="18" charset="0"/>
              </a:rPr>
              <a:t>0]</a:t>
            </a:r>
            <a:r>
              <a:rPr lang="zh-CN" altLang="en-US" baseline="-25000" dirty="0">
                <a:latin typeface="Times New Roman" panose="02020603050405020304" pitchFamily="18" charset="0"/>
              </a:rPr>
              <a:t>原</a:t>
            </a:r>
            <a:r>
              <a:rPr lang="zh-CN" altLang="en-US" dirty="0">
                <a:latin typeface="Times New Roman" panose="02020603050405020304" pitchFamily="18" charset="0"/>
              </a:rPr>
              <a:t>＝</a:t>
            </a:r>
            <a:r>
              <a:rPr lang="en-US" altLang="zh-CN" dirty="0">
                <a:solidFill>
                  <a:srgbClr val="FF0000"/>
                </a:solidFill>
                <a:latin typeface="Times New Roman" panose="02020603050405020304" pitchFamily="18" charset="0"/>
              </a:rPr>
              <a:t>1</a:t>
            </a:r>
            <a:r>
              <a:rPr lang="en-US" altLang="zh-CN" dirty="0">
                <a:latin typeface="Times New Roman" panose="02020603050405020304" pitchFamily="18" charset="0"/>
              </a:rPr>
              <a:t>000 0000</a:t>
            </a:r>
            <a:r>
              <a:rPr lang="en-US" altLang="zh-CN" dirty="0">
                <a:solidFill>
                  <a:schemeClr val="tx2"/>
                </a:solidFill>
                <a:latin typeface="Arial" panose="020B0604020202020204" pitchFamily="34" charset="0"/>
              </a:rPr>
              <a:t>B</a:t>
            </a:r>
            <a:endParaRPr lang="en-US" altLang="zh-CN" dirty="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a:spLocks noGrp="1" noChangeArrowheads="1"/>
          </p:cNvSpPr>
          <p:nvPr>
            <p:ph type="title"/>
          </p:nvPr>
        </p:nvSpPr>
        <p:spPr>
          <a:xfrm>
            <a:off x="906780" y="138214"/>
            <a:ext cx="7463789" cy="1055586"/>
          </a:xfrm>
        </p:spPr>
        <p:txBody>
          <a:bodyPr vert="horz" lIns="91440" tIns="45720" rIns="91440" bIns="45720" rtlCol="0" anchor="b">
            <a:normAutofit fontScale="90000"/>
          </a:bodyPr>
          <a:lstStyle/>
          <a:p>
            <a:r>
              <a:rPr lang="zh-CN" altLang="en-US" sz="4000" dirty="0">
                <a:latin typeface="宋体" panose="02010600030101010101" pitchFamily="2" charset="-122"/>
              </a:rPr>
              <a:t>无符号数</a:t>
            </a:r>
            <a:br>
              <a:rPr lang="zh-CN" altLang="en-US" sz="4000" dirty="0">
                <a:latin typeface="宋体" panose="02010600030101010101" pitchFamily="2" charset="-122"/>
              </a:rPr>
            </a:br>
            <a:r>
              <a:rPr lang="zh-CN" altLang="en-US" sz="4000" dirty="0">
                <a:latin typeface="宋体" panose="02010600030101010101" pitchFamily="2" charset="-122"/>
                <a:sym typeface="+mn-ea"/>
              </a:rPr>
              <a:t>unsigned number</a:t>
            </a:r>
            <a:endParaRPr lang="zh-CN" altLang="en-US" sz="4000" dirty="0">
              <a:latin typeface="宋体" panose="02010600030101010101" pitchFamily="2" charset="-122"/>
            </a:endParaRPr>
          </a:p>
        </p:txBody>
      </p:sp>
      <p:sp>
        <p:nvSpPr>
          <p:cNvPr id="402435" name="Rectangle 3"/>
          <p:cNvSpPr>
            <a:spLocks noGrp="1" noChangeArrowheads="1"/>
          </p:cNvSpPr>
          <p:nvPr>
            <p:ph idx="1"/>
          </p:nvPr>
        </p:nvSpPr>
        <p:spPr>
          <a:xfrm>
            <a:off x="906780" y="1193800"/>
            <a:ext cx="10168255" cy="3456305"/>
          </a:xfrm>
        </p:spPr>
        <p:txBody>
          <a:bodyPr>
            <a:normAutofit fontScale="90000" lnSpcReduction="20000"/>
          </a:bodyPr>
          <a:lstStyle/>
          <a:p>
            <a:pPr eaLnBrk="1" hangingPunct="1">
              <a:lnSpc>
                <a:spcPct val="124000"/>
              </a:lnSpc>
              <a:spcBef>
                <a:spcPct val="0"/>
              </a:spcBef>
              <a:spcAft>
                <a:spcPts val="1800"/>
              </a:spcAft>
            </a:pPr>
            <a:r>
              <a:rPr lang="zh-CN" altLang="en-US" dirty="0">
                <a:solidFill>
                  <a:srgbClr val="FF0000"/>
                </a:solidFill>
              </a:rPr>
              <a:t>没有符号位的数，称为无符号数。</a:t>
            </a:r>
            <a:br>
              <a:rPr lang="zh-CN" altLang="en-US" dirty="0">
                <a:solidFill>
                  <a:srgbClr val="FF0000"/>
                </a:solidFill>
              </a:rPr>
            </a:br>
            <a:r>
              <a:rPr lang="zh-CN" altLang="en-US" dirty="0">
                <a:solidFill>
                  <a:srgbClr val="FF0000"/>
                </a:solidFill>
                <a:sym typeface="+mn-ea"/>
              </a:rPr>
              <a:t>A number without a sign is called an unsigned number.</a:t>
            </a:r>
            <a:endParaRPr lang="zh-CN" altLang="en-US" dirty="0">
              <a:solidFill>
                <a:srgbClr val="FF0000"/>
              </a:solidFill>
            </a:endParaRPr>
          </a:p>
          <a:p>
            <a:pPr eaLnBrk="1" hangingPunct="1">
              <a:lnSpc>
                <a:spcPct val="124000"/>
              </a:lnSpc>
              <a:spcBef>
                <a:spcPct val="0"/>
              </a:spcBef>
              <a:spcAft>
                <a:spcPts val="1800"/>
              </a:spcAft>
              <a:buFontTx/>
              <a:buNone/>
            </a:pPr>
            <a:r>
              <a:rPr lang="zh-CN" altLang="en-US" dirty="0"/>
              <a:t>  如字长为</a:t>
            </a:r>
            <a:r>
              <a:rPr lang="en-US" altLang="zh-CN" dirty="0"/>
              <a:t>8</a:t>
            </a:r>
            <a:r>
              <a:rPr lang="zh-CN" altLang="en-US" dirty="0"/>
              <a:t>位时，能表示的无符号数的最大值为</a:t>
            </a:r>
            <a:r>
              <a:rPr lang="en-US" altLang="zh-CN" dirty="0">
                <a:solidFill>
                  <a:srgbClr val="FF00FF"/>
                </a:solidFill>
              </a:rPr>
              <a:t>11111111B</a:t>
            </a:r>
            <a:r>
              <a:rPr lang="zh-CN" altLang="en-US" dirty="0"/>
              <a:t>，即</a:t>
            </a:r>
            <a:r>
              <a:rPr lang="en-US" altLang="zh-CN" dirty="0">
                <a:solidFill>
                  <a:srgbClr val="FF00FF"/>
                </a:solidFill>
              </a:rPr>
              <a:t>255</a:t>
            </a:r>
            <a:r>
              <a:rPr lang="en-US" altLang="zh-CN" dirty="0"/>
              <a:t>(</a:t>
            </a:r>
            <a:r>
              <a:rPr lang="en-US" altLang="zh-CN" dirty="0">
                <a:solidFill>
                  <a:srgbClr val="002060"/>
                </a:solidFill>
                <a:latin typeface="Times New Roman" panose="02020603050405020304" pitchFamily="18" charset="0"/>
              </a:rPr>
              <a:t>2</a:t>
            </a:r>
            <a:r>
              <a:rPr lang="en-US" altLang="zh-CN" baseline="30000" dirty="0">
                <a:solidFill>
                  <a:srgbClr val="002060"/>
                </a:solidFill>
                <a:latin typeface="Times New Roman" panose="02020603050405020304" pitchFamily="18" charset="0"/>
              </a:rPr>
              <a:t>8</a:t>
            </a:r>
            <a:r>
              <a:rPr lang="en-US" altLang="zh-CN" dirty="0">
                <a:solidFill>
                  <a:srgbClr val="002060"/>
                </a:solidFill>
                <a:latin typeface="Times New Roman" panose="02020603050405020304" pitchFamily="18" charset="0"/>
              </a:rPr>
              <a:t>-1</a:t>
            </a:r>
            <a:r>
              <a:rPr lang="en-US" altLang="zh-CN" dirty="0"/>
              <a:t>)</a:t>
            </a:r>
            <a:r>
              <a:rPr lang="zh-CN" altLang="en-US" dirty="0"/>
              <a:t>，而</a:t>
            </a:r>
            <a:r>
              <a:rPr lang="en-US" altLang="zh-CN" dirty="0"/>
              <a:t>8</a:t>
            </a:r>
            <a:r>
              <a:rPr lang="zh-CN" altLang="en-US" dirty="0"/>
              <a:t>位有符号数的最大值是</a:t>
            </a:r>
            <a:r>
              <a:rPr lang="en-US" altLang="zh-CN" dirty="0">
                <a:solidFill>
                  <a:srgbClr val="FF00FF"/>
                </a:solidFill>
              </a:rPr>
              <a:t>01111111B</a:t>
            </a:r>
            <a:r>
              <a:rPr lang="zh-CN" altLang="en-US" dirty="0"/>
              <a:t>，即</a:t>
            </a:r>
            <a:r>
              <a:rPr lang="en-US" altLang="zh-CN" dirty="0">
                <a:solidFill>
                  <a:srgbClr val="FF00FF"/>
                </a:solidFill>
              </a:rPr>
              <a:t>+127</a:t>
            </a:r>
            <a:r>
              <a:rPr lang="en-US" altLang="zh-CN" dirty="0"/>
              <a:t>(</a:t>
            </a:r>
            <a:r>
              <a:rPr lang="en-US" altLang="zh-CN" dirty="0">
                <a:solidFill>
                  <a:srgbClr val="002060"/>
                </a:solidFill>
                <a:latin typeface="Times New Roman" panose="02020603050405020304" pitchFamily="18" charset="0"/>
              </a:rPr>
              <a:t>2</a:t>
            </a:r>
            <a:r>
              <a:rPr lang="en-US" altLang="zh-CN" baseline="30000" dirty="0">
                <a:solidFill>
                  <a:srgbClr val="002060"/>
                </a:solidFill>
                <a:latin typeface="Times New Roman" panose="02020603050405020304" pitchFamily="18" charset="0"/>
              </a:rPr>
              <a:t>7</a:t>
            </a:r>
            <a:r>
              <a:rPr lang="en-US" altLang="zh-CN" dirty="0">
                <a:solidFill>
                  <a:srgbClr val="002060"/>
                </a:solidFill>
                <a:latin typeface="Times New Roman" panose="02020603050405020304" pitchFamily="18" charset="0"/>
              </a:rPr>
              <a:t>-1</a:t>
            </a:r>
            <a:r>
              <a:rPr lang="en-US" altLang="zh-CN" dirty="0"/>
              <a:t>)</a:t>
            </a:r>
            <a:r>
              <a:rPr lang="zh-CN" altLang="en-US" dirty="0"/>
              <a:t>。</a:t>
            </a:r>
            <a:br>
              <a:rPr lang="zh-CN" altLang="en-US" dirty="0"/>
            </a:br>
            <a:r>
              <a:rPr lang="zh-CN" altLang="en-US" dirty="0">
                <a:sym typeface="+mn-ea"/>
              </a:rPr>
              <a:t>For example, when the word length is 8 bits, the maximum value of the unsigned number that can be represented is </a:t>
            </a:r>
            <a:r>
              <a:rPr lang="en-US" altLang="zh-CN" dirty="0">
                <a:solidFill>
                  <a:srgbClr val="FF00FF"/>
                </a:solidFill>
                <a:sym typeface="+mn-ea"/>
              </a:rPr>
              <a:t>11111111B</a:t>
            </a:r>
            <a:r>
              <a:rPr lang="zh-CN" altLang="en-US" dirty="0">
                <a:sym typeface="+mn-ea"/>
              </a:rPr>
              <a:t>, that is, </a:t>
            </a:r>
            <a:r>
              <a:rPr lang="en-US" altLang="zh-CN" dirty="0">
                <a:solidFill>
                  <a:srgbClr val="FF00FF"/>
                </a:solidFill>
                <a:sym typeface="+mn-ea"/>
              </a:rPr>
              <a:t>255</a:t>
            </a:r>
            <a:r>
              <a:rPr lang="en-US" altLang="zh-CN" dirty="0">
                <a:sym typeface="+mn-ea"/>
              </a:rPr>
              <a:t>(</a:t>
            </a:r>
            <a:r>
              <a:rPr lang="en-US" altLang="zh-CN" dirty="0">
                <a:solidFill>
                  <a:srgbClr val="002060"/>
                </a:solidFill>
                <a:latin typeface="Times New Roman" panose="02020603050405020304" pitchFamily="18" charset="0"/>
                <a:sym typeface="+mn-ea"/>
              </a:rPr>
              <a:t>2</a:t>
            </a:r>
            <a:r>
              <a:rPr lang="en-US" altLang="zh-CN" baseline="30000" dirty="0">
                <a:solidFill>
                  <a:srgbClr val="002060"/>
                </a:solidFill>
                <a:latin typeface="Times New Roman" panose="02020603050405020304" pitchFamily="18" charset="0"/>
                <a:sym typeface="+mn-ea"/>
              </a:rPr>
              <a:t>8</a:t>
            </a:r>
            <a:r>
              <a:rPr lang="en-US" altLang="zh-CN" dirty="0">
                <a:solidFill>
                  <a:srgbClr val="002060"/>
                </a:solidFill>
                <a:latin typeface="Times New Roman" panose="02020603050405020304" pitchFamily="18" charset="0"/>
                <a:sym typeface="+mn-ea"/>
              </a:rPr>
              <a:t>-1</a:t>
            </a:r>
            <a:r>
              <a:rPr lang="en-US" altLang="zh-CN" dirty="0">
                <a:sym typeface="+mn-ea"/>
              </a:rPr>
              <a:t>)</a:t>
            </a:r>
            <a:r>
              <a:rPr lang="zh-CN" altLang="en-US" dirty="0">
                <a:sym typeface="+mn-ea"/>
              </a:rPr>
              <a:t>, while the maximum value of the 8-bit signed number is </a:t>
            </a:r>
            <a:r>
              <a:rPr lang="en-US" altLang="zh-CN" dirty="0">
                <a:solidFill>
                  <a:srgbClr val="FF00FF"/>
                </a:solidFill>
                <a:sym typeface="+mn-ea"/>
              </a:rPr>
              <a:t>01111111B, </a:t>
            </a:r>
            <a:r>
              <a:rPr lang="zh-CN" altLang="en-US" dirty="0">
                <a:sym typeface="+mn-ea"/>
              </a:rPr>
              <a:t>that is,</a:t>
            </a:r>
            <a:r>
              <a:rPr lang="en-US" altLang="zh-CN" dirty="0">
                <a:solidFill>
                  <a:srgbClr val="FF00FF"/>
                </a:solidFill>
                <a:sym typeface="+mn-ea"/>
              </a:rPr>
              <a:t>+127</a:t>
            </a:r>
            <a:r>
              <a:rPr lang="en-US" altLang="zh-CN" dirty="0">
                <a:sym typeface="+mn-ea"/>
              </a:rPr>
              <a:t>(</a:t>
            </a:r>
            <a:r>
              <a:rPr lang="en-US" altLang="zh-CN" dirty="0">
                <a:solidFill>
                  <a:srgbClr val="002060"/>
                </a:solidFill>
                <a:latin typeface="Times New Roman" panose="02020603050405020304" pitchFamily="18" charset="0"/>
                <a:sym typeface="+mn-ea"/>
              </a:rPr>
              <a:t>2</a:t>
            </a:r>
            <a:r>
              <a:rPr lang="en-US" altLang="zh-CN" baseline="30000" dirty="0">
                <a:solidFill>
                  <a:srgbClr val="002060"/>
                </a:solidFill>
                <a:latin typeface="Times New Roman" panose="02020603050405020304" pitchFamily="18" charset="0"/>
                <a:sym typeface="+mn-ea"/>
              </a:rPr>
              <a:t>7</a:t>
            </a:r>
            <a:r>
              <a:rPr lang="en-US" altLang="zh-CN" dirty="0">
                <a:solidFill>
                  <a:srgbClr val="002060"/>
                </a:solidFill>
                <a:latin typeface="Times New Roman" panose="02020603050405020304" pitchFamily="18" charset="0"/>
                <a:sym typeface="+mn-ea"/>
              </a:rPr>
              <a:t>-1</a:t>
            </a:r>
            <a:r>
              <a:rPr lang="en-US" altLang="zh-CN" dirty="0">
                <a:sym typeface="+mn-ea"/>
              </a:rPr>
              <a:t>)</a:t>
            </a:r>
            <a:r>
              <a:rPr lang="zh-CN" altLang="en-US" dirty="0">
                <a:sym typeface="+mn-ea"/>
              </a:rPr>
              <a:t>.</a:t>
            </a:r>
            <a:endParaRPr lang="en-US" altLang="zh-CN" dirty="0"/>
          </a:p>
          <a:p>
            <a:pPr eaLnBrk="1" hangingPunct="1">
              <a:lnSpc>
                <a:spcPct val="124000"/>
              </a:lnSpc>
              <a:spcBef>
                <a:spcPct val="0"/>
              </a:spcBef>
              <a:spcAft>
                <a:spcPts val="1800"/>
              </a:spcAft>
              <a:buFontTx/>
              <a:buNone/>
            </a:pPr>
            <a:r>
              <a:rPr lang="zh-CN" altLang="en-US" b="1" dirty="0">
                <a:solidFill>
                  <a:srgbClr val="C00000"/>
                </a:solidFill>
              </a:rPr>
              <a:t>  无符号数的最大值比有符号数大一倍。</a:t>
            </a:r>
            <a:br>
              <a:rPr lang="zh-CN" altLang="en-US" b="1" dirty="0">
                <a:solidFill>
                  <a:srgbClr val="C00000"/>
                </a:solidFill>
              </a:rPr>
            </a:br>
            <a:r>
              <a:rPr lang="zh-CN" altLang="en-US" b="1" dirty="0">
                <a:solidFill>
                  <a:srgbClr val="C00000"/>
                </a:solidFill>
                <a:sym typeface="+mn-ea"/>
              </a:rPr>
              <a:t>The maximum value of an unsigned number is twice as large as that of a signed number.</a:t>
            </a:r>
            <a:endParaRPr lang="zh-CN" altLang="en-US" b="1" dirty="0">
              <a:solidFill>
                <a:srgbClr val="C00000"/>
              </a:solidFill>
            </a:endParaRPr>
          </a:p>
          <a:p>
            <a:pPr eaLnBrk="1" hangingPunct="1">
              <a:lnSpc>
                <a:spcPct val="124000"/>
              </a:lnSpc>
              <a:spcBef>
                <a:spcPct val="0"/>
              </a:spcBef>
              <a:spcAft>
                <a:spcPts val="1800"/>
              </a:spcAft>
              <a:buFontTx/>
              <a:buNone/>
            </a:pPr>
            <a:endParaRPr lang="zh-CN" altLang="en-US" b="1" dirty="0">
              <a:solidFill>
                <a:srgbClr val="C00000"/>
              </a:solidFill>
            </a:endParaRPr>
          </a:p>
        </p:txBody>
      </p:sp>
      <p:sp>
        <p:nvSpPr>
          <p:cNvPr id="6" name="Rectangle 3"/>
          <p:cNvSpPr txBox="1">
            <a:spLocks noChangeArrowheads="1"/>
          </p:cNvSpPr>
          <p:nvPr/>
        </p:nvSpPr>
        <p:spPr bwMode="auto">
          <a:xfrm>
            <a:off x="906780" y="4383405"/>
            <a:ext cx="11116945" cy="1525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sz="2000" kern="0" dirty="0">
                <a:latin typeface="Times New Roman" panose="02020603050405020304" pitchFamily="18" charset="0"/>
              </a:rPr>
              <a:t>8</a:t>
            </a:r>
            <a:r>
              <a:rPr lang="zh-CN" altLang="en-US" sz="2000" kern="0" dirty="0">
                <a:latin typeface="Times New Roman" panose="02020603050405020304" pitchFamily="18" charset="0"/>
              </a:rPr>
              <a:t>位二进制无符号数的表示范围为：</a:t>
            </a:r>
            <a:r>
              <a:rPr lang="en-US" altLang="zh-CN" sz="2000" kern="0" dirty="0">
                <a:latin typeface="Times New Roman" panose="02020603050405020304" pitchFamily="18" charset="0"/>
              </a:rPr>
              <a:t>0~255</a:t>
            </a:r>
            <a:r>
              <a:rPr lang="en-US" altLang="zh-CN" sz="2000" dirty="0"/>
              <a:t>(</a:t>
            </a:r>
            <a:r>
              <a:rPr lang="en-US" altLang="zh-CN" sz="2000" dirty="0">
                <a:solidFill>
                  <a:srgbClr val="002060"/>
                </a:solidFill>
                <a:latin typeface="Times New Roman" panose="02020603050405020304" pitchFamily="18" charset="0"/>
              </a:rPr>
              <a:t>2</a:t>
            </a:r>
            <a:r>
              <a:rPr lang="en-US" altLang="zh-CN" sz="2000" baseline="30000" dirty="0">
                <a:solidFill>
                  <a:srgbClr val="002060"/>
                </a:solidFill>
                <a:latin typeface="Times New Roman" panose="02020603050405020304" pitchFamily="18" charset="0"/>
              </a:rPr>
              <a:t>8</a:t>
            </a:r>
            <a:r>
              <a:rPr lang="en-US" altLang="zh-CN" sz="2000" dirty="0">
                <a:solidFill>
                  <a:srgbClr val="002060"/>
                </a:solidFill>
                <a:latin typeface="Times New Roman" panose="02020603050405020304" pitchFamily="18" charset="0"/>
              </a:rPr>
              <a:t>-1</a:t>
            </a:r>
            <a:r>
              <a:rPr lang="en-US" altLang="zh-CN" sz="2000" dirty="0"/>
              <a:t>)</a:t>
            </a:r>
          </a:p>
          <a:p>
            <a:pPr eaLnBrk="1" hangingPunct="1">
              <a:buFontTx/>
              <a:buNone/>
              <a:defRPr/>
            </a:pPr>
            <a:r>
              <a:rPr lang="en-US" altLang="zh-CN" sz="2000" kern="0" dirty="0">
                <a:latin typeface="Times New Roman" panose="02020603050405020304" pitchFamily="18" charset="0"/>
                <a:sym typeface="+mn-ea"/>
              </a:rPr>
              <a:t>The representation range of 8-bit unsigned binary numbers is: 0~255 (</a:t>
            </a:r>
            <a:r>
              <a:rPr lang="en-US" altLang="zh-CN" sz="2000" dirty="0">
                <a:solidFill>
                  <a:srgbClr val="002060"/>
                </a:solidFill>
                <a:latin typeface="Times New Roman" panose="02020603050405020304" pitchFamily="18" charset="0"/>
                <a:sym typeface="+mn-ea"/>
              </a:rPr>
              <a:t>2</a:t>
            </a:r>
            <a:r>
              <a:rPr lang="en-US" altLang="zh-CN" sz="2000" baseline="30000" dirty="0">
                <a:solidFill>
                  <a:srgbClr val="002060"/>
                </a:solidFill>
                <a:latin typeface="Times New Roman" panose="02020603050405020304" pitchFamily="18" charset="0"/>
                <a:sym typeface="+mn-ea"/>
              </a:rPr>
              <a:t>8</a:t>
            </a:r>
            <a:r>
              <a:rPr lang="en-US" altLang="zh-CN" sz="2000" dirty="0">
                <a:solidFill>
                  <a:srgbClr val="002060"/>
                </a:solidFill>
                <a:latin typeface="Times New Roman" panose="02020603050405020304" pitchFamily="18" charset="0"/>
                <a:sym typeface="+mn-ea"/>
              </a:rPr>
              <a:t>-1</a:t>
            </a:r>
            <a:r>
              <a:rPr lang="en-US" altLang="zh-CN" sz="2000" kern="0" dirty="0">
                <a:latin typeface="Times New Roman" panose="02020603050405020304" pitchFamily="18" charset="0"/>
                <a:sym typeface="+mn-ea"/>
              </a:rPr>
              <a:t>)</a:t>
            </a:r>
            <a:r>
              <a:rPr lang="en-US" altLang="zh-CN" sz="2000" dirty="0"/>
              <a:t> </a:t>
            </a:r>
            <a:endParaRPr lang="en-US" altLang="zh-CN" sz="2000" kern="0" dirty="0">
              <a:latin typeface="Times New Roman" panose="02020603050405020304" pitchFamily="18" charset="0"/>
            </a:endParaRPr>
          </a:p>
          <a:p>
            <a:pPr eaLnBrk="1" hangingPunct="1">
              <a:buFontTx/>
              <a:buNone/>
              <a:defRPr/>
            </a:pPr>
            <a:r>
              <a:rPr lang="en-US" altLang="zh-CN" sz="2000" kern="0" dirty="0">
                <a:latin typeface="Times New Roman" panose="02020603050405020304" pitchFamily="18" charset="0"/>
              </a:rPr>
              <a:t>16</a:t>
            </a:r>
            <a:r>
              <a:rPr lang="zh-CN" altLang="en-US" sz="2000" kern="0" dirty="0">
                <a:latin typeface="Times New Roman" panose="02020603050405020304" pitchFamily="18" charset="0"/>
              </a:rPr>
              <a:t>位二进制无符号数的表示范围为：</a:t>
            </a:r>
            <a:r>
              <a:rPr lang="en-US" altLang="zh-CN" sz="2000" kern="0" dirty="0">
                <a:latin typeface="Times New Roman" panose="02020603050405020304" pitchFamily="18" charset="0"/>
              </a:rPr>
              <a:t>0~65535</a:t>
            </a:r>
            <a:r>
              <a:rPr lang="en-US" altLang="zh-CN" sz="2000" dirty="0"/>
              <a:t>(</a:t>
            </a:r>
            <a:r>
              <a:rPr lang="en-US" altLang="zh-CN" sz="2000" dirty="0">
                <a:solidFill>
                  <a:srgbClr val="002060"/>
                </a:solidFill>
                <a:latin typeface="Times New Roman" panose="02020603050405020304" pitchFamily="18" charset="0"/>
              </a:rPr>
              <a:t>2</a:t>
            </a:r>
            <a:r>
              <a:rPr lang="en-US" altLang="zh-CN" sz="2000" baseline="30000" dirty="0">
                <a:solidFill>
                  <a:srgbClr val="002060"/>
                </a:solidFill>
                <a:latin typeface="Times New Roman" panose="02020603050405020304" pitchFamily="18" charset="0"/>
              </a:rPr>
              <a:t>16</a:t>
            </a:r>
            <a:r>
              <a:rPr lang="en-US" altLang="zh-CN" sz="2000" dirty="0">
                <a:solidFill>
                  <a:srgbClr val="002060"/>
                </a:solidFill>
                <a:latin typeface="Times New Roman" panose="02020603050405020304" pitchFamily="18" charset="0"/>
              </a:rPr>
              <a:t>-1</a:t>
            </a:r>
            <a:r>
              <a:rPr lang="en-US" altLang="zh-CN" sz="2000" dirty="0"/>
              <a:t>)</a:t>
            </a:r>
          </a:p>
          <a:p>
            <a:pPr eaLnBrk="1" hangingPunct="1">
              <a:buFontTx/>
              <a:buNone/>
              <a:defRPr/>
            </a:pPr>
            <a:r>
              <a:rPr lang="en-US" altLang="zh-CN" sz="2000" kern="0" dirty="0">
                <a:latin typeface="Times New Roman" panose="02020603050405020304" pitchFamily="18" charset="0"/>
                <a:sym typeface="+mn-ea"/>
              </a:rPr>
              <a:t>The representation range of a 16-bit unsigned binary number is 0 to 65535 (</a:t>
            </a:r>
            <a:r>
              <a:rPr lang="en-US" altLang="zh-CN" sz="2000" dirty="0">
                <a:solidFill>
                  <a:srgbClr val="002060"/>
                </a:solidFill>
                <a:latin typeface="Times New Roman" panose="02020603050405020304" pitchFamily="18" charset="0"/>
                <a:sym typeface="+mn-ea"/>
              </a:rPr>
              <a:t>2</a:t>
            </a:r>
            <a:r>
              <a:rPr lang="en-US" altLang="zh-CN" sz="2000" baseline="30000" dirty="0">
                <a:solidFill>
                  <a:srgbClr val="002060"/>
                </a:solidFill>
                <a:latin typeface="Times New Roman" panose="02020603050405020304" pitchFamily="18" charset="0"/>
                <a:sym typeface="+mn-ea"/>
              </a:rPr>
              <a:t>16</a:t>
            </a:r>
            <a:r>
              <a:rPr lang="en-US" altLang="zh-CN" sz="2000" dirty="0">
                <a:solidFill>
                  <a:srgbClr val="002060"/>
                </a:solidFill>
                <a:latin typeface="Times New Roman" panose="02020603050405020304" pitchFamily="18" charset="0"/>
                <a:sym typeface="+mn-ea"/>
              </a:rPr>
              <a:t>-1</a:t>
            </a:r>
            <a:r>
              <a:rPr lang="en-US" altLang="zh-CN" sz="2000" kern="0" dirty="0">
                <a:latin typeface="Times New Roman" panose="02020603050405020304" pitchFamily="18" charset="0"/>
                <a:sym typeface="+mn-ea"/>
              </a:rPr>
              <a:t>)</a:t>
            </a:r>
            <a:endParaRPr lang="en-US" altLang="zh-CN" sz="2000" kern="0" dirty="0">
              <a:latin typeface="Times New Roman" panose="02020603050405020304" pitchFamily="18" charset="0"/>
            </a:endParaRPr>
          </a:p>
          <a:p>
            <a:pPr eaLnBrk="1" hangingPunct="1">
              <a:buFontTx/>
              <a:buNone/>
              <a:defRPr/>
            </a:pPr>
            <a:endParaRPr lang="en-US" altLang="zh-CN" sz="2000" kern="0" dirty="0">
              <a:latin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9296" name="Group 112"/>
          <p:cNvGraphicFramePr>
            <a:graphicFrameLocks noGrp="1"/>
          </p:cNvGraphicFramePr>
          <p:nvPr/>
        </p:nvGraphicFramePr>
        <p:xfrm>
          <a:off x="1157288" y="796925"/>
          <a:ext cx="8801100" cy="4236720"/>
        </p:xfrm>
        <a:graphic>
          <a:graphicData uri="http://schemas.openxmlformats.org/drawingml/2006/table">
            <a:tbl>
              <a:tblPr/>
              <a:tblGrid>
                <a:gridCol w="1243330">
                  <a:extLst>
                    <a:ext uri="{9D8B030D-6E8A-4147-A177-3AD203B41FA5}">
                      <a16:colId xmlns:a16="http://schemas.microsoft.com/office/drawing/2014/main" val="20000"/>
                    </a:ext>
                  </a:extLst>
                </a:gridCol>
                <a:gridCol w="1642745">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1685925">
                  <a:extLst>
                    <a:ext uri="{9D8B030D-6E8A-4147-A177-3AD203B41FA5}">
                      <a16:colId xmlns:a16="http://schemas.microsoft.com/office/drawing/2014/main" val="20003"/>
                    </a:ext>
                  </a:extLst>
                </a:gridCol>
                <a:gridCol w="1769110">
                  <a:extLst>
                    <a:ext uri="{9D8B030D-6E8A-4147-A177-3AD203B41FA5}">
                      <a16:colId xmlns:a16="http://schemas.microsoft.com/office/drawing/2014/main" val="20004"/>
                    </a:ext>
                  </a:extLst>
                </a:gridCol>
                <a:gridCol w="1602740">
                  <a:extLst>
                    <a:ext uri="{9D8B030D-6E8A-4147-A177-3AD203B41FA5}">
                      <a16:colId xmlns:a16="http://schemas.microsoft.com/office/drawing/2014/main" val="20005"/>
                    </a:ext>
                  </a:extLst>
                </a:gridCol>
              </a:tblGrid>
              <a:tr h="365702">
                <a:tc grid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无符号数</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unsigned number</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有符号数</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signed number</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65702">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十进制数</a:t>
                      </a:r>
                    </a:p>
                    <a:p>
                      <a:pPr marL="0" marR="0" lvl="0" indent="0" algn="ctr" defTabSz="914400" rtl="0" eaLnBrk="1" fontAlgn="base" latinLnBrk="0" hangingPunct="1">
                        <a:lnSpc>
                          <a:spcPct val="100000"/>
                        </a:lnSpc>
                        <a:spcBef>
                          <a:spcPct val="0"/>
                        </a:spcBef>
                        <a:spcAft>
                          <a:spcPct val="0"/>
                        </a:spcAft>
                        <a:buClrTx/>
                        <a:buSzTx/>
                        <a:buFontTx/>
                        <a:buNone/>
                      </a:pPr>
                      <a:r>
                        <a:rPr lang="zh-CN" altLang="en-US" sz="1400" b="1">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decimal number</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二进制数</a:t>
                      </a:r>
                    </a:p>
                    <a:p>
                      <a:pPr marL="0" marR="0" lvl="0" indent="0" algn="ctr" defTabSz="914400" rtl="0" eaLnBrk="1" fontAlgn="base" latinLnBrk="0" hangingPunct="1">
                        <a:lnSpc>
                          <a:spcPct val="100000"/>
                        </a:lnSpc>
                        <a:spcBef>
                          <a:spcPct val="0"/>
                        </a:spcBef>
                        <a:spcAft>
                          <a:spcPct val="0"/>
                        </a:spcAft>
                        <a:buClrTx/>
                        <a:buSzTx/>
                        <a:buFontTx/>
                        <a:buNone/>
                      </a:pPr>
                      <a:r>
                        <a:rPr lang="zh-CN" altLang="en-US" sz="1400" b="1">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binary number</a:t>
                      </a:r>
                      <a:endParaRPr kumimoji="0" lang="zh-CN" altLang="en-US"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mn-ea"/>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原码</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反码</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补码</a:t>
                      </a:r>
                      <a:endParaRPr kumimoji="0" lang="zh-CN" altLang="en-US"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2913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127</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128</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129</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255</a:t>
                      </a:r>
                      <a:endParaRPr kumimoji="0" lang="en-US" altLang="zh-CN" sz="24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0111 1111B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0000 0001B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0000 0000B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 0000B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 0001B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Arial" panose="020B0604020202020204"/>
                          <a:ea typeface="宋体" panose="02010600030101010101" pitchFamily="2" charset="-122"/>
                          <a:cs typeface="Times New Roman" panose="02020603050405020304" pitchFamily="18" charset="0"/>
                        </a:rPr>
                        <a:t>…</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1111 1111B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14605"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6350" algn="ctr" defTabSz="914400" rtl="0" eaLnBrk="1" fontAlgn="base" latinLnBrk="0" hangingPunct="1">
                        <a:lnSpc>
                          <a:spcPct val="100000"/>
                        </a:lnSpc>
                        <a:spcBef>
                          <a:spcPct val="0"/>
                        </a:spcBef>
                        <a:spcAft>
                          <a:spcPct val="0"/>
                        </a:spcAft>
                        <a:buClrTx/>
                        <a:buSzTx/>
                        <a:buFontTx/>
                        <a:buNone/>
                      </a:pPr>
                      <a:endParaRPr kumimoji="0" lang="en-US" altLang="zh-CN" sz="2400" b="1" i="0" u="none" strike="noStrike" cap="none" normalizeH="0" baseline="0" dirty="0">
                        <a:ln>
                          <a:noFill/>
                        </a:ln>
                        <a:solidFill>
                          <a:srgbClr val="C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60444" name="标题 3"/>
          <p:cNvSpPr>
            <a:spLocks noGrp="1" noChangeArrowheads="1"/>
          </p:cNvSpPr>
          <p:nvPr>
            <p:ph type="title"/>
          </p:nvPr>
        </p:nvSpPr>
        <p:spPr>
          <a:xfrm>
            <a:off x="1738313" y="357188"/>
            <a:ext cx="8483600" cy="504825"/>
          </a:xfrm>
        </p:spPr>
        <p:txBody>
          <a:bodyPr>
            <a:normAutofit fontScale="90000"/>
          </a:bodyPr>
          <a:lstStyle/>
          <a:p>
            <a:pPr eaLnBrk="1" hangingPunct="1"/>
            <a:r>
              <a:rPr lang="zh-CN" altLang="en-US" sz="2800"/>
              <a:t>表</a:t>
            </a:r>
            <a:r>
              <a:rPr lang="en-US" altLang="zh-CN" sz="2800"/>
              <a:t>2-2  8</a:t>
            </a:r>
            <a:r>
              <a:rPr lang="zh-CN" altLang="en-US" sz="2800"/>
              <a:t>位二进制数的原码、反码、补码的表示</a:t>
            </a:r>
            <a:br>
              <a:rPr lang="zh-CN" altLang="en-US" sz="2800"/>
            </a:br>
            <a:r>
              <a:rPr lang="zh-CN" altLang="en-US" sz="1600">
                <a:sym typeface="+mn-ea"/>
              </a:rPr>
              <a:t>Table 2-2 Representation of true form, inverse code and two's complement code of 8-bit binary number</a:t>
            </a:r>
          </a:p>
        </p:txBody>
      </p:sp>
      <p:sp>
        <p:nvSpPr>
          <p:cNvPr id="7" name="Rectangle 3"/>
          <p:cNvSpPr txBox="1">
            <a:spLocks noChangeArrowheads="1"/>
          </p:cNvSpPr>
          <p:nvPr/>
        </p:nvSpPr>
        <p:spPr bwMode="auto">
          <a:xfrm>
            <a:off x="298450" y="5213985"/>
            <a:ext cx="11791950" cy="1062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l" eaLnBrk="1" hangingPunct="1">
              <a:buFontTx/>
              <a:buNone/>
              <a:defRPr/>
            </a:pPr>
            <a:r>
              <a:rPr lang="zh-CN" altLang="en-US" sz="2000" kern="0" dirty="0">
                <a:latin typeface="Times New Roman" panose="02020603050405020304" pitchFamily="18" charset="0"/>
                <a:cs typeface="Times New Roman" panose="02020603050405020304" pitchFamily="18" charset="0"/>
              </a:rPr>
              <a:t>可见，</a:t>
            </a:r>
            <a:r>
              <a:rPr lang="en-US" altLang="zh-CN" sz="2000" kern="0" dirty="0">
                <a:latin typeface="Times New Roman" panose="02020603050405020304" pitchFamily="18" charset="0"/>
                <a:cs typeface="Times New Roman" panose="02020603050405020304" pitchFamily="18" charset="0"/>
              </a:rPr>
              <a:t>8</a:t>
            </a:r>
            <a:r>
              <a:rPr lang="zh-CN" altLang="en-US" sz="2000" kern="0" dirty="0">
                <a:latin typeface="Times New Roman" panose="02020603050405020304" pitchFamily="18" charset="0"/>
                <a:cs typeface="Times New Roman" panose="02020603050405020304" pitchFamily="18" charset="0"/>
              </a:rPr>
              <a:t>位字长</a:t>
            </a:r>
            <a:r>
              <a:rPr lang="zh-CN" altLang="en-US" sz="2000" kern="0" dirty="0">
                <a:solidFill>
                  <a:srgbClr val="FF0000"/>
                </a:solidFill>
                <a:latin typeface="Times New Roman" panose="02020603050405020304" pitchFamily="18" charset="0"/>
                <a:cs typeface="Times New Roman" panose="02020603050405020304" pitchFamily="18" charset="0"/>
              </a:rPr>
              <a:t>原码、反码表示的数的范围</a:t>
            </a:r>
            <a:r>
              <a:rPr lang="en-US" altLang="zh-CN" sz="2000" kern="0" dirty="0">
                <a:latin typeface="Times New Roman" panose="02020603050405020304" pitchFamily="18" charset="0"/>
                <a:cs typeface="Times New Roman" panose="02020603050405020304" pitchFamily="18" charset="0"/>
              </a:rPr>
              <a:t>: </a:t>
            </a:r>
            <a:r>
              <a:rPr lang="zh-CN" altLang="en-US" sz="2000" kern="0" dirty="0">
                <a:latin typeface="Times New Roman" panose="02020603050405020304" pitchFamily="18" charset="0"/>
                <a:cs typeface="Times New Roman" panose="02020603050405020304" pitchFamily="18" charset="0"/>
              </a:rPr>
              <a:t>＋</a:t>
            </a:r>
            <a:r>
              <a:rPr lang="en-US" altLang="zh-CN" sz="2000" kern="0" dirty="0">
                <a:latin typeface="Times New Roman" panose="02020603050405020304" pitchFamily="18" charset="0"/>
                <a:cs typeface="Times New Roman" panose="02020603050405020304" pitchFamily="18" charset="0"/>
              </a:rPr>
              <a:t>127~ –127</a:t>
            </a:r>
            <a:r>
              <a:rPr lang="zh-CN" altLang="en-US" sz="2000" kern="0" dirty="0">
                <a:latin typeface="Times New Roman" panose="02020603050405020304" pitchFamily="18" charset="0"/>
                <a:cs typeface="Times New Roman" panose="02020603050405020304" pitchFamily="18" charset="0"/>
              </a:rPr>
              <a:t>，而</a:t>
            </a:r>
            <a:r>
              <a:rPr lang="zh-CN" altLang="en-US" sz="2000" kern="0" dirty="0">
                <a:solidFill>
                  <a:srgbClr val="FF00FF"/>
                </a:solidFill>
                <a:latin typeface="Times New Roman" panose="02020603050405020304" pitchFamily="18" charset="0"/>
                <a:cs typeface="Times New Roman" panose="02020603050405020304" pitchFamily="18" charset="0"/>
              </a:rPr>
              <a:t>补码表示的数的范围</a:t>
            </a:r>
            <a:r>
              <a:rPr lang="en-US" altLang="zh-CN" sz="2000" kern="0" dirty="0">
                <a:latin typeface="Times New Roman" panose="02020603050405020304" pitchFamily="18" charset="0"/>
                <a:cs typeface="Times New Roman" panose="02020603050405020304" pitchFamily="18" charset="0"/>
              </a:rPr>
              <a:t>: +127~</a:t>
            </a:r>
            <a:r>
              <a:rPr lang="zh-CN" altLang="en-US" sz="2000" kern="0" dirty="0">
                <a:latin typeface="Times New Roman" panose="02020603050405020304" pitchFamily="18" charset="0"/>
                <a:cs typeface="Times New Roman" panose="02020603050405020304" pitchFamily="18" charset="0"/>
              </a:rPr>
              <a:t> </a:t>
            </a:r>
            <a:r>
              <a:rPr lang="en-US" altLang="zh-CN" sz="2000" kern="0" dirty="0">
                <a:solidFill>
                  <a:srgbClr val="FF00FF"/>
                </a:solidFill>
                <a:latin typeface="Times New Roman" panose="02020603050405020304" pitchFamily="18" charset="0"/>
                <a:cs typeface="Times New Roman" panose="02020603050405020304" pitchFamily="18" charset="0"/>
              </a:rPr>
              <a:t>–128</a:t>
            </a:r>
            <a:r>
              <a:rPr lang="zh-CN" altLang="en-US" sz="2000" kern="0" dirty="0">
                <a:latin typeface="Times New Roman" panose="02020603050405020304" pitchFamily="18" charset="0"/>
                <a:cs typeface="Times New Roman" panose="02020603050405020304" pitchFamily="18" charset="0"/>
              </a:rPr>
              <a:t>。</a:t>
            </a:r>
            <a:br>
              <a:rPr lang="zh-CN" altLang="en-US" sz="2400" kern="0" dirty="0">
                <a:latin typeface="Times New Roman" panose="02020603050405020304" pitchFamily="18" charset="0"/>
                <a:cs typeface="Times New Roman" panose="02020603050405020304" pitchFamily="18" charset="0"/>
              </a:rPr>
            </a:br>
            <a:r>
              <a:rPr lang="zh-CN" altLang="en-US" sz="1800" kern="0" dirty="0">
                <a:latin typeface="Times New Roman" panose="02020603050405020304" pitchFamily="18" charset="0"/>
                <a:cs typeface="Times New Roman" panose="02020603050405020304" pitchFamily="18" charset="0"/>
                <a:sym typeface="+mn-ea"/>
              </a:rPr>
              <a:t>It can be seen that the range of numbers represented by 8-bit original code and inverse code is +127~ -127, while the range of numbers represented by complement code is +127~ -128.</a:t>
            </a:r>
          </a:p>
        </p:txBody>
      </p:sp>
      <p:graphicFrame>
        <p:nvGraphicFramePr>
          <p:cNvPr id="5" name="表格 4"/>
          <p:cNvGraphicFramePr>
            <a:graphicFrameLocks noGrp="1"/>
          </p:cNvGraphicFramePr>
          <p:nvPr/>
        </p:nvGraphicFramePr>
        <p:xfrm>
          <a:off x="4893310" y="1160463"/>
          <a:ext cx="1685925" cy="3870960"/>
        </p:xfrm>
        <a:graphic>
          <a:graphicData uri="http://schemas.openxmlformats.org/drawingml/2006/table">
            <a:tbl>
              <a:tblPr/>
              <a:tblGrid>
                <a:gridCol w="1685925">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2400" b="1">
                          <a:ln>
                            <a:noFill/>
                          </a:ln>
                          <a:effectLst/>
                          <a:latin typeface="Times New Roman" panose="02020603050405020304" pitchFamily="18" charset="0"/>
                          <a:ea typeface="宋体" panose="02010600030101010101" pitchFamily="2" charset="-122"/>
                          <a:cs typeface="Times New Roman" panose="02020603050405020304" pitchFamily="18" charset="0"/>
                          <a:sym typeface="+mn-ea"/>
                        </a:rPr>
                        <a:t>原码</a:t>
                      </a:r>
                      <a:endPar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lang="zh-CN" altLang="en-US" sz="1400" b="1" dirty="0">
                          <a:sym typeface="+mn-ea"/>
                        </a:rPr>
                        <a:t>true form </a:t>
                      </a:r>
                      <a:endParaRPr kumimoji="0" lang="zh-CN" altLang="en-US" sz="1400" b="1" i="0" u="none" strike="noStrike" cap="none" normalizeH="0" baseline="0" dirty="0">
                        <a:sym typeface="+mn-ea"/>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14605"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0111 1111B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0000 0001B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rPr>
                        <a:t>0000 0000B</a:t>
                      </a:r>
                      <a:endParaRPr kumimoji="0" lang="en-US" altLang="zh-CN" sz="2400" b="1" i="0" u="none" strike="noStrike" cap="none" normalizeH="0" baseline="0" dirty="0">
                        <a:ln>
                          <a:noFill/>
                        </a:ln>
                        <a:solidFill>
                          <a:srgbClr val="3366FF"/>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rPr>
                        <a:t>1000 0000B</a:t>
                      </a:r>
                      <a:endParaRPr kumimoji="0" lang="en-US" altLang="zh-CN" sz="2400" b="1" i="0" u="none" strike="noStrike" cap="none" normalizeH="0" baseline="0" dirty="0">
                        <a:ln>
                          <a:noFill/>
                        </a:ln>
                        <a:solidFill>
                          <a:srgbClr val="FF00FF"/>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 0001B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1111 1111B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14605"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不能表示</a:t>
                      </a: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 name="表格 5"/>
          <p:cNvGraphicFramePr>
            <a:graphicFrameLocks noGrp="1"/>
          </p:cNvGraphicFramePr>
          <p:nvPr/>
        </p:nvGraphicFramePr>
        <p:xfrm>
          <a:off x="6582728" y="1160463"/>
          <a:ext cx="1769745" cy="3870960"/>
        </p:xfrm>
        <a:graphic>
          <a:graphicData uri="http://schemas.openxmlformats.org/drawingml/2006/table">
            <a:tbl>
              <a:tblPr/>
              <a:tblGrid>
                <a:gridCol w="1769745">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反码</a:t>
                      </a:r>
                    </a:p>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solidFill>
                            <a:schemeClr val="tx1"/>
                          </a:solidFill>
                          <a:sym typeface="+mn-ea"/>
                        </a:rPr>
                        <a:t>Inverse code</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sym typeface="+mn-ea"/>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0111 1111B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0000 0001B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rPr>
                        <a:t>0000 0000 B</a:t>
                      </a:r>
                      <a:endParaRPr kumimoji="0" lang="en-US" altLang="zh-CN" sz="2400" b="1" i="0" u="none" strike="noStrike" cap="none" normalizeH="0" baseline="0" dirty="0">
                        <a:ln>
                          <a:noFill/>
                        </a:ln>
                        <a:solidFill>
                          <a:srgbClr val="3366FF"/>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rPr>
                        <a:t>1111 1111 B</a:t>
                      </a:r>
                      <a:endParaRPr kumimoji="0" lang="en-US" altLang="zh-CN" sz="2400" b="1" i="0" u="none" strike="noStrike" cap="none" normalizeH="0" baseline="0" dirty="0">
                        <a:ln>
                          <a:noFill/>
                        </a:ln>
                        <a:solidFill>
                          <a:srgbClr val="FF00FF"/>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1111 1110 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 0000 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不能表示</a:t>
                      </a:r>
                      <a:endParaRPr kumimoji="0" lang="zh-CN" altLang="en-US"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8" name="表格 7"/>
          <p:cNvGraphicFramePr>
            <a:graphicFrameLocks noGrp="1"/>
          </p:cNvGraphicFramePr>
          <p:nvPr/>
        </p:nvGraphicFramePr>
        <p:xfrm>
          <a:off x="8354060" y="1162368"/>
          <a:ext cx="1603375" cy="3870960"/>
        </p:xfrm>
        <a:graphic>
          <a:graphicData uri="http://schemas.openxmlformats.org/drawingml/2006/table">
            <a:tbl>
              <a:tblPr/>
              <a:tblGrid>
                <a:gridCol w="1603375">
                  <a:extLst>
                    <a:ext uri="{9D8B030D-6E8A-4147-A177-3AD203B41FA5}">
                      <a16:colId xmlns:a16="http://schemas.microsoft.com/office/drawing/2014/main" val="20000"/>
                    </a:ext>
                  </a:extLst>
                </a:gridCol>
              </a:tblGrid>
              <a:tr h="31952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补码</a:t>
                      </a:r>
                    </a:p>
                    <a:p>
                      <a:pPr marL="0" marR="0" lvl="0" indent="0" algn="ctr" defTabSz="914400" rtl="0" eaLnBrk="1" fontAlgn="base" latinLnBrk="0" hangingPunct="1">
                        <a:lnSpc>
                          <a:spcPct val="100000"/>
                        </a:lnSpc>
                        <a:spcBef>
                          <a:spcPct val="0"/>
                        </a:spcBef>
                        <a:spcAft>
                          <a:spcPct val="0"/>
                        </a:spcAft>
                        <a:buClrTx/>
                        <a:buSzTx/>
                        <a:buFontTx/>
                        <a:buNone/>
                      </a:pPr>
                      <a:r>
                        <a:rPr lang="zh-CN" altLang="en-US" sz="1400" b="1" dirty="0">
                          <a:solidFill>
                            <a:schemeClr val="tx1"/>
                          </a:solidFill>
                          <a:sym typeface="+mn-ea"/>
                        </a:rPr>
                        <a:t>complement code</a:t>
                      </a:r>
                      <a:endPar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sym typeface="+mn-ea"/>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875683">
                <a:tc>
                  <a:txBody>
                    <a:bodyPr/>
                    <a:lstStyle/>
                    <a:p>
                      <a:pPr marL="0" marR="0" lvl="0" indent="635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0111 1111 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0000 0001 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rPr>
                        <a:t>0000 0000 </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0000 0000 </a:t>
                      </a: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1111 1111 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1000 0001 B</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635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1000 0000 B</a:t>
                      </a:r>
                      <a:endParaRPr kumimoji="0" lang="en-US" altLang="zh-CN" sz="2400" b="1" i="0" u="none" strike="noStrike" cap="none" normalizeH="0" baseline="0" dirty="0">
                        <a:ln>
                          <a:noFill/>
                        </a:ln>
                        <a:solidFill>
                          <a:srgbClr val="C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9" name="表格 8"/>
          <p:cNvGraphicFramePr>
            <a:graphicFrameLocks noGrp="1"/>
          </p:cNvGraphicFramePr>
          <p:nvPr>
            <p:custDataLst>
              <p:tags r:id="rId1"/>
            </p:custDataLst>
          </p:nvPr>
        </p:nvGraphicFramePr>
        <p:xfrm>
          <a:off x="4043045" y="1155065"/>
          <a:ext cx="857250" cy="3879215"/>
        </p:xfrm>
        <a:graphic>
          <a:graphicData uri="http://schemas.openxmlformats.org/drawingml/2006/table">
            <a:tbl>
              <a:tblPr/>
              <a:tblGrid>
                <a:gridCol w="857250">
                  <a:extLst>
                    <a:ext uri="{9D8B030D-6E8A-4147-A177-3AD203B41FA5}">
                      <a16:colId xmlns:a16="http://schemas.microsoft.com/office/drawing/2014/main" val="20000"/>
                    </a:ext>
                  </a:extLst>
                </a:gridCol>
              </a:tblGrid>
              <a:tr h="587375">
                <a:tc>
                  <a:txBody>
                    <a:bodyPr/>
                    <a:lstStyle/>
                    <a:p>
                      <a:pPr marL="0" marR="0" lvl="0" algn="ctr" defTabSz="914400" rtl="0" eaLnBrk="1" fontAlgn="base" latinLnBrk="0" hangingPunct="1">
                        <a:lnSpc>
                          <a:spcPct val="100000"/>
                        </a:lnSpc>
                        <a:buClrTx/>
                        <a:buSzTx/>
                        <a:buFontTx/>
                        <a:buNone/>
                      </a:pPr>
                      <a:r>
                        <a:rPr kumimoji="0"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真值</a:t>
                      </a:r>
                      <a:r>
                        <a:rPr lang="zh-CN" altLang="en-US" sz="1400" b="1" dirty="0">
                          <a:sym typeface="+mn-ea"/>
                        </a:rPr>
                        <a:t>truth</a:t>
                      </a:r>
                      <a:r>
                        <a:rPr lang="en-US" altLang="zh-CN" sz="1400" b="1" dirty="0">
                          <a:sym typeface="+mn-ea"/>
                        </a:rPr>
                        <a:t> </a:t>
                      </a:r>
                      <a:r>
                        <a:rPr lang="zh-CN" altLang="en-US" sz="1400" b="1" dirty="0">
                          <a:sym typeface="+mn-ea"/>
                        </a:rPr>
                        <a:t>value</a:t>
                      </a:r>
                      <a:endParaRPr kumimoji="0" lang="zh-CN" altLang="en-US" sz="1400" b="1" i="0" u="none" strike="noStrike" cap="none" normalizeH="0" baseline="0" dirty="0">
                        <a:solidFill>
                          <a:schemeClr val="tx1"/>
                        </a:solidFill>
                        <a:sym typeface="+mn-ea"/>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2816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+127</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3366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cap="none" normalizeH="0" baseline="0" dirty="0">
                        <a:ln>
                          <a:noFill/>
                        </a:ln>
                        <a:solidFill>
                          <a:srgbClr val="3366FF"/>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400" b="1" i="0" u="none" strike="noStrike" cap="none" normalizeH="0" baseline="0" dirty="0">
                        <a:ln>
                          <a:noFill/>
                        </a:ln>
                        <a:solidFill>
                          <a:srgbClr val="FF00FF"/>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-127</a:t>
                      </a:r>
                      <a:endParaRPr kumimoji="0" lang="en-US" altLang="zh-CN" sz="24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24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-128</a:t>
                      </a:r>
                      <a:endParaRPr kumimoji="0" lang="en-US" altLang="zh-CN" sz="2400" b="1" i="0" u="none" strike="noStrike" cap="none" normalizeH="0" baseline="0" dirty="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a:spLocks noGrp="1" noChangeArrowheads="1"/>
          </p:cNvSpPr>
          <p:nvPr>
            <p:ph type="title"/>
          </p:nvPr>
        </p:nvSpPr>
        <p:spPr>
          <a:xfrm>
            <a:off x="2173288" y="573882"/>
            <a:ext cx="6665912" cy="504825"/>
          </a:xfrm>
        </p:spPr>
        <p:txBody>
          <a:bodyPr>
            <a:normAutofit fontScale="90000"/>
          </a:bodyPr>
          <a:lstStyle/>
          <a:p>
            <a:pPr eaLnBrk="1" hangingPunct="1"/>
            <a:r>
              <a:rPr lang="en-US" altLang="zh-CN" dirty="0">
                <a:latin typeface="宋体" panose="02010600030101010101" pitchFamily="2" charset="-122"/>
              </a:rPr>
              <a:t>Quiz</a:t>
            </a:r>
            <a:endParaRPr lang="zh-CN" altLang="en-US" dirty="0"/>
          </a:p>
        </p:txBody>
      </p:sp>
      <p:sp>
        <p:nvSpPr>
          <p:cNvPr id="2" name="内容占位符 1"/>
          <p:cNvSpPr>
            <a:spLocks noGrp="1"/>
          </p:cNvSpPr>
          <p:nvPr>
            <p:ph idx="1"/>
          </p:nvPr>
        </p:nvSpPr>
        <p:spPr/>
        <p:txBody>
          <a:bodyPr/>
          <a:lstStyle/>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1</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原码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的表示范围是（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representation range of the </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true form</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8-bit binary code is ()</a:t>
            </a:r>
          </a:p>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2</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反码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的表示范围是（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representation range of 8-bit binary </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inverse code</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is ()</a:t>
            </a:r>
          </a:p>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3</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补码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的表示范围是（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range of the 8-bit binary</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 complement</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is ()</a:t>
            </a:r>
          </a:p>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4</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FF0000"/>
                </a:solidFill>
                <a:latin typeface="微软雅黑" panose="020B0503020204020204" charset="-122"/>
                <a:ea typeface="微软雅黑" panose="020B0503020204020204" charset="-122"/>
                <a:sym typeface="微软雅黑" panose="020B0503020204020204" charset="-122"/>
              </a:rPr>
              <a:t>-0</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补码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为（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8-bit binary </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complement</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of </a:t>
            </a:r>
            <a:r>
              <a:rPr lang="en-US" altLang="zh-CN" dirty="0">
                <a:solidFill>
                  <a:srgbClr val="FF0000"/>
                </a:solidFill>
                <a:latin typeface="微软雅黑" panose="020B0503020204020204" charset="-122"/>
                <a:ea typeface="微软雅黑" panose="020B0503020204020204" charset="-122"/>
                <a:sym typeface="微软雅黑" panose="020B0503020204020204" charset="-122"/>
              </a:rPr>
              <a:t>-0</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is ()</a:t>
            </a:r>
            <a:endParaRPr lang="zh-CN" altLang="en-US" dirty="0">
              <a:solidFill>
                <a:srgbClr val="000000"/>
              </a:solidFill>
              <a:latin typeface="微软雅黑" panose="020B0503020204020204" charset="-122"/>
              <a:ea typeface="微软雅黑" panose="020B0503020204020204" charset="-122"/>
              <a:sym typeface="微软雅黑" panose="020B0503020204020204" charset="-122"/>
            </a:endParaRPr>
          </a:p>
          <a:p>
            <a:endParaRPr lang="zh-CN" altLang="en-US" dirty="0">
              <a:solidFill>
                <a:srgbClr val="000000"/>
              </a:solidFill>
              <a:latin typeface="微软雅黑" panose="020B0503020204020204" charset="-122"/>
              <a:ea typeface="微软雅黑" panose="020B0503020204020204" charset="-122"/>
              <a:sym typeface="微软雅黑" panose="020B0503020204020204" charset="-122"/>
            </a:endParaRPr>
          </a:p>
          <a:p>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a:spLocks noGrp="1" noChangeArrowheads="1"/>
          </p:cNvSpPr>
          <p:nvPr>
            <p:ph type="title"/>
          </p:nvPr>
        </p:nvSpPr>
        <p:spPr>
          <a:xfrm>
            <a:off x="2173288" y="573882"/>
            <a:ext cx="6665912" cy="504825"/>
          </a:xfrm>
        </p:spPr>
        <p:txBody>
          <a:bodyPr>
            <a:normAutofit fontScale="90000"/>
          </a:bodyPr>
          <a:lstStyle/>
          <a:p>
            <a:pPr eaLnBrk="1" hangingPunct="1"/>
            <a:r>
              <a:rPr lang="en-US" altLang="zh-CN" dirty="0">
                <a:latin typeface="宋体" panose="02010600030101010101" pitchFamily="2" charset="-122"/>
              </a:rPr>
              <a:t>Quiz</a:t>
            </a:r>
            <a:endParaRPr lang="zh-CN" altLang="en-US" dirty="0"/>
          </a:p>
        </p:txBody>
      </p:sp>
      <p:sp>
        <p:nvSpPr>
          <p:cNvPr id="3" name="内容占位符 1"/>
          <p:cNvSpPr>
            <a:spLocks noGrp="1"/>
          </p:cNvSpPr>
          <p:nvPr/>
        </p:nvSpPr>
        <p:spPr>
          <a:xfrm>
            <a:off x="986154" y="1280924"/>
            <a:ext cx="10058401" cy="463833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charset="0"/>
              <a:buChar char="◦"/>
              <a:defRPr sz="1400" kern="1200">
                <a:solidFill>
                  <a:schemeClr val="tx1">
                    <a:lumMod val="75000"/>
                    <a:lumOff val="25000"/>
                  </a:schemeClr>
                </a:solidFill>
                <a:latin typeface="+mn-lt"/>
                <a:ea typeface="+mn-ea"/>
                <a:cs typeface="+mn-cs"/>
              </a:defRPr>
            </a:lvl9pPr>
          </a:lstStyle>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1</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原码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的表示范围是（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-127 ~ +127</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representation range of the </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true form</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8-bit binary code is (-127 ~ +127</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a:t>
            </a:r>
          </a:p>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2</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反码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的表示范围是（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-127 ~ + 127</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representation range of 8-bit binary </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inverse code</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is (-127 ~ +127</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a:t>
            </a:r>
          </a:p>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3</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补码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的表示范围是（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-128 ~ +127</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range of the 8-bit binary</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 complement</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is (-128 ~ +127)</a:t>
            </a:r>
          </a:p>
          <a:p>
            <a:r>
              <a:rPr lang="en-US" altLang="zh-CN" dirty="0">
                <a:solidFill>
                  <a:srgbClr val="000000"/>
                </a:solidFill>
                <a:latin typeface="微软雅黑" panose="020B0503020204020204" charset="-122"/>
                <a:ea typeface="微软雅黑" panose="020B0503020204020204" charset="-122"/>
                <a:sym typeface="微软雅黑" panose="020B0503020204020204" charset="-122"/>
              </a:rPr>
              <a:t>4</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FF0000"/>
                </a:solidFill>
                <a:latin typeface="微软雅黑" panose="020B0503020204020204" charset="-122"/>
                <a:ea typeface="微软雅黑" panose="020B0503020204020204" charset="-122"/>
                <a:sym typeface="微软雅黑" panose="020B0503020204020204" charset="-122"/>
              </a:rPr>
              <a:t>-0</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的</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8</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位二进制</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补码</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为（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0000 0000B</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br>
              <a:rPr lang="zh-CN" altLang="en-US" dirty="0">
                <a:solidFill>
                  <a:srgbClr val="000000"/>
                </a:solidFill>
                <a:latin typeface="微软雅黑" panose="020B0503020204020204" charset="-122"/>
                <a:ea typeface="微软雅黑" panose="020B0503020204020204" charset="-122"/>
                <a:sym typeface="微软雅黑" panose="020B0503020204020204" charset="-122"/>
              </a:rPr>
            </a:br>
            <a:r>
              <a:rPr lang="en-US" altLang="zh-CN" dirty="0">
                <a:solidFill>
                  <a:srgbClr val="000000"/>
                </a:solidFill>
                <a:latin typeface="微软雅黑" panose="020B0503020204020204" charset="-122"/>
                <a:ea typeface="微软雅黑" panose="020B0503020204020204" charset="-122"/>
                <a:sym typeface="微软雅黑" panose="020B0503020204020204" charset="-122"/>
              </a:rPr>
              <a:t>The 8-bit binary </a:t>
            </a:r>
            <a:r>
              <a:rPr lang="zh-CN" altLang="en-US" dirty="0">
                <a:solidFill>
                  <a:srgbClr val="0000FF"/>
                </a:solidFill>
                <a:latin typeface="微软雅黑" panose="020B0503020204020204" charset="-122"/>
                <a:ea typeface="微软雅黑" panose="020B0503020204020204" charset="-122"/>
                <a:sym typeface="微软雅黑" panose="020B0503020204020204" charset="-122"/>
              </a:rPr>
              <a:t>complement</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of </a:t>
            </a:r>
            <a:r>
              <a:rPr lang="en-US" altLang="zh-CN" dirty="0">
                <a:solidFill>
                  <a:srgbClr val="FF0000"/>
                </a:solidFill>
                <a:latin typeface="微软雅黑" panose="020B0503020204020204" charset="-122"/>
                <a:ea typeface="微软雅黑" panose="020B0503020204020204" charset="-122"/>
                <a:sym typeface="微软雅黑" panose="020B0503020204020204" charset="-122"/>
              </a:rPr>
              <a:t>-0</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 is (0000 0000B</a:t>
            </a:r>
            <a:r>
              <a:rPr lang="zh-CN" altLang="en-US" dirty="0">
                <a:solidFill>
                  <a:srgbClr val="000000"/>
                </a:solidFill>
                <a:latin typeface="微软雅黑" panose="020B0503020204020204" charset="-122"/>
                <a:ea typeface="微软雅黑" panose="020B0503020204020204" charset="-122"/>
                <a:sym typeface="微软雅黑" panose="020B0503020204020204" charset="-122"/>
              </a:rPr>
              <a:t> </a:t>
            </a:r>
            <a:r>
              <a:rPr lang="en-US" altLang="zh-CN" dirty="0">
                <a:solidFill>
                  <a:srgbClr val="000000"/>
                </a:solidFill>
                <a:latin typeface="微软雅黑" panose="020B0503020204020204" charset="-122"/>
                <a:ea typeface="微软雅黑" panose="020B0503020204020204" charset="-122"/>
                <a:sym typeface="微软雅黑" panose="020B0503020204020204" charset="-122"/>
              </a:rPr>
              <a:t>)</a:t>
            </a:r>
            <a:endParaRPr lang="zh-CN" altLang="en-US" dirty="0">
              <a:solidFill>
                <a:srgbClr val="000000"/>
              </a:solidFill>
              <a:latin typeface="微软雅黑" panose="020B0503020204020204" charset="-122"/>
              <a:ea typeface="微软雅黑" panose="020B0503020204020204" charset="-122"/>
              <a:sym typeface="微软雅黑" panose="020B0503020204020204" charset="-122"/>
            </a:endParaRPr>
          </a:p>
          <a:p>
            <a:endParaRPr lang="zh-CN" altLang="en-US" dirty="0">
              <a:solidFill>
                <a:srgbClr val="000000"/>
              </a:solidFill>
              <a:latin typeface="微软雅黑" panose="020B0503020204020204" charset="-122"/>
              <a:ea typeface="微软雅黑" panose="020B0503020204020204" charset="-122"/>
              <a:sym typeface="微软雅黑" panose="020B0503020204020204" charset="-122"/>
            </a:endParaRPr>
          </a:p>
          <a:p>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2"/>
          <p:cNvSpPr>
            <a:spLocks noGrp="1" noChangeArrowheads="1"/>
          </p:cNvSpPr>
          <p:nvPr>
            <p:ph type="title"/>
          </p:nvPr>
        </p:nvSpPr>
        <p:spPr>
          <a:xfrm>
            <a:off x="2346960" y="511969"/>
            <a:ext cx="7821613" cy="504825"/>
          </a:xfrm>
        </p:spPr>
        <p:txBody>
          <a:bodyPr vert="horz" lIns="91440" tIns="45720" rIns="91440" bIns="45720" rtlCol="0" anchor="b">
            <a:noAutofit/>
          </a:bodyPr>
          <a:lstStyle/>
          <a:p>
            <a:r>
              <a:rPr lang="en-US" altLang="zh-CN" sz="3200" dirty="0">
                <a:latin typeface="Arial" panose="020B0604020202020204" pitchFamily="34" charset="0"/>
                <a:ea typeface="华文新魏" panose="02010800040101010101" pitchFamily="2" charset="-122"/>
                <a:cs typeface="Arial" panose="020B0604020202020204" pitchFamily="34" charset="0"/>
              </a:rPr>
              <a:t>(4) Arithmetic operations on numerical data</a:t>
            </a:r>
            <a:endParaRPr lang="zh-CN" altLang="en-US" sz="3200" dirty="0">
              <a:latin typeface="Arial" panose="020B0604020202020204" pitchFamily="34" charset="0"/>
              <a:ea typeface="华文新魏" panose="02010800040101010101" pitchFamily="2" charset="-122"/>
              <a:cs typeface="Arial" panose="020B0604020202020204" pitchFamily="34" charset="0"/>
            </a:endParaRPr>
          </a:p>
        </p:txBody>
      </p:sp>
      <p:sp>
        <p:nvSpPr>
          <p:cNvPr id="355331" name="Rectangle 3"/>
          <p:cNvSpPr>
            <a:spLocks noGrp="1" noChangeArrowheads="1"/>
          </p:cNvSpPr>
          <p:nvPr>
            <p:ph idx="1"/>
          </p:nvPr>
        </p:nvSpPr>
        <p:spPr>
          <a:xfrm>
            <a:off x="2346961" y="1171575"/>
            <a:ext cx="7454766" cy="2449513"/>
          </a:xfrm>
        </p:spPr>
        <p:txBody>
          <a:bodyPr/>
          <a:lstStyle/>
          <a:p>
            <a:pPr marL="273050" indent="-273050" eaLnBrk="1" hangingPunct="1">
              <a:spcBef>
                <a:spcPts val="0"/>
              </a:spcBef>
              <a:spcAft>
                <a:spcPts val="0"/>
              </a:spcAft>
              <a:buFont typeface="Wingdings" panose="05000000000000000000" pitchFamily="2" charset="2"/>
              <a:buChar char="Ø"/>
              <a:defRPr/>
            </a:pPr>
            <a:r>
              <a:rPr lang="zh-CN" altLang="en-US" dirty="0">
                <a:solidFill>
                  <a:srgbClr val="FF0000"/>
                </a:solidFill>
                <a:latin typeface="Arial" panose="020B0604020202020204" pitchFamily="34" charset="0"/>
                <a:cs typeface="Arial" panose="020B0604020202020204" pitchFamily="34" charset="0"/>
              </a:rPr>
              <a:t>①</a:t>
            </a:r>
            <a:r>
              <a:rPr lang="en-US" altLang="zh-CN" dirty="0">
                <a:solidFill>
                  <a:srgbClr val="FF0000"/>
                </a:solidFill>
                <a:latin typeface="Arial" panose="020B0604020202020204" pitchFamily="34" charset="0"/>
                <a:cs typeface="Arial" panose="020B0604020202020204" pitchFamily="34" charset="0"/>
              </a:rPr>
              <a:t>overflow</a:t>
            </a:r>
            <a:endParaRPr lang="zh-CN" altLang="en-US" dirty="0">
              <a:solidFill>
                <a:srgbClr val="FF0000"/>
              </a:solidFill>
              <a:latin typeface="Arial" panose="020B0604020202020204" pitchFamily="34" charset="0"/>
              <a:cs typeface="Arial" panose="020B0604020202020204" pitchFamily="34" charset="0"/>
            </a:endParaRPr>
          </a:p>
          <a:p>
            <a:pPr marL="449580" lvl="1" indent="625475" eaLnBrk="1" hangingPunct="1">
              <a:lnSpc>
                <a:spcPct val="110000"/>
              </a:lnSpc>
              <a:spcBef>
                <a:spcPts val="0"/>
              </a:spcBef>
              <a:spcAft>
                <a:spcPts val="0"/>
              </a:spcAft>
              <a:buFontTx/>
              <a:buNone/>
              <a:defRPr/>
            </a:pPr>
            <a:r>
              <a:rPr lang="en-US" altLang="zh-CN" dirty="0">
                <a:solidFill>
                  <a:srgbClr val="0000CC"/>
                </a:solidFill>
                <a:latin typeface="Arial" panose="020B0604020202020204" pitchFamily="34" charset="0"/>
                <a:cs typeface="Arial" panose="020B0604020202020204" pitchFamily="34" charset="0"/>
              </a:rPr>
              <a:t>When the result of adding or subtracting unsigned numbers exceeds the number's range, it is called </a:t>
            </a:r>
            <a:r>
              <a:rPr lang="en-US" altLang="zh-CN" dirty="0">
                <a:solidFill>
                  <a:srgbClr val="FF0000"/>
                </a:solidFill>
                <a:latin typeface="Arial" panose="020B0604020202020204" pitchFamily="34" charset="0"/>
                <a:cs typeface="Arial" panose="020B0604020202020204" pitchFamily="34" charset="0"/>
              </a:rPr>
              <a:t>carry or borrow</a:t>
            </a:r>
            <a:r>
              <a:rPr lang="en-US" altLang="zh-CN" dirty="0">
                <a:solidFill>
                  <a:srgbClr val="0000CC"/>
                </a:solidFill>
                <a:latin typeface="Arial" panose="020B0604020202020204" pitchFamily="34" charset="0"/>
                <a:cs typeface="Arial" panose="020B0604020202020204" pitchFamily="34" charset="0"/>
              </a:rPr>
              <a:t>. </a:t>
            </a:r>
            <a:r>
              <a:rPr lang="en-US" altLang="zh-CN" dirty="0">
                <a:solidFill>
                  <a:srgbClr val="9900CC"/>
                </a:solidFill>
                <a:latin typeface="Arial" panose="020B0604020202020204" pitchFamily="34" charset="0"/>
                <a:cs typeface="Arial" panose="020B0604020202020204" pitchFamily="34" charset="0"/>
              </a:rPr>
              <a:t>Computers have dedicated flag bits to record this information</a:t>
            </a:r>
            <a:r>
              <a:rPr lang="en-US" altLang="zh-CN" dirty="0">
                <a:solidFill>
                  <a:srgbClr val="0000CC"/>
                </a:solidFill>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As long as these flags are handled appropriately, the result will not be erroneous. Therefore, carry and borrow handling must be considered during addition and subtraction operations involving multi-byte numbers.</a:t>
            </a:r>
          </a:p>
        </p:txBody>
      </p:sp>
      <p:graphicFrame>
        <p:nvGraphicFramePr>
          <p:cNvPr id="6" name="Group 122"/>
          <p:cNvGraphicFramePr>
            <a:graphicFrameLocks noGrp="1"/>
          </p:cNvGraphicFramePr>
          <p:nvPr/>
        </p:nvGraphicFramePr>
        <p:xfrm>
          <a:off x="1723138" y="4362346"/>
          <a:ext cx="8315960" cy="853440"/>
        </p:xfrm>
        <a:graphic>
          <a:graphicData uri="http://schemas.openxmlformats.org/drawingml/2006/table">
            <a:tbl>
              <a:tblPr/>
              <a:tblGrid>
                <a:gridCol w="1417320">
                  <a:extLst>
                    <a:ext uri="{9D8B030D-6E8A-4147-A177-3AD203B41FA5}">
                      <a16:colId xmlns:a16="http://schemas.microsoft.com/office/drawing/2014/main" val="20000"/>
                    </a:ext>
                  </a:extLst>
                </a:gridCol>
                <a:gridCol w="8585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2810">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4080">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426244">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bit </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D7</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D6</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D5</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D4</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D3</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D2</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D1</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D0</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244">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symbol</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rgbClr val="FF00FF"/>
                          </a:solidFill>
                          <a:effectLst/>
                          <a:latin typeface="Times New Roman" panose="02020603050405020304" pitchFamily="18" charset="0"/>
                          <a:ea typeface="宋体" panose="02010600030101010101" pitchFamily="2" charset="-122"/>
                          <a:cs typeface="Times New Roman" panose="02020603050405020304" pitchFamily="18" charset="0"/>
                        </a:rPr>
                        <a:t>CY</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F0</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RS1</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RS0</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OV</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F1</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anose="02020603050405020304" pitchFamily="18" charset="0"/>
                          <a:ea typeface="宋体" panose="02010600030101010101" pitchFamily="2" charset="-122"/>
                        </a:defRPr>
                      </a:lvl1pPr>
                      <a:lvl2pPr algn="just">
                        <a:spcBef>
                          <a:spcPct val="20000"/>
                        </a:spcBef>
                        <a:defRPr sz="2400" b="1">
                          <a:solidFill>
                            <a:schemeClr val="tx1"/>
                          </a:solidFill>
                          <a:latin typeface="Times New Roman" panose="02020603050405020304" pitchFamily="18" charset="0"/>
                          <a:ea typeface="宋体" panose="02010600030101010101" pitchFamily="2" charset="-122"/>
                        </a:defRPr>
                      </a:lvl2pPr>
                      <a:lvl3pPr algn="just">
                        <a:spcBef>
                          <a:spcPct val="20000"/>
                        </a:spcBef>
                        <a:defRPr sz="2000">
                          <a:solidFill>
                            <a:schemeClr val="tx1"/>
                          </a:solidFill>
                          <a:latin typeface="Times New Roman" panose="02020603050405020304" pitchFamily="18" charset="0"/>
                          <a:ea typeface="宋体" panose="02010600030101010101" pitchFamily="2" charset="-122"/>
                        </a:defRPr>
                      </a:lvl3pPr>
                      <a:lvl4pPr algn="just">
                        <a:spcBef>
                          <a:spcPct val="20000"/>
                        </a:spcBef>
                        <a:defRPr>
                          <a:solidFill>
                            <a:schemeClr val="tx1"/>
                          </a:solidFill>
                          <a:latin typeface="Times New Roman" panose="02020603050405020304" pitchFamily="18" charset="0"/>
                          <a:ea typeface="宋体" panose="02010600030101010101" pitchFamily="2" charset="-122"/>
                        </a:defRPr>
                      </a:lvl4pPr>
                      <a:lvl5pPr algn="just">
                        <a:spcBef>
                          <a:spcPct val="20000"/>
                        </a:spcBef>
                        <a:defRPr>
                          <a:solidFill>
                            <a:schemeClr val="tx1"/>
                          </a:solidFill>
                          <a:latin typeface="Times New Roman" panose="02020603050405020304" pitchFamily="18" charset="0"/>
                          <a:ea typeface="宋体" panose="02010600030101010101" pitchFamily="2" charset="-122"/>
                        </a:defRPr>
                      </a:lvl5pPr>
                      <a:lvl6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algn="just"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GB"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8" name="矩形 7"/>
          <p:cNvSpPr/>
          <p:nvPr/>
        </p:nvSpPr>
        <p:spPr>
          <a:xfrm>
            <a:off x="3006791" y="3860696"/>
            <a:ext cx="6381750" cy="435610"/>
          </a:xfrm>
          <a:prstGeom prst="rect">
            <a:avLst/>
          </a:prstGeom>
        </p:spPr>
        <p:txBody>
          <a:bodyPr wrap="none">
            <a:spAutoFit/>
          </a:bodyPr>
          <a:lstStyle/>
          <a:p>
            <a:pPr algn="ctr" eaLnBrk="1" hangingPunct="1">
              <a:lnSpc>
                <a:spcPct val="80000"/>
              </a:lnSpc>
              <a:defRPr/>
            </a:pPr>
            <a:r>
              <a:rPr lang="en-US" altLang="zh-CN" sz="2800" kern="0" dirty="0">
                <a:solidFill>
                  <a:srgbClr val="0000FF"/>
                </a:solidFill>
              </a:rPr>
              <a:t>Program Status Word (PSW) Bit Definitions</a:t>
            </a:r>
            <a:endParaRPr lang="zh-CN" altLang="en-US" sz="2800" dirty="0">
              <a:solidFill>
                <a:srgbClr val="0000FF"/>
              </a:solidFill>
              <a:cs typeface="Times New Roman" panose="02020603050405020304" pitchFamily="18" charset="0"/>
            </a:endParaRPr>
          </a:p>
        </p:txBody>
      </p:sp>
      <p:sp>
        <p:nvSpPr>
          <p:cNvPr id="9" name="矩形 8"/>
          <p:cNvSpPr/>
          <p:nvPr/>
        </p:nvSpPr>
        <p:spPr>
          <a:xfrm>
            <a:off x="3249360" y="5541859"/>
            <a:ext cx="2108835" cy="435610"/>
          </a:xfrm>
          <a:prstGeom prst="rect">
            <a:avLst/>
          </a:prstGeom>
        </p:spPr>
        <p:txBody>
          <a:bodyPr wrap="none">
            <a:spAutoFit/>
          </a:bodyPr>
          <a:lstStyle/>
          <a:p>
            <a:pPr algn="ctr" eaLnBrk="1" hangingPunct="1">
              <a:lnSpc>
                <a:spcPct val="80000"/>
              </a:lnSpc>
              <a:defRPr/>
            </a:pPr>
            <a:r>
              <a:rPr lang="en-US" altLang="zh-CN" sz="2800" b="1" kern="0" dirty="0">
                <a:solidFill>
                  <a:srgbClr val="FF00FF"/>
                </a:solidFill>
              </a:rPr>
              <a:t>CY</a:t>
            </a:r>
            <a:r>
              <a:rPr lang="en-US" altLang="zh-CN" sz="2800" kern="0" dirty="0">
                <a:solidFill>
                  <a:srgbClr val="0000FF"/>
                </a:solidFill>
              </a:rPr>
              <a:t>: Carry flag</a:t>
            </a:r>
            <a:endParaRPr lang="zh-CN" altLang="en-US" sz="2800" dirty="0">
              <a:solidFill>
                <a:srgbClr val="0000FF"/>
              </a:solidFill>
              <a:cs typeface="Times New Roman" panose="02020603050405020304" pitchFamily="18" charset="0"/>
            </a:endParaRPr>
          </a:p>
        </p:txBody>
      </p:sp>
      <p:sp>
        <p:nvSpPr>
          <p:cNvPr id="10" name="矩形 9"/>
          <p:cNvSpPr/>
          <p:nvPr/>
        </p:nvSpPr>
        <p:spPr>
          <a:xfrm>
            <a:off x="7390831" y="5560909"/>
            <a:ext cx="2747645" cy="435610"/>
          </a:xfrm>
          <a:prstGeom prst="rect">
            <a:avLst/>
          </a:prstGeom>
        </p:spPr>
        <p:txBody>
          <a:bodyPr wrap="none">
            <a:spAutoFit/>
          </a:bodyPr>
          <a:lstStyle/>
          <a:p>
            <a:pPr algn="ctr" eaLnBrk="1" hangingPunct="1">
              <a:lnSpc>
                <a:spcPct val="80000"/>
              </a:lnSpc>
              <a:defRPr/>
            </a:pPr>
            <a:r>
              <a:rPr lang="en-US" altLang="zh-CN" sz="2800" b="1" kern="0" dirty="0">
                <a:solidFill>
                  <a:srgbClr val="FF0000"/>
                </a:solidFill>
              </a:rPr>
              <a:t>OV</a:t>
            </a:r>
            <a:r>
              <a:rPr lang="en-US" altLang="zh-CN" sz="2800" kern="0" dirty="0">
                <a:solidFill>
                  <a:srgbClr val="0000FF"/>
                </a:solidFill>
              </a:rPr>
              <a:t>: Overflow flag</a:t>
            </a:r>
            <a:endParaRPr lang="zh-CN" altLang="en-US" sz="2800" dirty="0">
              <a:solidFill>
                <a:srgbClr val="0000FF"/>
              </a:solidFill>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2"/>
          <p:cNvSpPr>
            <a:spLocks noGrp="1" noChangeArrowheads="1"/>
          </p:cNvSpPr>
          <p:nvPr>
            <p:ph type="title"/>
          </p:nvPr>
        </p:nvSpPr>
        <p:spPr>
          <a:xfrm>
            <a:off x="2346961" y="539902"/>
            <a:ext cx="7747174" cy="504825"/>
          </a:xfrm>
        </p:spPr>
        <p:txBody>
          <a:bodyPr vert="horz" lIns="91440" tIns="45720" rIns="91440" bIns="45720" rtlCol="0" anchor="b">
            <a:noAutofit/>
          </a:bodyPr>
          <a:lstStyle/>
          <a:p>
            <a:r>
              <a:rPr lang="en-US" altLang="zh-CN" sz="3200" dirty="0">
                <a:latin typeface="Arial" panose="020B0604020202020204" pitchFamily="34" charset="0"/>
                <a:cs typeface="Arial" panose="020B0604020202020204" pitchFamily="34" charset="0"/>
              </a:rPr>
              <a:t>(4)</a:t>
            </a:r>
            <a:r>
              <a:rPr lang="en-US" altLang="zh-CN" sz="3200" dirty="0">
                <a:latin typeface="Arial" panose="020B0604020202020204" pitchFamily="34" charset="0"/>
                <a:ea typeface="华文新魏" panose="02010800040101010101" pitchFamily="2" charset="-122"/>
                <a:cs typeface="Arial" panose="020B0604020202020204" pitchFamily="34" charset="0"/>
              </a:rPr>
              <a:t> Arithmetic operations on numerical data</a:t>
            </a:r>
            <a:endParaRPr lang="zh-CN" altLang="en-US" sz="3200" dirty="0">
              <a:latin typeface="宋体" panose="02010600030101010101" pitchFamily="2" charset="-122"/>
            </a:endParaRPr>
          </a:p>
        </p:txBody>
      </p:sp>
      <p:sp>
        <p:nvSpPr>
          <p:cNvPr id="356355" name="Rectangle 3"/>
          <p:cNvSpPr>
            <a:spLocks noGrp="1" noChangeArrowheads="1"/>
          </p:cNvSpPr>
          <p:nvPr>
            <p:ph idx="1"/>
          </p:nvPr>
        </p:nvSpPr>
        <p:spPr>
          <a:xfrm>
            <a:off x="2346960" y="1704975"/>
            <a:ext cx="8056179" cy="4179888"/>
          </a:xfrm>
        </p:spPr>
        <p:txBody>
          <a:bodyPr>
            <a:normAutofit/>
          </a:bodyPr>
          <a:lstStyle/>
          <a:p>
            <a:pPr eaLnBrk="1" hangingPunct="1">
              <a:buClr>
                <a:srgbClr val="FF0000"/>
              </a:buClr>
              <a:buFont typeface="Wingdings" panose="05000000000000000000" pitchFamily="2" charset="2"/>
              <a:buChar char="Ø"/>
              <a:defRPr/>
            </a:pPr>
            <a:r>
              <a:rPr lang="zh-CN" altLang="en-US" sz="1800" dirty="0">
                <a:latin typeface="Arial" panose="020B0604020202020204" pitchFamily="34" charset="0"/>
                <a:cs typeface="Arial" panose="020B0604020202020204" pitchFamily="34" charset="0"/>
              </a:rPr>
              <a:t>②</a:t>
            </a:r>
            <a:r>
              <a:rPr lang="en-US" altLang="zh-CN" sz="1800" dirty="0">
                <a:latin typeface="Arial" panose="020B0604020202020204" pitchFamily="34" charset="0"/>
                <a:cs typeface="Arial" panose="020B0604020202020204" pitchFamily="34" charset="0"/>
              </a:rPr>
              <a:t>After adopting two's complement representation, </a:t>
            </a:r>
            <a:r>
              <a:rPr lang="en-US" altLang="zh-CN" sz="1800" dirty="0">
                <a:solidFill>
                  <a:srgbClr val="FF0000"/>
                </a:solidFill>
                <a:latin typeface="Arial" panose="020B0604020202020204" pitchFamily="34" charset="0"/>
                <a:cs typeface="Arial" panose="020B0604020202020204" pitchFamily="34" charset="0"/>
              </a:rPr>
              <a:t>if a carry occurs during signed arithmetic operations, this carry is discarded </a:t>
            </a:r>
            <a:r>
              <a:rPr lang="en-US" altLang="zh-CN" sz="1800" dirty="0">
                <a:latin typeface="Arial" panose="020B0604020202020204" pitchFamily="34" charset="0"/>
                <a:cs typeface="Arial" panose="020B0604020202020204" pitchFamily="34" charset="0"/>
              </a:rPr>
              <a:t>without affecting the result. The sign of the result is determined by the sign of the operands (</a:t>
            </a:r>
            <a:r>
              <a:rPr lang="en-US" altLang="zh-CN" sz="1800" dirty="0">
                <a:solidFill>
                  <a:srgbClr val="FF00FF"/>
                </a:solidFill>
                <a:latin typeface="Arial" panose="020B0604020202020204" pitchFamily="34" charset="0"/>
                <a:cs typeface="Arial" panose="020B0604020202020204" pitchFamily="34" charset="0"/>
              </a:rPr>
              <a:t>provided no overflow occurs</a:t>
            </a:r>
            <a:r>
              <a:rPr lang="en-US" altLang="zh-CN" sz="1800" dirty="0">
                <a:latin typeface="Arial" panose="020B0604020202020204" pitchFamily="34" charset="0"/>
                <a:cs typeface="Arial" panose="020B0604020202020204" pitchFamily="34" charset="0"/>
              </a:rPr>
              <a:t>).</a:t>
            </a:r>
            <a:endParaRPr lang="zh-CN" altLang="en-US" sz="1800" dirty="0">
              <a:latin typeface="Arial" panose="020B0604020202020204" pitchFamily="34" charset="0"/>
              <a:cs typeface="Arial" panose="020B0604020202020204" pitchFamily="34" charset="0"/>
            </a:endParaRPr>
          </a:p>
          <a:p>
            <a:pPr eaLnBrk="1" hangingPunct="1">
              <a:buClr>
                <a:srgbClr val="FF0000"/>
              </a:buClr>
              <a:buFont typeface="Wingdings" panose="05000000000000000000" pitchFamily="2" charset="2"/>
              <a:buChar char="Ø"/>
              <a:defRPr/>
            </a:pPr>
            <a:r>
              <a:rPr lang="zh-CN" altLang="en-US" sz="1800" dirty="0">
                <a:latin typeface="Arial" panose="020B0604020202020204" pitchFamily="34" charset="0"/>
                <a:cs typeface="Arial" panose="020B0604020202020204" pitchFamily="34" charset="0"/>
              </a:rPr>
              <a:t>③</a:t>
            </a:r>
            <a:r>
              <a:rPr lang="en-US" altLang="zh-CN" sz="1800" dirty="0">
                <a:latin typeface="Arial" panose="020B0604020202020204" pitchFamily="34" charset="0"/>
                <a:cs typeface="Arial" panose="020B0604020202020204" pitchFamily="34" charset="0"/>
              </a:rPr>
              <a:t>Properties of Complement Operations</a:t>
            </a:r>
            <a:r>
              <a:rPr lang="zh-CN" altLang="en-US" sz="1800" dirty="0">
                <a:latin typeface="Arial" panose="020B0604020202020204" pitchFamily="34" charset="0"/>
                <a:cs typeface="Arial" panose="020B0604020202020204" pitchFamily="34" charset="0"/>
              </a:rPr>
              <a:t>：</a:t>
            </a:r>
          </a:p>
          <a:p>
            <a:pPr marL="0" lvl="1" indent="0" eaLnBrk="1" hangingPunct="1">
              <a:lnSpc>
                <a:spcPct val="114000"/>
              </a:lnSpc>
              <a:spcAft>
                <a:spcPts val="600"/>
              </a:spcAft>
              <a:buClr>
                <a:srgbClr val="FF0000"/>
              </a:buClr>
              <a:buFontTx/>
              <a:buNone/>
              <a:defRPr/>
            </a:pPr>
            <a:r>
              <a:rPr lang="zh-CN" altLang="en-US" sz="1600" dirty="0">
                <a:latin typeface="Arial" panose="020B0604020202020204" pitchFamily="34" charset="0"/>
                <a:cs typeface="Arial" panose="020B0604020202020204" pitchFamily="34" charset="0"/>
              </a:rPr>
              <a:t>      ［Ｘ］</a:t>
            </a:r>
            <a:r>
              <a:rPr lang="zh-CN" altLang="en-US" sz="1600" baseline="-25000" dirty="0">
                <a:latin typeface="Arial" panose="020B0604020202020204" pitchFamily="34" charset="0"/>
                <a:cs typeface="Arial" panose="020B0604020202020204" pitchFamily="34" charset="0"/>
              </a:rPr>
              <a:t>补</a:t>
            </a:r>
            <a:r>
              <a:rPr lang="zh-CN" altLang="en-US" sz="1600" dirty="0">
                <a:latin typeface="Arial" panose="020B0604020202020204" pitchFamily="34" charset="0"/>
                <a:cs typeface="Arial" panose="020B0604020202020204" pitchFamily="34" charset="0"/>
              </a:rPr>
              <a:t>＋［Ｙ］</a:t>
            </a:r>
            <a:r>
              <a:rPr lang="zh-CN" altLang="en-US" sz="1600" baseline="-25000" dirty="0">
                <a:latin typeface="Arial" panose="020B0604020202020204" pitchFamily="34" charset="0"/>
                <a:cs typeface="Arial" panose="020B0604020202020204" pitchFamily="34" charset="0"/>
              </a:rPr>
              <a:t>补</a:t>
            </a:r>
            <a:r>
              <a:rPr lang="zh-CN" altLang="en-US" sz="1600" dirty="0">
                <a:latin typeface="Arial" panose="020B0604020202020204" pitchFamily="34" charset="0"/>
                <a:cs typeface="Arial" panose="020B0604020202020204" pitchFamily="34" charset="0"/>
              </a:rPr>
              <a:t>＝［Ｘ＋Ｙ］</a:t>
            </a:r>
            <a:r>
              <a:rPr lang="zh-CN" altLang="en-US" sz="1600" baseline="-25000" dirty="0">
                <a:latin typeface="Arial" panose="020B0604020202020204" pitchFamily="34" charset="0"/>
                <a:cs typeface="Arial" panose="020B0604020202020204" pitchFamily="34" charset="0"/>
              </a:rPr>
              <a:t>补</a:t>
            </a:r>
          </a:p>
          <a:p>
            <a:pPr marL="0" indent="0" eaLnBrk="1" hangingPunct="1">
              <a:buClr>
                <a:srgbClr val="FF0000"/>
              </a:buClr>
              <a:buFontTx/>
              <a:buNone/>
              <a:defRPr/>
            </a:pPr>
            <a:r>
              <a:rPr lang="zh-CN" altLang="en-US" sz="1800" dirty="0">
                <a:solidFill>
                  <a:schemeClr val="tx1"/>
                </a:solidFill>
                <a:latin typeface="Arial" panose="020B0604020202020204" pitchFamily="34" charset="0"/>
                <a:cs typeface="Arial" panose="020B0604020202020204" pitchFamily="34" charset="0"/>
              </a:rPr>
              <a:t>      ［Ｘ］</a:t>
            </a:r>
            <a:r>
              <a:rPr lang="zh-CN" altLang="en-US" sz="1800" baseline="-25000" dirty="0">
                <a:solidFill>
                  <a:schemeClr val="tx1"/>
                </a:solidFill>
                <a:latin typeface="Arial" panose="020B0604020202020204" pitchFamily="34" charset="0"/>
                <a:cs typeface="Arial" panose="020B0604020202020204" pitchFamily="34" charset="0"/>
              </a:rPr>
              <a:t>补</a:t>
            </a:r>
            <a:r>
              <a:rPr lang="zh-CN" altLang="en-US" sz="1800" dirty="0">
                <a:solidFill>
                  <a:schemeClr val="tx1"/>
                </a:solidFill>
                <a:latin typeface="Arial" panose="020B0604020202020204" pitchFamily="34" charset="0"/>
                <a:cs typeface="Arial" panose="020B0604020202020204" pitchFamily="34" charset="0"/>
              </a:rPr>
              <a:t>－［Ｙ］</a:t>
            </a:r>
            <a:r>
              <a:rPr lang="zh-CN" altLang="en-US" sz="1800" baseline="-25000" dirty="0">
                <a:solidFill>
                  <a:schemeClr val="tx1"/>
                </a:solidFill>
                <a:latin typeface="Arial" panose="020B0604020202020204" pitchFamily="34" charset="0"/>
                <a:cs typeface="Arial" panose="020B0604020202020204" pitchFamily="34" charset="0"/>
              </a:rPr>
              <a:t>补</a:t>
            </a:r>
            <a:r>
              <a:rPr lang="zh-CN" altLang="en-US" sz="1800" dirty="0">
                <a:solidFill>
                  <a:schemeClr val="tx1"/>
                </a:solidFill>
                <a:latin typeface="Arial" panose="020B0604020202020204" pitchFamily="34" charset="0"/>
                <a:cs typeface="Arial" panose="020B0604020202020204" pitchFamily="34" charset="0"/>
              </a:rPr>
              <a:t>＝［Ｘ－Ｙ］</a:t>
            </a:r>
            <a:r>
              <a:rPr lang="zh-CN" altLang="en-US" sz="1800" baseline="-25000" dirty="0">
                <a:solidFill>
                  <a:schemeClr val="tx1"/>
                </a:solidFill>
                <a:latin typeface="Arial" panose="020B0604020202020204" pitchFamily="34" charset="0"/>
                <a:cs typeface="Arial" panose="020B0604020202020204" pitchFamily="34" charset="0"/>
              </a:rPr>
              <a:t>补</a:t>
            </a:r>
            <a:endParaRPr lang="zh-CN" altLang="en-US" sz="1800" dirty="0">
              <a:latin typeface="Arial" panose="020B0604020202020204" pitchFamily="34" charset="0"/>
              <a:cs typeface="Arial" panose="020B0604020202020204" pitchFamily="34" charset="0"/>
            </a:endParaRPr>
          </a:p>
          <a:p>
            <a:pPr eaLnBrk="1" hangingPunct="1">
              <a:buClr>
                <a:srgbClr val="FF0000"/>
              </a:buClr>
              <a:buFont typeface="Wingdings" panose="05000000000000000000" pitchFamily="2" charset="2"/>
              <a:buChar char="Ø"/>
              <a:defRPr/>
            </a:pPr>
            <a:r>
              <a:rPr lang="en-US" altLang="zh-CN" sz="1800" dirty="0">
                <a:latin typeface="Arial" panose="020B0604020202020204" pitchFamily="34" charset="0"/>
                <a:cs typeface="Arial" panose="020B0604020202020204" pitchFamily="34" charset="0"/>
              </a:rPr>
              <a:t>The above properties of operations are independent of the number of digits n.</a:t>
            </a:r>
            <a:endParaRPr lang="zh-CN" altLang="en-US" sz="1800" dirty="0">
              <a:latin typeface="Arial" panose="020B0604020202020204" pitchFamily="34" charset="0"/>
              <a:cs typeface="Arial" panose="020B0604020202020204" pitchFamily="34" charset="0"/>
            </a:endParaRPr>
          </a:p>
        </p:txBody>
      </p:sp>
      <p:sp>
        <p:nvSpPr>
          <p:cNvPr id="6" name="Rectangle 3"/>
          <p:cNvSpPr txBox="1">
            <a:spLocks noChangeArrowheads="1"/>
          </p:cNvSpPr>
          <p:nvPr/>
        </p:nvSpPr>
        <p:spPr bwMode="auto">
          <a:xfrm>
            <a:off x="2346960" y="1087774"/>
            <a:ext cx="7493267" cy="65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600"/>
              </a:spcBef>
              <a:defRPr/>
            </a:pPr>
            <a:r>
              <a:rPr lang="en-US" altLang="zh-CN" sz="1600" kern="0" dirty="0">
                <a:solidFill>
                  <a:srgbClr val="3366FF"/>
                </a:solidFill>
                <a:latin typeface="Arial" panose="020B0604020202020204" pitchFamily="34" charset="0"/>
                <a:cs typeface="Arial" panose="020B0604020202020204" pitchFamily="34" charset="0"/>
              </a:rPr>
              <a:t>Key Considerations When Performing Addition and Subtraction Operations Using Two's Complement</a:t>
            </a:r>
            <a:r>
              <a:rPr lang="zh-CN" altLang="en-US" sz="1600" kern="0" dirty="0">
                <a:solidFill>
                  <a:srgbClr val="3366FF"/>
                </a:solidFill>
                <a:latin typeface="Arial" panose="020B0604020202020204" pitchFamily="34" charset="0"/>
                <a:cs typeface="Arial" panose="020B0604020202020204" pitchFamily="34" charset="0"/>
              </a:rPr>
              <a:t>：</a:t>
            </a:r>
          </a:p>
        </p:txBody>
      </p:sp>
      <p:grpSp>
        <p:nvGrpSpPr>
          <p:cNvPr id="5" name="组合 4"/>
          <p:cNvGrpSpPr/>
          <p:nvPr/>
        </p:nvGrpSpPr>
        <p:grpSpPr bwMode="auto">
          <a:xfrm>
            <a:off x="1912846" y="4765524"/>
            <a:ext cx="7702550" cy="1552574"/>
            <a:chOff x="409123" y="3745385"/>
            <a:chExt cx="7702464" cy="1551819"/>
          </a:xfrm>
        </p:grpSpPr>
        <p:sp>
          <p:nvSpPr>
            <p:cNvPr id="8" name="Rectangle 3"/>
            <p:cNvSpPr txBox="1">
              <a:spLocks noChangeArrowheads="1"/>
            </p:cNvSpPr>
            <p:nvPr/>
          </p:nvSpPr>
          <p:spPr bwMode="auto">
            <a:xfrm>
              <a:off x="409123" y="3762839"/>
              <a:ext cx="7702464" cy="1534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kern="0" dirty="0">
                  <a:latin typeface="Times New Roman" panose="02020603050405020304" pitchFamily="18" charset="0"/>
                  <a:cs typeface="Times New Roman" panose="02020603050405020304" pitchFamily="18" charset="0"/>
                </a:rPr>
                <a:t>Example</a:t>
              </a:r>
              <a:r>
                <a:rPr lang="zh-CN" altLang="en-US" kern="0" dirty="0">
                  <a:latin typeface="Times New Roman" panose="02020603050405020304" pitchFamily="18" charset="0"/>
                  <a:cs typeface="Times New Roman" panose="02020603050405020304" pitchFamily="18" charset="0"/>
                </a:rPr>
                <a:t>： 　　［Ｘ］</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C0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0101101</a:t>
              </a:r>
            </a:p>
            <a:p>
              <a:pPr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　　　　　　＋［Ｙ］</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C00000"/>
                  </a:solidFill>
                  <a:latin typeface="Times New Roman" panose="02020603050405020304" pitchFamily="18" charset="0"/>
                  <a:cs typeface="Times New Roman" panose="02020603050405020304" pitchFamily="18" charset="0"/>
                </a:rPr>
                <a:t>1</a:t>
              </a:r>
              <a:r>
                <a:rPr lang="en-US" altLang="zh-CN" kern="0" dirty="0">
                  <a:latin typeface="Times New Roman" panose="02020603050405020304" pitchFamily="18" charset="0"/>
                  <a:cs typeface="Times New Roman" panose="02020603050405020304" pitchFamily="18" charset="0"/>
                </a:rPr>
                <a:t>1111111</a:t>
              </a:r>
            </a:p>
            <a:p>
              <a:pPr eaLnBrk="1" hangingPunct="1">
                <a:lnSpc>
                  <a:spcPct val="80000"/>
                </a:lnSpc>
                <a:buFontTx/>
                <a:buNone/>
                <a:defRPr/>
              </a:pPr>
              <a:r>
                <a:rPr lang="en-US" altLang="zh-CN" kern="0" dirty="0">
                  <a:latin typeface="Times New Roman" panose="02020603050405020304" pitchFamily="18" charset="0"/>
                  <a:cs typeface="Times New Roman" panose="02020603050405020304" pitchFamily="18" charset="0"/>
                </a:rPr>
                <a:t>                      </a:t>
              </a:r>
              <a:r>
                <a:rPr lang="en-US" altLang="zh-CN" dirty="0">
                  <a:solidFill>
                    <a:srgbClr val="FF00FF"/>
                  </a:solidFill>
                  <a:cs typeface="Times New Roman" panose="02020603050405020304" pitchFamily="18" charset="0"/>
                </a:rPr>
                <a:t>[X]</a:t>
              </a:r>
              <a:r>
                <a:rPr lang="zh-CN" altLang="en-US" baseline="-25000" dirty="0">
                  <a:solidFill>
                    <a:srgbClr val="FF00FF"/>
                  </a:solidFill>
                  <a:cs typeface="Times New Roman" panose="02020603050405020304" pitchFamily="18" charset="0"/>
                </a:rPr>
                <a:t>补</a:t>
              </a:r>
              <a:r>
                <a:rPr lang="zh-CN" altLang="en-US" dirty="0">
                  <a:solidFill>
                    <a:srgbClr val="FF00FF"/>
                  </a:solidFill>
                  <a:cs typeface="Times New Roman" panose="02020603050405020304" pitchFamily="18" charset="0"/>
                </a:rPr>
                <a:t>＋</a:t>
              </a:r>
              <a:r>
                <a:rPr lang="en-US" altLang="zh-CN" dirty="0">
                  <a:solidFill>
                    <a:srgbClr val="FF00FF"/>
                  </a:solidFill>
                  <a:cs typeface="Times New Roman" panose="02020603050405020304" pitchFamily="18" charset="0"/>
                </a:rPr>
                <a:t>[Y]</a:t>
              </a:r>
              <a:r>
                <a:rPr lang="zh-CN" altLang="en-US" baseline="-25000" dirty="0">
                  <a:solidFill>
                    <a:srgbClr val="FF00FF"/>
                  </a:solidFill>
                  <a:cs typeface="Times New Roman" panose="02020603050405020304" pitchFamily="18" charset="0"/>
                </a:rPr>
                <a:t>补</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00B0F0"/>
                  </a:solidFill>
                  <a:latin typeface="Times New Roman" panose="02020603050405020304" pitchFamily="18" charset="0"/>
                  <a:cs typeface="Times New Roman" panose="02020603050405020304" pitchFamily="18" charset="0"/>
                </a:rPr>
                <a:t>1</a:t>
              </a:r>
              <a:r>
                <a:rPr lang="en-US" altLang="zh-CN" kern="0" dirty="0">
                  <a:solidFill>
                    <a:srgbClr val="C0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0101100</a:t>
              </a:r>
            </a:p>
          </p:txBody>
        </p:sp>
        <p:sp>
          <p:nvSpPr>
            <p:cNvPr id="73738" name="Line 9"/>
            <p:cNvSpPr>
              <a:spLocks noChangeShapeType="1"/>
            </p:cNvSpPr>
            <p:nvPr/>
          </p:nvSpPr>
          <p:spPr bwMode="auto">
            <a:xfrm flipV="1">
              <a:off x="2364779" y="4705747"/>
              <a:ext cx="4268787" cy="3175"/>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739" name="矩形 9"/>
            <p:cNvSpPr>
              <a:spLocks noChangeArrowheads="1"/>
            </p:cNvSpPr>
            <p:nvPr/>
          </p:nvSpPr>
          <p:spPr bwMode="auto">
            <a:xfrm>
              <a:off x="6481936" y="4752149"/>
              <a:ext cx="1031228" cy="43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(44D)</a:t>
              </a:r>
              <a:endParaRPr lang="zh-CN" altLang="en-US" sz="2800">
                <a:cs typeface="Times New Roman" panose="02020603050405020304" pitchFamily="18" charset="0"/>
              </a:endParaRPr>
            </a:p>
          </p:txBody>
        </p:sp>
        <p:sp>
          <p:nvSpPr>
            <p:cNvPr id="73740" name="矩形 10"/>
            <p:cNvSpPr>
              <a:spLocks noChangeArrowheads="1"/>
            </p:cNvSpPr>
            <p:nvPr/>
          </p:nvSpPr>
          <p:spPr bwMode="auto">
            <a:xfrm>
              <a:off x="6472705" y="3745385"/>
              <a:ext cx="1031228" cy="43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dirty="0">
                  <a:cs typeface="Times New Roman" panose="02020603050405020304" pitchFamily="18" charset="0"/>
                </a:rPr>
                <a:t>(45D)</a:t>
              </a:r>
              <a:endParaRPr lang="zh-CN" altLang="en-US" sz="2800" dirty="0">
                <a:cs typeface="Times New Roman" panose="02020603050405020304" pitchFamily="18" charset="0"/>
              </a:endParaRPr>
            </a:p>
          </p:txBody>
        </p:sp>
        <p:sp>
          <p:nvSpPr>
            <p:cNvPr id="73741" name="矩形 11"/>
            <p:cNvSpPr>
              <a:spLocks noChangeArrowheads="1"/>
            </p:cNvSpPr>
            <p:nvPr/>
          </p:nvSpPr>
          <p:spPr bwMode="auto">
            <a:xfrm>
              <a:off x="6511789" y="4225677"/>
              <a:ext cx="971539" cy="435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dirty="0">
                  <a:cs typeface="Times New Roman" panose="02020603050405020304" pitchFamily="18" charset="0"/>
                </a:rPr>
                <a:t>(-1D)</a:t>
              </a:r>
              <a:endParaRPr lang="zh-CN" altLang="en-US" sz="2800" dirty="0">
                <a:cs typeface="Times New Roman" panose="02020603050405020304" pitchFamily="18"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1770063" y="3529013"/>
            <a:ext cx="8723312" cy="175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kern="0" dirty="0">
                <a:latin typeface="Times New Roman" panose="02020603050405020304" pitchFamily="18" charset="0"/>
                <a:cs typeface="Times New Roman" panose="02020603050405020304" pitchFamily="18" charset="0"/>
              </a:rPr>
              <a:t>Solution</a:t>
            </a:r>
            <a:r>
              <a:rPr lang="zh-CN" altLang="en-US" kern="0" dirty="0">
                <a:latin typeface="Times New Roman" panose="02020603050405020304" pitchFamily="18" charset="0"/>
                <a:cs typeface="Times New Roman" panose="02020603050405020304" pitchFamily="18" charset="0"/>
              </a:rPr>
              <a:t>：　　  ［Ｘ］</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FF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0101101</a:t>
            </a:r>
          </a:p>
          <a:p>
            <a:pPr eaLnBrk="1" hangingPunct="1">
              <a:lnSpc>
                <a:spcPct val="80000"/>
              </a:lnSpc>
              <a:buFontTx/>
              <a:buNone/>
              <a:defRPr/>
            </a:pPr>
            <a:r>
              <a:rPr lang="zh-CN" altLang="en-US" kern="0" dirty="0">
                <a:latin typeface="Times New Roman" panose="02020603050405020304" pitchFamily="18" charset="0"/>
                <a:cs typeface="Times New Roman" panose="02020603050405020304" pitchFamily="18" charset="0"/>
              </a:rPr>
              <a:t>　　　　　　＋［Ｙ］</a:t>
            </a:r>
            <a:r>
              <a:rPr lang="zh-CN" altLang="en-US" kern="0" baseline="-25000" dirty="0">
                <a:latin typeface="Times New Roman" panose="02020603050405020304" pitchFamily="18" charset="0"/>
                <a:cs typeface="Times New Roman" panose="02020603050405020304" pitchFamily="18" charset="0"/>
              </a:rPr>
              <a:t>补 </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FF0000"/>
                </a:solidFill>
                <a:latin typeface="Times New Roman" panose="02020603050405020304" pitchFamily="18" charset="0"/>
                <a:cs typeface="Times New Roman" panose="02020603050405020304" pitchFamily="18" charset="0"/>
              </a:rPr>
              <a:t>1</a:t>
            </a:r>
            <a:r>
              <a:rPr lang="en-US" altLang="zh-CN" kern="0" dirty="0">
                <a:latin typeface="Times New Roman" panose="02020603050405020304" pitchFamily="18" charset="0"/>
                <a:cs typeface="Times New Roman" panose="02020603050405020304" pitchFamily="18" charset="0"/>
              </a:rPr>
              <a:t>1111111</a:t>
            </a:r>
          </a:p>
          <a:p>
            <a:pPr eaLnBrk="1" hangingPunct="1">
              <a:lnSpc>
                <a:spcPct val="80000"/>
              </a:lnSpc>
              <a:buFontTx/>
              <a:buNone/>
              <a:defRPr/>
            </a:pPr>
            <a:r>
              <a:rPr lang="en-US" altLang="zh-CN" kern="0" dirty="0">
                <a:latin typeface="Times New Roman" panose="02020603050405020304" pitchFamily="18" charset="0"/>
                <a:cs typeface="Times New Roman" panose="02020603050405020304" pitchFamily="18" charset="0"/>
              </a:rPr>
              <a:t>                      </a:t>
            </a:r>
            <a:r>
              <a:rPr lang="en-US" altLang="zh-CN" dirty="0">
                <a:solidFill>
                  <a:srgbClr val="FF00FF"/>
                </a:solidFill>
                <a:cs typeface="Times New Roman" panose="02020603050405020304" pitchFamily="18" charset="0"/>
              </a:rPr>
              <a:t>[X]</a:t>
            </a:r>
            <a:r>
              <a:rPr lang="zh-CN" altLang="en-US" baseline="-25000" dirty="0">
                <a:solidFill>
                  <a:srgbClr val="FF00FF"/>
                </a:solidFill>
                <a:cs typeface="Times New Roman" panose="02020603050405020304" pitchFamily="18" charset="0"/>
              </a:rPr>
              <a:t>补</a:t>
            </a:r>
            <a:r>
              <a:rPr lang="zh-CN" altLang="en-US" dirty="0">
                <a:solidFill>
                  <a:srgbClr val="FF00FF"/>
                </a:solidFill>
                <a:cs typeface="Times New Roman" panose="02020603050405020304" pitchFamily="18" charset="0"/>
              </a:rPr>
              <a:t>＋</a:t>
            </a:r>
            <a:r>
              <a:rPr lang="en-US" altLang="zh-CN" dirty="0">
                <a:solidFill>
                  <a:srgbClr val="FF00FF"/>
                </a:solidFill>
                <a:cs typeface="Times New Roman" panose="02020603050405020304" pitchFamily="18" charset="0"/>
              </a:rPr>
              <a:t>[Y]</a:t>
            </a:r>
            <a:r>
              <a:rPr lang="zh-CN" altLang="en-US" baseline="-25000" dirty="0">
                <a:solidFill>
                  <a:srgbClr val="FF00FF"/>
                </a:solidFill>
                <a:cs typeface="Times New Roman" panose="02020603050405020304" pitchFamily="18" charset="0"/>
              </a:rPr>
              <a:t>补</a:t>
            </a:r>
            <a:r>
              <a:rPr lang="en-US" altLang="zh-CN" kern="0" dirty="0">
                <a:latin typeface="Times New Roman" panose="02020603050405020304" pitchFamily="18" charset="0"/>
                <a:cs typeface="Times New Roman" panose="02020603050405020304" pitchFamily="18" charset="0"/>
              </a:rPr>
              <a:t>= </a:t>
            </a:r>
            <a:r>
              <a:rPr lang="en-US" altLang="zh-CN" kern="0" dirty="0">
                <a:solidFill>
                  <a:srgbClr val="00B0F0"/>
                </a:solidFill>
                <a:latin typeface="Times New Roman" panose="02020603050405020304" pitchFamily="18" charset="0"/>
                <a:cs typeface="Times New Roman" panose="02020603050405020304" pitchFamily="18" charset="0"/>
              </a:rPr>
              <a:t>1</a:t>
            </a:r>
            <a:r>
              <a:rPr lang="en-US" altLang="zh-CN" kern="0" dirty="0">
                <a:solidFill>
                  <a:srgbClr val="FF0000"/>
                </a:solidFill>
                <a:latin typeface="Times New Roman" panose="02020603050405020304" pitchFamily="18" charset="0"/>
                <a:cs typeface="Times New Roman" panose="02020603050405020304" pitchFamily="18" charset="0"/>
              </a:rPr>
              <a:t>0</a:t>
            </a:r>
            <a:r>
              <a:rPr lang="en-US" altLang="zh-CN" kern="0" dirty="0">
                <a:latin typeface="Times New Roman" panose="02020603050405020304" pitchFamily="18" charset="0"/>
                <a:cs typeface="Times New Roman" panose="02020603050405020304" pitchFamily="18" charset="0"/>
              </a:rPr>
              <a:t>0101100</a:t>
            </a:r>
          </a:p>
        </p:txBody>
      </p:sp>
      <p:sp>
        <p:nvSpPr>
          <p:cNvPr id="74755" name="标题 3"/>
          <p:cNvSpPr>
            <a:spLocks noGrp="1" noChangeArrowheads="1"/>
          </p:cNvSpPr>
          <p:nvPr>
            <p:ph type="title"/>
          </p:nvPr>
        </p:nvSpPr>
        <p:spPr>
          <a:xfrm>
            <a:off x="1910126" y="186753"/>
            <a:ext cx="4047138" cy="808038"/>
          </a:xfrm>
        </p:spPr>
        <p:txBody>
          <a:bodyPr>
            <a:noAutofit/>
          </a:bodyPr>
          <a:lstStyle/>
          <a:p>
            <a:pPr eaLnBrk="1" hangingPunct="1"/>
            <a:r>
              <a:rPr lang="en-US" altLang="zh-CN" sz="2800" dirty="0">
                <a:latin typeface="Arial" panose="020B0604020202020204" pitchFamily="34" charset="0"/>
                <a:ea typeface="华文新魏" panose="02010800040101010101" pitchFamily="2" charset="-122"/>
                <a:cs typeface="Arial" panose="020B0604020202020204" pitchFamily="34" charset="0"/>
              </a:rPr>
              <a:t>Arithmetic operations on numerical data</a:t>
            </a:r>
            <a:r>
              <a:rPr lang="en-US" altLang="zh-CN" sz="2800" dirty="0">
                <a:solidFill>
                  <a:srgbClr val="0000CC"/>
                </a:solidFill>
                <a:latin typeface="Arial" panose="020B0604020202020204" pitchFamily="34" charset="0"/>
                <a:ea typeface="华文新魏" panose="02010800040101010101" pitchFamily="2" charset="-122"/>
                <a:cs typeface="Arial" panose="020B0604020202020204" pitchFamily="34" charset="0"/>
              </a:rPr>
              <a:t> </a:t>
            </a:r>
            <a:r>
              <a:rPr lang="en-US" altLang="zh-CN" sz="2800" dirty="0">
                <a:solidFill>
                  <a:srgbClr val="0000CC"/>
                </a:solidFill>
              </a:rPr>
              <a:t>example</a:t>
            </a:r>
            <a:endParaRPr lang="zh-CN" altLang="en-US" sz="2800" dirty="0">
              <a:solidFill>
                <a:srgbClr val="0000CC"/>
              </a:solidFill>
            </a:endParaRPr>
          </a:p>
        </p:txBody>
      </p:sp>
      <p:sp>
        <p:nvSpPr>
          <p:cNvPr id="358403" name="Rectangle 3"/>
          <p:cNvSpPr>
            <a:spLocks noGrp="1" noChangeArrowheads="1"/>
          </p:cNvSpPr>
          <p:nvPr>
            <p:ph idx="1"/>
          </p:nvPr>
        </p:nvSpPr>
        <p:spPr>
          <a:xfrm>
            <a:off x="1946275" y="1186656"/>
            <a:ext cx="8721725" cy="1296194"/>
          </a:xfrm>
        </p:spPr>
        <p:txBody>
          <a:bodyPr>
            <a:normAutofit fontScale="92500" lnSpcReduction="10000"/>
          </a:bodyPr>
          <a:lstStyle/>
          <a:p>
            <a:pPr eaLnBrk="1" hangingPunct="1">
              <a:lnSpc>
                <a:spcPct val="100000"/>
              </a:lnSpc>
              <a:spcBef>
                <a:spcPct val="0"/>
              </a:spcBef>
              <a:spcAft>
                <a:spcPts val="300"/>
              </a:spcAft>
              <a:buFontTx/>
              <a:buNone/>
            </a:pPr>
            <a:r>
              <a:rPr lang="en-US" altLang="zh-CN" dirty="0"/>
              <a:t>Using two's complement arithmetic in binary numbers as an example, illustrate the operational properties of signed numbers.</a:t>
            </a:r>
          </a:p>
          <a:p>
            <a:pPr eaLnBrk="1" hangingPunct="1">
              <a:lnSpc>
                <a:spcPct val="100000"/>
              </a:lnSpc>
              <a:spcBef>
                <a:spcPct val="0"/>
              </a:spcBef>
              <a:spcAft>
                <a:spcPts val="300"/>
              </a:spcAft>
              <a:buFontTx/>
              <a:buNone/>
            </a:pPr>
            <a:r>
              <a:rPr lang="en-US" altLang="zh-CN" dirty="0"/>
              <a:t>【</a:t>
            </a:r>
            <a:r>
              <a:rPr lang="en-US" altLang="zh-CN" dirty="0">
                <a:solidFill>
                  <a:srgbClr val="C00000"/>
                </a:solidFill>
              </a:rPr>
              <a:t>Example</a:t>
            </a:r>
            <a:r>
              <a:rPr lang="zh-CN" altLang="en-US" dirty="0">
                <a:solidFill>
                  <a:srgbClr val="C00000"/>
                </a:solidFill>
              </a:rPr>
              <a:t> </a:t>
            </a:r>
            <a:r>
              <a:rPr lang="en-US" altLang="zh-CN" dirty="0">
                <a:solidFill>
                  <a:srgbClr val="C00000"/>
                </a:solidFill>
              </a:rPr>
              <a:t>2-2</a:t>
            </a:r>
            <a:r>
              <a:rPr lang="en-US" altLang="zh-CN" dirty="0"/>
              <a:t>】It</a:t>
            </a:r>
            <a:r>
              <a:rPr lang="zh-CN" altLang="en-US" dirty="0"/>
              <a:t> </a:t>
            </a:r>
            <a:r>
              <a:rPr lang="en-US" altLang="zh-CN" dirty="0"/>
              <a:t>is</a:t>
            </a:r>
            <a:r>
              <a:rPr lang="zh-CN" altLang="en-US" dirty="0"/>
              <a:t> </a:t>
            </a:r>
            <a:r>
              <a:rPr lang="en-US" altLang="zh-CN" dirty="0"/>
              <a:t>known</a:t>
            </a:r>
            <a:r>
              <a:rPr lang="zh-CN" altLang="en-US" dirty="0"/>
              <a:t> </a:t>
            </a:r>
            <a:r>
              <a:rPr lang="en-US" altLang="zh-CN" dirty="0"/>
              <a:t>:</a:t>
            </a:r>
            <a:r>
              <a:rPr lang="zh-CN" altLang="en-US" dirty="0"/>
              <a:t>Ｘ＝</a:t>
            </a:r>
            <a:r>
              <a:rPr lang="en-US" altLang="zh-CN" dirty="0"/>
              <a:t>+0101101B(45D),</a:t>
            </a:r>
            <a:r>
              <a:rPr lang="zh-CN" altLang="en-US" dirty="0"/>
              <a:t>Ｙ＝</a:t>
            </a:r>
            <a:r>
              <a:rPr lang="en-US" altLang="zh-CN" dirty="0"/>
              <a:t>-0000001B,</a:t>
            </a:r>
            <a:endParaRPr lang="zh-CN" altLang="en-US" dirty="0"/>
          </a:p>
          <a:p>
            <a:pPr eaLnBrk="1" hangingPunct="1">
              <a:lnSpc>
                <a:spcPct val="100000"/>
              </a:lnSpc>
              <a:spcBef>
                <a:spcPct val="0"/>
              </a:spcBef>
              <a:spcAft>
                <a:spcPts val="300"/>
              </a:spcAft>
              <a:buFontTx/>
              <a:buNone/>
            </a:pPr>
            <a:r>
              <a:rPr lang="zh-CN" altLang="en-US" dirty="0"/>
              <a:t>         </a:t>
            </a:r>
            <a:r>
              <a:rPr lang="en-US" altLang="zh-CN" dirty="0"/>
              <a:t>Solve for </a:t>
            </a:r>
            <a:r>
              <a:rPr lang="zh-CN" altLang="en-US" dirty="0"/>
              <a:t>Ｘ＋Ｙ＝？</a:t>
            </a:r>
            <a:r>
              <a:rPr lang="en-US" altLang="zh-CN" dirty="0"/>
              <a:t>(Subtracting two positive numbers: 45 minus 1)</a:t>
            </a:r>
            <a:endParaRPr lang="zh-CN" altLang="en-US" dirty="0"/>
          </a:p>
          <a:p>
            <a:pPr eaLnBrk="1" hangingPunct="1">
              <a:lnSpc>
                <a:spcPct val="100000"/>
              </a:lnSpc>
              <a:spcBef>
                <a:spcPct val="0"/>
              </a:spcBef>
              <a:spcAft>
                <a:spcPts val="300"/>
              </a:spcAft>
              <a:buFontTx/>
              <a:buNone/>
            </a:pPr>
            <a:endParaRPr lang="zh-CN" altLang="en-US" dirty="0"/>
          </a:p>
        </p:txBody>
      </p:sp>
      <p:sp>
        <p:nvSpPr>
          <p:cNvPr id="358409" name="Line 9"/>
          <p:cNvSpPr>
            <a:spLocks noChangeShapeType="1"/>
          </p:cNvSpPr>
          <p:nvPr/>
        </p:nvSpPr>
        <p:spPr bwMode="auto">
          <a:xfrm flipV="1">
            <a:off x="3794125" y="4457700"/>
            <a:ext cx="5146675" cy="17463"/>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58410" name="Line 10"/>
          <p:cNvSpPr>
            <a:spLocks noChangeShapeType="1"/>
          </p:cNvSpPr>
          <p:nvPr/>
        </p:nvSpPr>
        <p:spPr bwMode="auto">
          <a:xfrm>
            <a:off x="6105525" y="4913313"/>
            <a:ext cx="320675" cy="98425"/>
          </a:xfrm>
          <a:prstGeom prst="line">
            <a:avLst/>
          </a:prstGeom>
          <a:noFill/>
          <a:ln w="28575">
            <a:solidFill>
              <a:srgbClr val="00B0F0"/>
            </a:solidFill>
            <a:round/>
            <a:headEnd type="none" w="med"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 name="Rectangle 3"/>
          <p:cNvSpPr txBox="1">
            <a:spLocks noChangeArrowheads="1"/>
          </p:cNvSpPr>
          <p:nvPr/>
        </p:nvSpPr>
        <p:spPr bwMode="auto">
          <a:xfrm>
            <a:off x="6445250" y="4937125"/>
            <a:ext cx="3284537"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2400" kern="0" dirty="0">
                <a:solidFill>
                  <a:srgbClr val="00B0F0"/>
                </a:solidFill>
              </a:rPr>
              <a:t>Discard the carry</a:t>
            </a:r>
            <a:endParaRPr lang="zh-CN" altLang="en-US" sz="2400" kern="0" dirty="0">
              <a:solidFill>
                <a:srgbClr val="00B0F0"/>
              </a:solidFill>
            </a:endParaRPr>
          </a:p>
        </p:txBody>
      </p:sp>
      <p:sp>
        <p:nvSpPr>
          <p:cNvPr id="6" name="矩形 5"/>
          <p:cNvSpPr>
            <a:spLocks noChangeArrowheads="1"/>
          </p:cNvSpPr>
          <p:nvPr/>
        </p:nvSpPr>
        <p:spPr bwMode="auto">
          <a:xfrm>
            <a:off x="7917974" y="4518025"/>
            <a:ext cx="1031240" cy="43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(44D)</a:t>
            </a:r>
            <a:endParaRPr lang="zh-CN" altLang="en-US" sz="2800">
              <a:cs typeface="Times New Roman" panose="02020603050405020304" pitchFamily="18" charset="0"/>
            </a:endParaRPr>
          </a:p>
        </p:txBody>
      </p:sp>
      <p:sp>
        <p:nvSpPr>
          <p:cNvPr id="5" name="矩形 4"/>
          <p:cNvSpPr>
            <a:spLocks noChangeArrowheads="1"/>
          </p:cNvSpPr>
          <p:nvPr/>
        </p:nvSpPr>
        <p:spPr bwMode="auto">
          <a:xfrm>
            <a:off x="1996440" y="2428875"/>
            <a:ext cx="3369945" cy="435610"/>
          </a:xfrm>
          <a:prstGeom prst="rect">
            <a:avLst/>
          </a:prstGeom>
          <a:noFill/>
          <a:ln w="9525">
            <a:solidFill>
              <a:srgbClr val="3366FF"/>
            </a:solidFill>
            <a:miter lim="800000"/>
          </a:ln>
          <a:extLst>
            <a:ext uri="{909E8E84-426E-40DD-AFC4-6F175D3DCCD1}">
              <a14:hiddenFill xmlns:a14="http://schemas.microsoft.com/office/drawing/2010/main">
                <a:solidFill>
                  <a:srgbClr val="FFFFFF"/>
                </a:solidFill>
              </a14:hiddenFill>
            </a:ext>
          </a:extLst>
        </p:spPr>
        <p:txBody>
          <a:bodyPr wrap="none" tIns="0" bIns="3600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600" dirty="0">
                <a:solidFill>
                  <a:srgbClr val="3366FF"/>
                </a:solidFill>
                <a:cs typeface="Times New Roman" panose="02020603050405020304" pitchFamily="18" charset="0"/>
              </a:rPr>
              <a:t>[X]</a:t>
            </a:r>
            <a:r>
              <a:rPr lang="zh-CN" altLang="en-US" sz="2600" baseline="-25000" dirty="0">
                <a:solidFill>
                  <a:srgbClr val="3366FF"/>
                </a:solidFill>
                <a:cs typeface="Times New Roman" panose="02020603050405020304" pitchFamily="18" charset="0"/>
              </a:rPr>
              <a:t>补</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[Y]</a:t>
            </a:r>
            <a:r>
              <a:rPr lang="zh-CN" altLang="en-US" sz="2600" dirty="0">
                <a:solidFill>
                  <a:srgbClr val="3366FF"/>
                </a:solidFill>
                <a:cs typeface="Times New Roman" panose="02020603050405020304" pitchFamily="18" charset="0"/>
              </a:rPr>
              <a:t> </a:t>
            </a:r>
            <a:r>
              <a:rPr lang="zh-CN" altLang="en-US" sz="2600" baseline="-25000" dirty="0">
                <a:solidFill>
                  <a:srgbClr val="3366FF"/>
                </a:solidFill>
                <a:cs typeface="Times New Roman" panose="02020603050405020304" pitchFamily="18" charset="0"/>
              </a:rPr>
              <a:t>补</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[X+Y]</a:t>
            </a:r>
            <a:r>
              <a:rPr lang="zh-CN" altLang="en-US" sz="2600" baseline="-25000" dirty="0">
                <a:solidFill>
                  <a:srgbClr val="3366FF"/>
                </a:solidFill>
                <a:cs typeface="Times New Roman" panose="02020603050405020304" pitchFamily="18" charset="0"/>
              </a:rPr>
              <a:t>补</a:t>
            </a:r>
            <a:endParaRPr lang="zh-CN" altLang="en-US" sz="2600" dirty="0">
              <a:solidFill>
                <a:srgbClr val="3366FF"/>
              </a:solidFill>
              <a:cs typeface="Times New Roman" panose="02020603050405020304" pitchFamily="18" charset="0"/>
            </a:endParaRPr>
          </a:p>
        </p:txBody>
      </p:sp>
      <p:sp>
        <p:nvSpPr>
          <p:cNvPr id="11" name="矩形 10"/>
          <p:cNvSpPr>
            <a:spLocks noChangeArrowheads="1"/>
          </p:cNvSpPr>
          <p:nvPr/>
        </p:nvSpPr>
        <p:spPr bwMode="auto">
          <a:xfrm>
            <a:off x="6132513" y="161925"/>
            <a:ext cx="4535487" cy="875665"/>
          </a:xfrm>
          <a:prstGeom prst="rect">
            <a:avLst/>
          </a:prstGeom>
          <a:solidFill>
            <a:schemeClr val="bg1"/>
          </a:solidFill>
          <a:ln w="9525">
            <a:solidFill>
              <a:srgbClr val="FF00FF"/>
            </a:solidFill>
            <a:miter lim="800000"/>
          </a:ln>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000" dirty="0">
                <a:solidFill>
                  <a:srgbClr val="FF00FF"/>
                </a:solidFill>
              </a:rPr>
              <a:t>The result cannot exceed the range of numbers it can represent; otherwise, an overflow error will occur.</a:t>
            </a:r>
            <a:endParaRPr lang="zh-CN" altLang="en-US" sz="2000" dirty="0">
              <a:solidFill>
                <a:srgbClr val="FF00FF"/>
              </a:solidFill>
            </a:endParaRPr>
          </a:p>
        </p:txBody>
      </p:sp>
      <p:sp>
        <p:nvSpPr>
          <p:cNvPr id="18" name="矩形 17"/>
          <p:cNvSpPr>
            <a:spLocks noChangeArrowheads="1"/>
          </p:cNvSpPr>
          <p:nvPr/>
        </p:nvSpPr>
        <p:spPr bwMode="auto">
          <a:xfrm>
            <a:off x="1979613" y="2921000"/>
            <a:ext cx="7519987" cy="431165"/>
          </a:xfrm>
          <a:prstGeom prst="rect">
            <a:avLst/>
          </a:prstGeom>
          <a:solidFill>
            <a:schemeClr val="bg1"/>
          </a:solidFill>
          <a:ln w="9525">
            <a:solidFill>
              <a:srgbClr val="FF00FF"/>
            </a:solidFill>
            <a:miter lim="800000"/>
          </a:ln>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85000"/>
              </a:lnSpc>
            </a:pPr>
            <a:r>
              <a:rPr lang="en-US" altLang="zh-CN" sz="2400" dirty="0">
                <a:solidFill>
                  <a:srgbClr val="3366FF"/>
                </a:solidFill>
                <a:cs typeface="Times New Roman" panose="02020603050405020304" pitchFamily="18" charset="0"/>
              </a:rPr>
              <a:t>[X+Y]</a:t>
            </a:r>
            <a:r>
              <a:rPr lang="zh-CN" altLang="en-US" sz="2400" baseline="-25000" dirty="0">
                <a:solidFill>
                  <a:srgbClr val="3366FF"/>
                </a:solidFill>
                <a:cs typeface="Times New Roman" panose="02020603050405020304" pitchFamily="18" charset="0"/>
              </a:rPr>
              <a:t>原</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[[X+Y]</a:t>
            </a:r>
            <a:r>
              <a:rPr lang="zh-CN" altLang="en-US" sz="2600" baseline="-25000" dirty="0">
                <a:solidFill>
                  <a:srgbClr val="3366FF"/>
                </a:solidFill>
                <a:cs typeface="Times New Roman" panose="02020603050405020304" pitchFamily="18" charset="0"/>
              </a:rPr>
              <a:t>补</a:t>
            </a:r>
            <a:r>
              <a:rPr lang="en-US" altLang="zh-CN" sz="2600" dirty="0">
                <a:solidFill>
                  <a:srgbClr val="3366FF"/>
                </a:solidFill>
                <a:cs typeface="Times New Roman" panose="02020603050405020304" pitchFamily="18" charset="0"/>
              </a:rPr>
              <a:t>]</a:t>
            </a:r>
            <a:r>
              <a:rPr lang="zh-CN" altLang="en-US" sz="2600" baseline="-25000" dirty="0">
                <a:solidFill>
                  <a:srgbClr val="3366FF"/>
                </a:solidFill>
                <a:cs typeface="Times New Roman" panose="02020603050405020304" pitchFamily="18" charset="0"/>
              </a:rPr>
              <a:t>补</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[[X]</a:t>
            </a:r>
            <a:r>
              <a:rPr lang="zh-CN" altLang="en-US" sz="2600" baseline="-25000" dirty="0">
                <a:solidFill>
                  <a:srgbClr val="3366FF"/>
                </a:solidFill>
                <a:cs typeface="Times New Roman" panose="02020603050405020304" pitchFamily="18" charset="0"/>
              </a:rPr>
              <a:t>补</a:t>
            </a:r>
            <a:r>
              <a:rPr lang="zh-CN" altLang="en-US" sz="2600" dirty="0">
                <a:solidFill>
                  <a:srgbClr val="3366FF"/>
                </a:solidFill>
                <a:cs typeface="Times New Roman" panose="02020603050405020304" pitchFamily="18" charset="0"/>
              </a:rPr>
              <a:t>＋</a:t>
            </a:r>
            <a:r>
              <a:rPr lang="en-US" altLang="zh-CN" sz="2600" dirty="0">
                <a:solidFill>
                  <a:srgbClr val="3366FF"/>
                </a:solidFill>
                <a:cs typeface="Times New Roman" panose="02020603050405020304" pitchFamily="18" charset="0"/>
              </a:rPr>
              <a:t>[Y]</a:t>
            </a:r>
            <a:r>
              <a:rPr lang="zh-CN" altLang="en-US" sz="2600" baseline="-25000" dirty="0">
                <a:solidFill>
                  <a:srgbClr val="3366FF"/>
                </a:solidFill>
                <a:cs typeface="Times New Roman" panose="02020603050405020304" pitchFamily="18" charset="0"/>
              </a:rPr>
              <a:t>补</a:t>
            </a:r>
            <a:r>
              <a:rPr lang="en-US" altLang="zh-CN" sz="2600" dirty="0">
                <a:solidFill>
                  <a:srgbClr val="3366FF"/>
                </a:solidFill>
                <a:cs typeface="Times New Roman" panose="02020603050405020304" pitchFamily="18" charset="0"/>
              </a:rPr>
              <a:t>]</a:t>
            </a:r>
            <a:r>
              <a:rPr lang="zh-CN" altLang="en-US" sz="2600" baseline="-25000" dirty="0">
                <a:solidFill>
                  <a:srgbClr val="3366FF"/>
                </a:solidFill>
                <a:cs typeface="Times New Roman" panose="02020603050405020304" pitchFamily="18" charset="0"/>
              </a:rPr>
              <a:t>补</a:t>
            </a:r>
            <a:r>
              <a:rPr lang="en-US" altLang="zh-CN" sz="2600" b="1" dirty="0">
                <a:latin typeface="宋体" panose="02010600030101010101" pitchFamily="2" charset="-122"/>
              </a:rPr>
              <a:t> </a:t>
            </a:r>
            <a:endParaRPr lang="zh-CN" altLang="en-US" sz="2600" b="1" dirty="0">
              <a:solidFill>
                <a:srgbClr val="FF00FF"/>
              </a:solidFill>
            </a:endParaRPr>
          </a:p>
        </p:txBody>
      </p:sp>
      <p:sp>
        <p:nvSpPr>
          <p:cNvPr id="25" name="矩形 24"/>
          <p:cNvSpPr>
            <a:spLocks noChangeArrowheads="1"/>
          </p:cNvSpPr>
          <p:nvPr/>
        </p:nvSpPr>
        <p:spPr bwMode="auto">
          <a:xfrm>
            <a:off x="7899718" y="3538538"/>
            <a:ext cx="1031240" cy="43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(45D)</a:t>
            </a:r>
            <a:endParaRPr lang="zh-CN" altLang="en-US" sz="2800">
              <a:cs typeface="Times New Roman" panose="02020603050405020304" pitchFamily="18" charset="0"/>
            </a:endParaRPr>
          </a:p>
        </p:txBody>
      </p:sp>
      <p:sp>
        <p:nvSpPr>
          <p:cNvPr id="26" name="矩形 25"/>
          <p:cNvSpPr>
            <a:spLocks noChangeArrowheads="1"/>
          </p:cNvSpPr>
          <p:nvPr/>
        </p:nvSpPr>
        <p:spPr bwMode="auto">
          <a:xfrm>
            <a:off x="7938294" y="4019550"/>
            <a:ext cx="971550" cy="435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pPr>
            <a:r>
              <a:rPr lang="en-US" altLang="zh-CN" sz="2800">
                <a:cs typeface="Times New Roman" panose="02020603050405020304" pitchFamily="18" charset="0"/>
              </a:rPr>
              <a:t>(-1D)</a:t>
            </a:r>
            <a:endParaRPr lang="zh-CN" altLang="en-US" sz="2800">
              <a:cs typeface="Times New Roman" panose="02020603050405020304" pitchFamily="18" charset="0"/>
            </a:endParaRPr>
          </a:p>
        </p:txBody>
      </p:sp>
      <p:sp>
        <p:nvSpPr>
          <p:cNvPr id="27" name="矩形 26"/>
          <p:cNvSpPr>
            <a:spLocks noChangeArrowheads="1"/>
          </p:cNvSpPr>
          <p:nvPr/>
        </p:nvSpPr>
        <p:spPr bwMode="auto">
          <a:xfrm>
            <a:off x="7432675" y="2952750"/>
            <a:ext cx="2301875" cy="431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85000"/>
              </a:lnSpc>
            </a:pPr>
            <a:r>
              <a:rPr lang="zh-CN" altLang="en-US" sz="2600" b="1">
                <a:latin typeface="宋体" panose="02010600030101010101" pitchFamily="2" charset="-122"/>
              </a:rPr>
              <a:t>＝</a:t>
            </a:r>
            <a:r>
              <a:rPr lang="en-US" altLang="zh-CN" sz="2600" b="1">
                <a:solidFill>
                  <a:srgbClr val="FF0000"/>
                </a:solidFill>
                <a:latin typeface="宋体" panose="02010600030101010101" pitchFamily="2" charset="-122"/>
              </a:rPr>
              <a:t>0</a:t>
            </a:r>
            <a:r>
              <a:rPr lang="en-US" altLang="zh-CN" sz="2600" b="1">
                <a:latin typeface="宋体" panose="02010600030101010101" pitchFamily="2" charset="-122"/>
              </a:rPr>
              <a:t>0101100B</a:t>
            </a:r>
            <a:endParaRPr lang="zh-CN" altLang="en-US" sz="2600" b="1">
              <a:solidFill>
                <a:srgbClr val="FF00FF"/>
              </a:solidFill>
            </a:endParaRPr>
          </a:p>
        </p:txBody>
      </p:sp>
      <p:sp>
        <p:nvSpPr>
          <p:cNvPr id="28" name="Rectangle 3"/>
          <p:cNvSpPr txBox="1">
            <a:spLocks noChangeArrowheads="1"/>
          </p:cNvSpPr>
          <p:nvPr/>
        </p:nvSpPr>
        <p:spPr bwMode="auto">
          <a:xfrm>
            <a:off x="1946275" y="5283601"/>
            <a:ext cx="8084798" cy="1030287"/>
          </a:xfrm>
          <a:prstGeom prst="rect">
            <a:avLst/>
          </a:prstGeom>
          <a:noFill/>
          <a:ln w="1905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4"/>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4000"/>
              </a:lnSpc>
              <a:spcBef>
                <a:spcPts val="0"/>
              </a:spcBef>
              <a:defRPr/>
            </a:pPr>
            <a:r>
              <a:rPr lang="en-US" altLang="zh-CN" sz="1800" kern="0" dirty="0">
                <a:solidFill>
                  <a:srgbClr val="CC3300"/>
                </a:solidFill>
                <a:latin typeface="Arial" panose="020B0604020202020204" pitchFamily="34" charset="0"/>
                <a:cs typeface="Arial" panose="020B0604020202020204" pitchFamily="34" charset="0"/>
              </a:rPr>
              <a:t>Subtraction as addition: Using two's complement, the operation of subtracting a positive number can be transformed into the addition operation of adding the two's complement of that negative number.</a:t>
            </a:r>
            <a:endParaRPr lang="zh-CN" altLang="en-US" sz="1800" dirty="0">
              <a:latin typeface="Arial" panose="020B0604020202020204" pitchFamily="34" charset="0"/>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0451" name="Rectangle 3"/>
          <p:cNvSpPr>
            <a:spLocks noGrp="1" noChangeArrowheads="1"/>
          </p:cNvSpPr>
          <p:nvPr>
            <p:ph type="body" idx="1"/>
          </p:nvPr>
        </p:nvSpPr>
        <p:spPr>
          <a:xfrm>
            <a:off x="2071688" y="1231900"/>
            <a:ext cx="8229600" cy="3246438"/>
          </a:xfrm>
        </p:spPr>
        <p:txBody>
          <a:bodyPr/>
          <a:lstStyle/>
          <a:p>
            <a:pPr eaLnBrk="1" hangingPunct="1">
              <a:buFontTx/>
              <a:buNone/>
              <a:defRPr/>
            </a:pPr>
            <a:r>
              <a:rPr lang="en-US" altLang="zh-CN" dirty="0"/>
              <a:t>【Example</a:t>
            </a:r>
            <a:r>
              <a:rPr lang="zh-CN" altLang="en-US" dirty="0"/>
              <a:t> </a:t>
            </a:r>
            <a:r>
              <a:rPr lang="en-US" altLang="zh-CN" dirty="0"/>
              <a:t>2-3】It is known that:</a:t>
            </a:r>
            <a:r>
              <a:rPr lang="zh-CN" altLang="en-US" dirty="0"/>
              <a:t>Ｘ＝－</a:t>
            </a:r>
            <a:r>
              <a:rPr lang="en-US" altLang="zh-CN" dirty="0"/>
              <a:t>0001101B,</a:t>
            </a:r>
            <a:r>
              <a:rPr lang="zh-CN" altLang="en-US" dirty="0"/>
              <a:t>　</a:t>
            </a:r>
          </a:p>
          <a:p>
            <a:pPr eaLnBrk="1" hangingPunct="1">
              <a:buFontTx/>
              <a:buNone/>
              <a:defRPr/>
            </a:pPr>
            <a:r>
              <a:rPr lang="zh-CN" altLang="en-US" dirty="0"/>
              <a:t>              Ｙ＝－</a:t>
            </a:r>
            <a:r>
              <a:rPr lang="en-US" altLang="zh-CN" dirty="0"/>
              <a:t>0000001B, solve</a:t>
            </a:r>
            <a:r>
              <a:rPr lang="zh-CN" altLang="en-US" dirty="0"/>
              <a:t> </a:t>
            </a:r>
            <a:r>
              <a:rPr lang="en-US" altLang="zh-CN" dirty="0"/>
              <a:t>for:</a:t>
            </a:r>
            <a:r>
              <a:rPr lang="zh-CN" altLang="en-US" dirty="0"/>
              <a:t>Ｘ＋Ｙ＝？</a:t>
            </a:r>
          </a:p>
          <a:p>
            <a:pPr eaLnBrk="1" hangingPunct="1">
              <a:buFontTx/>
              <a:buNone/>
              <a:defRPr/>
            </a:pPr>
            <a:r>
              <a:rPr lang="en-US" altLang="zh-CN" dirty="0"/>
              <a:t>Solution</a:t>
            </a:r>
            <a:r>
              <a:rPr lang="zh-CN" altLang="en-US" dirty="0"/>
              <a:t>：　　　　　</a:t>
            </a:r>
            <a:r>
              <a:rPr lang="en-US" altLang="zh-CN" dirty="0"/>
              <a:t>	</a:t>
            </a:r>
            <a:r>
              <a:rPr lang="zh-CN" altLang="en-US" dirty="0"/>
              <a:t>［Ｘ］补 </a:t>
            </a:r>
            <a:r>
              <a:rPr lang="en-US" altLang="zh-CN" dirty="0"/>
              <a:t>=  </a:t>
            </a:r>
            <a:r>
              <a:rPr lang="en-US" altLang="zh-CN" dirty="0">
                <a:solidFill>
                  <a:srgbClr val="FF00FF"/>
                </a:solidFill>
              </a:rPr>
              <a:t>1</a:t>
            </a:r>
            <a:r>
              <a:rPr lang="en-US" altLang="zh-CN" dirty="0"/>
              <a:t>1110011</a:t>
            </a:r>
          </a:p>
          <a:p>
            <a:pPr eaLnBrk="1" hangingPunct="1">
              <a:buFontTx/>
              <a:buNone/>
              <a:defRPr/>
            </a:pPr>
            <a:r>
              <a:rPr lang="zh-CN" altLang="en-US" dirty="0"/>
              <a:t>　　　　　　＋［Ｙ］补 </a:t>
            </a:r>
            <a:r>
              <a:rPr lang="en-US" altLang="zh-CN" dirty="0"/>
              <a:t>=  </a:t>
            </a:r>
            <a:r>
              <a:rPr lang="en-US" altLang="zh-CN" dirty="0">
                <a:solidFill>
                  <a:srgbClr val="FF00FF"/>
                </a:solidFill>
              </a:rPr>
              <a:t>1</a:t>
            </a:r>
            <a:r>
              <a:rPr lang="en-US" altLang="zh-CN" dirty="0"/>
              <a:t>1111111</a:t>
            </a:r>
          </a:p>
          <a:p>
            <a:pPr eaLnBrk="1" hangingPunct="1">
              <a:buFontTx/>
              <a:buNone/>
              <a:defRPr/>
            </a:pPr>
            <a:r>
              <a:rPr lang="en-US" altLang="zh-CN" dirty="0"/>
              <a:t>         		  </a:t>
            </a:r>
            <a:r>
              <a:rPr lang="en-US" altLang="zh-CN" dirty="0">
                <a:solidFill>
                  <a:srgbClr val="3366FF"/>
                </a:solidFill>
                <a:cs typeface="Times New Roman" panose="02020603050405020304" pitchFamily="18" charset="0"/>
              </a:rPr>
              <a:t>[X]</a:t>
            </a:r>
            <a:r>
              <a:rPr lang="zh-CN" altLang="en-US" baseline="-25000" dirty="0">
                <a:solidFill>
                  <a:srgbClr val="3366FF"/>
                </a:solidFill>
                <a:cs typeface="Times New Roman" panose="02020603050405020304" pitchFamily="18" charset="0"/>
              </a:rPr>
              <a:t>补</a:t>
            </a:r>
            <a:r>
              <a:rPr lang="zh-CN" altLang="en-US" dirty="0">
                <a:solidFill>
                  <a:srgbClr val="3366FF"/>
                </a:solidFill>
                <a:cs typeface="Times New Roman" panose="02020603050405020304" pitchFamily="18" charset="0"/>
              </a:rPr>
              <a:t>＋</a:t>
            </a:r>
            <a:r>
              <a:rPr lang="en-US" altLang="zh-CN" dirty="0">
                <a:solidFill>
                  <a:srgbClr val="3366FF"/>
                </a:solidFill>
                <a:cs typeface="Times New Roman" panose="02020603050405020304" pitchFamily="18" charset="0"/>
              </a:rPr>
              <a:t>[Y]</a:t>
            </a:r>
            <a:r>
              <a:rPr lang="zh-CN" altLang="en-US" baseline="-25000" dirty="0">
                <a:solidFill>
                  <a:srgbClr val="3366FF"/>
                </a:solidFill>
                <a:cs typeface="Times New Roman" panose="02020603050405020304" pitchFamily="18" charset="0"/>
              </a:rPr>
              <a:t>补  </a:t>
            </a:r>
            <a:r>
              <a:rPr lang="en-US" altLang="zh-CN" dirty="0"/>
              <a:t>= </a:t>
            </a:r>
            <a:r>
              <a:rPr lang="en-US" altLang="zh-CN" dirty="0">
                <a:solidFill>
                  <a:srgbClr val="FF0000"/>
                </a:solidFill>
              </a:rPr>
              <a:t>1</a:t>
            </a:r>
            <a:r>
              <a:rPr lang="en-US" altLang="zh-CN" dirty="0">
                <a:solidFill>
                  <a:srgbClr val="FF00FF"/>
                </a:solidFill>
              </a:rPr>
              <a:t>1</a:t>
            </a:r>
            <a:r>
              <a:rPr lang="en-US" altLang="zh-CN" dirty="0"/>
              <a:t>1110010 </a:t>
            </a:r>
          </a:p>
        </p:txBody>
      </p:sp>
      <p:sp>
        <p:nvSpPr>
          <p:cNvPr id="360452" name="Line 4"/>
          <p:cNvSpPr>
            <a:spLocks noChangeShapeType="1"/>
          </p:cNvSpPr>
          <p:nvPr/>
        </p:nvSpPr>
        <p:spPr bwMode="auto">
          <a:xfrm flipV="1">
            <a:off x="3606767" y="3009650"/>
            <a:ext cx="5699125" cy="4762"/>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0453" name="Line 5"/>
          <p:cNvSpPr>
            <a:spLocks noChangeShapeType="1"/>
          </p:cNvSpPr>
          <p:nvPr/>
        </p:nvSpPr>
        <p:spPr bwMode="auto">
          <a:xfrm>
            <a:off x="5502275" y="3455737"/>
            <a:ext cx="854075" cy="336550"/>
          </a:xfrm>
          <a:prstGeom prst="line">
            <a:avLst/>
          </a:prstGeom>
          <a:noFill/>
          <a:ln w="28575">
            <a:solidFill>
              <a:srgbClr val="C00000"/>
            </a:solidFill>
            <a:round/>
            <a:headEnd type="none" w="med"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标题 3"/>
          <p:cNvSpPr>
            <a:spLocks noGrp="1" noChangeArrowheads="1"/>
          </p:cNvSpPr>
          <p:nvPr>
            <p:ph type="title"/>
          </p:nvPr>
        </p:nvSpPr>
        <p:spPr>
          <a:xfrm>
            <a:off x="1992313" y="0"/>
            <a:ext cx="8229600" cy="1099887"/>
          </a:xfrm>
        </p:spPr>
        <p:txBody>
          <a:bodyPr>
            <a:noAutofit/>
          </a:bodyPr>
          <a:lstStyle/>
          <a:p>
            <a:pPr eaLnBrk="1" hangingPunct="1"/>
            <a:r>
              <a:rPr lang="en-US" altLang="zh-CN" sz="3200" dirty="0">
                <a:latin typeface="Arial" panose="020B0604020202020204" pitchFamily="34" charset="0"/>
                <a:cs typeface="Arial" panose="020B0604020202020204" pitchFamily="34" charset="0"/>
              </a:rPr>
              <a:t>Arithmetic operations on numerical data </a:t>
            </a:r>
            <a:r>
              <a:rPr lang="en-US" altLang="zh-CN" sz="3200" dirty="0">
                <a:solidFill>
                  <a:srgbClr val="0000CC"/>
                </a:solidFill>
                <a:latin typeface="Arial" panose="020B0604020202020204" pitchFamily="34" charset="0"/>
                <a:cs typeface="Arial" panose="020B0604020202020204" pitchFamily="34" charset="0"/>
              </a:rPr>
              <a:t>example</a:t>
            </a:r>
            <a:endParaRPr lang="zh-CN" altLang="en-US" sz="4400" dirty="0">
              <a:solidFill>
                <a:srgbClr val="0000CC"/>
              </a:solidFill>
              <a:latin typeface="Arial" panose="020B0604020202020204" pitchFamily="34" charset="0"/>
              <a:cs typeface="Arial" panose="020B0604020202020204" pitchFamily="34" charset="0"/>
            </a:endParaRPr>
          </a:p>
        </p:txBody>
      </p:sp>
      <p:sp>
        <p:nvSpPr>
          <p:cNvPr id="8" name="矩形 7"/>
          <p:cNvSpPr>
            <a:spLocks noChangeArrowheads="1"/>
          </p:cNvSpPr>
          <p:nvPr/>
        </p:nvSpPr>
        <p:spPr bwMode="auto">
          <a:xfrm>
            <a:off x="1854644" y="4025107"/>
            <a:ext cx="3611880" cy="521970"/>
          </a:xfrm>
          <a:prstGeom prst="rect">
            <a:avLst/>
          </a:prstGeom>
          <a:noFill/>
          <a:ln w="9525">
            <a:solidFill>
              <a:srgbClr val="3366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rgbClr val="3366FF"/>
                </a:solidFill>
                <a:cs typeface="Times New Roman" panose="02020603050405020304" pitchFamily="18" charset="0"/>
              </a:rPr>
              <a:t>[X]</a:t>
            </a:r>
            <a:r>
              <a:rPr lang="zh-CN" altLang="en-US" sz="2800" baseline="-25000" dirty="0">
                <a:solidFill>
                  <a:srgbClr val="3366FF"/>
                </a:solidFill>
                <a:cs typeface="Times New Roman" panose="02020603050405020304" pitchFamily="18" charset="0"/>
              </a:rPr>
              <a:t>补</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[Y]</a:t>
            </a:r>
            <a:r>
              <a:rPr lang="zh-CN" altLang="en-US" sz="2800" dirty="0">
                <a:solidFill>
                  <a:srgbClr val="3366FF"/>
                </a:solidFill>
                <a:cs typeface="Times New Roman" panose="02020603050405020304" pitchFamily="18" charset="0"/>
              </a:rPr>
              <a:t> </a:t>
            </a:r>
            <a:r>
              <a:rPr lang="zh-CN" altLang="en-US" sz="2800" baseline="-25000" dirty="0">
                <a:solidFill>
                  <a:srgbClr val="3366FF"/>
                </a:solidFill>
                <a:cs typeface="Times New Roman" panose="02020603050405020304" pitchFamily="18" charset="0"/>
              </a:rPr>
              <a:t>补</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补</a:t>
            </a:r>
            <a:endParaRPr lang="zh-CN" altLang="en-US" sz="2800" dirty="0">
              <a:solidFill>
                <a:srgbClr val="3366FF"/>
              </a:solidFill>
              <a:cs typeface="Times New Roman" panose="02020603050405020304" pitchFamily="18" charset="0"/>
            </a:endParaRPr>
          </a:p>
        </p:txBody>
      </p:sp>
      <p:sp>
        <p:nvSpPr>
          <p:cNvPr id="9" name="矩形 8"/>
          <p:cNvSpPr/>
          <p:nvPr/>
        </p:nvSpPr>
        <p:spPr>
          <a:xfrm>
            <a:off x="5332949" y="5501732"/>
            <a:ext cx="4888964" cy="501650"/>
          </a:xfrm>
          <a:prstGeom prst="rect">
            <a:avLst/>
          </a:prstGeom>
          <a:ln>
            <a:solidFill>
              <a:srgbClr val="3366FF"/>
            </a:solidFill>
          </a:ln>
        </p:spPr>
        <p:txBody>
          <a:bodyPr wrap="square" lIns="0" tIns="36000" rIns="0" bIns="36000">
            <a:spAutoFit/>
          </a:bodyPr>
          <a:lstStyle/>
          <a:p>
            <a:pPr algn="ctr" eaLnBrk="1" hangingPunct="1">
              <a:defRPr/>
            </a:pP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=[X+Y]</a:t>
            </a:r>
            <a:r>
              <a:rPr lang="zh-CN" altLang="en-US" sz="2800" baseline="-25000" dirty="0">
                <a:solidFill>
                  <a:srgbClr val="3366FF"/>
                </a:solidFill>
                <a:cs typeface="Times New Roman" panose="02020603050405020304" pitchFamily="18" charset="0"/>
              </a:rPr>
              <a:t>原</a:t>
            </a:r>
            <a:r>
              <a:rPr lang="zh-CN" altLang="en-US" sz="1600" baseline="-25000" dirty="0">
                <a:solidFill>
                  <a:srgbClr val="3366FF"/>
                </a:solidFill>
                <a:cs typeface="Times New Roman" panose="02020603050405020304" pitchFamily="18" charset="0"/>
              </a:rPr>
              <a:t> </a:t>
            </a:r>
            <a:r>
              <a:rPr lang="en-US" altLang="zh-CN" sz="2000" b="1" kern="0" dirty="0">
                <a:solidFill>
                  <a:schemeClr val="accent2"/>
                </a:solidFill>
                <a:latin typeface="宋体" panose="02010600030101010101" pitchFamily="2" charset="-122"/>
              </a:rPr>
              <a:t>always holds true</a:t>
            </a:r>
            <a:endParaRPr lang="zh-CN" altLang="en-US" sz="2800" b="1" kern="0" dirty="0">
              <a:solidFill>
                <a:schemeClr val="accent2"/>
              </a:solidFill>
              <a:latin typeface="宋体" panose="02010600030101010101" pitchFamily="2" charset="-122"/>
            </a:endParaRPr>
          </a:p>
        </p:txBody>
      </p:sp>
      <p:sp>
        <p:nvSpPr>
          <p:cNvPr id="10" name="Rectangle 3"/>
          <p:cNvSpPr txBox="1">
            <a:spLocks noChangeArrowheads="1"/>
          </p:cNvSpPr>
          <p:nvPr/>
        </p:nvSpPr>
        <p:spPr bwMode="auto">
          <a:xfrm>
            <a:off x="6456329" y="3624012"/>
            <a:ext cx="3330608" cy="442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kern="0" dirty="0">
                <a:solidFill>
                  <a:srgbClr val="C00000"/>
                </a:solidFill>
              </a:rPr>
              <a:t>Discard the carry</a:t>
            </a:r>
            <a:endParaRPr lang="zh-CN" altLang="en-US" kern="0" dirty="0">
              <a:solidFill>
                <a:srgbClr val="C00000"/>
              </a:solidFill>
            </a:endParaRPr>
          </a:p>
        </p:txBody>
      </p:sp>
      <p:sp>
        <p:nvSpPr>
          <p:cNvPr id="11" name="Rectangle 3"/>
          <p:cNvSpPr txBox="1">
            <a:spLocks noChangeArrowheads="1"/>
          </p:cNvSpPr>
          <p:nvPr/>
        </p:nvSpPr>
        <p:spPr bwMode="auto">
          <a:xfrm>
            <a:off x="1614488" y="4733654"/>
            <a:ext cx="8938009"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3"/>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t>So ,</a:t>
            </a:r>
            <a:r>
              <a:rPr lang="en-US" altLang="zh-CN" kern="0"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X+Y</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baseline="-25000" dirty="0">
                <a:solidFill>
                  <a:srgbClr val="FF0000"/>
                </a:solidFill>
                <a:cs typeface="Times New Roman" panose="02020603050405020304" pitchFamily="18" charset="0"/>
              </a:rPr>
              <a:t>原</a:t>
            </a:r>
            <a:r>
              <a:rPr lang="zh-CN" altLang="en-US" kern="0" dirty="0"/>
              <a:t>＝</a:t>
            </a:r>
            <a:r>
              <a:rPr lang="en-US" altLang="zh-CN" kern="0" dirty="0">
                <a:solidFill>
                  <a:srgbClr val="FF0000"/>
                </a:solidFill>
                <a:latin typeface="Times New Roman" panose="02020603050405020304" pitchFamily="18" charset="0"/>
                <a:cs typeface="Times New Roman" panose="02020603050405020304" pitchFamily="18" charset="0"/>
              </a:rPr>
              <a:t>[</a:t>
            </a:r>
            <a:r>
              <a:rPr lang="zh-CN" altLang="en-US" kern="0" dirty="0"/>
              <a:t>－</a:t>
            </a:r>
            <a:r>
              <a:rPr lang="en-US" altLang="zh-CN" kern="0" dirty="0"/>
              <a:t>0001110B</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baseline="-25000" dirty="0">
                <a:solidFill>
                  <a:srgbClr val="FF0000"/>
                </a:solidFill>
                <a:cs typeface="Times New Roman" panose="02020603050405020304" pitchFamily="18" charset="0"/>
              </a:rPr>
              <a:t>原</a:t>
            </a:r>
            <a:r>
              <a:rPr lang="zh-CN" altLang="en-US" kern="0" dirty="0"/>
              <a:t>＝</a:t>
            </a:r>
            <a:r>
              <a:rPr lang="en-US" altLang="zh-CN" kern="0" dirty="0"/>
              <a:t>10001110B</a:t>
            </a:r>
            <a:r>
              <a:rPr lang="zh-CN" altLang="en-US" kern="0" dirty="0"/>
              <a:t>＝</a:t>
            </a:r>
            <a:r>
              <a:rPr lang="en-US" altLang="zh-CN" kern="0" dirty="0">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X+Y</a:t>
            </a:r>
            <a:r>
              <a:rPr lang="en-US" altLang="zh-CN" kern="0" dirty="0">
                <a:latin typeface="Times New Roman" panose="02020603050405020304" pitchFamily="18" charset="0"/>
                <a:cs typeface="Times New Roman" panose="02020603050405020304" pitchFamily="18" charset="0"/>
              </a:rPr>
              <a:t>]</a:t>
            </a:r>
            <a:r>
              <a:rPr lang="zh-CN" altLang="en-US" kern="0" baseline="-25000" dirty="0"/>
              <a:t>补</a:t>
            </a:r>
            <a:r>
              <a:rPr lang="en-US" altLang="zh-CN" kern="0" dirty="0">
                <a:latin typeface="Times New Roman" panose="02020603050405020304" pitchFamily="18" charset="0"/>
                <a:cs typeface="Times New Roman" panose="02020603050405020304" pitchFamily="18" charset="0"/>
              </a:rPr>
              <a:t>]</a:t>
            </a:r>
            <a:r>
              <a:rPr lang="zh-CN" altLang="en-US" kern="0" baseline="-25000" dirty="0"/>
              <a:t>补</a:t>
            </a:r>
            <a:endParaRPr lang="en-US" altLang="zh-CN" kern="0" baseline="-25000" dirty="0"/>
          </a:p>
        </p:txBody>
      </p:sp>
      <p:sp>
        <p:nvSpPr>
          <p:cNvPr id="12" name="矩形 11"/>
          <p:cNvSpPr>
            <a:spLocks noChangeArrowheads="1"/>
          </p:cNvSpPr>
          <p:nvPr/>
        </p:nvSpPr>
        <p:spPr bwMode="auto">
          <a:xfrm>
            <a:off x="5520531" y="4037807"/>
            <a:ext cx="4495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rgbClr val="3366FF"/>
                </a:solidFill>
                <a:cs typeface="Times New Roman" panose="02020603050405020304" pitchFamily="18" charset="0"/>
              </a:rPr>
              <a:t>=[</a:t>
            </a:r>
            <a:r>
              <a:rPr lang="zh-CN" altLang="en-US" sz="2800" dirty="0">
                <a:solidFill>
                  <a:srgbClr val="3366FF"/>
                </a:solidFill>
                <a:cs typeface="Times New Roman" panose="02020603050405020304" pitchFamily="18" charset="0"/>
              </a:rPr>
              <a:t>－</a:t>
            </a:r>
            <a:r>
              <a:rPr lang="en-US" altLang="zh-CN" sz="2800" dirty="0">
                <a:solidFill>
                  <a:srgbClr val="3366FF"/>
                </a:solidFill>
                <a:cs typeface="Times New Roman" panose="02020603050405020304" pitchFamily="18" charset="0"/>
              </a:rPr>
              <a:t>0001110B]</a:t>
            </a:r>
            <a:r>
              <a:rPr lang="zh-CN" altLang="en-US" sz="2800" baseline="-25000" dirty="0">
                <a:solidFill>
                  <a:srgbClr val="3366FF"/>
                </a:solidFill>
                <a:cs typeface="Times New Roman" panose="02020603050405020304" pitchFamily="18" charset="0"/>
              </a:rPr>
              <a:t>补</a:t>
            </a:r>
            <a:r>
              <a:rPr lang="en-US" altLang="zh-CN" sz="2800" dirty="0">
                <a:solidFill>
                  <a:srgbClr val="3366FF"/>
                </a:solidFill>
                <a:cs typeface="Times New Roman" panose="02020603050405020304" pitchFamily="18" charset="0"/>
              </a:rPr>
              <a:t>=</a:t>
            </a:r>
            <a:r>
              <a:rPr lang="en-US" altLang="zh-CN" sz="2800" dirty="0">
                <a:solidFill>
                  <a:srgbClr val="FF00FF"/>
                </a:solidFill>
                <a:cs typeface="Times New Roman" panose="02020603050405020304" pitchFamily="18" charset="0"/>
              </a:rPr>
              <a:t>1</a:t>
            </a:r>
            <a:r>
              <a:rPr lang="en-US" altLang="zh-CN" sz="2800" dirty="0">
                <a:solidFill>
                  <a:srgbClr val="3366FF"/>
                </a:solidFill>
                <a:cs typeface="Times New Roman" panose="02020603050405020304" pitchFamily="18" charset="0"/>
              </a:rPr>
              <a:t>1110010B</a:t>
            </a:r>
            <a:endParaRPr lang="zh-CN" altLang="en-US" sz="2800" dirty="0">
              <a:solidFill>
                <a:srgbClr val="3366FF"/>
              </a:solidFill>
              <a:cs typeface="Times New Roman" panose="02020603050405020304" pitchFamily="18" charset="0"/>
            </a:endParaRPr>
          </a:p>
        </p:txBody>
      </p:sp>
      <p:sp>
        <p:nvSpPr>
          <p:cNvPr id="13" name="Rectangle 3"/>
          <p:cNvSpPr txBox="1">
            <a:spLocks noChangeArrowheads="1"/>
          </p:cNvSpPr>
          <p:nvPr/>
        </p:nvSpPr>
        <p:spPr bwMode="auto">
          <a:xfrm>
            <a:off x="1847850" y="5497763"/>
            <a:ext cx="3319462"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l" rtl="0" fontAlgn="base">
              <a:spcBef>
                <a:spcPct val="20000"/>
              </a:spcBef>
              <a:spcAft>
                <a:spcPct val="0"/>
              </a:spcAft>
              <a:buBlip>
                <a:blip r:embed="rId3"/>
              </a:buBlip>
              <a:defRPr sz="2800" b="1">
                <a:solidFill>
                  <a:schemeClr val="tx1"/>
                </a:solidFill>
                <a:latin typeface="+mj-ea"/>
                <a:ea typeface="+mj-ea"/>
              </a:defRPr>
            </a:lvl2pPr>
            <a:lvl3pPr marL="1143000" indent="-228600" algn="l" rtl="0" fontAlgn="base">
              <a:spcBef>
                <a:spcPct val="20000"/>
              </a:spcBef>
              <a:spcAft>
                <a:spcPct val="0"/>
              </a:spcAft>
              <a:buChar char="•"/>
              <a:defRPr sz="2400">
                <a:solidFill>
                  <a:schemeClr val="tx1"/>
                </a:solidFill>
                <a:latin typeface="+mj-ea"/>
                <a:ea typeface="+mj-ea"/>
              </a:defRPr>
            </a:lvl3pPr>
            <a:lvl4pPr marL="1600200" indent="-228600" algn="l" rtl="0" fontAlgn="base">
              <a:spcBef>
                <a:spcPct val="20000"/>
              </a:spcBef>
              <a:spcAft>
                <a:spcPct val="0"/>
              </a:spcAft>
              <a:buChar char="–"/>
              <a:defRPr sz="2000">
                <a:solidFill>
                  <a:schemeClr val="tx1"/>
                </a:solidFill>
                <a:latin typeface="+mj-ea"/>
                <a:ea typeface="+mj-ea"/>
              </a:defRPr>
            </a:lvl4pPr>
            <a:lvl5pPr marL="2057400" indent="-228600" algn="l"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dirty="0">
                <a:solidFill>
                  <a:srgbClr val="3366FF"/>
                </a:solidFill>
                <a:latin typeface="Times New Roman" panose="02020603050405020304" pitchFamily="18" charset="0"/>
                <a:cs typeface="Times New Roman" panose="02020603050405020304" pitchFamily="18" charset="0"/>
              </a:rPr>
              <a:t>X+Y</a:t>
            </a:r>
            <a:r>
              <a:rPr lang="zh-CN" altLang="en-US" kern="0" dirty="0"/>
              <a:t>＝－</a:t>
            </a:r>
            <a:r>
              <a:rPr lang="en-US" altLang="zh-CN" kern="0" dirty="0"/>
              <a:t>0001110B</a:t>
            </a:r>
            <a:endParaRPr lang="en-US" altLang="zh-CN" kern="0" baseline="-25000" dirty="0"/>
          </a:p>
        </p:txBody>
      </p:sp>
      <p:sp>
        <p:nvSpPr>
          <p:cNvPr id="76813" name="矩形 13">
            <a:hlinkClick r:id="rId4" action="ppaction://hlinksldjump"/>
          </p:cNvPr>
          <p:cNvSpPr>
            <a:spLocks noChangeArrowheads="1"/>
          </p:cNvSpPr>
          <p:nvPr/>
        </p:nvSpPr>
        <p:spPr bwMode="auto">
          <a:xfrm>
            <a:off x="1847850" y="257175"/>
            <a:ext cx="408146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3"/>
          <p:cNvSpPr>
            <a:spLocks noGrp="1" noChangeArrowheads="1"/>
          </p:cNvSpPr>
          <p:nvPr>
            <p:ph type="title"/>
          </p:nvPr>
        </p:nvSpPr>
        <p:spPr>
          <a:xfrm>
            <a:off x="2328863" y="611187"/>
            <a:ext cx="6827636" cy="504825"/>
          </a:xfrm>
        </p:spPr>
        <p:txBody>
          <a:bodyPr>
            <a:noAutofit/>
          </a:bodyPr>
          <a:lstStyle/>
          <a:p>
            <a:pPr eaLnBrk="1" hangingPunct="1"/>
            <a:r>
              <a:rPr lang="en-US" altLang="zh-CN" sz="3200" dirty="0">
                <a:latin typeface="Arial" panose="020B0604020202020204" pitchFamily="34" charset="0"/>
                <a:cs typeface="Arial" panose="020B0604020202020204" pitchFamily="34" charset="0"/>
              </a:rPr>
              <a:t>Arithmetic operations on numerical data example</a:t>
            </a:r>
            <a:endParaRPr lang="zh-CN" altLang="en-US" sz="3200" dirty="0"/>
          </a:p>
        </p:txBody>
      </p:sp>
      <p:sp>
        <p:nvSpPr>
          <p:cNvPr id="361475" name="Rectangle 3"/>
          <p:cNvSpPr>
            <a:spLocks noGrp="1" noChangeArrowheads="1"/>
          </p:cNvSpPr>
          <p:nvPr>
            <p:ph idx="1"/>
          </p:nvPr>
        </p:nvSpPr>
        <p:spPr>
          <a:xfrm>
            <a:off x="2328863" y="1181100"/>
            <a:ext cx="7386637" cy="2713037"/>
          </a:xfrm>
        </p:spPr>
        <p:txBody>
          <a:bodyPr/>
          <a:lstStyle/>
          <a:p>
            <a:pPr eaLnBrk="1" hangingPunct="1">
              <a:buFontTx/>
              <a:buNone/>
            </a:pPr>
            <a:r>
              <a:rPr lang="en-US" altLang="zh-CN" dirty="0"/>
              <a:t>【Example2-4】</a:t>
            </a:r>
            <a:r>
              <a:rPr lang="zh-CN" altLang="en-US" dirty="0"/>
              <a:t>　</a:t>
            </a:r>
            <a:r>
              <a:rPr lang="en-US" altLang="zh-CN" dirty="0"/>
              <a:t> It is known that </a:t>
            </a:r>
            <a:r>
              <a:rPr lang="zh-CN" altLang="en-US" dirty="0"/>
              <a:t>：Ｘ＝</a:t>
            </a:r>
            <a:r>
              <a:rPr lang="en-US" altLang="zh-CN" dirty="0"/>
              <a:t>+1,</a:t>
            </a:r>
            <a:r>
              <a:rPr lang="zh-CN" altLang="en-US" dirty="0"/>
              <a:t>　Ｙ＝－</a:t>
            </a:r>
            <a:r>
              <a:rPr lang="en-US" altLang="zh-CN" dirty="0"/>
              <a:t>128</a:t>
            </a:r>
            <a:r>
              <a:rPr lang="zh-CN" altLang="en-US" dirty="0"/>
              <a:t>　</a:t>
            </a:r>
          </a:p>
          <a:p>
            <a:pPr eaLnBrk="1" hangingPunct="1">
              <a:spcAft>
                <a:spcPts val="1800"/>
              </a:spcAft>
              <a:buFontTx/>
              <a:buNone/>
            </a:pPr>
            <a:r>
              <a:rPr lang="zh-CN" altLang="en-US" dirty="0"/>
              <a:t>             </a:t>
            </a:r>
            <a:r>
              <a:rPr lang="en-US" altLang="zh-CN" dirty="0"/>
              <a:t>Solve for</a:t>
            </a:r>
            <a:r>
              <a:rPr lang="zh-CN" altLang="en-US" dirty="0"/>
              <a:t>：Ｘ＋Ｙ＝？</a:t>
            </a:r>
          </a:p>
          <a:p>
            <a:pPr eaLnBrk="1" hangingPunct="1">
              <a:buFontTx/>
              <a:buNone/>
            </a:pPr>
            <a:r>
              <a:rPr lang="en-US" altLang="zh-CN" dirty="0"/>
              <a:t>Solution</a:t>
            </a:r>
            <a:r>
              <a:rPr lang="zh-CN" altLang="en-US" dirty="0"/>
              <a:t>：　　　　　［Ｘ］</a:t>
            </a:r>
            <a:r>
              <a:rPr lang="zh-CN" altLang="en-US" baseline="-25000" dirty="0"/>
              <a:t>补</a:t>
            </a:r>
            <a:r>
              <a:rPr lang="zh-CN" altLang="en-US" dirty="0"/>
              <a:t>＝</a:t>
            </a:r>
            <a:r>
              <a:rPr lang="en-US" altLang="zh-CN" dirty="0"/>
              <a:t>00000001</a:t>
            </a:r>
          </a:p>
          <a:p>
            <a:pPr eaLnBrk="1" hangingPunct="1">
              <a:buFontTx/>
              <a:buNone/>
            </a:pPr>
            <a:r>
              <a:rPr lang="zh-CN" altLang="en-US" dirty="0"/>
              <a:t>　　　　　　＋［Ｙ］</a:t>
            </a:r>
            <a:r>
              <a:rPr lang="zh-CN" altLang="en-US" baseline="-25000" dirty="0"/>
              <a:t>补</a:t>
            </a:r>
            <a:r>
              <a:rPr lang="zh-CN" altLang="en-US" dirty="0"/>
              <a:t>＝</a:t>
            </a:r>
            <a:r>
              <a:rPr lang="en-US" altLang="zh-CN" dirty="0"/>
              <a:t>10000000</a:t>
            </a:r>
          </a:p>
          <a:p>
            <a:pPr eaLnBrk="1" hangingPunct="1">
              <a:buFontTx/>
              <a:buNone/>
            </a:pPr>
            <a:r>
              <a:rPr lang="en-US" altLang="zh-CN" dirty="0"/>
              <a:t>         		 </a:t>
            </a:r>
            <a:r>
              <a:rPr lang="zh-CN" altLang="en-US" dirty="0"/>
              <a:t>［Ｘ＋Ｙ］</a:t>
            </a:r>
            <a:r>
              <a:rPr lang="zh-CN" altLang="en-US" baseline="-25000" dirty="0"/>
              <a:t>补</a:t>
            </a:r>
            <a:r>
              <a:rPr lang="zh-CN" altLang="en-US" dirty="0"/>
              <a:t>＝</a:t>
            </a:r>
            <a:r>
              <a:rPr lang="en-US" altLang="zh-CN" dirty="0">
                <a:solidFill>
                  <a:srgbClr val="FF0000"/>
                </a:solidFill>
              </a:rPr>
              <a:t>1</a:t>
            </a:r>
            <a:r>
              <a:rPr lang="en-US" altLang="zh-CN" dirty="0"/>
              <a:t>0000001</a:t>
            </a:r>
            <a:endParaRPr lang="en-US" altLang="zh-CN" sz="2400" dirty="0"/>
          </a:p>
        </p:txBody>
      </p:sp>
      <p:sp>
        <p:nvSpPr>
          <p:cNvPr id="361476" name="Line 4"/>
          <p:cNvSpPr>
            <a:spLocks noChangeShapeType="1"/>
          </p:cNvSpPr>
          <p:nvPr/>
        </p:nvSpPr>
        <p:spPr bwMode="auto">
          <a:xfrm>
            <a:off x="3479281" y="3156585"/>
            <a:ext cx="60340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Rectangle 3"/>
          <p:cNvSpPr txBox="1">
            <a:spLocks noChangeArrowheads="1"/>
          </p:cNvSpPr>
          <p:nvPr/>
        </p:nvSpPr>
        <p:spPr bwMode="auto">
          <a:xfrm>
            <a:off x="1646237" y="4155140"/>
            <a:ext cx="8899525"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80000"/>
              </a:lnSpc>
              <a:buFontTx/>
              <a:buNone/>
              <a:defRPr/>
            </a:pPr>
            <a:r>
              <a:rPr lang="en-US" altLang="zh-CN" sz="2400" kern="0" dirty="0">
                <a:latin typeface="Times New Roman" panose="02020603050405020304" pitchFamily="18" charset="0"/>
                <a:cs typeface="Times New Roman" panose="02020603050405020304" pitchFamily="18" charset="0"/>
              </a:rPr>
              <a:t>Because</a:t>
            </a:r>
            <a:r>
              <a:rPr lang="zh-CN" altLang="en-US" sz="2400" kern="0" dirty="0">
                <a:latin typeface="Times New Roman" panose="02020603050405020304" pitchFamily="18" charset="0"/>
                <a:cs typeface="Times New Roman" panose="02020603050405020304" pitchFamily="18" charset="0"/>
              </a:rPr>
              <a:t>  </a:t>
            </a:r>
            <a:r>
              <a:rPr lang="en-US" altLang="zh-CN" sz="2400" kern="0" dirty="0">
                <a:latin typeface="Times New Roman" panose="02020603050405020304" pitchFamily="18" charset="0"/>
                <a:cs typeface="Times New Roman" panose="02020603050405020304" pitchFamily="18" charset="0"/>
              </a:rPr>
              <a:t>[[</a:t>
            </a:r>
            <a:r>
              <a:rPr lang="zh-CN" altLang="en-US" sz="2400" kern="0" dirty="0">
                <a:latin typeface="Times New Roman" panose="02020603050405020304" pitchFamily="18" charset="0"/>
                <a:cs typeface="Times New Roman" panose="02020603050405020304" pitchFamily="18" charset="0"/>
              </a:rPr>
              <a:t>Ｘ＋Ｙ</a:t>
            </a:r>
            <a:r>
              <a:rPr lang="en-US" altLang="zh-CN" sz="2400" kern="0" dirty="0">
                <a:latin typeface="Times New Roman" panose="02020603050405020304" pitchFamily="18" charset="0"/>
                <a:cs typeface="Times New Roman" panose="02020603050405020304" pitchFamily="18" charset="0"/>
              </a:rPr>
              <a:t>]</a:t>
            </a:r>
            <a:r>
              <a:rPr lang="zh-CN" altLang="en-US" sz="2400" kern="0" baseline="-25000" dirty="0">
                <a:latin typeface="Times New Roman" panose="02020603050405020304" pitchFamily="18" charset="0"/>
                <a:cs typeface="Times New Roman" panose="02020603050405020304" pitchFamily="18" charset="0"/>
              </a:rPr>
              <a:t>补</a:t>
            </a:r>
            <a:r>
              <a:rPr lang="en-US" altLang="zh-CN" sz="2400" kern="0" dirty="0">
                <a:latin typeface="Times New Roman" panose="02020603050405020304" pitchFamily="18" charset="0"/>
                <a:cs typeface="Times New Roman" panose="02020603050405020304" pitchFamily="18" charset="0"/>
              </a:rPr>
              <a:t>]</a:t>
            </a:r>
            <a:r>
              <a:rPr lang="zh-CN" altLang="en-US" sz="2400" kern="0" baseline="-25000" dirty="0">
                <a:latin typeface="Times New Roman" panose="02020603050405020304" pitchFamily="18" charset="0"/>
                <a:cs typeface="Times New Roman" panose="02020603050405020304" pitchFamily="18" charset="0"/>
              </a:rPr>
              <a:t>补</a:t>
            </a:r>
            <a:r>
              <a:rPr lang="zh-CN" altLang="en-US" sz="2400" kern="0" dirty="0">
                <a:latin typeface="Times New Roman" panose="02020603050405020304" pitchFamily="18" charset="0"/>
                <a:cs typeface="Times New Roman" panose="02020603050405020304" pitchFamily="18" charset="0"/>
              </a:rPr>
              <a:t>＝</a:t>
            </a:r>
            <a:r>
              <a:rPr lang="en-US" altLang="zh-CN" sz="2400" kern="0" dirty="0">
                <a:solidFill>
                  <a:srgbClr val="FF0000"/>
                </a:solidFill>
                <a:latin typeface="Times New Roman" panose="02020603050405020304" pitchFamily="18" charset="0"/>
                <a:cs typeface="Times New Roman" panose="02020603050405020304" pitchFamily="18" charset="0"/>
              </a:rPr>
              <a:t>[</a:t>
            </a:r>
            <a:r>
              <a:rPr lang="zh-CN" altLang="en-US" sz="2400" kern="0" dirty="0">
                <a:latin typeface="Times New Roman" panose="02020603050405020304" pitchFamily="18" charset="0"/>
                <a:cs typeface="Times New Roman" panose="02020603050405020304" pitchFamily="18" charset="0"/>
              </a:rPr>
              <a:t>Ｘ＋Ｙ</a:t>
            </a:r>
            <a:r>
              <a:rPr lang="en-US" altLang="zh-CN" sz="2400" kern="0" dirty="0">
                <a:solidFill>
                  <a:srgbClr val="FF0000"/>
                </a:solidFill>
                <a:latin typeface="Times New Roman" panose="02020603050405020304" pitchFamily="18" charset="0"/>
                <a:cs typeface="Times New Roman" panose="02020603050405020304" pitchFamily="18" charset="0"/>
              </a:rPr>
              <a:t>] </a:t>
            </a:r>
            <a:r>
              <a:rPr lang="zh-CN" altLang="en-US" sz="2400" kern="0" baseline="-25000" dirty="0">
                <a:solidFill>
                  <a:srgbClr val="FF0000"/>
                </a:solidFill>
                <a:latin typeface="Times New Roman" panose="02020603050405020304" pitchFamily="18" charset="0"/>
                <a:cs typeface="Times New Roman" panose="02020603050405020304" pitchFamily="18" charset="0"/>
              </a:rPr>
              <a:t>原</a:t>
            </a:r>
            <a:r>
              <a:rPr lang="zh-CN" altLang="en-US" sz="2400" kern="0" dirty="0">
                <a:latin typeface="Times New Roman" panose="02020603050405020304" pitchFamily="18" charset="0"/>
                <a:cs typeface="Times New Roman" panose="02020603050405020304" pitchFamily="18" charset="0"/>
              </a:rPr>
              <a:t>＝</a:t>
            </a:r>
            <a:r>
              <a:rPr lang="en-US" altLang="zh-CN" sz="2400" dirty="0">
                <a:solidFill>
                  <a:srgbClr val="FF0000"/>
                </a:solidFill>
              </a:rPr>
              <a:t>1</a:t>
            </a:r>
            <a:r>
              <a:rPr lang="en-US" altLang="zh-CN" sz="2400" dirty="0"/>
              <a:t>111 1111</a:t>
            </a:r>
            <a:r>
              <a:rPr lang="en-US" altLang="zh-CN" sz="2400" kern="0" dirty="0">
                <a:latin typeface="Times New Roman" panose="02020603050405020304" pitchFamily="18" charset="0"/>
                <a:cs typeface="Times New Roman" panose="02020603050405020304" pitchFamily="18" charset="0"/>
              </a:rPr>
              <a:t>B</a:t>
            </a:r>
            <a:r>
              <a:rPr lang="zh-CN" altLang="en-US" sz="2400" dirty="0"/>
              <a:t>＝</a:t>
            </a:r>
            <a:r>
              <a:rPr lang="en-US" altLang="zh-CN" sz="2400" kern="0" dirty="0">
                <a:solidFill>
                  <a:srgbClr val="FF0000"/>
                </a:solidFill>
                <a:latin typeface="Times New Roman" panose="02020603050405020304" pitchFamily="18" charset="0"/>
                <a:cs typeface="Times New Roman" panose="02020603050405020304" pitchFamily="18" charset="0"/>
              </a:rPr>
              <a:t>[</a:t>
            </a:r>
            <a:r>
              <a:rPr lang="zh-CN" altLang="en-US" sz="2400" dirty="0"/>
              <a:t>－</a:t>
            </a:r>
            <a:r>
              <a:rPr lang="en-US" altLang="zh-CN" sz="2400" dirty="0"/>
              <a:t>127</a:t>
            </a:r>
            <a:r>
              <a:rPr lang="en-US" altLang="zh-CN" sz="2400" kern="0" dirty="0">
                <a:solidFill>
                  <a:srgbClr val="FF0000"/>
                </a:solidFill>
                <a:latin typeface="Times New Roman" panose="02020603050405020304" pitchFamily="18" charset="0"/>
                <a:cs typeface="Times New Roman" panose="02020603050405020304" pitchFamily="18" charset="0"/>
              </a:rPr>
              <a:t>]</a:t>
            </a:r>
            <a:r>
              <a:rPr lang="zh-CN" altLang="en-US" sz="2400" kern="0" baseline="-25000" dirty="0">
                <a:solidFill>
                  <a:srgbClr val="FF0000"/>
                </a:solidFill>
                <a:latin typeface="Times New Roman" panose="02020603050405020304" pitchFamily="18" charset="0"/>
                <a:cs typeface="Times New Roman" panose="02020603050405020304" pitchFamily="18" charset="0"/>
              </a:rPr>
              <a:t>原</a:t>
            </a:r>
            <a:endParaRPr lang="zh-CN" altLang="en-US" sz="2400" kern="0" baseline="-25000" dirty="0">
              <a:latin typeface="Times New Roman" panose="02020603050405020304" pitchFamily="18" charset="0"/>
              <a:cs typeface="Times New Roman" panose="02020603050405020304" pitchFamily="18" charset="0"/>
            </a:endParaRPr>
          </a:p>
          <a:p>
            <a:pPr algn="l" eaLnBrk="1" hangingPunct="1">
              <a:lnSpc>
                <a:spcPct val="80000"/>
              </a:lnSpc>
              <a:buFontTx/>
              <a:buNone/>
              <a:defRPr/>
            </a:pPr>
            <a:endParaRPr lang="en-US" altLang="zh-CN" sz="2400" kern="0" dirty="0">
              <a:latin typeface="Times New Roman" panose="02020603050405020304" pitchFamily="18" charset="0"/>
              <a:cs typeface="Times New Roman" panose="02020603050405020304" pitchFamily="18" charset="0"/>
            </a:endParaRPr>
          </a:p>
        </p:txBody>
      </p:sp>
      <p:sp>
        <p:nvSpPr>
          <p:cNvPr id="8" name="Rectangle 3"/>
          <p:cNvSpPr txBox="1">
            <a:spLocks noChangeArrowheads="1"/>
          </p:cNvSpPr>
          <p:nvPr/>
        </p:nvSpPr>
        <p:spPr bwMode="auto">
          <a:xfrm>
            <a:off x="2261486" y="4641072"/>
            <a:ext cx="5497512"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80000"/>
              </a:lnSpc>
              <a:buFontTx/>
              <a:buNone/>
              <a:defRPr/>
            </a:pPr>
            <a:r>
              <a:rPr lang="en-US" altLang="zh-CN" dirty="0"/>
              <a:t>So</a:t>
            </a:r>
            <a:r>
              <a:rPr lang="zh-CN" altLang="en-US" dirty="0"/>
              <a:t> </a:t>
            </a:r>
            <a:r>
              <a:rPr lang="en-US" altLang="zh-CN" dirty="0"/>
              <a:t>,</a:t>
            </a:r>
            <a:r>
              <a:rPr lang="zh-CN" altLang="en-US" kern="0" dirty="0">
                <a:latin typeface="Times New Roman" panose="02020603050405020304" pitchFamily="18" charset="0"/>
                <a:cs typeface="Times New Roman" panose="02020603050405020304" pitchFamily="18" charset="0"/>
              </a:rPr>
              <a:t>Ｘ＋Ｙ＝ </a:t>
            </a:r>
            <a:r>
              <a:rPr lang="en-US" altLang="zh-CN" kern="0" dirty="0">
                <a:latin typeface="Times New Roman" panose="02020603050405020304" pitchFamily="18" charset="0"/>
                <a:cs typeface="Times New Roman" panose="02020603050405020304" pitchFamily="18" charset="0"/>
              </a:rPr>
              <a:t>-111 1111</a:t>
            </a:r>
            <a:r>
              <a:rPr lang="zh-CN" altLang="en-US" dirty="0"/>
              <a:t>＝－</a:t>
            </a:r>
            <a:r>
              <a:rPr lang="en-US" altLang="zh-CN" dirty="0"/>
              <a:t>127</a:t>
            </a:r>
            <a:endParaRPr lang="zh-CN" altLang="en-US" kern="0" baseline="-25000" dirty="0">
              <a:latin typeface="Times New Roman" panose="02020603050405020304" pitchFamily="18" charset="0"/>
              <a:cs typeface="Times New Roman" panose="02020603050405020304" pitchFamily="18" charset="0"/>
            </a:endParaRPr>
          </a:p>
          <a:p>
            <a:pPr algn="l" eaLnBrk="1" hangingPunct="1">
              <a:lnSpc>
                <a:spcPct val="80000"/>
              </a:lnSpc>
              <a:buFontTx/>
              <a:buNone/>
              <a:defRPr/>
            </a:pPr>
            <a:endParaRPr lang="en-US" altLang="zh-CN" kern="0" dirty="0">
              <a:latin typeface="Times New Roman" panose="02020603050405020304" pitchFamily="18" charset="0"/>
              <a:cs typeface="Times New Roman" panose="02020603050405020304" pitchFamily="18" charset="0"/>
            </a:endParaRPr>
          </a:p>
        </p:txBody>
      </p:sp>
      <p:sp>
        <p:nvSpPr>
          <p:cNvPr id="9" name="矩形 8"/>
          <p:cNvSpPr/>
          <p:nvPr/>
        </p:nvSpPr>
        <p:spPr>
          <a:xfrm>
            <a:off x="1544572" y="5217877"/>
            <a:ext cx="9123428" cy="809625"/>
          </a:xfrm>
          <a:prstGeom prst="rect">
            <a:avLst/>
          </a:prstGeom>
          <a:ln>
            <a:solidFill>
              <a:srgbClr val="3366FF"/>
            </a:solidFill>
          </a:ln>
        </p:spPr>
        <p:txBody>
          <a:bodyPr wrap="square" lIns="0" tIns="36000" rIns="0" bIns="36000">
            <a:spAutoFit/>
          </a:bodyPr>
          <a:lstStyle/>
          <a:p>
            <a:pPr algn="ctr" eaLnBrk="1" hangingPunct="1">
              <a:defRPr/>
            </a:pPr>
            <a:r>
              <a:rPr lang="en-US" altLang="zh-CN" sz="2400" b="1" kern="0" dirty="0">
                <a:solidFill>
                  <a:schemeClr val="accent2"/>
                </a:solidFill>
                <a:latin typeface="宋体" panose="02010600030101010101" pitchFamily="2" charset="-122"/>
              </a:rPr>
              <a:t>Strictly </a:t>
            </a:r>
            <a:r>
              <a:rPr lang="en-US" altLang="zh-CN" sz="2400" b="1" kern="0" dirty="0" err="1">
                <a:solidFill>
                  <a:schemeClr val="accent2"/>
                </a:solidFill>
                <a:latin typeface="宋体" panose="02010600030101010101" pitchFamily="2" charset="-122"/>
              </a:rPr>
              <a:t>speaking</a:t>
            </a:r>
            <a:r>
              <a:rPr lang="en-US" altLang="zh-CN" sz="2400" dirty="0" err="1">
                <a:latin typeface="宋体" panose="02010600030101010101" pitchFamily="2" charset="-122"/>
              </a:rPr>
              <a:t>,</a:t>
            </a:r>
            <a:r>
              <a:rPr lang="en-US" altLang="zh-CN" sz="2400" b="1" kern="0" dirty="0" err="1">
                <a:solidFill>
                  <a:schemeClr val="accent2"/>
                </a:solidFill>
                <a:latin typeface="宋体" panose="02010600030101010101" pitchFamily="2" charset="-122"/>
              </a:rPr>
              <a:t>this</a:t>
            </a:r>
            <a:r>
              <a:rPr lang="en-US" altLang="zh-CN" sz="2400" b="1" kern="0" dirty="0">
                <a:solidFill>
                  <a:schemeClr val="accent2"/>
                </a:solidFill>
                <a:latin typeface="宋体" panose="02010600030101010101" pitchFamily="2" charset="-122"/>
              </a:rPr>
              <a:t> question</a:t>
            </a:r>
            <a:r>
              <a:rPr lang="en-US" altLang="zh-CN" sz="2400" kern="0" dirty="0">
                <a:cs typeface="Times New Roman" panose="02020603050405020304" pitchFamily="18" charset="0"/>
              </a:rPr>
              <a:t>[[</a:t>
            </a:r>
            <a:r>
              <a:rPr lang="zh-CN" altLang="en-US" sz="2400" kern="0" dirty="0">
                <a:cs typeface="Times New Roman" panose="02020603050405020304" pitchFamily="18" charset="0"/>
              </a:rPr>
              <a:t>Ｘ＋Ｙ</a:t>
            </a:r>
            <a:r>
              <a:rPr lang="en-US" altLang="zh-CN" sz="2400" kern="0" dirty="0">
                <a:cs typeface="Times New Roman" panose="02020603050405020304" pitchFamily="18" charset="0"/>
              </a:rPr>
              <a:t>]</a:t>
            </a:r>
            <a:r>
              <a:rPr lang="zh-CN" altLang="en-US" sz="2400" kern="0" baseline="-25000" dirty="0">
                <a:cs typeface="Times New Roman" panose="02020603050405020304" pitchFamily="18" charset="0"/>
              </a:rPr>
              <a:t>补</a:t>
            </a:r>
            <a:r>
              <a:rPr lang="en-US" altLang="zh-CN" sz="2400" kern="0" dirty="0">
                <a:cs typeface="Times New Roman" panose="02020603050405020304" pitchFamily="18" charset="0"/>
              </a:rPr>
              <a:t>]</a:t>
            </a:r>
            <a:r>
              <a:rPr lang="zh-CN" altLang="en-US" sz="2400" kern="0" baseline="-25000" dirty="0">
                <a:cs typeface="Times New Roman" panose="02020603050405020304" pitchFamily="18" charset="0"/>
              </a:rPr>
              <a:t>补</a:t>
            </a:r>
            <a:r>
              <a:rPr lang="zh-CN" altLang="en-US" sz="2400" kern="0" dirty="0">
                <a:cs typeface="Times New Roman" panose="02020603050405020304" pitchFamily="18" charset="0"/>
              </a:rPr>
              <a:t>＝Ｘ＋Ｙ</a:t>
            </a:r>
            <a:r>
              <a:rPr lang="en-US" altLang="zh-CN" sz="2400" kern="0" dirty="0">
                <a:cs typeface="Times New Roman" panose="02020603050405020304" pitchFamily="18" charset="0"/>
              </a:rPr>
              <a:t>is not valid</a:t>
            </a:r>
            <a:r>
              <a:rPr lang="en-US" altLang="zh-CN" sz="2400" dirty="0">
                <a:latin typeface="宋体" panose="02010600030101010101" pitchFamily="2" charset="-122"/>
              </a:rPr>
              <a:t>,</a:t>
            </a:r>
          </a:p>
          <a:p>
            <a:pPr algn="ctr" eaLnBrk="1" hangingPunct="1">
              <a:defRPr/>
            </a:pPr>
            <a:r>
              <a:rPr lang="en-US" altLang="zh-CN" sz="2400" dirty="0">
                <a:latin typeface="宋体" panose="02010600030101010101" pitchFamily="2" charset="-122"/>
              </a:rPr>
              <a:t>Nevertheless </a:t>
            </a:r>
            <a:r>
              <a:rPr lang="en-US" altLang="zh-CN" sz="2400" dirty="0">
                <a:solidFill>
                  <a:srgbClr val="3366FF"/>
                </a:solidFill>
                <a:cs typeface="Times New Roman" panose="02020603050405020304" pitchFamily="18" charset="0"/>
              </a:rPr>
              <a:t>[[X+Y]</a:t>
            </a:r>
            <a:r>
              <a:rPr lang="zh-CN" altLang="en-US" sz="2400" baseline="-25000" dirty="0">
                <a:solidFill>
                  <a:srgbClr val="3366FF"/>
                </a:solidFill>
                <a:cs typeface="Times New Roman" panose="02020603050405020304" pitchFamily="18" charset="0"/>
              </a:rPr>
              <a:t>补</a:t>
            </a:r>
            <a:r>
              <a:rPr lang="en-US" altLang="zh-CN" sz="2400" dirty="0">
                <a:solidFill>
                  <a:srgbClr val="3366FF"/>
                </a:solidFill>
                <a:cs typeface="Times New Roman" panose="02020603050405020304" pitchFamily="18" charset="0"/>
              </a:rPr>
              <a:t>]</a:t>
            </a:r>
            <a:r>
              <a:rPr lang="zh-CN" altLang="en-US" sz="2400" baseline="-25000" dirty="0">
                <a:solidFill>
                  <a:srgbClr val="3366FF"/>
                </a:solidFill>
                <a:cs typeface="Times New Roman" panose="02020603050405020304" pitchFamily="18" charset="0"/>
              </a:rPr>
              <a:t>补</a:t>
            </a:r>
            <a:r>
              <a:rPr lang="en-US" altLang="zh-CN" sz="2400" dirty="0">
                <a:solidFill>
                  <a:srgbClr val="3366FF"/>
                </a:solidFill>
                <a:cs typeface="Times New Roman" panose="02020603050405020304" pitchFamily="18" charset="0"/>
              </a:rPr>
              <a:t>=[X+Y]</a:t>
            </a:r>
            <a:r>
              <a:rPr lang="zh-CN" altLang="en-US" sz="2400" baseline="-25000" dirty="0">
                <a:solidFill>
                  <a:srgbClr val="3366FF"/>
                </a:solidFill>
                <a:cs typeface="Times New Roman" panose="02020603050405020304" pitchFamily="18" charset="0"/>
              </a:rPr>
              <a:t>原 </a:t>
            </a:r>
            <a:r>
              <a:rPr lang="en-US" altLang="zh-CN" sz="2400" b="1" kern="0" baseline="-25000" dirty="0">
                <a:solidFill>
                  <a:schemeClr val="accent2"/>
                </a:solidFill>
                <a:latin typeface="宋体" panose="02010600030101010101" pitchFamily="2" charset="-122"/>
                <a:cs typeface="Times New Roman" panose="02020603050405020304" pitchFamily="18" charset="0"/>
              </a:rPr>
              <a:t> </a:t>
            </a:r>
            <a:r>
              <a:rPr lang="en-US" altLang="zh-CN" sz="2400" b="1" kern="0" dirty="0">
                <a:solidFill>
                  <a:schemeClr val="accent2"/>
                </a:solidFill>
                <a:latin typeface="宋体" panose="02010600030101010101" pitchFamily="2" charset="-122"/>
              </a:rPr>
              <a:t>always holds true</a:t>
            </a:r>
            <a:r>
              <a:rPr lang="zh-CN" altLang="en-US" sz="2400" b="1" kern="0" dirty="0">
                <a:solidFill>
                  <a:schemeClr val="accent2"/>
                </a:solidFill>
                <a:latin typeface="宋体" panose="02010600030101010101" pitchFamily="2" charset="-122"/>
              </a:rPr>
              <a:t>，</a:t>
            </a:r>
          </a:p>
        </p:txBody>
      </p:sp>
      <p:sp>
        <p:nvSpPr>
          <p:cNvPr id="5" name="矩形 4"/>
          <p:cNvSpPr>
            <a:spLocks noChangeArrowheads="1"/>
          </p:cNvSpPr>
          <p:nvPr/>
        </p:nvSpPr>
        <p:spPr bwMode="auto">
          <a:xfrm>
            <a:off x="2188528" y="3582987"/>
            <a:ext cx="228727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latin typeface="宋体" panose="02010600030101010101" pitchFamily="2" charset="-122"/>
              </a:rPr>
              <a:t> </a:t>
            </a:r>
            <a:r>
              <a:rPr lang="en-US" altLang="zh-CN" sz="2400" dirty="0">
                <a:solidFill>
                  <a:srgbClr val="3366FF"/>
                </a:solidFill>
                <a:cs typeface="Times New Roman" panose="02020603050405020304" pitchFamily="18" charset="0"/>
              </a:rPr>
              <a:t>[X]</a:t>
            </a:r>
            <a:r>
              <a:rPr lang="zh-CN" altLang="en-US" sz="2400" baseline="-25000" dirty="0">
                <a:solidFill>
                  <a:srgbClr val="3366FF"/>
                </a:solidFill>
                <a:cs typeface="Times New Roman" panose="02020603050405020304" pitchFamily="18" charset="0"/>
              </a:rPr>
              <a:t>补</a:t>
            </a:r>
            <a:r>
              <a:rPr lang="zh-CN" altLang="en-US" sz="2400" dirty="0">
                <a:solidFill>
                  <a:srgbClr val="3366FF"/>
                </a:solidFill>
                <a:cs typeface="Times New Roman" panose="02020603050405020304" pitchFamily="18" charset="0"/>
              </a:rPr>
              <a:t>＋</a:t>
            </a:r>
            <a:r>
              <a:rPr lang="en-US" altLang="zh-CN" sz="2400" dirty="0">
                <a:solidFill>
                  <a:srgbClr val="3366FF"/>
                </a:solidFill>
                <a:cs typeface="Times New Roman" panose="02020603050405020304" pitchFamily="18" charset="0"/>
              </a:rPr>
              <a:t>[Y]</a:t>
            </a:r>
            <a:r>
              <a:rPr lang="zh-CN" altLang="en-US" sz="2400" baseline="-25000" dirty="0">
                <a:solidFill>
                  <a:srgbClr val="3366FF"/>
                </a:solidFill>
                <a:cs typeface="Times New Roman" panose="02020603050405020304" pitchFamily="18" charset="0"/>
              </a:rPr>
              <a:t>补  </a:t>
            </a:r>
            <a:r>
              <a:rPr lang="en-US" altLang="zh-CN" sz="2400" dirty="0">
                <a:latin typeface="宋体" panose="02010600030101010101" pitchFamily="2" charset="-122"/>
              </a:rPr>
              <a:t>= </a:t>
            </a:r>
            <a:endParaRPr lang="zh-CN" alt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2"/>
          <p:cNvSpPr>
            <a:spLocks noGrp="1" noChangeArrowheads="1"/>
          </p:cNvSpPr>
          <p:nvPr>
            <p:ph type="title"/>
          </p:nvPr>
        </p:nvSpPr>
        <p:spPr>
          <a:xfrm>
            <a:off x="1992313" y="556964"/>
            <a:ext cx="8229600" cy="504825"/>
          </a:xfrm>
        </p:spPr>
        <p:txBody>
          <a:bodyPr>
            <a:noAutofit/>
          </a:bodyPr>
          <a:lstStyle/>
          <a:p>
            <a:pPr eaLnBrk="1" hangingPunct="1"/>
            <a:r>
              <a:rPr lang="en-US" altLang="zh-CN" sz="3200" dirty="0">
                <a:solidFill>
                  <a:srgbClr val="FF0000"/>
                </a:solidFill>
                <a:latin typeface="Arial" panose="020B0604020202020204" pitchFamily="34" charset="0"/>
                <a:cs typeface="Arial" panose="020B0604020202020204" pitchFamily="34" charset="0"/>
              </a:rPr>
              <a:t>An adder can perform all arithmetic operations</a:t>
            </a:r>
            <a:endParaRPr lang="zh-CN" altLang="en-US" sz="3200" dirty="0">
              <a:latin typeface="Arial" panose="020B0604020202020204" pitchFamily="34" charset="0"/>
              <a:cs typeface="Arial" panose="020B0604020202020204" pitchFamily="34" charset="0"/>
            </a:endParaRPr>
          </a:p>
        </p:txBody>
      </p:sp>
      <p:sp>
        <p:nvSpPr>
          <p:cNvPr id="362499" name="Rectangle 3"/>
          <p:cNvSpPr>
            <a:spLocks noGrp="1" noChangeArrowheads="1"/>
          </p:cNvSpPr>
          <p:nvPr>
            <p:ph idx="1"/>
          </p:nvPr>
        </p:nvSpPr>
        <p:spPr>
          <a:xfrm>
            <a:off x="1992313" y="1103313"/>
            <a:ext cx="8229600" cy="4446149"/>
          </a:xfrm>
        </p:spPr>
        <p:txBody>
          <a:bodyPr/>
          <a:lstStyle/>
          <a:p>
            <a:pPr>
              <a:lnSpc>
                <a:spcPct val="134000"/>
              </a:lnSpc>
              <a:spcBef>
                <a:spcPct val="0"/>
              </a:spcBef>
              <a:spcAft>
                <a:spcPts val="1800"/>
              </a:spcAft>
            </a:pPr>
            <a:r>
              <a:rPr lang="en-US" altLang="zh-CN" dirty="0">
                <a:solidFill>
                  <a:srgbClr val="CC3300"/>
                </a:solidFill>
                <a:latin typeface="Arial" panose="020B0604020202020204" pitchFamily="34" charset="0"/>
                <a:cs typeface="Arial" panose="020B0604020202020204" pitchFamily="34" charset="0"/>
              </a:rPr>
              <a:t>Addition becomes subtraction</a:t>
            </a:r>
            <a:r>
              <a:rPr lang="en-US" altLang="zh-CN" dirty="0">
                <a:latin typeface="Arial" panose="020B0604020202020204" pitchFamily="34" charset="0"/>
                <a:cs typeface="Arial" panose="020B0604020202020204" pitchFamily="34" charset="0"/>
              </a:rPr>
              <a:t>: Since subtracting a positive number can be viewed as adding a negative number, in computing, after obtaining the two's complement, the operation of subtracting a positive number is transformed into adding the two's complement of that negative number.</a:t>
            </a:r>
          </a:p>
          <a:p>
            <a:pPr eaLnBrk="1" hangingPunct="1">
              <a:lnSpc>
                <a:spcPct val="134000"/>
              </a:lnSpc>
              <a:spcBef>
                <a:spcPct val="0"/>
              </a:spcBef>
              <a:spcAft>
                <a:spcPts val="1800"/>
              </a:spcAft>
            </a:pPr>
            <a:r>
              <a:rPr lang="en-US" altLang="zh-CN" dirty="0">
                <a:solidFill>
                  <a:srgbClr val="CC3300"/>
                </a:solidFill>
                <a:latin typeface="Arial" panose="020B0604020202020204" pitchFamily="34" charset="0"/>
                <a:cs typeface="Arial" panose="020B0604020202020204" pitchFamily="34" charset="0"/>
              </a:rPr>
              <a:t>Addition as Multiplication</a:t>
            </a:r>
            <a:r>
              <a:rPr lang="en-US" altLang="zh-CN" dirty="0">
                <a:latin typeface="Arial" panose="020B0604020202020204" pitchFamily="34" charset="0"/>
                <a:cs typeface="Arial" panose="020B0604020202020204" pitchFamily="34" charset="0"/>
              </a:rPr>
              <a:t>: This can be accomplished using the method of shifting and adding.</a:t>
            </a:r>
          </a:p>
          <a:p>
            <a:pPr>
              <a:lnSpc>
                <a:spcPct val="134000"/>
              </a:lnSpc>
              <a:spcBef>
                <a:spcPct val="0"/>
              </a:spcBef>
              <a:spcAft>
                <a:spcPts val="1800"/>
              </a:spcAft>
            </a:pPr>
            <a:r>
              <a:rPr lang="en-US" altLang="zh-CN" dirty="0">
                <a:solidFill>
                  <a:srgbClr val="CC3300"/>
                </a:solidFill>
                <a:latin typeface="Arial" panose="020B0604020202020204" pitchFamily="34" charset="0"/>
                <a:cs typeface="Arial" panose="020B0604020202020204" pitchFamily="34" charset="0"/>
              </a:rPr>
              <a:t>Addition as Division</a:t>
            </a:r>
            <a:r>
              <a:rPr lang="en-US" altLang="zh-CN" dirty="0">
                <a:latin typeface="Arial" panose="020B0604020202020204" pitchFamily="34" charset="0"/>
                <a:cs typeface="Arial" panose="020B0604020202020204" pitchFamily="34" charset="0"/>
              </a:rPr>
              <a:t>: This is achieved using the method of shifting and subtracting. This approach enables all arithmetic operations to be performed using only an adder.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2"/>
          <p:cNvSpPr>
            <a:spLocks noGrp="1" noChangeArrowheads="1"/>
          </p:cNvSpPr>
          <p:nvPr>
            <p:ph type="title"/>
          </p:nvPr>
        </p:nvSpPr>
        <p:spPr>
          <a:xfrm>
            <a:off x="954996" y="394759"/>
            <a:ext cx="6823033" cy="504825"/>
          </a:xfrm>
        </p:spPr>
        <p:txBody>
          <a:bodyPr>
            <a:noAutofit/>
          </a:bodyPr>
          <a:lstStyle/>
          <a:p>
            <a:pPr eaLnBrk="1" hangingPunct="1"/>
            <a:r>
              <a:rPr lang="zh-CN" altLang="en-US" sz="3200" dirty="0">
                <a:latin typeface="Arial" panose="020B0604020202020204" pitchFamily="34" charset="0"/>
                <a:cs typeface="Arial" panose="020B0604020202020204" pitchFamily="34" charset="0"/>
              </a:rPr>
              <a:t> </a:t>
            </a:r>
            <a:r>
              <a:rPr lang="en-US" altLang="zh-CN" sz="3200" dirty="0">
                <a:latin typeface="Arial" panose="020B0604020202020204" pitchFamily="34" charset="0"/>
                <a:cs typeface="Arial" panose="020B0604020202020204" pitchFamily="34" charset="0"/>
              </a:rPr>
              <a:t>2.1.4  Encoding of Non-Numeric Data</a:t>
            </a:r>
            <a:endParaRPr lang="zh-CN" altLang="en-US" sz="3200" dirty="0">
              <a:latin typeface="Arial" panose="020B0604020202020204" pitchFamily="34" charset="0"/>
              <a:cs typeface="Arial" panose="020B0604020202020204" pitchFamily="34" charset="0"/>
            </a:endParaRPr>
          </a:p>
        </p:txBody>
      </p:sp>
      <p:sp>
        <p:nvSpPr>
          <p:cNvPr id="208899" name="Rectangle 3"/>
          <p:cNvSpPr>
            <a:spLocks noGrp="1" noChangeArrowheads="1"/>
          </p:cNvSpPr>
          <p:nvPr>
            <p:ph idx="1"/>
          </p:nvPr>
        </p:nvSpPr>
        <p:spPr>
          <a:xfrm>
            <a:off x="954996" y="1143661"/>
            <a:ext cx="8960646" cy="3583623"/>
          </a:xfrm>
        </p:spPr>
        <p:txBody>
          <a:bodyPr>
            <a:normAutofit/>
          </a:bodyPr>
          <a:lstStyle/>
          <a:p>
            <a:pPr marL="0" indent="0" eaLnBrk="1" hangingPunct="1">
              <a:lnSpc>
                <a:spcPct val="110000"/>
              </a:lnSpc>
              <a:spcBef>
                <a:spcPts val="0"/>
              </a:spcBef>
              <a:spcAft>
                <a:spcPts val="900"/>
              </a:spcAft>
              <a:buFontTx/>
              <a:buNone/>
              <a:defRPr/>
            </a:pPr>
            <a:r>
              <a:rPr lang="en-US" altLang="zh-CN" sz="1800" dirty="0">
                <a:latin typeface="Arial" panose="020B0604020202020204" pitchFamily="34" charset="0"/>
                <a:cs typeface="Arial" panose="020B0604020202020204" pitchFamily="34" charset="0"/>
              </a:rPr>
              <a:t>Computers can process not only numerical data but also </a:t>
            </a:r>
            <a:r>
              <a:rPr lang="en-US" altLang="zh-CN" dirty="0">
                <a:solidFill>
                  <a:srgbClr val="0000CC"/>
                </a:solidFill>
                <a:latin typeface="Arial" panose="020B0604020202020204" pitchFamily="34" charset="0"/>
                <a:cs typeface="Arial" panose="020B0604020202020204" pitchFamily="34" charset="0"/>
              </a:rPr>
              <a:t>text and other non-numerical data information</a:t>
            </a:r>
            <a:r>
              <a:rPr lang="en-US" altLang="zh-CN" sz="1800" dirty="0">
                <a:latin typeface="Arial" panose="020B0604020202020204" pitchFamily="34" charset="0"/>
                <a:cs typeface="Arial" panose="020B0604020202020204" pitchFamily="34" charset="0"/>
              </a:rPr>
              <a:t>.</a:t>
            </a:r>
          </a:p>
          <a:p>
            <a:pPr marL="0" indent="0" eaLnBrk="1" hangingPunct="1">
              <a:lnSpc>
                <a:spcPct val="110000"/>
              </a:lnSpc>
              <a:spcBef>
                <a:spcPts val="0"/>
              </a:spcBef>
              <a:spcAft>
                <a:spcPts val="900"/>
              </a:spcAft>
              <a:buFontTx/>
              <a:buNone/>
              <a:defRPr/>
            </a:pPr>
            <a:r>
              <a:rPr lang="en-US" altLang="zh-CN" dirty="0">
                <a:solidFill>
                  <a:srgbClr val="FF0000"/>
                </a:solidFill>
                <a:latin typeface="Arial" panose="020B0604020202020204" pitchFamily="34" charset="0"/>
                <a:cs typeface="Arial" panose="020B0604020202020204" pitchFamily="34" charset="0"/>
              </a:rPr>
              <a:t>Non-numeric data refers to information that cannot undergo arithmetic operations</a:t>
            </a:r>
            <a:r>
              <a:rPr lang="en-US" altLang="zh-CN" sz="1800" dirty="0">
                <a:latin typeface="Arial" panose="020B0604020202020204" pitchFamily="34" charset="0"/>
                <a:cs typeface="Arial" panose="020B0604020202020204" pitchFamily="34" charset="0"/>
              </a:rPr>
              <a:t>, such as </a:t>
            </a:r>
            <a:r>
              <a:rPr lang="en-US" altLang="zh-CN" dirty="0">
                <a:solidFill>
                  <a:srgbClr val="FF00FF"/>
                </a:solidFill>
                <a:latin typeface="Arial" panose="020B0604020202020204" pitchFamily="34" charset="0"/>
                <a:cs typeface="Arial" panose="020B0604020202020204" pitchFamily="34" charset="0"/>
              </a:rPr>
              <a:t>characters</a:t>
            </a:r>
            <a:r>
              <a:rPr lang="en-US" altLang="zh-CN" sz="1800" dirty="0">
                <a:latin typeface="Arial" panose="020B0604020202020204" pitchFamily="34" charset="0"/>
                <a:cs typeface="Arial" panose="020B0604020202020204" pitchFamily="34" charset="0"/>
              </a:rPr>
              <a:t>, strings, graphic symbols, </a:t>
            </a:r>
            <a:r>
              <a:rPr lang="en-US" altLang="zh-CN" dirty="0">
                <a:solidFill>
                  <a:srgbClr val="FF00FF"/>
                </a:solidFill>
                <a:latin typeface="Arial" panose="020B0604020202020204" pitchFamily="34" charset="0"/>
                <a:cs typeface="Arial" panose="020B0604020202020204" pitchFamily="34" charset="0"/>
              </a:rPr>
              <a:t>Chinese characters</a:t>
            </a:r>
            <a:r>
              <a:rPr lang="en-US" altLang="zh-CN" sz="1800" dirty="0">
                <a:latin typeface="Arial" panose="020B0604020202020204" pitchFamily="34" charset="0"/>
                <a:cs typeface="Arial" panose="020B0604020202020204" pitchFamily="34" charset="0"/>
              </a:rPr>
              <a:t>, speech, images, and other forms of data.</a:t>
            </a:r>
          </a:p>
          <a:p>
            <a:pPr marL="0" indent="0" eaLnBrk="1" hangingPunct="1">
              <a:lnSpc>
                <a:spcPct val="110000"/>
              </a:lnSpc>
              <a:spcBef>
                <a:spcPts val="0"/>
              </a:spcBef>
              <a:spcAft>
                <a:spcPts val="900"/>
              </a:spcAft>
              <a:buFontTx/>
              <a:buNone/>
              <a:defRPr/>
            </a:pPr>
            <a:r>
              <a:rPr lang="en-US" altLang="zh-CN" sz="1800" dirty="0">
                <a:latin typeface="Arial" panose="020B0604020202020204" pitchFamily="34" charset="0"/>
                <a:cs typeface="Arial" panose="020B0604020202020204" pitchFamily="34" charset="0"/>
              </a:rPr>
              <a:t>When transmitting this information, </a:t>
            </a:r>
            <a:r>
              <a:rPr lang="en-US" altLang="zh-CN" dirty="0">
                <a:solidFill>
                  <a:srgbClr val="FF0000"/>
                </a:solidFill>
                <a:latin typeface="Arial" panose="020B0604020202020204" pitchFamily="34" charset="0"/>
                <a:cs typeface="Arial" panose="020B0604020202020204" pitchFamily="34" charset="0"/>
              </a:rPr>
              <a:t>the original values are not directly transmitted or processed</a:t>
            </a:r>
            <a:r>
              <a:rPr lang="en-US" altLang="zh-CN" sz="1800" dirty="0">
                <a:latin typeface="Arial" panose="020B0604020202020204" pitchFamily="34" charset="0"/>
                <a:cs typeface="Arial" panose="020B0604020202020204" pitchFamily="34" charset="0"/>
              </a:rPr>
              <a:t>. Instead, they </a:t>
            </a:r>
            <a:r>
              <a:rPr lang="en-US" altLang="zh-CN" dirty="0">
                <a:solidFill>
                  <a:srgbClr val="FF0000"/>
                </a:solidFill>
                <a:latin typeface="Arial" panose="020B0604020202020204" pitchFamily="34" charset="0"/>
                <a:cs typeface="Arial" panose="020B0604020202020204" pitchFamily="34" charset="0"/>
              </a:rPr>
              <a:t>undergo specific processing according to certain rules</a:t>
            </a:r>
            <a:r>
              <a:rPr lang="en-US" altLang="zh-CN" sz="1800" dirty="0">
                <a:latin typeface="Arial" panose="020B0604020202020204" pitchFamily="34" charset="0"/>
                <a:cs typeface="Arial" panose="020B0604020202020204" pitchFamily="34" charset="0"/>
              </a:rPr>
              <a:t> to </a:t>
            </a:r>
            <a:r>
              <a:rPr lang="en-US" altLang="zh-CN" dirty="0">
                <a:solidFill>
                  <a:srgbClr val="FF0000"/>
                </a:solidFill>
                <a:latin typeface="Arial" panose="020B0604020202020204" pitchFamily="34" charset="0"/>
                <a:cs typeface="Arial" panose="020B0604020202020204" pitchFamily="34" charset="0"/>
              </a:rPr>
              <a:t>adopt a universal transmission format</a:t>
            </a:r>
            <a:r>
              <a:rPr lang="en-US" altLang="zh-CN" sz="1800" dirty="0">
                <a:latin typeface="Arial" panose="020B0604020202020204" pitchFamily="34" charset="0"/>
                <a:cs typeface="Arial" panose="020B0604020202020204" pitchFamily="34" charset="0"/>
              </a:rPr>
              <a:t>. The resulting processed information is termed </a:t>
            </a:r>
            <a:r>
              <a:rPr lang="en-US" altLang="zh-CN" dirty="0">
                <a:solidFill>
                  <a:srgbClr val="FF0000"/>
                </a:solidFill>
                <a:latin typeface="Arial" panose="020B0604020202020204" pitchFamily="34" charset="0"/>
                <a:cs typeface="Arial" panose="020B0604020202020204" pitchFamily="34" charset="0"/>
              </a:rPr>
              <a:t>encode</a:t>
            </a:r>
            <a:r>
              <a:rPr lang="en-US" altLang="zh-CN" sz="1800" dirty="0">
                <a:latin typeface="Arial" panose="020B0604020202020204" pitchFamily="34" charset="0"/>
                <a:cs typeface="Arial" panose="020B0604020202020204" pitchFamily="34" charset="0"/>
              </a:rPr>
              <a:t>.</a:t>
            </a:r>
          </a:p>
        </p:txBody>
      </p:sp>
      <p:pic>
        <p:nvPicPr>
          <p:cNvPr id="83976" name="Picture 6" descr="http://images.cnblogs.com/cnblogs_com/pscj/fontDOS_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593" y="4509696"/>
            <a:ext cx="2276475" cy="167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a:spLocks noChangeArrowheads="1"/>
          </p:cNvSpPr>
          <p:nvPr/>
        </p:nvSpPr>
        <p:spPr bwMode="auto">
          <a:xfrm>
            <a:off x="5751402" y="4510986"/>
            <a:ext cx="2912906"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solidFill>
                  <a:srgbClr val="3333FF"/>
                </a:solidFill>
                <a:cs typeface="Times New Roman" panose="02020603050405020304" pitchFamily="18" charset="0"/>
              </a:rPr>
              <a:t>(A’s </a:t>
            </a:r>
            <a:r>
              <a:rPr lang="en-US" altLang="zh-CN" sz="2400" dirty="0">
                <a:solidFill>
                  <a:srgbClr val="FF0000"/>
                </a:solidFill>
                <a:cs typeface="Times New Roman" panose="02020603050405020304" pitchFamily="18" charset="0"/>
                <a:hlinkClick r:id="rId3" action="ppaction://hlinksldjump"/>
              </a:rPr>
              <a:t>ASCII Code</a:t>
            </a:r>
            <a:r>
              <a:rPr lang="zh-CN" altLang="en-US" sz="2400" dirty="0">
                <a:solidFill>
                  <a:srgbClr val="FF0000"/>
                </a:solidFill>
                <a:cs typeface="Times New Roman" panose="02020603050405020304" pitchFamily="18" charset="0"/>
              </a:rPr>
              <a:t> </a:t>
            </a:r>
            <a:r>
              <a:rPr lang="en-US" altLang="zh-CN" sz="2400" dirty="0">
                <a:solidFill>
                  <a:srgbClr val="FF0000"/>
                </a:solidFill>
                <a:cs typeface="Times New Roman" panose="02020603050405020304" pitchFamily="18" charset="0"/>
              </a:rPr>
              <a:t>41h</a:t>
            </a:r>
            <a:r>
              <a:rPr lang="en-US" altLang="zh-CN" sz="2400" dirty="0">
                <a:solidFill>
                  <a:srgbClr val="3333FF"/>
                </a:solidFill>
                <a:cs typeface="Times New Roman" panose="02020603050405020304" pitchFamily="18" charset="0"/>
              </a:rPr>
              <a:t>)</a:t>
            </a:r>
            <a:endParaRPr lang="zh-CN" altLang="en-US" sz="2400" dirty="0"/>
          </a:p>
        </p:txBody>
      </p:sp>
      <p:sp>
        <p:nvSpPr>
          <p:cNvPr id="10" name="矩形 9"/>
          <p:cNvSpPr>
            <a:spLocks noChangeArrowheads="1"/>
          </p:cNvSpPr>
          <p:nvPr/>
        </p:nvSpPr>
        <p:spPr bwMode="auto">
          <a:xfrm>
            <a:off x="4919210" y="5193034"/>
            <a:ext cx="5545448" cy="87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000" dirty="0">
                <a:solidFill>
                  <a:srgbClr val="3333FF"/>
                </a:solidFill>
                <a:cs typeface="Times New Roman" panose="02020603050405020304" pitchFamily="18" charset="0"/>
              </a:rPr>
              <a:t>A's bitmap font</a:t>
            </a:r>
          </a:p>
          <a:p>
            <a:pPr eaLnBrk="1" hangingPunct="1">
              <a:lnSpc>
                <a:spcPct val="85000"/>
              </a:lnSpc>
            </a:pPr>
            <a:r>
              <a:rPr lang="en-US" altLang="zh-CN" sz="2000" dirty="0">
                <a:solidFill>
                  <a:srgbClr val="3333FF"/>
                </a:solidFill>
                <a:cs typeface="Times New Roman" panose="02020603050405020304" pitchFamily="18" charset="0"/>
              </a:rPr>
              <a:t>Calls bitmap or vector fonts for display or printing</a:t>
            </a:r>
          </a:p>
          <a:p>
            <a:pPr eaLnBrk="1" hangingPunct="1">
              <a:lnSpc>
                <a:spcPct val="85000"/>
              </a:lnSpc>
            </a:pPr>
            <a:r>
              <a:rPr lang="en-US" altLang="zh-CN" sz="2000" dirty="0">
                <a:solidFill>
                  <a:srgbClr val="3333FF"/>
                </a:solidFill>
                <a:cs typeface="Times New Roman" panose="02020603050405020304" pitchFamily="18" charset="0"/>
              </a:rPr>
              <a:t>Display or print using bitmap or vector fonts</a:t>
            </a:r>
            <a:endParaRPr lang="zh-CN" alt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2"/>
          <p:cNvSpPr>
            <a:spLocks noGrp="1" noChangeArrowheads="1"/>
          </p:cNvSpPr>
          <p:nvPr>
            <p:ph type="title"/>
          </p:nvPr>
        </p:nvSpPr>
        <p:spPr>
          <a:xfrm>
            <a:off x="1173086" y="312738"/>
            <a:ext cx="5574678" cy="706685"/>
          </a:xfrm>
        </p:spPr>
        <p:txBody>
          <a:bodyPr>
            <a:normAutofit fontScale="90000"/>
          </a:bodyPr>
          <a:lstStyle/>
          <a:p>
            <a:pPr eaLnBrk="1" hangingPunct="1"/>
            <a:r>
              <a:rPr lang="en-US" altLang="zh-CN" dirty="0">
                <a:solidFill>
                  <a:srgbClr val="FF0000"/>
                </a:solidFill>
                <a:latin typeface="Arial" panose="020B0604020202020204" pitchFamily="34" charset="0"/>
                <a:cs typeface="Arial" panose="020B0604020202020204" pitchFamily="34" charset="0"/>
              </a:rPr>
              <a:t>1</a:t>
            </a: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ASCII encoding</a:t>
            </a:r>
            <a:endParaRPr lang="zh-CN" altLang="en-US" dirty="0">
              <a:latin typeface="Arial" panose="020B0604020202020204" pitchFamily="34" charset="0"/>
              <a:cs typeface="Arial" panose="020B0604020202020204" pitchFamily="34" charset="0"/>
            </a:endParaRPr>
          </a:p>
        </p:txBody>
      </p:sp>
      <p:sp>
        <p:nvSpPr>
          <p:cNvPr id="371715" name="Rectangle 3"/>
          <p:cNvSpPr>
            <a:spLocks noGrp="1" noChangeArrowheads="1"/>
          </p:cNvSpPr>
          <p:nvPr>
            <p:ph idx="1"/>
          </p:nvPr>
        </p:nvSpPr>
        <p:spPr>
          <a:xfrm>
            <a:off x="508000" y="1307465"/>
            <a:ext cx="11270615" cy="4783649"/>
          </a:xfrm>
        </p:spPr>
        <p:txBody>
          <a:bodyPr>
            <a:normAutofit/>
          </a:bodyPr>
          <a:lstStyle/>
          <a:p>
            <a:pPr marL="268605" indent="-268605" eaLnBrk="1" hangingPunct="1">
              <a:lnSpc>
                <a:spcPct val="110000"/>
              </a:lnSpc>
              <a:spcBef>
                <a:spcPct val="0"/>
              </a:spcBef>
            </a:pPr>
            <a:r>
              <a:rPr lang="en-US" altLang="zh-CN" dirty="0">
                <a:latin typeface="Arial" panose="020B0604020202020204" pitchFamily="34" charset="0"/>
                <a:cs typeface="Arial" panose="020B0604020202020204" pitchFamily="34" charset="0"/>
              </a:rPr>
              <a:t>When processing text files, </a:t>
            </a:r>
            <a:r>
              <a:rPr lang="en-US" altLang="zh-CN" dirty="0">
                <a:solidFill>
                  <a:srgbClr val="3333FF"/>
                </a:solidFill>
                <a:latin typeface="Arial" panose="020B0604020202020204" pitchFamily="34" charset="0"/>
                <a:cs typeface="Arial" panose="020B0604020202020204" pitchFamily="34" charset="0"/>
              </a:rPr>
              <a:t>each character is composed of its corresponding standard character matrix (e.g., the matrix for the character A). </a:t>
            </a:r>
            <a:r>
              <a:rPr lang="en-US" altLang="zh-CN" dirty="0">
                <a:latin typeface="Arial" panose="020B0604020202020204" pitchFamily="34" charset="0"/>
                <a:cs typeface="Arial" panose="020B0604020202020204" pitchFamily="34" charset="0"/>
              </a:rPr>
              <a:t>The text file itself does not contain these matrices but </a:t>
            </a:r>
            <a:r>
              <a:rPr lang="en-US" altLang="zh-CN" dirty="0">
                <a:solidFill>
                  <a:srgbClr val="3333FF"/>
                </a:solidFill>
                <a:latin typeface="Arial" panose="020B0604020202020204" pitchFamily="34" charset="0"/>
                <a:cs typeface="Arial" panose="020B0604020202020204" pitchFamily="34" charset="0"/>
              </a:rPr>
              <a:t>uses their encoding </a:t>
            </a:r>
            <a:r>
              <a:rPr lang="en-US" altLang="zh-CN" dirty="0">
                <a:latin typeface="Arial" panose="020B0604020202020204" pitchFamily="34" charset="0"/>
                <a:cs typeface="Arial" panose="020B0604020202020204" pitchFamily="34" charset="0"/>
              </a:rPr>
              <a:t>(</a:t>
            </a:r>
            <a:r>
              <a:rPr lang="en-US" altLang="zh-CN" sz="2000" dirty="0">
                <a:solidFill>
                  <a:srgbClr val="3333FF"/>
                </a:solidFill>
                <a:latin typeface="Arial" panose="020B0604020202020204" pitchFamily="34" charset="0"/>
                <a:cs typeface="Arial" panose="020B0604020202020204" pitchFamily="34" charset="0"/>
              </a:rPr>
              <a:t>A’s </a:t>
            </a:r>
            <a:r>
              <a:rPr lang="en-US" altLang="zh-CN" sz="2000" dirty="0">
                <a:solidFill>
                  <a:srgbClr val="FF0000"/>
                </a:solidFill>
                <a:latin typeface="Arial" panose="020B0604020202020204" pitchFamily="34" charset="0"/>
                <a:cs typeface="Arial" panose="020B0604020202020204" pitchFamily="34" charset="0"/>
                <a:hlinkClick r:id="rId2" action="ppaction://hlinksldjump"/>
              </a:rPr>
              <a:t>ASCII Code</a:t>
            </a:r>
            <a:r>
              <a:rPr lang="zh-CN" altLang="en-US" sz="2000" dirty="0">
                <a:solidFill>
                  <a:srgbClr val="FF0000"/>
                </a:solidFill>
                <a:latin typeface="Arial" panose="020B0604020202020204" pitchFamily="34" charset="0"/>
                <a:cs typeface="Arial" panose="020B0604020202020204" pitchFamily="34" charset="0"/>
              </a:rPr>
              <a:t> </a:t>
            </a:r>
            <a:r>
              <a:rPr lang="en-US" altLang="zh-CN" sz="2000" dirty="0">
                <a:solidFill>
                  <a:srgbClr val="FF0000"/>
                </a:solidFill>
                <a:latin typeface="Arial" panose="020B0604020202020204" pitchFamily="34" charset="0"/>
                <a:cs typeface="Arial" panose="020B0604020202020204" pitchFamily="34" charset="0"/>
              </a:rPr>
              <a:t>41h</a:t>
            </a:r>
            <a:r>
              <a:rPr lang="en-US" altLang="zh-CN" dirty="0">
                <a:latin typeface="Arial" panose="020B0604020202020204" pitchFamily="34" charset="0"/>
                <a:cs typeface="Arial" panose="020B0604020202020204" pitchFamily="34" charset="0"/>
              </a:rPr>
              <a:t>) to </a:t>
            </a:r>
            <a:r>
              <a:rPr lang="en-US" altLang="zh-CN" dirty="0">
                <a:solidFill>
                  <a:srgbClr val="3333FF"/>
                </a:solidFill>
                <a:latin typeface="Arial" panose="020B0604020202020204" pitchFamily="34" charset="0"/>
                <a:cs typeface="Arial" panose="020B0604020202020204" pitchFamily="34" charset="0"/>
              </a:rPr>
              <a:t>represent each character</a:t>
            </a:r>
            <a:r>
              <a:rPr lang="en-US" altLang="zh-CN" dirty="0">
                <a:latin typeface="Arial" panose="020B0604020202020204" pitchFamily="34" charset="0"/>
                <a:cs typeface="Arial" panose="020B0604020202020204" pitchFamily="34" charset="0"/>
              </a:rPr>
              <a:t>.</a:t>
            </a:r>
          </a:p>
          <a:p>
            <a:pPr marL="268605" indent="-268605" eaLnBrk="1" hangingPunct="1">
              <a:lnSpc>
                <a:spcPct val="110000"/>
              </a:lnSpc>
              <a:spcBef>
                <a:spcPct val="0"/>
              </a:spcBef>
            </a:pPr>
            <a:r>
              <a:rPr lang="en-US" altLang="zh-CN" dirty="0">
                <a:latin typeface="Arial" panose="020B0604020202020204" pitchFamily="34" charset="0"/>
                <a:cs typeface="Arial" panose="020B0604020202020204" pitchFamily="34" charset="0"/>
              </a:rPr>
              <a:t>For example, when editing Chinese text using </a:t>
            </a:r>
            <a:r>
              <a:rPr lang="en-US" altLang="zh-CN" dirty="0">
                <a:solidFill>
                  <a:srgbClr val="3333FF"/>
                </a:solidFill>
                <a:latin typeface="Arial" panose="020B0604020202020204" pitchFamily="34" charset="0"/>
                <a:cs typeface="Arial" panose="020B0604020202020204" pitchFamily="34" charset="0"/>
              </a:rPr>
              <a:t>zone-based encoding</a:t>
            </a:r>
            <a:r>
              <a:rPr lang="en-US" altLang="zh-CN" dirty="0">
                <a:latin typeface="Arial" panose="020B0604020202020204" pitchFamily="34" charset="0"/>
                <a:cs typeface="Arial" panose="020B0604020202020204" pitchFamily="34" charset="0"/>
              </a:rPr>
              <a:t>, a </a:t>
            </a:r>
            <a:r>
              <a:rPr lang="en-US" altLang="zh-CN" dirty="0">
                <a:solidFill>
                  <a:srgbClr val="FF00FF"/>
                </a:solidFill>
                <a:latin typeface="Arial" panose="020B0604020202020204" pitchFamily="34" charset="0"/>
                <a:cs typeface="Arial" panose="020B0604020202020204" pitchFamily="34" charset="0"/>
              </a:rPr>
              <a:t>4-digit decimal zone code </a:t>
            </a:r>
            <a:r>
              <a:rPr lang="en-US" altLang="zh-CN" dirty="0">
                <a:latin typeface="Arial" panose="020B0604020202020204" pitchFamily="34" charset="0"/>
                <a:cs typeface="Arial" panose="020B0604020202020204" pitchFamily="34" charset="0"/>
              </a:rPr>
              <a:t>can </a:t>
            </a:r>
            <a:r>
              <a:rPr lang="en-US" altLang="zh-CN" dirty="0">
                <a:solidFill>
                  <a:srgbClr val="3333FF"/>
                </a:solidFill>
                <a:latin typeface="Arial" panose="020B0604020202020204" pitchFamily="34" charset="0"/>
                <a:cs typeface="Arial" panose="020B0604020202020204" pitchFamily="34" charset="0"/>
              </a:rPr>
              <a:t>represent ten thousand distinct characters</a:t>
            </a:r>
            <a:r>
              <a:rPr lang="en-US" altLang="zh-CN" dirty="0">
                <a:latin typeface="Arial" panose="020B0604020202020204" pitchFamily="34" charset="0"/>
                <a:cs typeface="Arial" panose="020B0604020202020204" pitchFamily="34" charset="0"/>
              </a:rPr>
              <a:t>.</a:t>
            </a:r>
          </a:p>
          <a:p>
            <a:pPr marL="268605" indent="-268605" eaLnBrk="1" hangingPunct="1">
              <a:lnSpc>
                <a:spcPct val="110000"/>
              </a:lnSpc>
              <a:spcBef>
                <a:spcPct val="0"/>
              </a:spcBef>
            </a:pPr>
            <a:endParaRPr lang="en-US" altLang="zh-CN" dirty="0">
              <a:latin typeface="Arial" panose="020B0604020202020204" pitchFamily="34" charset="0"/>
              <a:cs typeface="Arial" panose="020B0604020202020204" pitchFamily="34" charset="0"/>
            </a:endParaRPr>
          </a:p>
          <a:p>
            <a:pPr marL="268605" indent="-268605" eaLnBrk="1" hangingPunct="1">
              <a:lnSpc>
                <a:spcPct val="110000"/>
              </a:lnSpc>
              <a:spcBef>
                <a:spcPct val="0"/>
              </a:spcBef>
            </a:pPr>
            <a:r>
              <a:rPr lang="en-US" altLang="zh-CN" dirty="0">
                <a:latin typeface="Arial" panose="020B0604020202020204" pitchFamily="34" charset="0"/>
                <a:cs typeface="Arial" panose="020B0604020202020204" pitchFamily="34" charset="0"/>
              </a:rPr>
              <a:t>The internationally recognized </a:t>
            </a:r>
            <a:r>
              <a:rPr lang="en-US" altLang="zh-CN" dirty="0">
                <a:solidFill>
                  <a:srgbClr val="FF0000"/>
                </a:solidFill>
                <a:latin typeface="Arial" panose="020B0604020202020204" pitchFamily="34" charset="0"/>
                <a:cs typeface="Arial" panose="020B0604020202020204" pitchFamily="34" charset="0"/>
              </a:rPr>
              <a:t>standard character encoding is ASCII </a:t>
            </a:r>
            <a:r>
              <a:rPr lang="en-US" altLang="zh-CN" dirty="0">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A</a:t>
            </a:r>
            <a:r>
              <a:rPr lang="en-US" altLang="zh-CN" dirty="0">
                <a:latin typeface="Arial" panose="020B0604020202020204" pitchFamily="34" charset="0"/>
                <a:cs typeface="Arial" panose="020B0604020202020204" pitchFamily="34" charset="0"/>
              </a:rPr>
              <a:t>merican </a:t>
            </a:r>
            <a:r>
              <a:rPr lang="en-US" altLang="zh-CN" dirty="0">
                <a:solidFill>
                  <a:srgbClr val="FF0000"/>
                </a:solidFill>
                <a:latin typeface="Arial" panose="020B0604020202020204" pitchFamily="34" charset="0"/>
                <a:cs typeface="Arial" panose="020B0604020202020204" pitchFamily="34" charset="0"/>
              </a:rPr>
              <a:t>S</a:t>
            </a:r>
            <a:r>
              <a:rPr lang="en-US" altLang="zh-CN" dirty="0">
                <a:latin typeface="Arial" panose="020B0604020202020204" pitchFamily="34" charset="0"/>
                <a:cs typeface="Arial" panose="020B0604020202020204" pitchFamily="34" charset="0"/>
              </a:rPr>
              <a:t>tandard </a:t>
            </a:r>
            <a:r>
              <a:rPr lang="en-US" altLang="zh-CN" dirty="0">
                <a:solidFill>
                  <a:srgbClr val="FF0000"/>
                </a:solidFill>
                <a:latin typeface="Arial" panose="020B0604020202020204" pitchFamily="34" charset="0"/>
                <a:cs typeface="Arial" panose="020B0604020202020204" pitchFamily="34" charset="0"/>
              </a:rPr>
              <a:t>C</a:t>
            </a:r>
            <a:r>
              <a:rPr lang="en-US" altLang="zh-CN" dirty="0">
                <a:latin typeface="Arial" panose="020B0604020202020204" pitchFamily="34" charset="0"/>
                <a:cs typeface="Arial" panose="020B0604020202020204" pitchFamily="34" charset="0"/>
              </a:rPr>
              <a:t>ode for </a:t>
            </a:r>
            <a:r>
              <a:rPr lang="en-US" altLang="zh-CN" dirty="0">
                <a:solidFill>
                  <a:srgbClr val="FF0000"/>
                </a:solidFill>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nformation </a:t>
            </a:r>
            <a:r>
              <a:rPr lang="en-US" altLang="zh-CN" dirty="0">
                <a:solidFill>
                  <a:srgbClr val="FF0000"/>
                </a:solidFill>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nterchange).</a:t>
            </a:r>
          </a:p>
          <a:p>
            <a:pPr marL="268605" indent="-268605" eaLnBrk="1" hangingPunct="1">
              <a:lnSpc>
                <a:spcPct val="110000"/>
              </a:lnSpc>
              <a:spcBef>
                <a:spcPct val="0"/>
              </a:spcBef>
            </a:pPr>
            <a:r>
              <a:rPr lang="en-US" altLang="zh-CN" dirty="0">
                <a:latin typeface="Arial" panose="020B0604020202020204" pitchFamily="34" charset="0"/>
                <a:cs typeface="Arial" panose="020B0604020202020204" pitchFamily="34" charset="0"/>
              </a:rPr>
              <a:t>Appendix A provides the </a:t>
            </a:r>
            <a:r>
              <a:rPr lang="en-US" altLang="zh-CN" dirty="0">
                <a:solidFill>
                  <a:srgbClr val="FF0000"/>
                </a:solidFill>
                <a:latin typeface="Arial" panose="020B0604020202020204" pitchFamily="34" charset="0"/>
                <a:cs typeface="Arial" panose="020B0604020202020204" pitchFamily="34" charset="0"/>
                <a:hlinkClick r:id="rId2" action="ppaction://hlinksldjump"/>
              </a:rPr>
              <a:t>ASCII Code</a:t>
            </a:r>
            <a:r>
              <a:rPr lang="zh-CN" altLang="en-US" sz="2000" dirty="0">
                <a:solidFill>
                  <a:srgbClr val="FF0000"/>
                </a:solidFill>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table.</a:t>
            </a:r>
          </a:p>
        </p:txBody>
      </p:sp>
      <p:sp>
        <p:nvSpPr>
          <p:cNvPr id="84998" name="AutoShape 2" descr="http://img4.imgtn.bdimg.com/it/u=2360291229,2171867375&amp;fm=21&amp;gp=0.jpg"/>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999" name="AutoShape 4" descr="http://img4.imgtn.bdimg.com/it/u=2360291229,2171867375&amp;fm=21&amp;gp=0.jpg"/>
          <p:cNvSpPr>
            <a:spLocks noChangeAspect="1" noChangeArrowheads="1"/>
          </p:cNvSpPr>
          <p:nvPr/>
        </p:nvSpPr>
        <p:spPr bwMode="auto">
          <a:xfrm>
            <a:off x="1831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85000" name="Picture 6" descr="http://images.cnblogs.com/cnblogs_com/pscj/fontDOS_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0646" y="4352802"/>
            <a:ext cx="2365375" cy="173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a:spLocks noChangeArrowheads="1"/>
          </p:cNvSpPr>
          <p:nvPr/>
        </p:nvSpPr>
        <p:spPr bwMode="auto">
          <a:xfrm>
            <a:off x="7549833" y="4024189"/>
            <a:ext cx="2665413" cy="404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en-US" altLang="zh-CN" sz="2400" dirty="0">
                <a:solidFill>
                  <a:srgbClr val="3333FF"/>
                </a:solidFill>
                <a:cs typeface="Times New Roman" panose="02020603050405020304" pitchFamily="18" charset="0"/>
              </a:rPr>
              <a:t>(A</a:t>
            </a:r>
            <a:r>
              <a:rPr lang="zh-CN" altLang="en-US" sz="2400" dirty="0">
                <a:solidFill>
                  <a:srgbClr val="3333FF"/>
                </a:solidFill>
                <a:cs typeface="Times New Roman" panose="02020603050405020304" pitchFamily="18" charset="0"/>
              </a:rPr>
              <a:t>的</a:t>
            </a:r>
            <a:r>
              <a:rPr lang="en-US" altLang="zh-CN" sz="2400" dirty="0">
                <a:solidFill>
                  <a:srgbClr val="FF0000"/>
                </a:solidFill>
                <a:cs typeface="Times New Roman" panose="02020603050405020304" pitchFamily="18" charset="0"/>
                <a:hlinkClick r:id="rId2" action="ppaction://hlinksldjump"/>
              </a:rPr>
              <a:t>ASCII</a:t>
            </a:r>
            <a:r>
              <a:rPr lang="zh-CN" altLang="en-US" sz="2400" dirty="0">
                <a:solidFill>
                  <a:srgbClr val="FF0000"/>
                </a:solidFill>
                <a:cs typeface="Times New Roman" panose="02020603050405020304" pitchFamily="18" charset="0"/>
                <a:hlinkClick r:id="rId2" action="ppaction://hlinksldjump"/>
              </a:rPr>
              <a:t>码</a:t>
            </a:r>
            <a:r>
              <a:rPr lang="en-US" altLang="zh-CN" sz="2400" dirty="0">
                <a:solidFill>
                  <a:srgbClr val="FF0000"/>
                </a:solidFill>
                <a:cs typeface="Times New Roman" panose="02020603050405020304" pitchFamily="18" charset="0"/>
              </a:rPr>
              <a:t>41h</a:t>
            </a:r>
            <a:r>
              <a:rPr lang="en-US" altLang="zh-CN" sz="2400" dirty="0">
                <a:solidFill>
                  <a:srgbClr val="3333FF"/>
                </a:solidFill>
                <a:cs typeface="Times New Roman" panose="02020603050405020304" pitchFamily="18" charset="0"/>
              </a:rPr>
              <a:t>)</a:t>
            </a:r>
            <a:endParaRPr lang="zh-CN" alt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gss1.bdstatic.com/9vo3dSag_xI4khGkpoWK1HF6hhy/baike/c0%3Dbaike150%2C5%2C5%2C150%2C50/sign=c05506e79482d158af8f51e3e16372bd/c2fdfc039245d688c56332adacc27d1ed21b2451.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b="4360"/>
          <a:stretch>
            <a:fillRect/>
          </a:stretch>
        </p:blipFill>
        <p:spPr bwMode="auto">
          <a:xfrm>
            <a:off x="806607" y="1283381"/>
            <a:ext cx="6873512" cy="463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标题 2"/>
          <p:cNvSpPr>
            <a:spLocks noGrp="1" noChangeArrowheads="1"/>
          </p:cNvSpPr>
          <p:nvPr>
            <p:ph type="title"/>
          </p:nvPr>
        </p:nvSpPr>
        <p:spPr>
          <a:xfrm>
            <a:off x="689986" y="312738"/>
            <a:ext cx="8229600" cy="616071"/>
          </a:xfrm>
        </p:spPr>
        <p:txBody>
          <a:bodyPr>
            <a:normAutofit fontScale="90000"/>
          </a:bodyPr>
          <a:lstStyle/>
          <a:p>
            <a:pPr eaLnBrk="1" hangingPunct="1"/>
            <a:r>
              <a:rPr lang="en-US" altLang="zh-CN" dirty="0">
                <a:solidFill>
                  <a:schemeClr val="tx1"/>
                </a:solidFill>
                <a:latin typeface="Arial" panose="020B0604020202020204" pitchFamily="34" charset="0"/>
                <a:cs typeface="Arial" panose="020B0604020202020204" pitchFamily="34" charset="0"/>
              </a:rPr>
              <a:t>ASCII</a:t>
            </a:r>
            <a:r>
              <a:rPr lang="zh-CN" altLang="en-US" dirty="0">
                <a:solidFill>
                  <a:schemeClr val="tx1"/>
                </a:solidFill>
                <a:latin typeface="Arial" panose="020B0604020202020204" pitchFamily="34" charset="0"/>
                <a:cs typeface="Arial" panose="020B0604020202020204" pitchFamily="34" charset="0"/>
              </a:rPr>
              <a:t> </a:t>
            </a:r>
            <a:r>
              <a:rPr lang="en-US" altLang="zh-CN" dirty="0">
                <a:solidFill>
                  <a:schemeClr val="tx1"/>
                </a:solidFill>
                <a:latin typeface="Arial" panose="020B0604020202020204" pitchFamily="34" charset="0"/>
                <a:cs typeface="Arial" panose="020B0604020202020204" pitchFamily="34" charset="0"/>
              </a:rPr>
              <a:t>encoding</a:t>
            </a:r>
            <a:endParaRPr lang="zh-CN" altLang="en-US" dirty="0">
              <a:solidFill>
                <a:schemeClr val="tx1"/>
              </a:solidFill>
              <a:latin typeface="Arial" panose="020B0604020202020204" pitchFamily="34" charset="0"/>
              <a:cs typeface="Arial" panose="020B0604020202020204" pitchFamily="34" charset="0"/>
            </a:endParaRPr>
          </a:p>
        </p:txBody>
      </p:sp>
      <p:sp>
        <p:nvSpPr>
          <p:cNvPr id="4" name="灯片编号占位符 3"/>
          <p:cNvSpPr>
            <a:spLocks noGrp="1"/>
          </p:cNvSpPr>
          <p:nvPr>
            <p:ph type="sldNum" sz="quarter" idx="10"/>
          </p:nvPr>
        </p:nvSpPr>
        <p:spPr/>
        <p:txBody>
          <a:bodyPr/>
          <a:lstStyle/>
          <a:p>
            <a:pPr>
              <a:defRPr/>
            </a:pPr>
            <a:fld id="{A51721E4-6317-4B3A-9D30-3F2ADCD3556F}" type="slidenum">
              <a:rPr lang="en-US" altLang="zh-CN"/>
              <a:t>31</a:t>
            </a:fld>
            <a:endParaRPr lang="en-US" altLang="zh-CN"/>
          </a:p>
        </p:txBody>
      </p:sp>
      <p:sp>
        <p:nvSpPr>
          <p:cNvPr id="86023" name="AutoShape 2" descr="http://img4.imgtn.bdimg.com/it/u=2360291229,2171867375&amp;fm=21&amp;gp=0.jpg"/>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4" name="AutoShape 4" descr="http://img4.imgtn.bdimg.com/it/u=2360291229,2171867375&amp;fm=21&amp;gp=0.jpg"/>
          <p:cNvSpPr>
            <a:spLocks noChangeAspect="1" noChangeArrowheads="1"/>
          </p:cNvSpPr>
          <p:nvPr/>
        </p:nvSpPr>
        <p:spPr bwMode="auto">
          <a:xfrm>
            <a:off x="1831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6" name="矩形 6"/>
          <p:cNvSpPr>
            <a:spLocks noChangeArrowheads="1"/>
          </p:cNvSpPr>
          <p:nvPr/>
        </p:nvSpPr>
        <p:spPr bwMode="auto">
          <a:xfrm>
            <a:off x="7980638" y="2517486"/>
            <a:ext cx="29337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FF0000"/>
                </a:solidFill>
                <a:cs typeface="Times New Roman" panose="02020603050405020304" pitchFamily="18" charset="0"/>
              </a:rPr>
              <a:t>A’s</a:t>
            </a:r>
            <a:r>
              <a:rPr lang="zh-CN" altLang="en-US" sz="2000" dirty="0">
                <a:solidFill>
                  <a:srgbClr val="FF0000"/>
                </a:solidFill>
                <a:cs typeface="Times New Roman" panose="02020603050405020304" pitchFamily="18" charset="0"/>
              </a:rPr>
              <a:t> </a:t>
            </a:r>
            <a:r>
              <a:rPr lang="en-US" altLang="zh-CN" sz="2000" dirty="0">
                <a:solidFill>
                  <a:srgbClr val="FF0000"/>
                </a:solidFill>
                <a:cs typeface="Times New Roman" panose="02020603050405020304" pitchFamily="18" charset="0"/>
              </a:rPr>
              <a:t>ASCII</a:t>
            </a:r>
            <a:r>
              <a:rPr lang="zh-CN" altLang="en-US" sz="2000" dirty="0">
                <a:solidFill>
                  <a:srgbClr val="FF0000"/>
                </a:solidFill>
                <a:cs typeface="Times New Roman" panose="02020603050405020304" pitchFamily="18" charset="0"/>
              </a:rPr>
              <a:t> </a:t>
            </a:r>
            <a:r>
              <a:rPr lang="en-US" altLang="zh-CN" sz="2000" dirty="0">
                <a:solidFill>
                  <a:srgbClr val="FF0000"/>
                </a:solidFill>
                <a:cs typeface="Times New Roman" panose="02020603050405020304" pitchFamily="18" charset="0"/>
              </a:rPr>
              <a:t>Code</a:t>
            </a:r>
            <a:r>
              <a:rPr lang="zh-CN" altLang="en-US" sz="2000" dirty="0">
                <a:solidFill>
                  <a:srgbClr val="FF0000"/>
                </a:solidFill>
                <a:cs typeface="Times New Roman" panose="02020603050405020304" pitchFamily="18" charset="0"/>
              </a:rPr>
              <a:t> </a:t>
            </a:r>
            <a:r>
              <a:rPr lang="en-US" altLang="zh-CN" sz="2000" dirty="0">
                <a:solidFill>
                  <a:srgbClr val="FF0000"/>
                </a:solidFill>
                <a:cs typeface="Times New Roman" panose="02020603050405020304" pitchFamily="18" charset="0"/>
              </a:rPr>
              <a:t>41h, or</a:t>
            </a:r>
            <a:r>
              <a:rPr lang="zh-CN" altLang="en-US" sz="2000" dirty="0">
                <a:solidFill>
                  <a:srgbClr val="FF0000"/>
                </a:solidFill>
                <a:cs typeface="Times New Roman" panose="02020603050405020304" pitchFamily="18" charset="0"/>
              </a:rPr>
              <a:t> </a:t>
            </a:r>
            <a:r>
              <a:rPr lang="en-US" altLang="zh-CN" sz="2000" dirty="0">
                <a:solidFill>
                  <a:srgbClr val="FF0000"/>
                </a:solidFill>
                <a:cs typeface="Times New Roman" panose="02020603050405020304" pitchFamily="18" charset="0"/>
              </a:rPr>
              <a:t>65</a:t>
            </a:r>
            <a:endParaRPr lang="zh-CN" altLang="en-US" sz="2000" dirty="0">
              <a:solidFill>
                <a:srgbClr val="FF0000"/>
              </a:solidFill>
            </a:endParaRPr>
          </a:p>
        </p:txBody>
      </p:sp>
      <p:sp>
        <p:nvSpPr>
          <p:cNvPr id="3" name="矩形 2"/>
          <p:cNvSpPr/>
          <p:nvPr/>
        </p:nvSpPr>
        <p:spPr>
          <a:xfrm>
            <a:off x="5452225" y="2718146"/>
            <a:ext cx="440690" cy="198120"/>
          </a:xfrm>
          <a:prstGeom prst="rect">
            <a:avLst/>
          </a:prstGeom>
          <a:noFill/>
          <a:ln w="38100">
            <a:solidFill>
              <a:srgbClr val="FF0000"/>
            </a:solid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descr="https://gss1.bdstatic.com/9vo3dSag_xI4khGkpoWK1HF6hhy/baike/c0%3Dbaike150%2C5%2C5%2C150%2C50/sign=c05506e79482d158af8f51e3e16372bd/c2fdfc039245d688c56332adacc27d1ed21b2451.jpg"/>
          <p:cNvPicPr>
            <a:picLocks noChangeAspect="1" noChangeArrowheads="1"/>
          </p:cNvPicPr>
          <p:nvPr/>
        </p:nvPicPr>
        <p:blipFill>
          <a:blip r:embed="rId2">
            <a:extLst>
              <a:ext uri="{28A0092B-C50C-407E-A947-70E740481C1C}">
                <a14:useLocalDpi xmlns:a14="http://schemas.microsoft.com/office/drawing/2010/main" val="0"/>
              </a:ext>
            </a:extLst>
          </a:blip>
          <a:srcRect r="-1026" b="4462"/>
          <a:stretch>
            <a:fillRect/>
          </a:stretch>
        </p:blipFill>
        <p:spPr bwMode="auto">
          <a:xfrm>
            <a:off x="444500" y="1382395"/>
            <a:ext cx="6623050" cy="4420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标题 2"/>
          <p:cNvSpPr>
            <a:spLocks noGrp="1" noChangeArrowheads="1"/>
          </p:cNvSpPr>
          <p:nvPr>
            <p:ph type="title"/>
          </p:nvPr>
        </p:nvSpPr>
        <p:spPr>
          <a:xfrm>
            <a:off x="1992313" y="357188"/>
            <a:ext cx="8229600" cy="504825"/>
          </a:xfrm>
        </p:spPr>
        <p:txBody>
          <a:bodyPr>
            <a:normAutofit fontScale="90000"/>
          </a:bodyPr>
          <a:lstStyle/>
          <a:p>
            <a:pPr eaLnBrk="1" hangingPunct="1"/>
            <a:r>
              <a:rPr lang="en-US" altLang="zh-CN">
                <a:solidFill>
                  <a:srgbClr val="FF0000"/>
                </a:solidFill>
                <a:latin typeface="宋体" panose="02010600030101010101" pitchFamily="2" charset="-122"/>
              </a:rPr>
              <a:t>1</a:t>
            </a:r>
            <a:r>
              <a:rPr lang="zh-CN" altLang="en-US">
                <a:solidFill>
                  <a:srgbClr val="FF0000"/>
                </a:solidFill>
                <a:latin typeface="宋体" panose="02010600030101010101" pitchFamily="2" charset="-122"/>
              </a:rPr>
              <a:t>、</a:t>
            </a:r>
            <a:r>
              <a:rPr lang="en-US" altLang="zh-CN">
                <a:solidFill>
                  <a:srgbClr val="FF0000"/>
                </a:solidFill>
                <a:latin typeface="宋体" panose="02010600030101010101" pitchFamily="2" charset="-122"/>
              </a:rPr>
              <a:t>ASCII</a:t>
            </a:r>
            <a:r>
              <a:rPr lang="zh-CN" altLang="en-US">
                <a:solidFill>
                  <a:srgbClr val="FF0000"/>
                </a:solidFill>
                <a:latin typeface="宋体" panose="02010600030101010101" pitchFamily="2" charset="-122"/>
              </a:rPr>
              <a:t>编码</a:t>
            </a:r>
            <a:endParaRPr lang="zh-CN" altLang="en-US"/>
          </a:p>
        </p:txBody>
      </p:sp>
      <p:sp>
        <p:nvSpPr>
          <p:cNvPr id="4" name="灯片编号占位符 3"/>
          <p:cNvSpPr>
            <a:spLocks noGrp="1"/>
          </p:cNvSpPr>
          <p:nvPr>
            <p:ph type="sldNum" sz="quarter" idx="10"/>
          </p:nvPr>
        </p:nvSpPr>
        <p:spPr>
          <a:xfrm>
            <a:off x="11326496" y="6445181"/>
            <a:ext cx="2472271" cy="365125"/>
          </a:xfrm>
        </p:spPr>
        <p:txBody>
          <a:bodyPr/>
          <a:lstStyle/>
          <a:p>
            <a:pPr>
              <a:defRPr/>
            </a:pPr>
            <a:fld id="{E81E83CA-2A8B-4214-8B18-E3382108C464}" type="slidenum">
              <a:rPr lang="en-US" altLang="zh-CN"/>
              <a:t>32</a:t>
            </a:fld>
            <a:endParaRPr lang="en-US" altLang="zh-CN"/>
          </a:p>
        </p:txBody>
      </p:sp>
      <p:sp>
        <p:nvSpPr>
          <p:cNvPr id="87046" name="AutoShape 2" descr="http://img4.imgtn.bdimg.com/it/u=2360291229,2171867375&amp;fm=21&amp;gp=0.jpg"/>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7" name="AutoShape 4" descr="http://img4.imgtn.bdimg.com/it/u=2360291229,2171867375&amp;fm=21&amp;gp=0.jpg"/>
          <p:cNvSpPr>
            <a:spLocks noChangeAspect="1" noChangeArrowheads="1"/>
          </p:cNvSpPr>
          <p:nvPr/>
        </p:nvSpPr>
        <p:spPr bwMode="auto">
          <a:xfrm>
            <a:off x="1831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8" name="矩形 8">
            <a:hlinkClick r:id="rId3" action="ppaction://hlinksldjump"/>
          </p:cNvPr>
          <p:cNvSpPr>
            <a:spLocks noChangeArrowheads="1"/>
          </p:cNvSpPr>
          <p:nvPr/>
        </p:nvSpPr>
        <p:spPr bwMode="auto">
          <a:xfrm>
            <a:off x="1847850" y="257175"/>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87050" name="内容占位符 10" descr="一些文字和图案&#10;&#10;描述已自动生成"/>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6997700" y="1382395"/>
            <a:ext cx="4534535" cy="462788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2"/>
          <p:cNvSpPr>
            <a:spLocks noGrp="1" noChangeArrowheads="1"/>
          </p:cNvSpPr>
          <p:nvPr>
            <p:ph type="title"/>
          </p:nvPr>
        </p:nvSpPr>
        <p:spPr>
          <a:xfrm>
            <a:off x="1154546" y="395698"/>
            <a:ext cx="5255812" cy="640199"/>
          </a:xfrm>
        </p:spPr>
        <p:txBody>
          <a:bodyPr>
            <a:normAutofit fontScale="90000"/>
          </a:bodyPr>
          <a:lstStyle/>
          <a:p>
            <a:pPr eaLnBrk="1" hangingPunct="1"/>
            <a:r>
              <a:rPr lang="en-US" altLang="zh-CN" dirty="0">
                <a:solidFill>
                  <a:srgbClr val="FF0000"/>
                </a:solidFill>
                <a:latin typeface="Arial" panose="020B0604020202020204" pitchFamily="34" charset="0"/>
                <a:cs typeface="Arial" panose="020B0604020202020204" pitchFamily="34" charset="0"/>
              </a:rPr>
              <a:t>ASCII</a:t>
            </a:r>
            <a:r>
              <a:rPr lang="zh-CN" altLang="en-US" dirty="0">
                <a:solidFill>
                  <a:srgbClr val="FF0000"/>
                </a:solidFill>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encoding</a:t>
            </a:r>
            <a:endParaRPr lang="zh-CN" altLang="en-US" dirty="0">
              <a:latin typeface="Arial" panose="020B0604020202020204" pitchFamily="34" charset="0"/>
              <a:cs typeface="Arial" panose="020B0604020202020204" pitchFamily="34" charset="0"/>
            </a:endParaRPr>
          </a:p>
        </p:txBody>
      </p:sp>
      <p:sp>
        <p:nvSpPr>
          <p:cNvPr id="372739" name="Rectangle 3"/>
          <p:cNvSpPr>
            <a:spLocks noGrp="1" noChangeArrowheads="1"/>
          </p:cNvSpPr>
          <p:nvPr>
            <p:ph idx="1"/>
          </p:nvPr>
        </p:nvSpPr>
        <p:spPr>
          <a:xfrm>
            <a:off x="1053465" y="1255395"/>
            <a:ext cx="11929110" cy="2173605"/>
          </a:xfrm>
        </p:spPr>
        <p:txBody>
          <a:bodyPr>
            <a:noAutofit/>
          </a:bodyPr>
          <a:lstStyle/>
          <a:p>
            <a:pPr eaLnBrk="1" hangingPunct="1">
              <a:lnSpc>
                <a:spcPct val="120000"/>
              </a:lnSpc>
              <a:spcBef>
                <a:spcPts val="0"/>
              </a:spcBef>
              <a:spcAft>
                <a:spcPts val="200"/>
              </a:spcAft>
              <a:defRPr/>
            </a:pPr>
            <a:r>
              <a:rPr lang="en-US" altLang="zh-CN" dirty="0">
                <a:cs typeface="+mn-lt"/>
                <a:sym typeface="+mn-ea"/>
              </a:rPr>
              <a:t>ASCII defines a total of 256 codes (from 0 to 255).</a:t>
            </a:r>
            <a:endParaRPr lang="zh-CN" altLang="en-US" dirty="0">
              <a:cs typeface="+mn-lt"/>
            </a:endParaRPr>
          </a:p>
          <a:p>
            <a:pPr marL="174625" lvl="1" indent="-174625" eaLnBrk="1" hangingPunct="1">
              <a:lnSpc>
                <a:spcPct val="120000"/>
              </a:lnSpc>
              <a:spcBef>
                <a:spcPts val="0"/>
              </a:spcBef>
              <a:spcAft>
                <a:spcPts val="200"/>
              </a:spcAft>
              <a:defRPr/>
            </a:pPr>
            <a:r>
              <a:rPr lang="en-US" altLang="zh-CN" sz="2000" spc="-150" dirty="0">
                <a:cs typeface="+mn-lt"/>
                <a:sym typeface="+mn-ea"/>
              </a:rPr>
              <a:t>0 - </a:t>
            </a:r>
            <a:r>
              <a:rPr lang="en-US" altLang="zh-CN" sz="2000" spc="-150" dirty="0">
                <a:solidFill>
                  <a:srgbClr val="FF0000"/>
                </a:solidFill>
                <a:cs typeface="+mn-lt"/>
                <a:sym typeface="+mn-ea"/>
              </a:rPr>
              <a:t>31 and 127(del) (33 in total) </a:t>
            </a:r>
            <a:r>
              <a:rPr lang="en-US" altLang="zh-CN" sz="2000" spc="-150" dirty="0">
                <a:cs typeface="+mn-lt"/>
                <a:sym typeface="+mn-ea"/>
              </a:rPr>
              <a:t>are control characters (ASCII control characters).</a:t>
            </a:r>
            <a:endParaRPr lang="en-US" altLang="zh-CN" sz="2000" spc="-150" dirty="0">
              <a:cs typeface="+mn-lt"/>
            </a:endParaRPr>
          </a:p>
          <a:p>
            <a:pPr marL="174625" lvl="1" indent="-174625" eaLnBrk="1" hangingPunct="1">
              <a:lnSpc>
                <a:spcPct val="120000"/>
              </a:lnSpc>
              <a:spcBef>
                <a:spcPts val="0"/>
              </a:spcBef>
              <a:spcAft>
                <a:spcPts val="200"/>
              </a:spcAft>
              <a:defRPr/>
            </a:pPr>
            <a:r>
              <a:rPr lang="en-US" altLang="zh-CN" sz="2000" dirty="0">
                <a:solidFill>
                  <a:srgbClr val="FF0000"/>
                </a:solidFill>
                <a:cs typeface="+mn-lt"/>
                <a:sym typeface="+mn-ea"/>
              </a:rPr>
              <a:t>32 (space) - 126 </a:t>
            </a:r>
            <a:r>
              <a:rPr lang="en-US" altLang="zh-CN" sz="2000" spc="-150" dirty="0">
                <a:cs typeface="+mn-lt"/>
                <a:sym typeface="+mn-ea"/>
              </a:rPr>
              <a:t>are printable characters (ASCII printable characters).</a:t>
            </a:r>
            <a:endParaRPr lang="en-US" altLang="zh-CN" sz="2000" spc="-150" dirty="0">
              <a:cs typeface="+mn-lt"/>
            </a:endParaRPr>
          </a:p>
          <a:p>
            <a:pPr marL="174625" lvl="1" indent="-174625" eaLnBrk="1" hangingPunct="1">
              <a:lnSpc>
                <a:spcPct val="120000"/>
              </a:lnSpc>
              <a:spcBef>
                <a:spcPts val="0"/>
              </a:spcBef>
              <a:spcAft>
                <a:spcPts val="200"/>
              </a:spcAft>
              <a:defRPr/>
            </a:pPr>
            <a:r>
              <a:rPr lang="en-US" altLang="zh-CN" sz="2000" spc="-150" dirty="0">
                <a:cs typeface="+mn-lt"/>
                <a:sym typeface="+mn-ea"/>
              </a:rPr>
              <a:t>0 -127 constitutes the standard ASCII encoding.</a:t>
            </a:r>
            <a:endParaRPr lang="en-US" altLang="zh-CN" sz="2000" spc="-150" dirty="0">
              <a:cs typeface="+mn-lt"/>
            </a:endParaRPr>
          </a:p>
          <a:p>
            <a:pPr marL="174625" lvl="1" indent="-174625" eaLnBrk="1" hangingPunct="1">
              <a:lnSpc>
                <a:spcPct val="120000"/>
              </a:lnSpc>
              <a:spcBef>
                <a:spcPts val="0"/>
              </a:spcBef>
              <a:spcAft>
                <a:spcPts val="200"/>
              </a:spcAft>
              <a:defRPr/>
            </a:pPr>
            <a:r>
              <a:rPr lang="en-US" altLang="zh-CN" sz="2000" spc="-150" dirty="0">
                <a:cs typeface="+mn-lt"/>
                <a:sym typeface="+mn-ea"/>
              </a:rPr>
              <a:t>128 - 255 represents the extended ASCII encoding, which is no longer an international standard.</a:t>
            </a:r>
            <a:endParaRPr lang="en-US" altLang="zh-CN" sz="2000" spc="-150" dirty="0">
              <a:cs typeface="+mn-lt"/>
            </a:endParaRPr>
          </a:p>
          <a:p>
            <a:pPr eaLnBrk="1" hangingPunct="1">
              <a:lnSpc>
                <a:spcPct val="120000"/>
              </a:lnSpc>
              <a:spcBef>
                <a:spcPts val="0"/>
              </a:spcBef>
              <a:spcAft>
                <a:spcPts val="200"/>
              </a:spcAft>
              <a:defRPr/>
            </a:pPr>
            <a:endParaRPr lang="en-US" altLang="zh-CN" sz="2000" spc="-150" dirty="0">
              <a:cs typeface="+mn-lt"/>
            </a:endParaRPr>
          </a:p>
        </p:txBody>
      </p:sp>
      <p:sp>
        <p:nvSpPr>
          <p:cNvPr id="6" name="Rectangle 3"/>
          <p:cNvSpPr txBox="1">
            <a:spLocks noChangeArrowheads="1"/>
          </p:cNvSpPr>
          <p:nvPr/>
        </p:nvSpPr>
        <p:spPr bwMode="auto">
          <a:xfrm>
            <a:off x="896620" y="3429000"/>
            <a:ext cx="8961120" cy="2858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sz="2800" b="1">
                <a:solidFill>
                  <a:schemeClr val="accent2"/>
                </a:solidFill>
                <a:latin typeface="Arial" panose="020B0604020202020204" pitchFamily="34" charset="0"/>
                <a:ea typeface="幼圆" panose="02010509060101010101" pitchFamily="49" charset="-122"/>
              </a:defRPr>
            </a:lvl1pPr>
            <a:lvl2pPr marL="742950" indent="-285750">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4000"/>
              </a:lnSpc>
              <a:spcBef>
                <a:spcPct val="0"/>
              </a:spcBef>
            </a:pPr>
            <a:r>
              <a:rPr lang="en-US" altLang="zh-CN" sz="2400" dirty="0">
                <a:ea typeface="宋体" panose="02010600030101010101" pitchFamily="2" charset="-122"/>
                <a:cs typeface="Arial" panose="020B0604020202020204" pitchFamily="34" charset="0"/>
              </a:rPr>
              <a:t>Standard ASCII Code: </a:t>
            </a:r>
            <a:r>
              <a:rPr lang="en-US" altLang="zh-CN" sz="2400" dirty="0">
                <a:solidFill>
                  <a:srgbClr val="FF0000"/>
                </a:solidFill>
                <a:ea typeface="宋体" panose="02010600030101010101" pitchFamily="2" charset="-122"/>
                <a:cs typeface="Arial" panose="020B0604020202020204" pitchFamily="34" charset="0"/>
              </a:rPr>
              <a:t>95</a:t>
            </a:r>
            <a:r>
              <a:rPr lang="en-US" altLang="zh-CN" sz="2400" dirty="0">
                <a:ea typeface="宋体" panose="02010600030101010101" pitchFamily="2" charset="-122"/>
                <a:cs typeface="Arial" panose="020B0604020202020204" pitchFamily="34" charset="0"/>
              </a:rPr>
              <a:t> characters represented by 7-bit binary encoding  </a:t>
            </a:r>
          </a:p>
          <a:p>
            <a:pPr marL="0" indent="0" algn="just" eaLnBrk="1" hangingPunct="1">
              <a:lnSpc>
                <a:spcPct val="114000"/>
              </a:lnSpc>
              <a:spcBef>
                <a:spcPct val="0"/>
              </a:spcBef>
              <a:buNone/>
            </a:pPr>
            <a:r>
              <a:rPr lang="en-US" altLang="zh-CN" sz="2400" dirty="0">
                <a:ea typeface="宋体" panose="02010600030101010101" pitchFamily="2" charset="-122"/>
                <a:cs typeface="Arial" panose="020B0604020202020204" pitchFamily="34" charset="0"/>
              </a:rPr>
              <a:t>   26 uppercase letters: 41H–5AH  </a:t>
            </a:r>
          </a:p>
          <a:p>
            <a:pPr marL="0" indent="0" algn="just" eaLnBrk="1" hangingPunct="1">
              <a:lnSpc>
                <a:spcPct val="114000"/>
              </a:lnSpc>
              <a:spcBef>
                <a:spcPct val="0"/>
              </a:spcBef>
              <a:buNone/>
            </a:pPr>
            <a:r>
              <a:rPr lang="en-US" altLang="zh-CN" sz="2400" dirty="0">
                <a:ea typeface="宋体" panose="02010600030101010101" pitchFamily="2" charset="-122"/>
                <a:cs typeface="Arial" panose="020B0604020202020204" pitchFamily="34" charset="0"/>
              </a:rPr>
              <a:t>   26 lowercase letters: 61H–7AH  </a:t>
            </a:r>
          </a:p>
          <a:p>
            <a:pPr marL="0" indent="0" algn="just" eaLnBrk="1" hangingPunct="1">
              <a:lnSpc>
                <a:spcPct val="114000"/>
              </a:lnSpc>
              <a:spcBef>
                <a:spcPct val="0"/>
              </a:spcBef>
              <a:buNone/>
            </a:pPr>
            <a:r>
              <a:rPr lang="en-US" altLang="zh-CN" sz="2400" dirty="0">
                <a:ea typeface="宋体" panose="02010600030101010101" pitchFamily="2" charset="-122"/>
                <a:cs typeface="Arial" panose="020B0604020202020204" pitchFamily="34" charset="0"/>
              </a:rPr>
              <a:t>   10 numeric digits (0–9): 30H–39H  </a:t>
            </a:r>
          </a:p>
          <a:p>
            <a:pPr marL="0" indent="0" algn="just" eaLnBrk="1" hangingPunct="1">
              <a:lnSpc>
                <a:spcPct val="114000"/>
              </a:lnSpc>
              <a:spcBef>
                <a:spcPct val="0"/>
              </a:spcBef>
              <a:buNone/>
            </a:pPr>
            <a:r>
              <a:rPr lang="en-US" altLang="zh-CN" sz="2400" dirty="0">
                <a:solidFill>
                  <a:srgbClr val="FF0000"/>
                </a:solidFill>
                <a:ea typeface="宋体" panose="02010600030101010101" pitchFamily="2" charset="-122"/>
                <a:cs typeface="Arial" panose="020B0604020202020204" pitchFamily="34" charset="0"/>
              </a:rPr>
              <a:t>   33</a:t>
            </a:r>
            <a:r>
              <a:rPr lang="en-US" altLang="zh-CN" sz="2400" dirty="0">
                <a:ea typeface="宋体" panose="02010600030101010101" pitchFamily="2" charset="-122"/>
                <a:cs typeface="Arial" panose="020B0604020202020204" pitchFamily="34" charset="0"/>
              </a:rPr>
              <a:t> special characters: [, +, –, @, |, #, etc.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2"/>
          <p:cNvSpPr>
            <a:spLocks noGrp="1" noChangeArrowheads="1"/>
          </p:cNvSpPr>
          <p:nvPr>
            <p:ph type="title"/>
          </p:nvPr>
        </p:nvSpPr>
        <p:spPr>
          <a:xfrm>
            <a:off x="2346961" y="372066"/>
            <a:ext cx="6619460" cy="672509"/>
          </a:xfrm>
        </p:spPr>
        <p:txBody>
          <a:bodyPr>
            <a:normAutofit fontScale="90000"/>
          </a:bodyPr>
          <a:lstStyle/>
          <a:p>
            <a:pPr eaLnBrk="1" hangingPunct="1"/>
            <a:r>
              <a:rPr lang="en-US" altLang="zh-CN" dirty="0">
                <a:solidFill>
                  <a:srgbClr val="FF0000"/>
                </a:solidFill>
                <a:latin typeface="Arial" panose="020B0604020202020204" pitchFamily="34" charset="0"/>
                <a:cs typeface="Arial" panose="020B0604020202020204" pitchFamily="34" charset="0"/>
              </a:rPr>
              <a:t>1</a:t>
            </a:r>
            <a:r>
              <a:rPr lang="zh-CN" altLang="en-US" dirty="0">
                <a:solidFill>
                  <a:srgbClr val="FF0000"/>
                </a:solidFill>
                <a:latin typeface="Arial" panose="020B0604020202020204" pitchFamily="34" charset="0"/>
                <a:cs typeface="Arial" panose="020B0604020202020204" pitchFamily="34" charset="0"/>
              </a:rPr>
              <a:t>、</a:t>
            </a:r>
            <a:r>
              <a:rPr lang="en-US" altLang="zh-CN" dirty="0">
                <a:solidFill>
                  <a:srgbClr val="FF0000"/>
                </a:solidFill>
                <a:latin typeface="Arial" panose="020B0604020202020204" pitchFamily="34" charset="0"/>
                <a:cs typeface="Arial" panose="020B0604020202020204" pitchFamily="34" charset="0"/>
              </a:rPr>
              <a:t>ASCII</a:t>
            </a:r>
            <a:r>
              <a:rPr lang="zh-CN" altLang="en-US" dirty="0">
                <a:solidFill>
                  <a:srgbClr val="FF0000"/>
                </a:solidFill>
                <a:latin typeface="Arial" panose="020B0604020202020204" pitchFamily="34" charset="0"/>
                <a:cs typeface="Arial" panose="020B0604020202020204" pitchFamily="34" charset="0"/>
              </a:rPr>
              <a:t> </a:t>
            </a:r>
            <a:r>
              <a:rPr lang="en-US" altLang="zh-CN" dirty="0">
                <a:solidFill>
                  <a:srgbClr val="FF0000"/>
                </a:solidFill>
                <a:latin typeface="Arial" panose="020B0604020202020204" pitchFamily="34" charset="0"/>
                <a:cs typeface="Arial" panose="020B0604020202020204" pitchFamily="34" charset="0"/>
              </a:rPr>
              <a:t>encoding</a:t>
            </a:r>
            <a:endParaRPr lang="zh-CN" altLang="en-US" dirty="0">
              <a:latin typeface="Arial" panose="020B0604020202020204" pitchFamily="34" charset="0"/>
              <a:cs typeface="Arial" panose="020B0604020202020204" pitchFamily="34" charset="0"/>
            </a:endParaRPr>
          </a:p>
        </p:txBody>
      </p:sp>
      <p:sp>
        <p:nvSpPr>
          <p:cNvPr id="373763" name="Rectangle 3"/>
          <p:cNvSpPr>
            <a:spLocks noGrp="1" noChangeArrowheads="1"/>
          </p:cNvSpPr>
          <p:nvPr>
            <p:ph idx="1"/>
          </p:nvPr>
        </p:nvSpPr>
        <p:spPr>
          <a:xfrm>
            <a:off x="1982390" y="1286124"/>
            <a:ext cx="8229600" cy="4605794"/>
          </a:xfrm>
        </p:spPr>
        <p:txBody>
          <a:bodyPr>
            <a:normAutofit fontScale="85000" lnSpcReduction="20000"/>
          </a:bodyPr>
          <a:lstStyle/>
          <a:p>
            <a:pPr eaLnBrk="1" hangingPunct="1">
              <a:lnSpc>
                <a:spcPct val="125000"/>
              </a:lnSpc>
              <a:buFont typeface="Wingdings" panose="05000000000000000000" pitchFamily="2" charset="2"/>
              <a:buChar char="Ø"/>
            </a:pPr>
            <a:r>
              <a:rPr lang="en-US" altLang="zh-CN" sz="3200" dirty="0">
                <a:latin typeface="Arial" panose="020B0604020202020204" pitchFamily="34" charset="0"/>
                <a:cs typeface="Arial" panose="020B0604020202020204" pitchFamily="34" charset="0"/>
              </a:rPr>
              <a:t>Appendix A presents the ASCII character table, which </a:t>
            </a:r>
            <a:r>
              <a:rPr lang="en-US" altLang="zh-CN" sz="3200" dirty="0">
                <a:solidFill>
                  <a:srgbClr val="FF0000"/>
                </a:solidFill>
                <a:latin typeface="Arial" panose="020B0604020202020204" pitchFamily="34" charset="0"/>
                <a:cs typeface="Arial" panose="020B0604020202020204" pitchFamily="34" charset="0"/>
              </a:rPr>
              <a:t>represents character codes using 8-bit binary numbers. The fundamental code occupies 7 bits, with the 8th bit available for parity checking</a:t>
            </a:r>
            <a:r>
              <a:rPr lang="zh-CN" altLang="en-US" sz="3200" dirty="0">
                <a:latin typeface="Arial" panose="020B0604020202020204" pitchFamily="34" charset="0"/>
                <a:cs typeface="Arial" panose="020B0604020202020204" pitchFamily="34" charset="0"/>
              </a:rPr>
              <a:t>，</a:t>
            </a:r>
            <a:endParaRPr lang="en-US" altLang="zh-CN" sz="3200" dirty="0">
              <a:latin typeface="Arial" panose="020B0604020202020204" pitchFamily="34" charset="0"/>
              <a:cs typeface="Arial" panose="020B0604020202020204" pitchFamily="34" charset="0"/>
            </a:endParaRPr>
          </a:p>
          <a:p>
            <a:pPr eaLnBrk="1" hangingPunct="1">
              <a:lnSpc>
                <a:spcPct val="125000"/>
              </a:lnSpc>
              <a:buFont typeface="Wingdings" panose="05000000000000000000" pitchFamily="2" charset="2"/>
              <a:buChar char="Ø"/>
            </a:pPr>
            <a:r>
              <a:rPr lang="en-US" altLang="zh-CN" sz="3200" dirty="0">
                <a:latin typeface="Arial" panose="020B0604020202020204" pitchFamily="34" charset="0"/>
                <a:cs typeface="Arial" panose="020B0604020202020204" pitchFamily="34" charset="0"/>
              </a:rPr>
              <a:t>By setting the parity bit to either “1” or “0,” the number of “1”s within an 8-bit byte is maintained as either odd (known as </a:t>
            </a:r>
            <a:r>
              <a:rPr lang="en-US" altLang="zh-CN" sz="3200" dirty="0">
                <a:solidFill>
                  <a:srgbClr val="FF0000"/>
                </a:solidFill>
                <a:latin typeface="Arial" panose="020B0604020202020204" pitchFamily="34" charset="0"/>
                <a:cs typeface="Arial" panose="020B0604020202020204" pitchFamily="34" charset="0"/>
              </a:rPr>
              <a:t>odd parity</a:t>
            </a:r>
            <a:r>
              <a:rPr lang="en-US" altLang="zh-CN" sz="3200" dirty="0">
                <a:latin typeface="Arial" panose="020B0604020202020204" pitchFamily="34" charset="0"/>
                <a:cs typeface="Arial" panose="020B0604020202020204" pitchFamily="34" charset="0"/>
              </a:rPr>
              <a:t>) or even (known as </a:t>
            </a:r>
            <a:r>
              <a:rPr lang="en-US" altLang="zh-CN" sz="3200" dirty="0">
                <a:solidFill>
                  <a:srgbClr val="FF0000"/>
                </a:solidFill>
                <a:latin typeface="Arial" panose="020B0604020202020204" pitchFamily="34" charset="0"/>
                <a:cs typeface="Arial" panose="020B0604020202020204" pitchFamily="34" charset="0"/>
              </a:rPr>
              <a:t>even parity</a:t>
            </a:r>
            <a:r>
              <a:rPr lang="en-US" altLang="zh-CN" sz="3200" dirty="0">
                <a:latin typeface="Arial" panose="020B0604020202020204" pitchFamily="34" charset="0"/>
                <a:cs typeface="Arial" panose="020B0604020202020204" pitchFamily="34" charset="0"/>
              </a:rPr>
              <a:t>). This is commonly used during the serial transmission of characters or numbers to detect errors that may occur during transmission.</a:t>
            </a:r>
            <a:endParaRPr lang="zh-CN" altLang="en-US" sz="3200" dirty="0">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2"/>
          <p:cNvSpPr>
            <a:spLocks noGrp="1" noChangeArrowheads="1"/>
          </p:cNvSpPr>
          <p:nvPr>
            <p:ph type="title"/>
          </p:nvPr>
        </p:nvSpPr>
        <p:spPr>
          <a:xfrm>
            <a:off x="1010928" y="452218"/>
            <a:ext cx="6409565" cy="504825"/>
          </a:xfrm>
        </p:spPr>
        <p:txBody>
          <a:bodyPr>
            <a:normAutofit fontScale="90000"/>
          </a:bodyPr>
          <a:lstStyle/>
          <a:p>
            <a:pPr eaLnBrk="1" hangingPunct="1"/>
            <a:r>
              <a:rPr lang="zh-CN" altLang="en-US" dirty="0">
                <a:latin typeface="宋体" panose="02010600030101010101" pitchFamily="2" charset="-122"/>
              </a:rPr>
              <a:t>汉字编码</a:t>
            </a:r>
            <a:endParaRPr lang="zh-CN" altLang="en-US" dirty="0"/>
          </a:p>
        </p:txBody>
      </p:sp>
      <p:sp>
        <p:nvSpPr>
          <p:cNvPr id="374787" name="Rectangle 3"/>
          <p:cNvSpPr>
            <a:spLocks noGrp="1" noChangeArrowheads="1"/>
          </p:cNvSpPr>
          <p:nvPr>
            <p:ph idx="1"/>
          </p:nvPr>
        </p:nvSpPr>
        <p:spPr>
          <a:xfrm>
            <a:off x="1010929" y="1311964"/>
            <a:ext cx="9795616" cy="4199836"/>
          </a:xfrm>
        </p:spPr>
        <p:txBody>
          <a:bodyPr>
            <a:normAutofit/>
          </a:bodyPr>
          <a:lstStyle/>
          <a:p>
            <a:pPr marL="0" indent="0" eaLnBrk="1" hangingPunct="1">
              <a:lnSpc>
                <a:spcPct val="110000"/>
              </a:lnSpc>
              <a:spcBef>
                <a:spcPct val="0"/>
              </a:spcBef>
              <a:buFontTx/>
              <a:buNone/>
            </a:pPr>
            <a:r>
              <a:rPr lang="zh-CN" altLang="en-US" dirty="0"/>
              <a:t>   汉字信息处理系统一般包括编码、输入、编辑、存储、输出和传输。</a:t>
            </a:r>
            <a:r>
              <a:rPr lang="zh-CN" altLang="en-US" dirty="0">
                <a:solidFill>
                  <a:srgbClr val="CC3300"/>
                </a:solidFill>
              </a:rPr>
              <a:t>编码是关键</a:t>
            </a:r>
            <a:r>
              <a:rPr lang="zh-CN" altLang="en-US" dirty="0"/>
              <a:t>。</a:t>
            </a:r>
            <a:r>
              <a:rPr lang="zh-CN" altLang="en-US" dirty="0">
                <a:solidFill>
                  <a:srgbClr val="FF0000"/>
                </a:solidFill>
              </a:rPr>
              <a:t>汉字输入编码</a:t>
            </a:r>
            <a:r>
              <a:rPr lang="zh-CN" altLang="en-US" dirty="0"/>
              <a:t>是用计算机标准键盘上</a:t>
            </a:r>
            <a:r>
              <a:rPr lang="zh-CN" altLang="en-US" dirty="0">
                <a:solidFill>
                  <a:srgbClr val="9900CC"/>
                </a:solidFill>
              </a:rPr>
              <a:t>按键的不同排列组合来对汉字进行编码</a:t>
            </a:r>
            <a:r>
              <a:rPr lang="zh-CN" altLang="en-US" dirty="0"/>
              <a:t>。 </a:t>
            </a:r>
            <a:endParaRPr lang="en-US" altLang="zh-CN" dirty="0"/>
          </a:p>
          <a:p>
            <a:pPr marL="0" indent="0" eaLnBrk="1" hangingPunct="1">
              <a:lnSpc>
                <a:spcPct val="110000"/>
              </a:lnSpc>
              <a:spcBef>
                <a:spcPct val="0"/>
              </a:spcBef>
              <a:buFontTx/>
              <a:buNone/>
            </a:pPr>
            <a:endParaRPr lang="en-US" altLang="zh-CN" dirty="0"/>
          </a:p>
          <a:p>
            <a:pPr marL="0" indent="0">
              <a:lnSpc>
                <a:spcPct val="110000"/>
              </a:lnSpc>
              <a:spcBef>
                <a:spcPct val="0"/>
              </a:spcBef>
              <a:buNone/>
            </a:pPr>
            <a:r>
              <a:rPr lang="zh-CN" altLang="en-US" dirty="0">
                <a:cs typeface="Calibri" panose="020F0502020204030204" charset="0"/>
              </a:rPr>
              <a:t>    </a:t>
            </a:r>
            <a:r>
              <a:rPr lang="zh-CN" altLang="en-US" dirty="0">
                <a:latin typeface="Calibri" panose="020F0502020204030204" charset="0"/>
                <a:cs typeface="Calibri" panose="020F0502020204030204" charset="0"/>
              </a:rPr>
              <a:t>Chinese character information processing systems typically consist of encoding, input, editing, storage, output, and transmission processes, with encoding being the critical component. Without proper encoding solutions, Chinese characters cannot be processed by computers. The input encoding system uses specific combinations of keystrokes on standard computer keyboards to encode these characters.</a:t>
            </a:r>
          </a:p>
          <a:p>
            <a:pPr marL="0" indent="0" eaLnBrk="1" hangingPunct="1">
              <a:lnSpc>
                <a:spcPct val="110000"/>
              </a:lnSpc>
              <a:spcBef>
                <a:spcPct val="0"/>
              </a:spcBef>
              <a:buFontTx/>
              <a:buNone/>
            </a:pPr>
            <a:endParaRPr lang="zh-CN" altLang="en-US" dirty="0"/>
          </a:p>
        </p:txBody>
      </p:sp>
      <p:sp>
        <p:nvSpPr>
          <p:cNvPr id="5" name="矩形 4"/>
          <p:cNvSpPr/>
          <p:nvPr/>
        </p:nvSpPr>
        <p:spPr>
          <a:xfrm>
            <a:off x="5686743" y="391893"/>
            <a:ext cx="3692525" cy="565150"/>
          </a:xfrm>
          <a:prstGeom prst="rect">
            <a:avLst/>
          </a:prstGeom>
        </p:spPr>
        <p:txBody>
          <a:bodyPr>
            <a:spAutoFit/>
          </a:bodyPr>
          <a:lstStyle/>
          <a:p>
            <a:pPr algn="just" eaLnBrk="1" hangingPunct="1">
              <a:lnSpc>
                <a:spcPct val="110000"/>
              </a:lnSpc>
              <a:spcBef>
                <a:spcPts val="0"/>
              </a:spcBef>
              <a:spcAft>
                <a:spcPts val="0"/>
              </a:spcAft>
              <a:defRPr/>
            </a:pPr>
            <a:r>
              <a:rPr lang="en-US" altLang="zh-CN" sz="2800" b="1" kern="0" dirty="0">
                <a:solidFill>
                  <a:srgbClr val="FF0000"/>
                </a:solidFill>
                <a:latin typeface="宋体" panose="02010600030101010101" pitchFamily="2" charset="-122"/>
              </a:rPr>
              <a:t>(1) --</a:t>
            </a:r>
            <a:r>
              <a:rPr lang="zh-CN" altLang="en-US" sz="2800" b="1" kern="0" dirty="0">
                <a:solidFill>
                  <a:srgbClr val="FF0000"/>
                </a:solidFill>
                <a:latin typeface="宋体" panose="02010600030101010101" pitchFamily="2" charset="-122"/>
              </a:rPr>
              <a:t>汉字输入编码</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2"/>
          <p:cNvSpPr>
            <a:spLocks noGrp="1" noChangeArrowheads="1"/>
          </p:cNvSpPr>
          <p:nvPr>
            <p:ph type="title"/>
          </p:nvPr>
        </p:nvSpPr>
        <p:spPr>
          <a:xfrm>
            <a:off x="2063874" y="479674"/>
            <a:ext cx="6409565" cy="504825"/>
          </a:xfrm>
        </p:spPr>
        <p:txBody>
          <a:bodyPr>
            <a:normAutofit fontScale="90000"/>
          </a:bodyPr>
          <a:lstStyle/>
          <a:p>
            <a:pPr eaLnBrk="1" hangingPunct="1"/>
            <a:r>
              <a:rPr lang="en-US" altLang="zh-CN" dirty="0">
                <a:latin typeface="宋体" panose="02010600030101010101" pitchFamily="2" charset="-122"/>
              </a:rPr>
              <a:t>2</a:t>
            </a:r>
            <a:r>
              <a:rPr lang="zh-CN" altLang="en-US" dirty="0">
                <a:latin typeface="宋体" panose="02010600030101010101" pitchFamily="2" charset="-122"/>
              </a:rPr>
              <a:t>、汉字编码</a:t>
            </a:r>
            <a:endParaRPr lang="zh-CN" altLang="en-US" dirty="0"/>
          </a:p>
        </p:txBody>
      </p:sp>
      <p:sp>
        <p:nvSpPr>
          <p:cNvPr id="6" name="Rectangle 3"/>
          <p:cNvSpPr txBox="1">
            <a:spLocks noChangeArrowheads="1"/>
          </p:cNvSpPr>
          <p:nvPr/>
        </p:nvSpPr>
        <p:spPr bwMode="auto">
          <a:xfrm>
            <a:off x="692727" y="1164928"/>
            <a:ext cx="10363200" cy="478329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Blip>
                <a:blip r:embed="rId2"/>
              </a:buBlip>
              <a:defRPr sz="2800" b="1">
                <a:solidFill>
                  <a:schemeClr val="accent2"/>
                </a:solidFill>
                <a:latin typeface="Arial" panose="020B0604020202020204" pitchFamily="34" charset="0"/>
                <a:ea typeface="幼圆" panose="02010509060101010101" pitchFamily="49" charset="-122"/>
              </a:defRPr>
            </a:lvl1pPr>
            <a:lvl2pPr marL="449580" indent="-274955">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0"/>
              </a:spcBef>
              <a:spcAft>
                <a:spcPts val="600"/>
              </a:spcAft>
            </a:pPr>
            <a:r>
              <a:rPr lang="zh-CN" altLang="en-US" sz="1800" dirty="0">
                <a:solidFill>
                  <a:srgbClr val="FF0000"/>
                </a:solidFill>
                <a:latin typeface="宋体" panose="02010600030101010101" pitchFamily="2" charset="-122"/>
                <a:ea typeface="宋体" panose="02010600030101010101" pitchFamily="2" charset="-122"/>
              </a:rPr>
              <a:t>常用输入编码有数字、字音、字形和音形编码等</a:t>
            </a:r>
            <a:r>
              <a:rPr lang="zh-CN" altLang="en-US" sz="1800" dirty="0">
                <a:latin typeface="宋体" panose="02010600030101010101" pitchFamily="2" charset="-122"/>
                <a:ea typeface="宋体" panose="02010600030101010101" pitchFamily="2" charset="-122"/>
              </a:rPr>
              <a:t>。</a:t>
            </a:r>
          </a:p>
          <a:p>
            <a:pPr lvl="1" algn="just" eaLnBrk="1" hangingPunct="1">
              <a:lnSpc>
                <a:spcPct val="110000"/>
              </a:lnSpc>
              <a:spcBef>
                <a:spcPct val="0"/>
              </a:spcBef>
            </a:pPr>
            <a:r>
              <a:rPr lang="zh-CN" altLang="en-US" sz="1800" dirty="0">
                <a:solidFill>
                  <a:srgbClr val="FF0000"/>
                </a:solidFill>
                <a:latin typeface="宋体" panose="02010600030101010101" pitchFamily="2" charset="-122"/>
              </a:rPr>
              <a:t>数字编码</a:t>
            </a:r>
            <a:r>
              <a:rPr lang="zh-CN" altLang="en-US" sz="1800" dirty="0">
                <a:latin typeface="宋体" panose="02010600030101010101" pitchFamily="2" charset="-122"/>
              </a:rPr>
              <a:t>：如电报码、</a:t>
            </a:r>
            <a:r>
              <a:rPr lang="zh-CN" altLang="en-US" sz="1800" dirty="0">
                <a:solidFill>
                  <a:srgbClr val="FF00FF"/>
                </a:solidFill>
                <a:latin typeface="宋体" panose="02010600030101010101" pitchFamily="2" charset="-122"/>
              </a:rPr>
              <a:t>区位码</a:t>
            </a:r>
            <a:r>
              <a:rPr lang="zh-CN" altLang="en-US" sz="1800" dirty="0">
                <a:latin typeface="宋体" panose="02010600030101010101" pitchFamily="2" charset="-122"/>
              </a:rPr>
              <a:t>等。无重码，但难记。</a:t>
            </a:r>
            <a:endParaRPr lang="en-US" altLang="zh-CN" sz="1800" dirty="0">
              <a:latin typeface="宋体" panose="02010600030101010101" pitchFamily="2" charset="-122"/>
            </a:endParaRPr>
          </a:p>
          <a:p>
            <a:pPr lvl="1" algn="just" eaLnBrk="1" hangingPunct="1">
              <a:lnSpc>
                <a:spcPct val="110000"/>
              </a:lnSpc>
              <a:spcBef>
                <a:spcPct val="0"/>
              </a:spcBef>
            </a:pPr>
            <a:r>
              <a:rPr lang="zh-CN" altLang="en-US" sz="1800" dirty="0">
                <a:solidFill>
                  <a:srgbClr val="FF0000"/>
                </a:solidFill>
                <a:latin typeface="宋体" panose="02010600030101010101" pitchFamily="2" charset="-122"/>
              </a:rPr>
              <a:t>字音编码</a:t>
            </a:r>
            <a:r>
              <a:rPr lang="zh-CN" altLang="en-US" sz="1800" dirty="0">
                <a:latin typeface="宋体" panose="02010600030101010101" pitchFamily="2" charset="-122"/>
              </a:rPr>
              <a:t>：以</a:t>
            </a:r>
            <a:r>
              <a:rPr lang="zh-CN" altLang="en-US" sz="1800" dirty="0">
                <a:solidFill>
                  <a:srgbClr val="FF00FF"/>
                </a:solidFill>
                <a:latin typeface="宋体" panose="02010600030101010101" pitchFamily="2" charset="-122"/>
              </a:rPr>
              <a:t>汉语拼音作为编码基础</a:t>
            </a:r>
            <a:r>
              <a:rPr lang="zh-CN" altLang="en-US" sz="1800" dirty="0">
                <a:latin typeface="宋体" panose="02010600030101010101" pitchFamily="2" charset="-122"/>
              </a:rPr>
              <a:t>。简单易学，但重码很高，如搜狗拼音、全拼、双拼等。</a:t>
            </a:r>
          </a:p>
          <a:p>
            <a:pPr lvl="1" algn="just" eaLnBrk="1" hangingPunct="1">
              <a:lnSpc>
                <a:spcPct val="110000"/>
              </a:lnSpc>
              <a:spcBef>
                <a:spcPct val="0"/>
              </a:spcBef>
            </a:pPr>
            <a:r>
              <a:rPr lang="zh-CN" altLang="en-US" sz="1800" dirty="0">
                <a:solidFill>
                  <a:srgbClr val="FF0000"/>
                </a:solidFill>
                <a:latin typeface="宋体" panose="02010600030101010101" pitchFamily="2" charset="-122"/>
              </a:rPr>
              <a:t>字形编码</a:t>
            </a:r>
            <a:r>
              <a:rPr lang="zh-CN" altLang="en-US" sz="1800" dirty="0">
                <a:latin typeface="宋体" panose="02010600030101010101" pitchFamily="2" charset="-122"/>
              </a:rPr>
              <a:t>：如</a:t>
            </a:r>
            <a:r>
              <a:rPr lang="zh-CN" altLang="en-US" sz="1800" dirty="0">
                <a:solidFill>
                  <a:srgbClr val="FF00FF"/>
                </a:solidFill>
                <a:latin typeface="宋体" panose="02010600030101010101" pitchFamily="2" charset="-122"/>
              </a:rPr>
              <a:t>五笔字型码</a:t>
            </a:r>
            <a:r>
              <a:rPr lang="zh-CN" altLang="en-US" sz="1800" dirty="0">
                <a:latin typeface="宋体" panose="02010600030101010101" pitchFamily="2" charset="-122"/>
              </a:rPr>
              <a:t>、郑码等。有重码少的优点。</a:t>
            </a:r>
          </a:p>
          <a:p>
            <a:pPr lvl="1" algn="just" eaLnBrk="1" hangingPunct="1">
              <a:lnSpc>
                <a:spcPct val="110000"/>
              </a:lnSpc>
              <a:spcBef>
                <a:spcPct val="0"/>
              </a:spcBef>
            </a:pPr>
            <a:r>
              <a:rPr lang="zh-CN" altLang="en-US" sz="1800" dirty="0">
                <a:solidFill>
                  <a:srgbClr val="FF0000"/>
                </a:solidFill>
                <a:latin typeface="宋体" panose="02010600030101010101" pitchFamily="2" charset="-122"/>
              </a:rPr>
              <a:t>音形编码</a:t>
            </a:r>
            <a:r>
              <a:rPr lang="zh-CN" altLang="en-US" sz="1800" dirty="0">
                <a:latin typeface="宋体" panose="02010600030101010101" pitchFamily="2" charset="-122"/>
              </a:rPr>
              <a:t>：音形编码吸取了音码和形码的优点，使编码规则简化，重码少。常用的有全息码等。</a:t>
            </a:r>
            <a:endParaRPr lang="en-US" altLang="zh-CN" sz="1800" dirty="0">
              <a:latin typeface="宋体" panose="02010600030101010101" pitchFamily="2" charset="-122"/>
            </a:endParaRPr>
          </a:p>
          <a:p>
            <a:pPr algn="just">
              <a:lnSpc>
                <a:spcPct val="110000"/>
              </a:lnSpc>
              <a:spcBef>
                <a:spcPct val="0"/>
              </a:spcBef>
              <a:spcAft>
                <a:spcPts val="600"/>
              </a:spcAft>
            </a:pPr>
            <a:r>
              <a:rPr lang="zh-CN" altLang="en-US" sz="1600" dirty="0">
                <a:solidFill>
                  <a:srgbClr val="FF0000"/>
                </a:solidFill>
                <a:latin typeface="宋体" panose="02010600030101010101" pitchFamily="2" charset="-122"/>
                <a:ea typeface="宋体" panose="02010600030101010101" pitchFamily="2" charset="-122"/>
              </a:rPr>
              <a:t>Common input codes include numeric, phonetic, glyph and phonographic codes.</a:t>
            </a:r>
            <a:endParaRPr lang="zh-CN" altLang="en-US" sz="1600" dirty="0">
              <a:latin typeface="宋体" panose="02010600030101010101" pitchFamily="2" charset="-122"/>
              <a:ea typeface="宋体" panose="02010600030101010101" pitchFamily="2" charset="-122"/>
            </a:endParaRPr>
          </a:p>
          <a:p>
            <a:pPr lvl="1" algn="just">
              <a:lnSpc>
                <a:spcPct val="110000"/>
              </a:lnSpc>
              <a:spcBef>
                <a:spcPct val="0"/>
              </a:spcBef>
            </a:pPr>
            <a:r>
              <a:rPr lang="zh-CN" altLang="en-US" sz="1600" dirty="0">
                <a:solidFill>
                  <a:srgbClr val="FF0000"/>
                </a:solidFill>
                <a:latin typeface="宋体" panose="02010600030101010101" pitchFamily="2" charset="-122"/>
              </a:rPr>
              <a:t>Digital codes: such as telegraph code, location code, etc. No duplicate code, but difficult to remember.</a:t>
            </a:r>
            <a:endParaRPr lang="en-US" altLang="zh-CN" sz="1600" dirty="0">
              <a:latin typeface="宋体" panose="02010600030101010101" pitchFamily="2" charset="-122"/>
            </a:endParaRPr>
          </a:p>
          <a:p>
            <a:pPr lvl="1" algn="just">
              <a:lnSpc>
                <a:spcPct val="110000"/>
              </a:lnSpc>
              <a:spcBef>
                <a:spcPct val="0"/>
              </a:spcBef>
            </a:pPr>
            <a:r>
              <a:rPr lang="zh-CN" altLang="en-US" sz="1600" dirty="0">
                <a:solidFill>
                  <a:srgbClr val="FF0000"/>
                </a:solidFill>
                <a:latin typeface="宋体" panose="02010600030101010101" pitchFamily="2" charset="-122"/>
              </a:rPr>
              <a:t>Word-based encoding: Based on Pinyin as the basis of encoding. It is easy to learn, but the emphasis on code is very high, such as Sogou Pinyin, full Pinyin, double Pinyin and so on.</a:t>
            </a:r>
            <a:endParaRPr lang="zh-CN" altLang="en-US" sz="1600" dirty="0">
              <a:latin typeface="宋体" panose="02010600030101010101" pitchFamily="2" charset="-122"/>
            </a:endParaRPr>
          </a:p>
          <a:p>
            <a:pPr lvl="1" algn="just">
              <a:lnSpc>
                <a:spcPct val="110000"/>
              </a:lnSpc>
              <a:spcBef>
                <a:spcPct val="0"/>
              </a:spcBef>
            </a:pPr>
            <a:r>
              <a:rPr lang="zh-CN" altLang="en-US" sz="1600" dirty="0">
                <a:solidFill>
                  <a:srgbClr val="FF0000"/>
                </a:solidFill>
                <a:latin typeface="宋体" panose="02010600030101010101" pitchFamily="2" charset="-122"/>
              </a:rPr>
              <a:t>Character encoding: such as Wubi character code, Zheng code, etc. It has the advantage of less redundant codes.</a:t>
            </a:r>
            <a:endParaRPr lang="zh-CN" altLang="en-US" sz="1600" dirty="0">
              <a:latin typeface="宋体" panose="02010600030101010101" pitchFamily="2" charset="-122"/>
            </a:endParaRPr>
          </a:p>
          <a:p>
            <a:pPr lvl="1" algn="just">
              <a:lnSpc>
                <a:spcPct val="110000"/>
              </a:lnSpc>
              <a:spcBef>
                <a:spcPct val="0"/>
              </a:spcBef>
            </a:pPr>
            <a:r>
              <a:rPr lang="zh-CN" altLang="en-US" sz="1600" dirty="0">
                <a:solidFill>
                  <a:srgbClr val="FF0000"/>
                </a:solidFill>
                <a:latin typeface="宋体" panose="02010600030101010101" pitchFamily="2" charset="-122"/>
              </a:rPr>
              <a:t>Phonographic code: The phonographic code draws on the advantages of phonographic code and graphic code, simplifying the coding rules and reducing the number of codes. Common ones include holographic code.</a:t>
            </a:r>
            <a:endParaRPr lang="zh-CN" altLang="en-US" sz="1600" dirty="0">
              <a:latin typeface="宋体" panose="02010600030101010101" pitchFamily="2" charset="-122"/>
            </a:endParaRPr>
          </a:p>
          <a:p>
            <a:pPr lvl="1" algn="just" eaLnBrk="1" hangingPunct="1">
              <a:lnSpc>
                <a:spcPct val="110000"/>
              </a:lnSpc>
              <a:spcBef>
                <a:spcPct val="0"/>
              </a:spcBef>
            </a:pPr>
            <a:endParaRPr lang="zh-CN" altLang="en-US" sz="1800" dirty="0">
              <a:latin typeface="宋体" panose="02010600030101010101" pitchFamily="2" charset="-122"/>
            </a:endParaRPr>
          </a:p>
        </p:txBody>
      </p:sp>
      <p:sp>
        <p:nvSpPr>
          <p:cNvPr id="5" name="矩形 4"/>
          <p:cNvSpPr/>
          <p:nvPr/>
        </p:nvSpPr>
        <p:spPr>
          <a:xfrm>
            <a:off x="5686743" y="391893"/>
            <a:ext cx="3692525" cy="565150"/>
          </a:xfrm>
          <a:prstGeom prst="rect">
            <a:avLst/>
          </a:prstGeom>
        </p:spPr>
        <p:txBody>
          <a:bodyPr>
            <a:spAutoFit/>
          </a:bodyPr>
          <a:lstStyle/>
          <a:p>
            <a:pPr algn="just" eaLnBrk="1" hangingPunct="1">
              <a:lnSpc>
                <a:spcPct val="110000"/>
              </a:lnSpc>
              <a:spcBef>
                <a:spcPts val="0"/>
              </a:spcBef>
              <a:spcAft>
                <a:spcPts val="0"/>
              </a:spcAft>
              <a:defRPr/>
            </a:pPr>
            <a:r>
              <a:rPr lang="en-US" altLang="zh-CN" sz="2800" b="1" kern="0" dirty="0">
                <a:solidFill>
                  <a:srgbClr val="FF0000"/>
                </a:solidFill>
                <a:latin typeface="宋体" panose="02010600030101010101" pitchFamily="2" charset="-122"/>
              </a:rPr>
              <a:t>(1) --</a:t>
            </a:r>
            <a:r>
              <a:rPr lang="zh-CN" altLang="en-US" sz="2800" b="1" kern="0" dirty="0">
                <a:solidFill>
                  <a:srgbClr val="FF0000"/>
                </a:solidFill>
                <a:latin typeface="宋体" panose="02010600030101010101" pitchFamily="2" charset="-122"/>
              </a:rPr>
              <a:t>汉字输入编码</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(2) </a:t>
            </a:r>
            <a:r>
              <a:rPr lang="zh-CN" altLang="en-US">
                <a:latin typeface="宋体" panose="02010600030101010101" pitchFamily="2" charset="-122"/>
              </a:rPr>
              <a:t>汉字国标码</a:t>
            </a:r>
            <a:endParaRPr lang="zh-CN" altLang="en-US"/>
          </a:p>
        </p:txBody>
      </p:sp>
      <p:sp>
        <p:nvSpPr>
          <p:cNvPr id="378883" name="Rectangle 3"/>
          <p:cNvSpPr>
            <a:spLocks noGrp="1" noChangeArrowheads="1"/>
          </p:cNvSpPr>
          <p:nvPr>
            <p:ph idx="1"/>
          </p:nvPr>
        </p:nvSpPr>
        <p:spPr>
          <a:solidFill>
            <a:schemeClr val="bg1"/>
          </a:solidFill>
        </p:spPr>
        <p:txBody>
          <a:bodyPr>
            <a:normAutofit fontScale="95000"/>
          </a:bodyPr>
          <a:lstStyle/>
          <a:p>
            <a:pPr marL="0" indent="0" eaLnBrk="1" hangingPunct="1">
              <a:lnSpc>
                <a:spcPct val="105000"/>
              </a:lnSpc>
              <a:spcBef>
                <a:spcPts val="0"/>
              </a:spcBef>
              <a:defRPr/>
            </a:pPr>
            <a:r>
              <a:rPr lang="zh-CN" altLang="en-US" dirty="0">
                <a:solidFill>
                  <a:srgbClr val="FF0000"/>
                </a:solidFill>
              </a:rPr>
              <a:t>汉字国家标准编码即国标码</a:t>
            </a:r>
            <a:r>
              <a:rPr lang="zh-CN" altLang="en-US" dirty="0"/>
              <a:t>，是不同汉字信息处理系统间进行汉字交换时所用的编码。以国家标准局</a:t>
            </a:r>
            <a:r>
              <a:rPr lang="en-US" altLang="zh-CN" dirty="0">
                <a:solidFill>
                  <a:srgbClr val="FF0000"/>
                </a:solidFill>
              </a:rPr>
              <a:t>GB2312-80</a:t>
            </a:r>
            <a:r>
              <a:rPr lang="zh-CN" altLang="en-US" dirty="0">
                <a:solidFill>
                  <a:srgbClr val="FF0000"/>
                </a:solidFill>
              </a:rPr>
              <a:t>规定的汉字交换码</a:t>
            </a:r>
            <a:r>
              <a:rPr lang="zh-CN" altLang="en-US" dirty="0"/>
              <a:t>作为</a:t>
            </a:r>
            <a:r>
              <a:rPr lang="zh-CN" altLang="en-US" dirty="0">
                <a:solidFill>
                  <a:srgbClr val="FF0000"/>
                </a:solidFill>
              </a:rPr>
              <a:t>标准汉字编码</a:t>
            </a:r>
            <a:r>
              <a:rPr lang="zh-CN" altLang="en-US" dirty="0"/>
              <a:t>。共收录</a:t>
            </a:r>
            <a:r>
              <a:rPr lang="en-US" altLang="zh-CN" dirty="0"/>
              <a:t>7445</a:t>
            </a:r>
            <a:r>
              <a:rPr lang="zh-CN" altLang="en-US" dirty="0"/>
              <a:t>个。</a:t>
            </a:r>
          </a:p>
          <a:p>
            <a:pPr eaLnBrk="1" hangingPunct="1">
              <a:lnSpc>
                <a:spcPct val="105000"/>
              </a:lnSpc>
              <a:spcBef>
                <a:spcPts val="0"/>
              </a:spcBef>
              <a:defRPr/>
            </a:pPr>
            <a:r>
              <a:rPr lang="zh-CN" altLang="en-US" dirty="0">
                <a:solidFill>
                  <a:srgbClr val="FF0000"/>
                </a:solidFill>
              </a:rPr>
              <a:t>汉字区位码：</a:t>
            </a:r>
            <a:r>
              <a:rPr lang="zh-CN" altLang="en-US" dirty="0"/>
              <a:t>在字符集中</a:t>
            </a:r>
            <a:r>
              <a:rPr lang="en-US" altLang="zh-CN" dirty="0"/>
              <a:t>,</a:t>
            </a:r>
            <a:r>
              <a:rPr lang="zh-CN" altLang="en-US" dirty="0"/>
              <a:t>汉字和字符分</a:t>
            </a:r>
            <a:r>
              <a:rPr lang="en-US" altLang="zh-CN" dirty="0">
                <a:solidFill>
                  <a:srgbClr val="9900CC"/>
                </a:solidFill>
              </a:rPr>
              <a:t>94</a:t>
            </a:r>
            <a:r>
              <a:rPr lang="zh-CN" altLang="en-US" dirty="0">
                <a:solidFill>
                  <a:srgbClr val="9900CC"/>
                </a:solidFill>
              </a:rPr>
              <a:t>个区</a:t>
            </a:r>
            <a:r>
              <a:rPr lang="en-US" altLang="zh-CN" dirty="0">
                <a:solidFill>
                  <a:srgbClr val="9900CC"/>
                </a:solidFill>
              </a:rPr>
              <a:t>,</a:t>
            </a:r>
            <a:r>
              <a:rPr lang="zh-CN" altLang="en-US" dirty="0">
                <a:solidFill>
                  <a:srgbClr val="9900CC"/>
                </a:solidFill>
              </a:rPr>
              <a:t>每区</a:t>
            </a:r>
            <a:r>
              <a:rPr lang="en-US" altLang="zh-CN" dirty="0">
                <a:solidFill>
                  <a:srgbClr val="9900CC"/>
                </a:solidFill>
              </a:rPr>
              <a:t>94</a:t>
            </a:r>
            <a:r>
              <a:rPr lang="zh-CN" altLang="en-US" dirty="0">
                <a:solidFill>
                  <a:srgbClr val="9900CC"/>
                </a:solidFill>
              </a:rPr>
              <a:t>位</a:t>
            </a:r>
            <a:r>
              <a:rPr lang="zh-CN" altLang="en-US" dirty="0"/>
              <a:t>。每个汉字及字符</a:t>
            </a:r>
            <a:r>
              <a:rPr lang="zh-CN" altLang="en-US" dirty="0">
                <a:solidFill>
                  <a:srgbClr val="9900CC"/>
                </a:solidFill>
              </a:rPr>
              <a:t>用两个字节表示</a:t>
            </a:r>
            <a:r>
              <a:rPr lang="zh-CN" altLang="en-US" dirty="0"/>
              <a:t>，前一字节为</a:t>
            </a:r>
            <a:r>
              <a:rPr lang="zh-CN" altLang="en-US" dirty="0">
                <a:solidFill>
                  <a:srgbClr val="9900CC"/>
                </a:solidFill>
              </a:rPr>
              <a:t>区码</a:t>
            </a:r>
            <a:r>
              <a:rPr lang="zh-CN" altLang="en-US" dirty="0"/>
              <a:t>，后一字节为</a:t>
            </a:r>
            <a:r>
              <a:rPr lang="zh-CN" altLang="en-US" dirty="0">
                <a:solidFill>
                  <a:srgbClr val="9900CC"/>
                </a:solidFill>
              </a:rPr>
              <a:t>位码</a:t>
            </a:r>
            <a:r>
              <a:rPr lang="zh-CN" altLang="en-US" dirty="0"/>
              <a:t>，各用两位</a:t>
            </a:r>
            <a:r>
              <a:rPr lang="en-US" altLang="zh-CN" dirty="0"/>
              <a:t>16</a:t>
            </a:r>
            <a:r>
              <a:rPr lang="zh-CN" altLang="en-US" dirty="0"/>
              <a:t>进制数字表示。</a:t>
            </a:r>
            <a:endParaRPr lang="en-US" altLang="zh-CN" dirty="0"/>
          </a:p>
          <a:p>
            <a:pPr marL="0" indent="0" eaLnBrk="1" hangingPunct="1">
              <a:lnSpc>
                <a:spcPct val="105000"/>
              </a:lnSpc>
              <a:spcBef>
                <a:spcPts val="0"/>
              </a:spcBef>
              <a:buNone/>
              <a:defRPr/>
            </a:pPr>
            <a:endParaRPr lang="en-US" altLang="zh-CN" dirty="0"/>
          </a:p>
          <a:p>
            <a:pPr marL="0" indent="0">
              <a:lnSpc>
                <a:spcPct val="105000"/>
              </a:lnSpc>
              <a:spcBef>
                <a:spcPts val="0"/>
              </a:spcBef>
              <a:defRPr/>
            </a:pPr>
            <a:r>
              <a:rPr lang="zh-CN" altLang="en-US" dirty="0">
                <a:solidFill>
                  <a:srgbClr val="FF0000"/>
                </a:solidFill>
              </a:rPr>
              <a:t>    The National Standard Code for Chinese Characters (NSCC), also known as the Guobiao Code, is an encoding standard used for character exchange between different information processing systems. The GB2312-80 encoding standard, established by Chinas National Bureau of Standards, serves as the primary reference for character encoding and contains 7,445 standardized characters.</a:t>
            </a:r>
            <a:endParaRPr lang="en-US" altLang="zh-CN" dirty="0">
              <a:solidFill>
                <a:srgbClr val="FF0000"/>
              </a:solidFill>
            </a:endParaRPr>
          </a:p>
          <a:p>
            <a:pPr marL="0" indent="0">
              <a:lnSpc>
                <a:spcPct val="105000"/>
              </a:lnSpc>
              <a:spcBef>
                <a:spcPts val="0"/>
              </a:spcBef>
              <a:defRPr/>
            </a:pPr>
            <a:endParaRPr lang="zh-CN" altLang="en-US" dirty="0"/>
          </a:p>
          <a:p>
            <a:pPr>
              <a:lnSpc>
                <a:spcPct val="105000"/>
              </a:lnSpc>
              <a:spcBef>
                <a:spcPts val="0"/>
              </a:spcBef>
              <a:defRPr/>
            </a:pPr>
            <a:r>
              <a:rPr lang="zh-CN" altLang="en-US" dirty="0">
                <a:solidFill>
                  <a:srgbClr val="FF0000"/>
                </a:solidFill>
              </a:rPr>
              <a:t>    Chinese character location code: In the character set, Chinese characters and characters are divided into 94 zones, each of which is 94 bits. Each Chinese character and character is represented by two bytes, the first byte is the zone code, the second byte is the bit code, each of which is represented by two hexadecimal digits.</a:t>
            </a:r>
            <a:endParaRPr lang="zh-CN" altLang="en-US" dirty="0"/>
          </a:p>
          <a:p>
            <a:pPr eaLnBrk="1" hangingPunct="1">
              <a:lnSpc>
                <a:spcPct val="105000"/>
              </a:lnSpc>
              <a:spcBef>
                <a:spcPts val="0"/>
              </a:spcBef>
              <a:defRPr/>
            </a:pPr>
            <a:endParaRPr lang="en-US" altLang="zh-CN" dirty="0"/>
          </a:p>
          <a:p>
            <a:pPr eaLnBrk="1" hangingPunct="1">
              <a:lnSpc>
                <a:spcPct val="105000"/>
              </a:lnSpc>
              <a:spcBef>
                <a:spcPts val="0"/>
              </a:spcBef>
              <a:defRPr/>
            </a:pPr>
            <a:endParaRPr lang="en-US" altLang="zh-CN" dirty="0"/>
          </a:p>
          <a:p>
            <a:pPr eaLnBrk="1" hangingPunct="1">
              <a:lnSpc>
                <a:spcPct val="105000"/>
              </a:lnSpc>
              <a:spcBef>
                <a:spcPts val="0"/>
              </a:spcBef>
              <a:defRPr/>
            </a:pPr>
            <a:endParaRPr lang="zh-CN" altLang="en-US" dirty="0"/>
          </a:p>
        </p:txBody>
      </p:sp>
      <p:sp>
        <p:nvSpPr>
          <p:cNvPr id="91142" name="矩形 5">
            <a:hlinkClick r:id="rId2" action="ppaction://hlinksldjump"/>
          </p:cNvPr>
          <p:cNvSpPr>
            <a:spLocks noChangeArrowheads="1"/>
          </p:cNvSpPr>
          <p:nvPr/>
        </p:nvSpPr>
        <p:spPr bwMode="auto">
          <a:xfrm>
            <a:off x="1847850" y="234950"/>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(2) </a:t>
            </a:r>
            <a:r>
              <a:rPr lang="zh-CN" altLang="en-US">
                <a:latin typeface="宋体" panose="02010600030101010101" pitchFamily="2" charset="-122"/>
              </a:rPr>
              <a:t>汉字国标码</a:t>
            </a:r>
            <a:endParaRPr lang="zh-CN" altLang="en-US"/>
          </a:p>
        </p:txBody>
      </p:sp>
      <p:sp>
        <p:nvSpPr>
          <p:cNvPr id="378883" name="Rectangle 3"/>
          <p:cNvSpPr>
            <a:spLocks noGrp="1" noChangeArrowheads="1"/>
          </p:cNvSpPr>
          <p:nvPr>
            <p:ph idx="1"/>
          </p:nvPr>
        </p:nvSpPr>
        <p:spPr>
          <a:solidFill>
            <a:schemeClr val="bg1"/>
          </a:solidFill>
        </p:spPr>
        <p:txBody>
          <a:bodyPr>
            <a:normAutofit/>
          </a:bodyPr>
          <a:lstStyle/>
          <a:p>
            <a:pPr eaLnBrk="1" hangingPunct="1">
              <a:lnSpc>
                <a:spcPct val="105000"/>
              </a:lnSpc>
              <a:spcBef>
                <a:spcPts val="0"/>
              </a:spcBef>
              <a:defRPr/>
            </a:pPr>
            <a:r>
              <a:rPr lang="zh-CN" altLang="en-US" dirty="0"/>
              <a:t>汉字区位码不等于汉字国标码，两者间关系：</a:t>
            </a:r>
          </a:p>
          <a:p>
            <a:pPr lvl="1" eaLnBrk="1" hangingPunct="1">
              <a:lnSpc>
                <a:spcPct val="105000"/>
              </a:lnSpc>
              <a:spcBef>
                <a:spcPts val="0"/>
              </a:spcBef>
              <a:spcAft>
                <a:spcPts val="600"/>
              </a:spcAft>
              <a:buFontTx/>
              <a:buNone/>
              <a:defRPr/>
            </a:pPr>
            <a:r>
              <a:rPr lang="zh-CN" altLang="en-US" dirty="0"/>
              <a:t>    </a:t>
            </a:r>
            <a:r>
              <a:rPr lang="zh-CN" altLang="en-US" dirty="0">
                <a:solidFill>
                  <a:srgbClr val="FF00FF"/>
                </a:solidFill>
              </a:rPr>
              <a:t>国标码＝区位码（化成</a:t>
            </a:r>
            <a:r>
              <a:rPr lang="en-US" altLang="zh-CN" dirty="0">
                <a:solidFill>
                  <a:srgbClr val="FF00FF"/>
                </a:solidFill>
              </a:rPr>
              <a:t>16</a:t>
            </a:r>
            <a:r>
              <a:rPr lang="zh-CN" altLang="en-US" dirty="0">
                <a:solidFill>
                  <a:srgbClr val="FF00FF"/>
                </a:solidFill>
              </a:rPr>
              <a:t>进制）＋</a:t>
            </a:r>
            <a:r>
              <a:rPr lang="en-US" altLang="zh-CN" dirty="0">
                <a:solidFill>
                  <a:srgbClr val="FF00FF"/>
                </a:solidFill>
              </a:rPr>
              <a:t>2020H</a:t>
            </a:r>
          </a:p>
          <a:p>
            <a:pPr lvl="1" eaLnBrk="1" hangingPunct="1">
              <a:lnSpc>
                <a:spcPct val="105000"/>
              </a:lnSpc>
              <a:spcBef>
                <a:spcPts val="0"/>
              </a:spcBef>
              <a:spcAft>
                <a:spcPts val="600"/>
              </a:spcAft>
              <a:buFontTx/>
              <a:buNone/>
              <a:defRPr/>
            </a:pPr>
            <a:r>
              <a:rPr lang="zh-CN" altLang="en-US" sz="2400" dirty="0">
                <a:latin typeface="Times New Roman" panose="02020603050405020304" pitchFamily="18" charset="0"/>
                <a:cs typeface="Times New Roman" panose="02020603050405020304" pitchFamily="18" charset="0"/>
              </a:rPr>
              <a:t>例</a:t>
            </a:r>
            <a:r>
              <a:rPr lang="en-US" altLang="zh-CN" sz="2400" dirty="0">
                <a:latin typeface="Times New Roman" panose="02020603050405020304" pitchFamily="18" charset="0"/>
                <a:cs typeface="Times New Roman" panose="02020603050405020304" pitchFamily="18" charset="0"/>
              </a:rPr>
              <a:t>: "</a:t>
            </a:r>
            <a:r>
              <a:rPr lang="zh-CN" altLang="en-US" sz="2400" dirty="0">
                <a:solidFill>
                  <a:srgbClr val="FF0000"/>
                </a:solidFill>
                <a:latin typeface="Times New Roman" panose="02020603050405020304" pitchFamily="18" charset="0"/>
                <a:cs typeface="Times New Roman" panose="02020603050405020304" pitchFamily="18" charset="0"/>
              </a:rPr>
              <a:t>啊</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的区位码为</a:t>
            </a:r>
            <a:r>
              <a:rPr lang="en-US" altLang="zh-CN" sz="2400" dirty="0">
                <a:latin typeface="Times New Roman" panose="02020603050405020304" pitchFamily="18" charset="0"/>
                <a:cs typeface="Times New Roman" panose="02020603050405020304" pitchFamily="18" charset="0"/>
              </a:rPr>
              <a:t>"</a:t>
            </a:r>
            <a:r>
              <a:rPr lang="en-US" altLang="zh-CN" sz="2400" dirty="0">
                <a:solidFill>
                  <a:srgbClr val="FF0000"/>
                </a:solidFill>
                <a:latin typeface="Times New Roman" panose="02020603050405020304" pitchFamily="18" charset="0"/>
                <a:cs typeface="Times New Roman" panose="02020603050405020304" pitchFamily="18" charset="0"/>
              </a:rPr>
              <a:t>1601</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，用</a:t>
            </a:r>
            <a:r>
              <a:rPr lang="en-US" altLang="zh-CN" sz="2400" dirty="0">
                <a:latin typeface="Times New Roman" panose="02020603050405020304" pitchFamily="18" charset="0"/>
                <a:cs typeface="Times New Roman" panose="02020603050405020304" pitchFamily="18" charset="0"/>
              </a:rPr>
              <a:t>16</a:t>
            </a:r>
            <a:r>
              <a:rPr lang="zh-CN" altLang="en-US" sz="2400" dirty="0">
                <a:latin typeface="Times New Roman" panose="02020603050405020304" pitchFamily="18" charset="0"/>
                <a:cs typeface="Times New Roman" panose="02020603050405020304" pitchFamily="18" charset="0"/>
              </a:rPr>
              <a:t>进制表示为</a:t>
            </a:r>
            <a:r>
              <a:rPr lang="en-US" altLang="zh-CN" sz="2400" dirty="0">
                <a:solidFill>
                  <a:srgbClr val="FF0000"/>
                </a:solidFill>
                <a:latin typeface="Times New Roman" panose="02020603050405020304" pitchFamily="18" charset="0"/>
                <a:cs typeface="Times New Roman" panose="02020603050405020304" pitchFamily="18" charset="0"/>
              </a:rPr>
              <a:t>1001H</a:t>
            </a:r>
            <a:r>
              <a:rPr lang="zh-CN" altLang="en-US" sz="2400" dirty="0">
                <a:latin typeface="Times New Roman" panose="02020603050405020304" pitchFamily="18" charset="0"/>
                <a:cs typeface="Times New Roman" panose="02020603050405020304" pitchFamily="18" charset="0"/>
              </a:rPr>
              <a:t>，国标码为</a:t>
            </a:r>
            <a:r>
              <a:rPr lang="en-US" altLang="zh-CN" sz="2400" dirty="0">
                <a:solidFill>
                  <a:srgbClr val="FF0000"/>
                </a:solidFill>
                <a:latin typeface="Times New Roman" panose="02020603050405020304" pitchFamily="18" charset="0"/>
                <a:cs typeface="Times New Roman" panose="02020603050405020304" pitchFamily="18" charset="0"/>
              </a:rPr>
              <a:t>3021H</a:t>
            </a:r>
            <a:r>
              <a:rPr lang="zh-CN" altLang="en-US" sz="2400" dirty="0">
                <a:latin typeface="Times New Roman" panose="02020603050405020304" pitchFamily="18" charset="0"/>
                <a:cs typeface="Times New Roman" panose="02020603050405020304" pitchFamily="18" charset="0"/>
              </a:rPr>
              <a:t>。</a:t>
            </a:r>
            <a:endParaRPr lang="en-US" altLang="zh-CN" sz="2400" dirty="0">
              <a:latin typeface="Times New Roman" panose="02020603050405020304" pitchFamily="18" charset="0"/>
              <a:cs typeface="Times New Roman" panose="02020603050405020304" pitchFamily="18" charset="0"/>
            </a:endParaRPr>
          </a:p>
          <a:p>
            <a:pPr lvl="1" eaLnBrk="1" hangingPunct="1">
              <a:lnSpc>
                <a:spcPct val="105000"/>
              </a:lnSpc>
              <a:spcBef>
                <a:spcPts val="0"/>
              </a:spcBef>
              <a:spcAft>
                <a:spcPts val="600"/>
              </a:spcAft>
              <a:buFontTx/>
              <a:buNone/>
              <a:defRPr/>
            </a:pPr>
            <a:endParaRPr lang="en-US" altLang="zh-CN" sz="2400" dirty="0">
              <a:latin typeface="Times New Roman" panose="02020603050405020304" pitchFamily="18" charset="0"/>
              <a:cs typeface="Times New Roman" panose="02020603050405020304" pitchFamily="18" charset="0"/>
            </a:endParaRPr>
          </a:p>
          <a:p>
            <a:pPr lvl="1" eaLnBrk="1" hangingPunct="1">
              <a:lnSpc>
                <a:spcPct val="105000"/>
              </a:lnSpc>
              <a:spcBef>
                <a:spcPts val="0"/>
              </a:spcBef>
              <a:spcAft>
                <a:spcPts val="600"/>
              </a:spcAft>
              <a:buFontTx/>
              <a:buNone/>
              <a:defRPr/>
            </a:pPr>
            <a:endParaRPr lang="en-US" altLang="zh-CN" sz="2400" dirty="0">
              <a:latin typeface="Times New Roman" panose="02020603050405020304" pitchFamily="18" charset="0"/>
              <a:cs typeface="Times New Roman" panose="02020603050405020304" pitchFamily="18" charset="0"/>
            </a:endParaRPr>
          </a:p>
          <a:p>
            <a:pPr lvl="1" eaLnBrk="1" hangingPunct="1">
              <a:lnSpc>
                <a:spcPct val="105000"/>
              </a:lnSpc>
              <a:spcBef>
                <a:spcPts val="0"/>
              </a:spcBef>
              <a:spcAft>
                <a:spcPts val="600"/>
              </a:spcAft>
              <a:buFontTx/>
              <a:buNone/>
              <a:defRPr/>
            </a:pPr>
            <a:endParaRPr lang="en-US" altLang="zh-CN" sz="2400" dirty="0">
              <a:latin typeface="Times New Roman" panose="02020603050405020304" pitchFamily="18" charset="0"/>
              <a:cs typeface="Times New Roman" panose="02020603050405020304" pitchFamily="18" charset="0"/>
            </a:endParaRPr>
          </a:p>
          <a:p>
            <a:pPr>
              <a:lnSpc>
                <a:spcPct val="105000"/>
              </a:lnSpc>
              <a:spcBef>
                <a:spcPts val="0"/>
              </a:spcBef>
              <a:defRPr/>
            </a:pPr>
            <a:r>
              <a:rPr lang="zh-CN" altLang="en-US" dirty="0"/>
              <a:t>The Chinese character location code is not equal to the Chinese character national standard code. The relationship between them:</a:t>
            </a:r>
          </a:p>
          <a:p>
            <a:pPr lvl="1">
              <a:lnSpc>
                <a:spcPct val="105000"/>
              </a:lnSpc>
              <a:spcBef>
                <a:spcPts val="0"/>
              </a:spcBef>
              <a:spcAft>
                <a:spcPts val="600"/>
              </a:spcAft>
              <a:buNone/>
              <a:defRPr/>
            </a:pPr>
            <a:r>
              <a:rPr lang="zh-CN" altLang="en-US" dirty="0">
                <a:solidFill>
                  <a:srgbClr val="FF00FF"/>
                </a:solidFill>
              </a:rPr>
              <a:t>National code = location code (converted to hexadecimal) + 2020H</a:t>
            </a:r>
            <a:endParaRPr lang="en-US" altLang="zh-CN" dirty="0">
              <a:solidFill>
                <a:srgbClr val="FF00FF"/>
              </a:solidFill>
            </a:endParaRPr>
          </a:p>
          <a:p>
            <a:pPr lvl="1">
              <a:lnSpc>
                <a:spcPct val="105000"/>
              </a:lnSpc>
              <a:spcBef>
                <a:spcPts val="0"/>
              </a:spcBef>
              <a:spcAft>
                <a:spcPts val="600"/>
              </a:spcAft>
              <a:buNone/>
              <a:defRPr/>
            </a:pPr>
            <a:r>
              <a:rPr lang="zh-CN" altLang="en-US" sz="1200" dirty="0">
                <a:latin typeface="Times New Roman" panose="02020603050405020304" pitchFamily="18" charset="0"/>
                <a:cs typeface="Times New Roman" panose="02020603050405020304" pitchFamily="18" charset="0"/>
              </a:rPr>
              <a:t>For example, the location code of "ah" is "1601", which is expressed in hexadecimal as 1001H and the national standard code is 3021H.</a:t>
            </a:r>
            <a:endParaRPr lang="en-US" altLang="zh-CN" sz="2400" dirty="0">
              <a:latin typeface="Times New Roman" panose="02020603050405020304" pitchFamily="18" charset="0"/>
              <a:cs typeface="Times New Roman" panose="02020603050405020304" pitchFamily="18" charset="0"/>
            </a:endParaRPr>
          </a:p>
          <a:p>
            <a:pPr lvl="1" eaLnBrk="1" hangingPunct="1">
              <a:lnSpc>
                <a:spcPct val="105000"/>
              </a:lnSpc>
              <a:spcBef>
                <a:spcPts val="0"/>
              </a:spcBef>
              <a:spcAft>
                <a:spcPts val="600"/>
              </a:spcAft>
              <a:buFontTx/>
              <a:buNone/>
              <a:defRPr/>
            </a:pPr>
            <a:endParaRPr lang="en-US" altLang="zh-CN" sz="2400" dirty="0">
              <a:latin typeface="Times New Roman" panose="02020603050405020304" pitchFamily="18" charset="0"/>
              <a:cs typeface="Times New Roman" panose="02020603050405020304" pitchFamily="18" charset="0"/>
            </a:endParaRPr>
          </a:p>
        </p:txBody>
      </p:sp>
      <p:sp>
        <p:nvSpPr>
          <p:cNvPr id="91142" name="矩形 5">
            <a:hlinkClick r:id="rId2" action="ppaction://hlinksldjump"/>
          </p:cNvPr>
          <p:cNvSpPr>
            <a:spLocks noChangeArrowheads="1"/>
          </p:cNvSpPr>
          <p:nvPr/>
        </p:nvSpPr>
        <p:spPr bwMode="auto">
          <a:xfrm>
            <a:off x="1847850" y="234950"/>
            <a:ext cx="50292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6" name="组合 25"/>
          <p:cNvGrpSpPr/>
          <p:nvPr/>
        </p:nvGrpSpPr>
        <p:grpSpPr bwMode="auto">
          <a:xfrm>
            <a:off x="5840054" y="2976562"/>
            <a:ext cx="3446517" cy="903629"/>
            <a:chOff x="3992137" y="5707494"/>
            <a:chExt cx="4070195" cy="903715"/>
          </a:xfrm>
        </p:grpSpPr>
        <p:sp>
          <p:nvSpPr>
            <p:cNvPr id="91151" name="矩形 9"/>
            <p:cNvSpPr>
              <a:spLocks noChangeArrowheads="1"/>
            </p:cNvSpPr>
            <p:nvPr/>
          </p:nvSpPr>
          <p:spPr bwMode="auto">
            <a:xfrm>
              <a:off x="4380004" y="6150790"/>
              <a:ext cx="938886" cy="460419"/>
            </a:xfrm>
            <a:prstGeom prst="rect">
              <a:avLst/>
            </a:prstGeom>
            <a:noFill/>
            <a:ln w="9525">
              <a:solidFill>
                <a:srgbClr val="3333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区码</a:t>
              </a:r>
            </a:p>
          </p:txBody>
        </p:sp>
        <p:grpSp>
          <p:nvGrpSpPr>
            <p:cNvPr id="91152" name="组合 13"/>
            <p:cNvGrpSpPr/>
            <p:nvPr/>
          </p:nvGrpSpPr>
          <p:grpSpPr bwMode="auto">
            <a:xfrm>
              <a:off x="3992137" y="5731725"/>
              <a:ext cx="587123" cy="443296"/>
              <a:chOff x="3992137" y="5731725"/>
              <a:chExt cx="587123" cy="443296"/>
            </a:xfrm>
          </p:grpSpPr>
          <p:cxnSp>
            <p:nvCxnSpPr>
              <p:cNvPr id="91156" name="直接连接符 6"/>
              <p:cNvCxnSpPr>
                <a:cxnSpLocks noChangeShapeType="1"/>
              </p:cNvCxnSpPr>
              <p:nvPr/>
            </p:nvCxnSpPr>
            <p:spPr bwMode="auto">
              <a:xfrm>
                <a:off x="3992137" y="5731727"/>
                <a:ext cx="200722" cy="0"/>
              </a:xfrm>
              <a:prstGeom prst="line">
                <a:avLst/>
              </a:prstGeom>
              <a:noFill/>
              <a:ln w="19050"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57" name="直接箭头连接符 12"/>
              <p:cNvCxnSpPr>
                <a:cxnSpLocks noChangeShapeType="1"/>
                <a:endCxn id="378883" idx="2"/>
              </p:cNvCxnSpPr>
              <p:nvPr/>
            </p:nvCxnSpPr>
            <p:spPr bwMode="auto">
              <a:xfrm>
                <a:off x="4092500" y="5731725"/>
                <a:ext cx="486760" cy="443296"/>
              </a:xfrm>
              <a:prstGeom prst="straightConnector1">
                <a:avLst/>
              </a:prstGeom>
              <a:noFill/>
              <a:ln w="9525" algn="ctr">
                <a:solidFill>
                  <a:srgbClr val="3333FF"/>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1153" name="组合 15"/>
            <p:cNvGrpSpPr/>
            <p:nvPr/>
          </p:nvGrpSpPr>
          <p:grpSpPr bwMode="auto">
            <a:xfrm>
              <a:off x="5318548" y="5707494"/>
              <a:ext cx="2743784" cy="674129"/>
              <a:chOff x="1449075" y="5731727"/>
              <a:chExt cx="2743784" cy="674129"/>
            </a:xfrm>
          </p:grpSpPr>
          <p:cxnSp>
            <p:nvCxnSpPr>
              <p:cNvPr id="91154" name="直接连接符 16"/>
              <p:cNvCxnSpPr>
                <a:cxnSpLocks noChangeShapeType="1"/>
              </p:cNvCxnSpPr>
              <p:nvPr/>
            </p:nvCxnSpPr>
            <p:spPr bwMode="auto">
              <a:xfrm>
                <a:off x="3992137" y="5731727"/>
                <a:ext cx="200722" cy="0"/>
              </a:xfrm>
              <a:prstGeom prst="line">
                <a:avLst/>
              </a:prstGeom>
              <a:noFill/>
              <a:ln w="19050" algn="ctr">
                <a:solidFill>
                  <a:srgbClr val="3333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55" name="直接箭头连接符 17"/>
              <p:cNvCxnSpPr>
                <a:cxnSpLocks noChangeShapeType="1"/>
                <a:endCxn id="91151" idx="3"/>
              </p:cNvCxnSpPr>
              <p:nvPr/>
            </p:nvCxnSpPr>
            <p:spPr bwMode="auto">
              <a:xfrm flipH="1">
                <a:off x="1449075" y="5731727"/>
                <a:ext cx="2712415" cy="674129"/>
              </a:xfrm>
              <a:prstGeom prst="straightConnector1">
                <a:avLst/>
              </a:prstGeom>
              <a:noFill/>
              <a:ln w="9525" algn="ctr">
                <a:solidFill>
                  <a:srgbClr val="3333FF"/>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29" name="组合 28"/>
          <p:cNvGrpSpPr/>
          <p:nvPr/>
        </p:nvGrpSpPr>
        <p:grpSpPr bwMode="auto">
          <a:xfrm>
            <a:off x="6195654" y="2974975"/>
            <a:ext cx="3424872" cy="903629"/>
            <a:chOff x="4348976" y="5704740"/>
            <a:chExt cx="3991350" cy="903716"/>
          </a:xfrm>
        </p:grpSpPr>
        <p:cxnSp>
          <p:nvCxnSpPr>
            <p:cNvPr id="91145" name="直接连接符 10"/>
            <p:cNvCxnSpPr>
              <a:cxnSpLocks noChangeShapeType="1"/>
            </p:cNvCxnSpPr>
            <p:nvPr/>
          </p:nvCxnSpPr>
          <p:spPr bwMode="auto">
            <a:xfrm>
              <a:off x="4348976" y="5731727"/>
              <a:ext cx="200722" cy="0"/>
            </a:xfrm>
            <a:prstGeom prst="line">
              <a:avLst/>
            </a:prstGeom>
            <a:noFill/>
            <a:ln w="19050" algn="ctr">
              <a:solidFill>
                <a:srgbClr val="FF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1146" name="矩形 21"/>
            <p:cNvSpPr>
              <a:spLocks noChangeArrowheads="1"/>
            </p:cNvSpPr>
            <p:nvPr/>
          </p:nvSpPr>
          <p:spPr bwMode="auto">
            <a:xfrm>
              <a:off x="6415709" y="6148037"/>
              <a:ext cx="926517" cy="460419"/>
            </a:xfrm>
            <a:prstGeom prst="rect">
              <a:avLst/>
            </a:prstGeom>
            <a:noFill/>
            <a:ln w="9525">
              <a:solidFill>
                <a:srgbClr val="FF00FF"/>
              </a:solidFill>
              <a:miter lim="800000"/>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FF00FF"/>
                  </a:solidFill>
                </a:rPr>
                <a:t>位码</a:t>
              </a:r>
            </a:p>
          </p:txBody>
        </p:sp>
        <p:grpSp>
          <p:nvGrpSpPr>
            <p:cNvPr id="91147" name="组合 22"/>
            <p:cNvGrpSpPr/>
            <p:nvPr/>
          </p:nvGrpSpPr>
          <p:grpSpPr bwMode="auto">
            <a:xfrm>
              <a:off x="7280681" y="5704740"/>
              <a:ext cx="1059645" cy="595699"/>
              <a:chOff x="3133214" y="5731727"/>
              <a:chExt cx="1059645" cy="595699"/>
            </a:xfrm>
          </p:grpSpPr>
          <p:cxnSp>
            <p:nvCxnSpPr>
              <p:cNvPr id="91149" name="直接连接符 23"/>
              <p:cNvCxnSpPr>
                <a:cxnSpLocks noChangeShapeType="1"/>
              </p:cNvCxnSpPr>
              <p:nvPr/>
            </p:nvCxnSpPr>
            <p:spPr bwMode="auto">
              <a:xfrm>
                <a:off x="3992137" y="5731727"/>
                <a:ext cx="200722" cy="0"/>
              </a:xfrm>
              <a:prstGeom prst="line">
                <a:avLst/>
              </a:prstGeom>
              <a:noFill/>
              <a:ln w="19050" algn="ctr">
                <a:solidFill>
                  <a:srgbClr val="FF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150" name="直接箭头连接符 24"/>
              <p:cNvCxnSpPr>
                <a:cxnSpLocks noChangeShapeType="1"/>
              </p:cNvCxnSpPr>
              <p:nvPr/>
            </p:nvCxnSpPr>
            <p:spPr bwMode="auto">
              <a:xfrm flipH="1">
                <a:off x="3133214" y="5731727"/>
                <a:ext cx="959285" cy="595699"/>
              </a:xfrm>
              <a:prstGeom prst="straightConnector1">
                <a:avLst/>
              </a:prstGeom>
              <a:noFill/>
              <a:ln w="9525" algn="ctr">
                <a:solidFill>
                  <a:srgbClr val="FF00FF"/>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1148" name="直接箭头连接符 27"/>
            <p:cNvCxnSpPr>
              <a:cxnSpLocks noChangeShapeType="1"/>
              <a:endCxn id="91146" idx="1"/>
            </p:cNvCxnSpPr>
            <p:nvPr/>
          </p:nvCxnSpPr>
          <p:spPr bwMode="auto">
            <a:xfrm>
              <a:off x="4387915" y="5731092"/>
              <a:ext cx="2027918" cy="647143"/>
            </a:xfrm>
            <a:prstGeom prst="straightConnector1">
              <a:avLst/>
            </a:prstGeom>
            <a:noFill/>
            <a:ln w="9525" algn="ctr">
              <a:solidFill>
                <a:srgbClr val="FF00FF"/>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(3) </a:t>
            </a:r>
            <a:r>
              <a:rPr lang="zh-CN" altLang="en-US">
                <a:latin typeface="宋体" panose="02010600030101010101" pitchFamily="2" charset="-122"/>
              </a:rPr>
              <a:t>汉字机内码</a:t>
            </a:r>
            <a:endParaRPr lang="zh-CN" altLang="en-US"/>
          </a:p>
        </p:txBody>
      </p:sp>
      <p:sp>
        <p:nvSpPr>
          <p:cNvPr id="380931" name="Rectangle 3"/>
          <p:cNvSpPr>
            <a:spLocks noGrp="1" noChangeArrowheads="1"/>
          </p:cNvSpPr>
          <p:nvPr>
            <p:ph idx="1"/>
          </p:nvPr>
        </p:nvSpPr>
        <p:spPr/>
        <p:txBody>
          <a:bodyPr>
            <a:normAutofit lnSpcReduction="10000"/>
          </a:bodyPr>
          <a:lstStyle/>
          <a:p>
            <a:pPr eaLnBrk="1" hangingPunct="1">
              <a:spcBef>
                <a:spcPct val="0"/>
              </a:spcBef>
            </a:pPr>
            <a:r>
              <a:rPr lang="zh-CN" altLang="en-US" dirty="0">
                <a:solidFill>
                  <a:srgbClr val="FF0000"/>
                </a:solidFill>
              </a:rPr>
              <a:t>    汉字机内码简称汉字内码</a:t>
            </a:r>
            <a:r>
              <a:rPr lang="en-US" altLang="zh-CN" dirty="0"/>
              <a:t>,</a:t>
            </a:r>
            <a:r>
              <a:rPr lang="zh-CN" altLang="en-US" dirty="0"/>
              <a:t>是在计算机外部设备和信息系统内部存储、处理、传输汉字用的代码。</a:t>
            </a:r>
            <a:endParaRPr lang="en-US" altLang="zh-CN" dirty="0"/>
          </a:p>
          <a:p>
            <a:pPr eaLnBrk="1" hangingPunct="1">
              <a:spcBef>
                <a:spcPct val="0"/>
              </a:spcBef>
            </a:pPr>
            <a:r>
              <a:rPr lang="zh-CN" altLang="en-US" dirty="0">
                <a:solidFill>
                  <a:srgbClr val="9900CC"/>
                </a:solidFill>
              </a:rPr>
              <a:t>    在西文计算机中，无交换码和内码之分</a:t>
            </a:r>
            <a:r>
              <a:rPr lang="zh-CN" altLang="en-US" dirty="0"/>
              <a:t>，一般以</a:t>
            </a:r>
            <a:r>
              <a:rPr lang="en-US" altLang="zh-CN" dirty="0"/>
              <a:t>ASCII</a:t>
            </a:r>
            <a:r>
              <a:rPr lang="zh-CN" altLang="en-US" dirty="0"/>
              <a:t>码作为内码。英文字符的机内码是</a:t>
            </a:r>
            <a:r>
              <a:rPr lang="en-US" altLang="zh-CN" dirty="0"/>
              <a:t>7</a:t>
            </a:r>
            <a:r>
              <a:rPr lang="zh-CN" altLang="en-US" dirty="0"/>
              <a:t>位</a:t>
            </a:r>
            <a:r>
              <a:rPr lang="en-US" altLang="zh-CN" dirty="0"/>
              <a:t>ASCII</a:t>
            </a:r>
            <a:r>
              <a:rPr lang="zh-CN" altLang="en-US" dirty="0"/>
              <a:t>码，最高位为</a:t>
            </a:r>
            <a:r>
              <a:rPr lang="en-US" altLang="zh-CN" dirty="0"/>
              <a:t>0 </a:t>
            </a:r>
            <a:r>
              <a:rPr lang="zh-CN" altLang="en-US" dirty="0"/>
              <a:t>（即</a:t>
            </a:r>
            <a:r>
              <a:rPr lang="en-US" altLang="zh-CN" dirty="0"/>
              <a:t>D7</a:t>
            </a:r>
            <a:r>
              <a:rPr lang="zh-CN" altLang="en-US" dirty="0"/>
              <a:t>＝</a:t>
            </a:r>
            <a:r>
              <a:rPr lang="en-US" altLang="zh-CN" dirty="0"/>
              <a:t>0</a:t>
            </a:r>
            <a:r>
              <a:rPr lang="zh-CN" altLang="en-US" dirty="0"/>
              <a:t>）。</a:t>
            </a:r>
            <a:endParaRPr lang="en-US" altLang="zh-CN" dirty="0"/>
          </a:p>
          <a:p>
            <a:pPr eaLnBrk="1" hangingPunct="1">
              <a:spcBef>
                <a:spcPct val="0"/>
              </a:spcBef>
            </a:pPr>
            <a:r>
              <a:rPr lang="zh-CN" altLang="en-US" dirty="0">
                <a:solidFill>
                  <a:srgbClr val="FF0000"/>
                </a:solidFill>
              </a:rPr>
              <a:t>    汉字内码用两个字节表示：</a:t>
            </a:r>
            <a:r>
              <a:rPr lang="zh-CN" altLang="en-US" dirty="0">
                <a:solidFill>
                  <a:srgbClr val="FF00FF"/>
                </a:solidFill>
              </a:rPr>
              <a:t>为区分汉字与英文字符</a:t>
            </a:r>
            <a:r>
              <a:rPr lang="zh-CN" altLang="en-US" dirty="0"/>
              <a:t>，</a:t>
            </a:r>
            <a:r>
              <a:rPr lang="zh-CN" altLang="en-US" dirty="0">
                <a:solidFill>
                  <a:srgbClr val="FF0000"/>
                </a:solidFill>
              </a:rPr>
              <a:t>将汉字国标码每字节的最高位置</a:t>
            </a:r>
            <a:r>
              <a:rPr lang="en-US" altLang="zh-CN" dirty="0">
                <a:solidFill>
                  <a:srgbClr val="FF0000"/>
                </a:solidFill>
              </a:rPr>
              <a:t>1</a:t>
            </a:r>
            <a:r>
              <a:rPr lang="zh-CN" altLang="en-US" dirty="0"/>
              <a:t>，即</a:t>
            </a:r>
            <a:r>
              <a:rPr lang="zh-CN" altLang="en-US" dirty="0">
                <a:solidFill>
                  <a:srgbClr val="FF0000"/>
                </a:solidFill>
              </a:rPr>
              <a:t>汉字机内码</a:t>
            </a:r>
            <a:r>
              <a:rPr lang="zh-CN" altLang="en-US" dirty="0"/>
              <a:t>。</a:t>
            </a:r>
            <a:endParaRPr lang="en-US" altLang="zh-CN" dirty="0"/>
          </a:p>
          <a:p>
            <a:pPr eaLnBrk="1" hangingPunct="1">
              <a:spcBef>
                <a:spcPct val="0"/>
              </a:spcBef>
            </a:pPr>
            <a:endParaRPr lang="en-US" altLang="zh-CN" dirty="0"/>
          </a:p>
          <a:p>
            <a:pPr>
              <a:spcBef>
                <a:spcPct val="0"/>
              </a:spcBef>
            </a:pPr>
            <a:r>
              <a:rPr lang="zh-CN" altLang="en-US" dirty="0">
                <a:solidFill>
                  <a:srgbClr val="FF0000"/>
                </a:solidFill>
              </a:rPr>
              <a:t>    The Chinese character internal code, abbreviated as the Chinese character internal code, is a code used to store, process and transmit Chinese characters in the internal storage, processing and transmission of computer external devices and information systems.</a:t>
            </a:r>
            <a:endParaRPr lang="en-US" altLang="zh-CN" dirty="0"/>
          </a:p>
          <a:p>
            <a:pPr>
              <a:spcBef>
                <a:spcPct val="0"/>
              </a:spcBef>
            </a:pPr>
            <a:r>
              <a:rPr lang="zh-CN" altLang="en-US" dirty="0">
                <a:solidFill>
                  <a:srgbClr val="9900CC"/>
                </a:solidFill>
              </a:rPr>
              <a:t>    In western computers, there is no exchange code and internal code, generally ASCII code as the internal code. The internal code of English characters is 7-bit ASCII code, the highest bit is 0 (that is, D7 = 0).</a:t>
            </a:r>
            <a:endParaRPr lang="en-US" altLang="zh-CN" dirty="0"/>
          </a:p>
          <a:p>
            <a:pPr>
              <a:spcBef>
                <a:spcPct val="0"/>
              </a:spcBef>
            </a:pPr>
            <a:r>
              <a:rPr lang="zh-CN" altLang="en-US" dirty="0">
                <a:solidFill>
                  <a:srgbClr val="FF0000"/>
                </a:solidFill>
              </a:rPr>
              <a:t>    The Chinese character internal code is expressed in two bytes: to distinguish Chinese characters from English characters, the highest bit of each byte of the Chinese character national standard code is 1, that is, the Chinese character</a:t>
            </a:r>
            <a:endParaRPr lang="zh-CN" altLang="en-US" dirty="0"/>
          </a:p>
          <a:p>
            <a:pPr eaLnBrk="1" hangingPunct="1">
              <a:spcBef>
                <a:spcPct val="0"/>
              </a:spcBef>
            </a:pP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(3) </a:t>
            </a:r>
            <a:r>
              <a:rPr lang="zh-CN" altLang="en-US">
                <a:latin typeface="宋体" panose="02010600030101010101" pitchFamily="2" charset="-122"/>
              </a:rPr>
              <a:t>汉字机内码</a:t>
            </a:r>
            <a:endParaRPr lang="zh-CN" altLang="en-US"/>
          </a:p>
        </p:txBody>
      </p:sp>
      <p:sp>
        <p:nvSpPr>
          <p:cNvPr id="6" name="Rectangle 3"/>
          <p:cNvSpPr txBox="1">
            <a:spLocks noChangeArrowheads="1"/>
          </p:cNvSpPr>
          <p:nvPr/>
        </p:nvSpPr>
        <p:spPr bwMode="auto">
          <a:xfrm>
            <a:off x="1670685" y="1225826"/>
            <a:ext cx="8896350" cy="1816100"/>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spcBef>
                <a:spcPts val="0"/>
              </a:spcBef>
              <a:buFontTx/>
              <a:buNone/>
              <a:defRPr/>
            </a:pPr>
            <a:r>
              <a:rPr lang="zh-CN" altLang="en-US" kern="0" dirty="0"/>
              <a:t>如，“啊”的</a:t>
            </a:r>
            <a:r>
              <a:rPr lang="zh-CN" altLang="en-US" kern="0" dirty="0">
                <a:solidFill>
                  <a:srgbClr val="9900CC"/>
                </a:solidFill>
              </a:rPr>
              <a:t>国标码</a:t>
            </a:r>
            <a:r>
              <a:rPr lang="zh-CN" altLang="en-US" kern="0" dirty="0"/>
              <a:t>为</a:t>
            </a:r>
            <a:r>
              <a:rPr lang="en-US" altLang="zh-CN" kern="0" dirty="0">
                <a:solidFill>
                  <a:srgbClr val="FF0000"/>
                </a:solidFill>
              </a:rPr>
              <a:t>0</a:t>
            </a:r>
            <a:r>
              <a:rPr lang="en-US" altLang="zh-CN" kern="0" dirty="0"/>
              <a:t>011</a:t>
            </a:r>
            <a:r>
              <a:rPr lang="en-US" altLang="zh-CN" sz="600" kern="0" dirty="0"/>
              <a:t> </a:t>
            </a:r>
            <a:r>
              <a:rPr lang="en-US" altLang="zh-CN" kern="0" dirty="0"/>
              <a:t>0000 </a:t>
            </a:r>
            <a:r>
              <a:rPr lang="en-US" altLang="zh-CN" sz="1200" kern="0" dirty="0"/>
              <a:t> </a:t>
            </a:r>
            <a:r>
              <a:rPr lang="en-US" altLang="zh-CN" kern="0" dirty="0">
                <a:solidFill>
                  <a:srgbClr val="FF0000"/>
                </a:solidFill>
              </a:rPr>
              <a:t>0</a:t>
            </a:r>
            <a:r>
              <a:rPr lang="en-US" altLang="zh-CN" kern="0" dirty="0"/>
              <a:t>010</a:t>
            </a:r>
            <a:r>
              <a:rPr lang="en-US" altLang="zh-CN" sz="600" kern="0" dirty="0"/>
              <a:t> </a:t>
            </a:r>
            <a:r>
              <a:rPr lang="en-US" altLang="zh-CN" kern="0" dirty="0"/>
              <a:t>0001</a:t>
            </a:r>
            <a:r>
              <a:rPr lang="zh-CN" altLang="en-US" kern="0" dirty="0"/>
              <a:t>（</a:t>
            </a:r>
            <a:r>
              <a:rPr lang="en-US" altLang="zh-CN" kern="0" dirty="0"/>
              <a:t>3021H</a:t>
            </a:r>
            <a:r>
              <a:rPr lang="zh-CN" altLang="en-US" kern="0" dirty="0"/>
              <a:t>）， </a:t>
            </a:r>
            <a:endParaRPr lang="en-US" altLang="zh-CN" kern="0" dirty="0"/>
          </a:p>
          <a:p>
            <a:pPr algn="l" eaLnBrk="1" hangingPunct="1">
              <a:spcBef>
                <a:spcPts val="0"/>
              </a:spcBef>
              <a:buFontTx/>
              <a:buNone/>
              <a:defRPr/>
            </a:pPr>
            <a:r>
              <a:rPr lang="en-US" altLang="zh-CN" kern="0" dirty="0">
                <a:solidFill>
                  <a:srgbClr val="9900CC"/>
                </a:solidFill>
              </a:rPr>
              <a:t>            </a:t>
            </a:r>
            <a:r>
              <a:rPr lang="zh-CN" altLang="en-US" kern="0" dirty="0">
                <a:solidFill>
                  <a:srgbClr val="9900CC"/>
                </a:solidFill>
              </a:rPr>
              <a:t>机内码</a:t>
            </a:r>
            <a:r>
              <a:rPr lang="zh-CN" altLang="en-US" kern="0" dirty="0"/>
              <a:t>为</a:t>
            </a:r>
            <a:r>
              <a:rPr lang="en-US" altLang="zh-CN" kern="0" dirty="0">
                <a:solidFill>
                  <a:srgbClr val="FF0000"/>
                </a:solidFill>
              </a:rPr>
              <a:t>1</a:t>
            </a:r>
            <a:r>
              <a:rPr lang="en-US" altLang="zh-CN" kern="0" dirty="0"/>
              <a:t>011</a:t>
            </a:r>
            <a:r>
              <a:rPr lang="en-US" altLang="zh-CN" sz="600" kern="0" dirty="0"/>
              <a:t> </a:t>
            </a:r>
            <a:r>
              <a:rPr lang="en-US" altLang="zh-CN" kern="0" dirty="0"/>
              <a:t>0000 </a:t>
            </a:r>
            <a:r>
              <a:rPr lang="en-US" altLang="zh-CN" sz="1200" kern="0" dirty="0"/>
              <a:t> </a:t>
            </a:r>
            <a:r>
              <a:rPr lang="en-US" altLang="zh-CN" kern="0" dirty="0">
                <a:solidFill>
                  <a:srgbClr val="FF0000"/>
                </a:solidFill>
              </a:rPr>
              <a:t>1</a:t>
            </a:r>
            <a:r>
              <a:rPr lang="en-US" altLang="zh-CN" kern="0" dirty="0"/>
              <a:t>010</a:t>
            </a:r>
            <a:r>
              <a:rPr lang="en-US" altLang="zh-CN" sz="600" kern="0" dirty="0"/>
              <a:t> </a:t>
            </a:r>
            <a:r>
              <a:rPr lang="en-US" altLang="zh-CN" kern="0" dirty="0"/>
              <a:t>0001</a:t>
            </a:r>
            <a:r>
              <a:rPr lang="zh-CN" altLang="en-US" kern="0" dirty="0"/>
              <a:t>（</a:t>
            </a:r>
            <a:r>
              <a:rPr lang="en-US" altLang="zh-CN" kern="0" dirty="0"/>
              <a:t>B0A1H</a:t>
            </a:r>
            <a:r>
              <a:rPr lang="zh-CN" altLang="en-US" kern="0" dirty="0"/>
              <a:t>）</a:t>
            </a:r>
          </a:p>
          <a:p>
            <a:pPr algn="l" eaLnBrk="1" hangingPunct="1">
              <a:spcBef>
                <a:spcPts val="0"/>
              </a:spcBef>
              <a:buFontTx/>
              <a:buNone/>
              <a:defRPr/>
            </a:pPr>
            <a:r>
              <a:rPr lang="zh-CN" altLang="en-US" kern="0" dirty="0"/>
              <a:t>      </a:t>
            </a:r>
            <a:r>
              <a:rPr lang="zh-CN" altLang="en-US" kern="0" dirty="0">
                <a:solidFill>
                  <a:srgbClr val="FF0000"/>
                </a:solidFill>
              </a:rPr>
              <a:t>汉字机内码＝汉字国标码＋</a:t>
            </a:r>
            <a:r>
              <a:rPr lang="en-US" altLang="zh-CN" kern="0" dirty="0">
                <a:solidFill>
                  <a:srgbClr val="FF0000"/>
                </a:solidFill>
              </a:rPr>
              <a:t>8080H</a:t>
            </a:r>
          </a:p>
        </p:txBody>
      </p:sp>
      <p:sp>
        <p:nvSpPr>
          <p:cNvPr id="4" name="Rectangle 3"/>
          <p:cNvSpPr txBox="1">
            <a:spLocks noChangeArrowheads="1"/>
          </p:cNvSpPr>
          <p:nvPr/>
        </p:nvSpPr>
        <p:spPr bwMode="auto">
          <a:xfrm>
            <a:off x="1647825" y="3251268"/>
            <a:ext cx="8896350" cy="3009831"/>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spcBef>
                <a:spcPts val="0"/>
              </a:spcBef>
              <a:buFontTx/>
              <a:buNone/>
              <a:defRPr/>
            </a:pPr>
            <a:r>
              <a:rPr lang="zh-CN" altLang="en-US" sz="2400" kern="0" dirty="0"/>
              <a:t>For example, the national code for "ah" is 0 011 0000 0 010 0001 (3021H),</a:t>
            </a:r>
            <a:endParaRPr lang="en-US" altLang="zh-CN" sz="2400" kern="0" dirty="0"/>
          </a:p>
          <a:p>
            <a:pPr algn="l" eaLnBrk="1" hangingPunct="1">
              <a:spcBef>
                <a:spcPts val="0"/>
              </a:spcBef>
              <a:buFontTx/>
              <a:buNone/>
              <a:defRPr/>
            </a:pPr>
            <a:r>
              <a:rPr lang="zh-CN" altLang="en-US" sz="2400" kern="0" dirty="0">
                <a:solidFill>
                  <a:srgbClr val="9900CC"/>
                </a:solidFill>
              </a:rPr>
              <a:t>The internal code is 1 011 0000 1 010 0001 (B0A1H)</a:t>
            </a:r>
            <a:endParaRPr lang="zh-CN" altLang="en-US" sz="2400" kern="0" dirty="0"/>
          </a:p>
          <a:p>
            <a:pPr algn="l" eaLnBrk="1" hangingPunct="1">
              <a:spcBef>
                <a:spcPts val="0"/>
              </a:spcBef>
              <a:buFontTx/>
              <a:buNone/>
              <a:defRPr/>
            </a:pPr>
            <a:r>
              <a:rPr lang="zh-CN" altLang="en-US" sz="2400" kern="0" dirty="0">
                <a:solidFill>
                  <a:srgbClr val="FF0000"/>
                </a:solidFill>
              </a:rPr>
              <a:t>Chinese character machine code = Chinese character national standard code + 8080H</a:t>
            </a:r>
            <a:endParaRPr lang="en-US" altLang="zh-CN" sz="2400" kern="0"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2"/>
          <p:cNvSpPr>
            <a:spLocks noGrp="1" noChangeArrowheads="1"/>
          </p:cNvSpPr>
          <p:nvPr>
            <p:ph type="title"/>
          </p:nvPr>
        </p:nvSpPr>
        <p:spPr/>
        <p:txBody>
          <a:bodyPr>
            <a:normAutofit/>
          </a:bodyPr>
          <a:lstStyle/>
          <a:p>
            <a:pPr eaLnBrk="1" hangingPunct="1"/>
            <a:r>
              <a:rPr lang="en-US" altLang="zh-CN" sz="4000" dirty="0">
                <a:latin typeface="宋体" panose="02010600030101010101" pitchFamily="2" charset="-122"/>
              </a:rPr>
              <a:t>(4) </a:t>
            </a:r>
            <a:r>
              <a:rPr lang="zh-CN" altLang="en-US" sz="4000" dirty="0">
                <a:latin typeface="宋体" panose="02010600030101010101" pitchFamily="2" charset="-122"/>
              </a:rPr>
              <a:t>汉字字形码</a:t>
            </a:r>
            <a:endParaRPr lang="zh-CN" altLang="en-US" sz="4000" dirty="0"/>
          </a:p>
        </p:txBody>
      </p:sp>
      <p:sp>
        <p:nvSpPr>
          <p:cNvPr id="382979" name="Rectangle 3"/>
          <p:cNvSpPr>
            <a:spLocks noGrp="1" noChangeArrowheads="1"/>
          </p:cNvSpPr>
          <p:nvPr>
            <p:ph idx="1"/>
          </p:nvPr>
        </p:nvSpPr>
        <p:spPr>
          <a:xfrm>
            <a:off x="1097280" y="1230630"/>
            <a:ext cx="10347960" cy="5499735"/>
          </a:xfrm>
        </p:spPr>
        <p:txBody>
          <a:bodyPr/>
          <a:lstStyle/>
          <a:p>
            <a:pPr eaLnBrk="1" hangingPunct="1">
              <a:lnSpc>
                <a:spcPct val="100000"/>
              </a:lnSpc>
              <a:spcBef>
                <a:spcPct val="0"/>
              </a:spcBef>
            </a:pPr>
            <a:r>
              <a:rPr lang="zh-CN" altLang="en-US" dirty="0">
                <a:solidFill>
                  <a:srgbClr val="FF0000"/>
                </a:solidFill>
              </a:rPr>
              <a:t>汉字用点阵方式表示其外形</a:t>
            </a:r>
            <a:r>
              <a:rPr lang="zh-CN" altLang="en-US" dirty="0"/>
              <a:t>，这个点阵称为</a:t>
            </a:r>
            <a:r>
              <a:rPr lang="zh-CN" altLang="en-US" dirty="0">
                <a:solidFill>
                  <a:srgbClr val="FF0000"/>
                </a:solidFill>
              </a:rPr>
              <a:t>汉字字模</a:t>
            </a:r>
            <a:r>
              <a:rPr lang="zh-CN" altLang="en-US" dirty="0"/>
              <a:t>，也称为</a:t>
            </a:r>
            <a:r>
              <a:rPr lang="zh-CN" altLang="en-US" dirty="0">
                <a:solidFill>
                  <a:srgbClr val="FF0000"/>
                </a:solidFill>
              </a:rPr>
              <a:t>汉字字形码</a:t>
            </a:r>
            <a:r>
              <a:rPr lang="zh-CN" altLang="en-US" dirty="0"/>
              <a:t>。</a:t>
            </a:r>
          </a:p>
          <a:p>
            <a:pPr eaLnBrk="1" hangingPunct="1">
              <a:lnSpc>
                <a:spcPct val="100000"/>
              </a:lnSpc>
              <a:spcBef>
                <a:spcPct val="0"/>
              </a:spcBef>
              <a:buFontTx/>
              <a:buNone/>
            </a:pPr>
            <a:r>
              <a:rPr lang="zh-CN" altLang="en-US" dirty="0"/>
              <a:t>    不管汉字笔划多少，都可在同样的方块中书写，把方块分割为许多小方块，组成一个</a:t>
            </a:r>
            <a:r>
              <a:rPr lang="zh-CN" altLang="en-US" dirty="0">
                <a:solidFill>
                  <a:srgbClr val="FF0000"/>
                </a:solidFill>
              </a:rPr>
              <a:t>点阵</a:t>
            </a:r>
            <a:r>
              <a:rPr lang="zh-CN" altLang="en-US" dirty="0"/>
              <a:t>，每个小方块就是点阵中的一点，即二进制的一位。每个点</a:t>
            </a:r>
            <a:r>
              <a:rPr lang="zh-CN" altLang="en-US" dirty="0">
                <a:solidFill>
                  <a:srgbClr val="FF0000"/>
                </a:solidFill>
              </a:rPr>
              <a:t>由</a:t>
            </a:r>
            <a:r>
              <a:rPr lang="en-US" altLang="zh-CN" dirty="0">
                <a:solidFill>
                  <a:srgbClr val="FF0000"/>
                </a:solidFill>
              </a:rPr>
              <a:t>1</a:t>
            </a:r>
            <a:r>
              <a:rPr lang="zh-CN" altLang="en-US" dirty="0">
                <a:solidFill>
                  <a:srgbClr val="FF0000"/>
                </a:solidFill>
              </a:rPr>
              <a:t>和</a:t>
            </a:r>
            <a:r>
              <a:rPr lang="en-US" altLang="zh-CN" dirty="0">
                <a:solidFill>
                  <a:srgbClr val="FF0000"/>
                </a:solidFill>
              </a:rPr>
              <a:t>0</a:t>
            </a:r>
            <a:r>
              <a:rPr lang="zh-CN" altLang="en-US" dirty="0">
                <a:solidFill>
                  <a:srgbClr val="FF0000"/>
                </a:solidFill>
              </a:rPr>
              <a:t>表示“白”和“黑”两种颜色</a:t>
            </a:r>
            <a:r>
              <a:rPr lang="zh-CN" altLang="en-US" dirty="0"/>
              <a:t>。用这样的点阵就可输出汉字。</a:t>
            </a:r>
            <a:endParaRPr lang="en-US" altLang="zh-CN" dirty="0"/>
          </a:p>
          <a:p>
            <a:pPr marL="91440" marR="0" lvl="0" indent="-91440" algn="l" defTabSz="914400" rtl="0" eaLnBrk="1" fontAlgn="auto" latinLnBrk="0" hangingPunct="1">
              <a:lnSpc>
                <a:spcPct val="100000"/>
              </a:lnSpc>
              <a:spcBef>
                <a:spcPct val="0"/>
              </a:spcBef>
              <a:spcAft>
                <a:spcPts val="200"/>
              </a:spcAft>
              <a:buClr>
                <a:srgbClr val="E48312"/>
              </a:buClr>
              <a:buSzPct val="100000"/>
              <a:buFont typeface="Calibri" panose="020F0502020204030204" charset="0"/>
              <a:buChar char=" "/>
              <a:defRPr/>
            </a:pPr>
            <a:r>
              <a:rPr kumimoji="0" lang="zh-CN" altLang="en-US" sz="2000" b="0" i="0" u="none" strike="noStrike" kern="1200" cap="none" spc="0" normalizeH="0" baseline="0" noProof="0" dirty="0">
                <a:ln>
                  <a:noFill/>
                </a:ln>
                <a:solidFill>
                  <a:srgbClr val="FF0000"/>
                </a:solidFill>
                <a:effectLst/>
                <a:uLnTx/>
                <a:uFillTx/>
                <a:latin typeface="Calibri" panose="020F0502020204030204"/>
                <a:ea typeface="宋体" panose="02010600030101010101" pitchFamily="2" charset="-122"/>
                <a:cs typeface="+mn-cs"/>
              </a:rPr>
              <a:t>    Chinese characters are represented by a dot matrix, which is called the Chinese character pattern, also called the Chinese character shape code.</a:t>
            </a:r>
            <a:endParaRPr kumimoji="0" lang="zh-CN" altLang="en-US" sz="2000" b="0" i="0" u="none" strike="noStrike" kern="1200" cap="none" spc="0" normalizeH="0" baseline="0" noProof="0" dirty="0">
              <a:ln>
                <a:noFill/>
              </a:ln>
              <a:solidFill>
                <a:srgbClr val="000000">
                  <a:lumMod val="75000"/>
                  <a:lumOff val="25000"/>
                </a:srgbClr>
              </a:solidFill>
              <a:effectLst/>
              <a:uLnTx/>
              <a:uFillTx/>
              <a:latin typeface="Calibri" panose="020F0502020204030204"/>
              <a:ea typeface="宋体" panose="02010600030101010101" pitchFamily="2" charset="-122"/>
              <a:cs typeface="+mn-cs"/>
            </a:endParaRPr>
          </a:p>
          <a:p>
            <a:pPr eaLnBrk="1" hangingPunct="1">
              <a:lnSpc>
                <a:spcPct val="100000"/>
              </a:lnSpc>
              <a:spcBef>
                <a:spcPct val="0"/>
              </a:spcBef>
              <a:buFontTx/>
              <a:buNone/>
            </a:pPr>
            <a:endParaRPr lang="en-US" altLang="zh-CN" dirty="0"/>
          </a:p>
          <a:p>
            <a:pPr eaLnBrk="1" hangingPunct="1">
              <a:lnSpc>
                <a:spcPct val="100000"/>
              </a:lnSpc>
              <a:spcBef>
                <a:spcPct val="0"/>
              </a:spcBef>
              <a:buFontTx/>
              <a:buNone/>
            </a:pPr>
            <a:endParaRPr lang="en-US" altLang="zh-CN" dirty="0"/>
          </a:p>
        </p:txBody>
      </p:sp>
      <p:pic>
        <p:nvPicPr>
          <p:cNvPr id="430082" name="Picture 2" descr="http://g.hiphotos.baidu.com/zhidao/wh%3D600%2C800/sign=73d7627642166d2238221d92761325cf/aa64034f78f0f73689efa9bc0b55b319ebc4137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087" y="4058432"/>
            <a:ext cx="4416163" cy="2075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1318419" y="3525811"/>
            <a:ext cx="1631950" cy="460375"/>
          </a:xfrm>
          <a:prstGeom prst="rect">
            <a:avLst/>
          </a:prstGeom>
          <a:solidFill>
            <a:schemeClr val="tx1">
              <a:lumMod val="50000"/>
              <a:lumOff val="50000"/>
              <a:alpha val="36863"/>
            </a:schemeClr>
          </a:solidFill>
        </p:spPr>
        <p:txBody>
          <a:bodyPr wrap="none">
            <a:spAutoFit/>
          </a:bodyPr>
          <a:lstStyle/>
          <a:p>
            <a:pPr algn="ctr" eaLnBrk="1" hangingPunct="1">
              <a:defRPr/>
            </a:pPr>
            <a:r>
              <a:rPr lang="en-US" altLang="zh-CN" sz="2400" b="1" dirty="0">
                <a:solidFill>
                  <a:srgbClr val="FF0000"/>
                </a:solidFill>
                <a:latin typeface="宋体" panose="02010600030101010101" pitchFamily="2" charset="-122"/>
              </a:rPr>
              <a:t>16</a:t>
            </a:r>
            <a:r>
              <a:rPr lang="zh-CN" altLang="en-US" sz="2400" b="1" dirty="0">
                <a:solidFill>
                  <a:srgbClr val="FF0000"/>
                </a:solidFill>
              </a:rPr>
              <a:t> *</a:t>
            </a:r>
            <a:r>
              <a:rPr lang="en-US" altLang="zh-CN" sz="2400" b="1" dirty="0">
                <a:solidFill>
                  <a:srgbClr val="FF0000"/>
                </a:solidFill>
              </a:rPr>
              <a:t>16</a:t>
            </a:r>
            <a:r>
              <a:rPr lang="zh-CN" altLang="en-US" sz="2400" b="1" dirty="0">
                <a:solidFill>
                  <a:srgbClr val="FF0000"/>
                </a:solidFill>
                <a:latin typeface="宋体" panose="02010600030101010101" pitchFamily="2" charset="-122"/>
              </a:rPr>
              <a:t>点阵</a:t>
            </a:r>
            <a:endParaRPr lang="zh-CN" altLang="en-US" sz="2400" b="1" dirty="0">
              <a:solidFill>
                <a:srgbClr val="FF0000"/>
              </a:solidFill>
            </a:endParaRPr>
          </a:p>
        </p:txBody>
      </p:sp>
      <p:sp>
        <p:nvSpPr>
          <p:cNvPr id="94218" name="矩形 5"/>
          <p:cNvSpPr>
            <a:spLocks noChangeArrowheads="1"/>
          </p:cNvSpPr>
          <p:nvPr/>
        </p:nvSpPr>
        <p:spPr bwMode="auto">
          <a:xfrm>
            <a:off x="6202045" y="3705860"/>
            <a:ext cx="5365750" cy="829945"/>
          </a:xfrm>
          <a:prstGeom prst="rect">
            <a:avLst/>
          </a:prstGeom>
          <a:solidFill>
            <a:schemeClr val="bg1"/>
          </a:solidFill>
          <a:ln w="9525">
            <a:solidFill>
              <a:srgbClr val="FF0000"/>
            </a:solidFill>
            <a:miter lim="800000"/>
          </a:ln>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solidFill>
                  <a:srgbClr val="0000FF"/>
                </a:solidFill>
                <a:latin typeface="guobiaoma"/>
              </a:rPr>
              <a:t>“你”字的</a:t>
            </a:r>
            <a:r>
              <a:rPr lang="zh-CN" altLang="en-US" sz="2400" dirty="0">
                <a:solidFill>
                  <a:srgbClr val="0000FF"/>
                </a:solidFill>
              </a:rPr>
              <a:t>区位码是</a:t>
            </a:r>
            <a:r>
              <a:rPr lang="en-US" altLang="zh-CN" sz="2400" dirty="0">
                <a:solidFill>
                  <a:srgbClr val="0000FF"/>
                </a:solidFill>
              </a:rPr>
              <a:t>: 3667</a:t>
            </a:r>
            <a:r>
              <a:rPr lang="zh-CN" altLang="en-US" sz="2400" dirty="0">
                <a:solidFill>
                  <a:srgbClr val="0000FF"/>
                </a:solidFill>
              </a:rPr>
              <a:t>；</a:t>
            </a:r>
            <a:endParaRPr lang="en-US" altLang="zh-CN" sz="2400" dirty="0">
              <a:solidFill>
                <a:srgbClr val="0000FF"/>
              </a:solidFill>
            </a:endParaRPr>
          </a:p>
          <a:p>
            <a:pPr algn="l" eaLnBrk="1" hangingPunct="1"/>
            <a:r>
              <a:rPr lang="zh-CN" altLang="en-US" sz="2400" dirty="0">
                <a:solidFill>
                  <a:srgbClr val="0000FF"/>
                </a:solidFill>
                <a:latin typeface="guobiaoma"/>
              </a:rPr>
              <a:t>国标码</a:t>
            </a:r>
            <a:r>
              <a:rPr lang="en-US" altLang="zh-CN" sz="2400" dirty="0">
                <a:solidFill>
                  <a:srgbClr val="0000FF"/>
                </a:solidFill>
                <a:latin typeface="guobiaoma"/>
              </a:rPr>
              <a:t>: </a:t>
            </a:r>
            <a:r>
              <a:rPr lang="en-US" altLang="zh-CN" sz="2400" dirty="0">
                <a:solidFill>
                  <a:srgbClr val="0000FF"/>
                </a:solidFill>
                <a:latin typeface="+mn-lt"/>
                <a:cs typeface="+mn-lt"/>
              </a:rPr>
              <a:t>4463H</a:t>
            </a:r>
            <a:r>
              <a:rPr lang="zh-CN" altLang="en-US" sz="2400" dirty="0">
                <a:solidFill>
                  <a:srgbClr val="0000FF"/>
                </a:solidFill>
                <a:latin typeface="+mn-lt"/>
                <a:cs typeface="+mn-lt"/>
              </a:rPr>
              <a:t>；机内码</a:t>
            </a:r>
            <a:r>
              <a:rPr lang="en-US" altLang="zh-CN" sz="2400" dirty="0">
                <a:solidFill>
                  <a:srgbClr val="0000FF"/>
                </a:solidFill>
                <a:latin typeface="+mn-lt"/>
                <a:cs typeface="+mn-lt"/>
              </a:rPr>
              <a:t>:C4E3H</a:t>
            </a:r>
            <a:endParaRPr lang="zh-CN" altLang="en-US" sz="2400" dirty="0">
              <a:solidFill>
                <a:srgbClr val="0000FF"/>
              </a:solidFill>
              <a:latin typeface="+mn-lt"/>
              <a:cs typeface="+mn-lt"/>
            </a:endParaRPr>
          </a:p>
        </p:txBody>
      </p:sp>
      <p:sp>
        <p:nvSpPr>
          <p:cNvPr id="2" name="文本框 1"/>
          <p:cNvSpPr txBox="1"/>
          <p:nvPr/>
        </p:nvSpPr>
        <p:spPr>
          <a:xfrm>
            <a:off x="6044565" y="4481830"/>
            <a:ext cx="5742940" cy="645160"/>
          </a:xfrm>
          <a:prstGeom prst="rect">
            <a:avLst/>
          </a:prstGeom>
        </p:spPr>
        <p:txBody>
          <a:bodyPr wrap="square">
            <a:spAutoFit/>
          </a:bodyPr>
          <a:lstStyle/>
          <a:p>
            <a:r>
              <a:rPr lang="zh-CN" altLang="en-US" dirty="0">
                <a:solidFill>
                  <a:srgbClr val="0000FF"/>
                </a:solidFill>
                <a:ea typeface="宋体" panose="02010600030101010101" pitchFamily="2" charset="-122"/>
                <a:cs typeface="+mn-lt"/>
              </a:rPr>
              <a:t>The zone code for the character “你” is: 3667; </a:t>
            </a:r>
          </a:p>
          <a:p>
            <a:r>
              <a:rPr lang="zh-CN" altLang="en-US" dirty="0">
                <a:solidFill>
                  <a:srgbClr val="0000FF"/>
                </a:solidFill>
                <a:ea typeface="宋体" panose="02010600030101010101" pitchFamily="2" charset="-122"/>
                <a:cs typeface="+mn-lt"/>
              </a:rPr>
              <a:t>GB code: 4463H; Internal code: C4E3H</a:t>
            </a:r>
          </a:p>
        </p:txBody>
      </p:sp>
      <p:sp>
        <p:nvSpPr>
          <p:cNvPr id="3" name="矩形 2"/>
          <p:cNvSpPr/>
          <p:nvPr/>
        </p:nvSpPr>
        <p:spPr>
          <a:xfrm>
            <a:off x="3176429" y="3525811"/>
            <a:ext cx="2415540" cy="460375"/>
          </a:xfrm>
          <a:prstGeom prst="rect">
            <a:avLst/>
          </a:prstGeom>
          <a:solidFill>
            <a:schemeClr val="tx1">
              <a:lumMod val="50000"/>
              <a:lumOff val="50000"/>
              <a:alpha val="36863"/>
            </a:schemeClr>
          </a:solidFill>
        </p:spPr>
        <p:txBody>
          <a:bodyPr wrap="none">
            <a:spAutoFit/>
          </a:bodyPr>
          <a:lstStyle/>
          <a:p>
            <a:pPr algn="ctr" eaLnBrk="1" hangingPunct="1">
              <a:defRPr/>
            </a:pPr>
            <a:r>
              <a:rPr lang="en-US" altLang="zh-CN" sz="2400" b="1" dirty="0">
                <a:solidFill>
                  <a:srgbClr val="FF0000"/>
                </a:solidFill>
                <a:latin typeface="宋体" panose="02010600030101010101" pitchFamily="2" charset="-122"/>
              </a:rPr>
              <a:t>16</a:t>
            </a:r>
            <a:r>
              <a:rPr lang="zh-CN" altLang="en-US" sz="2400" b="1" dirty="0">
                <a:solidFill>
                  <a:srgbClr val="FF0000"/>
                </a:solidFill>
              </a:rPr>
              <a:t> *</a:t>
            </a:r>
            <a:r>
              <a:rPr lang="en-US" altLang="zh-CN" sz="2400" b="1" dirty="0">
                <a:solidFill>
                  <a:srgbClr val="FF0000"/>
                </a:solidFill>
              </a:rPr>
              <a:t>16 dot matrix</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11"/>
          <p:cNvSpPr>
            <a:spLocks noChangeArrowheads="1"/>
          </p:cNvSpPr>
          <p:nvPr/>
        </p:nvSpPr>
        <p:spPr bwMode="auto">
          <a:xfrm>
            <a:off x="5941060" y="-184150"/>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14730" name="Object 10"/>
          <p:cNvGraphicFramePr>
            <a:graphicFrameLocks noChangeAspect="1"/>
          </p:cNvGraphicFramePr>
          <p:nvPr/>
        </p:nvGraphicFramePr>
        <p:xfrm>
          <a:off x="4649311" y="1650317"/>
          <a:ext cx="4550728" cy="3954057"/>
        </p:xfrm>
        <a:graphic>
          <a:graphicData uri="http://schemas.openxmlformats.org/presentationml/2006/ole">
            <mc:AlternateContent xmlns:mc="http://schemas.openxmlformats.org/markup-compatibility/2006">
              <mc:Choice xmlns:v="urn:schemas-microsoft-com:vml" Requires="v">
                <p:oleObj name="Microsoft Drawing" r:id="rId2" imgW="2311400" imgH="2130425" progId="MSDraw">
                  <p:embed/>
                </p:oleObj>
              </mc:Choice>
              <mc:Fallback>
                <p:oleObj name="Microsoft Drawing" r:id="rId2" imgW="2311400" imgH="2130425" progId="MSDraw">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9311" y="1650317"/>
                        <a:ext cx="4550728" cy="3954057"/>
                      </a:xfrm>
                      <a:prstGeom prst="rect">
                        <a:avLst/>
                      </a:prstGeom>
                      <a:noFill/>
                      <a:ln>
                        <a:noFill/>
                      </a:ln>
                    </p:spPr>
                  </p:pic>
                </p:oleObj>
              </mc:Fallback>
            </mc:AlternateContent>
          </a:graphicData>
        </a:graphic>
      </p:graphicFrame>
      <p:sp>
        <p:nvSpPr>
          <p:cNvPr id="414732" name="Rectangle 12"/>
          <p:cNvSpPr>
            <a:spLocks noChangeArrowheads="1"/>
          </p:cNvSpPr>
          <p:nvPr/>
        </p:nvSpPr>
        <p:spPr bwMode="auto">
          <a:xfrm>
            <a:off x="4513739" y="5684509"/>
            <a:ext cx="4657090" cy="52197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solidFill>
                  <a:srgbClr val="800000"/>
                </a:solidFill>
                <a:cs typeface="Times New Roman" panose="02020603050405020304" pitchFamily="18" charset="0"/>
              </a:rPr>
              <a:t>图</a:t>
            </a:r>
            <a:r>
              <a:rPr lang="en-US" altLang="zh-CN" sz="2800" dirty="0">
                <a:solidFill>
                  <a:srgbClr val="800000"/>
                </a:solidFill>
                <a:cs typeface="Times New Roman" panose="02020603050405020304" pitchFamily="18" charset="0"/>
              </a:rPr>
              <a:t>2-5 </a:t>
            </a:r>
            <a:r>
              <a:rPr lang="zh-CN" altLang="en-US" sz="2800" dirty="0">
                <a:solidFill>
                  <a:srgbClr val="800000"/>
                </a:solidFill>
                <a:cs typeface="Times New Roman" panose="02020603050405020304" pitchFamily="18" charset="0"/>
              </a:rPr>
              <a:t>各种代码间的逻辑关系</a:t>
            </a:r>
          </a:p>
        </p:txBody>
      </p:sp>
      <p:sp>
        <p:nvSpPr>
          <p:cNvPr id="95238" name="标题 3"/>
          <p:cNvSpPr>
            <a:spLocks noGrp="1" noChangeArrowheads="1"/>
          </p:cNvSpPr>
          <p:nvPr>
            <p:ph type="title"/>
          </p:nvPr>
        </p:nvSpPr>
        <p:spPr/>
        <p:txBody>
          <a:bodyPr>
            <a:normAutofit/>
          </a:bodyPr>
          <a:lstStyle/>
          <a:p>
            <a:pPr eaLnBrk="1" hangingPunct="1"/>
            <a:r>
              <a:rPr lang="zh-CN" altLang="en-US" sz="4000" dirty="0">
                <a:latin typeface="宋体" panose="02010600030101010101" pitchFamily="2" charset="-122"/>
              </a:rPr>
              <a:t>（5）各种代码间的逻辑关系</a:t>
            </a:r>
            <a:endParaRPr lang="zh-CN" altLang="en-US"/>
          </a:p>
        </p:txBody>
      </p:sp>
      <p:sp>
        <p:nvSpPr>
          <p:cNvPr id="4" name="内容占位符 3"/>
          <p:cNvSpPr>
            <a:spLocks noGrp="1"/>
          </p:cNvSpPr>
          <p:nvPr>
            <p:ph idx="1"/>
          </p:nvPr>
        </p:nvSpPr>
        <p:spPr>
          <a:xfrm>
            <a:off x="2209801" y="1230759"/>
            <a:ext cx="1993900" cy="4638335"/>
          </a:xfrm>
        </p:spPr>
        <p:txBody>
          <a:bodyPr/>
          <a:lstStyle/>
          <a:p>
            <a:r>
              <a:rPr lang="zh-CN" altLang="en-US" b="1" dirty="0">
                <a:solidFill>
                  <a:schemeClr val="accent2"/>
                </a:solidFill>
                <a:latin typeface="宋体" panose="02010600030101010101" pitchFamily="2" charset="-122"/>
              </a:rPr>
              <a:t>不同的输入编码输入到计算机中，都统一使用国标码</a:t>
            </a:r>
            <a:endParaRPr lang="en-US" altLang="zh-CN" b="1" dirty="0">
              <a:solidFill>
                <a:schemeClr val="accent2"/>
              </a:solidFill>
              <a:latin typeface="宋体" panose="02010600030101010101" pitchFamily="2" charset="-122"/>
            </a:endParaRPr>
          </a:p>
          <a:p>
            <a:endParaRPr lang="en-US" altLang="zh-CN" b="1" dirty="0">
              <a:solidFill>
                <a:schemeClr val="accent2"/>
              </a:solidFill>
              <a:latin typeface="宋体" panose="02010600030101010101" pitchFamily="2" charset="-122"/>
            </a:endParaRPr>
          </a:p>
          <a:p>
            <a:r>
              <a:rPr lang="zh-CN" altLang="en-US" b="1" dirty="0">
                <a:solidFill>
                  <a:schemeClr val="accent2"/>
                </a:solidFill>
                <a:latin typeface="宋体" panose="02010600030101010101" pitchFamily="2" charset="-122"/>
              </a:rPr>
              <a:t>Different input codes are uniformly used in the computer.</a:t>
            </a:r>
          </a:p>
          <a:p>
            <a:endParaRPr lang="zh-CN" altLang="en-US" b="1" dirty="0">
              <a:solidFill>
                <a:schemeClr val="accent2"/>
              </a:solidFill>
              <a:latin typeface="宋体" panose="02010600030101010101" pitchFamily="2" charset="-122"/>
            </a:endParaRPr>
          </a:p>
          <a:p>
            <a:endParaRPr lang="zh-CN" altLang="en-US" dirty="0"/>
          </a:p>
        </p:txBody>
      </p:sp>
      <p:sp>
        <p:nvSpPr>
          <p:cNvPr id="10" name="Rectangle 8"/>
          <p:cNvSpPr>
            <a:spLocks noChangeArrowheads="1"/>
          </p:cNvSpPr>
          <p:nvPr/>
        </p:nvSpPr>
        <p:spPr bwMode="auto">
          <a:xfrm>
            <a:off x="4621364" y="1173705"/>
            <a:ext cx="1400175"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20000"/>
              </a:spcBef>
            </a:pPr>
            <a:r>
              <a:rPr lang="en-US" altLang="zh-CN" sz="2400" b="1" dirty="0">
                <a:solidFill>
                  <a:schemeClr val="accent2"/>
                </a:solidFill>
                <a:latin typeface="宋体" panose="02010600030101010101" pitchFamily="2" charset="-122"/>
              </a:rPr>
              <a:t>(</a:t>
            </a:r>
            <a:r>
              <a:rPr lang="zh-CN" altLang="en-US" sz="2400" b="1" dirty="0">
                <a:solidFill>
                  <a:schemeClr val="accent2"/>
                </a:solidFill>
                <a:latin typeface="宋体" panose="02010600030101010101" pitchFamily="2" charset="-122"/>
              </a:rPr>
              <a:t>区位码</a:t>
            </a:r>
            <a:r>
              <a:rPr lang="en-US" altLang="zh-CN" sz="2400" b="1" dirty="0">
                <a:solidFill>
                  <a:schemeClr val="accent2"/>
                </a:solidFill>
                <a:latin typeface="宋体" panose="02010600030101010101" pitchFamily="2" charset="-122"/>
              </a:rPr>
              <a:t>)</a:t>
            </a:r>
            <a:endParaRPr lang="zh-CN" altLang="en-US" sz="2400" b="1" dirty="0">
              <a:solidFill>
                <a:schemeClr val="accent2"/>
              </a:solidFill>
              <a:latin typeface="宋体" panose="02010600030101010101" pitchFamily="2" charset="-122"/>
            </a:endParaRPr>
          </a:p>
        </p:txBody>
      </p:sp>
      <p:sp>
        <p:nvSpPr>
          <p:cNvPr id="11" name="Rectangle 8"/>
          <p:cNvSpPr>
            <a:spLocks noChangeArrowheads="1"/>
          </p:cNvSpPr>
          <p:nvPr/>
        </p:nvSpPr>
        <p:spPr bwMode="auto">
          <a:xfrm>
            <a:off x="8010525" y="4341813"/>
            <a:ext cx="1120775"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spcBef>
                <a:spcPct val="20000"/>
              </a:spcBef>
            </a:pPr>
            <a:r>
              <a:rPr lang="en-US" altLang="zh-CN" sz="2400" b="1">
                <a:solidFill>
                  <a:schemeClr val="accent2"/>
                </a:solidFill>
                <a:latin typeface="宋体" panose="02010600030101010101" pitchFamily="2" charset="-122"/>
              </a:rPr>
              <a:t>(</a:t>
            </a:r>
            <a:r>
              <a:rPr lang="zh-CN" altLang="en-US" sz="2400" b="1">
                <a:solidFill>
                  <a:schemeClr val="accent2"/>
                </a:solidFill>
                <a:latin typeface="宋体" panose="02010600030101010101" pitchFamily="2" charset="-122"/>
              </a:rPr>
              <a:t>字库</a:t>
            </a:r>
            <a:r>
              <a:rPr lang="en-US" altLang="zh-CN" sz="2400" b="1">
                <a:solidFill>
                  <a:schemeClr val="accent2"/>
                </a:solidFill>
                <a:latin typeface="宋体" panose="02010600030101010101" pitchFamily="2" charset="-122"/>
              </a:rPr>
              <a:t>)</a:t>
            </a:r>
            <a:endParaRPr lang="zh-CN" altLang="en-US" sz="2400" b="1">
              <a:solidFill>
                <a:schemeClr val="accent2"/>
              </a:solidFill>
              <a:latin typeface="宋体" panose="02010600030101010101" pitchFamily="2" charset="-122"/>
            </a:endParaRPr>
          </a:p>
        </p:txBody>
      </p:sp>
      <p:sp>
        <p:nvSpPr>
          <p:cNvPr id="2" name="文本框 1"/>
          <p:cNvSpPr txBox="1"/>
          <p:nvPr/>
        </p:nvSpPr>
        <p:spPr>
          <a:xfrm>
            <a:off x="5849620" y="1201738"/>
            <a:ext cx="5080000" cy="368300"/>
          </a:xfrm>
          <a:prstGeom prst="rect">
            <a:avLst/>
          </a:prstGeom>
        </p:spPr>
        <p:txBody>
          <a:bodyPr>
            <a:spAutoFit/>
          </a:bodyPr>
          <a:lstStyle/>
          <a:p>
            <a:r>
              <a:rPr lang="zh-CN" altLang="en-US" b="1" dirty="0">
                <a:solidFill>
                  <a:schemeClr val="accent2"/>
                </a:solidFill>
                <a:latin typeface="宋体" panose="02010600030101010101" pitchFamily="2" charset="-122"/>
                <a:ea typeface="宋体" panose="02010600030101010101" pitchFamily="2" charset="-122"/>
                <a:sym typeface="+mn-ea"/>
              </a:rPr>
              <a:t>Location code</a:t>
            </a:r>
          </a:p>
        </p:txBody>
      </p:sp>
      <p:sp>
        <p:nvSpPr>
          <p:cNvPr id="3" name="文本框 2"/>
          <p:cNvSpPr txBox="1"/>
          <p:nvPr/>
        </p:nvSpPr>
        <p:spPr>
          <a:xfrm>
            <a:off x="8966835" y="4403408"/>
            <a:ext cx="5080000" cy="337185"/>
          </a:xfrm>
          <a:prstGeom prst="rect">
            <a:avLst/>
          </a:prstGeom>
        </p:spPr>
        <p:txBody>
          <a:bodyPr>
            <a:spAutoFit/>
          </a:bodyPr>
          <a:lstStyle/>
          <a:p>
            <a:r>
              <a:rPr lang="zh-CN" altLang="en-US" sz="1600" b="1" dirty="0">
                <a:solidFill>
                  <a:schemeClr val="accent2"/>
                </a:solidFill>
                <a:latin typeface="宋体" panose="02010600030101010101" pitchFamily="2" charset="-122"/>
                <a:ea typeface="宋体" panose="02010600030101010101" pitchFamily="2" charset="-122"/>
              </a:rPr>
              <a:t>font library</a:t>
            </a:r>
          </a:p>
        </p:txBody>
      </p:sp>
      <p:sp>
        <p:nvSpPr>
          <p:cNvPr id="5" name="文本框 4"/>
          <p:cNvSpPr txBox="1"/>
          <p:nvPr/>
        </p:nvSpPr>
        <p:spPr>
          <a:xfrm>
            <a:off x="4592955" y="6038533"/>
            <a:ext cx="5080000" cy="337185"/>
          </a:xfrm>
          <a:prstGeom prst="rect">
            <a:avLst/>
          </a:prstGeom>
        </p:spPr>
        <p:txBody>
          <a:bodyPr>
            <a:spAutoFit/>
          </a:bodyPr>
          <a:lstStyle/>
          <a:p>
            <a:r>
              <a:rPr lang="en-US" altLang="zh-CN" sz="1600">
                <a:solidFill>
                  <a:srgbClr val="7F0000"/>
                </a:solidFill>
              </a:rPr>
              <a:t>Figure 2-5 Logical Relationships Among Various Codes</a:t>
            </a:r>
          </a:p>
        </p:txBody>
      </p:sp>
      <p:sp>
        <p:nvSpPr>
          <p:cNvPr id="6" name="文本框 5"/>
          <p:cNvSpPr txBox="1"/>
          <p:nvPr/>
        </p:nvSpPr>
        <p:spPr>
          <a:xfrm>
            <a:off x="4621530" y="2000568"/>
            <a:ext cx="5080000" cy="337185"/>
          </a:xfrm>
          <a:prstGeom prst="rect">
            <a:avLst/>
          </a:prstGeom>
        </p:spPr>
        <p:txBody>
          <a:bodyPr>
            <a:spAutoFit/>
          </a:bodyPr>
          <a:lstStyle/>
          <a:p>
            <a:r>
              <a:rPr lang="en-US" altLang="zh-CN" sz="1600"/>
              <a:t>Digital Encoding</a:t>
            </a:r>
          </a:p>
        </p:txBody>
      </p:sp>
      <p:sp>
        <p:nvSpPr>
          <p:cNvPr id="7" name="文本框 6"/>
          <p:cNvSpPr txBox="1"/>
          <p:nvPr/>
        </p:nvSpPr>
        <p:spPr>
          <a:xfrm>
            <a:off x="6075680" y="2000568"/>
            <a:ext cx="5080000" cy="337185"/>
          </a:xfrm>
          <a:prstGeom prst="rect">
            <a:avLst/>
          </a:prstGeom>
        </p:spPr>
        <p:txBody>
          <a:bodyPr>
            <a:spAutoFit/>
          </a:bodyPr>
          <a:lstStyle/>
          <a:p>
            <a:r>
              <a:rPr lang="en-US" altLang="zh-CN" sz="1600"/>
              <a:t>Phonetic Encoding</a:t>
            </a:r>
          </a:p>
        </p:txBody>
      </p:sp>
      <p:sp>
        <p:nvSpPr>
          <p:cNvPr id="8" name="文本框 7"/>
          <p:cNvSpPr txBox="1"/>
          <p:nvPr/>
        </p:nvSpPr>
        <p:spPr>
          <a:xfrm>
            <a:off x="7673340" y="2000568"/>
            <a:ext cx="5080000" cy="337185"/>
          </a:xfrm>
          <a:prstGeom prst="rect">
            <a:avLst/>
          </a:prstGeom>
        </p:spPr>
        <p:txBody>
          <a:bodyPr>
            <a:spAutoFit/>
          </a:bodyPr>
          <a:lstStyle/>
          <a:p>
            <a:r>
              <a:rPr lang="en-US" altLang="zh-CN" sz="1600"/>
              <a:t>Character Encoding</a:t>
            </a:r>
          </a:p>
        </p:txBody>
      </p:sp>
      <p:sp>
        <p:nvSpPr>
          <p:cNvPr id="9" name="文本框 8"/>
          <p:cNvSpPr txBox="1"/>
          <p:nvPr/>
        </p:nvSpPr>
        <p:spPr>
          <a:xfrm>
            <a:off x="5739130" y="2745423"/>
            <a:ext cx="5080000" cy="337185"/>
          </a:xfrm>
          <a:prstGeom prst="rect">
            <a:avLst/>
          </a:prstGeom>
        </p:spPr>
        <p:txBody>
          <a:bodyPr>
            <a:spAutoFit/>
          </a:bodyPr>
          <a:lstStyle/>
          <a:p>
            <a:r>
              <a:rPr lang="en-US" altLang="zh-CN" sz="1600"/>
              <a:t>Exchange code (GB code)</a:t>
            </a:r>
          </a:p>
        </p:txBody>
      </p:sp>
      <p:sp>
        <p:nvSpPr>
          <p:cNvPr id="12" name="文本框 11"/>
          <p:cNvSpPr txBox="1"/>
          <p:nvPr/>
        </p:nvSpPr>
        <p:spPr>
          <a:xfrm>
            <a:off x="5164455" y="3776028"/>
            <a:ext cx="5080000" cy="337185"/>
          </a:xfrm>
          <a:prstGeom prst="rect">
            <a:avLst/>
          </a:prstGeom>
        </p:spPr>
        <p:txBody>
          <a:bodyPr>
            <a:spAutoFit/>
          </a:bodyPr>
          <a:lstStyle/>
          <a:p>
            <a:r>
              <a:rPr lang="en-US" altLang="zh-CN" sz="1600"/>
              <a:t>Chinese Character Internal Encoding</a:t>
            </a:r>
          </a:p>
        </p:txBody>
      </p:sp>
      <p:sp>
        <p:nvSpPr>
          <p:cNvPr id="13" name="文本框 12"/>
          <p:cNvSpPr txBox="1"/>
          <p:nvPr/>
        </p:nvSpPr>
        <p:spPr>
          <a:xfrm>
            <a:off x="5941060" y="4612958"/>
            <a:ext cx="5080000" cy="337185"/>
          </a:xfrm>
          <a:prstGeom prst="rect">
            <a:avLst/>
          </a:prstGeom>
        </p:spPr>
        <p:txBody>
          <a:bodyPr>
            <a:spAutoFit/>
          </a:bodyPr>
          <a:lstStyle/>
          <a:p>
            <a:r>
              <a:rPr lang="en-US" altLang="zh-CN" sz="1600"/>
              <a:t>Character shape code</a:t>
            </a:r>
          </a:p>
        </p:txBody>
      </p:sp>
      <p:sp>
        <p:nvSpPr>
          <p:cNvPr id="14" name="文本框 13"/>
          <p:cNvSpPr txBox="1"/>
          <p:nvPr/>
        </p:nvSpPr>
        <p:spPr>
          <a:xfrm>
            <a:off x="3133725" y="5227003"/>
            <a:ext cx="5080000" cy="337185"/>
          </a:xfrm>
          <a:prstGeom prst="rect">
            <a:avLst/>
          </a:prstGeom>
        </p:spPr>
        <p:txBody>
          <a:bodyPr>
            <a:spAutoFit/>
          </a:bodyPr>
          <a:lstStyle/>
          <a:p>
            <a:r>
              <a:rPr lang="en-US" altLang="zh-CN" sz="1600"/>
              <a:t>Display Chinese characters</a:t>
            </a:r>
          </a:p>
        </p:txBody>
      </p:sp>
      <p:sp>
        <p:nvSpPr>
          <p:cNvPr id="15" name="文本框 14"/>
          <p:cNvSpPr txBox="1"/>
          <p:nvPr/>
        </p:nvSpPr>
        <p:spPr>
          <a:xfrm>
            <a:off x="8164830" y="5220653"/>
            <a:ext cx="5080000" cy="337185"/>
          </a:xfrm>
          <a:prstGeom prst="rect">
            <a:avLst/>
          </a:prstGeom>
        </p:spPr>
        <p:txBody>
          <a:bodyPr>
            <a:spAutoFit/>
          </a:bodyPr>
          <a:lstStyle/>
          <a:p>
            <a:r>
              <a:rPr lang="en-US" altLang="zh-CN" sz="1600"/>
              <a:t>Print Chinese characters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2"/>
          <p:cNvSpPr>
            <a:spLocks noGrp="1" noChangeArrowheads="1"/>
          </p:cNvSpPr>
          <p:nvPr>
            <p:ph type="title"/>
          </p:nvPr>
        </p:nvSpPr>
        <p:spPr/>
        <p:txBody>
          <a:bodyPr>
            <a:normAutofit/>
          </a:bodyPr>
          <a:lstStyle/>
          <a:p>
            <a:pPr eaLnBrk="1" hangingPunct="1"/>
            <a:r>
              <a:rPr lang="en-US" altLang="zh-CN">
                <a:latin typeface="宋体" panose="02010600030101010101" pitchFamily="2" charset="-122"/>
              </a:rPr>
              <a:t> </a:t>
            </a:r>
            <a:r>
              <a:rPr lang="zh-CN" altLang="en-US">
                <a:latin typeface="宋体" panose="02010600030101010101" pitchFamily="2" charset="-122"/>
              </a:rPr>
              <a:t>汉字编码 举例</a:t>
            </a:r>
            <a:endParaRPr lang="zh-CN" altLang="en-US"/>
          </a:p>
        </p:txBody>
      </p:sp>
      <p:sp>
        <p:nvSpPr>
          <p:cNvPr id="385027" name="Rectangle 3"/>
          <p:cNvSpPr>
            <a:spLocks noGrp="1" noChangeArrowheads="1"/>
          </p:cNvSpPr>
          <p:nvPr>
            <p:ph idx="1"/>
          </p:nvPr>
        </p:nvSpPr>
        <p:spPr>
          <a:xfrm>
            <a:off x="2346959" y="1230759"/>
            <a:ext cx="7543801" cy="4916041"/>
          </a:xfrm>
        </p:spPr>
        <p:txBody>
          <a:bodyPr>
            <a:normAutofit fontScale="75000" lnSpcReduction="20000"/>
          </a:bodyPr>
          <a:lstStyle/>
          <a:p>
            <a:pPr eaLnBrk="1" hangingPunct="1">
              <a:spcBef>
                <a:spcPct val="0"/>
              </a:spcBef>
              <a:buFontTx/>
              <a:buNone/>
            </a:pPr>
            <a:r>
              <a:rPr lang="en-US" altLang="zh-CN" sz="2400" dirty="0">
                <a:solidFill>
                  <a:srgbClr val="FF0000"/>
                </a:solidFill>
              </a:rPr>
              <a:t>[</a:t>
            </a:r>
            <a:r>
              <a:rPr lang="zh-CN" altLang="en-US" sz="2400" dirty="0">
                <a:solidFill>
                  <a:srgbClr val="FF0000"/>
                </a:solidFill>
              </a:rPr>
              <a:t>例</a:t>
            </a:r>
            <a:r>
              <a:rPr lang="en-US" altLang="zh-CN" sz="2400" dirty="0">
                <a:solidFill>
                  <a:srgbClr val="FF0000"/>
                </a:solidFill>
              </a:rPr>
              <a:t>2-5]</a:t>
            </a:r>
            <a:r>
              <a:rPr lang="en-US" altLang="zh-CN" sz="2400" dirty="0">
                <a:latin typeface="Times New Roman" panose="02020603050405020304" pitchFamily="18" charset="0"/>
                <a:cs typeface="Times New Roman" panose="02020603050405020304" pitchFamily="18" charset="0"/>
              </a:rPr>
              <a:t> “</a:t>
            </a:r>
            <a:r>
              <a:rPr lang="zh-CN" altLang="en-US" sz="2400" dirty="0"/>
              <a:t>春</a:t>
            </a:r>
            <a:r>
              <a:rPr lang="en-US" altLang="zh-CN" sz="2400" dirty="0">
                <a:latin typeface="Times New Roman" panose="02020603050405020304" pitchFamily="18" charset="0"/>
              </a:rPr>
              <a:t>”</a:t>
            </a:r>
            <a:r>
              <a:rPr lang="zh-CN" altLang="en-US" sz="2400" dirty="0"/>
              <a:t>的区位码为</a:t>
            </a:r>
            <a:r>
              <a:rPr lang="en-US" altLang="zh-CN" sz="2400" dirty="0">
                <a:latin typeface="Times New Roman" panose="02020603050405020304" pitchFamily="18" charset="0"/>
              </a:rPr>
              <a:t>20-26, </a:t>
            </a:r>
            <a:r>
              <a:rPr lang="zh-CN" altLang="en-US" sz="2400" dirty="0"/>
              <a:t>计算其国标码和机内码。</a:t>
            </a:r>
          </a:p>
          <a:p>
            <a:pPr eaLnBrk="1" hangingPunct="1">
              <a:spcBef>
                <a:spcPct val="0"/>
              </a:spcBef>
              <a:buFontTx/>
              <a:buNone/>
            </a:pPr>
            <a:r>
              <a:rPr lang="zh-CN" altLang="en-US" sz="2400" dirty="0"/>
              <a:t>        </a:t>
            </a:r>
            <a:r>
              <a:rPr lang="zh-CN" altLang="en-US" sz="2400" dirty="0">
                <a:solidFill>
                  <a:srgbClr val="9900CC"/>
                </a:solidFill>
              </a:rPr>
              <a:t>区位码</a:t>
            </a:r>
            <a:r>
              <a:rPr lang="zh-CN" altLang="en-US" sz="2400" dirty="0"/>
              <a:t>：  </a:t>
            </a:r>
            <a:r>
              <a:rPr lang="en-US" altLang="zh-CN" sz="2400" dirty="0"/>
              <a:t>	</a:t>
            </a:r>
            <a:r>
              <a:rPr lang="zh-CN" altLang="en-US" sz="2400" dirty="0"/>
              <a:t>第</a:t>
            </a:r>
            <a:r>
              <a:rPr lang="en-US" altLang="zh-CN" sz="2400" dirty="0"/>
              <a:t>1</a:t>
            </a:r>
            <a:r>
              <a:rPr lang="zh-CN" altLang="en-US" sz="2400" dirty="0"/>
              <a:t>字节    第</a:t>
            </a:r>
            <a:r>
              <a:rPr lang="en-US" altLang="zh-CN" sz="2400" dirty="0"/>
              <a:t>2</a:t>
            </a:r>
            <a:r>
              <a:rPr lang="zh-CN" altLang="en-US" sz="2400" dirty="0"/>
              <a:t>字节</a:t>
            </a:r>
          </a:p>
          <a:p>
            <a:pPr eaLnBrk="1" hangingPunct="1">
              <a:spcBef>
                <a:spcPct val="0"/>
              </a:spcBef>
              <a:buFontTx/>
              <a:buNone/>
            </a:pPr>
            <a:r>
              <a:rPr lang="zh-CN" altLang="en-US" sz="2400" dirty="0"/>
              <a:t>        </a:t>
            </a:r>
            <a:r>
              <a:rPr lang="zh-CN" altLang="en-US" sz="2400" dirty="0">
                <a:solidFill>
                  <a:srgbClr val="FF0000"/>
                </a:solidFill>
              </a:rPr>
              <a:t>十进制      </a:t>
            </a:r>
            <a:r>
              <a:rPr lang="en-US" altLang="zh-CN" sz="2400" dirty="0">
                <a:solidFill>
                  <a:srgbClr val="FF0000"/>
                </a:solidFill>
              </a:rPr>
              <a:t>	20          26</a:t>
            </a:r>
          </a:p>
          <a:p>
            <a:pPr eaLnBrk="1" hangingPunct="1">
              <a:spcBef>
                <a:spcPct val="0"/>
              </a:spcBef>
              <a:buFontTx/>
              <a:buNone/>
            </a:pPr>
            <a:r>
              <a:rPr lang="en-US" altLang="zh-CN" sz="2400" dirty="0"/>
              <a:t>              	  	    ↓          ↓</a:t>
            </a:r>
          </a:p>
          <a:p>
            <a:pPr eaLnBrk="1" hangingPunct="1">
              <a:spcBef>
                <a:spcPct val="0"/>
              </a:spcBef>
              <a:buFontTx/>
              <a:buNone/>
            </a:pPr>
            <a:r>
              <a:rPr lang="en-US" altLang="zh-CN" sz="2400" dirty="0"/>
              <a:t>        </a:t>
            </a:r>
            <a:r>
              <a:rPr lang="zh-CN" altLang="en-US" sz="2400" dirty="0">
                <a:solidFill>
                  <a:srgbClr val="9900CC"/>
                </a:solidFill>
              </a:rPr>
              <a:t>十六进制</a:t>
            </a:r>
            <a:r>
              <a:rPr lang="zh-CN" altLang="en-US" sz="2400" dirty="0"/>
              <a:t>   </a:t>
            </a:r>
            <a:r>
              <a:rPr lang="en-US" altLang="zh-CN" sz="2400" dirty="0"/>
              <a:t>	</a:t>
            </a:r>
            <a:r>
              <a:rPr lang="zh-CN" altLang="en-US" sz="2400" dirty="0"/>
              <a:t> </a:t>
            </a:r>
            <a:r>
              <a:rPr lang="en-US" altLang="zh-CN" sz="2400" dirty="0"/>
              <a:t>14H        1AH</a:t>
            </a:r>
          </a:p>
          <a:p>
            <a:pPr eaLnBrk="1" hangingPunct="1">
              <a:spcBef>
                <a:spcPct val="0"/>
              </a:spcBef>
              <a:buFontTx/>
              <a:buNone/>
            </a:pPr>
            <a:r>
              <a:rPr lang="en-US" altLang="zh-CN" sz="2400" dirty="0"/>
              <a:t>                		 </a:t>
            </a:r>
            <a:r>
              <a:rPr lang="zh-CN" altLang="en-US" sz="2400" dirty="0"/>
              <a:t>＋</a:t>
            </a:r>
            <a:r>
              <a:rPr lang="en-US" altLang="zh-CN" sz="2400" dirty="0"/>
              <a:t>20H      </a:t>
            </a:r>
            <a:r>
              <a:rPr lang="zh-CN" altLang="en-US" sz="2400" dirty="0"/>
              <a:t>＋</a:t>
            </a:r>
            <a:r>
              <a:rPr lang="en-US" altLang="zh-CN" sz="2400" dirty="0"/>
              <a:t>20H </a:t>
            </a:r>
          </a:p>
          <a:p>
            <a:pPr eaLnBrk="1" hangingPunct="1">
              <a:spcBef>
                <a:spcPct val="0"/>
              </a:spcBef>
              <a:buFontTx/>
              <a:buNone/>
            </a:pPr>
            <a:r>
              <a:rPr lang="en-US" altLang="zh-CN" sz="2400" dirty="0"/>
              <a:t>        </a:t>
            </a:r>
            <a:r>
              <a:rPr lang="zh-CN" altLang="en-US" sz="2400" dirty="0">
                <a:solidFill>
                  <a:srgbClr val="9900CC"/>
                </a:solidFill>
              </a:rPr>
              <a:t>国标码</a:t>
            </a:r>
            <a:r>
              <a:rPr lang="zh-CN" altLang="en-US" sz="2400" dirty="0"/>
              <a:t>：   </a:t>
            </a:r>
            <a:r>
              <a:rPr lang="en-US" altLang="zh-CN" sz="2400" dirty="0"/>
              <a:t>	</a:t>
            </a:r>
            <a:r>
              <a:rPr lang="zh-CN" altLang="en-US" sz="2400" dirty="0"/>
              <a:t> </a:t>
            </a:r>
            <a:r>
              <a:rPr lang="en-US" altLang="zh-CN" sz="2400" dirty="0"/>
              <a:t>34H        3AH</a:t>
            </a:r>
          </a:p>
          <a:p>
            <a:pPr eaLnBrk="1" hangingPunct="1">
              <a:spcBef>
                <a:spcPct val="0"/>
              </a:spcBef>
              <a:buFontTx/>
              <a:buNone/>
            </a:pPr>
            <a:r>
              <a:rPr lang="en-US" altLang="zh-CN" sz="2400" dirty="0"/>
              <a:t>                 		 </a:t>
            </a:r>
            <a:r>
              <a:rPr lang="zh-CN" altLang="en-US" sz="2400" dirty="0"/>
              <a:t>＋</a:t>
            </a:r>
            <a:r>
              <a:rPr lang="en-US" altLang="zh-CN" sz="2400" dirty="0"/>
              <a:t>80H      </a:t>
            </a:r>
            <a:r>
              <a:rPr lang="zh-CN" altLang="en-US" sz="2400" dirty="0"/>
              <a:t>＋</a:t>
            </a:r>
            <a:r>
              <a:rPr lang="en-US" altLang="zh-CN" sz="2400" dirty="0"/>
              <a:t>80H </a:t>
            </a:r>
          </a:p>
          <a:p>
            <a:pPr eaLnBrk="1" hangingPunct="1">
              <a:spcBef>
                <a:spcPct val="0"/>
              </a:spcBef>
              <a:buFontTx/>
              <a:buNone/>
            </a:pPr>
            <a:r>
              <a:rPr lang="en-US" altLang="zh-CN" sz="2400" dirty="0"/>
              <a:t>        </a:t>
            </a:r>
            <a:r>
              <a:rPr lang="zh-CN" altLang="en-US" sz="2400" dirty="0">
                <a:solidFill>
                  <a:srgbClr val="9900CC"/>
                </a:solidFill>
              </a:rPr>
              <a:t>机内码</a:t>
            </a:r>
            <a:r>
              <a:rPr lang="zh-CN" altLang="en-US" sz="2400" dirty="0"/>
              <a:t>：   </a:t>
            </a:r>
            <a:r>
              <a:rPr lang="en-US" altLang="zh-CN" sz="2400" dirty="0"/>
              <a:t>	</a:t>
            </a:r>
            <a:r>
              <a:rPr lang="zh-CN" altLang="en-US" sz="2400" dirty="0"/>
              <a:t> </a:t>
            </a:r>
            <a:r>
              <a:rPr lang="en-US" altLang="zh-CN" sz="2400" dirty="0"/>
              <a:t>B4H        BAH</a:t>
            </a:r>
          </a:p>
          <a:p>
            <a:pPr eaLnBrk="1" hangingPunct="1">
              <a:spcBef>
                <a:spcPct val="0"/>
              </a:spcBef>
              <a:buFontTx/>
              <a:buNone/>
            </a:pPr>
            <a:endParaRPr lang="en-US" altLang="zh-CN" sz="2400" dirty="0"/>
          </a:p>
          <a:p>
            <a:pPr eaLnBrk="1" hangingPunct="1">
              <a:spcBef>
                <a:spcPct val="0"/>
              </a:spcBef>
              <a:buFontTx/>
              <a:buNone/>
            </a:pPr>
            <a:endParaRPr lang="en-US" altLang="zh-CN" sz="2400" dirty="0"/>
          </a:p>
          <a:p>
            <a:pPr>
              <a:spcBef>
                <a:spcPct val="0"/>
              </a:spcBef>
              <a:buNone/>
            </a:pPr>
            <a:r>
              <a:rPr lang="en-US" altLang="zh-CN" sz="2400" dirty="0">
                <a:solidFill>
                  <a:srgbClr val="FF0000"/>
                </a:solidFill>
              </a:rPr>
              <a:t>[Example 2-5] The location code of "spring" is 20-26. Calculate its national code and internal code.</a:t>
            </a:r>
            <a:endParaRPr lang="zh-CN" altLang="en-US" sz="4400" dirty="0"/>
          </a:p>
          <a:p>
            <a:pPr>
              <a:spcBef>
                <a:spcPct val="0"/>
              </a:spcBef>
              <a:buNone/>
            </a:pPr>
            <a:r>
              <a:rPr lang="zh-CN" altLang="en-US" sz="2400" dirty="0">
                <a:solidFill>
                  <a:srgbClr val="9900CC"/>
                </a:solidFill>
              </a:rPr>
              <a:t>Location code: First byte Second byte</a:t>
            </a:r>
            <a:endParaRPr lang="zh-CN" altLang="en-US" sz="4400" dirty="0"/>
          </a:p>
          <a:p>
            <a:pPr>
              <a:spcBef>
                <a:spcPct val="0"/>
              </a:spcBef>
              <a:buNone/>
            </a:pPr>
            <a:r>
              <a:rPr lang="zh-CN" altLang="en-US" sz="2400" dirty="0">
                <a:solidFill>
                  <a:srgbClr val="FF0000"/>
                </a:solidFill>
              </a:rPr>
              <a:t>Decade 20 26</a:t>
            </a:r>
            <a:endParaRPr lang="en-US" altLang="zh-CN" sz="4400" dirty="0">
              <a:solidFill>
                <a:srgbClr val="FF0000"/>
              </a:solidFill>
            </a:endParaRPr>
          </a:p>
          <a:p>
            <a:pPr>
              <a:spcBef>
                <a:spcPct val="0"/>
              </a:spcBef>
              <a:buNone/>
            </a:pPr>
            <a:r>
              <a:rPr lang="en-US" altLang="zh-CN" sz="2400" dirty="0"/>
              <a:t>↓          ↓</a:t>
            </a:r>
            <a:endParaRPr lang="en-US" altLang="zh-CN" sz="4400" dirty="0"/>
          </a:p>
          <a:p>
            <a:pPr>
              <a:spcBef>
                <a:spcPct val="0"/>
              </a:spcBef>
              <a:buNone/>
            </a:pPr>
            <a:r>
              <a:rPr lang="zh-CN" altLang="en-US" sz="2400" dirty="0">
                <a:solidFill>
                  <a:srgbClr val="9900CC"/>
                </a:solidFill>
              </a:rPr>
              <a:t>Hexadecimal 14H 1AH</a:t>
            </a:r>
            <a:endParaRPr lang="en-US" altLang="zh-CN" sz="4400" dirty="0"/>
          </a:p>
          <a:p>
            <a:pPr>
              <a:spcBef>
                <a:spcPct val="0"/>
              </a:spcBef>
              <a:buNone/>
            </a:pPr>
            <a:r>
              <a:rPr lang="zh-CN" altLang="en-US" sz="2400" dirty="0"/>
              <a:t>＋ 20H      ＋ 20H</a:t>
            </a:r>
            <a:endParaRPr lang="en-US" altLang="zh-CN" sz="4400" dirty="0"/>
          </a:p>
          <a:p>
            <a:pPr>
              <a:spcBef>
                <a:spcPct val="0"/>
              </a:spcBef>
              <a:buNone/>
            </a:pPr>
            <a:r>
              <a:rPr lang="zh-CN" altLang="en-US" sz="2400" dirty="0">
                <a:solidFill>
                  <a:srgbClr val="9900CC"/>
                </a:solidFill>
              </a:rPr>
              <a:t>National code: 34H 3AH</a:t>
            </a:r>
            <a:endParaRPr lang="en-US" altLang="zh-CN" sz="4400" dirty="0"/>
          </a:p>
          <a:p>
            <a:pPr>
              <a:spcBef>
                <a:spcPct val="0"/>
              </a:spcBef>
              <a:buNone/>
            </a:pPr>
            <a:r>
              <a:rPr lang="zh-CN" altLang="en-US" sz="2400" dirty="0"/>
              <a:t>＋ 80H      ＋ 80H</a:t>
            </a:r>
            <a:endParaRPr lang="en-US" altLang="zh-CN" sz="4400" dirty="0"/>
          </a:p>
          <a:p>
            <a:pPr>
              <a:spcBef>
                <a:spcPct val="0"/>
              </a:spcBef>
              <a:buNone/>
            </a:pPr>
            <a:r>
              <a:rPr lang="zh-CN" altLang="en-US" sz="2400" dirty="0">
                <a:solidFill>
                  <a:srgbClr val="9900CC"/>
                </a:solidFill>
              </a:rPr>
              <a:t>Internal code: B4H BAH</a:t>
            </a:r>
            <a:endParaRPr lang="en-US" altLang="zh-CN" sz="4400" dirty="0"/>
          </a:p>
          <a:p>
            <a:pPr eaLnBrk="1" hangingPunct="1">
              <a:spcBef>
                <a:spcPct val="0"/>
              </a:spcBef>
              <a:buFontTx/>
              <a:buNone/>
            </a:pPr>
            <a:endParaRPr lang="en-US" altLang="zh-CN" sz="2400" dirty="0"/>
          </a:p>
          <a:p>
            <a:pPr eaLnBrk="1" hangingPunct="1">
              <a:spcBef>
                <a:spcPct val="0"/>
              </a:spcBef>
              <a:buFontTx/>
              <a:buNone/>
            </a:pPr>
            <a:endParaRPr lang="en-US" altLang="zh-CN" sz="2400" dirty="0"/>
          </a:p>
          <a:p>
            <a:pPr eaLnBrk="1" hangingPunct="1">
              <a:spcBef>
                <a:spcPct val="0"/>
              </a:spcBef>
              <a:buFontTx/>
              <a:buNone/>
            </a:pPr>
            <a:endParaRPr lang="en-US" altLang="zh-CN" sz="2400" dirty="0"/>
          </a:p>
          <a:p>
            <a:pPr eaLnBrk="1" hangingPunct="1">
              <a:spcBef>
                <a:spcPct val="0"/>
              </a:spcBef>
              <a:buFontTx/>
              <a:buNone/>
            </a:pPr>
            <a:endParaRPr lang="en-US" altLang="zh-CN"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noChangeArrowheads="1"/>
          </p:cNvSpPr>
          <p:nvPr>
            <p:ph type="title"/>
          </p:nvPr>
        </p:nvSpPr>
        <p:spPr/>
        <p:txBody>
          <a:bodyPr>
            <a:normAutofit/>
          </a:bodyPr>
          <a:lstStyle/>
          <a:p>
            <a:r>
              <a:rPr lang="en-US" altLang="zh-CN" dirty="0">
                <a:latin typeface="宋体" panose="02010600030101010101" pitchFamily="2" charset="-122"/>
              </a:rPr>
              <a:t>(6) </a:t>
            </a:r>
            <a:r>
              <a:rPr lang="zh-CN" altLang="en-US" dirty="0">
                <a:latin typeface="宋体" panose="02010600030101010101" pitchFamily="2" charset="-122"/>
              </a:rPr>
              <a:t>统一代码 </a:t>
            </a:r>
            <a:r>
              <a:rPr lang="en-US" altLang="zh-CN" dirty="0">
                <a:solidFill>
                  <a:srgbClr val="FF00FF"/>
                </a:solidFill>
                <a:latin typeface="Times New Roman" panose="02020603050405020304" pitchFamily="18" charset="0"/>
                <a:cs typeface="Times New Roman" panose="02020603050405020304" pitchFamily="18" charset="0"/>
              </a:rPr>
              <a:t>Unicode</a:t>
            </a:r>
            <a:endParaRPr lang="zh-CN" altLang="en-US" dirty="0"/>
          </a:p>
        </p:txBody>
      </p:sp>
      <p:sp>
        <p:nvSpPr>
          <p:cNvPr id="382979" name="Rectangle 3"/>
          <p:cNvSpPr>
            <a:spLocks noGrp="1" noChangeArrowheads="1"/>
          </p:cNvSpPr>
          <p:nvPr>
            <p:ph idx="1"/>
          </p:nvPr>
        </p:nvSpPr>
        <p:spPr/>
        <p:txBody>
          <a:bodyPr>
            <a:normAutofit fontScale="90000"/>
          </a:bodyPr>
          <a:lstStyle/>
          <a:p>
            <a:pPr eaLnBrk="1" hangingPunct="1">
              <a:lnSpc>
                <a:spcPct val="134000"/>
              </a:lnSpc>
              <a:spcAft>
                <a:spcPts val="2400"/>
              </a:spcAft>
              <a:defRPr/>
            </a:pPr>
            <a:r>
              <a:rPr lang="zh-CN" altLang="zh-CN" sz="1800" dirty="0">
                <a:solidFill>
                  <a:srgbClr val="FF00FF"/>
                </a:solidFill>
                <a:latin typeface="Times New Roman" panose="02020603050405020304" pitchFamily="18" charset="0"/>
                <a:cs typeface="Times New Roman" panose="02020603050405020304" pitchFamily="18" charset="0"/>
              </a:rPr>
              <a:t>统一代码（</a:t>
            </a:r>
            <a:r>
              <a:rPr lang="en-US" altLang="zh-CN" sz="1800" dirty="0">
                <a:solidFill>
                  <a:srgbClr val="FF00FF"/>
                </a:solidFill>
                <a:latin typeface="Times New Roman" panose="02020603050405020304" pitchFamily="18" charset="0"/>
                <a:cs typeface="Times New Roman" panose="02020603050405020304" pitchFamily="18" charset="0"/>
              </a:rPr>
              <a:t>Unicode</a:t>
            </a:r>
            <a:r>
              <a:rPr lang="zh-CN" altLang="zh-CN" sz="1800" dirty="0">
                <a:solidFill>
                  <a:srgbClr val="FF00FF"/>
                </a:solidFill>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是一种全新的编码方法，此法有足够的能力来表示全世界多达</a:t>
            </a:r>
            <a:r>
              <a:rPr lang="en-US" altLang="zh-CN" sz="1800" dirty="0">
                <a:latin typeface="Times New Roman" panose="02020603050405020304" pitchFamily="18" charset="0"/>
                <a:cs typeface="Times New Roman" panose="02020603050405020304" pitchFamily="18" charset="0"/>
              </a:rPr>
              <a:t>6 800</a:t>
            </a:r>
            <a:r>
              <a:rPr lang="zh-CN" altLang="zh-CN" sz="1800" dirty="0">
                <a:latin typeface="Times New Roman" panose="02020603050405020304" pitchFamily="18" charset="0"/>
                <a:cs typeface="Times New Roman" panose="02020603050405020304" pitchFamily="18" charset="0"/>
              </a:rPr>
              <a:t>种语言中任意一种语言里使用的所有符号。</a:t>
            </a:r>
            <a:endParaRPr lang="en-US" altLang="zh-CN" sz="1800" dirty="0">
              <a:latin typeface="Times New Roman" panose="02020603050405020304" pitchFamily="18" charset="0"/>
              <a:cs typeface="Times New Roman" panose="02020603050405020304" pitchFamily="18" charset="0"/>
            </a:endParaRPr>
          </a:p>
          <a:p>
            <a:pPr>
              <a:lnSpc>
                <a:spcPct val="134000"/>
              </a:lnSpc>
              <a:spcAft>
                <a:spcPts val="2400"/>
              </a:spcAft>
              <a:defRPr/>
            </a:pPr>
            <a:r>
              <a:rPr lang="zh-CN" altLang="zh-CN" sz="1800" dirty="0">
                <a:solidFill>
                  <a:srgbClr val="FF00FF"/>
                </a:solidFill>
                <a:latin typeface="Times New Roman" panose="02020603050405020304" pitchFamily="18" charset="0"/>
                <a:cs typeface="Times New Roman" panose="02020603050405020304" pitchFamily="18" charset="0"/>
              </a:rPr>
              <a:t>Unicode (Unified Code) is a new encoding method that is capable of representing all the symbols used in any of the worlds 6,800 languages.</a:t>
            </a:r>
            <a:endParaRPr lang="en-US" altLang="zh-CN" sz="1800" dirty="0">
              <a:latin typeface="Times New Roman" panose="02020603050405020304" pitchFamily="18" charset="0"/>
              <a:cs typeface="Times New Roman" panose="02020603050405020304" pitchFamily="18" charset="0"/>
            </a:endParaRPr>
          </a:p>
          <a:p>
            <a:pPr eaLnBrk="1" hangingPunct="1">
              <a:lnSpc>
                <a:spcPct val="134000"/>
              </a:lnSpc>
              <a:spcAft>
                <a:spcPts val="2400"/>
              </a:spcAft>
              <a:defRPr/>
            </a:pPr>
            <a:r>
              <a:rPr lang="zh-CN" altLang="zh-CN" sz="1800" dirty="0">
                <a:latin typeface="Times New Roman" panose="02020603050405020304" pitchFamily="18" charset="0"/>
                <a:cs typeface="Times New Roman" panose="02020603050405020304" pitchFamily="18" charset="0"/>
              </a:rPr>
              <a:t>其基本方法是，</a:t>
            </a:r>
            <a:r>
              <a:rPr lang="zh-CN" altLang="zh-CN" sz="1800" dirty="0">
                <a:solidFill>
                  <a:srgbClr val="FF00FF"/>
                </a:solidFill>
                <a:latin typeface="Times New Roman" panose="02020603050405020304" pitchFamily="18" charset="0"/>
                <a:cs typeface="Times New Roman" panose="02020603050405020304" pitchFamily="18" charset="0"/>
              </a:rPr>
              <a:t>用</a:t>
            </a:r>
            <a:r>
              <a:rPr lang="en-US" altLang="zh-CN" sz="1800" dirty="0">
                <a:solidFill>
                  <a:srgbClr val="FF00FF"/>
                </a:solidFill>
                <a:latin typeface="Times New Roman" panose="02020603050405020304" pitchFamily="18" charset="0"/>
                <a:cs typeface="Times New Roman" panose="02020603050405020304" pitchFamily="18" charset="0"/>
              </a:rPr>
              <a:t>1</a:t>
            </a:r>
            <a:r>
              <a:rPr lang="zh-CN" altLang="zh-CN" sz="1800" dirty="0">
                <a:solidFill>
                  <a:srgbClr val="FF00FF"/>
                </a:solidFill>
                <a:latin typeface="Times New Roman" panose="02020603050405020304" pitchFamily="18" charset="0"/>
                <a:cs typeface="Times New Roman" panose="02020603050405020304" pitchFamily="18" charset="0"/>
              </a:rPr>
              <a:t>个</a:t>
            </a:r>
            <a:r>
              <a:rPr lang="en-US" altLang="zh-CN" sz="1800" dirty="0">
                <a:solidFill>
                  <a:srgbClr val="FF00FF"/>
                </a:solidFill>
                <a:latin typeface="Times New Roman" panose="02020603050405020304" pitchFamily="18" charset="0"/>
                <a:cs typeface="Times New Roman" panose="02020603050405020304" pitchFamily="18" charset="0"/>
              </a:rPr>
              <a:t>16</a:t>
            </a:r>
            <a:r>
              <a:rPr lang="zh-CN" altLang="zh-CN" sz="1800" dirty="0">
                <a:solidFill>
                  <a:srgbClr val="FF00FF"/>
                </a:solidFill>
                <a:latin typeface="Times New Roman" panose="02020603050405020304" pitchFamily="18" charset="0"/>
                <a:cs typeface="Times New Roman" panose="02020603050405020304" pitchFamily="18" charset="0"/>
              </a:rPr>
              <a:t>位的数来表示</a:t>
            </a:r>
            <a:r>
              <a:rPr lang="en-US" altLang="zh-CN" sz="1800" dirty="0">
                <a:solidFill>
                  <a:srgbClr val="FF00FF"/>
                </a:solidFill>
                <a:latin typeface="Times New Roman" panose="02020603050405020304" pitchFamily="18" charset="0"/>
                <a:cs typeface="Times New Roman" panose="02020603050405020304" pitchFamily="18" charset="0"/>
              </a:rPr>
              <a:t>Unicode</a:t>
            </a:r>
            <a:r>
              <a:rPr lang="zh-CN" altLang="zh-CN" sz="1800" dirty="0">
                <a:solidFill>
                  <a:srgbClr val="FF00FF"/>
                </a:solidFill>
                <a:latin typeface="Times New Roman" panose="02020603050405020304" pitchFamily="18" charset="0"/>
                <a:cs typeface="Times New Roman" panose="02020603050405020304" pitchFamily="18" charset="0"/>
              </a:rPr>
              <a:t>中的每个符号</a:t>
            </a:r>
            <a:r>
              <a:rPr lang="zh-CN" altLang="zh-CN" sz="1800" dirty="0">
                <a:latin typeface="Times New Roman" panose="02020603050405020304" pitchFamily="18" charset="0"/>
                <a:cs typeface="Times New Roman" panose="02020603050405020304" pitchFamily="18" charset="0"/>
              </a:rPr>
              <a:t>，即允许表示</a:t>
            </a:r>
            <a:r>
              <a:rPr lang="en-US" altLang="zh-CN" sz="1800" dirty="0">
                <a:solidFill>
                  <a:srgbClr val="FF00FF"/>
                </a:solidFill>
                <a:latin typeface="Times New Roman" panose="02020603050405020304" pitchFamily="18" charset="0"/>
                <a:cs typeface="Times New Roman" panose="02020603050405020304" pitchFamily="18" charset="0"/>
              </a:rPr>
              <a:t>65 536</a:t>
            </a:r>
            <a:r>
              <a:rPr lang="zh-CN" altLang="zh-CN" sz="1800" dirty="0">
                <a:latin typeface="Times New Roman" panose="02020603050405020304" pitchFamily="18" charset="0"/>
                <a:cs typeface="Times New Roman" panose="02020603050405020304" pitchFamily="18" charset="0"/>
              </a:rPr>
              <a:t>个不同的字符或符号。这种符号集被称为基本多语言平面（</a:t>
            </a:r>
            <a:r>
              <a:rPr lang="en-US" altLang="zh-CN" sz="1800" dirty="0">
                <a:latin typeface="Times New Roman" panose="02020603050405020304" pitchFamily="18" charset="0"/>
                <a:cs typeface="Times New Roman" panose="02020603050405020304" pitchFamily="18" charset="0"/>
              </a:rPr>
              <a:t>BMP</a:t>
            </a:r>
            <a:r>
              <a:rPr lang="zh-CN"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eaLnBrk="1" hangingPunct="1">
              <a:lnSpc>
                <a:spcPct val="134000"/>
              </a:lnSpc>
              <a:spcAft>
                <a:spcPts val="2400"/>
              </a:spcAft>
              <a:defRPr/>
            </a:pPr>
            <a:r>
              <a:rPr lang="zh-CN" altLang="zh-CN" sz="1800" dirty="0">
                <a:latin typeface="Times New Roman" panose="02020603050405020304" pitchFamily="18" charset="0"/>
                <a:cs typeface="Times New Roman" panose="02020603050405020304" pitchFamily="18" charset="0"/>
              </a:rPr>
              <a:t>The basic method is to use a 16-bit number to represent each symbol in Unicode, that is, to allow the representation of 65,536 different characters or symbols. This set of symbols is called the Basic Multilingual Plane (BMP).</a:t>
            </a:r>
          </a:p>
          <a:p>
            <a:pPr eaLnBrk="1" hangingPunct="1">
              <a:lnSpc>
                <a:spcPct val="134000"/>
              </a:lnSpc>
              <a:spcAft>
                <a:spcPts val="2400"/>
              </a:spcAft>
              <a:defRPr/>
            </a:pPr>
            <a:endParaRPr lang="zh-CN" altLang="zh-CN" sz="1800" dirty="0">
              <a:latin typeface="Times New Roman" panose="02020603050405020304" pitchFamily="18" charset="0"/>
              <a:cs typeface="Times New Roman" panose="02020603050405020304" pitchFamily="18" charset="0"/>
            </a:endParaRPr>
          </a:p>
          <a:p>
            <a:pPr eaLnBrk="1" hangingPunct="1">
              <a:lnSpc>
                <a:spcPct val="134000"/>
              </a:lnSpc>
              <a:spcAft>
                <a:spcPts val="2400"/>
              </a:spcAft>
              <a:buFontTx/>
              <a:buNone/>
              <a:defRPr/>
            </a:pPr>
            <a:endParaRPr lang="zh-CN" alt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30"/>
          <p:cNvSpPr>
            <a:spLocks noGrp="1" noChangeArrowheads="1"/>
          </p:cNvSpPr>
          <p:nvPr>
            <p:ph type="title"/>
          </p:nvPr>
        </p:nvSpPr>
        <p:spPr/>
        <p:txBody>
          <a:bodyPr>
            <a:normAutofit/>
          </a:bodyPr>
          <a:lstStyle/>
          <a:p>
            <a:pPr eaLnBrk="1" hangingPunct="1"/>
            <a:r>
              <a:rPr lang="en-US" altLang="zh-CN" sz="4000" b="0" dirty="0">
                <a:latin typeface="隶书" panose="02010509060101010101" pitchFamily="49" charset="-122"/>
                <a:ea typeface="隶书" panose="02010509060101010101" pitchFamily="49" charset="-122"/>
              </a:rPr>
              <a:t>2.2</a:t>
            </a:r>
            <a:r>
              <a:rPr kumimoji="1" lang="zh-CN" altLang="en-US" sz="4000" dirty="0"/>
              <a:t>布尔代数和常见逻辑电路</a:t>
            </a:r>
          </a:p>
        </p:txBody>
      </p:sp>
      <p:sp>
        <p:nvSpPr>
          <p:cNvPr id="180228" name="Text Box 4"/>
          <p:cNvSpPr>
            <a:spLocks noGrp="1" noChangeArrowheads="1"/>
          </p:cNvSpPr>
          <p:nvPr>
            <p:ph idx="1"/>
          </p:nvPr>
        </p:nvSpPr>
        <p:spPr>
          <a:xfrm>
            <a:off x="2346959" y="1230759"/>
            <a:ext cx="7667898" cy="2470384"/>
          </a:xfrm>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pPr eaLnBrk="1" hangingPunct="1">
              <a:spcBef>
                <a:spcPct val="0"/>
              </a:spcBef>
              <a:buFontTx/>
              <a:buNone/>
            </a:pPr>
            <a:r>
              <a:rPr kumimoji="1" lang="zh-CN" altLang="en-US" dirty="0">
                <a:solidFill>
                  <a:srgbClr val="FF0000"/>
                </a:solidFill>
              </a:rPr>
              <a:t> </a:t>
            </a:r>
            <a:r>
              <a:rPr kumimoji="1" lang="en-US" altLang="zh-CN" dirty="0">
                <a:solidFill>
                  <a:srgbClr val="FF0000"/>
                </a:solidFill>
              </a:rPr>
              <a:t>2.2.1  </a:t>
            </a:r>
            <a:r>
              <a:rPr kumimoji="1" lang="zh-CN" altLang="en-US" dirty="0">
                <a:solidFill>
                  <a:srgbClr val="FF0000"/>
                </a:solidFill>
              </a:rPr>
              <a:t>布尔代数</a:t>
            </a:r>
          </a:p>
          <a:p>
            <a:pPr eaLnBrk="1" hangingPunct="1">
              <a:spcBef>
                <a:spcPct val="0"/>
              </a:spcBef>
              <a:buFontTx/>
              <a:buNone/>
            </a:pPr>
            <a:r>
              <a:rPr kumimoji="1" lang="zh-CN" altLang="en-US" dirty="0"/>
              <a:t>      布尔代数是英国数学家乔治</a:t>
            </a:r>
            <a:r>
              <a:rPr kumimoji="1" lang="en-US" altLang="zh-CN" dirty="0"/>
              <a:t>·</a:t>
            </a:r>
            <a:r>
              <a:rPr kumimoji="1" lang="zh-CN" altLang="en-US" dirty="0"/>
              <a:t>布尔（</a:t>
            </a:r>
            <a:r>
              <a:rPr kumimoji="1" lang="en-US" altLang="zh-CN" dirty="0"/>
              <a:t>George Boole</a:t>
            </a:r>
            <a:r>
              <a:rPr kumimoji="1" lang="zh-CN" altLang="en-US" dirty="0"/>
              <a:t>）发明的，布尔也是数理逻辑的创始人。布尔代数在电子计算机的逻辑设计等工程技术领域中有重要的应用。</a:t>
            </a:r>
            <a:endParaRPr kumimoji="1" lang="en-US" altLang="zh-CN" dirty="0"/>
          </a:p>
          <a:p>
            <a:pPr>
              <a:spcBef>
                <a:spcPct val="0"/>
              </a:spcBef>
              <a:buNone/>
            </a:pPr>
            <a:r>
              <a:rPr kumimoji="1" lang="zh-CN" altLang="en-US" dirty="0"/>
              <a:t>      Boolean algebra was invented by British mathematician George Boole, who is also the founder of mathematical logic. Boolean algebra has important applications in engineering fields such as logical design of electronic computers.</a:t>
            </a:r>
          </a:p>
          <a:p>
            <a:pPr eaLnBrk="1" hangingPunct="1">
              <a:spcBef>
                <a:spcPct val="0"/>
              </a:spcBef>
              <a:buFontTx/>
              <a:buNone/>
            </a:pPr>
            <a:endParaRPr kumimoji="1" lang="en-US" altLang="zh-CN" dirty="0"/>
          </a:p>
          <a:p>
            <a:pPr eaLnBrk="1" hangingPunct="1">
              <a:spcBef>
                <a:spcPct val="0"/>
              </a:spcBef>
              <a:buFontTx/>
              <a:buNone/>
            </a:pPr>
            <a:endParaRPr kumimoji="1" lang="zh-CN" altLang="en-US" dirty="0"/>
          </a:p>
        </p:txBody>
      </p:sp>
      <p:pic>
        <p:nvPicPr>
          <p:cNvPr id="3" name="图片 2"/>
          <p:cNvPicPr>
            <a:picLocks noChangeAspect="1"/>
          </p:cNvPicPr>
          <p:nvPr/>
        </p:nvPicPr>
        <p:blipFill>
          <a:blip r:embed="rId2"/>
          <a:stretch>
            <a:fillRect/>
          </a:stretch>
        </p:blipFill>
        <p:spPr>
          <a:xfrm>
            <a:off x="838111" y="3775719"/>
            <a:ext cx="5820587" cy="2095792"/>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6936105" y="3579495"/>
                <a:ext cx="4573905" cy="2488565"/>
              </a:xfrm>
              <a:prstGeom prst="rect">
                <a:avLst/>
              </a:prstGeom>
            </p:spPr>
            <p:txBody>
              <a:bodyPr wrap="square">
                <a:spAutoFit/>
              </a:bodyPr>
              <a:lstStyle/>
              <a:p>
                <a:pPr marL="0" indent="0"/>
                <a:r>
                  <a:rPr lang="en-US" altLang="zh-CN" sz="1400" b="1" i="0">
                    <a:solidFill>
                      <a:srgbClr val="3434A2"/>
                    </a:solidFill>
                    <a:ea typeface="Inter"/>
                    <a:cs typeface="+mn-lt"/>
                  </a:rPr>
                  <a:t>◇</a:t>
                </a:r>
                <a:r>
                  <a:rPr lang="en-US" altLang="zh-CN" sz="1400" b="1" i="0">
                    <a:solidFill>
                      <a:srgbClr val="FF0000"/>
                    </a:solidFill>
                    <a:ea typeface="Inter"/>
                    <a:cs typeface="+mn-lt"/>
                  </a:rPr>
                  <a:t>Boolean algebra is a complete algebra that takes propositions as its objects and includes three basic logical operations </a:t>
                </a:r>
                <a:r>
                  <a:rPr lang="en-US" altLang="zh-CN" sz="1400" b="1" i="0">
                    <a:solidFill>
                      <a:srgbClr val="3434A2"/>
                    </a:solidFill>
                    <a:ea typeface="Inter"/>
                    <a:cs typeface="+mn-lt"/>
                  </a:rPr>
                  <a:t>(</a:t>
                </a:r>
                <a:r>
                  <a:rPr lang="en-US" altLang="zh-CN" sz="1400" b="1" i="0">
                    <a:solidFill>
                      <a:schemeClr val="accent1"/>
                    </a:solidFill>
                    <a:ea typeface="Inter"/>
                    <a:cs typeface="+mn-lt"/>
                  </a:rPr>
                  <a:t>AND, OR, NOT</a:t>
                </a:r>
                <a:r>
                  <a:rPr lang="en-US" altLang="zh-CN" sz="1400" b="1" i="0">
                    <a:solidFill>
                      <a:srgbClr val="3434A2"/>
                    </a:solidFill>
                    <a:ea typeface="Inter"/>
                    <a:cs typeface="+mn-lt"/>
                  </a:rPr>
                  <a:t>). It can perform operations on propositions. </a:t>
                </a:r>
              </a:p>
              <a:p>
                <a:pPr marL="0" indent="0"/>
                <a:r>
                  <a:rPr lang="en-US" altLang="zh-CN" sz="1400" b="1" i="0">
                    <a:solidFill>
                      <a:srgbClr val="3434A2"/>
                    </a:solidFill>
                    <a:ea typeface="Inter"/>
                    <a:cs typeface="+mn-lt"/>
                  </a:rPr>
                  <a:t>◇The basic operation symbols are </a:t>
                </a:r>
                <a:r>
                  <a:rPr lang="en-US" altLang="zh-CN" sz="1400" b="1" i="0">
                    <a:solidFill>
                      <a:srgbClr val="FF0000"/>
                    </a:solidFill>
                    <a:ea typeface="Inter"/>
                    <a:cs typeface="+mn-lt"/>
                  </a:rPr>
                  <a:t>+</a:t>
                </a:r>
                <a:r>
                  <a:rPr lang="en-US" altLang="zh-CN" sz="1400" b="1" i="0">
                    <a:solidFill>
                      <a:srgbClr val="3434A2"/>
                    </a:solidFill>
                    <a:ea typeface="Inter"/>
                    <a:cs typeface="+mn-lt"/>
                  </a:rPr>
                  <a:t>, </a:t>
                </a:r>
                <a:r>
                  <a:rPr lang="en-US" altLang="zh-CN" sz="1400" b="1" i="0">
                    <a:solidFill>
                      <a:srgbClr val="FF0000"/>
                    </a:solidFill>
                    <a:ea typeface="Inter"/>
                    <a:cs typeface="+mn-lt"/>
                  </a:rPr>
                  <a:t>·</a:t>
                </a:r>
                <a:r>
                  <a:rPr lang="en-US" altLang="zh-CN" sz="1400" b="1" i="0">
                    <a:solidFill>
                      <a:srgbClr val="3434A2"/>
                    </a:solidFill>
                    <a:ea typeface="Inter"/>
                    <a:cs typeface="+mn-lt"/>
                  </a:rPr>
                  <a:t>, and </a:t>
                </a:r>
                <a:r>
                  <a:rPr lang="en-US" altLang="zh-CN" sz="1400" b="1" i="0">
                    <a:solidFill>
                      <a:srgbClr val="FF0000"/>
                    </a:solidFill>
                    <a:ea typeface="Inter"/>
                    <a:cs typeface="+mn-lt"/>
                  </a:rPr>
                  <a:t>'</a:t>
                </a:r>
                <a:r>
                  <a:rPr lang="en-US" altLang="zh-CN" sz="1400" b="1" i="0">
                    <a:solidFill>
                      <a:srgbClr val="3434A2"/>
                    </a:solidFill>
                    <a:ea typeface="Inter"/>
                    <a:cs typeface="+mn-lt"/>
                  </a:rPr>
                  <a:t>. The binary operation </a:t>
                </a:r>
                <a:r>
                  <a:rPr lang="en-US" altLang="zh-CN" sz="1400" b="1" i="0">
                    <a:solidFill>
                      <a:srgbClr val="FF0000"/>
                    </a:solidFill>
                    <a:ea typeface="Inter"/>
                    <a:cs typeface="+mn-lt"/>
                  </a:rPr>
                  <a:t>+</a:t>
                </a:r>
                <a:r>
                  <a:rPr lang="en-US" altLang="zh-CN" sz="1400" b="1" i="0">
                    <a:solidFill>
                      <a:srgbClr val="3434A2"/>
                    </a:solidFill>
                    <a:ea typeface="Inter"/>
                    <a:cs typeface="+mn-lt"/>
                  </a:rPr>
                  <a:t> is called Boolean addition, Boolean sum, or Boolean union, etc.; </a:t>
                </a:r>
              </a:p>
              <a:p>
                <a:pPr marL="0" indent="0"/>
                <a:r>
                  <a:rPr lang="en-US" altLang="zh-CN" sz="1400" b="1" i="0">
                    <a:solidFill>
                      <a:srgbClr val="3434A2"/>
                    </a:solidFill>
                    <a:ea typeface="Inter"/>
                    <a:cs typeface="+mn-lt"/>
                  </a:rPr>
                  <a:t>The binary operation </a:t>
                </a:r>
                <a:r>
                  <a:rPr lang="en-US" altLang="zh-CN" sz="1400" b="1" i="0">
                    <a:solidFill>
                      <a:srgbClr val="FF0000"/>
                    </a:solidFill>
                    <a:ea typeface="Inter"/>
                    <a:cs typeface="+mn-lt"/>
                  </a:rPr>
                  <a:t>·</a:t>
                </a:r>
                <a:r>
                  <a:rPr lang="en-US" altLang="zh-CN" sz="1400" b="1" i="0">
                    <a:solidFill>
                      <a:srgbClr val="3434A2"/>
                    </a:solidFill>
                    <a:ea typeface="Inter"/>
                    <a:cs typeface="+mn-lt"/>
                  </a:rPr>
                  <a:t> is called Boolean multiplication, Boolean product, or Boolean intersection, etc.; </a:t>
                </a:r>
              </a:p>
              <a:p>
                <a:pPr marL="0" indent="0"/>
                <a:r>
                  <a:rPr lang="en-US" altLang="zh-CN" sz="1400" b="1" i="0">
                    <a:solidFill>
                      <a:srgbClr val="3434A2"/>
                    </a:solidFill>
                    <a:ea typeface="Inter"/>
                    <a:cs typeface="+mn-lt"/>
                  </a:rPr>
                  <a:t>The unary operation </a:t>
                </a:r>
                <a:r>
                  <a:rPr lang="en-US" altLang="zh-CN" sz="1400" b="1" i="0">
                    <a:solidFill>
                      <a:srgbClr val="FF0000"/>
                    </a:solidFill>
                    <a:ea typeface="Inter"/>
                    <a:cs typeface="+mn-lt"/>
                  </a:rPr>
                  <a:t>' </a:t>
                </a:r>
                <a:r>
                  <a:rPr lang="en-US" altLang="zh-CN" sz="1400" b="1" i="0">
                    <a:solidFill>
                      <a:srgbClr val="3434A2"/>
                    </a:solidFill>
                    <a:ea typeface="Inter"/>
                    <a:cs typeface="+mn-lt"/>
                  </a:rPr>
                  <a:t>is called Boolean complement, sometimes denoted by “</a:t>
                </a:r>
                <a14:m>
                  <m:oMath xmlns:m="http://schemas.openxmlformats.org/officeDocument/2006/math">
                    <m:acc>
                      <m:accPr>
                        <m:chr m:val="̅"/>
                        <m:ctrlPr>
                          <a:rPr lang="en-US" altLang="zh-CN" sz="1400" b="1" i="1">
                            <a:solidFill>
                              <a:srgbClr val="FF0000"/>
                            </a:solidFill>
                            <a:latin typeface="Cambria Math" panose="02040503050406030204" pitchFamily="18" charset="0"/>
                            <a:ea typeface="Inter"/>
                            <a:cs typeface="Cambria Math" panose="02040503050406030204" charset="0"/>
                          </a:rPr>
                        </m:ctrlPr>
                      </m:accPr>
                      <m:e/>
                    </m:acc>
                  </m:oMath>
                </a14:m>
                <a:r>
                  <a:rPr lang="en-US" altLang="zh-CN" sz="1400" b="1" i="0">
                    <a:solidFill>
                      <a:srgbClr val="3434A2"/>
                    </a:solidFill>
                    <a:ea typeface="Inter"/>
                    <a:cs typeface="+mn-lt"/>
                  </a:rPr>
                  <a:t>”</a:t>
                </a:r>
                <a:r>
                  <a:rPr lang="en-US" altLang="zh-CN" sz="1400" b="1" i="0">
                    <a:solidFill>
                      <a:srgbClr val="FF0000"/>
                    </a:solidFill>
                    <a:ea typeface="Inter"/>
                    <a:cs typeface="+mn-lt"/>
                  </a:rPr>
                  <a:t> </a:t>
                </a:r>
              </a:p>
            </p:txBody>
          </p:sp>
        </mc:Choice>
        <mc:Fallback xmlns="">
          <p:sp>
            <p:nvSpPr>
              <p:cNvPr id="2" name="文本框 1"/>
              <p:cNvSpPr txBox="1">
                <a:spLocks noRot="1" noChangeAspect="1" noMove="1" noResize="1" noEditPoints="1" noAdjustHandles="1" noChangeArrowheads="1" noChangeShapeType="1" noTextEdit="1"/>
              </p:cNvSpPr>
              <p:nvPr/>
            </p:nvSpPr>
            <p:spPr>
              <a:xfrm>
                <a:off x="6936105" y="3579495"/>
                <a:ext cx="4573905" cy="2488565"/>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2"/>
          <p:cNvSpPr>
            <a:spLocks noGrp="1" noChangeArrowheads="1"/>
          </p:cNvSpPr>
          <p:nvPr>
            <p:ph type="title"/>
          </p:nvPr>
        </p:nvSpPr>
        <p:spPr/>
        <p:txBody>
          <a:bodyPr>
            <a:noAutofit/>
          </a:bodyPr>
          <a:lstStyle/>
          <a:p>
            <a:pPr eaLnBrk="1" hangingPunct="1"/>
            <a:r>
              <a:rPr lang="zh-CN" altLang="zh-CN" sz="3200" dirty="0">
                <a:latin typeface="宋体" panose="02010600030101010101" pitchFamily="2" charset="-122"/>
              </a:rPr>
              <a:t>运算的基本依据是下面的基本公式和规则：</a:t>
            </a:r>
            <a:br>
              <a:rPr lang="zh-CN" altLang="zh-CN" sz="3200" dirty="0">
                <a:latin typeface="宋体" panose="02010600030101010101" pitchFamily="2" charset="-122"/>
              </a:rPr>
            </a:br>
            <a:r>
              <a:rPr lang="en-US" altLang="zh-CN" sz="2400" dirty="0"/>
              <a:t>The fundamental basis for operations is the following basic formulas and rules.</a:t>
            </a:r>
          </a:p>
        </p:txBody>
      </p:sp>
      <p:sp>
        <p:nvSpPr>
          <p:cNvPr id="181252" name="Rectangle 4"/>
          <p:cNvSpPr>
            <a:spLocks noGrp="1" noChangeArrowheads="1"/>
          </p:cNvSpPr>
          <p:nvPr>
            <p:ph idx="1"/>
          </p:nvPr>
        </p:nvSpPr>
        <p:spPr/>
        <p:txBody>
          <a:bodyPr/>
          <a:lstStyle/>
          <a:p>
            <a:pPr lvl="1" eaLnBrk="1" hangingPunct="1">
              <a:defRPr/>
            </a:pPr>
            <a:r>
              <a:rPr lang="zh-CN" altLang="en-US" dirty="0"/>
              <a:t>交换律：</a:t>
            </a:r>
            <a:r>
              <a:rPr lang="en-US" altLang="zh-CN" dirty="0"/>
              <a:t>                      A</a:t>
            </a:r>
            <a:r>
              <a:rPr lang="zh-CN" altLang="en-US" dirty="0"/>
              <a:t>＋</a:t>
            </a:r>
            <a:r>
              <a:rPr lang="en-US" altLang="zh-CN" dirty="0"/>
              <a:t>B</a:t>
            </a:r>
            <a:r>
              <a:rPr lang="zh-CN" altLang="en-US" dirty="0"/>
              <a:t>＝</a:t>
            </a:r>
            <a:r>
              <a:rPr lang="en-US" altLang="zh-CN" dirty="0"/>
              <a:t>B</a:t>
            </a:r>
            <a:r>
              <a:rPr lang="zh-CN" altLang="en-US" dirty="0"/>
              <a:t>＋</a:t>
            </a:r>
            <a:r>
              <a:rPr lang="en-US" altLang="zh-CN" dirty="0"/>
              <a:t>A   </a:t>
            </a:r>
          </a:p>
          <a:p>
            <a:pPr lvl="1" indent="1405255" eaLnBrk="1" hangingPunct="1">
              <a:buFontTx/>
              <a:buNone/>
              <a:defRPr/>
            </a:pPr>
            <a:r>
              <a:rPr lang="en-US" altLang="zh-CN" dirty="0"/>
              <a:t>                A·B</a:t>
            </a:r>
            <a:r>
              <a:rPr lang="zh-CN" altLang="en-US" dirty="0"/>
              <a:t>＝</a:t>
            </a:r>
            <a:r>
              <a:rPr lang="en-US" altLang="zh-CN" dirty="0"/>
              <a:t>B·A</a:t>
            </a:r>
          </a:p>
          <a:p>
            <a:pPr lvl="1" eaLnBrk="1" hangingPunct="1">
              <a:defRPr/>
            </a:pPr>
            <a:r>
              <a:rPr lang="zh-CN" altLang="en-US" dirty="0"/>
              <a:t>结合律：</a:t>
            </a:r>
            <a:r>
              <a:rPr lang="en-US" altLang="zh-CN" dirty="0"/>
              <a:t>               A</a:t>
            </a:r>
            <a:r>
              <a:rPr lang="zh-CN" altLang="en-US" dirty="0"/>
              <a:t>＋</a:t>
            </a:r>
            <a:r>
              <a:rPr lang="en-US" altLang="zh-CN" dirty="0"/>
              <a:t>(B</a:t>
            </a:r>
            <a:r>
              <a:rPr lang="zh-CN" altLang="en-US" dirty="0"/>
              <a:t>＋</a:t>
            </a:r>
            <a:r>
              <a:rPr lang="en-US" altLang="zh-CN" dirty="0"/>
              <a:t>C)</a:t>
            </a:r>
            <a:r>
              <a:rPr lang="zh-CN" altLang="en-US" dirty="0"/>
              <a:t>＝</a:t>
            </a:r>
            <a:r>
              <a:rPr lang="en-US" altLang="zh-CN" dirty="0"/>
              <a:t>(A</a:t>
            </a:r>
            <a:r>
              <a:rPr lang="zh-CN" altLang="en-US" dirty="0"/>
              <a:t>＋</a:t>
            </a:r>
            <a:r>
              <a:rPr lang="en-US" altLang="zh-CN" dirty="0"/>
              <a:t>B)</a:t>
            </a:r>
            <a:r>
              <a:rPr lang="zh-CN" altLang="en-US" dirty="0"/>
              <a:t>＋</a:t>
            </a:r>
            <a:r>
              <a:rPr lang="en-US" altLang="zh-CN" dirty="0"/>
              <a:t>C</a:t>
            </a:r>
          </a:p>
          <a:p>
            <a:pPr lvl="1" eaLnBrk="1" hangingPunct="1">
              <a:buFontTx/>
              <a:buNone/>
              <a:defRPr/>
            </a:pPr>
            <a:r>
              <a:rPr lang="en-US" altLang="zh-CN" dirty="0"/>
              <a:t>                                           A·(B·C)</a:t>
            </a:r>
            <a:r>
              <a:rPr lang="zh-CN" altLang="en-US" dirty="0"/>
              <a:t>＝</a:t>
            </a:r>
            <a:r>
              <a:rPr lang="en-US" altLang="zh-CN" dirty="0"/>
              <a:t>(A·B)·C</a:t>
            </a:r>
          </a:p>
          <a:p>
            <a:pPr lvl="1" eaLnBrk="1" hangingPunct="1">
              <a:defRPr/>
            </a:pPr>
            <a:r>
              <a:rPr lang="zh-CN" altLang="en-US" dirty="0"/>
              <a:t>分配律：</a:t>
            </a:r>
            <a:r>
              <a:rPr lang="en-US" altLang="zh-CN" dirty="0"/>
              <a:t>               A</a:t>
            </a:r>
            <a:r>
              <a:rPr lang="zh-CN" altLang="en-US" dirty="0"/>
              <a:t>＋（</a:t>
            </a:r>
            <a:r>
              <a:rPr lang="en-US" altLang="zh-CN" dirty="0"/>
              <a:t>B·C</a:t>
            </a:r>
            <a:r>
              <a:rPr lang="zh-CN" altLang="en-US" dirty="0"/>
              <a:t>）＝</a:t>
            </a:r>
            <a:r>
              <a:rPr lang="en-US" altLang="zh-CN" dirty="0"/>
              <a:t>(A</a:t>
            </a:r>
            <a:r>
              <a:rPr lang="zh-CN" altLang="en-US" dirty="0"/>
              <a:t>＋</a:t>
            </a:r>
            <a:r>
              <a:rPr lang="en-US" altLang="zh-CN" dirty="0"/>
              <a:t>B)·(A</a:t>
            </a:r>
            <a:r>
              <a:rPr lang="zh-CN" altLang="en-US" dirty="0"/>
              <a:t>＋</a:t>
            </a:r>
            <a:r>
              <a:rPr lang="en-US" altLang="zh-CN" dirty="0"/>
              <a:t>C) </a:t>
            </a:r>
          </a:p>
          <a:p>
            <a:pPr lvl="1" eaLnBrk="1" hangingPunct="1">
              <a:buFontTx/>
              <a:buNone/>
              <a:defRPr/>
            </a:pPr>
            <a:r>
              <a:rPr lang="en-US" altLang="pt-BR" dirty="0"/>
              <a:t>                  </a:t>
            </a:r>
            <a:r>
              <a:rPr lang="pt-BR" altLang="zh-CN" dirty="0"/>
              <a:t>                     A·(B</a:t>
            </a:r>
            <a:r>
              <a:rPr lang="zh-CN" altLang="pt-BR" dirty="0"/>
              <a:t>＋</a:t>
            </a:r>
            <a:r>
              <a:rPr lang="pt-BR" altLang="zh-CN" dirty="0"/>
              <a:t>C)</a:t>
            </a:r>
            <a:r>
              <a:rPr lang="zh-CN" altLang="pt-BR" dirty="0"/>
              <a:t>＝</a:t>
            </a:r>
            <a:r>
              <a:rPr lang="pt-BR" altLang="zh-CN" dirty="0"/>
              <a:t>A·B</a:t>
            </a:r>
            <a:r>
              <a:rPr lang="zh-CN" altLang="pt-BR" dirty="0"/>
              <a:t>＋</a:t>
            </a:r>
            <a:r>
              <a:rPr lang="pt-BR" altLang="zh-CN" dirty="0"/>
              <a:t>A·C</a:t>
            </a:r>
          </a:p>
          <a:p>
            <a:pPr eaLnBrk="1" hangingPunct="1">
              <a:buFont typeface="Wingdings" panose="05000000000000000000" pitchFamily="2" charset="2"/>
              <a:buNone/>
              <a:defRPr/>
            </a:pPr>
            <a:endParaRPr lang="en-US" altLang="zh-CN" dirty="0"/>
          </a:p>
        </p:txBody>
      </p:sp>
      <p:sp>
        <p:nvSpPr>
          <p:cNvPr id="5" name="Rectangle 3"/>
          <p:cNvSpPr txBox="1">
            <a:spLocks noChangeArrowheads="1"/>
          </p:cNvSpPr>
          <p:nvPr/>
        </p:nvSpPr>
        <p:spPr bwMode="auto">
          <a:xfrm>
            <a:off x="673734" y="3657707"/>
            <a:ext cx="8229600"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lvl="1" eaLnBrk="1" hangingPunct="1">
              <a:lnSpc>
                <a:spcPct val="90000"/>
              </a:lnSpc>
              <a:defRPr/>
            </a:pPr>
            <a:r>
              <a:rPr lang="zh-CN" altLang="pt-BR" kern="0" dirty="0"/>
              <a:t>吸收律：</a:t>
            </a:r>
          </a:p>
          <a:p>
            <a:pPr lvl="1" eaLnBrk="1" hangingPunct="1">
              <a:lnSpc>
                <a:spcPct val="90000"/>
              </a:lnSpc>
              <a:defRPr/>
            </a:pPr>
            <a:endParaRPr lang="zh-CN" altLang="pt-BR" kern="0" dirty="0"/>
          </a:p>
          <a:p>
            <a:pPr lvl="1" eaLnBrk="1" hangingPunct="1">
              <a:lnSpc>
                <a:spcPct val="90000"/>
              </a:lnSpc>
              <a:defRPr/>
            </a:pPr>
            <a:r>
              <a:rPr lang="zh-CN" altLang="pt-BR" kern="0" dirty="0"/>
              <a:t>第二吸收律：</a:t>
            </a:r>
          </a:p>
          <a:p>
            <a:pPr lvl="1" eaLnBrk="1" hangingPunct="1">
              <a:lnSpc>
                <a:spcPct val="90000"/>
              </a:lnSpc>
              <a:defRPr/>
            </a:pPr>
            <a:endParaRPr lang="zh-CN" altLang="pt-BR" kern="0" dirty="0"/>
          </a:p>
        </p:txBody>
      </p:sp>
      <p:pic>
        <p:nvPicPr>
          <p:cNvPr id="9" name="Picture 16" descr="OL0{%MCMF8X_7W4R@M@)I{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1460" y="3494307"/>
            <a:ext cx="22971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82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154" y="4565870"/>
            <a:ext cx="2787650" cy="1014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p:cNvSpPr txBox="1"/>
          <p:nvPr/>
        </p:nvSpPr>
        <p:spPr>
          <a:xfrm>
            <a:off x="1160780" y="1553845"/>
            <a:ext cx="1955800" cy="337185"/>
          </a:xfrm>
          <a:prstGeom prst="rect">
            <a:avLst/>
          </a:prstGeom>
        </p:spPr>
        <p:txBody>
          <a:bodyPr wrap="square">
            <a:spAutoFit/>
          </a:bodyPr>
          <a:lstStyle/>
          <a:p>
            <a:r>
              <a:rPr lang="en-US" altLang="zh-CN" sz="1600"/>
              <a:t>Commutative Law</a:t>
            </a:r>
          </a:p>
        </p:txBody>
      </p:sp>
      <p:sp>
        <p:nvSpPr>
          <p:cNvPr id="3" name="文本框 2"/>
          <p:cNvSpPr txBox="1"/>
          <p:nvPr/>
        </p:nvSpPr>
        <p:spPr>
          <a:xfrm>
            <a:off x="1097280" y="2041208"/>
            <a:ext cx="5080000" cy="337185"/>
          </a:xfrm>
          <a:prstGeom prst="rect">
            <a:avLst/>
          </a:prstGeom>
        </p:spPr>
        <p:txBody>
          <a:bodyPr>
            <a:spAutoFit/>
          </a:bodyPr>
          <a:lstStyle/>
          <a:p>
            <a:r>
              <a:rPr lang="en-US" altLang="zh-CN" sz="1600"/>
              <a:t>Combination Law</a:t>
            </a:r>
          </a:p>
        </p:txBody>
      </p:sp>
      <p:sp>
        <p:nvSpPr>
          <p:cNvPr id="4" name="文本框 3"/>
          <p:cNvSpPr txBox="1"/>
          <p:nvPr/>
        </p:nvSpPr>
        <p:spPr>
          <a:xfrm>
            <a:off x="1160780" y="2753043"/>
            <a:ext cx="5080000" cy="337185"/>
          </a:xfrm>
          <a:prstGeom prst="rect">
            <a:avLst/>
          </a:prstGeom>
        </p:spPr>
        <p:txBody>
          <a:bodyPr>
            <a:spAutoFit/>
          </a:bodyPr>
          <a:lstStyle/>
          <a:p>
            <a:r>
              <a:rPr lang="en-US" altLang="zh-CN" sz="1600"/>
              <a:t>Distributive Law</a:t>
            </a:r>
          </a:p>
        </p:txBody>
      </p:sp>
      <p:sp>
        <p:nvSpPr>
          <p:cNvPr id="6" name="文本框 5"/>
          <p:cNvSpPr txBox="1"/>
          <p:nvPr/>
        </p:nvSpPr>
        <p:spPr>
          <a:xfrm>
            <a:off x="1363345" y="4009497"/>
            <a:ext cx="5080000" cy="337185"/>
          </a:xfrm>
          <a:prstGeom prst="rect">
            <a:avLst/>
          </a:prstGeom>
        </p:spPr>
        <p:txBody>
          <a:bodyPr>
            <a:spAutoFit/>
          </a:bodyPr>
          <a:lstStyle/>
          <a:p>
            <a:r>
              <a:rPr lang="en-US" altLang="zh-CN" sz="1600"/>
              <a:t>Absorption Law</a:t>
            </a:r>
          </a:p>
        </p:txBody>
      </p:sp>
      <p:sp>
        <p:nvSpPr>
          <p:cNvPr id="7" name="文本框 6"/>
          <p:cNvSpPr txBox="1"/>
          <p:nvPr/>
        </p:nvSpPr>
        <p:spPr>
          <a:xfrm>
            <a:off x="1160780" y="5013432"/>
            <a:ext cx="5080000" cy="337185"/>
          </a:xfrm>
          <a:prstGeom prst="rect">
            <a:avLst/>
          </a:prstGeom>
        </p:spPr>
        <p:txBody>
          <a:bodyPr>
            <a:spAutoFit/>
          </a:bodyPr>
          <a:lstStyle/>
          <a:p>
            <a:r>
              <a:rPr lang="en-US" altLang="zh-CN" sz="1600"/>
              <a:t>The Second Absorption Law</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idx="1"/>
          </p:nvPr>
        </p:nvSpPr>
        <p:spPr>
          <a:xfrm>
            <a:off x="2253116" y="1212851"/>
            <a:ext cx="7329034" cy="719137"/>
          </a:xfrm>
        </p:spPr>
        <p:txBody>
          <a:bodyPr>
            <a:normAutofit fontScale="80000" lnSpcReduction="10000"/>
          </a:bodyPr>
          <a:lstStyle/>
          <a:p>
            <a:pPr marL="262255" lvl="1" indent="-262255" eaLnBrk="1" hangingPunct="1">
              <a:lnSpc>
                <a:spcPct val="114000"/>
              </a:lnSpc>
              <a:defRPr/>
            </a:pPr>
            <a:r>
              <a:rPr lang="zh-CN" altLang="en-US" dirty="0"/>
              <a:t>反演律</a:t>
            </a:r>
            <a:r>
              <a:rPr lang="en-US" altLang="zh-CN" dirty="0"/>
              <a:t>(</a:t>
            </a:r>
            <a:r>
              <a:rPr lang="zh-CN" altLang="pt-BR" dirty="0"/>
              <a:t>又称摩根定律</a:t>
            </a:r>
            <a:r>
              <a:rPr lang="en-US" altLang="zh-CN" dirty="0"/>
              <a:t>)</a:t>
            </a:r>
            <a:r>
              <a:rPr lang="zh-CN" altLang="pt-BR" dirty="0"/>
              <a:t>：常用于复杂逻辑函数的化简。</a:t>
            </a:r>
            <a:br>
              <a:rPr lang="zh-CN" altLang="pt-BR" dirty="0"/>
            </a:br>
            <a:r>
              <a:rPr lang="en-US" altLang="zh-CN" dirty="0"/>
              <a:t>Inversion Law (also known as Morgan's Law): Often used to simplify complex logic functions.</a:t>
            </a:r>
          </a:p>
          <a:p>
            <a:pPr marL="262255" lvl="1" indent="-262255" eaLnBrk="1" hangingPunct="1">
              <a:lnSpc>
                <a:spcPct val="114000"/>
              </a:lnSpc>
              <a:defRPr/>
            </a:pPr>
            <a:endParaRPr lang="zh-CN" altLang="pt-BR" dirty="0"/>
          </a:p>
        </p:txBody>
      </p:sp>
      <p:pic>
        <p:nvPicPr>
          <p:cNvPr id="242694" name="Picture 6" descr="B5]HO}$867}HIMX~9$OB2Q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2838" y="1751807"/>
            <a:ext cx="4213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2696" name="Picture 8" descr="XC06S}F$ARIMB5K%%D{DDE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375" y="2336553"/>
            <a:ext cx="4702175"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20"/>
          <p:cNvGrpSpPr/>
          <p:nvPr/>
        </p:nvGrpSpPr>
        <p:grpSpPr bwMode="auto">
          <a:xfrm>
            <a:off x="3757613" y="2944813"/>
            <a:ext cx="3502025" cy="522287"/>
            <a:chOff x="1826" y="2577"/>
            <a:chExt cx="2206" cy="329"/>
          </a:xfrm>
        </p:grpSpPr>
        <p:sp>
          <p:nvSpPr>
            <p:cNvPr id="103441" name="Text Box 21"/>
            <p:cNvSpPr txBox="1">
              <a:spLocks noChangeArrowheads="1"/>
            </p:cNvSpPr>
            <p:nvPr/>
          </p:nvSpPr>
          <p:spPr bwMode="auto">
            <a:xfrm>
              <a:off x="1826" y="2577"/>
              <a:ext cx="2206"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dirty="0">
                  <a:solidFill>
                    <a:srgbClr val="CC3300"/>
                  </a:solidFill>
                  <a:ea typeface="楷体_GB2312"/>
                  <a:cs typeface="楷体_GB2312"/>
                </a:rPr>
                <a:t>AB+AC+BC=AB+AC</a:t>
              </a:r>
            </a:p>
          </p:txBody>
        </p:sp>
        <p:sp>
          <p:nvSpPr>
            <p:cNvPr id="103442" name="Line 22"/>
            <p:cNvSpPr>
              <a:spLocks noChangeShapeType="1"/>
            </p:cNvSpPr>
            <p:nvPr/>
          </p:nvSpPr>
          <p:spPr bwMode="auto">
            <a:xfrm>
              <a:off x="3646" y="2664"/>
              <a:ext cx="144" cy="0"/>
            </a:xfrm>
            <a:prstGeom prst="line">
              <a:avLst/>
            </a:prstGeom>
            <a:noFill/>
            <a:ln w="1905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43" name="Line 23"/>
            <p:cNvSpPr>
              <a:spLocks noChangeShapeType="1"/>
            </p:cNvSpPr>
            <p:nvPr/>
          </p:nvSpPr>
          <p:spPr bwMode="auto">
            <a:xfrm>
              <a:off x="2316" y="2661"/>
              <a:ext cx="144" cy="0"/>
            </a:xfrm>
            <a:prstGeom prst="line">
              <a:avLst/>
            </a:prstGeom>
            <a:noFill/>
            <a:ln w="1905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20"/>
          <p:cNvGrpSpPr/>
          <p:nvPr/>
        </p:nvGrpSpPr>
        <p:grpSpPr bwMode="auto">
          <a:xfrm>
            <a:off x="3686176" y="3517900"/>
            <a:ext cx="5176838" cy="522288"/>
            <a:chOff x="1299" y="2577"/>
            <a:chExt cx="3261" cy="329"/>
          </a:xfrm>
        </p:grpSpPr>
        <p:sp>
          <p:nvSpPr>
            <p:cNvPr id="103438" name="Text Box 21"/>
            <p:cNvSpPr txBox="1">
              <a:spLocks noChangeArrowheads="1"/>
            </p:cNvSpPr>
            <p:nvPr/>
          </p:nvSpPr>
          <p:spPr bwMode="auto">
            <a:xfrm>
              <a:off x="1299" y="2577"/>
              <a:ext cx="3261"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a:solidFill>
                    <a:srgbClr val="CC3300"/>
                  </a:solidFill>
                  <a:ea typeface="楷体_GB2312"/>
                  <a:cs typeface="楷体_GB2312"/>
                </a:rPr>
                <a:t>(A+B)(A+C) (B+C)=(A+B)(A+C)</a:t>
              </a:r>
            </a:p>
          </p:txBody>
        </p:sp>
        <p:sp>
          <p:nvSpPr>
            <p:cNvPr id="103439" name="Line 22"/>
            <p:cNvSpPr>
              <a:spLocks noChangeShapeType="1"/>
            </p:cNvSpPr>
            <p:nvPr/>
          </p:nvSpPr>
          <p:spPr bwMode="auto">
            <a:xfrm>
              <a:off x="3977" y="2673"/>
              <a:ext cx="144" cy="0"/>
            </a:xfrm>
            <a:prstGeom prst="line">
              <a:avLst/>
            </a:prstGeom>
            <a:noFill/>
            <a:ln w="1905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40" name="Line 23"/>
            <p:cNvSpPr>
              <a:spLocks noChangeShapeType="1"/>
            </p:cNvSpPr>
            <p:nvPr/>
          </p:nvSpPr>
          <p:spPr bwMode="auto">
            <a:xfrm>
              <a:off x="2020" y="2662"/>
              <a:ext cx="144" cy="0"/>
            </a:xfrm>
            <a:prstGeom prst="line">
              <a:avLst/>
            </a:prstGeom>
            <a:noFill/>
            <a:ln w="19050">
              <a:solidFill>
                <a:srgbClr val="CC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 name="Rectangle 3"/>
          <p:cNvSpPr txBox="1">
            <a:spLocks noChangeArrowheads="1"/>
          </p:cNvSpPr>
          <p:nvPr/>
        </p:nvSpPr>
        <p:spPr bwMode="auto">
          <a:xfrm>
            <a:off x="1730375" y="4840288"/>
            <a:ext cx="8836025" cy="129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174625" lvl="1" indent="-174625" eaLnBrk="1" hangingPunct="1">
              <a:spcAft>
                <a:spcPts val="1200"/>
              </a:spcAft>
              <a:defRPr/>
            </a:pPr>
            <a:r>
              <a:rPr lang="zh-CN" altLang="en-US" kern="0"/>
              <a:t>互补律</a:t>
            </a:r>
            <a:r>
              <a:rPr lang="zh-CN" altLang="pt-BR" kern="0"/>
              <a:t>：</a:t>
            </a:r>
            <a:endParaRPr lang="en-US" altLang="zh-CN" kern="0"/>
          </a:p>
          <a:p>
            <a:pPr marL="174625" lvl="1" indent="-174625" eaLnBrk="1" hangingPunct="1">
              <a:spcAft>
                <a:spcPts val="1200"/>
              </a:spcAft>
              <a:defRPr/>
            </a:pPr>
            <a:r>
              <a:rPr lang="pt-BR" altLang="zh-CN" kern="0"/>
              <a:t>0-1</a:t>
            </a:r>
            <a:r>
              <a:rPr lang="zh-CN" altLang="pt-BR" kern="0"/>
              <a:t>律： </a:t>
            </a:r>
            <a:r>
              <a:rPr lang="pt-BR" altLang="zh-CN" kern="0"/>
              <a:t>0</a:t>
            </a:r>
            <a:r>
              <a:rPr lang="zh-CN" altLang="pt-BR" kern="0"/>
              <a:t>＋</a:t>
            </a:r>
            <a:r>
              <a:rPr lang="pt-BR" altLang="zh-CN" kern="0"/>
              <a:t>A</a:t>
            </a:r>
            <a:r>
              <a:rPr lang="zh-CN" altLang="pt-BR" kern="0"/>
              <a:t>＝</a:t>
            </a:r>
            <a:r>
              <a:rPr lang="pt-BR" altLang="zh-CN" kern="0"/>
              <a:t>A,  1·A</a:t>
            </a:r>
            <a:r>
              <a:rPr lang="zh-CN" altLang="pt-BR" kern="0"/>
              <a:t>＝</a:t>
            </a:r>
            <a:r>
              <a:rPr lang="pt-BR" altLang="zh-CN" kern="0"/>
              <a:t>A,  0·A</a:t>
            </a:r>
            <a:r>
              <a:rPr lang="zh-CN" altLang="pt-BR" kern="0"/>
              <a:t>＝</a:t>
            </a:r>
            <a:r>
              <a:rPr lang="pt-BR" altLang="zh-CN" kern="0"/>
              <a:t>0, </a:t>
            </a:r>
            <a:r>
              <a:rPr lang="en-US" altLang="zh-CN" kern="0"/>
              <a:t>1</a:t>
            </a:r>
            <a:r>
              <a:rPr lang="zh-CN" altLang="en-US" kern="0"/>
              <a:t>＋</a:t>
            </a:r>
            <a:r>
              <a:rPr lang="en-US" altLang="zh-CN" kern="0"/>
              <a:t>A</a:t>
            </a:r>
            <a:r>
              <a:rPr lang="zh-CN" altLang="en-US" kern="0"/>
              <a:t>＝</a:t>
            </a:r>
            <a:r>
              <a:rPr lang="en-US" altLang="zh-CN" kern="0"/>
              <a:t>1</a:t>
            </a:r>
            <a:r>
              <a:rPr lang="zh-CN" altLang="pt-BR" kern="0"/>
              <a:t> </a:t>
            </a:r>
            <a:endParaRPr lang="zh-CN" altLang="en-US" kern="0" dirty="0"/>
          </a:p>
        </p:txBody>
      </p:sp>
      <p:sp>
        <p:nvSpPr>
          <p:cNvPr id="22" name="Rectangle 3"/>
          <p:cNvSpPr txBox="1">
            <a:spLocks noChangeArrowheads="1"/>
          </p:cNvSpPr>
          <p:nvPr/>
        </p:nvSpPr>
        <p:spPr bwMode="auto">
          <a:xfrm>
            <a:off x="1703388" y="2928938"/>
            <a:ext cx="2008187"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lvl="1" indent="-262255" eaLnBrk="1" hangingPunct="1">
              <a:lnSpc>
                <a:spcPct val="114000"/>
              </a:lnSpc>
              <a:spcBef>
                <a:spcPts val="1200"/>
              </a:spcBef>
              <a:defRPr/>
            </a:pPr>
            <a:r>
              <a:rPr lang="zh-CN" altLang="pt-BR" kern="0" dirty="0"/>
              <a:t>包含律：</a:t>
            </a:r>
            <a:endParaRPr lang="zh-CN" altLang="en-US" kern="0" dirty="0"/>
          </a:p>
        </p:txBody>
      </p:sp>
      <p:sp>
        <p:nvSpPr>
          <p:cNvPr id="23" name="Rectangle 3"/>
          <p:cNvSpPr txBox="1">
            <a:spLocks noChangeArrowheads="1"/>
          </p:cNvSpPr>
          <p:nvPr/>
        </p:nvSpPr>
        <p:spPr bwMode="auto">
          <a:xfrm>
            <a:off x="1730375" y="4108450"/>
            <a:ext cx="57372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2255" lvl="1" indent="-262255" eaLnBrk="1" hangingPunct="1">
              <a:lnSpc>
                <a:spcPct val="114000"/>
              </a:lnSpc>
              <a:defRPr/>
            </a:pPr>
            <a:r>
              <a:rPr lang="zh-CN" altLang="pt-BR" kern="0"/>
              <a:t>重叠律：</a:t>
            </a:r>
            <a:r>
              <a:rPr lang="pt-BR" altLang="zh-CN" kern="0"/>
              <a:t>A</a:t>
            </a:r>
            <a:r>
              <a:rPr lang="zh-CN" altLang="pt-BR" kern="0"/>
              <a:t>＋</a:t>
            </a:r>
            <a:r>
              <a:rPr lang="pt-BR" altLang="zh-CN" kern="0"/>
              <a:t>A</a:t>
            </a:r>
            <a:r>
              <a:rPr lang="zh-CN" altLang="pt-BR" kern="0"/>
              <a:t>＝</a:t>
            </a:r>
            <a:r>
              <a:rPr lang="pt-BR" altLang="zh-CN" kern="0"/>
              <a:t>A,  A·A</a:t>
            </a:r>
            <a:r>
              <a:rPr lang="zh-CN" altLang="pt-BR" kern="0"/>
              <a:t>＝</a:t>
            </a:r>
            <a:r>
              <a:rPr lang="pt-BR" altLang="zh-CN" kern="0"/>
              <a:t>A</a:t>
            </a:r>
            <a:endParaRPr lang="zh-CN" altLang="en-US" kern="0" dirty="0"/>
          </a:p>
        </p:txBody>
      </p:sp>
      <p:pic>
        <p:nvPicPr>
          <p:cNvPr id="4392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35375" y="4876800"/>
            <a:ext cx="3370263" cy="417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402" name="标题 2"/>
          <p:cNvSpPr>
            <a:spLocks noGrp="1" noChangeArrowheads="1"/>
          </p:cNvSpPr>
          <p:nvPr>
            <p:ph type="title"/>
          </p:nvPr>
        </p:nvSpPr>
        <p:spPr/>
        <p:txBody>
          <a:bodyPr>
            <a:noAutofit/>
          </a:bodyPr>
          <a:lstStyle/>
          <a:p>
            <a:pPr eaLnBrk="1" hangingPunct="1"/>
            <a:r>
              <a:rPr lang="zh-CN" altLang="zh-CN" sz="3200" dirty="0">
                <a:latin typeface="宋体" panose="02010600030101010101" pitchFamily="2" charset="-122"/>
              </a:rPr>
              <a:t>运算的基本依据是下面的基本公式和规则：</a:t>
            </a:r>
            <a:br>
              <a:rPr lang="zh-CN" altLang="zh-CN" sz="3200" dirty="0">
                <a:latin typeface="宋体" panose="02010600030101010101" pitchFamily="2" charset="-122"/>
              </a:rPr>
            </a:br>
            <a:r>
              <a:rPr lang="en-US" altLang="zh-CN" sz="2400" dirty="0"/>
              <a:t>The fundamental basis for operations is the following basic formulas and rules.</a:t>
            </a:r>
          </a:p>
        </p:txBody>
      </p:sp>
      <p:sp>
        <p:nvSpPr>
          <p:cNvPr id="3" name="文本框 2"/>
          <p:cNvSpPr txBox="1"/>
          <p:nvPr/>
        </p:nvSpPr>
        <p:spPr>
          <a:xfrm>
            <a:off x="1951990" y="3428683"/>
            <a:ext cx="5080000" cy="337185"/>
          </a:xfrm>
          <a:prstGeom prst="rect">
            <a:avLst/>
          </a:prstGeom>
        </p:spPr>
        <p:txBody>
          <a:bodyPr>
            <a:spAutoFit/>
          </a:bodyPr>
          <a:lstStyle/>
          <a:p>
            <a:r>
              <a:rPr lang="en-US" altLang="zh-CN" sz="1600"/>
              <a:t>Inclusion </a:t>
            </a:r>
            <a:r>
              <a:rPr lang="en-US" altLang="zh-CN" sz="1600">
                <a:sym typeface="+mn-ea"/>
              </a:rPr>
              <a:t>Law</a:t>
            </a:r>
            <a:endParaRPr lang="en-US" altLang="zh-CN" sz="1600"/>
          </a:p>
        </p:txBody>
      </p:sp>
      <p:sp>
        <p:nvSpPr>
          <p:cNvPr id="4" name="文本框 3"/>
          <p:cNvSpPr txBox="1"/>
          <p:nvPr/>
        </p:nvSpPr>
        <p:spPr>
          <a:xfrm>
            <a:off x="2005965" y="4539298"/>
            <a:ext cx="5080000" cy="337185"/>
          </a:xfrm>
          <a:prstGeom prst="rect">
            <a:avLst/>
          </a:prstGeom>
        </p:spPr>
        <p:txBody>
          <a:bodyPr>
            <a:spAutoFit/>
          </a:bodyPr>
          <a:lstStyle/>
          <a:p>
            <a:r>
              <a:rPr lang="en-US" altLang="zh-CN" sz="1600"/>
              <a:t>Overlap </a:t>
            </a:r>
            <a:r>
              <a:rPr lang="en-US" altLang="zh-CN" sz="1600">
                <a:sym typeface="+mn-ea"/>
              </a:rPr>
              <a:t>Law</a:t>
            </a:r>
            <a:endParaRPr lang="en-US" altLang="zh-CN" sz="1600"/>
          </a:p>
        </p:txBody>
      </p:sp>
      <p:sp>
        <p:nvSpPr>
          <p:cNvPr id="5" name="文本框 4"/>
          <p:cNvSpPr txBox="1"/>
          <p:nvPr/>
        </p:nvSpPr>
        <p:spPr>
          <a:xfrm>
            <a:off x="1703705" y="5230178"/>
            <a:ext cx="5080000" cy="337185"/>
          </a:xfrm>
          <a:prstGeom prst="rect">
            <a:avLst/>
          </a:prstGeom>
        </p:spPr>
        <p:txBody>
          <a:bodyPr>
            <a:spAutoFit/>
          </a:bodyPr>
          <a:lstStyle/>
          <a:p>
            <a:r>
              <a:rPr lang="en-US" altLang="zh-CN" sz="1600"/>
              <a:t>Complementarity </a:t>
            </a:r>
            <a:r>
              <a:rPr lang="en-US" altLang="zh-CN" sz="1600">
                <a:sym typeface="+mn-ea"/>
              </a:rPr>
              <a:t>Law</a:t>
            </a:r>
            <a:endParaRPr lang="en-US" altLang="zh-CN" sz="1600"/>
          </a:p>
        </p:txBody>
      </p:sp>
      <p:sp>
        <p:nvSpPr>
          <p:cNvPr id="6" name="文本框 5"/>
          <p:cNvSpPr txBox="1"/>
          <p:nvPr/>
        </p:nvSpPr>
        <p:spPr>
          <a:xfrm>
            <a:off x="2058670" y="5921058"/>
            <a:ext cx="5080000" cy="337185"/>
          </a:xfrm>
          <a:prstGeom prst="rect">
            <a:avLst/>
          </a:prstGeom>
        </p:spPr>
        <p:txBody>
          <a:bodyPr>
            <a:spAutoFit/>
          </a:bodyPr>
          <a:lstStyle/>
          <a:p>
            <a:r>
              <a:rPr lang="en-US" altLang="zh-CN" sz="1600"/>
              <a:t>0-1 </a:t>
            </a:r>
            <a:r>
              <a:rPr lang="en-US" altLang="zh-CN" sz="1600">
                <a:sym typeface="+mn-ea"/>
              </a:rPr>
              <a:t>Law</a:t>
            </a:r>
            <a:endParaRPr lang="en-US" altLang="zh-CN" sz="16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6" name="Rectangle 4"/>
          <p:cNvSpPr>
            <a:spLocks noGrp="1" noChangeArrowheads="1"/>
          </p:cNvSpPr>
          <p:nvPr>
            <p:ph idx="1"/>
          </p:nvPr>
        </p:nvSpPr>
        <p:spPr>
          <a:xfrm>
            <a:off x="1425742" y="1105383"/>
            <a:ext cx="9607216" cy="1745993"/>
          </a:xfrm>
        </p:spPr>
        <p:txBody>
          <a:bodyPr>
            <a:normAutofit fontScale="70000" lnSpcReduction="20000"/>
          </a:bodyPr>
          <a:lstStyle/>
          <a:p>
            <a:pPr eaLnBrk="1" hangingPunct="1">
              <a:buClr>
                <a:srgbClr val="FF0000"/>
              </a:buClr>
              <a:buFont typeface="Wingdings" panose="05000000000000000000" pitchFamily="2" charset="2"/>
              <a:buChar char="Ø"/>
            </a:pPr>
            <a:endParaRPr lang="en-US" altLang="zh-CN" dirty="0"/>
          </a:p>
          <a:p>
            <a:pPr>
              <a:buClr>
                <a:srgbClr val="FF0000"/>
              </a:buClr>
              <a:buFont typeface="Wingdings" panose="05000000000000000000" pitchFamily="2" charset="2"/>
              <a:buChar char="Ø"/>
            </a:pPr>
            <a:r>
              <a:rPr kumimoji="1" lang="zh-CN" altLang="en-US" dirty="0"/>
              <a:t>逻辑运算主要包括</a:t>
            </a:r>
            <a:r>
              <a:rPr kumimoji="1" lang="zh-CN" altLang="en-US" dirty="0">
                <a:solidFill>
                  <a:srgbClr val="CC3300"/>
                </a:solidFill>
              </a:rPr>
              <a:t>与、或、非、异或</a:t>
            </a:r>
            <a:r>
              <a:rPr kumimoji="1" lang="zh-CN" altLang="en-US" dirty="0"/>
              <a:t>等。逻辑变量只有两个：</a:t>
            </a:r>
            <a:r>
              <a:rPr kumimoji="1" lang="zh-CN" altLang="en-US" dirty="0">
                <a:solidFill>
                  <a:srgbClr val="CC3300"/>
                </a:solidFill>
              </a:rPr>
              <a:t>逻辑</a:t>
            </a:r>
            <a:r>
              <a:rPr kumimoji="1" lang="en-US" altLang="zh-CN" dirty="0">
                <a:solidFill>
                  <a:srgbClr val="CC3300"/>
                </a:solidFill>
              </a:rPr>
              <a:t>0</a:t>
            </a:r>
            <a:r>
              <a:rPr kumimoji="1" lang="zh-CN" altLang="en-US" dirty="0"/>
              <a:t>和</a:t>
            </a:r>
            <a:r>
              <a:rPr kumimoji="1" lang="zh-CN" altLang="en-US" dirty="0">
                <a:solidFill>
                  <a:srgbClr val="CC3300"/>
                </a:solidFill>
              </a:rPr>
              <a:t>逻辑</a:t>
            </a:r>
            <a:r>
              <a:rPr kumimoji="1" lang="en-US" altLang="zh-CN" dirty="0">
                <a:solidFill>
                  <a:srgbClr val="CC3300"/>
                </a:solidFill>
              </a:rPr>
              <a:t>1</a:t>
            </a:r>
            <a:r>
              <a:rPr kumimoji="1" lang="zh-CN" altLang="en-US" dirty="0"/>
              <a:t>。</a:t>
            </a:r>
            <a:endParaRPr kumimoji="1" lang="en-US" altLang="zh-CN" dirty="0"/>
          </a:p>
          <a:p>
            <a:pPr eaLnBrk="1" hangingPunct="1">
              <a:buClr>
                <a:srgbClr val="FF0000"/>
              </a:buClr>
              <a:buFont typeface="Wingdings" panose="05000000000000000000" pitchFamily="2" charset="2"/>
              <a:buChar char="Ø"/>
            </a:pPr>
            <a:r>
              <a:rPr lang="en-US" altLang="zh-CN" dirty="0"/>
              <a:t>Logic operations mainly include </a:t>
            </a:r>
            <a:r>
              <a:rPr lang="en-US" altLang="zh-CN" dirty="0">
                <a:solidFill>
                  <a:srgbClr val="FF0000"/>
                </a:solidFill>
              </a:rPr>
              <a:t>AND</a:t>
            </a:r>
            <a:r>
              <a:rPr lang="en-US" altLang="zh-CN" dirty="0"/>
              <a:t>, </a:t>
            </a:r>
            <a:r>
              <a:rPr lang="en-US" altLang="zh-CN" dirty="0">
                <a:solidFill>
                  <a:srgbClr val="FF0000"/>
                </a:solidFill>
              </a:rPr>
              <a:t>OR</a:t>
            </a:r>
            <a:r>
              <a:rPr lang="en-US" altLang="zh-CN" dirty="0"/>
              <a:t>, </a:t>
            </a:r>
            <a:r>
              <a:rPr lang="en-US" altLang="zh-CN" dirty="0">
                <a:solidFill>
                  <a:srgbClr val="FF0000"/>
                </a:solidFill>
              </a:rPr>
              <a:t>NOT</a:t>
            </a:r>
            <a:r>
              <a:rPr lang="en-US" altLang="zh-CN" dirty="0"/>
              <a:t>, </a:t>
            </a:r>
            <a:r>
              <a:rPr lang="en-US" altLang="zh-CN" dirty="0">
                <a:solidFill>
                  <a:srgbClr val="FF0000"/>
                </a:solidFill>
              </a:rPr>
              <a:t>XOR</a:t>
            </a:r>
            <a:r>
              <a:rPr lang="en-US" altLang="zh-CN" dirty="0"/>
              <a:t>, etc.. Logic variables can only be </a:t>
            </a:r>
            <a:r>
              <a:rPr lang="en-US" altLang="zh-CN" dirty="0">
                <a:solidFill>
                  <a:srgbClr val="FF0000"/>
                </a:solidFill>
              </a:rPr>
              <a:t>logic 0 </a:t>
            </a:r>
            <a:r>
              <a:rPr lang="en-US" altLang="zh-CN" dirty="0"/>
              <a:t>or </a:t>
            </a:r>
            <a:r>
              <a:rPr lang="en-US" altLang="zh-CN" dirty="0">
                <a:solidFill>
                  <a:srgbClr val="FF0000"/>
                </a:solidFill>
              </a:rPr>
              <a:t>logic 1</a:t>
            </a:r>
            <a:r>
              <a:rPr lang="en-US" altLang="zh-CN" dirty="0"/>
              <a:t>. </a:t>
            </a:r>
            <a:endParaRPr kumimoji="1" lang="en-US" altLang="zh-CN" dirty="0"/>
          </a:p>
          <a:p>
            <a:pPr>
              <a:buClr>
                <a:srgbClr val="FF0000"/>
              </a:buClr>
              <a:buFont typeface="Wingdings" panose="05000000000000000000" pitchFamily="2" charset="2"/>
              <a:buChar char="Ø"/>
            </a:pPr>
            <a:r>
              <a:rPr kumimoji="1" lang="zh-CN" altLang="en-US" dirty="0"/>
              <a:t>逻辑运算只是</a:t>
            </a:r>
            <a:r>
              <a:rPr kumimoji="1" lang="zh-CN" altLang="en-US" dirty="0">
                <a:solidFill>
                  <a:srgbClr val="CC3300"/>
                </a:solidFill>
              </a:rPr>
              <a:t>按位</a:t>
            </a:r>
            <a:r>
              <a:rPr kumimoji="1" lang="zh-CN" altLang="en-US" dirty="0"/>
              <a:t>进行运算，没有进位和借位关系，逻辑变量也没有符号问题。</a:t>
            </a:r>
          </a:p>
          <a:p>
            <a:pPr eaLnBrk="1" hangingPunct="1">
              <a:buClr>
                <a:srgbClr val="FF0000"/>
              </a:buClr>
              <a:buFont typeface="Wingdings" panose="05000000000000000000" pitchFamily="2" charset="2"/>
              <a:buChar char="Ø"/>
            </a:pPr>
            <a:r>
              <a:rPr lang="en-US" altLang="zh-CN" dirty="0"/>
              <a:t>Logic operations are </a:t>
            </a:r>
            <a:r>
              <a:rPr lang="en-US" altLang="zh-CN" dirty="0">
                <a:solidFill>
                  <a:srgbClr val="FF0000"/>
                </a:solidFill>
              </a:rPr>
              <a:t>performed bit by bit</a:t>
            </a:r>
            <a:r>
              <a:rPr lang="en-US" altLang="zh-CN" dirty="0"/>
              <a:t>, with no carry or borrow relationships, and logic variables do not have sign issues.</a:t>
            </a:r>
            <a:r>
              <a:rPr kumimoji="1" lang="zh-CN" altLang="en-US" dirty="0"/>
              <a:t>。</a:t>
            </a:r>
          </a:p>
        </p:txBody>
      </p:sp>
      <p:sp>
        <p:nvSpPr>
          <p:cNvPr id="6" name="Rectangle 3"/>
          <p:cNvSpPr txBox="1">
            <a:spLocks noChangeArrowheads="1"/>
          </p:cNvSpPr>
          <p:nvPr/>
        </p:nvSpPr>
        <p:spPr bwMode="auto">
          <a:xfrm>
            <a:off x="1263315" y="2622884"/>
            <a:ext cx="8613178" cy="3699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defTabSz="457200">
              <a:spcAft>
                <a:spcPts val="1200"/>
              </a:spcAft>
              <a:defRPr/>
            </a:pPr>
            <a:r>
              <a:rPr lang="zh-CN" altLang="en-US" sz="2400" b="0" kern="0" dirty="0">
                <a:solidFill>
                  <a:srgbClr val="FF0000"/>
                </a:solidFill>
              </a:rPr>
              <a:t>逻辑与（</a:t>
            </a:r>
            <a:r>
              <a:rPr lang="en-US" altLang="zh-CN" sz="2400" b="0" kern="0" dirty="0">
                <a:solidFill>
                  <a:srgbClr val="FF0000"/>
                </a:solidFill>
              </a:rPr>
              <a:t>AND</a:t>
            </a:r>
            <a:r>
              <a:rPr lang="zh-CN" altLang="en-US" sz="2400" b="0" kern="0" dirty="0">
                <a:solidFill>
                  <a:srgbClr val="FF0000"/>
                </a:solidFill>
              </a:rPr>
              <a:t>）</a:t>
            </a:r>
            <a:r>
              <a:rPr lang="en-US" altLang="zh-CN" sz="2400" b="0" kern="0" dirty="0">
                <a:solidFill>
                  <a:srgbClr val="FF0000"/>
                </a:solidFill>
                <a:latin typeface="宋体" panose="02010600030101010101" pitchFamily="2" charset="-122"/>
                <a:ea typeface="宋体" panose="02010600030101010101" pitchFamily="2" charset="-122"/>
              </a:rPr>
              <a:t>Logic AND</a:t>
            </a:r>
            <a:endParaRPr lang="zh-CN" altLang="en-US" sz="2400" b="0" kern="0" dirty="0">
              <a:solidFill>
                <a:srgbClr val="FF0000"/>
              </a:solidFill>
              <a:latin typeface="宋体" panose="02010600030101010101" pitchFamily="2" charset="-122"/>
              <a:ea typeface="宋体" panose="02010600030101010101" pitchFamily="2" charset="-122"/>
            </a:endParaRPr>
          </a:p>
          <a:p>
            <a:pPr marL="0" indent="262255" defTabSz="457200">
              <a:buNone/>
              <a:defRPr/>
            </a:pPr>
            <a:r>
              <a:rPr lang="zh-CN" altLang="en-US" sz="1400" b="0" kern="0" dirty="0"/>
              <a:t>逻辑与也叫</a:t>
            </a:r>
            <a:r>
              <a:rPr lang="zh-CN" altLang="en-US" sz="1400" b="0" kern="0" dirty="0">
                <a:solidFill>
                  <a:srgbClr val="9900CC"/>
                </a:solidFill>
              </a:rPr>
              <a:t>逻辑乘</a:t>
            </a:r>
            <a:r>
              <a:rPr lang="zh-CN" altLang="en-US" sz="1400" b="0" kern="0" dirty="0"/>
              <a:t>，其</a:t>
            </a:r>
            <a:r>
              <a:rPr lang="zh-CN" altLang="en-US" sz="1400" b="0" kern="0" dirty="0">
                <a:solidFill>
                  <a:srgbClr val="9900CC"/>
                </a:solidFill>
              </a:rPr>
              <a:t>结果叫逻辑积</a:t>
            </a:r>
            <a:endParaRPr lang="en-US" altLang="zh-CN" sz="2000" b="0" dirty="0">
              <a:solidFill>
                <a:srgbClr val="BD582C"/>
              </a:solidFill>
              <a:latin typeface="Calibri" panose="020F0502020204030204"/>
              <a:ea typeface="宋体" panose="02010600030101010101" pitchFamily="2" charset="-122"/>
            </a:endParaRPr>
          </a:p>
          <a:p>
            <a:pPr marL="0" indent="262255" defTabSz="457200">
              <a:buNone/>
              <a:defRPr/>
            </a:pPr>
            <a:r>
              <a:rPr lang="en-US" altLang="zh-CN" sz="2000" b="0" dirty="0">
                <a:solidFill>
                  <a:srgbClr val="BD582C"/>
                </a:solidFill>
                <a:latin typeface="Calibri" panose="020F0502020204030204"/>
                <a:ea typeface="宋体" panose="02010600030101010101" pitchFamily="2" charset="-122"/>
              </a:rPr>
              <a:t>Logic AND is also called </a:t>
            </a:r>
            <a:r>
              <a:rPr lang="en-US" altLang="zh-CN" sz="2000" b="0" dirty="0">
                <a:solidFill>
                  <a:srgbClr val="7030A0"/>
                </a:solidFill>
                <a:latin typeface="Calibri" panose="020F0502020204030204"/>
                <a:ea typeface="宋体" panose="02010600030101010101" pitchFamily="2" charset="-122"/>
              </a:rPr>
              <a:t>logical multiplication</a:t>
            </a:r>
            <a:r>
              <a:rPr lang="en-US" altLang="zh-CN" sz="2000" b="0" dirty="0">
                <a:solidFill>
                  <a:srgbClr val="BD582C"/>
                </a:solidFill>
                <a:latin typeface="Calibri" panose="020F0502020204030204"/>
                <a:ea typeface="宋体" panose="02010600030101010101" pitchFamily="2" charset="-122"/>
              </a:rPr>
              <a:t>, and </a:t>
            </a:r>
            <a:r>
              <a:rPr lang="en-US" altLang="zh-CN" sz="2000" b="0" dirty="0">
                <a:solidFill>
                  <a:srgbClr val="7030A0"/>
                </a:solidFill>
                <a:latin typeface="Calibri" panose="020F0502020204030204"/>
                <a:ea typeface="宋体" panose="02010600030101010101" pitchFamily="2" charset="-122"/>
              </a:rPr>
              <a:t>its result is the logical product</a:t>
            </a:r>
            <a:r>
              <a:rPr lang="en-US" altLang="zh-CN" sz="2000" b="0" dirty="0">
                <a:solidFill>
                  <a:srgbClr val="BD582C"/>
                </a:solidFill>
                <a:latin typeface="Calibri" panose="020F0502020204030204"/>
                <a:ea typeface="宋体" panose="02010600030101010101" pitchFamily="2" charset="-122"/>
              </a:rPr>
              <a:t>.</a:t>
            </a:r>
            <a:endParaRPr lang="en-US" altLang="zh-CN" sz="2000" b="0" kern="0" dirty="0">
              <a:solidFill>
                <a:srgbClr val="BD582C"/>
              </a:solidFill>
              <a:latin typeface="Calibri" panose="020F0502020204030204"/>
              <a:ea typeface="宋体" panose="02010600030101010101" pitchFamily="2" charset="-122"/>
            </a:endParaRPr>
          </a:p>
          <a:p>
            <a:pPr marL="0" indent="262255" defTabSz="457200">
              <a:buNone/>
              <a:defRPr/>
            </a:pPr>
            <a:r>
              <a:rPr lang="zh-CN" altLang="en-US" sz="1200" kern="0" dirty="0">
                <a:solidFill>
                  <a:srgbClr val="CC3300"/>
                </a:solidFill>
              </a:rPr>
              <a:t>运算规则</a:t>
            </a:r>
            <a:r>
              <a:rPr lang="zh-CN" altLang="en-US" sz="1200" kern="0" dirty="0"/>
              <a:t>：</a:t>
            </a:r>
            <a:r>
              <a:rPr lang="zh-CN" altLang="en-US" sz="1200" kern="0" dirty="0">
                <a:solidFill>
                  <a:srgbClr val="FF0000"/>
                </a:solidFill>
              </a:rPr>
              <a:t>按位相与</a:t>
            </a:r>
            <a:r>
              <a:rPr lang="zh-CN" altLang="en-US" sz="1200" kern="0" dirty="0"/>
              <a:t>，当两逻辑变量都为逻辑</a:t>
            </a:r>
            <a:r>
              <a:rPr lang="en-US" altLang="zh-CN" sz="1200" kern="0" dirty="0"/>
              <a:t>1</a:t>
            </a:r>
            <a:r>
              <a:rPr lang="zh-CN" altLang="en-US" sz="1200" kern="0" dirty="0"/>
              <a:t>时，逻辑积才为</a:t>
            </a:r>
            <a:r>
              <a:rPr lang="en-US" altLang="zh-CN" sz="1200" kern="0" dirty="0"/>
              <a:t>1</a:t>
            </a:r>
            <a:r>
              <a:rPr lang="zh-CN" altLang="en-US" sz="1200" kern="0" dirty="0"/>
              <a:t>，否则逻辑积为</a:t>
            </a:r>
            <a:r>
              <a:rPr lang="en-US" altLang="zh-CN" sz="1200" kern="0" dirty="0"/>
              <a:t>0</a:t>
            </a:r>
            <a:r>
              <a:rPr lang="zh-CN" altLang="en-US" sz="1200" kern="0" dirty="0"/>
              <a:t>。</a:t>
            </a:r>
            <a:endParaRPr lang="en-US" altLang="zh-CN" sz="1800" b="0" kern="0" dirty="0">
              <a:solidFill>
                <a:srgbClr val="FF0000"/>
              </a:solidFill>
              <a:latin typeface="Calibri" panose="020F0502020204030204"/>
              <a:ea typeface="宋体" panose="02010600030101010101" pitchFamily="2" charset="-122"/>
            </a:endParaRPr>
          </a:p>
          <a:p>
            <a:pPr marL="0" indent="262255" defTabSz="457200">
              <a:buNone/>
              <a:defRPr/>
            </a:pPr>
            <a:r>
              <a:rPr lang="en-US" altLang="zh-CN" sz="1800" b="0" kern="0" dirty="0">
                <a:solidFill>
                  <a:srgbClr val="FF0000"/>
                </a:solidFill>
                <a:latin typeface="Calibri" panose="020F0502020204030204"/>
                <a:ea typeface="宋体" panose="02010600030101010101" pitchFamily="2" charset="-122"/>
              </a:rPr>
              <a:t>Operation rule</a:t>
            </a:r>
            <a:r>
              <a:rPr lang="zh-CN" altLang="en-US" sz="1800" b="0" kern="0" dirty="0">
                <a:solidFill>
                  <a:srgbClr val="BD582C"/>
                </a:solidFill>
                <a:latin typeface="Calibri" panose="020F0502020204030204"/>
                <a:ea typeface="宋体" panose="02010600030101010101" pitchFamily="2" charset="-122"/>
              </a:rPr>
              <a:t>：</a:t>
            </a:r>
            <a:r>
              <a:rPr lang="en-US" altLang="zh-CN" sz="2000" b="0" dirty="0">
                <a:solidFill>
                  <a:srgbClr val="BD582C"/>
                </a:solidFill>
                <a:latin typeface="Calibri" panose="020F0502020204030204"/>
                <a:ea typeface="宋体" panose="02010600030101010101" pitchFamily="2" charset="-122"/>
              </a:rPr>
              <a:t>When performing a </a:t>
            </a:r>
            <a:r>
              <a:rPr lang="en-US" altLang="zh-CN" sz="2000" b="0" dirty="0">
                <a:solidFill>
                  <a:srgbClr val="FF0000"/>
                </a:solidFill>
                <a:latin typeface="Calibri" panose="020F0502020204030204"/>
                <a:ea typeface="宋体" panose="02010600030101010101" pitchFamily="2" charset="-122"/>
              </a:rPr>
              <a:t>bitwise AND</a:t>
            </a:r>
            <a:r>
              <a:rPr lang="en-US" altLang="zh-CN" sz="2000" b="0" dirty="0">
                <a:solidFill>
                  <a:srgbClr val="BD582C"/>
                </a:solidFill>
                <a:latin typeface="Calibri" panose="020F0502020204030204"/>
                <a:ea typeface="宋体" panose="02010600030101010101" pitchFamily="2" charset="-122"/>
              </a:rPr>
              <a:t>, the logical product is 1 only when both logic variables are 1; otherwise, the logical product is 0.</a:t>
            </a:r>
          </a:p>
          <a:p>
            <a:pPr marL="2148205" indent="-1885950" defTabSz="457200">
              <a:buNone/>
              <a:defRPr/>
            </a:pPr>
            <a:r>
              <a:rPr lang="zh-CN" altLang="en-US" sz="1400" kern="0" dirty="0">
                <a:solidFill>
                  <a:srgbClr val="CC3300"/>
                </a:solidFill>
              </a:rPr>
              <a:t>逻辑与的运算符号</a:t>
            </a:r>
            <a:r>
              <a:rPr lang="zh-CN" altLang="en-US" sz="1400" kern="0" dirty="0"/>
              <a:t>：</a:t>
            </a:r>
            <a:r>
              <a:rPr lang="en-US" altLang="zh-CN" sz="1400" kern="0" dirty="0">
                <a:latin typeface="Times New Roman" panose="02020603050405020304" pitchFamily="18" charset="0"/>
                <a:cs typeface="Times New Roman" panose="02020603050405020304" pitchFamily="18" charset="0"/>
              </a:rPr>
              <a:t>“</a:t>
            </a:r>
            <a:r>
              <a:rPr lang="pt-BR" altLang="zh-CN" sz="1400" kern="0" dirty="0"/>
              <a:t>·</a:t>
            </a:r>
            <a:r>
              <a:rPr lang="en-US" altLang="zh-CN" sz="1400" kern="0" dirty="0">
                <a:latin typeface="Times New Roman" panose="02020603050405020304" pitchFamily="18" charset="0"/>
                <a:cs typeface="Times New Roman" panose="02020603050405020304" pitchFamily="18" charset="0"/>
              </a:rPr>
              <a:t>”</a:t>
            </a:r>
            <a:r>
              <a:rPr lang="zh-CN" altLang="pt-BR" sz="1400" kern="0" dirty="0"/>
              <a:t>或</a:t>
            </a:r>
            <a:r>
              <a:rPr lang="en-US" altLang="zh-CN" sz="1400" kern="0" dirty="0">
                <a:latin typeface="Times New Roman" panose="02020603050405020304" pitchFamily="18" charset="0"/>
                <a:cs typeface="Times New Roman" panose="02020603050405020304" pitchFamily="18" charset="0"/>
              </a:rPr>
              <a:t>“</a:t>
            </a:r>
            <a:r>
              <a:rPr lang="zh-CN" altLang="pt-BR" sz="1400" kern="0" dirty="0"/>
              <a:t>∧</a:t>
            </a:r>
            <a:r>
              <a:rPr lang="en-US" altLang="zh-CN" sz="1400" kern="0" dirty="0">
                <a:latin typeface="Times New Roman" panose="02020603050405020304" pitchFamily="18" charset="0"/>
                <a:cs typeface="Times New Roman" panose="02020603050405020304" pitchFamily="18" charset="0"/>
              </a:rPr>
              <a:t>” </a:t>
            </a:r>
            <a:r>
              <a:rPr lang="zh-CN" altLang="pt-BR" sz="1400" kern="0" dirty="0"/>
              <a:t>。圆点也可省略</a:t>
            </a:r>
            <a:endParaRPr lang="en-US" altLang="zh-CN" sz="2000" b="0" dirty="0">
              <a:solidFill>
                <a:srgbClr val="BD582C"/>
              </a:solidFill>
              <a:latin typeface="Calibri" panose="020F0502020204030204"/>
              <a:ea typeface="宋体" panose="02010600030101010101" pitchFamily="2" charset="-122"/>
            </a:endParaRPr>
          </a:p>
          <a:p>
            <a:pPr marL="2148205" indent="-1885950" defTabSz="457200">
              <a:buNone/>
              <a:defRPr/>
            </a:pPr>
            <a:r>
              <a:rPr lang="en-US" altLang="zh-CN" sz="2000" b="0" dirty="0">
                <a:solidFill>
                  <a:srgbClr val="BD582C"/>
                </a:solidFill>
                <a:latin typeface="Calibri" panose="020F0502020204030204"/>
                <a:ea typeface="宋体" panose="02010600030101010101" pitchFamily="2" charset="-122"/>
              </a:rPr>
              <a:t>Symbol: "·" or "∧". The dot can also be omitted.</a:t>
            </a:r>
            <a:endParaRPr lang="zh-CN" altLang="en-US" sz="2000" b="0" kern="0" dirty="0">
              <a:solidFill>
                <a:srgbClr val="BD582C"/>
              </a:solidFill>
              <a:latin typeface="Calibri" panose="020F0502020204030204"/>
              <a:ea typeface="宋体" panose="02010600030101010101" pitchFamily="2" charset="-122"/>
              <a:cs typeface="Times New Roman" panose="02020603050405020304" pitchFamily="18" charset="0"/>
            </a:endParaRPr>
          </a:p>
        </p:txBody>
      </p:sp>
      <p:sp>
        <p:nvSpPr>
          <p:cNvPr id="3" name="标题 2"/>
          <p:cNvSpPr>
            <a:spLocks noGrp="1"/>
          </p:cNvSpPr>
          <p:nvPr>
            <p:ph type="title"/>
          </p:nvPr>
        </p:nvSpPr>
        <p:spPr>
          <a:xfrm>
            <a:off x="614039" y="216568"/>
            <a:ext cx="9607216" cy="888815"/>
          </a:xfrm>
        </p:spPr>
        <p:txBody>
          <a:bodyPr>
            <a:noAutofit/>
          </a:bodyPr>
          <a:lstStyle/>
          <a:p>
            <a:br>
              <a:rPr lang="en-US" altLang="zh-CN" sz="3200" dirty="0"/>
            </a:br>
            <a:br>
              <a:rPr lang="en-US" altLang="zh-CN" sz="3200" dirty="0"/>
            </a:br>
            <a:br>
              <a:rPr lang="en-US" altLang="zh-CN" sz="3200" dirty="0"/>
            </a:br>
            <a:br>
              <a:rPr lang="en-US" altLang="zh-CN" sz="3200" dirty="0"/>
            </a:br>
            <a:r>
              <a:rPr lang="zh-CN" altLang="en-US" sz="3200" dirty="0">
                <a:latin typeface="宋体" panose="02010600030101010101" pitchFamily="2" charset="-122"/>
              </a:rPr>
              <a:t> </a:t>
            </a:r>
            <a:r>
              <a:rPr lang="en-US" altLang="zh-CN" sz="3200" dirty="0">
                <a:latin typeface="宋体" panose="02010600030101010101" pitchFamily="2" charset="-122"/>
              </a:rPr>
              <a:t>2.2.2  </a:t>
            </a:r>
            <a:r>
              <a:rPr lang="zh-CN" altLang="en-US" sz="3200" dirty="0">
                <a:latin typeface="宋体" panose="02010600030101010101" pitchFamily="2" charset="-122"/>
              </a:rPr>
              <a:t>基本逻辑运算和逻辑门电路</a:t>
            </a:r>
            <a:br>
              <a:rPr lang="en-US" altLang="zh-CN" sz="3200" dirty="0">
                <a:latin typeface="宋体" panose="02010600030101010101" pitchFamily="2" charset="-122"/>
              </a:rPr>
            </a:br>
            <a:r>
              <a:rPr lang="en-US" altLang="zh-CN" sz="3200" dirty="0"/>
              <a:t>2.2.2. Basic Logic Operations and Logic Gate Circuits</a:t>
            </a:r>
            <a:endParaRPr lang="zh-CN" altLang="en-US"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type="body" sz="half" idx="4294967295"/>
          </p:nvPr>
        </p:nvSpPr>
        <p:spPr>
          <a:xfrm>
            <a:off x="2220687" y="1195389"/>
            <a:ext cx="7455353" cy="754063"/>
          </a:xfrm>
        </p:spPr>
        <p:txBody>
          <a:bodyPr>
            <a:normAutofit fontScale="70000" lnSpcReduction="20000"/>
          </a:bodyPr>
          <a:lstStyle/>
          <a:p>
            <a:r>
              <a:rPr lang="zh-CN" altLang="pt-BR" dirty="0">
                <a:latin typeface="宋体" panose="02010600030101010101" pitchFamily="2" charset="-122"/>
                <a:ea typeface="宋体" panose="02010600030101010101" pitchFamily="2" charset="-122"/>
              </a:rPr>
              <a:t>若用</a:t>
            </a:r>
            <a:r>
              <a:rPr lang="en-US" altLang="zh-CN" dirty="0">
                <a:solidFill>
                  <a:srgbClr val="FF0000"/>
                </a:solidFill>
                <a:latin typeface="宋体" panose="02010600030101010101" pitchFamily="2" charset="-122"/>
                <a:ea typeface="宋体" panose="02010600030101010101" pitchFamily="2" charset="-122"/>
              </a:rPr>
              <a:t>Y</a:t>
            </a:r>
            <a:r>
              <a:rPr lang="zh-CN" altLang="en-US" dirty="0">
                <a:latin typeface="宋体" panose="02010600030101010101" pitchFamily="2" charset="-122"/>
                <a:ea typeface="宋体" panose="02010600030101010101" pitchFamily="2" charset="-122"/>
              </a:rPr>
              <a:t>表示逻辑积，</a:t>
            </a:r>
            <a:r>
              <a:rPr lang="en-US" altLang="zh-CN" dirty="0">
                <a:solidFill>
                  <a:srgbClr val="FF0000"/>
                </a:solidFill>
                <a:latin typeface="宋体" panose="02010600030101010101" pitchFamily="2" charset="-122"/>
                <a:ea typeface="宋体" panose="02010600030101010101" pitchFamily="2" charset="-122"/>
              </a:rPr>
              <a:t>A</a:t>
            </a:r>
            <a:r>
              <a:rPr lang="zh-CN" altLang="en-US" dirty="0">
                <a:latin typeface="宋体" panose="02010600030101010101" pitchFamily="2" charset="-122"/>
                <a:ea typeface="宋体" panose="02010600030101010101" pitchFamily="2" charset="-122"/>
              </a:rPr>
              <a:t>和</a:t>
            </a:r>
            <a:r>
              <a:rPr lang="en-US" altLang="zh-CN" dirty="0">
                <a:solidFill>
                  <a:srgbClr val="FF0000"/>
                </a:solidFill>
                <a:latin typeface="宋体" panose="02010600030101010101" pitchFamily="2" charset="-122"/>
                <a:ea typeface="宋体" panose="02010600030101010101" pitchFamily="2" charset="-122"/>
              </a:rPr>
              <a:t>B</a:t>
            </a:r>
            <a:r>
              <a:rPr lang="zh-CN" altLang="en-US" dirty="0">
                <a:latin typeface="宋体" panose="02010600030101010101" pitchFamily="2" charset="-122"/>
                <a:ea typeface="宋体" panose="02010600030101010101" pitchFamily="2" charset="-122"/>
              </a:rPr>
              <a:t>分别表示两个逻辑变量时，其表达式为：</a:t>
            </a:r>
            <a:endParaRPr lang="en-US" altLang="zh-CN" dirty="0"/>
          </a:p>
          <a:p>
            <a:r>
              <a:rPr lang="en-US" altLang="zh-CN" dirty="0"/>
              <a:t>If </a:t>
            </a:r>
            <a:r>
              <a:rPr lang="en-US" altLang="zh-CN" dirty="0">
                <a:solidFill>
                  <a:srgbClr val="FF0000"/>
                </a:solidFill>
              </a:rPr>
              <a:t>Y</a:t>
            </a:r>
            <a:r>
              <a:rPr lang="en-US" altLang="zh-CN" dirty="0"/>
              <a:t> represents the logical product and </a:t>
            </a:r>
            <a:r>
              <a:rPr lang="en-US" altLang="zh-CN" dirty="0">
                <a:solidFill>
                  <a:srgbClr val="FF0000"/>
                </a:solidFill>
              </a:rPr>
              <a:t>A</a:t>
            </a:r>
            <a:r>
              <a:rPr lang="en-US" altLang="zh-CN" dirty="0"/>
              <a:t> and </a:t>
            </a:r>
            <a:r>
              <a:rPr lang="en-US" altLang="zh-CN" dirty="0">
                <a:solidFill>
                  <a:srgbClr val="FF0000"/>
                </a:solidFill>
              </a:rPr>
              <a:t>B</a:t>
            </a:r>
            <a:r>
              <a:rPr lang="en-US" altLang="zh-CN" dirty="0"/>
              <a:t> are the two logic variables, the expression is: </a:t>
            </a:r>
          </a:p>
        </p:txBody>
      </p:sp>
      <p:graphicFrame>
        <p:nvGraphicFramePr>
          <p:cNvPr id="249962" name="Group 106"/>
          <p:cNvGraphicFramePr>
            <a:graphicFrameLocks noGrp="1"/>
          </p:cNvGraphicFramePr>
          <p:nvPr>
            <p:ph sz="half" idx="4294967295"/>
          </p:nvPr>
        </p:nvGraphicFramePr>
        <p:xfrm>
          <a:off x="7383463" y="3810000"/>
          <a:ext cx="3009900" cy="2133600"/>
        </p:xfrm>
        <a:graphic>
          <a:graphicData uri="http://schemas.openxmlformats.org/drawingml/2006/table">
            <a:tbl>
              <a:tblPr/>
              <a:tblGrid>
                <a:gridCol w="787475">
                  <a:extLst>
                    <a:ext uri="{9D8B030D-6E8A-4147-A177-3AD203B41FA5}">
                      <a16:colId xmlns:a16="http://schemas.microsoft.com/office/drawing/2014/main" val="20000"/>
                    </a:ext>
                  </a:extLst>
                </a:gridCol>
                <a:gridCol w="885216">
                  <a:extLst>
                    <a:ext uri="{9D8B030D-6E8A-4147-A177-3AD203B41FA5}">
                      <a16:colId xmlns:a16="http://schemas.microsoft.com/office/drawing/2014/main" val="20001"/>
                    </a:ext>
                  </a:extLst>
                </a:gridCol>
                <a:gridCol w="1337209">
                  <a:extLst>
                    <a:ext uri="{9D8B030D-6E8A-4147-A177-3AD203B41FA5}">
                      <a16:colId xmlns:a16="http://schemas.microsoft.com/office/drawing/2014/main" val="20002"/>
                    </a:ext>
                  </a:extLst>
                </a:gridCol>
              </a:tblGrid>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a:t>
                      </a:r>
                      <a:r>
                        <a:rPr kumimoji="0" lang="fr-FR" altLang="zh-CN" sz="2800" b="1" i="0" u="none" strike="noStrike" cap="none" normalizeH="0" baseline="0">
                          <a:ln>
                            <a:noFill/>
                          </a:ln>
                          <a:solidFill>
                            <a:schemeClr val="tx1"/>
                          </a:solidFill>
                          <a:effectLst/>
                          <a:latin typeface="Arial" panose="020B0604020202020204"/>
                          <a:ea typeface="宋体" panose="02010600030101010101" pitchFamily="2" charset="-122"/>
                          <a:cs typeface="Times New Roman" panose="02020603050405020304" pitchFamily="18" charset="0"/>
                        </a:rPr>
                        <a:t>·</a:t>
                      </a:r>
                      <a:r>
                        <a:rPr kumimoji="0" lang="fr-FR"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4361">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5504" name="Rectangle 8"/>
          <p:cNvSpPr>
            <a:spLocks noChangeArrowheads="1"/>
          </p:cNvSpPr>
          <p:nvPr/>
        </p:nvSpPr>
        <p:spPr bwMode="auto">
          <a:xfrm>
            <a:off x="6003635" y="3163372"/>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249863" name="Object 7"/>
          <p:cNvGraphicFramePr>
            <a:graphicFrameLocks noChangeAspect="1"/>
          </p:cNvGraphicFramePr>
          <p:nvPr/>
        </p:nvGraphicFramePr>
        <p:xfrm>
          <a:off x="4965700" y="1728789"/>
          <a:ext cx="2030412" cy="441325"/>
        </p:xfrm>
        <a:graphic>
          <a:graphicData uri="http://schemas.openxmlformats.org/presentationml/2006/ole">
            <mc:AlternateContent xmlns:mc="http://schemas.openxmlformats.org/markup-compatibility/2006">
              <mc:Choice xmlns:v="urn:schemas-microsoft-com:vml" Requires="v">
                <p:oleObj name="Equation" r:id="rId2" imgW="634365" imgH="165100" progId="Equation.DSMT4">
                  <p:embed/>
                </p:oleObj>
              </mc:Choice>
              <mc:Fallback>
                <p:oleObj name="Equation" r:id="rId2" imgW="634365" imgH="165100" progId="Equation.DSMT4">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5700" y="1728789"/>
                        <a:ext cx="2030412"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506" name="Rectangle 108"/>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249963" name="Object 107"/>
          <p:cNvGraphicFramePr>
            <a:graphicFrameLocks noChangeAspect="1"/>
          </p:cNvGraphicFramePr>
          <p:nvPr/>
        </p:nvGraphicFramePr>
        <p:xfrm>
          <a:off x="3746501" y="2560222"/>
          <a:ext cx="2906712" cy="1844675"/>
        </p:xfrm>
        <a:graphic>
          <a:graphicData uri="http://schemas.openxmlformats.org/presentationml/2006/ole">
            <mc:AlternateContent xmlns:mc="http://schemas.openxmlformats.org/markup-compatibility/2006">
              <mc:Choice xmlns:v="urn:schemas-microsoft-com:vml" Requires="v">
                <p:oleObj name="Microsoft Drawing" r:id="rId4" imgW="1009650" imgH="678180" progId="MSDraw">
                  <p:embed/>
                </p:oleObj>
              </mc:Choice>
              <mc:Fallback>
                <p:oleObj name="Microsoft Drawing" r:id="rId4" imgW="1009650" imgH="678180" progId="MSDraw">
                  <p:embed/>
                  <p:pic>
                    <p:nvPicPr>
                      <p:cNvPr id="0" name="Object 10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6501" y="2560222"/>
                        <a:ext cx="2906712"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9965" name="Rectangle 109"/>
          <p:cNvSpPr>
            <a:spLocks noChangeArrowheads="1"/>
          </p:cNvSpPr>
          <p:nvPr/>
        </p:nvSpPr>
        <p:spPr bwMode="auto">
          <a:xfrm>
            <a:off x="577514" y="4510700"/>
            <a:ext cx="6906127" cy="707886"/>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defTabSz="457200">
              <a:defRPr/>
            </a:pPr>
            <a:r>
              <a:rPr lang="zh-CN" altLang="fr-FR" sz="2000" b="1" dirty="0">
                <a:solidFill>
                  <a:srgbClr val="FF0000"/>
                </a:solidFill>
                <a:ea typeface="+mj-ea"/>
                <a:cs typeface="Times New Roman" panose="02020603050405020304" pitchFamily="18" charset="0"/>
              </a:rPr>
              <a:t>逻辑与</a:t>
            </a:r>
            <a:r>
              <a:rPr lang="zh-CN" altLang="fr-FR" sz="2000" b="1" dirty="0">
                <a:solidFill>
                  <a:schemeClr val="accent2"/>
                </a:solidFill>
                <a:ea typeface="+mj-ea"/>
                <a:cs typeface="Times New Roman" panose="02020603050405020304" pitchFamily="18" charset="0"/>
              </a:rPr>
              <a:t>运算对应逻辑电路</a:t>
            </a:r>
            <a:r>
              <a:rPr lang="en-US" altLang="zh-CN" sz="2000" kern="0" dirty="0">
                <a:ea typeface="+mj-ea"/>
                <a:cs typeface="Times New Roman" panose="02020603050405020304" pitchFamily="18" charset="0"/>
              </a:rPr>
              <a:t>“</a:t>
            </a:r>
            <a:r>
              <a:rPr lang="zh-CN" altLang="pt-BR" sz="2000" b="1" dirty="0">
                <a:solidFill>
                  <a:srgbClr val="FF0000"/>
                </a:solidFill>
                <a:ea typeface="+mj-ea"/>
                <a:cs typeface="Times New Roman" panose="02020603050405020304" pitchFamily="18" charset="0"/>
              </a:rPr>
              <a:t>与门</a:t>
            </a:r>
            <a:r>
              <a:rPr lang="en-US" altLang="zh-CN" sz="2000" kern="0" dirty="0">
                <a:ea typeface="+mj-ea"/>
                <a:cs typeface="Times New Roman" panose="02020603050405020304" pitchFamily="18" charset="0"/>
              </a:rPr>
              <a:t>”</a:t>
            </a:r>
            <a:r>
              <a:rPr lang="zh-CN" altLang="pt-BR" sz="2000" dirty="0">
                <a:ea typeface="+mj-ea"/>
                <a:cs typeface="Times New Roman" panose="02020603050405020304" pitchFamily="18" charset="0"/>
              </a:rPr>
              <a:t>。</a:t>
            </a:r>
          </a:p>
          <a:p>
            <a:pPr defTabSz="457200">
              <a:defRPr/>
            </a:pPr>
            <a:r>
              <a:rPr lang="en-US" altLang="zh-CN" sz="2000" b="1" kern="0" dirty="0">
                <a:solidFill>
                  <a:srgbClr val="FF0000"/>
                </a:solidFill>
                <a:latin typeface="Calibri" panose="020F0502020204030204"/>
                <a:ea typeface="宋体" panose="02010600030101010101" pitchFamily="2" charset="-122"/>
              </a:rPr>
              <a:t>Logic and </a:t>
            </a:r>
            <a:r>
              <a:rPr lang="en-US" altLang="zh-CN" sz="2000" b="1" kern="0" dirty="0">
                <a:solidFill>
                  <a:srgbClr val="BD582C"/>
                </a:solidFill>
                <a:latin typeface="Calibri" panose="020F0502020204030204"/>
                <a:ea typeface="宋体" panose="02010600030101010101" pitchFamily="2" charset="-122"/>
              </a:rPr>
              <a:t>operation correspond to the logic circuit "</a:t>
            </a:r>
            <a:r>
              <a:rPr lang="en-US" altLang="zh-CN" sz="2000" b="1" kern="0" dirty="0">
                <a:solidFill>
                  <a:srgbClr val="FF0000"/>
                </a:solidFill>
                <a:latin typeface="Calibri" panose="020F0502020204030204"/>
                <a:ea typeface="宋体" panose="02010600030101010101" pitchFamily="2" charset="-122"/>
              </a:rPr>
              <a:t>AND gate</a:t>
            </a:r>
            <a:r>
              <a:rPr lang="en-US" altLang="zh-CN" sz="2000" b="1" kern="0" dirty="0">
                <a:solidFill>
                  <a:srgbClr val="BD582C"/>
                </a:solidFill>
                <a:latin typeface="Calibri" panose="020F0502020204030204"/>
                <a:ea typeface="宋体" panose="02010600030101010101" pitchFamily="2" charset="-122"/>
              </a:rPr>
              <a:t>".</a:t>
            </a:r>
          </a:p>
        </p:txBody>
      </p:sp>
      <p:sp>
        <p:nvSpPr>
          <p:cNvPr id="249966" name="Rectangle 110"/>
          <p:cNvSpPr>
            <a:spLocks noChangeArrowheads="1"/>
          </p:cNvSpPr>
          <p:nvPr/>
        </p:nvSpPr>
        <p:spPr bwMode="auto">
          <a:xfrm>
            <a:off x="7060747" y="3219328"/>
            <a:ext cx="3547381" cy="646331"/>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r>
              <a:rPr lang="zh-CN" altLang="en-US" sz="1800" b="1" dirty="0">
                <a:solidFill>
                  <a:srgbClr val="FF0000"/>
                </a:solidFill>
                <a:cs typeface="Times New Roman" panose="02020603050405020304" pitchFamily="18" charset="0"/>
              </a:rPr>
              <a:t>表</a:t>
            </a:r>
            <a:r>
              <a:rPr lang="en-US" altLang="zh-CN" sz="1800" b="1" dirty="0">
                <a:solidFill>
                  <a:srgbClr val="FF0000"/>
                </a:solidFill>
                <a:cs typeface="Times New Roman" panose="02020603050405020304" pitchFamily="18" charset="0"/>
              </a:rPr>
              <a:t>2-3 </a:t>
            </a:r>
            <a:r>
              <a:rPr lang="zh-CN" altLang="en-US" sz="1800" b="1" dirty="0">
                <a:solidFill>
                  <a:srgbClr val="C00000"/>
                </a:solidFill>
                <a:cs typeface="Times New Roman" panose="02020603050405020304" pitchFamily="18" charset="0"/>
              </a:rPr>
              <a:t>逻辑与的真值表</a:t>
            </a:r>
          </a:p>
          <a:p>
            <a:pPr defTabSz="457200"/>
            <a:r>
              <a:rPr lang="en-US" altLang="zh-CN" b="1" dirty="0">
                <a:solidFill>
                  <a:srgbClr val="FF0000"/>
                </a:solidFill>
                <a:cs typeface="Times New Roman" panose="02020603050405020304" pitchFamily="18" charset="0"/>
              </a:rPr>
              <a:t>Table 2-3: Logic AND Truth Table</a:t>
            </a:r>
            <a:endParaRPr lang="zh-CN" altLang="en-US" b="1" dirty="0">
              <a:solidFill>
                <a:srgbClr val="C00000"/>
              </a:solidFill>
              <a:cs typeface="Times New Roman" panose="02020603050405020304" pitchFamily="18" charset="0"/>
            </a:endParaRPr>
          </a:p>
        </p:txBody>
      </p:sp>
      <p:sp>
        <p:nvSpPr>
          <p:cNvPr id="18" name="Rectangle 3"/>
          <p:cNvSpPr txBox="1">
            <a:spLocks noChangeArrowheads="1"/>
          </p:cNvSpPr>
          <p:nvPr/>
        </p:nvSpPr>
        <p:spPr bwMode="auto">
          <a:xfrm>
            <a:off x="2220686" y="2102647"/>
            <a:ext cx="7350435" cy="670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6"/>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7"/>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defTabSz="457200">
              <a:buNone/>
              <a:defRPr/>
            </a:pPr>
            <a:r>
              <a:rPr lang="en-US" altLang="zh-CN" sz="1600" kern="0" dirty="0">
                <a:latin typeface="宋体" panose="02010600030101010101" pitchFamily="2" charset="-122"/>
                <a:ea typeface="宋体" panose="02010600030101010101" pitchFamily="2" charset="-122"/>
              </a:rPr>
              <a:t>A</a:t>
            </a:r>
            <a:r>
              <a:rPr lang="zh-CN" altLang="en-US" sz="1600" kern="0" dirty="0">
                <a:latin typeface="宋体" panose="02010600030101010101" pitchFamily="2" charset="-122"/>
                <a:ea typeface="宋体" panose="02010600030101010101" pitchFamily="2" charset="-122"/>
              </a:rPr>
              <a:t>、</a:t>
            </a:r>
            <a:r>
              <a:rPr lang="en-US" altLang="zh-CN" sz="1600" kern="0" dirty="0">
                <a:latin typeface="宋体" panose="02010600030101010101" pitchFamily="2" charset="-122"/>
                <a:ea typeface="宋体" panose="02010600030101010101" pitchFamily="2" charset="-122"/>
              </a:rPr>
              <a:t>B</a:t>
            </a:r>
            <a:r>
              <a:rPr lang="zh-CN" altLang="en-US" sz="1600" kern="0" dirty="0">
                <a:latin typeface="宋体" panose="02010600030101010101" pitchFamily="2" charset="-122"/>
                <a:ea typeface="宋体" panose="02010600030101010101" pitchFamily="2" charset="-122"/>
              </a:rPr>
              <a:t>及其逻辑积</a:t>
            </a:r>
            <a:r>
              <a:rPr lang="en-US" altLang="zh-CN" sz="1600" kern="0" dirty="0">
                <a:latin typeface="宋体" panose="02010600030101010101" pitchFamily="2" charset="-122"/>
                <a:ea typeface="宋体" panose="02010600030101010101" pitchFamily="2" charset="-122"/>
              </a:rPr>
              <a:t>Y</a:t>
            </a:r>
            <a:r>
              <a:rPr lang="zh-CN" altLang="en-US" sz="1600" kern="0" dirty="0">
                <a:latin typeface="宋体" panose="02010600030101010101" pitchFamily="2" charset="-122"/>
                <a:ea typeface="宋体" panose="02010600030101010101" pitchFamily="2" charset="-122"/>
              </a:rPr>
              <a:t>的关系的真值表如表</a:t>
            </a:r>
            <a:r>
              <a:rPr lang="en-US" altLang="zh-CN" sz="1600" kern="0" dirty="0">
                <a:latin typeface="宋体" panose="02010600030101010101" pitchFamily="2" charset="-122"/>
                <a:ea typeface="宋体" panose="02010600030101010101" pitchFamily="2" charset="-122"/>
              </a:rPr>
              <a:t>2-3</a:t>
            </a:r>
            <a:r>
              <a:rPr lang="zh-CN" altLang="en-US" sz="1600" kern="0" dirty="0">
                <a:latin typeface="宋体" panose="02010600030101010101" pitchFamily="2" charset="-122"/>
                <a:ea typeface="宋体" panose="02010600030101010101" pitchFamily="2" charset="-122"/>
              </a:rPr>
              <a:t>所示。</a:t>
            </a:r>
            <a:endParaRPr lang="zh-CN" altLang="fr-FR" sz="1600" kern="0" dirty="0">
              <a:latin typeface="宋体" panose="02010600030101010101" pitchFamily="2" charset="-122"/>
              <a:ea typeface="宋体" panose="02010600030101010101" pitchFamily="2" charset="-122"/>
            </a:endParaRPr>
          </a:p>
          <a:p>
            <a:pPr marL="0" indent="0" defTabSz="457200">
              <a:buNone/>
              <a:defRPr/>
            </a:pPr>
            <a:r>
              <a:rPr lang="en-US" altLang="zh-CN" sz="1600" kern="0" dirty="0">
                <a:solidFill>
                  <a:srgbClr val="BD582C"/>
                </a:solidFill>
                <a:latin typeface="Calibri" panose="020F0502020204030204"/>
                <a:ea typeface="宋体" panose="02010600030101010101" pitchFamily="2" charset="-122"/>
              </a:rPr>
              <a:t>The logic AND operation corresponds to the "AND gate" logic circuit.</a:t>
            </a:r>
            <a:endParaRPr lang="zh-CN" altLang="fr-FR" sz="1600" kern="0" dirty="0">
              <a:solidFill>
                <a:srgbClr val="BD582C"/>
              </a:solidFill>
              <a:latin typeface="Calibri" panose="020F0502020204030204"/>
              <a:ea typeface="宋体" panose="02010600030101010101" pitchFamily="2" charset="-122"/>
            </a:endParaRPr>
          </a:p>
        </p:txBody>
      </p:sp>
      <p:sp>
        <p:nvSpPr>
          <p:cNvPr id="19" name="Rectangle 3"/>
          <p:cNvSpPr txBox="1">
            <a:spLocks noChangeArrowheads="1"/>
          </p:cNvSpPr>
          <p:nvPr/>
        </p:nvSpPr>
        <p:spPr bwMode="auto">
          <a:xfrm>
            <a:off x="2282868" y="3178915"/>
            <a:ext cx="1323975" cy="620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6"/>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7"/>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l" defTabSz="457200">
              <a:buNone/>
              <a:defRPr/>
            </a:pPr>
            <a:r>
              <a:rPr lang="en-US" altLang="zh-CN" sz="1800" kern="0" dirty="0">
                <a:solidFill>
                  <a:srgbClr val="BD582C"/>
                </a:solidFill>
                <a:latin typeface="Calibri" panose="020F0502020204030204"/>
                <a:ea typeface="宋体" panose="02010600030101010101" pitchFamily="2" charset="-122"/>
              </a:rPr>
              <a:t>F</a:t>
            </a:r>
            <a:r>
              <a:rPr lang="zh-CN" altLang="en-US" sz="1800" kern="0" dirty="0">
                <a:solidFill>
                  <a:srgbClr val="BD582C"/>
                </a:solidFill>
                <a:latin typeface="Calibri" panose="020F0502020204030204"/>
                <a:ea typeface="宋体" panose="02010600030101010101" pitchFamily="2" charset="-122"/>
              </a:rPr>
              <a:t>or instance</a:t>
            </a:r>
            <a:endParaRPr lang="zh-CN" altLang="fr-FR" sz="3600" kern="0" dirty="0">
              <a:solidFill>
                <a:srgbClr val="BD582C"/>
              </a:solidFill>
              <a:latin typeface="Calibri" panose="020F0502020204030204"/>
              <a:ea typeface="宋体" panose="02010600030101010101" pitchFamily="2" charset="-122"/>
            </a:endParaRPr>
          </a:p>
        </p:txBody>
      </p:sp>
      <p:pic>
        <p:nvPicPr>
          <p:cNvPr id="17" name="Picture 11" descr="http://e.hiphotos.baidu.com/baike/w%3D268/sign=61e48ac5952397ddd6799f026183b216/77c6a7efce1b9d16f9262943f7deb48f8c54642a.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8113" y="5356225"/>
            <a:ext cx="1903412"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3" descr="http://c.hiphotos.baidu.com/baike/s%3D220/sign=d7a730123ef33a879a6d0718f65d1018/e61190ef76c6a7efcc851b04f9faaf51f3de6674.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65701" y="5203826"/>
            <a:ext cx="1330325" cy="118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标题 2"/>
          <p:cNvSpPr>
            <a:spLocks noGrp="1"/>
          </p:cNvSpPr>
          <p:nvPr>
            <p:ph type="title"/>
          </p:nvPr>
        </p:nvSpPr>
        <p:spPr/>
        <p:txBody>
          <a:bodyPr>
            <a:normAutofit/>
          </a:bodyPr>
          <a:lstStyle/>
          <a:p>
            <a:r>
              <a:rPr lang="zh-CN" altLang="en-US" sz="3200" dirty="0">
                <a:solidFill>
                  <a:srgbClr val="FF0000"/>
                </a:solidFill>
                <a:latin typeface="宋体" panose="02010600030101010101" pitchFamily="2" charset="-122"/>
              </a:rPr>
              <a:t>逻辑与（</a:t>
            </a:r>
            <a:r>
              <a:rPr lang="en-US" altLang="zh-CN" sz="3200" dirty="0">
                <a:solidFill>
                  <a:srgbClr val="FF0000"/>
                </a:solidFill>
                <a:latin typeface="宋体" panose="02010600030101010101" pitchFamily="2" charset="-122"/>
              </a:rPr>
              <a:t>AND</a:t>
            </a:r>
            <a:r>
              <a:rPr lang="zh-CN" altLang="en-US" sz="3200" dirty="0">
                <a:solidFill>
                  <a:srgbClr val="FF0000"/>
                </a:solidFill>
                <a:latin typeface="宋体" panose="02010600030101010101" pitchFamily="2" charset="-122"/>
              </a:rPr>
              <a:t>）</a:t>
            </a:r>
            <a:r>
              <a:rPr lang="zh-CN" altLang="en-US" sz="3200" dirty="0">
                <a:solidFill>
                  <a:srgbClr val="FF0000"/>
                </a:solidFill>
              </a:rPr>
              <a:t>Logic and </a:t>
            </a:r>
            <a:r>
              <a:rPr lang="en-US" altLang="zh-CN" sz="3200" dirty="0">
                <a:solidFill>
                  <a:srgbClr val="FF0000"/>
                </a:solidFill>
              </a:rPr>
              <a:t>(</a:t>
            </a:r>
            <a:r>
              <a:rPr lang="zh-CN" altLang="en-US" sz="3200" dirty="0">
                <a:solidFill>
                  <a:srgbClr val="FF0000"/>
                </a:solidFill>
              </a:rPr>
              <a:t>AND</a:t>
            </a:r>
            <a:r>
              <a:rPr lang="en-US" altLang="zh-CN" sz="3200" dirty="0">
                <a:solidFill>
                  <a:srgbClr val="FF0000"/>
                </a:solidFill>
              </a:rPr>
              <a:t>)</a:t>
            </a:r>
            <a:endParaRPr lang="zh-CN" altLang="en-US" sz="3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3" name="Rectangle 3"/>
          <p:cNvSpPr>
            <a:spLocks noGrp="1" noChangeArrowheads="1"/>
          </p:cNvSpPr>
          <p:nvPr>
            <p:ph idx="1"/>
          </p:nvPr>
        </p:nvSpPr>
        <p:spPr>
          <a:xfrm>
            <a:off x="1231503" y="1266698"/>
            <a:ext cx="7810046" cy="1343336"/>
          </a:xfrm>
        </p:spPr>
        <p:txBody>
          <a:bodyPr>
            <a:normAutofit fontScale="62500" lnSpcReduction="20000"/>
          </a:bodyPr>
          <a:lstStyle/>
          <a:p>
            <a:pPr marL="0" indent="0" eaLnBrk="1" hangingPunct="1">
              <a:lnSpc>
                <a:spcPct val="120000"/>
              </a:lnSpc>
              <a:spcBef>
                <a:spcPts val="0"/>
              </a:spcBef>
              <a:spcAft>
                <a:spcPts val="0"/>
              </a:spcAft>
              <a:buNone/>
              <a:defRPr/>
            </a:pPr>
            <a:r>
              <a:rPr lang="zh-CN" altLang="en-US" dirty="0"/>
              <a:t>逻辑或也叫</a:t>
            </a:r>
            <a:r>
              <a:rPr lang="zh-CN" altLang="en-US" dirty="0">
                <a:solidFill>
                  <a:srgbClr val="FF0000"/>
                </a:solidFill>
              </a:rPr>
              <a:t>逻辑加</a:t>
            </a:r>
            <a:r>
              <a:rPr lang="zh-CN" altLang="en-US" dirty="0"/>
              <a:t>，其</a:t>
            </a:r>
            <a:r>
              <a:rPr lang="zh-CN" altLang="en-US" dirty="0">
                <a:solidFill>
                  <a:srgbClr val="FF0000"/>
                </a:solidFill>
              </a:rPr>
              <a:t>结果叫逻辑和</a:t>
            </a:r>
            <a:r>
              <a:rPr lang="zh-CN" altLang="en-US" dirty="0"/>
              <a:t>。</a:t>
            </a:r>
            <a:endParaRPr lang="en-US" altLang="zh-CN" dirty="0"/>
          </a:p>
          <a:p>
            <a:pPr marL="0" indent="0" eaLnBrk="1" hangingPunct="1">
              <a:lnSpc>
                <a:spcPct val="120000"/>
              </a:lnSpc>
              <a:spcBef>
                <a:spcPts val="0"/>
              </a:spcBef>
              <a:spcAft>
                <a:spcPts val="0"/>
              </a:spcAft>
              <a:buNone/>
              <a:defRPr/>
            </a:pPr>
            <a:r>
              <a:rPr lang="zh-CN" altLang="en-US" dirty="0">
                <a:solidFill>
                  <a:srgbClr val="CC3300"/>
                </a:solidFill>
              </a:rPr>
              <a:t>运算的规则</a:t>
            </a:r>
            <a:r>
              <a:rPr lang="en-US" altLang="zh-CN" dirty="0"/>
              <a:t>: </a:t>
            </a:r>
            <a:r>
              <a:rPr lang="zh-CN" altLang="en-US" dirty="0">
                <a:solidFill>
                  <a:srgbClr val="FF0000"/>
                </a:solidFill>
              </a:rPr>
              <a:t>按位运算</a:t>
            </a:r>
            <a:r>
              <a:rPr lang="zh-CN" altLang="en-US" dirty="0"/>
              <a:t>，两逻辑变量中只要有一个为逻辑</a:t>
            </a:r>
            <a:r>
              <a:rPr lang="en-US" altLang="zh-CN" dirty="0"/>
              <a:t>1</a:t>
            </a:r>
            <a:r>
              <a:rPr lang="zh-CN" altLang="en-US" dirty="0"/>
              <a:t>时，逻辑或结果就为</a:t>
            </a:r>
            <a:r>
              <a:rPr lang="en-US" altLang="zh-CN" dirty="0"/>
              <a:t>1</a:t>
            </a:r>
            <a:r>
              <a:rPr lang="zh-CN" altLang="en-US" dirty="0"/>
              <a:t>，否则逻辑或结果为</a:t>
            </a:r>
            <a:r>
              <a:rPr lang="en-US" altLang="zh-CN" dirty="0"/>
              <a:t>0</a:t>
            </a:r>
            <a:r>
              <a:rPr lang="zh-CN" altLang="en-US" dirty="0"/>
              <a:t>。</a:t>
            </a:r>
            <a:endParaRPr lang="en-US" altLang="zh-CN" dirty="0"/>
          </a:p>
          <a:p>
            <a:pPr marL="0" indent="0" eaLnBrk="1" hangingPunct="1">
              <a:lnSpc>
                <a:spcPct val="120000"/>
              </a:lnSpc>
              <a:spcBef>
                <a:spcPts val="0"/>
              </a:spcBef>
              <a:spcAft>
                <a:spcPts val="0"/>
              </a:spcAft>
              <a:buNone/>
              <a:defRPr/>
            </a:pPr>
            <a:r>
              <a:rPr lang="zh-CN" altLang="en-US" dirty="0">
                <a:solidFill>
                  <a:srgbClr val="CC3300"/>
                </a:solidFill>
              </a:rPr>
              <a:t>逻辑或的运算符号</a:t>
            </a:r>
            <a:r>
              <a:rPr lang="zh-CN" altLang="en-US" dirty="0"/>
              <a:t>：“</a:t>
            </a:r>
            <a:r>
              <a:rPr lang="en-US" altLang="zh-CN" dirty="0"/>
              <a:t>+”</a:t>
            </a:r>
            <a:r>
              <a:rPr lang="zh-CN" altLang="en-US" dirty="0"/>
              <a:t>或者“∨”。 </a:t>
            </a:r>
            <a:endParaRPr lang="en-US" altLang="zh-CN" dirty="0"/>
          </a:p>
          <a:p>
            <a:pPr marL="0" indent="0" eaLnBrk="1" hangingPunct="1">
              <a:lnSpc>
                <a:spcPct val="120000"/>
              </a:lnSpc>
              <a:spcBef>
                <a:spcPts val="0"/>
              </a:spcBef>
              <a:spcAft>
                <a:spcPts val="0"/>
              </a:spcAft>
              <a:buNone/>
              <a:defRPr/>
            </a:pPr>
            <a:r>
              <a:rPr lang="zh-CN" altLang="en-US" dirty="0"/>
              <a:t>The logic is also called </a:t>
            </a:r>
            <a:r>
              <a:rPr lang="zh-CN" altLang="en-US" dirty="0">
                <a:solidFill>
                  <a:srgbClr val="FF0000"/>
                </a:solidFill>
              </a:rPr>
              <a:t>logical addition</a:t>
            </a:r>
            <a:r>
              <a:rPr lang="zh-CN" altLang="en-US" dirty="0"/>
              <a:t>, and the result is called </a:t>
            </a:r>
            <a:r>
              <a:rPr lang="zh-CN" altLang="en-US" dirty="0">
                <a:solidFill>
                  <a:srgbClr val="FF0000"/>
                </a:solidFill>
              </a:rPr>
              <a:t>logical addition</a:t>
            </a:r>
            <a:r>
              <a:rPr lang="zh-CN" altLang="en-US" dirty="0"/>
              <a:t>.  </a:t>
            </a:r>
            <a:r>
              <a:rPr lang="en-US" altLang="zh-CN" dirty="0"/>
              <a:t>   </a:t>
            </a:r>
            <a:r>
              <a:rPr lang="zh-CN" altLang="en-US" dirty="0">
                <a:solidFill>
                  <a:srgbClr val="BD582C"/>
                </a:solidFill>
              </a:rPr>
              <a:t>Rule of operation</a:t>
            </a:r>
            <a:r>
              <a:rPr lang="zh-CN" altLang="en-US" dirty="0"/>
              <a:t>: </a:t>
            </a:r>
            <a:r>
              <a:rPr lang="zh-CN" altLang="en-US" dirty="0">
                <a:solidFill>
                  <a:srgbClr val="FF0000"/>
                </a:solidFill>
              </a:rPr>
              <a:t>bitwise operation</a:t>
            </a:r>
            <a:r>
              <a:rPr lang="zh-CN" altLang="en-US" dirty="0"/>
              <a:t>. In a logical or between two logical variables, the result is 1 if only one of them is 1, otherwise it is 0.</a:t>
            </a:r>
            <a:r>
              <a:rPr lang="zh-CN" altLang="en-US" dirty="0">
                <a:solidFill>
                  <a:srgbClr val="BD582C"/>
                </a:solidFill>
              </a:rPr>
              <a:t>Logical or operation symbol</a:t>
            </a:r>
            <a:r>
              <a:rPr lang="zh-CN" altLang="en-US" dirty="0"/>
              <a:t>: "+" or "∨".</a:t>
            </a:r>
          </a:p>
        </p:txBody>
      </p:sp>
      <p:sp>
        <p:nvSpPr>
          <p:cNvPr id="106502" name="Rectangle 5"/>
          <p:cNvSpPr>
            <a:spLocks noChangeArrowheads="1"/>
          </p:cNvSpPr>
          <p:nvPr/>
        </p:nvSpPr>
        <p:spPr bwMode="auto">
          <a:xfrm>
            <a:off x="6003635" y="3163372"/>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7" name="Rectangle 103"/>
          <p:cNvSpPr>
            <a:spLocks noChangeArrowheads="1"/>
          </p:cNvSpPr>
          <p:nvPr/>
        </p:nvSpPr>
        <p:spPr bwMode="auto">
          <a:xfrm>
            <a:off x="1089624" y="2544766"/>
            <a:ext cx="8512175" cy="1636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just" defTabSz="457200">
              <a:spcBef>
                <a:spcPct val="20000"/>
              </a:spcBef>
              <a:buBlip>
                <a:blip r:embed="rId2"/>
              </a:buBlip>
            </a:pPr>
            <a:r>
              <a:rPr lang="zh-CN" altLang="en-US" sz="2000" b="1" dirty="0">
                <a:solidFill>
                  <a:schemeClr val="accent2"/>
                </a:solidFill>
                <a:latin typeface="宋体" panose="02010600030101010101" pitchFamily="2" charset="-122"/>
              </a:rPr>
              <a:t>若用</a:t>
            </a:r>
            <a:r>
              <a:rPr lang="en-US" altLang="zh-CN" sz="2000" b="1" dirty="0">
                <a:solidFill>
                  <a:schemeClr val="accent2"/>
                </a:solidFill>
                <a:latin typeface="宋体" panose="02010600030101010101" pitchFamily="2" charset="-122"/>
              </a:rPr>
              <a:t>Y</a:t>
            </a:r>
            <a:r>
              <a:rPr lang="zh-CN" altLang="en-US" sz="2000" b="1" dirty="0">
                <a:solidFill>
                  <a:schemeClr val="accent2"/>
                </a:solidFill>
                <a:latin typeface="宋体" panose="02010600030101010101" pitchFamily="2" charset="-122"/>
              </a:rPr>
              <a:t>表示逻辑和，</a:t>
            </a:r>
            <a:r>
              <a:rPr lang="en-US" altLang="zh-CN" sz="2000" b="1" dirty="0">
                <a:solidFill>
                  <a:schemeClr val="accent2"/>
                </a:solidFill>
                <a:latin typeface="宋体" panose="02010600030101010101" pitchFamily="2" charset="-122"/>
              </a:rPr>
              <a:t>A</a:t>
            </a:r>
            <a:r>
              <a:rPr lang="zh-CN" altLang="en-US" sz="2000" b="1" dirty="0">
                <a:solidFill>
                  <a:schemeClr val="accent2"/>
                </a:solidFill>
                <a:latin typeface="宋体" panose="02010600030101010101" pitchFamily="2" charset="-122"/>
              </a:rPr>
              <a:t>和</a:t>
            </a:r>
            <a:r>
              <a:rPr lang="en-US" altLang="zh-CN" sz="2000" b="1" dirty="0">
                <a:solidFill>
                  <a:schemeClr val="accent2"/>
                </a:solidFill>
                <a:latin typeface="宋体" panose="02010600030101010101" pitchFamily="2" charset="-122"/>
              </a:rPr>
              <a:t>B</a:t>
            </a:r>
            <a:r>
              <a:rPr lang="zh-CN" altLang="en-US" sz="2000" b="1" dirty="0">
                <a:solidFill>
                  <a:schemeClr val="accent2"/>
                </a:solidFill>
                <a:latin typeface="宋体" panose="02010600030101010101" pitchFamily="2" charset="-122"/>
              </a:rPr>
              <a:t>分别表示两个逻辑变量时，其表达式为：</a:t>
            </a:r>
            <a:endParaRPr lang="en-US" altLang="zh-CN" sz="2000" b="1" dirty="0">
              <a:solidFill>
                <a:schemeClr val="accent2"/>
              </a:solidFill>
              <a:latin typeface="宋体" panose="02010600030101010101" pitchFamily="2" charset="-122"/>
            </a:endParaRPr>
          </a:p>
          <a:p>
            <a:pPr algn="just" defTabSz="457200">
              <a:spcBef>
                <a:spcPct val="20000"/>
              </a:spcBef>
              <a:buBlip>
                <a:blip r:embed="rId2"/>
              </a:buBlip>
            </a:pPr>
            <a:r>
              <a:rPr lang="en-US" altLang="zh-CN" sz="2000" b="1" dirty="0">
                <a:solidFill>
                  <a:srgbClr val="BD582C"/>
                </a:solidFill>
                <a:latin typeface="Calibri" panose="020F0502020204030204"/>
              </a:rPr>
              <a:t>If Y represents the logical sum and A and B are the two logic variables, the expression is: </a:t>
            </a:r>
          </a:p>
        </p:txBody>
      </p:sp>
      <p:graphicFrame>
        <p:nvGraphicFramePr>
          <p:cNvPr id="5" name="对象 4"/>
          <p:cNvGraphicFramePr>
            <a:graphicFrameLocks noChangeAspect="1"/>
          </p:cNvGraphicFramePr>
          <p:nvPr/>
        </p:nvGraphicFramePr>
        <p:xfrm>
          <a:off x="4273552" y="3485972"/>
          <a:ext cx="2141537" cy="477837"/>
        </p:xfrm>
        <a:graphic>
          <a:graphicData uri="http://schemas.openxmlformats.org/presentationml/2006/ole">
            <mc:AlternateContent xmlns:mc="http://schemas.openxmlformats.org/markup-compatibility/2006">
              <mc:Choice xmlns:v="urn:schemas-microsoft-com:vml" Requires="v">
                <p:oleObj name="Equation" r:id="rId3" imgW="660400" imgH="165100" progId="Equation.DSMT4">
                  <p:embed/>
                </p:oleObj>
              </mc:Choice>
              <mc:Fallback>
                <p:oleObj name="Equation" r:id="rId3" imgW="660400" imgH="165100" progId="Equation.DSMT4">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3552" y="3485972"/>
                        <a:ext cx="2141537" cy="47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Group 104"/>
          <p:cNvGraphicFramePr/>
          <p:nvPr/>
        </p:nvGraphicFramePr>
        <p:xfrm>
          <a:off x="7513865" y="3517114"/>
          <a:ext cx="2830513" cy="2192438"/>
        </p:xfrm>
        <a:graphic>
          <a:graphicData uri="http://schemas.openxmlformats.org/drawingml/2006/table">
            <a:tbl>
              <a:tblPr/>
              <a:tblGrid>
                <a:gridCol w="769427">
                  <a:extLst>
                    <a:ext uri="{9D8B030D-6E8A-4147-A177-3AD203B41FA5}">
                      <a16:colId xmlns:a16="http://schemas.microsoft.com/office/drawing/2014/main" val="20000"/>
                    </a:ext>
                  </a:extLst>
                </a:gridCol>
                <a:gridCol w="863427">
                  <a:extLst>
                    <a:ext uri="{9D8B030D-6E8A-4147-A177-3AD203B41FA5}">
                      <a16:colId xmlns:a16="http://schemas.microsoft.com/office/drawing/2014/main" val="20001"/>
                    </a:ext>
                  </a:extLst>
                </a:gridCol>
                <a:gridCol w="1197659">
                  <a:extLst>
                    <a:ext uri="{9D8B030D-6E8A-4147-A177-3AD203B41FA5}">
                      <a16:colId xmlns:a16="http://schemas.microsoft.com/office/drawing/2014/main" val="20002"/>
                    </a:ext>
                  </a:extLst>
                </a:gridCol>
              </a:tblGrid>
              <a:tr h="48555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28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8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8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Y=A+B</a:t>
                      </a:r>
                      <a:endParaRPr kumimoji="0" lang="fr-FR" altLang="zh-CN" sz="2800" b="1" i="0" u="none" strike="noStrike" cap="none" normalizeH="0" baseline="0">
                        <a:ln>
                          <a:noFill/>
                        </a:ln>
                        <a:solidFill>
                          <a:srgbClr val="FF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42669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8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1" name="Rectangle 101"/>
          <p:cNvSpPr>
            <a:spLocks noChangeArrowheads="1"/>
          </p:cNvSpPr>
          <p:nvPr/>
        </p:nvSpPr>
        <p:spPr bwMode="auto">
          <a:xfrm>
            <a:off x="7099528" y="5774734"/>
            <a:ext cx="365918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en-US" altLang="zh-CN" b="1" dirty="0">
                <a:solidFill>
                  <a:srgbClr val="990033"/>
                </a:solidFill>
                <a:latin typeface="Arial" panose="020B0604020202020204" pitchFamily="34" charset="0"/>
              </a:rPr>
              <a:t>Table 2-4: Logic OR Truth Table </a:t>
            </a:r>
            <a:endParaRPr lang="zh-CN" altLang="en-US" b="1" dirty="0">
              <a:solidFill>
                <a:srgbClr val="990033"/>
              </a:solidFill>
              <a:latin typeface="Arial" panose="020B0604020202020204" pitchFamily="34" charset="0"/>
            </a:endParaRPr>
          </a:p>
        </p:txBody>
      </p:sp>
      <p:sp>
        <p:nvSpPr>
          <p:cNvPr id="13" name="Rectangle 3"/>
          <p:cNvSpPr txBox="1">
            <a:spLocks noChangeArrowheads="1"/>
          </p:cNvSpPr>
          <p:nvPr/>
        </p:nvSpPr>
        <p:spPr bwMode="auto">
          <a:xfrm>
            <a:off x="2171701" y="3968750"/>
            <a:ext cx="1179513" cy="54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2"/>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defTabSz="457200">
              <a:buNone/>
              <a:defRPr/>
            </a:pPr>
            <a:endParaRPr lang="zh-CN" altLang="fr-FR" sz="2800" kern="0" dirty="0">
              <a:solidFill>
                <a:srgbClr val="BD582C"/>
              </a:solidFill>
              <a:latin typeface="宋体" panose="02010600030101010101" pitchFamily="2" charset="-122"/>
              <a:ea typeface="宋体" panose="02010600030101010101" pitchFamily="2" charset="-122"/>
            </a:endParaRPr>
          </a:p>
        </p:txBody>
      </p:sp>
      <p:pic>
        <p:nvPicPr>
          <p:cNvPr id="432136" name="Picture 8" descr="http://h.hiphotos.baidu.com/baike/w%3D268/sign=39ec21de78d98d1076d40b37193fb807/bd315c6034a85edf9a8049014d540923dd547587.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8744" y="4130644"/>
            <a:ext cx="177482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2138" name="Picture 10" descr="http://a.hiphotos.baidu.com/baike/s%3D250/sign=e19612409c22720e7fcee5ff4bcb0a3a/96dda144ad3459825ad652b008f431adcbef84b0.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6674" y="4987381"/>
            <a:ext cx="1858963"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5287208" y="5819094"/>
            <a:ext cx="1436611" cy="523220"/>
          </a:xfrm>
          <a:prstGeom prst="rect">
            <a:avLst/>
          </a:prstGeom>
          <a:solidFill>
            <a:schemeClr val="bg1"/>
          </a:solidFill>
        </p:spPr>
        <p:txBody>
          <a:bodyPr wrap="none">
            <a:spAutoFit/>
          </a:bodyPr>
          <a:lstStyle/>
          <a:p>
            <a:pPr algn="ctr" defTabSz="457200">
              <a:defRPr/>
            </a:pPr>
            <a:r>
              <a:rPr lang="en-US" altLang="zh-CN" sz="2800" kern="0" dirty="0">
                <a:solidFill>
                  <a:srgbClr val="FF0000"/>
                </a:solidFill>
                <a:latin typeface="Calibri" panose="020F0502020204030204"/>
                <a:ea typeface="宋体" panose="02010600030101010101" pitchFamily="2" charset="-122"/>
                <a:cs typeface="Times New Roman" panose="02020603050405020304" pitchFamily="18" charset="0"/>
              </a:rPr>
              <a:t>OR gate</a:t>
            </a:r>
            <a:r>
              <a:rPr lang="zh-CN" altLang="pt-BR" sz="2800" b="1" dirty="0">
                <a:solidFill>
                  <a:srgbClr val="BD582C"/>
                </a:solidFill>
                <a:latin typeface="Arial" panose="020B0604020202020204" pitchFamily="34" charset="0"/>
                <a:ea typeface="幼圆" panose="02010509060101010101" pitchFamily="49" charset="-122"/>
              </a:rPr>
              <a:t> </a:t>
            </a:r>
            <a:endParaRPr lang="zh-CN" altLang="en-US" sz="2800" dirty="0">
              <a:solidFill>
                <a:srgbClr val="000000"/>
              </a:solidFill>
              <a:latin typeface="Calibri" panose="020F0502020204030204"/>
              <a:ea typeface="宋体" panose="02010600030101010101" pitchFamily="2" charset="-122"/>
            </a:endParaRPr>
          </a:p>
        </p:txBody>
      </p:sp>
      <p:graphicFrame>
        <p:nvGraphicFramePr>
          <p:cNvPr id="8" name="对象 7"/>
          <p:cNvGraphicFramePr>
            <a:graphicFrameLocks noChangeAspect="1"/>
          </p:cNvGraphicFramePr>
          <p:nvPr/>
        </p:nvGraphicFramePr>
        <p:xfrm>
          <a:off x="2063751" y="4516439"/>
          <a:ext cx="2697163" cy="1787525"/>
        </p:xfrm>
        <a:graphic>
          <a:graphicData uri="http://schemas.openxmlformats.org/presentationml/2006/ole">
            <mc:AlternateContent xmlns:mc="http://schemas.openxmlformats.org/markup-compatibility/2006">
              <mc:Choice xmlns:v="urn:schemas-microsoft-com:vml" Requires="v">
                <p:oleObj name="Microsoft Drawing" r:id="rId8" imgW="1009650" imgH="678180" progId="MSDraw">
                  <p:embed/>
                </p:oleObj>
              </mc:Choice>
              <mc:Fallback>
                <p:oleObj name="Microsoft Drawing" r:id="rId8" imgW="1009650" imgH="678180" progId="MSDraw">
                  <p:embed/>
                  <p:pic>
                    <p:nvPicPr>
                      <p:cNvPr id="0" name="对象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63751" y="4516439"/>
                        <a:ext cx="2697163"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2"/>
          <p:cNvSpPr>
            <a:spLocks noGrp="1"/>
          </p:cNvSpPr>
          <p:nvPr>
            <p:ph type="title"/>
          </p:nvPr>
        </p:nvSpPr>
        <p:spPr/>
        <p:txBody>
          <a:bodyPr/>
          <a:lstStyle/>
          <a:p>
            <a:r>
              <a:rPr lang="zh-CN" altLang="en-US" sz="3200" dirty="0">
                <a:latin typeface="宋体" panose="02010600030101010101" pitchFamily="2" charset="-122"/>
              </a:rPr>
              <a:t>逻辑或（</a:t>
            </a:r>
            <a:r>
              <a:rPr lang="en-US" altLang="zh-CN" sz="3200" dirty="0">
                <a:latin typeface="宋体" panose="02010600030101010101" pitchFamily="2" charset="-122"/>
              </a:rPr>
              <a:t>OR</a:t>
            </a:r>
            <a:r>
              <a:rPr lang="zh-CN" altLang="en-US" sz="3200" dirty="0">
                <a:latin typeface="宋体" panose="02010600030101010101" pitchFamily="2" charset="-122"/>
              </a:rPr>
              <a:t>）</a:t>
            </a:r>
            <a:r>
              <a:rPr lang="en-US" altLang="zh-CN" sz="3200" dirty="0">
                <a:solidFill>
                  <a:schemeClr val="tx1"/>
                </a:solidFill>
              </a:rPr>
              <a:t>L</a:t>
            </a:r>
            <a:r>
              <a:rPr lang="zh-CN" altLang="en-US" sz="3200" dirty="0">
                <a:solidFill>
                  <a:schemeClr val="tx1"/>
                </a:solidFill>
              </a:rPr>
              <a:t>ogic OR </a:t>
            </a:r>
            <a:r>
              <a:rPr lang="en-US" altLang="zh-CN" sz="3200" dirty="0">
                <a:solidFill>
                  <a:schemeClr val="tx1"/>
                </a:solidFill>
              </a:rPr>
              <a:t>(OR)</a:t>
            </a:r>
            <a:endParaRPr lang="zh-CN" altLang="en-US" sz="3200" dirty="0">
              <a:solidFill>
                <a:schemeClr val="tx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7" name="Rectangle 3"/>
          <p:cNvSpPr>
            <a:spLocks noGrp="1" noChangeArrowheads="1"/>
          </p:cNvSpPr>
          <p:nvPr>
            <p:ph idx="1"/>
          </p:nvPr>
        </p:nvSpPr>
        <p:spPr>
          <a:xfrm>
            <a:off x="1535028" y="1158668"/>
            <a:ext cx="10058401" cy="1398780"/>
          </a:xfrm>
        </p:spPr>
        <p:txBody>
          <a:bodyPr>
            <a:normAutofit fontScale="92500" lnSpcReduction="10000"/>
          </a:bodyPr>
          <a:lstStyle/>
          <a:p>
            <a:pPr marL="0" indent="0">
              <a:spcBef>
                <a:spcPct val="0"/>
              </a:spcBef>
              <a:buNone/>
            </a:pPr>
            <a:r>
              <a:rPr lang="zh-CN" altLang="en-US" dirty="0"/>
              <a:t>逻辑非也叫</a:t>
            </a:r>
            <a:r>
              <a:rPr lang="zh-CN" altLang="en-US" dirty="0">
                <a:solidFill>
                  <a:srgbClr val="FF0000"/>
                </a:solidFill>
              </a:rPr>
              <a:t>逻辑反</a:t>
            </a:r>
            <a:endParaRPr lang="en-US" altLang="zh-CN" dirty="0">
              <a:solidFill>
                <a:srgbClr val="FF0000"/>
              </a:solidFill>
            </a:endParaRPr>
          </a:p>
          <a:p>
            <a:pPr marL="0" indent="0">
              <a:spcBef>
                <a:spcPct val="0"/>
              </a:spcBef>
              <a:buNone/>
            </a:pPr>
            <a:r>
              <a:rPr lang="en-US" altLang="zh-CN" dirty="0"/>
              <a:t>Logic NOT is also called </a:t>
            </a:r>
            <a:r>
              <a:rPr lang="en-US" altLang="zh-CN" dirty="0">
                <a:solidFill>
                  <a:srgbClr val="FF0000"/>
                </a:solidFill>
              </a:rPr>
              <a:t>logical inversion.</a:t>
            </a:r>
          </a:p>
          <a:p>
            <a:pPr marL="0" indent="0">
              <a:spcBef>
                <a:spcPct val="0"/>
              </a:spcBef>
              <a:buNone/>
            </a:pPr>
            <a:r>
              <a:rPr lang="zh-CN" altLang="en-US" dirty="0">
                <a:solidFill>
                  <a:srgbClr val="CC3300"/>
                </a:solidFill>
              </a:rPr>
              <a:t>运算规则</a:t>
            </a:r>
            <a:r>
              <a:rPr lang="zh-CN" altLang="en-US" dirty="0"/>
              <a:t>：将一个变量按位求反的运算</a:t>
            </a:r>
            <a:endParaRPr lang="en-US" altLang="zh-CN" dirty="0"/>
          </a:p>
          <a:p>
            <a:pPr marL="0" indent="0">
              <a:spcBef>
                <a:spcPct val="0"/>
              </a:spcBef>
            </a:pPr>
            <a:r>
              <a:rPr lang="en-US" altLang="zh-CN" dirty="0">
                <a:solidFill>
                  <a:srgbClr val="CC3300"/>
                </a:solidFill>
              </a:rPr>
              <a:t>Operation rule: </a:t>
            </a:r>
            <a:r>
              <a:rPr lang="en-US" altLang="zh-CN" dirty="0">
                <a:solidFill>
                  <a:schemeClr val="tx1"/>
                </a:solidFill>
              </a:rPr>
              <a:t>It is a bitwise inversion of a variable.</a:t>
            </a:r>
            <a:endParaRPr lang="en-US" altLang="zh-CN" dirty="0"/>
          </a:p>
          <a:p>
            <a:pPr marL="0" indent="0">
              <a:spcBef>
                <a:spcPct val="0"/>
              </a:spcBef>
            </a:pPr>
            <a:r>
              <a:rPr lang="en-US" altLang="zh-CN" dirty="0">
                <a:solidFill>
                  <a:srgbClr val="CC3300"/>
                </a:solidFill>
              </a:rPr>
              <a:t>Expression:</a:t>
            </a:r>
            <a:endParaRPr lang="zh-CN" altLang="en-US" dirty="0"/>
          </a:p>
        </p:txBody>
      </p:sp>
      <p:sp>
        <p:nvSpPr>
          <p:cNvPr id="107526" name="Rectangle 5"/>
          <p:cNvSpPr>
            <a:spLocks noChangeArrowheads="1"/>
          </p:cNvSpPr>
          <p:nvPr/>
        </p:nvSpPr>
        <p:spPr bwMode="auto">
          <a:xfrm>
            <a:off x="6003635" y="3144322"/>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251908" name="Object 4"/>
          <p:cNvGraphicFramePr>
            <a:graphicFrameLocks noChangeAspect="1"/>
          </p:cNvGraphicFramePr>
          <p:nvPr/>
        </p:nvGraphicFramePr>
        <p:xfrm>
          <a:off x="4379575" y="2239200"/>
          <a:ext cx="1200150" cy="542925"/>
        </p:xfrm>
        <a:graphic>
          <a:graphicData uri="http://schemas.openxmlformats.org/presentationml/2006/ole">
            <mc:AlternateContent xmlns:mc="http://schemas.openxmlformats.org/markup-compatibility/2006">
              <mc:Choice xmlns:v="urn:schemas-microsoft-com:vml" Requires="v">
                <p:oleObj name="Equation" r:id="rId2" imgW="393700" imgH="203200" progId="Equation.DSMT4">
                  <p:embed/>
                </p:oleObj>
              </mc:Choice>
              <mc:Fallback>
                <p:oleObj name="Equation" r:id="rId2" imgW="393700" imgH="2032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79575" y="2239200"/>
                        <a:ext cx="12001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51953" name="Rectangle 49"/>
          <p:cNvSpPr>
            <a:spLocks noChangeArrowheads="1"/>
          </p:cNvSpPr>
          <p:nvPr/>
        </p:nvSpPr>
        <p:spPr bwMode="auto">
          <a:xfrm>
            <a:off x="7631029" y="3264632"/>
            <a:ext cx="3962400"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r>
              <a:rPr lang="en-US" altLang="zh-CN" b="1" dirty="0">
                <a:solidFill>
                  <a:srgbClr val="990033"/>
                </a:solidFill>
                <a:latin typeface="Arial" panose="020B0604020202020204" pitchFamily="34" charset="0"/>
              </a:rPr>
              <a:t>Table 2-5: Logic NOT Truth Table</a:t>
            </a:r>
            <a:endParaRPr lang="zh-CN" altLang="en-US" b="1" dirty="0">
              <a:solidFill>
                <a:srgbClr val="990033"/>
              </a:solidFill>
              <a:latin typeface="Arial" panose="020B0604020202020204" pitchFamily="34" charset="0"/>
            </a:endParaRPr>
          </a:p>
        </p:txBody>
      </p:sp>
      <p:pic>
        <p:nvPicPr>
          <p:cNvPr id="252091" name="Picture 18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2885" y="3693629"/>
            <a:ext cx="1889425" cy="1638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2094" name="Picture 190" descr="http://d.hiphotos.baidu.com/baike/s%3D220/sign=57b2f10205e9390152028a3c4bec54f9/d058ccbf6c81800a32b3c02cb53533fa828b47b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4363" y="3998914"/>
            <a:ext cx="173355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2096" name="Picture 192" descr="http://a.hiphotos.baidu.com/baike/s%3D220/sign=dd2981e8ab51f3dec7b2be66a4eef0ec/6609c93d70cf3bc7df0284ced500baa1cd112a95.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83918" y="3594617"/>
            <a:ext cx="1300426" cy="1571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09"/>
          <p:cNvSpPr>
            <a:spLocks noChangeArrowheads="1"/>
          </p:cNvSpPr>
          <p:nvPr/>
        </p:nvSpPr>
        <p:spPr bwMode="auto">
          <a:xfrm>
            <a:off x="1882136" y="3401111"/>
            <a:ext cx="4101782" cy="646331"/>
          </a:xfrm>
          <a:prstGeom prst="rect">
            <a:avLst/>
          </a:prstGeom>
          <a:noFill/>
          <a:ln>
            <a:noFill/>
          </a:ln>
          <a:effectLst/>
          <a:extLst>
            <a:ext uri="{909E8E84-426E-40DD-AFC4-6F175D3DCCD1}">
              <a14:hiddenFill xmlns:a14="http://schemas.microsoft.com/office/drawing/2010/main">
                <a:solidFill>
                  <a:schemeClr val="accent1">
                    <a:alpha val="50000"/>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defTabSz="457200">
              <a:defRPr/>
            </a:pPr>
            <a:r>
              <a:rPr lang="zh-CN" altLang="fr-FR" sz="1800" b="1" dirty="0">
                <a:solidFill>
                  <a:schemeClr val="accent2"/>
                </a:solidFill>
                <a:latin typeface="Arial" panose="020B0604020202020204" pitchFamily="34" charset="0"/>
                <a:ea typeface="幼圆" panose="02010509060101010101" pitchFamily="49" charset="-122"/>
              </a:rPr>
              <a:t>逻辑电路 </a:t>
            </a:r>
            <a:r>
              <a:rPr lang="en-US" altLang="zh-CN" sz="1800" kern="0" dirty="0">
                <a:cs typeface="Times New Roman" panose="02020603050405020304" pitchFamily="18" charset="0"/>
              </a:rPr>
              <a:t>“</a:t>
            </a:r>
            <a:r>
              <a:rPr lang="zh-CN" altLang="en-US" sz="1800" kern="0" dirty="0">
                <a:solidFill>
                  <a:srgbClr val="FF0000"/>
                </a:solidFill>
                <a:cs typeface="Times New Roman" panose="02020603050405020304" pitchFamily="18" charset="0"/>
              </a:rPr>
              <a:t>非</a:t>
            </a:r>
            <a:r>
              <a:rPr lang="zh-CN" altLang="pt-BR" sz="1800" b="1" dirty="0">
                <a:solidFill>
                  <a:srgbClr val="FF0000"/>
                </a:solidFill>
                <a:latin typeface="Arial" panose="020B0604020202020204" pitchFamily="34" charset="0"/>
                <a:ea typeface="幼圆" panose="02010509060101010101" pitchFamily="49" charset="-122"/>
              </a:rPr>
              <a:t>门</a:t>
            </a:r>
            <a:r>
              <a:rPr lang="en-US" altLang="zh-CN" sz="1800" kern="0" dirty="0">
                <a:cs typeface="Times New Roman" panose="02020603050405020304" pitchFamily="18" charset="0"/>
              </a:rPr>
              <a:t>”</a:t>
            </a:r>
            <a:endParaRPr lang="zh-CN" altLang="pt-BR" sz="1800" dirty="0">
              <a:latin typeface="Arial" panose="020B0604020202020204" pitchFamily="34" charset="0"/>
            </a:endParaRPr>
          </a:p>
          <a:p>
            <a:pPr defTabSz="457200">
              <a:defRPr/>
            </a:pPr>
            <a:r>
              <a:rPr lang="en-US" altLang="zh-CN" b="1" dirty="0">
                <a:solidFill>
                  <a:srgbClr val="BD582C"/>
                </a:solidFill>
                <a:latin typeface="Arial" panose="020B0604020202020204" pitchFamily="34" charset="0"/>
                <a:ea typeface="幼圆" panose="02010509060101010101" pitchFamily="49" charset="-122"/>
              </a:rPr>
              <a:t>The logic circuit is a "</a:t>
            </a:r>
            <a:r>
              <a:rPr lang="en-US" altLang="zh-CN" b="1" dirty="0">
                <a:solidFill>
                  <a:srgbClr val="FF0000"/>
                </a:solidFill>
                <a:latin typeface="Arial" panose="020B0604020202020204" pitchFamily="34" charset="0"/>
                <a:ea typeface="幼圆" panose="02010509060101010101" pitchFamily="49" charset="-122"/>
              </a:rPr>
              <a:t>NOT gate</a:t>
            </a:r>
            <a:r>
              <a:rPr lang="en-US" altLang="zh-CN" b="1" dirty="0">
                <a:solidFill>
                  <a:srgbClr val="BD582C"/>
                </a:solidFill>
                <a:latin typeface="Arial" panose="020B0604020202020204" pitchFamily="34" charset="0"/>
                <a:ea typeface="幼圆" panose="02010509060101010101" pitchFamily="49" charset="-122"/>
              </a:rPr>
              <a:t>".</a:t>
            </a:r>
            <a:endParaRPr lang="zh-CN" altLang="pt-BR" dirty="0">
              <a:solidFill>
                <a:srgbClr val="000000"/>
              </a:solidFill>
              <a:latin typeface="Arial" panose="020B0604020202020204" pitchFamily="34" charset="0"/>
              <a:ea typeface="宋体" panose="02010600030101010101" pitchFamily="2" charset="-122"/>
            </a:endParaRPr>
          </a:p>
        </p:txBody>
      </p:sp>
      <p:sp>
        <p:nvSpPr>
          <p:cNvPr id="16" name="Rectangle 3"/>
          <p:cNvSpPr txBox="1">
            <a:spLocks noChangeArrowheads="1"/>
          </p:cNvSpPr>
          <p:nvPr/>
        </p:nvSpPr>
        <p:spPr bwMode="auto">
          <a:xfrm>
            <a:off x="1568953" y="5332516"/>
            <a:ext cx="8869363" cy="960378"/>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7"/>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8"/>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defTabSz="457200">
              <a:lnSpc>
                <a:spcPct val="100000"/>
              </a:lnSpc>
              <a:buClr>
                <a:srgbClr val="FF0000"/>
              </a:buClr>
              <a:buFont typeface="Wingdings" panose="05000000000000000000" pitchFamily="2" charset="2"/>
              <a:buChar char="Ø"/>
              <a:defRPr/>
            </a:pPr>
            <a:r>
              <a:rPr lang="zh-CN" altLang="pt-BR" sz="1600" kern="0" dirty="0">
                <a:latin typeface="Times New Roman" panose="02020603050405020304" pitchFamily="18" charset="0"/>
                <a:cs typeface="Times New Roman" panose="02020603050405020304" pitchFamily="18" charset="0"/>
              </a:rPr>
              <a:t>上述逻辑运算中，</a:t>
            </a:r>
            <a:r>
              <a:rPr lang="en-US" altLang="zh-CN" sz="1600" kern="0" dirty="0">
                <a:latin typeface="Times New Roman" panose="02020603050405020304" pitchFamily="18" charset="0"/>
                <a:cs typeface="Times New Roman" panose="02020603050405020304" pitchFamily="18" charset="0"/>
              </a:rPr>
              <a:t>“</a:t>
            </a:r>
            <a:r>
              <a:rPr lang="zh-CN" altLang="en-US" sz="1600" kern="0" dirty="0">
                <a:solidFill>
                  <a:srgbClr val="FF0000"/>
                </a:solidFill>
                <a:latin typeface="Times New Roman" panose="02020603050405020304" pitchFamily="18" charset="0"/>
                <a:cs typeface="Times New Roman" panose="02020603050405020304" pitchFamily="18" charset="0"/>
              </a:rPr>
              <a:t>非</a:t>
            </a:r>
            <a:r>
              <a:rPr lang="en-US" altLang="zh-CN" sz="1600" kern="0" dirty="0">
                <a:latin typeface="Times New Roman" panose="02020603050405020304" pitchFamily="18" charset="0"/>
                <a:cs typeface="Times New Roman" panose="02020603050405020304" pitchFamily="18" charset="0"/>
              </a:rPr>
              <a:t>”</a:t>
            </a:r>
            <a:r>
              <a:rPr lang="zh-CN" altLang="pt-BR" sz="1600" kern="0" dirty="0">
                <a:latin typeface="Times New Roman" panose="02020603050405020304" pitchFamily="18" charset="0"/>
                <a:cs typeface="Times New Roman" panose="02020603050405020304" pitchFamily="18" charset="0"/>
              </a:rPr>
              <a:t>运算的级别最高；</a:t>
            </a:r>
            <a:r>
              <a:rPr lang="en-US" altLang="zh-CN" sz="1600" kern="0" dirty="0">
                <a:latin typeface="Times New Roman" panose="02020603050405020304" pitchFamily="18" charset="0"/>
                <a:cs typeface="Times New Roman" panose="02020603050405020304" pitchFamily="18" charset="0"/>
              </a:rPr>
              <a:t>“</a:t>
            </a:r>
            <a:r>
              <a:rPr lang="zh-CN" altLang="pt-BR" sz="1600" kern="0" dirty="0">
                <a:solidFill>
                  <a:srgbClr val="FF0000"/>
                </a:solidFill>
                <a:latin typeface="Times New Roman" panose="02020603050405020304" pitchFamily="18" charset="0"/>
                <a:cs typeface="Times New Roman" panose="02020603050405020304" pitchFamily="18" charset="0"/>
              </a:rPr>
              <a:t>与</a:t>
            </a:r>
            <a:r>
              <a:rPr lang="en-US" altLang="zh-CN" sz="1600" kern="0" dirty="0">
                <a:latin typeface="Times New Roman" panose="02020603050405020304" pitchFamily="18" charset="0"/>
                <a:cs typeface="Times New Roman" panose="02020603050405020304" pitchFamily="18" charset="0"/>
              </a:rPr>
              <a:t>” </a:t>
            </a:r>
            <a:r>
              <a:rPr lang="zh-CN" altLang="pt-BR" sz="1600" kern="0" dirty="0">
                <a:latin typeface="Times New Roman" panose="02020603050405020304" pitchFamily="18" charset="0"/>
                <a:cs typeface="Times New Roman" panose="02020603050405020304" pitchFamily="18" charset="0"/>
              </a:rPr>
              <a:t>运算次之；“</a:t>
            </a:r>
            <a:r>
              <a:rPr lang="zh-CN" altLang="pt-BR" sz="1600" kern="0" dirty="0">
                <a:solidFill>
                  <a:srgbClr val="FF0000"/>
                </a:solidFill>
                <a:latin typeface="Times New Roman" panose="02020603050405020304" pitchFamily="18" charset="0"/>
                <a:cs typeface="Times New Roman" panose="02020603050405020304" pitchFamily="18" charset="0"/>
              </a:rPr>
              <a:t>或</a:t>
            </a:r>
            <a:r>
              <a:rPr lang="zh-CN" altLang="pt-BR" sz="1600" kern="0" dirty="0">
                <a:latin typeface="Times New Roman" panose="02020603050405020304" pitchFamily="18" charset="0"/>
                <a:cs typeface="Times New Roman" panose="02020603050405020304" pitchFamily="18" charset="0"/>
              </a:rPr>
              <a:t>”运算最低。</a:t>
            </a:r>
            <a:endParaRPr lang="zh-CN" altLang="en-US" sz="1600" kern="0" dirty="0">
              <a:latin typeface="Times New Roman" panose="02020603050405020304" pitchFamily="18" charset="0"/>
              <a:cs typeface="Times New Roman" panose="02020603050405020304" pitchFamily="18" charset="0"/>
            </a:endParaRPr>
          </a:p>
          <a:p>
            <a:pPr defTabSz="457200">
              <a:lnSpc>
                <a:spcPct val="100000"/>
              </a:lnSpc>
              <a:buClr>
                <a:srgbClr val="FF0000"/>
              </a:buClr>
              <a:buFont typeface="Wingdings" panose="05000000000000000000" pitchFamily="2" charset="2"/>
              <a:buChar char="Ø"/>
              <a:defRPr/>
            </a:pPr>
            <a:r>
              <a:rPr lang="en-US" altLang="zh-CN" sz="1600" kern="0" dirty="0">
                <a:solidFill>
                  <a:srgbClr val="BD582C"/>
                </a:solidFill>
                <a:latin typeface="Times New Roman" panose="02020603050405020304" pitchFamily="18" charset="0"/>
                <a:ea typeface="宋体" panose="02010600030101010101" pitchFamily="2" charset="-122"/>
                <a:cs typeface="Times New Roman" panose="02020603050405020304" pitchFamily="18" charset="0"/>
              </a:rPr>
              <a:t>In the logic operations above, "</a:t>
            </a:r>
            <a:r>
              <a:rPr lang="en-US" altLang="zh-CN" sz="16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NOT</a:t>
            </a:r>
            <a:r>
              <a:rPr lang="en-US" altLang="zh-CN" sz="1600" kern="0" dirty="0">
                <a:solidFill>
                  <a:srgbClr val="BD582C"/>
                </a:solidFill>
                <a:latin typeface="Times New Roman" panose="02020603050405020304" pitchFamily="18" charset="0"/>
                <a:ea typeface="宋体" panose="02010600030101010101" pitchFamily="2" charset="-122"/>
                <a:cs typeface="Times New Roman" panose="02020603050405020304" pitchFamily="18" charset="0"/>
              </a:rPr>
              <a:t>" has the highest precedence, followed by "</a:t>
            </a:r>
            <a:r>
              <a:rPr lang="en-US" altLang="zh-CN" sz="16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AND</a:t>
            </a:r>
            <a:r>
              <a:rPr lang="en-US" altLang="zh-CN" sz="1600" kern="0" dirty="0">
                <a:solidFill>
                  <a:srgbClr val="BD582C"/>
                </a:solidFill>
                <a:latin typeface="Times New Roman" panose="02020603050405020304" pitchFamily="18" charset="0"/>
                <a:ea typeface="宋体" panose="02010600030101010101" pitchFamily="2" charset="-122"/>
                <a:cs typeface="Times New Roman" panose="02020603050405020304" pitchFamily="18" charset="0"/>
              </a:rPr>
              <a:t>", and "</a:t>
            </a:r>
            <a:r>
              <a:rPr lang="en-US" altLang="zh-CN" sz="1600" kern="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OR</a:t>
            </a:r>
            <a:r>
              <a:rPr lang="en-US" altLang="zh-CN" sz="1600" kern="0" dirty="0">
                <a:solidFill>
                  <a:srgbClr val="BD582C"/>
                </a:solidFill>
                <a:latin typeface="Times New Roman" panose="02020603050405020304" pitchFamily="18" charset="0"/>
                <a:ea typeface="宋体" panose="02010600030101010101" pitchFamily="2" charset="-122"/>
                <a:cs typeface="Times New Roman" panose="02020603050405020304" pitchFamily="18" charset="0"/>
              </a:rPr>
              <a:t>" has the lowest.</a:t>
            </a:r>
            <a:endParaRPr lang="zh-CN" altLang="en-US" sz="1600" kern="0" dirty="0">
              <a:solidFill>
                <a:srgbClr val="BD582C"/>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5" name="组合 4"/>
          <p:cNvGrpSpPr/>
          <p:nvPr/>
        </p:nvGrpSpPr>
        <p:grpSpPr bwMode="auto">
          <a:xfrm>
            <a:off x="1460584" y="2751643"/>
            <a:ext cx="6200775" cy="816223"/>
            <a:chOff x="-126092" y="2949910"/>
            <a:chExt cx="6201229" cy="814915"/>
          </a:xfrm>
        </p:grpSpPr>
        <p:sp>
          <p:nvSpPr>
            <p:cNvPr id="15" name="Rectangle 3"/>
            <p:cNvSpPr txBox="1">
              <a:spLocks noChangeArrowheads="1"/>
            </p:cNvSpPr>
            <p:nvPr/>
          </p:nvSpPr>
          <p:spPr bwMode="auto">
            <a:xfrm>
              <a:off x="-126092" y="2949910"/>
              <a:ext cx="6201229" cy="814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7"/>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8"/>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defTabSz="457200">
                <a:lnSpc>
                  <a:spcPct val="100000"/>
                </a:lnSpc>
                <a:spcBef>
                  <a:spcPts val="0"/>
                </a:spcBef>
                <a:spcAft>
                  <a:spcPts val="0"/>
                </a:spcAft>
                <a:buNone/>
                <a:defRPr/>
              </a:pPr>
              <a:r>
                <a:rPr lang="zh-CN" altLang="en-US" sz="1600" kern="0" dirty="0"/>
                <a:t>例</a:t>
              </a:r>
              <a:r>
                <a:rPr lang="en-US" altLang="zh-CN" sz="1600" kern="0" dirty="0"/>
                <a:t>: </a:t>
              </a:r>
              <a:r>
                <a:rPr lang="zh-CN" altLang="en-US" sz="1600" kern="0" dirty="0"/>
                <a:t>若</a:t>
              </a:r>
              <a:r>
                <a:rPr lang="en-US" altLang="zh-CN" sz="1600" kern="0" dirty="0"/>
                <a:t>A=01100011</a:t>
              </a:r>
              <a:r>
                <a:rPr lang="zh-CN" altLang="en-US" sz="1600" kern="0" dirty="0"/>
                <a:t>，则</a:t>
              </a:r>
              <a:r>
                <a:rPr lang="en-US" altLang="zh-CN" sz="1600" kern="0" dirty="0"/>
                <a:t>Y=A=10011100</a:t>
              </a:r>
            </a:p>
            <a:p>
              <a:pPr algn="l" defTabSz="457200">
                <a:lnSpc>
                  <a:spcPct val="100000"/>
                </a:lnSpc>
                <a:spcBef>
                  <a:spcPts val="0"/>
                </a:spcBef>
                <a:spcAft>
                  <a:spcPts val="0"/>
                </a:spcAft>
                <a:buNone/>
                <a:defRPr/>
              </a:pPr>
              <a:r>
                <a:rPr lang="en-US" altLang="zh-CN" sz="2400" kern="0" dirty="0">
                  <a:solidFill>
                    <a:srgbClr val="BD582C"/>
                  </a:solidFill>
                  <a:latin typeface="宋体" panose="02010600030101010101" pitchFamily="2" charset="-122"/>
                  <a:ea typeface="宋体" panose="02010600030101010101" pitchFamily="2" charset="-122"/>
                </a:rPr>
                <a:t>Example: </a:t>
              </a:r>
              <a:r>
                <a:rPr lang="en-US" altLang="zh-CN" sz="2000" kern="0" dirty="0">
                  <a:solidFill>
                    <a:srgbClr val="BD582C"/>
                  </a:solidFill>
                  <a:latin typeface="Calibri" panose="020F0502020204030204"/>
                  <a:ea typeface="宋体" panose="02010600030101010101" pitchFamily="2" charset="-122"/>
                </a:rPr>
                <a:t>If A = 01100011, then Y = A = 10011100.</a:t>
              </a:r>
            </a:p>
          </p:txBody>
        </p:sp>
        <p:sp>
          <p:nvSpPr>
            <p:cNvPr id="107536" name="Line 94"/>
            <p:cNvSpPr>
              <a:spLocks noChangeShapeType="1"/>
            </p:cNvSpPr>
            <p:nvPr/>
          </p:nvSpPr>
          <p:spPr bwMode="auto">
            <a:xfrm flipV="1">
              <a:off x="4166236" y="3388780"/>
              <a:ext cx="149236"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endParaRPr lang="zh-CN" altLang="en-US" dirty="0">
                <a:solidFill>
                  <a:srgbClr val="000000"/>
                </a:solidFill>
                <a:latin typeface="Calibri" panose="020F0502020204030204"/>
                <a:ea typeface="宋体" panose="02010600030101010101" pitchFamily="2" charset="-122"/>
              </a:endParaRPr>
            </a:p>
          </p:txBody>
        </p:sp>
      </p:grpSp>
      <p:sp>
        <p:nvSpPr>
          <p:cNvPr id="7" name="标题 2"/>
          <p:cNvSpPr>
            <a:spLocks noGrp="1"/>
          </p:cNvSpPr>
          <p:nvPr>
            <p:ph type="title"/>
          </p:nvPr>
        </p:nvSpPr>
        <p:spPr>
          <a:xfrm>
            <a:off x="915323" y="172540"/>
            <a:ext cx="7543800" cy="831478"/>
          </a:xfrm>
        </p:spPr>
        <p:txBody>
          <a:bodyPr/>
          <a:lstStyle/>
          <a:p>
            <a:r>
              <a:rPr lang="zh-CN" altLang="en-US" sz="3200" dirty="0">
                <a:latin typeface="宋体" panose="02010600030101010101" pitchFamily="2" charset="-122"/>
              </a:rPr>
              <a:t>逻辑非（</a:t>
            </a:r>
            <a:r>
              <a:rPr lang="en-US" altLang="zh-CN" sz="3200" dirty="0">
                <a:latin typeface="宋体" panose="02010600030101010101" pitchFamily="2" charset="-122"/>
              </a:rPr>
              <a:t>NOT</a:t>
            </a:r>
            <a:r>
              <a:rPr lang="zh-CN" altLang="en-US" sz="3200" dirty="0">
                <a:latin typeface="宋体" panose="02010600030101010101" pitchFamily="2" charset="-122"/>
              </a:rPr>
              <a:t>）</a:t>
            </a:r>
            <a:r>
              <a:rPr lang="en-US" altLang="zh-CN" sz="3200" dirty="0">
                <a:solidFill>
                  <a:schemeClr val="tx1"/>
                </a:solidFill>
              </a:rPr>
              <a:t>L</a:t>
            </a:r>
            <a:r>
              <a:rPr lang="zh-CN" altLang="en-US" sz="3200" dirty="0">
                <a:solidFill>
                  <a:schemeClr val="tx1"/>
                </a:solidFill>
              </a:rPr>
              <a:t>ogic </a:t>
            </a:r>
            <a:r>
              <a:rPr lang="en-US" altLang="zh-CN" sz="3200" dirty="0">
                <a:solidFill>
                  <a:schemeClr val="tx1"/>
                </a:solidFill>
              </a:rPr>
              <a:t>NOT</a:t>
            </a:r>
            <a:r>
              <a:rPr lang="zh-CN" altLang="en-US" sz="3200" dirty="0">
                <a:solidFill>
                  <a:schemeClr val="tx1"/>
                </a:solidFill>
              </a:rPr>
              <a:t> </a:t>
            </a:r>
            <a:r>
              <a:rPr lang="en-US" altLang="zh-CN" sz="3200" dirty="0">
                <a:solidFill>
                  <a:schemeClr val="tx1"/>
                </a:solidFill>
              </a:rPr>
              <a:t>(NOT)</a:t>
            </a:r>
            <a:endParaRPr lang="zh-CN" altLang="en-US" sz="3200" dirty="0">
              <a:solidFill>
                <a:schemeClr val="tx1"/>
              </a:solidFill>
            </a:endParaRPr>
          </a:p>
        </p:txBody>
      </p:sp>
      <p:sp>
        <p:nvSpPr>
          <p:cNvPr id="6" name="Line 94"/>
          <p:cNvSpPr>
            <a:spLocks noChangeShapeType="1"/>
          </p:cNvSpPr>
          <p:nvPr/>
        </p:nvSpPr>
        <p:spPr bwMode="auto">
          <a:xfrm flipV="1">
            <a:off x="3949198" y="2880067"/>
            <a:ext cx="149225"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endParaRPr lang="zh-CN" altLang="en-US" dirty="0">
              <a:solidFill>
                <a:srgbClr val="000000"/>
              </a:solidFill>
              <a:latin typeface="Calibri" panose="020F0502020204030204"/>
              <a:ea typeface="宋体" panose="02010600030101010101" pitchFamily="2"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5" name="Rectangle 3"/>
          <p:cNvSpPr>
            <a:spLocks noGrp="1" noChangeArrowheads="1"/>
          </p:cNvSpPr>
          <p:nvPr>
            <p:ph idx="1"/>
          </p:nvPr>
        </p:nvSpPr>
        <p:spPr>
          <a:xfrm>
            <a:off x="831851" y="1074738"/>
            <a:ext cx="2813876" cy="2220913"/>
          </a:xfrm>
        </p:spPr>
        <p:txBody>
          <a:bodyPr>
            <a:normAutofit fontScale="92500"/>
          </a:bodyPr>
          <a:lstStyle/>
          <a:p>
            <a:pPr eaLnBrk="1" hangingPunct="1">
              <a:lnSpc>
                <a:spcPct val="150000"/>
              </a:lnSpc>
            </a:pPr>
            <a:r>
              <a:rPr lang="zh-CN" altLang="pt-BR" sz="2800" dirty="0"/>
              <a:t>与非门</a:t>
            </a:r>
            <a:r>
              <a:rPr lang="en-US" altLang="zh-CN" sz="2800" dirty="0"/>
              <a:t>NAND Gate:</a:t>
            </a:r>
            <a:r>
              <a:rPr lang="zh-CN" altLang="pt-BR" sz="2800" dirty="0"/>
              <a:t> </a:t>
            </a:r>
          </a:p>
          <a:p>
            <a:pPr>
              <a:lnSpc>
                <a:spcPct val="150000"/>
              </a:lnSpc>
            </a:pPr>
            <a:r>
              <a:rPr lang="zh-CN" altLang="pt-BR" sz="2800" dirty="0"/>
              <a:t>或非门</a:t>
            </a:r>
            <a:r>
              <a:rPr lang="en-US" altLang="zh-CN" sz="2800" dirty="0"/>
              <a:t>NOR Gate</a:t>
            </a:r>
            <a:r>
              <a:rPr lang="zh-CN" altLang="pt-BR" sz="2800" dirty="0"/>
              <a:t>： </a:t>
            </a:r>
          </a:p>
          <a:p>
            <a:pPr>
              <a:lnSpc>
                <a:spcPct val="150000"/>
              </a:lnSpc>
            </a:pPr>
            <a:r>
              <a:rPr lang="zh-CN" altLang="pt-BR" sz="2800" dirty="0"/>
              <a:t>异或门</a:t>
            </a:r>
            <a:r>
              <a:rPr lang="en-US" altLang="zh-CN" sz="2800" dirty="0"/>
              <a:t>XOR Gate</a:t>
            </a:r>
            <a:r>
              <a:rPr lang="zh-CN" altLang="pt-BR" sz="2800" dirty="0"/>
              <a:t>：</a:t>
            </a:r>
          </a:p>
        </p:txBody>
      </p:sp>
      <p:sp>
        <p:nvSpPr>
          <p:cNvPr id="108550" name="Rectangle 5"/>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253956" name="Object 4"/>
          <p:cNvGraphicFramePr>
            <a:graphicFrameLocks noChangeAspect="1"/>
          </p:cNvGraphicFramePr>
          <p:nvPr/>
        </p:nvGraphicFramePr>
        <p:xfrm>
          <a:off x="3661458" y="1135062"/>
          <a:ext cx="1716087" cy="522288"/>
        </p:xfrm>
        <a:graphic>
          <a:graphicData uri="http://schemas.openxmlformats.org/presentationml/2006/ole">
            <mc:AlternateContent xmlns:mc="http://schemas.openxmlformats.org/markup-compatibility/2006">
              <mc:Choice xmlns:v="urn:schemas-microsoft-com:vml" Requires="v">
                <p:oleObj name="Equation" r:id="rId2" imgW="660400" imgH="203200" progId="Equation.DSMT4">
                  <p:embed/>
                </p:oleObj>
              </mc:Choice>
              <mc:Fallback>
                <p:oleObj name="Equation" r:id="rId2" imgW="660400" imgH="2032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1458" y="1135062"/>
                        <a:ext cx="17160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2"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253958" name="Object 6"/>
          <p:cNvGraphicFramePr>
            <a:graphicFrameLocks noChangeAspect="1"/>
          </p:cNvGraphicFramePr>
          <p:nvPr/>
        </p:nvGraphicFramePr>
        <p:xfrm>
          <a:off x="3659219" y="1956594"/>
          <a:ext cx="1828800" cy="533400"/>
        </p:xfrm>
        <a:graphic>
          <a:graphicData uri="http://schemas.openxmlformats.org/presentationml/2006/ole">
            <mc:AlternateContent xmlns:mc="http://schemas.openxmlformats.org/markup-compatibility/2006">
              <mc:Choice xmlns:v="urn:schemas-microsoft-com:vml" Requires="v">
                <p:oleObj name="Equation" r:id="rId4" imgW="685800" imgH="203200" progId="Equation.DSMT4">
                  <p:embed/>
                </p:oleObj>
              </mc:Choice>
              <mc:Fallback>
                <p:oleObj name="Equation" r:id="rId4" imgW="685800" imgH="2032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9219" y="1956594"/>
                        <a:ext cx="1828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4" name="Rectangle 9"/>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253960" name="Object 8"/>
          <p:cNvGraphicFramePr>
            <a:graphicFrameLocks noChangeAspect="1"/>
          </p:cNvGraphicFramePr>
          <p:nvPr/>
        </p:nvGraphicFramePr>
        <p:xfrm>
          <a:off x="3430588" y="2657354"/>
          <a:ext cx="4740275" cy="615950"/>
        </p:xfrm>
        <a:graphic>
          <a:graphicData uri="http://schemas.openxmlformats.org/presentationml/2006/ole">
            <mc:AlternateContent xmlns:mc="http://schemas.openxmlformats.org/markup-compatibility/2006">
              <mc:Choice xmlns:v="urn:schemas-microsoft-com:vml" Requires="v">
                <p:oleObj name="Equation" r:id="rId6" imgW="1688465" imgH="215900" progId="Equation.DSMT4">
                  <p:embed/>
                </p:oleObj>
              </mc:Choice>
              <mc:Fallback>
                <p:oleObj name="Equation" r:id="rId6" imgW="1688465" imgH="2159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30588" y="2657354"/>
                        <a:ext cx="47402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4383" name="Picture 431" descr="ANSI/IEEE Std 91-19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81701" y="1028700"/>
            <a:ext cx="1687513"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392" name="Picture 440" descr="IEC 60617-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56563" y="962026"/>
            <a:ext cx="1973262"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397" name="Picture 445" descr="ANSI/IEEE Std 91-198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7941" y="4512667"/>
            <a:ext cx="1360033" cy="59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4399" name="Picture 447" descr="IEC 60617-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55040" y="5218316"/>
            <a:ext cx="1305832" cy="57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8" name="Group 106"/>
          <p:cNvGraphicFramePr/>
          <p:nvPr/>
        </p:nvGraphicFramePr>
        <p:xfrm>
          <a:off x="8170863" y="4436762"/>
          <a:ext cx="2148342" cy="1859757"/>
        </p:xfrm>
        <a:graphic>
          <a:graphicData uri="http://schemas.openxmlformats.org/drawingml/2006/table">
            <a:tbl>
              <a:tblPr/>
              <a:tblGrid>
                <a:gridCol w="452657">
                  <a:extLst>
                    <a:ext uri="{9D8B030D-6E8A-4147-A177-3AD203B41FA5}">
                      <a16:colId xmlns:a16="http://schemas.microsoft.com/office/drawing/2014/main" val="20000"/>
                    </a:ext>
                  </a:extLst>
                </a:gridCol>
                <a:gridCol w="452656">
                  <a:extLst>
                    <a:ext uri="{9D8B030D-6E8A-4147-A177-3AD203B41FA5}">
                      <a16:colId xmlns:a16="http://schemas.microsoft.com/office/drawing/2014/main" val="20001"/>
                    </a:ext>
                  </a:extLst>
                </a:gridCol>
                <a:gridCol w="1243029">
                  <a:extLst>
                    <a:ext uri="{9D8B030D-6E8A-4147-A177-3AD203B41FA5}">
                      <a16:colId xmlns:a16="http://schemas.microsoft.com/office/drawing/2014/main" val="20002"/>
                    </a:ext>
                  </a:extLst>
                </a:gridCol>
              </a:tblGrid>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a:t>
                      </a:r>
                      <a:r>
                        <a:rPr kumimoji="0" lang="fr-F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0" lang="fr-F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75489">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71067">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20" name="Rectangle 3"/>
          <p:cNvSpPr txBox="1">
            <a:spLocks noChangeArrowheads="1"/>
          </p:cNvSpPr>
          <p:nvPr/>
        </p:nvSpPr>
        <p:spPr bwMode="auto">
          <a:xfrm>
            <a:off x="1073499" y="3199192"/>
            <a:ext cx="8827128" cy="893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1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1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defTabSz="457200">
              <a:lnSpc>
                <a:spcPct val="100000"/>
              </a:lnSpc>
              <a:buNone/>
              <a:defRPr/>
            </a:pPr>
            <a:r>
              <a:rPr lang="zh-CN" altLang="pt-BR" sz="1600" kern="0" dirty="0">
                <a:solidFill>
                  <a:srgbClr val="CC3300"/>
                </a:solidFill>
              </a:rPr>
              <a:t>异或运算规则</a:t>
            </a:r>
            <a:r>
              <a:rPr lang="zh-CN" altLang="pt-BR" sz="1600" kern="0" dirty="0"/>
              <a:t>：两变量相同</a:t>
            </a:r>
            <a:r>
              <a:rPr lang="zh-CN" altLang="en-US" sz="1600" kern="0" dirty="0"/>
              <a:t>为</a:t>
            </a:r>
            <a:r>
              <a:rPr lang="en-US" altLang="zh-CN" sz="1600" kern="0" dirty="0"/>
              <a:t>0</a:t>
            </a:r>
            <a:r>
              <a:rPr lang="zh-CN" altLang="en-US" sz="1600" kern="0" dirty="0"/>
              <a:t>，不同</a:t>
            </a:r>
            <a:r>
              <a:rPr lang="zh-CN" altLang="pt-BR" sz="1600" kern="0" dirty="0"/>
              <a:t>为</a:t>
            </a:r>
            <a:r>
              <a:rPr lang="en-US" altLang="zh-CN" sz="1600" kern="0" dirty="0"/>
              <a:t>1</a:t>
            </a:r>
            <a:r>
              <a:rPr lang="zh-CN" altLang="en-US" sz="1600" kern="0" dirty="0"/>
              <a:t>。它可进行两逻辑变量不相等的逻辑测试。 </a:t>
            </a:r>
          </a:p>
          <a:p>
            <a:pPr marL="0" indent="0" defTabSz="457200">
              <a:lnSpc>
                <a:spcPct val="100000"/>
              </a:lnSpc>
              <a:buNone/>
              <a:defRPr/>
            </a:pPr>
            <a:r>
              <a:rPr lang="en-US" altLang="zh-CN" sz="1600" kern="0" dirty="0">
                <a:solidFill>
                  <a:srgbClr val="CC3300"/>
                </a:solidFill>
                <a:latin typeface="Calibri" panose="020F0502020204030204"/>
                <a:ea typeface="宋体" panose="02010600030101010101" pitchFamily="2" charset="-122"/>
              </a:rPr>
              <a:t>XOR operation rule: The result is 0 if the two variables are the same, and 1 if they are different. It can be used to test for inequality between two logic variables.</a:t>
            </a:r>
            <a:endParaRPr lang="zh-CN" altLang="en-US" sz="1600" kern="0" dirty="0">
              <a:solidFill>
                <a:srgbClr val="BD582C"/>
              </a:solidFill>
              <a:latin typeface="Calibri" panose="020F0502020204030204"/>
              <a:ea typeface="宋体" panose="02010600030101010101" pitchFamily="2" charset="-122"/>
            </a:endParaRPr>
          </a:p>
        </p:txBody>
      </p:sp>
      <p:pic>
        <p:nvPicPr>
          <p:cNvPr id="254402" name="Picture 45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89932" y="4423566"/>
            <a:ext cx="2487613" cy="17605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ectangle 3"/>
          <p:cNvSpPr txBox="1">
            <a:spLocks noChangeArrowheads="1"/>
          </p:cNvSpPr>
          <p:nvPr/>
        </p:nvSpPr>
        <p:spPr bwMode="auto">
          <a:xfrm>
            <a:off x="1748178" y="4314823"/>
            <a:ext cx="1577975" cy="62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12"/>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13"/>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defTabSz="457200">
              <a:buNone/>
              <a:defRPr/>
            </a:pPr>
            <a:r>
              <a:rPr lang="en-US" altLang="zh-CN" sz="2800" kern="0" dirty="0">
                <a:solidFill>
                  <a:srgbClr val="BD582C"/>
                </a:solidFill>
                <a:latin typeface="宋体" panose="02010600030101010101" pitchFamily="2" charset="-122"/>
                <a:ea typeface="宋体" panose="02010600030101010101" pitchFamily="2" charset="-122"/>
              </a:rPr>
              <a:t>Example:</a:t>
            </a:r>
            <a:endParaRPr lang="zh-CN" altLang="fr-FR" sz="2800" kern="0" dirty="0">
              <a:solidFill>
                <a:srgbClr val="BD582C"/>
              </a:solidFill>
              <a:latin typeface="宋体" panose="02010600030101010101" pitchFamily="2" charset="-122"/>
              <a:ea typeface="宋体" panose="02010600030101010101" pitchFamily="2" charset="-122"/>
            </a:endParaRPr>
          </a:p>
        </p:txBody>
      </p:sp>
      <p:sp>
        <p:nvSpPr>
          <p:cNvPr id="24" name="矩形 23"/>
          <p:cNvSpPr/>
          <p:nvPr/>
        </p:nvSpPr>
        <p:spPr>
          <a:xfrm>
            <a:off x="5377545" y="5829300"/>
            <a:ext cx="2651577" cy="369332"/>
          </a:xfrm>
          <a:prstGeom prst="rect">
            <a:avLst/>
          </a:prstGeom>
          <a:solidFill>
            <a:schemeClr val="bg1"/>
          </a:solidFill>
        </p:spPr>
        <p:txBody>
          <a:bodyPr wrap="square">
            <a:spAutoFit/>
          </a:bodyPr>
          <a:lstStyle/>
          <a:p>
            <a:pPr algn="ctr" defTabSz="457200">
              <a:defRPr/>
            </a:pPr>
            <a:r>
              <a:rPr lang="en-US" altLang="zh-CN" sz="1800" kern="0" dirty="0">
                <a:cs typeface="Times New Roman" panose="02020603050405020304" pitchFamily="18" charset="0"/>
              </a:rPr>
              <a:t>“</a:t>
            </a:r>
            <a:r>
              <a:rPr lang="zh-CN" altLang="en-US" sz="1800" kern="0" dirty="0">
                <a:solidFill>
                  <a:srgbClr val="FF0000"/>
                </a:solidFill>
                <a:cs typeface="Times New Roman" panose="02020603050405020304" pitchFamily="18" charset="0"/>
              </a:rPr>
              <a:t>异或</a:t>
            </a:r>
            <a:r>
              <a:rPr lang="zh-CN" altLang="pt-BR" sz="1800" b="1" dirty="0">
                <a:solidFill>
                  <a:srgbClr val="FF0000"/>
                </a:solidFill>
                <a:latin typeface="Arial" panose="020B0604020202020204" pitchFamily="34" charset="0"/>
                <a:ea typeface="幼圆" panose="02010509060101010101" pitchFamily="49" charset="-122"/>
              </a:rPr>
              <a:t>门</a:t>
            </a:r>
            <a:r>
              <a:rPr lang="en-US" altLang="zh-CN" sz="1800" kern="0" dirty="0">
                <a:cs typeface="Times New Roman" panose="02020603050405020304" pitchFamily="18" charset="0"/>
              </a:rPr>
              <a:t>”</a:t>
            </a:r>
            <a:r>
              <a:rPr lang="en-US" altLang="zh-CN" kern="0" dirty="0">
                <a:solidFill>
                  <a:srgbClr val="FF0000"/>
                </a:solidFill>
                <a:latin typeface="Calibri" panose="020F0502020204030204"/>
                <a:ea typeface="宋体" panose="02010600030101010101" pitchFamily="2" charset="-122"/>
                <a:cs typeface="Times New Roman" panose="02020603050405020304" pitchFamily="18" charset="0"/>
              </a:rPr>
              <a:t>XOR gate</a:t>
            </a:r>
            <a:endParaRPr lang="zh-CN" altLang="en-US" dirty="0">
              <a:solidFill>
                <a:srgbClr val="000000"/>
              </a:solidFill>
              <a:latin typeface="Calibri" panose="020F0502020204030204"/>
              <a:ea typeface="宋体" panose="02010600030101010101" pitchFamily="2" charset="-122"/>
            </a:endParaRPr>
          </a:p>
        </p:txBody>
      </p:sp>
      <p:sp>
        <p:nvSpPr>
          <p:cNvPr id="19" name="Rectangle 103"/>
          <p:cNvSpPr>
            <a:spLocks noChangeArrowheads="1"/>
          </p:cNvSpPr>
          <p:nvPr/>
        </p:nvSpPr>
        <p:spPr bwMode="auto">
          <a:xfrm>
            <a:off x="7466162" y="4055645"/>
            <a:ext cx="3201839" cy="338554"/>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en-US" altLang="zh-CN" sz="1600" dirty="0">
                <a:solidFill>
                  <a:srgbClr val="990033"/>
                </a:solidFill>
                <a:latin typeface="Arial" panose="020B0604020202020204" pitchFamily="34" charset="0"/>
              </a:rPr>
              <a:t>Table 2-6: Logic </a:t>
            </a:r>
            <a:r>
              <a:rPr lang="en-US" altLang="zh-CN" sz="1600" dirty="0">
                <a:solidFill>
                  <a:srgbClr val="FF0000"/>
                </a:solidFill>
                <a:latin typeface="Arial" panose="020B0604020202020204" pitchFamily="34" charset="0"/>
              </a:rPr>
              <a:t>XOR</a:t>
            </a:r>
            <a:r>
              <a:rPr lang="en-US" altLang="zh-CN" sz="1600" dirty="0">
                <a:solidFill>
                  <a:srgbClr val="990033"/>
                </a:solidFill>
                <a:latin typeface="Arial" panose="020B0604020202020204" pitchFamily="34" charset="0"/>
              </a:rPr>
              <a:t> Truth Table</a:t>
            </a:r>
            <a:endParaRPr lang="zh-CN" altLang="en-US" sz="1600" dirty="0">
              <a:solidFill>
                <a:srgbClr val="990033"/>
              </a:solidFill>
              <a:latin typeface="Arial" panose="020B0604020202020204" pitchFamily="34" charset="0"/>
            </a:endParaRPr>
          </a:p>
        </p:txBody>
      </p:sp>
      <p:pic>
        <p:nvPicPr>
          <p:cNvPr id="254808" name="Picture 85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27738" y="1957389"/>
            <a:ext cx="1638300" cy="750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4809" name="Picture 85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170864" y="1898650"/>
            <a:ext cx="1755775" cy="81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标题 3"/>
          <p:cNvSpPr>
            <a:spLocks noGrp="1"/>
          </p:cNvSpPr>
          <p:nvPr>
            <p:ph type="title"/>
          </p:nvPr>
        </p:nvSpPr>
        <p:spPr/>
        <p:txBody>
          <a:bodyPr>
            <a:normAutofit/>
          </a:bodyPr>
          <a:lstStyle/>
          <a:p>
            <a:r>
              <a:rPr lang="pt-BR" altLang="zh-CN" sz="3200" dirty="0">
                <a:latin typeface="宋体" panose="02010600030101010101" pitchFamily="2" charset="-122"/>
              </a:rPr>
              <a:t>2</a:t>
            </a:r>
            <a:r>
              <a:rPr lang="zh-CN" altLang="pt-BR" sz="3200" dirty="0">
                <a:latin typeface="宋体" panose="02010600030101010101" pitchFamily="2" charset="-122"/>
              </a:rPr>
              <a:t>、组合逻辑电路 </a:t>
            </a:r>
            <a:r>
              <a:rPr lang="en-US" altLang="zh-CN" sz="3200" dirty="0"/>
              <a:t>2.Combinational Logic Circuits</a:t>
            </a:r>
            <a:endParaRPr lang="zh-CN" altLang="en-US" sz="3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9" name="Rectangle 3"/>
          <p:cNvSpPr>
            <a:spLocks noGrp="1" noChangeArrowheads="1"/>
          </p:cNvSpPr>
          <p:nvPr>
            <p:ph idx="1"/>
          </p:nvPr>
        </p:nvSpPr>
        <p:spPr>
          <a:xfrm>
            <a:off x="1879600" y="1112556"/>
            <a:ext cx="8229600" cy="542925"/>
          </a:xfrm>
        </p:spPr>
        <p:txBody>
          <a:bodyPr>
            <a:normAutofit/>
          </a:bodyPr>
          <a:lstStyle/>
          <a:p>
            <a:pPr marL="0" indent="0"/>
            <a:r>
              <a:rPr lang="zh-CN" altLang="en-US" dirty="0">
                <a:solidFill>
                  <a:srgbClr val="FF0000"/>
                </a:solidFill>
              </a:rPr>
              <a:t>同或门 </a:t>
            </a:r>
            <a:r>
              <a:rPr lang="en-US" altLang="zh-CN" dirty="0">
                <a:solidFill>
                  <a:srgbClr val="FF0000"/>
                </a:solidFill>
              </a:rPr>
              <a:t>XNOR Gate (Coincidence Gate) </a:t>
            </a:r>
            <a:endParaRPr lang="zh-CN" altLang="pt-BR" dirty="0">
              <a:solidFill>
                <a:srgbClr val="FF0000"/>
              </a:solidFill>
            </a:endParaRPr>
          </a:p>
        </p:txBody>
      </p:sp>
      <p:grpSp>
        <p:nvGrpSpPr>
          <p:cNvPr id="6" name="组合 5"/>
          <p:cNvGrpSpPr/>
          <p:nvPr/>
        </p:nvGrpSpPr>
        <p:grpSpPr bwMode="auto">
          <a:xfrm>
            <a:off x="2690813" y="1459170"/>
            <a:ext cx="3746500" cy="523220"/>
            <a:chOff x="2761738" y="1124989"/>
            <a:chExt cx="3747284" cy="563715"/>
          </a:xfrm>
        </p:grpSpPr>
        <p:sp>
          <p:nvSpPr>
            <p:cNvPr id="109608" name="Rectangle 103"/>
            <p:cNvSpPr>
              <a:spLocks noChangeArrowheads="1"/>
            </p:cNvSpPr>
            <p:nvPr/>
          </p:nvSpPr>
          <p:spPr bwMode="auto">
            <a:xfrm>
              <a:off x="2761738" y="1124989"/>
              <a:ext cx="3747284" cy="56371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pt-BR" altLang="zh-CN" sz="2800" b="1" dirty="0">
                  <a:solidFill>
                    <a:srgbClr val="000000"/>
                  </a:solidFill>
                  <a:latin typeface="Arial" panose="020B0604020202020204" pitchFamily="34" charset="0"/>
                </a:rPr>
                <a:t>Y</a:t>
              </a:r>
              <a:r>
                <a:rPr lang="zh-CN" altLang="pt-BR" sz="2800" b="1" dirty="0">
                  <a:solidFill>
                    <a:srgbClr val="000000"/>
                  </a:solidFill>
                  <a:latin typeface="Arial" panose="020B0604020202020204" pitchFamily="34" charset="0"/>
                </a:rPr>
                <a:t>＝</a:t>
              </a:r>
              <a:r>
                <a:rPr lang="pt-BR" altLang="zh-CN" sz="2800" b="1" dirty="0">
                  <a:solidFill>
                    <a:srgbClr val="000000"/>
                  </a:solidFill>
                  <a:latin typeface="Arial" panose="020B0604020202020204" pitchFamily="34" charset="0"/>
                </a:rPr>
                <a:t>A⊙B=A·B</a:t>
              </a:r>
              <a:r>
                <a:rPr lang="zh-CN" altLang="pt-BR" sz="2800" b="1" dirty="0">
                  <a:solidFill>
                    <a:srgbClr val="000000"/>
                  </a:solidFill>
                  <a:latin typeface="Arial" panose="020B0604020202020204" pitchFamily="34" charset="0"/>
                </a:rPr>
                <a:t>＋</a:t>
              </a:r>
              <a:r>
                <a:rPr lang="pt-BR" altLang="zh-CN" sz="2800" b="1" dirty="0">
                  <a:solidFill>
                    <a:srgbClr val="000000"/>
                  </a:solidFill>
                  <a:latin typeface="Arial" panose="020B0604020202020204" pitchFamily="34" charset="0"/>
                </a:rPr>
                <a:t>A·B </a:t>
              </a:r>
            </a:p>
          </p:txBody>
        </p:sp>
        <p:grpSp>
          <p:nvGrpSpPr>
            <p:cNvPr id="109609" name="组合 4"/>
            <p:cNvGrpSpPr/>
            <p:nvPr/>
          </p:nvGrpSpPr>
          <p:grpSpPr bwMode="auto">
            <a:xfrm>
              <a:off x="5562255" y="1234801"/>
              <a:ext cx="525954" cy="5121"/>
              <a:chOff x="6044516" y="1187858"/>
              <a:chExt cx="525954" cy="5121"/>
            </a:xfrm>
          </p:grpSpPr>
          <p:sp>
            <p:nvSpPr>
              <p:cNvPr id="109610" name="Line 105"/>
              <p:cNvSpPr>
                <a:spLocks noChangeShapeType="1"/>
              </p:cNvSpPr>
              <p:nvPr/>
            </p:nvSpPr>
            <p:spPr bwMode="auto">
              <a:xfrm>
                <a:off x="6044516" y="1192979"/>
                <a:ext cx="1889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endParaRPr lang="zh-CN" altLang="en-US" dirty="0">
                  <a:solidFill>
                    <a:srgbClr val="000000"/>
                  </a:solidFill>
                  <a:latin typeface="Calibri" panose="020F0502020204030204"/>
                  <a:ea typeface="宋体" panose="02010600030101010101" pitchFamily="2" charset="-122"/>
                </a:endParaRPr>
              </a:p>
            </p:txBody>
          </p:sp>
          <p:sp>
            <p:nvSpPr>
              <p:cNvPr id="109611" name="Line 106"/>
              <p:cNvSpPr>
                <a:spLocks noChangeShapeType="1"/>
              </p:cNvSpPr>
              <p:nvPr/>
            </p:nvSpPr>
            <p:spPr bwMode="auto">
              <a:xfrm>
                <a:off x="6392670" y="1187858"/>
                <a:ext cx="17780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457200"/>
                <a:endParaRPr lang="zh-CN" altLang="en-US" dirty="0">
                  <a:solidFill>
                    <a:srgbClr val="000000"/>
                  </a:solidFill>
                  <a:latin typeface="Calibri" panose="020F0502020204030204"/>
                  <a:ea typeface="宋体" panose="02010600030101010101" pitchFamily="2" charset="-122"/>
                </a:endParaRPr>
              </a:p>
            </p:txBody>
          </p:sp>
        </p:grpSp>
      </p:grpSp>
      <p:sp>
        <p:nvSpPr>
          <p:cNvPr id="9" name="Rectangle 3"/>
          <p:cNvSpPr txBox="1">
            <a:spLocks noChangeArrowheads="1"/>
          </p:cNvSpPr>
          <p:nvPr/>
        </p:nvSpPr>
        <p:spPr bwMode="auto">
          <a:xfrm>
            <a:off x="6096000" y="4343400"/>
            <a:ext cx="5714864" cy="2110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defTabSz="457200">
              <a:lnSpc>
                <a:spcPct val="100000"/>
              </a:lnSpc>
              <a:spcBef>
                <a:spcPts val="0"/>
              </a:spcBef>
              <a:spcAft>
                <a:spcPts val="0"/>
              </a:spcAft>
              <a:defRPr/>
            </a:pPr>
            <a:r>
              <a:rPr lang="en-US" altLang="zh-CN" sz="1600" kern="0" dirty="0">
                <a:solidFill>
                  <a:srgbClr val="FF0000"/>
                </a:solidFill>
                <a:latin typeface="Calibri" panose="020F0502020204030204"/>
                <a:ea typeface="宋体" panose="02010600030101010101" pitchFamily="2" charset="-122"/>
              </a:rPr>
              <a:t>Tri-state Gate	</a:t>
            </a:r>
          </a:p>
          <a:p>
            <a:pPr marL="0" indent="0" defTabSz="457200">
              <a:buNone/>
              <a:defRPr/>
            </a:pPr>
            <a:r>
              <a:rPr lang="en-US" altLang="zh-CN" sz="1600" kern="0" dirty="0">
                <a:solidFill>
                  <a:srgbClr val="BD582C"/>
                </a:solidFill>
                <a:latin typeface="Calibri" panose="020F0502020204030204"/>
                <a:ea typeface="宋体" panose="02010600030101010101" pitchFamily="2" charset="-122"/>
              </a:rPr>
              <a:t>  In digital circuits, some output pins can have a third state in addition to high and low levels (1 and 0), which is the high-impedance state. This state is also called floating, high-Z, or suspended. A gate circuit with a high-impedance output is called a tri-state gate and is often used to construct bus receivers and transmitters.</a:t>
            </a:r>
            <a:endParaRPr lang="zh-CN" altLang="pt-BR" sz="1600" kern="0" dirty="0">
              <a:solidFill>
                <a:srgbClr val="BD582C"/>
              </a:solidFill>
              <a:latin typeface="Calibri" panose="020F0502020204030204"/>
              <a:ea typeface="宋体" panose="02010600030101010101" pitchFamily="2" charset="-122"/>
            </a:endParaRPr>
          </a:p>
        </p:txBody>
      </p:sp>
      <p:pic>
        <p:nvPicPr>
          <p:cNvPr id="433154" name="Picture 2" descr="ANSI/IEEE Std 91-198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7313" y="1610378"/>
            <a:ext cx="18034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Group 106"/>
          <p:cNvGraphicFramePr/>
          <p:nvPr/>
        </p:nvGraphicFramePr>
        <p:xfrm>
          <a:off x="3352800" y="2370137"/>
          <a:ext cx="2425699" cy="1981200"/>
        </p:xfrm>
        <a:graphic>
          <a:graphicData uri="http://schemas.openxmlformats.org/drawingml/2006/table">
            <a:tbl>
              <a:tblPr/>
              <a:tblGrid>
                <a:gridCol w="511096">
                  <a:extLst>
                    <a:ext uri="{9D8B030D-6E8A-4147-A177-3AD203B41FA5}">
                      <a16:colId xmlns:a16="http://schemas.microsoft.com/office/drawing/2014/main" val="20000"/>
                    </a:ext>
                  </a:extLst>
                </a:gridCol>
                <a:gridCol w="511095">
                  <a:extLst>
                    <a:ext uri="{9D8B030D-6E8A-4147-A177-3AD203B41FA5}">
                      <a16:colId xmlns:a16="http://schemas.microsoft.com/office/drawing/2014/main" val="20001"/>
                    </a:ext>
                  </a:extLst>
                </a:gridCol>
                <a:gridCol w="1403508">
                  <a:extLst>
                    <a:ext uri="{9D8B030D-6E8A-4147-A177-3AD203B41FA5}">
                      <a16:colId xmlns:a16="http://schemas.microsoft.com/office/drawing/2014/main" val="20002"/>
                    </a:ext>
                  </a:extLst>
                </a:gridCol>
              </a:tblGrid>
              <a:tr h="36861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endParaRPr kumimoji="0" lang="fr-FR"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fr-FR"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a:t>
                      </a:r>
                      <a:r>
                        <a:rPr lang="pt-BR" altLang="zh-CN" sz="2600" b="1">
                          <a:latin typeface="Arial" panose="020B0604020202020204" pitchFamily="34" charset="0"/>
                        </a:rPr>
                        <a:t>⊙</a:t>
                      </a:r>
                      <a:r>
                        <a:rPr kumimoji="0" lang="fr-FR"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endParaRPr kumimoji="0" lang="fr-FR"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861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defRPr/>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861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defRPr/>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861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6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6861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26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rPr>
                        <a:t>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14" name="Rectangle 103"/>
          <p:cNvSpPr>
            <a:spLocks noChangeArrowheads="1"/>
          </p:cNvSpPr>
          <p:nvPr/>
        </p:nvSpPr>
        <p:spPr bwMode="auto">
          <a:xfrm>
            <a:off x="3333497" y="1853790"/>
            <a:ext cx="2448747" cy="5847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zh-CN" altLang="en-US" sz="1600" dirty="0">
                <a:solidFill>
                  <a:srgbClr val="990033"/>
                </a:solidFill>
                <a:latin typeface="Arial" panose="020B0604020202020204" pitchFamily="34" charset="0"/>
              </a:rPr>
              <a:t>逻辑</a:t>
            </a:r>
            <a:r>
              <a:rPr lang="zh-CN" altLang="en-US" sz="1600" b="1" dirty="0">
                <a:solidFill>
                  <a:srgbClr val="FF0000"/>
                </a:solidFill>
                <a:latin typeface="Arial" panose="020B0604020202020204" pitchFamily="34" charset="0"/>
              </a:rPr>
              <a:t>同或</a:t>
            </a:r>
            <a:r>
              <a:rPr lang="zh-CN" altLang="en-US" sz="1600" dirty="0">
                <a:solidFill>
                  <a:srgbClr val="990033"/>
                </a:solidFill>
                <a:latin typeface="Arial" panose="020B0604020202020204" pitchFamily="34" charset="0"/>
              </a:rPr>
              <a:t>真值表 </a:t>
            </a:r>
          </a:p>
          <a:p>
            <a:pPr algn="l" defTabSz="457200"/>
            <a:r>
              <a:rPr lang="en-US" altLang="zh-CN" sz="1600" dirty="0">
                <a:solidFill>
                  <a:srgbClr val="990033"/>
                </a:solidFill>
                <a:latin typeface="Arial" panose="020B0604020202020204" pitchFamily="34" charset="0"/>
              </a:rPr>
              <a:t>Logic XNOR Truth Table </a:t>
            </a:r>
            <a:endParaRPr lang="zh-CN" altLang="en-US" sz="1600" dirty="0">
              <a:solidFill>
                <a:srgbClr val="990033"/>
              </a:solidFill>
              <a:latin typeface="Arial" panose="020B0604020202020204" pitchFamily="34" charset="0"/>
            </a:endParaRPr>
          </a:p>
        </p:txBody>
      </p:sp>
      <p:pic>
        <p:nvPicPr>
          <p:cNvPr id="433156" name="Picture 4" descr="http://e.hiphotos.baidu.com/baike/s%3D250/sign=251f4a57942bd40746c7d4f84b899e9c/377adab44aed2e73a7ef52538401a18b87d6fa4f.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6755" y="1546390"/>
            <a:ext cx="1973263"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3158" name="Picture 6" descr="图1 三态门的运用"/>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0251" y="2359025"/>
            <a:ext cx="2797175" cy="185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p:nvSpPr>
        <p:spPr>
          <a:xfrm>
            <a:off x="6344900" y="4115871"/>
            <a:ext cx="3943708" cy="369332"/>
          </a:xfrm>
          <a:prstGeom prst="rect">
            <a:avLst/>
          </a:prstGeom>
        </p:spPr>
        <p:txBody>
          <a:bodyPr wrap="none">
            <a:spAutoFit/>
          </a:bodyPr>
          <a:lstStyle/>
          <a:p>
            <a:pPr algn="ctr" defTabSz="457200">
              <a:defRPr/>
            </a:pPr>
            <a:r>
              <a:rPr lang="en-US" altLang="zh-CN" b="1" kern="0" dirty="0">
                <a:solidFill>
                  <a:srgbClr val="9900CC"/>
                </a:solidFill>
                <a:latin typeface="Calibri" panose="020F0502020204030204"/>
                <a:ea typeface="宋体" panose="02010600030101010101" pitchFamily="2" charset="-122"/>
              </a:rPr>
              <a:t>The application of the three states gate</a:t>
            </a:r>
          </a:p>
        </p:txBody>
      </p:sp>
      <p:sp>
        <p:nvSpPr>
          <p:cNvPr id="18" name="矩形 17"/>
          <p:cNvSpPr/>
          <p:nvPr/>
        </p:nvSpPr>
        <p:spPr>
          <a:xfrm>
            <a:off x="7759701" y="1159947"/>
            <a:ext cx="2908301" cy="369332"/>
          </a:xfrm>
          <a:prstGeom prst="rect">
            <a:avLst/>
          </a:prstGeom>
          <a:solidFill>
            <a:schemeClr val="bg1"/>
          </a:solidFill>
        </p:spPr>
        <p:txBody>
          <a:bodyPr wrap="square">
            <a:spAutoFit/>
          </a:bodyPr>
          <a:lstStyle/>
          <a:p>
            <a:pPr algn="ctr" defTabSz="457200">
              <a:defRPr/>
            </a:pPr>
            <a:r>
              <a:rPr lang="en-US" altLang="zh-CN" sz="1800" kern="0" dirty="0">
                <a:cs typeface="Times New Roman" panose="02020603050405020304" pitchFamily="18" charset="0"/>
              </a:rPr>
              <a:t>“</a:t>
            </a:r>
            <a:r>
              <a:rPr lang="zh-CN" altLang="en-US" sz="1800" b="1" dirty="0">
                <a:solidFill>
                  <a:srgbClr val="FF0000"/>
                </a:solidFill>
                <a:latin typeface="Arial" panose="020B0604020202020204" pitchFamily="34" charset="0"/>
                <a:ea typeface="幼圆" panose="02010509060101010101" pitchFamily="49" charset="-122"/>
              </a:rPr>
              <a:t>同</a:t>
            </a:r>
            <a:r>
              <a:rPr lang="zh-CN" altLang="en-US" sz="1800" kern="0" dirty="0">
                <a:solidFill>
                  <a:srgbClr val="FF0000"/>
                </a:solidFill>
                <a:cs typeface="Times New Roman" panose="02020603050405020304" pitchFamily="18" charset="0"/>
              </a:rPr>
              <a:t>或</a:t>
            </a:r>
            <a:r>
              <a:rPr lang="zh-CN" altLang="pt-BR" sz="1800" b="1" dirty="0">
                <a:solidFill>
                  <a:srgbClr val="FF0000"/>
                </a:solidFill>
                <a:latin typeface="Arial" panose="020B0604020202020204" pitchFamily="34" charset="0"/>
                <a:ea typeface="幼圆" panose="02010509060101010101" pitchFamily="49" charset="-122"/>
              </a:rPr>
              <a:t>门</a:t>
            </a:r>
            <a:r>
              <a:rPr lang="en-US" altLang="zh-CN" b="1" kern="0" dirty="0">
                <a:solidFill>
                  <a:srgbClr val="000000"/>
                </a:solidFill>
                <a:latin typeface="Calibri" panose="020F0502020204030204"/>
                <a:ea typeface="宋体" panose="02010600030101010101" pitchFamily="2" charset="-122"/>
                <a:cs typeface="Times New Roman" panose="02020603050405020304" pitchFamily="18" charset="0"/>
              </a:rPr>
              <a:t>”</a:t>
            </a:r>
            <a:r>
              <a:rPr lang="en-US" altLang="zh-CN" kern="0" dirty="0">
                <a:solidFill>
                  <a:srgbClr val="000000"/>
                </a:solidFill>
                <a:latin typeface="Calibri" panose="020F0502020204030204"/>
                <a:ea typeface="宋体" panose="02010600030101010101" pitchFamily="2" charset="-122"/>
                <a:cs typeface="Times New Roman" panose="02020603050405020304" pitchFamily="18" charset="0"/>
              </a:rPr>
              <a:t> “</a:t>
            </a:r>
            <a:r>
              <a:rPr lang="en-US" altLang="zh-CN" kern="0" dirty="0">
                <a:solidFill>
                  <a:srgbClr val="FF0000"/>
                </a:solidFill>
                <a:latin typeface="Calibri" panose="020F0502020204030204"/>
                <a:ea typeface="宋体" panose="02010600030101010101" pitchFamily="2" charset="-122"/>
                <a:cs typeface="Times New Roman" panose="02020603050405020304" pitchFamily="18" charset="0"/>
              </a:rPr>
              <a:t>XNOR</a:t>
            </a:r>
            <a:r>
              <a:rPr lang="en-US" altLang="zh-CN" kern="0" dirty="0">
                <a:solidFill>
                  <a:srgbClr val="000000"/>
                </a:solidFill>
                <a:latin typeface="Calibri" panose="020F0502020204030204"/>
                <a:ea typeface="宋体" panose="02010600030101010101" pitchFamily="2" charset="-122"/>
                <a:cs typeface="Times New Roman" panose="02020603050405020304" pitchFamily="18" charset="0"/>
              </a:rPr>
              <a:t> gate".</a:t>
            </a:r>
            <a:endParaRPr lang="zh-CN" altLang="en-US" dirty="0">
              <a:solidFill>
                <a:srgbClr val="000000"/>
              </a:solidFill>
              <a:latin typeface="Calibri" panose="020F0502020204030204"/>
              <a:ea typeface="宋体" panose="02010600030101010101" pitchFamily="2" charset="-122"/>
            </a:endParaRPr>
          </a:p>
        </p:txBody>
      </p:sp>
      <p:sp>
        <p:nvSpPr>
          <p:cNvPr id="8" name="标题 7"/>
          <p:cNvSpPr>
            <a:spLocks noGrp="1"/>
          </p:cNvSpPr>
          <p:nvPr>
            <p:ph type="title"/>
          </p:nvPr>
        </p:nvSpPr>
        <p:spPr/>
        <p:txBody>
          <a:bodyPr>
            <a:normAutofit/>
          </a:bodyPr>
          <a:lstStyle/>
          <a:p>
            <a:r>
              <a:rPr lang="pt-BR" altLang="zh-CN" sz="3200" dirty="0">
                <a:latin typeface="宋体" panose="02010600030101010101" pitchFamily="2" charset="-122"/>
              </a:rPr>
              <a:t>2</a:t>
            </a:r>
            <a:r>
              <a:rPr lang="zh-CN" altLang="pt-BR" sz="3200" dirty="0">
                <a:latin typeface="宋体" panose="02010600030101010101" pitchFamily="2" charset="-122"/>
              </a:rPr>
              <a:t>、组合逻辑电路 </a:t>
            </a:r>
            <a:r>
              <a:rPr lang="en-US" altLang="zh-CN" sz="3200" dirty="0"/>
              <a:t>2.Combinational Logic Circuits</a:t>
            </a:r>
            <a:endParaRPr lang="zh-CN" altLang="en-US" sz="3200" dirty="0"/>
          </a:p>
        </p:txBody>
      </p:sp>
      <p:sp>
        <p:nvSpPr>
          <p:cNvPr id="3" name="文本框 2"/>
          <p:cNvSpPr txBox="1"/>
          <p:nvPr/>
        </p:nvSpPr>
        <p:spPr>
          <a:xfrm>
            <a:off x="1122000" y="4351337"/>
            <a:ext cx="4243180" cy="2031325"/>
          </a:xfrm>
          <a:prstGeom prst="rect">
            <a:avLst/>
          </a:prstGeom>
          <a:noFill/>
        </p:spPr>
        <p:txBody>
          <a:bodyPr wrap="square">
            <a:spAutoFit/>
          </a:bodyPr>
          <a:lstStyle/>
          <a:p>
            <a:pPr marL="0" indent="0" eaLnBrk="1" hangingPunct="1">
              <a:defRPr/>
            </a:pPr>
            <a:r>
              <a:rPr lang="zh-CN" altLang="pt-BR" sz="1800" kern="0" dirty="0">
                <a:solidFill>
                  <a:srgbClr val="FF0000"/>
                </a:solidFill>
              </a:rPr>
              <a:t>三态门</a:t>
            </a:r>
          </a:p>
          <a:p>
            <a:pPr marL="0" indent="0" eaLnBrk="1" hangingPunct="1">
              <a:buFontTx/>
              <a:buNone/>
              <a:defRPr/>
            </a:pPr>
            <a:r>
              <a:rPr lang="zh-CN" altLang="pt-BR" sz="1800" kern="0" dirty="0"/>
              <a:t>   在数字电路中，有些电路引脚输出状态除了高、低电平即</a:t>
            </a:r>
            <a:r>
              <a:rPr lang="en-US" altLang="zh-CN" sz="1800" kern="0" dirty="0"/>
              <a:t>1</a:t>
            </a:r>
            <a:r>
              <a:rPr lang="zh-CN" altLang="en-US" sz="1800" kern="0" dirty="0"/>
              <a:t>、</a:t>
            </a:r>
            <a:r>
              <a:rPr lang="en-US" altLang="zh-CN" sz="1800" kern="0" dirty="0"/>
              <a:t>0</a:t>
            </a:r>
            <a:r>
              <a:rPr lang="zh-CN" altLang="en-US" sz="1800" kern="0" dirty="0"/>
              <a:t>之外，还有第三种状态，即</a:t>
            </a:r>
            <a:r>
              <a:rPr lang="zh-CN" altLang="en-US" sz="1800" kern="0" dirty="0">
                <a:solidFill>
                  <a:srgbClr val="CC3300"/>
                </a:solidFill>
              </a:rPr>
              <a:t>高阻状态</a:t>
            </a:r>
            <a:r>
              <a:rPr lang="zh-CN" altLang="en-US" sz="1800" kern="0" dirty="0"/>
              <a:t>，这种状态也叫做</a:t>
            </a:r>
            <a:r>
              <a:rPr lang="zh-CN" altLang="en-US" sz="1800" kern="0" dirty="0">
                <a:solidFill>
                  <a:srgbClr val="FF0000"/>
                </a:solidFill>
              </a:rPr>
              <a:t>浮空、高阻、挂起</a:t>
            </a:r>
            <a:r>
              <a:rPr lang="zh-CN" altLang="en-US" sz="1800" kern="0" dirty="0"/>
              <a:t>等。具有高阻态输出的门电路称为三态门，</a:t>
            </a:r>
            <a:r>
              <a:rPr lang="zh-CN" altLang="en-US" sz="1800" kern="0" dirty="0">
                <a:solidFill>
                  <a:srgbClr val="FF0000"/>
                </a:solidFill>
              </a:rPr>
              <a:t>常</a:t>
            </a:r>
            <a:r>
              <a:rPr lang="zh-CN" altLang="pt-BR" sz="1800" kern="0" dirty="0">
                <a:solidFill>
                  <a:srgbClr val="FF0000"/>
                </a:solidFill>
              </a:rPr>
              <a:t>用于构成总线接收器和发送器</a:t>
            </a:r>
            <a:r>
              <a:rPr lang="zh-CN" altLang="pt-BR" sz="1800" kern="0" dirty="0"/>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Grp="1" noRot="1" noChangeAspect="1" noMove="1" noResize="1" noEditPoints="1" noAdjustHandles="1" noChangeArrowheads="1" noChangeShapeType="1" noCrop="1"/>
          </p:cNvPicPr>
          <p:nvPr>
            <p:ph idx="1"/>
          </p:nvPr>
        </p:nvPicPr>
        <p:blipFill rotWithShape="1">
          <a:blip r:embed="rId2">
            <a:extLst>
              <a:ext uri="{28A0092B-C50C-407E-A947-70E740481C1C}">
                <a14:useLocalDpi xmlns:a14="http://schemas.microsoft.com/office/drawing/2010/main" val="0"/>
              </a:ext>
            </a:extLst>
          </a:blip>
          <a:srcRect t="40109" b="11137"/>
          <a:stretch>
            <a:fillRect/>
          </a:stretch>
        </p:blipFill>
        <p:spPr bwMode="auto">
          <a:xfrm>
            <a:off x="2287467" y="3142220"/>
            <a:ext cx="7502767" cy="2408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标题 3"/>
          <p:cNvSpPr>
            <a:spLocks noGrp="1" noChangeArrowheads="1"/>
          </p:cNvSpPr>
          <p:nvPr>
            <p:ph type="title"/>
          </p:nvPr>
        </p:nvSpPr>
        <p:spPr>
          <a:xfrm>
            <a:off x="1549400" y="514350"/>
            <a:ext cx="8340725" cy="603250"/>
          </a:xfrm>
        </p:spPr>
        <p:txBody>
          <a:bodyPr>
            <a:noAutofit/>
          </a:bodyPr>
          <a:lstStyle/>
          <a:p>
            <a:pPr eaLnBrk="1" hangingPunct="1"/>
            <a:r>
              <a:rPr lang="pt-BR" altLang="zh-CN" sz="3200" dirty="0">
                <a:latin typeface="宋体" panose="02010600030101010101" pitchFamily="2" charset="-122"/>
              </a:rPr>
              <a:t>2</a:t>
            </a:r>
            <a:r>
              <a:rPr lang="zh-CN" altLang="pt-BR" sz="3200" dirty="0">
                <a:latin typeface="宋体" panose="02010600030101010101" pitchFamily="2" charset="-122"/>
              </a:rPr>
              <a:t>、组合逻辑电路 </a:t>
            </a:r>
            <a:r>
              <a:rPr lang="en-US" altLang="zh-CN" sz="3200" dirty="0"/>
              <a:t>2.Combinational Logic Circuits</a:t>
            </a:r>
            <a:endParaRPr lang="zh-CN" altLang="en-US" sz="3200" dirty="0"/>
          </a:p>
        </p:txBody>
      </p:sp>
      <p:sp>
        <p:nvSpPr>
          <p:cNvPr id="5" name="文本框 4"/>
          <p:cNvSpPr txBox="1"/>
          <p:nvPr/>
        </p:nvSpPr>
        <p:spPr>
          <a:xfrm>
            <a:off x="1768950" y="1117600"/>
            <a:ext cx="8968900" cy="1754326"/>
          </a:xfrm>
          <a:prstGeom prst="rect">
            <a:avLst/>
          </a:prstGeom>
          <a:noFill/>
        </p:spPr>
        <p:txBody>
          <a:bodyPr wrap="square" rtlCol="0">
            <a:spAutoFit/>
          </a:bodyPr>
          <a:lstStyle/>
          <a:p>
            <a:pPr defTabSz="457200"/>
            <a:r>
              <a:rPr lang="en-US" altLang="zh-CN" dirty="0">
                <a:solidFill>
                  <a:srgbClr val="000000"/>
                </a:solidFill>
                <a:latin typeface="Calibri" panose="020F0502020204030204"/>
                <a:ea typeface="宋体" panose="02010600030101010101" pitchFamily="2" charset="-122"/>
              </a:rPr>
              <a:t>Tri-state Buffer</a:t>
            </a:r>
          </a:p>
          <a:p>
            <a:pPr defTabSz="457200"/>
            <a:r>
              <a:rPr lang="en-US" altLang="zh-CN" b="1" dirty="0">
                <a:solidFill>
                  <a:srgbClr val="000000"/>
                </a:solidFill>
                <a:latin typeface="Calibri" panose="020F0502020204030204"/>
                <a:ea typeface="宋体" panose="02010600030101010101" pitchFamily="2" charset="-122"/>
              </a:rPr>
              <a:t>Three-state Buffer</a:t>
            </a:r>
            <a:r>
              <a:rPr lang="en-US" altLang="zh-CN" dirty="0">
                <a:solidFill>
                  <a:srgbClr val="000000"/>
                </a:solidFill>
                <a:latin typeface="Calibri" panose="020F0502020204030204"/>
                <a:ea typeface="宋体" panose="02010600030101010101" pitchFamily="2" charset="-122"/>
              </a:rPr>
              <a:t>, also known as a </a:t>
            </a:r>
            <a:r>
              <a:rPr lang="en-US" altLang="zh-CN" b="1" dirty="0">
                <a:solidFill>
                  <a:srgbClr val="000000"/>
                </a:solidFill>
                <a:latin typeface="Calibri" panose="020F0502020204030204"/>
                <a:ea typeface="宋体" panose="02010600030101010101" pitchFamily="2" charset="-122"/>
              </a:rPr>
              <a:t>tri-state gate</a:t>
            </a:r>
            <a:r>
              <a:rPr lang="en-US" altLang="zh-CN" dirty="0">
                <a:solidFill>
                  <a:srgbClr val="000000"/>
                </a:solidFill>
                <a:latin typeface="Calibri" panose="020F0502020204030204"/>
                <a:ea typeface="宋体" panose="02010600030101010101" pitchFamily="2" charset="-122"/>
              </a:rPr>
              <a:t> or </a:t>
            </a:r>
            <a:r>
              <a:rPr lang="en-US" altLang="zh-CN" b="1" dirty="0">
                <a:solidFill>
                  <a:srgbClr val="000000"/>
                </a:solidFill>
                <a:latin typeface="Calibri" panose="020F0502020204030204"/>
                <a:ea typeface="宋体" panose="02010600030101010101" pitchFamily="2" charset="-122"/>
              </a:rPr>
              <a:t>tri-state driver</a:t>
            </a:r>
            <a:r>
              <a:rPr lang="en-US" altLang="zh-CN" dirty="0">
                <a:solidFill>
                  <a:srgbClr val="000000"/>
                </a:solidFill>
                <a:latin typeface="Calibri" panose="020F0502020204030204"/>
                <a:ea typeface="宋体" panose="02010600030101010101" pitchFamily="2" charset="-122"/>
              </a:rPr>
              <a:t>, </a:t>
            </a:r>
          </a:p>
          <a:p>
            <a:pPr defTabSz="457200"/>
            <a:r>
              <a:rPr lang="en-US" altLang="zh-CN" dirty="0">
                <a:solidFill>
                  <a:srgbClr val="000000"/>
                </a:solidFill>
                <a:latin typeface="Calibri" panose="020F0502020204030204"/>
                <a:ea typeface="宋体" panose="02010600030101010101" pitchFamily="2" charset="-122"/>
              </a:rPr>
              <a:t>has an output controlled by an </a:t>
            </a:r>
            <a:r>
              <a:rPr lang="en-US" altLang="zh-CN" b="1" dirty="0">
                <a:solidFill>
                  <a:srgbClr val="FF0000"/>
                </a:solidFill>
                <a:latin typeface="Calibri" panose="020F0502020204030204"/>
                <a:ea typeface="宋体" panose="02010600030101010101" pitchFamily="2" charset="-122"/>
              </a:rPr>
              <a:t>enable input</a:t>
            </a:r>
          </a:p>
          <a:p>
            <a:pPr marL="285750" indent="-285750" defTabSz="457200">
              <a:buFont typeface="Arial" panose="020B0604020202020204" pitchFamily="34" charset="0"/>
              <a:buChar char="•"/>
            </a:pPr>
            <a:r>
              <a:rPr lang="en-US" altLang="zh-CN" dirty="0">
                <a:solidFill>
                  <a:srgbClr val="000000"/>
                </a:solidFill>
                <a:latin typeface="Calibri" panose="020F0502020204030204"/>
                <a:ea typeface="宋体" panose="02010600030101010101" pitchFamily="2" charset="-122"/>
              </a:rPr>
              <a:t>When the enable input is </a:t>
            </a:r>
            <a:r>
              <a:rPr lang="en-US" altLang="zh-CN" b="1" dirty="0">
                <a:solidFill>
                  <a:srgbClr val="000000"/>
                </a:solidFill>
                <a:latin typeface="Calibri" panose="020F0502020204030204"/>
                <a:ea typeface="宋体" panose="02010600030101010101" pitchFamily="2" charset="-122"/>
              </a:rPr>
              <a:t>active</a:t>
            </a:r>
            <a:r>
              <a:rPr lang="en-US" altLang="zh-CN" dirty="0">
                <a:solidFill>
                  <a:srgbClr val="000000"/>
                </a:solidFill>
                <a:latin typeface="Calibri" panose="020F0502020204030204"/>
                <a:ea typeface="宋体" panose="02010600030101010101" pitchFamily="2" charset="-122"/>
              </a:rPr>
              <a:t>, the device outputs a normal logic state (Logic 0 or Logic 1).</a:t>
            </a:r>
            <a:endParaRPr lang="en-US" altLang="zh-CN" b="1" dirty="0">
              <a:solidFill>
                <a:srgbClr val="000000"/>
              </a:solidFill>
              <a:latin typeface="Calibri" panose="020F0502020204030204"/>
              <a:ea typeface="宋体" panose="02010600030101010101" pitchFamily="2" charset="-122"/>
            </a:endParaRPr>
          </a:p>
          <a:p>
            <a:pPr marL="285750" indent="-285750" defTabSz="457200">
              <a:buFont typeface="Arial" panose="020B0604020202020204" pitchFamily="34" charset="0"/>
              <a:buChar char="•"/>
            </a:pPr>
            <a:r>
              <a:rPr lang="en-US" altLang="zh-CN" dirty="0">
                <a:solidFill>
                  <a:srgbClr val="000000"/>
                </a:solidFill>
                <a:latin typeface="Calibri" panose="020F0502020204030204"/>
                <a:ea typeface="宋体" panose="02010600030101010101" pitchFamily="2" charset="-122"/>
              </a:rPr>
              <a:t>When the enable input is </a:t>
            </a:r>
            <a:r>
              <a:rPr lang="en-US" altLang="zh-CN" b="1" dirty="0">
                <a:solidFill>
                  <a:srgbClr val="000000"/>
                </a:solidFill>
                <a:latin typeface="Calibri" panose="020F0502020204030204"/>
                <a:ea typeface="宋体" panose="02010600030101010101" pitchFamily="2" charset="-122"/>
              </a:rPr>
              <a:t>inactive</a:t>
            </a:r>
            <a:r>
              <a:rPr lang="en-US" altLang="zh-CN" dirty="0">
                <a:solidFill>
                  <a:srgbClr val="000000"/>
                </a:solidFill>
                <a:latin typeface="Calibri" panose="020F0502020204030204"/>
                <a:ea typeface="宋体" panose="02010600030101010101" pitchFamily="2" charset="-122"/>
              </a:rPr>
              <a:t>, the output is in a </a:t>
            </a:r>
            <a:r>
              <a:rPr lang="en-US" altLang="zh-CN" b="1" dirty="0">
                <a:solidFill>
                  <a:srgbClr val="000000"/>
                </a:solidFill>
                <a:latin typeface="Calibri" panose="020F0502020204030204"/>
                <a:ea typeface="宋体" panose="02010600030101010101" pitchFamily="2" charset="-122"/>
              </a:rPr>
              <a:t>high-impedance (Hi-Z)</a:t>
            </a:r>
            <a:r>
              <a:rPr lang="en-US" altLang="zh-CN" dirty="0">
                <a:solidFill>
                  <a:srgbClr val="000000"/>
                </a:solidFill>
                <a:latin typeface="Calibri" panose="020F0502020204030204"/>
                <a:ea typeface="宋体" panose="02010600030101010101" pitchFamily="2" charset="-122"/>
              </a:rPr>
              <a:t> state, </a:t>
            </a:r>
          </a:p>
          <a:p>
            <a:pPr defTabSz="457200"/>
            <a:r>
              <a:rPr lang="en-US" altLang="zh-CN" dirty="0">
                <a:solidFill>
                  <a:srgbClr val="000000"/>
                </a:solidFill>
                <a:latin typeface="Calibri" panose="020F0502020204030204"/>
                <a:ea typeface="宋体" panose="02010600030101010101" pitchFamily="2" charset="-122"/>
              </a:rPr>
              <a:t>	which is equivalent to being disconnected from the circuit.</a:t>
            </a:r>
            <a:endParaRPr lang="en-US" altLang="zh-CN" b="1" dirty="0">
              <a:solidFill>
                <a:srgbClr val="000000"/>
              </a:solidFill>
              <a:latin typeface="Calibri" panose="020F0502020204030204"/>
              <a:ea typeface="宋体" panose="02010600030101010101" pitchFamily="2" charset="-122"/>
            </a:endParaRPr>
          </a:p>
        </p:txBody>
      </p:sp>
      <p:sp>
        <p:nvSpPr>
          <p:cNvPr id="6" name="文本框 5"/>
          <p:cNvSpPr txBox="1"/>
          <p:nvPr/>
        </p:nvSpPr>
        <p:spPr>
          <a:xfrm>
            <a:off x="3843339" y="2756668"/>
            <a:ext cx="4142609" cy="430887"/>
          </a:xfrm>
          <a:prstGeom prst="rect">
            <a:avLst/>
          </a:prstGeom>
          <a:noFill/>
        </p:spPr>
        <p:txBody>
          <a:bodyPr wrap="none" rtlCol="0">
            <a:spAutoFit/>
          </a:bodyPr>
          <a:lstStyle/>
          <a:p>
            <a:pPr defTabSz="457200"/>
            <a:r>
              <a:rPr lang="en-US" altLang="zh-CN" sz="2200" b="1" dirty="0">
                <a:solidFill>
                  <a:srgbClr val="FF0000"/>
                </a:solidFill>
                <a:latin typeface="Calibri" panose="020F0502020204030204"/>
                <a:ea typeface="宋体" panose="02010600030101010101" pitchFamily="2" charset="-122"/>
              </a:rPr>
              <a:t>Logic Symbols for Tri-state Buffers</a:t>
            </a:r>
            <a:endParaRPr lang="zh-CN" altLang="en-US" sz="2200" b="1" dirty="0">
              <a:solidFill>
                <a:srgbClr val="FF0000"/>
              </a:solidFill>
              <a:latin typeface="Calibri" panose="020F0502020204030204"/>
              <a:ea typeface="宋体" panose="02010600030101010101" pitchFamily="2" charset="-122"/>
            </a:endParaRPr>
          </a:p>
        </p:txBody>
      </p:sp>
      <p:sp>
        <p:nvSpPr>
          <p:cNvPr id="7" name="文本框 6"/>
          <p:cNvSpPr txBox="1">
            <a:spLocks noGrp="1" noRot="1" noMove="1" noResize="1" noEditPoints="1" noAdjustHandles="1" noChangeArrowheads="1" noChangeShapeType="1"/>
          </p:cNvSpPr>
          <p:nvPr/>
        </p:nvSpPr>
        <p:spPr>
          <a:xfrm>
            <a:off x="2198566" y="3142219"/>
            <a:ext cx="2130648" cy="369332"/>
          </a:xfrm>
          <a:prstGeom prst="rect">
            <a:avLst/>
          </a:prstGeom>
          <a:noFill/>
        </p:spPr>
        <p:txBody>
          <a:bodyPr wrap="none" rtlCol="0">
            <a:spAutoFit/>
          </a:bodyPr>
          <a:lstStyle/>
          <a:p>
            <a:pPr defTabSz="457200"/>
            <a:r>
              <a:rPr lang="en-US" altLang="zh-CN" dirty="0">
                <a:solidFill>
                  <a:srgbClr val="FFFF00"/>
                </a:solidFill>
                <a:highlight>
                  <a:srgbClr val="000000"/>
                </a:highlight>
                <a:latin typeface="Calibri" panose="020F0502020204030204"/>
                <a:ea typeface="宋体" panose="02010600030101010101" pitchFamily="2" charset="-122"/>
              </a:rPr>
              <a:t>Rectangular Symbols</a:t>
            </a:r>
            <a:endParaRPr lang="zh-CN" altLang="en-US" dirty="0">
              <a:solidFill>
                <a:srgbClr val="FFFF00"/>
              </a:solidFill>
              <a:highlight>
                <a:srgbClr val="000000"/>
              </a:highlight>
              <a:latin typeface="Calibri" panose="020F0502020204030204"/>
              <a:ea typeface="宋体" panose="02010600030101010101" pitchFamily="2" charset="-122"/>
            </a:endParaRPr>
          </a:p>
        </p:txBody>
      </p:sp>
      <p:sp>
        <p:nvSpPr>
          <p:cNvPr id="8" name="文本框 7"/>
          <p:cNvSpPr txBox="1">
            <a:spLocks noGrp="1" noRot="1" noMove="1" noResize="1" noEditPoints="1" noAdjustHandles="1" noChangeArrowheads="1" noChangeShapeType="1"/>
          </p:cNvSpPr>
          <p:nvPr/>
        </p:nvSpPr>
        <p:spPr>
          <a:xfrm>
            <a:off x="2198566" y="4346507"/>
            <a:ext cx="1929296" cy="369332"/>
          </a:xfrm>
          <a:prstGeom prst="rect">
            <a:avLst/>
          </a:prstGeom>
          <a:noFill/>
        </p:spPr>
        <p:txBody>
          <a:bodyPr wrap="square" rtlCol="0">
            <a:spAutoFit/>
          </a:bodyPr>
          <a:lstStyle/>
          <a:p>
            <a:pPr defTabSz="457200"/>
            <a:r>
              <a:rPr lang="en-US" altLang="zh-CN" dirty="0">
                <a:solidFill>
                  <a:srgbClr val="FFFF00"/>
                </a:solidFill>
                <a:highlight>
                  <a:srgbClr val="000000"/>
                </a:highlight>
                <a:latin typeface="Calibri" panose="020F0502020204030204"/>
                <a:ea typeface="宋体" panose="02010600030101010101" pitchFamily="2" charset="-122"/>
              </a:rPr>
              <a:t>Variant Symbols</a:t>
            </a:r>
            <a:endParaRPr lang="zh-CN" altLang="en-US" dirty="0">
              <a:solidFill>
                <a:srgbClr val="FFFF00"/>
              </a:solidFill>
              <a:highlight>
                <a:srgbClr val="000000"/>
              </a:highlight>
              <a:latin typeface="Calibri" panose="020F0502020204030204"/>
              <a:ea typeface="宋体" panose="02010600030101010101" pitchFamily="2" charset="-122"/>
            </a:endParaRPr>
          </a:p>
        </p:txBody>
      </p:sp>
      <p:sp>
        <p:nvSpPr>
          <p:cNvPr id="9" name="文本框 8"/>
          <p:cNvSpPr txBox="1"/>
          <p:nvPr/>
        </p:nvSpPr>
        <p:spPr>
          <a:xfrm>
            <a:off x="2137498" y="5512407"/>
            <a:ext cx="2252784" cy="584775"/>
          </a:xfrm>
          <a:prstGeom prst="rect">
            <a:avLst/>
          </a:prstGeom>
          <a:noFill/>
        </p:spPr>
        <p:txBody>
          <a:bodyPr wrap="square" rtlCol="0">
            <a:spAutoFit/>
          </a:bodyPr>
          <a:lstStyle/>
          <a:p>
            <a:pPr defTabSz="457200"/>
            <a:r>
              <a:rPr lang="en-US" altLang="zh-CN" sz="1600" dirty="0">
                <a:solidFill>
                  <a:srgbClr val="7030A0"/>
                </a:solidFill>
                <a:latin typeface="Calibri" panose="020F0502020204030204"/>
                <a:ea typeface="宋体" panose="02010600030101010101" pitchFamily="2" charset="-122"/>
              </a:rPr>
              <a:t>High-Active Enable,	</a:t>
            </a:r>
          </a:p>
          <a:p>
            <a:pPr defTabSz="457200"/>
            <a:r>
              <a:rPr lang="en-US" altLang="zh-CN" sz="1600" dirty="0">
                <a:solidFill>
                  <a:srgbClr val="7030A0"/>
                </a:solidFill>
                <a:latin typeface="Calibri" panose="020F0502020204030204"/>
                <a:ea typeface="宋体" panose="02010600030101010101" pitchFamily="2" charset="-122"/>
              </a:rPr>
              <a:t>Non-inverting Output</a:t>
            </a:r>
            <a:endParaRPr lang="zh-CN" altLang="en-US" sz="1600" dirty="0">
              <a:solidFill>
                <a:srgbClr val="7030A0"/>
              </a:solidFill>
              <a:latin typeface="Calibri" panose="020F0502020204030204"/>
              <a:ea typeface="宋体" panose="02010600030101010101" pitchFamily="2" charset="-122"/>
            </a:endParaRPr>
          </a:p>
        </p:txBody>
      </p:sp>
      <p:sp>
        <p:nvSpPr>
          <p:cNvPr id="18" name="文本框 17"/>
          <p:cNvSpPr txBox="1"/>
          <p:nvPr/>
        </p:nvSpPr>
        <p:spPr>
          <a:xfrm>
            <a:off x="4127862" y="5512406"/>
            <a:ext cx="2252784" cy="584775"/>
          </a:xfrm>
          <a:prstGeom prst="rect">
            <a:avLst/>
          </a:prstGeom>
          <a:noFill/>
        </p:spPr>
        <p:txBody>
          <a:bodyPr wrap="square" rtlCol="0">
            <a:spAutoFit/>
          </a:bodyPr>
          <a:lstStyle/>
          <a:p>
            <a:pPr defTabSz="457200"/>
            <a:r>
              <a:rPr lang="en-US" altLang="zh-CN" sz="1600" dirty="0">
                <a:solidFill>
                  <a:srgbClr val="7030A0"/>
                </a:solidFill>
                <a:latin typeface="Calibri" panose="020F0502020204030204"/>
                <a:ea typeface="宋体" panose="02010600030101010101" pitchFamily="2" charset="-122"/>
              </a:rPr>
              <a:t>Low-Active Enable, </a:t>
            </a:r>
          </a:p>
          <a:p>
            <a:pPr defTabSz="457200"/>
            <a:r>
              <a:rPr lang="en-US" altLang="zh-CN" sz="1600" dirty="0">
                <a:solidFill>
                  <a:srgbClr val="7030A0"/>
                </a:solidFill>
                <a:latin typeface="Calibri" panose="020F0502020204030204"/>
                <a:ea typeface="宋体" panose="02010600030101010101" pitchFamily="2" charset="-122"/>
              </a:rPr>
              <a:t>Non-inverting Output</a:t>
            </a:r>
            <a:endParaRPr lang="zh-CN" altLang="en-US" sz="1600" dirty="0">
              <a:solidFill>
                <a:srgbClr val="7030A0"/>
              </a:solidFill>
              <a:latin typeface="Calibri" panose="020F0502020204030204"/>
              <a:ea typeface="宋体" panose="02010600030101010101" pitchFamily="2" charset="-122"/>
            </a:endParaRPr>
          </a:p>
        </p:txBody>
      </p:sp>
      <p:sp>
        <p:nvSpPr>
          <p:cNvPr id="19" name="文本框 18"/>
          <p:cNvSpPr txBox="1"/>
          <p:nvPr/>
        </p:nvSpPr>
        <p:spPr>
          <a:xfrm>
            <a:off x="6118225" y="5507463"/>
            <a:ext cx="2252784" cy="584775"/>
          </a:xfrm>
          <a:prstGeom prst="rect">
            <a:avLst/>
          </a:prstGeom>
          <a:noFill/>
        </p:spPr>
        <p:txBody>
          <a:bodyPr wrap="square" rtlCol="0">
            <a:spAutoFit/>
          </a:bodyPr>
          <a:lstStyle/>
          <a:p>
            <a:pPr defTabSz="457200"/>
            <a:r>
              <a:rPr lang="en-US" altLang="zh-CN" sz="1600" dirty="0">
                <a:solidFill>
                  <a:srgbClr val="7030A0"/>
                </a:solidFill>
                <a:latin typeface="Calibri" panose="020F0502020204030204"/>
                <a:ea typeface="宋体" panose="02010600030101010101" pitchFamily="2" charset="-122"/>
              </a:rPr>
              <a:t>High-Active Enable, Inverting Output</a:t>
            </a:r>
            <a:endParaRPr lang="zh-CN" altLang="en-US" sz="1600" dirty="0">
              <a:solidFill>
                <a:srgbClr val="7030A0"/>
              </a:solidFill>
              <a:latin typeface="Calibri" panose="020F0502020204030204"/>
              <a:ea typeface="宋体" panose="02010600030101010101" pitchFamily="2" charset="-122"/>
            </a:endParaRPr>
          </a:p>
        </p:txBody>
      </p:sp>
      <p:sp>
        <p:nvSpPr>
          <p:cNvPr id="20" name="文本框 19"/>
          <p:cNvSpPr txBox="1"/>
          <p:nvPr/>
        </p:nvSpPr>
        <p:spPr>
          <a:xfrm>
            <a:off x="7891502" y="5504533"/>
            <a:ext cx="2252784" cy="584775"/>
          </a:xfrm>
          <a:prstGeom prst="rect">
            <a:avLst/>
          </a:prstGeom>
          <a:noFill/>
        </p:spPr>
        <p:txBody>
          <a:bodyPr wrap="square" rtlCol="0">
            <a:spAutoFit/>
          </a:bodyPr>
          <a:lstStyle/>
          <a:p>
            <a:pPr defTabSz="457200"/>
            <a:r>
              <a:rPr lang="en-US" altLang="zh-CN" sz="1600" dirty="0">
                <a:solidFill>
                  <a:srgbClr val="7030A0"/>
                </a:solidFill>
                <a:latin typeface="Calibri" panose="020F0502020204030204"/>
                <a:ea typeface="宋体" panose="02010600030101010101" pitchFamily="2" charset="-122"/>
              </a:rPr>
              <a:t>Low-Active Enable, Inverting Output</a:t>
            </a:r>
            <a:endParaRPr lang="zh-CN" altLang="en-US" sz="1600" dirty="0">
              <a:solidFill>
                <a:srgbClr val="7030A0"/>
              </a:solidFill>
              <a:latin typeface="Calibri" panose="020F0502020204030204"/>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Rectangle 3"/>
          <p:cNvSpPr>
            <a:spLocks noGrp="1" noChangeArrowheads="1"/>
          </p:cNvSpPr>
          <p:nvPr>
            <p:ph idx="1"/>
          </p:nvPr>
        </p:nvSpPr>
        <p:spPr>
          <a:xfrm>
            <a:off x="489527" y="1391920"/>
            <a:ext cx="10666153" cy="4984115"/>
          </a:xfrm>
        </p:spPr>
        <p:txBody>
          <a:bodyPr>
            <a:normAutofit fontScale="92500" lnSpcReduction="10000"/>
          </a:bodyPr>
          <a:lstStyle/>
          <a:p>
            <a:pPr lvl="1">
              <a:spcBef>
                <a:spcPts val="0"/>
              </a:spcBef>
              <a:defRPr/>
            </a:pPr>
            <a:r>
              <a:rPr lang="zh-CN" altLang="pt-BR" sz="2400" dirty="0"/>
              <a:t>高阻状态是门电路输出端的上拉、下拉两个晶体管在控制端的作用下都处于截止状态，而截止状态所呈现的阻抗很高。</a:t>
            </a:r>
            <a:endParaRPr lang="en-US" altLang="zh-CN" sz="2400" dirty="0"/>
          </a:p>
          <a:p>
            <a:pPr lvl="1">
              <a:spcBef>
                <a:spcPts val="0"/>
              </a:spcBef>
              <a:defRPr/>
            </a:pPr>
            <a:r>
              <a:rPr lang="en-US" altLang="zh-CN" sz="2400" dirty="0"/>
              <a:t>The high-impedance state occurs when both the pull-up and pull-down transistors at the gate's output are in the off (cutoff) state, controlled by an enable input. The impedance in this state is very high</a:t>
            </a:r>
          </a:p>
          <a:p>
            <a:pPr lvl="1">
              <a:spcBef>
                <a:spcPts val="0"/>
              </a:spcBef>
              <a:defRPr/>
            </a:pPr>
            <a:r>
              <a:rPr lang="zh-CN" altLang="en-US" sz="2400" dirty="0"/>
              <a:t>当输出端呈高阻状态时，输出端不输出任何逻辑电平，就像是开路一样。</a:t>
            </a:r>
            <a:endParaRPr lang="en-US" altLang="zh-CN" sz="2400" dirty="0"/>
          </a:p>
          <a:p>
            <a:pPr lvl="1">
              <a:spcBef>
                <a:spcPts val="0"/>
              </a:spcBef>
              <a:defRPr/>
            </a:pPr>
            <a:r>
              <a:rPr lang="en-US" altLang="zh-CN" sz="2400" dirty="0"/>
              <a:t>When the output is in a high-impedance state, it does not output any logic level, effectively acting like an open circuit.</a:t>
            </a:r>
          </a:p>
          <a:p>
            <a:pPr lvl="1">
              <a:spcBef>
                <a:spcPts val="0"/>
              </a:spcBef>
              <a:defRPr/>
            </a:pPr>
            <a:r>
              <a:rPr lang="zh-CN" altLang="en-US" sz="2400" dirty="0"/>
              <a:t>每条线上不能同时有两个信号是输出状态，所以当几个芯片的输出端连在一起的时候，如其中一个是输出状态时，其他芯片的输出端不能同时也是输出状态，此时其他芯片既不能输出</a:t>
            </a:r>
            <a:r>
              <a:rPr lang="en-US" altLang="zh-CN" sz="2400" dirty="0"/>
              <a:t>1</a:t>
            </a:r>
            <a:r>
              <a:rPr lang="zh-CN" altLang="en-US" sz="2400" dirty="0"/>
              <a:t>，也不能输出</a:t>
            </a:r>
            <a:r>
              <a:rPr lang="en-US" altLang="zh-CN" sz="2400" dirty="0"/>
              <a:t>0</a:t>
            </a:r>
            <a:r>
              <a:rPr lang="zh-CN" altLang="en-US" sz="2400" dirty="0"/>
              <a:t>，就像是断开电路一样，这就是高阻状态，一般用符号</a:t>
            </a:r>
            <a:r>
              <a:rPr lang="en-US" altLang="zh-CN" sz="2400" dirty="0">
                <a:solidFill>
                  <a:srgbClr val="CC3300"/>
                </a:solidFill>
              </a:rPr>
              <a:t>Z</a:t>
            </a:r>
            <a:r>
              <a:rPr lang="zh-CN" altLang="en-US" sz="2400" dirty="0"/>
              <a:t>来表示。</a:t>
            </a:r>
          </a:p>
          <a:p>
            <a:pPr lvl="1">
              <a:spcBef>
                <a:spcPts val="0"/>
              </a:spcBef>
              <a:defRPr/>
            </a:pPr>
            <a:r>
              <a:rPr lang="en-US" altLang="zh-CN" sz="2400" dirty="0"/>
              <a:t>When several chip outputs are connected, only one can be in an active output state at a time. The other chips must place their outputs in a high-impedance state so they don't drive the line to 1 or 0, which is like being disconnected from the circuit. This state is often represented by the symbol Z.</a:t>
            </a:r>
          </a:p>
        </p:txBody>
      </p:sp>
      <p:sp>
        <p:nvSpPr>
          <p:cNvPr id="3" name="标题 2"/>
          <p:cNvSpPr>
            <a:spLocks noGrp="1"/>
          </p:cNvSpPr>
          <p:nvPr>
            <p:ph type="title"/>
          </p:nvPr>
        </p:nvSpPr>
        <p:spPr/>
        <p:txBody>
          <a:bodyPr>
            <a:normAutofit/>
          </a:bodyPr>
          <a:lstStyle/>
          <a:p>
            <a:r>
              <a:rPr lang="en-US" altLang="zh-CN" sz="3200" dirty="0">
                <a:solidFill>
                  <a:srgbClr val="FF0000"/>
                </a:solidFill>
              </a:rPr>
              <a:t>Tri-state Gate</a:t>
            </a:r>
            <a:endParaRPr lang="zh-CN" altLang="en-US" sz="3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4" name="Rectangle 4"/>
          <p:cNvSpPr>
            <a:spLocks noGrp="1" noChangeArrowheads="1"/>
          </p:cNvSpPr>
          <p:nvPr>
            <p:ph idx="1"/>
          </p:nvPr>
        </p:nvSpPr>
        <p:spPr>
          <a:xfrm>
            <a:off x="1524000" y="1198461"/>
            <a:ext cx="8517731" cy="1418572"/>
          </a:xfrm>
        </p:spPr>
        <p:txBody>
          <a:bodyPr>
            <a:noAutofit/>
          </a:bodyPr>
          <a:lstStyle/>
          <a:p>
            <a:pPr>
              <a:spcBef>
                <a:spcPct val="0"/>
              </a:spcBef>
              <a:spcAft>
                <a:spcPct val="0"/>
              </a:spcAft>
            </a:pPr>
            <a:r>
              <a:rPr lang="zh-CN" altLang="en-US" sz="1800" dirty="0">
                <a:solidFill>
                  <a:srgbClr val="9900CC"/>
                </a:solidFill>
              </a:rPr>
              <a:t>锁存</a:t>
            </a:r>
            <a:r>
              <a:rPr lang="en-US" altLang="zh-CN" sz="1800" dirty="0"/>
              <a:t>: </a:t>
            </a:r>
            <a:r>
              <a:rPr lang="zh-CN" altLang="en-US" sz="1800" dirty="0"/>
              <a:t>把信号暂存以维持某种电平状态。</a:t>
            </a:r>
            <a:endParaRPr lang="en-US" altLang="zh-CN" sz="1800" dirty="0">
              <a:solidFill>
                <a:srgbClr val="9900CC"/>
              </a:solidFill>
            </a:endParaRPr>
          </a:p>
          <a:p>
            <a:pPr eaLnBrk="1" hangingPunct="1">
              <a:spcBef>
                <a:spcPct val="0"/>
              </a:spcBef>
              <a:spcAft>
                <a:spcPct val="0"/>
              </a:spcAft>
            </a:pPr>
            <a:r>
              <a:rPr lang="en-US" altLang="zh-CN" sz="1800" dirty="0">
                <a:solidFill>
                  <a:srgbClr val="9900CC"/>
                </a:solidFill>
              </a:rPr>
              <a:t>Latching</a:t>
            </a:r>
            <a:r>
              <a:rPr lang="en-US" altLang="zh-CN" sz="1800" dirty="0"/>
              <a:t>: The process of temporarily storing a signal to maintain a specific level state.</a:t>
            </a:r>
            <a:endParaRPr lang="en-US" altLang="zh-CN" sz="1800" dirty="0">
              <a:solidFill>
                <a:srgbClr val="FF0000"/>
              </a:solidFill>
            </a:endParaRPr>
          </a:p>
          <a:p>
            <a:pPr>
              <a:spcBef>
                <a:spcPct val="0"/>
              </a:spcBef>
              <a:spcAft>
                <a:spcPct val="0"/>
              </a:spcAft>
            </a:pPr>
            <a:r>
              <a:rPr lang="en-US" altLang="zh-CN" sz="1800" dirty="0">
                <a:solidFill>
                  <a:srgbClr val="FF0000"/>
                </a:solidFill>
              </a:rPr>
              <a:t>74LS373</a:t>
            </a:r>
            <a:r>
              <a:rPr lang="en-US" altLang="zh-CN" sz="1800" dirty="0"/>
              <a:t>:</a:t>
            </a:r>
            <a:r>
              <a:rPr lang="zh-CN" altLang="en-US" sz="1800" dirty="0">
                <a:solidFill>
                  <a:srgbClr val="FF0000"/>
                </a:solidFill>
              </a:rPr>
              <a:t>具有三态缓冲输出的</a:t>
            </a:r>
            <a:r>
              <a:rPr lang="en-US" altLang="zh-CN" sz="1800" dirty="0">
                <a:solidFill>
                  <a:srgbClr val="FF0000"/>
                </a:solidFill>
              </a:rPr>
              <a:t>8D</a:t>
            </a:r>
            <a:r>
              <a:rPr lang="zh-CN" altLang="en-US" sz="1800" dirty="0">
                <a:solidFill>
                  <a:srgbClr val="FF0000"/>
                </a:solidFill>
              </a:rPr>
              <a:t>锁存器</a:t>
            </a:r>
            <a:r>
              <a:rPr lang="zh-CN" altLang="en-US" sz="1800" dirty="0"/>
              <a:t>，在单片机应用中，当地址线和数据线复用时，用作地址锁存器。</a:t>
            </a:r>
          </a:p>
          <a:p>
            <a:pPr eaLnBrk="1" hangingPunct="1">
              <a:spcBef>
                <a:spcPct val="0"/>
              </a:spcBef>
              <a:spcAft>
                <a:spcPct val="0"/>
              </a:spcAft>
            </a:pPr>
            <a:r>
              <a:rPr lang="en-US" altLang="zh-CN" sz="1800" dirty="0">
                <a:solidFill>
                  <a:srgbClr val="FF0000"/>
                </a:solidFill>
              </a:rPr>
              <a:t>74LS373</a:t>
            </a:r>
            <a:r>
              <a:rPr lang="en-US" altLang="zh-CN" sz="1800" dirty="0"/>
              <a:t>:</a:t>
            </a:r>
            <a:r>
              <a:rPr lang="en-US" altLang="zh-CN" sz="1800" dirty="0">
                <a:solidFill>
                  <a:srgbClr val="FF0000"/>
                </a:solidFill>
              </a:rPr>
              <a:t>An 8D-type latch with tri-state buffered outputs. </a:t>
            </a:r>
            <a:r>
              <a:rPr lang="en-US" altLang="zh-CN" sz="1800" dirty="0">
                <a:solidFill>
                  <a:schemeClr val="tx1"/>
                </a:solidFill>
              </a:rPr>
              <a:t>In microcontroller applications, it is used as an address latch when address and data lines are multiplexed</a:t>
            </a:r>
            <a:r>
              <a:rPr lang="en-US" altLang="zh-CN" sz="1800" dirty="0">
                <a:solidFill>
                  <a:srgbClr val="FF0000"/>
                </a:solidFill>
              </a:rPr>
              <a:t>.</a:t>
            </a:r>
            <a:endParaRPr lang="en-US" altLang="zh-CN" sz="1800" dirty="0"/>
          </a:p>
        </p:txBody>
      </p:sp>
      <p:sp>
        <p:nvSpPr>
          <p:cNvPr id="2" name="日期占位符 1"/>
          <p:cNvSpPr>
            <a:spLocks noGrp="1"/>
          </p:cNvSpPr>
          <p:nvPr>
            <p:ph type="dt" sz="quarter" idx="11"/>
          </p:nvPr>
        </p:nvSpPr>
        <p:spPr>
          <a:xfrm>
            <a:off x="9734550" y="6218239"/>
            <a:ext cx="933450" cy="211137"/>
          </a:xfrm>
        </p:spPr>
        <p:txBody>
          <a:bodyPr/>
          <a:lstStyle/>
          <a:p>
            <a:pPr defTabSz="457200">
              <a:defRPr/>
            </a:pPr>
            <a:fld id="{274B5A39-A782-449E-BECE-26AA0D6FDBDD}" type="datetime10">
              <a:rPr lang="zh-CN" altLang="en-US">
                <a:latin typeface="Calibri" panose="020F0502020204030204"/>
                <a:ea typeface="宋体" panose="02010600030101010101" pitchFamily="2" charset="-122"/>
              </a:rPr>
              <a:t>15:28</a:t>
            </a:fld>
            <a:endParaRPr lang="zh-CN" altLang="en-US">
              <a:latin typeface="Calibri" panose="020F0502020204030204"/>
              <a:ea typeface="宋体" panose="02010600030101010101" pitchFamily="2" charset="-122"/>
            </a:endParaRPr>
          </a:p>
        </p:txBody>
      </p:sp>
      <p:pic>
        <p:nvPicPr>
          <p:cNvPr id="436226" name="Picture 2"/>
          <p:cNvPicPr>
            <a:picLocks noChangeAspect="1" noChangeArrowheads="1"/>
          </p:cNvPicPr>
          <p:nvPr/>
        </p:nvPicPr>
        <p:blipFill>
          <a:blip r:embed="rId2">
            <a:extLst>
              <a:ext uri="{CDFE0825-6DEF-4EF5-8246-60DE8C826C90}">
                <a14:imgProps xmlns="" xmlns:a14="http://schemas.microsoft.com/office/drawing/2010/main">
                  <a14:imgLayer r:embed="rId3">
                    <a14:imgEffect name="8"/>
                  </a14:imgLayer>
                </a14:imgProps>
              </a:ext>
            </a:extLst>
          </a:blip>
          <a:srcRect/>
          <a:stretch>
            <a:fillRect/>
          </a:stretch>
        </p:blipFill>
        <p:spPr bwMode="auto">
          <a:xfrm>
            <a:off x="2376170" y="2979420"/>
            <a:ext cx="7825105" cy="274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11"/>
          <p:cNvSpPr>
            <a:spLocks noChangeArrowheads="1"/>
          </p:cNvSpPr>
          <p:nvPr/>
        </p:nvSpPr>
        <p:spPr bwMode="auto">
          <a:xfrm>
            <a:off x="3381644" y="5876397"/>
            <a:ext cx="5820824"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en-US" altLang="zh-CN" sz="2400" dirty="0">
                <a:solidFill>
                  <a:srgbClr val="FF0000"/>
                </a:solidFill>
              </a:rPr>
              <a:t>Figure 2-7: 74LS373 Internal Logic Diagram </a:t>
            </a:r>
            <a:endParaRPr lang="zh-CN" altLang="en-US" sz="2400" dirty="0">
              <a:solidFill>
                <a:srgbClr val="FF0000"/>
              </a:solidFill>
            </a:endParaRPr>
          </a:p>
        </p:txBody>
      </p:sp>
      <p:sp>
        <p:nvSpPr>
          <p:cNvPr id="4" name="标题 3"/>
          <p:cNvSpPr>
            <a:spLocks noGrp="1"/>
          </p:cNvSpPr>
          <p:nvPr>
            <p:ph type="title"/>
          </p:nvPr>
        </p:nvSpPr>
        <p:spPr>
          <a:xfrm>
            <a:off x="489527" y="203200"/>
            <a:ext cx="10178473" cy="914883"/>
          </a:xfrm>
        </p:spPr>
        <p:txBody>
          <a:bodyPr>
            <a:noAutofit/>
          </a:bodyPr>
          <a:lstStyle/>
          <a:p>
            <a:pPr algn="ctr"/>
            <a:r>
              <a:rPr lang="en-US" altLang="zh-CN" sz="3200" dirty="0">
                <a:latin typeface="Times New Roman" panose="02020603050405020304" pitchFamily="18" charset="0"/>
                <a:cs typeface="Times New Roman" panose="02020603050405020304" pitchFamily="18" charset="0"/>
              </a:rPr>
              <a:t>2.2.3  </a:t>
            </a:r>
            <a:r>
              <a:rPr lang="zh-CN" altLang="en-US" sz="3200" dirty="0">
                <a:latin typeface="Times New Roman" panose="02020603050405020304" pitchFamily="18" charset="0"/>
                <a:cs typeface="Times New Roman" panose="02020603050405020304" pitchFamily="18" charset="0"/>
              </a:rPr>
              <a:t>常用组合逻辑电路</a:t>
            </a:r>
            <a:r>
              <a:rPr lang="en-US" altLang="zh-CN" sz="3200" dirty="0">
                <a:latin typeface="Times New Roman" panose="02020603050405020304" pitchFamily="18" charset="0"/>
                <a:cs typeface="Times New Roman" panose="02020603050405020304" pitchFamily="18" charset="0"/>
              </a:rPr>
              <a:t>——</a:t>
            </a:r>
            <a:r>
              <a:rPr lang="en-US" altLang="zh-CN" sz="3200" dirty="0">
                <a:solidFill>
                  <a:srgbClr val="FF0000"/>
                </a:solidFill>
                <a:latin typeface="宋体" panose="02010600030101010101" pitchFamily="2" charset="-122"/>
              </a:rPr>
              <a:t>1</a:t>
            </a:r>
            <a:r>
              <a:rPr lang="zh-CN" altLang="en-US" sz="3200" dirty="0">
                <a:solidFill>
                  <a:srgbClr val="FF0000"/>
                </a:solidFill>
                <a:latin typeface="宋体" panose="02010600030101010101" pitchFamily="2" charset="-122"/>
              </a:rPr>
              <a:t>、锁存器</a:t>
            </a:r>
            <a:br>
              <a:rPr lang="en-US" altLang="zh-CN" sz="3200" dirty="0">
                <a:solidFill>
                  <a:srgbClr val="FF0000"/>
                </a:solidFill>
                <a:latin typeface="宋体" panose="02010600030101010101" pitchFamily="2" charset="-122"/>
              </a:rPr>
            </a:br>
            <a:r>
              <a:rPr lang="en-US" altLang="zh-CN" sz="3200" dirty="0">
                <a:latin typeface="Times New Roman" panose="02020603050405020304" pitchFamily="18" charset="0"/>
                <a:cs typeface="Times New Roman" panose="02020603050405020304" pitchFamily="18" charset="0"/>
              </a:rPr>
              <a:t>2.2.3 Common Combinational Logic Circuits—</a:t>
            </a:r>
            <a:r>
              <a:rPr lang="en-US" altLang="zh-CN" sz="3200" dirty="0">
                <a:solidFill>
                  <a:srgbClr val="FF0000"/>
                </a:solidFill>
                <a:latin typeface="宋体" panose="02010600030101010101" pitchFamily="2" charset="-122"/>
              </a:rPr>
              <a:t>1.Latch</a:t>
            </a:r>
            <a:endParaRPr lang="zh-CN" altLang="en-US" sz="3200" dirty="0"/>
          </a:p>
        </p:txBody>
      </p:sp>
      <p:sp>
        <p:nvSpPr>
          <p:cNvPr id="5" name="矩形 4"/>
          <p:cNvSpPr>
            <a:spLocks noChangeArrowheads="1"/>
          </p:cNvSpPr>
          <p:nvPr/>
        </p:nvSpPr>
        <p:spPr bwMode="auto">
          <a:xfrm>
            <a:off x="924084" y="4119415"/>
            <a:ext cx="14160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FF0000"/>
                </a:solidFill>
                <a:latin typeface="宋体" panose="02010600030101010101" pitchFamily="2" charset="-122"/>
              </a:rPr>
              <a:t>锁存使能</a:t>
            </a:r>
            <a:endParaRPr lang="zh-CN" altLang="en-US" sz="2400" dirty="0">
              <a:solidFill>
                <a:srgbClr val="FF0000"/>
              </a:solidFill>
            </a:endParaRPr>
          </a:p>
        </p:txBody>
      </p:sp>
      <p:sp>
        <p:nvSpPr>
          <p:cNvPr id="6" name="矩形 5"/>
          <p:cNvSpPr>
            <a:spLocks noChangeArrowheads="1"/>
          </p:cNvSpPr>
          <p:nvPr/>
        </p:nvSpPr>
        <p:spPr bwMode="auto">
          <a:xfrm>
            <a:off x="924084" y="4964627"/>
            <a:ext cx="1416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FF0000"/>
                </a:solidFill>
              </a:rPr>
              <a:t>输出使能</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0867" name="Rectangle 3"/>
          <p:cNvSpPr>
            <a:spLocks noGrp="1" noChangeArrowheads="1"/>
          </p:cNvSpPr>
          <p:nvPr>
            <p:ph type="body" idx="1"/>
          </p:nvPr>
        </p:nvSpPr>
        <p:spPr>
          <a:xfrm>
            <a:off x="996950" y="1234168"/>
            <a:ext cx="5983288" cy="975631"/>
          </a:xfrm>
        </p:spPr>
        <p:txBody>
          <a:bodyPr>
            <a:normAutofit fontScale="92500" lnSpcReduction="10000"/>
          </a:bodyPr>
          <a:lstStyle/>
          <a:p>
            <a:r>
              <a:rPr lang="en-US" altLang="zh-CN" dirty="0"/>
              <a:t>74LS373</a:t>
            </a:r>
            <a:r>
              <a:rPr lang="zh-CN" altLang="en-US" dirty="0"/>
              <a:t>的内部逻辑电路图如图</a:t>
            </a:r>
            <a:r>
              <a:rPr lang="en-US" altLang="zh-CN" dirty="0"/>
              <a:t>2-7</a:t>
            </a:r>
            <a:r>
              <a:rPr lang="zh-CN" altLang="en-US" dirty="0"/>
              <a:t>所示</a:t>
            </a:r>
          </a:p>
          <a:p>
            <a:pPr marL="0" indent="0" eaLnBrk="1" hangingPunct="1">
              <a:buNone/>
            </a:pPr>
            <a:r>
              <a:rPr lang="en-US" altLang="zh-CN" dirty="0"/>
              <a:t>The internal logic circuit diagram of 74LS373 is shown in Figure 2-7</a:t>
            </a:r>
          </a:p>
        </p:txBody>
      </p:sp>
      <p:sp>
        <p:nvSpPr>
          <p:cNvPr id="113667" name="Rectangle 5"/>
          <p:cNvSpPr>
            <a:spLocks noChangeArrowheads="1"/>
          </p:cNvSpPr>
          <p:nvPr/>
        </p:nvSpPr>
        <p:spPr bwMode="auto">
          <a:xfrm>
            <a:off x="6003635" y="891659"/>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3668" name="Rectangle 10"/>
          <p:cNvSpPr>
            <a:spLocks noChangeArrowheads="1"/>
          </p:cNvSpPr>
          <p:nvPr/>
        </p:nvSpPr>
        <p:spPr bwMode="auto">
          <a:xfrm>
            <a:off x="6003635" y="872609"/>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graphicFrame>
        <p:nvGraphicFramePr>
          <p:cNvPr id="420873" name="Object 9"/>
          <p:cNvGraphicFramePr>
            <a:graphicFrameLocks noChangeAspect="1"/>
          </p:cNvGraphicFramePr>
          <p:nvPr/>
        </p:nvGraphicFramePr>
        <p:xfrm>
          <a:off x="6980239" y="416175"/>
          <a:ext cx="3504545" cy="5435351"/>
        </p:xfrm>
        <a:graphic>
          <a:graphicData uri="http://schemas.openxmlformats.org/presentationml/2006/ole">
            <mc:AlternateContent xmlns:mc="http://schemas.openxmlformats.org/markup-compatibility/2006">
              <mc:Choice xmlns:v="urn:schemas-microsoft-com:vml" Requires="v">
                <p:oleObj name="Visio" r:id="rId2" imgW="3308350" imgH="5126990" progId="Visio.Drawing.11">
                  <p:embed/>
                </p:oleObj>
              </mc:Choice>
              <mc:Fallback>
                <p:oleObj name="Visio" r:id="rId2" imgW="3308350" imgH="5126990" progId="Visio.Drawing.11">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0239" y="416175"/>
                        <a:ext cx="3504545" cy="5435351"/>
                      </a:xfrm>
                      <a:prstGeom prst="rect">
                        <a:avLst/>
                      </a:prstGeom>
                      <a:noFill/>
                      <a:ln>
                        <a:noFill/>
                      </a:ln>
                    </p:spPr>
                  </p:pic>
                </p:oleObj>
              </mc:Fallback>
            </mc:AlternateContent>
          </a:graphicData>
        </a:graphic>
      </p:graphicFrame>
      <p:sp>
        <p:nvSpPr>
          <p:cNvPr id="420875" name="Rectangle 11"/>
          <p:cNvSpPr>
            <a:spLocks noChangeArrowheads="1"/>
          </p:cNvSpPr>
          <p:nvPr/>
        </p:nvSpPr>
        <p:spPr bwMode="auto">
          <a:xfrm>
            <a:off x="6233319" y="5829300"/>
            <a:ext cx="4416594"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en-US" altLang="zh-CN" dirty="0">
                <a:solidFill>
                  <a:srgbClr val="000000"/>
                </a:solidFill>
              </a:rPr>
              <a:t>Figure 2-7: 74LS373 Internal Logic Diagram </a:t>
            </a:r>
            <a:endParaRPr lang="zh-CN" altLang="en-US" dirty="0">
              <a:solidFill>
                <a:srgbClr val="000000"/>
              </a:solidFill>
            </a:endParaRPr>
          </a:p>
        </p:txBody>
      </p:sp>
      <p:pic>
        <p:nvPicPr>
          <p:cNvPr id="113673" name="Picture 160" descr="http://www.hqew.com/file/tech2/pic/2012/0318/20121119053036034401683.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105025"/>
            <a:ext cx="5456238"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5888568" y="5434013"/>
            <a:ext cx="1091671" cy="366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solidFill>
                <a:prstClr val="white"/>
              </a:solidFill>
              <a:latin typeface="Calibri" panose="020F0502020204030204"/>
              <a:ea typeface="宋体" panose="0201060003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5" name="Rectangle 3"/>
          <p:cNvSpPr>
            <a:spLocks noGrp="1" noChangeArrowheads="1"/>
          </p:cNvSpPr>
          <p:nvPr>
            <p:ph idx="1"/>
          </p:nvPr>
        </p:nvSpPr>
        <p:spPr>
          <a:xfrm>
            <a:off x="1595967" y="1273175"/>
            <a:ext cx="5098521" cy="4311650"/>
          </a:xfrm>
        </p:spPr>
        <p:txBody>
          <a:bodyPr>
            <a:normAutofit fontScale="85000" lnSpcReduction="20000"/>
          </a:bodyPr>
          <a:lstStyle/>
          <a:p>
            <a:pPr eaLnBrk="1" hangingPunct="1">
              <a:lnSpc>
                <a:spcPct val="150000"/>
              </a:lnSpc>
            </a:pPr>
            <a:r>
              <a:rPr lang="en-US" altLang="zh-CN" dirty="0">
                <a:latin typeface="Times New Roman" panose="02020603050405020304" pitchFamily="18" charset="0"/>
                <a:cs typeface="Times New Roman" panose="02020603050405020304" pitchFamily="18" charset="0"/>
              </a:rPr>
              <a:t>74LS373</a:t>
            </a:r>
            <a:r>
              <a:rPr lang="zh-CN" altLang="en-US" dirty="0">
                <a:latin typeface="Times New Roman" panose="02020603050405020304" pitchFamily="18" charset="0"/>
                <a:cs typeface="Times New Roman" panose="02020603050405020304" pitchFamily="18" charset="0"/>
              </a:rPr>
              <a:t>引脚图如图</a:t>
            </a:r>
            <a:r>
              <a:rPr lang="en-US" altLang="zh-CN" dirty="0">
                <a:latin typeface="Times New Roman" panose="02020603050405020304" pitchFamily="18" charset="0"/>
                <a:cs typeface="Times New Roman" panose="02020603050405020304" pitchFamily="18" charset="0"/>
              </a:rPr>
              <a:t>2-8</a:t>
            </a:r>
            <a:r>
              <a:rPr lang="zh-CN" altLang="en-US" dirty="0">
                <a:latin typeface="Times New Roman" panose="02020603050405020304" pitchFamily="18" charset="0"/>
                <a:cs typeface="Times New Roman" panose="02020603050405020304" pitchFamily="18" charset="0"/>
              </a:rPr>
              <a:t>所示。</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D0~D7 </a:t>
            </a:r>
            <a:r>
              <a:rPr lang="zh-CN" altLang="en-US" dirty="0">
                <a:latin typeface="Times New Roman" panose="02020603050405020304" pitchFamily="18" charset="0"/>
                <a:cs typeface="Times New Roman" panose="02020603050405020304" pitchFamily="18" charset="0"/>
              </a:rPr>
              <a:t>为数据输入端</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OC</a:t>
            </a:r>
            <a:r>
              <a:rPr lang="zh-CN" altLang="en-US" dirty="0">
                <a:latin typeface="Times New Roman" panose="02020603050405020304" pitchFamily="18" charset="0"/>
                <a:cs typeface="Times New Roman" panose="02020603050405020304" pitchFamily="18" charset="0"/>
              </a:rPr>
              <a:t>为输出允许控制端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三态，低电平有效）；</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G</a:t>
            </a:r>
            <a:r>
              <a:rPr lang="zh-CN" altLang="en-US" dirty="0">
                <a:latin typeface="Times New Roman" panose="02020603050405020304" pitchFamily="18" charset="0"/>
                <a:cs typeface="Times New Roman" panose="02020603050405020304" pitchFamily="18" charset="0"/>
              </a:rPr>
              <a:t>为锁存允许端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也称为</a:t>
            </a:r>
            <a:r>
              <a:rPr lang="en-US" altLang="zh-CN" dirty="0">
                <a:latin typeface="Times New Roman" panose="02020603050405020304" pitchFamily="18" charset="0"/>
                <a:cs typeface="Times New Roman" panose="02020603050405020304" pitchFamily="18" charset="0"/>
              </a:rPr>
              <a:t>LE</a:t>
            </a:r>
            <a:r>
              <a:rPr lang="zh-CN" altLang="en-US" dirty="0">
                <a:latin typeface="Times New Roman" panose="02020603050405020304" pitchFamily="18" charset="0"/>
                <a:cs typeface="Times New Roman" panose="02020603050405020304" pitchFamily="18" charset="0"/>
              </a:rPr>
              <a:t>端</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Q0~Q7</a:t>
            </a:r>
            <a:r>
              <a:rPr lang="zh-CN" altLang="en-US" dirty="0">
                <a:latin typeface="Times New Roman" panose="02020603050405020304" pitchFamily="18" charset="0"/>
                <a:cs typeface="Times New Roman" panose="02020603050405020304" pitchFamily="18" charset="0"/>
              </a:rPr>
              <a:t>为输出端。</a:t>
            </a:r>
          </a:p>
          <a:p>
            <a:pPr eaLnBrk="1" hangingPunct="1">
              <a:lnSpc>
                <a:spcPct val="150000"/>
              </a:lnSpc>
            </a:pPr>
            <a:r>
              <a:rPr lang="en-US" altLang="zh-CN" dirty="0">
                <a:latin typeface="Times New Roman" panose="02020603050405020304" pitchFamily="18" charset="0"/>
                <a:cs typeface="Times New Roman" panose="02020603050405020304" pitchFamily="18" charset="0"/>
              </a:rPr>
              <a:t>74LS373 Pinout:</a:t>
            </a:r>
            <a:endParaRPr lang="zh-CN" altLang="en-US" dirty="0">
              <a:latin typeface="Times New Roman" panose="02020603050405020304" pitchFamily="18" charset="0"/>
              <a:cs typeface="Times New Roman" panose="02020603050405020304" pitchFamily="18" charset="0"/>
            </a:endParaRP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D0~D7: Data input terminals.</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OC (Output Control): Output enable control terminal (tri-state, active low).</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G (Gate): Latch enable terminal (also called LE).</a:t>
            </a:r>
          </a:p>
          <a:p>
            <a:pPr lvl="1" eaLnBrk="1" hangingPunct="1">
              <a:lnSpc>
                <a:spcPct val="150000"/>
              </a:lnSpc>
            </a:pPr>
            <a:r>
              <a:rPr lang="en-US" altLang="zh-CN" dirty="0">
                <a:latin typeface="Times New Roman" panose="02020603050405020304" pitchFamily="18" charset="0"/>
                <a:cs typeface="Times New Roman" panose="02020603050405020304" pitchFamily="18" charset="0"/>
              </a:rPr>
              <a:t>Q0~Q7: Output terminals</a:t>
            </a:r>
          </a:p>
          <a:p>
            <a:pPr lvl="1" eaLnBrk="1" hangingPunct="1">
              <a:lnSpc>
                <a:spcPct val="150000"/>
              </a:lnSpc>
            </a:pPr>
            <a:endParaRPr lang="zh-CN" altLang="en-US" dirty="0">
              <a:latin typeface="Times New Roman" panose="02020603050405020304" pitchFamily="18" charset="0"/>
              <a:cs typeface="Times New Roman" panose="02020603050405020304" pitchFamily="18" charset="0"/>
            </a:endParaRPr>
          </a:p>
        </p:txBody>
      </p:sp>
      <p:sp>
        <p:nvSpPr>
          <p:cNvPr id="269317" name="Text Box 5"/>
          <p:cNvSpPr txBox="1">
            <a:spLocks noChangeArrowheads="1"/>
          </p:cNvSpPr>
          <p:nvPr/>
        </p:nvSpPr>
        <p:spPr bwMode="auto">
          <a:xfrm>
            <a:off x="6915150" y="5435540"/>
            <a:ext cx="3597275" cy="400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just" defTabSz="457200"/>
            <a:r>
              <a:rPr lang="en-US" altLang="zh-CN" sz="2000" dirty="0">
                <a:solidFill>
                  <a:srgbClr val="990033"/>
                </a:solidFill>
              </a:rPr>
              <a:t>Figure 2-8: 74LS373 Pinout</a:t>
            </a:r>
            <a:endParaRPr lang="zh-CN" altLang="en-US" sz="2000" dirty="0">
              <a:solidFill>
                <a:srgbClr val="990033"/>
              </a:solidFill>
              <a:latin typeface="Arial" panose="020B0604020202020204" pitchFamily="34" charset="0"/>
            </a:endParaRPr>
          </a:p>
        </p:txBody>
      </p:sp>
      <p:graphicFrame>
        <p:nvGraphicFramePr>
          <p:cNvPr id="269320" name="Object 8"/>
          <p:cNvGraphicFramePr>
            <a:graphicFrameLocks noChangeAspect="1"/>
          </p:cNvGraphicFramePr>
          <p:nvPr/>
        </p:nvGraphicFramePr>
        <p:xfrm>
          <a:off x="6915150" y="1204913"/>
          <a:ext cx="3343275" cy="4203700"/>
        </p:xfrm>
        <a:graphic>
          <a:graphicData uri="http://schemas.openxmlformats.org/presentationml/2006/ole">
            <mc:AlternateContent xmlns:mc="http://schemas.openxmlformats.org/markup-compatibility/2006">
              <mc:Choice xmlns:v="urn:schemas-microsoft-com:vml" Requires="v">
                <p:oleObj name="Visio" r:id="rId2" imgW="1706880" imgH="2153285" progId="Visio.Drawing.11">
                  <p:embed/>
                </p:oleObj>
              </mc:Choice>
              <mc:Fallback>
                <p:oleObj name="Visio" r:id="rId2" imgW="1706880" imgH="2153285" progId="Visio.Drawing.11">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5150" y="1204913"/>
                        <a:ext cx="3343275"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标题 2"/>
          <p:cNvSpPr>
            <a:spLocks noGrp="1"/>
          </p:cNvSpPr>
          <p:nvPr>
            <p:ph type="title"/>
          </p:nvPr>
        </p:nvSpPr>
        <p:spPr/>
        <p:txBody>
          <a:bodyPr>
            <a:normAutofit/>
          </a:bodyPr>
          <a:lstStyle/>
          <a:p>
            <a:r>
              <a:rPr lang="en-US" altLang="zh-CN" sz="3200" dirty="0">
                <a:latin typeface="宋体" panose="02010600030101010101" pitchFamily="2" charset="-122"/>
              </a:rPr>
              <a:t>74LS373</a:t>
            </a:r>
            <a:r>
              <a:rPr lang="zh-CN" altLang="en-US" sz="3200" dirty="0">
                <a:latin typeface="宋体" panose="02010600030101010101" pitchFamily="2" charset="-122"/>
              </a:rPr>
              <a:t>引脚图 </a:t>
            </a:r>
            <a:r>
              <a:rPr lang="en-US" altLang="zh-CN" sz="3200" dirty="0"/>
              <a:t>74LS373 Pinout</a:t>
            </a:r>
            <a:endParaRPr lang="zh-CN" altLang="en-US" sz="3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1" name="Rectangle 3"/>
          <p:cNvSpPr>
            <a:spLocks noGrp="1" noChangeArrowheads="1"/>
          </p:cNvSpPr>
          <p:nvPr>
            <p:ph idx="1"/>
          </p:nvPr>
        </p:nvSpPr>
        <p:spPr>
          <a:xfrm>
            <a:off x="1992313" y="1277938"/>
            <a:ext cx="8229600" cy="4887912"/>
          </a:xfrm>
        </p:spPr>
        <p:txBody>
          <a:bodyPr/>
          <a:lstStyle/>
          <a:p>
            <a:pPr lvl="1">
              <a:lnSpc>
                <a:spcPct val="124000"/>
              </a:lnSpc>
            </a:pPr>
            <a:r>
              <a:rPr lang="zh-CN" altLang="en-US" dirty="0"/>
              <a:t>在数字电路中，常常需要把多个通道的信号传送到公共数据线上，完成这一功能的逻辑电路称为数据选择器。</a:t>
            </a:r>
          </a:p>
          <a:p>
            <a:pPr lvl="1">
              <a:lnSpc>
                <a:spcPct val="124000"/>
              </a:lnSpc>
            </a:pPr>
            <a:r>
              <a:rPr lang="en-US" altLang="zh-CN" dirty="0"/>
              <a:t>In digital circuits, it's often necessary to transmit signals from multiple channels onto a common data line. The logic circuit that performs this function is called a data selector.</a:t>
            </a:r>
          </a:p>
          <a:p>
            <a:pPr lvl="1">
              <a:lnSpc>
                <a:spcPct val="124000"/>
              </a:lnSpc>
            </a:pPr>
            <a:r>
              <a:rPr lang="zh-CN" altLang="en-US" dirty="0"/>
              <a:t>数据选择器又称多路选择器或多路开关，是以“与或”门或“与或非”门为主体的电路，其功能是在通道选择信号的作用下，从多个数据输入通路中选择某一个通道的数据作为该选择器的输出。数据选择器的原理图如图</a:t>
            </a:r>
            <a:r>
              <a:rPr lang="en-US" altLang="zh-CN" dirty="0"/>
              <a:t>2-9</a:t>
            </a:r>
            <a:r>
              <a:rPr lang="zh-CN" altLang="en-US" dirty="0"/>
              <a:t>所示。</a:t>
            </a:r>
          </a:p>
          <a:p>
            <a:pPr lvl="1">
              <a:lnSpc>
                <a:spcPct val="124000"/>
              </a:lnSpc>
            </a:pPr>
            <a:r>
              <a:rPr lang="en-US" altLang="zh-CN" dirty="0"/>
              <a:t>A data selector, also known as a multiplexer or MUX, is a circuit primarily composed of AND-OR or AND-OR-INVERT gates. Its function is to select data from one of several input channels to be the output, based on a channel selection signal.</a:t>
            </a:r>
            <a:endParaRPr lang="zh-CN" altLang="en-US" dirty="0"/>
          </a:p>
        </p:txBody>
      </p:sp>
      <p:sp>
        <p:nvSpPr>
          <p:cNvPr id="4" name="灯片编号占位符 3"/>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fld id="{EAC01F2B-4D60-4CD9-A0D6-1C98D94C35D8}" type="slidenum">
              <a:rPr lang="en-US" altLang="zh-CN">
                <a:solidFill>
                  <a:srgbClr val="000000"/>
                </a:solidFill>
                <a:latin typeface="Arial" panose="020B0604020202020204" pitchFamily="34" charset="0"/>
              </a:rPr>
              <a:t>59</a:t>
            </a:fld>
            <a:endParaRPr lang="en-US" altLang="zh-CN">
              <a:solidFill>
                <a:srgbClr val="000000"/>
              </a:solidFill>
              <a:latin typeface="Arial" panose="020B0604020202020204" pitchFamily="34" charset="0"/>
            </a:endParaRPr>
          </a:p>
        </p:txBody>
      </p:sp>
      <p:sp>
        <p:nvSpPr>
          <p:cNvPr id="2" name="日期占位符 1"/>
          <p:cNvSpPr>
            <a:spLocks noGrp="1"/>
          </p:cNvSpPr>
          <p:nvPr>
            <p:ph type="dt" sz="quarter" idx="11"/>
          </p:nvPr>
        </p:nvSpPr>
        <p:spPr/>
        <p:txBody>
          <a:bodyPr/>
          <a:lstStyle/>
          <a:p>
            <a:pPr defTabSz="457200">
              <a:defRPr/>
            </a:pPr>
            <a:fld id="{B6312EA1-2AFE-4211-BB6A-1B6D9F14295C}" type="datetime10">
              <a:rPr lang="zh-CN" altLang="en-US">
                <a:latin typeface="Calibri" panose="020F0502020204030204"/>
                <a:ea typeface="宋体" panose="02010600030101010101" pitchFamily="2" charset="-122"/>
              </a:rPr>
              <a:t>15:28</a:t>
            </a:fld>
            <a:endParaRPr lang="zh-CN" altLang="en-US">
              <a:latin typeface="Calibri" panose="020F0502020204030204"/>
              <a:ea typeface="宋体" panose="02010600030101010101" pitchFamily="2" charset="-122"/>
            </a:endParaRPr>
          </a:p>
        </p:txBody>
      </p:sp>
      <p:sp>
        <p:nvSpPr>
          <p:cNvPr id="5" name="标题 4"/>
          <p:cNvSpPr>
            <a:spLocks noGrp="1"/>
          </p:cNvSpPr>
          <p:nvPr>
            <p:ph type="title"/>
          </p:nvPr>
        </p:nvSpPr>
        <p:spPr/>
        <p:txBody>
          <a:bodyPr>
            <a:normAutofit/>
          </a:bodyPr>
          <a:lstStyle/>
          <a:p>
            <a:r>
              <a:rPr lang="en-US" altLang="zh-CN" sz="3200" dirty="0">
                <a:latin typeface="宋体" panose="02010600030101010101" pitchFamily="2" charset="-122"/>
              </a:rPr>
              <a:t>2</a:t>
            </a:r>
            <a:r>
              <a:rPr lang="zh-CN" altLang="en-US" sz="3200" dirty="0">
                <a:latin typeface="宋体" panose="02010600030101010101" pitchFamily="2" charset="-122"/>
              </a:rPr>
              <a:t>、数据选择器 </a:t>
            </a:r>
            <a:r>
              <a:rPr lang="en-US" altLang="zh-CN" sz="3200" dirty="0"/>
              <a:t>2.Data Selector (Multiplexer) </a:t>
            </a:r>
            <a:endParaRPr lang="zh-CN" altLang="en-US" sz="3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bwMode="auto">
          <a:xfrm>
            <a:off x="7079393" y="1400175"/>
            <a:ext cx="2633000" cy="3404978"/>
            <a:chOff x="5569406" y="1559294"/>
            <a:chExt cx="2633435" cy="3405965"/>
          </a:xfrm>
        </p:grpSpPr>
        <p:sp>
          <p:nvSpPr>
            <p:cNvPr id="116762" name="Rectangle 26"/>
            <p:cNvSpPr>
              <a:spLocks noChangeArrowheads="1"/>
            </p:cNvSpPr>
            <p:nvPr/>
          </p:nvSpPr>
          <p:spPr bwMode="auto">
            <a:xfrm>
              <a:off x="5569406" y="3935052"/>
              <a:ext cx="2633434" cy="1030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r>
                <a:rPr lang="en-US" altLang="zh-CN" sz="2400" b="1" dirty="0">
                  <a:solidFill>
                    <a:srgbClr val="000000"/>
                  </a:solidFill>
                </a:rPr>
                <a:t>         </a:t>
              </a:r>
              <a:r>
                <a:rPr lang="en-US" altLang="zh-CN" sz="2400" b="1" dirty="0">
                  <a:solidFill>
                    <a:srgbClr val="0000CC"/>
                  </a:solidFill>
                </a:rPr>
                <a:t>S</a:t>
              </a:r>
              <a:r>
                <a:rPr lang="en-US" altLang="zh-CN" sz="2400" b="1" dirty="0">
                  <a:solidFill>
                    <a:srgbClr val="000000"/>
                  </a:solidFill>
                </a:rPr>
                <a:t>        </a:t>
              </a:r>
              <a:r>
                <a:rPr lang="en-US" altLang="zh-CN" sz="2400" b="1" dirty="0">
                  <a:solidFill>
                    <a:srgbClr val="9900CC"/>
                  </a:solidFill>
                </a:rPr>
                <a:t>E</a:t>
              </a:r>
            </a:p>
            <a:p>
              <a:pPr marL="0" lvl="1" defTabSz="457200"/>
              <a:r>
                <a:rPr lang="en-US" altLang="zh-CN" sz="2000" b="1" dirty="0">
                  <a:solidFill>
                    <a:srgbClr val="0000CC"/>
                  </a:solidFill>
                  <a:latin typeface="Twemoji Country Flags"/>
                </a:rPr>
                <a:t>S :Channel Enable </a:t>
              </a:r>
              <a:r>
                <a:rPr lang="en-US" altLang="zh-CN" sz="2000" b="1" dirty="0">
                  <a:solidFill>
                    <a:srgbClr val="000000"/>
                  </a:solidFill>
                  <a:latin typeface="Twemoji Country Flags"/>
                </a:rPr>
                <a:t>             </a:t>
              </a:r>
              <a:r>
                <a:rPr lang="en-US" altLang="zh-CN" sz="2000" b="1" dirty="0">
                  <a:solidFill>
                    <a:srgbClr val="9900CC"/>
                  </a:solidFill>
                </a:rPr>
                <a:t>E:</a:t>
              </a:r>
              <a:r>
                <a:rPr lang="en-US" altLang="zh-CN" sz="2000" b="1" dirty="0">
                  <a:solidFill>
                    <a:srgbClr val="9900CC"/>
                  </a:solidFill>
                  <a:latin typeface="Twemoji Country Flags"/>
                </a:rPr>
                <a:t>Selection Input</a:t>
              </a:r>
              <a:endParaRPr lang="zh-CN" altLang="en-US" sz="2000" b="1" dirty="0">
                <a:solidFill>
                  <a:srgbClr val="9900CC"/>
                </a:solidFill>
                <a:latin typeface="Arial" panose="020B0604020202020204" pitchFamily="34" charset="0"/>
              </a:endParaRPr>
            </a:p>
          </p:txBody>
        </p:sp>
        <p:sp>
          <p:nvSpPr>
            <p:cNvPr id="116764" name="Rectangle 19"/>
            <p:cNvSpPr>
              <a:spLocks noChangeArrowheads="1"/>
            </p:cNvSpPr>
            <p:nvPr/>
          </p:nvSpPr>
          <p:spPr bwMode="auto">
            <a:xfrm>
              <a:off x="6301016" y="1811166"/>
              <a:ext cx="1157287" cy="1770450"/>
            </a:xfrm>
            <a:prstGeom prst="rect">
              <a:avLst/>
            </a:prstGeom>
            <a:solidFill>
              <a:srgbClr val="FFFFFF"/>
            </a:solidFill>
            <a:ln w="28575">
              <a:solidFill>
                <a:srgbClr val="000000"/>
              </a:solidFill>
              <a:miter lim="800000"/>
            </a:ln>
          </p:spPr>
          <p:txBody>
            <a:bodyPr lIns="0" tIns="18000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marL="8763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defTabSz="457200">
                <a:spcBef>
                  <a:spcPts val="1800"/>
                </a:spcBef>
              </a:pPr>
              <a:r>
                <a:rPr lang="en-US" altLang="zh-CN" sz="2400" b="1" dirty="0">
                  <a:solidFill>
                    <a:srgbClr val="0000CC"/>
                  </a:solidFill>
                  <a:latin typeface="Twemoji Country Flags"/>
                </a:rPr>
                <a:t>2ⁿ-to-1 Data Selector</a:t>
              </a:r>
              <a:endParaRPr lang="zh-CN" altLang="en-US" sz="2400" b="1" dirty="0">
                <a:solidFill>
                  <a:srgbClr val="0000CC"/>
                </a:solidFill>
                <a:latin typeface="Arial" panose="020B0604020202020204" pitchFamily="34" charset="0"/>
              </a:endParaRPr>
            </a:p>
          </p:txBody>
        </p:sp>
        <p:sp>
          <p:nvSpPr>
            <p:cNvPr id="116765" name="Line 20"/>
            <p:cNvSpPr>
              <a:spLocks noChangeShapeType="1"/>
            </p:cNvSpPr>
            <p:nvPr/>
          </p:nvSpPr>
          <p:spPr bwMode="auto">
            <a:xfrm>
              <a:off x="5721579" y="1930761"/>
              <a:ext cx="579437"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66" name="Line 21"/>
            <p:cNvSpPr>
              <a:spLocks noChangeShapeType="1"/>
            </p:cNvSpPr>
            <p:nvPr/>
          </p:nvSpPr>
          <p:spPr bwMode="auto">
            <a:xfrm>
              <a:off x="5721579" y="2402891"/>
              <a:ext cx="579437" cy="210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67" name="Line 22"/>
            <p:cNvSpPr>
              <a:spLocks noChangeShapeType="1"/>
            </p:cNvSpPr>
            <p:nvPr/>
          </p:nvSpPr>
          <p:spPr bwMode="auto">
            <a:xfrm>
              <a:off x="5756504" y="2518849"/>
              <a:ext cx="1587" cy="443138"/>
            </a:xfrm>
            <a:prstGeom prst="line">
              <a:avLst/>
            </a:prstGeom>
            <a:noFill/>
            <a:ln w="38100">
              <a:solidFill>
                <a:srgbClr val="FF0000"/>
              </a:solidFill>
              <a:prstDash val="sysDot"/>
              <a:roun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68" name="Line 23"/>
            <p:cNvSpPr>
              <a:spLocks noChangeShapeType="1"/>
            </p:cNvSpPr>
            <p:nvPr/>
          </p:nvSpPr>
          <p:spPr bwMode="auto">
            <a:xfrm>
              <a:off x="5721579" y="3344502"/>
              <a:ext cx="579437"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69" name="Line 24"/>
            <p:cNvSpPr>
              <a:spLocks noChangeShapeType="1"/>
            </p:cNvSpPr>
            <p:nvPr/>
          </p:nvSpPr>
          <p:spPr bwMode="auto">
            <a:xfrm flipV="1">
              <a:off x="6493104" y="3624831"/>
              <a:ext cx="1587" cy="66365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70" name="Line 25"/>
            <p:cNvSpPr>
              <a:spLocks noChangeShapeType="1"/>
            </p:cNvSpPr>
            <p:nvPr/>
          </p:nvSpPr>
          <p:spPr bwMode="auto">
            <a:xfrm flipV="1">
              <a:off x="7264629" y="3624831"/>
              <a:ext cx="1587" cy="663656"/>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71" name="Line 27"/>
            <p:cNvSpPr>
              <a:spLocks noChangeShapeType="1"/>
            </p:cNvSpPr>
            <p:nvPr/>
          </p:nvSpPr>
          <p:spPr bwMode="auto">
            <a:xfrm>
              <a:off x="7458304" y="2637632"/>
              <a:ext cx="579437" cy="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73" name="Rectangle 29"/>
            <p:cNvSpPr>
              <a:spLocks noChangeArrowheads="1"/>
            </p:cNvSpPr>
            <p:nvPr/>
          </p:nvSpPr>
          <p:spPr bwMode="auto">
            <a:xfrm>
              <a:off x="7623404" y="2631633"/>
              <a:ext cx="579437" cy="66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just" defTabSz="457200"/>
              <a:r>
                <a:rPr lang="en-US" altLang="zh-CN" sz="2400" b="1">
                  <a:solidFill>
                    <a:srgbClr val="000000"/>
                  </a:solidFill>
                </a:rPr>
                <a:t>Y</a:t>
              </a:r>
              <a:endParaRPr lang="en-US" altLang="zh-CN" sz="2400" b="1">
                <a:solidFill>
                  <a:srgbClr val="000000"/>
                </a:solidFill>
                <a:latin typeface="Arial" panose="020B0604020202020204" pitchFamily="34" charset="0"/>
              </a:endParaRPr>
            </a:p>
          </p:txBody>
        </p:sp>
        <p:sp>
          <p:nvSpPr>
            <p:cNvPr id="116774" name="Rectangle 30"/>
            <p:cNvSpPr>
              <a:spLocks noChangeArrowheads="1"/>
            </p:cNvSpPr>
            <p:nvPr/>
          </p:nvSpPr>
          <p:spPr bwMode="auto">
            <a:xfrm>
              <a:off x="5691416" y="1559294"/>
              <a:ext cx="519112" cy="166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spcBef>
                  <a:spcPts val="800"/>
                </a:spcBef>
              </a:pPr>
              <a:r>
                <a:rPr lang="en-US" altLang="zh-CN" sz="2400" b="1">
                  <a:solidFill>
                    <a:srgbClr val="FF0000"/>
                  </a:solidFill>
                </a:rPr>
                <a:t>I</a:t>
              </a:r>
              <a:r>
                <a:rPr lang="en-US" altLang="zh-CN" sz="2400" b="1" baseline="-25000">
                  <a:solidFill>
                    <a:srgbClr val="FF0000"/>
                  </a:solidFill>
                </a:rPr>
                <a:t>0</a:t>
              </a:r>
            </a:p>
            <a:p>
              <a:pPr marL="0" lvl="1" algn="just" defTabSz="457200">
                <a:spcBef>
                  <a:spcPts val="800"/>
                </a:spcBef>
              </a:pPr>
              <a:r>
                <a:rPr lang="en-US" altLang="zh-CN" sz="2400" b="1">
                  <a:solidFill>
                    <a:srgbClr val="FF0000"/>
                  </a:solidFill>
                </a:rPr>
                <a:t>I</a:t>
              </a:r>
              <a:r>
                <a:rPr lang="en-US" altLang="zh-CN" sz="2400" b="1" baseline="-25000">
                  <a:solidFill>
                    <a:srgbClr val="FF0000"/>
                  </a:solidFill>
                </a:rPr>
                <a:t>1</a:t>
              </a:r>
            </a:p>
            <a:p>
              <a:pPr marL="0" lvl="1" algn="just" defTabSz="457200">
                <a:spcBef>
                  <a:spcPts val="800"/>
                </a:spcBef>
              </a:pPr>
              <a:endParaRPr lang="en-US" altLang="zh-CN" sz="2400" b="1">
                <a:solidFill>
                  <a:srgbClr val="FF0000"/>
                </a:solidFill>
              </a:endParaRPr>
            </a:p>
            <a:p>
              <a:pPr marL="0" lvl="1" algn="just" defTabSz="457200">
                <a:spcBef>
                  <a:spcPts val="800"/>
                </a:spcBef>
              </a:pPr>
              <a:r>
                <a:rPr lang="en-US" altLang="zh-CN" sz="2400" b="1">
                  <a:solidFill>
                    <a:srgbClr val="FF0000"/>
                  </a:solidFill>
                </a:rPr>
                <a:t>I</a:t>
              </a:r>
              <a:r>
                <a:rPr lang="en-US" altLang="zh-CN" sz="2400" b="1" baseline="-25000">
                  <a:solidFill>
                    <a:srgbClr val="FF0000"/>
                  </a:solidFill>
                </a:rPr>
                <a:t>2</a:t>
              </a:r>
              <a:r>
                <a:rPr lang="en-US" altLang="zh-CN" sz="2400" b="1" baseline="30000">
                  <a:solidFill>
                    <a:srgbClr val="FF0000"/>
                  </a:solidFill>
                </a:rPr>
                <a:t>n-1</a:t>
              </a:r>
              <a:endParaRPr lang="en-US" altLang="zh-CN" sz="2400" b="1">
                <a:solidFill>
                  <a:srgbClr val="FF0000"/>
                </a:solidFill>
              </a:endParaRPr>
            </a:p>
          </p:txBody>
        </p:sp>
      </p:grpSp>
      <p:sp>
        <p:nvSpPr>
          <p:cNvPr id="116739" name="AutoShape 5"/>
          <p:cNvSpPr>
            <a:spLocks noChangeAspect="1" noChangeArrowheads="1"/>
          </p:cNvSpPr>
          <p:nvPr/>
        </p:nvSpPr>
        <p:spPr bwMode="auto">
          <a:xfrm>
            <a:off x="1636713" y="1028701"/>
            <a:ext cx="8623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sz="2400">
              <a:solidFill>
                <a:srgbClr val="000000"/>
              </a:solidFill>
            </a:endParaRPr>
          </a:p>
        </p:txBody>
      </p:sp>
      <p:grpSp>
        <p:nvGrpSpPr>
          <p:cNvPr id="5" name="组合 4"/>
          <p:cNvGrpSpPr/>
          <p:nvPr/>
        </p:nvGrpSpPr>
        <p:grpSpPr bwMode="auto">
          <a:xfrm>
            <a:off x="1936751" y="1241426"/>
            <a:ext cx="3945017" cy="3004365"/>
            <a:chOff x="412979" y="1096386"/>
            <a:chExt cx="3945017" cy="3004649"/>
          </a:xfrm>
        </p:grpSpPr>
        <p:sp>
          <p:nvSpPr>
            <p:cNvPr id="116749" name="Line 6"/>
            <p:cNvSpPr>
              <a:spLocks noChangeShapeType="1"/>
            </p:cNvSpPr>
            <p:nvPr/>
          </p:nvSpPr>
          <p:spPr bwMode="auto">
            <a:xfrm>
              <a:off x="1282929" y="1461006"/>
              <a:ext cx="1350962" cy="0"/>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0" name="Line 7"/>
            <p:cNvSpPr>
              <a:spLocks noChangeShapeType="1"/>
            </p:cNvSpPr>
            <p:nvPr/>
          </p:nvSpPr>
          <p:spPr bwMode="auto">
            <a:xfrm>
              <a:off x="1282929" y="1944183"/>
              <a:ext cx="965200" cy="2237"/>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1" name="Line 8"/>
            <p:cNvSpPr>
              <a:spLocks noChangeShapeType="1"/>
            </p:cNvSpPr>
            <p:nvPr/>
          </p:nvSpPr>
          <p:spPr bwMode="auto">
            <a:xfrm>
              <a:off x="1424216" y="2127611"/>
              <a:ext cx="1587" cy="469756"/>
            </a:xfrm>
            <a:prstGeom prst="line">
              <a:avLst/>
            </a:prstGeom>
            <a:noFill/>
            <a:ln w="38100">
              <a:solidFill>
                <a:srgbClr val="FF0000"/>
              </a:solidFill>
              <a:prstDash val="sysDot"/>
              <a:roun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2" name="Line 9"/>
            <p:cNvSpPr>
              <a:spLocks noChangeShapeType="1"/>
            </p:cNvSpPr>
            <p:nvPr/>
          </p:nvSpPr>
          <p:spPr bwMode="auto">
            <a:xfrm>
              <a:off x="1282929" y="3123046"/>
              <a:ext cx="1350962" cy="0"/>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3" name="Line 10"/>
            <p:cNvSpPr>
              <a:spLocks noChangeShapeType="1"/>
            </p:cNvSpPr>
            <p:nvPr/>
          </p:nvSpPr>
          <p:spPr bwMode="auto">
            <a:xfrm>
              <a:off x="3213329" y="2167876"/>
              <a:ext cx="771525" cy="0"/>
            </a:xfrm>
            <a:prstGeom prst="line">
              <a:avLst/>
            </a:prstGeom>
            <a:noFill/>
            <a:ln w="28575">
              <a:solidFill>
                <a:srgbClr val="000000"/>
              </a:solidFill>
              <a:round/>
              <a:headEnd type="oval" w="med" len="me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4" name="Line 11"/>
            <p:cNvSpPr>
              <a:spLocks noChangeShapeType="1"/>
            </p:cNvSpPr>
            <p:nvPr/>
          </p:nvSpPr>
          <p:spPr bwMode="auto">
            <a:xfrm flipH="1" flipV="1">
              <a:off x="2633891" y="1461006"/>
              <a:ext cx="579437" cy="706870"/>
            </a:xfrm>
            <a:prstGeom prst="line">
              <a:avLst/>
            </a:prstGeom>
            <a:noFill/>
            <a:ln w="28575">
              <a:solidFill>
                <a:srgbClr val="000000"/>
              </a:solidFill>
              <a:round/>
              <a:tailEnd type="triangle" w="med" len="me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5" name="Line 12"/>
            <p:cNvSpPr>
              <a:spLocks noChangeShapeType="1"/>
            </p:cNvSpPr>
            <p:nvPr/>
          </p:nvSpPr>
          <p:spPr bwMode="auto">
            <a:xfrm flipH="1">
              <a:off x="2960916" y="1930761"/>
              <a:ext cx="1587" cy="1885733"/>
            </a:xfrm>
            <a:prstGeom prst="line">
              <a:avLst/>
            </a:prstGeom>
            <a:noFill/>
            <a:ln w="19050">
              <a:solidFill>
                <a:srgbClr val="000000"/>
              </a:solidFill>
              <a:prstDash val="lgDash"/>
              <a:round/>
            </a:ln>
            <a:extLst>
              <a:ext uri="{909E8E84-426E-40DD-AFC4-6F175D3DCCD1}">
                <a14:hiddenFill xmlns:a14="http://schemas.microsoft.com/office/drawing/2010/main">
                  <a:noFill/>
                </a14:hiddenFill>
              </a:ext>
            </a:extLst>
          </p:spPr>
          <p:txBody>
            <a:bodyPr lIns="0" tIns="0" rIns="0" bIns="0"/>
            <a:lstStyle/>
            <a:p>
              <a:pPr defTabSz="457200"/>
              <a:endParaRPr lang="zh-CN" altLang="en-US">
                <a:solidFill>
                  <a:srgbClr val="000000"/>
                </a:solidFill>
                <a:latin typeface="Calibri" panose="020F0502020204030204"/>
                <a:ea typeface="宋体" panose="02010600030101010101" pitchFamily="2" charset="-122"/>
              </a:endParaRPr>
            </a:p>
          </p:txBody>
        </p:sp>
        <p:sp>
          <p:nvSpPr>
            <p:cNvPr id="116756" name="Rectangle 13"/>
            <p:cNvSpPr>
              <a:spLocks noChangeArrowheads="1"/>
            </p:cNvSpPr>
            <p:nvPr/>
          </p:nvSpPr>
          <p:spPr bwMode="auto">
            <a:xfrm>
              <a:off x="1343254" y="1096386"/>
              <a:ext cx="288925" cy="825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spcBef>
                  <a:spcPts val="800"/>
                </a:spcBef>
              </a:pPr>
              <a:r>
                <a:rPr lang="en-US" altLang="zh-CN" sz="2400" b="1">
                  <a:solidFill>
                    <a:srgbClr val="FF0000"/>
                  </a:solidFill>
                </a:rPr>
                <a:t>I</a:t>
              </a:r>
              <a:r>
                <a:rPr lang="en-US" altLang="zh-CN" sz="2400" b="1" baseline="-25000">
                  <a:solidFill>
                    <a:srgbClr val="FF0000"/>
                  </a:solidFill>
                </a:rPr>
                <a:t>0</a:t>
              </a:r>
            </a:p>
            <a:p>
              <a:pPr marL="0" lvl="1" algn="just" defTabSz="457200">
                <a:spcBef>
                  <a:spcPts val="800"/>
                </a:spcBef>
              </a:pPr>
              <a:r>
                <a:rPr lang="en-US" altLang="zh-CN" sz="2400" b="1">
                  <a:solidFill>
                    <a:srgbClr val="FF0000"/>
                  </a:solidFill>
                </a:rPr>
                <a:t>I</a:t>
              </a:r>
              <a:r>
                <a:rPr lang="en-US" altLang="zh-CN" sz="2400" b="1" baseline="-25000">
                  <a:solidFill>
                    <a:srgbClr val="FF0000"/>
                  </a:solidFill>
                </a:rPr>
                <a:t>1</a:t>
              </a:r>
            </a:p>
          </p:txBody>
        </p:sp>
        <p:sp>
          <p:nvSpPr>
            <p:cNvPr id="116757" name="Rectangle 14"/>
            <p:cNvSpPr>
              <a:spLocks noChangeArrowheads="1"/>
            </p:cNvSpPr>
            <p:nvPr/>
          </p:nvSpPr>
          <p:spPr bwMode="auto">
            <a:xfrm>
              <a:off x="1362304" y="2745004"/>
              <a:ext cx="649287" cy="58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r>
                <a:rPr lang="en-US" altLang="zh-CN" sz="2400" b="1">
                  <a:solidFill>
                    <a:srgbClr val="FF0000"/>
                  </a:solidFill>
                  <a:latin typeface="Arial" panose="020B0604020202020204" pitchFamily="34" charset="0"/>
                </a:rPr>
                <a:t>I</a:t>
              </a:r>
              <a:r>
                <a:rPr lang="en-US" altLang="zh-CN" sz="2400" b="1" baseline="-25000">
                  <a:solidFill>
                    <a:srgbClr val="FF0000"/>
                  </a:solidFill>
                  <a:latin typeface="Arial" panose="020B0604020202020204" pitchFamily="34" charset="0"/>
                </a:rPr>
                <a:t>2</a:t>
              </a:r>
              <a:r>
                <a:rPr lang="en-US" altLang="zh-CN" sz="2400" b="1" baseline="30000">
                  <a:solidFill>
                    <a:srgbClr val="FF0000"/>
                  </a:solidFill>
                  <a:latin typeface="Arial" panose="020B0604020202020204" pitchFamily="34" charset="0"/>
                </a:rPr>
                <a:t>n-1</a:t>
              </a:r>
              <a:endParaRPr lang="en-US" altLang="zh-CN" sz="2400" b="1">
                <a:solidFill>
                  <a:srgbClr val="FF0000"/>
                </a:solidFill>
                <a:latin typeface="Arial" panose="020B0604020202020204" pitchFamily="34" charset="0"/>
              </a:endParaRPr>
            </a:p>
          </p:txBody>
        </p:sp>
        <p:sp>
          <p:nvSpPr>
            <p:cNvPr id="116758" name="Rectangle 15"/>
            <p:cNvSpPr>
              <a:spLocks noChangeArrowheads="1"/>
            </p:cNvSpPr>
            <p:nvPr/>
          </p:nvSpPr>
          <p:spPr bwMode="auto">
            <a:xfrm>
              <a:off x="412979" y="2658113"/>
              <a:ext cx="858085" cy="626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r>
                <a:rPr lang="en-US" altLang="zh-CN" sz="2000" b="1" dirty="0">
                  <a:solidFill>
                    <a:srgbClr val="FF0000"/>
                  </a:solidFill>
                  <a:latin typeface="Twemoji Country Flags"/>
                </a:rPr>
                <a:t>Input Signals</a:t>
              </a:r>
              <a:endParaRPr lang="zh-CN" altLang="en-US" sz="2000" b="1" dirty="0">
                <a:solidFill>
                  <a:srgbClr val="FF0000"/>
                </a:solidFill>
              </a:endParaRPr>
            </a:p>
          </p:txBody>
        </p:sp>
        <p:sp>
          <p:nvSpPr>
            <p:cNvPr id="116759" name="Rectangle 16"/>
            <p:cNvSpPr>
              <a:spLocks noChangeArrowheads="1"/>
            </p:cNvSpPr>
            <p:nvPr/>
          </p:nvSpPr>
          <p:spPr bwMode="auto">
            <a:xfrm>
              <a:off x="3271966" y="1519136"/>
              <a:ext cx="874813" cy="6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defTabSz="457200"/>
              <a:r>
                <a:rPr lang="en-US" altLang="zh-CN" sz="2000" b="1" dirty="0">
                  <a:solidFill>
                    <a:srgbClr val="000000"/>
                  </a:solidFill>
                  <a:latin typeface="Twemoji Country Flags"/>
                </a:rPr>
                <a:t>Data Output</a:t>
              </a:r>
              <a:endParaRPr lang="zh-CN" altLang="en-US" sz="2000" b="1" dirty="0">
                <a:solidFill>
                  <a:srgbClr val="000000"/>
                </a:solidFill>
                <a:latin typeface="Arial" panose="020B0604020202020204" pitchFamily="34" charset="0"/>
              </a:endParaRPr>
            </a:p>
          </p:txBody>
        </p:sp>
        <p:sp>
          <p:nvSpPr>
            <p:cNvPr id="116760" name="Rectangle 17"/>
            <p:cNvSpPr>
              <a:spLocks noChangeArrowheads="1"/>
            </p:cNvSpPr>
            <p:nvPr/>
          </p:nvSpPr>
          <p:spPr bwMode="auto">
            <a:xfrm>
              <a:off x="3856266" y="2234984"/>
              <a:ext cx="385762" cy="351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indent="31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r>
                <a:rPr lang="en-US" altLang="zh-CN" sz="2400" b="1">
                  <a:solidFill>
                    <a:srgbClr val="000000"/>
                  </a:solidFill>
                </a:rPr>
                <a:t>Y</a:t>
              </a:r>
              <a:endParaRPr lang="en-US" altLang="zh-CN" sz="2400" b="1">
                <a:solidFill>
                  <a:srgbClr val="000000"/>
                </a:solidFill>
                <a:latin typeface="Arial" panose="020B0604020202020204" pitchFamily="34" charset="0"/>
              </a:endParaRPr>
            </a:p>
          </p:txBody>
        </p:sp>
        <p:sp>
          <p:nvSpPr>
            <p:cNvPr id="116761" name="Rectangle 18"/>
            <p:cNvSpPr>
              <a:spLocks noChangeArrowheads="1"/>
            </p:cNvSpPr>
            <p:nvPr/>
          </p:nvSpPr>
          <p:spPr bwMode="auto">
            <a:xfrm>
              <a:off x="1686947" y="3809791"/>
              <a:ext cx="2671049" cy="29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tabLst>
                  <a:tab pos="0" algn="l"/>
                </a:tabLst>
                <a:defRPr>
                  <a:solidFill>
                    <a:schemeClr val="tx1"/>
                  </a:solidFill>
                  <a:latin typeface="Times New Roman" panose="02020603050405020304" pitchFamily="18" charset="0"/>
                  <a:ea typeface="宋体" panose="02010600030101010101" pitchFamily="2" charset="-122"/>
                </a:defRPr>
              </a:lvl1pPr>
              <a:lvl2pPr algn="ctr">
                <a:tabLst>
                  <a:tab pos="0" algn="l"/>
                </a:tabLst>
                <a:defRPr>
                  <a:solidFill>
                    <a:schemeClr val="tx1"/>
                  </a:solidFill>
                  <a:latin typeface="Times New Roman" panose="02020603050405020304" pitchFamily="18" charset="0"/>
                  <a:ea typeface="宋体" panose="02010600030101010101" pitchFamily="2" charset="-122"/>
                </a:defRPr>
              </a:lvl2pPr>
              <a:lvl3pPr marL="1143000" indent="-228600" algn="ctr">
                <a:tabLst>
                  <a:tab pos="0" algn="l"/>
                </a:tabLst>
                <a:defRPr>
                  <a:solidFill>
                    <a:schemeClr val="tx1"/>
                  </a:solidFill>
                  <a:latin typeface="Times New Roman" panose="02020603050405020304" pitchFamily="18" charset="0"/>
                  <a:ea typeface="宋体" panose="02010600030101010101" pitchFamily="2" charset="-122"/>
                </a:defRPr>
              </a:lvl3pPr>
              <a:lvl4pPr marL="1600200" indent="-228600" algn="ctr">
                <a:tabLst>
                  <a:tab pos="0" algn="l"/>
                </a:tabLst>
                <a:defRPr>
                  <a:solidFill>
                    <a:schemeClr val="tx1"/>
                  </a:solidFill>
                  <a:latin typeface="Times New Roman" panose="02020603050405020304" pitchFamily="18" charset="0"/>
                  <a:ea typeface="宋体" panose="02010600030101010101" pitchFamily="2" charset="-122"/>
                </a:defRPr>
              </a:lvl4pPr>
              <a:lvl5pPr marL="2057400" indent="-228600" algn="ctr">
                <a:tabLst>
                  <a:tab pos="0" algn="l"/>
                </a:tabLst>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tabLst>
                  <a:tab pos="0" algn="l"/>
                </a:tabLst>
                <a:defRPr>
                  <a:solidFill>
                    <a:schemeClr val="tx1"/>
                  </a:solidFill>
                  <a:latin typeface="Times New Roman" panose="02020603050405020304" pitchFamily="18" charset="0"/>
                  <a:ea typeface="宋体" panose="02010600030101010101" pitchFamily="2" charset="-122"/>
                </a:defRPr>
              </a:lvl9pPr>
            </a:lstStyle>
            <a:p>
              <a:pPr marL="0" lvl="1" algn="l" defTabSz="457200"/>
              <a:r>
                <a:rPr lang="zh-CN" altLang="en-US" sz="2000" b="1" dirty="0">
                  <a:solidFill>
                    <a:srgbClr val="0000CC"/>
                  </a:solidFill>
                </a:rPr>
                <a:t>通道选择信号</a:t>
              </a:r>
              <a:endParaRPr lang="zh-CN" altLang="en-US" sz="2000" b="1" dirty="0">
                <a:solidFill>
                  <a:srgbClr val="0000CC"/>
                </a:solidFill>
                <a:latin typeface="Arial" panose="020B0604020202020204" pitchFamily="34" charset="0"/>
              </a:endParaRPr>
            </a:p>
            <a:p>
              <a:pPr marL="0" lvl="1" algn="l" defTabSz="457200"/>
              <a:r>
                <a:rPr lang="en-US" altLang="zh-CN" sz="2000" b="1" dirty="0">
                  <a:solidFill>
                    <a:srgbClr val="0000CC"/>
                  </a:solidFill>
                  <a:latin typeface="Calibri" panose="020F0502020204030204"/>
                </a:rPr>
                <a:t>Channel Selection Signal</a:t>
              </a:r>
              <a:endParaRPr lang="zh-CN" altLang="en-US" sz="2000" b="1" dirty="0">
                <a:solidFill>
                  <a:srgbClr val="0000CC"/>
                </a:solidFill>
                <a:latin typeface="Calibri" panose="020F0502020204030204"/>
              </a:endParaRPr>
            </a:p>
          </p:txBody>
        </p:sp>
      </p:grpSp>
      <p:sp>
        <p:nvSpPr>
          <p:cNvPr id="276512" name="Rectangle 32"/>
          <p:cNvSpPr>
            <a:spLocks noChangeArrowheads="1"/>
          </p:cNvSpPr>
          <p:nvPr/>
        </p:nvSpPr>
        <p:spPr bwMode="auto">
          <a:xfrm>
            <a:off x="2106617" y="5156198"/>
            <a:ext cx="3413126" cy="460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l" defTabSz="457200"/>
            <a:r>
              <a:rPr lang="en-US" altLang="zh-CN" sz="2400" b="1" dirty="0">
                <a:solidFill>
                  <a:srgbClr val="000000"/>
                </a:solidFill>
                <a:latin typeface="Calibri" panose="020F0502020204030204"/>
              </a:rPr>
              <a:t>(a)Schematic Diagram</a:t>
            </a:r>
            <a:endParaRPr lang="zh-CN" altLang="en-US" sz="2400" b="1" dirty="0">
              <a:solidFill>
                <a:srgbClr val="000000"/>
              </a:solidFill>
              <a:latin typeface="Calibri" panose="020F0502020204030204"/>
            </a:endParaRPr>
          </a:p>
        </p:txBody>
      </p:sp>
      <p:sp>
        <p:nvSpPr>
          <p:cNvPr id="276513" name="Rectangle 33"/>
          <p:cNvSpPr>
            <a:spLocks noChangeArrowheads="1"/>
          </p:cNvSpPr>
          <p:nvPr/>
        </p:nvSpPr>
        <p:spPr bwMode="auto">
          <a:xfrm>
            <a:off x="6693391" y="4845783"/>
            <a:ext cx="2884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defTabSz="457200"/>
            <a:r>
              <a:rPr lang="en-US" altLang="zh-CN" sz="2400" b="1" dirty="0">
                <a:solidFill>
                  <a:srgbClr val="000000"/>
                </a:solidFill>
                <a:latin typeface="Calibri" panose="020F0502020204030204"/>
              </a:rPr>
              <a:t>(b) Logic Diagram</a:t>
            </a:r>
            <a:endParaRPr lang="zh-CN" altLang="en-US" sz="2400" b="1" dirty="0">
              <a:solidFill>
                <a:srgbClr val="000000"/>
              </a:solidFill>
              <a:latin typeface="Calibri" panose="020F0502020204030204"/>
            </a:endParaRPr>
          </a:p>
        </p:txBody>
      </p:sp>
      <p:sp>
        <p:nvSpPr>
          <p:cNvPr id="276514" name="Rectangle 34"/>
          <p:cNvSpPr>
            <a:spLocks noChangeArrowheads="1"/>
          </p:cNvSpPr>
          <p:nvPr/>
        </p:nvSpPr>
        <p:spPr bwMode="auto">
          <a:xfrm>
            <a:off x="3138655" y="5567570"/>
            <a:ext cx="600392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l" defTabSz="457200"/>
            <a:r>
              <a:rPr lang="pt-BR" altLang="zh-CN" sz="2000" b="1" dirty="0">
                <a:solidFill>
                  <a:srgbClr val="990033"/>
                </a:solidFill>
              </a:rPr>
              <a:t>Figure 2-9: Data Selector Principle Diagram</a:t>
            </a:r>
            <a:endParaRPr lang="zh-CN" altLang="en-US" sz="2000" b="1" dirty="0">
              <a:solidFill>
                <a:srgbClr val="990033"/>
              </a:solidFill>
              <a:latin typeface="Arial" panose="020B0604020202020204" pitchFamily="34" charset="0"/>
            </a:endParaRPr>
          </a:p>
        </p:txBody>
      </p:sp>
      <p:sp>
        <p:nvSpPr>
          <p:cNvPr id="6" name="矩形 5"/>
          <p:cNvSpPr>
            <a:spLocks noChangeArrowheads="1"/>
          </p:cNvSpPr>
          <p:nvPr/>
        </p:nvSpPr>
        <p:spPr bwMode="auto">
          <a:xfrm>
            <a:off x="2335848" y="4701639"/>
            <a:ext cx="30956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marL="8763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lvl="1" algn="l" defTabSz="457200">
              <a:spcBef>
                <a:spcPts val="1800"/>
              </a:spcBef>
            </a:pPr>
            <a:r>
              <a:rPr lang="en-US" altLang="zh-CN" sz="2400" b="1" dirty="0">
                <a:solidFill>
                  <a:srgbClr val="0000CC"/>
                </a:solidFill>
                <a:latin typeface="Calibri" panose="020F0502020204030204"/>
              </a:rPr>
              <a:t>2ⁿ-to-1 Data Selector</a:t>
            </a:r>
            <a:endParaRPr lang="zh-CN" altLang="en-US" sz="2400" b="1" dirty="0">
              <a:solidFill>
                <a:srgbClr val="0000CC"/>
              </a:solidFill>
              <a:latin typeface="Calibri" panose="020F0502020204030204"/>
            </a:endParaRPr>
          </a:p>
        </p:txBody>
      </p:sp>
      <p:sp>
        <p:nvSpPr>
          <p:cNvPr id="7" name="标题 4"/>
          <p:cNvSpPr>
            <a:spLocks noGrp="1"/>
          </p:cNvSpPr>
          <p:nvPr>
            <p:ph type="title"/>
          </p:nvPr>
        </p:nvSpPr>
        <p:spPr>
          <a:xfrm>
            <a:off x="2346960" y="286605"/>
            <a:ext cx="7543800" cy="831478"/>
          </a:xfrm>
        </p:spPr>
        <p:txBody>
          <a:bodyPr>
            <a:normAutofit/>
          </a:bodyPr>
          <a:lstStyle/>
          <a:p>
            <a:r>
              <a:rPr lang="en-US" altLang="zh-CN" sz="3200" dirty="0"/>
              <a:t>2.Data Selector (Multiplexer) </a:t>
            </a:r>
            <a:endParaRPr lang="zh-CN" altLang="en-US" sz="3200" dirty="0"/>
          </a:p>
        </p:txBody>
      </p:sp>
      <p:sp>
        <p:nvSpPr>
          <p:cNvPr id="9" name="Rectangle 15"/>
          <p:cNvSpPr>
            <a:spLocks noChangeArrowheads="1"/>
          </p:cNvSpPr>
          <p:nvPr/>
        </p:nvSpPr>
        <p:spPr bwMode="auto">
          <a:xfrm>
            <a:off x="6515819" y="2842593"/>
            <a:ext cx="858085" cy="625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defTabSz="457200"/>
            <a:r>
              <a:rPr lang="en-US" altLang="zh-CN" sz="2000" b="1" dirty="0">
                <a:solidFill>
                  <a:srgbClr val="FF0000"/>
                </a:solidFill>
                <a:latin typeface="Twemoji Country Flags"/>
              </a:rPr>
              <a:t>Input Data</a:t>
            </a:r>
            <a:endParaRPr lang="zh-CN" altLang="en-US" sz="2000" b="1" dirty="0">
              <a:solidFill>
                <a:srgbClr val="FF0000"/>
              </a:solidFill>
            </a:endParaRPr>
          </a:p>
        </p:txBody>
      </p:sp>
      <p:sp>
        <p:nvSpPr>
          <p:cNvPr id="11" name="Rectangle 16"/>
          <p:cNvSpPr>
            <a:spLocks noChangeArrowheads="1"/>
          </p:cNvSpPr>
          <p:nvPr/>
        </p:nvSpPr>
        <p:spPr bwMode="auto">
          <a:xfrm>
            <a:off x="10300992" y="1784069"/>
            <a:ext cx="874813" cy="630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defTabSz="457200"/>
            <a:r>
              <a:rPr lang="en-US" altLang="zh-CN" sz="2000" b="1" dirty="0">
                <a:solidFill>
                  <a:srgbClr val="000000"/>
                </a:solidFill>
                <a:latin typeface="Twemoji Country Flags"/>
              </a:rPr>
              <a:t>Data Output</a:t>
            </a:r>
            <a:endParaRPr lang="zh-CN" altLang="en-US" sz="2000" b="1" dirty="0">
              <a:solidFill>
                <a:srgbClr val="000000"/>
              </a:solidFill>
              <a:latin typeface="Arial" panose="020B0604020202020204" pitchFamily="34" charset="0"/>
            </a:endParaRPr>
          </a:p>
        </p:txBody>
      </p:sp>
      <p:sp>
        <p:nvSpPr>
          <p:cNvPr id="2" name="Rectangle 15"/>
          <p:cNvSpPr>
            <a:spLocks noChangeArrowheads="1"/>
          </p:cNvSpPr>
          <p:nvPr/>
        </p:nvSpPr>
        <p:spPr bwMode="auto">
          <a:xfrm>
            <a:off x="2106617" y="1379909"/>
            <a:ext cx="385762" cy="1422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zh-CN" altLang="en-US" sz="2400" b="1" dirty="0">
                <a:solidFill>
                  <a:srgbClr val="FF0000"/>
                </a:solidFill>
              </a:rPr>
              <a:t>输</a:t>
            </a:r>
          </a:p>
          <a:p>
            <a:pPr marL="0" lvl="1" algn="just" eaLnBrk="1" hangingPunct="1"/>
            <a:r>
              <a:rPr lang="zh-CN" altLang="en-US" sz="2400" b="1" dirty="0">
                <a:solidFill>
                  <a:srgbClr val="FF0000"/>
                </a:solidFill>
              </a:rPr>
              <a:t>入</a:t>
            </a:r>
          </a:p>
          <a:p>
            <a:pPr marL="0" lvl="1" algn="just" eaLnBrk="1" hangingPunct="1"/>
            <a:r>
              <a:rPr lang="zh-CN" altLang="en-US" sz="2400" b="1" dirty="0">
                <a:solidFill>
                  <a:srgbClr val="FF0000"/>
                </a:solidFill>
              </a:rPr>
              <a:t>信</a:t>
            </a:r>
          </a:p>
          <a:p>
            <a:pPr marL="0" lvl="1" algn="just" eaLnBrk="1" hangingPunct="1"/>
            <a:r>
              <a:rPr lang="zh-CN" altLang="en-US" sz="2400" b="1" dirty="0">
                <a:solidFill>
                  <a:srgbClr val="FF0000"/>
                </a:solidFill>
              </a:rPr>
              <a:t>号</a:t>
            </a:r>
          </a:p>
        </p:txBody>
      </p:sp>
      <p:sp>
        <p:nvSpPr>
          <p:cNvPr id="3" name="Rectangle 16"/>
          <p:cNvSpPr>
            <a:spLocks noChangeArrowheads="1"/>
          </p:cNvSpPr>
          <p:nvPr/>
        </p:nvSpPr>
        <p:spPr bwMode="auto">
          <a:xfrm>
            <a:off x="4716264" y="1365625"/>
            <a:ext cx="1290637" cy="706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r>
              <a:rPr lang="zh-CN" altLang="en-US" sz="2400" b="1" dirty="0">
                <a:solidFill>
                  <a:srgbClr val="000000"/>
                </a:solidFill>
              </a:rPr>
              <a:t>数据输出</a:t>
            </a:r>
            <a:endParaRPr lang="zh-CN" altLang="en-US" sz="2400" b="1" dirty="0">
              <a:latin typeface="Arial" panose="020B0604020202020204" pitchFamily="34" charset="0"/>
            </a:endParaRPr>
          </a:p>
        </p:txBody>
      </p:sp>
      <p:sp>
        <p:nvSpPr>
          <p:cNvPr id="8" name="Rectangle 28"/>
          <p:cNvSpPr>
            <a:spLocks noChangeArrowheads="1"/>
          </p:cNvSpPr>
          <p:nvPr/>
        </p:nvSpPr>
        <p:spPr bwMode="auto">
          <a:xfrm>
            <a:off x="9651274" y="1735044"/>
            <a:ext cx="868218" cy="663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r>
              <a:rPr lang="zh-CN" altLang="en-US" sz="2400" b="1" dirty="0">
                <a:solidFill>
                  <a:srgbClr val="000000"/>
                </a:solidFill>
              </a:rPr>
              <a:t>数据输出</a:t>
            </a:r>
          </a:p>
          <a:p>
            <a:pPr algn="l" eaLnBrk="1" hangingPunct="1"/>
            <a:endParaRPr lang="en-US" altLang="zh-CN" sz="2400" b="1" dirty="0">
              <a:latin typeface="Arial" panose="020B0604020202020204" pitchFamily="34" charset="0"/>
            </a:endParaRPr>
          </a:p>
        </p:txBody>
      </p:sp>
      <p:sp>
        <p:nvSpPr>
          <p:cNvPr id="10" name="Rectangle 31"/>
          <p:cNvSpPr>
            <a:spLocks noChangeArrowheads="1"/>
          </p:cNvSpPr>
          <p:nvPr/>
        </p:nvSpPr>
        <p:spPr bwMode="auto">
          <a:xfrm>
            <a:off x="6655521" y="1434744"/>
            <a:ext cx="390232" cy="1386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just" eaLnBrk="1" hangingPunct="1"/>
            <a:r>
              <a:rPr lang="zh-CN" altLang="en-US" sz="2400" b="1" dirty="0">
                <a:solidFill>
                  <a:srgbClr val="FF0000"/>
                </a:solidFill>
              </a:rPr>
              <a:t>数</a:t>
            </a:r>
          </a:p>
          <a:p>
            <a:pPr marL="0" lvl="1" algn="just" eaLnBrk="1" hangingPunct="1"/>
            <a:r>
              <a:rPr lang="zh-CN" altLang="en-US" sz="2400" b="1" dirty="0">
                <a:solidFill>
                  <a:srgbClr val="FF0000"/>
                </a:solidFill>
              </a:rPr>
              <a:t>据</a:t>
            </a:r>
          </a:p>
          <a:p>
            <a:pPr marL="0" lvl="1" algn="just" eaLnBrk="1" hangingPunct="1"/>
            <a:r>
              <a:rPr lang="zh-CN" altLang="en-US" sz="2400" b="1" dirty="0">
                <a:solidFill>
                  <a:srgbClr val="FF0000"/>
                </a:solidFill>
              </a:rPr>
              <a:t>输</a:t>
            </a:r>
          </a:p>
          <a:p>
            <a:pPr marL="0" lvl="1" algn="just" eaLnBrk="1" hangingPunct="1"/>
            <a:r>
              <a:rPr lang="zh-CN" altLang="en-US" sz="2400" b="1" dirty="0">
                <a:solidFill>
                  <a:srgbClr val="FF0000"/>
                </a:solidFill>
              </a:rPr>
              <a:t>入</a:t>
            </a:r>
            <a:endParaRPr lang="zh-CN" altLang="en-US" sz="2400" b="1" dirty="0">
              <a:solidFill>
                <a:srgbClr val="FF0000"/>
              </a:solidFill>
              <a:latin typeface="Arial" panose="020B0604020202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7" name="Rectangle 3"/>
          <p:cNvSpPr>
            <a:spLocks noGrp="1" noChangeArrowheads="1"/>
          </p:cNvSpPr>
          <p:nvPr>
            <p:ph idx="1"/>
          </p:nvPr>
        </p:nvSpPr>
        <p:spPr>
          <a:xfrm>
            <a:off x="1873250" y="1200150"/>
            <a:ext cx="8234363" cy="1857376"/>
          </a:xfrm>
        </p:spPr>
        <p:txBody>
          <a:bodyPr>
            <a:normAutofit/>
          </a:bodyPr>
          <a:lstStyle/>
          <a:p>
            <a:pPr>
              <a:lnSpc>
                <a:spcPct val="110000"/>
              </a:lnSpc>
              <a:spcBef>
                <a:spcPts val="0"/>
              </a:spcBef>
              <a:spcAft>
                <a:spcPts val="0"/>
              </a:spcAft>
            </a:pPr>
            <a:r>
              <a:rPr lang="zh-CN" altLang="en-US" sz="1800" dirty="0"/>
              <a:t>常见的</a:t>
            </a:r>
            <a:r>
              <a:rPr lang="en-US" altLang="zh-CN" sz="1800" dirty="0"/>
              <a:t>8</a:t>
            </a:r>
            <a:r>
              <a:rPr lang="zh-CN" altLang="en-US" sz="1800" dirty="0"/>
              <a:t>选</a:t>
            </a:r>
            <a:r>
              <a:rPr lang="en-US" altLang="zh-CN" sz="1800" dirty="0"/>
              <a:t>1</a:t>
            </a:r>
            <a:r>
              <a:rPr lang="zh-CN" altLang="en-US" sz="1800" dirty="0"/>
              <a:t>数据选择器有</a:t>
            </a:r>
            <a:r>
              <a:rPr lang="en-US" altLang="zh-CN" sz="1800" dirty="0"/>
              <a:t>74151</a:t>
            </a:r>
            <a:r>
              <a:rPr lang="zh-CN" altLang="en-US" sz="1800" dirty="0"/>
              <a:t>、</a:t>
            </a:r>
            <a:r>
              <a:rPr lang="en-US" altLang="zh-CN" sz="1800" dirty="0"/>
              <a:t>74251</a:t>
            </a:r>
            <a:r>
              <a:rPr lang="zh-CN" altLang="en-US" sz="1800" dirty="0"/>
              <a:t>；</a:t>
            </a:r>
            <a:r>
              <a:rPr lang="en-US" altLang="zh-CN" sz="1800" dirty="0"/>
              <a:t>16</a:t>
            </a:r>
            <a:r>
              <a:rPr lang="zh-CN" altLang="en-US" sz="1800" dirty="0"/>
              <a:t>选</a:t>
            </a:r>
            <a:r>
              <a:rPr lang="en-US" altLang="zh-CN" sz="1800" dirty="0"/>
              <a:t>1</a:t>
            </a:r>
            <a:r>
              <a:rPr lang="zh-CN" altLang="en-US" sz="1800" dirty="0"/>
              <a:t>数据选择器有</a:t>
            </a:r>
            <a:r>
              <a:rPr lang="en-US" altLang="zh-CN" sz="1800" dirty="0"/>
              <a:t>74150</a:t>
            </a:r>
            <a:r>
              <a:rPr lang="zh-CN" altLang="en-US" sz="1800" dirty="0"/>
              <a:t>，也可以用两片</a:t>
            </a:r>
            <a:r>
              <a:rPr lang="en-US" altLang="zh-CN" sz="1800" dirty="0"/>
              <a:t>74151</a:t>
            </a:r>
            <a:r>
              <a:rPr lang="zh-CN" altLang="en-US" sz="1800" dirty="0"/>
              <a:t>连接起来构成。</a:t>
            </a:r>
            <a:endParaRPr lang="en-US" altLang="zh-CN" sz="1800" dirty="0"/>
          </a:p>
          <a:p>
            <a:pPr>
              <a:lnSpc>
                <a:spcPct val="110000"/>
              </a:lnSpc>
              <a:spcBef>
                <a:spcPts val="0"/>
              </a:spcBef>
              <a:spcAft>
                <a:spcPts val="0"/>
              </a:spcAft>
            </a:pPr>
            <a:r>
              <a:rPr lang="en-US" altLang="zh-CN" sz="1800" dirty="0"/>
              <a:t>Common chips include the 74151 and 74251 (8-to-1 data selectors) and the 74150 (16-to-1 data selector). Two 74151 chips can also be combined to create a 16-to-1 selector.</a:t>
            </a:r>
            <a:endParaRPr lang="zh-CN" altLang="en-US" sz="1800" dirty="0"/>
          </a:p>
        </p:txBody>
      </p:sp>
      <p:pic>
        <p:nvPicPr>
          <p:cNvPr id="1177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300" y="2482850"/>
            <a:ext cx="2533650" cy="3795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标题 4"/>
          <p:cNvSpPr>
            <a:spLocks noGrp="1"/>
          </p:cNvSpPr>
          <p:nvPr>
            <p:ph type="title"/>
          </p:nvPr>
        </p:nvSpPr>
        <p:spPr>
          <a:xfrm>
            <a:off x="2346960" y="286605"/>
            <a:ext cx="7543800" cy="831478"/>
          </a:xfrm>
        </p:spPr>
        <p:txBody>
          <a:bodyPr>
            <a:normAutofit/>
          </a:bodyPr>
          <a:lstStyle/>
          <a:p>
            <a:r>
              <a:rPr lang="en-US" altLang="zh-CN" sz="3200" dirty="0"/>
              <a:t>2.Data Selector (Multiplexer) </a:t>
            </a:r>
            <a:endParaRPr lang="zh-CN" altLang="en-US" sz="3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90" name="Rectangle 4"/>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1" name="Rectangle 5"/>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2" name="Rectangle 6"/>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3"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4" name="Rectangle 8"/>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5" name="Rectangle 9"/>
          <p:cNvSpPr>
            <a:spLocks noChangeArrowheads="1"/>
          </p:cNvSpPr>
          <p:nvPr/>
        </p:nvSpPr>
        <p:spPr bwMode="auto">
          <a:xfrm>
            <a:off x="6003635" y="3244334"/>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6" name="Rectangle 10"/>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7" name="Rectangle 11"/>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8" name="Rectangle 12"/>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799" name="Rectangle 13"/>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800" name="Rectangle 14"/>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801" name="Rectangle 15"/>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802" name="Rectangle 16"/>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803" name="Rectangle 1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8804" name="Rectangle 18"/>
          <p:cNvSpPr>
            <a:spLocks noChangeArrowheads="1"/>
          </p:cNvSpPr>
          <p:nvPr/>
        </p:nvSpPr>
        <p:spPr bwMode="auto">
          <a:xfrm>
            <a:off x="1524000" y="1"/>
            <a:ext cx="247650" cy="36671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defTabSz="457200"/>
            <a:r>
              <a:rPr lang="en-US" altLang="zh-CN">
                <a:solidFill>
                  <a:srgbClr val="000000"/>
                </a:solidFill>
                <a:latin typeface="Arial" panose="020B0604020202020204" pitchFamily="34" charset="0"/>
              </a:rPr>
              <a:t> </a:t>
            </a:r>
          </a:p>
        </p:txBody>
      </p:sp>
      <p:sp>
        <p:nvSpPr>
          <p:cNvPr id="21" name="Rectangle 3"/>
          <p:cNvSpPr txBox="1">
            <a:spLocks noChangeArrowheads="1"/>
          </p:cNvSpPr>
          <p:nvPr/>
        </p:nvSpPr>
        <p:spPr bwMode="auto">
          <a:xfrm>
            <a:off x="1097280" y="1246674"/>
            <a:ext cx="8772525" cy="4239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defTabSz="457200">
              <a:defRPr/>
            </a:pPr>
            <a:r>
              <a:rPr lang="zh-CN" altLang="en-US" sz="2000" kern="0" dirty="0"/>
              <a:t>计算机的三总线是数据总线、地址总线和控制总线。</a:t>
            </a:r>
          </a:p>
          <a:p>
            <a:pPr algn="l" defTabSz="457200">
              <a:defRPr/>
            </a:pPr>
            <a:r>
              <a:rPr lang="en-US" altLang="zh-CN" sz="2000" kern="0" dirty="0">
                <a:solidFill>
                  <a:srgbClr val="BD582C"/>
                </a:solidFill>
                <a:latin typeface="Calibri" panose="020F0502020204030204"/>
                <a:ea typeface="宋体" panose="02010600030101010101" pitchFamily="2" charset="-122"/>
              </a:rPr>
              <a:t>The three buses of a computer are the data bus, the address bus and the control bus.</a:t>
            </a:r>
          </a:p>
          <a:p>
            <a:pPr algn="l" defTabSz="457200">
              <a:defRPr/>
            </a:pPr>
            <a:r>
              <a:rPr lang="zh-CN" altLang="en-US" sz="2000" kern="0" dirty="0"/>
              <a:t>当计算机向一个芯片</a:t>
            </a:r>
            <a:r>
              <a:rPr lang="zh-CN" altLang="en-US" sz="2000" kern="0" dirty="0">
                <a:solidFill>
                  <a:srgbClr val="C00000"/>
                </a:solidFill>
              </a:rPr>
              <a:t>送出一个数据</a:t>
            </a:r>
            <a:r>
              <a:rPr lang="zh-CN" altLang="en-US" sz="2000" kern="0" dirty="0"/>
              <a:t>时，还要通过</a:t>
            </a:r>
            <a:r>
              <a:rPr lang="zh-CN" altLang="en-US" sz="2000" kern="0" dirty="0">
                <a:solidFill>
                  <a:srgbClr val="FF0000"/>
                </a:solidFill>
              </a:rPr>
              <a:t>地址总线送出</a:t>
            </a:r>
            <a:r>
              <a:rPr lang="zh-CN" altLang="en-US" sz="2000" kern="0" dirty="0"/>
              <a:t>与这个芯片对应</a:t>
            </a:r>
            <a:r>
              <a:rPr lang="zh-CN" altLang="en-US" sz="2000" kern="0" dirty="0">
                <a:solidFill>
                  <a:srgbClr val="FF0000"/>
                </a:solidFill>
              </a:rPr>
              <a:t>地址码</a:t>
            </a:r>
            <a:r>
              <a:rPr lang="zh-CN" altLang="en-US" sz="2000" kern="0" dirty="0"/>
              <a:t>和相应的</a:t>
            </a:r>
            <a:r>
              <a:rPr lang="zh-CN" altLang="en-US" sz="2000" kern="0" dirty="0">
                <a:solidFill>
                  <a:srgbClr val="9900CC"/>
                </a:solidFill>
              </a:rPr>
              <a:t>控制信号</a:t>
            </a:r>
            <a:r>
              <a:rPr lang="zh-CN" altLang="en-US" sz="2000" kern="0" dirty="0"/>
              <a:t>，这个地址码是由硬件电路的连接确定的。计算机通过地址总线和</a:t>
            </a:r>
            <a:r>
              <a:rPr lang="zh-CN" altLang="en-US" sz="2000" kern="0" dirty="0">
                <a:solidFill>
                  <a:srgbClr val="FF0000"/>
                </a:solidFill>
              </a:rPr>
              <a:t>地址译码器</a:t>
            </a:r>
            <a:r>
              <a:rPr lang="zh-CN" altLang="en-US" sz="2000" kern="0" dirty="0"/>
              <a:t>找到确定的芯片，再由控制信号配合，完成对应的数据传送。</a:t>
            </a:r>
          </a:p>
          <a:p>
            <a:pPr algn="l" defTabSz="457200">
              <a:defRPr/>
            </a:pPr>
            <a:r>
              <a:rPr lang="en-US" altLang="zh-CN" sz="2000" kern="0" dirty="0">
                <a:solidFill>
                  <a:srgbClr val="BD582C"/>
                </a:solidFill>
                <a:latin typeface="Calibri" panose="020F0502020204030204"/>
                <a:ea typeface="宋体" panose="02010600030101010101" pitchFamily="2" charset="-122"/>
              </a:rPr>
              <a:t>When a computer </a:t>
            </a:r>
            <a:r>
              <a:rPr lang="en-US" altLang="zh-CN" sz="2000" kern="0" dirty="0">
                <a:solidFill>
                  <a:srgbClr val="C00000"/>
                </a:solidFill>
                <a:latin typeface="Calibri" panose="020F0502020204030204"/>
                <a:ea typeface="宋体" panose="02010600030101010101" pitchFamily="2" charset="-122"/>
              </a:rPr>
              <a:t>sends data </a:t>
            </a:r>
            <a:r>
              <a:rPr lang="en-US" altLang="zh-CN" sz="2000" kern="0" dirty="0">
                <a:solidFill>
                  <a:srgbClr val="BD582C"/>
                </a:solidFill>
                <a:latin typeface="Calibri" panose="020F0502020204030204"/>
                <a:ea typeface="宋体" panose="02010600030101010101" pitchFamily="2" charset="-122"/>
              </a:rPr>
              <a:t>to a chip, it must simultaneously transmit the corresponding </a:t>
            </a:r>
            <a:r>
              <a:rPr lang="en-US" altLang="zh-CN" sz="2000" kern="0" dirty="0">
                <a:solidFill>
                  <a:srgbClr val="FF0000"/>
                </a:solidFill>
                <a:latin typeface="Calibri" panose="020F0502020204030204"/>
                <a:ea typeface="宋体" panose="02010600030101010101" pitchFamily="2" charset="-122"/>
              </a:rPr>
              <a:t>address code </a:t>
            </a:r>
            <a:r>
              <a:rPr lang="en-US" altLang="zh-CN" sz="2000" kern="0" dirty="0">
                <a:solidFill>
                  <a:srgbClr val="BD582C"/>
                </a:solidFill>
                <a:latin typeface="Calibri" panose="020F0502020204030204"/>
                <a:ea typeface="宋体" panose="02010600030101010101" pitchFamily="2" charset="-122"/>
              </a:rPr>
              <a:t>and </a:t>
            </a:r>
            <a:r>
              <a:rPr lang="en-US" altLang="zh-CN" sz="2000" kern="0" dirty="0">
                <a:solidFill>
                  <a:srgbClr val="7030A0"/>
                </a:solidFill>
                <a:latin typeface="Calibri" panose="020F0502020204030204"/>
                <a:ea typeface="宋体" panose="02010600030101010101" pitchFamily="2" charset="-122"/>
              </a:rPr>
              <a:t>control signals </a:t>
            </a:r>
            <a:r>
              <a:rPr lang="en-US" altLang="zh-CN" sz="2000" kern="0" dirty="0">
                <a:solidFill>
                  <a:srgbClr val="BD582C"/>
                </a:solidFill>
                <a:latin typeface="Calibri" panose="020F0502020204030204"/>
                <a:ea typeface="宋体" panose="02010600030101010101" pitchFamily="2" charset="-122"/>
              </a:rPr>
              <a:t>through the </a:t>
            </a:r>
            <a:r>
              <a:rPr lang="en-US" altLang="zh-CN" sz="2000" kern="0" dirty="0">
                <a:solidFill>
                  <a:srgbClr val="FF0000"/>
                </a:solidFill>
                <a:latin typeface="Calibri" panose="020F0502020204030204"/>
                <a:ea typeface="宋体" panose="02010600030101010101" pitchFamily="2" charset="-122"/>
              </a:rPr>
              <a:t>address bus</a:t>
            </a:r>
            <a:r>
              <a:rPr lang="en-US" altLang="zh-CN" sz="2000" kern="0" dirty="0">
                <a:solidFill>
                  <a:srgbClr val="BD582C"/>
                </a:solidFill>
                <a:latin typeface="Calibri" panose="020F0502020204030204"/>
                <a:ea typeface="宋体" panose="02010600030101010101" pitchFamily="2" charset="-122"/>
              </a:rPr>
              <a:t>. The address code is determined by the connections of hardware circuits. The computer identifies the specific chip via the address bus and </a:t>
            </a:r>
            <a:r>
              <a:rPr lang="en-US" altLang="zh-CN" sz="2000" kern="0" dirty="0">
                <a:solidFill>
                  <a:srgbClr val="FF0000"/>
                </a:solidFill>
                <a:latin typeface="Calibri" panose="020F0502020204030204"/>
                <a:ea typeface="宋体" panose="02010600030101010101" pitchFamily="2" charset="-122"/>
              </a:rPr>
              <a:t>address decoder</a:t>
            </a:r>
            <a:r>
              <a:rPr lang="en-US" altLang="zh-CN" sz="2000" kern="0" dirty="0">
                <a:solidFill>
                  <a:srgbClr val="BD582C"/>
                </a:solidFill>
                <a:latin typeface="Calibri" panose="020F0502020204030204"/>
                <a:ea typeface="宋体" panose="02010600030101010101" pitchFamily="2" charset="-122"/>
              </a:rPr>
              <a:t>, then coordinates with control signals to complete the targeted data transfer.</a:t>
            </a:r>
          </a:p>
        </p:txBody>
      </p:sp>
      <p:sp>
        <p:nvSpPr>
          <p:cNvPr id="3" name="标题 2"/>
          <p:cNvSpPr>
            <a:spLocks noGrp="1"/>
          </p:cNvSpPr>
          <p:nvPr>
            <p:ph type="title"/>
          </p:nvPr>
        </p:nvSpPr>
        <p:spPr>
          <a:xfrm>
            <a:off x="1097280" y="495305"/>
            <a:ext cx="10058400" cy="622778"/>
          </a:xfrm>
        </p:spPr>
        <p:txBody>
          <a:bodyPr>
            <a:normAutofit/>
          </a:bodyPr>
          <a:lstStyle/>
          <a:p>
            <a:r>
              <a:rPr lang="en-US" altLang="zh-CN" sz="3200" dirty="0">
                <a:latin typeface="宋体" panose="02010600030101010101" pitchFamily="2" charset="-122"/>
              </a:rPr>
              <a:t>3</a:t>
            </a:r>
            <a:r>
              <a:rPr lang="zh-CN" altLang="en-US" sz="3200" dirty="0">
                <a:latin typeface="宋体" panose="02010600030101010101" pitchFamily="2" charset="-122"/>
              </a:rPr>
              <a:t>、译码器 </a:t>
            </a:r>
            <a:r>
              <a:rPr lang="en-US" altLang="zh-CN" sz="3200" dirty="0"/>
              <a:t>3.Decoder</a:t>
            </a:r>
            <a:endParaRPr lang="zh-CN" altLang="en-US" sz="3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5" name="Rectangle 3"/>
          <p:cNvSpPr>
            <a:spLocks noGrp="1" noChangeArrowheads="1"/>
          </p:cNvSpPr>
          <p:nvPr>
            <p:ph idx="1"/>
          </p:nvPr>
        </p:nvSpPr>
        <p:spPr>
          <a:xfrm>
            <a:off x="6126480" y="1248756"/>
            <a:ext cx="4904315" cy="1582789"/>
          </a:xfrm>
        </p:spPr>
        <p:txBody>
          <a:bodyPr>
            <a:normAutofit lnSpcReduction="10000"/>
          </a:bodyPr>
          <a:lstStyle/>
          <a:p>
            <a:pPr marL="0" indent="0">
              <a:spcBef>
                <a:spcPct val="0"/>
              </a:spcBef>
            </a:pPr>
            <a:r>
              <a:rPr lang="en-US" altLang="zh-CN" sz="1600" dirty="0"/>
              <a:t>The system translates input code combinations into corresponding control outputs. When there are n input signals, the output can have up to 2</a:t>
            </a:r>
            <a:r>
              <a:rPr lang="en-US" altLang="zh-CN" sz="1600" baseline="30000" dirty="0"/>
              <a:t>n</a:t>
            </a:r>
            <a:r>
              <a:rPr lang="en-US" altLang="zh-CN" sz="1600" dirty="0"/>
              <a:t> possible states. During normal operation, only one of these 2</a:t>
            </a:r>
            <a:r>
              <a:rPr lang="en-US" altLang="zh-CN" sz="1600" baseline="30000" dirty="0"/>
              <a:t>n</a:t>
            </a:r>
            <a:r>
              <a:rPr lang="en-US" altLang="zh-CN" sz="1600" dirty="0"/>
              <a:t> outputs will be at a low level (or high level), while the remaining 2</a:t>
            </a:r>
            <a:r>
              <a:rPr lang="en-US" altLang="zh-CN" sz="1600" baseline="30000" dirty="0"/>
              <a:t>n-1</a:t>
            </a:r>
            <a:r>
              <a:rPr lang="en-US" altLang="zh-CN" sz="1600" dirty="0"/>
              <a:t> outputs will all be at a high level (or low level).</a:t>
            </a:r>
          </a:p>
          <a:p>
            <a:pPr marL="0" indent="0">
              <a:spcBef>
                <a:spcPct val="0"/>
              </a:spcBef>
            </a:pPr>
            <a:r>
              <a:rPr lang="en-US" altLang="zh-CN" sz="1600" dirty="0">
                <a:solidFill>
                  <a:srgbClr val="FF0000"/>
                </a:solidFill>
              </a:rPr>
              <a:t>74138</a:t>
            </a:r>
            <a:r>
              <a:rPr lang="en-US" altLang="zh-CN" sz="1600" dirty="0"/>
              <a:t> is a commonly used decoder circuit chip.</a:t>
            </a:r>
          </a:p>
        </p:txBody>
      </p:sp>
      <p:sp>
        <p:nvSpPr>
          <p:cNvPr id="119814" name="Rectangle 4"/>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9815" name="Rectangle 5"/>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9816" name="Rectangle 6"/>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19817"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endParaRPr lang="zh-CN" altLang="en-US">
              <a:solidFill>
                <a:srgbClr val="000000"/>
              </a:solidFill>
            </a:endParaRPr>
          </a:p>
        </p:txBody>
      </p:sp>
      <p:sp>
        <p:nvSpPr>
          <p:cNvPr id="14" name="Rectangle 4"/>
          <p:cNvSpPr>
            <a:spLocks noChangeArrowheads="1"/>
          </p:cNvSpPr>
          <p:nvPr/>
        </p:nvSpPr>
        <p:spPr bwMode="auto">
          <a:xfrm>
            <a:off x="7270993" y="5676371"/>
            <a:ext cx="3224212" cy="577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lnSpc>
                <a:spcPct val="150000"/>
              </a:lnSpc>
              <a:spcAft>
                <a:spcPts val="1200"/>
              </a:spcAft>
            </a:pPr>
            <a:r>
              <a:rPr lang="en-US" altLang="zh-CN" sz="2400" dirty="0">
                <a:solidFill>
                  <a:srgbClr val="990033"/>
                </a:solidFill>
                <a:latin typeface="Arial" panose="020B0604020202020204" pitchFamily="34" charset="0"/>
              </a:rPr>
              <a:t>74LS138 truth table</a:t>
            </a:r>
          </a:p>
        </p:txBody>
      </p:sp>
      <p:pic>
        <p:nvPicPr>
          <p:cNvPr id="15" name="Picture 5" descr="74LS138真值表"/>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783" y="2700499"/>
            <a:ext cx="5217055" cy="3064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7"/>
          <p:cNvGrpSpPr/>
          <p:nvPr/>
        </p:nvGrpSpPr>
        <p:grpSpPr bwMode="auto">
          <a:xfrm>
            <a:off x="7538511" y="2700499"/>
            <a:ext cx="2287587" cy="2903537"/>
            <a:chOff x="6663423" y="3313340"/>
            <a:chExt cx="2286665" cy="2902794"/>
          </a:xfrm>
        </p:grpSpPr>
        <p:pic>
          <p:nvPicPr>
            <p:cNvPr id="1198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3423" y="3313340"/>
              <a:ext cx="2286665" cy="29027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9823" name="矩形 4"/>
            <p:cNvSpPr>
              <a:spLocks noChangeArrowheads="1"/>
            </p:cNvSpPr>
            <p:nvPr/>
          </p:nvSpPr>
          <p:spPr bwMode="auto">
            <a:xfrm>
              <a:off x="7257142" y="4566982"/>
              <a:ext cx="833883" cy="400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defTabSz="457200"/>
              <a:r>
                <a:rPr lang="en-US" altLang="zh-CN" sz="2000" b="1">
                  <a:solidFill>
                    <a:srgbClr val="000000"/>
                  </a:solidFill>
                  <a:latin typeface="宋体" panose="02010600030101010101" pitchFamily="2" charset="-122"/>
                </a:rPr>
                <a:t>74138</a:t>
              </a:r>
              <a:endParaRPr lang="zh-CN" altLang="en-US" sz="2000" b="1">
                <a:solidFill>
                  <a:srgbClr val="000000"/>
                </a:solidFill>
              </a:endParaRPr>
            </a:p>
          </p:txBody>
        </p:sp>
      </p:grpSp>
      <p:cxnSp>
        <p:nvCxnSpPr>
          <p:cNvPr id="7" name="直接箭头连接符 6"/>
          <p:cNvCxnSpPr>
            <a:cxnSpLocks noChangeShapeType="1"/>
          </p:cNvCxnSpPr>
          <p:nvPr/>
        </p:nvCxnSpPr>
        <p:spPr bwMode="auto">
          <a:xfrm flipH="1" flipV="1">
            <a:off x="6790255" y="5604036"/>
            <a:ext cx="317500" cy="169863"/>
          </a:xfrm>
          <a:prstGeom prst="straightConnector1">
            <a:avLst/>
          </a:prstGeom>
          <a:noFill/>
          <a:ln w="9525" algn="ctr">
            <a:solidFill>
              <a:srgbClr val="FF0000"/>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标题 2"/>
          <p:cNvSpPr>
            <a:spLocks noGrp="1"/>
          </p:cNvSpPr>
          <p:nvPr>
            <p:ph type="title"/>
          </p:nvPr>
        </p:nvSpPr>
        <p:spPr/>
        <p:txBody>
          <a:bodyPr>
            <a:normAutofit/>
          </a:bodyPr>
          <a:lstStyle/>
          <a:p>
            <a:r>
              <a:rPr lang="zh-CN" altLang="en-US" sz="3200" dirty="0">
                <a:latin typeface="宋体" panose="02010600030101010101" pitchFamily="2" charset="-122"/>
              </a:rPr>
              <a:t>译码器电路的功能 </a:t>
            </a:r>
            <a:r>
              <a:rPr lang="en-US" altLang="zh-CN" sz="3200" dirty="0"/>
              <a:t>Decoder Circuit Function</a:t>
            </a:r>
            <a:endParaRPr lang="zh-CN" altLang="en-US" sz="3200" dirty="0"/>
          </a:p>
        </p:txBody>
      </p:sp>
      <p:sp>
        <p:nvSpPr>
          <p:cNvPr id="6" name="文本框 5"/>
          <p:cNvSpPr txBox="1"/>
          <p:nvPr/>
        </p:nvSpPr>
        <p:spPr>
          <a:xfrm>
            <a:off x="1097280" y="1248756"/>
            <a:ext cx="5060950" cy="1384995"/>
          </a:xfrm>
          <a:prstGeom prst="rect">
            <a:avLst/>
          </a:prstGeom>
          <a:noFill/>
        </p:spPr>
        <p:txBody>
          <a:bodyPr wrap="square">
            <a:spAutoFit/>
          </a:bodyPr>
          <a:lstStyle/>
          <a:p>
            <a:pPr marL="0" indent="0" eaLnBrk="1" hangingPunct="1">
              <a:spcBef>
                <a:spcPct val="0"/>
              </a:spcBef>
            </a:pPr>
            <a:r>
              <a:rPr lang="en-US" altLang="zh-CN" dirty="0"/>
              <a:t>  </a:t>
            </a:r>
            <a:r>
              <a:rPr lang="zh-CN" altLang="en-US" sz="1600" dirty="0"/>
              <a:t>把一组输入代码的状态组合翻译成相应输出的控制电位，若输入信号有</a:t>
            </a:r>
            <a:r>
              <a:rPr lang="en-US" altLang="zh-CN" sz="1600" dirty="0"/>
              <a:t>n</a:t>
            </a:r>
            <a:r>
              <a:rPr lang="zh-CN" altLang="en-US" sz="1600" dirty="0"/>
              <a:t>个，其输出最多可以有</a:t>
            </a:r>
            <a:r>
              <a:rPr lang="en-US" altLang="zh-CN" sz="1600" dirty="0"/>
              <a:t>2</a:t>
            </a:r>
            <a:r>
              <a:rPr lang="en-US" altLang="zh-CN" sz="1600" baseline="30000" dirty="0"/>
              <a:t>n</a:t>
            </a:r>
            <a:r>
              <a:rPr lang="zh-CN" altLang="en-US" sz="1600" dirty="0"/>
              <a:t>个。正常输出时，</a:t>
            </a:r>
            <a:r>
              <a:rPr lang="en-US" altLang="zh-CN" sz="1600" dirty="0"/>
              <a:t>2</a:t>
            </a:r>
            <a:r>
              <a:rPr lang="en-US" altLang="zh-CN" sz="1600" baseline="30000" dirty="0"/>
              <a:t>n</a:t>
            </a:r>
            <a:r>
              <a:rPr lang="zh-CN" altLang="en-US" sz="1600" dirty="0"/>
              <a:t>个输出中仅有一个输出为低电平</a:t>
            </a:r>
            <a:r>
              <a:rPr lang="en-US" altLang="zh-CN" sz="1600" dirty="0"/>
              <a:t>(</a:t>
            </a:r>
            <a:r>
              <a:rPr lang="zh-CN" altLang="en-US" sz="1600" dirty="0"/>
              <a:t>或高电平</a:t>
            </a:r>
            <a:r>
              <a:rPr lang="en-US" altLang="zh-CN" sz="1600" dirty="0"/>
              <a:t>)</a:t>
            </a:r>
            <a:r>
              <a:rPr lang="zh-CN" altLang="en-US" sz="1600" dirty="0"/>
              <a:t>，其他</a:t>
            </a:r>
            <a:r>
              <a:rPr lang="en-US" altLang="zh-CN" sz="1600" dirty="0"/>
              <a:t>2</a:t>
            </a:r>
            <a:r>
              <a:rPr lang="en-US" altLang="zh-CN" sz="1600" baseline="30000" dirty="0"/>
              <a:t>n</a:t>
            </a:r>
            <a:r>
              <a:rPr lang="zh-CN" altLang="en-US" sz="1600" baseline="30000" dirty="0"/>
              <a:t>－</a:t>
            </a:r>
            <a:r>
              <a:rPr lang="en-US" altLang="zh-CN" sz="1600" baseline="30000" dirty="0"/>
              <a:t>1</a:t>
            </a:r>
            <a:r>
              <a:rPr lang="zh-CN" altLang="en-US" sz="1600" dirty="0"/>
              <a:t>个  输出均为高电平</a:t>
            </a:r>
            <a:r>
              <a:rPr lang="en-US" altLang="zh-CN" sz="1600" dirty="0"/>
              <a:t>(</a:t>
            </a:r>
            <a:r>
              <a:rPr lang="zh-CN" altLang="en-US" sz="1600" dirty="0"/>
              <a:t>或低电平</a:t>
            </a:r>
            <a:r>
              <a:rPr lang="en-US" altLang="zh-CN" sz="1600" dirty="0"/>
              <a:t>)</a:t>
            </a:r>
            <a:r>
              <a:rPr lang="zh-CN" altLang="en-US" sz="1600" dirty="0"/>
              <a:t>。</a:t>
            </a:r>
            <a:endParaRPr lang="en-US" altLang="zh-CN" sz="1600" dirty="0"/>
          </a:p>
          <a:p>
            <a:pPr>
              <a:spcBef>
                <a:spcPct val="0"/>
              </a:spcBef>
            </a:pPr>
            <a:r>
              <a:rPr lang="en-US" altLang="zh-CN" sz="1600" dirty="0">
                <a:solidFill>
                  <a:srgbClr val="FF0000"/>
                </a:solidFill>
              </a:rPr>
              <a:t>  74138</a:t>
            </a:r>
            <a:r>
              <a:rPr lang="zh-CN" altLang="en-US" sz="1600" dirty="0"/>
              <a:t>就是常用的译码器电路芯片。</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7" name="Rectangle 3"/>
          <p:cNvSpPr>
            <a:spLocks noGrp="1" noChangeArrowheads="1"/>
          </p:cNvSpPr>
          <p:nvPr>
            <p:ph idx="1"/>
          </p:nvPr>
        </p:nvSpPr>
        <p:spPr>
          <a:xfrm>
            <a:off x="1397000" y="1252538"/>
            <a:ext cx="8756650" cy="4716462"/>
          </a:xfrm>
        </p:spPr>
        <p:txBody>
          <a:bodyPr>
            <a:normAutofit fontScale="92500"/>
          </a:bodyPr>
          <a:lstStyle/>
          <a:p>
            <a:pPr marL="0" indent="0" eaLnBrk="1" hangingPunct="1">
              <a:lnSpc>
                <a:spcPct val="134000"/>
              </a:lnSpc>
              <a:buNone/>
            </a:pPr>
            <a:r>
              <a:rPr lang="en-US" altLang="zh-CN" dirty="0">
                <a:solidFill>
                  <a:srgbClr val="FF0000"/>
                </a:solidFill>
              </a:rPr>
              <a:t>74138</a:t>
            </a:r>
            <a:r>
              <a:rPr lang="zh-CN" altLang="en-US" dirty="0"/>
              <a:t>是具有</a:t>
            </a:r>
            <a:r>
              <a:rPr lang="en-US" altLang="zh-CN" dirty="0">
                <a:solidFill>
                  <a:srgbClr val="FF0000"/>
                </a:solidFill>
              </a:rPr>
              <a:t>3</a:t>
            </a:r>
            <a:r>
              <a:rPr lang="zh-CN" altLang="en-US" dirty="0">
                <a:solidFill>
                  <a:srgbClr val="FF0000"/>
                </a:solidFill>
              </a:rPr>
              <a:t>个输入、</a:t>
            </a:r>
            <a:r>
              <a:rPr lang="en-US" altLang="zh-CN" dirty="0">
                <a:solidFill>
                  <a:srgbClr val="FF0000"/>
                </a:solidFill>
              </a:rPr>
              <a:t>8</a:t>
            </a:r>
            <a:r>
              <a:rPr lang="zh-CN" altLang="en-US" dirty="0">
                <a:solidFill>
                  <a:srgbClr val="FF0000"/>
                </a:solidFill>
              </a:rPr>
              <a:t>个输出</a:t>
            </a:r>
            <a:r>
              <a:rPr lang="zh-CN" altLang="en-US" dirty="0"/>
              <a:t>的集成译码器，就是通常所说的三八译码器。</a:t>
            </a:r>
            <a:r>
              <a:rPr lang="en-US" altLang="zh-CN" dirty="0"/>
              <a:t>3</a:t>
            </a:r>
            <a:r>
              <a:rPr lang="zh-CN" altLang="en-US" dirty="0"/>
              <a:t>位二进制数字可以有</a:t>
            </a:r>
            <a:r>
              <a:rPr lang="en-US" altLang="zh-CN" dirty="0"/>
              <a:t>8</a:t>
            </a:r>
            <a:r>
              <a:rPr lang="zh-CN" altLang="en-US" dirty="0"/>
              <a:t>种不同的组合，或者说，</a:t>
            </a:r>
            <a:r>
              <a:rPr lang="en-US" altLang="zh-CN" dirty="0"/>
              <a:t>3</a:t>
            </a:r>
            <a:r>
              <a:rPr lang="zh-CN" altLang="en-US" dirty="0"/>
              <a:t>位二进制地址对应</a:t>
            </a:r>
            <a:r>
              <a:rPr lang="en-US" altLang="zh-CN" dirty="0"/>
              <a:t>2</a:t>
            </a:r>
            <a:r>
              <a:rPr lang="en-US" altLang="zh-CN" baseline="30000" dirty="0"/>
              <a:t>3</a:t>
            </a:r>
            <a:r>
              <a:rPr lang="en-US" altLang="zh-CN" dirty="0"/>
              <a:t>=8</a:t>
            </a:r>
            <a:r>
              <a:rPr lang="zh-CN" altLang="en-US" dirty="0"/>
              <a:t>个不同的地址。</a:t>
            </a:r>
            <a:endParaRPr lang="en-US" altLang="zh-CN" dirty="0"/>
          </a:p>
          <a:p>
            <a:pPr marL="0" indent="0" eaLnBrk="1" hangingPunct="1">
              <a:lnSpc>
                <a:spcPct val="134000"/>
              </a:lnSpc>
              <a:buNone/>
            </a:pPr>
            <a:r>
              <a:rPr lang="en-US" altLang="zh-CN" dirty="0">
                <a:solidFill>
                  <a:schemeClr val="tx1"/>
                </a:solidFill>
              </a:rPr>
              <a:t>The </a:t>
            </a:r>
            <a:r>
              <a:rPr lang="en-US" altLang="zh-CN" dirty="0">
                <a:solidFill>
                  <a:srgbClr val="FF0000"/>
                </a:solidFill>
              </a:rPr>
              <a:t>74138 </a:t>
            </a:r>
            <a:r>
              <a:rPr lang="en-US" altLang="zh-CN" dirty="0">
                <a:solidFill>
                  <a:schemeClr val="tx1"/>
                </a:solidFill>
              </a:rPr>
              <a:t>is an integrated decoder with </a:t>
            </a:r>
            <a:r>
              <a:rPr lang="en-US" altLang="zh-CN" dirty="0">
                <a:solidFill>
                  <a:srgbClr val="FF0000"/>
                </a:solidFill>
              </a:rPr>
              <a:t>3 inputs </a:t>
            </a:r>
            <a:r>
              <a:rPr lang="en-US" altLang="zh-CN" dirty="0">
                <a:solidFill>
                  <a:schemeClr val="tx1"/>
                </a:solidFill>
              </a:rPr>
              <a:t>and </a:t>
            </a:r>
            <a:r>
              <a:rPr lang="en-US" altLang="zh-CN" dirty="0">
                <a:solidFill>
                  <a:srgbClr val="FF0000"/>
                </a:solidFill>
              </a:rPr>
              <a:t>8 outputs</a:t>
            </a:r>
            <a:r>
              <a:rPr lang="en-US" altLang="zh-CN" dirty="0">
                <a:solidFill>
                  <a:schemeClr val="tx1"/>
                </a:solidFill>
              </a:rPr>
              <a:t>, commonly known as a 3-to-8 decoder. A 3-bit binary address corresponds to 2³ =8 different combinations.</a:t>
            </a:r>
          </a:p>
          <a:p>
            <a:pPr marL="0" indent="0">
              <a:lnSpc>
                <a:spcPct val="134000"/>
              </a:lnSpc>
              <a:buNone/>
            </a:pPr>
            <a:r>
              <a:rPr lang="en-US" altLang="zh-CN" dirty="0"/>
              <a:t>74138</a:t>
            </a:r>
            <a:r>
              <a:rPr lang="zh-CN" altLang="en-US" dirty="0"/>
              <a:t>译码器的作用就是将输入的三位地址状态转换为</a:t>
            </a:r>
            <a:r>
              <a:rPr lang="en-US" altLang="zh-CN" dirty="0"/>
              <a:t>8</a:t>
            </a:r>
            <a:r>
              <a:rPr lang="zh-CN" altLang="en-US" dirty="0"/>
              <a:t>个不同的输出之一</a:t>
            </a:r>
            <a:r>
              <a:rPr lang="en-US" altLang="zh-CN" dirty="0"/>
              <a:t>, </a:t>
            </a:r>
            <a:r>
              <a:rPr lang="zh-CN" altLang="en-US" dirty="0"/>
              <a:t>分别控制</a:t>
            </a:r>
            <a:r>
              <a:rPr lang="en-US" altLang="zh-CN" dirty="0"/>
              <a:t>8</a:t>
            </a:r>
            <a:r>
              <a:rPr lang="zh-CN" altLang="en-US" dirty="0"/>
              <a:t>个不同电路的芯片。其中</a:t>
            </a:r>
            <a:r>
              <a:rPr lang="en-US" altLang="zh-CN" dirty="0"/>
              <a:t>73LS138</a:t>
            </a:r>
            <a:r>
              <a:rPr lang="zh-CN" altLang="en-US" dirty="0"/>
              <a:t>芯片是</a:t>
            </a:r>
            <a:r>
              <a:rPr lang="en-US" altLang="zh-CN" dirty="0"/>
              <a:t>TTL</a:t>
            </a:r>
            <a:r>
              <a:rPr lang="zh-CN" altLang="en-US" dirty="0"/>
              <a:t>电平的</a:t>
            </a:r>
            <a:r>
              <a:rPr lang="en-US" altLang="zh-CN" dirty="0"/>
              <a:t>,74HC138</a:t>
            </a:r>
            <a:r>
              <a:rPr lang="zh-CN" altLang="en-US" dirty="0"/>
              <a:t>是</a:t>
            </a:r>
            <a:r>
              <a:rPr lang="en-US" altLang="zh-CN" dirty="0"/>
              <a:t>CMOS</a:t>
            </a:r>
            <a:r>
              <a:rPr lang="zh-CN" altLang="en-US" dirty="0"/>
              <a:t>电平的。</a:t>
            </a:r>
          </a:p>
          <a:p>
            <a:pPr marL="0" indent="0" eaLnBrk="1" hangingPunct="1">
              <a:lnSpc>
                <a:spcPct val="134000"/>
              </a:lnSpc>
              <a:buNone/>
            </a:pPr>
            <a:r>
              <a:rPr lang="en-US" altLang="zh-CN" dirty="0">
                <a:solidFill>
                  <a:schemeClr val="tx1"/>
                </a:solidFill>
              </a:rPr>
              <a:t>The role of the 74138 decoder is to convert the 3-bit input address state into one of 8 different outputs, allowing it to control 8 different circuit chips. The 74LS138 is a TTL level chip, while the 74HC138 is a CMOS level chip.</a:t>
            </a:r>
            <a:endParaRPr lang="zh-CN" altLang="en-US" dirty="0">
              <a:solidFill>
                <a:schemeClr val="tx1"/>
              </a:solidFill>
            </a:endParaRPr>
          </a:p>
        </p:txBody>
      </p:sp>
      <p:sp>
        <p:nvSpPr>
          <p:cNvPr id="6" name="标题 5"/>
          <p:cNvSpPr>
            <a:spLocks noGrp="1"/>
          </p:cNvSpPr>
          <p:nvPr>
            <p:ph type="title"/>
          </p:nvPr>
        </p:nvSpPr>
        <p:spPr/>
        <p:txBody>
          <a:bodyPr>
            <a:normAutofit/>
          </a:bodyPr>
          <a:lstStyle/>
          <a:p>
            <a:r>
              <a:rPr lang="zh-CN" altLang="en-US" sz="3200" dirty="0">
                <a:latin typeface="宋体" panose="02010600030101010101" pitchFamily="2" charset="-122"/>
              </a:rPr>
              <a:t>译码器电路的功能 </a:t>
            </a:r>
            <a:r>
              <a:rPr lang="en-US" altLang="zh-CN" sz="3200" dirty="0"/>
              <a:t>Decoder Circuit Function:</a:t>
            </a:r>
            <a:endParaRPr lang="zh-CN" altLang="en-US" sz="3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7"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57730" y="1141730"/>
            <a:ext cx="7788910" cy="4837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2882" name="标题 3"/>
          <p:cNvSpPr>
            <a:spLocks noGrp="1" noChangeArrowheads="1"/>
          </p:cNvSpPr>
          <p:nvPr>
            <p:ph type="title"/>
          </p:nvPr>
        </p:nvSpPr>
        <p:spPr>
          <a:xfrm>
            <a:off x="1898015" y="249555"/>
            <a:ext cx="8229600" cy="504825"/>
          </a:xfrm>
        </p:spPr>
        <p:txBody>
          <a:bodyPr>
            <a:noAutofit/>
          </a:bodyPr>
          <a:lstStyle/>
          <a:p>
            <a:pPr eaLnBrk="1" hangingPunct="1"/>
            <a:r>
              <a:rPr lang="zh-CN" altLang="en-US" sz="3200" dirty="0">
                <a:latin typeface="宋体" panose="02010600030101010101" pitchFamily="2" charset="-122"/>
              </a:rPr>
              <a:t>使用</a:t>
            </a:r>
            <a:r>
              <a:rPr lang="en-US" altLang="zh-CN" sz="3200" dirty="0">
                <a:latin typeface="宋体" panose="02010600030101010101" pitchFamily="2" charset="-122"/>
              </a:rPr>
              <a:t>74138</a:t>
            </a:r>
            <a:r>
              <a:rPr lang="zh-CN" altLang="en-US" sz="3200" dirty="0">
                <a:latin typeface="宋体" panose="02010600030101010101" pitchFamily="2" charset="-122"/>
              </a:rPr>
              <a:t>与微控制器的连接如图</a:t>
            </a:r>
            <a:r>
              <a:rPr lang="en-US" altLang="zh-CN" sz="3200" dirty="0">
                <a:latin typeface="宋体" panose="02010600030101010101" pitchFamily="2" charset="-122"/>
              </a:rPr>
              <a:t>2-11</a:t>
            </a:r>
            <a:r>
              <a:rPr lang="zh-CN" altLang="en-US" sz="3200" dirty="0">
                <a:latin typeface="宋体" panose="02010600030101010101" pitchFamily="2" charset="-122"/>
              </a:rPr>
              <a:t>所示</a:t>
            </a:r>
            <a:endParaRPr lang="zh-CN" altLang="en-US" sz="3200" dirty="0"/>
          </a:p>
        </p:txBody>
      </p:sp>
      <p:sp>
        <p:nvSpPr>
          <p:cNvPr id="288773" name="Rectangle 5"/>
          <p:cNvSpPr>
            <a:spLocks noChangeArrowheads="1"/>
          </p:cNvSpPr>
          <p:nvPr/>
        </p:nvSpPr>
        <p:spPr bwMode="auto">
          <a:xfrm>
            <a:off x="4418331" y="5775961"/>
            <a:ext cx="3860165" cy="39878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a:solidFill>
                  <a:srgbClr val="990033"/>
                </a:solidFill>
                <a:latin typeface="Arial" panose="020B0604020202020204" pitchFamily="34" charset="0"/>
              </a:rPr>
              <a:t>图</a:t>
            </a:r>
            <a:r>
              <a:rPr lang="en-US" altLang="zh-CN" sz="2000">
                <a:solidFill>
                  <a:srgbClr val="990033"/>
                </a:solidFill>
                <a:latin typeface="Arial" panose="020B0604020202020204" pitchFamily="34" charset="0"/>
              </a:rPr>
              <a:t>2-11  </a:t>
            </a:r>
            <a:r>
              <a:rPr lang="zh-CN" altLang="en-US" sz="2000">
                <a:solidFill>
                  <a:srgbClr val="990033"/>
                </a:solidFill>
                <a:latin typeface="Arial" panose="020B0604020202020204" pitchFamily="34" charset="0"/>
              </a:rPr>
              <a:t>译码器与微控制器的连接</a:t>
            </a:r>
          </a:p>
        </p:txBody>
      </p:sp>
      <p:sp>
        <p:nvSpPr>
          <p:cNvPr id="2" name="文本框 1"/>
          <p:cNvSpPr txBox="1"/>
          <p:nvPr/>
        </p:nvSpPr>
        <p:spPr>
          <a:xfrm>
            <a:off x="1898015" y="693420"/>
            <a:ext cx="8320405" cy="337185"/>
          </a:xfrm>
          <a:prstGeom prst="rect">
            <a:avLst/>
          </a:prstGeom>
          <a:noFill/>
        </p:spPr>
        <p:txBody>
          <a:bodyPr wrap="square" rtlCol="0" anchor="t">
            <a:spAutoFit/>
          </a:bodyPr>
          <a:lstStyle/>
          <a:p>
            <a:pPr eaLnBrk="1" hangingPunct="1"/>
            <a:r>
              <a:rPr lang="zh-CN" altLang="en-US" sz="1600" dirty="0">
                <a:latin typeface="宋体" panose="02010600030101010101" pitchFamily="2" charset="-122"/>
                <a:sym typeface="+mn-ea"/>
              </a:rPr>
              <a:t>The connection between 74138 and the microcontroller is shown in Figure 2-11</a:t>
            </a:r>
          </a:p>
        </p:txBody>
      </p:sp>
      <p:sp>
        <p:nvSpPr>
          <p:cNvPr id="3" name="文本框 2"/>
          <p:cNvSpPr txBox="1"/>
          <p:nvPr/>
        </p:nvSpPr>
        <p:spPr>
          <a:xfrm>
            <a:off x="4515485" y="6103620"/>
            <a:ext cx="4572000" cy="245110"/>
          </a:xfrm>
          <a:prstGeom prst="rect">
            <a:avLst/>
          </a:prstGeom>
          <a:noFill/>
        </p:spPr>
        <p:txBody>
          <a:bodyPr wrap="square" rtlCol="0" anchor="t">
            <a:spAutoFit/>
          </a:bodyPr>
          <a:lstStyle/>
          <a:p>
            <a:pPr eaLnBrk="1" hangingPunct="1"/>
            <a:r>
              <a:rPr lang="zh-CN" altLang="en-US" sz="1000">
                <a:solidFill>
                  <a:srgbClr val="990033"/>
                </a:solidFill>
                <a:latin typeface="Arial" panose="020B0604020202020204" pitchFamily="34" charset="0"/>
                <a:sym typeface="+mn-ea"/>
              </a:rPr>
              <a:t>Figure 2-11 Connection between decoder and microcontroller</a:t>
            </a:r>
          </a:p>
        </p:txBody>
      </p:sp>
      <p:sp>
        <p:nvSpPr>
          <p:cNvPr id="4" name="文本框 3"/>
          <p:cNvSpPr txBox="1"/>
          <p:nvPr/>
        </p:nvSpPr>
        <p:spPr>
          <a:xfrm>
            <a:off x="1986915" y="1668780"/>
            <a:ext cx="6096000" cy="306705"/>
          </a:xfrm>
          <a:prstGeom prst="rect">
            <a:avLst/>
          </a:prstGeom>
          <a:noFill/>
        </p:spPr>
        <p:txBody>
          <a:bodyPr wrap="square" rtlCol="0" anchor="t">
            <a:spAutoFit/>
          </a:bodyPr>
          <a:lstStyle/>
          <a:p>
            <a:pPr eaLnBrk="1" hangingPunct="1"/>
            <a:r>
              <a:rPr lang="zh-CN" altLang="en-US" sz="1400" b="1">
                <a:solidFill>
                  <a:schemeClr val="tx1"/>
                </a:solidFill>
                <a:latin typeface="Arial" panose="020B0604020202020204" pitchFamily="34" charset="0"/>
                <a:sym typeface="+mn-ea"/>
              </a:rPr>
              <a:t>microcontroller</a:t>
            </a:r>
          </a:p>
        </p:txBody>
      </p:sp>
      <p:sp>
        <p:nvSpPr>
          <p:cNvPr id="5" name="文本框 4"/>
          <p:cNvSpPr txBox="1"/>
          <p:nvPr>
            <p:custDataLst>
              <p:tags r:id="rId1"/>
            </p:custDataLst>
          </p:nvPr>
        </p:nvSpPr>
        <p:spPr>
          <a:xfrm>
            <a:off x="9190355" y="1455738"/>
            <a:ext cx="5080000" cy="337185"/>
          </a:xfrm>
          <a:prstGeom prst="rect">
            <a:avLst/>
          </a:prstGeom>
        </p:spPr>
        <p:txBody>
          <a:bodyPr>
            <a:spAutoFit/>
          </a:bodyPr>
          <a:lstStyle/>
          <a:p>
            <a:r>
              <a:rPr lang="en-US" altLang="zh-CN" sz="1600"/>
              <a:t>Peripheral devices 7 </a:t>
            </a:r>
          </a:p>
        </p:txBody>
      </p:sp>
      <p:sp>
        <p:nvSpPr>
          <p:cNvPr id="6" name="文本框 5"/>
          <p:cNvSpPr txBox="1"/>
          <p:nvPr>
            <p:custDataLst>
              <p:tags r:id="rId2"/>
            </p:custDataLst>
          </p:nvPr>
        </p:nvSpPr>
        <p:spPr>
          <a:xfrm>
            <a:off x="7252970" y="1455738"/>
            <a:ext cx="5080000" cy="337185"/>
          </a:xfrm>
          <a:prstGeom prst="rect">
            <a:avLst/>
          </a:prstGeom>
        </p:spPr>
        <p:txBody>
          <a:bodyPr>
            <a:spAutoFit/>
          </a:bodyPr>
          <a:lstStyle/>
          <a:p>
            <a:r>
              <a:rPr lang="en-US" altLang="zh-CN" sz="1600"/>
              <a:t>Peripheral devices 1</a:t>
            </a:r>
          </a:p>
        </p:txBody>
      </p:sp>
      <p:sp>
        <p:nvSpPr>
          <p:cNvPr id="7" name="文本框 6"/>
          <p:cNvSpPr txBox="1"/>
          <p:nvPr>
            <p:custDataLst>
              <p:tags r:id="rId3"/>
            </p:custDataLst>
          </p:nvPr>
        </p:nvSpPr>
        <p:spPr>
          <a:xfrm>
            <a:off x="3881755" y="1446213"/>
            <a:ext cx="5080000" cy="337185"/>
          </a:xfrm>
          <a:prstGeom prst="rect">
            <a:avLst/>
          </a:prstGeom>
        </p:spPr>
        <p:txBody>
          <a:bodyPr>
            <a:spAutoFit/>
          </a:bodyPr>
          <a:lstStyle/>
          <a:p>
            <a:r>
              <a:rPr lang="en-US" altLang="zh-CN" sz="1600"/>
              <a:t>Peripheral devices 0</a:t>
            </a:r>
          </a:p>
        </p:txBody>
      </p:sp>
      <p:sp>
        <p:nvSpPr>
          <p:cNvPr id="8" name="文本框 7"/>
          <p:cNvSpPr txBox="1"/>
          <p:nvPr>
            <p:custDataLst>
              <p:tags r:id="rId4"/>
            </p:custDataLst>
          </p:nvPr>
        </p:nvSpPr>
        <p:spPr>
          <a:xfrm>
            <a:off x="4485640" y="1860233"/>
            <a:ext cx="5080000" cy="337185"/>
          </a:xfrm>
          <a:prstGeom prst="rect">
            <a:avLst/>
          </a:prstGeom>
        </p:spPr>
        <p:txBody>
          <a:bodyPr>
            <a:spAutoFit/>
          </a:bodyPr>
          <a:lstStyle/>
          <a:p>
            <a:r>
              <a:rPr lang="en-US" altLang="zh-CN" sz="1600"/>
              <a:t>Interface 0</a:t>
            </a:r>
          </a:p>
        </p:txBody>
      </p:sp>
      <p:sp>
        <p:nvSpPr>
          <p:cNvPr id="9" name="文本框 8"/>
          <p:cNvSpPr txBox="1"/>
          <p:nvPr>
            <p:custDataLst>
              <p:tags r:id="rId5"/>
            </p:custDataLst>
          </p:nvPr>
        </p:nvSpPr>
        <p:spPr>
          <a:xfrm>
            <a:off x="7545705" y="1785938"/>
            <a:ext cx="5080000" cy="337185"/>
          </a:xfrm>
          <a:prstGeom prst="rect">
            <a:avLst/>
          </a:prstGeom>
        </p:spPr>
        <p:txBody>
          <a:bodyPr>
            <a:spAutoFit/>
          </a:bodyPr>
          <a:lstStyle/>
          <a:p>
            <a:r>
              <a:rPr lang="en-US" altLang="zh-CN" sz="1600"/>
              <a:t>Interface 1</a:t>
            </a:r>
          </a:p>
        </p:txBody>
      </p:sp>
      <p:sp>
        <p:nvSpPr>
          <p:cNvPr id="10" name="文本框 9"/>
          <p:cNvSpPr txBox="1"/>
          <p:nvPr>
            <p:custDataLst>
              <p:tags r:id="rId6"/>
            </p:custDataLst>
          </p:nvPr>
        </p:nvSpPr>
        <p:spPr>
          <a:xfrm>
            <a:off x="9422130" y="1820863"/>
            <a:ext cx="5080000" cy="337185"/>
          </a:xfrm>
          <a:prstGeom prst="rect">
            <a:avLst/>
          </a:prstGeom>
        </p:spPr>
        <p:txBody>
          <a:bodyPr>
            <a:spAutoFit/>
          </a:bodyPr>
          <a:lstStyle/>
          <a:p>
            <a:r>
              <a:rPr lang="en-US" altLang="zh-CN" sz="1600"/>
              <a:t>Interface 7</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标题 3"/>
          <p:cNvSpPr>
            <a:spLocks noGrp="1" noChangeArrowheads="1"/>
          </p:cNvSpPr>
          <p:nvPr>
            <p:ph type="title"/>
          </p:nvPr>
        </p:nvSpPr>
        <p:spPr>
          <a:xfrm>
            <a:off x="1108364" y="483870"/>
            <a:ext cx="9117041" cy="504825"/>
          </a:xfrm>
        </p:spPr>
        <p:txBody>
          <a:bodyPr>
            <a:normAutofit fontScale="90000"/>
          </a:bodyPr>
          <a:lstStyle/>
          <a:p>
            <a:pPr eaLnBrk="1" hangingPunct="1"/>
            <a:r>
              <a:rPr lang="en-US" altLang="zh-CN" sz="2800" dirty="0">
                <a:latin typeface="宋体" panose="02010600030101010101" pitchFamily="2" charset="-122"/>
              </a:rPr>
              <a:t>74138</a:t>
            </a:r>
            <a:r>
              <a:rPr lang="zh-CN" altLang="en-US" sz="2800" dirty="0">
                <a:latin typeface="宋体" panose="02010600030101010101" pitchFamily="2" charset="-122"/>
              </a:rPr>
              <a:t>与微控制器连接图</a:t>
            </a:r>
            <a:r>
              <a:rPr lang="en-US" altLang="zh-CN" sz="2800" dirty="0">
                <a:latin typeface="宋体" panose="02010600030101010101" pitchFamily="2" charset="-122"/>
              </a:rPr>
              <a:t>2-11</a:t>
            </a:r>
            <a:r>
              <a:rPr lang="zh-CN" altLang="en-US" sz="2800" dirty="0">
                <a:latin typeface="宋体" panose="02010600030101010101" pitchFamily="2" charset="-122"/>
              </a:rPr>
              <a:t>说明</a:t>
            </a:r>
            <a:br>
              <a:rPr lang="zh-CN" altLang="en-US" sz="2800" dirty="0">
                <a:latin typeface="宋体" panose="02010600030101010101" pitchFamily="2" charset="-122"/>
              </a:rPr>
            </a:br>
            <a:r>
              <a:rPr lang="en-US" altLang="zh-CN" sz="2000" dirty="0"/>
              <a:t>Description of the Connection Diagram Between 74138 and Microcontroller (Figure 2-11)</a:t>
            </a:r>
          </a:p>
        </p:txBody>
      </p:sp>
      <mc:AlternateContent xmlns:mc="http://schemas.openxmlformats.org/markup-compatibility/2006">
        <mc:Choice xmlns:a14="http://schemas.microsoft.com/office/drawing/2010/main" Requires="a14">
          <p:sp>
            <p:nvSpPr>
              <p:cNvPr id="290819" name="Rectangle 3"/>
              <p:cNvSpPr>
                <a:spLocks noGrp="1" noChangeArrowheads="1"/>
              </p:cNvSpPr>
              <p:nvPr>
                <p:ph idx="1"/>
              </p:nvPr>
            </p:nvSpPr>
            <p:spPr>
              <a:xfrm>
                <a:off x="683491" y="1288415"/>
                <a:ext cx="9989589" cy="5194300"/>
              </a:xfrm>
            </p:spPr>
            <p:txBody>
              <a:bodyPr>
                <a:normAutofit fontScale="82500" lnSpcReduction="10000"/>
              </a:bodyPr>
              <a:lstStyle/>
              <a:p>
                <a:pPr eaLnBrk="1" hangingPunct="1"/>
                <a:r>
                  <a:rPr lang="zh-CN" altLang="en-US" dirty="0"/>
                  <a:t>由图</a:t>
                </a:r>
                <a:r>
                  <a:rPr lang="en-US" altLang="zh-CN" dirty="0"/>
                  <a:t>2-11</a:t>
                </a:r>
                <a:r>
                  <a:rPr lang="zh-CN" altLang="en-US" dirty="0"/>
                  <a:t>可知，数据线、读写控制信号线分别送到</a:t>
                </a:r>
                <a:r>
                  <a:rPr lang="en-US" altLang="zh-CN" dirty="0"/>
                  <a:t>8</a:t>
                </a:r>
                <a:r>
                  <a:rPr lang="zh-CN" altLang="en-US" dirty="0"/>
                  <a:t>个接口电路的相应管脚上。但是每个接口芯片的片选信号</a:t>
                </a:r>
                <a:r>
                  <a:rPr lang="en-US" altLang="zh-CN" dirty="0"/>
                  <a:t>/CS</a:t>
                </a:r>
                <a:r>
                  <a:rPr lang="zh-CN" altLang="en-US" dirty="0"/>
                  <a:t>接到了</a:t>
                </a:r>
                <a:r>
                  <a:rPr lang="en-US" altLang="zh-CN" dirty="0"/>
                  <a:t>74138</a:t>
                </a:r>
                <a:r>
                  <a:rPr lang="zh-CN" altLang="en-US" dirty="0"/>
                  <a:t>不同的输出端。</a:t>
                </a:r>
                <a:r>
                  <a:rPr lang="en-US" altLang="zh-CN" dirty="0"/>
                  <a:t>74138</a:t>
                </a:r>
                <a:r>
                  <a:rPr lang="zh-CN" altLang="en-US" dirty="0"/>
                  <a:t>的地址输入端接微控制器的地址总线。</a:t>
                </a:r>
              </a:p>
              <a:p>
                <a:pPr eaLnBrk="1" hangingPunct="1"/>
                <a:r>
                  <a:rPr lang="zh-CN" altLang="en-US" dirty="0">
                    <a:sym typeface="+mn-ea"/>
                  </a:rPr>
                  <a:t>As shown in Figure 2-11, the data lines and read/write control signals are routed to corresponding pins on eight interface circuits. However, each interface chips Chip Select (CS) signal connects to 74138 distinct output terminals. The address input of the 74138 is connected to the microcontrollers address bus.</a:t>
                </a:r>
                <a:endParaRPr lang="zh-CN" altLang="en-US" dirty="0"/>
              </a:p>
              <a:p>
                <a:pPr eaLnBrk="1" hangingPunct="1"/>
                <a:endParaRPr lang="zh-CN" altLang="en-US" dirty="0"/>
              </a:p>
              <a:p>
                <a:pPr eaLnBrk="1" hangingPunct="1"/>
                <a:r>
                  <a:rPr lang="zh-CN" altLang="en-US" dirty="0"/>
                  <a:t>根据</a:t>
                </a:r>
                <a:r>
                  <a:rPr lang="en-US" altLang="zh-CN" dirty="0"/>
                  <a:t>74138</a:t>
                </a:r>
                <a:r>
                  <a:rPr lang="zh-CN" altLang="en-US" dirty="0"/>
                  <a:t>的特性可知</a:t>
                </a:r>
                <a:r>
                  <a:rPr lang="en-US" altLang="zh-CN" dirty="0"/>
                  <a:t>,</a:t>
                </a:r>
                <a:r>
                  <a:rPr lang="zh-CN" altLang="en-US" dirty="0"/>
                  <a:t>当</a:t>
                </a:r>
                <a:r>
                  <a:rPr lang="en-US" altLang="zh-CN" dirty="0"/>
                  <a:t>3</a:t>
                </a:r>
                <a:r>
                  <a:rPr lang="zh-CN" altLang="en-US" dirty="0"/>
                  <a:t>位地址为</a:t>
                </a:r>
                <a:r>
                  <a:rPr lang="en-US" altLang="zh-CN" dirty="0"/>
                  <a:t>000</a:t>
                </a:r>
                <a:r>
                  <a:rPr lang="zh-CN" altLang="en-US" dirty="0"/>
                  <a:t>时</a:t>
                </a:r>
                <a:r>
                  <a:rPr lang="en-US" altLang="zh-CN" dirty="0"/>
                  <a:t>, 74138</a:t>
                </a:r>
                <a:r>
                  <a:rPr lang="zh-CN" altLang="en-US" dirty="0"/>
                  <a:t>的输出只有</a:t>
                </a:r>
                <a14:m>
                  <m:oMath xmlns:m="http://schemas.openxmlformats.org/officeDocument/2006/math">
                    <m:acc>
                      <m:accPr>
                        <m:chr m:val="̅"/>
                        <m:ctrlPr>
                          <a:rPr lang="en-US" altLang="zh-CN" i="1">
                            <a:latin typeface="Cambria Math" panose="02040503050406030204" pitchFamily="18" charset="0"/>
                            <a:cs typeface="Cambria Math" panose="02040503050406030204" charset="0"/>
                          </a:rPr>
                        </m:ctrlPr>
                      </m:accPr>
                      <m:e>
                        <m:sSub>
                          <m:sSubPr>
                            <m:ctrlPr>
                              <a:rPr lang="en-US" altLang="zh-CN" i="1">
                                <a:latin typeface="Cambria Math" panose="02040503050406030204" pitchFamily="18" charset="0"/>
                                <a:cs typeface="Cambria Math" panose="02040503050406030204" charset="0"/>
                              </a:rPr>
                            </m:ctrlPr>
                          </m:sSubPr>
                          <m:e>
                            <m:r>
                              <m:rPr>
                                <m:sty m:val="p"/>
                              </m:rPr>
                              <a:rPr lang="en-US" altLang="zh-CN">
                                <a:latin typeface="Cambria Math" panose="02040503050406030204" charset="0"/>
                                <a:cs typeface="Cambria Math" panose="02040503050406030204" charset="0"/>
                              </a:rPr>
                              <m:t>Y</m:t>
                            </m:r>
                          </m:e>
                          <m:sub>
                            <m:r>
                              <a:rPr lang="en-US" altLang="zh-CN">
                                <a:latin typeface="Cambria Math" panose="02040503050406030204" charset="0"/>
                                <a:cs typeface="Cambria Math" panose="02040503050406030204" charset="0"/>
                              </a:rPr>
                              <m:t>0</m:t>
                            </m:r>
                          </m:sub>
                        </m:sSub>
                      </m:e>
                    </m:acc>
                    <m:r>
                      <a:rPr lang="en-US" altLang="zh-CN" i="1">
                        <a:latin typeface="Cambria Math" panose="02040503050406030204" charset="0"/>
                        <a:cs typeface="Cambria Math" panose="02040503050406030204" charset="0"/>
                      </a:rPr>
                      <m:t>=0</m:t>
                    </m:r>
                  </m:oMath>
                </a14:m>
                <a:r>
                  <a:rPr lang="en-US" altLang="zh-CN" dirty="0"/>
                  <a:t>(</a:t>
                </a:r>
                <a:r>
                  <a:rPr lang="zh-CN" altLang="en-US" dirty="0"/>
                  <a:t>有效</a:t>
                </a:r>
                <a:r>
                  <a:rPr lang="en-US" altLang="zh-CN" dirty="0"/>
                  <a:t>) </a:t>
                </a:r>
                <a14:m>
                  <m:oMath xmlns:m="http://schemas.openxmlformats.org/officeDocument/2006/math">
                    <m:acc>
                      <m:accPr>
                        <m:chr m:val="̅"/>
                        <m:ctrlPr>
                          <a:rPr lang="en-US" altLang="zh-CN" i="1">
                            <a:latin typeface="Cambria Math" panose="02040503050406030204" pitchFamily="18" charset="0"/>
                            <a:cs typeface="Cambria Math" panose="02040503050406030204" charset="0"/>
                          </a:rPr>
                        </m:ctrlPr>
                      </m:accPr>
                      <m:e>
                        <m:sSub>
                          <m:sSubPr>
                            <m:ctrlPr>
                              <a:rPr lang="en-US" altLang="zh-CN" i="1">
                                <a:latin typeface="Cambria Math" panose="02040503050406030204" pitchFamily="18" charset="0"/>
                                <a:cs typeface="Cambria Math" panose="02040503050406030204" charset="0"/>
                              </a:rPr>
                            </m:ctrlPr>
                          </m:sSubPr>
                          <m:e>
                            <m:r>
                              <m:rPr>
                                <m:sty m:val="p"/>
                              </m:rPr>
                              <a:rPr lang="en-US" altLang="zh-CN">
                                <a:latin typeface="Cambria Math" panose="02040503050406030204" charset="0"/>
                                <a:cs typeface="Cambria Math" panose="02040503050406030204" charset="0"/>
                              </a:rPr>
                              <m:t>Y</m:t>
                            </m:r>
                          </m:e>
                          <m:sub>
                            <m:r>
                              <a:rPr lang="en-US" altLang="zh-CN">
                                <a:latin typeface="Cambria Math" panose="02040503050406030204" charset="0"/>
                                <a:cs typeface="Cambria Math" panose="02040503050406030204" charset="0"/>
                              </a:rPr>
                              <m:t>1</m:t>
                            </m:r>
                          </m:sub>
                        </m:sSub>
                      </m:e>
                    </m:acc>
                    <m:r>
                      <a:rPr lang="en-US" altLang="zh-CN">
                        <a:latin typeface="Cambria Math" panose="02040503050406030204" charset="0"/>
                        <a:cs typeface="Cambria Math" panose="02040503050406030204" charset="0"/>
                      </a:rPr>
                      <m:t>~</m:t>
                    </m:r>
                    <m:acc>
                      <m:accPr>
                        <m:chr m:val="̅"/>
                        <m:ctrlPr>
                          <a:rPr lang="en-US" altLang="zh-CN" i="1">
                            <a:latin typeface="Cambria Math" panose="02040503050406030204" pitchFamily="18" charset="0"/>
                            <a:cs typeface="Cambria Math" panose="02040503050406030204" charset="0"/>
                          </a:rPr>
                        </m:ctrlPr>
                      </m:accPr>
                      <m:e>
                        <m:sSub>
                          <m:sSubPr>
                            <m:ctrlPr>
                              <a:rPr lang="en-US" altLang="zh-CN" i="1">
                                <a:latin typeface="Cambria Math" panose="02040503050406030204" pitchFamily="18" charset="0"/>
                                <a:cs typeface="Cambria Math" panose="02040503050406030204" charset="0"/>
                              </a:rPr>
                            </m:ctrlPr>
                          </m:sSubPr>
                          <m:e>
                            <m:r>
                              <m:rPr>
                                <m:sty m:val="p"/>
                              </m:rPr>
                              <a:rPr lang="en-US" altLang="zh-CN">
                                <a:latin typeface="Cambria Math" panose="02040503050406030204" charset="0"/>
                                <a:cs typeface="Cambria Math" panose="02040503050406030204" charset="0"/>
                              </a:rPr>
                              <m:t>Y</m:t>
                            </m:r>
                          </m:e>
                          <m:sub>
                            <m:r>
                              <a:rPr lang="en-US" altLang="zh-CN">
                                <a:latin typeface="Cambria Math" panose="02040503050406030204" charset="0"/>
                                <a:cs typeface="Cambria Math" panose="02040503050406030204" charset="0"/>
                              </a:rPr>
                              <m:t>7</m:t>
                            </m:r>
                          </m:sub>
                        </m:sSub>
                      </m:e>
                    </m:acc>
                  </m:oMath>
                </a14:m>
                <a:r>
                  <a:rPr lang="zh-CN" altLang="en-US" dirty="0"/>
                  <a:t>均为高电平</a:t>
                </a:r>
                <a:r>
                  <a:rPr lang="en-US" altLang="zh-CN" dirty="0"/>
                  <a:t>(</a:t>
                </a:r>
                <a:r>
                  <a:rPr lang="zh-CN" altLang="en-US" dirty="0"/>
                  <a:t>无效</a:t>
                </a:r>
                <a:r>
                  <a:rPr lang="en-US" altLang="zh-CN" dirty="0"/>
                  <a:t>)</a:t>
                </a:r>
                <a:r>
                  <a:rPr lang="zh-CN" altLang="en-US" dirty="0"/>
                  <a:t>。</a:t>
                </a:r>
              </a:p>
              <a:p>
                <a:pPr eaLnBrk="1" hangingPunct="1"/>
                <a:r>
                  <a:rPr lang="en-US" altLang="zh-CN" dirty="0">
                    <a:sym typeface="+mn-ea"/>
                  </a:rPr>
                  <a:t>Based on the characteristics of the 74138, when the 3-bit address is 000, only the  </a:t>
                </a:r>
                <a14:m>
                  <m:oMath xmlns:m="http://schemas.openxmlformats.org/officeDocument/2006/math">
                    <m:acc>
                      <m:accPr>
                        <m:chr m:val="̅"/>
                        <m:ctrlPr>
                          <a:rPr lang="en-US" altLang="zh-CN" i="1">
                            <a:latin typeface="Cambria Math" panose="02040503050406030204" pitchFamily="18" charset="0"/>
                            <a:cs typeface="Cambria Math" panose="02040503050406030204" charset="0"/>
                          </a:rPr>
                        </m:ctrlPr>
                      </m:accPr>
                      <m:e>
                        <m:sSub>
                          <m:sSubPr>
                            <m:ctrlPr>
                              <a:rPr lang="en-US" altLang="zh-CN" i="1">
                                <a:latin typeface="Cambria Math" panose="02040503050406030204" pitchFamily="18" charset="0"/>
                                <a:cs typeface="Cambria Math" panose="02040503050406030204" charset="0"/>
                              </a:rPr>
                            </m:ctrlPr>
                          </m:sSubPr>
                          <m:e>
                            <m:r>
                              <m:rPr>
                                <m:sty m:val="p"/>
                              </m:rPr>
                              <a:rPr lang="en-US" altLang="zh-CN">
                                <a:latin typeface="Cambria Math" panose="02040503050406030204" charset="0"/>
                                <a:cs typeface="Cambria Math" panose="02040503050406030204" charset="0"/>
                              </a:rPr>
                              <m:t>Y</m:t>
                            </m:r>
                          </m:e>
                          <m:sub>
                            <m:r>
                              <a:rPr lang="en-US" altLang="zh-CN">
                                <a:latin typeface="Cambria Math" panose="02040503050406030204" charset="0"/>
                                <a:cs typeface="Cambria Math" panose="02040503050406030204" charset="0"/>
                              </a:rPr>
                              <m:t>0</m:t>
                            </m:r>
                          </m:sub>
                        </m:sSub>
                      </m:e>
                    </m:acc>
                    <m:r>
                      <a:rPr lang="en-US" altLang="zh-CN">
                        <a:latin typeface="Cambria Math" panose="02040503050406030204" charset="0"/>
                        <a:cs typeface="Cambria Math" panose="02040503050406030204" charset="0"/>
                      </a:rPr>
                      <m:t> </m:t>
                    </m:r>
                  </m:oMath>
                </a14:m>
                <a:r>
                  <a:rPr lang="en-US" altLang="zh-CN" dirty="0">
                    <a:sym typeface="+mn-ea"/>
                  </a:rPr>
                  <a:t>output is active (low), while outputs </a:t>
                </a:r>
                <a14:m>
                  <m:oMath xmlns:m="http://schemas.openxmlformats.org/officeDocument/2006/math">
                    <m:acc>
                      <m:accPr>
                        <m:chr m:val="̅"/>
                        <m:ctrlPr>
                          <a:rPr lang="en-US" altLang="zh-CN" i="1">
                            <a:latin typeface="Cambria Math" panose="02040503050406030204" pitchFamily="18" charset="0"/>
                            <a:cs typeface="Cambria Math" panose="02040503050406030204" charset="0"/>
                          </a:rPr>
                        </m:ctrlPr>
                      </m:accPr>
                      <m:e>
                        <m:sSub>
                          <m:sSubPr>
                            <m:ctrlPr>
                              <a:rPr lang="en-US" altLang="zh-CN" i="1">
                                <a:latin typeface="Cambria Math" panose="02040503050406030204" pitchFamily="18" charset="0"/>
                                <a:cs typeface="Cambria Math" panose="02040503050406030204" charset="0"/>
                              </a:rPr>
                            </m:ctrlPr>
                          </m:sSubPr>
                          <m:e>
                            <m:r>
                              <m:rPr>
                                <m:sty m:val="p"/>
                              </m:rPr>
                              <a:rPr lang="en-US" altLang="zh-CN">
                                <a:latin typeface="Cambria Math" panose="02040503050406030204" charset="0"/>
                                <a:cs typeface="Cambria Math" panose="02040503050406030204" charset="0"/>
                              </a:rPr>
                              <m:t>Y</m:t>
                            </m:r>
                          </m:e>
                          <m:sub>
                            <m:r>
                              <a:rPr lang="en-US" altLang="zh-CN">
                                <a:latin typeface="Cambria Math" panose="02040503050406030204" charset="0"/>
                                <a:cs typeface="Cambria Math" panose="02040503050406030204" charset="0"/>
                              </a:rPr>
                              <m:t>1</m:t>
                            </m:r>
                          </m:sub>
                        </m:sSub>
                      </m:e>
                    </m:acc>
                    <m:r>
                      <a:rPr lang="en-US" altLang="zh-CN">
                        <a:latin typeface="Cambria Math" panose="02040503050406030204" charset="0"/>
                        <a:cs typeface="Cambria Math" panose="02040503050406030204" charset="0"/>
                      </a:rPr>
                      <m:t>~</m:t>
                    </m:r>
                    <m:acc>
                      <m:accPr>
                        <m:chr m:val="̅"/>
                        <m:ctrlPr>
                          <a:rPr lang="en-US" altLang="zh-CN" i="1">
                            <a:latin typeface="Cambria Math" panose="02040503050406030204" pitchFamily="18" charset="0"/>
                            <a:cs typeface="Cambria Math" panose="02040503050406030204" charset="0"/>
                          </a:rPr>
                        </m:ctrlPr>
                      </m:accPr>
                      <m:e>
                        <m:sSub>
                          <m:sSubPr>
                            <m:ctrlPr>
                              <a:rPr lang="en-US" altLang="zh-CN" i="1">
                                <a:latin typeface="Cambria Math" panose="02040503050406030204" pitchFamily="18" charset="0"/>
                                <a:cs typeface="Cambria Math" panose="02040503050406030204" charset="0"/>
                              </a:rPr>
                            </m:ctrlPr>
                          </m:sSubPr>
                          <m:e>
                            <m:r>
                              <m:rPr>
                                <m:sty m:val="p"/>
                              </m:rPr>
                              <a:rPr lang="en-US" altLang="zh-CN">
                                <a:latin typeface="Cambria Math" panose="02040503050406030204" charset="0"/>
                                <a:cs typeface="Cambria Math" panose="02040503050406030204" charset="0"/>
                              </a:rPr>
                              <m:t>Y</m:t>
                            </m:r>
                          </m:e>
                          <m:sub>
                            <m:r>
                              <a:rPr lang="en-US" altLang="zh-CN">
                                <a:latin typeface="Cambria Math" panose="02040503050406030204" charset="0"/>
                                <a:cs typeface="Cambria Math" panose="02040503050406030204" charset="0"/>
                              </a:rPr>
                              <m:t>7</m:t>
                            </m:r>
                          </m:sub>
                        </m:sSub>
                      </m:e>
                    </m:acc>
                  </m:oMath>
                </a14:m>
                <a:r>
                  <a:rPr lang="en-US" altLang="zh-CN" dirty="0">
                    <a:sym typeface="+mn-ea"/>
                  </a:rPr>
                  <a:t> are inactive (high).</a:t>
                </a:r>
                <a:endParaRPr lang="en-US" altLang="zh-CN" dirty="0"/>
              </a:p>
              <a:p>
                <a:pPr eaLnBrk="1" hangingPunct="1"/>
                <a:endParaRPr lang="en-US" altLang="zh-CN" dirty="0"/>
              </a:p>
              <a:p>
                <a:pPr eaLnBrk="1" hangingPunct="1"/>
                <a:r>
                  <a:rPr lang="zh-CN" altLang="en-US" dirty="0"/>
                  <a:t>所以，此时只有接口芯片</a:t>
                </a:r>
                <a:r>
                  <a:rPr lang="en-US" altLang="zh-CN" dirty="0"/>
                  <a:t>0</a:t>
                </a:r>
                <a:r>
                  <a:rPr lang="zh-CN" altLang="en-US" dirty="0"/>
                  <a:t>被选中，外设</a:t>
                </a:r>
                <a:r>
                  <a:rPr lang="en-US" altLang="zh-CN" dirty="0"/>
                  <a:t>0</a:t>
                </a:r>
                <a:r>
                  <a:rPr lang="zh-CN" altLang="en-US" dirty="0"/>
                  <a:t>可以进行接下来的读写操作，其他芯片未被选中，所以不会进行读写操作。</a:t>
                </a:r>
              </a:p>
              <a:p>
                <a:pPr eaLnBrk="1" hangingPunct="1"/>
                <a:r>
                  <a:rPr lang="zh-CN" altLang="en-US" dirty="0">
                    <a:sym typeface="+mn-ea"/>
                  </a:rPr>
                  <a:t>Therefore, at this time, only interface chip 0 is selected, and peripheral device 0 can perform the next read/write operation. Other chips are not selected, so no read/write operation will be performed.</a:t>
                </a:r>
                <a:endParaRPr lang="zh-CN" altLang="en-US" dirty="0"/>
              </a:p>
              <a:p>
                <a:pPr eaLnBrk="1" hangingPunct="1"/>
                <a:endParaRPr lang="zh-CN" altLang="en-US" dirty="0"/>
              </a:p>
            </p:txBody>
          </p:sp>
        </mc:Choice>
        <mc:Fallback>
          <p:sp>
            <p:nvSpPr>
              <p:cNvPr id="290819" name="Rectangle 3"/>
              <p:cNvSpPr>
                <a:spLocks noGrp="1" noRot="1" noChangeAspect="1" noMove="1" noResize="1" noEditPoints="1" noAdjustHandles="1" noChangeArrowheads="1" noChangeShapeType="1" noTextEdit="1"/>
              </p:cNvSpPr>
              <p:nvPr>
                <p:ph idx="1"/>
              </p:nvPr>
            </p:nvSpPr>
            <p:spPr>
              <a:xfrm>
                <a:off x="683491" y="1288415"/>
                <a:ext cx="9989589" cy="5194300"/>
              </a:xfrm>
              <a:blipFill>
                <a:blip r:embed="rId2"/>
                <a:stretch>
                  <a:fillRect l="-366" t="-1526" r="-1830"/>
                </a:stretch>
              </a:blipFill>
            </p:spPr>
            <p:txBody>
              <a:bodyPr/>
              <a:lstStyle/>
              <a:p>
                <a:r>
                  <a:rPr lang="zh-CN" altLang="en-US">
                    <a:noFill/>
                  </a:rPr>
                  <a:t> </a:t>
                </a:r>
              </a:p>
            </p:txBody>
          </p:sp>
        </mc:Fallback>
      </mc:AlternateContent>
      <p:sp>
        <p:nvSpPr>
          <p:cNvPr id="123910" name="Rectangle 4"/>
          <p:cNvSpPr>
            <a:spLocks noChangeArrowheads="1"/>
          </p:cNvSpPr>
          <p:nvPr/>
        </p:nvSpPr>
        <p:spPr bwMode="auto">
          <a:xfrm>
            <a:off x="5941060" y="-184150"/>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1" name="Rectangle 6"/>
          <p:cNvSpPr>
            <a:spLocks noChangeArrowheads="1"/>
          </p:cNvSpPr>
          <p:nvPr/>
        </p:nvSpPr>
        <p:spPr bwMode="auto">
          <a:xfrm>
            <a:off x="5941060" y="3087688"/>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2" name="Rectangle 7"/>
          <p:cNvSpPr>
            <a:spLocks noChangeArrowheads="1"/>
          </p:cNvSpPr>
          <p:nvPr/>
        </p:nvSpPr>
        <p:spPr bwMode="auto">
          <a:xfrm>
            <a:off x="12494260" y="-668337"/>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Rectangle 3"/>
          <p:cNvSpPr>
            <a:spLocks noGrp="1" noChangeArrowheads="1"/>
          </p:cNvSpPr>
          <p:nvPr>
            <p:ph idx="1"/>
          </p:nvPr>
        </p:nvSpPr>
        <p:spPr>
          <a:xfrm>
            <a:off x="794327" y="1230630"/>
            <a:ext cx="10658763" cy="4987925"/>
          </a:xfrm>
        </p:spPr>
        <p:txBody>
          <a:bodyPr>
            <a:normAutofit fontScale="97500" lnSpcReduction="10000"/>
          </a:bodyPr>
          <a:lstStyle/>
          <a:p>
            <a:pPr eaLnBrk="1" hangingPunct="1">
              <a:lnSpc>
                <a:spcPct val="134000"/>
              </a:lnSpc>
              <a:spcAft>
                <a:spcPts val="1800"/>
              </a:spcAft>
            </a:pPr>
            <a:r>
              <a:rPr lang="zh-CN" altLang="en-US" dirty="0"/>
              <a:t>尽管数据线和控制线都同时接到了每个芯片对应的管脚上，但是片选信号无效的芯片没有对应的操作，只有片选信号端有效的芯片才会有操作。</a:t>
            </a:r>
            <a:br>
              <a:rPr lang="zh-CN" altLang="en-US" dirty="0"/>
            </a:br>
            <a:r>
              <a:rPr lang="zh-CN" altLang="en-US" dirty="0">
                <a:sym typeface="+mn-ea"/>
              </a:rPr>
              <a:t>Although both the data line and control line are connected to the corresponding pin of each chip, there is no corresponding operation for the chip with invalid chip select signal, and only the chip with valid chip select signal will have operation.</a:t>
            </a:r>
            <a:endParaRPr lang="zh-CN" altLang="en-US" dirty="0"/>
          </a:p>
          <a:p>
            <a:pPr eaLnBrk="1" hangingPunct="1">
              <a:lnSpc>
                <a:spcPct val="134000"/>
              </a:lnSpc>
              <a:spcAft>
                <a:spcPts val="1800"/>
              </a:spcAft>
            </a:pPr>
            <a:r>
              <a:rPr lang="zh-CN" altLang="en-US" dirty="0"/>
              <a:t>由此可见，接口</a:t>
            </a:r>
            <a:r>
              <a:rPr lang="en-US" altLang="zh-CN" dirty="0"/>
              <a:t>0</a:t>
            </a:r>
            <a:r>
              <a:rPr lang="zh-CN" altLang="en-US" dirty="0"/>
              <a:t>、接口</a:t>
            </a:r>
            <a:r>
              <a:rPr lang="en-US" altLang="zh-CN" dirty="0"/>
              <a:t>1</a:t>
            </a:r>
            <a:r>
              <a:rPr lang="zh-CN" altLang="en-US" dirty="0"/>
              <a:t>、</a:t>
            </a:r>
            <a:r>
              <a:rPr lang="en-US" altLang="zh-CN" dirty="0"/>
              <a:t>……</a:t>
            </a:r>
            <a:r>
              <a:rPr lang="zh-CN" altLang="en-US" dirty="0"/>
              <a:t>接口</a:t>
            </a:r>
            <a:r>
              <a:rPr lang="en-US" altLang="zh-CN" dirty="0"/>
              <a:t>7</a:t>
            </a:r>
            <a:r>
              <a:rPr lang="zh-CN" altLang="en-US" dirty="0"/>
              <a:t>这</a:t>
            </a:r>
            <a:r>
              <a:rPr lang="en-US" altLang="zh-CN" dirty="0"/>
              <a:t>8</a:t>
            </a:r>
            <a:r>
              <a:rPr lang="zh-CN" altLang="en-US" dirty="0"/>
              <a:t>个接口的地址编码分别为</a:t>
            </a:r>
            <a:r>
              <a:rPr lang="en-US" altLang="zh-CN" dirty="0"/>
              <a:t>000</a:t>
            </a:r>
            <a:r>
              <a:rPr lang="zh-CN" altLang="en-US" dirty="0"/>
              <a:t>、</a:t>
            </a:r>
            <a:r>
              <a:rPr lang="en-US" altLang="zh-CN" dirty="0"/>
              <a:t>001</a:t>
            </a:r>
            <a:r>
              <a:rPr lang="zh-CN" altLang="en-US" dirty="0"/>
              <a:t>、</a:t>
            </a:r>
            <a:r>
              <a:rPr lang="en-US" altLang="zh-CN" dirty="0"/>
              <a:t>010</a:t>
            </a:r>
            <a:r>
              <a:rPr lang="zh-CN" altLang="en-US" dirty="0"/>
              <a:t>、</a:t>
            </a:r>
            <a:r>
              <a:rPr lang="en-US" altLang="zh-CN" dirty="0"/>
              <a:t>011……111</a:t>
            </a:r>
            <a:r>
              <a:rPr lang="zh-CN" altLang="en-US" dirty="0"/>
              <a:t>。选择不同的地址，就可以对不同的芯片进行操作，就是各个外设分时使用总线，也就完成了对不同的外设进行读写操作了。</a:t>
            </a:r>
            <a:br>
              <a:rPr lang="zh-CN" altLang="en-US" dirty="0"/>
            </a:br>
            <a:r>
              <a:rPr lang="zh-CN" altLang="en-US" dirty="0">
                <a:sym typeface="+mn-ea"/>
              </a:rPr>
              <a:t>From this, we can see that the address codes for interfaces 0, 1,... to 7 are 000,001,010,011,... 111 respectively. By selecting different addresses, we can operate on different chips. This means each peripheral device shares the bus in turn, thereby enabling read/write operations on various peripherals.</a:t>
            </a:r>
            <a:endParaRPr lang="zh-CN" altLang="en-US" dirty="0"/>
          </a:p>
        </p:txBody>
      </p:sp>
      <p:sp>
        <p:nvSpPr>
          <p:cNvPr id="4" name="标题 3"/>
          <p:cNvSpPr>
            <a:spLocks noGrp="1" noChangeArrowheads="1"/>
          </p:cNvSpPr>
          <p:nvPr>
            <p:ph type="title"/>
          </p:nvPr>
        </p:nvSpPr>
        <p:spPr>
          <a:xfrm>
            <a:off x="794328" y="483870"/>
            <a:ext cx="9431078" cy="504825"/>
          </a:xfrm>
        </p:spPr>
        <p:txBody>
          <a:bodyPr>
            <a:normAutofit fontScale="90000"/>
          </a:bodyPr>
          <a:lstStyle/>
          <a:p>
            <a:pPr eaLnBrk="1" hangingPunct="1"/>
            <a:r>
              <a:rPr lang="en-US" altLang="zh-CN" sz="2800" dirty="0">
                <a:latin typeface="宋体" panose="02010600030101010101" pitchFamily="2" charset="-122"/>
              </a:rPr>
              <a:t>74138</a:t>
            </a:r>
            <a:r>
              <a:rPr lang="zh-CN" altLang="en-US" sz="2800" dirty="0">
                <a:latin typeface="宋体" panose="02010600030101010101" pitchFamily="2" charset="-122"/>
              </a:rPr>
              <a:t>与微控制器连接图</a:t>
            </a:r>
            <a:r>
              <a:rPr lang="en-US" altLang="zh-CN" sz="2800" dirty="0">
                <a:latin typeface="宋体" panose="02010600030101010101" pitchFamily="2" charset="-122"/>
              </a:rPr>
              <a:t>2-11</a:t>
            </a:r>
            <a:r>
              <a:rPr lang="zh-CN" altLang="en-US" sz="2800" dirty="0">
                <a:latin typeface="宋体" panose="02010600030101010101" pitchFamily="2" charset="-122"/>
              </a:rPr>
              <a:t>说明</a:t>
            </a:r>
            <a:br>
              <a:rPr lang="zh-CN" altLang="en-US" sz="2800" dirty="0">
                <a:latin typeface="宋体" panose="02010600030101010101" pitchFamily="2" charset="-122"/>
              </a:rPr>
            </a:br>
            <a:r>
              <a:rPr lang="en-US" altLang="zh-CN" sz="2000" dirty="0"/>
              <a:t>Description of the Connection Diagram Between 74138 and Microcontroller (Figure 2-11)</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8" name="Rectangle 4"/>
          <p:cNvSpPr>
            <a:spLocks noGrp="1" noChangeArrowheads="1"/>
          </p:cNvSpPr>
          <p:nvPr>
            <p:ph type="body" idx="1"/>
          </p:nvPr>
        </p:nvSpPr>
        <p:spPr>
          <a:xfrm>
            <a:off x="572655" y="1303020"/>
            <a:ext cx="11416145" cy="5429250"/>
          </a:xfrm>
        </p:spPr>
        <p:txBody>
          <a:bodyPr>
            <a:normAutofit/>
          </a:bodyPr>
          <a:lstStyle/>
          <a:p>
            <a:pPr marL="0" indent="0" eaLnBrk="1" hangingPunct="1">
              <a:spcAft>
                <a:spcPts val="1200"/>
              </a:spcAft>
              <a:buFontTx/>
              <a:buNone/>
            </a:pPr>
            <a:r>
              <a:rPr lang="zh-CN" altLang="en-US" sz="3200" dirty="0">
                <a:solidFill>
                  <a:srgbClr val="FF0000"/>
                </a:solidFill>
              </a:rPr>
              <a:t> </a:t>
            </a:r>
            <a:r>
              <a:rPr lang="en-US" altLang="zh-CN" sz="3200" dirty="0">
                <a:solidFill>
                  <a:srgbClr val="FF0000"/>
                </a:solidFill>
              </a:rPr>
              <a:t>2.3.1  </a:t>
            </a:r>
            <a:r>
              <a:rPr kumimoji="1" lang="zh-CN" altLang="en-US" sz="3200" dirty="0">
                <a:solidFill>
                  <a:srgbClr val="FF0000"/>
                </a:solidFill>
              </a:rPr>
              <a:t>常用单位及术语</a:t>
            </a:r>
            <a:br>
              <a:rPr kumimoji="1" lang="zh-CN" altLang="en-US" sz="3200" dirty="0">
                <a:solidFill>
                  <a:srgbClr val="FF0000"/>
                </a:solidFill>
              </a:rPr>
            </a:br>
            <a:r>
              <a:rPr lang="en-US" altLang="zh-CN" sz="3200" dirty="0">
                <a:solidFill>
                  <a:srgbClr val="FF0000"/>
                </a:solidFill>
                <a:sym typeface="+mn-ea"/>
              </a:rPr>
              <a:t>Common units and terms</a:t>
            </a:r>
            <a:endParaRPr kumimoji="1" lang="zh-CN" altLang="en-US" sz="3200" dirty="0">
              <a:solidFill>
                <a:srgbClr val="FF0000"/>
              </a:solidFill>
            </a:endParaRPr>
          </a:p>
          <a:p>
            <a:pPr marL="0" indent="0" eaLnBrk="1" hangingPunct="1">
              <a:spcAft>
                <a:spcPts val="1200"/>
              </a:spcAft>
              <a:buFontTx/>
              <a:buNone/>
            </a:pPr>
            <a:r>
              <a:rPr kumimoji="1" lang="en-US" altLang="zh-CN" sz="3200" dirty="0">
                <a:solidFill>
                  <a:srgbClr val="FF0000"/>
                </a:solidFill>
              </a:rPr>
              <a:t>1</a:t>
            </a:r>
            <a:r>
              <a:rPr kumimoji="1" lang="zh-CN" altLang="en-US" sz="3200" dirty="0">
                <a:solidFill>
                  <a:srgbClr val="FF0000"/>
                </a:solidFill>
              </a:rPr>
              <a:t>、位（</a:t>
            </a:r>
            <a:r>
              <a:rPr kumimoji="1" lang="en-US" altLang="zh-CN" sz="3200" dirty="0">
                <a:solidFill>
                  <a:srgbClr val="FF0000"/>
                </a:solidFill>
              </a:rPr>
              <a:t>bit</a:t>
            </a:r>
            <a:r>
              <a:rPr kumimoji="1" lang="zh-CN" altLang="en-US" sz="3200" dirty="0">
                <a:solidFill>
                  <a:srgbClr val="FF0000"/>
                </a:solidFill>
              </a:rPr>
              <a:t>）</a:t>
            </a:r>
          </a:p>
          <a:p>
            <a:pPr marL="0" indent="0" eaLnBrk="1" hangingPunct="1">
              <a:spcAft>
                <a:spcPts val="1200"/>
              </a:spcAft>
              <a:buFontTx/>
              <a:buNone/>
            </a:pPr>
            <a:r>
              <a:rPr kumimoji="1" lang="zh-CN" altLang="en-US" dirty="0"/>
              <a:t>    计算机所能表示的</a:t>
            </a:r>
            <a:r>
              <a:rPr kumimoji="1" lang="zh-CN" altLang="en-US" dirty="0">
                <a:solidFill>
                  <a:srgbClr val="CC3300"/>
                </a:solidFill>
              </a:rPr>
              <a:t>最小</a:t>
            </a:r>
            <a:r>
              <a:rPr kumimoji="1" lang="zh-CN" altLang="en-US" dirty="0"/>
              <a:t>的数字单位，即，二进制数的位。每位只有两种状态</a:t>
            </a:r>
            <a:r>
              <a:rPr kumimoji="1" lang="en-US" altLang="zh-CN" dirty="0">
                <a:solidFill>
                  <a:srgbClr val="CC3300"/>
                </a:solidFill>
              </a:rPr>
              <a:t>0</a:t>
            </a:r>
            <a:r>
              <a:rPr kumimoji="1" lang="zh-CN" altLang="en-US" dirty="0"/>
              <a:t>、</a:t>
            </a:r>
            <a:r>
              <a:rPr kumimoji="1" lang="en-US" altLang="zh-CN" dirty="0">
                <a:solidFill>
                  <a:srgbClr val="CC3300"/>
                </a:solidFill>
              </a:rPr>
              <a:t>1</a:t>
            </a:r>
            <a:r>
              <a:rPr kumimoji="1" lang="zh-CN" altLang="en-US" dirty="0"/>
              <a:t>。 常用</a:t>
            </a:r>
            <a:r>
              <a:rPr kumimoji="1" lang="en-US" altLang="zh-CN" dirty="0">
                <a:solidFill>
                  <a:srgbClr val="FF0000"/>
                </a:solidFill>
              </a:rPr>
              <a:t>b</a:t>
            </a:r>
            <a:r>
              <a:rPr kumimoji="1" lang="zh-CN" altLang="en-US" dirty="0"/>
              <a:t>表示。</a:t>
            </a:r>
            <a:br>
              <a:rPr kumimoji="1" lang="zh-CN" altLang="en-US" dirty="0"/>
            </a:br>
            <a:r>
              <a:rPr kumimoji="1" lang="zh-CN" altLang="en-US" dirty="0">
                <a:sym typeface="+mn-ea"/>
              </a:rPr>
              <a:t>The </a:t>
            </a:r>
            <a:r>
              <a:rPr kumimoji="1" lang="zh-CN" altLang="en-US" dirty="0">
                <a:solidFill>
                  <a:srgbClr val="CC3300"/>
                </a:solidFill>
                <a:sym typeface="+mn-ea"/>
              </a:rPr>
              <a:t>smallest unit</a:t>
            </a:r>
            <a:r>
              <a:rPr kumimoji="1" lang="zh-CN" altLang="en-US" dirty="0">
                <a:sym typeface="+mn-ea"/>
              </a:rPr>
              <a:t> of a number that can be represented by a computer, namely, the bit of a binary number. Each bit has </a:t>
            </a:r>
            <a:r>
              <a:rPr kumimoji="1" lang="en-US" altLang="zh-CN" dirty="0">
                <a:solidFill>
                  <a:srgbClr val="CC3300"/>
                </a:solidFill>
                <a:sym typeface="+mn-ea"/>
              </a:rPr>
              <a:t>only two states, 0 and 1</a:t>
            </a:r>
            <a:r>
              <a:rPr kumimoji="1" lang="zh-CN" altLang="en-US" dirty="0">
                <a:sym typeface="+mn-ea"/>
              </a:rPr>
              <a:t>. It is often </a:t>
            </a:r>
            <a:r>
              <a:rPr kumimoji="1" lang="en-US" altLang="zh-CN" dirty="0">
                <a:solidFill>
                  <a:srgbClr val="FF0000"/>
                </a:solidFill>
                <a:sym typeface="+mn-ea"/>
              </a:rPr>
              <a:t>denoted by b</a:t>
            </a:r>
            <a:r>
              <a:rPr kumimoji="1" lang="zh-CN" altLang="en-US" dirty="0">
                <a:sym typeface="+mn-ea"/>
              </a:rPr>
              <a:t>.</a:t>
            </a:r>
            <a:endParaRPr kumimoji="1" lang="zh-CN" altLang="en-US" dirty="0"/>
          </a:p>
          <a:p>
            <a:pPr marL="0" indent="0" eaLnBrk="1" hangingPunct="1">
              <a:spcAft>
                <a:spcPts val="1200"/>
              </a:spcAft>
              <a:buFontTx/>
              <a:buNone/>
            </a:pPr>
            <a:r>
              <a:rPr kumimoji="1" lang="en-US" altLang="zh-CN" sz="3200" dirty="0">
                <a:solidFill>
                  <a:srgbClr val="FF0000"/>
                </a:solidFill>
              </a:rPr>
              <a:t>2</a:t>
            </a:r>
            <a:r>
              <a:rPr kumimoji="1" lang="zh-CN" altLang="en-US" sz="3200" dirty="0">
                <a:solidFill>
                  <a:srgbClr val="FF0000"/>
                </a:solidFill>
              </a:rPr>
              <a:t>、字节（</a:t>
            </a:r>
            <a:r>
              <a:rPr kumimoji="1" lang="en-US" altLang="zh-CN" sz="3200" dirty="0">
                <a:solidFill>
                  <a:srgbClr val="FF0000"/>
                </a:solidFill>
              </a:rPr>
              <a:t>Byte</a:t>
            </a:r>
            <a:r>
              <a:rPr kumimoji="1" lang="zh-CN" altLang="en-US" sz="3200" dirty="0">
                <a:solidFill>
                  <a:srgbClr val="FF0000"/>
                </a:solidFill>
              </a:rPr>
              <a:t>）</a:t>
            </a:r>
          </a:p>
          <a:p>
            <a:pPr marL="0" indent="0" eaLnBrk="1" hangingPunct="1">
              <a:spcAft>
                <a:spcPts val="1200"/>
              </a:spcAft>
              <a:buFontTx/>
              <a:buNone/>
            </a:pPr>
            <a:r>
              <a:rPr kumimoji="1" lang="zh-CN" altLang="en-US" dirty="0">
                <a:solidFill>
                  <a:srgbClr val="CC3300"/>
                </a:solidFill>
              </a:rPr>
              <a:t>   </a:t>
            </a:r>
            <a:r>
              <a:rPr kumimoji="1" lang="en-US" altLang="zh-CN" dirty="0">
                <a:solidFill>
                  <a:srgbClr val="CC3300"/>
                </a:solidFill>
              </a:rPr>
              <a:t>8</a:t>
            </a:r>
            <a:r>
              <a:rPr kumimoji="1" lang="zh-CN" altLang="en-US" dirty="0">
                <a:solidFill>
                  <a:srgbClr val="CC3300"/>
                </a:solidFill>
              </a:rPr>
              <a:t>位</a:t>
            </a:r>
            <a:r>
              <a:rPr kumimoji="1" lang="zh-CN" altLang="en-US" dirty="0"/>
              <a:t>（</a:t>
            </a:r>
            <a:r>
              <a:rPr kumimoji="1" lang="en-US" altLang="zh-CN" dirty="0"/>
              <a:t>bit</a:t>
            </a:r>
            <a:r>
              <a:rPr kumimoji="1" lang="zh-CN" altLang="en-US" dirty="0"/>
              <a:t>）为一个字节，是内存的基本单位，常用</a:t>
            </a:r>
            <a:r>
              <a:rPr kumimoji="1" lang="en-US" altLang="zh-CN" dirty="0">
                <a:solidFill>
                  <a:srgbClr val="FF0000"/>
                </a:solidFill>
              </a:rPr>
              <a:t>B</a:t>
            </a:r>
            <a:r>
              <a:rPr kumimoji="1" lang="zh-CN" altLang="en-US" dirty="0"/>
              <a:t>表示。</a:t>
            </a:r>
            <a:br>
              <a:rPr kumimoji="1" lang="zh-CN" altLang="en-US" dirty="0"/>
            </a:br>
            <a:r>
              <a:rPr kumimoji="1" lang="en-US" altLang="zh-CN" dirty="0">
                <a:solidFill>
                  <a:srgbClr val="CC3300"/>
                </a:solidFill>
                <a:sym typeface="+mn-ea"/>
              </a:rPr>
              <a:t>Eight bits (bit) is a byte, </a:t>
            </a:r>
            <a:r>
              <a:rPr kumimoji="1" lang="zh-CN" altLang="en-US" dirty="0">
                <a:sym typeface="+mn-ea"/>
              </a:rPr>
              <a:t>which is the basic unit of memory. It is often denoted </a:t>
            </a:r>
            <a:r>
              <a:rPr kumimoji="1" lang="en-US" altLang="zh-CN" dirty="0">
                <a:solidFill>
                  <a:srgbClr val="CC3300"/>
                </a:solidFill>
                <a:sym typeface="+mn-ea"/>
              </a:rPr>
              <a:t>by B.</a:t>
            </a:r>
            <a:endParaRPr kumimoji="1" lang="zh-CN" altLang="en-US" dirty="0"/>
          </a:p>
          <a:p>
            <a:pPr marL="0" indent="0" eaLnBrk="1" hangingPunct="1">
              <a:spcAft>
                <a:spcPts val="1200"/>
              </a:spcAft>
              <a:buFontTx/>
              <a:buNone/>
            </a:pPr>
            <a:endParaRPr kumimoji="1" lang="zh-CN" altLang="en-US" dirty="0"/>
          </a:p>
          <a:p>
            <a:pPr marL="0" indent="0" eaLnBrk="1" hangingPunct="1">
              <a:spcAft>
                <a:spcPts val="1200"/>
              </a:spcAft>
              <a:buFontTx/>
              <a:buNone/>
            </a:pPr>
            <a:endParaRPr kumimoji="1" lang="en-US" altLang="zh-CN" dirty="0"/>
          </a:p>
        </p:txBody>
      </p:sp>
      <p:sp>
        <p:nvSpPr>
          <p:cNvPr id="125955" name="Rectangle 5"/>
          <p:cNvSpPr>
            <a:spLocks noGrp="1" noChangeArrowheads="1"/>
          </p:cNvSpPr>
          <p:nvPr>
            <p:ph type="title"/>
          </p:nvPr>
        </p:nvSpPr>
        <p:spPr>
          <a:xfrm>
            <a:off x="754351" y="555648"/>
            <a:ext cx="8739187" cy="504825"/>
          </a:xfrm>
        </p:spPr>
        <p:txBody>
          <a:bodyPr vert="horz" lIns="91440" tIns="45720" rIns="91440" bIns="45720" rtlCol="0" anchor="b">
            <a:noAutofit/>
          </a:bodyPr>
          <a:lstStyle/>
          <a:p>
            <a:r>
              <a:rPr lang="en-US" altLang="zh-CN" sz="3200" dirty="0">
                <a:latin typeface="宋体" panose="02010600030101010101" pitchFamily="2" charset="-122"/>
              </a:rPr>
              <a:t>2.3 </a:t>
            </a:r>
            <a:r>
              <a:rPr lang="zh-CN" altLang="en-US" sz="3200" dirty="0">
                <a:latin typeface="宋体" panose="02010600030101010101" pitchFamily="2" charset="-122"/>
              </a:rPr>
              <a:t>微型计算机的常用技术术语和技术</a:t>
            </a:r>
            <a:br>
              <a:rPr lang="zh-CN" altLang="en-US" sz="3200" dirty="0">
                <a:latin typeface="宋体" panose="02010600030101010101" pitchFamily="2" charset="-122"/>
              </a:rPr>
            </a:br>
            <a:r>
              <a:rPr lang="en-US" altLang="zh-CN" sz="2400" dirty="0">
                <a:latin typeface="宋体" panose="02010600030101010101" pitchFamily="2" charset="-122"/>
                <a:sym typeface="+mn-ea"/>
              </a:rPr>
              <a:t>Common technical terms and techniques for microcomputers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85348">
                                            <p:txEl>
                                              <p:pRg st="0" end="0"/>
                                            </p:txEl>
                                          </p:spTgt>
                                        </p:tgtEl>
                                        <p:attrNameLst>
                                          <p:attrName>style.visibility</p:attrName>
                                        </p:attrNameLst>
                                      </p:cBhvr>
                                      <p:to>
                                        <p:strVal val="visible"/>
                                      </p:to>
                                    </p:set>
                                    <p:animEffect transition="in" filter="wipe(down)">
                                      <p:cBhvr>
                                        <p:cTn id="7" dur="500"/>
                                        <p:tgtEl>
                                          <p:spTgt spid="185348">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85348">
                                            <p:txEl>
                                              <p:pRg st="1" end="1"/>
                                            </p:txEl>
                                          </p:spTgt>
                                        </p:tgtEl>
                                        <p:attrNameLst>
                                          <p:attrName>style.visibility</p:attrName>
                                        </p:attrNameLst>
                                      </p:cBhvr>
                                      <p:to>
                                        <p:strVal val="visible"/>
                                      </p:to>
                                    </p:set>
                                    <p:animEffect transition="in" filter="wipe(down)">
                                      <p:cBhvr>
                                        <p:cTn id="10" dur="500"/>
                                        <p:tgtEl>
                                          <p:spTgt spid="185348">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85348">
                                            <p:txEl>
                                              <p:pRg st="2" end="2"/>
                                            </p:txEl>
                                          </p:spTgt>
                                        </p:tgtEl>
                                        <p:attrNameLst>
                                          <p:attrName>style.visibility</p:attrName>
                                        </p:attrNameLst>
                                      </p:cBhvr>
                                      <p:to>
                                        <p:strVal val="visible"/>
                                      </p:to>
                                    </p:set>
                                    <p:animEffect transition="in" filter="wipe(down)">
                                      <p:cBhvr>
                                        <p:cTn id="13" dur="500"/>
                                        <p:tgtEl>
                                          <p:spTgt spid="185348">
                                            <p:txEl>
                                              <p:pRg st="2" end="2"/>
                                            </p:txEl>
                                          </p:spTgt>
                                        </p:tgtEl>
                                      </p:cBhvr>
                                    </p:animEffect>
                                  </p:childTnLst>
                                </p:cTn>
                              </p:par>
                            </p:childTnLst>
                          </p:cTn>
                        </p:par>
                        <p:par>
                          <p:cTn id="14" fill="hold">
                            <p:stCondLst>
                              <p:cond delay="500"/>
                            </p:stCondLst>
                            <p:childTnLst>
                              <p:par>
                                <p:cTn id="15" presetID="22" presetClass="entr" presetSubtype="4" fill="hold" nodeType="afterEffect">
                                  <p:stCondLst>
                                    <p:cond delay="0"/>
                                  </p:stCondLst>
                                  <p:childTnLst>
                                    <p:set>
                                      <p:cBhvr>
                                        <p:cTn id="16" dur="1" fill="hold">
                                          <p:stCondLst>
                                            <p:cond delay="0"/>
                                          </p:stCondLst>
                                        </p:cTn>
                                        <p:tgtEl>
                                          <p:spTgt spid="185348">
                                            <p:txEl>
                                              <p:pRg st="3" end="3"/>
                                            </p:txEl>
                                          </p:spTgt>
                                        </p:tgtEl>
                                        <p:attrNameLst>
                                          <p:attrName>style.visibility</p:attrName>
                                        </p:attrNameLst>
                                      </p:cBhvr>
                                      <p:to>
                                        <p:strVal val="visible"/>
                                      </p:to>
                                    </p:set>
                                    <p:animEffect transition="in" filter="wipe(down)">
                                      <p:cBhvr>
                                        <p:cTn id="17" dur="500"/>
                                        <p:tgtEl>
                                          <p:spTgt spid="185348">
                                            <p:txEl>
                                              <p:pRg st="3" end="3"/>
                                            </p:txEl>
                                          </p:spTgt>
                                        </p:tgtEl>
                                      </p:cBhvr>
                                    </p:animEffect>
                                  </p:childTnLst>
                                </p:cTn>
                              </p:par>
                            </p:childTnLst>
                          </p:cTn>
                        </p:par>
                        <p:par>
                          <p:cTn id="18" fill="hold">
                            <p:stCondLst>
                              <p:cond delay="1000"/>
                            </p:stCondLst>
                            <p:childTnLst>
                              <p:par>
                                <p:cTn id="19" presetID="22" presetClass="entr" presetSubtype="4" fill="hold" nodeType="afterEffect">
                                  <p:stCondLst>
                                    <p:cond delay="0"/>
                                  </p:stCondLst>
                                  <p:childTnLst>
                                    <p:set>
                                      <p:cBhvr>
                                        <p:cTn id="20" dur="1" fill="hold">
                                          <p:stCondLst>
                                            <p:cond delay="0"/>
                                          </p:stCondLst>
                                        </p:cTn>
                                        <p:tgtEl>
                                          <p:spTgt spid="185348">
                                            <p:txEl>
                                              <p:pRg st="4" end="4"/>
                                            </p:txEl>
                                          </p:spTgt>
                                        </p:tgtEl>
                                        <p:attrNameLst>
                                          <p:attrName>style.visibility</p:attrName>
                                        </p:attrNameLst>
                                      </p:cBhvr>
                                      <p:to>
                                        <p:strVal val="visible"/>
                                      </p:to>
                                    </p:set>
                                    <p:animEffect transition="in" filter="wipe(down)">
                                      <p:cBhvr>
                                        <p:cTn id="21" dur="500"/>
                                        <p:tgtEl>
                                          <p:spTgt spid="1853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Rectangle 3"/>
          <p:cNvSpPr>
            <a:spLocks noGrp="1" noChangeArrowheads="1"/>
          </p:cNvSpPr>
          <p:nvPr>
            <p:ph idx="1"/>
          </p:nvPr>
        </p:nvSpPr>
        <p:spPr>
          <a:xfrm>
            <a:off x="405430" y="1230630"/>
            <a:ext cx="11315515" cy="5558155"/>
          </a:xfrm>
        </p:spPr>
        <p:txBody>
          <a:bodyPr>
            <a:normAutofit/>
          </a:bodyPr>
          <a:lstStyle/>
          <a:p>
            <a:pPr marL="0" indent="0" eaLnBrk="1" hangingPunct="1">
              <a:spcBef>
                <a:spcPct val="0"/>
              </a:spcBef>
              <a:buFontTx/>
              <a:buNone/>
            </a:pPr>
            <a:r>
              <a:rPr kumimoji="1" lang="en-US" altLang="zh-CN" dirty="0">
                <a:solidFill>
                  <a:srgbClr val="FF0000"/>
                </a:solidFill>
              </a:rPr>
              <a:t>3</a:t>
            </a:r>
            <a:r>
              <a:rPr kumimoji="1" lang="zh-CN" altLang="en-US" dirty="0">
                <a:solidFill>
                  <a:srgbClr val="FF0000"/>
                </a:solidFill>
              </a:rPr>
              <a:t>、字（</a:t>
            </a:r>
            <a:r>
              <a:rPr kumimoji="1" lang="en-US" altLang="zh-CN" dirty="0">
                <a:solidFill>
                  <a:srgbClr val="FF0000"/>
                </a:solidFill>
              </a:rPr>
              <a:t>word</a:t>
            </a:r>
            <a:r>
              <a:rPr kumimoji="1" lang="zh-CN" altLang="en-US" dirty="0">
                <a:solidFill>
                  <a:srgbClr val="FF0000"/>
                </a:solidFill>
              </a:rPr>
              <a:t>）</a:t>
            </a:r>
          </a:p>
          <a:p>
            <a:pPr marL="0" indent="0" eaLnBrk="1" hangingPunct="1">
              <a:spcBef>
                <a:spcPct val="0"/>
              </a:spcBef>
              <a:buFontTx/>
              <a:buNone/>
            </a:pPr>
            <a:r>
              <a:rPr kumimoji="1" lang="zh-CN" altLang="en-US" dirty="0">
                <a:solidFill>
                  <a:srgbClr val="CC3300"/>
                </a:solidFill>
              </a:rPr>
              <a:t>   </a:t>
            </a:r>
            <a:r>
              <a:rPr kumimoji="1" lang="en-US" altLang="zh-CN" dirty="0">
                <a:solidFill>
                  <a:srgbClr val="CC3300"/>
                </a:solidFill>
              </a:rPr>
              <a:t>16</a:t>
            </a:r>
            <a:r>
              <a:rPr kumimoji="1" lang="zh-CN" altLang="en-US" dirty="0">
                <a:solidFill>
                  <a:srgbClr val="CC3300"/>
                </a:solidFill>
              </a:rPr>
              <a:t>位</a:t>
            </a:r>
            <a:r>
              <a:rPr kumimoji="1" lang="zh-CN" altLang="en-US" dirty="0"/>
              <a:t>二进制数称为一个字，</a:t>
            </a:r>
            <a:r>
              <a:rPr kumimoji="1" lang="zh-CN" altLang="en-US" dirty="0">
                <a:solidFill>
                  <a:srgbClr val="C00000"/>
                </a:solidFill>
              </a:rPr>
              <a:t>一个字等于两个字节</a:t>
            </a:r>
            <a:r>
              <a:rPr kumimoji="1" lang="zh-CN" altLang="en-US" dirty="0"/>
              <a:t>。</a:t>
            </a:r>
            <a:br>
              <a:rPr kumimoji="1" lang="zh-CN" altLang="en-US" dirty="0"/>
            </a:br>
            <a:r>
              <a:rPr kumimoji="1" lang="en-US" altLang="zh-CN" dirty="0">
                <a:solidFill>
                  <a:srgbClr val="CC3300"/>
                </a:solidFill>
                <a:sym typeface="+mn-ea"/>
              </a:rPr>
              <a:t>A 16-bit binary number is called a word, and a word equals two bytes.</a:t>
            </a:r>
            <a:endParaRPr kumimoji="1" lang="en-US" altLang="zh-CN" dirty="0"/>
          </a:p>
          <a:p>
            <a:pPr marL="0" indent="0" eaLnBrk="1" hangingPunct="1">
              <a:spcBef>
                <a:spcPct val="0"/>
              </a:spcBef>
              <a:buFontTx/>
              <a:buNone/>
            </a:pPr>
            <a:endParaRPr kumimoji="1" lang="en-US" altLang="zh-CN" dirty="0"/>
          </a:p>
          <a:p>
            <a:pPr marL="0" indent="0" eaLnBrk="1" hangingPunct="1">
              <a:spcBef>
                <a:spcPts val="600"/>
              </a:spcBef>
              <a:buFontTx/>
              <a:buNone/>
            </a:pPr>
            <a:r>
              <a:rPr kumimoji="1" lang="en-US" altLang="zh-CN" dirty="0">
                <a:solidFill>
                  <a:srgbClr val="FF0000"/>
                </a:solidFill>
              </a:rPr>
              <a:t>4</a:t>
            </a:r>
            <a:r>
              <a:rPr kumimoji="1" lang="zh-CN" altLang="en-US" dirty="0">
                <a:solidFill>
                  <a:srgbClr val="FF0000"/>
                </a:solidFill>
              </a:rPr>
              <a:t>、字长（</a:t>
            </a:r>
            <a:r>
              <a:rPr kumimoji="1" lang="en-US" altLang="zh-CN" dirty="0">
                <a:solidFill>
                  <a:srgbClr val="FF0000"/>
                </a:solidFill>
                <a:sym typeface="+mn-ea"/>
              </a:rPr>
              <a:t>Length of characters</a:t>
            </a:r>
            <a:r>
              <a:rPr kumimoji="1" lang="zh-CN" altLang="en-US" dirty="0">
                <a:solidFill>
                  <a:srgbClr val="FF0000"/>
                </a:solidFill>
              </a:rPr>
              <a:t>）</a:t>
            </a:r>
          </a:p>
          <a:p>
            <a:pPr marL="0" indent="0" eaLnBrk="1" hangingPunct="1">
              <a:spcBef>
                <a:spcPts val="600"/>
              </a:spcBef>
              <a:spcAft>
                <a:spcPts val="1200"/>
              </a:spcAft>
              <a:buFontTx/>
              <a:buNone/>
            </a:pPr>
            <a:r>
              <a:rPr kumimoji="1" lang="zh-CN" altLang="en-US" dirty="0">
                <a:solidFill>
                  <a:srgbClr val="FF0000"/>
                </a:solidFill>
              </a:rPr>
              <a:t>字长</a:t>
            </a:r>
            <a:r>
              <a:rPr kumimoji="1" lang="zh-CN" altLang="en-US" dirty="0"/>
              <a:t>：一般说来，计算机在同一时间内处理的一组二进制数称为</a:t>
            </a:r>
            <a:r>
              <a:rPr kumimoji="1" lang="zh-CN" altLang="en-US" dirty="0">
                <a:solidFill>
                  <a:srgbClr val="FF0000"/>
                </a:solidFill>
              </a:rPr>
              <a:t>一个计算机的“字”</a:t>
            </a:r>
            <a:r>
              <a:rPr kumimoji="1" lang="zh-CN" altLang="en-US" dirty="0"/>
              <a:t>，而这组二进制数的位数就是“</a:t>
            </a:r>
            <a:r>
              <a:rPr kumimoji="1" lang="zh-CN" altLang="en-US" dirty="0">
                <a:solidFill>
                  <a:srgbClr val="FF0000"/>
                </a:solidFill>
              </a:rPr>
              <a:t>字长</a:t>
            </a:r>
            <a:r>
              <a:rPr kumimoji="1" lang="zh-CN" altLang="en-US" dirty="0"/>
              <a:t>”。</a:t>
            </a:r>
            <a:br>
              <a:rPr kumimoji="1" lang="zh-CN" altLang="en-US" dirty="0"/>
            </a:br>
            <a:r>
              <a:rPr kumimoji="1" lang="zh-CN" altLang="en-US" dirty="0">
                <a:solidFill>
                  <a:srgbClr val="FF0000"/>
                </a:solidFill>
                <a:sym typeface="+mn-ea"/>
              </a:rPr>
              <a:t>Word length: </a:t>
            </a:r>
            <a:r>
              <a:rPr kumimoji="1" lang="zh-CN" altLang="en-US" dirty="0">
                <a:sym typeface="+mn-ea"/>
              </a:rPr>
              <a:t>Generally speaking, the set of binary numbers that a computer can process at the same time</a:t>
            </a:r>
            <a:r>
              <a:rPr kumimoji="1" lang="zh-CN" altLang="en-US" dirty="0">
                <a:solidFill>
                  <a:srgbClr val="FF0000"/>
                </a:solidFill>
                <a:sym typeface="+mn-ea"/>
              </a:rPr>
              <a:t> is called a "word" of the computer, </a:t>
            </a:r>
            <a:r>
              <a:rPr kumimoji="1" lang="zh-CN" altLang="en-US" dirty="0">
                <a:sym typeface="+mn-ea"/>
              </a:rPr>
              <a:t>and the number of bits in this set of binary numbers</a:t>
            </a:r>
            <a:r>
              <a:rPr kumimoji="1" lang="zh-CN" altLang="en-US" dirty="0">
                <a:solidFill>
                  <a:srgbClr val="FF0000"/>
                </a:solidFill>
                <a:sym typeface="+mn-ea"/>
              </a:rPr>
              <a:t> is the "word length".</a:t>
            </a:r>
            <a:endParaRPr kumimoji="1" lang="en-US" altLang="zh-CN" dirty="0"/>
          </a:p>
          <a:p>
            <a:pPr marL="0" indent="0" eaLnBrk="1" hangingPunct="1">
              <a:spcBef>
                <a:spcPts val="600"/>
              </a:spcBef>
              <a:spcAft>
                <a:spcPts val="1200"/>
              </a:spcAft>
              <a:buFontTx/>
              <a:buNone/>
            </a:pPr>
            <a:r>
              <a:rPr kumimoji="1" lang="zh-CN" altLang="en-US" dirty="0">
                <a:solidFill>
                  <a:srgbClr val="FF0000"/>
                </a:solidFill>
              </a:rPr>
              <a:t>字长即字的长度</a:t>
            </a:r>
            <a:r>
              <a:rPr kumimoji="1" lang="en-US" altLang="zh-CN" dirty="0"/>
              <a:t>, </a:t>
            </a:r>
            <a:r>
              <a:rPr kumimoji="1" lang="zh-CN" altLang="en-US" dirty="0"/>
              <a:t>是一次可并行处理数据的位数即</a:t>
            </a:r>
            <a:r>
              <a:rPr kumimoji="1" lang="zh-CN" altLang="en-US" dirty="0">
                <a:solidFill>
                  <a:srgbClr val="FF0000"/>
                </a:solidFill>
              </a:rPr>
              <a:t>数据线的条数</a:t>
            </a:r>
            <a:r>
              <a:rPr kumimoji="1" lang="zh-CN" altLang="en-US" dirty="0"/>
              <a:t>。</a:t>
            </a:r>
            <a:r>
              <a:rPr kumimoji="1" lang="zh-CN" altLang="en-US" dirty="0">
                <a:solidFill>
                  <a:srgbClr val="FF0000"/>
                </a:solidFill>
              </a:rPr>
              <a:t>常与</a:t>
            </a:r>
            <a:r>
              <a:rPr kumimoji="1" lang="en-US" altLang="zh-CN" dirty="0">
                <a:solidFill>
                  <a:srgbClr val="FF0000"/>
                </a:solidFill>
              </a:rPr>
              <a:t>CPU</a:t>
            </a:r>
            <a:r>
              <a:rPr kumimoji="1" lang="zh-CN" altLang="en-US" dirty="0">
                <a:solidFill>
                  <a:srgbClr val="FF0000"/>
                </a:solidFill>
              </a:rPr>
              <a:t>内部寄存器</a:t>
            </a:r>
            <a:r>
              <a:rPr kumimoji="1" lang="en-US" altLang="zh-CN" dirty="0">
                <a:solidFill>
                  <a:srgbClr val="FF0000"/>
                </a:solidFill>
              </a:rPr>
              <a:t>, </a:t>
            </a:r>
            <a:r>
              <a:rPr kumimoji="1" lang="zh-CN" altLang="en-US" dirty="0">
                <a:solidFill>
                  <a:srgbClr val="FF0000"/>
                </a:solidFill>
              </a:rPr>
              <a:t>运算装置</a:t>
            </a:r>
            <a:r>
              <a:rPr kumimoji="1" lang="en-US" altLang="zh-CN" dirty="0">
                <a:solidFill>
                  <a:srgbClr val="FF0000"/>
                </a:solidFill>
              </a:rPr>
              <a:t>, </a:t>
            </a:r>
            <a:r>
              <a:rPr kumimoji="1" lang="zh-CN" altLang="en-US" dirty="0">
                <a:solidFill>
                  <a:srgbClr val="FF0000"/>
                </a:solidFill>
              </a:rPr>
              <a:t>总线宽度一致</a:t>
            </a:r>
            <a:r>
              <a:rPr kumimoji="1" lang="zh-CN" altLang="en-US" dirty="0"/>
              <a:t>。常用微机</a:t>
            </a:r>
            <a:r>
              <a:rPr kumimoji="1" lang="zh-CN" altLang="en-US" dirty="0">
                <a:solidFill>
                  <a:srgbClr val="FF00FF"/>
                </a:solidFill>
              </a:rPr>
              <a:t>字长有</a:t>
            </a:r>
            <a:r>
              <a:rPr kumimoji="1" lang="en-US" altLang="zh-CN" dirty="0">
                <a:solidFill>
                  <a:srgbClr val="FF00FF"/>
                </a:solidFill>
              </a:rPr>
              <a:t>8</a:t>
            </a:r>
            <a:r>
              <a:rPr kumimoji="1" lang="zh-CN" altLang="en-US" dirty="0">
                <a:solidFill>
                  <a:srgbClr val="FF00FF"/>
                </a:solidFill>
              </a:rPr>
              <a:t>位</a:t>
            </a:r>
            <a:r>
              <a:rPr kumimoji="1" lang="en-US" altLang="zh-CN" dirty="0">
                <a:solidFill>
                  <a:srgbClr val="FF00FF"/>
                </a:solidFill>
              </a:rPr>
              <a:t>, 16</a:t>
            </a:r>
            <a:r>
              <a:rPr kumimoji="1" lang="zh-CN" altLang="en-US" dirty="0">
                <a:solidFill>
                  <a:srgbClr val="FF00FF"/>
                </a:solidFill>
              </a:rPr>
              <a:t>位和</a:t>
            </a:r>
            <a:r>
              <a:rPr kumimoji="1" lang="en-US" altLang="zh-CN" dirty="0">
                <a:solidFill>
                  <a:srgbClr val="FF00FF"/>
                </a:solidFill>
              </a:rPr>
              <a:t>32</a:t>
            </a:r>
            <a:r>
              <a:rPr kumimoji="1" lang="zh-CN" altLang="en-US" dirty="0">
                <a:solidFill>
                  <a:srgbClr val="FF00FF"/>
                </a:solidFill>
              </a:rPr>
              <a:t>位</a:t>
            </a:r>
            <a:r>
              <a:rPr kumimoji="1" lang="zh-CN" altLang="en-US" dirty="0"/>
              <a:t>。</a:t>
            </a:r>
            <a:br>
              <a:rPr kumimoji="1" lang="zh-CN" altLang="en-US" dirty="0"/>
            </a:br>
            <a:r>
              <a:rPr kumimoji="1" lang="zh-CN" altLang="en-US" dirty="0">
                <a:solidFill>
                  <a:srgbClr val="FF0000"/>
                </a:solidFill>
                <a:sym typeface="+mn-ea"/>
              </a:rPr>
              <a:t>Byte length refers to </a:t>
            </a:r>
            <a:r>
              <a:rPr kumimoji="1" lang="zh-CN" altLang="en-US" dirty="0">
                <a:sym typeface="+mn-ea"/>
              </a:rPr>
              <a:t>the number of bits in a word that can be processed in parallel,</a:t>
            </a:r>
            <a:r>
              <a:rPr kumimoji="1" lang="zh-CN" altLang="en-US" dirty="0">
                <a:solidFill>
                  <a:srgbClr val="FF0000"/>
                </a:solidFill>
                <a:sym typeface="+mn-ea"/>
              </a:rPr>
              <a:t> i.e., the number of data lines. It is usually consistent with the CPUs internal registers, arithmetic units, and bus width. </a:t>
            </a:r>
            <a:r>
              <a:rPr kumimoji="1" lang="zh-CN" altLang="en-US" dirty="0">
                <a:solidFill>
                  <a:srgbClr val="FF00FF"/>
                </a:solidFill>
                <a:sym typeface="+mn-ea"/>
              </a:rPr>
              <a:t>Common microcomputer byte lengths include 8-bit, 16-bit, and 32-bit.</a:t>
            </a:r>
            <a:endParaRPr kumimoji="1" lang="zh-CN" altLang="en-US" dirty="0"/>
          </a:p>
          <a:p>
            <a:pPr marL="0" indent="0" eaLnBrk="1" hangingPunct="1">
              <a:spcBef>
                <a:spcPts val="600"/>
              </a:spcBef>
              <a:spcAft>
                <a:spcPts val="1200"/>
              </a:spcAft>
              <a:buFontTx/>
              <a:buNone/>
            </a:pPr>
            <a:endParaRPr kumimoji="1" lang="zh-CN" altLang="en-US" dirty="0"/>
          </a:p>
          <a:p>
            <a:pPr marL="0" indent="0" eaLnBrk="1" hangingPunct="1">
              <a:spcBef>
                <a:spcPts val="600"/>
              </a:spcBef>
              <a:buFontTx/>
              <a:buNone/>
            </a:pPr>
            <a:endParaRPr kumimoji="1" lang="zh-CN" altLang="en-US" dirty="0"/>
          </a:p>
          <a:p>
            <a:pPr marL="0" indent="0" eaLnBrk="1" hangingPunct="1">
              <a:spcBef>
                <a:spcPts val="600"/>
              </a:spcBef>
              <a:buFontTx/>
              <a:buNone/>
            </a:pPr>
            <a:endParaRPr lang="en-US" altLang="zh-CN" dirty="0"/>
          </a:p>
        </p:txBody>
      </p:sp>
      <p:sp>
        <p:nvSpPr>
          <p:cNvPr id="129026" name="标题 2"/>
          <p:cNvSpPr>
            <a:spLocks noGrp="1" noChangeArrowheads="1"/>
          </p:cNvSpPr>
          <p:nvPr>
            <p:ph type="title"/>
          </p:nvPr>
        </p:nvSpPr>
        <p:spPr>
          <a:xfrm>
            <a:off x="405430" y="506083"/>
            <a:ext cx="7335611" cy="504825"/>
          </a:xfrm>
        </p:spPr>
        <p:txBody>
          <a:bodyPr vert="horz" lIns="91440" tIns="45720" rIns="91440" bIns="45720" rtlCol="0" anchor="b">
            <a:noAutofit/>
          </a:bodyPr>
          <a:lstStyle/>
          <a:p>
            <a:pPr algn="ctr"/>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br>
              <a:rPr lang="zh-CN" altLang="en-US" sz="3200" dirty="0">
                <a:latin typeface="宋体" panose="02010600030101010101" pitchFamily="2" charset="-122"/>
              </a:rPr>
            </a:br>
            <a:r>
              <a:rPr lang="en-US" altLang="zh-CN" sz="2800" dirty="0">
                <a:latin typeface="宋体" panose="02010600030101010101" pitchFamily="2" charset="-122"/>
                <a:sym typeface="+mn-ea"/>
              </a:rPr>
              <a:t>Common units and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09923">
                                            <p:txEl>
                                              <p:pRg st="0" end="0"/>
                                            </p:txEl>
                                          </p:spTgt>
                                        </p:tgtEl>
                                        <p:attrNameLst>
                                          <p:attrName>style.visibility</p:attrName>
                                        </p:attrNameLst>
                                      </p:cBhvr>
                                      <p:to>
                                        <p:strVal val="visible"/>
                                      </p:to>
                                    </p:set>
                                    <p:animEffect transition="in" filter="wipe(down)">
                                      <p:cBhvr>
                                        <p:cTn id="7" dur="500"/>
                                        <p:tgtEl>
                                          <p:spTgt spid="20992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09923">
                                            <p:txEl>
                                              <p:pRg st="1" end="1"/>
                                            </p:txEl>
                                          </p:spTgt>
                                        </p:tgtEl>
                                        <p:attrNameLst>
                                          <p:attrName>style.visibility</p:attrName>
                                        </p:attrNameLst>
                                      </p:cBhvr>
                                      <p:to>
                                        <p:strVal val="visible"/>
                                      </p:to>
                                    </p:set>
                                    <p:animEffect transition="in" filter="wipe(down)">
                                      <p:cBhvr>
                                        <p:cTn id="10" dur="500"/>
                                        <p:tgtEl>
                                          <p:spTgt spid="20992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09923">
                                            <p:txEl>
                                              <p:pRg st="3" end="3"/>
                                            </p:txEl>
                                          </p:spTgt>
                                        </p:tgtEl>
                                        <p:attrNameLst>
                                          <p:attrName>style.visibility</p:attrName>
                                        </p:attrNameLst>
                                      </p:cBhvr>
                                      <p:to>
                                        <p:strVal val="visible"/>
                                      </p:to>
                                    </p:set>
                                    <p:animEffect transition="in" filter="wipe(down)">
                                      <p:cBhvr>
                                        <p:cTn id="13" dur="500"/>
                                        <p:tgtEl>
                                          <p:spTgt spid="209923">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09923">
                                            <p:txEl>
                                              <p:pRg st="4" end="4"/>
                                            </p:txEl>
                                          </p:spTgt>
                                        </p:tgtEl>
                                        <p:attrNameLst>
                                          <p:attrName>style.visibility</p:attrName>
                                        </p:attrNameLst>
                                      </p:cBhvr>
                                      <p:to>
                                        <p:strVal val="visible"/>
                                      </p:to>
                                    </p:set>
                                    <p:animEffect transition="in" filter="wipe(down)">
                                      <p:cBhvr>
                                        <p:cTn id="16" dur="500"/>
                                        <p:tgtEl>
                                          <p:spTgt spid="209923">
                                            <p:txEl>
                                              <p:pRg st="4" end="4"/>
                                            </p:txEl>
                                          </p:spTgt>
                                        </p:tgtEl>
                                      </p:cBhvr>
                                    </p:animEffect>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209923">
                                            <p:txEl>
                                              <p:pRg st="5" end="5"/>
                                            </p:txEl>
                                          </p:spTgt>
                                        </p:tgtEl>
                                        <p:attrNameLst>
                                          <p:attrName>style.visibility</p:attrName>
                                        </p:attrNameLst>
                                      </p:cBhvr>
                                      <p:to>
                                        <p:strVal val="visible"/>
                                      </p:to>
                                    </p:set>
                                    <p:animEffect transition="in" filter="wipe(down)">
                                      <p:cBhvr>
                                        <p:cTn id="20" dur="500"/>
                                        <p:tgtEl>
                                          <p:spTgt spid="2099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7" name="Rectangle 3"/>
          <p:cNvSpPr>
            <a:spLocks noGrp="1" noChangeArrowheads="1"/>
          </p:cNvSpPr>
          <p:nvPr>
            <p:ph idx="1"/>
          </p:nvPr>
        </p:nvSpPr>
        <p:spPr>
          <a:xfrm>
            <a:off x="169949" y="1081087"/>
            <a:ext cx="7461077" cy="3058795"/>
          </a:xfrm>
        </p:spPr>
        <p:txBody>
          <a:bodyPr>
            <a:normAutofit/>
          </a:bodyPr>
          <a:lstStyle/>
          <a:p>
            <a:pPr eaLnBrk="1" hangingPunct="1">
              <a:lnSpc>
                <a:spcPct val="150000"/>
              </a:lnSpc>
              <a:buFontTx/>
              <a:buNone/>
            </a:pPr>
            <a:r>
              <a:rPr lang="en-US" altLang="zh-CN" dirty="0">
                <a:solidFill>
                  <a:srgbClr val="FF0000"/>
                </a:solidFill>
              </a:rPr>
              <a:t>5</a:t>
            </a:r>
            <a:r>
              <a:rPr lang="zh-CN" altLang="en-US" dirty="0">
                <a:solidFill>
                  <a:srgbClr val="FF0000"/>
                </a:solidFill>
              </a:rPr>
              <a:t>、数量单位（</a:t>
            </a:r>
            <a:r>
              <a:rPr lang="en-US" altLang="zh-CN" dirty="0">
                <a:solidFill>
                  <a:srgbClr val="FF0000"/>
                </a:solidFill>
                <a:sym typeface="+mn-ea"/>
              </a:rPr>
              <a:t>Quantity units</a:t>
            </a:r>
            <a:r>
              <a:rPr lang="zh-CN" altLang="en-US" dirty="0">
                <a:solidFill>
                  <a:srgbClr val="FF0000"/>
                </a:solidFill>
              </a:rPr>
              <a:t>）</a:t>
            </a:r>
          </a:p>
          <a:p>
            <a:pPr indent="0" eaLnBrk="1" hangingPunct="1">
              <a:lnSpc>
                <a:spcPct val="150000"/>
              </a:lnSpc>
              <a:buFontTx/>
              <a:buNone/>
            </a:pPr>
            <a:r>
              <a:rPr lang="en-US" altLang="zh-CN" dirty="0">
                <a:solidFill>
                  <a:srgbClr val="FF0000"/>
                </a:solidFill>
              </a:rPr>
              <a:t>          K</a:t>
            </a:r>
            <a:r>
              <a:rPr lang="en-US" altLang="zh-CN" dirty="0"/>
              <a:t>  </a:t>
            </a:r>
            <a:r>
              <a:rPr lang="zh-CN" altLang="en-US" dirty="0"/>
              <a:t>千    </a:t>
            </a:r>
            <a:r>
              <a:rPr lang="en-US" altLang="zh-CN" dirty="0">
                <a:solidFill>
                  <a:srgbClr val="FF0000"/>
                </a:solidFill>
              </a:rPr>
              <a:t>Kilo</a:t>
            </a:r>
            <a:r>
              <a:rPr lang="en-US" altLang="zh-CN" dirty="0"/>
              <a:t> </a:t>
            </a:r>
            <a:r>
              <a:rPr lang="zh-CN" altLang="en-US" dirty="0"/>
              <a:t>的符号，</a:t>
            </a:r>
            <a:r>
              <a:rPr lang="en-US" altLang="zh-CN" dirty="0"/>
              <a:t>1K=1024=</a:t>
            </a:r>
            <a:r>
              <a:rPr lang="en-US" altLang="zh-CN" dirty="0">
                <a:solidFill>
                  <a:srgbClr val="FF0000"/>
                </a:solidFill>
              </a:rPr>
              <a:t>2</a:t>
            </a:r>
            <a:r>
              <a:rPr lang="en-US" altLang="zh-CN" baseline="30000" dirty="0">
                <a:solidFill>
                  <a:srgbClr val="FF0000"/>
                </a:solidFill>
              </a:rPr>
              <a:t>10</a:t>
            </a:r>
            <a:r>
              <a:rPr lang="en-US" altLang="zh-CN" dirty="0"/>
              <a:t>  </a:t>
            </a:r>
            <a:br>
              <a:rPr lang="en-US" altLang="zh-CN" dirty="0"/>
            </a:br>
            <a:r>
              <a:rPr lang="en-US" altLang="zh-CN" dirty="0"/>
              <a:t>         </a:t>
            </a:r>
            <a:r>
              <a:rPr lang="en-US" altLang="zh-CN" dirty="0">
                <a:solidFill>
                  <a:srgbClr val="FF0000"/>
                </a:solidFill>
                <a:sym typeface="+mn-ea"/>
              </a:rPr>
              <a:t>The symbol for K kilos, </a:t>
            </a:r>
            <a:r>
              <a:rPr lang="en-US" altLang="zh-CN" dirty="0">
                <a:sym typeface="+mn-ea"/>
              </a:rPr>
              <a:t>1K=1024=</a:t>
            </a:r>
            <a:r>
              <a:rPr lang="en-US" altLang="zh-CN" dirty="0">
                <a:solidFill>
                  <a:srgbClr val="FF0000"/>
                </a:solidFill>
                <a:sym typeface="+mn-ea"/>
              </a:rPr>
              <a:t>2</a:t>
            </a:r>
            <a:r>
              <a:rPr lang="en-US" altLang="zh-CN" baseline="30000" dirty="0">
                <a:solidFill>
                  <a:srgbClr val="FF0000"/>
                </a:solidFill>
                <a:sym typeface="+mn-ea"/>
              </a:rPr>
              <a:t>10</a:t>
            </a:r>
            <a:endParaRPr lang="zh-CN" altLang="en-US" dirty="0"/>
          </a:p>
          <a:p>
            <a:pPr eaLnBrk="1" hangingPunct="1">
              <a:lnSpc>
                <a:spcPct val="150000"/>
              </a:lnSpc>
              <a:buFontTx/>
              <a:buNone/>
            </a:pPr>
            <a:endParaRPr lang="en-US" altLang="zh-CN" dirty="0"/>
          </a:p>
        </p:txBody>
      </p:sp>
      <p:sp>
        <p:nvSpPr>
          <p:cNvPr id="4" name="文本框 3"/>
          <p:cNvSpPr txBox="1"/>
          <p:nvPr/>
        </p:nvSpPr>
        <p:spPr>
          <a:xfrm>
            <a:off x="565785" y="3570028"/>
            <a:ext cx="4572000" cy="1191895"/>
          </a:xfrm>
          <a:prstGeom prst="rect">
            <a:avLst/>
          </a:prstGeom>
          <a:noFill/>
        </p:spPr>
        <p:txBody>
          <a:bodyPr wrap="square" rtlCol="0" anchor="t">
            <a:spAutoFit/>
          </a:bodyPr>
          <a:lstStyle/>
          <a:p>
            <a:pPr eaLnBrk="1" hangingPunct="1">
              <a:lnSpc>
                <a:spcPct val="150000"/>
              </a:lnSpc>
              <a:buFontTx/>
              <a:buNone/>
            </a:pPr>
            <a:r>
              <a:rPr lang="en-US" altLang="zh-CN" dirty="0">
                <a:solidFill>
                  <a:srgbClr val="FF0000"/>
                </a:solidFill>
                <a:sym typeface="+mn-ea"/>
              </a:rPr>
              <a:t>M</a:t>
            </a:r>
            <a:r>
              <a:rPr lang="en-US" altLang="zh-CN" dirty="0">
                <a:sym typeface="+mn-ea"/>
              </a:rPr>
              <a:t>  </a:t>
            </a:r>
            <a:r>
              <a:rPr lang="zh-CN" altLang="en-US" dirty="0">
                <a:sym typeface="+mn-ea"/>
              </a:rPr>
              <a:t>兆    </a:t>
            </a:r>
            <a:r>
              <a:rPr lang="en-US" altLang="zh-CN" dirty="0">
                <a:solidFill>
                  <a:srgbClr val="FF0000"/>
                </a:solidFill>
                <a:sym typeface="+mn-ea"/>
              </a:rPr>
              <a:t>Maga</a:t>
            </a:r>
            <a:r>
              <a:rPr lang="en-US" altLang="zh-CN" dirty="0">
                <a:sym typeface="+mn-ea"/>
              </a:rPr>
              <a:t> </a:t>
            </a:r>
            <a:r>
              <a:rPr lang="zh-CN" altLang="en-US" dirty="0">
                <a:sym typeface="+mn-ea"/>
              </a:rPr>
              <a:t>的符号， </a:t>
            </a:r>
            <a:r>
              <a:rPr lang="en-US" altLang="zh-CN" dirty="0">
                <a:sym typeface="+mn-ea"/>
              </a:rPr>
              <a:t>1M=1K×1K=</a:t>
            </a:r>
            <a:r>
              <a:rPr lang="en-US" altLang="zh-CN" dirty="0">
                <a:solidFill>
                  <a:srgbClr val="FF0000"/>
                </a:solidFill>
                <a:sym typeface="+mn-ea"/>
              </a:rPr>
              <a:t>2</a:t>
            </a:r>
            <a:r>
              <a:rPr lang="en-US" altLang="zh-CN" baseline="30000" dirty="0">
                <a:solidFill>
                  <a:srgbClr val="FF0000"/>
                </a:solidFill>
                <a:sym typeface="+mn-ea"/>
              </a:rPr>
              <a:t>20</a:t>
            </a:r>
            <a:r>
              <a:rPr lang="en-US" altLang="zh-CN" dirty="0">
                <a:sym typeface="+mn-ea"/>
              </a:rPr>
              <a:t> </a:t>
            </a:r>
            <a:br>
              <a:rPr lang="en-US" altLang="zh-CN" dirty="0">
                <a:sym typeface="+mn-ea"/>
              </a:rPr>
            </a:br>
            <a:r>
              <a:rPr lang="en-US" altLang="zh-CN" dirty="0">
                <a:solidFill>
                  <a:srgbClr val="FF0000"/>
                </a:solidFill>
                <a:sym typeface="+mn-ea"/>
              </a:rPr>
              <a:t>The symbol for M Maga, </a:t>
            </a:r>
            <a:r>
              <a:rPr lang="en-US" altLang="zh-CN" dirty="0">
                <a:sym typeface="+mn-ea"/>
              </a:rPr>
              <a:t>1M=1K×1K=</a:t>
            </a:r>
            <a:r>
              <a:rPr lang="en-US" altLang="zh-CN" dirty="0">
                <a:solidFill>
                  <a:srgbClr val="FF0000"/>
                </a:solidFill>
                <a:sym typeface="+mn-ea"/>
              </a:rPr>
              <a:t>2</a:t>
            </a:r>
            <a:r>
              <a:rPr lang="en-US" altLang="zh-CN" baseline="30000" dirty="0">
                <a:solidFill>
                  <a:srgbClr val="FF0000"/>
                </a:solidFill>
                <a:sym typeface="+mn-ea"/>
              </a:rPr>
              <a:t>20</a:t>
            </a:r>
            <a:endParaRPr lang="en-US" altLang="zh-CN" dirty="0"/>
          </a:p>
          <a:p>
            <a:pPr eaLnBrk="1" hangingPunct="1">
              <a:lnSpc>
                <a:spcPct val="150000"/>
              </a:lnSpc>
              <a:buFontTx/>
              <a:buNone/>
            </a:pPr>
            <a:endParaRPr lang="en-US" altLang="zh-CN" baseline="30000" dirty="0">
              <a:solidFill>
                <a:srgbClr val="FF0000"/>
              </a:solidFill>
              <a:sym typeface="+mn-ea"/>
            </a:endParaRPr>
          </a:p>
        </p:txBody>
      </p:sp>
      <p:sp>
        <p:nvSpPr>
          <p:cNvPr id="5" name="文本框 4"/>
          <p:cNvSpPr txBox="1"/>
          <p:nvPr/>
        </p:nvSpPr>
        <p:spPr>
          <a:xfrm>
            <a:off x="626745" y="5195628"/>
            <a:ext cx="4572000" cy="922020"/>
          </a:xfrm>
          <a:prstGeom prst="rect">
            <a:avLst/>
          </a:prstGeom>
          <a:noFill/>
        </p:spPr>
        <p:txBody>
          <a:bodyPr wrap="square" rtlCol="0" anchor="t">
            <a:spAutoFit/>
          </a:bodyPr>
          <a:lstStyle/>
          <a:p>
            <a:pPr eaLnBrk="1" hangingPunct="1">
              <a:lnSpc>
                <a:spcPct val="150000"/>
              </a:lnSpc>
              <a:buFontTx/>
              <a:buNone/>
            </a:pPr>
            <a:r>
              <a:rPr lang="en-US" altLang="zh-CN" dirty="0">
                <a:solidFill>
                  <a:srgbClr val="FF0000"/>
                </a:solidFill>
                <a:sym typeface="+mn-ea"/>
              </a:rPr>
              <a:t>T</a:t>
            </a:r>
            <a:r>
              <a:rPr lang="en-US" altLang="zh-CN" dirty="0">
                <a:sym typeface="+mn-ea"/>
              </a:rPr>
              <a:t>  </a:t>
            </a:r>
            <a:r>
              <a:rPr lang="zh-CN" altLang="en-US" dirty="0">
                <a:sym typeface="+mn-ea"/>
              </a:rPr>
              <a:t>太    </a:t>
            </a:r>
            <a:r>
              <a:rPr lang="en-US" altLang="zh-CN" dirty="0">
                <a:solidFill>
                  <a:srgbClr val="FF0000"/>
                </a:solidFill>
                <a:sym typeface="+mn-ea"/>
              </a:rPr>
              <a:t>Tera</a:t>
            </a:r>
            <a:r>
              <a:rPr lang="en-US" altLang="zh-CN" dirty="0">
                <a:sym typeface="+mn-ea"/>
              </a:rPr>
              <a:t> </a:t>
            </a:r>
            <a:r>
              <a:rPr lang="zh-CN" altLang="en-US" dirty="0">
                <a:sym typeface="+mn-ea"/>
              </a:rPr>
              <a:t>的符号，    </a:t>
            </a:r>
            <a:r>
              <a:rPr lang="en-US" altLang="zh-CN" dirty="0">
                <a:sym typeface="+mn-ea"/>
              </a:rPr>
              <a:t>1T=1M×1M=</a:t>
            </a:r>
            <a:r>
              <a:rPr lang="en-US" altLang="zh-CN" dirty="0">
                <a:solidFill>
                  <a:srgbClr val="FF0000"/>
                </a:solidFill>
                <a:sym typeface="+mn-ea"/>
              </a:rPr>
              <a:t>2</a:t>
            </a:r>
            <a:r>
              <a:rPr lang="en-US" altLang="zh-CN" baseline="30000" dirty="0">
                <a:solidFill>
                  <a:srgbClr val="FF0000"/>
                </a:solidFill>
                <a:sym typeface="+mn-ea"/>
              </a:rPr>
              <a:t>40</a:t>
            </a:r>
            <a:r>
              <a:rPr lang="en-US" altLang="zh-CN" dirty="0">
                <a:sym typeface="+mn-ea"/>
              </a:rPr>
              <a:t> </a:t>
            </a:r>
            <a:br>
              <a:rPr lang="en-US" altLang="zh-CN" dirty="0">
                <a:sym typeface="+mn-ea"/>
              </a:rPr>
            </a:br>
            <a:r>
              <a:rPr lang="en-US" altLang="zh-CN" dirty="0">
                <a:solidFill>
                  <a:srgbClr val="FF0000"/>
                </a:solidFill>
                <a:sym typeface="+mn-ea"/>
              </a:rPr>
              <a:t>The symbol for Tera, </a:t>
            </a:r>
            <a:r>
              <a:rPr lang="zh-CN" altLang="en-US" dirty="0">
                <a:sym typeface="+mn-ea"/>
              </a:rPr>
              <a:t> </a:t>
            </a:r>
            <a:r>
              <a:rPr lang="en-US" altLang="zh-CN" dirty="0">
                <a:sym typeface="+mn-ea"/>
              </a:rPr>
              <a:t>     1T=1M×1M=</a:t>
            </a:r>
            <a:r>
              <a:rPr lang="en-US" altLang="zh-CN" dirty="0">
                <a:solidFill>
                  <a:srgbClr val="FF0000"/>
                </a:solidFill>
                <a:sym typeface="+mn-ea"/>
              </a:rPr>
              <a:t>2</a:t>
            </a:r>
            <a:r>
              <a:rPr lang="en-US" altLang="zh-CN" baseline="30000" dirty="0">
                <a:solidFill>
                  <a:srgbClr val="FF0000"/>
                </a:solidFill>
                <a:sym typeface="+mn-ea"/>
              </a:rPr>
              <a:t>40</a:t>
            </a:r>
          </a:p>
        </p:txBody>
      </p:sp>
      <p:sp>
        <p:nvSpPr>
          <p:cNvPr id="6" name="文本框 5"/>
          <p:cNvSpPr txBox="1"/>
          <p:nvPr/>
        </p:nvSpPr>
        <p:spPr>
          <a:xfrm>
            <a:off x="596265" y="4543483"/>
            <a:ext cx="4572000" cy="645160"/>
          </a:xfrm>
          <a:prstGeom prst="rect">
            <a:avLst/>
          </a:prstGeom>
          <a:noFill/>
        </p:spPr>
        <p:txBody>
          <a:bodyPr wrap="square" rtlCol="0" anchor="t">
            <a:spAutoFit/>
          </a:bodyPr>
          <a:lstStyle/>
          <a:p>
            <a:r>
              <a:rPr lang="en-US" altLang="zh-CN" dirty="0">
                <a:solidFill>
                  <a:srgbClr val="FF0000"/>
                </a:solidFill>
                <a:sym typeface="+mn-ea"/>
              </a:rPr>
              <a:t>G</a:t>
            </a:r>
            <a:r>
              <a:rPr lang="en-US" altLang="zh-CN" dirty="0">
                <a:sym typeface="+mn-ea"/>
              </a:rPr>
              <a:t>  </a:t>
            </a:r>
            <a:r>
              <a:rPr lang="zh-CN" altLang="en-US" dirty="0">
                <a:sym typeface="+mn-ea"/>
              </a:rPr>
              <a:t>吉    </a:t>
            </a:r>
            <a:r>
              <a:rPr lang="en-US" altLang="zh-CN" dirty="0">
                <a:solidFill>
                  <a:srgbClr val="FF0000"/>
                </a:solidFill>
                <a:sym typeface="+mn-ea"/>
              </a:rPr>
              <a:t>Giga</a:t>
            </a:r>
            <a:r>
              <a:rPr lang="en-US" altLang="zh-CN" dirty="0">
                <a:sym typeface="+mn-ea"/>
              </a:rPr>
              <a:t> </a:t>
            </a:r>
            <a:r>
              <a:rPr lang="zh-CN" altLang="en-US" dirty="0">
                <a:sym typeface="+mn-ea"/>
              </a:rPr>
              <a:t>的符号，    </a:t>
            </a:r>
            <a:r>
              <a:rPr lang="en-US" altLang="zh-CN" dirty="0">
                <a:sym typeface="+mn-ea"/>
              </a:rPr>
              <a:t>1G=1K×1M=</a:t>
            </a:r>
            <a:r>
              <a:rPr lang="en-US" altLang="zh-CN" dirty="0">
                <a:solidFill>
                  <a:srgbClr val="FF0000"/>
                </a:solidFill>
                <a:sym typeface="+mn-ea"/>
              </a:rPr>
              <a:t>2</a:t>
            </a:r>
            <a:r>
              <a:rPr lang="en-US" altLang="zh-CN" baseline="30000" dirty="0">
                <a:solidFill>
                  <a:srgbClr val="FF0000"/>
                </a:solidFill>
                <a:sym typeface="+mn-ea"/>
              </a:rPr>
              <a:t>30</a:t>
            </a:r>
            <a:r>
              <a:rPr lang="en-US" altLang="zh-CN" dirty="0">
                <a:sym typeface="+mn-ea"/>
              </a:rPr>
              <a:t> </a:t>
            </a:r>
            <a:br>
              <a:rPr lang="en-US" altLang="zh-CN" dirty="0">
                <a:sym typeface="+mn-ea"/>
              </a:rPr>
            </a:br>
            <a:r>
              <a:rPr lang="en-US" altLang="zh-CN" dirty="0">
                <a:solidFill>
                  <a:srgbClr val="FF0000"/>
                </a:solidFill>
                <a:sym typeface="+mn-ea"/>
              </a:rPr>
              <a:t>The symbol for Giga, </a:t>
            </a:r>
            <a:r>
              <a:rPr lang="zh-CN" altLang="en-US" dirty="0">
                <a:sym typeface="+mn-ea"/>
              </a:rPr>
              <a:t>  </a:t>
            </a:r>
            <a:r>
              <a:rPr lang="en-US" altLang="zh-CN" dirty="0">
                <a:sym typeface="+mn-ea"/>
              </a:rPr>
              <a:t>    1G=1K×1M=</a:t>
            </a:r>
            <a:r>
              <a:rPr lang="en-US" altLang="zh-CN" dirty="0">
                <a:solidFill>
                  <a:srgbClr val="FF0000"/>
                </a:solidFill>
                <a:sym typeface="+mn-ea"/>
              </a:rPr>
              <a:t>2</a:t>
            </a:r>
            <a:r>
              <a:rPr lang="en-US" altLang="zh-CN" baseline="30000" dirty="0">
                <a:solidFill>
                  <a:srgbClr val="FF0000"/>
                </a:solidFill>
                <a:sym typeface="+mn-ea"/>
              </a:rPr>
              <a:t>30</a:t>
            </a:r>
            <a:r>
              <a:rPr lang="en-US" altLang="zh-CN" dirty="0">
                <a:sym typeface="+mn-ea"/>
              </a:rPr>
              <a:t> </a:t>
            </a:r>
          </a:p>
        </p:txBody>
      </p:sp>
      <p:sp>
        <p:nvSpPr>
          <p:cNvPr id="8" name="文本框 7"/>
          <p:cNvSpPr txBox="1"/>
          <p:nvPr/>
        </p:nvSpPr>
        <p:spPr>
          <a:xfrm>
            <a:off x="350520" y="2701983"/>
            <a:ext cx="4572000" cy="922020"/>
          </a:xfrm>
          <a:prstGeom prst="rect">
            <a:avLst/>
          </a:prstGeom>
          <a:noFill/>
        </p:spPr>
        <p:txBody>
          <a:bodyPr wrap="square" rtlCol="0" anchor="t">
            <a:spAutoFit/>
          </a:bodyPr>
          <a:lstStyle/>
          <a:p>
            <a:pPr eaLnBrk="1" hangingPunct="1">
              <a:lnSpc>
                <a:spcPct val="150000"/>
              </a:lnSpc>
              <a:buFontTx/>
              <a:buNone/>
            </a:pPr>
            <a:r>
              <a:rPr lang="zh-CN" altLang="en-US" dirty="0">
                <a:sym typeface="+mn-ea"/>
              </a:rPr>
              <a:t>         如</a:t>
            </a:r>
            <a:r>
              <a:rPr lang="en-US" altLang="zh-CN" dirty="0">
                <a:sym typeface="+mn-ea"/>
              </a:rPr>
              <a:t>1KB</a:t>
            </a:r>
            <a:r>
              <a:rPr lang="zh-CN" altLang="en-US" dirty="0">
                <a:sym typeface="+mn-ea"/>
              </a:rPr>
              <a:t>表示</a:t>
            </a:r>
            <a:r>
              <a:rPr lang="en-US" altLang="zh-CN" dirty="0">
                <a:sym typeface="+mn-ea"/>
              </a:rPr>
              <a:t>1024</a:t>
            </a:r>
            <a:r>
              <a:rPr lang="zh-CN" altLang="en-US" dirty="0">
                <a:sym typeface="+mn-ea"/>
              </a:rPr>
              <a:t>个字节 </a:t>
            </a:r>
            <a:endParaRPr lang="zh-CN" altLang="en-US" dirty="0"/>
          </a:p>
          <a:p>
            <a:pPr indent="457200" eaLnBrk="1" hangingPunct="1">
              <a:lnSpc>
                <a:spcPct val="150000"/>
              </a:lnSpc>
              <a:buFontTx/>
              <a:buNone/>
            </a:pPr>
            <a:r>
              <a:rPr lang="zh-CN" altLang="en-US" dirty="0">
                <a:sym typeface="+mn-ea"/>
              </a:rPr>
              <a:t>For example, 1KB represents 1024 bytes</a:t>
            </a:r>
          </a:p>
        </p:txBody>
      </p:sp>
      <p:sp>
        <p:nvSpPr>
          <p:cNvPr id="129026" name="标题 2"/>
          <p:cNvSpPr>
            <a:spLocks noGrp="1" noChangeArrowheads="1"/>
          </p:cNvSpPr>
          <p:nvPr>
            <p:ph type="title"/>
          </p:nvPr>
        </p:nvSpPr>
        <p:spPr>
          <a:xfrm>
            <a:off x="323307" y="459046"/>
            <a:ext cx="5117916" cy="504825"/>
          </a:xfrm>
        </p:spPr>
        <p:txBody>
          <a:bodyPr vert="horz" lIns="91440" tIns="45720" rIns="91440" bIns="45720" rtlCol="0" anchor="b">
            <a:noAutofit/>
          </a:bodyPr>
          <a:lstStyle/>
          <a:p>
            <a:pPr algn="ctr"/>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br>
              <a:rPr lang="zh-CN" altLang="en-US" sz="3200" dirty="0">
                <a:latin typeface="宋体" panose="02010600030101010101" pitchFamily="2" charset="-122"/>
              </a:rPr>
            </a:br>
            <a:r>
              <a:rPr lang="en-US" altLang="zh-CN" sz="2800" dirty="0">
                <a:latin typeface="宋体" panose="02010600030101010101" pitchFamily="2" charset="-122"/>
                <a:sym typeface="+mn-ea"/>
              </a:rPr>
              <a:t>Common units and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Effect transition="in" filter="wipe(down)">
                                      <p:cBhvr>
                                        <p:cTn id="7" dur="500"/>
                                        <p:tgtEl>
                                          <p:spTgt spid="21094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10947">
                                            <p:txEl>
                                              <p:pRg st="1" end="1"/>
                                            </p:txEl>
                                          </p:spTgt>
                                        </p:tgtEl>
                                        <p:attrNameLst>
                                          <p:attrName>style.visibility</p:attrName>
                                        </p:attrNameLst>
                                      </p:cBhvr>
                                      <p:to>
                                        <p:strVal val="visible"/>
                                      </p:to>
                                    </p:set>
                                    <p:animEffect transition="in" filter="wipe(down)">
                                      <p:cBhvr>
                                        <p:cTn id="10" dur="500"/>
                                        <p:tgtEl>
                                          <p:spTgt spid="2109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5046" y="0"/>
            <a:ext cx="6268345" cy="6286500"/>
          </a:xfrm>
        </p:spPr>
      </p:pic>
      <p:sp>
        <p:nvSpPr>
          <p:cNvPr id="11" name="文本框 10"/>
          <p:cNvSpPr txBox="1"/>
          <p:nvPr/>
        </p:nvSpPr>
        <p:spPr>
          <a:xfrm>
            <a:off x="3543844" y="6420785"/>
            <a:ext cx="4335236" cy="368300"/>
          </a:xfrm>
          <a:prstGeom prst="rect">
            <a:avLst/>
          </a:prstGeom>
          <a:noFill/>
        </p:spPr>
        <p:txBody>
          <a:bodyPr wrap="square">
            <a:spAutoFit/>
          </a:bodyPr>
          <a:lstStyle/>
          <a:p>
            <a:r>
              <a:rPr lang="zh-CN" altLang="en-US" dirty="0"/>
              <a:t>https://en.wikipedia.org/wiki/Metric_prefix</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标题 2"/>
          <p:cNvSpPr>
            <a:spLocks noGrp="1" noChangeArrowheads="1"/>
          </p:cNvSpPr>
          <p:nvPr>
            <p:ph type="title"/>
          </p:nvPr>
        </p:nvSpPr>
        <p:spPr>
          <a:xfrm>
            <a:off x="720436" y="524556"/>
            <a:ext cx="9947564" cy="504825"/>
          </a:xfrm>
        </p:spPr>
        <p:txBody>
          <a:bodyPr vert="horz" lIns="91440" tIns="45720" rIns="91440" bIns="45720" rtlCol="0" anchor="b">
            <a:noAutofit/>
          </a:bodyPr>
          <a:lstStyle/>
          <a:p>
            <a:pPr algn="ctr"/>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br>
              <a:rPr lang="zh-CN" altLang="en-US" sz="3200" dirty="0">
                <a:latin typeface="宋体" panose="02010600030101010101" pitchFamily="2" charset="-122"/>
              </a:rPr>
            </a:br>
            <a:r>
              <a:rPr lang="en-US" altLang="zh-CN" sz="2800" dirty="0">
                <a:latin typeface="宋体" panose="02010600030101010101" pitchFamily="2" charset="-122"/>
                <a:sym typeface="+mn-ea"/>
              </a:rPr>
              <a:t>Common units and terms</a:t>
            </a:r>
          </a:p>
        </p:txBody>
      </p:sp>
      <p:sp>
        <p:nvSpPr>
          <p:cNvPr id="211971" name="Rectangle 3"/>
          <p:cNvSpPr>
            <a:spLocks noGrp="1" noChangeArrowheads="1"/>
          </p:cNvSpPr>
          <p:nvPr>
            <p:ph idx="1"/>
          </p:nvPr>
        </p:nvSpPr>
        <p:spPr>
          <a:xfrm>
            <a:off x="720436" y="1230630"/>
            <a:ext cx="9688484" cy="5177790"/>
          </a:xfrm>
        </p:spPr>
        <p:txBody>
          <a:bodyPr>
            <a:normAutofit fontScale="87500" lnSpcReduction="10000"/>
          </a:bodyPr>
          <a:lstStyle/>
          <a:p>
            <a:pPr marL="0" indent="0" eaLnBrk="1" hangingPunct="1">
              <a:lnSpc>
                <a:spcPct val="100000"/>
              </a:lnSpc>
              <a:buFontTx/>
              <a:buNone/>
            </a:pPr>
            <a:r>
              <a:rPr lang="en-US" altLang="zh-CN" dirty="0">
                <a:solidFill>
                  <a:srgbClr val="FF0000"/>
                </a:solidFill>
                <a:latin typeface="Times New Roman" panose="02020603050405020304" pitchFamily="18" charset="0"/>
                <a:cs typeface="Times New Roman" panose="02020603050405020304" pitchFamily="18" charset="0"/>
              </a:rPr>
              <a:t>6</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MIPS</a:t>
            </a:r>
            <a:r>
              <a:rPr lang="zh-CN" altLang="en-US"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a:t>
            </a:r>
            <a:r>
              <a:rPr lang="en-US" altLang="zh-CN" dirty="0">
                <a:latin typeface="Times New Roman" panose="02020603050405020304" pitchFamily="18" charset="0"/>
                <a:cs typeface="Times New Roman" panose="02020603050405020304" pitchFamily="18" charset="0"/>
              </a:rPr>
              <a:t>illion </a:t>
            </a:r>
            <a:r>
              <a:rPr lang="en-US" altLang="zh-CN" dirty="0">
                <a:solidFill>
                  <a:srgbClr val="FF0000"/>
                </a:solidFill>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nstructions </a:t>
            </a:r>
            <a:r>
              <a:rPr lang="en-US" altLang="zh-CN" dirty="0">
                <a:solidFill>
                  <a:srgbClr val="FF0000"/>
                </a:solidFill>
                <a:latin typeface="Times New Roman" panose="02020603050405020304" pitchFamily="18" charset="0"/>
                <a:cs typeface="Times New Roman" panose="02020603050405020304" pitchFamily="18" charset="0"/>
              </a:rPr>
              <a:t>P</a:t>
            </a:r>
            <a:r>
              <a:rPr lang="en-US" altLang="zh-CN" dirty="0">
                <a:latin typeface="Times New Roman" panose="02020603050405020304" pitchFamily="18" charset="0"/>
                <a:cs typeface="Times New Roman" panose="02020603050405020304" pitchFamily="18" charset="0"/>
              </a:rPr>
              <a:t>er </a:t>
            </a:r>
            <a:r>
              <a:rPr lang="en-US" altLang="zh-CN" dirty="0">
                <a:solidFill>
                  <a:srgbClr val="FF0000"/>
                </a:solidFill>
                <a:latin typeface="Times New Roman" panose="02020603050405020304" pitchFamily="18" charset="0"/>
                <a:cs typeface="Times New Roman" panose="02020603050405020304" pitchFamily="18" charset="0"/>
              </a:rPr>
              <a:t>S</a:t>
            </a:r>
            <a:r>
              <a:rPr lang="en-US" altLang="zh-CN" dirty="0">
                <a:latin typeface="Times New Roman" panose="02020603050405020304" pitchFamily="18" charset="0"/>
                <a:cs typeface="Times New Roman" panose="02020603050405020304" pitchFamily="18" charset="0"/>
              </a:rPr>
              <a:t>econd</a:t>
            </a:r>
            <a:r>
              <a:rPr lang="zh-CN" altLang="en-US" dirty="0">
                <a:latin typeface="Times New Roman" panose="02020603050405020304" pitchFamily="18" charset="0"/>
                <a:cs typeface="Times New Roman" panose="02020603050405020304" pitchFamily="18" charset="0"/>
              </a:rPr>
              <a:t>）</a:t>
            </a:r>
          </a:p>
          <a:p>
            <a:pPr marL="0" indent="0" eaLnBrk="1" hangingPunct="1">
              <a:lnSpc>
                <a:spcPct val="100000"/>
              </a:lnSpc>
              <a:buFontTx/>
              <a:buNone/>
            </a:pP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MIPS</a:t>
            </a:r>
            <a:r>
              <a:rPr lang="zh-CN" altLang="en-US" dirty="0">
                <a:latin typeface="Times New Roman" panose="02020603050405020304" pitchFamily="18" charset="0"/>
                <a:cs typeface="Times New Roman" panose="02020603050405020304" pitchFamily="18" charset="0"/>
              </a:rPr>
              <a:t>为单字长定点指令平均执行速度</a:t>
            </a:r>
            <a:r>
              <a:rPr lang="en-US" altLang="zh-CN" dirty="0">
                <a:latin typeface="Times New Roman" panose="02020603050405020304" pitchFamily="18" charset="0"/>
                <a:cs typeface="Times New Roman" panose="02020603050405020304" pitchFamily="18" charset="0"/>
              </a:rPr>
              <a:t>Million Instructions Per Second</a:t>
            </a:r>
            <a:r>
              <a:rPr lang="zh-CN" altLang="en-US" dirty="0">
                <a:latin typeface="Times New Roman" panose="02020603050405020304" pitchFamily="18" charset="0"/>
                <a:cs typeface="Times New Roman" panose="02020603050405020304" pitchFamily="18" charset="0"/>
              </a:rPr>
              <a:t>的缩写，即每秒处理百万条机器语言指令数。这是衡量</a:t>
            </a:r>
            <a:r>
              <a:rPr lang="en-US" altLang="zh-CN" dirty="0">
                <a:latin typeface="Times New Roman" panose="02020603050405020304" pitchFamily="18" charset="0"/>
                <a:cs typeface="Times New Roman" panose="02020603050405020304" pitchFamily="18" charset="0"/>
              </a:rPr>
              <a:t>CPU</a:t>
            </a:r>
            <a:r>
              <a:rPr lang="zh-CN" altLang="en-US" dirty="0">
                <a:latin typeface="Times New Roman" panose="02020603050405020304" pitchFamily="18" charset="0"/>
                <a:cs typeface="Times New Roman" panose="02020603050405020304" pitchFamily="18" charset="0"/>
              </a:rPr>
              <a:t>速度的一个指标。</a:t>
            </a:r>
            <a:br>
              <a:rPr lang="zh-CN" altLang="en-US" dirty="0">
                <a:latin typeface="Times New Roman" panose="02020603050405020304" pitchFamily="18" charset="0"/>
                <a:cs typeface="Times New Roman" panose="02020603050405020304" pitchFamily="18" charset="0"/>
              </a:rPr>
            </a:br>
            <a:r>
              <a:rPr lang="en-US" altLang="zh-CN" dirty="0">
                <a:latin typeface="Times New Roman" panose="02020603050405020304" pitchFamily="18" charset="0"/>
                <a:cs typeface="Times New Roman" panose="02020603050405020304" pitchFamily="18" charset="0"/>
                <a:sym typeface="+mn-ea"/>
              </a:rPr>
              <a:t>MIPS is short for million Instructions Per Second, the average speed at which a single-word fixed-point instruction can be executed, i.e., one million machine language instructions per second. It is a measure of CPU speed.</a:t>
            </a:r>
            <a:endParaRPr lang="zh-CN" altLang="en-US" dirty="0">
              <a:latin typeface="Times New Roman" panose="02020603050405020304" pitchFamily="18" charset="0"/>
              <a:cs typeface="Times New Roman" panose="02020603050405020304" pitchFamily="18" charset="0"/>
            </a:endParaRPr>
          </a:p>
          <a:p>
            <a:pPr marL="0" indent="0" eaLnBrk="1" hangingPunct="1">
              <a:lnSpc>
                <a:spcPct val="100000"/>
              </a:lnSpc>
              <a:buFontTx/>
              <a:buNone/>
            </a:pPr>
            <a:r>
              <a:rPr lang="en-US" altLang="zh-CN" dirty="0">
                <a:solidFill>
                  <a:srgbClr val="FF0000"/>
                </a:solidFill>
                <a:latin typeface="Times New Roman" panose="02020603050405020304" pitchFamily="18" charset="0"/>
                <a:cs typeface="Times New Roman" panose="02020603050405020304" pitchFamily="18" charset="0"/>
              </a:rPr>
              <a:t>7</a:t>
            </a:r>
            <a:r>
              <a:rPr lang="zh-CN" altLang="en-US" dirty="0">
                <a:solidFill>
                  <a:srgbClr val="FF0000"/>
                </a:solidFill>
                <a:latin typeface="Times New Roman" panose="02020603050405020304" pitchFamily="18" charset="0"/>
                <a:cs typeface="Times New Roman" panose="02020603050405020304" pitchFamily="18" charset="0"/>
              </a:rPr>
              <a:t>、地址（</a:t>
            </a:r>
            <a:r>
              <a:rPr lang="en-US" altLang="zh-CN" dirty="0">
                <a:solidFill>
                  <a:srgbClr val="FF0000"/>
                </a:solidFill>
                <a:latin typeface="Times New Roman" panose="02020603050405020304" pitchFamily="18" charset="0"/>
                <a:cs typeface="Times New Roman" panose="02020603050405020304" pitchFamily="18" charset="0"/>
                <a:sym typeface="+mn-ea"/>
              </a:rPr>
              <a:t>Address</a:t>
            </a:r>
            <a:r>
              <a:rPr lang="zh-CN" altLang="en-US" dirty="0">
                <a:solidFill>
                  <a:srgbClr val="FF0000"/>
                </a:solidFill>
                <a:latin typeface="Times New Roman" panose="02020603050405020304" pitchFamily="18" charset="0"/>
                <a:cs typeface="Times New Roman" panose="02020603050405020304" pitchFamily="18" charset="0"/>
              </a:rPr>
              <a:t>）</a:t>
            </a:r>
          </a:p>
          <a:p>
            <a:pPr marL="0" indent="0" eaLnBrk="1" hangingPunct="1">
              <a:lnSpc>
                <a:spcPct val="100000"/>
              </a:lnSpc>
              <a:buFontTx/>
              <a:buNone/>
            </a:pPr>
            <a:r>
              <a:rPr lang="zh-CN" altLang="en-US" dirty="0">
                <a:latin typeface="Times New Roman" panose="02020603050405020304" pitchFamily="18" charset="0"/>
                <a:cs typeface="Times New Roman" panose="02020603050405020304" pitchFamily="18" charset="0"/>
              </a:rPr>
              <a:t>   地址是微型计算机</a:t>
            </a:r>
            <a:r>
              <a:rPr lang="zh-CN" altLang="en-US" dirty="0">
                <a:solidFill>
                  <a:srgbClr val="FF0000"/>
                </a:solidFill>
                <a:latin typeface="Times New Roman" panose="02020603050405020304" pitchFamily="18" charset="0"/>
                <a:cs typeface="Times New Roman" panose="02020603050405020304" pitchFamily="18" charset="0"/>
              </a:rPr>
              <a:t>存储单元</a:t>
            </a:r>
            <a:r>
              <a:rPr lang="zh-CN" altLang="en-US" dirty="0">
                <a:latin typeface="Times New Roman" panose="02020603050405020304" pitchFamily="18" charset="0"/>
                <a:cs typeface="Times New Roman" panose="02020603050405020304" pitchFamily="18" charset="0"/>
              </a:rPr>
              <a:t>的</a:t>
            </a:r>
            <a:r>
              <a:rPr lang="zh-CN" altLang="en-US" dirty="0">
                <a:solidFill>
                  <a:srgbClr val="FF0000"/>
                </a:solidFill>
                <a:latin typeface="Times New Roman" panose="02020603050405020304" pitchFamily="18" charset="0"/>
                <a:cs typeface="Times New Roman" panose="02020603050405020304" pitchFamily="18" charset="0"/>
              </a:rPr>
              <a:t>编号</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通常</a:t>
            </a:r>
            <a:r>
              <a:rPr lang="en-US" altLang="zh-CN" dirty="0">
                <a:solidFill>
                  <a:srgbClr val="FF0000"/>
                </a:solidFill>
                <a:latin typeface="Times New Roman" panose="02020603050405020304" pitchFamily="18" charset="0"/>
                <a:cs typeface="Times New Roman" panose="02020603050405020304" pitchFamily="18" charset="0"/>
              </a:rPr>
              <a:t>8bit</a:t>
            </a:r>
            <a:r>
              <a:rPr lang="zh-CN" altLang="en-US" dirty="0">
                <a:solidFill>
                  <a:srgbClr val="FF0000"/>
                </a:solidFill>
                <a:latin typeface="Times New Roman" panose="02020603050405020304" pitchFamily="18" charset="0"/>
                <a:cs typeface="Times New Roman" panose="02020603050405020304" pitchFamily="18" charset="0"/>
              </a:rPr>
              <a:t>为一个单元</a:t>
            </a:r>
            <a:r>
              <a:rPr lang="zh-CN" altLang="en-US" dirty="0">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每个单元有独立的编号</a:t>
            </a:r>
            <a:r>
              <a:rPr lang="zh-CN" altLang="en-US" dirty="0">
                <a:latin typeface="Times New Roman" panose="02020603050405020304" pitchFamily="18" charset="0"/>
                <a:cs typeface="Times New Roman" panose="02020603050405020304" pitchFamily="18" charset="0"/>
              </a:rPr>
              <a:t>。 存储器地址的</a:t>
            </a:r>
            <a:r>
              <a:rPr lang="zh-CN" altLang="en-US" dirty="0">
                <a:solidFill>
                  <a:srgbClr val="9900CC"/>
                </a:solidFill>
                <a:latin typeface="Times New Roman" panose="02020603050405020304" pitchFamily="18" charset="0"/>
                <a:cs typeface="Times New Roman" panose="02020603050405020304" pitchFamily="18" charset="0"/>
              </a:rPr>
              <a:t>最大编号（容量）有限</a:t>
            </a:r>
            <a:r>
              <a:rPr lang="zh-CN" altLang="en-US" dirty="0">
                <a:latin typeface="Times New Roman" panose="02020603050405020304" pitchFamily="18" charset="0"/>
                <a:cs typeface="Times New Roman" panose="02020603050405020304" pitchFamily="18" charset="0"/>
              </a:rPr>
              <a:t>，由地址线的条数决定。如：</a:t>
            </a:r>
          </a:p>
          <a:p>
            <a:pPr marL="0" indent="0" eaLnBrk="1" hangingPunct="1">
              <a:lnSpc>
                <a:spcPct val="100000"/>
              </a:lnSpc>
              <a:buFontTx/>
              <a:buNone/>
            </a:pPr>
            <a:r>
              <a:rPr lang="zh-CN" altLang="en-US" dirty="0">
                <a:latin typeface="Times New Roman" panose="02020603050405020304" pitchFamily="18" charset="0"/>
                <a:cs typeface="Times New Roman" panose="02020603050405020304" pitchFamily="18" charset="0"/>
                <a:sym typeface="+mn-ea"/>
              </a:rPr>
              <a:t>An address is the number of a microcomputer memory unit. </a:t>
            </a:r>
            <a:r>
              <a:rPr lang="zh-CN" altLang="en-US" dirty="0">
                <a:solidFill>
                  <a:srgbClr val="FF0000"/>
                </a:solidFill>
                <a:latin typeface="Times New Roman" panose="02020603050405020304" pitchFamily="18" charset="0"/>
                <a:cs typeface="Times New Roman" panose="02020603050405020304" pitchFamily="18" charset="0"/>
                <a:sym typeface="+mn-ea"/>
              </a:rPr>
              <a:t>Usually, an 8-bit unit is one unit, and each unit has an independent number.</a:t>
            </a:r>
            <a:r>
              <a:rPr lang="zh-CN" altLang="en-US" dirty="0">
                <a:latin typeface="Times New Roman" panose="02020603050405020304" pitchFamily="18" charset="0"/>
                <a:cs typeface="Times New Roman" panose="02020603050405020304" pitchFamily="18" charset="0"/>
                <a:sym typeface="+mn-ea"/>
              </a:rPr>
              <a:t> </a:t>
            </a:r>
            <a:r>
              <a:rPr lang="zh-CN" altLang="en-US" dirty="0">
                <a:solidFill>
                  <a:srgbClr val="9900CC"/>
                </a:solidFill>
                <a:latin typeface="Times New Roman" panose="02020603050405020304" pitchFamily="18" charset="0"/>
                <a:cs typeface="Times New Roman" panose="02020603050405020304" pitchFamily="18" charset="0"/>
                <a:sym typeface="+mn-ea"/>
              </a:rPr>
              <a:t>The maximum number (capacity) of a memory address is limited by the number of address lines</a:t>
            </a:r>
            <a:r>
              <a:rPr lang="zh-CN" altLang="en-US" dirty="0">
                <a:latin typeface="Times New Roman" panose="02020603050405020304" pitchFamily="18" charset="0"/>
                <a:cs typeface="Times New Roman" panose="02020603050405020304" pitchFamily="18" charset="0"/>
                <a:sym typeface="+mn-ea"/>
              </a:rPr>
              <a:t>. For example:</a:t>
            </a:r>
          </a:p>
          <a:p>
            <a:pPr marL="0" indent="0" algn="l" eaLnBrk="1" hangingPunct="1">
              <a:lnSpc>
                <a:spcPct val="100000"/>
              </a:lnSpc>
              <a:buFont typeface="Wingdings" panose="05000000000000000000" pitchFamily="2" charset="2"/>
              <a:buChar char="u"/>
            </a:pPr>
            <a:r>
              <a:rPr lang="en-US" dirty="0">
                <a:solidFill>
                  <a:srgbClr val="FF0000"/>
                </a:solidFill>
                <a:latin typeface="Times New Roman" panose="02020603050405020304" pitchFamily="18" charset="0"/>
                <a:cs typeface="Times New Roman" panose="02020603050405020304" pitchFamily="18" charset="0"/>
                <a:sym typeface="+mn-ea"/>
              </a:rPr>
              <a:t>1</a:t>
            </a:r>
            <a:r>
              <a:rPr lang="en-US" altLang="zh-CN" dirty="0">
                <a:solidFill>
                  <a:srgbClr val="FF0000"/>
                </a:solidFill>
                <a:latin typeface="Times New Roman" panose="02020603050405020304" pitchFamily="18" charset="0"/>
                <a:cs typeface="Times New Roman" panose="02020603050405020304" pitchFamily="18" charset="0"/>
              </a:rPr>
              <a:t>6</a:t>
            </a:r>
            <a:r>
              <a:rPr lang="zh-CN" altLang="en-US" dirty="0">
                <a:solidFill>
                  <a:srgbClr val="FF0000"/>
                </a:solidFill>
                <a:latin typeface="Times New Roman" panose="02020603050405020304" pitchFamily="18" charset="0"/>
                <a:cs typeface="Times New Roman" panose="02020603050405020304" pitchFamily="18" charset="0"/>
              </a:rPr>
              <a:t>条</a:t>
            </a:r>
            <a:r>
              <a:rPr lang="zh-CN" altLang="en-US" dirty="0">
                <a:solidFill>
                  <a:schemeClr val="tx1"/>
                </a:solidFill>
                <a:latin typeface="Times New Roman" panose="02020603050405020304" pitchFamily="18" charset="0"/>
                <a:cs typeface="Times New Roman" panose="02020603050405020304" pitchFamily="18" charset="0"/>
              </a:rPr>
              <a:t>地址线的容量为</a:t>
            </a:r>
            <a:r>
              <a:rPr lang="en-US" altLang="zh-CN" dirty="0">
                <a:solidFill>
                  <a:schemeClr val="tx1"/>
                </a:solidFill>
                <a:latin typeface="Times New Roman" panose="02020603050405020304" pitchFamily="18" charset="0"/>
                <a:cs typeface="Times New Roman" panose="02020603050405020304" pitchFamily="18" charset="0"/>
              </a:rPr>
              <a:t>64KB (0000H~FFFFH); </a:t>
            </a:r>
            <a:r>
              <a:rPr lang="en-US" altLang="zh-CN" dirty="0">
                <a:solidFill>
                  <a:srgbClr val="FF0000"/>
                </a:solidFill>
                <a:latin typeface="Times New Roman" panose="02020603050405020304" pitchFamily="18" charset="0"/>
                <a:cs typeface="Times New Roman" panose="02020603050405020304" pitchFamily="18" charset="0"/>
              </a:rPr>
              <a:t>2</a:t>
            </a:r>
            <a:r>
              <a:rPr lang="en-US" altLang="zh-CN" baseline="30000" dirty="0">
                <a:solidFill>
                  <a:srgbClr val="FF0000"/>
                </a:solidFill>
                <a:latin typeface="Times New Roman" panose="02020603050405020304" pitchFamily="18" charset="0"/>
                <a:cs typeface="Times New Roman" panose="02020603050405020304" pitchFamily="18" charset="0"/>
              </a:rPr>
              <a:t>16</a:t>
            </a:r>
            <a:br>
              <a:rPr lang="en-US" altLang="zh-CN" baseline="30000" dirty="0">
                <a:solidFill>
                  <a:srgbClr val="FF0000"/>
                </a:solidFill>
                <a:latin typeface="Times New Roman" panose="02020603050405020304" pitchFamily="18" charset="0"/>
                <a:cs typeface="Times New Roman" panose="02020603050405020304" pitchFamily="18" charset="0"/>
              </a:rPr>
            </a:br>
            <a:r>
              <a:rPr lang="en-US" altLang="zh-CN" dirty="0">
                <a:solidFill>
                  <a:srgbClr val="FF0000"/>
                </a:solidFill>
                <a:latin typeface="Times New Roman" panose="02020603050405020304" pitchFamily="18" charset="0"/>
                <a:cs typeface="Times New Roman" panose="02020603050405020304" pitchFamily="18" charset="0"/>
                <a:sym typeface="+mn-ea"/>
              </a:rPr>
              <a:t>The capacity of the 16 address lines is 64KB (0000H~FFFFH); </a:t>
            </a:r>
            <a:r>
              <a:rPr lang="en-US" altLang="zh-CN" dirty="0">
                <a:solidFill>
                  <a:schemeClr val="tx1"/>
                </a:solidFill>
                <a:latin typeface="Times New Roman" panose="02020603050405020304" pitchFamily="18" charset="0"/>
                <a:cs typeface="Times New Roman" panose="02020603050405020304" pitchFamily="18" charset="0"/>
                <a:sym typeface="+mn-ea"/>
              </a:rPr>
              <a:t> </a:t>
            </a:r>
            <a:r>
              <a:rPr lang="en-US" altLang="zh-CN" dirty="0">
                <a:solidFill>
                  <a:srgbClr val="FF0000"/>
                </a:solidFill>
                <a:latin typeface="Times New Roman" panose="02020603050405020304" pitchFamily="18" charset="0"/>
                <a:cs typeface="Times New Roman" panose="02020603050405020304" pitchFamily="18" charset="0"/>
                <a:sym typeface="+mn-ea"/>
              </a:rPr>
              <a:t>2</a:t>
            </a:r>
            <a:r>
              <a:rPr lang="en-US" altLang="zh-CN" baseline="30000" dirty="0">
                <a:solidFill>
                  <a:srgbClr val="FF0000"/>
                </a:solidFill>
                <a:latin typeface="Times New Roman" panose="02020603050405020304" pitchFamily="18" charset="0"/>
                <a:cs typeface="Times New Roman" panose="02020603050405020304" pitchFamily="18" charset="0"/>
                <a:sym typeface="+mn-ea"/>
              </a:rPr>
              <a:t>16</a:t>
            </a:r>
            <a:endParaRPr lang="en-US" altLang="zh-CN" baseline="30000" dirty="0">
              <a:solidFill>
                <a:srgbClr val="FF0000"/>
              </a:solidFill>
              <a:latin typeface="Times New Roman" panose="02020603050405020304" pitchFamily="18" charset="0"/>
              <a:cs typeface="Times New Roman" panose="02020603050405020304" pitchFamily="18" charset="0"/>
            </a:endParaRPr>
          </a:p>
          <a:p>
            <a:pPr marL="0" indent="0" algn="l" eaLnBrk="1" hangingPunct="1">
              <a:lnSpc>
                <a:spcPct val="100000"/>
              </a:lnSpc>
              <a:buFont typeface="Wingdings" panose="05000000000000000000" pitchFamily="2" charset="2"/>
              <a:buChar char="u"/>
            </a:pPr>
            <a:r>
              <a:rPr lang="en-US" altLang="zh-CN" dirty="0">
                <a:solidFill>
                  <a:srgbClr val="FF0000"/>
                </a:solidFill>
                <a:latin typeface="Times New Roman" panose="02020603050405020304" pitchFamily="18" charset="0"/>
                <a:cs typeface="Times New Roman" panose="02020603050405020304" pitchFamily="18" charset="0"/>
                <a:sym typeface="+mn-ea"/>
              </a:rPr>
              <a:t>20</a:t>
            </a:r>
            <a:r>
              <a:rPr lang="zh-CN" altLang="en-US" dirty="0">
                <a:solidFill>
                  <a:srgbClr val="FF0000"/>
                </a:solidFill>
                <a:latin typeface="Times New Roman" panose="02020603050405020304" pitchFamily="18" charset="0"/>
                <a:cs typeface="Times New Roman" panose="02020603050405020304" pitchFamily="18" charset="0"/>
                <a:sym typeface="+mn-ea"/>
              </a:rPr>
              <a:t>条</a:t>
            </a:r>
            <a:r>
              <a:rPr lang="zh-CN" altLang="en-US" dirty="0">
                <a:solidFill>
                  <a:schemeClr val="tx1"/>
                </a:solidFill>
                <a:latin typeface="Times New Roman" panose="02020603050405020304" pitchFamily="18" charset="0"/>
                <a:cs typeface="Times New Roman" panose="02020603050405020304" pitchFamily="18" charset="0"/>
                <a:sym typeface="+mn-ea"/>
              </a:rPr>
              <a:t>地址线的容量</a:t>
            </a:r>
            <a:r>
              <a:rPr lang="en-US" altLang="zh-CN" dirty="0">
                <a:solidFill>
                  <a:schemeClr val="tx1"/>
                </a:solidFill>
                <a:latin typeface="Times New Roman" panose="02020603050405020304" pitchFamily="18" charset="0"/>
                <a:cs typeface="Times New Roman" panose="02020603050405020304" pitchFamily="18" charset="0"/>
                <a:sym typeface="+mn-ea"/>
              </a:rPr>
              <a:t>1MB (00000H~FFFFFH); </a:t>
            </a:r>
            <a:r>
              <a:rPr lang="en-US" altLang="zh-CN" dirty="0">
                <a:solidFill>
                  <a:srgbClr val="FF0000"/>
                </a:solidFill>
                <a:latin typeface="Times New Roman" panose="02020603050405020304" pitchFamily="18" charset="0"/>
                <a:cs typeface="Times New Roman" panose="02020603050405020304" pitchFamily="18" charset="0"/>
                <a:sym typeface="+mn-ea"/>
              </a:rPr>
              <a:t>2</a:t>
            </a:r>
            <a:r>
              <a:rPr lang="en-US" altLang="zh-CN" baseline="30000" dirty="0">
                <a:solidFill>
                  <a:srgbClr val="FF0000"/>
                </a:solidFill>
                <a:latin typeface="Times New Roman" panose="02020603050405020304" pitchFamily="18" charset="0"/>
                <a:cs typeface="Times New Roman" panose="02020603050405020304" pitchFamily="18" charset="0"/>
                <a:sym typeface="+mn-ea"/>
              </a:rPr>
              <a:t>20</a:t>
            </a:r>
            <a:br>
              <a:rPr lang="en-US" altLang="zh-CN" baseline="30000" dirty="0">
                <a:solidFill>
                  <a:srgbClr val="FF0000"/>
                </a:solidFill>
                <a:latin typeface="Times New Roman" panose="02020603050405020304" pitchFamily="18" charset="0"/>
                <a:cs typeface="Times New Roman" panose="02020603050405020304" pitchFamily="18" charset="0"/>
                <a:sym typeface="+mn-ea"/>
              </a:rPr>
            </a:br>
            <a:r>
              <a:rPr lang="en-US" altLang="zh-CN" dirty="0">
                <a:solidFill>
                  <a:srgbClr val="FF0000"/>
                </a:solidFill>
                <a:latin typeface="Times New Roman" panose="02020603050405020304" pitchFamily="18" charset="0"/>
                <a:cs typeface="Times New Roman" panose="02020603050405020304" pitchFamily="18" charset="0"/>
                <a:sym typeface="+mn-ea"/>
              </a:rPr>
              <a:t>Capacity of 20 address lines 1MB (00000H~FFFFFH); 2</a:t>
            </a:r>
            <a:r>
              <a:rPr lang="en-US" altLang="zh-CN" baseline="30000" dirty="0">
                <a:solidFill>
                  <a:srgbClr val="FF0000"/>
                </a:solidFill>
                <a:latin typeface="Times New Roman" panose="02020603050405020304" pitchFamily="18" charset="0"/>
                <a:cs typeface="Times New Roman" panose="02020603050405020304" pitchFamily="18" charset="0"/>
                <a:sym typeface="+mn-ea"/>
              </a:rPr>
              <a:t>20</a:t>
            </a:r>
            <a:endParaRPr lang="zh-CN" altLang="en-US" dirty="0">
              <a:solidFill>
                <a:schemeClr val="tx1"/>
              </a:solidFill>
              <a:latin typeface="Times New Roman" panose="02020603050405020304" pitchFamily="18" charset="0"/>
              <a:cs typeface="Times New Roman" panose="02020603050405020304" pitchFamily="18" charset="0"/>
            </a:endParaRPr>
          </a:p>
          <a:p>
            <a:pPr marL="0" indent="0" algn="l" eaLnBrk="1" hangingPunct="1">
              <a:lnSpc>
                <a:spcPct val="100000"/>
              </a:lnSpc>
              <a:buFont typeface="Wingdings" panose="05000000000000000000" pitchFamily="2" charset="2"/>
              <a:buNone/>
            </a:pPr>
            <a:endParaRPr lang="zh-CN" alt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5" name="Rectangle 3"/>
          <p:cNvSpPr>
            <a:spLocks noGrp="1" noChangeArrowheads="1"/>
          </p:cNvSpPr>
          <p:nvPr>
            <p:ph idx="1"/>
          </p:nvPr>
        </p:nvSpPr>
        <p:spPr>
          <a:xfrm>
            <a:off x="1010458" y="1243041"/>
            <a:ext cx="10377978" cy="4859020"/>
          </a:xfrm>
        </p:spPr>
        <p:txBody>
          <a:bodyPr>
            <a:normAutofit fontScale="97500"/>
          </a:bodyPr>
          <a:lstStyle/>
          <a:p>
            <a:pPr marL="0" indent="0" eaLnBrk="1" hangingPunct="1">
              <a:lnSpc>
                <a:spcPct val="134000"/>
              </a:lnSpc>
              <a:spcAft>
                <a:spcPts val="1200"/>
              </a:spcAft>
              <a:buFontTx/>
              <a:buNone/>
            </a:pPr>
            <a:r>
              <a:rPr lang="en-US" altLang="zh-CN" dirty="0">
                <a:solidFill>
                  <a:srgbClr val="FF0000"/>
                </a:solidFill>
              </a:rPr>
              <a:t>8</a:t>
            </a:r>
            <a:r>
              <a:rPr lang="zh-CN" altLang="en-US" dirty="0">
                <a:solidFill>
                  <a:srgbClr val="FF0000"/>
                </a:solidFill>
              </a:rPr>
              <a:t>、总线（</a:t>
            </a:r>
            <a:r>
              <a:rPr lang="en-US" altLang="zh-CN" dirty="0">
                <a:solidFill>
                  <a:srgbClr val="FF0000"/>
                </a:solidFill>
                <a:sym typeface="+mn-ea"/>
              </a:rPr>
              <a:t>Bus</a:t>
            </a:r>
            <a:r>
              <a:rPr lang="zh-CN" altLang="en-US" dirty="0">
                <a:solidFill>
                  <a:srgbClr val="FF0000"/>
                </a:solidFill>
              </a:rPr>
              <a:t>）</a:t>
            </a:r>
          </a:p>
          <a:p>
            <a:pPr marL="0" indent="0" eaLnBrk="1" hangingPunct="1">
              <a:lnSpc>
                <a:spcPct val="134000"/>
              </a:lnSpc>
              <a:spcAft>
                <a:spcPts val="1200"/>
              </a:spcAft>
              <a:buFontTx/>
              <a:buNone/>
            </a:pPr>
            <a:r>
              <a:rPr lang="zh-CN" altLang="en-US" dirty="0"/>
              <a:t>    </a:t>
            </a:r>
            <a:r>
              <a:rPr lang="en-US" altLang="zh-CN" dirty="0"/>
              <a:t>CPU</a:t>
            </a:r>
            <a:r>
              <a:rPr lang="zh-CN" altLang="en-US" dirty="0"/>
              <a:t>是微型计算机的核心。微型计算机</a:t>
            </a:r>
            <a:r>
              <a:rPr lang="zh-CN" altLang="en-US" dirty="0">
                <a:solidFill>
                  <a:srgbClr val="FF0000"/>
                </a:solidFill>
              </a:rPr>
              <a:t>利用三总线将</a:t>
            </a:r>
            <a:r>
              <a:rPr lang="en-US" altLang="zh-CN" dirty="0">
                <a:solidFill>
                  <a:srgbClr val="FF0000"/>
                </a:solidFill>
              </a:rPr>
              <a:t>CPU</a:t>
            </a:r>
            <a:r>
              <a:rPr lang="zh-CN" altLang="en-US" dirty="0">
                <a:solidFill>
                  <a:srgbClr val="FF0000"/>
                </a:solidFill>
              </a:rPr>
              <a:t>与系统的其他部件</a:t>
            </a:r>
            <a:r>
              <a:rPr lang="zh-CN" altLang="en-US" dirty="0"/>
              <a:t>如存储器、</a:t>
            </a:r>
            <a:r>
              <a:rPr lang="en-US" altLang="zh-CN" dirty="0"/>
              <a:t>I/O</a:t>
            </a:r>
            <a:r>
              <a:rPr lang="zh-CN" altLang="en-US" dirty="0"/>
              <a:t>接口等</a:t>
            </a:r>
            <a:r>
              <a:rPr lang="zh-CN" altLang="en-US" dirty="0">
                <a:solidFill>
                  <a:srgbClr val="FF0000"/>
                </a:solidFill>
              </a:rPr>
              <a:t>联系</a:t>
            </a:r>
            <a:r>
              <a:rPr lang="zh-CN" altLang="en-US" dirty="0"/>
              <a:t>起来的。</a:t>
            </a:r>
            <a:br>
              <a:rPr lang="zh-CN" altLang="en-US" dirty="0"/>
            </a:br>
            <a:r>
              <a:rPr lang="en-US" altLang="zh-CN" dirty="0">
                <a:sym typeface="+mn-ea"/>
              </a:rPr>
              <a:t>The CPU is the core of a microcomputer. </a:t>
            </a:r>
            <a:r>
              <a:rPr lang="zh-CN" altLang="en-US" dirty="0">
                <a:solidFill>
                  <a:srgbClr val="FF0000"/>
                </a:solidFill>
                <a:sym typeface="+mn-ea"/>
              </a:rPr>
              <a:t>The microcomputer uses three buses to connect the CPU with other parts of the system</a:t>
            </a:r>
            <a:r>
              <a:rPr lang="en-US" altLang="zh-CN" dirty="0">
                <a:sym typeface="+mn-ea"/>
              </a:rPr>
              <a:t>, such as memory and I/O interfaces.</a:t>
            </a:r>
            <a:endParaRPr lang="zh-CN" altLang="en-US" dirty="0"/>
          </a:p>
          <a:p>
            <a:pPr marL="0" indent="0" eaLnBrk="1" hangingPunct="1">
              <a:lnSpc>
                <a:spcPct val="134000"/>
              </a:lnSpc>
              <a:spcAft>
                <a:spcPts val="1200"/>
              </a:spcAft>
              <a:buFontTx/>
              <a:buNone/>
            </a:pPr>
            <a:r>
              <a:rPr lang="zh-CN" altLang="en-US" dirty="0"/>
              <a:t>总线是具有同类性质的一组信号线。</a:t>
            </a:r>
            <a:br>
              <a:rPr lang="zh-CN" altLang="en-US" dirty="0"/>
            </a:br>
            <a:r>
              <a:rPr lang="zh-CN" altLang="en-US" dirty="0">
                <a:sym typeface="+mn-ea"/>
              </a:rPr>
              <a:t>A bus is a group of signal lines with similar properties.</a:t>
            </a:r>
            <a:endParaRPr lang="zh-CN" altLang="en-US" dirty="0"/>
          </a:p>
          <a:p>
            <a:pPr marL="0" indent="0" eaLnBrk="1" hangingPunct="1">
              <a:lnSpc>
                <a:spcPct val="134000"/>
              </a:lnSpc>
              <a:spcAft>
                <a:spcPts val="1200"/>
              </a:spcAft>
              <a:buFontTx/>
              <a:buNone/>
            </a:pPr>
            <a:r>
              <a:rPr lang="zh-CN" altLang="en-US" dirty="0"/>
              <a:t>三总线分别是</a:t>
            </a:r>
            <a:r>
              <a:rPr lang="zh-CN" altLang="en-US" dirty="0">
                <a:solidFill>
                  <a:srgbClr val="FF0000"/>
                </a:solidFill>
              </a:rPr>
              <a:t>地址总线</a:t>
            </a:r>
            <a:r>
              <a:rPr lang="en-US" altLang="zh-CN" dirty="0">
                <a:solidFill>
                  <a:srgbClr val="FF0000"/>
                </a:solidFill>
              </a:rPr>
              <a:t>AB</a:t>
            </a:r>
            <a:r>
              <a:rPr lang="en-US" altLang="zh-CN" dirty="0"/>
              <a:t>(Address Bus)</a:t>
            </a:r>
            <a:r>
              <a:rPr lang="zh-CN" altLang="en-US" dirty="0"/>
              <a:t>、</a:t>
            </a:r>
            <a:r>
              <a:rPr lang="zh-CN" altLang="en-US" dirty="0">
                <a:solidFill>
                  <a:srgbClr val="FF0000"/>
                </a:solidFill>
              </a:rPr>
              <a:t>数据总线</a:t>
            </a:r>
            <a:r>
              <a:rPr lang="en-US" altLang="zh-CN" dirty="0">
                <a:solidFill>
                  <a:srgbClr val="FF0000"/>
                </a:solidFill>
              </a:rPr>
              <a:t>DB</a:t>
            </a:r>
            <a:r>
              <a:rPr lang="en-US" altLang="zh-CN" dirty="0"/>
              <a:t>(Data Bus)</a:t>
            </a:r>
            <a:r>
              <a:rPr lang="zh-CN" altLang="en-US" dirty="0"/>
              <a:t>和</a:t>
            </a:r>
            <a:r>
              <a:rPr lang="zh-CN" altLang="en-US" dirty="0">
                <a:solidFill>
                  <a:srgbClr val="FF0000"/>
                </a:solidFill>
              </a:rPr>
              <a:t>控制总线</a:t>
            </a:r>
            <a:r>
              <a:rPr lang="en-US" altLang="zh-CN" dirty="0">
                <a:solidFill>
                  <a:srgbClr val="FF0000"/>
                </a:solidFill>
              </a:rPr>
              <a:t>CB</a:t>
            </a:r>
            <a:r>
              <a:rPr lang="en-US" altLang="zh-CN" dirty="0"/>
              <a:t>(Control  Bus)</a:t>
            </a:r>
            <a:r>
              <a:rPr lang="zh-CN" altLang="en-US" dirty="0"/>
              <a:t>。</a:t>
            </a:r>
            <a:br>
              <a:rPr lang="zh-CN" altLang="en-US" dirty="0"/>
            </a:br>
            <a:r>
              <a:rPr lang="zh-CN" altLang="en-US" dirty="0">
                <a:sym typeface="+mn-ea"/>
              </a:rPr>
              <a:t>The three buses are</a:t>
            </a:r>
            <a:r>
              <a:rPr lang="en-US" altLang="zh-CN" dirty="0">
                <a:sym typeface="+mn-ea"/>
              </a:rPr>
              <a:t> </a:t>
            </a:r>
            <a:r>
              <a:rPr lang="zh-CN" altLang="en-US" dirty="0">
                <a:solidFill>
                  <a:srgbClr val="FF0000"/>
                </a:solidFill>
                <a:sym typeface="+mn-ea"/>
              </a:rPr>
              <a:t>AB (Address Bus)</a:t>
            </a:r>
            <a:r>
              <a:rPr lang="zh-CN" altLang="en-US" dirty="0">
                <a:sym typeface="+mn-ea"/>
              </a:rPr>
              <a:t>, </a:t>
            </a:r>
            <a:r>
              <a:rPr lang="zh-CN" altLang="en-US" dirty="0">
                <a:solidFill>
                  <a:srgbClr val="FF0000"/>
                </a:solidFill>
                <a:sym typeface="+mn-ea"/>
              </a:rPr>
              <a:t>(Data Bus)</a:t>
            </a:r>
            <a:r>
              <a:rPr lang="zh-CN" altLang="en-US" dirty="0">
                <a:sym typeface="+mn-ea"/>
              </a:rPr>
              <a:t> and</a:t>
            </a:r>
            <a:r>
              <a:rPr lang="en-US" altLang="zh-CN" dirty="0">
                <a:sym typeface="+mn-ea"/>
              </a:rPr>
              <a:t> </a:t>
            </a:r>
            <a:r>
              <a:rPr lang="zh-CN" altLang="en-US" dirty="0">
                <a:solidFill>
                  <a:srgbClr val="FF0000"/>
                </a:solidFill>
                <a:sym typeface="+mn-ea"/>
              </a:rPr>
              <a:t>CB (Control Bus)</a:t>
            </a:r>
            <a:r>
              <a:rPr lang="zh-CN" altLang="en-US" dirty="0">
                <a:sym typeface="+mn-ea"/>
              </a:rPr>
              <a:t>.</a:t>
            </a:r>
            <a:endParaRPr lang="en-US" altLang="zh-CN" dirty="0"/>
          </a:p>
        </p:txBody>
      </p:sp>
      <p:sp>
        <p:nvSpPr>
          <p:cNvPr id="129026" name="标题 2"/>
          <p:cNvSpPr>
            <a:spLocks noGrp="1" noChangeArrowheads="1"/>
          </p:cNvSpPr>
          <p:nvPr>
            <p:ph type="title"/>
          </p:nvPr>
        </p:nvSpPr>
        <p:spPr>
          <a:xfrm>
            <a:off x="2428194" y="524556"/>
            <a:ext cx="7335611" cy="504825"/>
          </a:xfrm>
        </p:spPr>
        <p:txBody>
          <a:bodyPr vert="horz" lIns="91440" tIns="45720" rIns="91440" bIns="45720" rtlCol="0" anchor="b">
            <a:noAutofit/>
          </a:bodyPr>
          <a:lstStyle/>
          <a:p>
            <a:pPr algn="ctr"/>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br>
              <a:rPr lang="zh-CN" altLang="en-US" sz="3200" dirty="0">
                <a:latin typeface="宋体" panose="02010600030101010101" pitchFamily="2" charset="-122"/>
              </a:rPr>
            </a:br>
            <a:r>
              <a:rPr lang="en-US" altLang="zh-CN" sz="2800" dirty="0">
                <a:latin typeface="宋体" panose="02010600030101010101" pitchFamily="2" charset="-122"/>
                <a:sym typeface="+mn-ea"/>
              </a:rPr>
              <a:t>Common units and terms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9" name="Rectangle 3"/>
          <p:cNvSpPr>
            <a:spLocks noGrp="1" noChangeArrowheads="1"/>
          </p:cNvSpPr>
          <p:nvPr>
            <p:ph idx="1"/>
          </p:nvPr>
        </p:nvSpPr>
        <p:spPr>
          <a:xfrm>
            <a:off x="803564" y="1403985"/>
            <a:ext cx="10704945" cy="4855210"/>
          </a:xfrm>
        </p:spPr>
        <p:txBody>
          <a:bodyPr>
            <a:normAutofit fontScale="97500"/>
          </a:bodyPr>
          <a:lstStyle/>
          <a:p>
            <a:pPr marL="0" indent="0" eaLnBrk="1" hangingPunct="1">
              <a:spcAft>
                <a:spcPts val="1200"/>
              </a:spcAft>
              <a:buFontTx/>
              <a:buNone/>
            </a:pPr>
            <a:r>
              <a:rPr lang="en-US" altLang="zh-CN" dirty="0">
                <a:solidFill>
                  <a:srgbClr val="FF0000"/>
                </a:solidFill>
              </a:rPr>
              <a:t>9</a:t>
            </a:r>
            <a:r>
              <a:rPr lang="zh-CN" altLang="en-US" dirty="0">
                <a:solidFill>
                  <a:srgbClr val="FF0000"/>
                </a:solidFill>
              </a:rPr>
              <a:t>、访问（</a:t>
            </a:r>
            <a:r>
              <a:rPr lang="en-US" altLang="zh-CN" dirty="0">
                <a:solidFill>
                  <a:srgbClr val="FF0000"/>
                </a:solidFill>
                <a:sym typeface="+mn-ea"/>
              </a:rPr>
              <a:t>Visits</a:t>
            </a:r>
            <a:r>
              <a:rPr lang="zh-CN" altLang="en-US" dirty="0">
                <a:solidFill>
                  <a:srgbClr val="FF0000"/>
                </a:solidFill>
              </a:rPr>
              <a:t>）</a:t>
            </a:r>
          </a:p>
          <a:p>
            <a:pPr marL="0" indent="0" eaLnBrk="1" hangingPunct="1">
              <a:spcAft>
                <a:spcPts val="1200"/>
              </a:spcAft>
              <a:buFontTx/>
              <a:buNone/>
            </a:pPr>
            <a:r>
              <a:rPr lang="zh-CN" altLang="en-US" dirty="0"/>
              <a:t>   </a:t>
            </a:r>
            <a:r>
              <a:rPr lang="en-US" altLang="zh-CN" dirty="0"/>
              <a:t>CPU</a:t>
            </a:r>
            <a:r>
              <a:rPr lang="zh-CN" altLang="en-US" dirty="0"/>
              <a:t>对寄存器、存储器或</a:t>
            </a:r>
            <a:r>
              <a:rPr lang="en-US" altLang="zh-CN" dirty="0"/>
              <a:t>I/O</a:t>
            </a:r>
            <a:r>
              <a:rPr lang="zh-CN" altLang="en-US" dirty="0"/>
              <a:t>接口电路的</a:t>
            </a:r>
            <a:r>
              <a:rPr lang="zh-CN" altLang="en-US" dirty="0">
                <a:solidFill>
                  <a:srgbClr val="FF0000"/>
                </a:solidFill>
              </a:rPr>
              <a:t>操作</a:t>
            </a:r>
            <a:r>
              <a:rPr lang="zh-CN" altLang="en-US" dirty="0"/>
              <a:t>通常分为两类：</a:t>
            </a:r>
            <a:br>
              <a:rPr lang="zh-CN" altLang="en-US" dirty="0"/>
            </a:br>
            <a:r>
              <a:rPr lang="en-US" altLang="zh-CN" dirty="0">
                <a:sym typeface="+mn-ea"/>
              </a:rPr>
              <a:t>The operation of the CPU on registers, memory, or I/O interface circuits is usually divided into two categories:</a:t>
            </a:r>
            <a:endParaRPr lang="zh-CN" altLang="en-US" dirty="0"/>
          </a:p>
          <a:p>
            <a:pPr marL="0" indent="0" eaLnBrk="1" hangingPunct="1">
              <a:spcAft>
                <a:spcPts val="1200"/>
              </a:spcAft>
              <a:buFontTx/>
              <a:buNone/>
            </a:pPr>
            <a:r>
              <a:rPr lang="zh-CN" altLang="en-US" dirty="0"/>
              <a:t>把数据存入寄存器、存储器或</a:t>
            </a:r>
            <a:r>
              <a:rPr lang="en-US" altLang="zh-CN" dirty="0"/>
              <a:t>I/O</a:t>
            </a:r>
            <a:r>
              <a:rPr lang="zh-CN" altLang="en-US" dirty="0"/>
              <a:t>接口电路的操作称为</a:t>
            </a:r>
            <a:r>
              <a:rPr lang="zh-CN" altLang="en-US" dirty="0">
                <a:solidFill>
                  <a:srgbClr val="CC3300"/>
                </a:solidFill>
              </a:rPr>
              <a:t>“写入”或写操作</a:t>
            </a:r>
            <a:r>
              <a:rPr lang="zh-CN" altLang="en-US" dirty="0"/>
              <a:t>；</a:t>
            </a:r>
            <a:br>
              <a:rPr lang="zh-CN" altLang="en-US" dirty="0"/>
            </a:br>
            <a:r>
              <a:rPr lang="zh-CN" altLang="en-US" dirty="0">
                <a:sym typeface="+mn-ea"/>
              </a:rPr>
              <a:t>The operation of storing data into a register, memory, or I/O interface circuit is called a </a:t>
            </a:r>
            <a:r>
              <a:rPr lang="zh-CN" altLang="en-US" dirty="0">
                <a:solidFill>
                  <a:srgbClr val="CC3300"/>
                </a:solidFill>
                <a:sym typeface="+mn-ea"/>
              </a:rPr>
              <a:t>"write" or write operation</a:t>
            </a:r>
            <a:r>
              <a:rPr lang="zh-CN" altLang="en-US" dirty="0">
                <a:sym typeface="+mn-ea"/>
              </a:rPr>
              <a:t>;</a:t>
            </a:r>
            <a:endParaRPr lang="zh-CN" altLang="en-US" dirty="0"/>
          </a:p>
          <a:p>
            <a:pPr marL="0" indent="0" eaLnBrk="1" hangingPunct="1">
              <a:spcAft>
                <a:spcPts val="1200"/>
              </a:spcAft>
              <a:buFontTx/>
              <a:buNone/>
            </a:pPr>
            <a:r>
              <a:rPr lang="zh-CN" altLang="en-US" dirty="0"/>
              <a:t>把数据从寄存器、存储器或</a:t>
            </a:r>
            <a:r>
              <a:rPr lang="en-US" altLang="zh-CN" dirty="0"/>
              <a:t>I/O</a:t>
            </a:r>
            <a:r>
              <a:rPr lang="zh-CN" altLang="en-US" dirty="0"/>
              <a:t>接口电路取到</a:t>
            </a:r>
            <a:r>
              <a:rPr lang="en-US" altLang="zh-CN" dirty="0"/>
              <a:t>CPU</a:t>
            </a:r>
            <a:r>
              <a:rPr lang="zh-CN" altLang="en-US" dirty="0"/>
              <a:t>的操作称为</a:t>
            </a:r>
            <a:r>
              <a:rPr lang="zh-CN" altLang="en-US" dirty="0">
                <a:solidFill>
                  <a:srgbClr val="CC3300"/>
                </a:solidFill>
              </a:rPr>
              <a:t>“读出”或读操作</a:t>
            </a:r>
            <a:r>
              <a:rPr lang="zh-CN" altLang="en-US" dirty="0"/>
              <a:t>。</a:t>
            </a:r>
            <a:br>
              <a:rPr lang="zh-CN" altLang="en-US" dirty="0"/>
            </a:br>
            <a:r>
              <a:rPr lang="zh-CN" altLang="en-US" dirty="0">
                <a:sym typeface="+mn-ea"/>
              </a:rPr>
              <a:t>The operation of taking data from a register, memory, or I/O interface circuit to the CPU is called a </a:t>
            </a:r>
            <a:r>
              <a:rPr lang="zh-CN" altLang="en-US" dirty="0">
                <a:solidFill>
                  <a:srgbClr val="CC3300"/>
                </a:solidFill>
                <a:sym typeface="+mn-ea"/>
              </a:rPr>
              <a:t>"read" or read operation</a:t>
            </a:r>
            <a:r>
              <a:rPr lang="zh-CN" altLang="en-US" dirty="0">
                <a:sym typeface="+mn-ea"/>
              </a:rPr>
              <a:t>.</a:t>
            </a:r>
            <a:endParaRPr lang="zh-CN" altLang="en-US" dirty="0"/>
          </a:p>
          <a:p>
            <a:pPr marL="0" indent="0" eaLnBrk="1" hangingPunct="1">
              <a:spcAft>
                <a:spcPts val="1200"/>
              </a:spcAft>
              <a:buFontTx/>
              <a:buNone/>
            </a:pPr>
            <a:r>
              <a:rPr lang="zh-CN" altLang="en-US" dirty="0"/>
              <a:t> 这</a:t>
            </a:r>
            <a:r>
              <a:rPr lang="zh-CN" altLang="en-US" dirty="0">
                <a:solidFill>
                  <a:srgbClr val="FF0000"/>
                </a:solidFill>
              </a:rPr>
              <a:t>两种操作过程</a:t>
            </a:r>
            <a:r>
              <a:rPr lang="zh-CN" altLang="en-US" dirty="0"/>
              <a:t>通常统称为“</a:t>
            </a:r>
            <a:r>
              <a:rPr lang="zh-CN" altLang="en-US" dirty="0">
                <a:solidFill>
                  <a:srgbClr val="FF0000"/>
                </a:solidFill>
              </a:rPr>
              <a:t>访问</a:t>
            </a:r>
            <a:r>
              <a:rPr lang="zh-CN" altLang="en-US" dirty="0"/>
              <a:t>”。</a:t>
            </a:r>
            <a:br>
              <a:rPr lang="zh-CN" altLang="en-US" dirty="0"/>
            </a:br>
            <a:r>
              <a:rPr lang="zh-CN" altLang="en-US" dirty="0">
                <a:solidFill>
                  <a:srgbClr val="FF0000"/>
                </a:solidFill>
                <a:sym typeface="+mn-ea"/>
              </a:rPr>
              <a:t>These two operations are usually collectively referred to as "access".</a:t>
            </a:r>
            <a:endParaRPr lang="zh-CN" altLang="en-US" dirty="0">
              <a:solidFill>
                <a:srgbClr val="FF0000"/>
              </a:solidFill>
            </a:endParaRPr>
          </a:p>
        </p:txBody>
      </p:sp>
      <p:sp>
        <p:nvSpPr>
          <p:cNvPr id="129026" name="标题 2"/>
          <p:cNvSpPr>
            <a:spLocks noGrp="1" noChangeArrowheads="1"/>
          </p:cNvSpPr>
          <p:nvPr>
            <p:ph type="title"/>
          </p:nvPr>
        </p:nvSpPr>
        <p:spPr>
          <a:xfrm>
            <a:off x="2428194" y="524556"/>
            <a:ext cx="7335611" cy="504825"/>
          </a:xfrm>
        </p:spPr>
        <p:txBody>
          <a:bodyPr vert="horz" lIns="91440" tIns="45720" rIns="91440" bIns="45720" rtlCol="0" anchor="b">
            <a:noAutofit/>
          </a:bodyPr>
          <a:lstStyle/>
          <a:p>
            <a:pPr algn="ctr"/>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br>
              <a:rPr lang="zh-CN" altLang="en-US" sz="3200" dirty="0">
                <a:latin typeface="宋体" panose="02010600030101010101" pitchFamily="2" charset="-122"/>
              </a:rPr>
            </a:br>
            <a:r>
              <a:rPr lang="en-US" altLang="zh-CN" sz="2800" dirty="0">
                <a:latin typeface="宋体" panose="02010600030101010101" pitchFamily="2" charset="-122"/>
                <a:sym typeface="+mn-ea"/>
              </a:rPr>
              <a:t>Common units and terms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3" name="Rectangle 3"/>
          <p:cNvSpPr>
            <a:spLocks noGrp="1" noChangeArrowheads="1"/>
          </p:cNvSpPr>
          <p:nvPr>
            <p:ph idx="1"/>
          </p:nvPr>
        </p:nvSpPr>
        <p:spPr>
          <a:xfrm>
            <a:off x="508000" y="1153160"/>
            <a:ext cx="10834255" cy="5456555"/>
          </a:xfrm>
        </p:spPr>
        <p:txBody>
          <a:bodyPr>
            <a:normAutofit fontScale="87500" lnSpcReduction="10000"/>
          </a:bodyPr>
          <a:lstStyle/>
          <a:p>
            <a:pPr marL="0" indent="0" eaLnBrk="1" hangingPunct="1">
              <a:lnSpc>
                <a:spcPct val="124000"/>
              </a:lnSpc>
              <a:spcAft>
                <a:spcPts val="2400"/>
              </a:spcAft>
              <a:buFontTx/>
              <a:buNone/>
              <a:defRPr/>
            </a:pPr>
            <a:r>
              <a:rPr lang="en-US" altLang="zh-CN" dirty="0">
                <a:solidFill>
                  <a:srgbClr val="FF0000"/>
                </a:solidFill>
              </a:rPr>
              <a:t>10</a:t>
            </a:r>
            <a:r>
              <a:rPr lang="zh-CN" altLang="en-US" dirty="0">
                <a:solidFill>
                  <a:srgbClr val="FF0000"/>
                </a:solidFill>
              </a:rPr>
              <a:t>、机器指令</a:t>
            </a:r>
            <a:br>
              <a:rPr lang="zh-CN" altLang="en-US" dirty="0">
                <a:solidFill>
                  <a:srgbClr val="FF0000"/>
                </a:solidFill>
              </a:rPr>
            </a:br>
            <a:r>
              <a:rPr lang="en-US" altLang="zh-CN" dirty="0">
                <a:solidFill>
                  <a:srgbClr val="FF0000"/>
                </a:solidFill>
                <a:sym typeface="+mn-ea"/>
              </a:rPr>
              <a:t>Machine instructions</a:t>
            </a:r>
            <a:endParaRPr lang="zh-CN" altLang="en-US" dirty="0">
              <a:solidFill>
                <a:srgbClr val="FF0000"/>
              </a:solidFill>
            </a:endParaRPr>
          </a:p>
          <a:p>
            <a:pPr marL="0" indent="0" eaLnBrk="1" hangingPunct="1">
              <a:lnSpc>
                <a:spcPct val="124000"/>
              </a:lnSpc>
              <a:spcAft>
                <a:spcPts val="2400"/>
              </a:spcAft>
              <a:buFontTx/>
              <a:buNone/>
              <a:defRPr/>
            </a:pPr>
            <a:r>
              <a:rPr lang="zh-CN" altLang="en-US" dirty="0"/>
              <a:t>机器指令由二进制代码</a:t>
            </a:r>
            <a:r>
              <a:rPr lang="en-US" altLang="zh-CN" dirty="0">
                <a:solidFill>
                  <a:srgbClr val="FF0000"/>
                </a:solidFill>
              </a:rPr>
              <a:t>(</a:t>
            </a:r>
            <a:r>
              <a:rPr lang="zh-CN" altLang="en-US" dirty="0">
                <a:solidFill>
                  <a:srgbClr val="FF0000"/>
                </a:solidFill>
              </a:rPr>
              <a:t>例</a:t>
            </a:r>
            <a:r>
              <a:rPr lang="en-US" altLang="zh-CN" dirty="0">
                <a:solidFill>
                  <a:srgbClr val="FF0000"/>
                </a:solidFill>
              </a:rPr>
              <a:t>:01110100,</a:t>
            </a:r>
            <a:r>
              <a:rPr lang="en-US" altLang="zh-CN" dirty="0">
                <a:solidFill>
                  <a:srgbClr val="9900CC"/>
                </a:solidFill>
              </a:rPr>
              <a:t>00110000</a:t>
            </a:r>
            <a:r>
              <a:rPr lang="en-US" altLang="zh-CN" dirty="0">
                <a:solidFill>
                  <a:srgbClr val="FF0000"/>
                </a:solidFill>
              </a:rPr>
              <a:t>)</a:t>
            </a:r>
            <a:r>
              <a:rPr lang="zh-CN" altLang="en-US" dirty="0"/>
              <a:t>组成</a:t>
            </a:r>
            <a:r>
              <a:rPr lang="en-US" altLang="zh-CN" dirty="0"/>
              <a:t>,</a:t>
            </a:r>
            <a:r>
              <a:rPr lang="zh-CN" altLang="en-US" dirty="0"/>
              <a:t>可直接由微处理器进行译码</a:t>
            </a:r>
            <a:r>
              <a:rPr lang="zh-CN" altLang="en-US" spc="-1100" dirty="0"/>
              <a:t>、</a:t>
            </a:r>
            <a:r>
              <a:rPr lang="zh-CN" altLang="en-US" dirty="0"/>
              <a:t>执行。</a:t>
            </a:r>
            <a:br>
              <a:rPr lang="zh-CN" altLang="en-US" dirty="0"/>
            </a:br>
            <a:r>
              <a:rPr lang="zh-CN" altLang="en-US" dirty="0">
                <a:sym typeface="+mn-ea"/>
              </a:rPr>
              <a:t>Machine instructions are composed of binary code (e.g., 01110100,00110000) and can be decoded and executed directly by the microprocessor.</a:t>
            </a:r>
            <a:endParaRPr lang="en-US" altLang="zh-CN" dirty="0">
              <a:solidFill>
                <a:srgbClr val="FF0000"/>
              </a:solidFill>
            </a:endParaRPr>
          </a:p>
          <a:p>
            <a:pPr marL="0" indent="0" eaLnBrk="1" hangingPunct="1">
              <a:lnSpc>
                <a:spcPct val="124000"/>
              </a:lnSpc>
              <a:spcAft>
                <a:spcPts val="1200"/>
              </a:spcAft>
              <a:defRPr/>
            </a:pPr>
            <a:r>
              <a:rPr lang="zh-CN" altLang="en-US" dirty="0">
                <a:solidFill>
                  <a:srgbClr val="FF0000"/>
                </a:solidFill>
              </a:rPr>
              <a:t>一条机器指令应包含要求微处理器所要完成的操作，</a:t>
            </a:r>
            <a:r>
              <a:rPr lang="zh-CN" altLang="en-US" dirty="0"/>
              <a:t>以及</a:t>
            </a:r>
            <a:r>
              <a:rPr lang="zh-CN" altLang="en-US" dirty="0">
                <a:solidFill>
                  <a:srgbClr val="9900CC"/>
                </a:solidFill>
              </a:rPr>
              <a:t>参与该操作的数据或该数据所在的地址</a:t>
            </a:r>
            <a:r>
              <a:rPr lang="zh-CN" altLang="en-US" dirty="0"/>
              <a:t>，有时还要有</a:t>
            </a:r>
            <a:r>
              <a:rPr lang="zh-CN" altLang="en-US" dirty="0">
                <a:solidFill>
                  <a:srgbClr val="C00000"/>
                </a:solidFill>
              </a:rPr>
              <a:t>操作结果的存放地址信息</a:t>
            </a:r>
            <a:r>
              <a:rPr lang="en-US" altLang="zh-CN" dirty="0"/>
              <a:t>; </a:t>
            </a:r>
            <a:br>
              <a:rPr lang="en-US" altLang="zh-CN" dirty="0"/>
            </a:br>
            <a:r>
              <a:rPr lang="zh-CN" altLang="en-US" dirty="0">
                <a:solidFill>
                  <a:srgbClr val="FF0000"/>
                </a:solidFill>
                <a:sym typeface="+mn-ea"/>
              </a:rPr>
              <a:t>A machine instruction should contain the operation required by the microprocessor, as well as </a:t>
            </a:r>
            <a:r>
              <a:rPr lang="zh-CN" altLang="en-US" dirty="0">
                <a:solidFill>
                  <a:srgbClr val="9900CC"/>
                </a:solidFill>
                <a:sym typeface="+mn-ea"/>
              </a:rPr>
              <a:t>the data involved in the operation or the address where the data is located</a:t>
            </a:r>
            <a:r>
              <a:rPr lang="zh-CN" altLang="en-US" dirty="0">
                <a:solidFill>
                  <a:srgbClr val="FF0000"/>
                </a:solidFill>
                <a:sym typeface="+mn-ea"/>
              </a:rPr>
              <a:t>, and sometimes the storage address information of the operation result;</a:t>
            </a:r>
            <a:endParaRPr lang="en-US" altLang="zh-CN" dirty="0"/>
          </a:p>
          <a:p>
            <a:pPr marL="0" indent="0" eaLnBrk="1" hangingPunct="1">
              <a:lnSpc>
                <a:spcPct val="124000"/>
              </a:lnSpc>
              <a:spcAft>
                <a:spcPts val="1200"/>
              </a:spcAft>
              <a:buNone/>
              <a:defRPr/>
            </a:pPr>
            <a:r>
              <a:rPr lang="zh-CN" altLang="en-US" dirty="0"/>
              <a:t>这些都是以二进制数字的形式表示的</a:t>
            </a:r>
            <a:r>
              <a:rPr lang="en-US" altLang="zh-CN" dirty="0"/>
              <a:t>, </a:t>
            </a:r>
            <a:r>
              <a:rPr lang="zh-CN" altLang="en-US" dirty="0"/>
              <a:t>当然</a:t>
            </a:r>
            <a:r>
              <a:rPr lang="en-US" altLang="zh-CN" dirty="0"/>
              <a:t>,</a:t>
            </a:r>
            <a:r>
              <a:rPr lang="zh-CN" altLang="en-US" dirty="0"/>
              <a:t>也有某些特殊指令不需要数据或地址。</a:t>
            </a:r>
            <a:br>
              <a:rPr lang="zh-CN" altLang="en-US" dirty="0"/>
            </a:br>
            <a:r>
              <a:rPr lang="zh-CN" altLang="en-US" dirty="0">
                <a:sym typeface="+mn-ea"/>
              </a:rPr>
              <a:t>These are all represented in the form of binary numbers, and of course, there are some special instructions that do not require data or addresses.</a:t>
            </a:r>
            <a:endParaRPr lang="en-US" altLang="zh-CN" dirty="0"/>
          </a:p>
        </p:txBody>
      </p:sp>
      <p:grpSp>
        <p:nvGrpSpPr>
          <p:cNvPr id="9" name="组合 8"/>
          <p:cNvGrpSpPr/>
          <p:nvPr/>
        </p:nvGrpSpPr>
        <p:grpSpPr bwMode="auto">
          <a:xfrm>
            <a:off x="4121785" y="1483995"/>
            <a:ext cx="6486525" cy="1544993"/>
            <a:chOff x="2794563" y="1329092"/>
            <a:chExt cx="6321776" cy="1546191"/>
          </a:xfrm>
        </p:grpSpPr>
        <p:sp>
          <p:nvSpPr>
            <p:cNvPr id="132105" name="矩形 4"/>
            <p:cNvSpPr>
              <a:spLocks noChangeArrowheads="1"/>
            </p:cNvSpPr>
            <p:nvPr/>
          </p:nvSpPr>
          <p:spPr bwMode="auto">
            <a:xfrm>
              <a:off x="2794563" y="1329092"/>
              <a:ext cx="6321776" cy="709817"/>
            </a:xfrm>
            <a:prstGeom prst="rect">
              <a:avLst/>
            </a:prstGeom>
            <a:noFill/>
            <a:ln w="9525">
              <a:solidFill>
                <a:srgbClr val="3D41D1"/>
              </a:solidFill>
              <a:miter lim="800000"/>
            </a:ln>
            <a:extLst>
              <a:ext uri="{909E8E84-426E-40DD-AFC4-6F175D3DCCD1}">
                <a14:hiddenFill xmlns:a14="http://schemas.microsoft.com/office/drawing/2010/main">
                  <a:solidFill>
                    <a:srgbClr val="FFFFFF"/>
                  </a:solidFill>
                </a14:hiddenFill>
              </a:ext>
            </a:extLst>
          </p:spPr>
          <p:txBody>
            <a:bodyPr wrap="square" tIns="0" bIns="0">
              <a:no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latin typeface="宋体" panose="02010600030101010101" pitchFamily="2" charset="-122"/>
                </a:rPr>
                <a:t>8051</a:t>
              </a:r>
              <a:r>
                <a:rPr lang="zh-CN" altLang="en-US" b="1" dirty="0">
                  <a:latin typeface="宋体" panose="02010600030101010101" pitchFamily="2" charset="-122"/>
                </a:rPr>
                <a:t>指令将一个</a:t>
              </a:r>
              <a:r>
                <a:rPr lang="en-US" altLang="zh-CN" b="1" dirty="0">
                  <a:latin typeface="宋体" panose="02010600030101010101" pitchFamily="2" charset="-122"/>
                </a:rPr>
                <a:t>8</a:t>
              </a:r>
              <a:r>
                <a:rPr lang="zh-CN" altLang="en-US" b="1" dirty="0">
                  <a:latin typeface="宋体" panose="02010600030101010101" pitchFamily="2" charset="-122"/>
                </a:rPr>
                <a:t>位二进制数据</a:t>
              </a:r>
              <a:r>
                <a:rPr lang="en-US" altLang="zh-CN" b="1" dirty="0">
                  <a:solidFill>
                    <a:srgbClr val="9900CC"/>
                  </a:solidFill>
                  <a:latin typeface="宋体" panose="02010600030101010101" pitchFamily="2" charset="-122"/>
                </a:rPr>
                <a:t>30H</a:t>
              </a:r>
              <a:r>
                <a:rPr lang="zh-CN" altLang="en-US" b="1" dirty="0">
                  <a:latin typeface="宋体" panose="02010600030101010101" pitchFamily="2" charset="-122"/>
                </a:rPr>
                <a:t>送到</a:t>
              </a:r>
              <a:r>
                <a:rPr lang="en-US" altLang="zh-CN" b="1" dirty="0">
                  <a:latin typeface="宋体" panose="02010600030101010101" pitchFamily="2" charset="-122"/>
                </a:rPr>
                <a:t>CPU</a:t>
              </a:r>
              <a:r>
                <a:rPr lang="zh-CN" altLang="en-US" b="1" dirty="0">
                  <a:latin typeface="宋体" panose="02010600030101010101" pitchFamily="2" charset="-122"/>
                  <a:sym typeface="+mn-ea"/>
                </a:rPr>
                <a:t>的</a:t>
              </a:r>
              <a:r>
                <a:rPr lang="zh-CN" altLang="en-US" b="1" dirty="0">
                  <a:latin typeface="宋体" panose="02010600030101010101" pitchFamily="2" charset="-122"/>
                </a:rPr>
                <a:t>内部寄存器</a:t>
              </a:r>
              <a:r>
                <a:rPr lang="en-US" altLang="zh-CN" b="1" dirty="0">
                  <a:solidFill>
                    <a:srgbClr val="9900CC"/>
                  </a:solidFill>
                  <a:latin typeface="宋体" panose="02010600030101010101" pitchFamily="2" charset="-122"/>
                </a:rPr>
                <a:t>A</a:t>
              </a:r>
              <a:br>
                <a:rPr lang="zh-CN" altLang="en-US" sz="2800" b="1" dirty="0">
                  <a:latin typeface="宋体" panose="02010600030101010101" pitchFamily="2" charset="-122"/>
                </a:rPr>
              </a:br>
              <a:r>
                <a:rPr lang="en-US" altLang="zh-CN" sz="1400" b="1" dirty="0">
                  <a:latin typeface="宋体" panose="02010600030101010101" pitchFamily="2" charset="-122"/>
                  <a:sym typeface="+mn-ea"/>
                </a:rPr>
                <a:t>The 8051 instruction sends an 8-bit binary data 30H to the CPU internal register A.</a:t>
              </a:r>
              <a:endParaRPr lang="zh-CN" altLang="en-US" sz="1400" b="1" dirty="0"/>
            </a:p>
          </p:txBody>
        </p:sp>
        <p:cxnSp>
          <p:nvCxnSpPr>
            <p:cNvPr id="132106" name="直接箭头连接符 6"/>
            <p:cNvCxnSpPr>
              <a:cxnSpLocks noChangeShapeType="1"/>
            </p:cNvCxnSpPr>
            <p:nvPr/>
          </p:nvCxnSpPr>
          <p:spPr bwMode="auto">
            <a:xfrm flipH="1">
              <a:off x="8219280" y="2028807"/>
              <a:ext cx="297058" cy="846476"/>
            </a:xfrm>
            <a:prstGeom prst="straightConnector1">
              <a:avLst/>
            </a:prstGeom>
            <a:noFill/>
            <a:ln w="38100" algn="ctr">
              <a:solidFill>
                <a:srgbClr val="0000CC"/>
              </a:solidFill>
              <a:rou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 name="矩形 5"/>
          <p:cNvSpPr>
            <a:spLocks noChangeArrowheads="1"/>
          </p:cNvSpPr>
          <p:nvPr/>
        </p:nvSpPr>
        <p:spPr bwMode="auto">
          <a:xfrm>
            <a:off x="7912054" y="3027519"/>
            <a:ext cx="2017713" cy="466090"/>
          </a:xfrm>
          <a:prstGeom prst="rect">
            <a:avLst/>
          </a:prstGeom>
          <a:noFill/>
          <a:ln w="9525">
            <a:solidFill>
              <a:srgbClr val="3366FF"/>
            </a:solidFill>
            <a:miter lim="800000"/>
          </a:ln>
          <a:extLst>
            <a:ext uri="{909E8E84-426E-40DD-AFC4-6F175D3DCCD1}">
              <a14:hiddenFill xmlns:a14="http://schemas.microsoft.com/office/drawing/2010/main">
                <a:solidFill>
                  <a:srgbClr val="FFFFFF"/>
                </a:solidFill>
              </a14:hiddenFill>
            </a:ext>
          </a:extLst>
        </p:spPr>
        <p:txBody>
          <a:bodyPr lIns="36000" tIns="0" rIns="0" bIns="36000">
            <a:spAutoFit/>
          </a:bodyPr>
          <a:lstStyle>
            <a:lvl1pPr marL="357505" indent="-357505"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dirty="0">
                <a:solidFill>
                  <a:srgbClr val="FF0000"/>
                </a:solidFill>
                <a:latin typeface="宋体" panose="02010600030101010101" pitchFamily="2" charset="-122"/>
              </a:rPr>
              <a:t>MOV</a:t>
            </a:r>
            <a:r>
              <a:rPr lang="en-US" altLang="zh-CN" sz="2800" b="1" dirty="0">
                <a:latin typeface="宋体" panose="02010600030101010101" pitchFamily="2" charset="-122"/>
              </a:rPr>
              <a:t> A,#30H</a:t>
            </a:r>
          </a:p>
        </p:txBody>
      </p:sp>
      <p:sp>
        <p:nvSpPr>
          <p:cNvPr id="11" name="矩形 10"/>
          <p:cNvSpPr>
            <a:spLocks noChangeArrowheads="1"/>
          </p:cNvSpPr>
          <p:nvPr/>
        </p:nvSpPr>
        <p:spPr bwMode="auto">
          <a:xfrm>
            <a:off x="6887754" y="2967194"/>
            <a:ext cx="109728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57505" indent="-357505"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solidFill>
                  <a:srgbClr val="FF0000"/>
                </a:solidFill>
                <a:latin typeface="宋体" panose="02010600030101010101" pitchFamily="2" charset="-122"/>
              </a:rPr>
              <a:t>助记符</a:t>
            </a:r>
            <a:endParaRPr lang="en-US" altLang="zh-CN" sz="2400" b="1" dirty="0">
              <a:latin typeface="宋体" panose="02010600030101010101" pitchFamily="2" charset="-122"/>
            </a:endParaRPr>
          </a:p>
        </p:txBody>
      </p:sp>
      <p:sp>
        <p:nvSpPr>
          <p:cNvPr id="129026" name="标题 2"/>
          <p:cNvSpPr>
            <a:spLocks noGrp="1" noChangeArrowheads="1"/>
          </p:cNvSpPr>
          <p:nvPr>
            <p:ph type="title"/>
          </p:nvPr>
        </p:nvSpPr>
        <p:spPr>
          <a:xfrm>
            <a:off x="2428194" y="524556"/>
            <a:ext cx="7335611" cy="504825"/>
          </a:xfrm>
        </p:spPr>
        <p:txBody>
          <a:bodyPr vert="horz" lIns="91440" tIns="45720" rIns="91440" bIns="45720" rtlCol="0" anchor="b">
            <a:noAutofit/>
          </a:bodyPr>
          <a:lstStyle/>
          <a:p>
            <a:pPr algn="ctr"/>
            <a:r>
              <a:rPr lang="zh-CN" altLang="en-US" sz="3200" dirty="0">
                <a:latin typeface="宋体" panose="02010600030101010101" pitchFamily="2" charset="-122"/>
              </a:rPr>
              <a:t> </a:t>
            </a:r>
            <a:r>
              <a:rPr lang="en-US" altLang="zh-CN" sz="3200" dirty="0">
                <a:latin typeface="宋体" panose="02010600030101010101" pitchFamily="2" charset="-122"/>
              </a:rPr>
              <a:t>2.3.1  </a:t>
            </a:r>
            <a:r>
              <a:rPr lang="zh-CN" altLang="en-US" sz="3200" dirty="0">
                <a:latin typeface="宋体" panose="02010600030101010101" pitchFamily="2" charset="-122"/>
              </a:rPr>
              <a:t>常用单位及术语</a:t>
            </a:r>
            <a:br>
              <a:rPr lang="zh-CN" altLang="en-US" sz="3200" dirty="0">
                <a:latin typeface="宋体" panose="02010600030101010101" pitchFamily="2" charset="-122"/>
              </a:rPr>
            </a:br>
            <a:r>
              <a:rPr lang="en-US" altLang="zh-CN" sz="2800" dirty="0">
                <a:latin typeface="宋体" panose="02010600030101010101" pitchFamily="2" charset="-122"/>
                <a:sym typeface="+mn-ea"/>
              </a:rPr>
              <a:t>Common units and terms</a:t>
            </a:r>
          </a:p>
        </p:txBody>
      </p:sp>
      <p:sp>
        <p:nvSpPr>
          <p:cNvPr id="3" name="矩形 2"/>
          <p:cNvSpPr>
            <a:spLocks noChangeArrowheads="1"/>
          </p:cNvSpPr>
          <p:nvPr/>
        </p:nvSpPr>
        <p:spPr bwMode="auto">
          <a:xfrm>
            <a:off x="7014119" y="3302474"/>
            <a:ext cx="792480"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57505" indent="-357505"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1200" dirty="0">
                <a:solidFill>
                  <a:srgbClr val="FF0000"/>
                </a:solidFill>
                <a:latin typeface="宋体" panose="02010600030101010101" pitchFamily="2" charset="-122"/>
              </a:rPr>
              <a:t>mnemonic</a:t>
            </a:r>
            <a:endParaRPr lang="en-US" altLang="zh-CN" sz="2400" b="1" dirty="0">
              <a:latin typeface="宋体" panose="02010600030101010101" pitchFamily="2"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标题 2"/>
          <p:cNvSpPr>
            <a:spLocks noGrp="1" noChangeArrowheads="1"/>
          </p:cNvSpPr>
          <p:nvPr>
            <p:ph type="title"/>
          </p:nvPr>
        </p:nvSpPr>
        <p:spPr>
          <a:xfrm>
            <a:off x="864870" y="569460"/>
            <a:ext cx="8864237" cy="504825"/>
          </a:xfrm>
        </p:spPr>
        <p:txBody>
          <a:bodyPr vert="horz" lIns="91440" tIns="45720" rIns="91440" bIns="45720" rtlCol="0" anchor="b">
            <a:noAutofit/>
          </a:bodyPr>
          <a:lstStyle/>
          <a:p>
            <a:r>
              <a:rPr lang="en-US" altLang="zh-CN" sz="3200" dirty="0">
                <a:latin typeface="宋体" panose="02010600030101010101" pitchFamily="2" charset="-122"/>
              </a:rPr>
              <a:t>14</a:t>
            </a:r>
            <a:r>
              <a:rPr lang="zh-CN" altLang="en-US" sz="3200" dirty="0">
                <a:latin typeface="宋体" panose="02010600030101010101" pitchFamily="2" charset="-122"/>
              </a:rPr>
              <a:t>、高级语言</a:t>
            </a:r>
            <a:br>
              <a:rPr lang="zh-CN" altLang="en-US" sz="3200" dirty="0">
                <a:latin typeface="宋体" panose="02010600030101010101" pitchFamily="2" charset="-122"/>
              </a:rPr>
            </a:br>
            <a:r>
              <a:rPr lang="en-US" altLang="zh-CN" sz="3200" dirty="0">
                <a:latin typeface="宋体" panose="02010600030101010101" pitchFamily="2" charset="-122"/>
                <a:sym typeface="+mn-ea"/>
              </a:rPr>
              <a:t>High-level languages</a:t>
            </a:r>
            <a:endParaRPr lang="zh-CN" altLang="en-US" sz="3200" dirty="0">
              <a:latin typeface="宋体" panose="02010600030101010101" pitchFamily="2" charset="-122"/>
            </a:endParaRPr>
          </a:p>
        </p:txBody>
      </p:sp>
      <p:sp>
        <p:nvSpPr>
          <p:cNvPr id="220163" name="Rectangle 3"/>
          <p:cNvSpPr>
            <a:spLocks noGrp="1" noChangeArrowheads="1"/>
          </p:cNvSpPr>
          <p:nvPr>
            <p:ph idx="1"/>
          </p:nvPr>
        </p:nvSpPr>
        <p:spPr>
          <a:xfrm>
            <a:off x="864870" y="1134745"/>
            <a:ext cx="10469245" cy="5723255"/>
          </a:xfrm>
        </p:spPr>
        <p:txBody>
          <a:bodyPr>
            <a:normAutofit/>
          </a:bodyPr>
          <a:lstStyle/>
          <a:p>
            <a:pPr eaLnBrk="1" hangingPunct="1">
              <a:lnSpc>
                <a:spcPct val="110000"/>
              </a:lnSpc>
              <a:spcBef>
                <a:spcPct val="0"/>
              </a:spcBef>
            </a:pPr>
            <a:r>
              <a:rPr lang="zh-CN" altLang="en-US" dirty="0"/>
              <a:t>汇编指令虽然较二进制机器指令容易阅读和编写，但还不如</a:t>
            </a:r>
            <a:r>
              <a:rPr lang="zh-CN" altLang="en-US" dirty="0">
                <a:solidFill>
                  <a:srgbClr val="FF0000"/>
                </a:solidFill>
              </a:rPr>
              <a:t>高级语言更接近英语自然语言</a:t>
            </a:r>
            <a:r>
              <a:rPr lang="zh-CN" altLang="en-US" dirty="0"/>
              <a:t>。一般</a:t>
            </a:r>
            <a:r>
              <a:rPr lang="zh-CN" altLang="en-US" dirty="0">
                <a:solidFill>
                  <a:srgbClr val="9900CC"/>
                </a:solidFill>
              </a:rPr>
              <a:t>用高级语言编程，再用某种特殊程序翻译成机器语言</a:t>
            </a:r>
            <a:r>
              <a:rPr lang="zh-CN" altLang="en-US" dirty="0"/>
              <a:t>。</a:t>
            </a:r>
            <a:br>
              <a:rPr lang="zh-CN" altLang="en-US" dirty="0"/>
            </a:br>
            <a:r>
              <a:rPr lang="zh-CN" altLang="en-US" dirty="0">
                <a:sym typeface="+mn-ea"/>
              </a:rPr>
              <a:t>Although assembly instructions are easier to read and write than binary machine instructions, </a:t>
            </a:r>
            <a:r>
              <a:rPr lang="zh-CN" altLang="en-US" dirty="0">
                <a:solidFill>
                  <a:srgbClr val="FF0000"/>
                </a:solidFill>
                <a:sym typeface="+mn-ea"/>
              </a:rPr>
              <a:t>they are not as close to English natural language as high-level languages</a:t>
            </a:r>
            <a:r>
              <a:rPr lang="zh-CN" altLang="en-US" dirty="0">
                <a:sym typeface="+mn-ea"/>
              </a:rPr>
              <a:t>. </a:t>
            </a:r>
            <a:r>
              <a:rPr lang="zh-CN" altLang="en-US" dirty="0">
                <a:solidFill>
                  <a:srgbClr val="9900CC"/>
                </a:solidFill>
                <a:sym typeface="+mn-ea"/>
              </a:rPr>
              <a:t>High-level languages are generally used for programming and then translated into machine language by a special program.</a:t>
            </a:r>
            <a:endParaRPr lang="zh-CN" altLang="en-US" dirty="0"/>
          </a:p>
          <a:p>
            <a:pPr eaLnBrk="1" hangingPunct="1">
              <a:lnSpc>
                <a:spcPct val="110000"/>
              </a:lnSpc>
              <a:spcBef>
                <a:spcPct val="0"/>
              </a:spcBef>
            </a:pPr>
            <a:endParaRPr lang="zh-CN" altLang="en-US" dirty="0"/>
          </a:p>
          <a:p>
            <a:pPr eaLnBrk="1" hangingPunct="1">
              <a:lnSpc>
                <a:spcPct val="110000"/>
              </a:lnSpc>
              <a:spcBef>
                <a:spcPct val="0"/>
              </a:spcBef>
            </a:pPr>
            <a:r>
              <a:rPr lang="zh-CN" altLang="en-US" dirty="0"/>
              <a:t>现在市面上有各种</a:t>
            </a:r>
            <a:r>
              <a:rPr lang="en-US" altLang="zh-CN" dirty="0">
                <a:solidFill>
                  <a:srgbClr val="FF0000"/>
                </a:solidFill>
              </a:rPr>
              <a:t>C</a:t>
            </a:r>
            <a:r>
              <a:rPr lang="zh-CN" altLang="en-US" dirty="0">
                <a:solidFill>
                  <a:srgbClr val="FF0000"/>
                </a:solidFill>
              </a:rPr>
              <a:t>编译器</a:t>
            </a:r>
            <a:r>
              <a:rPr lang="zh-CN" altLang="en-US" dirty="0"/>
              <a:t>，能</a:t>
            </a:r>
            <a:r>
              <a:rPr lang="zh-CN" altLang="en-US" dirty="0">
                <a:solidFill>
                  <a:srgbClr val="FF0000"/>
                </a:solidFill>
              </a:rPr>
              <a:t>把</a:t>
            </a:r>
            <a:r>
              <a:rPr lang="en-US" altLang="zh-CN" dirty="0">
                <a:solidFill>
                  <a:srgbClr val="FF0000"/>
                </a:solidFill>
              </a:rPr>
              <a:t>C</a:t>
            </a:r>
            <a:r>
              <a:rPr lang="zh-CN" altLang="en-US" dirty="0">
                <a:solidFill>
                  <a:srgbClr val="FF0000"/>
                </a:solidFill>
              </a:rPr>
              <a:t>语言转换成某个具体的微处理器的机器语言</a:t>
            </a:r>
            <a:r>
              <a:rPr lang="zh-CN" altLang="en-US" dirty="0"/>
              <a:t>。</a:t>
            </a:r>
            <a:br>
              <a:rPr lang="zh-CN" altLang="en-US" dirty="0"/>
            </a:br>
            <a:r>
              <a:rPr lang="zh-CN" altLang="en-US" dirty="0">
                <a:sym typeface="+mn-ea"/>
              </a:rPr>
              <a:t>There are various</a:t>
            </a:r>
            <a:r>
              <a:rPr lang="zh-CN" altLang="en-US" dirty="0">
                <a:solidFill>
                  <a:srgbClr val="FF0000"/>
                </a:solidFill>
                <a:sym typeface="+mn-ea"/>
              </a:rPr>
              <a:t> C compilers</a:t>
            </a:r>
            <a:r>
              <a:rPr lang="zh-CN" altLang="en-US" dirty="0">
                <a:sym typeface="+mn-ea"/>
              </a:rPr>
              <a:t> on the market that can convert C </a:t>
            </a:r>
            <a:r>
              <a:rPr lang="zh-CN" altLang="en-US" dirty="0">
                <a:solidFill>
                  <a:srgbClr val="FF0000"/>
                </a:solidFill>
                <a:sym typeface="+mn-ea"/>
              </a:rPr>
              <a:t>into the machine language of a specific microprocessor.</a:t>
            </a:r>
            <a:endParaRPr lang="en-US" altLang="zh-CN" dirty="0"/>
          </a:p>
          <a:p>
            <a:pPr eaLnBrk="1" hangingPunct="1">
              <a:lnSpc>
                <a:spcPct val="110000"/>
              </a:lnSpc>
              <a:spcBef>
                <a:spcPct val="0"/>
              </a:spcBef>
            </a:pPr>
            <a:endParaRPr lang="en-US" altLang="zh-CN" dirty="0"/>
          </a:p>
          <a:p>
            <a:pPr eaLnBrk="1" hangingPunct="1">
              <a:lnSpc>
                <a:spcPct val="110000"/>
              </a:lnSpc>
              <a:spcBef>
                <a:spcPct val="0"/>
              </a:spcBef>
            </a:pPr>
            <a:r>
              <a:rPr lang="zh-CN" altLang="en-US" dirty="0">
                <a:solidFill>
                  <a:srgbClr val="9900CC"/>
                </a:solidFill>
              </a:rPr>
              <a:t>高级语言</a:t>
            </a:r>
            <a:r>
              <a:rPr lang="zh-CN" altLang="en-US" dirty="0"/>
              <a:t>比较适宜于对汇编语言不熟悉的用户使用，其</a:t>
            </a:r>
            <a:r>
              <a:rPr lang="zh-CN" altLang="en-US" dirty="0">
                <a:solidFill>
                  <a:srgbClr val="9900CC"/>
                </a:solidFill>
              </a:rPr>
              <a:t>缺点</a:t>
            </a:r>
            <a:r>
              <a:rPr lang="zh-CN" altLang="en-US" dirty="0"/>
              <a:t>是不可避免地会出现</a:t>
            </a:r>
            <a:r>
              <a:rPr lang="zh-CN" altLang="en-US" dirty="0">
                <a:solidFill>
                  <a:srgbClr val="9900CC"/>
                </a:solidFill>
              </a:rPr>
              <a:t>编译后的机器程序冗长</a:t>
            </a:r>
            <a:r>
              <a:rPr lang="zh-CN" altLang="en-US" dirty="0"/>
              <a:t>、不够简练，导致程序运行时间长、</a:t>
            </a:r>
            <a:r>
              <a:rPr lang="zh-CN" altLang="en-US" dirty="0">
                <a:solidFill>
                  <a:srgbClr val="9900CC"/>
                </a:solidFill>
              </a:rPr>
              <a:t>速度低</a:t>
            </a:r>
            <a:r>
              <a:rPr lang="zh-CN" altLang="en-US" dirty="0"/>
              <a:t>等问题。</a:t>
            </a:r>
            <a:br>
              <a:rPr lang="zh-CN" altLang="en-US" dirty="0"/>
            </a:br>
            <a:r>
              <a:rPr lang="zh-CN" altLang="en-US" dirty="0">
                <a:solidFill>
                  <a:srgbClr val="9900CC"/>
                </a:solidFill>
                <a:sym typeface="+mn-ea"/>
              </a:rPr>
              <a:t>High-level language is more suitable for users who are not familiar with assembly language. </a:t>
            </a:r>
            <a:r>
              <a:rPr lang="zh-CN" altLang="en-US" dirty="0">
                <a:sym typeface="+mn-ea"/>
              </a:rPr>
              <a:t>Its disadvantage is that </a:t>
            </a:r>
            <a:r>
              <a:rPr lang="zh-CN" altLang="en-US" dirty="0">
                <a:solidFill>
                  <a:srgbClr val="9900CC"/>
                </a:solidFill>
                <a:sym typeface="+mn-ea"/>
              </a:rPr>
              <a:t>the machine program after compilation will inevitably be lengthy and not concise, </a:t>
            </a:r>
            <a:r>
              <a:rPr lang="zh-CN" altLang="en-US" dirty="0">
                <a:sym typeface="+mn-ea"/>
              </a:rPr>
              <a:t>resulting in long running time and low speed of the program.</a:t>
            </a:r>
            <a:endParaRPr lang="zh-CN" altLang="en-US" dirty="0"/>
          </a:p>
          <a:p>
            <a:pPr eaLnBrk="1" hangingPunct="1">
              <a:lnSpc>
                <a:spcPct val="110000"/>
              </a:lnSpc>
              <a:spcBef>
                <a:spcPct val="0"/>
              </a:spcBef>
            </a:pPr>
            <a:endParaRPr lang="zh-CN" altLang="en-US" dirty="0">
              <a:solidFill>
                <a:srgbClr val="9900CC"/>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Rectangle 3"/>
          <p:cNvSpPr>
            <a:spLocks noGrp="1" noChangeArrowheads="1"/>
          </p:cNvSpPr>
          <p:nvPr>
            <p:ph idx="1"/>
          </p:nvPr>
        </p:nvSpPr>
        <p:spPr>
          <a:xfrm>
            <a:off x="886690" y="1277938"/>
            <a:ext cx="9790545" cy="4484687"/>
          </a:xfrm>
        </p:spPr>
        <p:txBody>
          <a:bodyPr>
            <a:normAutofit fontScale="90000"/>
          </a:bodyPr>
          <a:lstStyle/>
          <a:p>
            <a:pPr eaLnBrk="1" hangingPunct="1">
              <a:lnSpc>
                <a:spcPct val="150000"/>
              </a:lnSpc>
            </a:pPr>
            <a:r>
              <a:rPr lang="zh-CN" altLang="en-US" dirty="0">
                <a:sym typeface="+mn-ea"/>
              </a:rPr>
              <a:t>另外，</a:t>
            </a:r>
            <a:r>
              <a:rPr lang="zh-CN" altLang="en-US" dirty="0">
                <a:solidFill>
                  <a:srgbClr val="FF0000"/>
                </a:solidFill>
                <a:sym typeface="+mn-ea"/>
              </a:rPr>
              <a:t>用汇编语言编程能更有利于硬件电路与程序的结合设计与调试</a:t>
            </a:r>
            <a:r>
              <a:rPr lang="zh-CN" altLang="en-US" dirty="0">
                <a:sym typeface="+mn-ea"/>
              </a:rPr>
              <a:t>。</a:t>
            </a:r>
            <a:endParaRPr lang="zh-CN" altLang="en-US" dirty="0"/>
          </a:p>
          <a:p>
            <a:pPr eaLnBrk="1" hangingPunct="1">
              <a:lnSpc>
                <a:spcPct val="150000"/>
              </a:lnSpc>
            </a:pPr>
            <a:r>
              <a:rPr lang="zh-CN" altLang="en-US" dirty="0"/>
              <a:t>In addition, </a:t>
            </a:r>
            <a:r>
              <a:rPr lang="zh-CN" altLang="en-US" dirty="0">
                <a:solidFill>
                  <a:srgbClr val="FF0000"/>
                </a:solidFill>
              </a:rPr>
              <a:t>programming in assembly language is more conducive to the combined design and debugging of hardware circuits and programs.</a:t>
            </a:r>
          </a:p>
          <a:p>
            <a:pPr eaLnBrk="1" hangingPunct="1">
              <a:lnSpc>
                <a:spcPct val="150000"/>
              </a:lnSpc>
            </a:pPr>
            <a:r>
              <a:rPr lang="zh-CN" altLang="en-US" dirty="0">
                <a:sym typeface="+mn-ea"/>
              </a:rPr>
              <a:t>当然，如果用户</a:t>
            </a:r>
            <a:r>
              <a:rPr lang="zh-CN" altLang="en-US" dirty="0">
                <a:solidFill>
                  <a:srgbClr val="9900CC"/>
                </a:solidFill>
                <a:sym typeface="+mn-ea"/>
              </a:rPr>
              <a:t>并不在乎程序的长短和运行速度的快慢时</a:t>
            </a:r>
            <a:r>
              <a:rPr lang="zh-CN" altLang="en-US" dirty="0">
                <a:sym typeface="+mn-ea"/>
              </a:rPr>
              <a:t>，并且拥有对应的编译软件的条件下，采用由</a:t>
            </a:r>
            <a:r>
              <a:rPr lang="en-US" altLang="zh-CN" dirty="0">
                <a:solidFill>
                  <a:srgbClr val="CC3300"/>
                </a:solidFill>
                <a:sym typeface="+mn-ea"/>
              </a:rPr>
              <a:t>C</a:t>
            </a:r>
            <a:r>
              <a:rPr lang="zh-CN" altLang="en-US" dirty="0">
                <a:solidFill>
                  <a:srgbClr val="CC3300"/>
                </a:solidFill>
                <a:sym typeface="+mn-ea"/>
              </a:rPr>
              <a:t>语言</a:t>
            </a:r>
            <a:r>
              <a:rPr lang="zh-CN" altLang="en-US" dirty="0">
                <a:sym typeface="+mn-ea"/>
              </a:rPr>
              <a:t>编写，经编译程序来进行用户系统的设计和开发，也不失为一种好方法。</a:t>
            </a:r>
            <a:endParaRPr lang="zh-CN" altLang="en-US" dirty="0"/>
          </a:p>
          <a:p>
            <a:pPr eaLnBrk="1" hangingPunct="1">
              <a:lnSpc>
                <a:spcPct val="150000"/>
              </a:lnSpc>
            </a:pPr>
            <a:r>
              <a:rPr lang="zh-CN" altLang="en-US" dirty="0"/>
              <a:t>Of course, </a:t>
            </a:r>
            <a:r>
              <a:rPr lang="zh-CN" altLang="en-US" dirty="0">
                <a:solidFill>
                  <a:srgbClr val="9900CC"/>
                </a:solidFill>
              </a:rPr>
              <a:t>if the user does not care about the length of the program and the speed of running</a:t>
            </a:r>
            <a:r>
              <a:rPr lang="zh-CN" altLang="en-US" dirty="0"/>
              <a:t>, and has the corresponding compilation software, it is also a good method to use</a:t>
            </a:r>
            <a:r>
              <a:rPr lang="en-US" altLang="zh-CN" dirty="0">
                <a:solidFill>
                  <a:srgbClr val="CC3300"/>
                </a:solidFill>
              </a:rPr>
              <a:t> C language</a:t>
            </a:r>
            <a:r>
              <a:rPr lang="zh-CN" altLang="en-US" dirty="0"/>
              <a:t> to write, through the compilation program for the user system design and development.</a:t>
            </a:r>
          </a:p>
          <a:p>
            <a:pPr eaLnBrk="1" hangingPunct="1">
              <a:lnSpc>
                <a:spcPct val="150000"/>
              </a:lnSpc>
            </a:pPr>
            <a:endParaRPr lang="en-US" altLang="zh-CN" dirty="0"/>
          </a:p>
        </p:txBody>
      </p:sp>
      <p:sp>
        <p:nvSpPr>
          <p:cNvPr id="135170" name="标题 2"/>
          <p:cNvSpPr>
            <a:spLocks noGrp="1" noChangeArrowheads="1"/>
          </p:cNvSpPr>
          <p:nvPr>
            <p:ph type="title"/>
          </p:nvPr>
        </p:nvSpPr>
        <p:spPr>
          <a:xfrm>
            <a:off x="674256" y="569460"/>
            <a:ext cx="9054852" cy="504825"/>
          </a:xfrm>
        </p:spPr>
        <p:txBody>
          <a:bodyPr vert="horz" lIns="91440" tIns="45720" rIns="91440" bIns="45720" rtlCol="0" anchor="b">
            <a:noAutofit/>
          </a:bodyPr>
          <a:lstStyle/>
          <a:p>
            <a:r>
              <a:rPr lang="en-US" altLang="zh-CN" sz="3200" dirty="0">
                <a:latin typeface="宋体" panose="02010600030101010101" pitchFamily="2" charset="-122"/>
              </a:rPr>
              <a:t>14</a:t>
            </a:r>
            <a:r>
              <a:rPr lang="zh-CN" altLang="en-US" sz="3200" dirty="0">
                <a:latin typeface="宋体" panose="02010600030101010101" pitchFamily="2" charset="-122"/>
              </a:rPr>
              <a:t>、高级语言</a:t>
            </a:r>
            <a:br>
              <a:rPr lang="zh-CN" altLang="en-US" sz="3200" dirty="0">
                <a:latin typeface="宋体" panose="02010600030101010101" pitchFamily="2" charset="-122"/>
              </a:rPr>
            </a:br>
            <a:r>
              <a:rPr lang="en-US" altLang="zh-CN" sz="3200" dirty="0">
                <a:latin typeface="宋体" panose="02010600030101010101" pitchFamily="2" charset="-122"/>
                <a:sym typeface="+mn-ea"/>
              </a:rPr>
              <a:t>High-level languages</a:t>
            </a:r>
            <a:endParaRPr lang="zh-CN" altLang="en-US" sz="3200" dirty="0">
              <a:latin typeface="宋体" panose="02010600030101010101" pitchFamily="2"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标题 2"/>
          <p:cNvSpPr>
            <a:spLocks noGrp="1" noChangeArrowheads="1"/>
          </p:cNvSpPr>
          <p:nvPr>
            <p:ph type="title"/>
          </p:nvPr>
        </p:nvSpPr>
        <p:spPr>
          <a:xfrm>
            <a:off x="2436495" y="411480"/>
            <a:ext cx="8062595" cy="614680"/>
          </a:xfrm>
        </p:spPr>
        <p:txBody>
          <a:bodyPr>
            <a:noAutofit/>
          </a:bodyPr>
          <a:lstStyle/>
          <a:p>
            <a:pPr eaLnBrk="1" hangingPunct="1"/>
            <a:r>
              <a:rPr kumimoji="1" lang="en-US" altLang="zh-CN" sz="2800" dirty="0">
                <a:solidFill>
                  <a:srgbClr val="C00000"/>
                </a:solidFill>
                <a:latin typeface="Times New Roman" panose="02020603050405020304" pitchFamily="18" charset="0"/>
                <a:cs typeface="Times New Roman" panose="02020603050405020304" pitchFamily="18" charset="0"/>
              </a:rPr>
              <a:t>2.3.2 Common Technologies-1. Von Neumann structure and Harvard structure</a:t>
            </a:r>
          </a:p>
        </p:txBody>
      </p:sp>
      <p:sp>
        <p:nvSpPr>
          <p:cNvPr id="186371" name="Rectangle 3"/>
          <p:cNvSpPr>
            <a:spLocks noGrp="1" noChangeArrowheads="1"/>
          </p:cNvSpPr>
          <p:nvPr>
            <p:ph idx="1"/>
          </p:nvPr>
        </p:nvSpPr>
        <p:spPr>
          <a:xfrm>
            <a:off x="2346961" y="1191419"/>
            <a:ext cx="7474403" cy="703262"/>
          </a:xfrm>
        </p:spPr>
        <p:txBody>
          <a:bodyPr>
            <a:normAutofit fontScale="77500" lnSpcReduction="20000"/>
          </a:bodyPr>
          <a:lstStyle/>
          <a:p>
            <a:pPr marL="271780" indent="-271780" eaLnBrk="1" hangingPunct="1">
              <a:lnSpc>
                <a:spcPct val="100000"/>
              </a:lnSpc>
              <a:spcBef>
                <a:spcPct val="0"/>
              </a:spcBef>
              <a:spcAft>
                <a:spcPct val="0"/>
              </a:spcAft>
            </a:pPr>
            <a:r>
              <a:rPr lang="zh-CN" altLang="en-US" dirty="0">
                <a:solidFill>
                  <a:srgbClr val="FF0000"/>
                </a:solidFill>
                <a:latin typeface="Times New Roman" panose="02020603050405020304" pitchFamily="18" charset="0"/>
                <a:cs typeface="Times New Roman" panose="02020603050405020304" pitchFamily="18" charset="0"/>
              </a:rPr>
              <a:t>Von Neumann architecture: In 1964, Von Neumann simplified the computer structure and proposed the idea of "store program", which greatly improved the speed of computers.</a:t>
            </a:r>
            <a:endParaRPr lang="zh-CN" altLang="en-US" dirty="0">
              <a:latin typeface="Times New Roman" panose="02020603050405020304" pitchFamily="18" charset="0"/>
              <a:cs typeface="Times New Roman" panose="02020603050405020304" pitchFamily="18" charset="0"/>
            </a:endParaRPr>
          </a:p>
        </p:txBody>
      </p:sp>
      <p:sp>
        <p:nvSpPr>
          <p:cNvPr id="7" name="Rectangle 5"/>
          <p:cNvSpPr>
            <a:spLocks noChangeArrowheads="1"/>
          </p:cNvSpPr>
          <p:nvPr/>
        </p:nvSpPr>
        <p:spPr bwMode="auto">
          <a:xfrm>
            <a:off x="4011929" y="6097905"/>
            <a:ext cx="4168140" cy="24511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000">
                <a:solidFill>
                  <a:srgbClr val="990033"/>
                </a:solidFill>
              </a:rPr>
              <a:t>Figure 2-12 Schematic diagram of the composition of Von Neumann structure</a:t>
            </a:r>
            <a:endParaRPr lang="zh-CN" altLang="en-US" sz="2000">
              <a:solidFill>
                <a:srgbClr val="990033"/>
              </a:solidFill>
            </a:endParaRPr>
          </a:p>
        </p:txBody>
      </p:sp>
      <p:pic>
        <p:nvPicPr>
          <p:cNvPr id="4362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1966" y="1925638"/>
            <a:ext cx="3335337" cy="3074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a:spLocks noChangeArrowheads="1"/>
          </p:cNvSpPr>
          <p:nvPr/>
        </p:nvSpPr>
        <p:spPr bwMode="auto">
          <a:xfrm>
            <a:off x="6895874" y="5112543"/>
            <a:ext cx="3684587" cy="4781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lnSpc>
                <a:spcPct val="90000"/>
              </a:lnSpc>
            </a:pPr>
            <a:r>
              <a:rPr lang="en-US" altLang="zh-CN" sz="1400" b="1" dirty="0">
                <a:solidFill>
                  <a:srgbClr val="C00000"/>
                </a:solidFill>
                <a:latin typeface="宋体" panose="02010600030101010101" pitchFamily="2" charset="-122"/>
              </a:rPr>
              <a:t>PC: Program Counter</a:t>
            </a:r>
            <a:endParaRPr lang="en-US" altLang="zh-CN" sz="2800" b="1" dirty="0">
              <a:solidFill>
                <a:srgbClr val="C00000"/>
              </a:solidFill>
              <a:latin typeface="宋体" panose="02010600030101010101" pitchFamily="2" charset="-122"/>
            </a:endParaRPr>
          </a:p>
          <a:p>
            <a:pPr algn="l" eaLnBrk="1" hangingPunct="1">
              <a:lnSpc>
                <a:spcPct val="90000"/>
              </a:lnSpc>
            </a:pPr>
            <a:r>
              <a:rPr lang="zh-CN" altLang="en-US" sz="1400" b="1" dirty="0">
                <a:solidFill>
                  <a:srgbClr val="C00000"/>
                </a:solidFill>
                <a:latin typeface="宋体" panose="02010600030101010101" pitchFamily="2" charset="-122"/>
              </a:rPr>
              <a:t>program counter</a:t>
            </a:r>
            <a:endParaRPr lang="zh-CN" altLang="en-US" sz="2800" b="1" dirty="0">
              <a:solidFill>
                <a:srgbClr val="C00000"/>
              </a:solidFill>
            </a:endParaRPr>
          </a:p>
        </p:txBody>
      </p:sp>
      <p:pic>
        <p:nvPicPr>
          <p:cNvPr id="4362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5442" y="1838326"/>
            <a:ext cx="4945062" cy="424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a:spLocks noChangeArrowheads="1"/>
          </p:cNvSpPr>
          <p:nvPr/>
        </p:nvSpPr>
        <p:spPr bwMode="auto">
          <a:xfrm>
            <a:off x="3116398" y="3053670"/>
            <a:ext cx="394335" cy="27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dirty="0">
                <a:solidFill>
                  <a:srgbClr val="FF0000"/>
                </a:solidFill>
                <a:cs typeface="Times New Roman" panose="02020603050405020304" pitchFamily="18" charset="0"/>
              </a:rPr>
              <a:t>AE</a:t>
            </a:r>
            <a:endParaRPr lang="zh-CN" altLang="en-US" sz="2400" b="1"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2"/>
          <p:cNvSpPr>
            <a:spLocks noGrp="1" noChangeArrowheads="1"/>
          </p:cNvSpPr>
          <p:nvPr>
            <p:ph type="title"/>
          </p:nvPr>
        </p:nvSpPr>
        <p:spPr>
          <a:xfrm>
            <a:off x="2346961" y="593952"/>
            <a:ext cx="7452859" cy="504825"/>
          </a:xfrm>
        </p:spPr>
        <p:txBody>
          <a:bodyPr>
            <a:normAutofit fontScale="90000"/>
          </a:bodyPr>
          <a:lstStyle/>
          <a:p>
            <a:pPr eaLnBrk="1" hangingPunct="1"/>
            <a:r>
              <a:rPr lang="zh-CN" altLang="en-US" dirty="0">
                <a:latin typeface="Times New Roman" panose="02020603050405020304" pitchFamily="18" charset="0"/>
                <a:cs typeface="Times New Roman" panose="02020603050405020304" pitchFamily="18" charset="0"/>
              </a:rPr>
              <a:t>Von Neumann structure</a:t>
            </a:r>
            <a:endParaRPr lang="zh-CN" altLang="en-US" dirty="0"/>
          </a:p>
        </p:txBody>
      </p:sp>
      <p:sp>
        <p:nvSpPr>
          <p:cNvPr id="421891" name="Rectangle 3"/>
          <p:cNvSpPr>
            <a:spLocks noGrp="1" noChangeArrowheads="1"/>
          </p:cNvSpPr>
          <p:nvPr>
            <p:ph idx="1"/>
          </p:nvPr>
        </p:nvSpPr>
        <p:spPr>
          <a:xfrm>
            <a:off x="2393495" y="1190625"/>
            <a:ext cx="7368269" cy="3638550"/>
          </a:xfrm>
        </p:spPr>
        <p:txBody>
          <a:bodyPr/>
          <a:lstStyle/>
          <a:p>
            <a:pPr marL="0" indent="0" eaLnBrk="1" hangingPunct="1">
              <a:spcAft>
                <a:spcPts val="1800"/>
              </a:spcAft>
              <a:buFontTx/>
              <a:buNone/>
              <a:defRPr/>
            </a:pPr>
            <a:r>
              <a:rPr lang="zh-CN" altLang="en-US" dirty="0">
                <a:latin typeface="Times New Roman" panose="02020603050405020304" pitchFamily="18" charset="0"/>
                <a:cs typeface="Times New Roman" panose="02020603050405020304" pitchFamily="18" charset="0"/>
              </a:rPr>
              <a:t>In the Von Neumann architecture, a computer system consists of a central processing unit (CPU) and a memory, where data and instructions are stored. The CPU can read or write to the memory based on the given address. The width of program instructions and data is the same.</a:t>
            </a:r>
          </a:p>
          <a:p>
            <a:pPr marL="0" indent="0" eaLnBrk="1" hangingPunct="1">
              <a:spcAft>
                <a:spcPts val="1800"/>
              </a:spcAft>
              <a:buFontTx/>
              <a:buNone/>
              <a:defRPr/>
            </a:pPr>
            <a:r>
              <a:rPr lang="en-US" altLang="zh-CN" dirty="0">
                <a:latin typeface="Times New Roman" panose="02020603050405020304" pitchFamily="18" charset="0"/>
                <a:cs typeface="Times New Roman" panose="02020603050405020304" pitchFamily="18" charset="0"/>
              </a:rPr>
              <a:t>Intel 8086, ARM7, MIPS processor and so on are the typical representatives of Von Neumann architecture.</a:t>
            </a:r>
          </a:p>
          <a:p>
            <a:pPr marL="0" indent="0" eaLnBrk="1" hangingPunct="1">
              <a:spcAft>
                <a:spcPts val="1800"/>
              </a:spcAft>
              <a:buFontTx/>
              <a:buNone/>
              <a:defRPr/>
            </a:pPr>
            <a:r>
              <a:rPr lang="en-US" altLang="zh-CN" dirty="0">
                <a:solidFill>
                  <a:srgbClr val="FF0000"/>
                </a:solidFill>
                <a:latin typeface="Times New Roman" panose="02020603050405020304" pitchFamily="18" charset="0"/>
                <a:cs typeface="Times New Roman" panose="02020603050405020304" pitchFamily="18" charset="0"/>
              </a:rPr>
              <a:t>MIPS means "microprocessor without interlocked piped stages" (M icroprocessor without I nterlocked P iped S tages)</a:t>
            </a:r>
            <a:endParaRPr lang="zh-CN" altLang="en-US" dirty="0">
              <a:latin typeface="Times New Roman" panose="02020603050405020304" pitchFamily="18" charset="0"/>
              <a:cs typeface="Times New Roman" panose="02020603050405020304" pitchFamily="18" charset="0"/>
            </a:endParaRPr>
          </a:p>
          <a:p>
            <a:pPr marL="0" indent="0" eaLnBrk="1" hangingPunct="1">
              <a:spcAft>
                <a:spcPts val="1800"/>
              </a:spcAft>
              <a:defRPr/>
            </a:pPr>
            <a:endParaRPr lang="en-US" altLang="zh-C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标题 2"/>
          <p:cNvSpPr>
            <a:spLocks noGrp="1" noChangeArrowheads="1"/>
          </p:cNvSpPr>
          <p:nvPr>
            <p:ph type="title"/>
          </p:nvPr>
        </p:nvSpPr>
        <p:spPr>
          <a:xfrm>
            <a:off x="2346961" y="561851"/>
            <a:ext cx="7354888" cy="504825"/>
          </a:xfrm>
        </p:spPr>
        <p:txBody>
          <a:bodyPr>
            <a:normAutofit fontScale="90000"/>
          </a:bodyPr>
          <a:lstStyle/>
          <a:p>
            <a:pPr eaLnBrk="1" hangingPunct="1"/>
            <a:r>
              <a:rPr lang="zh-CN" altLang="en-US" dirty="0">
                <a:latin typeface="Times New Roman" panose="02020603050405020304" pitchFamily="18" charset="0"/>
                <a:cs typeface="Times New Roman" panose="02020603050405020304" pitchFamily="18" charset="0"/>
              </a:rPr>
              <a:t>Von Neumann structure</a:t>
            </a:r>
            <a:endParaRPr lang="zh-CN" altLang="en-US" dirty="0"/>
          </a:p>
        </p:txBody>
      </p:sp>
      <p:sp>
        <p:nvSpPr>
          <p:cNvPr id="227331" name="Rectangle 3"/>
          <p:cNvSpPr>
            <a:spLocks noGrp="1" noChangeArrowheads="1"/>
          </p:cNvSpPr>
          <p:nvPr>
            <p:ph idx="1"/>
          </p:nvPr>
        </p:nvSpPr>
        <p:spPr>
          <a:xfrm>
            <a:off x="2487386" y="1263650"/>
            <a:ext cx="7172325" cy="3320596"/>
          </a:xfrm>
        </p:spPr>
        <p:txBody>
          <a:bodyPr/>
          <a:lstStyle/>
          <a:p>
            <a:pPr eaLnBrk="1" hangingPunct="1">
              <a:lnSpc>
                <a:spcPct val="125000"/>
              </a:lnSpc>
              <a:spcAft>
                <a:spcPts val="1800"/>
              </a:spcAft>
              <a:buFontTx/>
              <a:buNone/>
            </a:pPr>
            <a:r>
              <a:rPr lang="zh-CN" altLang="en-US" dirty="0">
                <a:solidFill>
                  <a:srgbClr val="FF0000"/>
                </a:solidFill>
              </a:rPr>
              <a:t>The idea of stored procedures can be summed up in three points:</a:t>
            </a:r>
            <a:endParaRPr lang="zh-CN" altLang="en-US" dirty="0"/>
          </a:p>
          <a:p>
            <a:pPr lvl="1" eaLnBrk="1" hangingPunct="1">
              <a:lnSpc>
                <a:spcPct val="125000"/>
              </a:lnSpc>
              <a:spcAft>
                <a:spcPts val="1800"/>
              </a:spcAft>
            </a:pPr>
            <a:r>
              <a:rPr lang="zh-CN" altLang="en-US" dirty="0"/>
              <a:t>A computer consists of an arithmetic unit, a controller, a memory, and input/output devices.</a:t>
            </a:r>
          </a:p>
          <a:p>
            <a:pPr lvl="1" eaLnBrk="1" hangingPunct="1">
              <a:lnSpc>
                <a:spcPct val="125000"/>
              </a:lnSpc>
              <a:spcAft>
                <a:spcPts val="1800"/>
              </a:spcAft>
            </a:pPr>
            <a:r>
              <a:rPr lang="zh-CN" altLang="en-US" dirty="0"/>
              <a:t>The computer should use binary to represent instructions and data.</a:t>
            </a:r>
          </a:p>
          <a:p>
            <a:pPr lvl="1" eaLnBrk="1" hangingPunct="1">
              <a:lnSpc>
                <a:spcPct val="125000"/>
              </a:lnSpc>
              <a:spcAft>
                <a:spcPts val="1800"/>
              </a:spcAft>
            </a:pPr>
            <a:r>
              <a:rPr lang="zh-CN" altLang="en-US" dirty="0">
                <a:solidFill>
                  <a:srgbClr val="FF0000"/>
                </a:solidFill>
              </a:rPr>
              <a:t>The prepared program and data are saved to the memory, and then the computer automatically takes out the instructions and data one by one for analysis, processing and execution.</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标题 2"/>
          <p:cNvSpPr>
            <a:spLocks noGrp="1" noChangeArrowheads="1"/>
          </p:cNvSpPr>
          <p:nvPr>
            <p:ph type="title"/>
          </p:nvPr>
        </p:nvSpPr>
        <p:spPr>
          <a:xfrm>
            <a:off x="2133600" y="574675"/>
            <a:ext cx="6426426" cy="504825"/>
          </a:xfrm>
        </p:spPr>
        <p:txBody>
          <a:bodyPr>
            <a:normAutofit fontScale="90000"/>
          </a:bodyPr>
          <a:lstStyle/>
          <a:p>
            <a:pPr eaLnBrk="1" hangingPunct="1"/>
            <a:r>
              <a:rPr lang="zh-CN" altLang="en-US" dirty="0">
                <a:latin typeface="宋体" panose="02010600030101010101" pitchFamily="2" charset="-122"/>
              </a:rPr>
              <a:t>Harvard Architecture</a:t>
            </a:r>
            <a:endParaRPr lang="zh-CN" altLang="en-US" dirty="0"/>
          </a:p>
        </p:txBody>
      </p:sp>
      <p:sp>
        <p:nvSpPr>
          <p:cNvPr id="228355" name="Rectangle 3"/>
          <p:cNvSpPr>
            <a:spLocks noGrp="1" noChangeArrowheads="1"/>
          </p:cNvSpPr>
          <p:nvPr>
            <p:ph idx="1"/>
          </p:nvPr>
        </p:nvSpPr>
        <p:spPr>
          <a:xfrm>
            <a:off x="2242457" y="1268391"/>
            <a:ext cx="7515225" cy="1507466"/>
          </a:xfrm>
        </p:spPr>
        <p:txBody>
          <a:bodyPr>
            <a:normAutofit fontScale="92500" lnSpcReduction="10000"/>
          </a:bodyPr>
          <a:lstStyle/>
          <a:p>
            <a:pPr eaLnBrk="1" hangingPunct="1">
              <a:spcBef>
                <a:spcPct val="0"/>
              </a:spcBef>
            </a:pPr>
            <a:r>
              <a:rPr lang="zh-CN" altLang="en-US" dirty="0">
                <a:latin typeface="Times New Roman" panose="02020603050405020304" pitchFamily="18" charset="0"/>
                <a:cs typeface="Times New Roman" panose="02020603050405020304" pitchFamily="18" charset="0"/>
              </a:rPr>
              <a:t>In the Harvard architecture, data and programs use separate memory. The program counter (PC) only points to the program memory, not the data memory,</a:t>
            </a:r>
            <a:endParaRPr lang="en-US" altLang="zh-CN" dirty="0">
              <a:latin typeface="Times New Roman" panose="02020603050405020304" pitchFamily="18" charset="0"/>
              <a:cs typeface="Times New Roman" panose="02020603050405020304" pitchFamily="18" charset="0"/>
            </a:endParaRPr>
          </a:p>
          <a:p>
            <a:pPr eaLnBrk="1" hangingPunct="1">
              <a:spcBef>
                <a:spcPct val="0"/>
              </a:spcBef>
            </a:pPr>
            <a:r>
              <a:rPr lang="zh-CN" altLang="en-US" dirty="0">
                <a:latin typeface="Times New Roman" panose="02020603050405020304" pitchFamily="18" charset="0"/>
                <a:cs typeface="Times New Roman" panose="02020603050405020304" pitchFamily="18" charset="0"/>
              </a:rPr>
              <a:t>The consequence of this is that it is difficult to write a self-modifying program on a computer with Harvard architecture (sometimes called application programming, IAP)</a:t>
            </a:r>
            <a:endParaRPr lang="en-US" altLang="zh-CN" dirty="0">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bwMode="auto">
          <a:xfrm>
            <a:off x="2133873" y="3237820"/>
            <a:ext cx="7547882" cy="293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0000"/>
              </a:lnSpc>
              <a:spcBef>
                <a:spcPts val="0"/>
              </a:spcBef>
              <a:buClr>
                <a:srgbClr val="FF0000"/>
              </a:buClr>
              <a:buFont typeface="Wingdings" panose="05000000000000000000" pitchFamily="2" charset="2"/>
              <a:buChar char="Ø"/>
              <a:defRPr/>
            </a:pPr>
            <a:r>
              <a:rPr lang="zh-CN" altLang="en-US" sz="2000" kern="0" dirty="0"/>
              <a:t>Advantages of Harvard architecture:</a:t>
            </a:r>
            <a:endParaRPr lang="zh-CN" altLang="en-US" sz="4800" kern="0" dirty="0"/>
          </a:p>
          <a:p>
            <a:pPr marL="443230" lvl="1" indent="-257175" eaLnBrk="1" hangingPunct="1">
              <a:spcBef>
                <a:spcPts val="0"/>
              </a:spcBef>
              <a:spcAft>
                <a:spcPts val="600"/>
              </a:spcAft>
              <a:defRPr/>
            </a:pPr>
            <a:r>
              <a:rPr lang="zh-CN" altLang="en-US" sz="2000" kern="0" dirty="0">
                <a:solidFill>
                  <a:srgbClr val="FF0000"/>
                </a:solidFill>
              </a:rPr>
              <a:t>Independent program memory and data memory provide higher performance for digital signal processing.</a:t>
            </a:r>
            <a:endParaRPr lang="zh-CN" altLang="en-US" sz="4800" kern="0" dirty="0"/>
          </a:p>
          <a:p>
            <a:pPr marL="443230" lvl="1" indent="-257175" eaLnBrk="1" hangingPunct="1">
              <a:spcBef>
                <a:spcPts val="0"/>
              </a:spcBef>
              <a:spcAft>
                <a:spcPts val="600"/>
              </a:spcAft>
              <a:defRPr/>
            </a:pPr>
            <a:r>
              <a:rPr lang="zh-CN" altLang="en-US" sz="2000" kern="0" dirty="0">
                <a:solidFill>
                  <a:srgbClr val="FF0000"/>
                </a:solidFill>
              </a:rPr>
              <a:t>Instructions and data can have different data widths and high efficiency. For example, TIs TMS320 DSP digital signal processor, Freescales MC68 series, ARM 9, ARM10 series and so on.</a:t>
            </a:r>
            <a:endParaRPr lang="zh-CN" altLang="en-US" sz="4800" kern="0" dirty="0"/>
          </a:p>
        </p:txBody>
      </p:sp>
      <p:sp>
        <p:nvSpPr>
          <p:cNvPr id="5" name="矩形 4"/>
          <p:cNvSpPr>
            <a:spLocks noChangeArrowheads="1"/>
          </p:cNvSpPr>
          <p:nvPr/>
        </p:nvSpPr>
        <p:spPr bwMode="auto">
          <a:xfrm>
            <a:off x="8318634" y="510540"/>
            <a:ext cx="2467342" cy="33855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600" b="1" dirty="0">
                <a:solidFill>
                  <a:srgbClr val="FF0000"/>
                </a:solidFill>
                <a:cs typeface="Times New Roman" panose="02020603050405020304" pitchFamily="18" charset="0"/>
              </a:rPr>
              <a:t>Independent system buses</a:t>
            </a:r>
            <a:endParaRPr lang="zh-CN" altLang="en-US" sz="3200" b="1" dirty="0">
              <a:solidFill>
                <a:srgbClr val="FF0000"/>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标题 2"/>
          <p:cNvSpPr>
            <a:spLocks noGrp="1" noChangeArrowheads="1"/>
          </p:cNvSpPr>
          <p:nvPr>
            <p:ph type="title"/>
          </p:nvPr>
        </p:nvSpPr>
        <p:spPr>
          <a:xfrm>
            <a:off x="2294391" y="505279"/>
            <a:ext cx="7451045" cy="504825"/>
          </a:xfrm>
        </p:spPr>
        <p:txBody>
          <a:bodyPr>
            <a:normAutofit fontScale="90000"/>
          </a:bodyPr>
          <a:lstStyle/>
          <a:p>
            <a:pPr eaLnBrk="1" hangingPunct="1"/>
            <a:r>
              <a:rPr lang="zh-CN" altLang="en-US" dirty="0">
                <a:latin typeface="宋体" panose="02010600030101010101" pitchFamily="2" charset="-122"/>
              </a:rPr>
              <a:t>Harvard Architecture</a:t>
            </a:r>
            <a:endParaRPr lang="zh-CN" altLang="en-US" dirty="0"/>
          </a:p>
        </p:txBody>
      </p:sp>
      <p:sp>
        <p:nvSpPr>
          <p:cNvPr id="228355" name="Rectangle 3"/>
          <p:cNvSpPr>
            <a:spLocks noGrp="1" noChangeArrowheads="1"/>
          </p:cNvSpPr>
          <p:nvPr>
            <p:ph idx="1"/>
          </p:nvPr>
        </p:nvSpPr>
        <p:spPr>
          <a:xfrm>
            <a:off x="2426154" y="1555750"/>
            <a:ext cx="7180489" cy="758825"/>
          </a:xfrm>
        </p:spPr>
        <p:txBody>
          <a:bodyPr>
            <a:normAutofit fontScale="92500" lnSpcReduction="20000"/>
          </a:bodyPr>
          <a:lstStyle/>
          <a:p>
            <a:pPr eaLnBrk="1" hangingPunct="1">
              <a:spcBef>
                <a:spcPct val="0"/>
              </a:spcBef>
            </a:pPr>
            <a:r>
              <a:rPr lang="zh-CN" altLang="en-US" dirty="0">
                <a:latin typeface="Times New Roman" panose="02020603050405020304" pitchFamily="18" charset="0"/>
                <a:cs typeface="Times New Roman" panose="02020603050405020304" pitchFamily="18" charset="0"/>
              </a:rPr>
              <a:t>In the Harvard architecture, data and programs use separate memory. The program counter (PC) only points to the program memory, not the data memory,</a:t>
            </a:r>
            <a:endParaRPr lang="en-US" altLang="zh-CN" dirty="0">
              <a:latin typeface="Times New Roman" panose="02020603050405020304" pitchFamily="18" charset="0"/>
              <a:cs typeface="Times New Roman" panose="02020603050405020304" pitchFamily="18" charset="0"/>
            </a:endParaRPr>
          </a:p>
        </p:txBody>
      </p:sp>
      <p:sp>
        <p:nvSpPr>
          <p:cNvPr id="6" name="Rectangle 3"/>
          <p:cNvSpPr txBox="1">
            <a:spLocks noChangeArrowheads="1"/>
          </p:cNvSpPr>
          <p:nvPr/>
        </p:nvSpPr>
        <p:spPr bwMode="auto">
          <a:xfrm>
            <a:off x="2503714" y="2743200"/>
            <a:ext cx="7102929" cy="2710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25000"/>
              </a:lnSpc>
              <a:spcBef>
                <a:spcPts val="0"/>
              </a:spcBef>
              <a:buClr>
                <a:srgbClr val="FF0000"/>
              </a:buClr>
              <a:buFont typeface="Wingdings" panose="05000000000000000000" pitchFamily="2" charset="2"/>
              <a:buChar char="Ø"/>
              <a:defRPr/>
            </a:pPr>
            <a:r>
              <a:rPr lang="zh-CN" altLang="en-US" sz="1800" kern="0" dirty="0"/>
              <a:t>Advantages of Harvard architecture:</a:t>
            </a:r>
            <a:endParaRPr lang="zh-CN" altLang="en-US" sz="4400" kern="0" dirty="0"/>
          </a:p>
          <a:p>
            <a:pPr marL="443230" lvl="1" indent="-257175" eaLnBrk="1" hangingPunct="1">
              <a:lnSpc>
                <a:spcPct val="125000"/>
              </a:lnSpc>
              <a:spcBef>
                <a:spcPts val="0"/>
              </a:spcBef>
              <a:spcAft>
                <a:spcPts val="600"/>
              </a:spcAft>
              <a:defRPr/>
            </a:pPr>
            <a:r>
              <a:rPr lang="zh-CN" altLang="en-US" sz="1800" kern="0" dirty="0">
                <a:solidFill>
                  <a:srgbClr val="FF0000"/>
                </a:solidFill>
              </a:rPr>
              <a:t>Independent program memory and data memory provide higher performance for digital signal processing.</a:t>
            </a:r>
            <a:endParaRPr lang="zh-CN" altLang="en-US" sz="4400" kern="0" dirty="0"/>
          </a:p>
          <a:p>
            <a:pPr marL="443230" lvl="1" indent="-257175" eaLnBrk="1" hangingPunct="1">
              <a:lnSpc>
                <a:spcPct val="125000"/>
              </a:lnSpc>
              <a:spcBef>
                <a:spcPts val="0"/>
              </a:spcBef>
              <a:spcAft>
                <a:spcPts val="600"/>
              </a:spcAft>
              <a:defRPr/>
            </a:pPr>
            <a:r>
              <a:rPr lang="zh-CN" altLang="en-US" sz="1800" kern="0" dirty="0">
                <a:solidFill>
                  <a:srgbClr val="FF0000"/>
                </a:solidFill>
              </a:rPr>
              <a:t>Instructions and data can have different data widths for higher efficiency. For example, TIs TMS320 DSP digital signal processor, Freescales MC68 series, ARM 9, ARM10 series, etc.</a:t>
            </a:r>
            <a:endParaRPr lang="zh-CN" altLang="en-US" sz="4400" kern="0" dirty="0"/>
          </a:p>
        </p:txBody>
      </p:sp>
      <p:sp>
        <p:nvSpPr>
          <p:cNvPr id="5" name="矩形 4"/>
          <p:cNvSpPr>
            <a:spLocks noChangeArrowheads="1"/>
          </p:cNvSpPr>
          <p:nvPr/>
        </p:nvSpPr>
        <p:spPr bwMode="auto">
          <a:xfrm>
            <a:off x="8101240" y="505687"/>
            <a:ext cx="3400425" cy="5219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b="1" dirty="0">
                <a:solidFill>
                  <a:srgbClr val="FF0000"/>
                </a:solidFill>
                <a:cs typeface="Times New Roman" panose="02020603050405020304" pitchFamily="18" charset="0"/>
              </a:rPr>
              <a:t>Independent system buses</a:t>
            </a:r>
            <a:endParaRPr lang="zh-CN" altLang="en-US" sz="2800" b="1" dirty="0">
              <a:solidFill>
                <a:srgbClr val="FF0000"/>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5"/>
          <p:cNvSpPr>
            <a:spLocks noChangeArrowheads="1"/>
          </p:cNvSpPr>
          <p:nvPr/>
        </p:nvSpPr>
        <p:spPr bwMode="auto">
          <a:xfrm>
            <a:off x="5941060" y="1954213"/>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0407" name="Rectangle 7"/>
          <p:cNvSpPr>
            <a:spLocks noChangeArrowheads="1"/>
          </p:cNvSpPr>
          <p:nvPr/>
        </p:nvSpPr>
        <p:spPr bwMode="auto">
          <a:xfrm>
            <a:off x="3142456" y="5784861"/>
            <a:ext cx="5986463" cy="52197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400" dirty="0">
                <a:solidFill>
                  <a:srgbClr val="990033"/>
                </a:solidFill>
              </a:rPr>
              <a:t>Figure 2-13 Schematic diagram of the composition of Harvard structure</a:t>
            </a:r>
            <a:endParaRPr lang="zh-CN" altLang="en-US" sz="2800" dirty="0">
              <a:solidFill>
                <a:srgbClr val="990033"/>
              </a:solidFill>
            </a:endParaRPr>
          </a:p>
        </p:txBody>
      </p:sp>
      <p:sp>
        <p:nvSpPr>
          <p:cNvPr id="142340" name="标题 3"/>
          <p:cNvSpPr>
            <a:spLocks noGrp="1" noChangeArrowheads="1"/>
          </p:cNvSpPr>
          <p:nvPr>
            <p:ph type="title"/>
          </p:nvPr>
        </p:nvSpPr>
        <p:spPr>
          <a:xfrm>
            <a:off x="1980883" y="717902"/>
            <a:ext cx="8229600" cy="504825"/>
          </a:xfrm>
        </p:spPr>
        <p:txBody>
          <a:bodyPr vert="horz" lIns="91440" tIns="45720" rIns="91440" bIns="45720" rtlCol="0" anchor="b">
            <a:normAutofit fontScale="90000"/>
          </a:bodyPr>
          <a:lstStyle/>
          <a:p>
            <a:r>
              <a:rPr lang="zh-CN" altLang="en-US" dirty="0">
                <a:latin typeface="宋体" panose="02010600030101010101" pitchFamily="2" charset="-122"/>
              </a:rPr>
              <a:t>Schematic diagram of Harvard architecture</a:t>
            </a:r>
          </a:p>
        </p:txBody>
      </p:sp>
      <p:pic>
        <p:nvPicPr>
          <p:cNvPr id="142343" name="Picture 2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9456" y="1223168"/>
            <a:ext cx="5627687" cy="441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372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4520" y="1677307"/>
            <a:ext cx="3171825"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p:cNvSpPr>
            <a:spLocks noChangeArrowheads="1"/>
          </p:cNvSpPr>
          <p:nvPr/>
        </p:nvSpPr>
        <p:spPr bwMode="auto">
          <a:xfrm>
            <a:off x="2665730" y="2501357"/>
            <a:ext cx="11010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dirty="0">
                <a:solidFill>
                  <a:srgbClr val="FF0000"/>
                </a:solidFill>
                <a:cs typeface="Times New Roman" panose="02020603050405020304" pitchFamily="18" charset="0"/>
              </a:rPr>
              <a:t>AE</a:t>
            </a:r>
            <a:endParaRPr lang="zh-CN" altLang="en-US" sz="2400" b="1"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标题 2"/>
          <p:cNvSpPr>
            <a:spLocks noGrp="1" noChangeArrowheads="1"/>
          </p:cNvSpPr>
          <p:nvPr>
            <p:ph type="title"/>
          </p:nvPr>
        </p:nvSpPr>
        <p:spPr>
          <a:xfrm>
            <a:off x="2338797" y="504145"/>
            <a:ext cx="7496446" cy="504825"/>
          </a:xfrm>
        </p:spPr>
        <p:txBody>
          <a:bodyPr>
            <a:normAutofit fontScale="90000"/>
          </a:bodyPr>
          <a:lstStyle/>
          <a:p>
            <a:pPr eaLnBrk="1" hangingPunct="1"/>
            <a:r>
              <a:rPr lang="en-US" altLang="zh-CN" dirty="0">
                <a:latin typeface="宋体" panose="02010600030101010101" pitchFamily="2" charset="-122"/>
              </a:rPr>
              <a:t>2. Cache</a:t>
            </a:r>
            <a:endParaRPr lang="zh-CN" altLang="en-US" dirty="0"/>
          </a:p>
        </p:txBody>
      </p:sp>
      <p:sp>
        <p:nvSpPr>
          <p:cNvPr id="231427" name="Rectangle 3"/>
          <p:cNvSpPr>
            <a:spLocks noGrp="1" noChangeArrowheads="1"/>
          </p:cNvSpPr>
          <p:nvPr>
            <p:ph idx="1"/>
          </p:nvPr>
        </p:nvSpPr>
        <p:spPr>
          <a:xfrm>
            <a:off x="2338797" y="1234827"/>
            <a:ext cx="7422967" cy="1695450"/>
          </a:xfrm>
        </p:spPr>
        <p:txBody>
          <a:bodyPr/>
          <a:lstStyle/>
          <a:p>
            <a:pPr eaLnBrk="1" hangingPunct="1">
              <a:buClr>
                <a:srgbClr val="FF0000"/>
              </a:buClr>
              <a:buFont typeface="Wingdings" panose="05000000000000000000" pitchFamily="2" charset="2"/>
              <a:buChar char="Ø"/>
            </a:pPr>
            <a:r>
              <a:rPr lang="zh-CN" altLang="en-US" dirty="0"/>
              <a:t>In order to solve the contradiction between fast microprocessor and slow memory, a high-speed buffer Cache is added between them.</a:t>
            </a:r>
            <a:endParaRPr lang="en-US" altLang="zh-CN" dirty="0"/>
          </a:p>
          <a:p>
            <a:pPr eaLnBrk="1" hangingPunct="1">
              <a:buClr>
                <a:srgbClr val="FF0000"/>
              </a:buClr>
              <a:buFont typeface="Wingdings" panose="05000000000000000000" pitchFamily="2" charset="2"/>
              <a:buChar char="Ø"/>
            </a:pPr>
            <a:r>
              <a:rPr lang="en-US" altLang="zh-CN" dirty="0">
                <a:solidFill>
                  <a:srgbClr val="FF0000"/>
                </a:solidFill>
              </a:rPr>
              <a:t>The cache uses the same semiconductor process as the CPU and matches the speed of the CPU. Its capacity accounts for about 1% of the main memory.</a:t>
            </a:r>
            <a:endParaRPr lang="zh-CN" altLang="en-US" dirty="0"/>
          </a:p>
        </p:txBody>
      </p:sp>
      <p:sp>
        <p:nvSpPr>
          <p:cNvPr id="5" name="Rectangle 3"/>
          <p:cNvSpPr txBox="1">
            <a:spLocks noChangeArrowheads="1"/>
          </p:cNvSpPr>
          <p:nvPr/>
        </p:nvSpPr>
        <p:spPr bwMode="auto">
          <a:xfrm>
            <a:off x="2338798" y="2776220"/>
            <a:ext cx="7390310" cy="3663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0"/>
              </a:spcBef>
              <a:buFontTx/>
              <a:buNone/>
              <a:defRPr/>
            </a:pPr>
            <a:r>
              <a:rPr lang="zh-CN" altLang="en-US" sz="2000" kern="0" dirty="0"/>
              <a:t>for instance ：</a:t>
            </a:r>
          </a:p>
          <a:p>
            <a:pPr eaLnBrk="1" hangingPunct="1">
              <a:spcBef>
                <a:spcPts val="0"/>
              </a:spcBef>
              <a:defRPr/>
            </a:pPr>
            <a:r>
              <a:rPr lang="en-US" altLang="zh-CN" sz="2000" kern="0" dirty="0"/>
              <a:t>The cache memory of Intel80386 CPU is outside the chip, while Intel80486 CPU integrates an 8KB program and data Cache on the chip, and can be connected with a secondary cache outside the chip.</a:t>
            </a:r>
            <a:endParaRPr lang="zh-CN" altLang="en-US" sz="2000" kern="0" dirty="0"/>
          </a:p>
          <a:p>
            <a:pPr eaLnBrk="1" hangingPunct="1">
              <a:spcBef>
                <a:spcPts val="0"/>
              </a:spcBef>
              <a:defRPr/>
            </a:pPr>
            <a:r>
              <a:rPr lang="en-US" altLang="zh-CN" sz="2000" kern="0" dirty="0"/>
              <a:t>The Pentium has two 8KB Cache integrated in the chip, one for program cache and one for data cache.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2"/>
          <p:cNvSpPr>
            <a:spLocks noGrp="1" noChangeArrowheads="1"/>
          </p:cNvSpPr>
          <p:nvPr>
            <p:ph type="title"/>
          </p:nvPr>
        </p:nvSpPr>
        <p:spPr>
          <a:xfrm>
            <a:off x="2393496" y="528638"/>
            <a:ext cx="6980466" cy="504825"/>
          </a:xfrm>
        </p:spPr>
        <p:txBody>
          <a:bodyPr>
            <a:normAutofit fontScale="90000"/>
          </a:bodyPr>
          <a:lstStyle/>
          <a:p>
            <a:pPr eaLnBrk="1" hangingPunct="1"/>
            <a:r>
              <a:rPr lang="zh-CN" altLang="en-US" dirty="0">
                <a:latin typeface="宋体" panose="02010600030101010101" pitchFamily="2" charset="-122"/>
              </a:rPr>
              <a:t>The role of cache memory</a:t>
            </a:r>
            <a:endParaRPr lang="zh-CN" altLang="en-US" dirty="0"/>
          </a:p>
        </p:txBody>
      </p:sp>
      <p:sp>
        <p:nvSpPr>
          <p:cNvPr id="422915" name="Rectangle 3"/>
          <p:cNvSpPr>
            <a:spLocks noGrp="1" noChangeArrowheads="1"/>
          </p:cNvSpPr>
          <p:nvPr>
            <p:ph idx="1"/>
          </p:nvPr>
        </p:nvSpPr>
        <p:spPr>
          <a:xfrm>
            <a:off x="785091" y="1314451"/>
            <a:ext cx="10123054" cy="3784146"/>
          </a:xfrm>
        </p:spPr>
        <p:txBody>
          <a:bodyPr>
            <a:normAutofit/>
          </a:bodyPr>
          <a:lstStyle/>
          <a:p>
            <a:pPr marL="262255" indent="-262255" eaLnBrk="1" hangingPunct="1">
              <a:lnSpc>
                <a:spcPct val="110000"/>
              </a:lnSpc>
              <a:spcBef>
                <a:spcPct val="0"/>
              </a:spcBef>
            </a:pPr>
            <a:r>
              <a:rPr lang="zh-CN" altLang="en-US" dirty="0"/>
              <a:t>When the CPU reads a data from the main memory (called memory in personal computers), it first looks for the data in the Cache. If so, it reads the data from the Cache to the CPU.</a:t>
            </a:r>
            <a:endParaRPr lang="en-US" altLang="zh-CN" dirty="0"/>
          </a:p>
          <a:p>
            <a:pPr marL="262255" indent="-262255" eaLnBrk="1" hangingPunct="1">
              <a:lnSpc>
                <a:spcPct val="110000"/>
              </a:lnSpc>
              <a:spcBef>
                <a:spcPct val="0"/>
              </a:spcBef>
            </a:pPr>
            <a:r>
              <a:rPr lang="zh-CN" altLang="en-US" dirty="0">
                <a:solidFill>
                  <a:srgbClr val="9900CC"/>
                </a:solidFill>
              </a:rPr>
              <a:t>Otherwise, the data is read from the main memory and sent to the CPU, while the entire data block containing the data word is sent to the Cache;</a:t>
            </a:r>
            <a:endParaRPr lang="en-US" altLang="zh-CN" dirty="0"/>
          </a:p>
          <a:p>
            <a:pPr marL="262255" indent="-262255" eaLnBrk="1" hangingPunct="1">
              <a:lnSpc>
                <a:spcPct val="110000"/>
              </a:lnSpc>
              <a:spcBef>
                <a:spcPct val="0"/>
              </a:spcBef>
            </a:pPr>
            <a:r>
              <a:rPr lang="zh-CN" altLang="en-US" dirty="0"/>
              <a:t>Since memory access has locality (the principle of program locality), the data to be read in several subsequent memory accesses is very likely to be located in the Cache data block that was just obtained,</a:t>
            </a:r>
            <a:endParaRPr lang="en-US" altLang="zh-CN" dirty="0"/>
          </a:p>
          <a:p>
            <a:pPr marL="262255" indent="-262255" eaLnBrk="1" hangingPunct="1">
              <a:lnSpc>
                <a:spcPct val="110000"/>
              </a:lnSpc>
              <a:spcBef>
                <a:spcPct val="0"/>
              </a:spcBef>
            </a:pPr>
            <a:r>
              <a:rPr lang="zh-CN" altLang="en-US" dirty="0"/>
              <a:t>With the right algorithm, the Cache hit rate can reach more than 99%, which effectively reduces the number of CPU accesses to low-speed memory, thus improving the speed of data reading and the performance of the whole machine.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标题 2"/>
          <p:cNvSpPr>
            <a:spLocks noGrp="1" noChangeArrowheads="1"/>
          </p:cNvSpPr>
          <p:nvPr>
            <p:ph type="title"/>
          </p:nvPr>
        </p:nvSpPr>
        <p:spPr>
          <a:xfrm>
            <a:off x="2370592" y="516392"/>
            <a:ext cx="7260544" cy="504825"/>
          </a:xfrm>
        </p:spPr>
        <p:txBody>
          <a:bodyPr>
            <a:normAutofit fontScale="90000"/>
          </a:bodyPr>
          <a:lstStyle/>
          <a:p>
            <a:pPr eaLnBrk="1" hangingPunct="1"/>
            <a:r>
              <a:rPr lang="en-US" altLang="zh-CN" dirty="0">
                <a:latin typeface="宋体" panose="02010600030101010101" pitchFamily="2" charset="-122"/>
              </a:rPr>
              <a:t>3. Pipeline technology</a:t>
            </a:r>
            <a:endParaRPr lang="zh-CN" altLang="en-US" dirty="0"/>
          </a:p>
        </p:txBody>
      </p:sp>
      <p:sp>
        <p:nvSpPr>
          <p:cNvPr id="233475" name="Rectangle 3"/>
          <p:cNvSpPr>
            <a:spLocks noGrp="1" noChangeArrowheads="1"/>
          </p:cNvSpPr>
          <p:nvPr>
            <p:ph idx="1"/>
          </p:nvPr>
        </p:nvSpPr>
        <p:spPr>
          <a:xfrm>
            <a:off x="1080655" y="1176338"/>
            <a:ext cx="9688945" cy="4946650"/>
          </a:xfrm>
        </p:spPr>
        <p:txBody>
          <a:bodyPr/>
          <a:lstStyle/>
          <a:p>
            <a:pPr eaLnBrk="1" hangingPunct="1">
              <a:lnSpc>
                <a:spcPct val="150000"/>
              </a:lnSpc>
            </a:pPr>
            <a:r>
              <a:rPr lang="zh-CN" altLang="en-US" dirty="0"/>
              <a:t>Pipeline technology refers to a quasi-parallel processing implementation technology in which multiple instructions are operated simultaneously during program execution.</a:t>
            </a:r>
          </a:p>
          <a:p>
            <a:pPr eaLnBrk="1" hangingPunct="1">
              <a:lnSpc>
                <a:spcPct val="150000"/>
              </a:lnSpc>
            </a:pPr>
            <a:r>
              <a:rPr lang="zh-CN" altLang="en-US" dirty="0"/>
              <a:t>The working mode of pipeline: just like the assembly line in industrial production. In industrial manufacturing, the use of pipeline can improve the production per unit time; similarly, the use of pipeline design in CPU also helps to improve the efficiency of CPU.</a:t>
            </a:r>
          </a:p>
          <a:p>
            <a:pPr eaLnBrk="1" hangingPunct="1">
              <a:lnSpc>
                <a:spcPct val="150000"/>
              </a:lnSpc>
            </a:pPr>
            <a:r>
              <a:rPr lang="zh-CN" altLang="en-US" dirty="0"/>
              <a:t>The following is an example of how an assembly line works.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标题 2"/>
          <p:cNvSpPr>
            <a:spLocks noGrp="1" noChangeArrowheads="1"/>
          </p:cNvSpPr>
          <p:nvPr>
            <p:ph type="title"/>
          </p:nvPr>
        </p:nvSpPr>
        <p:spPr>
          <a:xfrm>
            <a:off x="2324100" y="573541"/>
            <a:ext cx="7636556" cy="504825"/>
          </a:xfrm>
        </p:spPr>
        <p:txBody>
          <a:bodyPr>
            <a:normAutofit fontScale="90000"/>
          </a:bodyPr>
          <a:lstStyle/>
          <a:p>
            <a:pPr eaLnBrk="1" hangingPunct="1"/>
            <a:r>
              <a:rPr lang="en-US" altLang="zh-CN" dirty="0">
                <a:latin typeface="宋体" panose="02010600030101010101" pitchFamily="2" charset="-122"/>
              </a:rPr>
              <a:t>3. Pipeline technology</a:t>
            </a:r>
            <a:endParaRPr lang="zh-CN" altLang="en-US" dirty="0"/>
          </a:p>
        </p:txBody>
      </p:sp>
      <p:sp>
        <p:nvSpPr>
          <p:cNvPr id="234499" name="Rectangle 3"/>
          <p:cNvSpPr>
            <a:spLocks noGrp="1" noChangeArrowheads="1"/>
          </p:cNvSpPr>
          <p:nvPr>
            <p:ph idx="1"/>
          </p:nvPr>
        </p:nvSpPr>
        <p:spPr>
          <a:xfrm>
            <a:off x="2324100" y="1314450"/>
            <a:ext cx="8053388" cy="2357438"/>
          </a:xfrm>
        </p:spPr>
        <p:txBody>
          <a:bodyPr/>
          <a:lstStyle/>
          <a:p>
            <a:pPr eaLnBrk="1" hangingPunct="1">
              <a:lnSpc>
                <a:spcPct val="110000"/>
              </a:lnSpc>
              <a:spcBef>
                <a:spcPct val="0"/>
              </a:spcBef>
              <a:spcAft>
                <a:spcPts val="300"/>
              </a:spcAft>
            </a:pPr>
            <a:r>
              <a:rPr lang="zh-CN" altLang="en-US" dirty="0"/>
              <a:t>Suppose that assembling a car requires four steps:</a:t>
            </a:r>
          </a:p>
          <a:p>
            <a:pPr eaLnBrk="1" hangingPunct="1">
              <a:lnSpc>
                <a:spcPct val="110000"/>
              </a:lnSpc>
              <a:spcBef>
                <a:spcPct val="0"/>
              </a:spcBef>
              <a:spcAft>
                <a:spcPts val="300"/>
              </a:spcAft>
              <a:buFontTx/>
              <a:buNone/>
            </a:pPr>
            <a:r>
              <a:rPr lang="en-US" altLang="zh-CN" dirty="0">
                <a:solidFill>
                  <a:srgbClr val="FF0000"/>
                </a:solidFill>
              </a:rPr>
              <a:t>(1) Stamping: making body shell and chassis and other parts;</a:t>
            </a:r>
            <a:endParaRPr lang="zh-CN" altLang="en-US" dirty="0">
              <a:solidFill>
                <a:schemeClr val="tx1"/>
              </a:solidFill>
            </a:endParaRPr>
          </a:p>
          <a:p>
            <a:pPr eaLnBrk="1" hangingPunct="1">
              <a:lnSpc>
                <a:spcPct val="110000"/>
              </a:lnSpc>
              <a:spcBef>
                <a:spcPct val="0"/>
              </a:spcBef>
              <a:spcAft>
                <a:spcPts val="300"/>
              </a:spcAft>
              <a:buFontTx/>
              <a:buNone/>
            </a:pPr>
            <a:r>
              <a:rPr lang="en-US" altLang="zh-CN" dirty="0">
                <a:solidFill>
                  <a:srgbClr val="FF0000"/>
                </a:solidFill>
              </a:rPr>
              <a:t>(2) Welding: weld each part formed by stamping into the body skeleton;</a:t>
            </a:r>
            <a:endParaRPr lang="zh-CN" altLang="en-US" dirty="0">
              <a:solidFill>
                <a:schemeClr val="tx1"/>
              </a:solidFill>
            </a:endParaRPr>
          </a:p>
          <a:p>
            <a:pPr eaLnBrk="1" hangingPunct="1">
              <a:lnSpc>
                <a:spcPct val="110000"/>
              </a:lnSpc>
              <a:spcBef>
                <a:spcPct val="0"/>
              </a:spcBef>
              <a:spcAft>
                <a:spcPts val="300"/>
              </a:spcAft>
              <a:buFontTx/>
              <a:buNone/>
            </a:pPr>
            <a:r>
              <a:rPr lang="en-US" altLang="zh-CN" dirty="0">
                <a:solidFill>
                  <a:srgbClr val="FF0000"/>
                </a:solidFill>
              </a:rPr>
              <a:t>(3) Painting: cleaning, treatment, grinding, spraying and drying of body parts;</a:t>
            </a:r>
            <a:endParaRPr lang="zh-CN" altLang="en-US" dirty="0">
              <a:solidFill>
                <a:schemeClr val="tx1"/>
              </a:solidFill>
            </a:endParaRPr>
          </a:p>
          <a:p>
            <a:pPr eaLnBrk="1" hangingPunct="1">
              <a:lnSpc>
                <a:spcPct val="110000"/>
              </a:lnSpc>
              <a:spcBef>
                <a:spcPct val="0"/>
              </a:spcBef>
              <a:spcAft>
                <a:spcPts val="300"/>
              </a:spcAft>
              <a:buFontTx/>
              <a:buNone/>
            </a:pPr>
            <a:r>
              <a:rPr lang="en-US" altLang="zh-CN" dirty="0">
                <a:solidFill>
                  <a:schemeClr val="tx1"/>
                </a:solidFill>
              </a:rPr>
              <a:t>(4) Assembly: assemble all parts into a car.</a:t>
            </a:r>
            <a:endParaRPr lang="zh-CN" altLang="en-US" dirty="0"/>
          </a:p>
        </p:txBody>
      </p:sp>
      <p:sp>
        <p:nvSpPr>
          <p:cNvPr id="6" name="Rectangle 3"/>
          <p:cNvSpPr txBox="1">
            <a:spLocks noChangeArrowheads="1"/>
          </p:cNvSpPr>
          <p:nvPr/>
        </p:nvSpPr>
        <p:spPr bwMode="auto">
          <a:xfrm>
            <a:off x="2222046" y="3716338"/>
            <a:ext cx="8257042" cy="2317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110000"/>
              </a:lnSpc>
              <a:spcBef>
                <a:spcPts val="0"/>
              </a:spcBef>
              <a:defRPr/>
            </a:pPr>
            <a:r>
              <a:rPr lang="zh-CN" altLang="en-US" sz="1200" kern="0" dirty="0"/>
              <a:t>It corresponds to four people who need to be engaged in stamping, welding, painting and final assembly.</a:t>
            </a:r>
            <a:endParaRPr lang="en-US" altLang="zh-CN" sz="2400" kern="0" dirty="0"/>
          </a:p>
          <a:p>
            <a:pPr algn="l" eaLnBrk="1" hangingPunct="1">
              <a:lnSpc>
                <a:spcPct val="110000"/>
              </a:lnSpc>
              <a:spcBef>
                <a:spcPts val="0"/>
              </a:spcBef>
              <a:defRPr/>
            </a:pPr>
            <a:r>
              <a:rPr lang="zh-CN" altLang="en-US" sz="1200" kern="0" dirty="0"/>
              <a:t>Assembly line manufacturing: four cars are assembled at the same time.</a:t>
            </a:r>
            <a:endParaRPr lang="en-US" altLang="zh-CN" sz="2400" kern="0" dirty="0"/>
          </a:p>
          <a:p>
            <a:pPr algn="l" eaLnBrk="1" hangingPunct="1">
              <a:lnSpc>
                <a:spcPct val="110000"/>
              </a:lnSpc>
              <a:spcBef>
                <a:spcPts val="0"/>
              </a:spcBef>
              <a:defRPr/>
            </a:pPr>
            <a:r>
              <a:rPr lang="zh-CN" altLang="en-US" sz="1200" kern="0" dirty="0"/>
              <a:t>If the assembly line is not used: after the first car is assembled in the above four steps, the next car starts to be assembled, and only one car is being assembled at the same time.</a:t>
            </a:r>
            <a:endParaRPr lang="zh-CN" altLang="en-US" sz="2400" kern="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4" name="Rectangle 5"/>
          <p:cNvSpPr>
            <a:spLocks noChangeArrowheads="1"/>
          </p:cNvSpPr>
          <p:nvPr/>
        </p:nvSpPr>
        <p:spPr bwMode="auto">
          <a:xfrm>
            <a:off x="5941060" y="2341563"/>
            <a:ext cx="309880" cy="36830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48485" name="标题 3"/>
          <p:cNvSpPr>
            <a:spLocks noGrp="1" noChangeArrowheads="1"/>
          </p:cNvSpPr>
          <p:nvPr>
            <p:ph type="title"/>
          </p:nvPr>
        </p:nvSpPr>
        <p:spPr>
          <a:xfrm>
            <a:off x="2364921" y="559595"/>
            <a:ext cx="7323365" cy="504825"/>
          </a:xfrm>
        </p:spPr>
        <p:txBody>
          <a:bodyPr>
            <a:normAutofit fontScale="90000"/>
          </a:bodyPr>
          <a:lstStyle/>
          <a:p>
            <a:pPr eaLnBrk="1" hangingPunct="1"/>
            <a:r>
              <a:rPr lang="en-US" altLang="zh-CN" dirty="0">
                <a:latin typeface="宋体" panose="02010600030101010101" pitchFamily="2" charset="-122"/>
              </a:rPr>
              <a:t>3. Pipeline technology</a:t>
            </a:r>
            <a:endParaRPr lang="zh-CN" altLang="en-US" dirty="0"/>
          </a:p>
        </p:txBody>
      </p:sp>
      <p:pic>
        <p:nvPicPr>
          <p:cNvPr id="236763" name="Picture 2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3739" y="2595159"/>
            <a:ext cx="7362599" cy="32086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6551" name="Rectangle 7"/>
          <p:cNvSpPr>
            <a:spLocks noGrp="1" noChangeArrowheads="1"/>
          </p:cNvSpPr>
          <p:nvPr>
            <p:ph idx="1"/>
          </p:nvPr>
        </p:nvSpPr>
        <p:spPr>
          <a:xfrm>
            <a:off x="2364921" y="1313318"/>
            <a:ext cx="7107011" cy="774926"/>
          </a:xfrm>
        </p:spPr>
        <p:txBody>
          <a:bodyPr>
            <a:normAutofit fontScale="70000" lnSpcReduction="20000"/>
          </a:bodyPr>
          <a:lstStyle/>
          <a:p>
            <a:pPr eaLnBrk="1" hangingPunct="1"/>
            <a:r>
              <a:rPr lang="zh-CN" altLang="en-US" dirty="0"/>
              <a:t>Pipeline technology can be illustrated by a space-time diagram. A space-time diagram describes the working process of a pipeline in terms of time and space. In a space-time diagram, the horizontal coordinate represents time, and the vertical coordinate represents the segments (levels) of the pipeline.</a:t>
            </a:r>
          </a:p>
        </p:txBody>
      </p:sp>
      <p:sp>
        <p:nvSpPr>
          <p:cNvPr id="236550" name="Rectangle 6"/>
          <p:cNvSpPr>
            <a:spLocks noChangeArrowheads="1"/>
          </p:cNvSpPr>
          <p:nvPr/>
        </p:nvSpPr>
        <p:spPr bwMode="auto">
          <a:xfrm>
            <a:off x="3756661" y="5751963"/>
            <a:ext cx="490728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dirty="0">
                <a:solidFill>
                  <a:srgbClr val="990033"/>
                </a:solidFill>
                <a:cs typeface="Times New Roman" panose="02020603050405020304" pitchFamily="18" charset="0"/>
              </a:rPr>
              <a:t>Figure 2-14 4-stage (level) instruction pipeline time-space diagram</a:t>
            </a:r>
            <a:endParaRPr lang="zh-CN" altLang="en-US" sz="2400" dirty="0">
              <a:solidFill>
                <a:srgbClr val="990033"/>
              </a:solidFill>
              <a:latin typeface="Arial" panose="020B0604020202020204" pitchFamily="34" charset="0"/>
            </a:endParaRPr>
          </a:p>
        </p:txBody>
      </p:sp>
      <p:sp>
        <p:nvSpPr>
          <p:cNvPr id="9" name="Rectangle 6"/>
          <p:cNvSpPr>
            <a:spLocks noChangeArrowheads="1"/>
          </p:cNvSpPr>
          <p:nvPr/>
        </p:nvSpPr>
        <p:spPr bwMode="auto">
          <a:xfrm>
            <a:off x="5614262" y="5237728"/>
            <a:ext cx="1402080" cy="460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dirty="0">
                <a:solidFill>
                  <a:srgbClr val="0000FF"/>
                </a:solidFill>
                <a:latin typeface="Arial" panose="020B0604020202020204" pitchFamily="34" charset="0"/>
              </a:rPr>
              <a:t>clock cycle</a:t>
            </a:r>
            <a:endParaRPr lang="zh-CN" altLang="en-US" sz="2400" dirty="0">
              <a:solidFill>
                <a:srgbClr val="0000FF"/>
              </a:solidFill>
              <a:latin typeface="Arial" panose="020B0604020202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标题 2"/>
          <p:cNvSpPr>
            <a:spLocks noGrp="1" noChangeArrowheads="1"/>
          </p:cNvSpPr>
          <p:nvPr>
            <p:ph type="title"/>
          </p:nvPr>
        </p:nvSpPr>
        <p:spPr>
          <a:xfrm>
            <a:off x="2222613" y="516392"/>
            <a:ext cx="7746774" cy="504825"/>
          </a:xfrm>
        </p:spPr>
        <p:txBody>
          <a:bodyPr>
            <a:normAutofit fontScale="90000"/>
          </a:bodyPr>
          <a:lstStyle/>
          <a:p>
            <a:pPr eaLnBrk="1" hangingPunct="1"/>
            <a:r>
              <a:rPr lang="en-US" altLang="zh-CN" dirty="0">
                <a:latin typeface="宋体" panose="02010600030101010101" pitchFamily="2" charset="-122"/>
              </a:rPr>
              <a:t>3. Pipeline technology</a:t>
            </a:r>
            <a:endParaRPr lang="zh-CN" altLang="en-US" dirty="0"/>
          </a:p>
        </p:txBody>
      </p:sp>
      <p:sp>
        <p:nvSpPr>
          <p:cNvPr id="237571" name="Rectangle 3"/>
          <p:cNvSpPr>
            <a:spLocks noGrp="1" noChangeArrowheads="1"/>
          </p:cNvSpPr>
          <p:nvPr>
            <p:ph idx="1"/>
          </p:nvPr>
        </p:nvSpPr>
        <p:spPr>
          <a:xfrm>
            <a:off x="2279196" y="1338943"/>
            <a:ext cx="7441747" cy="3726996"/>
          </a:xfrm>
        </p:spPr>
        <p:txBody>
          <a:bodyPr>
            <a:normAutofit lnSpcReduction="10000"/>
          </a:bodyPr>
          <a:lstStyle/>
          <a:p>
            <a:pPr eaLnBrk="1" hangingPunct="1">
              <a:spcBef>
                <a:spcPts val="0"/>
              </a:spcBef>
              <a:defRPr/>
            </a:pPr>
            <a:r>
              <a:rPr lang="zh-CN" altLang="en-US" dirty="0">
                <a:latin typeface="Times New Roman" panose="02020603050405020304" pitchFamily="18" charset="0"/>
                <a:cs typeface="Times New Roman" panose="02020603050405020304" pitchFamily="18" charset="0"/>
              </a:rPr>
              <a:t>The pipeline was the first time Intel used it in an Intel 486 chip.</a:t>
            </a: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In the CPU, a 5~6 different functional circuit units form an instruction processing pipeline, and then an X86 instruction is divided into 5~6 steps and executed by these circuit units respectively, so that an instruction can be completed in one CPU clock cycle, thus improving the CPU computing speed.</a:t>
            </a: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In Pentium, two pipelines U and V are used. Each pipeline has its own address generation circuit, ALU and interface to connect the data Cache, so that the data can be accessed from the Cache through its own data interface.</a:t>
            </a:r>
            <a:endParaRPr lang="en-US" altLang="zh-CN" dirty="0">
              <a:latin typeface="Times New Roman" panose="02020603050405020304" pitchFamily="18" charset="0"/>
              <a:cs typeface="Times New Roman" panose="02020603050405020304" pitchFamily="18" charset="0"/>
            </a:endParaRP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This structure gives the Pentium a higher speed of execution, performing two integer instructions per clock cycle, twice as fast as its predecessor CPU with the same clock frequency.</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标题 2"/>
          <p:cNvSpPr>
            <a:spLocks noGrp="1" noChangeArrowheads="1"/>
          </p:cNvSpPr>
          <p:nvPr>
            <p:ph type="title"/>
          </p:nvPr>
        </p:nvSpPr>
        <p:spPr>
          <a:xfrm>
            <a:off x="2454956" y="495981"/>
            <a:ext cx="6808787" cy="504825"/>
          </a:xfrm>
        </p:spPr>
        <p:txBody>
          <a:bodyPr>
            <a:normAutofit fontScale="90000"/>
          </a:bodyPr>
          <a:lstStyle/>
          <a:p>
            <a:pPr eaLnBrk="1" hangingPunct="1"/>
            <a:r>
              <a:rPr lang="en-US" altLang="zh-CN" dirty="0">
                <a:latin typeface="宋体" panose="02010600030101010101" pitchFamily="2" charset="-122"/>
              </a:rPr>
              <a:t>4, CISC and RISC</a:t>
            </a:r>
            <a:endParaRPr lang="zh-CN" altLang="en-US" dirty="0"/>
          </a:p>
        </p:txBody>
      </p:sp>
      <p:sp>
        <p:nvSpPr>
          <p:cNvPr id="238595" name="Rectangle 3"/>
          <p:cNvSpPr>
            <a:spLocks noGrp="1" noChangeArrowheads="1"/>
          </p:cNvSpPr>
          <p:nvPr>
            <p:ph idx="1"/>
          </p:nvPr>
        </p:nvSpPr>
        <p:spPr>
          <a:xfrm>
            <a:off x="2346961" y="1371600"/>
            <a:ext cx="7414803" cy="3241221"/>
          </a:xfrm>
        </p:spPr>
        <p:txBody>
          <a:bodyPr>
            <a:normAutofit fontScale="92500" lnSpcReduction="10000"/>
          </a:bodyPr>
          <a:lstStyle/>
          <a:p>
            <a:pPr eaLnBrk="1" hangingPunct="1">
              <a:spcBef>
                <a:spcPts val="0"/>
              </a:spcBef>
              <a:defRPr/>
            </a:pPr>
            <a:r>
              <a:rPr lang="en-US" altLang="zh-CN" dirty="0">
                <a:solidFill>
                  <a:srgbClr val="FF0000"/>
                </a:solidFill>
                <a:latin typeface="Times New Roman" panose="02020603050405020304" pitchFamily="18" charset="0"/>
                <a:cs typeface="Times New Roman" panose="02020603050405020304" pitchFamily="18" charset="0"/>
              </a:rPr>
              <a:t>CISC: Complex Instruction Set Computer (CISC) uses a large number of instructions, including complex instructions, to write short programs and perform complex functions.</a:t>
            </a:r>
            <a:endParaRPr lang="en-US" altLang="zh-CN" dirty="0">
              <a:latin typeface="Times New Roman" panose="02020603050405020304" pitchFamily="18" charset="0"/>
              <a:cs typeface="Times New Roman" panose="02020603050405020304" pitchFamily="18" charset="0"/>
            </a:endParaRPr>
          </a:p>
          <a:p>
            <a:pPr eaLnBrk="1" hangingPunct="1">
              <a:spcBef>
                <a:spcPts val="0"/>
              </a:spcBef>
              <a:defRPr/>
            </a:pPr>
            <a:r>
              <a:rPr lang="zh-CN" altLang="en-US" dirty="0">
                <a:latin typeface="Times New Roman" panose="02020603050405020304" pitchFamily="18" charset="0"/>
                <a:cs typeface="Times New Roman" panose="02020603050405020304" pitchFamily="18" charset="0"/>
              </a:rPr>
              <a:t>Some complex instructions are used less frequently and cause waste of hardware and resources. CISC architecture processor has a rich instruction set, each time an instruction is executed, the processor needs to classify and look for the corresponding instruction among hundreds of instructions, so it takes some time;</a:t>
            </a:r>
          </a:p>
          <a:p>
            <a:pPr marL="342900" lvl="1" indent="-342900" eaLnBrk="1" hangingPunct="1">
              <a:lnSpc>
                <a:spcPct val="114000"/>
              </a:lnSpc>
              <a:spcBef>
                <a:spcPts val="0"/>
              </a:spcBef>
              <a:spcAft>
                <a:spcPts val="600"/>
              </a:spcAft>
              <a:buFontTx/>
              <a:buBlip>
                <a:blip r:embed="rId2"/>
              </a:buBlip>
              <a:defRPr/>
            </a:pPr>
            <a:r>
              <a:rPr lang="zh-CN" altLang="en-US" dirty="0">
                <a:latin typeface="Times New Roman" panose="02020603050405020304" pitchFamily="18" charset="0"/>
                <a:cs typeface="Times New Roman" panose="02020603050405020304" pitchFamily="18" charset="0"/>
              </a:rPr>
              <a:t>Due to the complexity of instructions, the structure complexity of the processor and the number of logical circuits are increased, the clock frequency is reduced, and the speed of instruction execution is slowed down. The pure CISC processor needs at least one more clock cycle to execute a single instruction.</a:t>
            </a:r>
            <a:endParaRPr lang="en-US" altLang="zh-CN" dirty="0">
              <a:latin typeface="Times New Roman" panose="02020603050405020304" pitchFamily="18" charset="0"/>
              <a:cs typeface="Times New Roman" panose="02020603050405020304" pitchFamily="18" charset="0"/>
            </a:endParaRPr>
          </a:p>
          <a:p>
            <a:pPr eaLnBrk="1" hangingPunct="1">
              <a:spcBef>
                <a:spcPts val="0"/>
              </a:spcBef>
              <a:defRPr/>
            </a:pP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标题 2"/>
          <p:cNvSpPr>
            <a:spLocks noGrp="1" noChangeArrowheads="1"/>
          </p:cNvSpPr>
          <p:nvPr>
            <p:ph type="title"/>
          </p:nvPr>
        </p:nvSpPr>
        <p:spPr>
          <a:xfrm>
            <a:off x="2294392" y="508670"/>
            <a:ext cx="6634615" cy="504825"/>
          </a:xfrm>
        </p:spPr>
        <p:txBody>
          <a:bodyPr>
            <a:normAutofit fontScale="90000"/>
          </a:bodyPr>
          <a:lstStyle/>
          <a:p>
            <a:pPr eaLnBrk="1" hangingPunct="1"/>
            <a:r>
              <a:rPr lang="en-US" altLang="zh-CN" dirty="0">
                <a:latin typeface="宋体" panose="02010600030101010101" pitchFamily="2" charset="-122"/>
              </a:rPr>
              <a:t>4, CISC and RISC</a:t>
            </a:r>
            <a:endParaRPr lang="zh-CN" altLang="en-US" dirty="0"/>
          </a:p>
        </p:txBody>
      </p:sp>
      <p:sp>
        <p:nvSpPr>
          <p:cNvPr id="239619" name="Rectangle 3"/>
          <p:cNvSpPr>
            <a:spLocks noGrp="1" noChangeArrowheads="1"/>
          </p:cNvSpPr>
          <p:nvPr>
            <p:ph idx="1"/>
          </p:nvPr>
        </p:nvSpPr>
        <p:spPr>
          <a:xfrm>
            <a:off x="2294391" y="1160463"/>
            <a:ext cx="7573509" cy="3297237"/>
          </a:xfrm>
        </p:spPr>
        <p:txBody>
          <a:bodyPr>
            <a:normAutofit fontScale="92500" lnSpcReduction="20000"/>
          </a:bodyPr>
          <a:lstStyle/>
          <a:p>
            <a:pPr eaLnBrk="1" hangingPunct="1">
              <a:lnSpc>
                <a:spcPct val="90000"/>
              </a:lnSpc>
            </a:pPr>
            <a:r>
              <a:rPr lang="en-US" altLang="zh-CN" dirty="0">
                <a:solidFill>
                  <a:srgbClr val="FF0000"/>
                </a:solidFill>
                <a:latin typeface="Times New Roman" panose="02020603050405020304" pitchFamily="18" charset="0"/>
                <a:cs typeface="Times New Roman" panose="02020603050405020304" pitchFamily="18" charset="0"/>
              </a:rPr>
              <a:t>RISC, Reduced Instruction Set Computer, short for Reduced Instruction Set Computer.</a:t>
            </a:r>
            <a:endParaRPr lang="en-US" altLang="zh-CN" dirty="0">
              <a:latin typeface="Times New Roman" panose="02020603050405020304" pitchFamily="18" charset="0"/>
              <a:cs typeface="Times New Roman" panose="02020603050405020304" pitchFamily="18" charset="0"/>
            </a:endParaRPr>
          </a:p>
          <a:p>
            <a:pPr eaLnBrk="1" hangingPunct="1">
              <a:lnSpc>
                <a:spcPct val="90000"/>
              </a:lnSpc>
            </a:pPr>
            <a:r>
              <a:rPr lang="zh-CN" altLang="en-US" dirty="0">
                <a:latin typeface="Times New Roman" panose="02020603050405020304" pitchFamily="18" charset="0"/>
                <a:cs typeface="Times New Roman" panose="02020603050405020304" pitchFamily="18" charset="0"/>
              </a:rPr>
              <a:t>Its instruction set structure has only a few simple instructions, which simplifies the computer hardware and increases the clock frequency of the CPU. Combined with the pipeline structure, one instruction can be executed in one clock cycle, so that the performance of the whole system exceeds that of the CISC computer.</a:t>
            </a:r>
            <a:endParaRPr lang="en-US" altLang="zh-CN" dirty="0">
              <a:latin typeface="Times New Roman" panose="02020603050405020304" pitchFamily="18" charset="0"/>
              <a:cs typeface="Times New Roman" panose="02020603050405020304" pitchFamily="18" charset="0"/>
            </a:endParaRPr>
          </a:p>
          <a:p>
            <a:pPr eaLnBrk="1" hangingPunct="1">
              <a:lnSpc>
                <a:spcPct val="90000"/>
              </a:lnSpc>
            </a:pPr>
            <a:r>
              <a:rPr lang="en-US" altLang="zh-CN" dirty="0">
                <a:latin typeface="Times New Roman" panose="02020603050405020304" pitchFamily="18" charset="0"/>
                <a:cs typeface="Times New Roman" panose="02020603050405020304" pitchFamily="18" charset="0"/>
              </a:rPr>
              <a:t>The RISC instruction set is characterized by:</a:t>
            </a:r>
            <a:endParaRPr lang="zh-CN" altLang="en-US" dirty="0">
              <a:latin typeface="Times New Roman" panose="02020603050405020304" pitchFamily="18" charset="0"/>
              <a:cs typeface="Times New Roman" panose="02020603050405020304" pitchFamily="18" charset="0"/>
            </a:endParaRPr>
          </a:p>
          <a:p>
            <a:pPr marL="536575" lvl="1" indent="-274955" eaLnBrk="1" hangingPunct="1">
              <a:lnSpc>
                <a:spcPct val="90000"/>
              </a:lnSpc>
            </a:pPr>
            <a:r>
              <a:rPr lang="zh-CN" altLang="en-US" dirty="0">
                <a:latin typeface="Times New Roman" panose="02020603050405020304" pitchFamily="18" charset="0"/>
                <a:cs typeface="Times New Roman" panose="02020603050405020304" pitchFamily="18" charset="0"/>
              </a:rPr>
              <a:t>Select some of the most frequently used simple instructions;</a:t>
            </a:r>
          </a:p>
          <a:p>
            <a:pPr marL="536575" lvl="1" indent="-274955" eaLnBrk="1" hangingPunct="1">
              <a:lnSpc>
                <a:spcPct val="90000"/>
              </a:lnSpc>
            </a:pPr>
            <a:r>
              <a:rPr lang="zh-CN" altLang="en-US" dirty="0">
                <a:latin typeface="Times New Roman" panose="02020603050405020304" pitchFamily="18" charset="0"/>
                <a:cs typeface="Times New Roman" panose="02020603050405020304" pitchFamily="18" charset="0"/>
              </a:rPr>
              <a:t>The instruction length is fixed, the instruction format and addressing mode are few;</a:t>
            </a:r>
          </a:p>
          <a:p>
            <a:pPr marL="536575" lvl="1" indent="-274955" eaLnBrk="1" hangingPunct="1">
              <a:lnSpc>
                <a:spcPct val="90000"/>
              </a:lnSpc>
            </a:pPr>
            <a:r>
              <a:rPr lang="zh-CN" altLang="en-US" dirty="0">
                <a:latin typeface="Times New Roman" panose="02020603050405020304" pitchFamily="18" charset="0"/>
                <a:cs typeface="Times New Roman" panose="02020603050405020304" pitchFamily="18" charset="0"/>
              </a:rPr>
              <a:t>Only data and store instructions access memory, and the rest of the instructions operands are performed between registers.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TABLE_ENDDRAG_ORIGIN_RECT" val="905*308"/>
  <p:tag name="TABLE_ENDDRAG_RECT" val="41*205*905*308"/>
</p:tagLst>
</file>

<file path=ppt/tags/tag64.xml><?xml version="1.0" encoding="utf-8"?>
<p:tagLst xmlns:a="http://schemas.openxmlformats.org/drawingml/2006/main" xmlns:r="http://schemas.openxmlformats.org/officeDocument/2006/relationships" xmlns:p="http://schemas.openxmlformats.org/presentationml/2006/main">
  <p:tag name="TABLE_ENDDRAG_ORIGIN_RECT" val="67*304"/>
  <p:tag name="TABLE_ENDDRAG_RECT" val="357*115*67*30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114.05,&quot;left&quot;:305.65,&quot;top&quot;:113.87503937007872,&quot;width&quot;:865.45}"/>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114.05,&quot;left&quot;:305.65,&quot;top&quot;:113.87503937007872,&quot;width&quot;:865.45}"/>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114.05,&quot;left&quot;:305.65,&quot;top&quot;:113.87503937007872,&quot;width&quot;:865.45}"/>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114.05,&quot;left&quot;:305.65,&quot;top&quot;:113.87503937007872,&quot;width&quot;:865.45}"/>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114.05,&quot;left&quot;:305.65,&quot;top&quot;:113.87503937007872,&quot;width&quot;:865.45}"/>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114.05,&quot;left&quot;:305.65,&quot;top&quot;:113.87503937007872,&quot;width&quot;:865.4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13188</Words>
  <Application>Microsoft Office PowerPoint</Application>
  <PresentationFormat>宽屏</PresentationFormat>
  <Paragraphs>950</Paragraphs>
  <Slides>91</Slides>
  <Notes>9</Notes>
  <HiddenSlides>1</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3</vt:i4>
      </vt:variant>
      <vt:variant>
        <vt:lpstr>幻灯片标题</vt:lpstr>
      </vt:variant>
      <vt:variant>
        <vt:i4>91</vt:i4>
      </vt:variant>
    </vt:vector>
  </HeadingPairs>
  <TitlesOfParts>
    <vt:vector size="110" baseType="lpstr">
      <vt:lpstr>guobiaoma</vt:lpstr>
      <vt:lpstr>Inter</vt:lpstr>
      <vt:lpstr>Twemoji Country Flags</vt:lpstr>
      <vt:lpstr>等线</vt:lpstr>
      <vt:lpstr>楷体_GB2312</vt:lpstr>
      <vt:lpstr>隶书</vt:lpstr>
      <vt:lpstr>宋体</vt:lpstr>
      <vt:lpstr>微软雅黑</vt:lpstr>
      <vt:lpstr>Arial</vt:lpstr>
      <vt:lpstr>Calibri</vt:lpstr>
      <vt:lpstr>Calibri Light</vt:lpstr>
      <vt:lpstr>Cambria Math</vt:lpstr>
      <vt:lpstr>Times New Roman</vt:lpstr>
      <vt:lpstr>Wingdings</vt:lpstr>
      <vt:lpstr>WPS</vt:lpstr>
      <vt:lpstr>回顾</vt:lpstr>
      <vt:lpstr>Equation</vt:lpstr>
      <vt:lpstr>Microsoft Drawing</vt:lpstr>
      <vt:lpstr>Visio</vt:lpstr>
      <vt:lpstr> EE351 Microcomputer and Microsystems</vt:lpstr>
      <vt:lpstr>第二章   微型计算机基础知识</vt:lpstr>
      <vt:lpstr>第二章   微型计算机基础知识</vt:lpstr>
      <vt:lpstr>2.1 微型机中的数制及其编码     Number system and coding in microcomputer</vt:lpstr>
      <vt:lpstr>2.1 微型机中的数制及其编码     Number system and coding in microcomputer</vt:lpstr>
      <vt:lpstr> 2.1.1  数与数制 Numbers and Number Systems</vt:lpstr>
      <vt:lpstr> 2.1.2  不同数制之间的转换  Conversion between different number systems</vt:lpstr>
      <vt:lpstr>PowerPoint 演示文稿</vt:lpstr>
      <vt:lpstr>例2：将十进制数45.613转换成二进制数 Example 2: Convert the decimal number 45.613 to binary</vt:lpstr>
      <vt:lpstr>2、二进制数转换为十进制数 Convert binary numbers to decimal numbers</vt:lpstr>
      <vt:lpstr>3、十六进制数 Hexadecimal numbers</vt:lpstr>
      <vt:lpstr>3、十六进制数 Hexadecimal numbers</vt:lpstr>
      <vt:lpstr>十六进制数转换为二进制数 Hex number to binary number</vt:lpstr>
      <vt:lpstr>十六进制数据和十进制数据之间的转换 Conversion between hexadecimal data and decimal data</vt:lpstr>
      <vt:lpstr> 2.1.3  数制数据的编码及其运算   Number data encoding and its operation</vt:lpstr>
      <vt:lpstr>1、原码表示法 True form representation</vt:lpstr>
      <vt:lpstr>机器数和真值 Number of machines and truth values</vt:lpstr>
      <vt:lpstr>1、原码表示法 true form representation</vt:lpstr>
      <vt:lpstr>无符号数 unsigned number</vt:lpstr>
      <vt:lpstr>表2-2  8位二进制数的原码、反码、补码的表示 Table 2-2 Representation of true form, inverse code and two's complement code of 8-bit binary number</vt:lpstr>
      <vt:lpstr>Quiz</vt:lpstr>
      <vt:lpstr>Quiz</vt:lpstr>
      <vt:lpstr>(4) Arithmetic operations on numerical data</vt:lpstr>
      <vt:lpstr>(4) Arithmetic operations on numerical data</vt:lpstr>
      <vt:lpstr>Arithmetic operations on numerical data example</vt:lpstr>
      <vt:lpstr>Arithmetic operations on numerical data example</vt:lpstr>
      <vt:lpstr>Arithmetic operations on numerical data example</vt:lpstr>
      <vt:lpstr>An adder can perform all arithmetic operations</vt:lpstr>
      <vt:lpstr> 2.1.4  Encoding of Non-Numeric Data</vt:lpstr>
      <vt:lpstr>1、ASCII encoding</vt:lpstr>
      <vt:lpstr>ASCII encoding</vt:lpstr>
      <vt:lpstr>1、ASCII编码</vt:lpstr>
      <vt:lpstr>ASCII encoding</vt:lpstr>
      <vt:lpstr>1、ASCII encoding</vt:lpstr>
      <vt:lpstr>汉字编码</vt:lpstr>
      <vt:lpstr>2、汉字编码</vt:lpstr>
      <vt:lpstr>(2) 汉字国标码</vt:lpstr>
      <vt:lpstr>(2) 汉字国标码</vt:lpstr>
      <vt:lpstr>(3) 汉字机内码</vt:lpstr>
      <vt:lpstr>(3) 汉字机内码</vt:lpstr>
      <vt:lpstr>(4) 汉字字形码</vt:lpstr>
      <vt:lpstr>（5）各种代码间的逻辑关系</vt:lpstr>
      <vt:lpstr> 汉字编码 举例</vt:lpstr>
      <vt:lpstr>(6) 统一代码 Unicode</vt:lpstr>
      <vt:lpstr>2.2布尔代数和常见逻辑电路</vt:lpstr>
      <vt:lpstr>运算的基本依据是下面的基本公式和规则： The fundamental basis for operations is the following basic formulas and rules.</vt:lpstr>
      <vt:lpstr>运算的基本依据是下面的基本公式和规则： The fundamental basis for operations is the following basic formulas and rules.</vt:lpstr>
      <vt:lpstr>     2.2.2  基本逻辑运算和逻辑门电路 2.2.2. Basic Logic Operations and Logic Gate Circuits</vt:lpstr>
      <vt:lpstr>逻辑与（AND）Logic and (AND)</vt:lpstr>
      <vt:lpstr>逻辑或（OR）Logic OR (OR)</vt:lpstr>
      <vt:lpstr>逻辑非（NOT）Logic NOT (NOT)</vt:lpstr>
      <vt:lpstr>2、组合逻辑电路 2.Combinational Logic Circuits</vt:lpstr>
      <vt:lpstr>2、组合逻辑电路 2.Combinational Logic Circuits</vt:lpstr>
      <vt:lpstr>2、组合逻辑电路 2.Combinational Logic Circuits</vt:lpstr>
      <vt:lpstr>Tri-state Gate</vt:lpstr>
      <vt:lpstr>2.2.3  常用组合逻辑电路——1、锁存器 2.2.3 Common Combinational Logic Circuits—1.Latch</vt:lpstr>
      <vt:lpstr>PowerPoint 演示文稿</vt:lpstr>
      <vt:lpstr>74LS373引脚图 74LS373 Pinout</vt:lpstr>
      <vt:lpstr>2、数据选择器 2.Data Selector (Multiplexer) </vt:lpstr>
      <vt:lpstr>2.Data Selector (Multiplexer) </vt:lpstr>
      <vt:lpstr>2.Data Selector (Multiplexer) </vt:lpstr>
      <vt:lpstr>3、译码器 3.Decoder</vt:lpstr>
      <vt:lpstr>译码器电路的功能 Decoder Circuit Function</vt:lpstr>
      <vt:lpstr>译码器电路的功能 Decoder Circuit Function:</vt:lpstr>
      <vt:lpstr>使用74138与微控制器的连接如图2-11所示</vt:lpstr>
      <vt:lpstr>74138与微控制器连接图2-11说明 Description of the Connection Diagram Between 74138 and Microcontroller (Figure 2-11)</vt:lpstr>
      <vt:lpstr>74138与微控制器连接图2-11说明 Description of the Connection Diagram Between 74138 and Microcontroller (Figure 2-11)</vt:lpstr>
      <vt:lpstr>2.3 微型计算机的常用技术术语和技术 Common technical terms and techniques for microcomputers</vt:lpstr>
      <vt:lpstr> 2.3.1  常用单位及术语 Common units and terms</vt:lpstr>
      <vt:lpstr> 2.3.1  常用单位及术语 Common units and terms</vt:lpstr>
      <vt:lpstr>PowerPoint 演示文稿</vt:lpstr>
      <vt:lpstr> 2.3.1  常用单位及术语 Common units and terms</vt:lpstr>
      <vt:lpstr> 2.3.1  常用单位及术语 Common units and terms</vt:lpstr>
      <vt:lpstr> 2.3.1  常用单位及术语 Common units and terms</vt:lpstr>
      <vt:lpstr> 2.3.1  常用单位及术语 Common units and terms</vt:lpstr>
      <vt:lpstr>14、高级语言 High-level languages</vt:lpstr>
      <vt:lpstr>14、高级语言 High-level languages</vt:lpstr>
      <vt:lpstr>2.3.2 Common Technologies-1. Von Neumann structure and Harvard structure</vt:lpstr>
      <vt:lpstr>Von Neumann structure</vt:lpstr>
      <vt:lpstr>Von Neumann structure</vt:lpstr>
      <vt:lpstr>Harvard Architecture</vt:lpstr>
      <vt:lpstr>Harvard Architecture</vt:lpstr>
      <vt:lpstr>Schematic diagram of Harvard architecture</vt:lpstr>
      <vt:lpstr>2. Cache</vt:lpstr>
      <vt:lpstr>The role of cache memory</vt:lpstr>
      <vt:lpstr>3. Pipeline technology</vt:lpstr>
      <vt:lpstr>3. Pipeline technology</vt:lpstr>
      <vt:lpstr>3. Pipeline technology</vt:lpstr>
      <vt:lpstr>3. Pipeline technology</vt:lpstr>
      <vt:lpstr>4, CISC and RISC</vt:lpstr>
      <vt:lpstr>4, CISC and RISC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Junmin Jiang</cp:lastModifiedBy>
  <cp:revision>260</cp:revision>
  <dcterms:created xsi:type="dcterms:W3CDTF">2019-06-19T02:08:00Z</dcterms:created>
  <dcterms:modified xsi:type="dcterms:W3CDTF">2025-09-30T08:00:09Z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2052-12.1.0.22525</vt:lpwstr>
  </property>
  <property fmtid="{D5CDD505-2E9C-101B-9397-08002B2CF9AE}" pid="3" name="ICV">
    <vt:lpwstr>506FD5368B3D4DECA0B33E57FC95E0F5_13</vt:lpwstr>
  </property>
</Properties>
</file>